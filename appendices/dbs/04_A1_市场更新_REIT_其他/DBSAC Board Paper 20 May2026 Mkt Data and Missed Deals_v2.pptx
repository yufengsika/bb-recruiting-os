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notesSlides/notesSlide3.xml" ContentType="application/vnd.openxmlformats-officedocument.presentationml.notesSl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2.xml" ContentType="application/vnd.openxmlformats-officedocument.themeOverr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charts/chart13.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7.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8.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9.xml" ContentType="application/vnd.openxmlformats-officedocument.drawingml.chart+xml"/>
  <Override PartName="/ppt/charts/style14.xml" ContentType="application/vnd.ms-office.chartstyle+xml"/>
  <Override PartName="/ppt/charts/colors1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134805504" r:id="rId2"/>
    <p:sldId id="2134805505" r:id="rId3"/>
    <p:sldId id="2134805499" r:id="rId4"/>
    <p:sldId id="1045" r:id="rId5"/>
    <p:sldId id="2134805497" r:id="rId6"/>
    <p:sldId id="4229" r:id="rId7"/>
    <p:sldId id="2134805495" r:id="rId8"/>
    <p:sldId id="2134805496" r:id="rId9"/>
  </p:sldIdLst>
  <p:sldSz cx="9906000" cy="6858000" type="A4"/>
  <p:notesSz cx="6807200" cy="9939338"/>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286000" algn="l" defTabSz="914400" rtl="0" eaLnBrk="1" latinLnBrk="0" hangingPunct="1">
      <a:defRPr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743200" algn="l" defTabSz="914400" rtl="0" eaLnBrk="1" latinLnBrk="0" hangingPunct="1">
      <a:defRPr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200400" algn="l" defTabSz="914400" rtl="0" eaLnBrk="1" latinLnBrk="0" hangingPunct="1">
      <a:defRPr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657600" algn="l" defTabSz="914400" rtl="0" eaLnBrk="1" latinLnBrk="0" hangingPunct="1">
      <a:defRPr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p:defaultTextStyle>
  <p:extLst>
    <p:ext uri="{EFAFB233-063F-42B5-8137-9DF3F51BA10A}">
      <p15:sldGuideLst xmlns:p15="http://schemas.microsoft.com/office/powerpoint/2012/main">
        <p15:guide id="1" pos="216">
          <p15:clr>
            <a:srgbClr val="A4A3A4"/>
          </p15:clr>
        </p15:guide>
        <p15:guide id="2" pos="5976">
          <p15:clr>
            <a:srgbClr val="A4A3A4"/>
          </p15:clr>
        </p15:guide>
        <p15:guide id="3" orient="horz" pos="3888">
          <p15:clr>
            <a:srgbClr val="A4A3A4"/>
          </p15:clr>
        </p15:guide>
        <p15:guide id="4" pos="1891">
          <p15:clr>
            <a:srgbClr val="A4A3A4"/>
          </p15:clr>
        </p15:guide>
        <p15:guide id="5" orient="horz" pos="3600">
          <p15:clr>
            <a:srgbClr val="A4A3A4"/>
          </p15:clr>
        </p15:guide>
        <p15:guide id="6" orient="horz" pos="528">
          <p15:clr>
            <a:srgbClr val="A4A3A4"/>
          </p15:clr>
        </p15:guide>
        <p15:guide id="7" orient="horz" pos="2137">
          <p15:clr>
            <a:srgbClr val="A4A3A4"/>
          </p15:clr>
        </p15:guide>
        <p15:guide id="8" orient="horz" pos="1056">
          <p15:clr>
            <a:srgbClr val="A4A3A4"/>
          </p15:clr>
        </p15:guide>
        <p15:guide id="9" orient="horz" pos="2256">
          <p15:clr>
            <a:srgbClr val="A4A3A4"/>
          </p15:clr>
        </p15:guide>
        <p15:guide id="10" pos="5424">
          <p15:clr>
            <a:srgbClr val="A4A3A4"/>
          </p15:clr>
        </p15:guide>
        <p15:guide id="11" orient="horz" pos="731">
          <p15:clr>
            <a:srgbClr val="A4A3A4"/>
          </p15:clr>
        </p15:guide>
        <p15:guide id="12" pos="251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ine Wing Yin WONG" initials="" lastIdx="8" clrIdx="0"/>
  <p:cmAuthor id="2" name="Hinny Hin WU" initials=""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9B9D"/>
    <a:srgbClr val="FAD0A9"/>
    <a:srgbClr val="C00000"/>
    <a:srgbClr val="BC0000"/>
    <a:srgbClr val="FE9999"/>
    <a:srgbClr val="FFFFFF"/>
    <a:srgbClr val="8658FF"/>
    <a:srgbClr val="CFBCFF"/>
    <a:srgbClr val="D9D9D9"/>
    <a:srgbClr val="F36E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49" autoAdjust="0"/>
  </p:normalViewPr>
  <p:slideViewPr>
    <p:cSldViewPr snapToGrid="0">
      <p:cViewPr>
        <p:scale>
          <a:sx n="150" d="100"/>
          <a:sy n="150" d="100"/>
        </p:scale>
        <p:origin x="-2418" y="-2832"/>
      </p:cViewPr>
      <p:guideLst>
        <p:guide pos="216"/>
        <p:guide pos="5976"/>
        <p:guide orient="horz" pos="3888"/>
        <p:guide pos="1891"/>
        <p:guide orient="horz" pos="3600"/>
        <p:guide orient="horz" pos="528"/>
        <p:guide orient="horz" pos="2137"/>
        <p:guide orient="horz" pos="1056"/>
        <p:guide orient="horz" pos="2256"/>
        <p:guide pos="5424"/>
        <p:guide orient="horz" pos="731"/>
        <p:guide pos="2510"/>
      </p:guideLst>
    </p:cSldViewPr>
  </p:slideViewPr>
  <p:outlineViewPr>
    <p:cViewPr>
      <p:scale>
        <a:sx n="33" d="100"/>
        <a:sy n="33" d="100"/>
      </p:scale>
      <p:origin x="0" y="-1308"/>
    </p:cViewPr>
  </p:outlineViewPr>
  <p:notesTextViewPr>
    <p:cViewPr>
      <p:scale>
        <a:sx n="33" d="100"/>
        <a:sy n="33" d="100"/>
      </p:scale>
      <p:origin x="0" y="0"/>
    </p:cViewPr>
  </p:notesTextViewPr>
  <p:sorterViewPr>
    <p:cViewPr>
      <p:scale>
        <a:sx n="75" d="100"/>
        <a:sy n="75" d="100"/>
      </p:scale>
      <p:origin x="0" y="0"/>
    </p:cViewPr>
  </p:sorterViewPr>
  <p:notesViewPr>
    <p:cSldViewPr snapToGrid="0">
      <p:cViewPr varScale="1">
        <p:scale>
          <a:sx n="48" d="100"/>
          <a:sy n="48" d="100"/>
        </p:scale>
        <p:origin x="2934"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w03g1bnkfps09\DBS%20ACL-ECM\Public\Syndicate\Presentations\Board%20Paper\2020%20Data\Q42020\2017%20-%202020%20ECM%20Volum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7.xml"/><Relationship Id="rId1" Type="http://schemas.microsoft.com/office/2011/relationships/chartStyle" Target="style7.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8.xml"/><Relationship Id="rId1" Type="http://schemas.microsoft.com/office/2011/relationships/chartStyle" Target="style8.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9.xml"/><Relationship Id="rId1" Type="http://schemas.microsoft.com/office/2011/relationships/chartStyle" Target="style9.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0.xml"/><Relationship Id="rId1" Type="http://schemas.microsoft.com/office/2011/relationships/chartStyle" Target="style10.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1.xml"/><Relationship Id="rId1" Type="http://schemas.microsoft.com/office/2011/relationships/chartStyle" Target="style11.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2.xml"/><Relationship Id="rId1" Type="http://schemas.microsoft.com/office/2011/relationships/chartStyle" Target="style12.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3.xml"/><Relationship Id="rId1" Type="http://schemas.microsoft.com/office/2011/relationships/chartStyle" Target="style13.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171465507917593E-2"/>
          <c:y val="7.0253996046863332E-2"/>
          <c:w val="0.92328831417386237"/>
          <c:h val="0.77034243569041361"/>
        </c:manualLayout>
      </c:layout>
      <c:lineChart>
        <c:grouping val="standard"/>
        <c:varyColors val="0"/>
        <c:ser>
          <c:idx val="0"/>
          <c:order val="0"/>
          <c:tx>
            <c:strRef>
              <c:f>Sheet1!$B$1</c:f>
              <c:strCache>
                <c:ptCount val="1"/>
                <c:pt idx="0">
                  <c:v>SPX Index</c:v>
                </c:pt>
              </c:strCache>
            </c:strRef>
          </c:tx>
          <c:spPr>
            <a:ln w="28575" cap="rnd">
              <a:solidFill>
                <a:schemeClr val="accent1"/>
              </a:solidFill>
              <a:round/>
            </a:ln>
            <a:effectLst/>
          </c:spPr>
          <c:marker>
            <c:symbol val="none"/>
          </c:marker>
          <c:cat>
            <c:numRef>
              <c:f>Sheet1!$A$2:$A$101</c:f>
              <c:numCache>
                <c:formatCode>m/d/yyyy</c:formatCode>
                <c:ptCount val="100"/>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formatCode="dd/mm/yyyy">
                  <c:v>46049</c:v>
                </c:pt>
                <c:pt idx="19" formatCode="dd/mm/yyyy">
                  <c:v>46050</c:v>
                </c:pt>
                <c:pt idx="20" formatCode="dd/mm/yyyy">
                  <c:v>46051</c:v>
                </c:pt>
                <c:pt idx="21" formatCode="dd/mm/yyyy">
                  <c:v>46052</c:v>
                </c:pt>
                <c:pt idx="22" formatCode="dd/mm/yyyy">
                  <c:v>46055</c:v>
                </c:pt>
                <c:pt idx="23" formatCode="dd/mm/yyyy">
                  <c:v>46056</c:v>
                </c:pt>
                <c:pt idx="24" formatCode="dd/mm/yyyy">
                  <c:v>46057</c:v>
                </c:pt>
                <c:pt idx="25" formatCode="dd/mm/yyyy">
                  <c:v>46058</c:v>
                </c:pt>
                <c:pt idx="26" formatCode="dd/mm/yyyy">
                  <c:v>46059</c:v>
                </c:pt>
                <c:pt idx="27" formatCode="dd/mm/yyyy">
                  <c:v>46062</c:v>
                </c:pt>
                <c:pt idx="28" formatCode="dd/mm/yyyy">
                  <c:v>46063</c:v>
                </c:pt>
                <c:pt idx="29" formatCode="dd/mm/yyyy">
                  <c:v>46064</c:v>
                </c:pt>
                <c:pt idx="30" formatCode="dd/mm/yyyy">
                  <c:v>46065</c:v>
                </c:pt>
                <c:pt idx="31" formatCode="dd/mm/yyyy">
                  <c:v>46066</c:v>
                </c:pt>
                <c:pt idx="32" formatCode="dd/mm/yyyy">
                  <c:v>46069</c:v>
                </c:pt>
                <c:pt idx="33" formatCode="dd/mm/yyyy">
                  <c:v>46070</c:v>
                </c:pt>
                <c:pt idx="34" formatCode="dd/mm/yyyy">
                  <c:v>46071</c:v>
                </c:pt>
                <c:pt idx="35" formatCode="dd/mm/yyyy">
                  <c:v>46072</c:v>
                </c:pt>
                <c:pt idx="36" formatCode="dd/mm/yyyy">
                  <c:v>46073</c:v>
                </c:pt>
                <c:pt idx="37" formatCode="dd/mm/yyyy">
                  <c:v>46076</c:v>
                </c:pt>
                <c:pt idx="38" formatCode="dd/mm/yyyy">
                  <c:v>46077</c:v>
                </c:pt>
                <c:pt idx="39" formatCode="dd/mm/yyyy">
                  <c:v>46078</c:v>
                </c:pt>
                <c:pt idx="40" formatCode="dd/mm/yyyy">
                  <c:v>46079</c:v>
                </c:pt>
                <c:pt idx="41" formatCode="dd/mm/yyyy">
                  <c:v>46080</c:v>
                </c:pt>
                <c:pt idx="42" formatCode="dd/mm/yyyy">
                  <c:v>46083</c:v>
                </c:pt>
                <c:pt idx="43" formatCode="dd/mm/yyyy">
                  <c:v>46084</c:v>
                </c:pt>
                <c:pt idx="44" formatCode="dd/mm/yyyy">
                  <c:v>46085</c:v>
                </c:pt>
                <c:pt idx="45" formatCode="dd/mm/yyyy">
                  <c:v>46086</c:v>
                </c:pt>
                <c:pt idx="46" formatCode="dd/mm/yyyy">
                  <c:v>46087</c:v>
                </c:pt>
                <c:pt idx="47" formatCode="dd/mm/yyyy">
                  <c:v>46090</c:v>
                </c:pt>
                <c:pt idx="48" formatCode="dd/mm/yyyy">
                  <c:v>46091</c:v>
                </c:pt>
                <c:pt idx="49" formatCode="dd/mm/yyyy">
                  <c:v>46092</c:v>
                </c:pt>
                <c:pt idx="50" formatCode="dd/mm/yyyy">
                  <c:v>46093</c:v>
                </c:pt>
                <c:pt idx="51" formatCode="dd/mm/yyyy">
                  <c:v>46094</c:v>
                </c:pt>
                <c:pt idx="52" formatCode="dd/mm/yyyy">
                  <c:v>46097</c:v>
                </c:pt>
                <c:pt idx="53" formatCode="dd/mm/yyyy">
                  <c:v>46098</c:v>
                </c:pt>
                <c:pt idx="54" formatCode="dd/mm/yyyy">
                  <c:v>46099</c:v>
                </c:pt>
                <c:pt idx="55" formatCode="dd/mm/yyyy">
                  <c:v>46100</c:v>
                </c:pt>
                <c:pt idx="56" formatCode="dd/mm/yyyy">
                  <c:v>46101</c:v>
                </c:pt>
                <c:pt idx="57" formatCode="dd/mm/yyyy">
                  <c:v>46104</c:v>
                </c:pt>
                <c:pt idx="58" formatCode="dd/mm/yyyy">
                  <c:v>46105</c:v>
                </c:pt>
                <c:pt idx="59" formatCode="dd/mm/yyyy">
                  <c:v>46106</c:v>
                </c:pt>
                <c:pt idx="60" formatCode="dd/mm/yyyy">
                  <c:v>46107</c:v>
                </c:pt>
                <c:pt idx="61" formatCode="dd/mm/yyyy">
                  <c:v>46108</c:v>
                </c:pt>
                <c:pt idx="62" formatCode="dd/mm/yyyy">
                  <c:v>46111</c:v>
                </c:pt>
                <c:pt idx="63" formatCode="dd/mm/yyyy">
                  <c:v>46112</c:v>
                </c:pt>
                <c:pt idx="64" formatCode="dd/mm/yyyy">
                  <c:v>46113</c:v>
                </c:pt>
                <c:pt idx="65" formatCode="dd/mm/yyyy">
                  <c:v>46114</c:v>
                </c:pt>
                <c:pt idx="66" formatCode="dd/mm/yyyy">
                  <c:v>46115</c:v>
                </c:pt>
                <c:pt idx="67" formatCode="dd/mm/yyyy">
                  <c:v>46118</c:v>
                </c:pt>
                <c:pt idx="68" formatCode="dd/mm/yyyy">
                  <c:v>46119</c:v>
                </c:pt>
                <c:pt idx="69" formatCode="dd/mm/yyyy">
                  <c:v>46120</c:v>
                </c:pt>
                <c:pt idx="70" formatCode="dd/mm/yyyy">
                  <c:v>46121</c:v>
                </c:pt>
                <c:pt idx="71" formatCode="dd/mm/yyyy">
                  <c:v>46122</c:v>
                </c:pt>
                <c:pt idx="72" formatCode="dd/mm/yyyy">
                  <c:v>46125</c:v>
                </c:pt>
                <c:pt idx="73" formatCode="dd/mm/yyyy">
                  <c:v>46126</c:v>
                </c:pt>
                <c:pt idx="74" formatCode="dd/mm/yyyy">
                  <c:v>46127</c:v>
                </c:pt>
                <c:pt idx="75" formatCode="dd/mm/yyyy">
                  <c:v>46128</c:v>
                </c:pt>
                <c:pt idx="76" formatCode="dd/mm/yyyy">
                  <c:v>46129</c:v>
                </c:pt>
                <c:pt idx="77" formatCode="dd/mm/yyyy">
                  <c:v>46132</c:v>
                </c:pt>
                <c:pt idx="78" formatCode="dd/mm/yyyy">
                  <c:v>46133</c:v>
                </c:pt>
                <c:pt idx="79" formatCode="dd/mm/yyyy">
                  <c:v>46134</c:v>
                </c:pt>
                <c:pt idx="80" formatCode="dd/mm/yyyy">
                  <c:v>46135</c:v>
                </c:pt>
                <c:pt idx="81" formatCode="dd/mm/yyyy">
                  <c:v>46136</c:v>
                </c:pt>
                <c:pt idx="82" formatCode="dd/mm/yyyy">
                  <c:v>46139</c:v>
                </c:pt>
                <c:pt idx="83" formatCode="dd/mm/yyyy">
                  <c:v>46140</c:v>
                </c:pt>
                <c:pt idx="84" formatCode="dd/mm/yyyy">
                  <c:v>46141</c:v>
                </c:pt>
                <c:pt idx="85" formatCode="dd/mm/yyyy">
                  <c:v>46142</c:v>
                </c:pt>
                <c:pt idx="86" formatCode="dd/mm/yyyy">
                  <c:v>46143</c:v>
                </c:pt>
                <c:pt idx="87" formatCode="dd/mm/yyyy">
                  <c:v>46146</c:v>
                </c:pt>
                <c:pt idx="88" formatCode="dd/mm/yyyy">
                  <c:v>46147</c:v>
                </c:pt>
                <c:pt idx="89" formatCode="dd/mm/yyyy">
                  <c:v>46148</c:v>
                </c:pt>
                <c:pt idx="90" formatCode="dd/mm/yyyy">
                  <c:v>46149</c:v>
                </c:pt>
                <c:pt idx="91" formatCode="dd/mm/yyyy">
                  <c:v>46150</c:v>
                </c:pt>
                <c:pt idx="92" formatCode="dd/mm/yyyy">
                  <c:v>46153</c:v>
                </c:pt>
                <c:pt idx="93" formatCode="dd/mm/yyyy">
                  <c:v>46154</c:v>
                </c:pt>
                <c:pt idx="94" formatCode="dd/mm/yyyy">
                  <c:v>46155</c:v>
                </c:pt>
                <c:pt idx="95" formatCode="dd/mm/yyyy">
                  <c:v>46156</c:v>
                </c:pt>
                <c:pt idx="96" formatCode="dd/mm/yyyy">
                  <c:v>46157</c:v>
                </c:pt>
                <c:pt idx="97" formatCode="dd/mm/yyyy">
                  <c:v>46160</c:v>
                </c:pt>
                <c:pt idx="98" formatCode="dd/mm/yyyy">
                  <c:v>46161</c:v>
                </c:pt>
                <c:pt idx="99" formatCode="dd/mm/yyyy">
                  <c:v>46162</c:v>
                </c:pt>
              </c:numCache>
            </c:numRef>
          </c:cat>
          <c:val>
            <c:numRef>
              <c:f>Sheet1!$B$2:$B$101</c:f>
              <c:numCache>
                <c:formatCode>0.0%</c:formatCode>
                <c:ptCount val="100"/>
                <c:pt idx="0">
                  <c:v>0</c:v>
                </c:pt>
                <c:pt idx="1">
                  <c:v>1.8946753341611E-3</c:v>
                </c:pt>
                <c:pt idx="2">
                  <c:v>8.2609013220364957E-3</c:v>
                </c:pt>
                <c:pt idx="3">
                  <c:v>1.4508801402381089E-2</c:v>
                </c:pt>
                <c:pt idx="4">
                  <c:v>1.1018917537068296E-2</c:v>
                </c:pt>
                <c:pt idx="5">
                  <c:v>1.1096340661748583E-2</c:v>
                </c:pt>
                <c:pt idx="6">
                  <c:v>1.7643707545102583E-2</c:v>
                </c:pt>
                <c:pt idx="7">
                  <c:v>1.9249141771967127E-2</c:v>
                </c:pt>
                <c:pt idx="8">
                  <c:v>1.7272660872105661E-2</c:v>
                </c:pt>
                <c:pt idx="9">
                  <c:v>1.1847198889781696E-2</c:v>
                </c:pt>
                <c:pt idx="10">
                  <c:v>1.445767292381861E-2</c:v>
                </c:pt>
                <c:pt idx="11">
                  <c:v>1.3806150025564179E-2</c:v>
                </c:pt>
                <c:pt idx="12">
                  <c:v>1.3806150025564179E-2</c:v>
                </c:pt>
                <c:pt idx="13">
                  <c:v>-7.1053977065226315E-3</c:v>
                </c:pt>
                <c:pt idx="14">
                  <c:v>4.3999707837265589E-3</c:v>
                </c:pt>
                <c:pt idx="15">
                  <c:v>9.9116207727705241E-3</c:v>
                </c:pt>
                <c:pt idx="16">
                  <c:v>1.0241764662917152E-2</c:v>
                </c:pt>
                <c:pt idx="17">
                  <c:v>1.5299101599590914E-2</c:v>
                </c:pt>
                <c:pt idx="18">
                  <c:v>1.9443429990504857E-2</c:v>
                </c:pt>
                <c:pt idx="19">
                  <c:v>1.9360163611131354E-2</c:v>
                </c:pt>
                <c:pt idx="20">
                  <c:v>1.8042509677890672E-2</c:v>
                </c:pt>
                <c:pt idx="21">
                  <c:v>1.3662990285588927E-2</c:v>
                </c:pt>
                <c:pt idx="22">
                  <c:v>1.9127894237090048E-2</c:v>
                </c:pt>
                <c:pt idx="23">
                  <c:v>1.0563143671024733E-2</c:v>
                </c:pt>
                <c:pt idx="24">
                  <c:v>5.4371484917099533E-3</c:v>
                </c:pt>
                <c:pt idx="25">
                  <c:v>-6.8804324008473472E-3</c:v>
                </c:pt>
                <c:pt idx="26">
                  <c:v>1.2679862683514731E-2</c:v>
                </c:pt>
                <c:pt idx="27">
                  <c:v>1.7430428748812954E-2</c:v>
                </c:pt>
                <c:pt idx="28">
                  <c:v>1.4069096486743149E-2</c:v>
                </c:pt>
                <c:pt idx="29">
                  <c:v>1.4019428821853808E-2</c:v>
                </c:pt>
                <c:pt idx="30">
                  <c:v>-1.86107661967716E-3</c:v>
                </c:pt>
                <c:pt idx="31">
                  <c:v>-1.3629391571104987E-3</c:v>
                </c:pt>
                <c:pt idx="32">
                  <c:v>-1.3629391571104987E-3</c:v>
                </c:pt>
                <c:pt idx="33">
                  <c:v>-3.3306551749323621E-4</c:v>
                </c:pt>
                <c:pt idx="34">
                  <c:v>5.2311737637864564E-3</c:v>
                </c:pt>
                <c:pt idx="35">
                  <c:v>2.3942736104010098E-3</c:v>
                </c:pt>
                <c:pt idx="36">
                  <c:v>9.3506683222555065E-3</c:v>
                </c:pt>
                <c:pt idx="37">
                  <c:v>-1.1321305967423312E-3</c:v>
                </c:pt>
                <c:pt idx="38">
                  <c:v>6.5108465415235628E-3</c:v>
                </c:pt>
                <c:pt idx="39">
                  <c:v>1.4700167993572544E-2</c:v>
                </c:pt>
                <c:pt idx="40">
                  <c:v>9.2557154334964586E-3</c:v>
                </c:pt>
                <c:pt idx="41">
                  <c:v>4.8761960411949357E-3</c:v>
                </c:pt>
                <c:pt idx="42">
                  <c:v>5.2764589876561629E-3</c:v>
                </c:pt>
                <c:pt idx="43">
                  <c:v>-4.2173690745744841E-3</c:v>
                </c:pt>
                <c:pt idx="44">
                  <c:v>3.5059528157184161E-3</c:v>
                </c:pt>
                <c:pt idx="45">
                  <c:v>-2.1605434226864562E-3</c:v>
                </c:pt>
                <c:pt idx="46">
                  <c:v>-1.5408662625082115E-2</c:v>
                </c:pt>
                <c:pt idx="47">
                  <c:v>-7.2324884960923708E-3</c:v>
                </c:pt>
                <c:pt idx="48">
                  <c:v>-9.3521291359287551E-3</c:v>
                </c:pt>
                <c:pt idx="49">
                  <c:v>-1.0181871302315404E-2</c:v>
                </c:pt>
                <c:pt idx="50">
                  <c:v>-2.5254546782557896E-2</c:v>
                </c:pt>
                <c:pt idx="51">
                  <c:v>-3.1160616463370205E-2</c:v>
                </c:pt>
                <c:pt idx="52">
                  <c:v>-2.1345409393031867E-2</c:v>
                </c:pt>
                <c:pt idx="53">
                  <c:v>-1.8904389745088013E-2</c:v>
                </c:pt>
                <c:pt idx="54">
                  <c:v>-3.2254765904608851E-2</c:v>
                </c:pt>
                <c:pt idx="55">
                  <c:v>-3.4914907603535217E-2</c:v>
                </c:pt>
                <c:pt idx="56">
                  <c:v>-4.9524505149368236E-2</c:v>
                </c:pt>
                <c:pt idx="57">
                  <c:v>-3.8638521656562674E-2</c:v>
                </c:pt>
                <c:pt idx="58">
                  <c:v>-4.2236505733693641E-2</c:v>
                </c:pt>
                <c:pt idx="59">
                  <c:v>-3.7046234752757368E-2</c:v>
                </c:pt>
                <c:pt idx="60">
                  <c:v>-5.3807610839237463E-2</c:v>
                </c:pt>
                <c:pt idx="61">
                  <c:v>-6.9629683733839709E-2</c:v>
                </c:pt>
                <c:pt idx="62">
                  <c:v>-7.3300708494631439E-2</c:v>
                </c:pt>
                <c:pt idx="63">
                  <c:v>-4.6304871813600101E-2</c:v>
                </c:pt>
                <c:pt idx="64">
                  <c:v>-3.9468263822949434E-2</c:v>
                </c:pt>
                <c:pt idx="65">
                  <c:v>-3.8391644145789217E-2</c:v>
                </c:pt>
                <c:pt idx="66">
                  <c:v>-3.8391644145789217E-2</c:v>
                </c:pt>
                <c:pt idx="67">
                  <c:v>-3.4134833102037798E-2</c:v>
                </c:pt>
                <c:pt idx="68">
                  <c:v>-3.3401504638083335E-2</c:v>
                </c:pt>
                <c:pt idx="69">
                  <c:v>-9.1578409173909137E-3</c:v>
                </c:pt>
                <c:pt idx="70">
                  <c:v>-3.044335694982081E-3</c:v>
                </c:pt>
                <c:pt idx="71">
                  <c:v>-4.1793879190709093E-3</c:v>
                </c:pt>
                <c:pt idx="72">
                  <c:v>5.9513549046819048E-3</c:v>
                </c:pt>
                <c:pt idx="73">
                  <c:v>1.7804397049156373E-2</c:v>
                </c:pt>
                <c:pt idx="74">
                  <c:v>2.5922138631217617E-2</c:v>
                </c:pt>
                <c:pt idx="75">
                  <c:v>2.8599810094222411E-2</c:v>
                </c:pt>
                <c:pt idx="76">
                  <c:v>4.0984588415747591E-2</c:v>
                </c:pt>
                <c:pt idx="77">
                  <c:v>3.8512891680666073E-2</c:v>
                </c:pt>
                <c:pt idx="78">
                  <c:v>3.1920239573442366E-2</c:v>
                </c:pt>
                <c:pt idx="79">
                  <c:v>4.2714191804835266E-2</c:v>
                </c:pt>
                <c:pt idx="80">
                  <c:v>3.8404791468848121E-2</c:v>
                </c:pt>
                <c:pt idx="81">
                  <c:v>4.6684683368636293E-2</c:v>
                </c:pt>
                <c:pt idx="82">
                  <c:v>4.7974581842086028E-2</c:v>
                </c:pt>
                <c:pt idx="83">
                  <c:v>4.2845665035424751E-2</c:v>
                </c:pt>
                <c:pt idx="84">
                  <c:v>4.2429333138558123E-2</c:v>
                </c:pt>
                <c:pt idx="85">
                  <c:v>5.3102037835074167E-2</c:v>
                </c:pt>
                <c:pt idx="86">
                  <c:v>5.6185815499232961E-2</c:v>
                </c:pt>
                <c:pt idx="87">
                  <c:v>5.1895405740997713E-2</c:v>
                </c:pt>
                <c:pt idx="88">
                  <c:v>6.0436783288291718E-2</c:v>
                </c:pt>
                <c:pt idx="89">
                  <c:v>7.5906800087648829E-2</c:v>
                </c:pt>
                <c:pt idx="90">
                  <c:v>7.1815060988970725E-2</c:v>
                </c:pt>
                <c:pt idx="91">
                  <c:v>8.084581111679201E-2</c:v>
                </c:pt>
                <c:pt idx="92">
                  <c:v>8.2877802936235589E-2</c:v>
                </c:pt>
                <c:pt idx="93">
                  <c:v>8.114235629245492E-2</c:v>
                </c:pt>
                <c:pt idx="94">
                  <c:v>8.7466218683806884E-2</c:v>
                </c:pt>
                <c:pt idx="95">
                  <c:v>9.5791395807464763E-2</c:v>
                </c:pt>
                <c:pt idx="96">
                  <c:v>8.2243809802059697E-2</c:v>
                </c:pt>
                <c:pt idx="97">
                  <c:v>8.14476663501571E-2</c:v>
                </c:pt>
                <c:pt idx="98">
                  <c:v>7.4225403549777136E-2</c:v>
                </c:pt>
                <c:pt idx="99">
                  <c:v>8.5818420860419353E-2</c:v>
                </c:pt>
              </c:numCache>
            </c:numRef>
          </c:val>
          <c:smooth val="0"/>
          <c:extLst>
            <c:ext xmlns:c16="http://schemas.microsoft.com/office/drawing/2014/chart" uri="{C3380CC4-5D6E-409C-BE32-E72D297353CC}">
              <c16:uniqueId val="{00000000-AA22-4B26-9883-0E338E41F679}"/>
            </c:ext>
          </c:extLst>
        </c:ser>
        <c:ser>
          <c:idx val="1"/>
          <c:order val="1"/>
          <c:tx>
            <c:strRef>
              <c:f>Sheet1!$C$1</c:f>
              <c:strCache>
                <c:ptCount val="1"/>
                <c:pt idx="0">
                  <c:v>HSI Index</c:v>
                </c:pt>
              </c:strCache>
            </c:strRef>
          </c:tx>
          <c:spPr>
            <a:ln w="28575" cap="rnd">
              <a:solidFill>
                <a:schemeClr val="accent2"/>
              </a:solidFill>
              <a:round/>
            </a:ln>
            <a:effectLst/>
          </c:spPr>
          <c:marker>
            <c:symbol val="none"/>
          </c:marker>
          <c:cat>
            <c:numRef>
              <c:f>Sheet1!$A$2:$A$101</c:f>
              <c:numCache>
                <c:formatCode>m/d/yyyy</c:formatCode>
                <c:ptCount val="100"/>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formatCode="dd/mm/yyyy">
                  <c:v>46049</c:v>
                </c:pt>
                <c:pt idx="19" formatCode="dd/mm/yyyy">
                  <c:v>46050</c:v>
                </c:pt>
                <c:pt idx="20" formatCode="dd/mm/yyyy">
                  <c:v>46051</c:v>
                </c:pt>
                <c:pt idx="21" formatCode="dd/mm/yyyy">
                  <c:v>46052</c:v>
                </c:pt>
                <c:pt idx="22" formatCode="dd/mm/yyyy">
                  <c:v>46055</c:v>
                </c:pt>
                <c:pt idx="23" formatCode="dd/mm/yyyy">
                  <c:v>46056</c:v>
                </c:pt>
                <c:pt idx="24" formatCode="dd/mm/yyyy">
                  <c:v>46057</c:v>
                </c:pt>
                <c:pt idx="25" formatCode="dd/mm/yyyy">
                  <c:v>46058</c:v>
                </c:pt>
                <c:pt idx="26" formatCode="dd/mm/yyyy">
                  <c:v>46059</c:v>
                </c:pt>
                <c:pt idx="27" formatCode="dd/mm/yyyy">
                  <c:v>46062</c:v>
                </c:pt>
                <c:pt idx="28" formatCode="dd/mm/yyyy">
                  <c:v>46063</c:v>
                </c:pt>
                <c:pt idx="29" formatCode="dd/mm/yyyy">
                  <c:v>46064</c:v>
                </c:pt>
                <c:pt idx="30" formatCode="dd/mm/yyyy">
                  <c:v>46065</c:v>
                </c:pt>
                <c:pt idx="31" formatCode="dd/mm/yyyy">
                  <c:v>46066</c:v>
                </c:pt>
                <c:pt idx="32" formatCode="dd/mm/yyyy">
                  <c:v>46069</c:v>
                </c:pt>
                <c:pt idx="33" formatCode="dd/mm/yyyy">
                  <c:v>46070</c:v>
                </c:pt>
                <c:pt idx="34" formatCode="dd/mm/yyyy">
                  <c:v>46071</c:v>
                </c:pt>
                <c:pt idx="35" formatCode="dd/mm/yyyy">
                  <c:v>46072</c:v>
                </c:pt>
                <c:pt idx="36" formatCode="dd/mm/yyyy">
                  <c:v>46073</c:v>
                </c:pt>
                <c:pt idx="37" formatCode="dd/mm/yyyy">
                  <c:v>46076</c:v>
                </c:pt>
                <c:pt idx="38" formatCode="dd/mm/yyyy">
                  <c:v>46077</c:v>
                </c:pt>
                <c:pt idx="39" formatCode="dd/mm/yyyy">
                  <c:v>46078</c:v>
                </c:pt>
                <c:pt idx="40" formatCode="dd/mm/yyyy">
                  <c:v>46079</c:v>
                </c:pt>
                <c:pt idx="41" formatCode="dd/mm/yyyy">
                  <c:v>46080</c:v>
                </c:pt>
                <c:pt idx="42" formatCode="dd/mm/yyyy">
                  <c:v>46083</c:v>
                </c:pt>
                <c:pt idx="43" formatCode="dd/mm/yyyy">
                  <c:v>46084</c:v>
                </c:pt>
                <c:pt idx="44" formatCode="dd/mm/yyyy">
                  <c:v>46085</c:v>
                </c:pt>
                <c:pt idx="45" formatCode="dd/mm/yyyy">
                  <c:v>46086</c:v>
                </c:pt>
                <c:pt idx="46" formatCode="dd/mm/yyyy">
                  <c:v>46087</c:v>
                </c:pt>
                <c:pt idx="47" formatCode="dd/mm/yyyy">
                  <c:v>46090</c:v>
                </c:pt>
                <c:pt idx="48" formatCode="dd/mm/yyyy">
                  <c:v>46091</c:v>
                </c:pt>
                <c:pt idx="49" formatCode="dd/mm/yyyy">
                  <c:v>46092</c:v>
                </c:pt>
                <c:pt idx="50" formatCode="dd/mm/yyyy">
                  <c:v>46093</c:v>
                </c:pt>
                <c:pt idx="51" formatCode="dd/mm/yyyy">
                  <c:v>46094</c:v>
                </c:pt>
                <c:pt idx="52" formatCode="dd/mm/yyyy">
                  <c:v>46097</c:v>
                </c:pt>
                <c:pt idx="53" formatCode="dd/mm/yyyy">
                  <c:v>46098</c:v>
                </c:pt>
                <c:pt idx="54" formatCode="dd/mm/yyyy">
                  <c:v>46099</c:v>
                </c:pt>
                <c:pt idx="55" formatCode="dd/mm/yyyy">
                  <c:v>46100</c:v>
                </c:pt>
                <c:pt idx="56" formatCode="dd/mm/yyyy">
                  <c:v>46101</c:v>
                </c:pt>
                <c:pt idx="57" formatCode="dd/mm/yyyy">
                  <c:v>46104</c:v>
                </c:pt>
                <c:pt idx="58" formatCode="dd/mm/yyyy">
                  <c:v>46105</c:v>
                </c:pt>
                <c:pt idx="59" formatCode="dd/mm/yyyy">
                  <c:v>46106</c:v>
                </c:pt>
                <c:pt idx="60" formatCode="dd/mm/yyyy">
                  <c:v>46107</c:v>
                </c:pt>
                <c:pt idx="61" formatCode="dd/mm/yyyy">
                  <c:v>46108</c:v>
                </c:pt>
                <c:pt idx="62" formatCode="dd/mm/yyyy">
                  <c:v>46111</c:v>
                </c:pt>
                <c:pt idx="63" formatCode="dd/mm/yyyy">
                  <c:v>46112</c:v>
                </c:pt>
                <c:pt idx="64" formatCode="dd/mm/yyyy">
                  <c:v>46113</c:v>
                </c:pt>
                <c:pt idx="65" formatCode="dd/mm/yyyy">
                  <c:v>46114</c:v>
                </c:pt>
                <c:pt idx="66" formatCode="dd/mm/yyyy">
                  <c:v>46115</c:v>
                </c:pt>
                <c:pt idx="67" formatCode="dd/mm/yyyy">
                  <c:v>46118</c:v>
                </c:pt>
                <c:pt idx="68" formatCode="dd/mm/yyyy">
                  <c:v>46119</c:v>
                </c:pt>
                <c:pt idx="69" formatCode="dd/mm/yyyy">
                  <c:v>46120</c:v>
                </c:pt>
                <c:pt idx="70" formatCode="dd/mm/yyyy">
                  <c:v>46121</c:v>
                </c:pt>
                <c:pt idx="71" formatCode="dd/mm/yyyy">
                  <c:v>46122</c:v>
                </c:pt>
                <c:pt idx="72" formatCode="dd/mm/yyyy">
                  <c:v>46125</c:v>
                </c:pt>
                <c:pt idx="73" formatCode="dd/mm/yyyy">
                  <c:v>46126</c:v>
                </c:pt>
                <c:pt idx="74" formatCode="dd/mm/yyyy">
                  <c:v>46127</c:v>
                </c:pt>
                <c:pt idx="75" formatCode="dd/mm/yyyy">
                  <c:v>46128</c:v>
                </c:pt>
                <c:pt idx="76" formatCode="dd/mm/yyyy">
                  <c:v>46129</c:v>
                </c:pt>
                <c:pt idx="77" formatCode="dd/mm/yyyy">
                  <c:v>46132</c:v>
                </c:pt>
                <c:pt idx="78" formatCode="dd/mm/yyyy">
                  <c:v>46133</c:v>
                </c:pt>
                <c:pt idx="79" formatCode="dd/mm/yyyy">
                  <c:v>46134</c:v>
                </c:pt>
                <c:pt idx="80" formatCode="dd/mm/yyyy">
                  <c:v>46135</c:v>
                </c:pt>
                <c:pt idx="81" formatCode="dd/mm/yyyy">
                  <c:v>46136</c:v>
                </c:pt>
                <c:pt idx="82" formatCode="dd/mm/yyyy">
                  <c:v>46139</c:v>
                </c:pt>
                <c:pt idx="83" formatCode="dd/mm/yyyy">
                  <c:v>46140</c:v>
                </c:pt>
                <c:pt idx="84" formatCode="dd/mm/yyyy">
                  <c:v>46141</c:v>
                </c:pt>
                <c:pt idx="85" formatCode="dd/mm/yyyy">
                  <c:v>46142</c:v>
                </c:pt>
                <c:pt idx="86" formatCode="dd/mm/yyyy">
                  <c:v>46143</c:v>
                </c:pt>
                <c:pt idx="87" formatCode="dd/mm/yyyy">
                  <c:v>46146</c:v>
                </c:pt>
                <c:pt idx="88" formatCode="dd/mm/yyyy">
                  <c:v>46147</c:v>
                </c:pt>
                <c:pt idx="89" formatCode="dd/mm/yyyy">
                  <c:v>46148</c:v>
                </c:pt>
                <c:pt idx="90" formatCode="dd/mm/yyyy">
                  <c:v>46149</c:v>
                </c:pt>
                <c:pt idx="91" formatCode="dd/mm/yyyy">
                  <c:v>46150</c:v>
                </c:pt>
                <c:pt idx="92" formatCode="dd/mm/yyyy">
                  <c:v>46153</c:v>
                </c:pt>
                <c:pt idx="93" formatCode="dd/mm/yyyy">
                  <c:v>46154</c:v>
                </c:pt>
                <c:pt idx="94" formatCode="dd/mm/yyyy">
                  <c:v>46155</c:v>
                </c:pt>
                <c:pt idx="95" formatCode="dd/mm/yyyy">
                  <c:v>46156</c:v>
                </c:pt>
                <c:pt idx="96" formatCode="dd/mm/yyyy">
                  <c:v>46157</c:v>
                </c:pt>
                <c:pt idx="97" formatCode="dd/mm/yyyy">
                  <c:v>46160</c:v>
                </c:pt>
                <c:pt idx="98" formatCode="dd/mm/yyyy">
                  <c:v>46161</c:v>
                </c:pt>
                <c:pt idx="99" formatCode="dd/mm/yyyy">
                  <c:v>46162</c:v>
                </c:pt>
              </c:numCache>
            </c:numRef>
          </c:cat>
          <c:val>
            <c:numRef>
              <c:f>Sheet1!$C$2:$C$101</c:f>
              <c:numCache>
                <c:formatCode>0.0%</c:formatCode>
                <c:ptCount val="100"/>
                <c:pt idx="0">
                  <c:v>0</c:v>
                </c:pt>
                <c:pt idx="1">
                  <c:v>2.762056515391409E-2</c:v>
                </c:pt>
                <c:pt idx="2">
                  <c:v>2.7962735080883983E-2</c:v>
                </c:pt>
                <c:pt idx="3">
                  <c:v>4.213372016352368E-2</c:v>
                </c:pt>
                <c:pt idx="4">
                  <c:v>3.2321207434568233E-2</c:v>
                </c:pt>
                <c:pt idx="5">
                  <c:v>2.0240307071173635E-2</c:v>
                </c:pt>
                <c:pt idx="6">
                  <c:v>2.3458343054808761E-2</c:v>
                </c:pt>
                <c:pt idx="7">
                  <c:v>3.8155263213338397E-2</c:v>
                </c:pt>
                <c:pt idx="8">
                  <c:v>4.7518702298117832E-2</c:v>
                </c:pt>
                <c:pt idx="9">
                  <c:v>5.3423376955772373E-2</c:v>
                </c:pt>
                <c:pt idx="10">
                  <c:v>5.0450751330249011E-2</c:v>
                </c:pt>
                <c:pt idx="11">
                  <c:v>4.7381756295419297E-2</c:v>
                </c:pt>
                <c:pt idx="12">
                  <c:v>3.6415931931204071E-2</c:v>
                </c:pt>
                <c:pt idx="13">
                  <c:v>3.3435503114643605E-2</c:v>
                </c:pt>
                <c:pt idx="14">
                  <c:v>3.7241509542912388E-2</c:v>
                </c:pt>
                <c:pt idx="15">
                  <c:v>3.8993325930706035E-2</c:v>
                </c:pt>
                <c:pt idx="16">
                  <c:v>4.3657683373038436E-2</c:v>
                </c:pt>
                <c:pt idx="17">
                  <c:v>4.4282328815545835E-2</c:v>
                </c:pt>
                <c:pt idx="18">
                  <c:v>5.8383865497956711E-2</c:v>
                </c:pt>
                <c:pt idx="19">
                  <c:v>8.5693473489048655E-2</c:v>
                </c:pt>
                <c:pt idx="20">
                  <c:v>9.1201746042026466E-2</c:v>
                </c:pt>
                <c:pt idx="21">
                  <c:v>6.853425639881161E-2</c:v>
                </c:pt>
                <c:pt idx="22">
                  <c:v>4.4674439165152124E-2</c:v>
                </c:pt>
                <c:pt idx="23">
                  <c:v>4.6984183712087235E-2</c:v>
                </c:pt>
                <c:pt idx="24">
                  <c:v>4.7473833949655431E-2</c:v>
                </c:pt>
                <c:pt idx="25">
                  <c:v>4.8953318970259785E-2</c:v>
                </c:pt>
                <c:pt idx="26">
                  <c:v>3.6261818908224219E-2</c:v>
                </c:pt>
                <c:pt idx="27">
                  <c:v>5.4490463330074235E-2</c:v>
                </c:pt>
                <c:pt idx="28">
                  <c:v>6.0576562179337712E-2</c:v>
                </c:pt>
                <c:pt idx="29">
                  <c:v>6.3823860129361254E-2</c:v>
                </c:pt>
                <c:pt idx="30">
                  <c:v>5.4700369168968033E-2</c:v>
                </c:pt>
                <c:pt idx="31">
                  <c:v>3.6541563306898617E-2</c:v>
                </c:pt>
                <c:pt idx="32">
                  <c:v>4.1957758205640516E-2</c:v>
                </c:pt>
                <c:pt idx="33">
                  <c:v>4.1957758205640516E-2</c:v>
                </c:pt>
                <c:pt idx="34">
                  <c:v>4.1957758205640516E-2</c:v>
                </c:pt>
                <c:pt idx="35">
                  <c:v>4.1957758205640516E-2</c:v>
                </c:pt>
                <c:pt idx="36">
                  <c:v>3.0542079878145278E-2</c:v>
                </c:pt>
                <c:pt idx="37">
                  <c:v>5.662658687643729E-2</c:v>
                </c:pt>
                <c:pt idx="38">
                  <c:v>3.7446733467183968E-2</c:v>
                </c:pt>
                <c:pt idx="39">
                  <c:v>4.4290132006582716E-2</c:v>
                </c:pt>
                <c:pt idx="40">
                  <c:v>2.9280694047023603E-2</c:v>
                </c:pt>
                <c:pt idx="41">
                  <c:v>3.9015955184713125E-2</c:v>
                </c:pt>
                <c:pt idx="42">
                  <c:v>1.6749939720349216E-2</c:v>
                </c:pt>
                <c:pt idx="43">
                  <c:v>5.3662544761055031E-3</c:v>
                </c:pt>
                <c:pt idx="44">
                  <c:v>-1.4867419882686916E-2</c:v>
                </c:pt>
                <c:pt idx="45">
                  <c:v>-1.2063733343113392E-2</c:v>
                </c:pt>
                <c:pt idx="46">
                  <c:v>4.9452723196623527E-3</c:v>
                </c:pt>
                <c:pt idx="47">
                  <c:v>-8.6646633274212181E-3</c:v>
                </c:pt>
                <c:pt idx="48">
                  <c:v>1.2850294999637191E-2</c:v>
                </c:pt>
                <c:pt idx="49">
                  <c:v>1.0464859499643708E-2</c:v>
                </c:pt>
                <c:pt idx="50">
                  <c:v>3.3639556560258743E-3</c:v>
                </c:pt>
                <c:pt idx="51">
                  <c:v>-6.4352916481666966E-3</c:v>
                </c:pt>
                <c:pt idx="52">
                  <c:v>7.938966560985472E-3</c:v>
                </c:pt>
                <c:pt idx="53">
                  <c:v>9.2857973339617317E-3</c:v>
                </c:pt>
                <c:pt idx="54">
                  <c:v>1.5406620383339398E-2</c:v>
                </c:pt>
                <c:pt idx="55">
                  <c:v>-5.0705135358053433E-3</c:v>
                </c:pt>
                <c:pt idx="56">
                  <c:v>-1.3781215690344406E-2</c:v>
                </c:pt>
                <c:pt idx="57">
                  <c:v>-4.8694643187385034E-2</c:v>
                </c:pt>
                <c:pt idx="58">
                  <c:v>-2.2115413877351053E-2</c:v>
                </c:pt>
                <c:pt idx="59">
                  <c:v>-1.1493710237864718E-2</c:v>
                </c:pt>
                <c:pt idx="60">
                  <c:v>-3.0202641068038383E-2</c:v>
                </c:pt>
                <c:pt idx="61">
                  <c:v>-2.6478568145657522E-2</c:v>
                </c:pt>
                <c:pt idx="62">
                  <c:v>-3.4324286573751417E-2</c:v>
                </c:pt>
                <c:pt idx="63">
                  <c:v>-3.2867040647602486E-2</c:v>
                </c:pt>
                <c:pt idx="64">
                  <c:v>-1.3129259079207922E-2</c:v>
                </c:pt>
                <c:pt idx="65">
                  <c:v>-2.0054591124494481E-2</c:v>
                </c:pt>
                <c:pt idx="66">
                  <c:v>-2.0054591124494481E-2</c:v>
                </c:pt>
                <c:pt idx="67">
                  <c:v>-2.0054591124494481E-2</c:v>
                </c:pt>
                <c:pt idx="68">
                  <c:v>-2.0054591124494481E-2</c:v>
                </c:pt>
                <c:pt idx="69">
                  <c:v>1.0240907916883479E-2</c:v>
                </c:pt>
                <c:pt idx="70">
                  <c:v>4.7544842988092029E-3</c:v>
                </c:pt>
                <c:pt idx="71">
                  <c:v>1.0261196213579682E-2</c:v>
                </c:pt>
                <c:pt idx="72">
                  <c:v>1.1825736016486399E-3</c:v>
                </c:pt>
                <c:pt idx="73">
                  <c:v>9.4332776445598121E-3</c:v>
                </c:pt>
                <c:pt idx="74">
                  <c:v>1.2359474283413441E-2</c:v>
                </c:pt>
                <c:pt idx="75">
                  <c:v>2.9797265293669106E-2</c:v>
                </c:pt>
                <c:pt idx="76">
                  <c:v>2.0670262897309222E-2</c:v>
                </c:pt>
                <c:pt idx="77">
                  <c:v>2.8502325741088574E-2</c:v>
                </c:pt>
                <c:pt idx="78">
                  <c:v>3.3434332635988051E-2</c:v>
                </c:pt>
                <c:pt idx="79">
                  <c:v>2.0783799326896668E-2</c:v>
                </c:pt>
                <c:pt idx="80">
                  <c:v>1.1106281802880424E-2</c:v>
                </c:pt>
                <c:pt idx="81">
                  <c:v>1.3559214905343397E-2</c:v>
                </c:pt>
                <c:pt idx="82">
                  <c:v>1.1513998534560699E-2</c:v>
                </c:pt>
                <c:pt idx="83">
                  <c:v>1.9211456332952626E-3</c:v>
                </c:pt>
                <c:pt idx="84">
                  <c:v>1.8778379230402376E-2</c:v>
                </c:pt>
                <c:pt idx="85">
                  <c:v>5.695939297416297E-3</c:v>
                </c:pt>
                <c:pt idx="86">
                  <c:v>5.695939297416297E-3</c:v>
                </c:pt>
                <c:pt idx="87">
                  <c:v>1.815568458565453E-2</c:v>
                </c:pt>
                <c:pt idx="88">
                  <c:v>1.0459007106366158E-2</c:v>
                </c:pt>
                <c:pt idx="89">
                  <c:v>2.2755665701932104E-2</c:v>
                </c:pt>
                <c:pt idx="90">
                  <c:v>3.8849747215626174E-2</c:v>
                </c:pt>
                <c:pt idx="91">
                  <c:v>2.9775806518317571E-2</c:v>
                </c:pt>
                <c:pt idx="92">
                  <c:v>3.0288086009892856E-2</c:v>
                </c:pt>
                <c:pt idx="93">
                  <c:v>2.7988875770857735E-2</c:v>
                </c:pt>
                <c:pt idx="94">
                  <c:v>2.9570192434493991E-2</c:v>
                </c:pt>
                <c:pt idx="95">
                  <c:v>2.959360200760508E-2</c:v>
                </c:pt>
                <c:pt idx="96">
                  <c:v>1.2960710152809751E-2</c:v>
                </c:pt>
                <c:pt idx="97">
                  <c:v>1.7416722394456574E-3</c:v>
                </c:pt>
                <c:pt idx="98">
                  <c:v>6.5277594619543855E-3</c:v>
                </c:pt>
                <c:pt idx="99">
                  <c:v>8.0294835770122752E-4</c:v>
                </c:pt>
              </c:numCache>
            </c:numRef>
          </c:val>
          <c:smooth val="0"/>
          <c:extLst>
            <c:ext xmlns:c16="http://schemas.microsoft.com/office/drawing/2014/chart" uri="{C3380CC4-5D6E-409C-BE32-E72D297353CC}">
              <c16:uniqueId val="{00000001-AA22-4B26-9883-0E338E41F679}"/>
            </c:ext>
          </c:extLst>
        </c:ser>
        <c:ser>
          <c:idx val="2"/>
          <c:order val="2"/>
          <c:tx>
            <c:strRef>
              <c:f>Sheet1!$D$1</c:f>
              <c:strCache>
                <c:ptCount val="1"/>
                <c:pt idx="0">
                  <c:v>NKY Index</c:v>
                </c:pt>
              </c:strCache>
            </c:strRef>
          </c:tx>
          <c:spPr>
            <a:ln w="28575" cap="rnd">
              <a:solidFill>
                <a:schemeClr val="accent3"/>
              </a:solidFill>
              <a:round/>
            </a:ln>
            <a:effectLst/>
          </c:spPr>
          <c:marker>
            <c:symbol val="none"/>
          </c:marker>
          <c:cat>
            <c:numRef>
              <c:f>Sheet1!$A$2:$A$101</c:f>
              <c:numCache>
                <c:formatCode>m/d/yyyy</c:formatCode>
                <c:ptCount val="100"/>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formatCode="dd/mm/yyyy">
                  <c:v>46049</c:v>
                </c:pt>
                <c:pt idx="19" formatCode="dd/mm/yyyy">
                  <c:v>46050</c:v>
                </c:pt>
                <c:pt idx="20" formatCode="dd/mm/yyyy">
                  <c:v>46051</c:v>
                </c:pt>
                <c:pt idx="21" formatCode="dd/mm/yyyy">
                  <c:v>46052</c:v>
                </c:pt>
                <c:pt idx="22" formatCode="dd/mm/yyyy">
                  <c:v>46055</c:v>
                </c:pt>
                <c:pt idx="23" formatCode="dd/mm/yyyy">
                  <c:v>46056</c:v>
                </c:pt>
                <c:pt idx="24" formatCode="dd/mm/yyyy">
                  <c:v>46057</c:v>
                </c:pt>
                <c:pt idx="25" formatCode="dd/mm/yyyy">
                  <c:v>46058</c:v>
                </c:pt>
                <c:pt idx="26" formatCode="dd/mm/yyyy">
                  <c:v>46059</c:v>
                </c:pt>
                <c:pt idx="27" formatCode="dd/mm/yyyy">
                  <c:v>46062</c:v>
                </c:pt>
                <c:pt idx="28" formatCode="dd/mm/yyyy">
                  <c:v>46063</c:v>
                </c:pt>
                <c:pt idx="29" formatCode="dd/mm/yyyy">
                  <c:v>46064</c:v>
                </c:pt>
                <c:pt idx="30" formatCode="dd/mm/yyyy">
                  <c:v>46065</c:v>
                </c:pt>
                <c:pt idx="31" formatCode="dd/mm/yyyy">
                  <c:v>46066</c:v>
                </c:pt>
                <c:pt idx="32" formatCode="dd/mm/yyyy">
                  <c:v>46069</c:v>
                </c:pt>
                <c:pt idx="33" formatCode="dd/mm/yyyy">
                  <c:v>46070</c:v>
                </c:pt>
                <c:pt idx="34" formatCode="dd/mm/yyyy">
                  <c:v>46071</c:v>
                </c:pt>
                <c:pt idx="35" formatCode="dd/mm/yyyy">
                  <c:v>46072</c:v>
                </c:pt>
                <c:pt idx="36" formatCode="dd/mm/yyyy">
                  <c:v>46073</c:v>
                </c:pt>
                <c:pt idx="37" formatCode="dd/mm/yyyy">
                  <c:v>46076</c:v>
                </c:pt>
                <c:pt idx="38" formatCode="dd/mm/yyyy">
                  <c:v>46077</c:v>
                </c:pt>
                <c:pt idx="39" formatCode="dd/mm/yyyy">
                  <c:v>46078</c:v>
                </c:pt>
                <c:pt idx="40" formatCode="dd/mm/yyyy">
                  <c:v>46079</c:v>
                </c:pt>
                <c:pt idx="41" formatCode="dd/mm/yyyy">
                  <c:v>46080</c:v>
                </c:pt>
                <c:pt idx="42" formatCode="dd/mm/yyyy">
                  <c:v>46083</c:v>
                </c:pt>
                <c:pt idx="43" formatCode="dd/mm/yyyy">
                  <c:v>46084</c:v>
                </c:pt>
                <c:pt idx="44" formatCode="dd/mm/yyyy">
                  <c:v>46085</c:v>
                </c:pt>
                <c:pt idx="45" formatCode="dd/mm/yyyy">
                  <c:v>46086</c:v>
                </c:pt>
                <c:pt idx="46" formatCode="dd/mm/yyyy">
                  <c:v>46087</c:v>
                </c:pt>
                <c:pt idx="47" formatCode="dd/mm/yyyy">
                  <c:v>46090</c:v>
                </c:pt>
                <c:pt idx="48" formatCode="dd/mm/yyyy">
                  <c:v>46091</c:v>
                </c:pt>
                <c:pt idx="49" formatCode="dd/mm/yyyy">
                  <c:v>46092</c:v>
                </c:pt>
                <c:pt idx="50" formatCode="dd/mm/yyyy">
                  <c:v>46093</c:v>
                </c:pt>
                <c:pt idx="51" formatCode="dd/mm/yyyy">
                  <c:v>46094</c:v>
                </c:pt>
                <c:pt idx="52" formatCode="dd/mm/yyyy">
                  <c:v>46097</c:v>
                </c:pt>
                <c:pt idx="53" formatCode="dd/mm/yyyy">
                  <c:v>46098</c:v>
                </c:pt>
                <c:pt idx="54" formatCode="dd/mm/yyyy">
                  <c:v>46099</c:v>
                </c:pt>
                <c:pt idx="55" formatCode="dd/mm/yyyy">
                  <c:v>46100</c:v>
                </c:pt>
                <c:pt idx="56" formatCode="dd/mm/yyyy">
                  <c:v>46101</c:v>
                </c:pt>
                <c:pt idx="57" formatCode="dd/mm/yyyy">
                  <c:v>46104</c:v>
                </c:pt>
                <c:pt idx="58" formatCode="dd/mm/yyyy">
                  <c:v>46105</c:v>
                </c:pt>
                <c:pt idx="59" formatCode="dd/mm/yyyy">
                  <c:v>46106</c:v>
                </c:pt>
                <c:pt idx="60" formatCode="dd/mm/yyyy">
                  <c:v>46107</c:v>
                </c:pt>
                <c:pt idx="61" formatCode="dd/mm/yyyy">
                  <c:v>46108</c:v>
                </c:pt>
                <c:pt idx="62" formatCode="dd/mm/yyyy">
                  <c:v>46111</c:v>
                </c:pt>
                <c:pt idx="63" formatCode="dd/mm/yyyy">
                  <c:v>46112</c:v>
                </c:pt>
                <c:pt idx="64" formatCode="dd/mm/yyyy">
                  <c:v>46113</c:v>
                </c:pt>
                <c:pt idx="65" formatCode="dd/mm/yyyy">
                  <c:v>46114</c:v>
                </c:pt>
                <c:pt idx="66" formatCode="dd/mm/yyyy">
                  <c:v>46115</c:v>
                </c:pt>
                <c:pt idx="67" formatCode="dd/mm/yyyy">
                  <c:v>46118</c:v>
                </c:pt>
                <c:pt idx="68" formatCode="dd/mm/yyyy">
                  <c:v>46119</c:v>
                </c:pt>
                <c:pt idx="69" formatCode="dd/mm/yyyy">
                  <c:v>46120</c:v>
                </c:pt>
                <c:pt idx="70" formatCode="dd/mm/yyyy">
                  <c:v>46121</c:v>
                </c:pt>
                <c:pt idx="71" formatCode="dd/mm/yyyy">
                  <c:v>46122</c:v>
                </c:pt>
                <c:pt idx="72" formatCode="dd/mm/yyyy">
                  <c:v>46125</c:v>
                </c:pt>
                <c:pt idx="73" formatCode="dd/mm/yyyy">
                  <c:v>46126</c:v>
                </c:pt>
                <c:pt idx="74" formatCode="dd/mm/yyyy">
                  <c:v>46127</c:v>
                </c:pt>
                <c:pt idx="75" formatCode="dd/mm/yyyy">
                  <c:v>46128</c:v>
                </c:pt>
                <c:pt idx="76" formatCode="dd/mm/yyyy">
                  <c:v>46129</c:v>
                </c:pt>
                <c:pt idx="77" formatCode="dd/mm/yyyy">
                  <c:v>46132</c:v>
                </c:pt>
                <c:pt idx="78" formatCode="dd/mm/yyyy">
                  <c:v>46133</c:v>
                </c:pt>
                <c:pt idx="79" formatCode="dd/mm/yyyy">
                  <c:v>46134</c:v>
                </c:pt>
                <c:pt idx="80" formatCode="dd/mm/yyyy">
                  <c:v>46135</c:v>
                </c:pt>
                <c:pt idx="81" formatCode="dd/mm/yyyy">
                  <c:v>46136</c:v>
                </c:pt>
                <c:pt idx="82" formatCode="dd/mm/yyyy">
                  <c:v>46139</c:v>
                </c:pt>
                <c:pt idx="83" formatCode="dd/mm/yyyy">
                  <c:v>46140</c:v>
                </c:pt>
                <c:pt idx="84" formatCode="dd/mm/yyyy">
                  <c:v>46141</c:v>
                </c:pt>
                <c:pt idx="85" formatCode="dd/mm/yyyy">
                  <c:v>46142</c:v>
                </c:pt>
                <c:pt idx="86" formatCode="dd/mm/yyyy">
                  <c:v>46143</c:v>
                </c:pt>
                <c:pt idx="87" formatCode="dd/mm/yyyy">
                  <c:v>46146</c:v>
                </c:pt>
                <c:pt idx="88" formatCode="dd/mm/yyyy">
                  <c:v>46147</c:v>
                </c:pt>
                <c:pt idx="89" formatCode="dd/mm/yyyy">
                  <c:v>46148</c:v>
                </c:pt>
                <c:pt idx="90" formatCode="dd/mm/yyyy">
                  <c:v>46149</c:v>
                </c:pt>
                <c:pt idx="91" formatCode="dd/mm/yyyy">
                  <c:v>46150</c:v>
                </c:pt>
                <c:pt idx="92" formatCode="dd/mm/yyyy">
                  <c:v>46153</c:v>
                </c:pt>
                <c:pt idx="93" formatCode="dd/mm/yyyy">
                  <c:v>46154</c:v>
                </c:pt>
                <c:pt idx="94" formatCode="dd/mm/yyyy">
                  <c:v>46155</c:v>
                </c:pt>
                <c:pt idx="95" formatCode="dd/mm/yyyy">
                  <c:v>46156</c:v>
                </c:pt>
                <c:pt idx="96" formatCode="dd/mm/yyyy">
                  <c:v>46157</c:v>
                </c:pt>
                <c:pt idx="97" formatCode="dd/mm/yyyy">
                  <c:v>46160</c:v>
                </c:pt>
                <c:pt idx="98" formatCode="dd/mm/yyyy">
                  <c:v>46161</c:v>
                </c:pt>
                <c:pt idx="99" formatCode="dd/mm/yyyy">
                  <c:v>46162</c:v>
                </c:pt>
              </c:numCache>
            </c:numRef>
          </c:cat>
          <c:val>
            <c:numRef>
              <c:f>Sheet1!$D$2:$D$101</c:f>
              <c:numCache>
                <c:formatCode>0.0%</c:formatCode>
                <c:ptCount val="100"/>
                <c:pt idx="0">
                  <c:v>0</c:v>
                </c:pt>
                <c:pt idx="1">
                  <c:v>0</c:v>
                </c:pt>
                <c:pt idx="2">
                  <c:v>2.9664986606933619E-2</c:v>
                </c:pt>
                <c:pt idx="3">
                  <c:v>4.3278158614272533E-2</c:v>
                </c:pt>
                <c:pt idx="4">
                  <c:v>3.2231163293701126E-2</c:v>
                </c:pt>
                <c:pt idx="5">
                  <c:v>1.5450695954745575E-2</c:v>
                </c:pt>
                <c:pt idx="6">
                  <c:v>3.1792342709936472E-2</c:v>
                </c:pt>
                <c:pt idx="7">
                  <c:v>3.1792342709936472E-2</c:v>
                </c:pt>
                <c:pt idx="8">
                  <c:v>6.3760690416349242E-2</c:v>
                </c:pt>
                <c:pt idx="9">
                  <c:v>7.9495258989564554E-2</c:v>
                </c:pt>
                <c:pt idx="10">
                  <c:v>7.4911778985400579E-2</c:v>
                </c:pt>
                <c:pt idx="11">
                  <c:v>7.1448691961061073E-2</c:v>
                </c:pt>
                <c:pt idx="12">
                  <c:v>6.444424932478432E-2</c:v>
                </c:pt>
                <c:pt idx="13">
                  <c:v>5.2674759453216424E-2</c:v>
                </c:pt>
                <c:pt idx="14">
                  <c:v>4.8374754765047268E-2</c:v>
                </c:pt>
                <c:pt idx="15">
                  <c:v>6.6536444158739716E-2</c:v>
                </c:pt>
                <c:pt idx="16">
                  <c:v>6.9674736409672811E-2</c:v>
                </c:pt>
                <c:pt idx="17">
                  <c:v>5.0572036103670559E-2</c:v>
                </c:pt>
                <c:pt idx="18">
                  <c:v>5.947737243213469E-2</c:v>
                </c:pt>
                <c:pt idx="19">
                  <c:v>5.9977377597066894E-2</c:v>
                </c:pt>
                <c:pt idx="20">
                  <c:v>6.0312899537301456E-2</c:v>
                </c:pt>
                <c:pt idx="21">
                  <c:v>5.9265014259185733E-2</c:v>
                </c:pt>
                <c:pt idx="22">
                  <c:v>4.6001667081185582E-2</c:v>
                </c:pt>
                <c:pt idx="23">
                  <c:v>8.7032682896207803E-2</c:v>
                </c:pt>
                <c:pt idx="24">
                  <c:v>7.8544315515376661E-2</c:v>
                </c:pt>
                <c:pt idx="25">
                  <c:v>6.9102024891794622E-2</c:v>
                </c:pt>
                <c:pt idx="26">
                  <c:v>7.7756067404748608E-2</c:v>
                </c:pt>
                <c:pt idx="27">
                  <c:v>0.11967664346155349</c:v>
                </c:pt>
                <c:pt idx="28">
                  <c:v>0.14523511168569869</c:v>
                </c:pt>
                <c:pt idx="29">
                  <c:v>0.14523511168569869</c:v>
                </c:pt>
                <c:pt idx="30">
                  <c:v>0.14502255486151205</c:v>
                </c:pt>
                <c:pt idx="31">
                  <c:v>0.13115928094608842</c:v>
                </c:pt>
                <c:pt idx="32">
                  <c:v>0.12846636476975926</c:v>
                </c:pt>
                <c:pt idx="33">
                  <c:v>0.12370032427828015</c:v>
                </c:pt>
                <c:pt idx="34">
                  <c:v>0.13516945347866116</c:v>
                </c:pt>
                <c:pt idx="35">
                  <c:v>0.14160555492428606</c:v>
                </c:pt>
                <c:pt idx="36">
                  <c:v>0.12884956300700745</c:v>
                </c:pt>
                <c:pt idx="37">
                  <c:v>0.12884956300700745</c:v>
                </c:pt>
                <c:pt idx="38">
                  <c:v>0.13869054666436753</c:v>
                </c:pt>
                <c:pt idx="39">
                  <c:v>0.1637609287978341</c:v>
                </c:pt>
                <c:pt idx="40">
                  <c:v>0.16714336341972524</c:v>
                </c:pt>
                <c:pt idx="41">
                  <c:v>0.16906789660918209</c:v>
                </c:pt>
                <c:pt idx="42">
                  <c:v>0.15331425751716132</c:v>
                </c:pt>
                <c:pt idx="43">
                  <c:v>0.11799029310592801</c:v>
                </c:pt>
                <c:pt idx="44">
                  <c:v>7.7594365297376955E-2</c:v>
                </c:pt>
                <c:pt idx="45">
                  <c:v>9.8105502877661621E-2</c:v>
                </c:pt>
                <c:pt idx="46">
                  <c:v>0.10491486999865707</c:v>
                </c:pt>
                <c:pt idx="47">
                  <c:v>4.7462548282183326E-2</c:v>
                </c:pt>
                <c:pt idx="48">
                  <c:v>7.7650980900080713E-2</c:v>
                </c:pt>
                <c:pt idx="49">
                  <c:v>9.3085784755821965E-2</c:v>
                </c:pt>
                <c:pt idx="50">
                  <c:v>8.1714789266793986E-2</c:v>
                </c:pt>
                <c:pt idx="51">
                  <c:v>6.913321313609111E-2</c:v>
                </c:pt>
                <c:pt idx="52">
                  <c:v>6.777324676377261E-2</c:v>
                </c:pt>
                <c:pt idx="53">
                  <c:v>6.6764893081930898E-2</c:v>
                </c:pt>
                <c:pt idx="54">
                  <c:v>9.7337517193264667E-2</c:v>
                </c:pt>
                <c:pt idx="55">
                  <c:v>6.0251913607371366E-2</c:v>
                </c:pt>
                <c:pt idx="56">
                  <c:v>6.0251913607371366E-2</c:v>
                </c:pt>
                <c:pt idx="57">
                  <c:v>2.3361584187997053E-2</c:v>
                </c:pt>
                <c:pt idx="58">
                  <c:v>3.7998008719994703E-2</c:v>
                </c:pt>
                <c:pt idx="59">
                  <c:v>6.7742853124426405E-2</c:v>
                </c:pt>
                <c:pt idx="60">
                  <c:v>6.4843141009799821E-2</c:v>
                </c:pt>
                <c:pt idx="61">
                  <c:v>6.0262640774199516E-2</c:v>
                </c:pt>
                <c:pt idx="62">
                  <c:v>3.0718831422175796E-2</c:v>
                </c:pt>
                <c:pt idx="63">
                  <c:v>1.4387117228862767E-2</c:v>
                </c:pt>
                <c:pt idx="64">
                  <c:v>6.7545393794294251E-2</c:v>
                </c:pt>
                <c:pt idx="65">
                  <c:v>4.2189351181219914E-2</c:v>
                </c:pt>
                <c:pt idx="66">
                  <c:v>5.530470318723979E-2</c:v>
                </c:pt>
                <c:pt idx="67">
                  <c:v>6.1069363449920422E-2</c:v>
                </c:pt>
                <c:pt idx="68">
                  <c:v>6.1384821615161567E-2</c:v>
                </c:pt>
                <c:pt idx="69">
                  <c:v>0.11857373179063413</c:v>
                </c:pt>
                <c:pt idx="70">
                  <c:v>0.1103674491671347</c:v>
                </c:pt>
                <c:pt idx="71">
                  <c:v>0.13080448983581072</c:v>
                </c:pt>
                <c:pt idx="72">
                  <c:v>0.12243451859256371</c:v>
                </c:pt>
                <c:pt idx="73">
                  <c:v>0.14974151500969013</c:v>
                </c:pt>
                <c:pt idx="74">
                  <c:v>0.15484387204635386</c:v>
                </c:pt>
                <c:pt idx="75">
                  <c:v>0.18233918983668462</c:v>
                </c:pt>
                <c:pt idx="76">
                  <c:v>0.16163099022874294</c:v>
                </c:pt>
                <c:pt idx="77">
                  <c:v>0.16856371976826123</c:v>
                </c:pt>
                <c:pt idx="78">
                  <c:v>0.17897860685092493</c:v>
                </c:pt>
                <c:pt idx="79">
                  <c:v>0.18368048299267281</c:v>
                </c:pt>
                <c:pt idx="80">
                  <c:v>0.17482798789339893</c:v>
                </c:pt>
                <c:pt idx="81">
                  <c:v>0.18626930592052204</c:v>
                </c:pt>
                <c:pt idx="82">
                  <c:v>0.20258214824626708</c:v>
                </c:pt>
                <c:pt idx="83">
                  <c:v>0.19026775803007889</c:v>
                </c:pt>
                <c:pt idx="84">
                  <c:v>0.19026775803007889</c:v>
                </c:pt>
                <c:pt idx="85">
                  <c:v>0.17770227264961802</c:v>
                </c:pt>
                <c:pt idx="86">
                  <c:v>0.18223549389067983</c:v>
                </c:pt>
                <c:pt idx="87">
                  <c:v>0.18223549389067983</c:v>
                </c:pt>
                <c:pt idx="88">
                  <c:v>0.18223549389067983</c:v>
                </c:pt>
                <c:pt idx="89">
                  <c:v>0.18223549389067983</c:v>
                </c:pt>
                <c:pt idx="90">
                  <c:v>0.24820200764886713</c:v>
                </c:pt>
                <c:pt idx="91">
                  <c:v>0.24581441842466378</c:v>
                </c:pt>
                <c:pt idx="92">
                  <c:v>0.23993891077142626</c:v>
                </c:pt>
                <c:pt idx="93">
                  <c:v>0.24638891780368</c:v>
                </c:pt>
                <c:pt idx="94">
                  <c:v>0.25690829543729876</c:v>
                </c:pt>
                <c:pt idx="95">
                  <c:v>0.24463045704882136</c:v>
                </c:pt>
                <c:pt idx="96">
                  <c:v>0.21990314560261637</c:v>
                </c:pt>
                <c:pt idx="97">
                  <c:v>0.20811637307338082</c:v>
                </c:pt>
                <c:pt idx="98">
                  <c:v>0.20284496383355544</c:v>
                </c:pt>
                <c:pt idx="99">
                  <c:v>0.18802200578949169</c:v>
                </c:pt>
              </c:numCache>
            </c:numRef>
          </c:val>
          <c:smooth val="0"/>
          <c:extLst>
            <c:ext xmlns:c16="http://schemas.microsoft.com/office/drawing/2014/chart" uri="{C3380CC4-5D6E-409C-BE32-E72D297353CC}">
              <c16:uniqueId val="{00000002-AA22-4B26-9883-0E338E41F679}"/>
            </c:ext>
          </c:extLst>
        </c:ser>
        <c:ser>
          <c:idx val="3"/>
          <c:order val="3"/>
          <c:tx>
            <c:strRef>
              <c:f>Sheet1!$E$1</c:f>
              <c:strCache>
                <c:ptCount val="1"/>
                <c:pt idx="0">
                  <c:v>SHCOMP Index</c:v>
                </c:pt>
              </c:strCache>
            </c:strRef>
          </c:tx>
          <c:spPr>
            <a:ln w="28575" cap="rnd">
              <a:solidFill>
                <a:schemeClr val="accent4"/>
              </a:solidFill>
              <a:round/>
            </a:ln>
            <a:effectLst/>
          </c:spPr>
          <c:marker>
            <c:symbol val="none"/>
          </c:marker>
          <c:cat>
            <c:numRef>
              <c:f>Sheet1!$A$2:$A$101</c:f>
              <c:numCache>
                <c:formatCode>m/d/yyyy</c:formatCode>
                <c:ptCount val="100"/>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formatCode="dd/mm/yyyy">
                  <c:v>46049</c:v>
                </c:pt>
                <c:pt idx="19" formatCode="dd/mm/yyyy">
                  <c:v>46050</c:v>
                </c:pt>
                <c:pt idx="20" formatCode="dd/mm/yyyy">
                  <c:v>46051</c:v>
                </c:pt>
                <c:pt idx="21" formatCode="dd/mm/yyyy">
                  <c:v>46052</c:v>
                </c:pt>
                <c:pt idx="22" formatCode="dd/mm/yyyy">
                  <c:v>46055</c:v>
                </c:pt>
                <c:pt idx="23" formatCode="dd/mm/yyyy">
                  <c:v>46056</c:v>
                </c:pt>
                <c:pt idx="24" formatCode="dd/mm/yyyy">
                  <c:v>46057</c:v>
                </c:pt>
                <c:pt idx="25" formatCode="dd/mm/yyyy">
                  <c:v>46058</c:v>
                </c:pt>
                <c:pt idx="26" formatCode="dd/mm/yyyy">
                  <c:v>46059</c:v>
                </c:pt>
                <c:pt idx="27" formatCode="dd/mm/yyyy">
                  <c:v>46062</c:v>
                </c:pt>
                <c:pt idx="28" formatCode="dd/mm/yyyy">
                  <c:v>46063</c:v>
                </c:pt>
                <c:pt idx="29" formatCode="dd/mm/yyyy">
                  <c:v>46064</c:v>
                </c:pt>
                <c:pt idx="30" formatCode="dd/mm/yyyy">
                  <c:v>46065</c:v>
                </c:pt>
                <c:pt idx="31" formatCode="dd/mm/yyyy">
                  <c:v>46066</c:v>
                </c:pt>
                <c:pt idx="32" formatCode="dd/mm/yyyy">
                  <c:v>46069</c:v>
                </c:pt>
                <c:pt idx="33" formatCode="dd/mm/yyyy">
                  <c:v>46070</c:v>
                </c:pt>
                <c:pt idx="34" formatCode="dd/mm/yyyy">
                  <c:v>46071</c:v>
                </c:pt>
                <c:pt idx="35" formatCode="dd/mm/yyyy">
                  <c:v>46072</c:v>
                </c:pt>
                <c:pt idx="36" formatCode="dd/mm/yyyy">
                  <c:v>46073</c:v>
                </c:pt>
                <c:pt idx="37" formatCode="dd/mm/yyyy">
                  <c:v>46076</c:v>
                </c:pt>
                <c:pt idx="38" formatCode="dd/mm/yyyy">
                  <c:v>46077</c:v>
                </c:pt>
                <c:pt idx="39" formatCode="dd/mm/yyyy">
                  <c:v>46078</c:v>
                </c:pt>
                <c:pt idx="40" formatCode="dd/mm/yyyy">
                  <c:v>46079</c:v>
                </c:pt>
                <c:pt idx="41" formatCode="dd/mm/yyyy">
                  <c:v>46080</c:v>
                </c:pt>
                <c:pt idx="42" formatCode="dd/mm/yyyy">
                  <c:v>46083</c:v>
                </c:pt>
                <c:pt idx="43" formatCode="dd/mm/yyyy">
                  <c:v>46084</c:v>
                </c:pt>
                <c:pt idx="44" formatCode="dd/mm/yyyy">
                  <c:v>46085</c:v>
                </c:pt>
                <c:pt idx="45" formatCode="dd/mm/yyyy">
                  <c:v>46086</c:v>
                </c:pt>
                <c:pt idx="46" formatCode="dd/mm/yyyy">
                  <c:v>46087</c:v>
                </c:pt>
                <c:pt idx="47" formatCode="dd/mm/yyyy">
                  <c:v>46090</c:v>
                </c:pt>
                <c:pt idx="48" formatCode="dd/mm/yyyy">
                  <c:v>46091</c:v>
                </c:pt>
                <c:pt idx="49" formatCode="dd/mm/yyyy">
                  <c:v>46092</c:v>
                </c:pt>
                <c:pt idx="50" formatCode="dd/mm/yyyy">
                  <c:v>46093</c:v>
                </c:pt>
                <c:pt idx="51" formatCode="dd/mm/yyyy">
                  <c:v>46094</c:v>
                </c:pt>
                <c:pt idx="52" formatCode="dd/mm/yyyy">
                  <c:v>46097</c:v>
                </c:pt>
                <c:pt idx="53" formatCode="dd/mm/yyyy">
                  <c:v>46098</c:v>
                </c:pt>
                <c:pt idx="54" formatCode="dd/mm/yyyy">
                  <c:v>46099</c:v>
                </c:pt>
                <c:pt idx="55" formatCode="dd/mm/yyyy">
                  <c:v>46100</c:v>
                </c:pt>
                <c:pt idx="56" formatCode="dd/mm/yyyy">
                  <c:v>46101</c:v>
                </c:pt>
                <c:pt idx="57" formatCode="dd/mm/yyyy">
                  <c:v>46104</c:v>
                </c:pt>
                <c:pt idx="58" formatCode="dd/mm/yyyy">
                  <c:v>46105</c:v>
                </c:pt>
                <c:pt idx="59" formatCode="dd/mm/yyyy">
                  <c:v>46106</c:v>
                </c:pt>
                <c:pt idx="60" formatCode="dd/mm/yyyy">
                  <c:v>46107</c:v>
                </c:pt>
                <c:pt idx="61" formatCode="dd/mm/yyyy">
                  <c:v>46108</c:v>
                </c:pt>
                <c:pt idx="62" formatCode="dd/mm/yyyy">
                  <c:v>46111</c:v>
                </c:pt>
                <c:pt idx="63" formatCode="dd/mm/yyyy">
                  <c:v>46112</c:v>
                </c:pt>
                <c:pt idx="64" formatCode="dd/mm/yyyy">
                  <c:v>46113</c:v>
                </c:pt>
                <c:pt idx="65" formatCode="dd/mm/yyyy">
                  <c:v>46114</c:v>
                </c:pt>
                <c:pt idx="66" formatCode="dd/mm/yyyy">
                  <c:v>46115</c:v>
                </c:pt>
                <c:pt idx="67" formatCode="dd/mm/yyyy">
                  <c:v>46118</c:v>
                </c:pt>
                <c:pt idx="68" formatCode="dd/mm/yyyy">
                  <c:v>46119</c:v>
                </c:pt>
                <c:pt idx="69" formatCode="dd/mm/yyyy">
                  <c:v>46120</c:v>
                </c:pt>
                <c:pt idx="70" formatCode="dd/mm/yyyy">
                  <c:v>46121</c:v>
                </c:pt>
                <c:pt idx="71" formatCode="dd/mm/yyyy">
                  <c:v>46122</c:v>
                </c:pt>
                <c:pt idx="72" formatCode="dd/mm/yyyy">
                  <c:v>46125</c:v>
                </c:pt>
                <c:pt idx="73" formatCode="dd/mm/yyyy">
                  <c:v>46126</c:v>
                </c:pt>
                <c:pt idx="74" formatCode="dd/mm/yyyy">
                  <c:v>46127</c:v>
                </c:pt>
                <c:pt idx="75" formatCode="dd/mm/yyyy">
                  <c:v>46128</c:v>
                </c:pt>
                <c:pt idx="76" formatCode="dd/mm/yyyy">
                  <c:v>46129</c:v>
                </c:pt>
                <c:pt idx="77" formatCode="dd/mm/yyyy">
                  <c:v>46132</c:v>
                </c:pt>
                <c:pt idx="78" formatCode="dd/mm/yyyy">
                  <c:v>46133</c:v>
                </c:pt>
                <c:pt idx="79" formatCode="dd/mm/yyyy">
                  <c:v>46134</c:v>
                </c:pt>
                <c:pt idx="80" formatCode="dd/mm/yyyy">
                  <c:v>46135</c:v>
                </c:pt>
                <c:pt idx="81" formatCode="dd/mm/yyyy">
                  <c:v>46136</c:v>
                </c:pt>
                <c:pt idx="82" formatCode="dd/mm/yyyy">
                  <c:v>46139</c:v>
                </c:pt>
                <c:pt idx="83" formatCode="dd/mm/yyyy">
                  <c:v>46140</c:v>
                </c:pt>
                <c:pt idx="84" formatCode="dd/mm/yyyy">
                  <c:v>46141</c:v>
                </c:pt>
                <c:pt idx="85" formatCode="dd/mm/yyyy">
                  <c:v>46142</c:v>
                </c:pt>
                <c:pt idx="86" formatCode="dd/mm/yyyy">
                  <c:v>46143</c:v>
                </c:pt>
                <c:pt idx="87" formatCode="dd/mm/yyyy">
                  <c:v>46146</c:v>
                </c:pt>
                <c:pt idx="88" formatCode="dd/mm/yyyy">
                  <c:v>46147</c:v>
                </c:pt>
                <c:pt idx="89" formatCode="dd/mm/yyyy">
                  <c:v>46148</c:v>
                </c:pt>
                <c:pt idx="90" formatCode="dd/mm/yyyy">
                  <c:v>46149</c:v>
                </c:pt>
                <c:pt idx="91" formatCode="dd/mm/yyyy">
                  <c:v>46150</c:v>
                </c:pt>
                <c:pt idx="92" formatCode="dd/mm/yyyy">
                  <c:v>46153</c:v>
                </c:pt>
                <c:pt idx="93" formatCode="dd/mm/yyyy">
                  <c:v>46154</c:v>
                </c:pt>
                <c:pt idx="94" formatCode="dd/mm/yyyy">
                  <c:v>46155</c:v>
                </c:pt>
                <c:pt idx="95" formatCode="dd/mm/yyyy">
                  <c:v>46156</c:v>
                </c:pt>
                <c:pt idx="96" formatCode="dd/mm/yyyy">
                  <c:v>46157</c:v>
                </c:pt>
                <c:pt idx="97" formatCode="dd/mm/yyyy">
                  <c:v>46160</c:v>
                </c:pt>
                <c:pt idx="98" formatCode="dd/mm/yyyy">
                  <c:v>46161</c:v>
                </c:pt>
                <c:pt idx="99" formatCode="dd/mm/yyyy">
                  <c:v>46162</c:v>
                </c:pt>
              </c:numCache>
            </c:numRef>
          </c:cat>
          <c:val>
            <c:numRef>
              <c:f>Sheet1!$E$2:$E$101</c:f>
              <c:numCache>
                <c:formatCode>0.0%</c:formatCode>
                <c:ptCount val="100"/>
                <c:pt idx="0">
                  <c:v>0</c:v>
                </c:pt>
                <c:pt idx="1">
                  <c:v>0</c:v>
                </c:pt>
                <c:pt idx="2">
                  <c:v>1.3751373197206096E-2</c:v>
                </c:pt>
                <c:pt idx="3">
                  <c:v>2.8932131302849218E-2</c:v>
                </c:pt>
                <c:pt idx="4">
                  <c:v>2.946251297608371E-2</c:v>
                </c:pt>
                <c:pt idx="5">
                  <c:v>2.8758780903236136E-2</c:v>
                </c:pt>
                <c:pt idx="6">
                  <c:v>3.8194031505427439E-2</c:v>
                </c:pt>
                <c:pt idx="7">
                  <c:v>4.9497334233680412E-2</c:v>
                </c:pt>
                <c:pt idx="8">
                  <c:v>4.2813013374184861E-2</c:v>
                </c:pt>
                <c:pt idx="9">
                  <c:v>3.9621904637123118E-2</c:v>
                </c:pt>
                <c:pt idx="10">
                  <c:v>3.6222422672619548E-2</c:v>
                </c:pt>
                <c:pt idx="11">
                  <c:v>3.3529444371654948E-2</c:v>
                </c:pt>
                <c:pt idx="12">
                  <c:v>3.6574918616018692E-2</c:v>
                </c:pt>
                <c:pt idx="13">
                  <c:v>3.6486479676681505E-2</c:v>
                </c:pt>
                <c:pt idx="14">
                  <c:v>3.7315689219016068E-2</c:v>
                </c:pt>
                <c:pt idx="15">
                  <c:v>3.873575150421793E-2</c:v>
                </c:pt>
                <c:pt idx="16">
                  <c:v>4.2159421896574178E-2</c:v>
                </c:pt>
                <c:pt idx="17">
                  <c:v>4.1262686326483111E-2</c:v>
                </c:pt>
                <c:pt idx="18">
                  <c:v>4.3101762731679871E-2</c:v>
                </c:pt>
                <c:pt idx="19">
                  <c:v>4.5957508995071672E-2</c:v>
                </c:pt>
                <c:pt idx="20">
                  <c:v>4.7657249977323346E-2</c:v>
                </c:pt>
                <c:pt idx="21">
                  <c:v>3.7569667711472521E-2</c:v>
                </c:pt>
                <c:pt idx="22">
                  <c:v>1.1818566634079541E-2</c:v>
                </c:pt>
                <c:pt idx="23">
                  <c:v>2.4918616018786199E-2</c:v>
                </c:pt>
                <c:pt idx="24">
                  <c:v>3.3602261618004281E-2</c:v>
                </c:pt>
                <c:pt idx="25">
                  <c:v>2.6979419679301619E-2</c:v>
                </c:pt>
                <c:pt idx="26">
                  <c:v>2.4375636206044993E-2</c:v>
                </c:pt>
                <c:pt idx="27">
                  <c:v>3.8865260378347255E-2</c:v>
                </c:pt>
                <c:pt idx="28">
                  <c:v>4.019637979863111E-2</c:v>
                </c:pt>
                <c:pt idx="29">
                  <c:v>4.1106469396599454E-2</c:v>
                </c:pt>
                <c:pt idx="30">
                  <c:v>4.1618709748944216E-2</c:v>
                </c:pt>
                <c:pt idx="31">
                  <c:v>2.853050261537371E-2</c:v>
                </c:pt>
                <c:pt idx="32">
                  <c:v>2.853050261537371E-2</c:v>
                </c:pt>
                <c:pt idx="33">
                  <c:v>2.853050261537371E-2</c:v>
                </c:pt>
                <c:pt idx="34">
                  <c:v>2.853050261537371E-2</c:v>
                </c:pt>
                <c:pt idx="35">
                  <c:v>2.853050261537371E-2</c:v>
                </c:pt>
                <c:pt idx="36">
                  <c:v>2.853050261537371E-2</c:v>
                </c:pt>
                <c:pt idx="37">
                  <c:v>2.853050261537371E-2</c:v>
                </c:pt>
                <c:pt idx="38">
                  <c:v>3.7433859767589395E-2</c:v>
                </c:pt>
                <c:pt idx="39">
                  <c:v>4.4947642132209698E-2</c:v>
                </c:pt>
                <c:pt idx="40">
                  <c:v>4.4796716420919092E-2</c:v>
                </c:pt>
                <c:pt idx="41">
                  <c:v>4.8891111760615225E-2</c:v>
                </c:pt>
                <c:pt idx="42">
                  <c:v>5.3857298354179184E-2</c:v>
                </c:pt>
                <c:pt idx="43">
                  <c:v>3.8760947783231359E-2</c:v>
                </c:pt>
                <c:pt idx="44">
                  <c:v>2.8631539694218056E-2</c:v>
                </c:pt>
                <c:pt idx="45">
                  <c:v>3.5206004777214472E-2</c:v>
                </c:pt>
                <c:pt idx="46">
                  <c:v>3.9143427298656608E-2</c:v>
                </c:pt>
                <c:pt idx="47">
                  <c:v>3.2191521956037583E-2</c:v>
                </c:pt>
                <c:pt idx="48">
                  <c:v>3.8877354592273816E-2</c:v>
                </c:pt>
                <c:pt idx="49">
                  <c:v>4.1471311516715126E-2</c:v>
                </c:pt>
                <c:pt idx="50">
                  <c:v>4.0380312635430071E-2</c:v>
                </c:pt>
                <c:pt idx="51">
                  <c:v>3.1900504933431328E-2</c:v>
                </c:pt>
                <c:pt idx="52">
                  <c:v>2.9214077665010496E-2</c:v>
                </c:pt>
                <c:pt idx="53">
                  <c:v>2.0425867507886331E-2</c:v>
                </c:pt>
                <c:pt idx="54">
                  <c:v>2.3720784914483817E-2</c:v>
                </c:pt>
                <c:pt idx="55">
                  <c:v>9.5020207415767999E-3</c:v>
                </c:pt>
                <c:pt idx="56">
                  <c:v>-2.9698854073231251E-3</c:v>
                </c:pt>
                <c:pt idx="57">
                  <c:v>-3.9194575745054028E-2</c:v>
                </c:pt>
                <c:pt idx="58">
                  <c:v>-2.2061861904233981E-2</c:v>
                </c:pt>
                <c:pt idx="59">
                  <c:v>-9.3233791233711116E-3</c:v>
                </c:pt>
                <c:pt idx="60">
                  <c:v>-2.0095796252809439E-2</c:v>
                </c:pt>
                <c:pt idx="61">
                  <c:v>-1.3887181141089111E-2</c:v>
                </c:pt>
                <c:pt idx="62">
                  <c:v>-1.1477660979026694E-2</c:v>
                </c:pt>
                <c:pt idx="63">
                  <c:v>-1.9395843621814013E-2</c:v>
                </c:pt>
                <c:pt idx="64">
                  <c:v>-5.1118210862619584E-3</c:v>
                </c:pt>
                <c:pt idx="65">
                  <c:v>-1.2486016065147543E-2</c:v>
                </c:pt>
                <c:pt idx="66">
                  <c:v>-2.2359933884963823E-2</c:v>
                </c:pt>
                <c:pt idx="67">
                  <c:v>-2.2359933884963823E-2</c:v>
                </c:pt>
                <c:pt idx="68">
                  <c:v>-1.9823172513883214E-2</c:v>
                </c:pt>
                <c:pt idx="69">
                  <c:v>6.5908426643552787E-3</c:v>
                </c:pt>
                <c:pt idx="70">
                  <c:v>-6.7248868687075358E-4</c:v>
                </c:pt>
                <c:pt idx="71">
                  <c:v>4.3803731064995244E-3</c:v>
                </c:pt>
                <c:pt idx="72">
                  <c:v>4.9682022958850158E-3</c:v>
                </c:pt>
                <c:pt idx="73">
                  <c:v>1.4559669827959754E-2</c:v>
                </c:pt>
                <c:pt idx="74">
                  <c:v>1.4706816097398656E-2</c:v>
                </c:pt>
                <c:pt idx="75">
                  <c:v>2.1846937644248721E-2</c:v>
                </c:pt>
                <c:pt idx="76">
                  <c:v>2.080834702331158E-2</c:v>
                </c:pt>
                <c:pt idx="77">
                  <c:v>2.8544108606040952E-2</c:v>
                </c:pt>
                <c:pt idx="78">
                  <c:v>2.928739883693976E-2</c:v>
                </c:pt>
                <c:pt idx="79">
                  <c:v>3.4624222694792373E-2</c:v>
                </c:pt>
                <c:pt idx="80">
                  <c:v>3.1346690720714276E-2</c:v>
                </c:pt>
                <c:pt idx="81">
                  <c:v>2.7982987472410015E-2</c:v>
                </c:pt>
                <c:pt idx="82">
                  <c:v>2.9606635692041028E-2</c:v>
                </c:pt>
                <c:pt idx="83">
                  <c:v>2.7664758468469275E-2</c:v>
                </c:pt>
                <c:pt idx="84">
                  <c:v>3.4940687959202243E-2</c:v>
                </c:pt>
                <c:pt idx="85">
                  <c:v>3.6111055119379953E-2</c:v>
                </c:pt>
                <c:pt idx="86">
                  <c:v>3.6111055119379953E-2</c:v>
                </c:pt>
                <c:pt idx="87">
                  <c:v>3.6111055119379953E-2</c:v>
                </c:pt>
                <c:pt idx="88">
                  <c:v>3.6111055119379953E-2</c:v>
                </c:pt>
                <c:pt idx="89">
                  <c:v>4.8209048487719341E-2</c:v>
                </c:pt>
                <c:pt idx="90">
                  <c:v>5.3227643341631214E-2</c:v>
                </c:pt>
                <c:pt idx="91">
                  <c:v>5.3192620513802691E-2</c:v>
                </c:pt>
                <c:pt idx="92">
                  <c:v>6.454807953961339E-2</c:v>
                </c:pt>
                <c:pt idx="93">
                  <c:v>6.1894407433910059E-2</c:v>
                </c:pt>
                <c:pt idx="94">
                  <c:v>6.8970278469275614E-2</c:v>
                </c:pt>
                <c:pt idx="95">
                  <c:v>5.2679624273087367E-2</c:v>
                </c:pt>
                <c:pt idx="96">
                  <c:v>4.1964150734219663E-2</c:v>
                </c:pt>
                <c:pt idx="97">
                  <c:v>4.0991322401507713E-2</c:v>
                </c:pt>
                <c:pt idx="98">
                  <c:v>5.0568428054544645E-2</c:v>
                </c:pt>
                <c:pt idx="99">
                  <c:v>4.8715745658681087E-2</c:v>
                </c:pt>
              </c:numCache>
            </c:numRef>
          </c:val>
          <c:smooth val="0"/>
          <c:extLst>
            <c:ext xmlns:c16="http://schemas.microsoft.com/office/drawing/2014/chart" uri="{C3380CC4-5D6E-409C-BE32-E72D297353CC}">
              <c16:uniqueId val="{00000003-AA22-4B26-9883-0E338E41F679}"/>
            </c:ext>
          </c:extLst>
        </c:ser>
        <c:ser>
          <c:idx val="4"/>
          <c:order val="4"/>
          <c:tx>
            <c:strRef>
              <c:f>Sheet1!$F$1</c:f>
              <c:strCache>
                <c:ptCount val="1"/>
                <c:pt idx="0">
                  <c:v>STI Index</c:v>
                </c:pt>
              </c:strCache>
            </c:strRef>
          </c:tx>
          <c:spPr>
            <a:ln w="28575" cap="rnd">
              <a:solidFill>
                <a:schemeClr val="accent5"/>
              </a:solidFill>
              <a:round/>
            </a:ln>
            <a:effectLst/>
          </c:spPr>
          <c:marker>
            <c:symbol val="none"/>
          </c:marker>
          <c:cat>
            <c:numRef>
              <c:f>Sheet1!$A$2:$A$101</c:f>
              <c:numCache>
                <c:formatCode>m/d/yyyy</c:formatCode>
                <c:ptCount val="100"/>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formatCode="dd/mm/yyyy">
                  <c:v>46049</c:v>
                </c:pt>
                <c:pt idx="19" formatCode="dd/mm/yyyy">
                  <c:v>46050</c:v>
                </c:pt>
                <c:pt idx="20" formatCode="dd/mm/yyyy">
                  <c:v>46051</c:v>
                </c:pt>
                <c:pt idx="21" formatCode="dd/mm/yyyy">
                  <c:v>46052</c:v>
                </c:pt>
                <c:pt idx="22" formatCode="dd/mm/yyyy">
                  <c:v>46055</c:v>
                </c:pt>
                <c:pt idx="23" formatCode="dd/mm/yyyy">
                  <c:v>46056</c:v>
                </c:pt>
                <c:pt idx="24" formatCode="dd/mm/yyyy">
                  <c:v>46057</c:v>
                </c:pt>
                <c:pt idx="25" formatCode="dd/mm/yyyy">
                  <c:v>46058</c:v>
                </c:pt>
                <c:pt idx="26" formatCode="dd/mm/yyyy">
                  <c:v>46059</c:v>
                </c:pt>
                <c:pt idx="27" formatCode="dd/mm/yyyy">
                  <c:v>46062</c:v>
                </c:pt>
                <c:pt idx="28" formatCode="dd/mm/yyyy">
                  <c:v>46063</c:v>
                </c:pt>
                <c:pt idx="29" formatCode="dd/mm/yyyy">
                  <c:v>46064</c:v>
                </c:pt>
                <c:pt idx="30" formatCode="dd/mm/yyyy">
                  <c:v>46065</c:v>
                </c:pt>
                <c:pt idx="31" formatCode="dd/mm/yyyy">
                  <c:v>46066</c:v>
                </c:pt>
                <c:pt idx="32" formatCode="dd/mm/yyyy">
                  <c:v>46069</c:v>
                </c:pt>
                <c:pt idx="33" formatCode="dd/mm/yyyy">
                  <c:v>46070</c:v>
                </c:pt>
                <c:pt idx="34" formatCode="dd/mm/yyyy">
                  <c:v>46071</c:v>
                </c:pt>
                <c:pt idx="35" formatCode="dd/mm/yyyy">
                  <c:v>46072</c:v>
                </c:pt>
                <c:pt idx="36" formatCode="dd/mm/yyyy">
                  <c:v>46073</c:v>
                </c:pt>
                <c:pt idx="37" formatCode="dd/mm/yyyy">
                  <c:v>46076</c:v>
                </c:pt>
                <c:pt idx="38" formatCode="dd/mm/yyyy">
                  <c:v>46077</c:v>
                </c:pt>
                <c:pt idx="39" formatCode="dd/mm/yyyy">
                  <c:v>46078</c:v>
                </c:pt>
                <c:pt idx="40" formatCode="dd/mm/yyyy">
                  <c:v>46079</c:v>
                </c:pt>
                <c:pt idx="41" formatCode="dd/mm/yyyy">
                  <c:v>46080</c:v>
                </c:pt>
                <c:pt idx="42" formatCode="dd/mm/yyyy">
                  <c:v>46083</c:v>
                </c:pt>
                <c:pt idx="43" formatCode="dd/mm/yyyy">
                  <c:v>46084</c:v>
                </c:pt>
                <c:pt idx="44" formatCode="dd/mm/yyyy">
                  <c:v>46085</c:v>
                </c:pt>
                <c:pt idx="45" formatCode="dd/mm/yyyy">
                  <c:v>46086</c:v>
                </c:pt>
                <c:pt idx="46" formatCode="dd/mm/yyyy">
                  <c:v>46087</c:v>
                </c:pt>
                <c:pt idx="47" formatCode="dd/mm/yyyy">
                  <c:v>46090</c:v>
                </c:pt>
                <c:pt idx="48" formatCode="dd/mm/yyyy">
                  <c:v>46091</c:v>
                </c:pt>
                <c:pt idx="49" formatCode="dd/mm/yyyy">
                  <c:v>46092</c:v>
                </c:pt>
                <c:pt idx="50" formatCode="dd/mm/yyyy">
                  <c:v>46093</c:v>
                </c:pt>
                <c:pt idx="51" formatCode="dd/mm/yyyy">
                  <c:v>46094</c:v>
                </c:pt>
                <c:pt idx="52" formatCode="dd/mm/yyyy">
                  <c:v>46097</c:v>
                </c:pt>
                <c:pt idx="53" formatCode="dd/mm/yyyy">
                  <c:v>46098</c:v>
                </c:pt>
                <c:pt idx="54" formatCode="dd/mm/yyyy">
                  <c:v>46099</c:v>
                </c:pt>
                <c:pt idx="55" formatCode="dd/mm/yyyy">
                  <c:v>46100</c:v>
                </c:pt>
                <c:pt idx="56" formatCode="dd/mm/yyyy">
                  <c:v>46101</c:v>
                </c:pt>
                <c:pt idx="57" formatCode="dd/mm/yyyy">
                  <c:v>46104</c:v>
                </c:pt>
                <c:pt idx="58" formatCode="dd/mm/yyyy">
                  <c:v>46105</c:v>
                </c:pt>
                <c:pt idx="59" formatCode="dd/mm/yyyy">
                  <c:v>46106</c:v>
                </c:pt>
                <c:pt idx="60" formatCode="dd/mm/yyyy">
                  <c:v>46107</c:v>
                </c:pt>
                <c:pt idx="61" formatCode="dd/mm/yyyy">
                  <c:v>46108</c:v>
                </c:pt>
                <c:pt idx="62" formatCode="dd/mm/yyyy">
                  <c:v>46111</c:v>
                </c:pt>
                <c:pt idx="63" formatCode="dd/mm/yyyy">
                  <c:v>46112</c:v>
                </c:pt>
                <c:pt idx="64" formatCode="dd/mm/yyyy">
                  <c:v>46113</c:v>
                </c:pt>
                <c:pt idx="65" formatCode="dd/mm/yyyy">
                  <c:v>46114</c:v>
                </c:pt>
                <c:pt idx="66" formatCode="dd/mm/yyyy">
                  <c:v>46115</c:v>
                </c:pt>
                <c:pt idx="67" formatCode="dd/mm/yyyy">
                  <c:v>46118</c:v>
                </c:pt>
                <c:pt idx="68" formatCode="dd/mm/yyyy">
                  <c:v>46119</c:v>
                </c:pt>
                <c:pt idx="69" formatCode="dd/mm/yyyy">
                  <c:v>46120</c:v>
                </c:pt>
                <c:pt idx="70" formatCode="dd/mm/yyyy">
                  <c:v>46121</c:v>
                </c:pt>
                <c:pt idx="71" formatCode="dd/mm/yyyy">
                  <c:v>46122</c:v>
                </c:pt>
                <c:pt idx="72" formatCode="dd/mm/yyyy">
                  <c:v>46125</c:v>
                </c:pt>
                <c:pt idx="73" formatCode="dd/mm/yyyy">
                  <c:v>46126</c:v>
                </c:pt>
                <c:pt idx="74" formatCode="dd/mm/yyyy">
                  <c:v>46127</c:v>
                </c:pt>
                <c:pt idx="75" formatCode="dd/mm/yyyy">
                  <c:v>46128</c:v>
                </c:pt>
                <c:pt idx="76" formatCode="dd/mm/yyyy">
                  <c:v>46129</c:v>
                </c:pt>
                <c:pt idx="77" formatCode="dd/mm/yyyy">
                  <c:v>46132</c:v>
                </c:pt>
                <c:pt idx="78" formatCode="dd/mm/yyyy">
                  <c:v>46133</c:v>
                </c:pt>
                <c:pt idx="79" formatCode="dd/mm/yyyy">
                  <c:v>46134</c:v>
                </c:pt>
                <c:pt idx="80" formatCode="dd/mm/yyyy">
                  <c:v>46135</c:v>
                </c:pt>
                <c:pt idx="81" formatCode="dd/mm/yyyy">
                  <c:v>46136</c:v>
                </c:pt>
                <c:pt idx="82" formatCode="dd/mm/yyyy">
                  <c:v>46139</c:v>
                </c:pt>
                <c:pt idx="83" formatCode="dd/mm/yyyy">
                  <c:v>46140</c:v>
                </c:pt>
                <c:pt idx="84" formatCode="dd/mm/yyyy">
                  <c:v>46141</c:v>
                </c:pt>
                <c:pt idx="85" formatCode="dd/mm/yyyy">
                  <c:v>46142</c:v>
                </c:pt>
                <c:pt idx="86" formatCode="dd/mm/yyyy">
                  <c:v>46143</c:v>
                </c:pt>
                <c:pt idx="87" formatCode="dd/mm/yyyy">
                  <c:v>46146</c:v>
                </c:pt>
                <c:pt idx="88" formatCode="dd/mm/yyyy">
                  <c:v>46147</c:v>
                </c:pt>
                <c:pt idx="89" formatCode="dd/mm/yyyy">
                  <c:v>46148</c:v>
                </c:pt>
                <c:pt idx="90" formatCode="dd/mm/yyyy">
                  <c:v>46149</c:v>
                </c:pt>
                <c:pt idx="91" formatCode="dd/mm/yyyy">
                  <c:v>46150</c:v>
                </c:pt>
                <c:pt idx="92" formatCode="dd/mm/yyyy">
                  <c:v>46153</c:v>
                </c:pt>
                <c:pt idx="93" formatCode="dd/mm/yyyy">
                  <c:v>46154</c:v>
                </c:pt>
                <c:pt idx="94" formatCode="dd/mm/yyyy">
                  <c:v>46155</c:v>
                </c:pt>
                <c:pt idx="95" formatCode="dd/mm/yyyy">
                  <c:v>46156</c:v>
                </c:pt>
                <c:pt idx="96" formatCode="dd/mm/yyyy">
                  <c:v>46157</c:v>
                </c:pt>
                <c:pt idx="97" formatCode="dd/mm/yyyy">
                  <c:v>46160</c:v>
                </c:pt>
                <c:pt idx="98" formatCode="dd/mm/yyyy">
                  <c:v>46161</c:v>
                </c:pt>
                <c:pt idx="99" formatCode="dd/mm/yyyy">
                  <c:v>46162</c:v>
                </c:pt>
              </c:numCache>
            </c:numRef>
          </c:cat>
          <c:val>
            <c:numRef>
              <c:f>Sheet1!$F$2:$F$101</c:f>
              <c:numCache>
                <c:formatCode>0.0%</c:formatCode>
                <c:ptCount val="100"/>
                <c:pt idx="0">
                  <c:v>0</c:v>
                </c:pt>
                <c:pt idx="1">
                  <c:v>2.1329212411835829E-3</c:v>
                </c:pt>
                <c:pt idx="2">
                  <c:v>7.3802088153569478E-3</c:v>
                </c:pt>
                <c:pt idx="3">
                  <c:v>2.0179888554327174E-2</c:v>
                </c:pt>
                <c:pt idx="4">
                  <c:v>2.1826391833343672E-2</c:v>
                </c:pt>
                <c:pt idx="5">
                  <c:v>1.9986182286207299E-2</c:v>
                </c:pt>
                <c:pt idx="6">
                  <c:v>2.1189313440417079E-2</c:v>
                </c:pt>
                <c:pt idx="7">
                  <c:v>2.5950183052423359E-2</c:v>
                </c:pt>
                <c:pt idx="8">
                  <c:v>3.4634680739785706E-2</c:v>
                </c:pt>
                <c:pt idx="9">
                  <c:v>3.57926137647675E-2</c:v>
                </c:pt>
                <c:pt idx="10">
                  <c:v>4.0275837725802344E-2</c:v>
                </c:pt>
                <c:pt idx="11">
                  <c:v>4.3667849709763562E-2</c:v>
                </c:pt>
                <c:pt idx="12">
                  <c:v>4.0607290673473573E-2</c:v>
                </c:pt>
                <c:pt idx="13">
                  <c:v>3.9126513868292578E-2</c:v>
                </c:pt>
                <c:pt idx="14">
                  <c:v>3.5226561003484536E-2</c:v>
                </c:pt>
                <c:pt idx="15">
                  <c:v>3.9195387208068366E-2</c:v>
                </c:pt>
                <c:pt idx="16">
                  <c:v>5.2782805770724917E-2</c:v>
                </c:pt>
                <c:pt idx="17">
                  <c:v>4.6214010989602317E-2</c:v>
                </c:pt>
                <c:pt idx="18">
                  <c:v>5.9577591197987223E-2</c:v>
                </c:pt>
                <c:pt idx="19">
                  <c:v>5.663325592256907E-2</c:v>
                </c:pt>
                <c:pt idx="20">
                  <c:v>6.1086347797452145E-2</c:v>
                </c:pt>
                <c:pt idx="21">
                  <c:v>5.5727141046143069E-2</c:v>
                </c:pt>
                <c:pt idx="22">
                  <c:v>5.2959293703900734E-2</c:v>
                </c:pt>
                <c:pt idx="23">
                  <c:v>6.4112470163854018E-2</c:v>
                </c:pt>
                <c:pt idx="24">
                  <c:v>6.8720527053232727E-2</c:v>
                </c:pt>
                <c:pt idx="25">
                  <c:v>7.0952453720344089E-2</c:v>
                </c:pt>
                <c:pt idx="26">
                  <c:v>6.2029051635634103E-2</c:v>
                </c:pt>
                <c:pt idx="27">
                  <c:v>6.7715406750878726E-2</c:v>
                </c:pt>
                <c:pt idx="28">
                  <c:v>6.8451490569733098E-2</c:v>
                </c:pt>
                <c:pt idx="29">
                  <c:v>7.2827099937368356E-2</c:v>
                </c:pt>
                <c:pt idx="30">
                  <c:v>7.9753175168578272E-2</c:v>
                </c:pt>
                <c:pt idx="31">
                  <c:v>6.2754373995148605E-2</c:v>
                </c:pt>
                <c:pt idx="32">
                  <c:v>6.2926557344588296E-2</c:v>
                </c:pt>
                <c:pt idx="33">
                  <c:v>6.2926557344588296E-2</c:v>
                </c:pt>
                <c:pt idx="34">
                  <c:v>6.2926557344588296E-2</c:v>
                </c:pt>
                <c:pt idx="35">
                  <c:v>7.6481691529225015E-2</c:v>
                </c:pt>
                <c:pt idx="36">
                  <c:v>7.9933967685489993E-2</c:v>
                </c:pt>
                <c:pt idx="37">
                  <c:v>8.5041356288243497E-2</c:v>
                </c:pt>
                <c:pt idx="38">
                  <c:v>8.0620548791380475E-2</c:v>
                </c:pt>
                <c:pt idx="39">
                  <c:v>7.7809655611777995E-2</c:v>
                </c:pt>
                <c:pt idx="40">
                  <c:v>6.8479470364017248E-2</c:v>
                </c:pt>
                <c:pt idx="41">
                  <c:v>7.5084854106895582E-2</c:v>
                </c:pt>
                <c:pt idx="42">
                  <c:v>5.265582055051321E-2</c:v>
                </c:pt>
                <c:pt idx="43">
                  <c:v>5.8206581278073877E-2</c:v>
                </c:pt>
                <c:pt idx="44">
                  <c:v>3.584426876959923E-2</c:v>
                </c:pt>
                <c:pt idx="45">
                  <c:v>4.3121167575292718E-2</c:v>
                </c:pt>
                <c:pt idx="46">
                  <c:v>4.3484904900983778E-2</c:v>
                </c:pt>
                <c:pt idx="47">
                  <c:v>2.3761302222671699E-2</c:v>
                </c:pt>
                <c:pt idx="48">
                  <c:v>4.6151594525430495E-2</c:v>
                </c:pt>
                <c:pt idx="49">
                  <c:v>4.6833871047585074E-2</c:v>
                </c:pt>
                <c:pt idx="50">
                  <c:v>4.5008727543524696E-2</c:v>
                </c:pt>
                <c:pt idx="51">
                  <c:v>4.2197834363922437E-2</c:v>
                </c:pt>
                <c:pt idx="52">
                  <c:v>4.7884189479166839E-2</c:v>
                </c:pt>
                <c:pt idx="53">
                  <c:v>6.2364809167041679E-2</c:v>
                </c:pt>
                <c:pt idx="54">
                  <c:v>7.6612981333172625E-2</c:v>
                </c:pt>
                <c:pt idx="55">
                  <c:v>6.9174660637379537E-2</c:v>
                </c:pt>
                <c:pt idx="56">
                  <c:v>6.5141265676755822E-2</c:v>
                </c:pt>
                <c:pt idx="57">
                  <c:v>4.1989062052726789E-2</c:v>
                </c:pt>
                <c:pt idx="58">
                  <c:v>4.6536854769801739E-2</c:v>
                </c:pt>
                <c:pt idx="59">
                  <c:v>5.5600155825931141E-2</c:v>
                </c:pt>
                <c:pt idx="60">
                  <c:v>5.1988610071434627E-2</c:v>
                </c:pt>
                <c:pt idx="61">
                  <c:v>5.423129819788608E-2</c:v>
                </c:pt>
                <c:pt idx="62">
                  <c:v>5.4033287346030523E-2</c:v>
                </c:pt>
                <c:pt idx="63">
                  <c:v>5.149143064992745E-2</c:v>
                </c:pt>
                <c:pt idx="64">
                  <c:v>7.094384455287206E-2</c:v>
                </c:pt>
                <c:pt idx="65">
                  <c:v>6.4846401690840549E-2</c:v>
                </c:pt>
                <c:pt idx="66">
                  <c:v>6.4846401690840549E-2</c:v>
                </c:pt>
                <c:pt idx="67">
                  <c:v>7.0205608442149625E-2</c:v>
                </c:pt>
                <c:pt idx="68">
                  <c:v>6.7108460444103901E-2</c:v>
                </c:pt>
                <c:pt idx="69">
                  <c:v>7.5295778709959293E-2</c:v>
                </c:pt>
                <c:pt idx="70">
                  <c:v>7.1212881036371467E-2</c:v>
                </c:pt>
                <c:pt idx="71">
                  <c:v>7.3866656909610251E-2</c:v>
                </c:pt>
                <c:pt idx="72">
                  <c:v>7.2738855970780447E-2</c:v>
                </c:pt>
                <c:pt idx="73">
                  <c:v>7.7775218941890101E-2</c:v>
                </c:pt>
                <c:pt idx="74">
                  <c:v>8.0708792757968384E-2</c:v>
                </c:pt>
                <c:pt idx="75">
                  <c:v>7.7831178530458178E-2</c:v>
                </c:pt>
                <c:pt idx="76">
                  <c:v>7.5700409581142436E-2</c:v>
                </c:pt>
                <c:pt idx="77">
                  <c:v>7.7021916788091671E-2</c:v>
                </c:pt>
                <c:pt idx="78">
                  <c:v>7.9365762632338965E-2</c:v>
                </c:pt>
                <c:pt idx="79">
                  <c:v>7.6731357385912524E-2</c:v>
                </c:pt>
                <c:pt idx="80">
                  <c:v>6.4116774747589922E-2</c:v>
                </c:pt>
                <c:pt idx="81">
                  <c:v>5.9543154528099107E-2</c:v>
                </c:pt>
                <c:pt idx="82">
                  <c:v>5.305829912982829E-2</c:v>
                </c:pt>
                <c:pt idx="83">
                  <c:v>5.1973544028358409E-2</c:v>
                </c:pt>
                <c:pt idx="84">
                  <c:v>4.6222620157074346E-2</c:v>
                </c:pt>
                <c:pt idx="85">
                  <c:v>5.7354273698347669E-2</c:v>
                </c:pt>
                <c:pt idx="86">
                  <c:v>5.7354273698347669E-2</c:v>
                </c:pt>
                <c:pt idx="87">
                  <c:v>5.9855236848958659E-2</c:v>
                </c:pt>
                <c:pt idx="88">
                  <c:v>5.9058888857800085E-2</c:v>
                </c:pt>
                <c:pt idx="89">
                  <c:v>6.0515990452433277E-2</c:v>
                </c:pt>
                <c:pt idx="90">
                  <c:v>6.3654031995970861E-2</c:v>
                </c:pt>
                <c:pt idx="91">
                  <c:v>5.9336534508771521E-2</c:v>
                </c:pt>
                <c:pt idx="92">
                  <c:v>6.3828367637278616E-2</c:v>
                </c:pt>
                <c:pt idx="93">
                  <c:v>6.4523557910641127E-2</c:v>
                </c:pt>
                <c:pt idx="94">
                  <c:v>7.6998241577543869E-2</c:v>
                </c:pt>
                <c:pt idx="95">
                  <c:v>7.5272103499411269E-2</c:v>
                </c:pt>
                <c:pt idx="96">
                  <c:v>7.37956312779664E-2</c:v>
                </c:pt>
                <c:pt idx="97">
                  <c:v>7.5446439140719024E-2</c:v>
                </c:pt>
                <c:pt idx="98">
                  <c:v>9.1715613370898064E-2</c:v>
                </c:pt>
                <c:pt idx="99">
                  <c:v>8.5811876776985985E-2</c:v>
                </c:pt>
              </c:numCache>
            </c:numRef>
          </c:val>
          <c:smooth val="0"/>
          <c:extLst>
            <c:ext xmlns:c16="http://schemas.microsoft.com/office/drawing/2014/chart" uri="{C3380CC4-5D6E-409C-BE32-E72D297353CC}">
              <c16:uniqueId val="{00000004-AA22-4B26-9883-0E338E41F679}"/>
            </c:ext>
          </c:extLst>
        </c:ser>
        <c:ser>
          <c:idx val="5"/>
          <c:order val="5"/>
          <c:tx>
            <c:strRef>
              <c:f>Sheet1!$G$1</c:f>
              <c:strCache>
                <c:ptCount val="1"/>
                <c:pt idx="0">
                  <c:v>SXXP Index</c:v>
                </c:pt>
              </c:strCache>
            </c:strRef>
          </c:tx>
          <c:spPr>
            <a:ln w="28575" cap="rnd">
              <a:solidFill>
                <a:schemeClr val="accent6"/>
              </a:solidFill>
              <a:round/>
            </a:ln>
            <a:effectLst/>
          </c:spPr>
          <c:marker>
            <c:symbol val="none"/>
          </c:marker>
          <c:cat>
            <c:numRef>
              <c:f>Sheet1!$A$2:$A$101</c:f>
              <c:numCache>
                <c:formatCode>m/d/yyyy</c:formatCode>
                <c:ptCount val="100"/>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formatCode="dd/mm/yyyy">
                  <c:v>46049</c:v>
                </c:pt>
                <c:pt idx="19" formatCode="dd/mm/yyyy">
                  <c:v>46050</c:v>
                </c:pt>
                <c:pt idx="20" formatCode="dd/mm/yyyy">
                  <c:v>46051</c:v>
                </c:pt>
                <c:pt idx="21" formatCode="dd/mm/yyyy">
                  <c:v>46052</c:v>
                </c:pt>
                <c:pt idx="22" formatCode="dd/mm/yyyy">
                  <c:v>46055</c:v>
                </c:pt>
                <c:pt idx="23" formatCode="dd/mm/yyyy">
                  <c:v>46056</c:v>
                </c:pt>
                <c:pt idx="24" formatCode="dd/mm/yyyy">
                  <c:v>46057</c:v>
                </c:pt>
                <c:pt idx="25" formatCode="dd/mm/yyyy">
                  <c:v>46058</c:v>
                </c:pt>
                <c:pt idx="26" formatCode="dd/mm/yyyy">
                  <c:v>46059</c:v>
                </c:pt>
                <c:pt idx="27" formatCode="dd/mm/yyyy">
                  <c:v>46062</c:v>
                </c:pt>
                <c:pt idx="28" formatCode="dd/mm/yyyy">
                  <c:v>46063</c:v>
                </c:pt>
                <c:pt idx="29" formatCode="dd/mm/yyyy">
                  <c:v>46064</c:v>
                </c:pt>
                <c:pt idx="30" formatCode="dd/mm/yyyy">
                  <c:v>46065</c:v>
                </c:pt>
                <c:pt idx="31" formatCode="dd/mm/yyyy">
                  <c:v>46066</c:v>
                </c:pt>
                <c:pt idx="32" formatCode="dd/mm/yyyy">
                  <c:v>46069</c:v>
                </c:pt>
                <c:pt idx="33" formatCode="dd/mm/yyyy">
                  <c:v>46070</c:v>
                </c:pt>
                <c:pt idx="34" formatCode="dd/mm/yyyy">
                  <c:v>46071</c:v>
                </c:pt>
                <c:pt idx="35" formatCode="dd/mm/yyyy">
                  <c:v>46072</c:v>
                </c:pt>
                <c:pt idx="36" formatCode="dd/mm/yyyy">
                  <c:v>46073</c:v>
                </c:pt>
                <c:pt idx="37" formatCode="dd/mm/yyyy">
                  <c:v>46076</c:v>
                </c:pt>
                <c:pt idx="38" formatCode="dd/mm/yyyy">
                  <c:v>46077</c:v>
                </c:pt>
                <c:pt idx="39" formatCode="dd/mm/yyyy">
                  <c:v>46078</c:v>
                </c:pt>
                <c:pt idx="40" formatCode="dd/mm/yyyy">
                  <c:v>46079</c:v>
                </c:pt>
                <c:pt idx="41" formatCode="dd/mm/yyyy">
                  <c:v>46080</c:v>
                </c:pt>
                <c:pt idx="42" formatCode="dd/mm/yyyy">
                  <c:v>46083</c:v>
                </c:pt>
                <c:pt idx="43" formatCode="dd/mm/yyyy">
                  <c:v>46084</c:v>
                </c:pt>
                <c:pt idx="44" formatCode="dd/mm/yyyy">
                  <c:v>46085</c:v>
                </c:pt>
                <c:pt idx="45" formatCode="dd/mm/yyyy">
                  <c:v>46086</c:v>
                </c:pt>
                <c:pt idx="46" formatCode="dd/mm/yyyy">
                  <c:v>46087</c:v>
                </c:pt>
                <c:pt idx="47" formatCode="dd/mm/yyyy">
                  <c:v>46090</c:v>
                </c:pt>
                <c:pt idx="48" formatCode="dd/mm/yyyy">
                  <c:v>46091</c:v>
                </c:pt>
                <c:pt idx="49" formatCode="dd/mm/yyyy">
                  <c:v>46092</c:v>
                </c:pt>
                <c:pt idx="50" formatCode="dd/mm/yyyy">
                  <c:v>46093</c:v>
                </c:pt>
                <c:pt idx="51" formatCode="dd/mm/yyyy">
                  <c:v>46094</c:v>
                </c:pt>
                <c:pt idx="52" formatCode="dd/mm/yyyy">
                  <c:v>46097</c:v>
                </c:pt>
                <c:pt idx="53" formatCode="dd/mm/yyyy">
                  <c:v>46098</c:v>
                </c:pt>
                <c:pt idx="54" formatCode="dd/mm/yyyy">
                  <c:v>46099</c:v>
                </c:pt>
                <c:pt idx="55" formatCode="dd/mm/yyyy">
                  <c:v>46100</c:v>
                </c:pt>
                <c:pt idx="56" formatCode="dd/mm/yyyy">
                  <c:v>46101</c:v>
                </c:pt>
                <c:pt idx="57" formatCode="dd/mm/yyyy">
                  <c:v>46104</c:v>
                </c:pt>
                <c:pt idx="58" formatCode="dd/mm/yyyy">
                  <c:v>46105</c:v>
                </c:pt>
                <c:pt idx="59" formatCode="dd/mm/yyyy">
                  <c:v>46106</c:v>
                </c:pt>
                <c:pt idx="60" formatCode="dd/mm/yyyy">
                  <c:v>46107</c:v>
                </c:pt>
                <c:pt idx="61" formatCode="dd/mm/yyyy">
                  <c:v>46108</c:v>
                </c:pt>
                <c:pt idx="62" formatCode="dd/mm/yyyy">
                  <c:v>46111</c:v>
                </c:pt>
                <c:pt idx="63" formatCode="dd/mm/yyyy">
                  <c:v>46112</c:v>
                </c:pt>
                <c:pt idx="64" formatCode="dd/mm/yyyy">
                  <c:v>46113</c:v>
                </c:pt>
                <c:pt idx="65" formatCode="dd/mm/yyyy">
                  <c:v>46114</c:v>
                </c:pt>
                <c:pt idx="66" formatCode="dd/mm/yyyy">
                  <c:v>46115</c:v>
                </c:pt>
                <c:pt idx="67" formatCode="dd/mm/yyyy">
                  <c:v>46118</c:v>
                </c:pt>
                <c:pt idx="68" formatCode="dd/mm/yyyy">
                  <c:v>46119</c:v>
                </c:pt>
                <c:pt idx="69" formatCode="dd/mm/yyyy">
                  <c:v>46120</c:v>
                </c:pt>
                <c:pt idx="70" formatCode="dd/mm/yyyy">
                  <c:v>46121</c:v>
                </c:pt>
                <c:pt idx="71" formatCode="dd/mm/yyyy">
                  <c:v>46122</c:v>
                </c:pt>
                <c:pt idx="72" formatCode="dd/mm/yyyy">
                  <c:v>46125</c:v>
                </c:pt>
                <c:pt idx="73" formatCode="dd/mm/yyyy">
                  <c:v>46126</c:v>
                </c:pt>
                <c:pt idx="74" formatCode="dd/mm/yyyy">
                  <c:v>46127</c:v>
                </c:pt>
                <c:pt idx="75" formatCode="dd/mm/yyyy">
                  <c:v>46128</c:v>
                </c:pt>
                <c:pt idx="76" formatCode="dd/mm/yyyy">
                  <c:v>46129</c:v>
                </c:pt>
                <c:pt idx="77" formatCode="dd/mm/yyyy">
                  <c:v>46132</c:v>
                </c:pt>
                <c:pt idx="78" formatCode="dd/mm/yyyy">
                  <c:v>46133</c:v>
                </c:pt>
                <c:pt idx="79" formatCode="dd/mm/yyyy">
                  <c:v>46134</c:v>
                </c:pt>
                <c:pt idx="80" formatCode="dd/mm/yyyy">
                  <c:v>46135</c:v>
                </c:pt>
                <c:pt idx="81" formatCode="dd/mm/yyyy">
                  <c:v>46136</c:v>
                </c:pt>
                <c:pt idx="82" formatCode="dd/mm/yyyy">
                  <c:v>46139</c:v>
                </c:pt>
                <c:pt idx="83" formatCode="dd/mm/yyyy">
                  <c:v>46140</c:v>
                </c:pt>
                <c:pt idx="84" formatCode="dd/mm/yyyy">
                  <c:v>46141</c:v>
                </c:pt>
                <c:pt idx="85" formatCode="dd/mm/yyyy">
                  <c:v>46142</c:v>
                </c:pt>
                <c:pt idx="86" formatCode="dd/mm/yyyy">
                  <c:v>46143</c:v>
                </c:pt>
                <c:pt idx="87" formatCode="dd/mm/yyyy">
                  <c:v>46146</c:v>
                </c:pt>
                <c:pt idx="88" formatCode="dd/mm/yyyy">
                  <c:v>46147</c:v>
                </c:pt>
                <c:pt idx="89" formatCode="dd/mm/yyyy">
                  <c:v>46148</c:v>
                </c:pt>
                <c:pt idx="90" formatCode="dd/mm/yyyy">
                  <c:v>46149</c:v>
                </c:pt>
                <c:pt idx="91" formatCode="dd/mm/yyyy">
                  <c:v>46150</c:v>
                </c:pt>
                <c:pt idx="92" formatCode="dd/mm/yyyy">
                  <c:v>46153</c:v>
                </c:pt>
                <c:pt idx="93" formatCode="dd/mm/yyyy">
                  <c:v>46154</c:v>
                </c:pt>
                <c:pt idx="94" formatCode="dd/mm/yyyy">
                  <c:v>46155</c:v>
                </c:pt>
                <c:pt idx="95" formatCode="dd/mm/yyyy">
                  <c:v>46156</c:v>
                </c:pt>
                <c:pt idx="96" formatCode="dd/mm/yyyy">
                  <c:v>46157</c:v>
                </c:pt>
                <c:pt idx="97" formatCode="dd/mm/yyyy">
                  <c:v>46160</c:v>
                </c:pt>
                <c:pt idx="98" formatCode="dd/mm/yyyy">
                  <c:v>46161</c:v>
                </c:pt>
                <c:pt idx="99" formatCode="dd/mm/yyyy">
                  <c:v>46162</c:v>
                </c:pt>
              </c:numCache>
            </c:numRef>
          </c:cat>
          <c:val>
            <c:numRef>
              <c:f>Sheet1!$G$2:$G$101</c:f>
              <c:numCache>
                <c:formatCode>0.0%</c:formatCode>
                <c:ptCount val="100"/>
                <c:pt idx="0">
                  <c:v>0</c:v>
                </c:pt>
                <c:pt idx="1">
                  <c:v>6.6701565375975047E-3</c:v>
                </c:pt>
                <c:pt idx="2">
                  <c:v>1.6160353940458227E-2</c:v>
                </c:pt>
                <c:pt idx="3">
                  <c:v>2.2104392171431231E-2</c:v>
                </c:pt>
                <c:pt idx="4">
                  <c:v>2.1614684476265911E-2</c:v>
                </c:pt>
                <c:pt idx="5">
                  <c:v>1.9655853695604408E-2</c:v>
                </c:pt>
                <c:pt idx="6">
                  <c:v>2.9517553487900638E-2</c:v>
                </c:pt>
                <c:pt idx="7">
                  <c:v>3.1679021935527407E-2</c:v>
                </c:pt>
                <c:pt idx="8">
                  <c:v>3.0817811850926136E-2</c:v>
                </c:pt>
                <c:pt idx="9">
                  <c:v>3.2709096742599364E-2</c:v>
                </c:pt>
                <c:pt idx="10">
                  <c:v>3.779192488897154E-2</c:v>
                </c:pt>
                <c:pt idx="11">
                  <c:v>3.7471081916276683E-2</c:v>
                </c:pt>
                <c:pt idx="12">
                  <c:v>2.5110184231412092E-2</c:v>
                </c:pt>
                <c:pt idx="13">
                  <c:v>1.7916547054154686E-2</c:v>
                </c:pt>
                <c:pt idx="14">
                  <c:v>1.7697022914942684E-2</c:v>
                </c:pt>
                <c:pt idx="15">
                  <c:v>2.8149749235887089E-2</c:v>
                </c:pt>
                <c:pt idx="16">
                  <c:v>2.727165267903886E-2</c:v>
                </c:pt>
                <c:pt idx="17">
                  <c:v>2.9348688765429953E-2</c:v>
                </c:pt>
                <c:pt idx="18">
                  <c:v>3.5326499940897316E-2</c:v>
                </c:pt>
                <c:pt idx="19">
                  <c:v>2.7558722707239136E-2</c:v>
                </c:pt>
                <c:pt idx="20">
                  <c:v>2.5245276009388862E-2</c:v>
                </c:pt>
                <c:pt idx="21">
                  <c:v>3.1763454296762861E-2</c:v>
                </c:pt>
                <c:pt idx="22">
                  <c:v>4.2418818284671866E-2</c:v>
                </c:pt>
                <c:pt idx="23">
                  <c:v>4.3465779563991003E-2</c:v>
                </c:pt>
                <c:pt idx="24">
                  <c:v>4.378662253668586E-2</c:v>
                </c:pt>
                <c:pt idx="25">
                  <c:v>3.2861074992823092E-2</c:v>
                </c:pt>
                <c:pt idx="26">
                  <c:v>4.2097975311977454E-2</c:v>
                </c:pt>
                <c:pt idx="27">
                  <c:v>4.9342271905975954E-2</c:v>
                </c:pt>
                <c:pt idx="28">
                  <c:v>4.8599267127104495E-2</c:v>
                </c:pt>
                <c:pt idx="29">
                  <c:v>4.9629341934176452E-2</c:v>
                </c:pt>
                <c:pt idx="30">
                  <c:v>4.4462081426569044E-2</c:v>
                </c:pt>
                <c:pt idx="31">
                  <c:v>4.3077390702308316E-2</c:v>
                </c:pt>
                <c:pt idx="32">
                  <c:v>4.4462081426569044E-2</c:v>
                </c:pt>
                <c:pt idx="33">
                  <c:v>4.913963423901091E-2</c:v>
                </c:pt>
                <c:pt idx="34">
                  <c:v>6.1635623701852493E-2</c:v>
                </c:pt>
                <c:pt idx="35">
                  <c:v>5.5961769026832586E-2</c:v>
                </c:pt>
                <c:pt idx="36">
                  <c:v>6.479339401205686E-2</c:v>
                </c:pt>
                <c:pt idx="37">
                  <c:v>5.9963862949391267E-2</c:v>
                </c:pt>
                <c:pt idx="38">
                  <c:v>6.2395514952971132E-2</c:v>
                </c:pt>
                <c:pt idx="39">
                  <c:v>6.9707357435957906E-2</c:v>
                </c:pt>
                <c:pt idx="40">
                  <c:v>6.9217649740792364E-2</c:v>
                </c:pt>
                <c:pt idx="41">
                  <c:v>7.0349043381347176E-2</c:v>
                </c:pt>
                <c:pt idx="42">
                  <c:v>5.3091068744828496E-2</c:v>
                </c:pt>
                <c:pt idx="43">
                  <c:v>2.0685928502676587E-2</c:v>
                </c:pt>
                <c:pt idx="44">
                  <c:v>3.4651041051013909E-2</c:v>
                </c:pt>
                <c:pt idx="45">
                  <c:v>2.1344500920312814E-2</c:v>
                </c:pt>
                <c:pt idx="46">
                  <c:v>1.0976206960603863E-2</c:v>
                </c:pt>
                <c:pt idx="47">
                  <c:v>4.6100069234533692E-3</c:v>
                </c:pt>
                <c:pt idx="48">
                  <c:v>2.3522855840186319E-2</c:v>
                </c:pt>
                <c:pt idx="49">
                  <c:v>1.7477498775730682E-2</c:v>
                </c:pt>
                <c:pt idx="50">
                  <c:v>1.1263276988804138E-2</c:v>
                </c:pt>
                <c:pt idx="51">
                  <c:v>6.1804488424321846E-3</c:v>
                </c:pt>
                <c:pt idx="52">
                  <c:v>1.0604704571167911E-2</c:v>
                </c:pt>
                <c:pt idx="53">
                  <c:v>1.7325520525506954E-2</c:v>
                </c:pt>
                <c:pt idx="54">
                  <c:v>9.6928350698253229E-3</c:v>
                </c:pt>
                <c:pt idx="55">
                  <c:v>-1.4437933771255906E-2</c:v>
                </c:pt>
                <c:pt idx="56">
                  <c:v>-3.1932319019233879E-2</c:v>
                </c:pt>
                <c:pt idx="57">
                  <c:v>-2.6022053732754791E-2</c:v>
                </c:pt>
                <c:pt idx="58">
                  <c:v>-2.1800435670984109E-2</c:v>
                </c:pt>
                <c:pt idx="59">
                  <c:v>-7.9366419561289758E-3</c:v>
                </c:pt>
                <c:pt idx="60">
                  <c:v>-1.9166146000439088E-2</c:v>
                </c:pt>
                <c:pt idx="61">
                  <c:v>-2.8521251625323152E-2</c:v>
                </c:pt>
                <c:pt idx="62">
                  <c:v>-1.9351897195157064E-2</c:v>
                </c:pt>
                <c:pt idx="63">
                  <c:v>-1.5282257383610109E-2</c:v>
                </c:pt>
                <c:pt idx="64">
                  <c:v>9.2875597358956785E-3</c:v>
                </c:pt>
                <c:pt idx="65">
                  <c:v>7.4975936777046392E-3</c:v>
                </c:pt>
                <c:pt idx="66">
                  <c:v>7.4975936777046392E-3</c:v>
                </c:pt>
                <c:pt idx="67">
                  <c:v>7.4975936777046392E-3</c:v>
                </c:pt>
                <c:pt idx="68">
                  <c:v>-2.7018355595332944E-3</c:v>
                </c:pt>
                <c:pt idx="69">
                  <c:v>3.5985072358533543E-2</c:v>
                </c:pt>
                <c:pt idx="70">
                  <c:v>3.4448403384049087E-2</c:v>
                </c:pt>
                <c:pt idx="71">
                  <c:v>3.8247859639642723E-2</c:v>
                </c:pt>
                <c:pt idx="72">
                  <c:v>3.6626758303922591E-2</c:v>
                </c:pt>
                <c:pt idx="73">
                  <c:v>4.6876846957901952E-2</c:v>
                </c:pt>
                <c:pt idx="74">
                  <c:v>4.2351272395683592E-2</c:v>
                </c:pt>
                <c:pt idx="75">
                  <c:v>4.1810905283777178E-2</c:v>
                </c:pt>
                <c:pt idx="76">
                  <c:v>5.8072578057718038E-2</c:v>
                </c:pt>
                <c:pt idx="77">
                  <c:v>4.9426704267211408E-2</c:v>
                </c:pt>
                <c:pt idx="78">
                  <c:v>4.025734983704532E-2</c:v>
                </c:pt>
                <c:pt idx="79">
                  <c:v>3.6626758303922591E-2</c:v>
                </c:pt>
                <c:pt idx="80">
                  <c:v>3.716712541582945E-2</c:v>
                </c:pt>
                <c:pt idx="81">
                  <c:v>3.1172427768114908E-2</c:v>
                </c:pt>
                <c:pt idx="82">
                  <c:v>2.8115976291392952E-2</c:v>
                </c:pt>
                <c:pt idx="83">
                  <c:v>2.4299633563552137E-2</c:v>
                </c:pt>
                <c:pt idx="84">
                  <c:v>1.8186730610108226E-2</c:v>
                </c:pt>
                <c:pt idx="85">
                  <c:v>3.2236275519681001E-2</c:v>
                </c:pt>
                <c:pt idx="86">
                  <c:v>3.2692210270352184E-2</c:v>
                </c:pt>
                <c:pt idx="87">
                  <c:v>2.2492781033114362E-2</c:v>
                </c:pt>
                <c:pt idx="88">
                  <c:v>2.9601985849136314E-2</c:v>
                </c:pt>
                <c:pt idx="89">
                  <c:v>5.2449382799439226E-2</c:v>
                </c:pt>
                <c:pt idx="90">
                  <c:v>4.0915922254681547E-2</c:v>
                </c:pt>
                <c:pt idx="91">
                  <c:v>3.3688512132930226E-2</c:v>
                </c:pt>
                <c:pt idx="92">
                  <c:v>3.4786132828990457E-2</c:v>
                </c:pt>
                <c:pt idx="93">
                  <c:v>2.438406592478759E-2</c:v>
                </c:pt>
                <c:pt idx="94">
                  <c:v>3.2472686131140183E-2</c:v>
                </c:pt>
                <c:pt idx="95">
                  <c:v>4.0291122781539457E-2</c:v>
                </c:pt>
                <c:pt idx="96">
                  <c:v>2.487377361995291E-2</c:v>
                </c:pt>
                <c:pt idx="97">
                  <c:v>3.0361877100254731E-2</c:v>
                </c:pt>
                <c:pt idx="98">
                  <c:v>3.2337594353163635E-2</c:v>
                </c:pt>
                <c:pt idx="99">
                  <c:v>4.7450987014302726E-2</c:v>
                </c:pt>
              </c:numCache>
            </c:numRef>
          </c:val>
          <c:smooth val="0"/>
          <c:extLst>
            <c:ext xmlns:c16="http://schemas.microsoft.com/office/drawing/2014/chart" uri="{C3380CC4-5D6E-409C-BE32-E72D297353CC}">
              <c16:uniqueId val="{00000005-AA22-4B26-9883-0E338E41F679}"/>
            </c:ext>
          </c:extLst>
        </c:ser>
        <c:dLbls>
          <c:showLegendKey val="0"/>
          <c:showVal val="0"/>
          <c:showCatName val="0"/>
          <c:showSerName val="0"/>
          <c:showPercent val="0"/>
          <c:showBubbleSize val="0"/>
        </c:dLbls>
        <c:smooth val="0"/>
        <c:axId val="1664187472"/>
        <c:axId val="1664166832"/>
      </c:lineChart>
      <c:dateAx>
        <c:axId val="1664187472"/>
        <c:scaling>
          <c:orientation val="minMax"/>
        </c:scaling>
        <c:delete val="0"/>
        <c:axPos val="b"/>
        <c:numFmt formatCode="[$-409]d\-mmm\-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166832"/>
        <c:crosses val="autoZero"/>
        <c:auto val="1"/>
        <c:lblOffset val="100"/>
        <c:baseTimeUnit val="days"/>
        <c:majorUnit val="1"/>
        <c:majorTimeUnit val="months"/>
      </c:dateAx>
      <c:valAx>
        <c:axId val="1664166832"/>
        <c:scaling>
          <c:orientation val="minMax"/>
          <c:max val="0.30000000000000004"/>
          <c:min val="-0.1"/>
        </c:scaling>
        <c:delete val="0"/>
        <c:axPos val="l"/>
        <c:majorGridlines>
          <c:spPr>
            <a:ln w="9525" cap="flat" cmpd="sng" algn="ctr">
              <a:no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187472"/>
        <c:crosses val="autoZero"/>
        <c:crossBetween val="between"/>
        <c:majorUnit val="0.1750000000000000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718300106887914E-2"/>
          <c:y val="0.19202210280123547"/>
          <c:w val="0.91208947111665795"/>
          <c:h val="0.6316482476656371"/>
        </c:manualLayout>
      </c:layout>
      <c:barChart>
        <c:barDir val="col"/>
        <c:grouping val="stacked"/>
        <c:varyColors val="0"/>
        <c:ser>
          <c:idx val="0"/>
          <c:order val="0"/>
          <c:tx>
            <c:strRef>
              <c:f>Sheet1!$B$1</c:f>
              <c:strCache>
                <c:ptCount val="1"/>
                <c:pt idx="0">
                  <c:v>IPO</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FY2021</c:v>
                </c:pt>
                <c:pt idx="1">
                  <c:v>FY2022</c:v>
                </c:pt>
                <c:pt idx="2">
                  <c:v>FY2023</c:v>
                </c:pt>
                <c:pt idx="3">
                  <c:v>FY2024</c:v>
                </c:pt>
                <c:pt idx="4">
                  <c:v>FY2025</c:v>
                </c:pt>
                <c:pt idx="5">
                  <c:v>2025 Same Period</c:v>
                </c:pt>
                <c:pt idx="6">
                  <c:v>2026YTD</c:v>
                </c:pt>
              </c:strCache>
            </c:strRef>
          </c:cat>
          <c:val>
            <c:numRef>
              <c:f>Sheet1!$B$2:$B$8</c:f>
              <c:numCache>
                <c:formatCode>0.0</c:formatCode>
                <c:ptCount val="7"/>
                <c:pt idx="0" formatCode="General">
                  <c:v>45.3</c:v>
                </c:pt>
                <c:pt idx="1">
                  <c:v>13.38</c:v>
                </c:pt>
                <c:pt idx="2">
                  <c:v>5.899</c:v>
                </c:pt>
                <c:pt idx="3">
                  <c:v>11.2</c:v>
                </c:pt>
                <c:pt idx="4">
                  <c:v>37</c:v>
                </c:pt>
                <c:pt idx="5">
                  <c:v>8.4</c:v>
                </c:pt>
                <c:pt idx="6">
                  <c:v>20.9</c:v>
                </c:pt>
              </c:numCache>
            </c:numRef>
          </c:val>
          <c:extLst>
            <c:ext xmlns:c16="http://schemas.microsoft.com/office/drawing/2014/chart" uri="{C3380CC4-5D6E-409C-BE32-E72D297353CC}">
              <c16:uniqueId val="{00000000-CAB7-4712-8D52-4603CDAD4702}"/>
            </c:ext>
          </c:extLst>
        </c:ser>
        <c:ser>
          <c:idx val="1"/>
          <c:order val="1"/>
          <c:tx>
            <c:strRef>
              <c:f>Sheet1!$C$1</c:f>
              <c:strCache>
                <c:ptCount val="1"/>
                <c:pt idx="0">
                  <c:v>Secondary</c:v>
                </c:pt>
              </c:strCache>
            </c:strRef>
          </c:tx>
          <c:spPr>
            <a:solidFill>
              <a:schemeClr val="accent2">
                <a:alpha val="70000"/>
              </a:schemeClr>
            </a:solidFill>
            <a:ln>
              <a:noFill/>
            </a:ln>
            <a:effectLst/>
          </c:spPr>
          <c:invertIfNegative val="0"/>
          <c:dLbls>
            <c:dLbl>
              <c:idx val="5"/>
              <c:layout>
                <c:manualLayout>
                  <c:x val="0"/>
                  <c:y val="-3.40111763760690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AB7-4712-8D52-4603CDAD4702}"/>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FY2021</c:v>
                </c:pt>
                <c:pt idx="1">
                  <c:v>FY2022</c:v>
                </c:pt>
                <c:pt idx="2">
                  <c:v>FY2023</c:v>
                </c:pt>
                <c:pt idx="3">
                  <c:v>FY2024</c:v>
                </c:pt>
                <c:pt idx="4">
                  <c:v>FY2025</c:v>
                </c:pt>
                <c:pt idx="5">
                  <c:v>2025 Same Period</c:v>
                </c:pt>
                <c:pt idx="6">
                  <c:v>2026YTD</c:v>
                </c:pt>
              </c:strCache>
            </c:strRef>
          </c:cat>
          <c:val>
            <c:numRef>
              <c:f>Sheet1!$C$2:$C$8</c:f>
              <c:numCache>
                <c:formatCode>0.0</c:formatCode>
                <c:ptCount val="7"/>
                <c:pt idx="0" formatCode="General">
                  <c:v>67.2</c:v>
                </c:pt>
                <c:pt idx="1">
                  <c:v>9.8000000000000007</c:v>
                </c:pt>
                <c:pt idx="2">
                  <c:v>11.9</c:v>
                </c:pt>
                <c:pt idx="3">
                  <c:v>7.6</c:v>
                </c:pt>
                <c:pt idx="4">
                  <c:v>45.2</c:v>
                </c:pt>
                <c:pt idx="5">
                  <c:v>16.600000000000001</c:v>
                </c:pt>
                <c:pt idx="6">
                  <c:v>15.1</c:v>
                </c:pt>
              </c:numCache>
            </c:numRef>
          </c:val>
          <c:extLst>
            <c:ext xmlns:c16="http://schemas.microsoft.com/office/drawing/2014/chart" uri="{C3380CC4-5D6E-409C-BE32-E72D297353CC}">
              <c16:uniqueId val="{00000001-CAB7-4712-8D52-4603CDAD4702}"/>
            </c:ext>
          </c:extLst>
        </c:ser>
        <c:dLbls>
          <c:showLegendKey val="0"/>
          <c:showVal val="0"/>
          <c:showCatName val="0"/>
          <c:showSerName val="0"/>
          <c:showPercent val="0"/>
          <c:showBubbleSize val="0"/>
        </c:dLbls>
        <c:gapWidth val="50"/>
        <c:overlap val="100"/>
        <c:axId val="1903189360"/>
        <c:axId val="633191936"/>
      </c:barChart>
      <c:catAx>
        <c:axId val="1903189360"/>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633191936"/>
        <c:crosses val="autoZero"/>
        <c:auto val="1"/>
        <c:lblAlgn val="ctr"/>
        <c:lblOffset val="100"/>
        <c:noMultiLvlLbl val="0"/>
      </c:catAx>
      <c:valAx>
        <c:axId val="633191936"/>
        <c:scaling>
          <c:orientation val="minMax"/>
          <c:max val="20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903189360"/>
        <c:crosses val="autoZero"/>
        <c:crossBetween val="between"/>
      </c:valAx>
      <c:spPr>
        <a:noFill/>
        <a:ln>
          <a:noFill/>
        </a:ln>
        <a:effectLst/>
      </c:spPr>
    </c:plotArea>
    <c:legend>
      <c:legendPos val="b"/>
      <c:layout>
        <c:manualLayout>
          <c:xMode val="edge"/>
          <c:yMode val="edge"/>
          <c:x val="0.74592889371369531"/>
          <c:y val="8.7152523611432782E-3"/>
          <c:w val="0.25321808241642069"/>
          <c:h val="9.565710306904001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0512962340993394E-2"/>
          <c:y val="0.11561561500895545"/>
          <c:w val="0.88553613984367519"/>
          <c:h val="0.73044275440813011"/>
        </c:manualLayout>
      </c:layout>
      <c:barChart>
        <c:barDir val="col"/>
        <c:grouping val="clustered"/>
        <c:varyColors val="0"/>
        <c:ser>
          <c:idx val="0"/>
          <c:order val="0"/>
          <c:tx>
            <c:strRef>
              <c:f>Sheet1!$G$14</c:f>
              <c:strCache>
                <c:ptCount val="1"/>
                <c:pt idx="0">
                  <c:v>Southbound</c:v>
                </c:pt>
              </c:strCache>
            </c:strRef>
          </c:tx>
          <c:spPr>
            <a:solidFill>
              <a:schemeClr val="accent1"/>
            </a:solidFill>
            <a:ln>
              <a:noFill/>
            </a:ln>
            <a:effectLst/>
          </c:spPr>
          <c:invertIfNegative val="0"/>
          <c:dLbls>
            <c:dLbl>
              <c:idx val="1"/>
              <c:layout>
                <c:manualLayout>
                  <c:x val="0"/>
                  <c:y val="1.029779270462200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921-4C42-A5EF-D4E61381944B}"/>
                </c:ext>
              </c:extLst>
            </c:dLbl>
            <c:dLbl>
              <c:idx val="2"/>
              <c:layout>
                <c:manualLayout>
                  <c:x val="-2.8292088013494523E-17"/>
                  <c:y val="1.544668905693305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921-4C42-A5EF-D4E61381944B}"/>
                </c:ext>
              </c:extLst>
            </c:dLbl>
            <c:dLbl>
              <c:idx val="3"/>
              <c:layout>
                <c:manualLayout>
                  <c:x val="9.2593357678175461E-3"/>
                  <c:y val="5.131253007540517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967-4874-B982-60778F3A0449}"/>
                </c:ext>
              </c:extLst>
            </c:dLbl>
            <c:dLbl>
              <c:idx val="4"/>
              <c:layout>
                <c:manualLayout>
                  <c:x val="0"/>
                  <c:y val="2.59902656977671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921-4C42-A5EF-D4E61381944B}"/>
                </c:ext>
              </c:extLst>
            </c:dLbl>
            <c:dLbl>
              <c:idx val="5"/>
              <c:layout>
                <c:manualLayout>
                  <c:x val="0"/>
                  <c:y val="3.138503131707160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C7D-4923-9598-BA897E96183A}"/>
                </c:ext>
              </c:extLst>
            </c:dLbl>
            <c:dLbl>
              <c:idx val="6"/>
              <c:layout>
                <c:manualLayout>
                  <c:x val="-5.6584176026989046E-17"/>
                  <c:y val="2.648204689714482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610-43E1-8C1F-42079099A0A8}"/>
                </c:ext>
              </c:extLst>
            </c:dLbl>
            <c:dLbl>
              <c:idx val="7"/>
              <c:layout>
                <c:manualLayout>
                  <c:x val="0"/>
                  <c:y val="2.075942714492182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921-4C42-A5EF-D4E61381944B}"/>
                </c:ext>
              </c:extLst>
            </c:dLbl>
            <c:dLbl>
              <c:idx val="8"/>
              <c:layout>
                <c:manualLayout>
                  <c:x val="3.0864452559392201E-3"/>
                  <c:y val="2.590830216453746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921-4C42-A5EF-D4E61381944B}"/>
                </c:ext>
              </c:extLst>
            </c:dLbl>
            <c:dLbl>
              <c:idx val="9"/>
              <c:layout>
                <c:manualLayout>
                  <c:x val="0"/>
                  <c:y val="1.569251565853575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C7D-4923-9598-BA897E96183A}"/>
                </c:ext>
              </c:extLst>
            </c:dLbl>
            <c:dLbl>
              <c:idx val="10"/>
              <c:layout>
                <c:manualLayout>
                  <c:x val="-3.0864452559392764E-3"/>
                  <c:y val="1.544668905693291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921-4C42-A5EF-D4E61381944B}"/>
                </c:ext>
              </c:extLst>
            </c:dLbl>
            <c:dLbl>
              <c:idx val="11"/>
              <c:layout>
                <c:manualLayout>
                  <c:x val="-6.1728905118784401E-3"/>
                  <c:y val="2.565609913125550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610-43E1-8C1F-42079099A0A8}"/>
                </c:ext>
              </c:extLst>
            </c:dLbl>
            <c:dLbl>
              <c:idx val="12"/>
              <c:layout>
                <c:manualLayout>
                  <c:x val="-1.1316835205397809E-16"/>
                  <c:y val="2.092335421138102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C7D-4923-9598-BA897E96183A}"/>
                </c:ext>
              </c:extLst>
            </c:dLbl>
            <c:dLbl>
              <c:idx val="13"/>
              <c:layout>
                <c:manualLayout>
                  <c:x val="-3.0864452559392201E-3"/>
                  <c:y val="2.58732926151680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610-43E1-8C1F-42079099A0A8}"/>
                </c:ext>
              </c:extLst>
            </c:dLbl>
            <c:dLbl>
              <c:idx val="14"/>
              <c:layout>
                <c:manualLayout>
                  <c:x val="3.0864452559391069E-3"/>
                  <c:y val="2.084139067815142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921-4C42-A5EF-D4E61381944B}"/>
                </c:ext>
              </c:extLst>
            </c:dLbl>
            <c:dLbl>
              <c:idx val="15"/>
              <c:layout>
                <c:manualLayout>
                  <c:x val="-1.1316835205397809E-16"/>
                  <c:y val="2.05955854092440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921-4C42-A5EF-D4E61381944B}"/>
                </c:ext>
              </c:extLst>
            </c:dLbl>
            <c:dLbl>
              <c:idx val="16"/>
              <c:layout>
                <c:manualLayout>
                  <c:x val="-6.1728905118784401E-3"/>
                  <c:y val="2.574448176155501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610-43E1-8C1F-42079099A0A8}"/>
                </c:ext>
              </c:extLst>
            </c:dLbl>
            <c:dLbl>
              <c:idx val="17"/>
              <c:layout>
                <c:manualLayout>
                  <c:x val="6.1728905118784401E-3"/>
                  <c:y val="1.029779270462200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921-4C42-A5EF-D4E61381944B}"/>
                </c:ext>
              </c:extLst>
            </c:dLbl>
            <c:dLbl>
              <c:idx val="18"/>
              <c:layout>
                <c:manualLayout>
                  <c:x val="0"/>
                  <c:y val="5.148896352310955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921-4C42-A5EF-D4E61381944B}"/>
                </c:ext>
              </c:extLst>
            </c:dLbl>
            <c:dLbl>
              <c:idx val="20"/>
              <c:layout>
                <c:manualLayout>
                  <c:x val="-3.0864452559392201E-3"/>
                  <c:y val="2.05955854092440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921-4C42-A5EF-D4E61381944B}"/>
                </c:ext>
              </c:extLst>
            </c:dLbl>
            <c:dLbl>
              <c:idx val="21"/>
              <c:layout>
                <c:manualLayout>
                  <c:x val="0"/>
                  <c:y val="1.5446689056933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921-4C42-A5EF-D4E61381944B}"/>
                </c:ext>
              </c:extLst>
            </c:dLbl>
            <c:dLbl>
              <c:idx val="22"/>
              <c:layout>
                <c:manualLayout>
                  <c:x val="-1.1316835205397809E-16"/>
                  <c:y val="2.05955854092440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921-4C42-A5EF-D4E61381944B}"/>
                </c:ext>
              </c:extLst>
            </c:dLbl>
            <c:dLbl>
              <c:idx val="23"/>
              <c:layout>
                <c:manualLayout>
                  <c:x val="0"/>
                  <c:y val="1.5446689056933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921-4C42-A5EF-D4E61381944B}"/>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Sheet1!$F$15:$F$31</c:f>
              <c:strCache>
                <c:ptCount val="17"/>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strCache>
            </c:strRef>
          </c:cat>
          <c:val>
            <c:numRef>
              <c:f>Sheet1!$G$15:$G$31</c:f>
              <c:numCache>
                <c:formatCode>0.0_);\(0.0\)</c:formatCode>
                <c:ptCount val="17"/>
                <c:pt idx="0">
                  <c:v>127.98</c:v>
                </c:pt>
                <c:pt idx="1">
                  <c:v>154.44</c:v>
                </c:pt>
                <c:pt idx="2">
                  <c:v>161.78400000000002</c:v>
                </c:pt>
                <c:pt idx="3">
                  <c:v>169.99200000000002</c:v>
                </c:pt>
                <c:pt idx="4">
                  <c:v>45.8</c:v>
                </c:pt>
                <c:pt idx="5">
                  <c:v>80.11</c:v>
                </c:pt>
                <c:pt idx="6">
                  <c:v>135.36000000000001</c:v>
                </c:pt>
                <c:pt idx="7">
                  <c:v>112.705</c:v>
                </c:pt>
                <c:pt idx="8">
                  <c:v>188.50200000000001</c:v>
                </c:pt>
                <c:pt idx="9">
                  <c:v>92.673000000000002</c:v>
                </c:pt>
                <c:pt idx="10">
                  <c:v>126.4</c:v>
                </c:pt>
                <c:pt idx="11">
                  <c:v>23.6</c:v>
                </c:pt>
                <c:pt idx="12">
                  <c:v>71.09</c:v>
                </c:pt>
                <c:pt idx="13">
                  <c:v>92.5</c:v>
                </c:pt>
                <c:pt idx="14">
                  <c:v>62.88</c:v>
                </c:pt>
                <c:pt idx="15">
                  <c:v>57.01</c:v>
                </c:pt>
                <c:pt idx="16">
                  <c:v>83.4</c:v>
                </c:pt>
              </c:numCache>
            </c:numRef>
          </c:val>
          <c:extLst>
            <c:ext xmlns:c16="http://schemas.microsoft.com/office/drawing/2014/chart" uri="{C3380CC4-5D6E-409C-BE32-E72D297353CC}">
              <c16:uniqueId val="{00000000-8F5A-4F1C-B03C-2E66ABBE3998}"/>
            </c:ext>
          </c:extLst>
        </c:ser>
        <c:ser>
          <c:idx val="1"/>
          <c:order val="1"/>
          <c:tx>
            <c:strRef>
              <c:f>Sheet1!$H$14</c:f>
              <c:strCache>
                <c:ptCount val="1"/>
                <c:pt idx="0">
                  <c:v>Northbound</c:v>
                </c:pt>
              </c:strCache>
            </c:strRef>
          </c:tx>
          <c:spPr>
            <a:solidFill>
              <a:schemeClr val="accent2"/>
            </a:solidFill>
            <a:ln>
              <a:noFill/>
            </a:ln>
            <a:effectLst/>
          </c:spPr>
          <c:invertIfNegative val="0"/>
          <c:dLbls>
            <c:dLbl>
              <c:idx val="0"/>
              <c:layout>
                <c:manualLayout>
                  <c:x val="0"/>
                  <c:y val="1.029779270462199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921-4C42-A5EF-D4E61381944B}"/>
                </c:ext>
              </c:extLst>
            </c:dLbl>
            <c:dLbl>
              <c:idx val="1"/>
              <c:layout>
                <c:manualLayout>
                  <c:x val="-3.0864452559392483E-3"/>
                  <c:y val="1.10593107072793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B9C-452A-862F-B3C878C38704}"/>
                </c:ext>
              </c:extLst>
            </c:dLbl>
            <c:dLbl>
              <c:idx val="2"/>
              <c:layout>
                <c:manualLayout>
                  <c:x val="6.1728905118784401E-3"/>
                  <c:y val="-9.4071885078465602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610-43E1-8C1F-42079099A0A8}"/>
                </c:ext>
              </c:extLst>
            </c:dLbl>
            <c:dLbl>
              <c:idx val="4"/>
              <c:layout>
                <c:manualLayout>
                  <c:x val="3.0864452559392201E-3"/>
                  <c:y val="1.070797958243080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967-4874-B982-60778F3A0449}"/>
                </c:ext>
              </c:extLst>
            </c:dLbl>
            <c:dLbl>
              <c:idx val="5"/>
              <c:layout>
                <c:manualLayout>
                  <c:x val="-3.0864452559392201E-3"/>
                  <c:y val="2.05955854092440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967-4874-B982-60778F3A0449}"/>
                </c:ext>
              </c:extLst>
            </c:dLbl>
            <c:dLbl>
              <c:idx val="6"/>
              <c:layout>
                <c:manualLayout>
                  <c:x val="-2.2633670410795618E-16"/>
                  <c:y val="2.05955854092439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610-43E1-8C1F-42079099A0A8}"/>
                </c:ext>
              </c:extLst>
            </c:dLbl>
            <c:dLbl>
              <c:idx val="8"/>
              <c:layout>
                <c:manualLayout>
                  <c:x val="0"/>
                  <c:y val="-2.574448176155491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610-43E1-8C1F-42079099A0A8}"/>
                </c:ext>
              </c:extLst>
            </c:dLbl>
            <c:dLbl>
              <c:idx val="9"/>
              <c:layout>
                <c:manualLayout>
                  <c:x val="0"/>
                  <c:y val="1.029779270462200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610-43E1-8C1F-42079099A0A8}"/>
                </c:ext>
              </c:extLst>
            </c:dLbl>
            <c:dLbl>
              <c:idx val="11"/>
              <c:layout>
                <c:manualLayout>
                  <c:x val="0"/>
                  <c:y val="1.539357839377137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610-43E1-8C1F-42079099A0A8}"/>
                </c:ext>
              </c:extLst>
            </c:dLbl>
            <c:dLbl>
              <c:idx val="13"/>
              <c:layout>
                <c:manualLayout>
                  <c:x val="-6.1728905118784401E-3"/>
                  <c:y val="1.546452775295676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B9C-452A-862F-B3C878C38704}"/>
                </c:ext>
              </c:extLst>
            </c:dLbl>
            <c:dLbl>
              <c:idx val="15"/>
              <c:layout>
                <c:manualLayout>
                  <c:x val="0"/>
                  <c:y val="5.148896352311003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921-4C42-A5EF-D4E61381944B}"/>
                </c:ext>
              </c:extLst>
            </c:dLbl>
            <c:dLbl>
              <c:idx val="16"/>
              <c:layout>
                <c:manualLayout>
                  <c:x val="6.1728905118784401E-3"/>
                  <c:y val="1.029779270462200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921-4C42-A5EF-D4E61381944B}"/>
                </c:ext>
              </c:extLst>
            </c:dLbl>
            <c:dLbl>
              <c:idx val="18"/>
              <c:layout>
                <c:manualLayout>
                  <c:x val="0"/>
                  <c:y val="3.60426798910866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921-4C42-A5EF-D4E61381944B}"/>
                </c:ext>
              </c:extLst>
            </c:dLbl>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Sheet1!$F$15:$F$31</c:f>
              <c:strCache>
                <c:ptCount val="17"/>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strCache>
            </c:strRef>
          </c:cat>
          <c:val>
            <c:numRef>
              <c:f>Sheet1!$H$15:$H$31</c:f>
              <c:numCache>
                <c:formatCode>General</c:formatCode>
                <c:ptCount val="17"/>
              </c:numCache>
            </c:numRef>
          </c:val>
          <c:extLst>
            <c:ext xmlns:c16="http://schemas.microsoft.com/office/drawing/2014/chart" uri="{C3380CC4-5D6E-409C-BE32-E72D297353CC}">
              <c16:uniqueId val="{00000001-8F5A-4F1C-B03C-2E66ABBE3998}"/>
            </c:ext>
          </c:extLst>
        </c:ser>
        <c:dLbls>
          <c:dLblPos val="outEnd"/>
          <c:showLegendKey val="0"/>
          <c:showVal val="1"/>
          <c:showCatName val="0"/>
          <c:showSerName val="0"/>
          <c:showPercent val="0"/>
          <c:showBubbleSize val="0"/>
        </c:dLbls>
        <c:gapWidth val="76"/>
        <c:overlap val="-27"/>
        <c:axId val="142040335"/>
        <c:axId val="142037839"/>
      </c:barChart>
      <c:catAx>
        <c:axId val="142040335"/>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42037839"/>
        <c:crosses val="autoZero"/>
        <c:auto val="1"/>
        <c:lblAlgn val="ctr"/>
        <c:lblOffset val="100"/>
        <c:noMultiLvlLbl val="0"/>
      </c:catAx>
      <c:valAx>
        <c:axId val="142037839"/>
        <c:scaling>
          <c:orientation val="minMax"/>
          <c:min val="-120"/>
        </c:scaling>
        <c:delete val="0"/>
        <c:axPos val="l"/>
        <c:majorGridlines>
          <c:spPr>
            <a:ln w="9525" cap="flat" cmpd="sng" algn="ctr">
              <a:noFill/>
              <a:round/>
            </a:ln>
            <a:effectLst/>
          </c:spPr>
        </c:majorGridlines>
        <c:numFmt formatCode="0.0_);\(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42040335"/>
        <c:crosses val="autoZero"/>
        <c:crossBetween val="between"/>
      </c:valAx>
      <c:spPr>
        <a:noFill/>
        <a:ln>
          <a:noFill/>
        </a:ln>
        <a:effectLst/>
      </c:spPr>
    </c:plotArea>
    <c:legend>
      <c:legendPos val="b"/>
      <c:layout>
        <c:manualLayout>
          <c:xMode val="edge"/>
          <c:yMode val="edge"/>
          <c:x val="0.29648295917677941"/>
          <c:y val="1.4534342477133566E-2"/>
          <c:w val="0.41629341741425879"/>
          <c:h val="0.10203734125587663"/>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354264942239313E-2"/>
          <c:y val="0.13533362829670587"/>
          <c:w val="0.88263152334946071"/>
          <c:h val="0.63263548068373532"/>
        </c:manualLayout>
      </c:layout>
      <c:barChart>
        <c:barDir val="col"/>
        <c:grouping val="clustered"/>
        <c:varyColors val="0"/>
        <c:ser>
          <c:idx val="0"/>
          <c:order val="0"/>
          <c:spPr>
            <a:solidFill>
              <a:schemeClr val="tx2">
                <a:lumMod val="20000"/>
                <a:lumOff val="80000"/>
              </a:schemeClr>
            </a:solidFill>
            <a:ln>
              <a:noFill/>
            </a:ln>
            <a:effectLst/>
          </c:spPr>
          <c:invertIfNegative val="0"/>
          <c:dPt>
            <c:idx val="0"/>
            <c:invertIfNegative val="0"/>
            <c:bubble3D val="0"/>
            <c:spPr>
              <a:solidFill>
                <a:srgbClr val="D9D9D9"/>
              </a:solidFill>
              <a:ln>
                <a:noFill/>
              </a:ln>
              <a:effectLst/>
            </c:spPr>
            <c:extLst>
              <c:ext xmlns:c16="http://schemas.microsoft.com/office/drawing/2014/chart" uri="{C3380CC4-5D6E-409C-BE32-E72D297353CC}">
                <c16:uniqueId val="{00000001-8653-4908-84E2-649299FA3DC0}"/>
              </c:ext>
            </c:extLst>
          </c:dPt>
          <c:dPt>
            <c:idx val="1"/>
            <c:invertIfNegative val="0"/>
            <c:bubble3D val="0"/>
            <c:spPr>
              <a:solidFill>
                <a:srgbClr val="D9D9D9"/>
              </a:solidFill>
              <a:ln>
                <a:noFill/>
              </a:ln>
              <a:effectLst/>
            </c:spPr>
            <c:extLst>
              <c:ext xmlns:c16="http://schemas.microsoft.com/office/drawing/2014/chart" uri="{C3380CC4-5D6E-409C-BE32-E72D297353CC}">
                <c16:uniqueId val="{00000003-8653-4908-84E2-649299FA3DC0}"/>
              </c:ext>
            </c:extLst>
          </c:dPt>
          <c:dPt>
            <c:idx val="2"/>
            <c:invertIfNegative val="0"/>
            <c:bubble3D val="0"/>
            <c:spPr>
              <a:solidFill>
                <a:srgbClr val="D9D9D9"/>
              </a:solidFill>
              <a:ln>
                <a:noFill/>
              </a:ln>
              <a:effectLst/>
            </c:spPr>
            <c:extLst>
              <c:ext xmlns:c16="http://schemas.microsoft.com/office/drawing/2014/chart" uri="{C3380CC4-5D6E-409C-BE32-E72D297353CC}">
                <c16:uniqueId val="{00000005-8653-4908-84E2-649299FA3DC0}"/>
              </c:ext>
            </c:extLst>
          </c:dPt>
          <c:dPt>
            <c:idx val="3"/>
            <c:invertIfNegative val="0"/>
            <c:bubble3D val="0"/>
            <c:spPr>
              <a:solidFill>
                <a:srgbClr val="D9D9D9"/>
              </a:solidFill>
              <a:ln>
                <a:noFill/>
              </a:ln>
              <a:effectLst/>
            </c:spPr>
            <c:extLst>
              <c:ext xmlns:c16="http://schemas.microsoft.com/office/drawing/2014/chart" uri="{C3380CC4-5D6E-409C-BE32-E72D297353CC}">
                <c16:uniqueId val="{00000007-8653-4908-84E2-649299FA3DC0}"/>
              </c:ext>
            </c:extLst>
          </c:dPt>
          <c:dPt>
            <c:idx val="4"/>
            <c:invertIfNegative val="0"/>
            <c:bubble3D val="0"/>
            <c:spPr>
              <a:solidFill>
                <a:srgbClr val="A6A6A6"/>
              </a:solidFill>
              <a:ln>
                <a:noFill/>
              </a:ln>
              <a:effectLst/>
            </c:spPr>
            <c:extLst>
              <c:ext xmlns:c16="http://schemas.microsoft.com/office/drawing/2014/chart" uri="{C3380CC4-5D6E-409C-BE32-E72D297353CC}">
                <c16:uniqueId val="{00000009-8653-4908-84E2-649299FA3DC0}"/>
              </c:ext>
            </c:extLst>
          </c:dPt>
          <c:dPt>
            <c:idx val="5"/>
            <c:invertIfNegative val="0"/>
            <c:bubble3D val="0"/>
            <c:spPr>
              <a:solidFill>
                <a:srgbClr val="A6A6A6"/>
              </a:solidFill>
              <a:ln>
                <a:noFill/>
              </a:ln>
              <a:effectLst/>
            </c:spPr>
            <c:extLst>
              <c:ext xmlns:c16="http://schemas.microsoft.com/office/drawing/2014/chart" uri="{C3380CC4-5D6E-409C-BE32-E72D297353CC}">
                <c16:uniqueId val="{0000000B-8653-4908-84E2-649299FA3DC0}"/>
              </c:ext>
            </c:extLst>
          </c:dPt>
          <c:dPt>
            <c:idx val="6"/>
            <c:invertIfNegative val="0"/>
            <c:bubble3D val="0"/>
            <c:spPr>
              <a:solidFill>
                <a:srgbClr val="A6A6A6"/>
              </a:solidFill>
              <a:ln>
                <a:noFill/>
              </a:ln>
              <a:effectLst/>
            </c:spPr>
            <c:extLst>
              <c:ext xmlns:c16="http://schemas.microsoft.com/office/drawing/2014/chart" uri="{C3380CC4-5D6E-409C-BE32-E72D297353CC}">
                <c16:uniqueId val="{0000000D-8653-4908-84E2-649299FA3DC0}"/>
              </c:ext>
            </c:extLst>
          </c:dPt>
          <c:dPt>
            <c:idx val="7"/>
            <c:invertIfNegative val="0"/>
            <c:bubble3D val="0"/>
            <c:spPr>
              <a:solidFill>
                <a:srgbClr val="A6A6A6"/>
              </a:solidFill>
              <a:ln>
                <a:noFill/>
              </a:ln>
              <a:effectLst/>
            </c:spPr>
            <c:extLst>
              <c:ext xmlns:c16="http://schemas.microsoft.com/office/drawing/2014/chart" uri="{C3380CC4-5D6E-409C-BE32-E72D297353CC}">
                <c16:uniqueId val="{0000000F-8653-4908-84E2-649299FA3DC0}"/>
              </c:ext>
            </c:extLst>
          </c:dPt>
          <c:dPt>
            <c:idx val="8"/>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1-8653-4908-84E2-649299FA3DC0}"/>
              </c:ext>
            </c:extLst>
          </c:dPt>
          <c:dPt>
            <c:idx val="9"/>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3-8653-4908-84E2-649299FA3DC0}"/>
              </c:ext>
            </c:extLst>
          </c:dPt>
          <c:dPt>
            <c:idx val="10"/>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5-8653-4908-84E2-649299FA3DC0}"/>
              </c:ext>
            </c:extLst>
          </c:dPt>
          <c:dPt>
            <c:idx val="11"/>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7-8653-4908-84E2-649299FA3DC0}"/>
              </c:ext>
            </c:extLst>
          </c:dPt>
          <c:dPt>
            <c:idx val="12"/>
            <c:invertIfNegative val="0"/>
            <c:bubble3D val="0"/>
            <c:spPr>
              <a:solidFill>
                <a:schemeClr val="accent2"/>
              </a:solidFill>
              <a:ln>
                <a:noFill/>
              </a:ln>
              <a:effectLst/>
            </c:spPr>
            <c:extLst>
              <c:ext xmlns:c16="http://schemas.microsoft.com/office/drawing/2014/chart" uri="{C3380CC4-5D6E-409C-BE32-E72D297353CC}">
                <c16:uniqueId val="{00000019-8653-4908-84E2-649299FA3DC0}"/>
              </c:ext>
            </c:extLst>
          </c:dPt>
          <c:dPt>
            <c:idx val="13"/>
            <c:invertIfNegative val="0"/>
            <c:bubble3D val="0"/>
            <c:spPr>
              <a:solidFill>
                <a:schemeClr val="accent2"/>
              </a:solidFill>
              <a:ln>
                <a:noFill/>
              </a:ln>
              <a:effectLst/>
            </c:spPr>
            <c:extLst>
              <c:ext xmlns:c16="http://schemas.microsoft.com/office/drawing/2014/chart" uri="{C3380CC4-5D6E-409C-BE32-E72D297353CC}">
                <c16:uniqueId val="{0000001B-8653-4908-84E2-649299FA3DC0}"/>
              </c:ext>
            </c:extLst>
          </c:dPt>
          <c:dPt>
            <c:idx val="14"/>
            <c:invertIfNegative val="0"/>
            <c:bubble3D val="0"/>
            <c:spPr>
              <a:solidFill>
                <a:schemeClr val="accent2"/>
              </a:solidFill>
              <a:ln>
                <a:noFill/>
              </a:ln>
              <a:effectLst/>
            </c:spPr>
            <c:extLst>
              <c:ext xmlns:c16="http://schemas.microsoft.com/office/drawing/2014/chart" uri="{C3380CC4-5D6E-409C-BE32-E72D297353CC}">
                <c16:uniqueId val="{0000001D-8653-4908-84E2-649299FA3DC0}"/>
              </c:ext>
            </c:extLst>
          </c:dPt>
          <c:dPt>
            <c:idx val="15"/>
            <c:invertIfNegative val="0"/>
            <c:bubble3D val="0"/>
            <c:spPr>
              <a:solidFill>
                <a:schemeClr val="accent2"/>
              </a:solidFill>
              <a:ln>
                <a:noFill/>
              </a:ln>
              <a:effectLst/>
            </c:spPr>
            <c:extLst>
              <c:ext xmlns:c16="http://schemas.microsoft.com/office/drawing/2014/chart" uri="{C3380CC4-5D6E-409C-BE32-E72D297353CC}">
                <c16:uniqueId val="{0000001E-AF37-44BC-94E2-1E2575F6DB64}"/>
              </c:ext>
            </c:extLst>
          </c:dPt>
          <c:dPt>
            <c:idx val="16"/>
            <c:invertIfNegative val="0"/>
            <c:bubble3D val="0"/>
            <c:spPr>
              <a:solidFill>
                <a:schemeClr val="accent2">
                  <a:lumMod val="50000"/>
                </a:schemeClr>
              </a:solidFill>
              <a:ln>
                <a:noFill/>
              </a:ln>
              <a:effectLst/>
            </c:spPr>
            <c:extLst>
              <c:ext xmlns:c16="http://schemas.microsoft.com/office/drawing/2014/chart" uri="{C3380CC4-5D6E-409C-BE32-E72D297353CC}">
                <c16:uniqueId val="{00000020-35D4-457C-8DA8-0A40A86D83C6}"/>
              </c:ext>
            </c:extLst>
          </c:dPt>
          <c:dPt>
            <c:idx val="17"/>
            <c:invertIfNegative val="0"/>
            <c:bubble3D val="0"/>
            <c:spPr>
              <a:solidFill>
                <a:schemeClr val="accent2">
                  <a:lumMod val="50000"/>
                </a:schemeClr>
              </a:solidFill>
              <a:ln>
                <a:noFill/>
              </a:ln>
              <a:effectLst/>
            </c:spPr>
            <c:extLst>
              <c:ext xmlns:c16="http://schemas.microsoft.com/office/drawing/2014/chart" uri="{C3380CC4-5D6E-409C-BE32-E72D297353CC}">
                <c16:uniqueId val="{00000022-6B83-4D43-B565-3CEBBD48E187}"/>
              </c:ext>
            </c:extLst>
          </c:dPt>
          <c:dPt>
            <c:idx val="18"/>
            <c:invertIfNegative val="0"/>
            <c:bubble3D val="0"/>
            <c:spPr>
              <a:solidFill>
                <a:schemeClr val="accent2">
                  <a:lumMod val="50000"/>
                </a:schemeClr>
              </a:solidFill>
              <a:ln>
                <a:noFill/>
              </a:ln>
              <a:effectLst/>
            </c:spPr>
            <c:extLst>
              <c:ext xmlns:c16="http://schemas.microsoft.com/office/drawing/2014/chart" uri="{C3380CC4-5D6E-409C-BE32-E72D297353CC}">
                <c16:uniqueId val="{00000024-73D7-4186-AD17-718D60BD2412}"/>
              </c:ext>
            </c:extLst>
          </c:dPt>
          <c:dPt>
            <c:idx val="19"/>
            <c:invertIfNegative val="0"/>
            <c:bubble3D val="0"/>
            <c:spPr>
              <a:solidFill>
                <a:schemeClr val="accent2">
                  <a:lumMod val="50000"/>
                </a:schemeClr>
              </a:solidFill>
              <a:ln>
                <a:noFill/>
              </a:ln>
              <a:effectLst/>
            </c:spPr>
            <c:extLst>
              <c:ext xmlns:c16="http://schemas.microsoft.com/office/drawing/2014/chart" uri="{C3380CC4-5D6E-409C-BE32-E72D297353CC}">
                <c16:uniqueId val="{00000026-46E8-4B43-A4B3-D3370E485B24}"/>
              </c:ext>
            </c:extLst>
          </c:dPt>
          <c:dPt>
            <c:idx val="20"/>
            <c:invertIfNegative val="0"/>
            <c:bubble3D val="0"/>
            <c:spPr>
              <a:solidFill>
                <a:srgbClr val="C00000"/>
              </a:solidFill>
              <a:ln>
                <a:noFill/>
              </a:ln>
              <a:effectLst/>
            </c:spPr>
            <c:extLst>
              <c:ext xmlns:c16="http://schemas.microsoft.com/office/drawing/2014/chart" uri="{C3380CC4-5D6E-409C-BE32-E72D297353CC}">
                <c16:uniqueId val="{00000028-BCF8-47AB-8B10-BECD1E1B93BA}"/>
              </c:ext>
            </c:extLst>
          </c:dPt>
          <c:dPt>
            <c:idx val="21"/>
            <c:invertIfNegative val="0"/>
            <c:bubble3D val="0"/>
            <c:spPr>
              <a:solidFill>
                <a:srgbClr val="BC0000"/>
              </a:solidFill>
              <a:ln>
                <a:noFill/>
              </a:ln>
              <a:effectLst/>
            </c:spPr>
            <c:extLst>
              <c:ext xmlns:c16="http://schemas.microsoft.com/office/drawing/2014/chart" uri="{C3380CC4-5D6E-409C-BE32-E72D297353CC}">
                <c16:uniqueId val="{00000000-DAA8-4159-9F08-BB2CDD93F7B2}"/>
              </c:ext>
            </c:extLst>
          </c:dPt>
          <c:dLbls>
            <c:dLbl>
              <c:idx val="16"/>
              <c:layout>
                <c:manualLayout>
                  <c:x val="-1.1004610109904932E-16"/>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35D4-457C-8DA8-0A40A86D83C6}"/>
                </c:ext>
              </c:extLst>
            </c:dLbl>
            <c:dLbl>
              <c:idx val="17"/>
              <c:layout>
                <c:manualLayout>
                  <c:x val="-1.1004610109904932E-16"/>
                  <c:y val="2.706672565934117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6B83-4D43-B565-3CEBBD48E187}"/>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2017 - 2020'!$B$25:$B$46</c:f>
              <c:strCache>
                <c:ptCount val="22"/>
                <c:pt idx="0">
                  <c:v>1Q2021</c:v>
                </c:pt>
                <c:pt idx="1">
                  <c:v>2Q2021</c:v>
                </c:pt>
                <c:pt idx="2">
                  <c:v>3Q2021</c:v>
                </c:pt>
                <c:pt idx="3">
                  <c:v>4Q2021</c:v>
                </c:pt>
                <c:pt idx="4">
                  <c:v>1Q2022</c:v>
                </c:pt>
                <c:pt idx="5">
                  <c:v>2Q2022</c:v>
                </c:pt>
                <c:pt idx="6">
                  <c:v>3Q2022</c:v>
                </c:pt>
                <c:pt idx="7">
                  <c:v>4Q2022</c:v>
                </c:pt>
                <c:pt idx="8">
                  <c:v>1Q2023</c:v>
                </c:pt>
                <c:pt idx="9">
                  <c:v>2Q2023</c:v>
                </c:pt>
                <c:pt idx="10">
                  <c:v>3Q2023</c:v>
                </c:pt>
                <c:pt idx="11">
                  <c:v>4Q2023</c:v>
                </c:pt>
                <c:pt idx="12">
                  <c:v>1Q2024</c:v>
                </c:pt>
                <c:pt idx="13">
                  <c:v>2Q2024</c:v>
                </c:pt>
                <c:pt idx="14">
                  <c:v>3Q2024</c:v>
                </c:pt>
                <c:pt idx="15">
                  <c:v>4Q2024</c:v>
                </c:pt>
                <c:pt idx="16">
                  <c:v>1Q2025</c:v>
                </c:pt>
                <c:pt idx="17">
                  <c:v>2Q2025</c:v>
                </c:pt>
                <c:pt idx="18">
                  <c:v>3Q2025</c:v>
                </c:pt>
                <c:pt idx="19">
                  <c:v>4Q2025</c:v>
                </c:pt>
                <c:pt idx="20">
                  <c:v>1Q2026</c:v>
                </c:pt>
                <c:pt idx="21">
                  <c:v>2QTD2026</c:v>
                </c:pt>
              </c:strCache>
            </c:strRef>
          </c:cat>
          <c:val>
            <c:numRef>
              <c:f>'PIVOT 2017 - 2020'!$C$25:$C$46</c:f>
              <c:numCache>
                <c:formatCode>0.0</c:formatCode>
                <c:ptCount val="22"/>
                <c:pt idx="0">
                  <c:v>29</c:v>
                </c:pt>
                <c:pt idx="1">
                  <c:v>19.5</c:v>
                </c:pt>
                <c:pt idx="2">
                  <c:v>21.2</c:v>
                </c:pt>
                <c:pt idx="3">
                  <c:v>16.07</c:v>
                </c:pt>
                <c:pt idx="4">
                  <c:v>18.260000000000002</c:v>
                </c:pt>
                <c:pt idx="5">
                  <c:v>16.506</c:v>
                </c:pt>
                <c:pt idx="6">
                  <c:v>12.419</c:v>
                </c:pt>
                <c:pt idx="7">
                  <c:v>16.251999999999999</c:v>
                </c:pt>
                <c:pt idx="8">
                  <c:v>16.286999999999999</c:v>
                </c:pt>
                <c:pt idx="9">
                  <c:v>13.1</c:v>
                </c:pt>
                <c:pt idx="10">
                  <c:v>12.568</c:v>
                </c:pt>
                <c:pt idx="11">
                  <c:v>11.6</c:v>
                </c:pt>
                <c:pt idx="12">
                  <c:v>12.7</c:v>
                </c:pt>
                <c:pt idx="13">
                  <c:v>15.6</c:v>
                </c:pt>
                <c:pt idx="14">
                  <c:v>15.2</c:v>
                </c:pt>
                <c:pt idx="15">
                  <c:v>24.029</c:v>
                </c:pt>
                <c:pt idx="16">
                  <c:v>31.198</c:v>
                </c:pt>
                <c:pt idx="17">
                  <c:v>30.4</c:v>
                </c:pt>
                <c:pt idx="18">
                  <c:v>36.609000000000002</c:v>
                </c:pt>
                <c:pt idx="19">
                  <c:v>29.5</c:v>
                </c:pt>
                <c:pt idx="20">
                  <c:v>35.387</c:v>
                </c:pt>
                <c:pt idx="21">
                  <c:v>33.107999999999997</c:v>
                </c:pt>
              </c:numCache>
            </c:numRef>
          </c:val>
          <c:extLst>
            <c:ext xmlns:c16="http://schemas.microsoft.com/office/drawing/2014/chart" uri="{C3380CC4-5D6E-409C-BE32-E72D297353CC}">
              <c16:uniqueId val="{00000022-8653-4908-84E2-649299FA3DC0}"/>
            </c:ext>
          </c:extLst>
        </c:ser>
        <c:dLbls>
          <c:dLblPos val="outEnd"/>
          <c:showLegendKey val="0"/>
          <c:showVal val="1"/>
          <c:showCatName val="0"/>
          <c:showSerName val="0"/>
          <c:showPercent val="0"/>
          <c:showBubbleSize val="0"/>
        </c:dLbls>
        <c:gapWidth val="153"/>
        <c:overlap val="-27"/>
        <c:axId val="897658063"/>
        <c:axId val="829389599"/>
      </c:barChart>
      <c:catAx>
        <c:axId val="897658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crossAx val="829389599"/>
        <c:crosses val="autoZero"/>
        <c:auto val="1"/>
        <c:lblAlgn val="ctr"/>
        <c:lblOffset val="100"/>
        <c:noMultiLvlLbl val="0"/>
      </c:catAx>
      <c:valAx>
        <c:axId val="829389599"/>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8976580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2223899228508"/>
          <c:y val="7.2999571893994183E-2"/>
          <c:w val="0.89328589211665776"/>
          <c:h val="0.7666149875800885"/>
        </c:manualLayout>
      </c:layout>
      <c:barChart>
        <c:barDir val="col"/>
        <c:grouping val="clustered"/>
        <c:varyColors val="0"/>
        <c:ser>
          <c:idx val="0"/>
          <c:order val="0"/>
          <c:tx>
            <c:strRef>
              <c:f>Sheet1!$B$1</c:f>
              <c:strCache>
                <c:ptCount val="1"/>
                <c:pt idx="0">
                  <c:v>2025 Same Period</c:v>
                </c:pt>
              </c:strCache>
            </c:strRef>
          </c:tx>
          <c:spPr>
            <a:solidFill>
              <a:srgbClr val="C00000"/>
            </a:solidFill>
          </c:spPr>
          <c:invertIfNegative val="0"/>
          <c:dLbls>
            <c:dLbl>
              <c:idx val="0"/>
              <c:layout>
                <c:manualLayout>
                  <c:x val="-1.3294792393180415E-2"/>
                  <c:y val="6.230199493931196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A34-46C5-A7CF-425C4F9ECEF3}"/>
                </c:ext>
              </c:extLst>
            </c:dLbl>
            <c:dLbl>
              <c:idx val="1"/>
              <c:layout>
                <c:manualLayout>
                  <c:x val="-3.3236980982950999E-3"/>
                  <c:y val="1.194004580976128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A34-46C5-A7CF-425C4F9ECEF3}"/>
                </c:ext>
              </c:extLst>
            </c:dLbl>
            <c:dLbl>
              <c:idx val="2"/>
              <c:layout>
                <c:manualLayout>
                  <c:x val="-6.6473961965901997E-3"/>
                  <c:y val="2.492079797572478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A34-46C5-A7CF-425C4F9ECEF3}"/>
                </c:ext>
              </c:extLst>
            </c:dLbl>
            <c:dLbl>
              <c:idx val="3"/>
              <c:layout>
                <c:manualLayout>
                  <c:x val="-3.323698098295161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A34-46C5-A7CF-425C4F9ECEF3}"/>
                </c:ext>
              </c:extLst>
            </c:dLbl>
            <c:dLbl>
              <c:idx val="4"/>
              <c:layout>
                <c:manualLayout>
                  <c:x val="-9.9710942948853E-3"/>
                  <c:y val="1.86905984817935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A34-46C5-A7CF-425C4F9ECEF3}"/>
                </c:ext>
              </c:extLst>
            </c:dLbl>
            <c:dLbl>
              <c:idx val="5"/>
              <c:layout>
                <c:manualLayout>
                  <c:x val="0"/>
                  <c:y val="1.825666527189568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A34-46C5-A7CF-425C4F9ECEF3}"/>
                </c:ext>
              </c:extLst>
            </c:dLbl>
            <c:dLbl>
              <c:idx val="6"/>
              <c:layout>
                <c:manualLayout>
                  <c:x val="-6.6473961965901997E-3"/>
                  <c:y val="-6.230199493931196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A34-46C5-A7CF-425C4F9ECEF3}"/>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Sheet1!$A$2:$A$8</c:f>
              <c:strCache>
                <c:ptCount val="7"/>
                <c:pt idx="0">
                  <c:v>USA</c:v>
                </c:pt>
                <c:pt idx="1">
                  <c:v>Mainland China2</c:v>
                </c:pt>
                <c:pt idx="2">
                  <c:v>Hong Kong3</c:v>
                </c:pt>
                <c:pt idx="3">
                  <c:v>Singapore</c:v>
                </c:pt>
                <c:pt idx="4">
                  <c:v>Thailand</c:v>
                </c:pt>
                <c:pt idx="5">
                  <c:v>Indonesia</c:v>
                </c:pt>
                <c:pt idx="6">
                  <c:v>India</c:v>
                </c:pt>
              </c:strCache>
            </c:strRef>
          </c:cat>
          <c:val>
            <c:numRef>
              <c:f>Sheet1!$B$2:$B$8</c:f>
              <c:numCache>
                <c:formatCode>#,##0.0</c:formatCode>
                <c:ptCount val="7"/>
                <c:pt idx="0" formatCode="0.0">
                  <c:v>139.82884712000003</c:v>
                </c:pt>
                <c:pt idx="1">
                  <c:v>18.499173319999993</c:v>
                </c:pt>
                <c:pt idx="2" formatCode="0.0">
                  <c:v>25.044828427000027</c:v>
                </c:pt>
                <c:pt idx="3" formatCode="0.0">
                  <c:v>0.40773719900000011</c:v>
                </c:pt>
                <c:pt idx="4" formatCode="0.0">
                  <c:v>0.51180982439999989</c:v>
                </c:pt>
                <c:pt idx="5" formatCode="0.0">
                  <c:v>0.81424596999999999</c:v>
                </c:pt>
                <c:pt idx="6" formatCode="0.0">
                  <c:v>11.787557582999993</c:v>
                </c:pt>
              </c:numCache>
            </c:numRef>
          </c:val>
          <c:extLst>
            <c:ext xmlns:c16="http://schemas.microsoft.com/office/drawing/2014/chart" uri="{C3380CC4-5D6E-409C-BE32-E72D297353CC}">
              <c16:uniqueId val="{00000007-7A34-46C5-A7CF-425C4F9ECEF3}"/>
            </c:ext>
          </c:extLst>
        </c:ser>
        <c:ser>
          <c:idx val="1"/>
          <c:order val="1"/>
          <c:tx>
            <c:strRef>
              <c:f>Sheet1!$C$1</c:f>
              <c:strCache>
                <c:ptCount val="1"/>
                <c:pt idx="0">
                  <c:v>2026 YTD</c:v>
                </c:pt>
              </c:strCache>
            </c:strRef>
          </c:tx>
          <c:spPr>
            <a:solidFill>
              <a:srgbClr val="FAD0A9"/>
            </a:solidFill>
          </c:spPr>
          <c:invertIfNegative val="0"/>
          <c:dLbls>
            <c:dLbl>
              <c:idx val="0"/>
              <c:layout>
                <c:manualLayout>
                  <c:x val="3.3236980982950695E-3"/>
                  <c:y val="1.228688423481493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A34-46C5-A7CF-425C4F9ECEF3}"/>
                </c:ext>
              </c:extLst>
            </c:dLbl>
            <c:dLbl>
              <c:idx val="1"/>
              <c:layout>
                <c:manualLayout>
                  <c:x val="6.6473961965901997E-3"/>
                  <c:y val="3.115099746965598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A34-46C5-A7CF-425C4F9ECEF3}"/>
                </c:ext>
              </c:extLst>
            </c:dLbl>
            <c:dLbl>
              <c:idx val="2"/>
              <c:layout>
                <c:manualLayout>
                  <c:x val="9.9710942948853E-3"/>
                  <c:y val="6.230199493931083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A34-46C5-A7CF-425C4F9ECEF3}"/>
                </c:ext>
              </c:extLst>
            </c:dLbl>
            <c:dLbl>
              <c:idx val="3"/>
              <c:layout>
                <c:manualLayout>
                  <c:x val="-6.093376122340083E-17"/>
                  <c:y val="2.492079797572467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A34-46C5-A7CF-425C4F9ECEF3}"/>
                </c:ext>
              </c:extLst>
            </c:dLbl>
            <c:dLbl>
              <c:idx val="4"/>
              <c:layout>
                <c:manualLayout>
                  <c:x val="0"/>
                  <c:y val="-1.246039898786239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A34-46C5-A7CF-425C4F9ECEF3}"/>
                </c:ext>
              </c:extLst>
            </c:dLbl>
            <c:dLbl>
              <c:idx val="5"/>
              <c:layout>
                <c:manualLayout>
                  <c:x val="0"/>
                  <c:y val="1.86905984817935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A34-46C5-A7CF-425C4F9ECEF3}"/>
                </c:ext>
              </c:extLst>
            </c:dLbl>
            <c:dLbl>
              <c:idx val="6"/>
              <c:layout>
                <c:manualLayout>
                  <c:x val="3.3236980982950999E-3"/>
                  <c:y val="2.492079797572467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A34-46C5-A7CF-425C4F9ECEF3}"/>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USA</c:v>
                </c:pt>
                <c:pt idx="1">
                  <c:v>Mainland China2</c:v>
                </c:pt>
                <c:pt idx="2">
                  <c:v>Hong Kong3</c:v>
                </c:pt>
                <c:pt idx="3">
                  <c:v>Singapore</c:v>
                </c:pt>
                <c:pt idx="4">
                  <c:v>Thailand</c:v>
                </c:pt>
                <c:pt idx="5">
                  <c:v>Indonesia</c:v>
                </c:pt>
                <c:pt idx="6">
                  <c:v>India</c:v>
                </c:pt>
              </c:strCache>
            </c:strRef>
          </c:cat>
          <c:val>
            <c:numRef>
              <c:f>Sheet1!$C$2:$C$8</c:f>
              <c:numCache>
                <c:formatCode>0.0</c:formatCode>
                <c:ptCount val="7"/>
                <c:pt idx="0">
                  <c:v>219.69825157</c:v>
                </c:pt>
                <c:pt idx="1">
                  <c:v>34.14815269999999</c:v>
                </c:pt>
                <c:pt idx="2">
                  <c:v>35.985537203999961</c:v>
                </c:pt>
                <c:pt idx="3">
                  <c:v>2.8361521099999987</c:v>
                </c:pt>
                <c:pt idx="4">
                  <c:v>0.39003208300000008</c:v>
                </c:pt>
                <c:pt idx="5">
                  <c:v>0.30090004999999997</c:v>
                </c:pt>
                <c:pt idx="6">
                  <c:v>9.3770461753999967</c:v>
                </c:pt>
              </c:numCache>
            </c:numRef>
          </c:val>
          <c:extLst>
            <c:ext xmlns:c16="http://schemas.microsoft.com/office/drawing/2014/chart" uri="{C3380CC4-5D6E-409C-BE32-E72D297353CC}">
              <c16:uniqueId val="{0000000F-7A34-46C5-A7CF-425C4F9ECEF3}"/>
            </c:ext>
          </c:extLst>
        </c:ser>
        <c:dLbls>
          <c:dLblPos val="outEnd"/>
          <c:showLegendKey val="0"/>
          <c:showVal val="1"/>
          <c:showCatName val="0"/>
          <c:showSerName val="0"/>
          <c:showPercent val="0"/>
          <c:showBubbleSize val="0"/>
        </c:dLbls>
        <c:gapWidth val="150"/>
        <c:axId val="6036864"/>
        <c:axId val="6050944"/>
      </c:barChart>
      <c:catAx>
        <c:axId val="6036864"/>
        <c:scaling>
          <c:orientation val="minMax"/>
        </c:scaling>
        <c:delete val="0"/>
        <c:axPos val="b"/>
        <c:numFmt formatCode="General" sourceLinked="1"/>
        <c:majorTickMark val="none"/>
        <c:minorTickMark val="none"/>
        <c:tickLblPos val="nextTo"/>
        <c:txPr>
          <a:bodyPr/>
          <a:lstStyle/>
          <a:p>
            <a:pPr>
              <a:defRPr sz="800" b="0">
                <a:latin typeface="+mn-lt"/>
              </a:defRPr>
            </a:pPr>
            <a:endParaRPr lang="en-US"/>
          </a:p>
        </c:txPr>
        <c:crossAx val="6050944"/>
        <c:crosses val="autoZero"/>
        <c:auto val="1"/>
        <c:lblAlgn val="ctr"/>
        <c:lblOffset val="100"/>
        <c:noMultiLvlLbl val="0"/>
      </c:catAx>
      <c:valAx>
        <c:axId val="6050944"/>
        <c:scaling>
          <c:orientation val="minMax"/>
          <c:min val="0"/>
        </c:scaling>
        <c:delete val="0"/>
        <c:axPos val="l"/>
        <c:numFmt formatCode="#,##0" sourceLinked="0"/>
        <c:majorTickMark val="out"/>
        <c:minorTickMark val="none"/>
        <c:tickLblPos val="nextTo"/>
        <c:txPr>
          <a:bodyPr/>
          <a:lstStyle/>
          <a:p>
            <a:pPr>
              <a:defRPr sz="800"/>
            </a:pPr>
            <a:endParaRPr lang="en-US"/>
          </a:p>
        </c:txPr>
        <c:crossAx val="6036864"/>
        <c:crosses val="autoZero"/>
        <c:crossBetween val="between"/>
      </c:valAx>
      <c:spPr>
        <a:noFill/>
        <a:ln w="14644">
          <a:noFill/>
        </a:ln>
      </c:spPr>
    </c:plotArea>
    <c:legend>
      <c:legendPos val="r"/>
      <c:layout>
        <c:manualLayout>
          <c:xMode val="edge"/>
          <c:yMode val="edge"/>
          <c:x val="0.672979476546681"/>
          <c:y val="7.0697957910165459E-3"/>
          <c:w val="0.32314056972239308"/>
          <c:h val="0.17662541208226407"/>
        </c:manualLayout>
      </c:layout>
      <c:overlay val="0"/>
      <c:txPr>
        <a:bodyPr/>
        <a:lstStyle/>
        <a:p>
          <a:pPr>
            <a:defRPr sz="900"/>
          </a:pPr>
          <a:endParaRPr lang="en-US"/>
        </a:p>
      </c:txPr>
    </c:legend>
    <c:plotVisOnly val="1"/>
    <c:dispBlanksAs val="gap"/>
    <c:showDLblsOverMax val="0"/>
  </c:chart>
  <c:txPr>
    <a:bodyPr/>
    <a:lstStyle/>
    <a:p>
      <a:pPr>
        <a:defRPr sz="700">
          <a:latin typeface="+mj-lt"/>
          <a:cs typeface="Calibri" pitchFamily="34" charset="0"/>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dPt>
            <c:idx val="0"/>
            <c:bubble3D val="0"/>
            <c:spPr>
              <a:solidFill>
                <a:srgbClr val="C00000"/>
              </a:solidFill>
              <a:ln w="19050">
                <a:solidFill>
                  <a:schemeClr val="lt1"/>
                </a:solidFill>
              </a:ln>
              <a:effectLst/>
            </c:spPr>
            <c:extLst>
              <c:ext xmlns:c16="http://schemas.microsoft.com/office/drawing/2014/chart" uri="{C3380CC4-5D6E-409C-BE32-E72D297353CC}">
                <c16:uniqueId val="{00000001-DAF0-41D1-BAA1-8A099B8FCE51}"/>
              </c:ext>
            </c:extLst>
          </c:dPt>
          <c:dPt>
            <c:idx val="1"/>
            <c:bubble3D val="0"/>
            <c:spPr>
              <a:solidFill>
                <a:srgbClr val="FAD0A9"/>
              </a:solidFill>
              <a:ln w="19050">
                <a:solidFill>
                  <a:schemeClr val="lt1"/>
                </a:solidFill>
              </a:ln>
              <a:effectLst/>
            </c:spPr>
            <c:extLst>
              <c:ext xmlns:c16="http://schemas.microsoft.com/office/drawing/2014/chart" uri="{C3380CC4-5D6E-409C-BE32-E72D297353CC}">
                <c16:uniqueId val="{00000003-DAF0-41D1-BAA1-8A099B8FCE51}"/>
              </c:ext>
            </c:extLst>
          </c:dPt>
          <c:dPt>
            <c:idx val="2"/>
            <c:bubble3D val="0"/>
            <c:spPr>
              <a:solidFill>
                <a:srgbClr val="E59B9D"/>
              </a:solidFill>
              <a:ln w="19050">
                <a:solidFill>
                  <a:schemeClr val="lt1"/>
                </a:solidFill>
              </a:ln>
              <a:effectLst/>
            </c:spPr>
            <c:extLst>
              <c:ext xmlns:c16="http://schemas.microsoft.com/office/drawing/2014/chart" uri="{C3380CC4-5D6E-409C-BE32-E72D297353CC}">
                <c16:uniqueId val="{00000005-DAF0-41D1-BAA1-8A099B8FCE51}"/>
              </c:ext>
            </c:extLst>
          </c:dPt>
          <c:dLbls>
            <c:dLbl>
              <c:idx val="0"/>
              <c:tx>
                <c:rich>
                  <a:bodyPr/>
                  <a:lstStyle/>
                  <a:p>
                    <a:fld id="{F502E7AB-2261-490C-A06A-4F3FCC1ED1F8}" type="CATEGORYNAME">
                      <a:rPr lang="en-US" b="1">
                        <a:solidFill>
                          <a:schemeClr val="bg1"/>
                        </a:solidFill>
                      </a:rPr>
                      <a:pPr/>
                      <a:t>[CATEGORY NAME]</a:t>
                    </a:fld>
                    <a:r>
                      <a:rPr lang="en-US" b="1" baseline="0" dirty="0">
                        <a:solidFill>
                          <a:schemeClr val="bg1"/>
                        </a:solidFill>
                      </a:rPr>
                      <a:t>
</a:t>
                    </a:r>
                    <a:fld id="{6B618F13-36F8-4843-86EE-51B3CE8914BF}" type="PERCENTAGE">
                      <a:rPr lang="en-US" b="1" baseline="0">
                        <a:solidFill>
                          <a:schemeClr val="bg1"/>
                        </a:solidFill>
                      </a:rPr>
                      <a:pPr/>
                      <a:t>[PERCENTAGE]</a:t>
                    </a:fld>
                    <a:endParaRPr lang="en-US" b="1" baseline="0" dirty="0">
                      <a:solidFill>
                        <a:schemeClr val="bg1"/>
                      </a:solidFill>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AF0-41D1-BAA1-8A099B8FCE51}"/>
                </c:ext>
              </c:extLst>
            </c:dLbl>
            <c:dLbl>
              <c:idx val="2"/>
              <c:layout>
                <c:manualLayout>
                  <c:x val="-0.11715484734389885"/>
                  <c:y val="-0.12014893602643546"/>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AF0-41D1-BAA1-8A099B8FCE5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Sheet3!$F$4:$F$6</c:f>
              <c:strCache>
                <c:ptCount val="3"/>
                <c:pt idx="0">
                  <c:v>IPO</c:v>
                </c:pt>
                <c:pt idx="1">
                  <c:v>Placement</c:v>
                </c:pt>
                <c:pt idx="2">
                  <c:v>Rights</c:v>
                </c:pt>
              </c:strCache>
            </c:strRef>
          </c:cat>
          <c:val>
            <c:numRef>
              <c:f>Sheet3!$G$4:$G$6</c:f>
              <c:numCache>
                <c:formatCode>0.0</c:formatCode>
                <c:ptCount val="3"/>
                <c:pt idx="0">
                  <c:v>20.873851949999999</c:v>
                </c:pt>
                <c:pt idx="1">
                  <c:v>14.722234600000002</c:v>
                </c:pt>
                <c:pt idx="2">
                  <c:v>0.38945065400000006</c:v>
                </c:pt>
              </c:numCache>
            </c:numRef>
          </c:val>
          <c:extLst>
            <c:ext xmlns:c16="http://schemas.microsoft.com/office/drawing/2014/chart" uri="{C3380CC4-5D6E-409C-BE32-E72D297353CC}">
              <c16:uniqueId val="{00000006-DAF0-41D1-BAA1-8A099B8FCE51}"/>
            </c:ext>
          </c:extLst>
        </c:ser>
        <c:dLbls>
          <c:showLegendKey val="0"/>
          <c:showVal val="0"/>
          <c:showCatName val="0"/>
          <c:showSerName val="0"/>
          <c:showPercent val="1"/>
          <c:showBubbleSize val="0"/>
          <c:showLeaderLines val="1"/>
        </c:dLbls>
        <c:firstSliceAng val="0"/>
        <c:holeSize val="5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dPt>
            <c:idx val="0"/>
            <c:bubble3D val="0"/>
            <c:spPr>
              <a:solidFill>
                <a:srgbClr val="C00000"/>
              </a:solidFill>
              <a:ln w="19050">
                <a:solidFill>
                  <a:schemeClr val="lt1"/>
                </a:solidFill>
              </a:ln>
              <a:effectLst/>
            </c:spPr>
            <c:extLst>
              <c:ext xmlns:c16="http://schemas.microsoft.com/office/drawing/2014/chart" uri="{C3380CC4-5D6E-409C-BE32-E72D297353CC}">
                <c16:uniqueId val="{00000001-94B6-4C14-9EF6-7B21B5234A35}"/>
              </c:ext>
            </c:extLst>
          </c:dPt>
          <c:dPt>
            <c:idx val="1"/>
            <c:bubble3D val="0"/>
            <c:spPr>
              <a:solidFill>
                <a:srgbClr val="FAD0A9"/>
              </a:solidFill>
              <a:ln w="19050">
                <a:solidFill>
                  <a:schemeClr val="lt1"/>
                </a:solidFill>
              </a:ln>
              <a:effectLst/>
            </c:spPr>
            <c:extLst>
              <c:ext xmlns:c16="http://schemas.microsoft.com/office/drawing/2014/chart" uri="{C3380CC4-5D6E-409C-BE32-E72D297353CC}">
                <c16:uniqueId val="{00000003-94B6-4C14-9EF6-7B21B5234A35}"/>
              </c:ext>
            </c:extLst>
          </c:dPt>
          <c:dPt>
            <c:idx val="2"/>
            <c:bubble3D val="0"/>
            <c:spPr>
              <a:solidFill>
                <a:srgbClr val="E59B9D"/>
              </a:solidFill>
              <a:ln w="19050">
                <a:solidFill>
                  <a:schemeClr val="lt1"/>
                </a:solidFill>
              </a:ln>
              <a:effectLst/>
            </c:spPr>
            <c:extLst>
              <c:ext xmlns:c16="http://schemas.microsoft.com/office/drawing/2014/chart" uri="{C3380CC4-5D6E-409C-BE32-E72D297353CC}">
                <c16:uniqueId val="{00000005-94B6-4C14-9EF6-7B21B5234A35}"/>
              </c:ext>
            </c:extLst>
          </c:dPt>
          <c:dLbls>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1-94B6-4C14-9EF6-7B21B5234A35}"/>
                </c:ext>
              </c:extLst>
            </c:dLbl>
            <c:dLbl>
              <c:idx val="2"/>
              <c:layout>
                <c:manualLayout>
                  <c:x val="9.6333032721535497E-2"/>
                  <c:y val="-0.1330551746807527"/>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4B6-4C14-9EF6-7B21B5234A3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Sheet3!$F$13:$F$15</c:f>
              <c:strCache>
                <c:ptCount val="3"/>
                <c:pt idx="0">
                  <c:v>IPO</c:v>
                </c:pt>
                <c:pt idx="1">
                  <c:v>Placement</c:v>
                </c:pt>
                <c:pt idx="2">
                  <c:v>Rights</c:v>
                </c:pt>
              </c:strCache>
            </c:strRef>
          </c:cat>
          <c:val>
            <c:numRef>
              <c:f>Sheet3!$G$13:$G$15</c:f>
              <c:numCache>
                <c:formatCode>0.0</c:formatCode>
                <c:ptCount val="3"/>
                <c:pt idx="0">
                  <c:v>8.4096139999999995</c:v>
                </c:pt>
                <c:pt idx="1">
                  <c:v>16.147187606000003</c:v>
                </c:pt>
                <c:pt idx="2">
                  <c:v>0.488026821</c:v>
                </c:pt>
              </c:numCache>
            </c:numRef>
          </c:val>
          <c:extLst>
            <c:ext xmlns:c16="http://schemas.microsoft.com/office/drawing/2014/chart" uri="{C3380CC4-5D6E-409C-BE32-E72D297353CC}">
              <c16:uniqueId val="{00000006-94B6-4C14-9EF6-7B21B5234A35}"/>
            </c:ext>
          </c:extLst>
        </c:ser>
        <c:dLbls>
          <c:showLegendKey val="0"/>
          <c:showVal val="0"/>
          <c:showCatName val="0"/>
          <c:showSerName val="0"/>
          <c:showPercent val="1"/>
          <c:showBubbleSize val="0"/>
          <c:showLeaderLines val="1"/>
        </c:dLbls>
        <c:firstSliceAng val="0"/>
        <c:holeSize val="5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022352388004865"/>
          <c:y val="0"/>
          <c:w val="0.77021318718554466"/>
          <c:h val="0.97440343519217598"/>
        </c:manualLayout>
      </c:layout>
      <c:pieChart>
        <c:varyColors val="1"/>
        <c:ser>
          <c:idx val="0"/>
          <c:order val="0"/>
          <c:tx>
            <c:strRef>
              <c:f>Sheet1!$B$1</c:f>
              <c:strCache>
                <c:ptCount val="1"/>
                <c:pt idx="0">
                  <c:v>Sector</c:v>
                </c:pt>
              </c:strCache>
            </c:strRef>
          </c:tx>
          <c:spPr>
            <a:ln w="9525">
              <a:solidFill>
                <a:schemeClr val="bg1"/>
              </a:solidFill>
            </a:ln>
          </c:spPr>
          <c:dPt>
            <c:idx val="0"/>
            <c:bubble3D val="0"/>
            <c:spPr>
              <a:solidFill>
                <a:schemeClr val="bg2"/>
              </a:solidFill>
              <a:ln w="9525">
                <a:solidFill>
                  <a:schemeClr val="bg1"/>
                </a:solidFill>
              </a:ln>
              <a:effectLst/>
            </c:spPr>
            <c:extLst>
              <c:ext xmlns:c16="http://schemas.microsoft.com/office/drawing/2014/chart" uri="{C3380CC4-5D6E-409C-BE32-E72D297353CC}">
                <c16:uniqueId val="{00000001-8F1B-465D-B651-4DAABCB905A4}"/>
              </c:ext>
            </c:extLst>
          </c:dPt>
          <c:dLbls>
            <c:dLbl>
              <c:idx val="0"/>
              <c:layout>
                <c:manualLayout>
                  <c:x val="-0.13296834458694162"/>
                  <c:y val="-0.19880476312611164"/>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35055290845648213"/>
                      <c:h val="0.32114615581910333"/>
                    </c:manualLayout>
                  </c15:layout>
                </c:ext>
                <c:ext xmlns:c16="http://schemas.microsoft.com/office/drawing/2014/chart" uri="{C3380CC4-5D6E-409C-BE32-E72D297353CC}">
                  <c16:uniqueId val="{00000001-8F1B-465D-B651-4DAABCB905A4}"/>
                </c:ext>
              </c:extLst>
            </c:dLbl>
            <c:dLbl>
              <c:idx val="1"/>
              <c:layout>
                <c:manualLayout>
                  <c:x val="6.771962620380606E-2"/>
                  <c:y val="4.5878323296763369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3707675233622622"/>
                      <c:h val="0.27492434942917382"/>
                    </c:manualLayout>
                  </c15:layout>
                </c:ext>
                <c:ext xmlns:c16="http://schemas.microsoft.com/office/drawing/2014/chart" uri="{C3380CC4-5D6E-409C-BE32-E72D297353CC}">
                  <c16:uniqueId val="{00000002-8BAE-4D68-9534-8A1058A3F3F1}"/>
                </c:ext>
              </c:extLst>
            </c:dLbl>
            <c:numFmt formatCode="0%" sourceLinked="0"/>
            <c:spPr>
              <a:noFill/>
              <a:ln>
                <a:noFill/>
              </a:ln>
              <a:effectLst/>
            </c:spPr>
            <c:txPr>
              <a:bodyPr wrap="square" lIns="38100" tIns="19050" rIns="38100" bIns="19050" anchor="ctr">
                <a:spAutoFit/>
              </a:bodyPr>
              <a:lstStyle/>
              <a:p>
                <a:pPr>
                  <a:defRPr sz="900"/>
                </a:pPr>
                <a:endParaRPr lang="en-US"/>
              </a:p>
            </c:txPr>
            <c:dLblPos val="bestFit"/>
            <c:showLegendKey val="0"/>
            <c:showVal val="0"/>
            <c:showCatName val="1"/>
            <c:showSerName val="0"/>
            <c:showPercent val="1"/>
            <c:showBubbleSize val="0"/>
            <c:showLeaderLines val="1"/>
            <c:extLst>
              <c:ext xmlns:c15="http://schemas.microsoft.com/office/drawing/2012/chart" uri="{CE6537A1-D6FC-4f65-9D91-7224C49458BB}"/>
            </c:extLst>
          </c:dLbls>
          <c:cat>
            <c:strRef>
              <c:f>Sheet1!$A$2:$A$3</c:f>
              <c:strCache>
                <c:ptCount val="2"/>
                <c:pt idx="0">
                  <c:v>Non-relationship</c:v>
                </c:pt>
                <c:pt idx="1">
                  <c:v>MidCap</c:v>
                </c:pt>
              </c:strCache>
            </c:strRef>
          </c:cat>
          <c:val>
            <c:numRef>
              <c:f>Sheet1!$B$2:$B$3</c:f>
              <c:numCache>
                <c:formatCode>0%</c:formatCode>
                <c:ptCount val="2"/>
                <c:pt idx="0">
                  <c:v>0.96922628163056956</c:v>
                </c:pt>
                <c:pt idx="1">
                  <c:v>3.0773718369430467E-2</c:v>
                </c:pt>
              </c:numCache>
            </c:numRef>
          </c:val>
          <c:extLst>
            <c:ext xmlns:c16="http://schemas.microsoft.com/office/drawing/2014/chart" uri="{C3380CC4-5D6E-409C-BE32-E72D297353CC}">
              <c16:uniqueId val="{0000000C-8F1B-465D-B651-4DAABCB905A4}"/>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sz="800">
          <a:solidFill>
            <a:schemeClr val="tx1"/>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255179293107158E-2"/>
          <c:y val="0"/>
          <c:w val="0.80647728116380135"/>
          <c:h val="1"/>
        </c:manualLayout>
      </c:layout>
      <c:pieChart>
        <c:varyColors val="1"/>
        <c:ser>
          <c:idx val="0"/>
          <c:order val="0"/>
          <c:tx>
            <c:strRef>
              <c:f>Sheet1!$B$1</c:f>
              <c:strCache>
                <c:ptCount val="1"/>
                <c:pt idx="0">
                  <c:v>Sector</c:v>
                </c:pt>
              </c:strCache>
            </c:strRef>
          </c:tx>
          <c:spPr>
            <a:ln>
              <a:solidFill>
                <a:schemeClr val="bg1"/>
              </a:solidFill>
            </a:ln>
          </c:spPr>
          <c:dPt>
            <c:idx val="0"/>
            <c:bubble3D val="0"/>
            <c:spPr>
              <a:solidFill>
                <a:schemeClr val="bg2"/>
              </a:solidFill>
              <a:ln w="19050">
                <a:solidFill>
                  <a:schemeClr val="bg1"/>
                </a:solidFill>
              </a:ln>
              <a:effectLst/>
            </c:spPr>
            <c:extLst>
              <c:ext xmlns:c16="http://schemas.microsoft.com/office/drawing/2014/chart" uri="{C3380CC4-5D6E-409C-BE32-E72D297353CC}">
                <c16:uniqueId val="{00000001-6721-4318-AD95-508FFA12218A}"/>
              </c:ext>
            </c:extLst>
          </c:dPt>
          <c:dLbls>
            <c:dLbl>
              <c:idx val="0"/>
              <c:layout>
                <c:manualLayout>
                  <c:x val="-0.17249144795579011"/>
                  <c:y val="-0.22415598286738844"/>
                </c:manualLayout>
              </c:layout>
              <c:spPr/>
              <c:txPr>
                <a:bodyPr lIns="0" tIns="0" rIns="0" bIns="0"/>
                <a:lstStyle/>
                <a:p>
                  <a:pPr>
                    <a:defRPr sz="900">
                      <a:solidFill>
                        <a:schemeClr val="tx1"/>
                      </a:solidFill>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32634971911983901"/>
                      <c:h val="0.27467990747330101"/>
                    </c:manualLayout>
                  </c15:layout>
                </c:ext>
                <c:ext xmlns:c16="http://schemas.microsoft.com/office/drawing/2014/chart" uri="{C3380CC4-5D6E-409C-BE32-E72D297353CC}">
                  <c16:uniqueId val="{00000001-6721-4318-AD95-508FFA12218A}"/>
                </c:ext>
              </c:extLst>
            </c:dLbl>
            <c:dLbl>
              <c:idx val="1"/>
              <c:layout>
                <c:manualLayout>
                  <c:x val="6.1595182300837728E-2"/>
                  <c:y val="1.3381089825795972E-2"/>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0.21456255603801924"/>
                      <c:h val="0.27526813355923141"/>
                    </c:manualLayout>
                  </c15:layout>
                </c:ext>
                <c:ext xmlns:c16="http://schemas.microsoft.com/office/drawing/2014/chart" uri="{C3380CC4-5D6E-409C-BE32-E72D297353CC}">
                  <c16:uniqueId val="{00000002-E1DB-461D-844A-3C526348B478}"/>
                </c:ext>
              </c:extLst>
            </c:dLbl>
            <c:spPr>
              <a:noFill/>
              <a:ln>
                <a:noFill/>
              </a:ln>
              <a:effectLst/>
            </c:spPr>
            <c:txPr>
              <a:bodyPr wrap="square" lIns="38100" tIns="19050" rIns="38100" bIns="19050" anchor="ctr">
                <a:spAutoFit/>
              </a:bodyPr>
              <a:lstStyle/>
              <a:p>
                <a:pPr>
                  <a:defRPr sz="900">
                    <a:solidFill>
                      <a:schemeClr val="tx1"/>
                    </a:solidFill>
                  </a:defRPr>
                </a:pPr>
                <a:endParaRPr lang="en-US"/>
              </a:p>
            </c:txPr>
            <c:showLegendKey val="0"/>
            <c:showVal val="1"/>
            <c:showCatName val="1"/>
            <c:showSerName val="0"/>
            <c:showPercent val="0"/>
            <c:showBubbleSize val="0"/>
            <c:separator>
</c:separator>
            <c:showLeaderLines val="1"/>
            <c:extLst>
              <c:ext xmlns:c15="http://schemas.microsoft.com/office/drawing/2012/chart" uri="{CE6537A1-D6FC-4f65-9D91-7224C49458BB}">
                <c15:spPr xmlns:c15="http://schemas.microsoft.com/office/drawing/2012/chart">
                  <a:prstGeom prst="rect">
                    <a:avLst/>
                  </a:prstGeom>
                </c15:spPr>
              </c:ext>
            </c:extLst>
          </c:dLbls>
          <c:cat>
            <c:strRef>
              <c:f>Sheet1!$A$2:$A$3</c:f>
              <c:strCache>
                <c:ptCount val="2"/>
                <c:pt idx="0">
                  <c:v>Non-relationship</c:v>
                </c:pt>
                <c:pt idx="1">
                  <c:v>MidCap</c:v>
                </c:pt>
              </c:strCache>
            </c:strRef>
          </c:cat>
          <c:val>
            <c:numRef>
              <c:f>Sheet1!$B$2:$B$3</c:f>
              <c:numCache>
                <c:formatCode>0%</c:formatCode>
                <c:ptCount val="2"/>
                <c:pt idx="0">
                  <c:v>0.97222222222222221</c:v>
                </c:pt>
                <c:pt idx="1">
                  <c:v>2.7777777777777776E-2</c:v>
                </c:pt>
              </c:numCache>
            </c:numRef>
          </c:val>
          <c:extLst>
            <c:ext xmlns:c16="http://schemas.microsoft.com/office/drawing/2014/chart" uri="{C3380CC4-5D6E-409C-BE32-E72D297353CC}">
              <c16:uniqueId val="{0000000C-6721-4318-AD95-508FFA12218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sz="800">
          <a:solidFill>
            <a:schemeClr val="tx1"/>
          </a:solidFil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458703838662686"/>
          <c:y val="0.15678066412226963"/>
          <c:w val="0.5343774866669585"/>
          <c:h val="0.77024375235598674"/>
        </c:manualLayout>
      </c:layout>
      <c:pieChart>
        <c:varyColors val="1"/>
        <c:ser>
          <c:idx val="0"/>
          <c:order val="0"/>
          <c:tx>
            <c:strRef>
              <c:f>Sheet1!$B$1</c:f>
              <c:strCache>
                <c:ptCount val="1"/>
                <c:pt idx="0">
                  <c:v>Sales</c:v>
                </c:pt>
              </c:strCache>
            </c:strRef>
          </c:tx>
          <c:dPt>
            <c:idx val="0"/>
            <c:bubble3D val="0"/>
            <c:spPr>
              <a:solidFill>
                <a:srgbClr val="CFBCFF"/>
              </a:solidFill>
              <a:ln w="19050">
                <a:solidFill>
                  <a:schemeClr val="lt1"/>
                </a:solidFill>
              </a:ln>
              <a:effectLst/>
            </c:spPr>
            <c:extLst>
              <c:ext xmlns:c16="http://schemas.microsoft.com/office/drawing/2014/chart" uri="{C3380CC4-5D6E-409C-BE32-E72D297353CC}">
                <c16:uniqueId val="{00000001-770B-4460-B278-74C09B8E2A23}"/>
              </c:ext>
            </c:extLst>
          </c:dPt>
          <c:dPt>
            <c:idx val="1"/>
            <c:bubble3D val="0"/>
            <c:spPr>
              <a:solidFill>
                <a:srgbClr val="D9D9D9"/>
              </a:solidFill>
              <a:ln w="19050">
                <a:solidFill>
                  <a:schemeClr val="lt1"/>
                </a:solidFill>
              </a:ln>
              <a:effectLst/>
            </c:spPr>
            <c:extLst>
              <c:ext xmlns:c16="http://schemas.microsoft.com/office/drawing/2014/chart" uri="{C3380CC4-5D6E-409C-BE32-E72D297353CC}">
                <c16:uniqueId val="{00000003-770B-4460-B278-74C09B8E2A23}"/>
              </c:ext>
            </c:extLst>
          </c:dPt>
          <c:dPt>
            <c:idx val="2"/>
            <c:bubble3D val="0"/>
            <c:spPr>
              <a:solidFill>
                <a:srgbClr val="E59B9D"/>
              </a:solidFill>
              <a:ln w="19050">
                <a:solidFill>
                  <a:schemeClr val="lt1"/>
                </a:solidFill>
              </a:ln>
              <a:effectLst/>
            </c:spPr>
            <c:extLst>
              <c:ext xmlns:c16="http://schemas.microsoft.com/office/drawing/2014/chart" uri="{C3380CC4-5D6E-409C-BE32-E72D297353CC}">
                <c16:uniqueId val="{00000005-770B-4460-B278-74C09B8E2A23}"/>
              </c:ext>
            </c:extLst>
          </c:dPt>
          <c:dPt>
            <c:idx val="3"/>
            <c:bubble3D val="0"/>
            <c:spPr>
              <a:solidFill>
                <a:srgbClr val="FAD2AD"/>
              </a:solidFill>
              <a:ln w="19050">
                <a:solidFill>
                  <a:schemeClr val="lt1"/>
                </a:solidFill>
              </a:ln>
              <a:effectLst/>
            </c:spPr>
            <c:extLst>
              <c:ext xmlns:c16="http://schemas.microsoft.com/office/drawing/2014/chart" uri="{C3380CC4-5D6E-409C-BE32-E72D297353CC}">
                <c16:uniqueId val="{00000007-770B-4460-B278-74C09B8E2A23}"/>
              </c:ext>
            </c:extLst>
          </c:dPt>
          <c:dPt>
            <c:idx val="4"/>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9-770B-4460-B278-74C09B8E2A2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770B-4460-B278-74C09B8E2A23}"/>
              </c:ext>
            </c:extLst>
          </c:dPt>
          <c:dLbls>
            <c:dLbl>
              <c:idx val="0"/>
              <c:layout>
                <c:manualLayout>
                  <c:x val="-0.20222473446223901"/>
                  <c:y val="0.14245708907671711"/>
                </c:manualLayout>
              </c:layout>
              <c:tx>
                <c:rich>
                  <a:bodyPr/>
                  <a:lstStyle/>
                  <a:p>
                    <a:fld id="{01962A4C-83F3-4BFA-AE46-2C144CF8B671}" type="CATEGORYNAME">
                      <a:rPr lang="en-US" smtClean="0">
                        <a:solidFill>
                          <a:schemeClr val="tx1"/>
                        </a:solidFill>
                      </a:rPr>
                      <a:pPr/>
                      <a:t>[CATEGORY NAME]</a:t>
                    </a:fld>
                    <a:endParaRPr lang="en-US" baseline="0" dirty="0">
                      <a:solidFill>
                        <a:schemeClr val="tx1"/>
                      </a:solidFill>
                    </a:endParaRPr>
                  </a:p>
                  <a:p>
                    <a:r>
                      <a:rPr lang="en-US" baseline="0">
                        <a:solidFill>
                          <a:schemeClr val="tx1"/>
                        </a:solidFill>
                      </a:rPr>
                      <a:t> </a:t>
                    </a:r>
                    <a:fld id="{74F3D3DF-870E-4702-8726-664BC3529EB8}" type="VALUE">
                      <a:rPr lang="en-US" baseline="0">
                        <a:solidFill>
                          <a:schemeClr val="tx1"/>
                        </a:solidFill>
                      </a:rPr>
                      <a:pPr/>
                      <a:t>[VALUE]</a:t>
                    </a:fld>
                    <a:endParaRPr lang="en-US" baseline="0">
                      <a:solidFill>
                        <a:schemeClr val="tx1"/>
                      </a:solidFill>
                    </a:endParaRPr>
                  </a:p>
                </c:rich>
              </c:tx>
              <c:showLegendKey val="0"/>
              <c:showVal val="1"/>
              <c:showCatName val="1"/>
              <c:showSerName val="0"/>
              <c:showPercent val="0"/>
              <c:showBubbleSize val="0"/>
              <c:extLst>
                <c:ext xmlns:c15="http://schemas.microsoft.com/office/drawing/2012/chart" uri="{CE6537A1-D6FC-4f65-9D91-7224C49458BB}">
                  <c15:layout>
                    <c:manualLayout>
                      <c:w val="0.18747176233637178"/>
                      <c:h val="0.13078830391219604"/>
                    </c:manualLayout>
                  </c15:layout>
                  <c15:dlblFieldTable/>
                  <c15:showDataLabelsRange val="0"/>
                </c:ext>
                <c:ext xmlns:c16="http://schemas.microsoft.com/office/drawing/2014/chart" uri="{C3380CC4-5D6E-409C-BE32-E72D297353CC}">
                  <c16:uniqueId val="{00000001-770B-4460-B278-74C09B8E2A23}"/>
                </c:ext>
              </c:extLst>
            </c:dLbl>
            <c:dLbl>
              <c:idx val="1"/>
              <c:layout>
                <c:manualLayout>
                  <c:x val="-5.402632243828065E-2"/>
                  <c:y val="-0.15555905659894897"/>
                </c:manualLayout>
              </c:layout>
              <c:tx>
                <c:rich>
                  <a:bodyPr/>
                  <a:lstStyle/>
                  <a:p>
                    <a:fld id="{3F47B213-3E2F-4BA4-8FE9-E81D526EF087}" type="CATEGORYNAME">
                      <a:rPr lang="en-US" smtClean="0">
                        <a:solidFill>
                          <a:schemeClr val="tx1"/>
                        </a:solidFill>
                      </a:rPr>
                      <a:pPr/>
                      <a:t>[CATEGORY NAME]</a:t>
                    </a:fld>
                    <a:endParaRPr lang="en-US" baseline="0">
                      <a:solidFill>
                        <a:schemeClr val="tx1"/>
                      </a:solidFill>
                    </a:endParaRPr>
                  </a:p>
                  <a:p>
                    <a:fld id="{0CAEEB4B-2D27-4347-B875-CC53966179F7}" type="VALUE">
                      <a:rPr lang="en-US" baseline="0" smtClean="0">
                        <a:solidFill>
                          <a:schemeClr val="tx1"/>
                        </a:solidFill>
                      </a:rPr>
                      <a:pPr/>
                      <a:t>[VALUE]</a:t>
                    </a:fld>
                    <a:endParaRPr 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70B-4460-B278-74C09B8E2A23}"/>
                </c:ext>
              </c:extLst>
            </c:dLbl>
            <c:dLbl>
              <c:idx val="2"/>
              <c:layout>
                <c:manualLayout>
                  <c:x val="0.16684564230795312"/>
                  <c:y val="-0.15839613902734967"/>
                </c:manualLayout>
              </c:layout>
              <c:tx>
                <c:rich>
                  <a:bodyPr/>
                  <a:lstStyle/>
                  <a:p>
                    <a:fld id="{C2FA1D36-041E-4E15-ABB9-DAF9E4643F3C}" type="CATEGORYNAME">
                      <a:rPr lang="en-US" smtClean="0">
                        <a:solidFill>
                          <a:schemeClr val="tx1"/>
                        </a:solidFill>
                      </a:rPr>
                      <a:pPr/>
                      <a:t>[CATEGORY NAME]</a:t>
                    </a:fld>
                    <a:endParaRPr lang="en-US" baseline="0" dirty="0">
                      <a:solidFill>
                        <a:schemeClr val="tx1"/>
                      </a:solidFill>
                    </a:endParaRPr>
                  </a:p>
                  <a:p>
                    <a:fld id="{08F2D679-224C-4A3B-8C4E-3802CF415AFF}" type="VALUE">
                      <a:rPr lang="en-US" baseline="0" smtClean="0">
                        <a:solidFill>
                          <a:schemeClr val="tx1"/>
                        </a:solidFill>
                      </a:rPr>
                      <a:pPr/>
                      <a:t>[VALUE]</a:t>
                    </a:fld>
                    <a:endParaRPr lang="en-US"/>
                  </a:p>
                </c:rich>
              </c:tx>
              <c:showLegendKey val="0"/>
              <c:showVal val="1"/>
              <c:showCatName val="1"/>
              <c:showSerName val="0"/>
              <c:showPercent val="0"/>
              <c:showBubbleSize val="0"/>
              <c:extLst>
                <c:ext xmlns:c15="http://schemas.microsoft.com/office/drawing/2012/chart" uri="{CE6537A1-D6FC-4f65-9D91-7224C49458BB}">
                  <c15:layout>
                    <c:manualLayout>
                      <c:w val="0.20275236209218661"/>
                      <c:h val="0.13078830391219604"/>
                    </c:manualLayout>
                  </c15:layout>
                  <c15:dlblFieldTable/>
                  <c15:showDataLabelsRange val="0"/>
                </c:ext>
                <c:ext xmlns:c16="http://schemas.microsoft.com/office/drawing/2014/chart" uri="{C3380CC4-5D6E-409C-BE32-E72D297353CC}">
                  <c16:uniqueId val="{00000005-770B-4460-B278-74C09B8E2A23}"/>
                </c:ext>
              </c:extLst>
            </c:dLbl>
            <c:dLbl>
              <c:idx val="3"/>
              <c:layout>
                <c:manualLayout>
                  <c:x val="0.21766184848789191"/>
                  <c:y val="1.3522230204967761E-2"/>
                </c:manualLayout>
              </c:layout>
              <c:tx>
                <c:rich>
                  <a:bodyPr/>
                  <a:lstStyle/>
                  <a:p>
                    <a:fld id="{58EB004F-E6A3-4181-B285-0DC334456C87}" type="CATEGORYNAME">
                      <a:rPr lang="en-US" smtClean="0">
                        <a:solidFill>
                          <a:schemeClr val="tx1"/>
                        </a:solidFill>
                      </a:rPr>
                      <a:pPr/>
                      <a:t>[CATEGORY NAME]</a:t>
                    </a:fld>
                    <a:r>
                      <a:rPr lang="en-US" baseline="0" dirty="0">
                        <a:solidFill>
                          <a:schemeClr val="tx1"/>
                        </a:solidFill>
                      </a:rPr>
                      <a:t> </a:t>
                    </a:r>
                  </a:p>
                  <a:p>
                    <a:fld id="{BEAFDC35-5461-4277-9B2D-B7CB6C6A5772}" type="VALUE">
                      <a:rPr lang="en-US" baseline="0" smtClean="0">
                        <a:solidFill>
                          <a:schemeClr val="tx1"/>
                        </a:solidFill>
                      </a:rPr>
                      <a:pPr/>
                      <a:t>[VALUE]</a:t>
                    </a:fld>
                    <a:endParaRPr lang="en-US"/>
                  </a:p>
                </c:rich>
              </c:tx>
              <c:showLegendKey val="0"/>
              <c:showVal val="1"/>
              <c:showCatName val="1"/>
              <c:showSerName val="0"/>
              <c:showPercent val="0"/>
              <c:showBubbleSize val="0"/>
              <c:extLst>
                <c:ext xmlns:c15="http://schemas.microsoft.com/office/drawing/2012/chart" uri="{CE6537A1-D6FC-4f65-9D91-7224C49458BB}">
                  <c15:layout>
                    <c:manualLayout>
                      <c:w val="0.22204796776092173"/>
                      <c:h val="0.13078830391219604"/>
                    </c:manualLayout>
                  </c15:layout>
                  <c15:dlblFieldTable/>
                  <c15:showDataLabelsRange val="0"/>
                </c:ext>
                <c:ext xmlns:c16="http://schemas.microsoft.com/office/drawing/2014/chart" uri="{C3380CC4-5D6E-409C-BE32-E72D297353CC}">
                  <c16:uniqueId val="{00000007-770B-4460-B278-74C09B8E2A23}"/>
                </c:ext>
              </c:extLst>
            </c:dLbl>
            <c:dLbl>
              <c:idx val="4"/>
              <c:layout>
                <c:manualLayout>
                  <c:x val="0.10599392427055623"/>
                  <c:y val="0.18220305080188098"/>
                </c:manualLayout>
              </c:layout>
              <c:tx>
                <c:rich>
                  <a:bodyPr/>
                  <a:lstStyle/>
                  <a:p>
                    <a:fld id="{F1B5C1E7-5A00-4D8B-B434-D4C6FF95945C}" type="CATEGORYNAME">
                      <a:rPr lang="en-US" smtClean="0">
                        <a:solidFill>
                          <a:schemeClr val="tx1"/>
                        </a:solidFill>
                      </a:rPr>
                      <a:pPr/>
                      <a:t>[CATEGORY NAME]</a:t>
                    </a:fld>
                    <a:endParaRPr lang="en-US" baseline="0">
                      <a:solidFill>
                        <a:schemeClr val="tx1"/>
                      </a:solidFill>
                    </a:endParaRPr>
                  </a:p>
                  <a:p>
                    <a:r>
                      <a:rPr lang="en-US" baseline="0">
                        <a:solidFill>
                          <a:schemeClr val="tx1"/>
                        </a:solidFill>
                      </a:rPr>
                      <a:t> </a:t>
                    </a:r>
                    <a:fld id="{A1458FC5-2F7A-402B-83DC-33C69637A1C7}" type="VALUE">
                      <a:rPr lang="en-US" baseline="0">
                        <a:solidFill>
                          <a:schemeClr val="tx1"/>
                        </a:solidFill>
                      </a:rPr>
                      <a:pPr/>
                      <a:t>[VALUE]</a:t>
                    </a:fld>
                    <a:endParaRPr lang="en-US" baseline="0">
                      <a:solidFill>
                        <a:schemeClr val="tx1"/>
                      </a:solidFill>
                    </a:endParaRPr>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770B-4460-B278-74C09B8E2A23}"/>
                </c:ext>
              </c:extLst>
            </c:dLbl>
            <c:dLbl>
              <c:idx val="5"/>
              <c:layout>
                <c:manualLayout>
                  <c:x val="-6.7000983436097686E-2"/>
                  <c:y val="8.4542086894980523E-2"/>
                </c:manualLayout>
              </c:layout>
              <c:tx>
                <c:rich>
                  <a:bodyPr/>
                  <a:lstStyle/>
                  <a:p>
                    <a:fld id="{0ED2B4F3-E22A-41A7-9F9C-B70810AC285C}" type="CATEGORYNAME">
                      <a:rPr lang="en-US" smtClean="0">
                        <a:solidFill>
                          <a:schemeClr val="tx1"/>
                        </a:solidFill>
                      </a:rPr>
                      <a:pPr/>
                      <a:t>[CATEGORY NAME]</a:t>
                    </a:fld>
                    <a:endParaRPr lang="en-US" baseline="0" dirty="0">
                      <a:solidFill>
                        <a:schemeClr val="tx1"/>
                      </a:solidFill>
                    </a:endParaRPr>
                  </a:p>
                  <a:p>
                    <a:fld id="{3C3A51A6-DCBB-4C9A-818B-402683F379A5}" type="VALUE">
                      <a:rPr lang="en-US" baseline="0" smtClean="0">
                        <a:solidFill>
                          <a:schemeClr val="tx1"/>
                        </a:solidFill>
                      </a:rPr>
                      <a:pPr/>
                      <a:t>[VALUE]</a:t>
                    </a:fld>
                    <a:endParaRPr 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770B-4460-B278-74C09B8E2A2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TMT</c:v>
                </c:pt>
                <c:pt idx="1">
                  <c:v>Healthcare</c:v>
                </c:pt>
                <c:pt idx="2">
                  <c:v>Consumer</c:v>
                </c:pt>
                <c:pt idx="3">
                  <c:v>Industrials</c:v>
                </c:pt>
                <c:pt idx="4">
                  <c:v>Others</c:v>
                </c:pt>
              </c:strCache>
            </c:strRef>
          </c:cat>
          <c:val>
            <c:numRef>
              <c:f>Sheet1!$B$2:$B$6</c:f>
              <c:numCache>
                <c:formatCode>General</c:formatCode>
                <c:ptCount val="5"/>
                <c:pt idx="0">
                  <c:v>18</c:v>
                </c:pt>
                <c:pt idx="1">
                  <c:v>9</c:v>
                </c:pt>
                <c:pt idx="2">
                  <c:v>6</c:v>
                </c:pt>
                <c:pt idx="3">
                  <c:v>5</c:v>
                </c:pt>
                <c:pt idx="4">
                  <c:v>9</c:v>
                </c:pt>
              </c:numCache>
            </c:numRef>
          </c:val>
          <c:extLst>
            <c:ext xmlns:c16="http://schemas.microsoft.com/office/drawing/2014/chart" uri="{C3380CC4-5D6E-409C-BE32-E72D297353CC}">
              <c16:uniqueId val="{0000000C-770B-4460-B278-74C09B8E2A23}"/>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644499152905857"/>
          <c:y val="0.15154284658473674"/>
          <c:w val="0.53801136459555643"/>
          <c:h val="0.77548156989351957"/>
        </c:manualLayout>
      </c:layout>
      <c:pieChart>
        <c:varyColors val="1"/>
        <c:ser>
          <c:idx val="0"/>
          <c:order val="0"/>
          <c:tx>
            <c:strRef>
              <c:f>Sheet1!$B$1</c:f>
              <c:strCache>
                <c:ptCount val="1"/>
                <c:pt idx="0">
                  <c:v>Sales</c:v>
                </c:pt>
              </c:strCache>
            </c:strRef>
          </c:tx>
          <c:spPr>
            <a:solidFill>
              <a:srgbClr val="E59B9D"/>
            </a:solidFill>
          </c:spPr>
          <c:dPt>
            <c:idx val="0"/>
            <c:bubble3D val="0"/>
            <c:spPr>
              <a:solidFill>
                <a:srgbClr val="CFBCFF"/>
              </a:solidFill>
              <a:ln w="19050">
                <a:solidFill>
                  <a:schemeClr val="lt1"/>
                </a:solidFill>
              </a:ln>
              <a:effectLst/>
            </c:spPr>
            <c:extLst>
              <c:ext xmlns:c16="http://schemas.microsoft.com/office/drawing/2014/chart" uri="{C3380CC4-5D6E-409C-BE32-E72D297353CC}">
                <c16:uniqueId val="{00000001-BAB2-4103-8E63-7E65571431D0}"/>
              </c:ext>
            </c:extLst>
          </c:dPt>
          <c:dPt>
            <c:idx val="1"/>
            <c:bubble3D val="0"/>
            <c:spPr>
              <a:solidFill>
                <a:srgbClr val="FAD2AD"/>
              </a:solidFill>
              <a:ln w="19050">
                <a:solidFill>
                  <a:schemeClr val="lt1"/>
                </a:solidFill>
              </a:ln>
              <a:effectLst/>
            </c:spPr>
            <c:extLst>
              <c:ext xmlns:c16="http://schemas.microsoft.com/office/drawing/2014/chart" uri="{C3380CC4-5D6E-409C-BE32-E72D297353CC}">
                <c16:uniqueId val="{00000003-BAB2-4103-8E63-7E65571431D0}"/>
              </c:ext>
            </c:extLst>
          </c:dPt>
          <c:dPt>
            <c:idx val="2"/>
            <c:bubble3D val="0"/>
            <c:spPr>
              <a:solidFill>
                <a:srgbClr val="E59B9D"/>
              </a:solidFill>
              <a:ln w="19050">
                <a:solidFill>
                  <a:schemeClr val="lt1"/>
                </a:solidFill>
              </a:ln>
              <a:effectLst/>
            </c:spPr>
            <c:extLst>
              <c:ext xmlns:c16="http://schemas.microsoft.com/office/drawing/2014/chart" uri="{C3380CC4-5D6E-409C-BE32-E72D297353CC}">
                <c16:uniqueId val="{00000005-BAB2-4103-8E63-7E65571431D0}"/>
              </c:ext>
            </c:extLst>
          </c:dPt>
          <c:dPt>
            <c:idx val="3"/>
            <c:bubble3D val="0"/>
            <c:spPr>
              <a:solidFill>
                <a:srgbClr val="D9D9D9"/>
              </a:solidFill>
              <a:ln w="19050">
                <a:solidFill>
                  <a:schemeClr val="lt1"/>
                </a:solidFill>
              </a:ln>
              <a:effectLst/>
            </c:spPr>
            <c:extLst>
              <c:ext xmlns:c16="http://schemas.microsoft.com/office/drawing/2014/chart" uri="{C3380CC4-5D6E-409C-BE32-E72D297353CC}">
                <c16:uniqueId val="{00000007-BAB2-4103-8E63-7E65571431D0}"/>
              </c:ext>
            </c:extLst>
          </c:dPt>
          <c:dPt>
            <c:idx val="4"/>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9-BAB2-4103-8E63-7E65571431D0}"/>
              </c:ext>
            </c:extLst>
          </c:dPt>
          <c:dPt>
            <c:idx val="5"/>
            <c:bubble3D val="0"/>
            <c:spPr>
              <a:solidFill>
                <a:srgbClr val="CC0000"/>
              </a:solidFill>
              <a:ln w="19050">
                <a:solidFill>
                  <a:schemeClr val="lt1"/>
                </a:solidFill>
              </a:ln>
              <a:effectLst/>
            </c:spPr>
            <c:extLst>
              <c:ext xmlns:c16="http://schemas.microsoft.com/office/drawing/2014/chart" uri="{C3380CC4-5D6E-409C-BE32-E72D297353CC}">
                <c16:uniqueId val="{0000000B-BAB2-4103-8E63-7E65571431D0}"/>
              </c:ext>
            </c:extLst>
          </c:dPt>
          <c:dLbls>
            <c:dLbl>
              <c:idx val="0"/>
              <c:layout>
                <c:manualLayout>
                  <c:x val="-0.17050641665586519"/>
                  <c:y val="0.11993241153243689"/>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AB2-4103-8E63-7E65571431D0}"/>
                </c:ext>
              </c:extLst>
            </c:dLbl>
            <c:dLbl>
              <c:idx val="1"/>
              <c:layout>
                <c:manualLayout>
                  <c:x val="-0.10813133120966073"/>
                  <c:y val="-0.16761016120105218"/>
                </c:manualLayout>
              </c:layout>
              <c:showLegendKey val="0"/>
              <c:showVal val="0"/>
              <c:showCatName val="1"/>
              <c:showSerName val="0"/>
              <c:showPercent val="1"/>
              <c:showBubbleSize val="0"/>
              <c:extLst>
                <c:ext xmlns:c15="http://schemas.microsoft.com/office/drawing/2012/chart" uri="{CE6537A1-D6FC-4f65-9D91-7224C49458BB}">
                  <c15:layout>
                    <c:manualLayout>
                      <c:w val="0.17974962867204081"/>
                      <c:h val="0.13078830391219604"/>
                    </c:manualLayout>
                  </c15:layout>
                </c:ext>
                <c:ext xmlns:c16="http://schemas.microsoft.com/office/drawing/2014/chart" uri="{C3380CC4-5D6E-409C-BE32-E72D297353CC}">
                  <c16:uniqueId val="{00000003-BAB2-4103-8E63-7E65571431D0}"/>
                </c:ext>
              </c:extLst>
            </c:dLbl>
            <c:dLbl>
              <c:idx val="2"/>
              <c:layout>
                <c:manualLayout>
                  <c:x val="0.20671386129859917"/>
                  <c:y val="-0.12570762090078924"/>
                </c:manualLayout>
              </c:layout>
              <c:showLegendKey val="0"/>
              <c:showVal val="0"/>
              <c:showCatName val="1"/>
              <c:showSerName val="0"/>
              <c:showPercent val="1"/>
              <c:showBubbleSize val="0"/>
              <c:extLst>
                <c:ext xmlns:c15="http://schemas.microsoft.com/office/drawing/2012/chart" uri="{CE6537A1-D6FC-4f65-9D91-7224C49458BB}">
                  <c15:layout>
                    <c:manualLayout>
                      <c:w val="0.272922258761294"/>
                      <c:h val="0.18832593577528361"/>
                    </c:manualLayout>
                  </c15:layout>
                </c:ext>
                <c:ext xmlns:c16="http://schemas.microsoft.com/office/drawing/2014/chart" uri="{C3380CC4-5D6E-409C-BE32-E72D297353CC}">
                  <c16:uniqueId val="{00000005-BAB2-4103-8E63-7E65571431D0}"/>
                </c:ext>
              </c:extLst>
            </c:dLbl>
            <c:dLbl>
              <c:idx val="3"/>
              <c:layout>
                <c:manualLayout>
                  <c:x val="0.17397047517102832"/>
                  <c:y val="5.9352721231802706E-2"/>
                </c:manualLayout>
              </c:layout>
              <c:showLegendKey val="0"/>
              <c:showVal val="0"/>
              <c:showCatName val="1"/>
              <c:showSerName val="0"/>
              <c:showPercent val="1"/>
              <c:showBubbleSize val="0"/>
              <c:extLst>
                <c:ext xmlns:c15="http://schemas.microsoft.com/office/drawing/2012/chart" uri="{CE6537A1-D6FC-4f65-9D91-7224C49458BB}">
                  <c15:layout>
                    <c:manualLayout>
                      <c:w val="0.18570918847494153"/>
                      <c:h val="0.18832593577528361"/>
                    </c:manualLayout>
                  </c15:layout>
                </c:ext>
                <c:ext xmlns:c16="http://schemas.microsoft.com/office/drawing/2014/chart" uri="{C3380CC4-5D6E-409C-BE32-E72D297353CC}">
                  <c16:uniqueId val="{00000007-BAB2-4103-8E63-7E65571431D0}"/>
                </c:ext>
              </c:extLst>
            </c:dLbl>
            <c:dLbl>
              <c:idx val="4"/>
              <c:layout>
                <c:manualLayout>
                  <c:x val="0.11179239168969315"/>
                  <c:y val="0.16731403891822158"/>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BAB2-4103-8E63-7E65571431D0}"/>
                </c:ext>
              </c:extLst>
            </c:dLbl>
            <c:dLbl>
              <c:idx val="5"/>
              <c:layout>
                <c:manualLayout>
                  <c:x val="-0.12255353460438943"/>
                  <c:y val="7.3029611403429909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BAB2-4103-8E63-7E65571431D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TMT</c:v>
                </c:pt>
                <c:pt idx="1">
                  <c:v>Industrials</c:v>
                </c:pt>
                <c:pt idx="2">
                  <c:v>Consumer</c:v>
                </c:pt>
                <c:pt idx="3">
                  <c:v>Healthcare</c:v>
                </c:pt>
                <c:pt idx="4">
                  <c:v>Others</c:v>
                </c:pt>
              </c:strCache>
            </c:strRef>
          </c:cat>
          <c:val>
            <c:numRef>
              <c:f>Sheet1!$B$2:$B$6</c:f>
              <c:numCache>
                <c:formatCode>General</c:formatCode>
                <c:ptCount val="5"/>
                <c:pt idx="0">
                  <c:v>4512</c:v>
                </c:pt>
                <c:pt idx="1">
                  <c:v>2600</c:v>
                </c:pt>
                <c:pt idx="2">
                  <c:v>2485</c:v>
                </c:pt>
                <c:pt idx="3">
                  <c:v>830</c:v>
                </c:pt>
                <c:pt idx="4">
                  <c:v>2254</c:v>
                </c:pt>
              </c:numCache>
            </c:numRef>
          </c:val>
          <c:extLst>
            <c:ext xmlns:c16="http://schemas.microsoft.com/office/drawing/2014/chart" uri="{C3380CC4-5D6E-409C-BE32-E72D297353CC}">
              <c16:uniqueId val="{0000000C-BAB2-4103-8E63-7E65571431D0}"/>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458703838662686"/>
          <c:y val="0.15678066412226963"/>
          <c:w val="0.5343774866669585"/>
          <c:h val="0.77024375235598674"/>
        </c:manualLayout>
      </c:layout>
      <c:pieChart>
        <c:varyColors val="1"/>
        <c:ser>
          <c:idx val="0"/>
          <c:order val="0"/>
          <c:tx>
            <c:strRef>
              <c:f>Sheet1!$B$1</c:f>
              <c:strCache>
                <c:ptCount val="1"/>
                <c:pt idx="0">
                  <c:v>Sales</c:v>
                </c:pt>
              </c:strCache>
            </c:strRef>
          </c:tx>
          <c:dPt>
            <c:idx val="0"/>
            <c:bubble3D val="0"/>
            <c:spPr>
              <a:solidFill>
                <a:srgbClr val="CFBCFF"/>
              </a:solidFill>
              <a:ln w="19050">
                <a:solidFill>
                  <a:schemeClr val="lt1"/>
                </a:solidFill>
              </a:ln>
              <a:effectLst/>
            </c:spPr>
            <c:extLst>
              <c:ext xmlns:c16="http://schemas.microsoft.com/office/drawing/2014/chart" uri="{C3380CC4-5D6E-409C-BE32-E72D297353CC}">
                <c16:uniqueId val="{00000001-9EFB-489F-B68E-1B1C6F1190EF}"/>
              </c:ext>
            </c:extLst>
          </c:dPt>
          <c:dPt>
            <c:idx val="1"/>
            <c:bubble3D val="0"/>
            <c:spPr>
              <a:solidFill>
                <a:srgbClr val="D9D9D9"/>
              </a:solidFill>
              <a:ln w="19050">
                <a:solidFill>
                  <a:schemeClr val="lt1"/>
                </a:solidFill>
              </a:ln>
              <a:effectLst/>
            </c:spPr>
            <c:extLst>
              <c:ext xmlns:c16="http://schemas.microsoft.com/office/drawing/2014/chart" uri="{C3380CC4-5D6E-409C-BE32-E72D297353CC}">
                <c16:uniqueId val="{00000003-9EFB-489F-B68E-1B1C6F1190EF}"/>
              </c:ext>
            </c:extLst>
          </c:dPt>
          <c:dPt>
            <c:idx val="2"/>
            <c:bubble3D val="0"/>
            <c:spPr>
              <a:solidFill>
                <a:srgbClr val="E59B9D"/>
              </a:solidFill>
              <a:ln w="19050">
                <a:solidFill>
                  <a:schemeClr val="lt1"/>
                </a:solidFill>
              </a:ln>
              <a:effectLst/>
            </c:spPr>
            <c:extLst>
              <c:ext xmlns:c16="http://schemas.microsoft.com/office/drawing/2014/chart" uri="{C3380CC4-5D6E-409C-BE32-E72D297353CC}">
                <c16:uniqueId val="{00000005-9EFB-489F-B68E-1B1C6F1190EF}"/>
              </c:ext>
            </c:extLst>
          </c:dPt>
          <c:dPt>
            <c:idx val="3"/>
            <c:bubble3D val="0"/>
            <c:spPr>
              <a:solidFill>
                <a:srgbClr val="FAD2AD"/>
              </a:solidFill>
              <a:ln w="19050">
                <a:solidFill>
                  <a:schemeClr val="lt1"/>
                </a:solidFill>
              </a:ln>
              <a:effectLst/>
            </c:spPr>
            <c:extLst>
              <c:ext xmlns:c16="http://schemas.microsoft.com/office/drawing/2014/chart" uri="{C3380CC4-5D6E-409C-BE32-E72D297353CC}">
                <c16:uniqueId val="{00000007-9EFB-489F-B68E-1B1C6F1190EF}"/>
              </c:ext>
            </c:extLst>
          </c:dPt>
          <c:dPt>
            <c:idx val="4"/>
            <c:bubble3D val="0"/>
            <c:spPr>
              <a:solidFill>
                <a:schemeClr val="accent3">
                  <a:lumMod val="20000"/>
                  <a:lumOff val="80000"/>
                </a:schemeClr>
              </a:solidFill>
              <a:ln w="19050">
                <a:solidFill>
                  <a:schemeClr val="lt1"/>
                </a:solidFill>
              </a:ln>
              <a:effectLst/>
            </c:spPr>
            <c:extLst>
              <c:ext xmlns:c16="http://schemas.microsoft.com/office/drawing/2014/chart" uri="{C3380CC4-5D6E-409C-BE32-E72D297353CC}">
                <c16:uniqueId val="{00000009-9EFB-489F-B68E-1B1C6F1190EF}"/>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9EFB-489F-B68E-1B1C6F1190EF}"/>
              </c:ext>
            </c:extLst>
          </c:dPt>
          <c:dLbls>
            <c:dLbl>
              <c:idx val="0"/>
              <c:layout>
                <c:manualLayout>
                  <c:x val="-0.20949249031943518"/>
                  <c:y val="-1.9915254586802184E-2"/>
                </c:manualLayout>
              </c:layout>
              <c:tx>
                <c:rich>
                  <a:bodyPr/>
                  <a:lstStyle/>
                  <a:p>
                    <a:fld id="{01962A4C-83F3-4BFA-AE46-2C144CF8B671}" type="CATEGORYNAME">
                      <a:rPr lang="en-US" smtClean="0">
                        <a:solidFill>
                          <a:schemeClr val="tx1"/>
                        </a:solidFill>
                      </a:rPr>
                      <a:pPr/>
                      <a:t>[CATEGORY NAME]</a:t>
                    </a:fld>
                    <a:endParaRPr lang="en-US" baseline="0" dirty="0">
                      <a:solidFill>
                        <a:schemeClr val="tx1"/>
                      </a:solidFill>
                    </a:endParaRPr>
                  </a:p>
                  <a:p>
                    <a:r>
                      <a:rPr lang="en-US" baseline="0">
                        <a:solidFill>
                          <a:schemeClr val="tx1"/>
                        </a:solidFill>
                      </a:rPr>
                      <a:t> </a:t>
                    </a:r>
                    <a:fld id="{74F3D3DF-870E-4702-8726-664BC3529EB8}" type="VALUE">
                      <a:rPr lang="en-US" baseline="0">
                        <a:solidFill>
                          <a:schemeClr val="tx1"/>
                        </a:solidFill>
                      </a:rPr>
                      <a:pPr/>
                      <a:t>[VALUE]</a:t>
                    </a:fld>
                    <a:endParaRPr lang="en-US" baseline="0">
                      <a:solidFill>
                        <a:schemeClr val="tx1"/>
                      </a:solidFill>
                    </a:endParaRPr>
                  </a:p>
                </c:rich>
              </c:tx>
              <c:showLegendKey val="0"/>
              <c:showVal val="1"/>
              <c:showCatName val="1"/>
              <c:showSerName val="0"/>
              <c:showPercent val="0"/>
              <c:showBubbleSize val="0"/>
              <c:extLst>
                <c:ext xmlns:c15="http://schemas.microsoft.com/office/drawing/2012/chart" uri="{CE6537A1-D6FC-4f65-9D91-7224C49458BB}">
                  <c15:layout>
                    <c:manualLayout>
                      <c:w val="0.18747176233637178"/>
                      <c:h val="0.13078830391219604"/>
                    </c:manualLayout>
                  </c15:layout>
                  <c15:dlblFieldTable/>
                  <c15:showDataLabelsRange val="0"/>
                </c:ext>
                <c:ext xmlns:c16="http://schemas.microsoft.com/office/drawing/2014/chart" uri="{C3380CC4-5D6E-409C-BE32-E72D297353CC}">
                  <c16:uniqueId val="{00000001-9EFB-489F-B68E-1B1C6F1190EF}"/>
                </c:ext>
              </c:extLst>
            </c:dLbl>
            <c:dLbl>
              <c:idx val="1"/>
              <c:layout>
                <c:manualLayout>
                  <c:x val="0.13493532984881637"/>
                  <c:y val="-0.15555905659894897"/>
                </c:manualLayout>
              </c:layout>
              <c:tx>
                <c:rich>
                  <a:bodyPr/>
                  <a:lstStyle/>
                  <a:p>
                    <a:fld id="{3F47B213-3E2F-4BA4-8FE9-E81D526EF087}" type="CATEGORYNAME">
                      <a:rPr lang="en-US" smtClean="0">
                        <a:solidFill>
                          <a:schemeClr val="tx1"/>
                        </a:solidFill>
                      </a:rPr>
                      <a:pPr/>
                      <a:t>[CATEGORY NAME]</a:t>
                    </a:fld>
                    <a:endParaRPr lang="en-US" baseline="0">
                      <a:solidFill>
                        <a:schemeClr val="tx1"/>
                      </a:solidFill>
                    </a:endParaRPr>
                  </a:p>
                  <a:p>
                    <a:fld id="{0CAEEB4B-2D27-4347-B875-CC53966179F7}" type="VALUE">
                      <a:rPr lang="en-US" baseline="0" smtClean="0">
                        <a:solidFill>
                          <a:schemeClr val="tx1"/>
                        </a:solidFill>
                      </a:rPr>
                      <a:pPr/>
                      <a:t>[VALUE]</a:t>
                    </a:fld>
                    <a:endParaRPr 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EFB-489F-B68E-1B1C6F1190EF}"/>
                </c:ext>
              </c:extLst>
            </c:dLbl>
            <c:dLbl>
              <c:idx val="2"/>
              <c:layout>
                <c:manualLayout>
                  <c:x val="0.21045217745112935"/>
                  <c:y val="-3.7926335664093397E-2"/>
                </c:manualLayout>
              </c:layout>
              <c:tx>
                <c:rich>
                  <a:bodyPr/>
                  <a:lstStyle/>
                  <a:p>
                    <a:fld id="{C2FA1D36-041E-4E15-ABB9-DAF9E4643F3C}" type="CATEGORYNAME">
                      <a:rPr lang="en-US" smtClean="0">
                        <a:solidFill>
                          <a:schemeClr val="tx1"/>
                        </a:solidFill>
                      </a:rPr>
                      <a:pPr/>
                      <a:t>[CATEGORY NAME]</a:t>
                    </a:fld>
                    <a:endParaRPr lang="en-US" baseline="0" dirty="0">
                      <a:solidFill>
                        <a:schemeClr val="tx1"/>
                      </a:solidFill>
                    </a:endParaRPr>
                  </a:p>
                  <a:p>
                    <a:fld id="{08F2D679-224C-4A3B-8C4E-3802CF415AFF}" type="VALUE">
                      <a:rPr lang="en-US" baseline="0" smtClean="0">
                        <a:solidFill>
                          <a:schemeClr val="tx1"/>
                        </a:solidFill>
                      </a:rPr>
                      <a:pPr/>
                      <a:t>[VALUE]</a:t>
                    </a:fld>
                    <a:endParaRPr lang="en-US"/>
                  </a:p>
                </c:rich>
              </c:tx>
              <c:showLegendKey val="0"/>
              <c:showVal val="1"/>
              <c:showCatName val="1"/>
              <c:showSerName val="0"/>
              <c:showPercent val="0"/>
              <c:showBubbleSize val="0"/>
              <c:extLst>
                <c:ext xmlns:c15="http://schemas.microsoft.com/office/drawing/2012/chart" uri="{CE6537A1-D6FC-4f65-9D91-7224C49458BB}">
                  <c15:layout>
                    <c:manualLayout>
                      <c:w val="0.20275236209218661"/>
                      <c:h val="0.13078830391219604"/>
                    </c:manualLayout>
                  </c15:layout>
                  <c15:dlblFieldTable/>
                  <c15:showDataLabelsRange val="0"/>
                </c:ext>
                <c:ext xmlns:c16="http://schemas.microsoft.com/office/drawing/2014/chart" uri="{C3380CC4-5D6E-409C-BE32-E72D297353CC}">
                  <c16:uniqueId val="{00000005-9EFB-489F-B68E-1B1C6F1190EF}"/>
                </c:ext>
              </c:extLst>
            </c:dLbl>
            <c:dLbl>
              <c:idx val="3"/>
              <c:layout>
                <c:manualLayout>
                  <c:x val="0.17405531334471566"/>
                  <c:y val="0.17065675633095415"/>
                </c:manualLayout>
              </c:layout>
              <c:tx>
                <c:rich>
                  <a:bodyPr/>
                  <a:lstStyle/>
                  <a:p>
                    <a:fld id="{58EB004F-E6A3-4181-B285-0DC334456C87}" type="CATEGORYNAME">
                      <a:rPr lang="en-US" smtClean="0">
                        <a:solidFill>
                          <a:schemeClr val="tx1"/>
                        </a:solidFill>
                      </a:rPr>
                      <a:pPr/>
                      <a:t>[CATEGORY NAME]</a:t>
                    </a:fld>
                    <a:r>
                      <a:rPr lang="en-US" baseline="0" dirty="0">
                        <a:solidFill>
                          <a:schemeClr val="tx1"/>
                        </a:solidFill>
                      </a:rPr>
                      <a:t> </a:t>
                    </a:r>
                  </a:p>
                  <a:p>
                    <a:fld id="{BEAFDC35-5461-4277-9B2D-B7CB6C6A5772}" type="VALUE">
                      <a:rPr lang="en-US" baseline="0" smtClean="0">
                        <a:solidFill>
                          <a:schemeClr val="tx1"/>
                        </a:solidFill>
                      </a:rPr>
                      <a:pPr/>
                      <a:t>[VALUE]</a:t>
                    </a:fld>
                    <a:endParaRPr lang="en-US"/>
                  </a:p>
                </c:rich>
              </c:tx>
              <c:showLegendKey val="0"/>
              <c:showVal val="1"/>
              <c:showCatName val="1"/>
              <c:showSerName val="0"/>
              <c:showPercent val="0"/>
              <c:showBubbleSize val="0"/>
              <c:extLst>
                <c:ext xmlns:c15="http://schemas.microsoft.com/office/drawing/2012/chart" uri="{CE6537A1-D6FC-4f65-9D91-7224C49458BB}">
                  <c15:layout>
                    <c:manualLayout>
                      <c:w val="0.22204796776092173"/>
                      <c:h val="0.13078830391219604"/>
                    </c:manualLayout>
                  </c15:layout>
                  <c15:dlblFieldTable/>
                  <c15:showDataLabelsRange val="0"/>
                </c:ext>
                <c:ext xmlns:c16="http://schemas.microsoft.com/office/drawing/2014/chart" uri="{C3380CC4-5D6E-409C-BE32-E72D297353CC}">
                  <c16:uniqueId val="{00000007-9EFB-489F-B68E-1B1C6F1190EF}"/>
                </c:ext>
              </c:extLst>
            </c:dLbl>
            <c:dLbl>
              <c:idx val="4"/>
              <c:layout>
                <c:manualLayout>
                  <c:x val="5.1485755341585893E-2"/>
                  <c:y val="0.14030051050161793"/>
                </c:manualLayout>
              </c:layout>
              <c:tx>
                <c:rich>
                  <a:bodyPr/>
                  <a:lstStyle/>
                  <a:p>
                    <a:fld id="{F1B5C1E7-5A00-4D8B-B434-D4C6FF95945C}" type="CATEGORYNAME">
                      <a:rPr lang="en-US" smtClean="0">
                        <a:solidFill>
                          <a:schemeClr val="tx1"/>
                        </a:solidFill>
                      </a:rPr>
                      <a:pPr/>
                      <a:t>[CATEGORY NAME]</a:t>
                    </a:fld>
                    <a:endParaRPr lang="en-US" baseline="0">
                      <a:solidFill>
                        <a:schemeClr val="tx1"/>
                      </a:solidFill>
                    </a:endParaRPr>
                  </a:p>
                  <a:p>
                    <a:r>
                      <a:rPr lang="en-US" baseline="0">
                        <a:solidFill>
                          <a:schemeClr val="tx1"/>
                        </a:solidFill>
                      </a:rPr>
                      <a:t> </a:t>
                    </a:r>
                    <a:fld id="{A1458FC5-2F7A-402B-83DC-33C69637A1C7}" type="VALUE">
                      <a:rPr lang="en-US" baseline="0">
                        <a:solidFill>
                          <a:schemeClr val="tx1"/>
                        </a:solidFill>
                      </a:rPr>
                      <a:pPr/>
                      <a:t>[VALUE]</a:t>
                    </a:fld>
                    <a:endParaRPr lang="en-US" baseline="0">
                      <a:solidFill>
                        <a:schemeClr val="tx1"/>
                      </a:solidFill>
                    </a:endParaRPr>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9EFB-489F-B68E-1B1C6F1190EF}"/>
                </c:ext>
              </c:extLst>
            </c:dLbl>
            <c:dLbl>
              <c:idx val="5"/>
              <c:layout>
                <c:manualLayout>
                  <c:x val="-6.7000983436097686E-2"/>
                  <c:y val="8.4542086894980523E-2"/>
                </c:manualLayout>
              </c:layout>
              <c:tx>
                <c:rich>
                  <a:bodyPr/>
                  <a:lstStyle/>
                  <a:p>
                    <a:fld id="{0ED2B4F3-E22A-41A7-9F9C-B70810AC285C}" type="CATEGORYNAME">
                      <a:rPr lang="en-US" smtClean="0">
                        <a:solidFill>
                          <a:schemeClr val="tx1"/>
                        </a:solidFill>
                      </a:rPr>
                      <a:pPr/>
                      <a:t>[CATEGORY NAME]</a:t>
                    </a:fld>
                    <a:endParaRPr lang="en-US" baseline="0" dirty="0">
                      <a:solidFill>
                        <a:schemeClr val="tx1"/>
                      </a:solidFill>
                    </a:endParaRPr>
                  </a:p>
                  <a:p>
                    <a:fld id="{3C3A51A6-DCBB-4C9A-818B-402683F379A5}" type="VALUE">
                      <a:rPr lang="en-US" baseline="0" smtClean="0">
                        <a:solidFill>
                          <a:schemeClr val="tx1"/>
                        </a:solidFill>
                      </a:rPr>
                      <a:pPr/>
                      <a:t>[VALUE]</a:t>
                    </a:fld>
                    <a:endParaRPr 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9EFB-489F-B68E-1B1C6F1190E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TMT</c:v>
                </c:pt>
                <c:pt idx="1">
                  <c:v>Healthcare</c:v>
                </c:pt>
                <c:pt idx="2">
                  <c:v>Consumer</c:v>
                </c:pt>
                <c:pt idx="3">
                  <c:v>Industrials</c:v>
                </c:pt>
                <c:pt idx="4">
                  <c:v>Materials</c:v>
                </c:pt>
              </c:strCache>
            </c:strRef>
          </c:cat>
          <c:val>
            <c:numRef>
              <c:f>Sheet1!$B$2:$B$6</c:f>
              <c:numCache>
                <c:formatCode>General</c:formatCode>
                <c:ptCount val="5"/>
                <c:pt idx="0">
                  <c:v>20</c:v>
                </c:pt>
                <c:pt idx="1">
                  <c:v>4</c:v>
                </c:pt>
                <c:pt idx="2">
                  <c:v>7</c:v>
                </c:pt>
                <c:pt idx="3">
                  <c:v>5</c:v>
                </c:pt>
                <c:pt idx="4">
                  <c:v>2</c:v>
                </c:pt>
              </c:numCache>
            </c:numRef>
          </c:val>
          <c:extLst>
            <c:ext xmlns:c16="http://schemas.microsoft.com/office/drawing/2014/chart" uri="{C3380CC4-5D6E-409C-BE32-E72D297353CC}">
              <c16:uniqueId val="{0000000C-9EFB-489F-B68E-1B1C6F1190EF}"/>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644499152905857"/>
          <c:y val="0.15154284658473674"/>
          <c:w val="0.53801136459555643"/>
          <c:h val="0.77548156989351957"/>
        </c:manualLayout>
      </c:layout>
      <c:pieChart>
        <c:varyColors val="1"/>
        <c:ser>
          <c:idx val="0"/>
          <c:order val="0"/>
          <c:tx>
            <c:strRef>
              <c:f>Sheet1!$B$1</c:f>
              <c:strCache>
                <c:ptCount val="1"/>
                <c:pt idx="0">
                  <c:v>Sales</c:v>
                </c:pt>
              </c:strCache>
            </c:strRef>
          </c:tx>
          <c:spPr>
            <a:solidFill>
              <a:srgbClr val="E59B9D"/>
            </a:solidFill>
          </c:spPr>
          <c:dPt>
            <c:idx val="0"/>
            <c:bubble3D val="0"/>
            <c:spPr>
              <a:solidFill>
                <a:srgbClr val="CFBCFF"/>
              </a:solidFill>
              <a:ln w="19050">
                <a:solidFill>
                  <a:schemeClr val="lt1"/>
                </a:solidFill>
              </a:ln>
              <a:effectLst/>
            </c:spPr>
            <c:extLst>
              <c:ext xmlns:c16="http://schemas.microsoft.com/office/drawing/2014/chart" uri="{C3380CC4-5D6E-409C-BE32-E72D297353CC}">
                <c16:uniqueId val="{00000001-4871-4A4F-AC42-ECF0027DFBED}"/>
              </c:ext>
            </c:extLst>
          </c:dPt>
          <c:dPt>
            <c:idx val="1"/>
            <c:bubble3D val="0"/>
            <c:spPr>
              <a:solidFill>
                <a:srgbClr val="FAD2AD"/>
              </a:solidFill>
              <a:ln w="19050">
                <a:solidFill>
                  <a:schemeClr val="lt1"/>
                </a:solidFill>
              </a:ln>
              <a:effectLst/>
            </c:spPr>
            <c:extLst>
              <c:ext xmlns:c16="http://schemas.microsoft.com/office/drawing/2014/chart" uri="{C3380CC4-5D6E-409C-BE32-E72D297353CC}">
                <c16:uniqueId val="{00000003-4871-4A4F-AC42-ECF0027DFBED}"/>
              </c:ext>
            </c:extLst>
          </c:dPt>
          <c:dPt>
            <c:idx val="2"/>
            <c:bubble3D val="0"/>
            <c:spPr>
              <a:solidFill>
                <a:srgbClr val="E59B9D"/>
              </a:solidFill>
              <a:ln w="19050">
                <a:solidFill>
                  <a:schemeClr val="lt1"/>
                </a:solidFill>
              </a:ln>
              <a:effectLst/>
            </c:spPr>
            <c:extLst>
              <c:ext xmlns:c16="http://schemas.microsoft.com/office/drawing/2014/chart" uri="{C3380CC4-5D6E-409C-BE32-E72D297353CC}">
                <c16:uniqueId val="{00000005-4871-4A4F-AC42-ECF0027DFBED}"/>
              </c:ext>
            </c:extLst>
          </c:dPt>
          <c:dPt>
            <c:idx val="3"/>
            <c:bubble3D val="0"/>
            <c:spPr>
              <a:solidFill>
                <a:srgbClr val="D9D9D9"/>
              </a:solidFill>
              <a:ln w="19050">
                <a:solidFill>
                  <a:schemeClr val="lt1"/>
                </a:solidFill>
              </a:ln>
              <a:effectLst/>
            </c:spPr>
            <c:extLst>
              <c:ext xmlns:c16="http://schemas.microsoft.com/office/drawing/2014/chart" uri="{C3380CC4-5D6E-409C-BE32-E72D297353CC}">
                <c16:uniqueId val="{00000007-4871-4A4F-AC42-ECF0027DFBED}"/>
              </c:ext>
            </c:extLst>
          </c:dPt>
          <c:dPt>
            <c:idx val="4"/>
            <c:bubble3D val="0"/>
            <c:spPr>
              <a:solidFill>
                <a:srgbClr val="FAEBEB"/>
              </a:solidFill>
              <a:ln w="19050">
                <a:solidFill>
                  <a:schemeClr val="lt1"/>
                </a:solidFill>
              </a:ln>
              <a:effectLst/>
            </c:spPr>
            <c:extLst>
              <c:ext xmlns:c16="http://schemas.microsoft.com/office/drawing/2014/chart" uri="{C3380CC4-5D6E-409C-BE32-E72D297353CC}">
                <c16:uniqueId val="{00000009-4871-4A4F-AC42-ECF0027DFBED}"/>
              </c:ext>
            </c:extLst>
          </c:dPt>
          <c:dPt>
            <c:idx val="5"/>
            <c:bubble3D val="0"/>
            <c:spPr>
              <a:solidFill>
                <a:srgbClr val="CC0000"/>
              </a:solidFill>
              <a:ln w="19050">
                <a:solidFill>
                  <a:schemeClr val="lt1"/>
                </a:solidFill>
              </a:ln>
              <a:effectLst/>
            </c:spPr>
            <c:extLst>
              <c:ext xmlns:c16="http://schemas.microsoft.com/office/drawing/2014/chart" uri="{C3380CC4-5D6E-409C-BE32-E72D297353CC}">
                <c16:uniqueId val="{0000000B-4871-4A4F-AC42-ECF0027DFBED}"/>
              </c:ext>
            </c:extLst>
          </c:dPt>
          <c:dLbls>
            <c:dLbl>
              <c:idx val="0"/>
              <c:layout>
                <c:manualLayout>
                  <c:x val="-0.18685886733455626"/>
                  <c:y val="-7.9104654893812534E-2"/>
                </c:manualLayout>
              </c:layout>
              <c:showLegendKey val="0"/>
              <c:showVal val="0"/>
              <c:showCatName val="1"/>
              <c:showSerName val="0"/>
              <c:showPercent val="1"/>
              <c:showBubbleSize val="0"/>
              <c:extLst>
                <c:ext xmlns:c15="http://schemas.microsoft.com/office/drawing/2012/chart" uri="{CE6537A1-D6FC-4f65-9D91-7224C49458BB}">
                  <c15:layout>
                    <c:manualLayout>
                      <c:w val="9.9804314242884398E-2"/>
                      <c:h val="0.13078830391219604"/>
                    </c:manualLayout>
                  </c15:layout>
                </c:ext>
                <c:ext xmlns:c16="http://schemas.microsoft.com/office/drawing/2014/chart" uri="{C3380CC4-5D6E-409C-BE32-E72D297353CC}">
                  <c16:uniqueId val="{00000001-4871-4A4F-AC42-ECF0027DFBED}"/>
                </c:ext>
              </c:extLst>
            </c:dLbl>
            <c:dLbl>
              <c:idx val="1"/>
              <c:layout>
                <c:manualLayout>
                  <c:x val="0.1607756355065926"/>
                  <c:y val="-0.17284797873858515"/>
                </c:manualLayout>
              </c:layout>
              <c:showLegendKey val="0"/>
              <c:showVal val="0"/>
              <c:showCatName val="1"/>
              <c:showSerName val="0"/>
              <c:showPercent val="1"/>
              <c:showBubbleSize val="0"/>
              <c:extLst>
                <c:ext xmlns:c15="http://schemas.microsoft.com/office/drawing/2012/chart" uri="{CE6537A1-D6FC-4f65-9D91-7224C49458BB}">
                  <c15:layout>
                    <c:manualLayout>
                      <c:w val="0.17974962867204081"/>
                      <c:h val="0.13078830391219604"/>
                    </c:manualLayout>
                  </c15:layout>
                </c:ext>
                <c:ext xmlns:c16="http://schemas.microsoft.com/office/drawing/2014/chart" uri="{C3380CC4-5D6E-409C-BE32-E72D297353CC}">
                  <c16:uniqueId val="{00000003-4871-4A4F-AC42-ECF0027DFBED}"/>
                </c:ext>
              </c:extLst>
            </c:dLbl>
            <c:dLbl>
              <c:idx val="2"/>
              <c:layout>
                <c:manualLayout>
                  <c:x val="0.20671386129859917"/>
                  <c:y val="7.8567263062993206E-2"/>
                </c:manualLayout>
              </c:layout>
              <c:showLegendKey val="0"/>
              <c:showVal val="0"/>
              <c:showCatName val="1"/>
              <c:showSerName val="0"/>
              <c:showPercent val="1"/>
              <c:showBubbleSize val="0"/>
              <c:extLst>
                <c:ext xmlns:c15="http://schemas.microsoft.com/office/drawing/2012/chart" uri="{CE6537A1-D6FC-4f65-9D91-7224C49458BB}">
                  <c15:layout>
                    <c:manualLayout>
                      <c:w val="0.272922258761294"/>
                      <c:h val="0.18832593577528361"/>
                    </c:manualLayout>
                  </c15:layout>
                </c:ext>
                <c:ext xmlns:c16="http://schemas.microsoft.com/office/drawing/2014/chart" uri="{C3380CC4-5D6E-409C-BE32-E72D297353CC}">
                  <c16:uniqueId val="{00000005-4871-4A4F-AC42-ECF0027DFBED}"/>
                </c:ext>
              </c:extLst>
            </c:dLbl>
            <c:dLbl>
              <c:idx val="3"/>
              <c:layout>
                <c:manualLayout>
                  <c:x val="7.2221893170283741E-2"/>
                  <c:y val="0.10649307906959865"/>
                </c:manualLayout>
              </c:layout>
              <c:showLegendKey val="0"/>
              <c:showVal val="0"/>
              <c:showCatName val="1"/>
              <c:showSerName val="0"/>
              <c:showPercent val="1"/>
              <c:showBubbleSize val="0"/>
              <c:extLst>
                <c:ext xmlns:c15="http://schemas.microsoft.com/office/drawing/2012/chart" uri="{CE6537A1-D6FC-4f65-9D91-7224C49458BB}">
                  <c15:layout>
                    <c:manualLayout>
                      <c:w val="0.18570918847494153"/>
                      <c:h val="0.18832593577528361"/>
                    </c:manualLayout>
                  </c15:layout>
                </c:ext>
                <c:ext xmlns:c16="http://schemas.microsoft.com/office/drawing/2014/chart" uri="{C3380CC4-5D6E-409C-BE32-E72D297353CC}">
                  <c16:uniqueId val="{00000007-4871-4A4F-AC42-ECF0027DFBED}"/>
                </c:ext>
              </c:extLst>
            </c:dLbl>
            <c:dLbl>
              <c:idx val="4"/>
              <c:layout>
                <c:manualLayout>
                  <c:x val="3.9114833117732783E-2"/>
                  <c:y val="0.2406434844436819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4871-4A4F-AC42-ECF0027DFBED}"/>
                </c:ext>
              </c:extLst>
            </c:dLbl>
            <c:dLbl>
              <c:idx val="5"/>
              <c:layout>
                <c:manualLayout>
                  <c:x val="-0.12255353460438943"/>
                  <c:y val="7.3029611403429909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4871-4A4F-AC42-ECF0027DFBED}"/>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TMT</c:v>
                </c:pt>
                <c:pt idx="1">
                  <c:v>Industrials</c:v>
                </c:pt>
                <c:pt idx="2">
                  <c:v>Consumer</c:v>
                </c:pt>
                <c:pt idx="3">
                  <c:v>Healthcare</c:v>
                </c:pt>
                <c:pt idx="4">
                  <c:v>Materials</c:v>
                </c:pt>
              </c:strCache>
            </c:strRef>
          </c:cat>
          <c:val>
            <c:numRef>
              <c:f>Sheet1!$B$2:$B$6</c:f>
              <c:numCache>
                <c:formatCode>General</c:formatCode>
                <c:ptCount val="5"/>
                <c:pt idx="0">
                  <c:v>8176</c:v>
                </c:pt>
                <c:pt idx="1">
                  <c:v>1298</c:v>
                </c:pt>
                <c:pt idx="2">
                  <c:v>3741</c:v>
                </c:pt>
                <c:pt idx="3">
                  <c:v>586</c:v>
                </c:pt>
                <c:pt idx="4">
                  <c:v>301</c:v>
                </c:pt>
              </c:numCache>
            </c:numRef>
          </c:val>
          <c:extLst>
            <c:ext xmlns:c16="http://schemas.microsoft.com/office/drawing/2014/chart" uri="{C3380CC4-5D6E-409C-BE32-E72D297353CC}">
              <c16:uniqueId val="{0000000C-4871-4A4F-AC42-ECF0027DFBED}"/>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66368051047661"/>
          <c:y val="0.14660918066187176"/>
          <c:w val="0.71581704621815945"/>
          <c:h val="0.85339081933812821"/>
        </c:manualLayout>
      </c:layout>
      <c:pieChart>
        <c:varyColors val="1"/>
        <c:ser>
          <c:idx val="0"/>
          <c:order val="0"/>
          <c:spPr>
            <a:ln w="9525">
              <a:solidFill>
                <a:schemeClr val="bg1"/>
              </a:solidFill>
            </a:ln>
          </c:spPr>
          <c:dPt>
            <c:idx val="0"/>
            <c:bubble3D val="0"/>
            <c:spPr>
              <a:solidFill>
                <a:srgbClr val="C00000"/>
              </a:solidFill>
              <a:ln w="9525">
                <a:solidFill>
                  <a:schemeClr val="bg1"/>
                </a:solidFill>
              </a:ln>
              <a:effectLst/>
            </c:spPr>
            <c:extLst>
              <c:ext xmlns:c16="http://schemas.microsoft.com/office/drawing/2014/chart" uri="{C3380CC4-5D6E-409C-BE32-E72D297353CC}">
                <c16:uniqueId val="{00000001-8F1B-465D-B651-4DAABCB905A4}"/>
              </c:ext>
            </c:extLst>
          </c:dPt>
          <c:dPt>
            <c:idx val="1"/>
            <c:bubble3D val="0"/>
            <c:spPr>
              <a:solidFill>
                <a:schemeClr val="accent2"/>
              </a:solidFill>
              <a:ln w="9525">
                <a:solidFill>
                  <a:schemeClr val="bg1"/>
                </a:solidFill>
              </a:ln>
            </c:spPr>
            <c:extLst>
              <c:ext xmlns:c16="http://schemas.microsoft.com/office/drawing/2014/chart" uri="{C3380CC4-5D6E-409C-BE32-E72D297353CC}">
                <c16:uniqueId val="{00000003-7400-4D58-9E62-A1561315F6FC}"/>
              </c:ext>
            </c:extLst>
          </c:dPt>
          <c:dLbls>
            <c:dLbl>
              <c:idx val="0"/>
              <c:layout>
                <c:manualLayout>
                  <c:x val="-0.15089383374425366"/>
                  <c:y val="-0.12573476053152613"/>
                </c:manualLayout>
              </c:layout>
              <c:tx>
                <c:rich>
                  <a:bodyPr wrap="square" lIns="38100" tIns="19050" rIns="38100" bIns="19050" anchor="ctr">
                    <a:spAutoFit/>
                  </a:bodyPr>
                  <a:lstStyle/>
                  <a:p>
                    <a:pPr>
                      <a:defRPr>
                        <a:solidFill>
                          <a:schemeClr val="bg1"/>
                        </a:solidFill>
                      </a:defRPr>
                    </a:pPr>
                    <a:fld id="{4199399F-AE41-4725-8C68-2E862D89F211}" type="CATEGORYNAME">
                      <a:rPr lang="en-US" smtClean="0">
                        <a:solidFill>
                          <a:schemeClr val="bg1"/>
                        </a:solidFill>
                      </a:rPr>
                      <a:pPr>
                        <a:defRPr>
                          <a:solidFill>
                            <a:schemeClr val="bg1"/>
                          </a:solidFill>
                        </a:defRPr>
                      </a:pPr>
                      <a:t>[CATEGORY NAME]</a:t>
                    </a:fld>
                    <a:r>
                      <a:rPr lang="en-US" baseline="0" dirty="0">
                        <a:solidFill>
                          <a:schemeClr val="bg1"/>
                        </a:solidFill>
                      </a:rPr>
                      <a:t> </a:t>
                    </a:r>
                    <a:fld id="{BAA05E55-9F1F-4A9C-B8CF-00DAF8DECB76}" type="VALUE">
                      <a:rPr lang="en-US" baseline="0">
                        <a:solidFill>
                          <a:schemeClr val="bg1"/>
                        </a:solidFill>
                      </a:rPr>
                      <a:pPr>
                        <a:defRPr>
                          <a:solidFill>
                            <a:schemeClr val="bg1"/>
                          </a:solidFill>
                        </a:defRPr>
                      </a:pPr>
                      <a:t>[VALUE]</a:t>
                    </a:fld>
                    <a:endParaRPr lang="en-US" baseline="0" dirty="0">
                      <a:solidFill>
                        <a:schemeClr val="bg1"/>
                      </a:solidFill>
                    </a:endParaRPr>
                  </a:p>
                </c:rich>
              </c:tx>
              <c:spPr>
                <a:noFill/>
                <a:ln>
                  <a:noFill/>
                </a:ln>
                <a:effectLst/>
              </c:spPr>
              <c:dLblPos val="bestFit"/>
              <c:showLegendKey val="0"/>
              <c:showVal val="1"/>
              <c:showCatName val="1"/>
              <c:showSerName val="0"/>
              <c:showPercent val="0"/>
              <c:showBubbleSize val="0"/>
              <c:extLst>
                <c:ext xmlns:c15="http://schemas.microsoft.com/office/drawing/2012/chart" uri="{CE6537A1-D6FC-4f65-9D91-7224C49458BB}">
                  <c15:layout>
                    <c:manualLayout>
                      <c:w val="0.29185905075876184"/>
                      <c:h val="0.26586361052739504"/>
                    </c:manualLayout>
                  </c15:layout>
                  <c15:dlblFieldTable/>
                  <c15:showDataLabelsRange val="0"/>
                </c:ext>
                <c:ext xmlns:c16="http://schemas.microsoft.com/office/drawing/2014/chart" uri="{C3380CC4-5D6E-409C-BE32-E72D297353CC}">
                  <c16:uniqueId val="{00000001-8F1B-465D-B651-4DAABCB905A4}"/>
                </c:ext>
              </c:extLst>
            </c:dLbl>
            <c:dLbl>
              <c:idx val="1"/>
              <c:layout>
                <c:manualLayout>
                  <c:x val="0.1390899234869736"/>
                  <c:y val="0.20089111956351866"/>
                </c:manualLayout>
              </c:layout>
              <c:tx>
                <c:rich>
                  <a:bodyPr/>
                  <a:lstStyle/>
                  <a:p>
                    <a:fld id="{415174BF-BAC1-44BF-B7AD-4F5B603AD985}" type="CATEGORYNAME">
                      <a:rPr lang="en-US" smtClean="0"/>
                      <a:pPr/>
                      <a:t>[CATEGORY NAME]</a:t>
                    </a:fld>
                    <a:endParaRPr lang="en-US" baseline="0" dirty="0"/>
                  </a:p>
                  <a:p>
                    <a:r>
                      <a:rPr lang="en-US" baseline="0" dirty="0"/>
                      <a:t> </a:t>
                    </a:r>
                    <a:fld id="{11FB039A-BFC1-45BB-A01D-F2FBCB51F09C}" type="VALUE">
                      <a:rPr lang="en-US" baseline="0"/>
                      <a:pPr/>
                      <a:t>[VALUE]</a:t>
                    </a:fld>
                    <a:endParaRPr lang="en-US" baseline="0" dirty="0"/>
                  </a:p>
                </c:rich>
              </c:tx>
              <c:dLblPos val="bestFit"/>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400-4D58-9E62-A1561315F6FC}"/>
                </c:ext>
              </c:extLst>
            </c:dLbl>
            <c:dLbl>
              <c:idx val="2"/>
              <c:layout>
                <c:manualLayout>
                  <c:x val="7.2875801688530029E-3"/>
                  <c:y val="6.6539814190820223E-2"/>
                </c:manualLayout>
              </c:layout>
              <c:tx>
                <c:rich>
                  <a:bodyPr/>
                  <a:lstStyle/>
                  <a:p>
                    <a:fld id="{41748CB7-B5FA-4AD6-887E-D2B438D7EF2D}" type="CATEGORYNAME">
                      <a:rPr lang="en-US" smtClean="0"/>
                      <a:pPr/>
                      <a:t>[CATEGORY NAME]</a:t>
                    </a:fld>
                    <a:r>
                      <a:rPr lang="en-US" baseline="0" dirty="0"/>
                      <a:t> </a:t>
                    </a:r>
                    <a:fld id="{F6A2AE17-2D92-45FD-8F8A-4C65F8AB5FC7}" type="VALUE">
                      <a:rPr lang="en-US" baseline="0"/>
                      <a:pPr/>
                      <a:t>[VALUE]</a:t>
                    </a:fld>
                    <a:endParaRPr lang="en-US" baseline="0" dirty="0"/>
                  </a:p>
                </c:rich>
              </c:tx>
              <c:dLblPos val="bestFit"/>
              <c:showLegendKey val="0"/>
              <c:showVal val="1"/>
              <c:showCatName val="1"/>
              <c:showSerName val="0"/>
              <c:showPercent val="0"/>
              <c:showBubbleSize val="0"/>
              <c:extLst>
                <c:ext xmlns:c15="http://schemas.microsoft.com/office/drawing/2012/chart" uri="{CE6537A1-D6FC-4f65-9D91-7224C49458BB}">
                  <c15:layout>
                    <c:manualLayout>
                      <c:w val="0.15795053111796731"/>
                      <c:h val="0.14241338909135068"/>
                    </c:manualLayout>
                  </c15:layout>
                  <c15:dlblFieldTable/>
                  <c15:showDataLabelsRange val="0"/>
                </c:ext>
                <c:ext xmlns:c16="http://schemas.microsoft.com/office/drawing/2014/chart" uri="{C3380CC4-5D6E-409C-BE32-E72D297353CC}">
                  <c16:uniqueId val="{00000004-D064-450A-BFEF-45A0B3B4B950}"/>
                </c:ext>
              </c:extLst>
            </c:dLbl>
            <c:spPr>
              <a:noFill/>
              <a:ln>
                <a:noFill/>
              </a:ln>
              <a:effectLst/>
            </c:spPr>
            <c:dLblPos val="bestFit"/>
            <c:showLegendKey val="0"/>
            <c:showVal val="1"/>
            <c:showCatName val="1"/>
            <c:showSerName val="0"/>
            <c:showPercent val="0"/>
            <c:showBubbleSize val="0"/>
            <c:showLeaderLines val="1"/>
            <c:extLst>
              <c:ext xmlns:c15="http://schemas.microsoft.com/office/drawing/2012/chart" uri="{CE6537A1-D6FC-4f65-9D91-7224C49458BB}"/>
            </c:extLst>
          </c:dLbls>
          <c:cat>
            <c:strRef>
              <c:f>Sheet1!$A$15:$A$17</c:f>
              <c:strCache>
                <c:ptCount val="3"/>
                <c:pt idx="0">
                  <c:v>Non-relationship</c:v>
                </c:pt>
                <c:pt idx="1">
                  <c:v>LC</c:v>
                </c:pt>
                <c:pt idx="2">
                  <c:v>SME</c:v>
                </c:pt>
              </c:strCache>
            </c:strRef>
          </c:cat>
          <c:val>
            <c:numRef>
              <c:f>Sheet1!$B$15:$B$17</c:f>
              <c:numCache>
                <c:formatCode>0.0%</c:formatCode>
                <c:ptCount val="3"/>
                <c:pt idx="0">
                  <c:v>0.84375</c:v>
                </c:pt>
                <c:pt idx="1">
                  <c:v>0.12946428571428573</c:v>
                </c:pt>
                <c:pt idx="2">
                  <c:v>7.3341836734693881E-3</c:v>
                </c:pt>
              </c:numCache>
            </c:numRef>
          </c:val>
          <c:extLst>
            <c:ext xmlns:c16="http://schemas.microsoft.com/office/drawing/2014/chart" uri="{C3380CC4-5D6E-409C-BE32-E72D297353CC}">
              <c16:uniqueId val="{0000000C-8F1B-465D-B651-4DAABCB905A4}"/>
            </c:ext>
          </c:extLst>
        </c:ser>
        <c:dLbls>
          <c:dLblPos val="bestFit"/>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sz="800">
          <a:solidFill>
            <a:schemeClr val="tx1"/>
          </a:solidFil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626753954309148"/>
          <c:y val="9.1756044519743812E-2"/>
          <c:w val="0.71791769859112564"/>
          <c:h val="0.90824395548025616"/>
        </c:manualLayout>
      </c:layout>
      <c:pieChart>
        <c:varyColors val="1"/>
        <c:ser>
          <c:idx val="0"/>
          <c:order val="0"/>
          <c:spPr>
            <a:ln>
              <a:solidFill>
                <a:schemeClr val="bg1"/>
              </a:solidFill>
            </a:ln>
          </c:spPr>
          <c:dPt>
            <c:idx val="1"/>
            <c:bubble3D val="0"/>
            <c:spPr>
              <a:solidFill>
                <a:schemeClr val="accent2"/>
              </a:solidFill>
              <a:ln w="19050">
                <a:solidFill>
                  <a:schemeClr val="bg1"/>
                </a:solidFill>
              </a:ln>
              <a:effectLst/>
            </c:spPr>
            <c:extLst>
              <c:ext xmlns:c16="http://schemas.microsoft.com/office/drawing/2014/chart" uri="{C3380CC4-5D6E-409C-BE32-E72D297353CC}">
                <c16:uniqueId val="{00000002-C515-4F96-94E2-D13965E9EF7B}"/>
              </c:ext>
            </c:extLst>
          </c:dPt>
          <c:dPt>
            <c:idx val="2"/>
            <c:bubble3D val="0"/>
            <c:spPr>
              <a:solidFill>
                <a:srgbClr val="8658FF"/>
              </a:solidFill>
              <a:ln>
                <a:solidFill>
                  <a:schemeClr val="bg1"/>
                </a:solidFill>
              </a:ln>
            </c:spPr>
            <c:extLst>
              <c:ext xmlns:c16="http://schemas.microsoft.com/office/drawing/2014/chart" uri="{C3380CC4-5D6E-409C-BE32-E72D297353CC}">
                <c16:uniqueId val="{00000002-4C84-4376-A0B7-E4D28C4D041A}"/>
              </c:ext>
            </c:extLst>
          </c:dPt>
          <c:dPt>
            <c:idx val="3"/>
            <c:bubble3D val="0"/>
            <c:spPr>
              <a:solidFill>
                <a:srgbClr val="E59B9D"/>
              </a:solidFill>
              <a:ln>
                <a:solidFill>
                  <a:schemeClr val="bg1"/>
                </a:solidFill>
              </a:ln>
            </c:spPr>
            <c:extLst>
              <c:ext xmlns:c16="http://schemas.microsoft.com/office/drawing/2014/chart" uri="{C3380CC4-5D6E-409C-BE32-E72D297353CC}">
                <c16:uniqueId val="{00000002-45A1-4DC9-AD9A-27693CADE4A3}"/>
              </c:ext>
            </c:extLst>
          </c:dPt>
          <c:dLbls>
            <c:dLbl>
              <c:idx val="0"/>
              <c:layout>
                <c:manualLayout>
                  <c:x val="-0.18328722915876589"/>
                  <c:y val="-0.20184246750844548"/>
                </c:manualLayout>
              </c:layout>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spPr xmlns:c15="http://schemas.microsoft.com/office/drawing/2012/chart">
                    <a:prstGeom prst="rect">
                      <a:avLst/>
                    </a:prstGeom>
                  </c15:spPr>
                  <c15:layout>
                    <c:manualLayout>
                      <c:w val="0.26216007054891338"/>
                      <c:h val="0.27989765350271611"/>
                    </c:manualLayout>
                  </c15:layout>
                </c:ext>
                <c:ext xmlns:c16="http://schemas.microsoft.com/office/drawing/2014/chart" uri="{C3380CC4-5D6E-409C-BE32-E72D297353CC}">
                  <c16:uniqueId val="{00000001-6721-4318-AD95-508FFA12218A}"/>
                </c:ext>
              </c:extLst>
            </c:dLbl>
            <c:dLbl>
              <c:idx val="1"/>
              <c:layout>
                <c:manualLayout>
                  <c:x val="7.951359717804346E-2"/>
                  <c:y val="1.3309708193012122E-2"/>
                </c:manualLayout>
              </c:layout>
              <c:spPr/>
              <c:txPr>
                <a:bodyPr lIns="0" tIns="0" rIns="0" bIns="0"/>
                <a:lstStyle/>
                <a:p>
                  <a:pPr>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41700995406548097"/>
                      <c:h val="0.26703357042998904"/>
                    </c:manualLayout>
                  </c15:layout>
                </c:ext>
                <c:ext xmlns:c16="http://schemas.microsoft.com/office/drawing/2014/chart" uri="{C3380CC4-5D6E-409C-BE32-E72D297353CC}">
                  <c16:uniqueId val="{00000002-C515-4F96-94E2-D13965E9EF7B}"/>
                </c:ext>
              </c:extLst>
            </c:dLbl>
            <c:dLbl>
              <c:idx val="2"/>
              <c:layout>
                <c:manualLayout>
                  <c:x val="6.7145762982506116E-2"/>
                  <c:y val="0"/>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4C84-4376-A0B7-E4D28C4D041A}"/>
                </c:ext>
              </c:extLst>
            </c:dLbl>
            <c:dLbl>
              <c:idx val="3"/>
              <c:spPr>
                <a:noFill/>
                <a:ln>
                  <a:noFill/>
                </a:ln>
                <a:effectLst/>
              </c:spPr>
              <c:txPr>
                <a:bodyPr wrap="square" lIns="38100" tIns="19050" rIns="38100" bIns="19050" anchor="ctr">
                  <a:spAutoFit/>
                </a:bodyPr>
                <a:lstStyle/>
                <a:p>
                  <a:pPr>
                    <a:defRPr>
                      <a:solidFill>
                        <a:schemeClr val="tx1"/>
                      </a:solidFill>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5A1-4DC9-AD9A-27693CADE4A3}"/>
                </c:ext>
              </c:extLst>
            </c:dLbl>
            <c:spPr>
              <a:noFill/>
              <a:ln>
                <a:noFill/>
              </a:ln>
              <a:effectLst/>
            </c:spPr>
            <c:showLegendKey val="0"/>
            <c:showVal val="1"/>
            <c:showCatName val="1"/>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ect">
                    <a:avLst/>
                  </a:prstGeom>
                </c15:spPr>
              </c:ext>
            </c:extLst>
          </c:dLbls>
          <c:cat>
            <c:strRef>
              <c:f>Sheet1!$A$15:$A$17</c:f>
              <c:strCache>
                <c:ptCount val="3"/>
                <c:pt idx="0">
                  <c:v>Non-relationship</c:v>
                </c:pt>
                <c:pt idx="1">
                  <c:v>LC</c:v>
                </c:pt>
                <c:pt idx="2">
                  <c:v>SME</c:v>
                </c:pt>
              </c:strCache>
            </c:strRef>
          </c:cat>
          <c:val>
            <c:numRef>
              <c:f>Sheet1!$B$15:$B$17</c:f>
              <c:numCache>
                <c:formatCode>0.0%</c:formatCode>
                <c:ptCount val="3"/>
                <c:pt idx="0">
                  <c:v>0.875</c:v>
                </c:pt>
                <c:pt idx="1">
                  <c:v>6.25E-2</c:v>
                </c:pt>
                <c:pt idx="2">
                  <c:v>6.25E-2</c:v>
                </c:pt>
              </c:numCache>
            </c:numRef>
          </c:val>
          <c:extLst>
            <c:ext xmlns:c16="http://schemas.microsoft.com/office/drawing/2014/chart" uri="{C3380CC4-5D6E-409C-BE32-E72D297353CC}">
              <c16:uniqueId val="{0000000C-6721-4318-AD95-508FFA12218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sz="800">
          <a:solidFill>
            <a:schemeClr val="tx1"/>
          </a:solidFil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CFBCFF"/>
              </a:solidFill>
              <a:ln w="19050">
                <a:solidFill>
                  <a:schemeClr val="lt1"/>
                </a:solidFill>
              </a:ln>
              <a:effectLst/>
            </c:spPr>
            <c:extLst>
              <c:ext xmlns:c16="http://schemas.microsoft.com/office/drawing/2014/chart" uri="{C3380CC4-5D6E-409C-BE32-E72D297353CC}">
                <c16:uniqueId val="{00000001-101B-479B-9FA1-1666B416AA48}"/>
              </c:ext>
            </c:extLst>
          </c:dPt>
          <c:dPt>
            <c:idx val="1"/>
            <c:bubble3D val="0"/>
            <c:spPr>
              <a:solidFill>
                <a:srgbClr val="E59B9D"/>
              </a:solidFill>
              <a:ln w="19050">
                <a:solidFill>
                  <a:schemeClr val="lt1"/>
                </a:solidFill>
              </a:ln>
              <a:effectLst/>
            </c:spPr>
            <c:extLst>
              <c:ext xmlns:c16="http://schemas.microsoft.com/office/drawing/2014/chart" uri="{C3380CC4-5D6E-409C-BE32-E72D297353CC}">
                <c16:uniqueId val="{00000003-101B-479B-9FA1-1666B416AA48}"/>
              </c:ext>
            </c:extLst>
          </c:dPt>
          <c:dPt>
            <c:idx val="2"/>
            <c:bubble3D val="0"/>
            <c:spPr>
              <a:solidFill>
                <a:srgbClr val="D9D9D9"/>
              </a:solidFill>
              <a:ln w="19050">
                <a:solidFill>
                  <a:schemeClr val="lt1"/>
                </a:solidFill>
              </a:ln>
              <a:effectLst/>
            </c:spPr>
            <c:extLst>
              <c:ext xmlns:c16="http://schemas.microsoft.com/office/drawing/2014/chart" uri="{C3380CC4-5D6E-409C-BE32-E72D297353CC}">
                <c16:uniqueId val="{00000005-101B-479B-9FA1-1666B416AA48}"/>
              </c:ext>
            </c:extLst>
          </c:dPt>
          <c:dPt>
            <c:idx val="3"/>
            <c:bubble3D val="0"/>
            <c:spPr>
              <a:solidFill>
                <a:srgbClr val="FAD2AD"/>
              </a:solidFill>
              <a:ln w="19050">
                <a:solidFill>
                  <a:schemeClr val="lt1"/>
                </a:solidFill>
              </a:ln>
              <a:effectLst/>
            </c:spPr>
            <c:extLst>
              <c:ext xmlns:c16="http://schemas.microsoft.com/office/drawing/2014/chart" uri="{C3380CC4-5D6E-409C-BE32-E72D297353CC}">
                <c16:uniqueId val="{00000007-101B-479B-9FA1-1666B416AA48}"/>
              </c:ext>
            </c:extLst>
          </c:dPt>
          <c:dPt>
            <c:idx val="4"/>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9-101B-479B-9FA1-1666B416AA48}"/>
              </c:ext>
            </c:extLst>
          </c:dPt>
          <c:dPt>
            <c:idx val="5"/>
            <c:bubble3D val="0"/>
            <c:spPr>
              <a:solidFill>
                <a:srgbClr val="F36E24"/>
              </a:solidFill>
              <a:ln w="19050">
                <a:solidFill>
                  <a:schemeClr val="lt1"/>
                </a:solidFill>
              </a:ln>
              <a:effectLst/>
            </c:spPr>
            <c:extLst>
              <c:ext xmlns:c16="http://schemas.microsoft.com/office/drawing/2014/chart" uri="{C3380CC4-5D6E-409C-BE32-E72D297353CC}">
                <c16:uniqueId val="{0000000B-101B-479B-9FA1-1666B416AA48}"/>
              </c:ext>
            </c:extLst>
          </c:dPt>
          <c:dLbls>
            <c:dLbl>
              <c:idx val="0"/>
              <c:layout>
                <c:manualLayout>
                  <c:x val="-0.21455213595723424"/>
                  <c:y val="0.18051804851936917"/>
                </c:manualLayout>
              </c:layout>
              <c:tx>
                <c:rich>
                  <a:bodyPr rot="0" spcFirstLastPara="1" vertOverflow="ellipsis" vert="horz" wrap="square" lIns="38100" tIns="19050" rIns="38100" bIns="19050" anchor="ctr" anchorCtr="1">
                    <a:noAutofit/>
                  </a:bodyPr>
                  <a:lstStyle/>
                  <a:p>
                    <a:pPr>
                      <a:defRPr sz="800" b="0" i="0" u="none" strike="noStrike" kern="1200" baseline="0">
                        <a:solidFill>
                          <a:schemeClr val="tx1"/>
                        </a:solidFill>
                        <a:latin typeface="+mn-lt"/>
                        <a:ea typeface="+mn-ea"/>
                        <a:cs typeface="+mn-cs"/>
                      </a:defRPr>
                    </a:pPr>
                    <a:fld id="{9F8B2A73-CD3B-4EBA-81E2-C267B629EF8D}" type="CATEGORYNAME">
                      <a:rPr lang="en-US" smtClean="0"/>
                      <a:pPr>
                        <a:defRPr sz="800">
                          <a:solidFill>
                            <a:schemeClr val="tx1"/>
                          </a:solidFill>
                        </a:defRPr>
                      </a:pPr>
                      <a:t>[CATEGORY NAME]</a:t>
                    </a:fld>
                    <a:endParaRPr lang="en-US" baseline="0"/>
                  </a:p>
                  <a:p>
                    <a:pPr>
                      <a:defRPr sz="800">
                        <a:solidFill>
                          <a:schemeClr val="tx1"/>
                        </a:solidFill>
                      </a:defRPr>
                    </a:pPr>
                    <a:r>
                      <a:rPr lang="en-US" baseline="0"/>
                      <a:t> </a:t>
                    </a:r>
                    <a:fld id="{9BE9F210-2244-4533-8752-E858EE386413}" type="VALUE">
                      <a:rPr lang="en-US" baseline="0"/>
                      <a:pPr>
                        <a:defRPr sz="800">
                          <a:solidFill>
                            <a:schemeClr val="tx1"/>
                          </a:solidFill>
                        </a:defRPr>
                      </a:pPr>
                      <a:t>[VALUE]</a:t>
                    </a:fld>
                    <a:endParaRPr lang="en-US" baseline="0"/>
                  </a:p>
                </c:rich>
              </c:tx>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19643331449170737"/>
                      <c:h val="0.17570561753454164"/>
                    </c:manualLayout>
                  </c15:layout>
                  <c15:dlblFieldTable/>
                  <c15:showDataLabelsRange val="0"/>
                </c:ext>
                <c:ext xmlns:c16="http://schemas.microsoft.com/office/drawing/2014/chart" uri="{C3380CC4-5D6E-409C-BE32-E72D297353CC}">
                  <c16:uniqueId val="{00000001-101B-479B-9FA1-1666B416AA48}"/>
                </c:ext>
              </c:extLst>
            </c:dLbl>
            <c:dLbl>
              <c:idx val="1"/>
              <c:layout>
                <c:manualLayout>
                  <c:x val="-0.14629762049518755"/>
                  <c:y val="-0.21361788552736807"/>
                </c:manualLayout>
              </c:layout>
              <c:tx>
                <c:rich>
                  <a:bodyPr/>
                  <a:lstStyle/>
                  <a:p>
                    <a:fld id="{04CB3C79-F8FB-4E04-8074-C574E9C99B43}" type="CATEGORYNAME">
                      <a:rPr lang="en-US" sz="800" smtClean="0">
                        <a:solidFill>
                          <a:schemeClr val="tx1"/>
                        </a:solidFill>
                      </a:rPr>
                      <a:pPr/>
                      <a:t>[CATEGORY NAME]</a:t>
                    </a:fld>
                    <a:endParaRPr lang="en-US" sz="800" baseline="0">
                      <a:solidFill>
                        <a:schemeClr val="tx1"/>
                      </a:solidFill>
                    </a:endParaRPr>
                  </a:p>
                  <a:p>
                    <a:r>
                      <a:rPr lang="en-US" sz="800" baseline="0">
                        <a:solidFill>
                          <a:schemeClr val="tx1"/>
                        </a:solidFill>
                      </a:rPr>
                      <a:t> </a:t>
                    </a:r>
                    <a:fld id="{8583A03D-4A6B-4CFB-A104-9E7AFEC31318}" type="VALUE">
                      <a:rPr lang="en-US" sz="800" baseline="0">
                        <a:solidFill>
                          <a:schemeClr val="tx1"/>
                        </a:solidFill>
                      </a:rPr>
                      <a:pPr/>
                      <a:t>[VALUE]</a:t>
                    </a:fld>
                    <a:endParaRPr lang="en-US" sz="800" baseline="0">
                      <a:solidFill>
                        <a:schemeClr val="tx1"/>
                      </a:solidFill>
                    </a:endParaRPr>
                  </a:p>
                </c:rich>
              </c:tx>
              <c:showLegendKey val="0"/>
              <c:showVal val="1"/>
              <c:showCatName val="1"/>
              <c:showSerName val="0"/>
              <c:showPercent val="0"/>
              <c:showBubbleSize val="0"/>
              <c:extLst>
                <c:ext xmlns:c15="http://schemas.microsoft.com/office/drawing/2012/chart" uri="{CE6537A1-D6FC-4f65-9D91-7224C49458BB}">
                  <c15:layout>
                    <c:manualLayout>
                      <c:w val="0.18303404338040399"/>
                      <c:h val="0.1146437174356566"/>
                    </c:manualLayout>
                  </c15:layout>
                  <c15:dlblFieldTable/>
                  <c15:showDataLabelsRange val="0"/>
                </c:ext>
                <c:ext xmlns:c16="http://schemas.microsoft.com/office/drawing/2014/chart" uri="{C3380CC4-5D6E-409C-BE32-E72D297353CC}">
                  <c16:uniqueId val="{00000003-101B-479B-9FA1-1666B416AA48}"/>
                </c:ext>
              </c:extLst>
            </c:dLbl>
            <c:dLbl>
              <c:idx val="2"/>
              <c:layout>
                <c:manualLayout>
                  <c:x val="0.10939001400856868"/>
                  <c:y val="-0.17337733209179479"/>
                </c:manualLayout>
              </c:layout>
              <c:tx>
                <c:rich>
                  <a:bodyPr/>
                  <a:lstStyle/>
                  <a:p>
                    <a:fld id="{A99733C5-F107-4BC8-AF01-67FB7CD03657}" type="CATEGORYNAME">
                      <a:rPr lang="en-US" smtClean="0"/>
                      <a:pPr/>
                      <a:t>[CATEGORY NAME]</a:t>
                    </a:fld>
                    <a:endParaRPr lang="en-US" baseline="0" dirty="0"/>
                  </a:p>
                  <a:p>
                    <a:r>
                      <a:rPr lang="en-US" baseline="0" dirty="0"/>
                      <a:t> </a:t>
                    </a:r>
                    <a:fld id="{C16200F4-65BF-4487-AAC2-30C89DF837BF}" type="VALUE">
                      <a:rPr lang="en-US" baseline="0"/>
                      <a:pPr/>
                      <a:t>[VALUE]</a:t>
                    </a:fld>
                    <a:endParaRPr lang="en-US" baseline="0" dirty="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101B-479B-9FA1-1666B416AA48}"/>
                </c:ext>
              </c:extLst>
            </c:dLbl>
            <c:dLbl>
              <c:idx val="3"/>
              <c:layout>
                <c:manualLayout>
                  <c:x val="0.17069405322939576"/>
                  <c:y val="1.693225654973019E-3"/>
                </c:manualLayout>
              </c:layout>
              <c:tx>
                <c:rich>
                  <a:bodyPr/>
                  <a:lstStyle/>
                  <a:p>
                    <a:fld id="{96947E9A-8C37-4B56-B98F-DE361ACB0DDC}" type="CATEGORYNAME">
                      <a:rPr lang="en-US" smtClean="0"/>
                      <a:pPr/>
                      <a:t>[CATEGORY NAME]</a:t>
                    </a:fld>
                    <a:endParaRPr lang="en-US" baseline="0" dirty="0"/>
                  </a:p>
                  <a:p>
                    <a:r>
                      <a:rPr lang="en-US" baseline="0"/>
                      <a:t> </a:t>
                    </a:r>
                    <a:fld id="{C22011C6-6649-474C-B7F4-3A5A5326127F}" type="VALUE">
                      <a:rPr lang="en-US" baseline="0"/>
                      <a:pPr/>
                      <a:t>[VALUE]</a:t>
                    </a:fld>
                    <a:endParaRPr lang="en-US" baseline="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101B-479B-9FA1-1666B416AA48}"/>
                </c:ext>
              </c:extLst>
            </c:dLbl>
            <c:dLbl>
              <c:idx val="4"/>
              <c:layout>
                <c:manualLayout>
                  <c:x val="0.1020114468812537"/>
                  <c:y val="0.20990028158991725"/>
                </c:manualLayout>
              </c:layout>
              <c:tx>
                <c:rich>
                  <a:bodyPr/>
                  <a:lstStyle/>
                  <a:p>
                    <a:fld id="{8BAB3081-F406-43FD-98AB-8AFB084B80FA}" type="CATEGORYNAME">
                      <a:rPr lang="en-US" smtClean="0"/>
                      <a:pPr/>
                      <a:t>[CATEGORY NAME]</a:t>
                    </a:fld>
                    <a:endParaRPr lang="en-US" baseline="0"/>
                  </a:p>
                  <a:p>
                    <a:r>
                      <a:rPr lang="en-US" baseline="0"/>
                      <a:t> </a:t>
                    </a:r>
                    <a:fld id="{F01E634C-32B4-4B9A-85CA-402C27DFCAA2}" type="VALUE">
                      <a:rPr lang="en-US" baseline="0"/>
                      <a:pPr/>
                      <a:t>[VALUE]</a:t>
                    </a:fld>
                    <a:endParaRPr lang="en-US" baseline="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101B-479B-9FA1-1666B416AA48}"/>
                </c:ext>
              </c:extLst>
            </c:dLbl>
            <c:dLbl>
              <c:idx val="5"/>
              <c:layout>
                <c:manualLayout>
                  <c:x val="8.8597404919906378E-2"/>
                  <c:y val="0.18019450859594491"/>
                </c:manualLayout>
              </c:layout>
              <c:tx>
                <c:rich>
                  <a:bodyPr/>
                  <a:lstStyle/>
                  <a:p>
                    <a:fld id="{D2A99D79-16B2-4E71-ADFE-73D6BBEE6EF6}" type="CATEGORYNAME">
                      <a:rPr lang="en-US" smtClean="0"/>
                      <a:pPr/>
                      <a:t>[CATEGORY NAME]</a:t>
                    </a:fld>
                    <a:endParaRPr lang="en-US" baseline="0"/>
                  </a:p>
                  <a:p>
                    <a:r>
                      <a:rPr lang="en-US" baseline="0"/>
                      <a:t> </a:t>
                    </a:r>
                    <a:fld id="{1ECE5D83-70F1-456D-9FE9-7BE81FA90E56}" type="VALUE">
                      <a:rPr lang="en-US" baseline="0"/>
                      <a:pPr/>
                      <a:t>[VALUE]</a:t>
                    </a:fld>
                    <a:endParaRPr lang="en-US" baseline="0"/>
                  </a:p>
                </c:rich>
              </c:tx>
              <c:showLegendKey val="0"/>
              <c:showVal val="1"/>
              <c:showCatName val="1"/>
              <c:showSerName val="0"/>
              <c:showPercent val="0"/>
              <c:showBubbleSize val="0"/>
              <c:extLst>
                <c:ext xmlns:c15="http://schemas.microsoft.com/office/drawing/2012/chart" uri="{CE6537A1-D6FC-4f65-9D91-7224C49458BB}">
                  <c15:layout>
                    <c:manualLayout>
                      <c:w val="0.107462154312653"/>
                      <c:h val="0.1146437174356566"/>
                    </c:manualLayout>
                  </c15:layout>
                  <c15:dlblFieldTable/>
                  <c15:showDataLabelsRange val="0"/>
                </c:ext>
                <c:ext xmlns:c16="http://schemas.microsoft.com/office/drawing/2014/chart" uri="{C3380CC4-5D6E-409C-BE32-E72D297353CC}">
                  <c16:uniqueId val="{0000000B-101B-479B-9FA1-1666B416AA48}"/>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TMT</c:v>
                </c:pt>
                <c:pt idx="1">
                  <c:v>Consumer</c:v>
                </c:pt>
                <c:pt idx="2">
                  <c:v>Healthcare</c:v>
                </c:pt>
                <c:pt idx="3">
                  <c:v>Industrials</c:v>
                </c:pt>
                <c:pt idx="4">
                  <c:v>Others</c:v>
                </c:pt>
              </c:strCache>
            </c:strRef>
          </c:cat>
          <c:val>
            <c:numRef>
              <c:f>Sheet1!$B$2:$B$6</c:f>
              <c:numCache>
                <c:formatCode>General</c:formatCode>
                <c:ptCount val="5"/>
                <c:pt idx="0">
                  <c:v>10</c:v>
                </c:pt>
                <c:pt idx="1">
                  <c:v>6</c:v>
                </c:pt>
                <c:pt idx="2">
                  <c:v>5</c:v>
                </c:pt>
                <c:pt idx="3">
                  <c:v>5</c:v>
                </c:pt>
                <c:pt idx="4">
                  <c:v>6</c:v>
                </c:pt>
              </c:numCache>
            </c:numRef>
          </c:val>
          <c:extLst>
            <c:ext xmlns:c16="http://schemas.microsoft.com/office/drawing/2014/chart" uri="{C3380CC4-5D6E-409C-BE32-E72D297353CC}">
              <c16:uniqueId val="{0000000C-101B-479B-9FA1-1666B416AA48}"/>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CFBCFF"/>
              </a:solidFill>
              <a:ln w="19050">
                <a:solidFill>
                  <a:schemeClr val="lt1"/>
                </a:solidFill>
              </a:ln>
              <a:effectLst/>
            </c:spPr>
            <c:extLst>
              <c:ext xmlns:c16="http://schemas.microsoft.com/office/drawing/2014/chart" uri="{C3380CC4-5D6E-409C-BE32-E72D297353CC}">
                <c16:uniqueId val="{00000001-744C-4470-BA16-F46AD53B0EBA}"/>
              </c:ext>
            </c:extLst>
          </c:dPt>
          <c:dPt>
            <c:idx val="1"/>
            <c:bubble3D val="0"/>
            <c:spPr>
              <a:solidFill>
                <a:srgbClr val="D9D9D9"/>
              </a:solidFill>
              <a:ln w="19050">
                <a:solidFill>
                  <a:schemeClr val="lt1"/>
                </a:solidFill>
              </a:ln>
              <a:effectLst/>
            </c:spPr>
            <c:extLst>
              <c:ext xmlns:c16="http://schemas.microsoft.com/office/drawing/2014/chart" uri="{C3380CC4-5D6E-409C-BE32-E72D297353CC}">
                <c16:uniqueId val="{00000003-744C-4470-BA16-F46AD53B0EBA}"/>
              </c:ext>
            </c:extLst>
          </c:dPt>
          <c:dPt>
            <c:idx val="2"/>
            <c:bubble3D val="0"/>
            <c:spPr>
              <a:solidFill>
                <a:srgbClr val="E59B9D"/>
              </a:solidFill>
              <a:ln w="19050">
                <a:solidFill>
                  <a:schemeClr val="lt1"/>
                </a:solidFill>
              </a:ln>
              <a:effectLst/>
            </c:spPr>
            <c:extLst>
              <c:ext xmlns:c16="http://schemas.microsoft.com/office/drawing/2014/chart" uri="{C3380CC4-5D6E-409C-BE32-E72D297353CC}">
                <c16:uniqueId val="{00000005-744C-4470-BA16-F46AD53B0EBA}"/>
              </c:ext>
            </c:extLst>
          </c:dPt>
          <c:dPt>
            <c:idx val="3"/>
            <c:bubble3D val="0"/>
            <c:spPr>
              <a:solidFill>
                <a:srgbClr val="F3CCA8"/>
              </a:solidFill>
              <a:ln w="19050">
                <a:solidFill>
                  <a:schemeClr val="lt1"/>
                </a:solidFill>
              </a:ln>
              <a:effectLst/>
            </c:spPr>
            <c:extLst>
              <c:ext xmlns:c16="http://schemas.microsoft.com/office/drawing/2014/chart" uri="{C3380CC4-5D6E-409C-BE32-E72D297353CC}">
                <c16:uniqueId val="{00000007-744C-4470-BA16-F46AD53B0EBA}"/>
              </c:ext>
            </c:extLst>
          </c:dPt>
          <c:dPt>
            <c:idx val="4"/>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9-744C-4470-BA16-F46AD53B0EBA}"/>
              </c:ext>
            </c:extLst>
          </c:dPt>
          <c:dPt>
            <c:idx val="5"/>
            <c:bubble3D val="0"/>
            <c:spPr>
              <a:solidFill>
                <a:srgbClr val="F36E24"/>
              </a:solidFill>
              <a:ln w="19050">
                <a:solidFill>
                  <a:schemeClr val="lt1"/>
                </a:solidFill>
              </a:ln>
              <a:effectLst/>
            </c:spPr>
            <c:extLst>
              <c:ext xmlns:c16="http://schemas.microsoft.com/office/drawing/2014/chart" uri="{C3380CC4-5D6E-409C-BE32-E72D297353CC}">
                <c16:uniqueId val="{0000000B-744C-4470-BA16-F46AD53B0EBA}"/>
              </c:ext>
            </c:extLst>
          </c:dPt>
          <c:dLbls>
            <c:dLbl>
              <c:idx val="0"/>
              <c:layout>
                <c:manualLayout>
                  <c:x val="-9.8318206839905872E-2"/>
                  <c:y val="0.15669970046012782"/>
                </c:manualLayout>
              </c:layout>
              <c:showLegendKey val="0"/>
              <c:showVal val="0"/>
              <c:showCatName val="1"/>
              <c:showSerName val="0"/>
              <c:showPercent val="1"/>
              <c:showBubbleSize val="0"/>
              <c:extLst>
                <c:ext xmlns:c15="http://schemas.microsoft.com/office/drawing/2012/chart" uri="{CE6537A1-D6FC-4f65-9D91-7224C49458BB}">
                  <c15:layout>
                    <c:manualLayout>
                      <c:w val="7.249005671215121E-2"/>
                      <c:h val="0.1146437174356566"/>
                    </c:manualLayout>
                  </c15:layout>
                </c:ext>
                <c:ext xmlns:c16="http://schemas.microsoft.com/office/drawing/2014/chart" uri="{C3380CC4-5D6E-409C-BE32-E72D297353CC}">
                  <c16:uniqueId val="{00000001-744C-4470-BA16-F46AD53B0EBA}"/>
                </c:ext>
              </c:extLst>
            </c:dLbl>
            <c:dLbl>
              <c:idx val="1"/>
              <c:layout>
                <c:manualLayout>
                  <c:x val="-0.13205667469655802"/>
                  <c:y val="-0.21325608174922311"/>
                </c:manualLayout>
              </c:layout>
              <c:showLegendKey val="0"/>
              <c:showVal val="0"/>
              <c:showCatName val="1"/>
              <c:showSerName val="0"/>
              <c:showPercent val="1"/>
              <c:showBubbleSize val="0"/>
              <c:extLst>
                <c:ext xmlns:c15="http://schemas.microsoft.com/office/drawing/2012/chart" uri="{CE6537A1-D6FC-4f65-9D91-7224C49458BB}">
                  <c15:layout>
                    <c:manualLayout>
                      <c:w val="0.18638386115822983"/>
                      <c:h val="0.1146437174356566"/>
                    </c:manualLayout>
                  </c15:layout>
                </c:ext>
                <c:ext xmlns:c16="http://schemas.microsoft.com/office/drawing/2014/chart" uri="{C3380CC4-5D6E-409C-BE32-E72D297353CC}">
                  <c16:uniqueId val="{00000003-744C-4470-BA16-F46AD53B0EBA}"/>
                </c:ext>
              </c:extLst>
            </c:dLbl>
            <c:dLbl>
              <c:idx val="2"/>
              <c:layout>
                <c:manualLayout>
                  <c:x val="0.10295572622334949"/>
                  <c:y val="-0.21151137017454738"/>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744C-4470-BA16-F46AD53B0EBA}"/>
                </c:ext>
              </c:extLst>
            </c:dLbl>
            <c:dLbl>
              <c:idx val="3"/>
              <c:layout>
                <c:manualLayout>
                  <c:x val="-3.7368140489775013E-2"/>
                  <c:y val="-3.8163687561802205E-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744C-4470-BA16-F46AD53B0EBA}"/>
                </c:ext>
              </c:extLst>
            </c:dLbl>
            <c:dLbl>
              <c:idx val="4"/>
              <c:layout>
                <c:manualLayout>
                  <c:x val="0.15002092976698192"/>
                  <c:y val="9.3282870454213948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744C-4470-BA16-F46AD53B0EBA}"/>
                </c:ext>
              </c:extLst>
            </c:dLbl>
            <c:dLbl>
              <c:idx val="5"/>
              <c:layout>
                <c:manualLayout>
                  <c:x val="3.5745720871554004E-2"/>
                  <c:y val="0.15392687316593931"/>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744C-4470-BA16-F46AD53B0EB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TMT</c:v>
                </c:pt>
                <c:pt idx="1">
                  <c:v>Healthcare</c:v>
                </c:pt>
                <c:pt idx="2">
                  <c:v>Consumer</c:v>
                </c:pt>
                <c:pt idx="3">
                  <c:v>Industrials</c:v>
                </c:pt>
                <c:pt idx="4">
                  <c:v>Others</c:v>
                </c:pt>
              </c:strCache>
            </c:strRef>
          </c:cat>
          <c:val>
            <c:numRef>
              <c:f>Sheet1!$B$2:$B$6</c:f>
              <c:numCache>
                <c:formatCode>General</c:formatCode>
                <c:ptCount val="5"/>
                <c:pt idx="0">
                  <c:v>1617</c:v>
                </c:pt>
                <c:pt idx="1">
                  <c:v>1005</c:v>
                </c:pt>
                <c:pt idx="2">
                  <c:v>606</c:v>
                </c:pt>
                <c:pt idx="3">
                  <c:v>164</c:v>
                </c:pt>
                <c:pt idx="4">
                  <c:v>1935</c:v>
                </c:pt>
              </c:numCache>
            </c:numRef>
          </c:val>
          <c:extLst>
            <c:ext xmlns:c16="http://schemas.microsoft.com/office/drawing/2014/chart" uri="{C3380CC4-5D6E-409C-BE32-E72D297353CC}">
              <c16:uniqueId val="{0000000C-744C-4470-BA16-F46AD53B0EBA}"/>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CFBCFF"/>
              </a:solidFill>
              <a:ln w="19050">
                <a:solidFill>
                  <a:schemeClr val="lt1"/>
                </a:solidFill>
              </a:ln>
              <a:effectLst/>
            </c:spPr>
            <c:extLst>
              <c:ext xmlns:c16="http://schemas.microsoft.com/office/drawing/2014/chart" uri="{C3380CC4-5D6E-409C-BE32-E72D297353CC}">
                <c16:uniqueId val="{00000001-81A5-4A45-A5B1-6F043F90A111}"/>
              </c:ext>
            </c:extLst>
          </c:dPt>
          <c:dPt>
            <c:idx val="1"/>
            <c:bubble3D val="0"/>
            <c:spPr>
              <a:solidFill>
                <a:srgbClr val="E59B9D"/>
              </a:solidFill>
              <a:ln w="19050">
                <a:solidFill>
                  <a:schemeClr val="lt1"/>
                </a:solidFill>
              </a:ln>
              <a:effectLst/>
            </c:spPr>
            <c:extLst>
              <c:ext xmlns:c16="http://schemas.microsoft.com/office/drawing/2014/chart" uri="{C3380CC4-5D6E-409C-BE32-E72D297353CC}">
                <c16:uniqueId val="{00000003-81A5-4A45-A5B1-6F043F90A111}"/>
              </c:ext>
            </c:extLst>
          </c:dPt>
          <c:dPt>
            <c:idx val="2"/>
            <c:bubble3D val="0"/>
            <c:spPr>
              <a:solidFill>
                <a:srgbClr val="D9D9D9"/>
              </a:solidFill>
              <a:ln w="19050">
                <a:solidFill>
                  <a:schemeClr val="lt1"/>
                </a:solidFill>
              </a:ln>
              <a:effectLst/>
            </c:spPr>
            <c:extLst>
              <c:ext xmlns:c16="http://schemas.microsoft.com/office/drawing/2014/chart" uri="{C3380CC4-5D6E-409C-BE32-E72D297353CC}">
                <c16:uniqueId val="{00000005-81A5-4A45-A5B1-6F043F90A111}"/>
              </c:ext>
            </c:extLst>
          </c:dPt>
          <c:dPt>
            <c:idx val="3"/>
            <c:bubble3D val="0"/>
            <c:spPr>
              <a:solidFill>
                <a:srgbClr val="FAD2AD"/>
              </a:solidFill>
              <a:ln w="19050">
                <a:solidFill>
                  <a:schemeClr val="lt1"/>
                </a:solidFill>
              </a:ln>
              <a:effectLst/>
            </c:spPr>
            <c:extLst>
              <c:ext xmlns:c16="http://schemas.microsoft.com/office/drawing/2014/chart" uri="{C3380CC4-5D6E-409C-BE32-E72D297353CC}">
                <c16:uniqueId val="{00000007-81A5-4A45-A5B1-6F043F90A111}"/>
              </c:ext>
            </c:extLst>
          </c:dPt>
          <c:dPt>
            <c:idx val="4"/>
            <c:bubble3D val="0"/>
            <c:spPr>
              <a:solidFill>
                <a:schemeClr val="accent3">
                  <a:lumMod val="20000"/>
                  <a:lumOff val="80000"/>
                </a:schemeClr>
              </a:solidFill>
              <a:ln w="19050">
                <a:solidFill>
                  <a:schemeClr val="lt1"/>
                </a:solidFill>
              </a:ln>
              <a:effectLst/>
            </c:spPr>
            <c:extLst>
              <c:ext xmlns:c16="http://schemas.microsoft.com/office/drawing/2014/chart" uri="{C3380CC4-5D6E-409C-BE32-E72D297353CC}">
                <c16:uniqueId val="{00000009-81A5-4A45-A5B1-6F043F90A111}"/>
              </c:ext>
            </c:extLst>
          </c:dPt>
          <c:dPt>
            <c:idx val="5"/>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B-81A5-4A45-A5B1-6F043F90A111}"/>
              </c:ext>
            </c:extLst>
          </c:dPt>
          <c:dLbls>
            <c:dLbl>
              <c:idx val="0"/>
              <c:layout>
                <c:manualLayout>
                  <c:x val="-0.16765468706767245"/>
                  <c:y val="0.23140296526843993"/>
                </c:manualLayout>
              </c:layout>
              <c:tx>
                <c:rich>
                  <a:bodyPr rot="0" spcFirstLastPara="1" vertOverflow="ellipsis" vert="horz" wrap="square" lIns="38100" tIns="19050" rIns="38100" bIns="19050" anchor="ctr" anchorCtr="1">
                    <a:noAutofit/>
                  </a:bodyPr>
                  <a:lstStyle/>
                  <a:p>
                    <a:pPr>
                      <a:defRPr sz="800" b="0" i="0" u="none" strike="noStrike" kern="1200" baseline="0">
                        <a:solidFill>
                          <a:schemeClr val="tx1"/>
                        </a:solidFill>
                        <a:latin typeface="+mn-lt"/>
                        <a:ea typeface="+mn-ea"/>
                        <a:cs typeface="+mn-cs"/>
                      </a:defRPr>
                    </a:pPr>
                    <a:fld id="{9F8B2A73-CD3B-4EBA-81E2-C267B629EF8D}" type="CATEGORYNAME">
                      <a:rPr lang="en-US" smtClean="0"/>
                      <a:pPr>
                        <a:defRPr sz="800">
                          <a:solidFill>
                            <a:schemeClr val="tx1"/>
                          </a:solidFill>
                        </a:defRPr>
                      </a:pPr>
                      <a:t>[CATEGORY NAME]</a:t>
                    </a:fld>
                    <a:endParaRPr lang="en-US" baseline="0"/>
                  </a:p>
                  <a:p>
                    <a:pPr>
                      <a:defRPr sz="800">
                        <a:solidFill>
                          <a:schemeClr val="tx1"/>
                        </a:solidFill>
                      </a:defRPr>
                    </a:pPr>
                    <a:r>
                      <a:rPr lang="en-US" baseline="0"/>
                      <a:t> </a:t>
                    </a:r>
                    <a:fld id="{9BE9F210-2244-4533-8752-E858EE386413}" type="VALUE">
                      <a:rPr lang="en-US" baseline="0"/>
                      <a:pPr>
                        <a:defRPr sz="800">
                          <a:solidFill>
                            <a:schemeClr val="tx1"/>
                          </a:solidFill>
                        </a:defRPr>
                      </a:pPr>
                      <a:t>[VALUE]</a:t>
                    </a:fld>
                    <a:endParaRPr lang="en-US" baseline="0"/>
                  </a:p>
                </c:rich>
              </c:tx>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19643331449170737"/>
                      <c:h val="0.17570561753454164"/>
                    </c:manualLayout>
                  </c15:layout>
                  <c15:dlblFieldTable/>
                  <c15:showDataLabelsRange val="0"/>
                </c:ext>
                <c:ext xmlns:c16="http://schemas.microsoft.com/office/drawing/2014/chart" uri="{C3380CC4-5D6E-409C-BE32-E72D297353CC}">
                  <c16:uniqueId val="{00000001-81A5-4A45-A5B1-6F043F90A111}"/>
                </c:ext>
              </c:extLst>
            </c:dLbl>
            <c:dLbl>
              <c:idx val="1"/>
              <c:layout>
                <c:manualLayout>
                  <c:x val="-0.18314561605127172"/>
                  <c:y val="-8.1317101979783868E-2"/>
                </c:manualLayout>
              </c:layout>
              <c:tx>
                <c:rich>
                  <a:bodyPr/>
                  <a:lstStyle/>
                  <a:p>
                    <a:fld id="{04CB3C79-F8FB-4E04-8074-C574E9C99B43}" type="CATEGORYNAME">
                      <a:rPr lang="en-US" sz="800" smtClean="0">
                        <a:solidFill>
                          <a:schemeClr val="tx1"/>
                        </a:solidFill>
                      </a:rPr>
                      <a:pPr/>
                      <a:t>[CATEGORY NAME]</a:t>
                    </a:fld>
                    <a:endParaRPr lang="en-US" sz="800" baseline="0">
                      <a:solidFill>
                        <a:schemeClr val="tx1"/>
                      </a:solidFill>
                    </a:endParaRPr>
                  </a:p>
                  <a:p>
                    <a:r>
                      <a:rPr lang="en-US" sz="800" baseline="0">
                        <a:solidFill>
                          <a:schemeClr val="tx1"/>
                        </a:solidFill>
                      </a:rPr>
                      <a:t> </a:t>
                    </a:r>
                    <a:fld id="{8583A03D-4A6B-4CFB-A104-9E7AFEC31318}" type="VALUE">
                      <a:rPr lang="en-US" sz="800" baseline="0">
                        <a:solidFill>
                          <a:schemeClr val="tx1"/>
                        </a:solidFill>
                      </a:rPr>
                      <a:pPr/>
                      <a:t>[VALUE]</a:t>
                    </a:fld>
                    <a:endParaRPr lang="en-US" sz="800" baseline="0">
                      <a:solidFill>
                        <a:schemeClr val="tx1"/>
                      </a:solidFill>
                    </a:endParaRPr>
                  </a:p>
                </c:rich>
              </c:tx>
              <c:showLegendKey val="0"/>
              <c:showVal val="1"/>
              <c:showCatName val="1"/>
              <c:showSerName val="0"/>
              <c:showPercent val="0"/>
              <c:showBubbleSize val="0"/>
              <c:extLst>
                <c:ext xmlns:c15="http://schemas.microsoft.com/office/drawing/2012/chart" uri="{CE6537A1-D6FC-4f65-9D91-7224C49458BB}">
                  <c15:layout>
                    <c:manualLayout>
                      <c:w val="0.18303404338040399"/>
                      <c:h val="0.1146437174356566"/>
                    </c:manualLayout>
                  </c15:layout>
                  <c15:dlblFieldTable/>
                  <c15:showDataLabelsRange val="0"/>
                </c:ext>
                <c:ext xmlns:c16="http://schemas.microsoft.com/office/drawing/2014/chart" uri="{C3380CC4-5D6E-409C-BE32-E72D297353CC}">
                  <c16:uniqueId val="{00000003-81A5-4A45-A5B1-6F043F90A111}"/>
                </c:ext>
              </c:extLst>
            </c:dLbl>
            <c:dLbl>
              <c:idx val="2"/>
              <c:layout>
                <c:manualLayout>
                  <c:x val="-1.1203425993161686E-2"/>
                  <c:y val="-0.21917375716595863"/>
                </c:manualLayout>
              </c:layout>
              <c:tx>
                <c:rich>
                  <a:bodyPr/>
                  <a:lstStyle/>
                  <a:p>
                    <a:fld id="{A99733C5-F107-4BC8-AF01-67FB7CD03657}" type="CATEGORYNAME">
                      <a:rPr lang="en-US" smtClean="0"/>
                      <a:pPr/>
                      <a:t>[CATEGORY NAME]</a:t>
                    </a:fld>
                    <a:endParaRPr lang="en-US" baseline="0" dirty="0"/>
                  </a:p>
                  <a:p>
                    <a:r>
                      <a:rPr lang="en-US" baseline="0" dirty="0"/>
                      <a:t> </a:t>
                    </a:r>
                    <a:fld id="{C16200F4-65BF-4487-AAC2-30C89DF837BF}" type="VALUE">
                      <a:rPr lang="en-US" baseline="0"/>
                      <a:pPr/>
                      <a:t>[VALUE]</a:t>
                    </a:fld>
                    <a:endParaRPr lang="en-US" baseline="0" dirty="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81A5-4A45-A5B1-6F043F90A111}"/>
                </c:ext>
              </c:extLst>
            </c:dLbl>
            <c:dLbl>
              <c:idx val="3"/>
              <c:layout>
                <c:manualLayout>
                  <c:x val="0.187443142118525"/>
                  <c:y val="-5.9368674443912091E-2"/>
                </c:manualLayout>
              </c:layout>
              <c:tx>
                <c:rich>
                  <a:bodyPr/>
                  <a:lstStyle/>
                  <a:p>
                    <a:fld id="{96947E9A-8C37-4B56-B98F-DE361ACB0DDC}" type="CATEGORYNAME">
                      <a:rPr lang="en-US" smtClean="0"/>
                      <a:pPr/>
                      <a:t>[CATEGORY NAME]</a:t>
                    </a:fld>
                    <a:endParaRPr lang="en-US" baseline="0" dirty="0"/>
                  </a:p>
                  <a:p>
                    <a:r>
                      <a:rPr lang="en-US" baseline="0"/>
                      <a:t> </a:t>
                    </a:r>
                    <a:fld id="{C22011C6-6649-474C-B7F4-3A5A5326127F}" type="VALUE">
                      <a:rPr lang="en-US" baseline="0"/>
                      <a:pPr/>
                      <a:t>[VALUE]</a:t>
                    </a:fld>
                    <a:endParaRPr lang="en-US" baseline="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1A5-4A45-A5B1-6F043F90A111}"/>
                </c:ext>
              </c:extLst>
            </c:dLbl>
            <c:dLbl>
              <c:idx val="4"/>
              <c:layout>
                <c:manualLayout>
                  <c:x val="0.12211035354820876"/>
                  <c:y val="0.1437498898161251"/>
                </c:manualLayout>
              </c:layout>
              <c:tx>
                <c:rich>
                  <a:bodyPr/>
                  <a:lstStyle/>
                  <a:p>
                    <a:fld id="{8BAB3081-F406-43FD-98AB-8AFB084B80FA}" type="CATEGORYNAME">
                      <a:rPr lang="en-US" smtClean="0"/>
                      <a:pPr/>
                      <a:t>[CATEGORY NAME]</a:t>
                    </a:fld>
                    <a:endParaRPr lang="en-US" baseline="0"/>
                  </a:p>
                  <a:p>
                    <a:r>
                      <a:rPr lang="en-US" baseline="0"/>
                      <a:t> </a:t>
                    </a:r>
                    <a:fld id="{F01E634C-32B4-4B9A-85CA-402C27DFCAA2}" type="VALUE">
                      <a:rPr lang="en-US" baseline="0"/>
                      <a:pPr/>
                      <a:t>[VALUE]</a:t>
                    </a:fld>
                    <a:endParaRPr lang="en-US" baseline="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81A5-4A45-A5B1-6F043F90A111}"/>
                </c:ext>
              </c:extLst>
            </c:dLbl>
            <c:dLbl>
              <c:idx val="5"/>
              <c:layout>
                <c:manualLayout>
                  <c:x val="8.5247587142080541E-2"/>
                  <c:y val="0.17001752524613073"/>
                </c:manualLayout>
              </c:layout>
              <c:tx>
                <c:rich>
                  <a:bodyPr/>
                  <a:lstStyle/>
                  <a:p>
                    <a:fld id="{D2A99D79-16B2-4E71-ADFE-73D6BBEE6EF6}" type="CATEGORYNAME">
                      <a:rPr lang="en-US" smtClean="0"/>
                      <a:pPr/>
                      <a:t>[CATEGORY NAME]</a:t>
                    </a:fld>
                    <a:endParaRPr lang="en-US" baseline="0"/>
                  </a:p>
                  <a:p>
                    <a:r>
                      <a:rPr lang="en-US" baseline="0"/>
                      <a:t> </a:t>
                    </a:r>
                    <a:fld id="{1ECE5D83-70F1-456D-9FE9-7BE81FA90E56}" type="VALUE">
                      <a:rPr lang="en-US" baseline="0"/>
                      <a:pPr/>
                      <a:t>[VALUE]</a:t>
                    </a:fld>
                    <a:endParaRPr lang="en-US" baseline="0"/>
                  </a:p>
                </c:rich>
              </c:tx>
              <c:showLegendKey val="0"/>
              <c:showVal val="1"/>
              <c:showCatName val="1"/>
              <c:showSerName val="0"/>
              <c:showPercent val="0"/>
              <c:showBubbleSize val="0"/>
              <c:extLst>
                <c:ext xmlns:c15="http://schemas.microsoft.com/office/drawing/2012/chart" uri="{CE6537A1-D6FC-4f65-9D91-7224C49458BB}">
                  <c15:layout>
                    <c:manualLayout>
                      <c:w val="0.107462154312653"/>
                      <c:h val="0.1146437174356566"/>
                    </c:manualLayout>
                  </c15:layout>
                  <c15:dlblFieldTable/>
                  <c15:showDataLabelsRange val="0"/>
                </c:ext>
                <c:ext xmlns:c16="http://schemas.microsoft.com/office/drawing/2014/chart" uri="{C3380CC4-5D6E-409C-BE32-E72D297353CC}">
                  <c16:uniqueId val="{0000000B-81A5-4A45-A5B1-6F043F90A111}"/>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TMT</c:v>
                </c:pt>
                <c:pt idx="1">
                  <c:v>Consumer</c:v>
                </c:pt>
                <c:pt idx="2">
                  <c:v>Healthcare</c:v>
                </c:pt>
                <c:pt idx="3">
                  <c:v>Industrials</c:v>
                </c:pt>
                <c:pt idx="4">
                  <c:v>Mining</c:v>
                </c:pt>
                <c:pt idx="5">
                  <c:v>Others</c:v>
                </c:pt>
              </c:strCache>
            </c:strRef>
          </c:cat>
          <c:val>
            <c:numRef>
              <c:f>Sheet1!$B$2:$B$7</c:f>
              <c:numCache>
                <c:formatCode>General</c:formatCode>
                <c:ptCount val="6"/>
                <c:pt idx="0">
                  <c:v>12</c:v>
                </c:pt>
                <c:pt idx="1">
                  <c:v>7</c:v>
                </c:pt>
                <c:pt idx="2">
                  <c:v>11</c:v>
                </c:pt>
                <c:pt idx="3">
                  <c:v>11</c:v>
                </c:pt>
                <c:pt idx="4">
                  <c:v>4</c:v>
                </c:pt>
                <c:pt idx="5">
                  <c:v>5</c:v>
                </c:pt>
              </c:numCache>
            </c:numRef>
          </c:val>
          <c:extLst>
            <c:ext xmlns:c16="http://schemas.microsoft.com/office/drawing/2014/chart" uri="{C3380CC4-5D6E-409C-BE32-E72D297353CC}">
              <c16:uniqueId val="{0000000C-81A5-4A45-A5B1-6F043F90A111}"/>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CFBCFF"/>
              </a:solidFill>
              <a:ln w="19050">
                <a:solidFill>
                  <a:schemeClr val="lt1"/>
                </a:solidFill>
              </a:ln>
              <a:effectLst/>
            </c:spPr>
            <c:extLst>
              <c:ext xmlns:c16="http://schemas.microsoft.com/office/drawing/2014/chart" uri="{C3380CC4-5D6E-409C-BE32-E72D297353CC}">
                <c16:uniqueId val="{00000001-118D-4637-9FC7-698E17362614}"/>
              </c:ext>
            </c:extLst>
          </c:dPt>
          <c:dPt>
            <c:idx val="1"/>
            <c:bubble3D val="0"/>
            <c:spPr>
              <a:solidFill>
                <a:srgbClr val="D9D9D9"/>
              </a:solidFill>
              <a:ln w="19050">
                <a:solidFill>
                  <a:schemeClr val="lt1"/>
                </a:solidFill>
              </a:ln>
              <a:effectLst/>
            </c:spPr>
            <c:extLst>
              <c:ext xmlns:c16="http://schemas.microsoft.com/office/drawing/2014/chart" uri="{C3380CC4-5D6E-409C-BE32-E72D297353CC}">
                <c16:uniqueId val="{00000003-118D-4637-9FC7-698E17362614}"/>
              </c:ext>
            </c:extLst>
          </c:dPt>
          <c:dPt>
            <c:idx val="2"/>
            <c:bubble3D val="0"/>
            <c:spPr>
              <a:solidFill>
                <a:srgbClr val="E59B9D"/>
              </a:solidFill>
              <a:ln w="19050">
                <a:solidFill>
                  <a:schemeClr val="lt1"/>
                </a:solidFill>
              </a:ln>
              <a:effectLst/>
            </c:spPr>
            <c:extLst>
              <c:ext xmlns:c16="http://schemas.microsoft.com/office/drawing/2014/chart" uri="{C3380CC4-5D6E-409C-BE32-E72D297353CC}">
                <c16:uniqueId val="{00000005-118D-4637-9FC7-698E17362614}"/>
              </c:ext>
            </c:extLst>
          </c:dPt>
          <c:dPt>
            <c:idx val="3"/>
            <c:bubble3D val="0"/>
            <c:spPr>
              <a:solidFill>
                <a:srgbClr val="F3CCA8"/>
              </a:solidFill>
              <a:ln w="19050">
                <a:solidFill>
                  <a:schemeClr val="lt1"/>
                </a:solidFill>
              </a:ln>
              <a:effectLst/>
            </c:spPr>
            <c:extLst>
              <c:ext xmlns:c16="http://schemas.microsoft.com/office/drawing/2014/chart" uri="{C3380CC4-5D6E-409C-BE32-E72D297353CC}">
                <c16:uniqueId val="{00000007-118D-4637-9FC7-698E17362614}"/>
              </c:ext>
            </c:extLst>
          </c:dPt>
          <c:dPt>
            <c:idx val="4"/>
            <c:bubble3D val="0"/>
            <c:spPr>
              <a:solidFill>
                <a:schemeClr val="accent3">
                  <a:lumMod val="20000"/>
                  <a:lumOff val="80000"/>
                </a:schemeClr>
              </a:solidFill>
              <a:ln w="19050">
                <a:solidFill>
                  <a:schemeClr val="lt1"/>
                </a:solidFill>
              </a:ln>
              <a:effectLst/>
            </c:spPr>
            <c:extLst>
              <c:ext xmlns:c16="http://schemas.microsoft.com/office/drawing/2014/chart" uri="{C3380CC4-5D6E-409C-BE32-E72D297353CC}">
                <c16:uniqueId val="{00000009-118D-4637-9FC7-698E17362614}"/>
              </c:ext>
            </c:extLst>
          </c:dPt>
          <c:dPt>
            <c:idx val="5"/>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B-118D-4637-9FC7-698E17362614}"/>
              </c:ext>
            </c:extLst>
          </c:dPt>
          <c:dLbls>
            <c:dLbl>
              <c:idx val="0"/>
              <c:layout>
                <c:manualLayout>
                  <c:x val="-0.10501784239555756"/>
                  <c:y val="0.21776160055901284"/>
                </c:manualLayout>
              </c:layout>
              <c:showLegendKey val="0"/>
              <c:showVal val="0"/>
              <c:showCatName val="1"/>
              <c:showSerName val="0"/>
              <c:showPercent val="1"/>
              <c:showBubbleSize val="0"/>
              <c:extLst>
                <c:ext xmlns:c15="http://schemas.microsoft.com/office/drawing/2012/chart" uri="{CE6537A1-D6FC-4f65-9D91-7224C49458BB}">
                  <c15:layout>
                    <c:manualLayout>
                      <c:w val="7.249005671215121E-2"/>
                      <c:h val="0.1146437174356566"/>
                    </c:manualLayout>
                  </c15:layout>
                </c:ext>
                <c:ext xmlns:c16="http://schemas.microsoft.com/office/drawing/2014/chart" uri="{C3380CC4-5D6E-409C-BE32-E72D297353CC}">
                  <c16:uniqueId val="{00000001-118D-4637-9FC7-698E17362614}"/>
                </c:ext>
              </c:extLst>
            </c:dLbl>
            <c:dLbl>
              <c:idx val="1"/>
              <c:layout>
                <c:manualLayout>
                  <c:x val="-0.18900357691959732"/>
                  <c:y val="-0.16237116500015233"/>
                </c:manualLayout>
              </c:layout>
              <c:showLegendKey val="0"/>
              <c:showVal val="0"/>
              <c:showCatName val="1"/>
              <c:showSerName val="0"/>
              <c:showPercent val="1"/>
              <c:showBubbleSize val="0"/>
              <c:extLst>
                <c:ext xmlns:c15="http://schemas.microsoft.com/office/drawing/2012/chart" uri="{CE6537A1-D6FC-4f65-9D91-7224C49458BB}">
                  <c15:layout>
                    <c:manualLayout>
                      <c:w val="0.18638386115822983"/>
                      <c:h val="0.1146437174356566"/>
                    </c:manualLayout>
                  </c15:layout>
                </c:ext>
                <c:ext xmlns:c16="http://schemas.microsoft.com/office/drawing/2014/chart" uri="{C3380CC4-5D6E-409C-BE32-E72D297353CC}">
                  <c16:uniqueId val="{00000003-118D-4637-9FC7-698E17362614}"/>
                </c:ext>
              </c:extLst>
            </c:dLbl>
            <c:dLbl>
              <c:idx val="2"/>
              <c:layout>
                <c:manualLayout>
                  <c:x val="0.10295572622334949"/>
                  <c:y val="-0.21151137017454738"/>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18D-4637-9FC7-698E17362614}"/>
                </c:ext>
              </c:extLst>
            </c:dLbl>
            <c:dLbl>
              <c:idx val="3"/>
              <c:layout>
                <c:manualLayout>
                  <c:x val="0.1636209261797755"/>
                  <c:y val="-8.014374387978659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18D-4637-9FC7-698E17362614}"/>
                </c:ext>
              </c:extLst>
            </c:dLbl>
            <c:dLbl>
              <c:idx val="4"/>
              <c:layout>
                <c:manualLayout>
                  <c:x val="0.12992202310002687"/>
                  <c:y val="0.10345985380402817"/>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118D-4637-9FC7-698E17362614}"/>
                </c:ext>
              </c:extLst>
            </c:dLbl>
            <c:dLbl>
              <c:idx val="5"/>
              <c:layout>
                <c:manualLayout>
                  <c:x val="8.9342805316767415E-2"/>
                  <c:y val="0.1844578232153818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118D-4637-9FC7-698E17362614}"/>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TMT</c:v>
                </c:pt>
                <c:pt idx="1">
                  <c:v>Healthcare</c:v>
                </c:pt>
                <c:pt idx="2">
                  <c:v>Consumer</c:v>
                </c:pt>
                <c:pt idx="3">
                  <c:v>Industrials</c:v>
                </c:pt>
                <c:pt idx="4">
                  <c:v>Mining</c:v>
                </c:pt>
                <c:pt idx="5">
                  <c:v>Others</c:v>
                </c:pt>
              </c:strCache>
            </c:strRef>
          </c:cat>
          <c:val>
            <c:numRef>
              <c:f>Sheet1!$B$2:$B$7</c:f>
              <c:numCache>
                <c:formatCode>General</c:formatCode>
                <c:ptCount val="6"/>
                <c:pt idx="0">
                  <c:v>1284</c:v>
                </c:pt>
                <c:pt idx="1">
                  <c:v>1894</c:v>
                </c:pt>
                <c:pt idx="2">
                  <c:v>414</c:v>
                </c:pt>
                <c:pt idx="3">
                  <c:v>1374</c:v>
                </c:pt>
                <c:pt idx="4">
                  <c:v>585</c:v>
                </c:pt>
                <c:pt idx="5">
                  <c:v>717</c:v>
                </c:pt>
              </c:numCache>
            </c:numRef>
          </c:val>
          <c:extLst>
            <c:ext xmlns:c16="http://schemas.microsoft.com/office/drawing/2014/chart" uri="{C3380CC4-5D6E-409C-BE32-E72D297353CC}">
              <c16:uniqueId val="{0000000C-118D-4637-9FC7-698E17362614}"/>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57E886-AC73-96F3-B043-C061329BB2B6}"/>
              </a:ext>
            </a:extLst>
          </p:cNvPr>
          <p:cNvSpPr>
            <a:spLocks noGrp="1"/>
          </p:cNvSpPr>
          <p:nvPr>
            <p:ph type="hdr" sz="quarter"/>
          </p:nvPr>
        </p:nvSpPr>
        <p:spPr>
          <a:xfrm>
            <a:off x="0" y="0"/>
            <a:ext cx="2949575" cy="498475"/>
          </a:xfrm>
          <a:prstGeom prst="rect">
            <a:avLst/>
          </a:prstGeom>
        </p:spPr>
        <p:txBody>
          <a:bodyPr vert="horz" lIns="91434" tIns="45717" rIns="91434" bIns="45717" rtlCol="0"/>
          <a:lstStyle>
            <a:lvl1pPr algn="l" eaLnBrk="1" fontAlgn="auto" hangingPunct="1">
              <a:spcBef>
                <a:spcPts val="0"/>
              </a:spcBef>
              <a:spcAft>
                <a:spcPts val="0"/>
              </a:spcAft>
              <a:defRPr sz="1200" dirty="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02BAE7EF-3E06-5336-B5E6-DBBE1380572E}"/>
              </a:ext>
            </a:extLst>
          </p:cNvPr>
          <p:cNvSpPr>
            <a:spLocks noGrp="1"/>
          </p:cNvSpPr>
          <p:nvPr>
            <p:ph type="dt" sz="quarter" idx="1"/>
          </p:nvPr>
        </p:nvSpPr>
        <p:spPr>
          <a:xfrm>
            <a:off x="3856038" y="0"/>
            <a:ext cx="2949575" cy="498475"/>
          </a:xfrm>
          <a:prstGeom prst="rect">
            <a:avLst/>
          </a:prstGeom>
        </p:spPr>
        <p:txBody>
          <a:bodyPr vert="horz" lIns="91434" tIns="45717" rIns="91434" bIns="45717" rtlCol="0"/>
          <a:lstStyle>
            <a:lvl1pPr algn="r" eaLnBrk="1" fontAlgn="auto" hangingPunct="1">
              <a:spcBef>
                <a:spcPts val="0"/>
              </a:spcBef>
              <a:spcAft>
                <a:spcPts val="0"/>
              </a:spcAft>
              <a:defRPr sz="1200" smtClean="0">
                <a:latin typeface="+mn-lt"/>
                <a:ea typeface="+mn-ea"/>
                <a:cs typeface="+mn-cs"/>
              </a:defRPr>
            </a:lvl1pPr>
          </a:lstStyle>
          <a:p>
            <a:pPr>
              <a:defRPr/>
            </a:pPr>
            <a:fld id="{79417A2C-61A9-4375-A9E4-8C7E813D24E7}" type="datetimeFigureOut">
              <a:rPr lang="en-US"/>
              <a:pPr>
                <a:defRPr/>
              </a:pPr>
              <a:t>5/22/2026</a:t>
            </a:fld>
            <a:endParaRPr lang="en-US" dirty="0"/>
          </a:p>
        </p:txBody>
      </p:sp>
      <p:sp>
        <p:nvSpPr>
          <p:cNvPr id="4" name="Footer Placeholder 3">
            <a:extLst>
              <a:ext uri="{FF2B5EF4-FFF2-40B4-BE49-F238E27FC236}">
                <a16:creationId xmlns:a16="http://schemas.microsoft.com/office/drawing/2014/main" id="{B9FC6C5A-3FB9-CACD-F641-9BE75B8C5EA2}"/>
              </a:ext>
            </a:extLst>
          </p:cNvPr>
          <p:cNvSpPr>
            <a:spLocks noGrp="1"/>
          </p:cNvSpPr>
          <p:nvPr>
            <p:ph type="ftr" sz="quarter" idx="2"/>
          </p:nvPr>
        </p:nvSpPr>
        <p:spPr>
          <a:xfrm>
            <a:off x="0" y="9440863"/>
            <a:ext cx="2949575" cy="498475"/>
          </a:xfrm>
          <a:prstGeom prst="rect">
            <a:avLst/>
          </a:prstGeom>
        </p:spPr>
        <p:txBody>
          <a:bodyPr vert="horz" lIns="91434" tIns="45717" rIns="91434" bIns="45717" rtlCol="0" anchor="b"/>
          <a:lstStyle>
            <a:lvl1pPr algn="l" eaLnBrk="1" fontAlgn="auto" hangingPunct="1">
              <a:spcBef>
                <a:spcPts val="0"/>
              </a:spcBef>
              <a:spcAft>
                <a:spcPts val="0"/>
              </a:spcAft>
              <a:defRPr sz="1200" dirty="0">
                <a:latin typeface="+mn-lt"/>
                <a:ea typeface="+mn-ea"/>
                <a:cs typeface="+mn-cs"/>
              </a:defRPr>
            </a:lvl1pPr>
          </a:lstStyle>
          <a:p>
            <a:pPr>
              <a:defRPr/>
            </a:pPr>
            <a:endParaRPr lang="en-US"/>
          </a:p>
        </p:txBody>
      </p:sp>
      <p:sp>
        <p:nvSpPr>
          <p:cNvPr id="5" name="Slide Number Placeholder 4">
            <a:extLst>
              <a:ext uri="{FF2B5EF4-FFF2-40B4-BE49-F238E27FC236}">
                <a16:creationId xmlns:a16="http://schemas.microsoft.com/office/drawing/2014/main" id="{5D893AD3-2522-DC9D-1D8A-020E3E6D15F3}"/>
              </a:ext>
            </a:extLst>
          </p:cNvPr>
          <p:cNvSpPr>
            <a:spLocks noGrp="1"/>
          </p:cNvSpPr>
          <p:nvPr>
            <p:ph type="sldNum" sz="quarter" idx="3"/>
          </p:nvPr>
        </p:nvSpPr>
        <p:spPr>
          <a:xfrm>
            <a:off x="3856038" y="9440863"/>
            <a:ext cx="2949575" cy="498475"/>
          </a:xfrm>
          <a:prstGeom prst="rect">
            <a:avLst/>
          </a:prstGeom>
        </p:spPr>
        <p:txBody>
          <a:bodyPr vert="horz" lIns="91434" tIns="45717" rIns="91434" bIns="45717" rtlCol="0" anchor="b"/>
          <a:lstStyle>
            <a:lvl1pPr algn="r" eaLnBrk="1" fontAlgn="auto" hangingPunct="1">
              <a:spcBef>
                <a:spcPts val="0"/>
              </a:spcBef>
              <a:spcAft>
                <a:spcPts val="0"/>
              </a:spcAft>
              <a:defRPr sz="1200" smtClean="0">
                <a:latin typeface="+mn-lt"/>
                <a:ea typeface="+mn-ea"/>
                <a:cs typeface="+mn-cs"/>
              </a:defRPr>
            </a:lvl1pPr>
          </a:lstStyle>
          <a:p>
            <a:pPr>
              <a:defRPr/>
            </a:pPr>
            <a:fld id="{3C1CBAC7-667F-47BA-BF46-2E222606F871}"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ADBCDD-A968-6B1E-DD69-BF8853C2834A}"/>
              </a:ext>
            </a:extLst>
          </p:cNvPr>
          <p:cNvSpPr>
            <a:spLocks noGrp="1"/>
          </p:cNvSpPr>
          <p:nvPr>
            <p:ph type="hdr" sz="quarter"/>
          </p:nvPr>
        </p:nvSpPr>
        <p:spPr>
          <a:xfrm>
            <a:off x="0" y="0"/>
            <a:ext cx="2949575" cy="498475"/>
          </a:xfrm>
          <a:prstGeom prst="rect">
            <a:avLst/>
          </a:prstGeom>
        </p:spPr>
        <p:txBody>
          <a:bodyPr vert="horz" lIns="91434" tIns="45717" rIns="91434" bIns="45717" rtlCol="0"/>
          <a:lstStyle>
            <a:lvl1pPr algn="l" eaLnBrk="1" fontAlgn="auto" hangingPunct="1">
              <a:spcBef>
                <a:spcPts val="0"/>
              </a:spcBef>
              <a:spcAft>
                <a:spcPts val="0"/>
              </a:spcAft>
              <a:defRPr sz="1200" dirty="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D2BBA71C-F3D8-4FA5-DD7B-8ED03D1AB9C4}"/>
              </a:ext>
            </a:extLst>
          </p:cNvPr>
          <p:cNvSpPr>
            <a:spLocks noGrp="1"/>
          </p:cNvSpPr>
          <p:nvPr>
            <p:ph type="dt" idx="1"/>
          </p:nvPr>
        </p:nvSpPr>
        <p:spPr>
          <a:xfrm>
            <a:off x="3856038" y="0"/>
            <a:ext cx="2949575" cy="498475"/>
          </a:xfrm>
          <a:prstGeom prst="rect">
            <a:avLst/>
          </a:prstGeom>
        </p:spPr>
        <p:txBody>
          <a:bodyPr vert="horz" lIns="91434" tIns="45717" rIns="91434" bIns="45717" rtlCol="0"/>
          <a:lstStyle>
            <a:lvl1pPr algn="r" eaLnBrk="1" fontAlgn="auto" hangingPunct="1">
              <a:spcBef>
                <a:spcPts val="0"/>
              </a:spcBef>
              <a:spcAft>
                <a:spcPts val="0"/>
              </a:spcAft>
              <a:defRPr sz="1200" smtClean="0">
                <a:latin typeface="+mn-lt"/>
                <a:ea typeface="+mn-ea"/>
                <a:cs typeface="+mn-cs"/>
              </a:defRPr>
            </a:lvl1pPr>
          </a:lstStyle>
          <a:p>
            <a:pPr>
              <a:defRPr/>
            </a:pPr>
            <a:fld id="{279CE152-2D1B-458F-A51E-4A63265E713B}" type="datetimeFigureOut">
              <a:rPr lang="en-US"/>
              <a:pPr>
                <a:defRPr/>
              </a:pPr>
              <a:t>5/22/2026</a:t>
            </a:fld>
            <a:endParaRPr lang="en-US" dirty="0"/>
          </a:p>
        </p:txBody>
      </p:sp>
      <p:sp>
        <p:nvSpPr>
          <p:cNvPr id="4" name="Slide Image Placeholder 3">
            <a:extLst>
              <a:ext uri="{FF2B5EF4-FFF2-40B4-BE49-F238E27FC236}">
                <a16:creationId xmlns:a16="http://schemas.microsoft.com/office/drawing/2014/main" id="{90D777FD-B0FB-BAAB-1AAA-87B6112321CB}"/>
              </a:ext>
            </a:extLst>
          </p:cNvPr>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34" tIns="45717" rIns="91434" bIns="45717" rtlCol="0" anchor="ctr"/>
          <a:lstStyle/>
          <a:p>
            <a:pPr lvl="0"/>
            <a:endParaRPr lang="en-US" noProof="0" dirty="0"/>
          </a:p>
        </p:txBody>
      </p:sp>
      <p:sp>
        <p:nvSpPr>
          <p:cNvPr id="5" name="Notes Placeholder 4">
            <a:extLst>
              <a:ext uri="{FF2B5EF4-FFF2-40B4-BE49-F238E27FC236}">
                <a16:creationId xmlns:a16="http://schemas.microsoft.com/office/drawing/2014/main" id="{B77DB878-2E61-8162-AC92-6680C9782619}"/>
              </a:ext>
            </a:extLst>
          </p:cNvPr>
          <p:cNvSpPr>
            <a:spLocks noGrp="1"/>
          </p:cNvSpPr>
          <p:nvPr>
            <p:ph type="body" sz="quarter" idx="3"/>
          </p:nvPr>
        </p:nvSpPr>
        <p:spPr>
          <a:xfrm>
            <a:off x="681038" y="4783138"/>
            <a:ext cx="5445125" cy="3913187"/>
          </a:xfrm>
          <a:prstGeom prst="rect">
            <a:avLst/>
          </a:prstGeom>
        </p:spPr>
        <p:txBody>
          <a:bodyPr vert="horz" lIns="91434" tIns="45717" rIns="91434" bIns="45717"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E12BA90-94BE-AFC7-1838-E82330B54487}"/>
              </a:ext>
            </a:extLst>
          </p:cNvPr>
          <p:cNvSpPr>
            <a:spLocks noGrp="1"/>
          </p:cNvSpPr>
          <p:nvPr>
            <p:ph type="ftr" sz="quarter" idx="4"/>
          </p:nvPr>
        </p:nvSpPr>
        <p:spPr>
          <a:xfrm>
            <a:off x="0" y="9440863"/>
            <a:ext cx="2949575" cy="498475"/>
          </a:xfrm>
          <a:prstGeom prst="rect">
            <a:avLst/>
          </a:prstGeom>
        </p:spPr>
        <p:txBody>
          <a:bodyPr vert="horz" lIns="91434" tIns="45717" rIns="91434" bIns="45717" rtlCol="0" anchor="b"/>
          <a:lstStyle>
            <a:lvl1pPr algn="l" eaLnBrk="1" fontAlgn="auto" hangingPunct="1">
              <a:spcBef>
                <a:spcPts val="0"/>
              </a:spcBef>
              <a:spcAft>
                <a:spcPts val="0"/>
              </a:spcAft>
              <a:defRPr sz="1200" dirty="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FACEADE9-8AB1-9A43-0E7D-DAD35238BC26}"/>
              </a:ext>
            </a:extLst>
          </p:cNvPr>
          <p:cNvSpPr>
            <a:spLocks noGrp="1"/>
          </p:cNvSpPr>
          <p:nvPr>
            <p:ph type="sldNum" sz="quarter" idx="5"/>
          </p:nvPr>
        </p:nvSpPr>
        <p:spPr>
          <a:xfrm>
            <a:off x="3856038" y="9440863"/>
            <a:ext cx="2949575" cy="498475"/>
          </a:xfrm>
          <a:prstGeom prst="rect">
            <a:avLst/>
          </a:prstGeom>
        </p:spPr>
        <p:txBody>
          <a:bodyPr vert="horz" lIns="91434" tIns="45717" rIns="91434" bIns="45717" rtlCol="0" anchor="b"/>
          <a:lstStyle>
            <a:lvl1pPr algn="r" eaLnBrk="1" fontAlgn="auto" hangingPunct="1">
              <a:spcBef>
                <a:spcPts val="0"/>
              </a:spcBef>
              <a:spcAft>
                <a:spcPts val="0"/>
              </a:spcAft>
              <a:defRPr sz="1200" smtClean="0">
                <a:latin typeface="+mn-lt"/>
                <a:ea typeface="+mn-ea"/>
                <a:cs typeface="+mn-cs"/>
              </a:defRPr>
            </a:lvl1pPr>
          </a:lstStyle>
          <a:p>
            <a:pPr>
              <a:defRPr/>
            </a:pPr>
            <a:fld id="{22041597-70AE-4724-AD79-124F494794BC}"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A2D269-0B28-4CA4-BB47-1F135A10AFD3}" type="slidenum">
              <a:rPr lang="en-US" smtClean="0"/>
              <a:t>1</a:t>
            </a:fld>
            <a:endParaRPr lang="en-US" dirty="0"/>
          </a:p>
        </p:txBody>
      </p:sp>
    </p:spTree>
    <p:extLst>
      <p:ext uri="{BB962C8B-B14F-4D97-AF65-F5344CB8AC3E}">
        <p14:creationId xmlns:p14="http://schemas.microsoft.com/office/powerpoint/2010/main" val="3986048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marL="0" marR="0" lvl="0" indent="0" algn="r" defTabSz="795670" rtl="0" eaLnBrk="1" fontAlgn="base" latinLnBrk="0" hangingPunct="1">
              <a:lnSpc>
                <a:spcPct val="100000"/>
              </a:lnSpc>
              <a:spcBef>
                <a:spcPct val="0"/>
              </a:spcBef>
              <a:spcAft>
                <a:spcPct val="0"/>
              </a:spcAft>
              <a:buClrTx/>
              <a:buSzTx/>
              <a:buFontTx/>
              <a:buNone/>
              <a:tabLst/>
              <a:defRPr/>
            </a:pPr>
            <a:fld id="{A4DF32EF-BEE2-467E-A20C-05D0FECFF7E5}" type="slidenum">
              <a:rPr kumimoji="0" lang="en-US" sz="9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795670" rtl="0" eaLnBrk="1" fontAlgn="base" latinLnBrk="0" hangingPunct="1">
                <a:lnSpc>
                  <a:spcPct val="100000"/>
                </a:lnSpc>
                <a:spcBef>
                  <a:spcPct val="0"/>
                </a:spcBef>
                <a:spcAft>
                  <a:spcPct val="0"/>
                </a:spcAft>
                <a:buClrTx/>
                <a:buSzTx/>
                <a:buFontTx/>
                <a:buNone/>
                <a:tabLst/>
                <a:defRPr/>
              </a:pPr>
              <a:t>2</a:t>
            </a:fld>
            <a:endParaRPr kumimoji="0" lang="en-US" sz="9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30637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marL="0" marR="0" lvl="0" indent="0" algn="r" defTabSz="795670" rtl="0" eaLnBrk="1" fontAlgn="base" latinLnBrk="0" hangingPunct="1">
              <a:lnSpc>
                <a:spcPct val="100000"/>
              </a:lnSpc>
              <a:spcBef>
                <a:spcPct val="0"/>
              </a:spcBef>
              <a:spcAft>
                <a:spcPct val="0"/>
              </a:spcAft>
              <a:buClrTx/>
              <a:buSzTx/>
              <a:buFontTx/>
              <a:buNone/>
              <a:tabLst/>
              <a:defRPr/>
            </a:pPr>
            <a:fld id="{A4DF32EF-BEE2-467E-A20C-05D0FECFF7E5}" type="slidenum">
              <a:rPr kumimoji="0" lang="en-US" sz="9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795670" rtl="0" eaLnBrk="1" fontAlgn="base" latinLnBrk="0" hangingPunct="1">
                <a:lnSpc>
                  <a:spcPct val="100000"/>
                </a:lnSpc>
                <a:spcBef>
                  <a:spcPct val="0"/>
                </a:spcBef>
                <a:spcAft>
                  <a:spcPct val="0"/>
                </a:spcAft>
                <a:buClrTx/>
                <a:buSzTx/>
                <a:buFontTx/>
                <a:buNone/>
                <a:tabLst/>
                <a:defRPr/>
              </a:pPr>
              <a:t>3</a:t>
            </a:fld>
            <a:endParaRPr kumimoji="0" lang="en-US" sz="9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13393613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7">
            <a:extLst>
              <a:ext uri="{FF2B5EF4-FFF2-40B4-BE49-F238E27FC236}">
                <a16:creationId xmlns:a16="http://schemas.microsoft.com/office/drawing/2014/main" id="{81FF4423-D359-57BA-6436-963BD99379C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42975" y="1152525"/>
            <a:ext cx="8959850" cy="504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5">
            <a:extLst>
              <a:ext uri="{FF2B5EF4-FFF2-40B4-BE49-F238E27FC236}">
                <a16:creationId xmlns:a16="http://schemas.microsoft.com/office/drawing/2014/main" id="{3A8FE21C-8115-B781-E56D-DE41F7F9F18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755650"/>
            <a:ext cx="1879600"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67">
            <a:extLst>
              <a:ext uri="{FF2B5EF4-FFF2-40B4-BE49-F238E27FC236}">
                <a16:creationId xmlns:a16="http://schemas.microsoft.com/office/drawing/2014/main" id="{ABE22DFE-1C15-A0DD-1E53-CDD0C9B43F5F}"/>
              </a:ext>
            </a:extLst>
          </p:cNvPr>
          <p:cNvSpPr txBox="1">
            <a:spLocks noChangeArrowheads="1"/>
          </p:cNvSpPr>
          <p:nvPr userDrawn="1"/>
        </p:nvSpPr>
        <p:spPr bwMode="auto">
          <a:xfrm>
            <a:off x="495300" y="5410200"/>
            <a:ext cx="7696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742950" indent="-28575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1143000" indent="-2286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600200" indent="-2286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2057400" indent="-2286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5146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9718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4290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8862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a:lstStyle>
          <a:p>
            <a:r>
              <a:rPr lang="en-US" altLang="en-US" sz="800">
                <a:solidFill>
                  <a:srgbClr val="000000"/>
                </a:solidFill>
              </a:rPr>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800">
              <a:solidFill>
                <a:srgbClr val="000000"/>
              </a:solidFill>
            </a:endParaRPr>
          </a:p>
        </p:txBody>
      </p:sp>
      <p:sp>
        <p:nvSpPr>
          <p:cNvPr id="17" name="Rectangle 2"/>
          <p:cNvSpPr>
            <a:spLocks noGrp="1" noChangeArrowheads="1"/>
          </p:cNvSpPr>
          <p:nvPr>
            <p:ph type="ctrTitle"/>
          </p:nvPr>
        </p:nvSpPr>
        <p:spPr>
          <a:xfrm>
            <a:off x="1159706" y="2590800"/>
            <a:ext cx="7594600" cy="590931"/>
          </a:xfrm>
          <a:prstGeom prst="rect">
            <a:avLst/>
          </a:prstGeom>
        </p:spPr>
        <p:txBody>
          <a:bodyPr/>
          <a:lstStyle>
            <a:lvl1pPr algn="ctr">
              <a:defRPr sz="3600" b="1">
                <a:solidFill>
                  <a:schemeClr val="tx1"/>
                </a:solidFill>
                <a:latin typeface="Calibri" panose="020F0502020204030204" pitchFamily="34" charset="0"/>
                <a:cs typeface="Calibri" panose="020F0502020204030204" pitchFamily="34" charset="0"/>
              </a:defRPr>
            </a:lvl1pPr>
          </a:lstStyle>
          <a:p>
            <a:pPr lvl="0"/>
            <a:r>
              <a:rPr lang="en-US" altLang="en-US" noProof="0" dirty="0"/>
              <a:t>Click to edit Master title style</a:t>
            </a:r>
            <a:endParaRPr lang="en-GB" altLang="en-US" noProof="0" dirty="0"/>
          </a:p>
        </p:txBody>
      </p:sp>
      <p:sp>
        <p:nvSpPr>
          <p:cNvPr id="18" name="Rectangle 16"/>
          <p:cNvSpPr>
            <a:spLocks noGrp="1" noChangeArrowheads="1"/>
          </p:cNvSpPr>
          <p:nvPr>
            <p:ph type="subTitle" idx="1"/>
          </p:nvPr>
        </p:nvSpPr>
        <p:spPr>
          <a:xfrm>
            <a:off x="2067756" y="3644975"/>
            <a:ext cx="5778500" cy="609600"/>
          </a:xfrm>
          <a:prstGeom prst="rect">
            <a:avLst/>
          </a:prstGeom>
        </p:spPr>
        <p:txBody>
          <a:bodyPr>
            <a:normAutofit/>
          </a:bodyPr>
          <a:lstStyle>
            <a:lvl1pPr marL="0" indent="0" algn="ctr">
              <a:buFont typeface="Wingdings" panose="05000000000000000000" pitchFamily="2" charset="2"/>
              <a:buNone/>
              <a:defRPr sz="2800">
                <a:solidFill>
                  <a:srgbClr val="FF0000"/>
                </a:solidFill>
                <a:latin typeface="Calibri" panose="020F0502020204030204" pitchFamily="34" charset="0"/>
                <a:cs typeface="Calibri" panose="020F0502020204030204" pitchFamily="34" charset="0"/>
              </a:defRPr>
            </a:lvl1pPr>
          </a:lstStyle>
          <a:p>
            <a:pPr lvl="0"/>
            <a:r>
              <a:rPr lang="en-US" altLang="en-US" noProof="0"/>
              <a:t>Click to edit Master subtitle style</a:t>
            </a:r>
            <a:endParaRPr lang="en-GB" altLang="en-US" noProof="0"/>
          </a:p>
        </p:txBody>
      </p:sp>
    </p:spTree>
    <p:extLst>
      <p:ext uri="{BB962C8B-B14F-4D97-AF65-F5344CB8AC3E}">
        <p14:creationId xmlns:p14="http://schemas.microsoft.com/office/powerpoint/2010/main" val="643062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vder Title _white">
    <p:spTree>
      <p:nvGrpSpPr>
        <p:cNvPr id="1" name=""/>
        <p:cNvGrpSpPr/>
        <p:nvPr/>
      </p:nvGrpSpPr>
      <p:grpSpPr>
        <a:xfrm>
          <a:off x="0" y="0"/>
          <a:ext cx="0" cy="0"/>
          <a:chOff x="0" y="0"/>
          <a:chExt cx="0" cy="0"/>
        </a:xfrm>
      </p:grpSpPr>
      <p:pic>
        <p:nvPicPr>
          <p:cNvPr id="2" name="Picture 7">
            <a:extLst>
              <a:ext uri="{FF2B5EF4-FFF2-40B4-BE49-F238E27FC236}">
                <a16:creationId xmlns:a16="http://schemas.microsoft.com/office/drawing/2014/main" id="{A53F0020-D4D4-2C65-1878-AC56C5C3E0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42975" y="0"/>
            <a:ext cx="8959850" cy="504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
            <a:extLst>
              <a:ext uri="{FF2B5EF4-FFF2-40B4-BE49-F238E27FC236}">
                <a16:creationId xmlns:a16="http://schemas.microsoft.com/office/drawing/2014/main" id="{D9122387-2E64-9505-0234-48EBD61DE67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03238" y="6291263"/>
            <a:ext cx="858837"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30377273-5ECD-0420-D078-185A8495D61A}"/>
              </a:ext>
            </a:extLst>
          </p:cNvPr>
          <p:cNvSpPr>
            <a:spLocks noChangeArrowheads="1"/>
          </p:cNvSpPr>
          <p:nvPr userDrawn="1"/>
        </p:nvSpPr>
        <p:spPr bwMode="auto">
          <a:xfrm>
            <a:off x="0" y="5289550"/>
            <a:ext cx="3671888" cy="1000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742950" indent="-28575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1143000" indent="-2286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600200" indent="-2286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2057400" indent="-2286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5146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9718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4290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8862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a:lstStyle>
          <a:p>
            <a:endParaRPr lang="en-SG" altLang="en-US" sz="2800"/>
          </a:p>
        </p:txBody>
      </p:sp>
      <p:sp>
        <p:nvSpPr>
          <p:cNvPr id="5" name="Rectangle 7">
            <a:extLst>
              <a:ext uri="{FF2B5EF4-FFF2-40B4-BE49-F238E27FC236}">
                <a16:creationId xmlns:a16="http://schemas.microsoft.com/office/drawing/2014/main" id="{B544B488-8D22-1053-503F-15D2552F1936}"/>
              </a:ext>
            </a:extLst>
          </p:cNvPr>
          <p:cNvSpPr>
            <a:spLocks noChangeArrowheads="1"/>
          </p:cNvSpPr>
          <p:nvPr userDrawn="1"/>
        </p:nvSpPr>
        <p:spPr bwMode="auto">
          <a:xfrm>
            <a:off x="3671888" y="5289550"/>
            <a:ext cx="6230937" cy="100013"/>
          </a:xfrm>
          <a:prstGeom prst="rect">
            <a:avLst/>
          </a:prstGeom>
          <a:solidFill>
            <a:srgbClr val="E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742950" indent="-28575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1143000" indent="-2286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600200" indent="-2286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2057400" indent="-2286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5146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9718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4290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886200" indent="-2286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a:lstStyle>
          <a:p>
            <a:endParaRPr lang="en-SG" altLang="en-US" sz="2800" b="1"/>
          </a:p>
        </p:txBody>
      </p:sp>
      <p:sp>
        <p:nvSpPr>
          <p:cNvPr id="10" name="Rectangle 16"/>
          <p:cNvSpPr>
            <a:spLocks noGrp="1" noChangeArrowheads="1"/>
          </p:cNvSpPr>
          <p:nvPr>
            <p:ph type="subTitle" idx="1"/>
          </p:nvPr>
        </p:nvSpPr>
        <p:spPr>
          <a:xfrm>
            <a:off x="658800" y="4301102"/>
            <a:ext cx="8229600" cy="415498"/>
          </a:xfrm>
          <a:prstGeom prst="rect">
            <a:avLst/>
          </a:prstGeom>
        </p:spPr>
        <p:txBody>
          <a:bodyPr tIns="0" bIns="0"/>
          <a:lstStyle>
            <a:lvl1pPr marL="0" indent="0" algn="l">
              <a:lnSpc>
                <a:spcPct val="90000"/>
              </a:lnSpc>
              <a:buFont typeface="Wingdings" panose="05000000000000000000" pitchFamily="2" charset="2"/>
              <a:buNone/>
              <a:defRPr sz="3000" b="1" baseline="0">
                <a:solidFill>
                  <a:schemeClr val="tx1"/>
                </a:solidFill>
                <a:latin typeface="Calibri" panose="020F0502020204030204" pitchFamily="34" charset="0"/>
                <a:cs typeface="Calibri" panose="020F0502020204030204" pitchFamily="34" charset="0"/>
              </a:defRPr>
            </a:lvl1pPr>
          </a:lstStyle>
          <a:p>
            <a:pPr lvl="0"/>
            <a:r>
              <a:rPr lang="en-US" altLang="en-US" noProof="0" dirty="0"/>
              <a:t>Click to edit Master subtitle style</a:t>
            </a:r>
            <a:endParaRPr lang="en-GB" altLang="en-US" noProof="0" dirty="0"/>
          </a:p>
        </p:txBody>
      </p:sp>
      <p:sp>
        <p:nvSpPr>
          <p:cNvPr id="11" name="Rectangle 2"/>
          <p:cNvSpPr>
            <a:spLocks noGrp="1" noChangeArrowheads="1"/>
          </p:cNvSpPr>
          <p:nvPr>
            <p:ph type="ctrTitle"/>
          </p:nvPr>
        </p:nvSpPr>
        <p:spPr>
          <a:xfrm>
            <a:off x="658800" y="3685303"/>
            <a:ext cx="8229600" cy="461665"/>
          </a:xfrm>
          <a:prstGeom prst="rect">
            <a:avLst/>
          </a:prstGeom>
        </p:spPr>
        <p:txBody>
          <a:bodyPr tIns="0" bIns="0"/>
          <a:lstStyle>
            <a:lvl1pPr algn="l">
              <a:lnSpc>
                <a:spcPct val="100000"/>
              </a:lnSpc>
              <a:defRPr sz="3000" b="1" baseline="0">
                <a:solidFill>
                  <a:schemeClr val="tx1"/>
                </a:solidFill>
                <a:latin typeface="Calibri" panose="020F0502020204030204" pitchFamily="34" charset="0"/>
                <a:cs typeface="Calibri" panose="020F0502020204030204" pitchFamily="34" charset="0"/>
              </a:defRPr>
            </a:lvl1pPr>
          </a:lstStyle>
          <a:p>
            <a:pPr lvl="0"/>
            <a:r>
              <a:rPr lang="en-US" altLang="en-US" noProof="0" dirty="0"/>
              <a:t>Click to edit Master title style</a:t>
            </a:r>
            <a:endParaRPr lang="en-GB" altLang="en-US" noProof="0" dirty="0"/>
          </a:p>
        </p:txBody>
      </p:sp>
      <p:sp>
        <p:nvSpPr>
          <p:cNvPr id="6" name="Slide Number Placeholder 6">
            <a:extLst>
              <a:ext uri="{FF2B5EF4-FFF2-40B4-BE49-F238E27FC236}">
                <a16:creationId xmlns:a16="http://schemas.microsoft.com/office/drawing/2014/main" id="{508B97A2-D3D4-2D78-0A25-C93B65983AB5}"/>
              </a:ext>
            </a:extLst>
          </p:cNvPr>
          <p:cNvSpPr>
            <a:spLocks noGrp="1"/>
          </p:cNvSpPr>
          <p:nvPr>
            <p:ph type="sldNum" sz="quarter" idx="10"/>
          </p:nvPr>
        </p:nvSpPr>
        <p:spPr/>
        <p:txBody>
          <a:bodyPr/>
          <a:lstStyle>
            <a:lvl1pPr algn="r">
              <a:defRPr sz="1000" baseline="0" smtClean="0">
                <a:solidFill>
                  <a:schemeClr val="tx1">
                    <a:tint val="75000"/>
                  </a:schemeClr>
                </a:solidFill>
                <a:latin typeface="Calibri" panose="020F0502020204030204" pitchFamily="34" charset="0"/>
                <a:ea typeface="DFKaiShu-GB5" panose="03000509000000000000" pitchFamily="65" charset="-128"/>
              </a:defRPr>
            </a:lvl1pPr>
          </a:lstStyle>
          <a:p>
            <a:pPr>
              <a:defRPr/>
            </a:pPr>
            <a:fld id="{391EDB7F-5FE1-484E-8F6B-A2C5D4CDFC4F}" type="slidenum">
              <a:rPr lang="en-US"/>
              <a:pPr>
                <a:defRPr/>
              </a:pPr>
              <a:t>‹#›</a:t>
            </a:fld>
            <a:endParaRPr lang="en-US" dirty="0"/>
          </a:p>
        </p:txBody>
      </p:sp>
    </p:spTree>
    <p:extLst>
      <p:ext uri="{BB962C8B-B14F-4D97-AF65-F5344CB8AC3E}">
        <p14:creationId xmlns:p14="http://schemas.microsoft.com/office/powerpoint/2010/main" val="346340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41756" y="448056"/>
            <a:ext cx="9144000" cy="452432"/>
          </a:xfrm>
        </p:spPr>
        <p:txBody>
          <a:bodyPr/>
          <a:lstStyle>
            <a:lvl1pPr>
              <a:defRPr lang="en-US"/>
            </a:lvl1pPr>
          </a:lstStyle>
          <a:p>
            <a:pPr lvl="0"/>
            <a:r>
              <a:rPr lang="en-US" dirty="0"/>
              <a:t>Click to edit Master title style</a:t>
            </a:r>
          </a:p>
        </p:txBody>
      </p:sp>
      <p:sp>
        <p:nvSpPr>
          <p:cNvPr id="3" name="Content Placeholder 2"/>
          <p:cNvSpPr>
            <a:spLocks noGrp="1"/>
          </p:cNvSpPr>
          <p:nvPr>
            <p:ph idx="1"/>
          </p:nvPr>
        </p:nvSpPr>
        <p:spPr>
          <a:xfrm>
            <a:off x="341756" y="945642"/>
            <a:ext cx="9144000" cy="1169551"/>
          </a:xfrm>
        </p:spPr>
        <p:txBody>
          <a:bodyPr rtlCol="0"/>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A55376F2-9BD1-D5AC-26E4-B88D44FE9800}"/>
              </a:ext>
            </a:extLst>
          </p:cNvPr>
          <p:cNvSpPr>
            <a:spLocks noGrp="1"/>
          </p:cNvSpPr>
          <p:nvPr>
            <p:ph type="ftr" sz="quarter" idx="10"/>
          </p:nvPr>
        </p:nvSpPr>
        <p:spPr/>
        <p:txBody>
          <a:bodyPr/>
          <a:lstStyle>
            <a:lvl1pPr>
              <a:defRPr/>
            </a:lvl1pPr>
          </a:lstStyle>
          <a:p>
            <a:pPr>
              <a:defRPr/>
            </a:pPr>
            <a:endParaRPr lang="en-US"/>
          </a:p>
        </p:txBody>
      </p:sp>
      <p:sp>
        <p:nvSpPr>
          <p:cNvPr id="5" name="Slide Number Placeholder 6">
            <a:extLst>
              <a:ext uri="{FF2B5EF4-FFF2-40B4-BE49-F238E27FC236}">
                <a16:creationId xmlns:a16="http://schemas.microsoft.com/office/drawing/2014/main" id="{5F37A763-97F6-3641-0C3A-11BF34A27EEE}"/>
              </a:ext>
            </a:extLst>
          </p:cNvPr>
          <p:cNvSpPr>
            <a:spLocks noGrp="1"/>
          </p:cNvSpPr>
          <p:nvPr>
            <p:ph type="sldNum" sz="quarter" idx="11"/>
          </p:nvPr>
        </p:nvSpPr>
        <p:spPr/>
        <p:txBody>
          <a:bodyPr/>
          <a:lstStyle>
            <a:lvl1pPr>
              <a:defRPr/>
            </a:lvl1pPr>
          </a:lstStyle>
          <a:p>
            <a:pPr>
              <a:defRPr/>
            </a:pPr>
            <a:fld id="{7A2CDACB-6754-4CA4-BA6F-1D4868FC89AE}" type="slidenum">
              <a:rPr lang="en-US"/>
              <a:pPr>
                <a:defRPr/>
              </a:pPr>
              <a:t>‹#›</a:t>
            </a:fld>
            <a:endParaRPr lang="en-US" dirty="0"/>
          </a:p>
        </p:txBody>
      </p:sp>
    </p:spTree>
    <p:extLst>
      <p:ext uri="{BB962C8B-B14F-4D97-AF65-F5344CB8AC3E}">
        <p14:creationId xmlns:p14="http://schemas.microsoft.com/office/powerpoint/2010/main" val="4209276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41756" y="475756"/>
            <a:ext cx="9144000" cy="424732"/>
          </a:xfrm>
        </p:spPr>
        <p:txBody>
          <a:bodyPr/>
          <a:lstStyle>
            <a:lvl1pPr>
              <a:defRPr sz="2400">
                <a:latin typeface="+mn-lt"/>
                <a:ea typeface="+mn-ea"/>
              </a:defRPr>
            </a:lvl1pPr>
          </a:lstStyle>
          <a:p>
            <a:r>
              <a:rPr lang="en-US" dirty="0"/>
              <a:t>Click to edit Master title style</a:t>
            </a:r>
          </a:p>
        </p:txBody>
      </p:sp>
      <p:sp>
        <p:nvSpPr>
          <p:cNvPr id="3" name="Footer Placeholder 4">
            <a:extLst>
              <a:ext uri="{FF2B5EF4-FFF2-40B4-BE49-F238E27FC236}">
                <a16:creationId xmlns:a16="http://schemas.microsoft.com/office/drawing/2014/main" id="{C041DFC8-0919-35CC-1A78-1654DC7D104F}"/>
              </a:ext>
            </a:extLst>
          </p:cNvPr>
          <p:cNvSpPr>
            <a:spLocks noGrp="1"/>
          </p:cNvSpPr>
          <p:nvPr>
            <p:ph type="ftr" sz="quarter" idx="10"/>
          </p:nvPr>
        </p:nvSpPr>
        <p:spPr/>
        <p:txBody>
          <a:bodyPr/>
          <a:lstStyle>
            <a:lvl1pPr>
              <a:defRPr/>
            </a:lvl1pPr>
          </a:lstStyle>
          <a:p>
            <a:pPr>
              <a:defRPr/>
            </a:pPr>
            <a:endParaRPr lang="en-US"/>
          </a:p>
        </p:txBody>
      </p:sp>
      <p:sp>
        <p:nvSpPr>
          <p:cNvPr id="4" name="Slide Number Placeholder 6">
            <a:extLst>
              <a:ext uri="{FF2B5EF4-FFF2-40B4-BE49-F238E27FC236}">
                <a16:creationId xmlns:a16="http://schemas.microsoft.com/office/drawing/2014/main" id="{41B49736-D237-0B3C-4732-10FC4562331F}"/>
              </a:ext>
            </a:extLst>
          </p:cNvPr>
          <p:cNvSpPr>
            <a:spLocks noGrp="1"/>
          </p:cNvSpPr>
          <p:nvPr>
            <p:ph type="sldNum" sz="quarter" idx="11"/>
          </p:nvPr>
        </p:nvSpPr>
        <p:spPr/>
        <p:txBody>
          <a:bodyPr/>
          <a:lstStyle>
            <a:lvl1pPr>
              <a:defRPr/>
            </a:lvl1pPr>
          </a:lstStyle>
          <a:p>
            <a:pPr>
              <a:defRPr/>
            </a:pPr>
            <a:fld id="{072EE216-D927-448B-B547-B6B37A95E7A6}" type="slidenum">
              <a:rPr lang="en-US"/>
              <a:pPr>
                <a:defRPr/>
              </a:pPr>
              <a:t>‹#›</a:t>
            </a:fld>
            <a:endParaRPr lang="en-US" dirty="0"/>
          </a:p>
        </p:txBody>
      </p:sp>
    </p:spTree>
    <p:extLst>
      <p:ext uri="{BB962C8B-B14F-4D97-AF65-F5344CB8AC3E}">
        <p14:creationId xmlns:p14="http://schemas.microsoft.com/office/powerpoint/2010/main" val="25369873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Line 3">
            <a:extLst>
              <a:ext uri="{FF2B5EF4-FFF2-40B4-BE49-F238E27FC236}">
                <a16:creationId xmlns:a16="http://schemas.microsoft.com/office/drawing/2014/main" id="{83F527B8-244A-4A6F-7869-1E9881275C53}"/>
              </a:ext>
            </a:extLst>
          </p:cNvPr>
          <p:cNvSpPr>
            <a:spLocks noChangeShapeType="1"/>
          </p:cNvSpPr>
          <p:nvPr userDrawn="1"/>
        </p:nvSpPr>
        <p:spPr bwMode="auto">
          <a:xfrm>
            <a:off x="384175" y="3095625"/>
            <a:ext cx="9153525" cy="0"/>
          </a:xfrm>
          <a:prstGeom prst="line">
            <a:avLst/>
          </a:prstGeom>
          <a:noFill/>
          <a:ln w="9525">
            <a:solidFill>
              <a:schemeClr val="tx1"/>
            </a:solidFill>
            <a:round/>
            <a:headEnd/>
            <a:tailEnd/>
          </a:ln>
        </p:spPr>
        <p:txBody>
          <a:bodyPr wrap="none" anchor="ctr"/>
          <a:lstStyle/>
          <a:p>
            <a:pPr algn="ctr" fontAlgn="auto">
              <a:spcBef>
                <a:spcPts val="0"/>
              </a:spcBef>
              <a:spcAft>
                <a:spcPts val="0"/>
              </a:spcAft>
              <a:defRPr/>
            </a:pPr>
            <a:endParaRPr lang="en-US" sz="1463" dirty="0">
              <a:solidFill>
                <a:srgbClr val="000000"/>
              </a:solidFill>
              <a:latin typeface="+mn-lt"/>
              <a:ea typeface="+mn-ea"/>
              <a:cs typeface="Calibri" pitchFamily="34" charset="0"/>
            </a:endParaRPr>
          </a:p>
        </p:txBody>
      </p:sp>
      <p:sp>
        <p:nvSpPr>
          <p:cNvPr id="4" name="Title 5"/>
          <p:cNvSpPr>
            <a:spLocks noGrp="1"/>
          </p:cNvSpPr>
          <p:nvPr>
            <p:ph type="title"/>
          </p:nvPr>
        </p:nvSpPr>
        <p:spPr>
          <a:xfrm>
            <a:off x="725805" y="2642363"/>
            <a:ext cx="8503920" cy="429990"/>
          </a:xfrm>
        </p:spPr>
        <p:txBody>
          <a:bodyPr/>
          <a:lstStyle>
            <a:lvl1pPr algn="r">
              <a:defRPr sz="2438" baseline="0">
                <a:latin typeface="+mn-lt"/>
                <a:ea typeface="DFKaiShu-GB5" pitchFamily="65" charset="-128"/>
              </a:defRPr>
            </a:lvl1pPr>
          </a:lstStyle>
          <a:p>
            <a:r>
              <a:rPr lang="en-US" dirty="0"/>
              <a:t>Click to edit Master title style</a:t>
            </a:r>
          </a:p>
        </p:txBody>
      </p:sp>
      <p:sp>
        <p:nvSpPr>
          <p:cNvPr id="5" name="Text Placeholder 10"/>
          <p:cNvSpPr>
            <a:spLocks noGrp="1"/>
          </p:cNvSpPr>
          <p:nvPr>
            <p:ph type="body" sz="quarter" idx="11"/>
          </p:nvPr>
        </p:nvSpPr>
        <p:spPr>
          <a:xfrm>
            <a:off x="725805" y="3117752"/>
            <a:ext cx="8503920" cy="429990"/>
          </a:xfrm>
          <a:prstGeom prst="rect">
            <a:avLst/>
          </a:prstGeom>
          <a:noFill/>
          <a:ln w="9525">
            <a:noFill/>
            <a:miter lim="800000"/>
            <a:headEnd/>
            <a:tailEnd/>
          </a:ln>
        </p:spPr>
        <p:txBody>
          <a:bodyPr/>
          <a:lstStyle>
            <a:lvl1pPr algn="r" rtl="0" eaLnBrk="0" fontAlgn="base" hangingPunct="0">
              <a:spcBef>
                <a:spcPct val="0"/>
              </a:spcBef>
              <a:spcAft>
                <a:spcPct val="0"/>
              </a:spcAft>
              <a:buFontTx/>
              <a:buNone/>
              <a:defRPr lang="en-US" sz="2438" b="1" baseline="0" dirty="0" smtClean="0">
                <a:solidFill>
                  <a:schemeClr val="tx1"/>
                </a:solidFill>
                <a:latin typeface="+mn-lt"/>
                <a:ea typeface="DFKaiShu-GB5" pitchFamily="65" charset="-128"/>
                <a:cs typeface="+mj-cs"/>
              </a:defRPr>
            </a:lvl1pPr>
            <a:lvl2pPr algn="r" rtl="0" eaLnBrk="0" fontAlgn="base" hangingPunct="0">
              <a:spcBef>
                <a:spcPct val="0"/>
              </a:spcBef>
              <a:spcAft>
                <a:spcPct val="0"/>
              </a:spcAft>
              <a:defRPr lang="en-US" sz="1950" b="1" dirty="0" smtClean="0">
                <a:solidFill>
                  <a:schemeClr val="tx1"/>
                </a:solidFill>
                <a:latin typeface="+mj-lt"/>
                <a:ea typeface="+mj-ea"/>
                <a:cs typeface="+mj-cs"/>
              </a:defRPr>
            </a:lvl2pPr>
            <a:lvl3pPr algn="r" rtl="0" eaLnBrk="0" fontAlgn="base" hangingPunct="0">
              <a:spcBef>
                <a:spcPct val="0"/>
              </a:spcBef>
              <a:spcAft>
                <a:spcPct val="0"/>
              </a:spcAft>
              <a:defRPr lang="en-US" sz="1950" b="1" dirty="0" smtClean="0">
                <a:solidFill>
                  <a:schemeClr val="tx1"/>
                </a:solidFill>
                <a:latin typeface="+mj-lt"/>
                <a:ea typeface="+mj-ea"/>
                <a:cs typeface="+mj-cs"/>
              </a:defRPr>
            </a:lvl3pPr>
            <a:lvl4pPr algn="r" rtl="0" eaLnBrk="0" fontAlgn="base" hangingPunct="0">
              <a:spcBef>
                <a:spcPct val="0"/>
              </a:spcBef>
              <a:spcAft>
                <a:spcPct val="0"/>
              </a:spcAft>
              <a:defRPr lang="en-US" sz="1950" b="1" dirty="0" smtClean="0">
                <a:solidFill>
                  <a:schemeClr val="tx1"/>
                </a:solidFill>
                <a:latin typeface="+mj-lt"/>
                <a:ea typeface="+mj-ea"/>
                <a:cs typeface="+mj-cs"/>
              </a:defRPr>
            </a:lvl4pPr>
            <a:lvl5pPr algn="r" rtl="0" eaLnBrk="0" fontAlgn="base" hangingPunct="0">
              <a:spcBef>
                <a:spcPct val="0"/>
              </a:spcBef>
              <a:spcAft>
                <a:spcPct val="0"/>
              </a:spcAft>
              <a:defRPr lang="en-US" sz="1950" b="1" dirty="0" smtClean="0">
                <a:solidFill>
                  <a:schemeClr val="tx1"/>
                </a:solidFill>
                <a:latin typeface="+mj-lt"/>
                <a:ea typeface="+mj-ea"/>
                <a:cs typeface="+mj-cs"/>
              </a:defRPr>
            </a:lvl5pPr>
          </a:lstStyle>
          <a:p>
            <a:pPr lvl="0"/>
            <a:r>
              <a:rPr lang="en-US" dirty="0"/>
              <a:t>Click to edit Master text styles</a:t>
            </a:r>
          </a:p>
        </p:txBody>
      </p:sp>
      <p:sp>
        <p:nvSpPr>
          <p:cNvPr id="3" name="Slide Number Placeholder 6">
            <a:extLst>
              <a:ext uri="{FF2B5EF4-FFF2-40B4-BE49-F238E27FC236}">
                <a16:creationId xmlns:a16="http://schemas.microsoft.com/office/drawing/2014/main" id="{7737BB6E-8C4A-0480-73BF-B9E5FF0A1F03}"/>
              </a:ext>
            </a:extLst>
          </p:cNvPr>
          <p:cNvSpPr>
            <a:spLocks noGrp="1"/>
          </p:cNvSpPr>
          <p:nvPr>
            <p:ph type="sldNum" sz="quarter" idx="12"/>
          </p:nvPr>
        </p:nvSpPr>
        <p:spPr/>
        <p:txBody>
          <a:bodyPr/>
          <a:lstStyle>
            <a:lvl1pPr algn="r">
              <a:defRPr sz="1000" baseline="0" smtClean="0">
                <a:solidFill>
                  <a:schemeClr val="tx1">
                    <a:tint val="75000"/>
                  </a:schemeClr>
                </a:solidFill>
                <a:latin typeface="Calibri" panose="020F0502020204030204" pitchFamily="34" charset="0"/>
                <a:ea typeface="DFKaiShu-GB5" panose="03000509000000000000" pitchFamily="65" charset="-128"/>
              </a:defRPr>
            </a:lvl1pPr>
          </a:lstStyle>
          <a:p>
            <a:pPr>
              <a:defRPr/>
            </a:pPr>
            <a:fld id="{0A72BECF-2DCF-4571-8AD6-783742354A8D}" type="slidenum">
              <a:rPr lang="en-US"/>
              <a:pPr>
                <a:defRPr/>
              </a:pPr>
              <a:t>‹#›</a:t>
            </a:fld>
            <a:endParaRPr lang="en-US" dirty="0"/>
          </a:p>
        </p:txBody>
      </p:sp>
    </p:spTree>
    <p:extLst>
      <p:ext uri="{BB962C8B-B14F-4D97-AF65-F5344CB8AC3E}">
        <p14:creationId xmlns:p14="http://schemas.microsoft.com/office/powerpoint/2010/main" val="2329536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Normal Page_white">
    <p:spTree>
      <p:nvGrpSpPr>
        <p:cNvPr id="1" name=""/>
        <p:cNvGrpSpPr/>
        <p:nvPr/>
      </p:nvGrpSpPr>
      <p:grpSpPr>
        <a:xfrm>
          <a:off x="0" y="0"/>
          <a:ext cx="0" cy="0"/>
          <a:chOff x="0" y="0"/>
          <a:chExt cx="0" cy="0"/>
        </a:xfrm>
      </p:grpSpPr>
      <p:sp>
        <p:nvSpPr>
          <p:cNvPr id="9" name="Title 1"/>
          <p:cNvSpPr>
            <a:spLocks noGrp="1"/>
          </p:cNvSpPr>
          <p:nvPr>
            <p:ph type="title"/>
          </p:nvPr>
        </p:nvSpPr>
        <p:spPr>
          <a:xfrm>
            <a:off x="342650" y="666727"/>
            <a:ext cx="6919173" cy="362407"/>
          </a:xfrm>
          <a:prstGeom prst="rect">
            <a:avLst/>
          </a:prstGeom>
        </p:spPr>
        <p:txBody>
          <a:bodyPr/>
          <a:lstStyle>
            <a:lvl1pPr>
              <a:defRPr sz="1950"/>
            </a:lvl1pPr>
          </a:lstStyle>
          <a:p>
            <a:r>
              <a:rPr lang="en-US"/>
              <a:t>Click to edit Master title style</a:t>
            </a:r>
            <a:endParaRPr lang="en-US" dirty="0"/>
          </a:p>
        </p:txBody>
      </p:sp>
      <p:sp>
        <p:nvSpPr>
          <p:cNvPr id="10" name="Content Placeholder 2"/>
          <p:cNvSpPr>
            <a:spLocks noGrp="1"/>
          </p:cNvSpPr>
          <p:nvPr>
            <p:ph idx="12"/>
          </p:nvPr>
        </p:nvSpPr>
        <p:spPr>
          <a:xfrm>
            <a:off x="792778" y="1333500"/>
            <a:ext cx="6469045" cy="1169551"/>
          </a:xfrm>
          <a:prstGeom prst="rect">
            <a:avLst/>
          </a:prstGeom>
        </p:spPr>
        <p:txBody>
          <a:bodyPr/>
          <a:lstStyle>
            <a:lvl1pPr>
              <a:buFont typeface="+mj-lt"/>
              <a:buAutoNum type="arabicPeriod"/>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5">
            <a:extLst>
              <a:ext uri="{FF2B5EF4-FFF2-40B4-BE49-F238E27FC236}">
                <a16:creationId xmlns:a16="http://schemas.microsoft.com/office/drawing/2014/main" id="{5FEA41CD-D6D3-E197-1B56-FAC093452AF7}"/>
              </a:ext>
            </a:extLst>
          </p:cNvPr>
          <p:cNvSpPr>
            <a:spLocks noGrp="1"/>
          </p:cNvSpPr>
          <p:nvPr>
            <p:ph type="ftr" sz="quarter" idx="13"/>
          </p:nvPr>
        </p:nvSpPr>
        <p:spPr/>
        <p:txBody>
          <a:bodyPr/>
          <a:lstStyle>
            <a:lvl1pPr>
              <a:defRPr/>
            </a:lvl1pPr>
          </a:lstStyle>
          <a:p>
            <a:pPr>
              <a:defRPr/>
            </a:pPr>
            <a:endParaRPr lang="en-US"/>
          </a:p>
        </p:txBody>
      </p:sp>
      <p:sp>
        <p:nvSpPr>
          <p:cNvPr id="3" name="Slide Number Placeholder 6">
            <a:extLst>
              <a:ext uri="{FF2B5EF4-FFF2-40B4-BE49-F238E27FC236}">
                <a16:creationId xmlns:a16="http://schemas.microsoft.com/office/drawing/2014/main" id="{63312854-1D91-784A-8315-8EB3337B252F}"/>
              </a:ext>
            </a:extLst>
          </p:cNvPr>
          <p:cNvSpPr>
            <a:spLocks noGrp="1"/>
          </p:cNvSpPr>
          <p:nvPr>
            <p:ph type="sldNum" sz="quarter" idx="14"/>
          </p:nvPr>
        </p:nvSpPr>
        <p:spPr/>
        <p:txBody>
          <a:bodyPr/>
          <a:lstStyle>
            <a:lvl1pPr>
              <a:defRPr/>
            </a:lvl1pPr>
          </a:lstStyle>
          <a:p>
            <a:pPr>
              <a:defRPr/>
            </a:pPr>
            <a:fld id="{E1A1D99F-4305-4417-8B31-71F672CDA4AD}" type="slidenum">
              <a:rPr lang="en-US"/>
              <a:pPr>
                <a:defRPr/>
              </a:pPr>
              <a:t>‹#›</a:t>
            </a:fld>
            <a:endParaRPr lang="en-US" dirty="0"/>
          </a:p>
        </p:txBody>
      </p:sp>
    </p:spTree>
    <p:extLst>
      <p:ext uri="{BB962C8B-B14F-4D97-AF65-F5344CB8AC3E}">
        <p14:creationId xmlns:p14="http://schemas.microsoft.com/office/powerpoint/2010/main" val="615940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White blank slide">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D72AB4D0-7C43-C467-5653-74CF977E2B0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39713" y="6353175"/>
            <a:ext cx="614362"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Placeholder 19"/>
          <p:cNvSpPr>
            <a:spLocks noGrp="1"/>
          </p:cNvSpPr>
          <p:nvPr>
            <p:ph type="body" sz="quarter" idx="15"/>
          </p:nvPr>
        </p:nvSpPr>
        <p:spPr>
          <a:xfrm>
            <a:off x="438749" y="515377"/>
            <a:ext cx="9056561" cy="374628"/>
          </a:xfrm>
          <a:prstGeom prst="rect">
            <a:avLst/>
          </a:prstGeom>
        </p:spPr>
        <p:txBody>
          <a:bodyPr tIns="0" bIns="0">
            <a:noAutofit/>
          </a:bodyPr>
          <a:lstStyle>
            <a:lvl1pPr marL="0" indent="0">
              <a:lnSpc>
                <a:spcPct val="100000"/>
              </a:lnSpc>
              <a:spcBef>
                <a:spcPts val="0"/>
              </a:spcBef>
              <a:buNone/>
              <a:defRPr sz="1950" b="1">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3" name="Text Placeholder 19"/>
          <p:cNvSpPr>
            <a:spLocks noGrp="1"/>
          </p:cNvSpPr>
          <p:nvPr>
            <p:ph type="body" sz="quarter" idx="16"/>
          </p:nvPr>
        </p:nvSpPr>
        <p:spPr>
          <a:xfrm>
            <a:off x="438749" y="905022"/>
            <a:ext cx="9056561" cy="374628"/>
          </a:xfrm>
          <a:prstGeom prst="rect">
            <a:avLst/>
          </a:prstGeom>
        </p:spPr>
        <p:txBody>
          <a:bodyPr tIns="0" bIns="0">
            <a:noAutofit/>
          </a:bodyPr>
          <a:lstStyle>
            <a:lvl1pPr marL="0" indent="0">
              <a:lnSpc>
                <a:spcPct val="100000"/>
              </a:lnSpc>
              <a:spcBef>
                <a:spcPts val="0"/>
              </a:spcBef>
              <a:buNone/>
              <a:defRPr sz="1300" b="1">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8" name="Text Placeholder 3"/>
          <p:cNvSpPr>
            <a:spLocks noGrp="1"/>
          </p:cNvSpPr>
          <p:nvPr>
            <p:ph type="body" sz="quarter" idx="17"/>
          </p:nvPr>
        </p:nvSpPr>
        <p:spPr>
          <a:xfrm>
            <a:off x="438750" y="1721959"/>
            <a:ext cx="9057803" cy="4352925"/>
          </a:xfrm>
          <a:prstGeom prst="rect">
            <a:avLst/>
          </a:prstGeom>
        </p:spPr>
        <p:txBody>
          <a:bodyPr>
            <a:normAutofit/>
          </a:bodyPr>
          <a:lstStyle>
            <a:lvl1pPr marL="0" indent="0">
              <a:buNone/>
              <a:defRPr sz="1138" b="0">
                <a:latin typeface="Arial" panose="020B0604020202020204" pitchFamily="34" charset="0"/>
                <a:cs typeface="Arial" panose="020B0604020202020204" pitchFamily="34" charset="0"/>
              </a:defRPr>
            </a:lvl1pPr>
            <a:lvl2pPr marL="371475" indent="0">
              <a:buClr>
                <a:srgbClr val="CC0000"/>
              </a:buClr>
              <a:buFont typeface="Arial" panose="020B0604020202020204" pitchFamily="34" charset="0"/>
              <a:buNone/>
              <a:defRPr sz="1138" b="0">
                <a:latin typeface="Arial" panose="020B0604020202020204" pitchFamily="34" charset="0"/>
                <a:cs typeface="Arial" panose="020B0604020202020204" pitchFamily="34" charset="0"/>
              </a:defRPr>
            </a:lvl2pPr>
            <a:lvl3pPr marL="928688" indent="-185738">
              <a:buFont typeface="Wingdings" panose="05000000000000000000" pitchFamily="2" charset="2"/>
              <a:buChar char="Ø"/>
              <a:defRPr sz="1138">
                <a:latin typeface="Arial" panose="020B0604020202020204" pitchFamily="34" charset="0"/>
                <a:cs typeface="Arial" panose="020B0604020202020204" pitchFamily="34" charset="0"/>
              </a:defRPr>
            </a:lvl3pPr>
            <a:lvl4pPr>
              <a:defRPr sz="1138">
                <a:latin typeface="Arial" panose="020B0604020202020204" pitchFamily="34" charset="0"/>
                <a:cs typeface="Arial" panose="020B0604020202020204" pitchFamily="34" charset="0"/>
              </a:defRPr>
            </a:lvl4pPr>
            <a:lvl5pPr>
              <a:defRPr sz="1138">
                <a:latin typeface="Arial" panose="020B0604020202020204" pitchFamily="34" charset="0"/>
                <a:cs typeface="Arial" panose="020B0604020202020204" pitchFamily="34" charset="0"/>
              </a:defRPr>
            </a:lvl5pPr>
          </a:lstStyle>
          <a:p>
            <a:pPr lvl="0"/>
            <a:r>
              <a:rPr lang="en-US"/>
              <a:t>Click to edit Master text styles</a:t>
            </a:r>
          </a:p>
        </p:txBody>
      </p:sp>
      <p:sp>
        <p:nvSpPr>
          <p:cNvPr id="3" name="Slide Number Placeholder 6">
            <a:extLst>
              <a:ext uri="{FF2B5EF4-FFF2-40B4-BE49-F238E27FC236}">
                <a16:creationId xmlns:a16="http://schemas.microsoft.com/office/drawing/2014/main" id="{3DDE2FC1-3662-9877-1300-BDFA7022597E}"/>
              </a:ext>
            </a:extLst>
          </p:cNvPr>
          <p:cNvSpPr>
            <a:spLocks noGrp="1"/>
          </p:cNvSpPr>
          <p:nvPr>
            <p:ph type="sldNum" sz="quarter" idx="18"/>
          </p:nvPr>
        </p:nvSpPr>
        <p:spPr>
          <a:xfrm>
            <a:off x="9496425" y="6361113"/>
            <a:ext cx="319088" cy="365125"/>
          </a:xfrm>
        </p:spPr>
        <p:txBody>
          <a:bodyPr anchor="b">
            <a:noAutofit/>
          </a:bodyPr>
          <a:lstStyle>
            <a:lvl1pPr algn="r">
              <a:defRPr sz="813" smtClean="0">
                <a:solidFill>
                  <a:schemeClr val="tx1">
                    <a:lumMod val="85000"/>
                    <a:lumOff val="15000"/>
                  </a:schemeClr>
                </a:solidFill>
                <a:latin typeface="Arial" panose="020B0604020202020204" pitchFamily="34" charset="0"/>
                <a:cs typeface="Arial" panose="020B0604020202020204" pitchFamily="34" charset="0"/>
              </a:defRPr>
            </a:lvl1pPr>
          </a:lstStyle>
          <a:p>
            <a:pPr>
              <a:defRPr/>
            </a:pPr>
            <a:fld id="{6E0E8EEA-8E3D-4251-9CD9-E9B73A785B8D}" type="slidenum">
              <a:rPr lang="en-US"/>
              <a:pPr>
                <a:defRPr/>
              </a:pPr>
              <a:t>‹#›</a:t>
            </a:fld>
            <a:endParaRPr lang="en-US" dirty="0"/>
          </a:p>
        </p:txBody>
      </p:sp>
    </p:spTree>
    <p:extLst>
      <p:ext uri="{BB962C8B-B14F-4D97-AF65-F5344CB8AC3E}">
        <p14:creationId xmlns:p14="http://schemas.microsoft.com/office/powerpoint/2010/main" val="2265794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Main">
    <p:spTree>
      <p:nvGrpSpPr>
        <p:cNvPr id="1" name=""/>
        <p:cNvGrpSpPr/>
        <p:nvPr/>
      </p:nvGrpSpPr>
      <p:grpSpPr>
        <a:xfrm>
          <a:off x="0" y="0"/>
          <a:ext cx="0" cy="0"/>
          <a:chOff x="0" y="0"/>
          <a:chExt cx="0" cy="0"/>
        </a:xfrm>
      </p:grpSpPr>
      <p:sp>
        <p:nvSpPr>
          <p:cNvPr id="3" name="Line 46">
            <a:extLst>
              <a:ext uri="{FF2B5EF4-FFF2-40B4-BE49-F238E27FC236}">
                <a16:creationId xmlns:a16="http://schemas.microsoft.com/office/drawing/2014/main" id="{3B52B2D7-2B46-F1B5-D342-D9C9E4D6F21D}"/>
              </a:ext>
            </a:extLst>
          </p:cNvPr>
          <p:cNvSpPr>
            <a:spLocks noChangeShapeType="1"/>
          </p:cNvSpPr>
          <p:nvPr userDrawn="1"/>
        </p:nvSpPr>
        <p:spPr bwMode="auto">
          <a:xfrm>
            <a:off x="304800" y="512763"/>
            <a:ext cx="9263063" cy="0"/>
          </a:xfrm>
          <a:prstGeom prst="line">
            <a:avLst/>
          </a:prstGeom>
          <a:noFill/>
          <a:ln w="19050">
            <a:solidFill>
              <a:schemeClr val="accent1"/>
            </a:solidFill>
            <a:round/>
            <a:headEnd/>
            <a:tailEnd/>
          </a:ln>
          <a:effectLst/>
        </p:spPr>
        <p:txBody>
          <a:bodyPr wrap="none" anchor="ctr"/>
          <a:lstStyle/>
          <a:p>
            <a:pPr defTabSz="742950" eaLnBrk="1" fontAlgn="auto" hangingPunct="1">
              <a:spcBef>
                <a:spcPts val="0"/>
              </a:spcBef>
              <a:spcAft>
                <a:spcPts val="0"/>
              </a:spcAft>
              <a:defRPr/>
            </a:pPr>
            <a:endParaRPr lang="en-SG" sz="1350">
              <a:solidFill>
                <a:srgbClr val="000000"/>
              </a:solidFill>
              <a:ea typeface="+mn-ea"/>
              <a:cs typeface="Calibri" pitchFamily="34" charset="0"/>
            </a:endParaRPr>
          </a:p>
        </p:txBody>
      </p:sp>
      <p:pic>
        <p:nvPicPr>
          <p:cNvPr id="4" name="Picture 5">
            <a:extLst>
              <a:ext uri="{FF2B5EF4-FFF2-40B4-BE49-F238E27FC236}">
                <a16:creationId xmlns:a16="http://schemas.microsoft.com/office/drawing/2014/main" id="{80A71DA4-654D-D089-8AFE-FD06196146E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15556" r="87183" b="65570"/>
          <a:stretch>
            <a:fillRect/>
          </a:stretch>
        </p:blipFill>
        <p:spPr bwMode="auto">
          <a:xfrm>
            <a:off x="-4229100" y="4105275"/>
            <a:ext cx="3425825" cy="161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6">
            <a:extLst>
              <a:ext uri="{FF2B5EF4-FFF2-40B4-BE49-F238E27FC236}">
                <a16:creationId xmlns:a16="http://schemas.microsoft.com/office/drawing/2014/main" id="{F402C5C9-4502-493B-340D-AAB12A82AD54}"/>
              </a:ext>
            </a:extLst>
          </p:cNvPr>
          <p:cNvSpPr>
            <a:spLocks noChangeArrowheads="1"/>
          </p:cNvSpPr>
          <p:nvPr userDrawn="1"/>
        </p:nvSpPr>
        <p:spPr bwMode="auto">
          <a:xfrm>
            <a:off x="-3049588" y="4497388"/>
            <a:ext cx="533400" cy="379412"/>
          </a:xfrm>
          <a:prstGeom prst="rect">
            <a:avLst/>
          </a:prstGeom>
          <a:solidFill>
            <a:srgbClr val="C0050A"/>
          </a:solidFill>
          <a:ln>
            <a:noFill/>
          </a:ln>
          <a:extLst>
            <a:ext uri="{91240B29-F687-4F45-9708-019B960494DF}">
              <a14:hiddenLine xmlns:a14="http://schemas.microsoft.com/office/drawing/2010/main" w="9525" algn="ctr">
                <a:solidFill>
                  <a:srgbClr val="000000"/>
                </a:solidFill>
                <a:round/>
                <a:headEnd/>
                <a:tailEnd/>
              </a14:hiddenLine>
            </a:ext>
          </a:extLst>
        </p:spPr>
        <p:txBody>
          <a:bodyPr lIns="68580" tIns="34290" rIns="68580" bIns="34290">
            <a:spAutoFit/>
          </a:bodyPr>
          <a:lstStyle>
            <a:lvl1pPr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742950" indent="-28575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11430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6002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20574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5146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9718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4290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8862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a:lstStyle>
          <a:p>
            <a:pPr algn="ctr" eaLnBrk="1" hangingPunct="1">
              <a:lnSpc>
                <a:spcPct val="120000"/>
              </a:lnSpc>
              <a:spcBef>
                <a:spcPct val="50000"/>
              </a:spcBef>
            </a:pPr>
            <a:endParaRPr lang="en-US" altLang="en-US" b="1">
              <a:solidFill>
                <a:srgbClr val="E6E6E6"/>
              </a:solidFill>
              <a:cs typeface="Arial" panose="020B0604020202020204" pitchFamily="34" charset="0"/>
            </a:endParaRPr>
          </a:p>
        </p:txBody>
      </p:sp>
      <p:sp>
        <p:nvSpPr>
          <p:cNvPr id="6" name="Rectangle 7">
            <a:extLst>
              <a:ext uri="{FF2B5EF4-FFF2-40B4-BE49-F238E27FC236}">
                <a16:creationId xmlns:a16="http://schemas.microsoft.com/office/drawing/2014/main" id="{7088E5B6-0D80-033A-FB1A-F3881D931584}"/>
              </a:ext>
            </a:extLst>
          </p:cNvPr>
          <p:cNvSpPr>
            <a:spLocks noChangeArrowheads="1"/>
          </p:cNvSpPr>
          <p:nvPr userDrawn="1"/>
        </p:nvSpPr>
        <p:spPr bwMode="auto">
          <a:xfrm>
            <a:off x="-2516188" y="4497388"/>
            <a:ext cx="533400" cy="379412"/>
          </a:xfrm>
          <a:prstGeom prst="rect">
            <a:avLst/>
          </a:prstGeom>
          <a:solidFill>
            <a:srgbClr val="FC8487"/>
          </a:solidFill>
          <a:ln>
            <a:noFill/>
          </a:ln>
          <a:extLst>
            <a:ext uri="{91240B29-F687-4F45-9708-019B960494DF}">
              <a14:hiddenLine xmlns:a14="http://schemas.microsoft.com/office/drawing/2010/main" w="9525" algn="ctr">
                <a:solidFill>
                  <a:srgbClr val="000000"/>
                </a:solidFill>
                <a:round/>
                <a:headEnd/>
                <a:tailEnd/>
              </a14:hiddenLine>
            </a:ext>
          </a:extLst>
        </p:spPr>
        <p:txBody>
          <a:bodyPr lIns="68580" tIns="34290" rIns="68580" bIns="34290">
            <a:spAutoFit/>
          </a:bodyPr>
          <a:lstStyle>
            <a:lvl1pPr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742950" indent="-28575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11430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6002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20574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5146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9718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4290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8862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a:lstStyle>
          <a:p>
            <a:pPr algn="ctr" eaLnBrk="1" hangingPunct="1">
              <a:lnSpc>
                <a:spcPct val="120000"/>
              </a:lnSpc>
              <a:spcBef>
                <a:spcPct val="50000"/>
              </a:spcBef>
            </a:pPr>
            <a:endParaRPr lang="en-US" altLang="en-US" b="1">
              <a:solidFill>
                <a:srgbClr val="E6E6E6"/>
              </a:solidFill>
              <a:cs typeface="Arial" panose="020B0604020202020204" pitchFamily="34" charset="0"/>
            </a:endParaRPr>
          </a:p>
        </p:txBody>
      </p:sp>
      <p:sp>
        <p:nvSpPr>
          <p:cNvPr id="7" name="Rectangle 8">
            <a:extLst>
              <a:ext uri="{FF2B5EF4-FFF2-40B4-BE49-F238E27FC236}">
                <a16:creationId xmlns:a16="http://schemas.microsoft.com/office/drawing/2014/main" id="{C3672A17-28A7-CE17-8AED-4411BF2239D3}"/>
              </a:ext>
            </a:extLst>
          </p:cNvPr>
          <p:cNvSpPr>
            <a:spLocks noChangeArrowheads="1"/>
          </p:cNvSpPr>
          <p:nvPr userDrawn="1"/>
        </p:nvSpPr>
        <p:spPr bwMode="auto">
          <a:xfrm>
            <a:off x="-2011363" y="4497388"/>
            <a:ext cx="533400" cy="379412"/>
          </a:xfrm>
          <a:prstGeom prst="rect">
            <a:avLst/>
          </a:prstGeom>
          <a:solidFill>
            <a:srgbClr val="FCECDE"/>
          </a:solidFill>
          <a:ln>
            <a:noFill/>
          </a:ln>
          <a:extLst>
            <a:ext uri="{91240B29-F687-4F45-9708-019B960494DF}">
              <a14:hiddenLine xmlns:a14="http://schemas.microsoft.com/office/drawing/2010/main" w="9525" algn="ctr">
                <a:solidFill>
                  <a:srgbClr val="000000"/>
                </a:solidFill>
                <a:round/>
                <a:headEnd/>
                <a:tailEnd/>
              </a14:hiddenLine>
            </a:ext>
          </a:extLst>
        </p:spPr>
        <p:txBody>
          <a:bodyPr lIns="68580" tIns="34290" rIns="68580" bIns="34290">
            <a:spAutoFit/>
          </a:bodyPr>
          <a:lstStyle>
            <a:lvl1pPr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742950" indent="-28575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11430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6002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20574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5146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9718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4290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8862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a:lstStyle>
          <a:p>
            <a:pPr algn="ctr" eaLnBrk="1" hangingPunct="1">
              <a:lnSpc>
                <a:spcPct val="120000"/>
              </a:lnSpc>
              <a:spcBef>
                <a:spcPct val="50000"/>
              </a:spcBef>
            </a:pPr>
            <a:endParaRPr lang="en-US" altLang="en-US" b="1">
              <a:solidFill>
                <a:srgbClr val="E6E6E6"/>
              </a:solidFill>
              <a:cs typeface="Arial" panose="020B0604020202020204" pitchFamily="34" charset="0"/>
            </a:endParaRPr>
          </a:p>
        </p:txBody>
      </p:sp>
      <p:sp>
        <p:nvSpPr>
          <p:cNvPr id="8" name="Rectangle 18">
            <a:extLst>
              <a:ext uri="{FF2B5EF4-FFF2-40B4-BE49-F238E27FC236}">
                <a16:creationId xmlns:a16="http://schemas.microsoft.com/office/drawing/2014/main" id="{7DDD9021-C887-7A8F-6A55-EAAA4936F83B}"/>
              </a:ext>
            </a:extLst>
          </p:cNvPr>
          <p:cNvSpPr>
            <a:spLocks noChangeArrowheads="1"/>
          </p:cNvSpPr>
          <p:nvPr userDrawn="1"/>
        </p:nvSpPr>
        <p:spPr bwMode="auto">
          <a:xfrm>
            <a:off x="-2516188" y="3879850"/>
            <a:ext cx="533400" cy="379413"/>
          </a:xfrm>
          <a:prstGeom prst="rect">
            <a:avLst/>
          </a:prstGeom>
          <a:solidFill>
            <a:srgbClr val="BFBFBF"/>
          </a:solidFill>
          <a:ln>
            <a:noFill/>
          </a:ln>
          <a:extLst>
            <a:ext uri="{91240B29-F687-4F45-9708-019B960494DF}">
              <a14:hiddenLine xmlns:a14="http://schemas.microsoft.com/office/drawing/2010/main" w="9525" algn="ctr">
                <a:solidFill>
                  <a:srgbClr val="000000"/>
                </a:solidFill>
                <a:round/>
                <a:headEnd/>
                <a:tailEnd/>
              </a14:hiddenLine>
            </a:ext>
          </a:extLst>
        </p:spPr>
        <p:txBody>
          <a:bodyPr lIns="68580" tIns="34290" rIns="68580" bIns="34290">
            <a:spAutoFit/>
          </a:bodyPr>
          <a:lstStyle>
            <a:lvl1pPr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742950" indent="-28575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11430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6002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20574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5146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9718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4290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8862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a:lstStyle>
          <a:p>
            <a:pPr algn="ctr" eaLnBrk="1" hangingPunct="1">
              <a:lnSpc>
                <a:spcPct val="120000"/>
              </a:lnSpc>
              <a:spcBef>
                <a:spcPct val="50000"/>
              </a:spcBef>
            </a:pPr>
            <a:endParaRPr lang="en-US" altLang="en-US" b="1">
              <a:solidFill>
                <a:srgbClr val="E6E6E6"/>
              </a:solidFill>
              <a:cs typeface="Arial" panose="020B0604020202020204" pitchFamily="34" charset="0"/>
            </a:endParaRPr>
          </a:p>
        </p:txBody>
      </p:sp>
      <p:sp>
        <p:nvSpPr>
          <p:cNvPr id="9" name="Rectangle 8">
            <a:extLst>
              <a:ext uri="{FF2B5EF4-FFF2-40B4-BE49-F238E27FC236}">
                <a16:creationId xmlns:a16="http://schemas.microsoft.com/office/drawing/2014/main" id="{5A887A19-6C3B-2C4D-CA11-2ED88E6BA0E4}"/>
              </a:ext>
            </a:extLst>
          </p:cNvPr>
          <p:cNvSpPr/>
          <p:nvPr userDrawn="1"/>
        </p:nvSpPr>
        <p:spPr bwMode="auto">
          <a:xfrm>
            <a:off x="-1477963" y="4497388"/>
            <a:ext cx="533400" cy="379412"/>
          </a:xfrm>
          <a:prstGeom prst="rect">
            <a:avLst/>
          </a:prstGeom>
          <a:solidFill>
            <a:schemeClr val="accent1">
              <a:lumMod val="75000"/>
            </a:schemeClr>
          </a:solidFill>
          <a:ln w="9525" cap="flat" cmpd="sng" algn="ctr">
            <a:noFill/>
            <a:prstDash val="solid"/>
            <a:round/>
            <a:headEnd type="none" w="med" len="med"/>
            <a:tailEnd type="none" w="med" len="med"/>
          </a:ln>
          <a:effectLst/>
        </p:spPr>
        <p:txBody>
          <a:bodyPr lIns="68580" tIns="34290" rIns="68580" bIns="34290">
            <a:spAutoFit/>
          </a:bodyPr>
          <a:lstStyle/>
          <a:p>
            <a:pPr algn="ctr" defTabSz="685817" eaLnBrk="1" hangingPunct="1">
              <a:lnSpc>
                <a:spcPct val="120000"/>
              </a:lnSpc>
              <a:spcBef>
                <a:spcPct val="50000"/>
              </a:spcBef>
              <a:defRPr/>
            </a:pPr>
            <a:endParaRPr lang="en-US" b="1">
              <a:solidFill>
                <a:srgbClr val="E6E6E6"/>
              </a:solidFill>
              <a:ea typeface="+mn-ea"/>
              <a:cs typeface="Arial" pitchFamily="34" charset="0"/>
            </a:endParaRPr>
          </a:p>
        </p:txBody>
      </p:sp>
      <p:sp>
        <p:nvSpPr>
          <p:cNvPr id="10" name="Rectangle 20">
            <a:extLst>
              <a:ext uri="{FF2B5EF4-FFF2-40B4-BE49-F238E27FC236}">
                <a16:creationId xmlns:a16="http://schemas.microsoft.com/office/drawing/2014/main" id="{7607302A-6114-6AF4-0D71-0DA6BFD29A13}"/>
              </a:ext>
            </a:extLst>
          </p:cNvPr>
          <p:cNvSpPr>
            <a:spLocks noChangeArrowheads="1"/>
          </p:cNvSpPr>
          <p:nvPr userDrawn="1"/>
        </p:nvSpPr>
        <p:spPr bwMode="auto">
          <a:xfrm>
            <a:off x="-3582988" y="3879850"/>
            <a:ext cx="533400" cy="379413"/>
          </a:xfrm>
          <a:prstGeom prst="rect">
            <a:avLst/>
          </a:prstGeom>
          <a:solidFill>
            <a:srgbClr val="626262"/>
          </a:solidFill>
          <a:ln>
            <a:noFill/>
          </a:ln>
          <a:extLst>
            <a:ext uri="{91240B29-F687-4F45-9708-019B960494DF}">
              <a14:hiddenLine xmlns:a14="http://schemas.microsoft.com/office/drawing/2010/main" w="9525" algn="ctr">
                <a:solidFill>
                  <a:srgbClr val="000000"/>
                </a:solidFill>
                <a:round/>
                <a:headEnd/>
                <a:tailEnd/>
              </a14:hiddenLine>
            </a:ext>
          </a:extLst>
        </p:spPr>
        <p:txBody>
          <a:bodyPr lIns="68580" tIns="34290" rIns="68580" bIns="34290">
            <a:spAutoFit/>
          </a:bodyPr>
          <a:lstStyle>
            <a:lvl1pPr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742950" indent="-28575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11430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6002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20574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5146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9718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4290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8862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a:lstStyle>
          <a:p>
            <a:pPr algn="ctr" eaLnBrk="1" hangingPunct="1">
              <a:lnSpc>
                <a:spcPct val="120000"/>
              </a:lnSpc>
              <a:spcBef>
                <a:spcPct val="50000"/>
              </a:spcBef>
            </a:pPr>
            <a:endParaRPr lang="en-US" altLang="en-US" b="1">
              <a:solidFill>
                <a:srgbClr val="E6E6E6"/>
              </a:solidFill>
              <a:cs typeface="Arial" panose="020B0604020202020204" pitchFamily="34" charset="0"/>
            </a:endParaRPr>
          </a:p>
        </p:txBody>
      </p:sp>
      <p:sp>
        <p:nvSpPr>
          <p:cNvPr id="11" name="Rectangle 21">
            <a:extLst>
              <a:ext uri="{FF2B5EF4-FFF2-40B4-BE49-F238E27FC236}">
                <a16:creationId xmlns:a16="http://schemas.microsoft.com/office/drawing/2014/main" id="{549DB82D-2DEA-5797-CF51-E86B87F49F02}"/>
              </a:ext>
            </a:extLst>
          </p:cNvPr>
          <p:cNvSpPr>
            <a:spLocks noChangeArrowheads="1"/>
          </p:cNvSpPr>
          <p:nvPr userDrawn="1"/>
        </p:nvSpPr>
        <p:spPr bwMode="auto">
          <a:xfrm>
            <a:off x="-1985963" y="3879850"/>
            <a:ext cx="533400" cy="379413"/>
          </a:xfrm>
          <a:prstGeom prst="rect">
            <a:avLst/>
          </a:prstGeom>
          <a:solidFill>
            <a:srgbClr val="DED3C8"/>
          </a:solidFill>
          <a:ln>
            <a:noFill/>
          </a:ln>
          <a:extLst>
            <a:ext uri="{91240B29-F687-4F45-9708-019B960494DF}">
              <a14:hiddenLine xmlns:a14="http://schemas.microsoft.com/office/drawing/2010/main" w="9525" algn="ctr">
                <a:solidFill>
                  <a:srgbClr val="000000"/>
                </a:solidFill>
                <a:round/>
                <a:headEnd/>
                <a:tailEnd/>
              </a14:hiddenLine>
            </a:ext>
          </a:extLst>
        </p:spPr>
        <p:txBody>
          <a:bodyPr lIns="68580" tIns="34290" rIns="68580" bIns="34290">
            <a:spAutoFit/>
          </a:bodyPr>
          <a:lstStyle>
            <a:lvl1pPr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742950" indent="-28575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11430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16002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2057400" indent="-228600" defTabSz="685800">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5146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29718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34290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3886200" indent="-228600" defTabSz="685800" fontAlgn="base">
              <a:spcBef>
                <a:spcPct val="0"/>
              </a:spcBef>
              <a:spcAft>
                <a:spcPct val="0"/>
              </a:spcAft>
              <a:defRPr>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a:lstStyle>
          <a:p>
            <a:pPr algn="ctr" eaLnBrk="1" hangingPunct="1">
              <a:lnSpc>
                <a:spcPct val="120000"/>
              </a:lnSpc>
              <a:spcBef>
                <a:spcPct val="50000"/>
              </a:spcBef>
            </a:pPr>
            <a:endParaRPr lang="en-US" altLang="en-US" b="1">
              <a:solidFill>
                <a:srgbClr val="E6E6E6"/>
              </a:solidFill>
              <a:cs typeface="Arial" panose="020B0604020202020204" pitchFamily="34" charset="0"/>
            </a:endParaRPr>
          </a:p>
        </p:txBody>
      </p:sp>
      <p:sp>
        <p:nvSpPr>
          <p:cNvPr id="12" name="Rectangle 11">
            <a:extLst>
              <a:ext uri="{FF2B5EF4-FFF2-40B4-BE49-F238E27FC236}">
                <a16:creationId xmlns:a16="http://schemas.microsoft.com/office/drawing/2014/main" id="{24E63767-C110-A50F-DCBE-6A78E592A603}"/>
              </a:ext>
            </a:extLst>
          </p:cNvPr>
          <p:cNvSpPr/>
          <p:nvPr userDrawn="1"/>
        </p:nvSpPr>
        <p:spPr bwMode="auto">
          <a:xfrm>
            <a:off x="-2132013" y="814388"/>
            <a:ext cx="1328738" cy="330200"/>
          </a:xfrm>
          <a:prstGeom prst="rect">
            <a:avLst/>
          </a:prstGeom>
          <a:solidFill>
            <a:srgbClr val="EF0000"/>
          </a:solidFill>
          <a:ln>
            <a:noFill/>
          </a:ln>
          <a:effectLst/>
        </p:spPr>
        <p:txBody>
          <a:bodyPr lIns="68580" tIns="34290" rIns="68580" bIns="34290" anchor="ctr"/>
          <a:lstStyle/>
          <a:p>
            <a:pPr defTabSz="685817">
              <a:defRPr/>
            </a:pPr>
            <a:r>
              <a:rPr lang="en-SG" sz="750">
                <a:solidFill>
                  <a:srgbClr val="FFFFFF"/>
                </a:solidFill>
                <a:latin typeface="Arial" panose="020B0604020202020204" pitchFamily="34" charset="0"/>
                <a:ea typeface="+mn-ea"/>
                <a:cs typeface="Arial" charset="0"/>
              </a:rPr>
              <a:t>RGB 204 0 0</a:t>
            </a:r>
          </a:p>
        </p:txBody>
      </p:sp>
      <p:sp>
        <p:nvSpPr>
          <p:cNvPr id="13" name="Rectangle 12">
            <a:extLst>
              <a:ext uri="{FF2B5EF4-FFF2-40B4-BE49-F238E27FC236}">
                <a16:creationId xmlns:a16="http://schemas.microsoft.com/office/drawing/2014/main" id="{49018AFE-8C7E-0147-449B-A21245D02B09}"/>
              </a:ext>
            </a:extLst>
          </p:cNvPr>
          <p:cNvSpPr/>
          <p:nvPr userDrawn="1"/>
        </p:nvSpPr>
        <p:spPr bwMode="auto">
          <a:xfrm>
            <a:off x="-2132013" y="1319213"/>
            <a:ext cx="1328738" cy="330200"/>
          </a:xfrm>
          <a:prstGeom prst="rect">
            <a:avLst/>
          </a:prstGeom>
          <a:solidFill>
            <a:srgbClr val="010101"/>
          </a:solidFill>
          <a:ln>
            <a:noFill/>
          </a:ln>
          <a:effectLst/>
        </p:spPr>
        <p:txBody>
          <a:bodyPr lIns="68580" tIns="34290" rIns="68580" bIns="34290" anchor="ctr"/>
          <a:lstStyle/>
          <a:p>
            <a:pPr defTabSz="742950">
              <a:defRPr/>
            </a:pPr>
            <a:r>
              <a:rPr lang="en-SG" sz="750">
                <a:solidFill>
                  <a:srgbClr val="FFFFFF"/>
                </a:solidFill>
                <a:latin typeface="Arial" panose="020B0604020202020204" pitchFamily="34" charset="0"/>
                <a:ea typeface="+mn-ea"/>
                <a:cs typeface="Arial" charset="0"/>
              </a:rPr>
              <a:t>RGB 0 0 0</a:t>
            </a:r>
          </a:p>
        </p:txBody>
      </p:sp>
      <p:sp>
        <p:nvSpPr>
          <p:cNvPr id="14" name="Rectangle 13">
            <a:extLst>
              <a:ext uri="{FF2B5EF4-FFF2-40B4-BE49-F238E27FC236}">
                <a16:creationId xmlns:a16="http://schemas.microsoft.com/office/drawing/2014/main" id="{AE32D02C-8F31-F5B4-F36A-782993012E18}"/>
              </a:ext>
            </a:extLst>
          </p:cNvPr>
          <p:cNvSpPr/>
          <p:nvPr userDrawn="1"/>
        </p:nvSpPr>
        <p:spPr bwMode="auto">
          <a:xfrm>
            <a:off x="-2132013" y="1824038"/>
            <a:ext cx="1328738" cy="330200"/>
          </a:xfrm>
          <a:prstGeom prst="rect">
            <a:avLst/>
          </a:prstGeom>
          <a:solidFill>
            <a:srgbClr val="F89A1F"/>
          </a:solidFill>
          <a:ln>
            <a:noFill/>
          </a:ln>
          <a:effectLst/>
        </p:spPr>
        <p:txBody>
          <a:bodyPr lIns="68580" tIns="34290" rIns="68580" bIns="34290" anchor="ctr"/>
          <a:lstStyle/>
          <a:p>
            <a:pPr defTabSz="742950">
              <a:defRPr/>
            </a:pPr>
            <a:r>
              <a:rPr lang="en-SG" sz="750">
                <a:solidFill>
                  <a:srgbClr val="FFFFFF"/>
                </a:solidFill>
                <a:latin typeface="Arial" panose="020B0604020202020204" pitchFamily="34" charset="0"/>
                <a:ea typeface="+mn-ea"/>
                <a:cs typeface="Arial" charset="0"/>
              </a:rPr>
              <a:t>RGB 236 154 0</a:t>
            </a:r>
          </a:p>
        </p:txBody>
      </p:sp>
      <p:sp>
        <p:nvSpPr>
          <p:cNvPr id="15" name="Rectangle 14">
            <a:extLst>
              <a:ext uri="{FF2B5EF4-FFF2-40B4-BE49-F238E27FC236}">
                <a16:creationId xmlns:a16="http://schemas.microsoft.com/office/drawing/2014/main" id="{18209D45-94BE-9214-AAFA-6F2B9DB835B2}"/>
              </a:ext>
            </a:extLst>
          </p:cNvPr>
          <p:cNvSpPr/>
          <p:nvPr userDrawn="1"/>
        </p:nvSpPr>
        <p:spPr bwMode="auto">
          <a:xfrm>
            <a:off x="-2132013" y="2330450"/>
            <a:ext cx="1328738" cy="330200"/>
          </a:xfrm>
          <a:prstGeom prst="rect">
            <a:avLst/>
          </a:prstGeom>
          <a:solidFill>
            <a:srgbClr val="F2614C"/>
          </a:solidFill>
          <a:ln>
            <a:noFill/>
          </a:ln>
          <a:effectLst/>
        </p:spPr>
        <p:txBody>
          <a:bodyPr lIns="68580" tIns="34290" rIns="68580" bIns="34290" anchor="ctr"/>
          <a:lstStyle/>
          <a:p>
            <a:pPr defTabSz="742950">
              <a:defRPr/>
            </a:pPr>
            <a:r>
              <a:rPr lang="en-SG" sz="750">
                <a:solidFill>
                  <a:srgbClr val="FFFFFF"/>
                </a:solidFill>
                <a:latin typeface="Arial" panose="020B0604020202020204" pitchFamily="34" charset="0"/>
                <a:ea typeface="+mn-ea"/>
                <a:cs typeface="Arial" charset="0"/>
              </a:rPr>
              <a:t>RGB 255 96 66</a:t>
            </a:r>
          </a:p>
        </p:txBody>
      </p:sp>
      <p:sp>
        <p:nvSpPr>
          <p:cNvPr id="16" name="Rectangle 15">
            <a:extLst>
              <a:ext uri="{FF2B5EF4-FFF2-40B4-BE49-F238E27FC236}">
                <a16:creationId xmlns:a16="http://schemas.microsoft.com/office/drawing/2014/main" id="{9103C32E-C697-541C-2286-0446A30FC165}"/>
              </a:ext>
            </a:extLst>
          </p:cNvPr>
          <p:cNvSpPr/>
          <p:nvPr userDrawn="1"/>
        </p:nvSpPr>
        <p:spPr bwMode="auto">
          <a:xfrm>
            <a:off x="-2132013" y="2835275"/>
            <a:ext cx="1328738" cy="330200"/>
          </a:xfrm>
          <a:prstGeom prst="rect">
            <a:avLst/>
          </a:prstGeom>
          <a:solidFill>
            <a:srgbClr val="EE3D6B"/>
          </a:solidFill>
          <a:ln>
            <a:noFill/>
          </a:ln>
          <a:effectLst/>
        </p:spPr>
        <p:txBody>
          <a:bodyPr lIns="68580" tIns="34290" rIns="68580" bIns="34290" anchor="ctr"/>
          <a:lstStyle/>
          <a:p>
            <a:pPr defTabSz="742950">
              <a:defRPr/>
            </a:pPr>
            <a:r>
              <a:rPr lang="en-SG" sz="750">
                <a:solidFill>
                  <a:srgbClr val="FFFFFF"/>
                </a:solidFill>
                <a:latin typeface="Arial" panose="020B0604020202020204" pitchFamily="34" charset="0"/>
                <a:ea typeface="+mn-ea"/>
                <a:cs typeface="Arial" charset="0"/>
              </a:rPr>
              <a:t>RGB 253 56 102</a:t>
            </a:r>
          </a:p>
        </p:txBody>
      </p:sp>
      <p:sp>
        <p:nvSpPr>
          <p:cNvPr id="17" name="Rectangle 16">
            <a:extLst>
              <a:ext uri="{FF2B5EF4-FFF2-40B4-BE49-F238E27FC236}">
                <a16:creationId xmlns:a16="http://schemas.microsoft.com/office/drawing/2014/main" id="{9AF0B1D6-B635-6333-6669-79CB93A65B60}"/>
              </a:ext>
            </a:extLst>
          </p:cNvPr>
          <p:cNvSpPr/>
          <p:nvPr userDrawn="1"/>
        </p:nvSpPr>
        <p:spPr bwMode="auto">
          <a:xfrm>
            <a:off x="-2132013" y="3341688"/>
            <a:ext cx="1328738" cy="330200"/>
          </a:xfrm>
          <a:prstGeom prst="rect">
            <a:avLst/>
          </a:prstGeom>
          <a:solidFill>
            <a:srgbClr val="7862AB"/>
          </a:solidFill>
          <a:ln>
            <a:noFill/>
          </a:ln>
          <a:effectLst/>
        </p:spPr>
        <p:txBody>
          <a:bodyPr lIns="68580" tIns="34290" rIns="68580" bIns="34290" anchor="ctr"/>
          <a:lstStyle/>
          <a:p>
            <a:pPr defTabSz="742950">
              <a:defRPr/>
            </a:pPr>
            <a:r>
              <a:rPr lang="en-SG" sz="750">
                <a:solidFill>
                  <a:srgbClr val="FFFFFF"/>
                </a:solidFill>
                <a:latin typeface="Arial" panose="020B0604020202020204" pitchFamily="34" charset="0"/>
                <a:ea typeface="+mn-ea"/>
                <a:cs typeface="Arial" charset="0"/>
              </a:rPr>
              <a:t>RGB 134 87 255</a:t>
            </a:r>
          </a:p>
        </p:txBody>
      </p:sp>
      <p:sp>
        <p:nvSpPr>
          <p:cNvPr id="18" name="Rectangle 17">
            <a:extLst>
              <a:ext uri="{FF2B5EF4-FFF2-40B4-BE49-F238E27FC236}">
                <a16:creationId xmlns:a16="http://schemas.microsoft.com/office/drawing/2014/main" id="{A3B83A29-03FF-4365-3797-073CAAD758AE}"/>
              </a:ext>
            </a:extLst>
          </p:cNvPr>
          <p:cNvSpPr/>
          <p:nvPr userDrawn="1"/>
        </p:nvSpPr>
        <p:spPr bwMode="auto">
          <a:xfrm>
            <a:off x="-3567113" y="2330450"/>
            <a:ext cx="1327150" cy="330200"/>
          </a:xfrm>
          <a:prstGeom prst="rect">
            <a:avLst/>
          </a:prstGeom>
          <a:solidFill>
            <a:srgbClr val="F7864D"/>
          </a:solidFill>
          <a:ln>
            <a:noFill/>
          </a:ln>
          <a:effectLst/>
        </p:spPr>
        <p:txBody>
          <a:bodyPr lIns="68580" tIns="34290" rIns="68580" bIns="34290" anchor="ctr"/>
          <a:lstStyle/>
          <a:p>
            <a:pPr defTabSz="742950">
              <a:defRPr/>
            </a:pPr>
            <a:r>
              <a:rPr lang="en-SG" sz="750">
                <a:solidFill>
                  <a:srgbClr val="FFFFFF"/>
                </a:solidFill>
                <a:latin typeface="Arial" panose="020B0604020202020204" pitchFamily="34" charset="0"/>
                <a:ea typeface="+mn-ea"/>
                <a:cs typeface="Arial" charset="0"/>
              </a:rPr>
              <a:t>RGB 255 136 68</a:t>
            </a:r>
          </a:p>
        </p:txBody>
      </p:sp>
      <p:sp>
        <p:nvSpPr>
          <p:cNvPr id="19" name="Rectangle 18">
            <a:extLst>
              <a:ext uri="{FF2B5EF4-FFF2-40B4-BE49-F238E27FC236}">
                <a16:creationId xmlns:a16="http://schemas.microsoft.com/office/drawing/2014/main" id="{8BDD72E3-5751-B59D-0C07-E8C000734E6E}"/>
              </a:ext>
            </a:extLst>
          </p:cNvPr>
          <p:cNvSpPr/>
          <p:nvPr userDrawn="1"/>
        </p:nvSpPr>
        <p:spPr bwMode="auto">
          <a:xfrm>
            <a:off x="-3567113" y="2835275"/>
            <a:ext cx="1327150" cy="330200"/>
          </a:xfrm>
          <a:prstGeom prst="rect">
            <a:avLst/>
          </a:prstGeom>
          <a:solidFill>
            <a:srgbClr val="E13E97"/>
          </a:solidFill>
          <a:ln>
            <a:noFill/>
          </a:ln>
          <a:effectLst/>
        </p:spPr>
        <p:txBody>
          <a:bodyPr lIns="68580" tIns="34290" rIns="68580" bIns="34290" anchor="ctr"/>
          <a:lstStyle/>
          <a:p>
            <a:pPr defTabSz="742950">
              <a:defRPr/>
            </a:pPr>
            <a:r>
              <a:rPr lang="en-SG" sz="750">
                <a:solidFill>
                  <a:srgbClr val="FFFFFF"/>
                </a:solidFill>
                <a:latin typeface="Arial" panose="020B0604020202020204" pitchFamily="34" charset="0"/>
                <a:ea typeface="+mn-ea"/>
                <a:cs typeface="Arial" charset="0"/>
              </a:rPr>
              <a:t>RGB 217 23 173</a:t>
            </a:r>
          </a:p>
        </p:txBody>
      </p:sp>
      <p:sp>
        <p:nvSpPr>
          <p:cNvPr id="2" name="Title 1"/>
          <p:cNvSpPr>
            <a:spLocks noGrp="1"/>
          </p:cNvSpPr>
          <p:nvPr>
            <p:ph type="title"/>
          </p:nvPr>
        </p:nvSpPr>
        <p:spPr>
          <a:xfrm>
            <a:off x="282321" y="232402"/>
            <a:ext cx="9264587" cy="342401"/>
          </a:xfrm>
        </p:spPr>
        <p:txBody>
          <a:bodyPr/>
          <a:lstStyle>
            <a:lvl1pPr>
              <a:defRPr kumimoji="0" lang="en-SG" sz="1625" i="0" u="none" strike="noStrike" cap="none" spc="0" normalizeH="0" baseline="0" dirty="0">
                <a:ln>
                  <a:noFill/>
                </a:ln>
                <a:solidFill>
                  <a:srgbClr val="000000"/>
                </a:solidFill>
                <a:effectLst/>
                <a:uLnTx/>
                <a:uFillTx/>
                <a:latin typeface="Calibri"/>
                <a:ea typeface="Calibri"/>
                <a:cs typeface="Calibri"/>
              </a:defRPr>
            </a:lvl1pPr>
          </a:lstStyle>
          <a:p>
            <a:pPr lvl="0"/>
            <a:r>
              <a:rPr lang="en-US" dirty="0"/>
              <a:t>Click to edit Master title style</a:t>
            </a:r>
            <a:endParaRPr lang="en-SG" dirty="0"/>
          </a:p>
        </p:txBody>
      </p:sp>
      <p:sp>
        <p:nvSpPr>
          <p:cNvPr id="20" name="Footer Placeholder 3">
            <a:extLst>
              <a:ext uri="{FF2B5EF4-FFF2-40B4-BE49-F238E27FC236}">
                <a16:creationId xmlns:a16="http://schemas.microsoft.com/office/drawing/2014/main" id="{09E18C26-49C0-2302-05BA-E099C4B8B82C}"/>
              </a:ext>
            </a:extLst>
          </p:cNvPr>
          <p:cNvSpPr>
            <a:spLocks noGrp="1"/>
          </p:cNvSpPr>
          <p:nvPr>
            <p:ph type="ftr" sz="quarter" idx="10"/>
          </p:nvPr>
        </p:nvSpPr>
        <p:spPr>
          <a:xfrm>
            <a:off x="304800" y="6589713"/>
            <a:ext cx="7207250" cy="115887"/>
          </a:xfrm>
        </p:spPr>
        <p:txBody>
          <a:bodyPr/>
          <a:lstStyle>
            <a:lvl1pPr algn="ctr" defTabSz="742950" fontAlgn="base">
              <a:spcBef>
                <a:spcPct val="0"/>
              </a:spcBef>
              <a:spcAft>
                <a:spcPct val="0"/>
              </a:spcAft>
              <a:defRPr sz="750" b="0" i="0">
                <a:solidFill>
                  <a:srgbClr val="000000"/>
                </a:solidFill>
                <a:latin typeface="Calibri" panose="020F0502020204030204" pitchFamily="34" charset="0"/>
                <a:ea typeface="+mn-ea"/>
                <a:cs typeface="Arial" charset="0"/>
              </a:defRPr>
            </a:lvl1pPr>
          </a:lstStyle>
          <a:p>
            <a:pPr>
              <a:defRPr/>
            </a:pPr>
            <a:endParaRPr lang="en-SG"/>
          </a:p>
        </p:txBody>
      </p:sp>
      <p:sp>
        <p:nvSpPr>
          <p:cNvPr id="21" name="Slide Number Placeholder 4">
            <a:extLst>
              <a:ext uri="{FF2B5EF4-FFF2-40B4-BE49-F238E27FC236}">
                <a16:creationId xmlns:a16="http://schemas.microsoft.com/office/drawing/2014/main" id="{13A11C5E-302C-BDDC-7112-73B79EA01002}"/>
              </a:ext>
            </a:extLst>
          </p:cNvPr>
          <p:cNvSpPr>
            <a:spLocks noGrp="1"/>
          </p:cNvSpPr>
          <p:nvPr>
            <p:ph type="sldNum" sz="quarter" idx="11"/>
          </p:nvPr>
        </p:nvSpPr>
        <p:spPr>
          <a:xfrm>
            <a:off x="9709150" y="6646863"/>
            <a:ext cx="274638" cy="184150"/>
          </a:xfrm>
        </p:spPr>
        <p:txBody>
          <a:bodyPr anchor="b"/>
          <a:lstStyle>
            <a:lvl1pPr algn="l" defTabSz="742950" fontAlgn="base">
              <a:spcBef>
                <a:spcPct val="0"/>
              </a:spcBef>
              <a:spcAft>
                <a:spcPct val="0"/>
              </a:spcAft>
              <a:defRPr sz="600" b="0" smtClean="0">
                <a:solidFill>
                  <a:srgbClr val="626262"/>
                </a:solidFill>
                <a:latin typeface="Calibri" panose="020F0502020204030204" pitchFamily="34" charset="0"/>
                <a:ea typeface="+mn-ea"/>
                <a:cs typeface="Arial" charset="0"/>
              </a:defRPr>
            </a:lvl1pPr>
          </a:lstStyle>
          <a:p>
            <a:pPr>
              <a:defRPr/>
            </a:pPr>
            <a:fld id="{08C82CDC-3CF5-4157-A86B-4E9A70A4861B}" type="slidenum">
              <a:rPr lang="en-SG"/>
              <a:pPr>
                <a:defRPr/>
              </a:pPr>
              <a:t>‹#›</a:t>
            </a:fld>
            <a:endParaRPr lang="en-SG"/>
          </a:p>
        </p:txBody>
      </p:sp>
    </p:spTree>
    <p:extLst>
      <p:ext uri="{BB962C8B-B14F-4D97-AF65-F5344CB8AC3E}">
        <p14:creationId xmlns:p14="http://schemas.microsoft.com/office/powerpoint/2010/main" val="36216149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EB7A01E-0BA6-6DE6-61DE-C2BF9207507A}"/>
              </a:ext>
            </a:extLst>
          </p:cNvPr>
          <p:cNvSpPr>
            <a:spLocks noGrp="1" noChangeArrowheads="1"/>
          </p:cNvSpPr>
          <p:nvPr>
            <p:ph type="title"/>
          </p:nvPr>
        </p:nvSpPr>
        <p:spPr bwMode="auto">
          <a:xfrm>
            <a:off x="341313" y="476250"/>
            <a:ext cx="9144000"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spAutoFit/>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D76FC09-ED08-6E5B-DB90-A28799CE5DA6}"/>
              </a:ext>
            </a:extLst>
          </p:cNvPr>
          <p:cNvSpPr>
            <a:spLocks noGrp="1" noChangeArrowheads="1"/>
          </p:cNvSpPr>
          <p:nvPr>
            <p:ph type="body" idx="1"/>
          </p:nvPr>
        </p:nvSpPr>
        <p:spPr bwMode="auto">
          <a:xfrm>
            <a:off x="341313" y="1082675"/>
            <a:ext cx="91440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spAutoFit/>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Footer Placeholder 4">
            <a:extLst>
              <a:ext uri="{FF2B5EF4-FFF2-40B4-BE49-F238E27FC236}">
                <a16:creationId xmlns:a16="http://schemas.microsoft.com/office/drawing/2014/main" id="{7DFC7744-0FC5-2C86-85FF-E84008E054AA}"/>
              </a:ext>
            </a:extLst>
          </p:cNvPr>
          <p:cNvSpPr>
            <a:spLocks noGrp="1"/>
          </p:cNvSpPr>
          <p:nvPr>
            <p:ph type="ftr" sz="quarter" idx="3"/>
          </p:nvPr>
        </p:nvSpPr>
        <p:spPr>
          <a:xfrm flipH="1">
            <a:off x="341313" y="6208713"/>
            <a:ext cx="9136062" cy="138112"/>
          </a:xfrm>
          <a:prstGeom prst="rect">
            <a:avLst/>
          </a:prstGeom>
        </p:spPr>
        <p:txBody>
          <a:bodyPr vert="horz" wrap="square" lIns="0" tIns="0" rIns="0" bIns="0" rtlCol="0" anchor="b" anchorCtr="0">
            <a:spAutoFit/>
          </a:bodyPr>
          <a:lstStyle>
            <a:lvl1pPr algn="l" eaLnBrk="1" fontAlgn="auto" hangingPunct="1">
              <a:spcBef>
                <a:spcPts val="0"/>
              </a:spcBef>
              <a:spcAft>
                <a:spcPts val="0"/>
              </a:spcAft>
              <a:defRPr sz="900" i="1" baseline="0" dirty="0">
                <a:solidFill>
                  <a:schemeClr val="tx1"/>
                </a:solidFill>
                <a:latin typeface="Calibri" panose="020F0502020204030204" pitchFamily="34" charset="0"/>
                <a:ea typeface="DFKaiShu-GB5" panose="03000509000000000000" pitchFamily="65" charset="-128"/>
                <a:cs typeface="+mn-cs"/>
              </a:defRPr>
            </a:lvl1pPr>
          </a:lstStyle>
          <a:p>
            <a:pPr>
              <a:defRPr/>
            </a:pPr>
            <a:endParaRPr lang="en-US"/>
          </a:p>
        </p:txBody>
      </p:sp>
      <p:sp>
        <p:nvSpPr>
          <p:cNvPr id="10" name="Slide Number Placeholder 6">
            <a:extLst>
              <a:ext uri="{FF2B5EF4-FFF2-40B4-BE49-F238E27FC236}">
                <a16:creationId xmlns:a16="http://schemas.microsoft.com/office/drawing/2014/main" id="{C7E8FE8D-3BC7-4C4D-7323-421FD52AEEBE}"/>
              </a:ext>
            </a:extLst>
          </p:cNvPr>
          <p:cNvSpPr>
            <a:spLocks noGrp="1"/>
          </p:cNvSpPr>
          <p:nvPr>
            <p:ph type="sldNum" sz="quarter" idx="4"/>
          </p:nvPr>
        </p:nvSpPr>
        <p:spPr>
          <a:xfrm>
            <a:off x="9444038" y="6489700"/>
            <a:ext cx="341312" cy="246063"/>
          </a:xfrm>
          <a:prstGeom prst="rect">
            <a:avLst/>
          </a:prstGeom>
        </p:spPr>
        <p:txBody>
          <a:bodyPr vert="horz" wrap="none" lIns="91440" tIns="45720" rIns="91440" bIns="45720" rtlCol="0" anchor="ctr">
            <a:spAutoFit/>
          </a:bodyPr>
          <a:lstStyle>
            <a:lvl1pPr algn="r" eaLnBrk="1" fontAlgn="auto" hangingPunct="1">
              <a:spcBef>
                <a:spcPts val="0"/>
              </a:spcBef>
              <a:spcAft>
                <a:spcPts val="0"/>
              </a:spcAft>
              <a:defRPr sz="1000" baseline="0" smtClean="0">
                <a:solidFill>
                  <a:schemeClr val="tx1">
                    <a:tint val="75000"/>
                  </a:schemeClr>
                </a:solidFill>
                <a:latin typeface="Calibri" panose="020F0502020204030204" pitchFamily="34" charset="0"/>
                <a:ea typeface="DFKaiShu-GB5" panose="03000509000000000000" pitchFamily="65" charset="-128"/>
                <a:cs typeface="+mn-cs"/>
              </a:defRPr>
            </a:lvl1pPr>
          </a:lstStyle>
          <a:p>
            <a:pPr>
              <a:defRPr/>
            </a:pPr>
            <a:fld id="{B76FC323-A254-47EF-9240-43DABEE0D941}" type="slidenum">
              <a:rPr lang="en-US"/>
              <a:pPr>
                <a:defRPr/>
              </a:pPr>
              <a:t>‹#›</a:t>
            </a:fld>
            <a:endParaRPr lang="en-US" dirty="0"/>
          </a:p>
        </p:txBody>
      </p:sp>
      <p:sp>
        <p:nvSpPr>
          <p:cNvPr id="11" name="Rectangle 10">
            <a:extLst>
              <a:ext uri="{FF2B5EF4-FFF2-40B4-BE49-F238E27FC236}">
                <a16:creationId xmlns:a16="http://schemas.microsoft.com/office/drawing/2014/main" id="{E7A5E3EE-0867-128B-048C-CB17BD1F6A56}"/>
              </a:ext>
            </a:extLst>
          </p:cNvPr>
          <p:cNvSpPr/>
          <p:nvPr userDrawn="1"/>
        </p:nvSpPr>
        <p:spPr bwMode="auto">
          <a:xfrm>
            <a:off x="-1282700" y="392113"/>
            <a:ext cx="1077912" cy="330200"/>
          </a:xfrm>
          <a:prstGeom prst="rect">
            <a:avLst/>
          </a:prstGeom>
          <a:solidFill>
            <a:srgbClr val="EF0000"/>
          </a:solidFill>
          <a:ln>
            <a:noFill/>
          </a:ln>
          <a:effectLst/>
        </p:spPr>
        <p:txBody>
          <a:bodyPr lIns="99060" tIns="49530" rIns="99060" bIns="49530" anchor="ctr"/>
          <a:lstStyle/>
          <a:p>
            <a:pPr defTabSz="990570">
              <a:defRPr/>
            </a:pPr>
            <a:r>
              <a:rPr lang="en-SG" sz="1083" dirty="0">
                <a:solidFill>
                  <a:schemeClr val="bg1"/>
                </a:solidFill>
                <a:ea typeface="+mn-ea"/>
                <a:cs typeface="+mn-cs"/>
              </a:rPr>
              <a:t>RGB 204 0 0</a:t>
            </a:r>
          </a:p>
        </p:txBody>
      </p:sp>
      <p:sp>
        <p:nvSpPr>
          <p:cNvPr id="12" name="Rectangle 11">
            <a:extLst>
              <a:ext uri="{FF2B5EF4-FFF2-40B4-BE49-F238E27FC236}">
                <a16:creationId xmlns:a16="http://schemas.microsoft.com/office/drawing/2014/main" id="{CD3CB225-38F0-B144-F8FA-C22712252A3F}"/>
              </a:ext>
            </a:extLst>
          </p:cNvPr>
          <p:cNvSpPr/>
          <p:nvPr userDrawn="1"/>
        </p:nvSpPr>
        <p:spPr bwMode="auto">
          <a:xfrm>
            <a:off x="-1282700" y="803275"/>
            <a:ext cx="1077912" cy="330200"/>
          </a:xfrm>
          <a:prstGeom prst="rect">
            <a:avLst/>
          </a:prstGeom>
          <a:solidFill>
            <a:srgbClr val="010101"/>
          </a:solidFill>
          <a:ln>
            <a:noFill/>
          </a:ln>
          <a:effectLst/>
        </p:spPr>
        <p:txBody>
          <a:bodyPr lIns="99060" tIns="49530" rIns="99060" bIns="49530" anchor="ctr"/>
          <a:lstStyle/>
          <a:p>
            <a:pPr fontAlgn="auto">
              <a:spcBef>
                <a:spcPts val="0"/>
              </a:spcBef>
              <a:spcAft>
                <a:spcPts val="0"/>
              </a:spcAft>
              <a:defRPr/>
            </a:pPr>
            <a:r>
              <a:rPr lang="en-SG" sz="1083" dirty="0">
                <a:solidFill>
                  <a:schemeClr val="bg1"/>
                </a:solidFill>
                <a:ea typeface="+mn-ea"/>
                <a:cs typeface="+mn-cs"/>
              </a:rPr>
              <a:t>RGB 0 0 0</a:t>
            </a:r>
          </a:p>
        </p:txBody>
      </p:sp>
      <p:sp>
        <p:nvSpPr>
          <p:cNvPr id="13" name="Rectangle 12">
            <a:extLst>
              <a:ext uri="{FF2B5EF4-FFF2-40B4-BE49-F238E27FC236}">
                <a16:creationId xmlns:a16="http://schemas.microsoft.com/office/drawing/2014/main" id="{785B8EED-5B56-CC37-E45D-D1F80354B944}"/>
              </a:ext>
            </a:extLst>
          </p:cNvPr>
          <p:cNvSpPr/>
          <p:nvPr userDrawn="1"/>
        </p:nvSpPr>
        <p:spPr bwMode="auto">
          <a:xfrm>
            <a:off x="-1282700" y="2038350"/>
            <a:ext cx="1077912" cy="330200"/>
          </a:xfrm>
          <a:prstGeom prst="rect">
            <a:avLst/>
          </a:prstGeom>
          <a:solidFill>
            <a:srgbClr val="F89A1F"/>
          </a:solidFill>
          <a:ln>
            <a:noFill/>
          </a:ln>
          <a:effectLst/>
        </p:spPr>
        <p:txBody>
          <a:bodyPr lIns="99060" tIns="49530" rIns="99060" bIns="49530" anchor="ctr"/>
          <a:lstStyle/>
          <a:p>
            <a:pPr fontAlgn="auto">
              <a:spcBef>
                <a:spcPts val="0"/>
              </a:spcBef>
              <a:spcAft>
                <a:spcPts val="0"/>
              </a:spcAft>
              <a:defRPr/>
            </a:pPr>
            <a:r>
              <a:rPr lang="en-SG" sz="1083" dirty="0">
                <a:solidFill>
                  <a:schemeClr val="bg1"/>
                </a:solidFill>
                <a:ea typeface="+mn-ea"/>
                <a:cs typeface="+mn-cs"/>
              </a:rPr>
              <a:t>RGB 236 154 0</a:t>
            </a:r>
          </a:p>
        </p:txBody>
      </p:sp>
      <p:sp>
        <p:nvSpPr>
          <p:cNvPr id="14" name="Rectangle 13">
            <a:extLst>
              <a:ext uri="{FF2B5EF4-FFF2-40B4-BE49-F238E27FC236}">
                <a16:creationId xmlns:a16="http://schemas.microsoft.com/office/drawing/2014/main" id="{D0CF29B9-76CE-87B8-5062-7D94C788AF86}"/>
              </a:ext>
            </a:extLst>
          </p:cNvPr>
          <p:cNvSpPr/>
          <p:nvPr userDrawn="1"/>
        </p:nvSpPr>
        <p:spPr bwMode="auto">
          <a:xfrm>
            <a:off x="-1282700" y="2451100"/>
            <a:ext cx="1077912" cy="330200"/>
          </a:xfrm>
          <a:prstGeom prst="rect">
            <a:avLst/>
          </a:prstGeom>
          <a:solidFill>
            <a:srgbClr val="F2614C"/>
          </a:solidFill>
          <a:ln>
            <a:noFill/>
          </a:ln>
          <a:effectLst/>
        </p:spPr>
        <p:txBody>
          <a:bodyPr lIns="99060" tIns="49530" rIns="99060" bIns="49530" anchor="ctr"/>
          <a:lstStyle/>
          <a:p>
            <a:pPr fontAlgn="auto">
              <a:spcBef>
                <a:spcPts val="0"/>
              </a:spcBef>
              <a:spcAft>
                <a:spcPts val="0"/>
              </a:spcAft>
              <a:defRPr/>
            </a:pPr>
            <a:r>
              <a:rPr lang="en-SG" sz="1083" dirty="0">
                <a:solidFill>
                  <a:schemeClr val="bg1"/>
                </a:solidFill>
                <a:ea typeface="+mn-ea"/>
                <a:cs typeface="+mn-cs"/>
              </a:rPr>
              <a:t>RGB 255 96 66</a:t>
            </a:r>
          </a:p>
        </p:txBody>
      </p:sp>
      <p:sp>
        <p:nvSpPr>
          <p:cNvPr id="15" name="Rectangle 14">
            <a:extLst>
              <a:ext uri="{FF2B5EF4-FFF2-40B4-BE49-F238E27FC236}">
                <a16:creationId xmlns:a16="http://schemas.microsoft.com/office/drawing/2014/main" id="{A2D33CE7-6F6E-D470-B661-87D082CFB9F3}"/>
              </a:ext>
            </a:extLst>
          </p:cNvPr>
          <p:cNvSpPr/>
          <p:nvPr userDrawn="1"/>
        </p:nvSpPr>
        <p:spPr bwMode="auto">
          <a:xfrm>
            <a:off x="-1282700" y="2862263"/>
            <a:ext cx="1077912" cy="330200"/>
          </a:xfrm>
          <a:prstGeom prst="rect">
            <a:avLst/>
          </a:prstGeom>
          <a:solidFill>
            <a:srgbClr val="EE3D6B"/>
          </a:solidFill>
          <a:ln>
            <a:noFill/>
          </a:ln>
          <a:effectLst/>
        </p:spPr>
        <p:txBody>
          <a:bodyPr lIns="99060" tIns="49530" rIns="99060" bIns="49530" anchor="ctr"/>
          <a:lstStyle/>
          <a:p>
            <a:pPr fontAlgn="auto">
              <a:spcBef>
                <a:spcPts val="0"/>
              </a:spcBef>
              <a:spcAft>
                <a:spcPts val="0"/>
              </a:spcAft>
              <a:defRPr/>
            </a:pPr>
            <a:r>
              <a:rPr lang="en-SG" sz="1083" dirty="0">
                <a:solidFill>
                  <a:schemeClr val="bg1"/>
                </a:solidFill>
                <a:ea typeface="+mn-ea"/>
                <a:cs typeface="+mn-cs"/>
              </a:rPr>
              <a:t>RGB 253 56 102</a:t>
            </a:r>
          </a:p>
        </p:txBody>
      </p:sp>
      <p:sp>
        <p:nvSpPr>
          <p:cNvPr id="16" name="Rectangle 15">
            <a:extLst>
              <a:ext uri="{FF2B5EF4-FFF2-40B4-BE49-F238E27FC236}">
                <a16:creationId xmlns:a16="http://schemas.microsoft.com/office/drawing/2014/main" id="{6FEB01FE-FEA6-4599-29AF-1089C7AE9B93}"/>
              </a:ext>
            </a:extLst>
          </p:cNvPr>
          <p:cNvSpPr/>
          <p:nvPr userDrawn="1"/>
        </p:nvSpPr>
        <p:spPr bwMode="auto">
          <a:xfrm>
            <a:off x="-1282700" y="3273425"/>
            <a:ext cx="1077912" cy="330200"/>
          </a:xfrm>
          <a:prstGeom prst="rect">
            <a:avLst/>
          </a:prstGeom>
          <a:solidFill>
            <a:srgbClr val="7862AB"/>
          </a:solidFill>
          <a:ln>
            <a:noFill/>
          </a:ln>
          <a:effectLst/>
        </p:spPr>
        <p:txBody>
          <a:bodyPr lIns="99060" tIns="49530" rIns="99060" bIns="49530" anchor="ctr"/>
          <a:lstStyle/>
          <a:p>
            <a:pPr fontAlgn="auto">
              <a:spcBef>
                <a:spcPts val="0"/>
              </a:spcBef>
              <a:spcAft>
                <a:spcPts val="0"/>
              </a:spcAft>
              <a:defRPr/>
            </a:pPr>
            <a:r>
              <a:rPr lang="en-SG" sz="1083" dirty="0">
                <a:solidFill>
                  <a:schemeClr val="bg1"/>
                </a:solidFill>
                <a:ea typeface="+mn-ea"/>
                <a:cs typeface="+mn-cs"/>
              </a:rPr>
              <a:t>RGB 134 87 255</a:t>
            </a:r>
          </a:p>
        </p:txBody>
      </p:sp>
      <p:sp>
        <p:nvSpPr>
          <p:cNvPr id="17" name="Rectangle 16">
            <a:extLst>
              <a:ext uri="{FF2B5EF4-FFF2-40B4-BE49-F238E27FC236}">
                <a16:creationId xmlns:a16="http://schemas.microsoft.com/office/drawing/2014/main" id="{6CCD01DD-7DF7-013A-6657-E3420F1994E6}"/>
              </a:ext>
            </a:extLst>
          </p:cNvPr>
          <p:cNvSpPr/>
          <p:nvPr userDrawn="1"/>
        </p:nvSpPr>
        <p:spPr bwMode="auto">
          <a:xfrm>
            <a:off x="-2449513" y="2451100"/>
            <a:ext cx="1079500" cy="330200"/>
          </a:xfrm>
          <a:prstGeom prst="rect">
            <a:avLst/>
          </a:prstGeom>
          <a:solidFill>
            <a:srgbClr val="F7864D"/>
          </a:solidFill>
          <a:ln>
            <a:noFill/>
          </a:ln>
          <a:effectLst/>
        </p:spPr>
        <p:txBody>
          <a:bodyPr lIns="99060" tIns="49530" rIns="99060" bIns="49530" anchor="ctr"/>
          <a:lstStyle/>
          <a:p>
            <a:pPr fontAlgn="auto">
              <a:spcBef>
                <a:spcPts val="0"/>
              </a:spcBef>
              <a:spcAft>
                <a:spcPts val="0"/>
              </a:spcAft>
              <a:defRPr/>
            </a:pPr>
            <a:r>
              <a:rPr lang="en-SG" sz="1083" dirty="0">
                <a:solidFill>
                  <a:schemeClr val="bg1"/>
                </a:solidFill>
                <a:ea typeface="+mn-ea"/>
                <a:cs typeface="+mn-cs"/>
              </a:rPr>
              <a:t>RGB 255 136 68</a:t>
            </a:r>
          </a:p>
        </p:txBody>
      </p:sp>
      <p:sp>
        <p:nvSpPr>
          <p:cNvPr id="18" name="Rectangle 17">
            <a:extLst>
              <a:ext uri="{FF2B5EF4-FFF2-40B4-BE49-F238E27FC236}">
                <a16:creationId xmlns:a16="http://schemas.microsoft.com/office/drawing/2014/main" id="{B04B0607-10E7-2062-D95B-E3C127F8ADB6}"/>
              </a:ext>
            </a:extLst>
          </p:cNvPr>
          <p:cNvSpPr/>
          <p:nvPr userDrawn="1"/>
        </p:nvSpPr>
        <p:spPr bwMode="auto">
          <a:xfrm>
            <a:off x="-2449513" y="2862263"/>
            <a:ext cx="1079500" cy="330200"/>
          </a:xfrm>
          <a:prstGeom prst="rect">
            <a:avLst/>
          </a:prstGeom>
          <a:solidFill>
            <a:srgbClr val="E13E97"/>
          </a:solidFill>
          <a:ln>
            <a:noFill/>
          </a:ln>
          <a:effectLst/>
        </p:spPr>
        <p:txBody>
          <a:bodyPr lIns="99060" tIns="49530" rIns="99060" bIns="49530" anchor="ctr"/>
          <a:lstStyle/>
          <a:p>
            <a:pPr fontAlgn="auto">
              <a:spcBef>
                <a:spcPts val="0"/>
              </a:spcBef>
              <a:spcAft>
                <a:spcPts val="0"/>
              </a:spcAft>
              <a:defRPr/>
            </a:pPr>
            <a:r>
              <a:rPr lang="en-SG" sz="1083" dirty="0">
                <a:solidFill>
                  <a:schemeClr val="bg1"/>
                </a:solidFill>
                <a:ea typeface="+mn-ea"/>
                <a:cs typeface="+mn-cs"/>
              </a:rPr>
              <a:t>RGB 217 23 173</a:t>
            </a:r>
          </a:p>
        </p:txBody>
      </p:sp>
      <p:sp>
        <p:nvSpPr>
          <p:cNvPr id="35" name="Rectangle 34">
            <a:extLst>
              <a:ext uri="{FF2B5EF4-FFF2-40B4-BE49-F238E27FC236}">
                <a16:creationId xmlns:a16="http://schemas.microsoft.com/office/drawing/2014/main" id="{607F2EAD-B9A2-C191-6195-C703785C2C17}"/>
              </a:ext>
            </a:extLst>
          </p:cNvPr>
          <p:cNvSpPr/>
          <p:nvPr userDrawn="1"/>
        </p:nvSpPr>
        <p:spPr bwMode="auto">
          <a:xfrm>
            <a:off x="-1282700" y="1214438"/>
            <a:ext cx="1077912" cy="330200"/>
          </a:xfrm>
          <a:prstGeom prst="rect">
            <a:avLst/>
          </a:prstGeom>
          <a:solidFill>
            <a:srgbClr val="626262"/>
          </a:solidFill>
          <a:ln>
            <a:noFill/>
          </a:ln>
          <a:effectLst/>
        </p:spPr>
        <p:txBody>
          <a:bodyPr lIns="99060" tIns="49530" rIns="99060" bIns="49530" anchor="ctr"/>
          <a:lstStyle/>
          <a:p>
            <a:pPr fontAlgn="auto">
              <a:spcBef>
                <a:spcPts val="0"/>
              </a:spcBef>
              <a:spcAft>
                <a:spcPts val="0"/>
              </a:spcAft>
              <a:defRPr/>
            </a:pPr>
            <a:r>
              <a:rPr lang="en-SG" sz="1083" dirty="0">
                <a:solidFill>
                  <a:schemeClr val="bg1"/>
                </a:solidFill>
                <a:ea typeface="+mn-ea"/>
                <a:cs typeface="+mn-cs"/>
              </a:rPr>
              <a:t>RGB 98 98 98</a:t>
            </a:r>
          </a:p>
        </p:txBody>
      </p:sp>
      <p:sp>
        <p:nvSpPr>
          <p:cNvPr id="36" name="Rectangle 35">
            <a:extLst>
              <a:ext uri="{FF2B5EF4-FFF2-40B4-BE49-F238E27FC236}">
                <a16:creationId xmlns:a16="http://schemas.microsoft.com/office/drawing/2014/main" id="{0BB85662-AB83-859B-213C-977C9D8B5DF6}"/>
              </a:ext>
            </a:extLst>
          </p:cNvPr>
          <p:cNvSpPr/>
          <p:nvPr userDrawn="1"/>
        </p:nvSpPr>
        <p:spPr bwMode="auto">
          <a:xfrm>
            <a:off x="-1282700" y="1627188"/>
            <a:ext cx="1077912" cy="330200"/>
          </a:xfrm>
          <a:prstGeom prst="rect">
            <a:avLst/>
          </a:prstGeom>
          <a:solidFill>
            <a:srgbClr val="B2B2B2"/>
          </a:solidFill>
          <a:ln>
            <a:noFill/>
          </a:ln>
          <a:effectLst/>
        </p:spPr>
        <p:txBody>
          <a:bodyPr lIns="99060" tIns="49530" rIns="99060" bIns="49530" anchor="ctr"/>
          <a:lstStyle/>
          <a:p>
            <a:pPr fontAlgn="auto">
              <a:spcBef>
                <a:spcPts val="0"/>
              </a:spcBef>
              <a:spcAft>
                <a:spcPts val="0"/>
              </a:spcAft>
              <a:defRPr/>
            </a:pPr>
            <a:r>
              <a:rPr lang="en-SG" sz="1083" dirty="0">
                <a:solidFill>
                  <a:srgbClr val="000000"/>
                </a:solidFill>
                <a:ea typeface="+mn-ea"/>
                <a:cs typeface="+mn-cs"/>
              </a:rPr>
              <a:t>RGB </a:t>
            </a:r>
            <a:r>
              <a:rPr lang="en-US" altLang="zh-TW" sz="1083" dirty="0">
                <a:solidFill>
                  <a:srgbClr val="000000"/>
                </a:solidFill>
                <a:ea typeface="+mn-ea"/>
                <a:cs typeface="+mn-cs"/>
              </a:rPr>
              <a:t>178</a:t>
            </a:r>
            <a:r>
              <a:rPr lang="en-SG" sz="1083" dirty="0">
                <a:solidFill>
                  <a:srgbClr val="000000"/>
                </a:solidFill>
                <a:ea typeface="+mn-ea"/>
                <a:cs typeface="+mn-cs"/>
              </a:rPr>
              <a:t> </a:t>
            </a:r>
            <a:r>
              <a:rPr lang="en-US" altLang="zh-TW" sz="1083" dirty="0">
                <a:solidFill>
                  <a:srgbClr val="000000"/>
                </a:solidFill>
                <a:ea typeface="+mn-ea"/>
                <a:cs typeface="+mn-cs"/>
              </a:rPr>
              <a:t>178</a:t>
            </a:r>
            <a:r>
              <a:rPr lang="en-SG" sz="1083" dirty="0">
                <a:solidFill>
                  <a:srgbClr val="000000"/>
                </a:solidFill>
                <a:ea typeface="+mn-ea"/>
                <a:cs typeface="+mn-cs"/>
              </a:rPr>
              <a:t> </a:t>
            </a:r>
            <a:r>
              <a:rPr lang="en-US" altLang="zh-TW" sz="1083" dirty="0">
                <a:solidFill>
                  <a:srgbClr val="000000"/>
                </a:solidFill>
                <a:ea typeface="+mn-ea"/>
                <a:cs typeface="+mn-cs"/>
              </a:rPr>
              <a:t>178</a:t>
            </a:r>
            <a:endParaRPr lang="en-SG" sz="1083" dirty="0">
              <a:solidFill>
                <a:srgbClr val="000000"/>
              </a:solidFill>
              <a:ea typeface="+mn-ea"/>
              <a:cs typeface="+mn-cs"/>
            </a:endParaRPr>
          </a:p>
        </p:txBody>
      </p:sp>
      <p:sp>
        <p:nvSpPr>
          <p:cNvPr id="40" name="Footer Placeholder 5">
            <a:extLst>
              <a:ext uri="{FF2B5EF4-FFF2-40B4-BE49-F238E27FC236}">
                <a16:creationId xmlns:a16="http://schemas.microsoft.com/office/drawing/2014/main" id="{39920959-919A-3C80-B25F-1B3944E06502}"/>
              </a:ext>
            </a:extLst>
          </p:cNvPr>
          <p:cNvSpPr txBox="1">
            <a:spLocks/>
          </p:cNvSpPr>
          <p:nvPr userDrawn="1"/>
        </p:nvSpPr>
        <p:spPr>
          <a:xfrm>
            <a:off x="7961313" y="6489700"/>
            <a:ext cx="1327150" cy="246063"/>
          </a:xfrm>
          <a:prstGeom prst="rect">
            <a:avLst/>
          </a:prstGeom>
        </p:spPr>
        <p:txBody>
          <a:bodyPr wrap="none" anchor="ctr">
            <a:spAutoFit/>
          </a:bodyPr>
          <a:lstStyle>
            <a:defPPr>
              <a:defRPr lang="en-US"/>
            </a:defPPr>
            <a:lvl1pPr algn="r">
              <a:defRPr sz="1000" baseline="0">
                <a:solidFill>
                  <a:schemeClr val="tx1">
                    <a:tint val="75000"/>
                  </a:schemeClr>
                </a:solidFill>
                <a:latin typeface="Calibri" panose="020F0502020204030204" pitchFamily="34" charset="0"/>
                <a:ea typeface="DFKaiShu-GB5" panose="03000509000000000000" pitchFamily="65"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fontAlgn="auto" hangingPunct="1">
              <a:spcBef>
                <a:spcPts val="0"/>
              </a:spcBef>
              <a:spcAft>
                <a:spcPts val="0"/>
              </a:spcAft>
              <a:defRPr/>
            </a:pPr>
            <a:r>
              <a:rPr lang="en-US" dirty="0">
                <a:cs typeface="+mn-cs"/>
              </a:rPr>
              <a:t>Private &amp; Confidential</a:t>
            </a:r>
          </a:p>
        </p:txBody>
      </p:sp>
      <p:pic>
        <p:nvPicPr>
          <p:cNvPr id="1041" name="Picture 6">
            <a:extLst>
              <a:ext uri="{FF2B5EF4-FFF2-40B4-BE49-F238E27FC236}">
                <a16:creationId xmlns:a16="http://schemas.microsoft.com/office/drawing/2014/main" id="{36216CC0-638C-22FA-2F88-A344021EA943}"/>
              </a:ext>
            </a:extLst>
          </p:cNvPr>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341313" y="6427788"/>
            <a:ext cx="858837"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object 41">
            <a:extLst>
              <a:ext uri="{FF2B5EF4-FFF2-40B4-BE49-F238E27FC236}">
                <a16:creationId xmlns:a16="http://schemas.microsoft.com/office/drawing/2014/main" id="{DD3815D2-5B3C-9180-1BF9-47B229F3C579}"/>
              </a:ext>
            </a:extLst>
          </p:cNvPr>
          <p:cNvSpPr/>
          <p:nvPr userDrawn="1"/>
        </p:nvSpPr>
        <p:spPr>
          <a:xfrm>
            <a:off x="-666750" y="3879850"/>
            <a:ext cx="217487" cy="266700"/>
          </a:xfrm>
          <a:custGeom>
            <a:avLst/>
            <a:gdLst/>
            <a:ahLst/>
            <a:cxnLst/>
            <a:rect l="l" t="t" r="r" b="b"/>
            <a:pathLst>
              <a:path w="1090193" h="1090244">
                <a:moveTo>
                  <a:pt x="1090193" y="1090244"/>
                </a:moveTo>
                <a:lnTo>
                  <a:pt x="0" y="1090244"/>
                </a:lnTo>
                <a:lnTo>
                  <a:pt x="0" y="0"/>
                </a:lnTo>
                <a:lnTo>
                  <a:pt x="1090193" y="0"/>
                </a:lnTo>
                <a:lnTo>
                  <a:pt x="1090193" y="1090244"/>
                </a:lnTo>
                <a:close/>
              </a:path>
            </a:pathLst>
          </a:custGeom>
          <a:solidFill>
            <a:srgbClr val="FE88A3"/>
          </a:solidFill>
        </p:spPr>
        <p:txBody>
          <a:bodyPr lIns="0" tIns="0" rIns="0" bIns="0"/>
          <a:lstStyle/>
          <a:p>
            <a:pPr eaLnBrk="1" fontAlgn="auto" hangingPunct="1">
              <a:spcBef>
                <a:spcPts val="0"/>
              </a:spcBef>
              <a:spcAft>
                <a:spcPts val="0"/>
              </a:spcAft>
              <a:defRPr/>
            </a:pPr>
            <a:endParaRPr sz="1950" dirty="0">
              <a:latin typeface="+mn-lt"/>
              <a:ea typeface="+mn-ea"/>
              <a:cs typeface="+mn-cs"/>
            </a:endParaRPr>
          </a:p>
        </p:txBody>
      </p:sp>
      <p:sp>
        <p:nvSpPr>
          <p:cNvPr id="38" name="object 7">
            <a:extLst>
              <a:ext uri="{FF2B5EF4-FFF2-40B4-BE49-F238E27FC236}">
                <a16:creationId xmlns:a16="http://schemas.microsoft.com/office/drawing/2014/main" id="{3151DA11-6726-27C1-244C-36BAB9682D79}"/>
              </a:ext>
            </a:extLst>
          </p:cNvPr>
          <p:cNvSpPr/>
          <p:nvPr userDrawn="1"/>
        </p:nvSpPr>
        <p:spPr>
          <a:xfrm>
            <a:off x="-1404938" y="3879850"/>
            <a:ext cx="217488" cy="266700"/>
          </a:xfrm>
          <a:custGeom>
            <a:avLst/>
            <a:gdLst/>
            <a:ahLst/>
            <a:cxnLst/>
            <a:rect l="l" t="t" r="r" b="b"/>
            <a:pathLst>
              <a:path w="612000" h="612000">
                <a:moveTo>
                  <a:pt x="0" y="612000"/>
                </a:moveTo>
                <a:lnTo>
                  <a:pt x="612000" y="612000"/>
                </a:lnTo>
                <a:lnTo>
                  <a:pt x="612000" y="0"/>
                </a:lnTo>
                <a:lnTo>
                  <a:pt x="0" y="0"/>
                </a:lnTo>
                <a:lnTo>
                  <a:pt x="0" y="612000"/>
                </a:lnTo>
                <a:close/>
              </a:path>
            </a:pathLst>
          </a:custGeom>
          <a:solidFill>
            <a:srgbClr val="2D9A47"/>
          </a:solidFill>
        </p:spPr>
        <p:txBody>
          <a:bodyPr lIns="0" tIns="0" rIns="0" bIns="0"/>
          <a:lstStyle/>
          <a:p>
            <a:pPr eaLnBrk="1" fontAlgn="auto" hangingPunct="1">
              <a:spcBef>
                <a:spcPts val="0"/>
              </a:spcBef>
              <a:spcAft>
                <a:spcPts val="0"/>
              </a:spcAft>
              <a:defRPr/>
            </a:pPr>
            <a:endParaRPr sz="1950" dirty="0">
              <a:latin typeface="+mn-lt"/>
              <a:ea typeface="+mn-ea"/>
              <a:cs typeface="+mn-cs"/>
            </a:endParaRPr>
          </a:p>
        </p:txBody>
      </p:sp>
      <p:sp>
        <p:nvSpPr>
          <p:cNvPr id="39" name="object 39">
            <a:extLst>
              <a:ext uri="{FF2B5EF4-FFF2-40B4-BE49-F238E27FC236}">
                <a16:creationId xmlns:a16="http://schemas.microsoft.com/office/drawing/2014/main" id="{1D508D79-BAA1-D21D-FE9D-AC6C54F200DA}"/>
              </a:ext>
            </a:extLst>
          </p:cNvPr>
          <p:cNvSpPr/>
          <p:nvPr userDrawn="1"/>
        </p:nvSpPr>
        <p:spPr>
          <a:xfrm>
            <a:off x="-2141538" y="4197350"/>
            <a:ext cx="217488" cy="266700"/>
          </a:xfrm>
          <a:custGeom>
            <a:avLst/>
            <a:gdLst/>
            <a:ahLst/>
            <a:cxnLst/>
            <a:rect l="l" t="t" r="r" b="b"/>
            <a:pathLst>
              <a:path w="612013" h="612000">
                <a:moveTo>
                  <a:pt x="0" y="612000"/>
                </a:moveTo>
                <a:lnTo>
                  <a:pt x="612013" y="612000"/>
                </a:lnTo>
                <a:lnTo>
                  <a:pt x="612013" y="0"/>
                </a:lnTo>
                <a:lnTo>
                  <a:pt x="0" y="0"/>
                </a:lnTo>
                <a:lnTo>
                  <a:pt x="0" y="612000"/>
                </a:lnTo>
                <a:close/>
              </a:path>
            </a:pathLst>
          </a:custGeom>
          <a:solidFill>
            <a:srgbClr val="92D050"/>
          </a:solidFill>
        </p:spPr>
        <p:txBody>
          <a:bodyPr lIns="0" tIns="0" rIns="0" bIns="0"/>
          <a:lstStyle/>
          <a:p>
            <a:pPr eaLnBrk="1" fontAlgn="auto" hangingPunct="1">
              <a:spcBef>
                <a:spcPts val="0"/>
              </a:spcBef>
              <a:spcAft>
                <a:spcPts val="0"/>
              </a:spcAft>
              <a:defRPr/>
            </a:pPr>
            <a:endParaRPr sz="1950" dirty="0">
              <a:latin typeface="+mn-lt"/>
              <a:ea typeface="+mn-ea"/>
              <a:cs typeface="+mn-cs"/>
            </a:endParaRPr>
          </a:p>
        </p:txBody>
      </p:sp>
      <p:sp>
        <p:nvSpPr>
          <p:cNvPr id="42" name="object 32">
            <a:extLst>
              <a:ext uri="{FF2B5EF4-FFF2-40B4-BE49-F238E27FC236}">
                <a16:creationId xmlns:a16="http://schemas.microsoft.com/office/drawing/2014/main" id="{1210D108-BED9-C2F5-F767-8F85AD174E1E}"/>
              </a:ext>
            </a:extLst>
          </p:cNvPr>
          <p:cNvSpPr/>
          <p:nvPr userDrawn="1"/>
        </p:nvSpPr>
        <p:spPr>
          <a:xfrm>
            <a:off x="-2141538" y="3879850"/>
            <a:ext cx="217488" cy="266700"/>
          </a:xfrm>
          <a:custGeom>
            <a:avLst/>
            <a:gdLst/>
            <a:ahLst/>
            <a:cxnLst/>
            <a:rect l="l" t="t" r="r" b="b"/>
            <a:pathLst>
              <a:path w="612012" h="612000">
                <a:moveTo>
                  <a:pt x="0" y="612000"/>
                </a:moveTo>
                <a:lnTo>
                  <a:pt x="612012" y="612000"/>
                </a:lnTo>
                <a:lnTo>
                  <a:pt x="612012" y="0"/>
                </a:lnTo>
                <a:lnTo>
                  <a:pt x="0" y="0"/>
                </a:lnTo>
                <a:lnTo>
                  <a:pt x="0" y="612000"/>
                </a:lnTo>
                <a:close/>
              </a:path>
            </a:pathLst>
          </a:custGeom>
          <a:solidFill>
            <a:srgbClr val="EA1D2D"/>
          </a:solidFill>
        </p:spPr>
        <p:txBody>
          <a:bodyPr lIns="0" tIns="0" rIns="0" bIns="0"/>
          <a:lstStyle/>
          <a:p>
            <a:pPr eaLnBrk="1" fontAlgn="auto" hangingPunct="1">
              <a:spcBef>
                <a:spcPts val="0"/>
              </a:spcBef>
              <a:spcAft>
                <a:spcPts val="0"/>
              </a:spcAft>
              <a:defRPr/>
            </a:pPr>
            <a:endParaRPr sz="1950" dirty="0">
              <a:latin typeface="+mn-lt"/>
              <a:ea typeface="+mn-ea"/>
              <a:cs typeface="+mn-cs"/>
            </a:endParaRPr>
          </a:p>
        </p:txBody>
      </p:sp>
      <p:sp>
        <p:nvSpPr>
          <p:cNvPr id="43" name="object 81">
            <a:extLst>
              <a:ext uri="{FF2B5EF4-FFF2-40B4-BE49-F238E27FC236}">
                <a16:creationId xmlns:a16="http://schemas.microsoft.com/office/drawing/2014/main" id="{6BD14258-BF04-8A36-32DD-FD20EC722142}"/>
              </a:ext>
            </a:extLst>
          </p:cNvPr>
          <p:cNvSpPr/>
          <p:nvPr userDrawn="1"/>
        </p:nvSpPr>
        <p:spPr>
          <a:xfrm>
            <a:off x="-912813" y="4197350"/>
            <a:ext cx="217488" cy="266700"/>
          </a:xfrm>
          <a:custGeom>
            <a:avLst/>
            <a:gdLst/>
            <a:ahLst/>
            <a:cxnLst/>
            <a:rect l="l" t="t" r="r" b="b"/>
            <a:pathLst>
              <a:path w="612000" h="612025">
                <a:moveTo>
                  <a:pt x="0" y="612025"/>
                </a:moveTo>
                <a:lnTo>
                  <a:pt x="612000" y="612025"/>
                </a:lnTo>
                <a:lnTo>
                  <a:pt x="612000" y="0"/>
                </a:lnTo>
                <a:lnTo>
                  <a:pt x="0" y="0"/>
                </a:lnTo>
                <a:lnTo>
                  <a:pt x="0" y="612025"/>
                </a:lnTo>
                <a:close/>
              </a:path>
            </a:pathLst>
          </a:custGeom>
          <a:solidFill>
            <a:srgbClr val="CFBCFF"/>
          </a:solidFill>
        </p:spPr>
        <p:txBody>
          <a:bodyPr lIns="0" tIns="0" rIns="0" bIns="0"/>
          <a:lstStyle/>
          <a:p>
            <a:pPr eaLnBrk="1" fontAlgn="auto" hangingPunct="1">
              <a:spcBef>
                <a:spcPts val="0"/>
              </a:spcBef>
              <a:spcAft>
                <a:spcPts val="0"/>
              </a:spcAft>
              <a:defRPr/>
            </a:pPr>
            <a:endParaRPr sz="1950" dirty="0">
              <a:latin typeface="+mn-lt"/>
              <a:ea typeface="+mn-ea"/>
              <a:cs typeface="+mn-cs"/>
            </a:endParaRPr>
          </a:p>
        </p:txBody>
      </p:sp>
      <p:sp>
        <p:nvSpPr>
          <p:cNvPr id="44" name="object 172">
            <a:extLst>
              <a:ext uri="{FF2B5EF4-FFF2-40B4-BE49-F238E27FC236}">
                <a16:creationId xmlns:a16="http://schemas.microsoft.com/office/drawing/2014/main" id="{3BD0FE5D-D342-5496-DE35-97C09C339C53}"/>
              </a:ext>
            </a:extLst>
          </p:cNvPr>
          <p:cNvSpPr/>
          <p:nvPr userDrawn="1"/>
        </p:nvSpPr>
        <p:spPr>
          <a:xfrm>
            <a:off x="-1651000" y="4197350"/>
            <a:ext cx="217487" cy="266700"/>
          </a:xfrm>
          <a:custGeom>
            <a:avLst/>
            <a:gdLst/>
            <a:ahLst/>
            <a:cxnLst/>
            <a:rect l="l" t="t" r="r" b="b"/>
            <a:pathLst>
              <a:path w="612000" h="612000">
                <a:moveTo>
                  <a:pt x="612000" y="612000"/>
                </a:moveTo>
                <a:lnTo>
                  <a:pt x="0" y="612000"/>
                </a:lnTo>
                <a:lnTo>
                  <a:pt x="0" y="0"/>
                </a:lnTo>
                <a:lnTo>
                  <a:pt x="612000" y="0"/>
                </a:lnTo>
                <a:lnTo>
                  <a:pt x="612000" y="612000"/>
                </a:lnTo>
                <a:close/>
              </a:path>
            </a:pathLst>
          </a:custGeom>
          <a:solidFill>
            <a:srgbClr val="B2B2B2"/>
          </a:solidFill>
        </p:spPr>
        <p:txBody>
          <a:bodyPr lIns="0" tIns="0" rIns="0" bIns="0"/>
          <a:lstStyle/>
          <a:p>
            <a:pPr eaLnBrk="1" fontAlgn="auto" hangingPunct="1">
              <a:spcBef>
                <a:spcPts val="0"/>
              </a:spcBef>
              <a:spcAft>
                <a:spcPts val="0"/>
              </a:spcAft>
              <a:defRPr/>
            </a:pPr>
            <a:endParaRPr sz="1950" dirty="0">
              <a:latin typeface="+mn-lt"/>
              <a:ea typeface="+mn-ea"/>
              <a:cs typeface="+mn-cs"/>
            </a:endParaRPr>
          </a:p>
        </p:txBody>
      </p:sp>
      <p:sp>
        <p:nvSpPr>
          <p:cNvPr id="45" name="Rectangle 44">
            <a:extLst>
              <a:ext uri="{FF2B5EF4-FFF2-40B4-BE49-F238E27FC236}">
                <a16:creationId xmlns:a16="http://schemas.microsoft.com/office/drawing/2014/main" id="{D37FEFB4-4DF3-2BE4-5E38-73E1880BBEC1}"/>
              </a:ext>
            </a:extLst>
          </p:cNvPr>
          <p:cNvSpPr/>
          <p:nvPr userDrawn="1"/>
        </p:nvSpPr>
        <p:spPr>
          <a:xfrm>
            <a:off x="-1895475" y="3879850"/>
            <a:ext cx="217487" cy="266700"/>
          </a:xfrm>
          <a:prstGeom prst="rect">
            <a:avLst/>
          </a:prstGeom>
          <a:solidFill>
            <a:srgbClr val="F36E24"/>
          </a:solidFill>
        </p:spPr>
        <p:txBody>
          <a:bodyPr lIns="0" tIns="0" rIns="0" bIns="0"/>
          <a:lstStyle/>
          <a:p>
            <a:pPr eaLnBrk="1" fontAlgn="auto" hangingPunct="1">
              <a:spcBef>
                <a:spcPts val="0"/>
              </a:spcBef>
              <a:spcAft>
                <a:spcPts val="0"/>
              </a:spcAft>
              <a:defRPr/>
            </a:pPr>
            <a:endParaRPr lang="en-US" sz="1950" dirty="0">
              <a:latin typeface="+mn-lt"/>
              <a:ea typeface="+mn-ea"/>
              <a:cs typeface="+mn-cs"/>
            </a:endParaRPr>
          </a:p>
        </p:txBody>
      </p:sp>
      <p:sp>
        <p:nvSpPr>
          <p:cNvPr id="46" name="Rectangle 45">
            <a:extLst>
              <a:ext uri="{FF2B5EF4-FFF2-40B4-BE49-F238E27FC236}">
                <a16:creationId xmlns:a16="http://schemas.microsoft.com/office/drawing/2014/main" id="{73BF0341-3E1B-3B96-B99E-66E9E876493F}"/>
              </a:ext>
            </a:extLst>
          </p:cNvPr>
          <p:cNvSpPr/>
          <p:nvPr userDrawn="1"/>
        </p:nvSpPr>
        <p:spPr>
          <a:xfrm>
            <a:off x="-1651000" y="3879850"/>
            <a:ext cx="217487" cy="266700"/>
          </a:xfrm>
          <a:prstGeom prst="rect">
            <a:avLst/>
          </a:prstGeom>
          <a:solidFill>
            <a:srgbClr val="FDB71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47" name="Rectangle 46">
            <a:extLst>
              <a:ext uri="{FF2B5EF4-FFF2-40B4-BE49-F238E27FC236}">
                <a16:creationId xmlns:a16="http://schemas.microsoft.com/office/drawing/2014/main" id="{F82EF603-9F79-11F8-94A1-19E3D8B400E6}"/>
              </a:ext>
            </a:extLst>
          </p:cNvPr>
          <p:cNvSpPr/>
          <p:nvPr userDrawn="1"/>
        </p:nvSpPr>
        <p:spPr>
          <a:xfrm>
            <a:off x="-1158875" y="3879850"/>
            <a:ext cx="217487" cy="266700"/>
          </a:xfrm>
          <a:prstGeom prst="rect">
            <a:avLst/>
          </a:prstGeom>
          <a:solidFill>
            <a:srgbClr val="007DB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48" name="Rectangle 47">
            <a:extLst>
              <a:ext uri="{FF2B5EF4-FFF2-40B4-BE49-F238E27FC236}">
                <a16:creationId xmlns:a16="http://schemas.microsoft.com/office/drawing/2014/main" id="{2248F3BC-357C-9039-47E6-6A72DB9FB7A8}"/>
              </a:ext>
            </a:extLst>
          </p:cNvPr>
          <p:cNvSpPr/>
          <p:nvPr userDrawn="1"/>
        </p:nvSpPr>
        <p:spPr>
          <a:xfrm>
            <a:off x="-912813" y="3879850"/>
            <a:ext cx="217488" cy="266700"/>
          </a:xfrm>
          <a:prstGeom prst="rect">
            <a:avLst/>
          </a:prstGeom>
          <a:solidFill>
            <a:srgbClr val="8F183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49" name="Rectangle 48">
            <a:extLst>
              <a:ext uri="{FF2B5EF4-FFF2-40B4-BE49-F238E27FC236}">
                <a16:creationId xmlns:a16="http://schemas.microsoft.com/office/drawing/2014/main" id="{7D547769-7752-EA84-5934-A3CBAAEE5E71}"/>
              </a:ext>
            </a:extLst>
          </p:cNvPr>
          <p:cNvSpPr/>
          <p:nvPr userDrawn="1"/>
        </p:nvSpPr>
        <p:spPr>
          <a:xfrm>
            <a:off x="-422275" y="3879850"/>
            <a:ext cx="217487" cy="266700"/>
          </a:xfrm>
          <a:prstGeom prst="rect">
            <a:avLst/>
          </a:prstGeom>
          <a:solidFill>
            <a:srgbClr val="764D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50" name="Rectangle 49">
            <a:extLst>
              <a:ext uri="{FF2B5EF4-FFF2-40B4-BE49-F238E27FC236}">
                <a16:creationId xmlns:a16="http://schemas.microsoft.com/office/drawing/2014/main" id="{1E2CA421-A4F1-83D2-8207-444AFB78799B}"/>
              </a:ext>
            </a:extLst>
          </p:cNvPr>
          <p:cNvSpPr/>
          <p:nvPr userDrawn="1"/>
        </p:nvSpPr>
        <p:spPr>
          <a:xfrm>
            <a:off x="-666750" y="4197350"/>
            <a:ext cx="217487" cy="266700"/>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51" name="Rectangle 50">
            <a:extLst>
              <a:ext uri="{FF2B5EF4-FFF2-40B4-BE49-F238E27FC236}">
                <a16:creationId xmlns:a16="http://schemas.microsoft.com/office/drawing/2014/main" id="{DC285184-637F-EC7C-E105-6CBBAE8FEE86}"/>
              </a:ext>
            </a:extLst>
          </p:cNvPr>
          <p:cNvSpPr/>
          <p:nvPr userDrawn="1"/>
        </p:nvSpPr>
        <p:spPr>
          <a:xfrm>
            <a:off x="-1158875" y="4197350"/>
            <a:ext cx="217487" cy="2667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52" name="Rectangle 51">
            <a:extLst>
              <a:ext uri="{FF2B5EF4-FFF2-40B4-BE49-F238E27FC236}">
                <a16:creationId xmlns:a16="http://schemas.microsoft.com/office/drawing/2014/main" id="{542BAE0E-B378-3B9E-AA69-C6E5421AA88B}"/>
              </a:ext>
            </a:extLst>
          </p:cNvPr>
          <p:cNvSpPr/>
          <p:nvPr userDrawn="1"/>
        </p:nvSpPr>
        <p:spPr>
          <a:xfrm>
            <a:off x="-1404938" y="4197350"/>
            <a:ext cx="217488" cy="266700"/>
          </a:xfrm>
          <a:prstGeom prst="rect">
            <a:avLst/>
          </a:prstGeom>
          <a:solidFill>
            <a:srgbClr val="CD8B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53" name="Rectangle 52">
            <a:extLst>
              <a:ext uri="{FF2B5EF4-FFF2-40B4-BE49-F238E27FC236}">
                <a16:creationId xmlns:a16="http://schemas.microsoft.com/office/drawing/2014/main" id="{13F2BD1E-69BD-6E7F-B8B2-FC3A0036E85A}"/>
              </a:ext>
            </a:extLst>
          </p:cNvPr>
          <p:cNvSpPr/>
          <p:nvPr userDrawn="1"/>
        </p:nvSpPr>
        <p:spPr>
          <a:xfrm>
            <a:off x="-1895475" y="4197350"/>
            <a:ext cx="217487" cy="266700"/>
          </a:xfrm>
          <a:prstGeom prst="rect">
            <a:avLst/>
          </a:prstGeom>
          <a:solidFill>
            <a:srgbClr val="1B36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54" name="Rectangle 53">
            <a:extLst>
              <a:ext uri="{FF2B5EF4-FFF2-40B4-BE49-F238E27FC236}">
                <a16:creationId xmlns:a16="http://schemas.microsoft.com/office/drawing/2014/main" id="{576F5B69-D8C2-2E9C-8A35-197139C1A46C}"/>
              </a:ext>
            </a:extLst>
          </p:cNvPr>
          <p:cNvSpPr/>
          <p:nvPr userDrawn="1"/>
        </p:nvSpPr>
        <p:spPr>
          <a:xfrm>
            <a:off x="-422275" y="4197350"/>
            <a:ext cx="217487" cy="266700"/>
          </a:xfrm>
          <a:prstGeom prst="rect">
            <a:avLst/>
          </a:prstGeom>
          <a:solidFill>
            <a:srgbClr val="CAF2C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55" name="object 39">
            <a:extLst>
              <a:ext uri="{FF2B5EF4-FFF2-40B4-BE49-F238E27FC236}">
                <a16:creationId xmlns:a16="http://schemas.microsoft.com/office/drawing/2014/main" id="{59BE8A21-2A7A-26D2-AF35-56ACFBA5BFBF}"/>
              </a:ext>
            </a:extLst>
          </p:cNvPr>
          <p:cNvSpPr/>
          <p:nvPr userDrawn="1"/>
        </p:nvSpPr>
        <p:spPr>
          <a:xfrm>
            <a:off x="-2141538" y="4514850"/>
            <a:ext cx="217488" cy="266700"/>
          </a:xfrm>
          <a:custGeom>
            <a:avLst/>
            <a:gdLst/>
            <a:ahLst/>
            <a:cxnLst/>
            <a:rect l="l" t="t" r="r" b="b"/>
            <a:pathLst>
              <a:path w="612013" h="612000">
                <a:moveTo>
                  <a:pt x="0" y="612000"/>
                </a:moveTo>
                <a:lnTo>
                  <a:pt x="612013" y="612000"/>
                </a:lnTo>
                <a:lnTo>
                  <a:pt x="612013" y="0"/>
                </a:lnTo>
                <a:lnTo>
                  <a:pt x="0" y="0"/>
                </a:lnTo>
                <a:lnTo>
                  <a:pt x="0" y="612000"/>
                </a:lnTo>
                <a:close/>
              </a:path>
            </a:pathLst>
          </a:custGeom>
          <a:solidFill>
            <a:srgbClr val="CCECFF"/>
          </a:solidFill>
        </p:spPr>
        <p:txBody>
          <a:bodyPr lIns="0" tIns="0" rIns="0" bIns="0"/>
          <a:lstStyle/>
          <a:p>
            <a:pPr eaLnBrk="1" fontAlgn="auto" hangingPunct="1">
              <a:spcBef>
                <a:spcPts val="0"/>
              </a:spcBef>
              <a:spcAft>
                <a:spcPts val="0"/>
              </a:spcAft>
              <a:defRPr/>
            </a:pPr>
            <a:endParaRPr sz="1950" dirty="0">
              <a:latin typeface="+mn-lt"/>
              <a:ea typeface="+mn-ea"/>
              <a:cs typeface="+mn-cs"/>
            </a:endParaRPr>
          </a:p>
        </p:txBody>
      </p:sp>
      <p:sp>
        <p:nvSpPr>
          <p:cNvPr id="56" name="object 81">
            <a:extLst>
              <a:ext uri="{FF2B5EF4-FFF2-40B4-BE49-F238E27FC236}">
                <a16:creationId xmlns:a16="http://schemas.microsoft.com/office/drawing/2014/main" id="{7234EDF3-BB63-42F0-E689-F3DBFE7A711F}"/>
              </a:ext>
            </a:extLst>
          </p:cNvPr>
          <p:cNvSpPr/>
          <p:nvPr userDrawn="1"/>
        </p:nvSpPr>
        <p:spPr>
          <a:xfrm>
            <a:off x="-912813" y="4514850"/>
            <a:ext cx="217488" cy="266700"/>
          </a:xfrm>
          <a:custGeom>
            <a:avLst/>
            <a:gdLst/>
            <a:ahLst/>
            <a:cxnLst/>
            <a:rect l="l" t="t" r="r" b="b"/>
            <a:pathLst>
              <a:path w="612000" h="612025">
                <a:moveTo>
                  <a:pt x="0" y="612025"/>
                </a:moveTo>
                <a:lnTo>
                  <a:pt x="612000" y="612025"/>
                </a:lnTo>
                <a:lnTo>
                  <a:pt x="612000" y="0"/>
                </a:lnTo>
                <a:lnTo>
                  <a:pt x="0" y="0"/>
                </a:lnTo>
                <a:lnTo>
                  <a:pt x="0" y="612025"/>
                </a:lnTo>
                <a:close/>
              </a:path>
            </a:pathLst>
          </a:custGeom>
          <a:solidFill>
            <a:srgbClr val="4877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950" dirty="0"/>
          </a:p>
        </p:txBody>
      </p:sp>
      <p:sp>
        <p:nvSpPr>
          <p:cNvPr id="57" name="object 172">
            <a:extLst>
              <a:ext uri="{FF2B5EF4-FFF2-40B4-BE49-F238E27FC236}">
                <a16:creationId xmlns:a16="http://schemas.microsoft.com/office/drawing/2014/main" id="{FAFF7584-5872-FD68-595C-E9C417742F30}"/>
              </a:ext>
            </a:extLst>
          </p:cNvPr>
          <p:cNvSpPr/>
          <p:nvPr userDrawn="1"/>
        </p:nvSpPr>
        <p:spPr>
          <a:xfrm>
            <a:off x="-1651000" y="4514850"/>
            <a:ext cx="217487" cy="266700"/>
          </a:xfrm>
          <a:custGeom>
            <a:avLst/>
            <a:gdLst/>
            <a:ahLst/>
            <a:cxnLst/>
            <a:rect l="l" t="t" r="r" b="b"/>
            <a:pathLst>
              <a:path w="612000" h="612000">
                <a:moveTo>
                  <a:pt x="612000" y="612000"/>
                </a:moveTo>
                <a:lnTo>
                  <a:pt x="0" y="612000"/>
                </a:lnTo>
                <a:lnTo>
                  <a:pt x="0" y="0"/>
                </a:lnTo>
                <a:lnTo>
                  <a:pt x="612000" y="0"/>
                </a:lnTo>
                <a:lnTo>
                  <a:pt x="612000" y="612000"/>
                </a:lnTo>
                <a:close/>
              </a:path>
            </a:pathLst>
          </a:custGeom>
          <a:solidFill>
            <a:srgbClr val="FFFFCC"/>
          </a:solidFill>
        </p:spPr>
        <p:txBody>
          <a:bodyPr lIns="0" tIns="0" rIns="0" bIns="0"/>
          <a:lstStyle/>
          <a:p>
            <a:pPr eaLnBrk="1" fontAlgn="auto" hangingPunct="1">
              <a:spcBef>
                <a:spcPts val="0"/>
              </a:spcBef>
              <a:spcAft>
                <a:spcPts val="0"/>
              </a:spcAft>
              <a:defRPr/>
            </a:pPr>
            <a:endParaRPr sz="1950" dirty="0">
              <a:latin typeface="+mn-lt"/>
              <a:ea typeface="+mn-ea"/>
              <a:cs typeface="+mn-cs"/>
            </a:endParaRPr>
          </a:p>
        </p:txBody>
      </p:sp>
      <p:sp>
        <p:nvSpPr>
          <p:cNvPr id="59" name="Rectangle 58">
            <a:extLst>
              <a:ext uri="{FF2B5EF4-FFF2-40B4-BE49-F238E27FC236}">
                <a16:creationId xmlns:a16="http://schemas.microsoft.com/office/drawing/2014/main" id="{2D787B2C-0451-722C-21CC-C780C792ADD5}"/>
              </a:ext>
            </a:extLst>
          </p:cNvPr>
          <p:cNvSpPr/>
          <p:nvPr userDrawn="1"/>
        </p:nvSpPr>
        <p:spPr>
          <a:xfrm>
            <a:off x="-1158875" y="4514850"/>
            <a:ext cx="217487" cy="266700"/>
          </a:xfrm>
          <a:prstGeom prst="rect">
            <a:avLst/>
          </a:prstGeom>
          <a:solidFill>
            <a:srgbClr val="C22033"/>
          </a:solidFill>
        </p:spPr>
        <p:txBody>
          <a:bodyPr lIns="0" tIns="0" rIns="0" bIns="0"/>
          <a:lstStyle/>
          <a:p>
            <a:pPr eaLnBrk="1" fontAlgn="auto" hangingPunct="1">
              <a:spcBef>
                <a:spcPts val="0"/>
              </a:spcBef>
              <a:spcAft>
                <a:spcPts val="0"/>
              </a:spcAft>
              <a:defRPr/>
            </a:pPr>
            <a:endParaRPr lang="en-US" sz="1950" dirty="0">
              <a:latin typeface="+mn-lt"/>
              <a:ea typeface="+mn-ea"/>
              <a:cs typeface="+mn-cs"/>
            </a:endParaRPr>
          </a:p>
        </p:txBody>
      </p:sp>
      <p:sp>
        <p:nvSpPr>
          <p:cNvPr id="60" name="Rectangle 59">
            <a:extLst>
              <a:ext uri="{FF2B5EF4-FFF2-40B4-BE49-F238E27FC236}">
                <a16:creationId xmlns:a16="http://schemas.microsoft.com/office/drawing/2014/main" id="{8A0381E8-83FD-118A-1FAF-52686F227CED}"/>
              </a:ext>
            </a:extLst>
          </p:cNvPr>
          <p:cNvSpPr/>
          <p:nvPr userDrawn="1"/>
        </p:nvSpPr>
        <p:spPr>
          <a:xfrm>
            <a:off x="-1404938" y="4514850"/>
            <a:ext cx="217488" cy="266700"/>
          </a:xfrm>
          <a:prstGeom prst="rect">
            <a:avLst/>
          </a:prstGeom>
          <a:solidFill>
            <a:srgbClr val="FFC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61" name="Rectangle 60">
            <a:extLst>
              <a:ext uri="{FF2B5EF4-FFF2-40B4-BE49-F238E27FC236}">
                <a16:creationId xmlns:a16="http://schemas.microsoft.com/office/drawing/2014/main" id="{827BF9E5-AB8A-E7FD-04A3-CA928C32882C}"/>
              </a:ext>
            </a:extLst>
          </p:cNvPr>
          <p:cNvSpPr/>
          <p:nvPr userDrawn="1"/>
        </p:nvSpPr>
        <p:spPr>
          <a:xfrm>
            <a:off x="-1895475" y="4514850"/>
            <a:ext cx="217487" cy="2667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950" dirty="0"/>
          </a:p>
        </p:txBody>
      </p:sp>
      <p:sp>
        <p:nvSpPr>
          <p:cNvPr id="63" name="object 81">
            <a:extLst>
              <a:ext uri="{FF2B5EF4-FFF2-40B4-BE49-F238E27FC236}">
                <a16:creationId xmlns:a16="http://schemas.microsoft.com/office/drawing/2014/main" id="{73A37593-4526-E3EB-E9F3-2FA354468A2C}"/>
              </a:ext>
            </a:extLst>
          </p:cNvPr>
          <p:cNvSpPr/>
          <p:nvPr userDrawn="1"/>
        </p:nvSpPr>
        <p:spPr>
          <a:xfrm>
            <a:off x="-666750" y="4514850"/>
            <a:ext cx="217487" cy="266700"/>
          </a:xfrm>
          <a:custGeom>
            <a:avLst/>
            <a:gdLst/>
            <a:ahLst/>
            <a:cxnLst/>
            <a:rect l="l" t="t" r="r" b="b"/>
            <a:pathLst>
              <a:path w="612000" h="612025">
                <a:moveTo>
                  <a:pt x="0" y="612025"/>
                </a:moveTo>
                <a:lnTo>
                  <a:pt x="612000" y="612025"/>
                </a:lnTo>
                <a:lnTo>
                  <a:pt x="612000" y="0"/>
                </a:lnTo>
                <a:lnTo>
                  <a:pt x="0" y="0"/>
                </a:lnTo>
                <a:lnTo>
                  <a:pt x="0" y="61202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950" dirty="0"/>
          </a:p>
        </p:txBody>
      </p:sp>
      <p:sp>
        <p:nvSpPr>
          <p:cNvPr id="64" name="object 81">
            <a:extLst>
              <a:ext uri="{FF2B5EF4-FFF2-40B4-BE49-F238E27FC236}">
                <a16:creationId xmlns:a16="http://schemas.microsoft.com/office/drawing/2014/main" id="{D6F57A2D-9294-5422-9FFD-59B76914BD9C}"/>
              </a:ext>
            </a:extLst>
          </p:cNvPr>
          <p:cNvSpPr/>
          <p:nvPr userDrawn="1"/>
        </p:nvSpPr>
        <p:spPr>
          <a:xfrm>
            <a:off x="-419100" y="4514850"/>
            <a:ext cx="217487" cy="266700"/>
          </a:xfrm>
          <a:custGeom>
            <a:avLst/>
            <a:gdLst/>
            <a:ahLst/>
            <a:cxnLst/>
            <a:rect l="l" t="t" r="r" b="b"/>
            <a:pathLst>
              <a:path w="612000" h="612025">
                <a:moveTo>
                  <a:pt x="0" y="612025"/>
                </a:moveTo>
                <a:lnTo>
                  <a:pt x="612000" y="612025"/>
                </a:lnTo>
                <a:lnTo>
                  <a:pt x="612000" y="0"/>
                </a:lnTo>
                <a:lnTo>
                  <a:pt x="0" y="0"/>
                </a:lnTo>
                <a:lnTo>
                  <a:pt x="0" y="612025"/>
                </a:lnTo>
                <a:close/>
              </a:path>
            </a:pathLst>
          </a:custGeom>
          <a:solidFill>
            <a:srgbClr val="6262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950" dirty="0"/>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4" r:id="rId3"/>
    <p:sldLayoutId id="2147483685" r:id="rId4"/>
    <p:sldLayoutId id="2147483688" r:id="rId5"/>
    <p:sldLayoutId id="2147483691" r:id="rId6"/>
    <p:sldLayoutId id="2147483692" r:id="rId7"/>
    <p:sldLayoutId id="2147483694" r:id="rId8"/>
  </p:sldLayoutIdLst>
  <p:hf hdr="0" ftr="0" dt="0"/>
  <p:txStyles>
    <p:titleStyle>
      <a:lvl1pPr algn="l" defTabSz="989013" rtl="0" fontAlgn="base">
        <a:lnSpc>
          <a:spcPct val="90000"/>
        </a:lnSpc>
        <a:spcBef>
          <a:spcPct val="0"/>
        </a:spcBef>
        <a:spcAft>
          <a:spcPct val="0"/>
        </a:spcAft>
        <a:tabLst>
          <a:tab pos="457200" algn="l"/>
        </a:tabLst>
        <a:defRPr lang="en-US" sz="2400" b="1" kern="1200" dirty="0">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algn="l" defTabSz="989013" rtl="0" fontAlgn="base">
        <a:lnSpc>
          <a:spcPct val="90000"/>
        </a:lnSpc>
        <a:spcBef>
          <a:spcPct val="0"/>
        </a:spcBef>
        <a:spcAft>
          <a:spcPct val="0"/>
        </a:spcAft>
        <a:tabLst>
          <a:tab pos="457200" algn="l"/>
        </a:tabLst>
        <a:defRPr sz="2400" b="1">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algn="l" defTabSz="989013" rtl="0" fontAlgn="base">
        <a:lnSpc>
          <a:spcPct val="90000"/>
        </a:lnSpc>
        <a:spcBef>
          <a:spcPct val="0"/>
        </a:spcBef>
        <a:spcAft>
          <a:spcPct val="0"/>
        </a:spcAft>
        <a:tabLst>
          <a:tab pos="457200" algn="l"/>
        </a:tabLst>
        <a:defRPr sz="2400" b="1">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algn="l" defTabSz="989013" rtl="0" fontAlgn="base">
        <a:lnSpc>
          <a:spcPct val="90000"/>
        </a:lnSpc>
        <a:spcBef>
          <a:spcPct val="0"/>
        </a:spcBef>
        <a:spcAft>
          <a:spcPct val="0"/>
        </a:spcAft>
        <a:tabLst>
          <a:tab pos="457200" algn="l"/>
        </a:tabLst>
        <a:defRPr sz="2400" b="1">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algn="l" defTabSz="989013" rtl="0" fontAlgn="base">
        <a:lnSpc>
          <a:spcPct val="90000"/>
        </a:lnSpc>
        <a:spcBef>
          <a:spcPct val="0"/>
        </a:spcBef>
        <a:spcAft>
          <a:spcPct val="0"/>
        </a:spcAft>
        <a:tabLst>
          <a:tab pos="457200" algn="l"/>
        </a:tabLst>
        <a:defRPr sz="2400" b="1">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457200" algn="l" defTabSz="989013" rtl="0" fontAlgn="base">
        <a:lnSpc>
          <a:spcPct val="90000"/>
        </a:lnSpc>
        <a:spcBef>
          <a:spcPct val="0"/>
        </a:spcBef>
        <a:spcAft>
          <a:spcPct val="0"/>
        </a:spcAft>
        <a:tabLst>
          <a:tab pos="457200" algn="l"/>
        </a:tabLst>
        <a:defRPr sz="2400" b="1">
          <a:solidFill>
            <a:schemeClr val="tx1"/>
          </a:solidFill>
          <a:latin typeface="Calibri" panose="020F0502020204030204" pitchFamily="34" charset="0"/>
          <a:ea typeface="DFKaiShu-GB5" panose="03000509000000000000" pitchFamily="65" charset="-128"/>
          <a:cs typeface="DFKaiShu-GB5" panose="03000509000000000000" pitchFamily="65" charset="-128"/>
        </a:defRPr>
      </a:lvl6pPr>
      <a:lvl7pPr marL="914400" algn="l" defTabSz="989013" rtl="0" fontAlgn="base">
        <a:lnSpc>
          <a:spcPct val="90000"/>
        </a:lnSpc>
        <a:spcBef>
          <a:spcPct val="0"/>
        </a:spcBef>
        <a:spcAft>
          <a:spcPct val="0"/>
        </a:spcAft>
        <a:tabLst>
          <a:tab pos="457200" algn="l"/>
        </a:tabLst>
        <a:defRPr sz="2400" b="1">
          <a:solidFill>
            <a:schemeClr val="tx1"/>
          </a:solidFill>
          <a:latin typeface="Calibri" panose="020F0502020204030204" pitchFamily="34" charset="0"/>
          <a:ea typeface="DFKaiShu-GB5" panose="03000509000000000000" pitchFamily="65" charset="-128"/>
          <a:cs typeface="DFKaiShu-GB5" panose="03000509000000000000" pitchFamily="65" charset="-128"/>
        </a:defRPr>
      </a:lvl7pPr>
      <a:lvl8pPr marL="1371600" algn="l" defTabSz="989013" rtl="0" fontAlgn="base">
        <a:lnSpc>
          <a:spcPct val="90000"/>
        </a:lnSpc>
        <a:spcBef>
          <a:spcPct val="0"/>
        </a:spcBef>
        <a:spcAft>
          <a:spcPct val="0"/>
        </a:spcAft>
        <a:tabLst>
          <a:tab pos="457200" algn="l"/>
        </a:tabLst>
        <a:defRPr sz="2400" b="1">
          <a:solidFill>
            <a:schemeClr val="tx1"/>
          </a:solidFill>
          <a:latin typeface="Calibri" panose="020F0502020204030204" pitchFamily="34" charset="0"/>
          <a:ea typeface="DFKaiShu-GB5" panose="03000509000000000000" pitchFamily="65" charset="-128"/>
          <a:cs typeface="DFKaiShu-GB5" panose="03000509000000000000" pitchFamily="65" charset="-128"/>
        </a:defRPr>
      </a:lvl8pPr>
      <a:lvl9pPr marL="1828800" algn="l" defTabSz="989013" rtl="0" fontAlgn="base">
        <a:lnSpc>
          <a:spcPct val="90000"/>
        </a:lnSpc>
        <a:spcBef>
          <a:spcPct val="0"/>
        </a:spcBef>
        <a:spcAft>
          <a:spcPct val="0"/>
        </a:spcAft>
        <a:tabLst>
          <a:tab pos="457200" algn="l"/>
        </a:tabLst>
        <a:defRPr sz="2400" b="1">
          <a:solidFill>
            <a:schemeClr val="tx1"/>
          </a:solidFill>
          <a:latin typeface="Calibri" panose="020F0502020204030204" pitchFamily="34" charset="0"/>
          <a:ea typeface="DFKaiShu-GB5" panose="03000509000000000000" pitchFamily="65" charset="-128"/>
          <a:cs typeface="DFKaiShu-GB5" panose="03000509000000000000" pitchFamily="65" charset="-128"/>
        </a:defRPr>
      </a:lvl9pPr>
    </p:titleStyle>
    <p:bodyStyle>
      <a:lvl1pPr marL="246063" indent="-246063" algn="l" defTabSz="989013" rtl="0" fontAlgn="base">
        <a:spcBef>
          <a:spcPct val="0"/>
        </a:spcBef>
        <a:spcAft>
          <a:spcPct val="0"/>
        </a:spcAft>
        <a:buClr>
          <a:srgbClr val="CC0000"/>
        </a:buClr>
        <a:buFont typeface="Wingdings" panose="05000000000000000000" pitchFamily="2" charset="2"/>
        <a:buChar char="§"/>
        <a:tabLst>
          <a:tab pos="246063" algn="l"/>
        </a:tabLst>
        <a:defRPr sz="1400"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1pPr>
      <a:lvl2pPr marL="493713" indent="-246063" algn="l" defTabSz="989013" rtl="0" fontAlgn="base">
        <a:spcBef>
          <a:spcPct val="0"/>
        </a:spcBef>
        <a:spcAft>
          <a:spcPct val="0"/>
        </a:spcAft>
        <a:buFont typeface="Arial" panose="020B0604020202020204" pitchFamily="34" charset="0"/>
        <a:buChar char="─"/>
        <a:defRPr sz="1400"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2pPr>
      <a:lvl3pPr marL="741363" indent="-246063" algn="l" defTabSz="989013" rtl="0" fontAlgn="base">
        <a:spcBef>
          <a:spcPct val="0"/>
        </a:spcBef>
        <a:spcAft>
          <a:spcPct val="0"/>
        </a:spcAft>
        <a:buFont typeface="Arial" panose="020B0604020202020204" pitchFamily="34" charset="0"/>
        <a:buChar char="•"/>
        <a:defRPr sz="1400"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3pPr>
      <a:lvl4pPr marL="989013" indent="-246063" algn="l" defTabSz="989013" rtl="0" fontAlgn="base">
        <a:spcBef>
          <a:spcPct val="0"/>
        </a:spcBef>
        <a:spcAft>
          <a:spcPct val="0"/>
        </a:spcAft>
        <a:buFont typeface="Arial" panose="020B0604020202020204" pitchFamily="34" charset="0"/>
        <a:buChar char="•"/>
        <a:defRPr sz="1400"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4pPr>
      <a:lvl5pPr marL="1360488" indent="-246063" algn="l" defTabSz="989013" rtl="0" fontAlgn="base">
        <a:spcBef>
          <a:spcPct val="0"/>
        </a:spcBef>
        <a:spcAft>
          <a:spcPct val="0"/>
        </a:spcAft>
        <a:buFont typeface="Arial" panose="020B0604020202020204" pitchFamily="34" charset="0"/>
        <a:buChar char="•"/>
        <a:defRPr sz="1400" kern="1200">
          <a:solidFill>
            <a:schemeClr val="tx1"/>
          </a:solidFill>
          <a:latin typeface="Calibri" panose="020F0502020204030204" pitchFamily="34" charset="0"/>
          <a:ea typeface="DFKaiShu-GB5" panose="03000509000000000000" pitchFamily="65" charset="-128"/>
          <a:cs typeface="DFKaiShu-GB5" panose="03000509000000000000" pitchFamily="65" charset="-128"/>
        </a:defRPr>
      </a:lvl5pPr>
      <a:lvl6pPr marL="2724066"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6pPr>
      <a:lvl7pPr marL="3219351"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7pPr>
      <a:lvl8pPr marL="3714636"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8pPr>
      <a:lvl9pPr marL="4209920"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9pPr>
    </p:bodyStyle>
    <p:otherStyle>
      <a:defPPr>
        <a:defRPr lang="en-US"/>
      </a:defPPr>
      <a:lvl1pPr marL="0" algn="l" defTabSz="990570" rtl="0" eaLnBrk="1" latinLnBrk="0" hangingPunct="1">
        <a:defRPr sz="1950" kern="1200">
          <a:solidFill>
            <a:schemeClr val="tx1"/>
          </a:solidFill>
          <a:latin typeface="+mn-lt"/>
          <a:ea typeface="+mn-ea"/>
          <a:cs typeface="+mn-cs"/>
        </a:defRPr>
      </a:lvl1pPr>
      <a:lvl2pPr marL="495285" algn="l" defTabSz="990570" rtl="0" eaLnBrk="1" latinLnBrk="0" hangingPunct="1">
        <a:defRPr sz="1950" kern="1200">
          <a:solidFill>
            <a:schemeClr val="tx1"/>
          </a:solidFill>
          <a:latin typeface="+mn-lt"/>
          <a:ea typeface="+mn-ea"/>
          <a:cs typeface="+mn-cs"/>
        </a:defRPr>
      </a:lvl2pPr>
      <a:lvl3pPr marL="990570" algn="l" defTabSz="990570" rtl="0" eaLnBrk="1" latinLnBrk="0" hangingPunct="1">
        <a:defRPr sz="1950" kern="1200">
          <a:solidFill>
            <a:schemeClr val="tx1"/>
          </a:solidFill>
          <a:latin typeface="+mn-lt"/>
          <a:ea typeface="+mn-ea"/>
          <a:cs typeface="+mn-cs"/>
        </a:defRPr>
      </a:lvl3pPr>
      <a:lvl4pPr marL="1485854" algn="l" defTabSz="990570" rtl="0" eaLnBrk="1" latinLnBrk="0" hangingPunct="1">
        <a:defRPr sz="1950" kern="1200">
          <a:solidFill>
            <a:schemeClr val="tx1"/>
          </a:solidFill>
          <a:latin typeface="+mn-lt"/>
          <a:ea typeface="+mn-ea"/>
          <a:cs typeface="+mn-cs"/>
        </a:defRPr>
      </a:lvl4pPr>
      <a:lvl5pPr marL="1981139" algn="l" defTabSz="990570" rtl="0" eaLnBrk="1" latinLnBrk="0" hangingPunct="1">
        <a:defRPr sz="1950" kern="1200">
          <a:solidFill>
            <a:schemeClr val="tx1"/>
          </a:solidFill>
          <a:latin typeface="+mn-lt"/>
          <a:ea typeface="+mn-ea"/>
          <a:cs typeface="+mn-cs"/>
        </a:defRPr>
      </a:lvl5pPr>
      <a:lvl6pPr marL="2476424" algn="l" defTabSz="990570" rtl="0" eaLnBrk="1" latinLnBrk="0" hangingPunct="1">
        <a:defRPr sz="1950" kern="1200">
          <a:solidFill>
            <a:schemeClr val="tx1"/>
          </a:solidFill>
          <a:latin typeface="+mn-lt"/>
          <a:ea typeface="+mn-ea"/>
          <a:cs typeface="+mn-cs"/>
        </a:defRPr>
      </a:lvl6pPr>
      <a:lvl7pPr marL="2971709" algn="l" defTabSz="990570" rtl="0" eaLnBrk="1" latinLnBrk="0" hangingPunct="1">
        <a:defRPr sz="1950" kern="1200">
          <a:solidFill>
            <a:schemeClr val="tx1"/>
          </a:solidFill>
          <a:latin typeface="+mn-lt"/>
          <a:ea typeface="+mn-ea"/>
          <a:cs typeface="+mn-cs"/>
        </a:defRPr>
      </a:lvl7pPr>
      <a:lvl8pPr marL="3466993" algn="l" defTabSz="990570" rtl="0" eaLnBrk="1" latinLnBrk="0" hangingPunct="1">
        <a:defRPr sz="1950" kern="1200">
          <a:solidFill>
            <a:schemeClr val="tx1"/>
          </a:solidFill>
          <a:latin typeface="+mn-lt"/>
          <a:ea typeface="+mn-ea"/>
          <a:cs typeface="+mn-cs"/>
        </a:defRPr>
      </a:lvl8pPr>
      <a:lvl9pPr marL="3962278" algn="l" defTabSz="990570" rtl="0" eaLnBrk="1" latinLnBrk="0" hangingPunct="1">
        <a:defRPr sz="19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chart" Target="../charts/char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chart" Target="../charts/chart9.xml"/><Relationship Id="rId7" Type="http://schemas.openxmlformats.org/officeDocument/2006/relationships/chart" Target="../charts/chart13.xml"/><Relationship Id="rId2" Type="http://schemas.openxmlformats.org/officeDocument/2006/relationships/chart" Target="../charts/chart8.xml"/><Relationship Id="rId1" Type="http://schemas.openxmlformats.org/officeDocument/2006/relationships/slideLayout" Target="../slideLayouts/slideLayout4.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6.xml.rels><?xml version="1.0" encoding="UTF-8" standalone="yes"?>
<Relationships xmlns="http://schemas.openxmlformats.org/package/2006/relationships"><Relationship Id="rId3" Type="http://schemas.openxmlformats.org/officeDocument/2006/relationships/chart" Target="../charts/chart15.xml"/><Relationship Id="rId7" Type="http://schemas.openxmlformats.org/officeDocument/2006/relationships/chart" Target="../charts/chart19.xml"/><Relationship Id="rId2" Type="http://schemas.openxmlformats.org/officeDocument/2006/relationships/chart" Target="../charts/chart14.xml"/><Relationship Id="rId1" Type="http://schemas.openxmlformats.org/officeDocument/2006/relationships/slideLayout" Target="../slideLayouts/slideLayout4.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1756" y="475756"/>
            <a:ext cx="9144000" cy="424732"/>
          </a:xfrm>
        </p:spPr>
        <p:txBody>
          <a:bodyPr/>
          <a:lstStyle/>
          <a:p>
            <a:r>
              <a:rPr lang="en-GB" altLang="zh-CN">
                <a:solidFill>
                  <a:srgbClr val="000000"/>
                </a:solidFill>
                <a:latin typeface="+mn-lt"/>
                <a:ea typeface="SimSun" pitchFamily="2" charset="-122"/>
              </a:rPr>
              <a:t>Equity Capital Markets Recap – </a:t>
            </a:r>
            <a:r>
              <a:rPr lang="en-US" altLang="zh-CN">
                <a:solidFill>
                  <a:srgbClr val="000000"/>
                </a:solidFill>
                <a:latin typeface="+mn-lt"/>
                <a:ea typeface="SimSun" pitchFamily="2" charset="-122"/>
              </a:rPr>
              <a:t>2026</a:t>
            </a:r>
            <a:r>
              <a:rPr lang="en-GB" altLang="zh-CN">
                <a:solidFill>
                  <a:srgbClr val="000000"/>
                </a:solidFill>
                <a:latin typeface="+mn-lt"/>
                <a:ea typeface="SimSun" pitchFamily="2" charset="-122"/>
              </a:rPr>
              <a:t>YTD</a:t>
            </a:r>
            <a:endParaRPr lang="en-US" dirty="0">
              <a:latin typeface="+mn-lt"/>
            </a:endParaRPr>
          </a:p>
        </p:txBody>
      </p:sp>
      <p:sp>
        <p:nvSpPr>
          <p:cNvPr id="17" name="Text Box 2589">
            <a:extLst>
              <a:ext uri="{FF2B5EF4-FFF2-40B4-BE49-F238E27FC236}">
                <a16:creationId xmlns:a16="http://schemas.microsoft.com/office/drawing/2014/main" id="{90A1E92E-BD19-4C0C-82D9-B11A29019390}"/>
              </a:ext>
            </a:extLst>
          </p:cNvPr>
          <p:cNvSpPr txBox="1">
            <a:spLocks noChangeArrowheads="1"/>
          </p:cNvSpPr>
          <p:nvPr/>
        </p:nvSpPr>
        <p:spPr bwMode="gray">
          <a:xfrm>
            <a:off x="381000" y="882639"/>
            <a:ext cx="9144000" cy="1728487"/>
          </a:xfrm>
          <a:prstGeom prst="rect">
            <a:avLst/>
          </a:prstGeom>
          <a:solidFill>
            <a:schemeClr val="bg1"/>
          </a:solidFill>
          <a:ln w="12700">
            <a:solidFill>
              <a:schemeClr val="tx1">
                <a:lumMod val="95000"/>
                <a:lumOff val="5000"/>
              </a:schemeClr>
            </a:solidFill>
          </a:ln>
          <a:effectLst>
            <a:outerShdw blurRad="50800" dist="38100" dir="2700000" algn="tl" rotWithShape="0">
              <a:prstClr val="black">
                <a:alpha val="40000"/>
              </a:prstClr>
            </a:outerShdw>
          </a:effectLst>
        </p:spPr>
        <p:txBody>
          <a:bodyPr wrap="square" tIns="27432" bIns="27432">
            <a:spAutoFit/>
          </a:bodyPr>
          <a:lstStyle/>
          <a:p>
            <a:pPr marL="187960" marR="6350" indent="-175260" algn="just">
              <a:lnSpc>
                <a:spcPct val="113999"/>
              </a:lnSpc>
              <a:spcBef>
                <a:spcPts val="100"/>
              </a:spcBef>
              <a:spcAft>
                <a:spcPts val="100"/>
              </a:spcAft>
              <a:buClr>
                <a:srgbClr val="C00000"/>
              </a:buClr>
              <a:buFont typeface="Wingdings"/>
              <a:buChar char=""/>
              <a:tabLst>
                <a:tab pos="187960" algn="l"/>
              </a:tabLst>
            </a:pPr>
            <a:r>
              <a:rPr lang="en-US" sz="1050" dirty="0"/>
              <a:t>Global equity markets show divergence, with strong gains in Japan and parts of Asia offset by more modest US performance and mixed results in Greater China amid geopolitical and policy factors. The first US presidential state visit to China in nearly a decade featured talks on trade, Iran, Taiwan, and AI, with symbolic warmth but limited concrete breakthroughs. It eased immediate tensions and signaled ongoing high-level engagement, with plans for follow-up meetings; markets showed limited immediate reaction but supported sentiment in risk assets.</a:t>
            </a:r>
          </a:p>
          <a:p>
            <a:pPr marL="187960" marR="6350" indent="-175260" algn="just">
              <a:lnSpc>
                <a:spcPct val="113999"/>
              </a:lnSpc>
              <a:spcBef>
                <a:spcPts val="100"/>
              </a:spcBef>
              <a:spcAft>
                <a:spcPts val="100"/>
              </a:spcAft>
              <a:buClr>
                <a:srgbClr val="C00000"/>
              </a:buClr>
              <a:buFont typeface="Wingdings"/>
              <a:buChar char=""/>
              <a:tabLst>
                <a:tab pos="187960" algn="l"/>
              </a:tabLst>
            </a:pPr>
            <a:r>
              <a:rPr lang="en-US" sz="1050" dirty="0"/>
              <a:t>S&amp;P 500 went up approximately 8.6% YTD, with the index around 7,400. Solid corporate earnings (especially tech/AI-driven) and resilience despite volatility from geopolitics supported gains. Hang Seng has been relatively muted, hovering near 25,000-26,000 amid property concerns and slower recovery. Shanghai Composite showed modest positive returns but lagged regional peers; stimulus expectations and policy support provided some floor, yet investor caution persisted. Japan’s Nikkei 225 led major indices with strong 19% YTD gains, driven by corporate reforms, earnings, and AI/semiconductor exposure. South Korea’s KOSPI and Taiwan’s TAIEX also posted robust outperformance.</a:t>
            </a:r>
          </a:p>
        </p:txBody>
      </p:sp>
      <p:graphicFrame>
        <p:nvGraphicFramePr>
          <p:cNvPr id="19" name="Chart 18">
            <a:extLst>
              <a:ext uri="{FF2B5EF4-FFF2-40B4-BE49-F238E27FC236}">
                <a16:creationId xmlns:a16="http://schemas.microsoft.com/office/drawing/2014/main" id="{A23D1EAF-7FC6-FF5B-A71B-70D7BC285ABA}"/>
              </a:ext>
            </a:extLst>
          </p:cNvPr>
          <p:cNvGraphicFramePr>
            <a:graphicFrameLocks noChangeAspect="1"/>
          </p:cNvGraphicFramePr>
          <p:nvPr>
            <p:extLst>
              <p:ext uri="{D42A27DB-BD31-4B8C-83A1-F6EECF244321}">
                <p14:modId xmlns:p14="http://schemas.microsoft.com/office/powerpoint/2010/main" val="2843540602"/>
              </p:ext>
            </p:extLst>
          </p:nvPr>
        </p:nvGraphicFramePr>
        <p:xfrm>
          <a:off x="381000" y="3300904"/>
          <a:ext cx="8843779" cy="3348381"/>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7">
            <a:extLst>
              <a:ext uri="{FF2B5EF4-FFF2-40B4-BE49-F238E27FC236}">
                <a16:creationId xmlns:a16="http://schemas.microsoft.com/office/drawing/2014/main" id="{6BFB1566-010D-6803-89D5-7041F476AC0B}"/>
              </a:ext>
            </a:extLst>
          </p:cNvPr>
          <p:cNvSpPr txBox="1">
            <a:spLocks noChangeArrowheads="1"/>
          </p:cNvSpPr>
          <p:nvPr/>
        </p:nvSpPr>
        <p:spPr bwMode="auto">
          <a:xfrm>
            <a:off x="381000" y="2684180"/>
            <a:ext cx="9144000" cy="238698"/>
          </a:xfrm>
          <a:prstGeom prst="rect">
            <a:avLst/>
          </a:prstGeom>
          <a:solidFill>
            <a:schemeClr val="accent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defTabSz="844083">
              <a:defRPr/>
            </a:pPr>
            <a:r>
              <a:rPr lang="en-US" sz="1000" b="1" dirty="0">
                <a:solidFill>
                  <a:srgbClr val="FFFFFF"/>
                </a:solidFill>
                <a:ea typeface="DFKaiShu-GB5"/>
                <a:cs typeface="Arial" panose="020B0604020202020204" pitchFamily="34" charset="0"/>
              </a:rPr>
              <a:t>2026YTD Global Equity Indexes Performance</a:t>
            </a:r>
          </a:p>
        </p:txBody>
      </p:sp>
      <p:sp>
        <p:nvSpPr>
          <p:cNvPr id="23" name="TextBox 22">
            <a:extLst>
              <a:ext uri="{FF2B5EF4-FFF2-40B4-BE49-F238E27FC236}">
                <a16:creationId xmlns:a16="http://schemas.microsoft.com/office/drawing/2014/main" id="{3FB10753-8F7C-3892-F0E3-D976179E7633}"/>
              </a:ext>
            </a:extLst>
          </p:cNvPr>
          <p:cNvSpPr txBox="1">
            <a:spLocks/>
          </p:cNvSpPr>
          <p:nvPr/>
        </p:nvSpPr>
        <p:spPr>
          <a:xfrm>
            <a:off x="1183257" y="6461417"/>
            <a:ext cx="9144000" cy="215444"/>
          </a:xfrm>
          <a:prstGeom prst="rect">
            <a:avLst/>
          </a:prstGeom>
          <a:noFill/>
        </p:spPr>
        <p:txBody>
          <a:bodyPr wrap="square" rtlCol="0" anchor="b" anchorCtr="0">
            <a:spAutoFit/>
          </a:bodyPr>
          <a:lstStyle/>
          <a:p>
            <a:pPr defTabSz="844083" eaLnBrk="0" hangingPunct="0">
              <a:defRPr/>
            </a:pPr>
            <a:r>
              <a:rPr lang="en-US" sz="750" b="0" i="1" dirty="0">
                <a:solidFill>
                  <a:srgbClr val="000000"/>
                </a:solidFill>
                <a:latin typeface="+mn-lt"/>
                <a:ea typeface="DFKaiShu-GB5"/>
                <a:cs typeface="Arial" panose="020B0604020202020204" pitchFamily="34" charset="0"/>
              </a:rPr>
              <a:t>Source: Bloomberg, as of </a:t>
            </a:r>
            <a:r>
              <a:rPr lang="en-US" altLang="zh-CN" sz="750" i="1" dirty="0">
                <a:solidFill>
                  <a:srgbClr val="000000"/>
                </a:solidFill>
                <a:latin typeface="+mn-lt"/>
                <a:ea typeface="DFKaiShu-GB5"/>
                <a:cs typeface="Arial" panose="020B0604020202020204" pitchFamily="34" charset="0"/>
              </a:rPr>
              <a:t>20</a:t>
            </a:r>
            <a:r>
              <a:rPr lang="en-US" sz="750" b="0" i="1" dirty="0">
                <a:solidFill>
                  <a:srgbClr val="000000"/>
                </a:solidFill>
                <a:latin typeface="+mn-lt"/>
                <a:ea typeface="DFKaiShu-GB5"/>
                <a:cs typeface="Arial" panose="020B0604020202020204" pitchFamily="34" charset="0"/>
              </a:rPr>
              <a:t> May 2026</a:t>
            </a:r>
          </a:p>
        </p:txBody>
      </p:sp>
      <p:graphicFrame>
        <p:nvGraphicFramePr>
          <p:cNvPr id="24" name="Table 23">
            <a:extLst>
              <a:ext uri="{FF2B5EF4-FFF2-40B4-BE49-F238E27FC236}">
                <a16:creationId xmlns:a16="http://schemas.microsoft.com/office/drawing/2014/main" id="{49243ED7-D54C-E8F1-8431-49053CA0D0CC}"/>
              </a:ext>
            </a:extLst>
          </p:cNvPr>
          <p:cNvGraphicFramePr>
            <a:graphicFrameLocks noGrp="1" noChangeAspect="1"/>
          </p:cNvGraphicFramePr>
          <p:nvPr>
            <p:extLst>
              <p:ext uri="{D42A27DB-BD31-4B8C-83A1-F6EECF244321}">
                <p14:modId xmlns:p14="http://schemas.microsoft.com/office/powerpoint/2010/main" val="315773182"/>
              </p:ext>
            </p:extLst>
          </p:nvPr>
        </p:nvGraphicFramePr>
        <p:xfrm>
          <a:off x="866049" y="2979108"/>
          <a:ext cx="2066857" cy="974862"/>
        </p:xfrm>
        <a:graphic>
          <a:graphicData uri="http://schemas.openxmlformats.org/drawingml/2006/table">
            <a:tbl>
              <a:tblPr firstRow="1" bandRow="1">
                <a:tableStyleId>{EB344D84-9AFB-497E-A393-DC336BA19D2E}</a:tableStyleId>
              </a:tblPr>
              <a:tblGrid>
                <a:gridCol w="567267">
                  <a:extLst>
                    <a:ext uri="{9D8B030D-6E8A-4147-A177-3AD203B41FA5}">
                      <a16:colId xmlns:a16="http://schemas.microsoft.com/office/drawing/2014/main" val="977300518"/>
                    </a:ext>
                  </a:extLst>
                </a:gridCol>
                <a:gridCol w="636598">
                  <a:extLst>
                    <a:ext uri="{9D8B030D-6E8A-4147-A177-3AD203B41FA5}">
                      <a16:colId xmlns:a16="http://schemas.microsoft.com/office/drawing/2014/main" val="704354447"/>
                    </a:ext>
                  </a:extLst>
                </a:gridCol>
                <a:gridCol w="862992">
                  <a:extLst>
                    <a:ext uri="{9D8B030D-6E8A-4147-A177-3AD203B41FA5}">
                      <a16:colId xmlns:a16="http://schemas.microsoft.com/office/drawing/2014/main" val="3364720608"/>
                    </a:ext>
                  </a:extLst>
                </a:gridCol>
              </a:tblGrid>
              <a:tr h="197622">
                <a:tc>
                  <a:txBody>
                    <a:bodyPr/>
                    <a:lstStyle/>
                    <a:p>
                      <a:pPr algn="ctr" fontAlgn="b"/>
                      <a:r>
                        <a:rPr lang="en-US" sz="800" b="1" u="none" strike="noStrike" dirty="0">
                          <a:solidFill>
                            <a:schemeClr val="bg1"/>
                          </a:solidFill>
                          <a:effectLst/>
                          <a:latin typeface="Arial" panose="020B0604020202020204" pitchFamily="34" charset="0"/>
                        </a:rPr>
                        <a:t>Index</a:t>
                      </a:r>
                      <a:endParaRPr lang="en-US" sz="800" b="1" i="0" u="none" strike="noStrike" dirty="0">
                        <a:solidFill>
                          <a:schemeClr val="bg1"/>
                        </a:solidFill>
                        <a:effectLst/>
                        <a:latin typeface="Arial" panose="020B0604020202020204" pitchFamily="34" charset="0"/>
                      </a:endParaRPr>
                    </a:p>
                  </a:txBody>
                  <a:tcPr marL="8792" marR="8792" marT="8792"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b"/>
                      <a:r>
                        <a:rPr lang="en-US" sz="800" b="1" u="none" strike="noStrike" dirty="0">
                          <a:solidFill>
                            <a:schemeClr val="bg1"/>
                          </a:solidFill>
                          <a:effectLst/>
                          <a:latin typeface="Arial" panose="020B0604020202020204" pitchFamily="34" charset="0"/>
                        </a:rPr>
                        <a:t>2026YTD</a:t>
                      </a:r>
                      <a:endParaRPr lang="en-US" sz="800" b="1" i="0" u="none" strike="noStrike" dirty="0">
                        <a:solidFill>
                          <a:schemeClr val="bg1"/>
                        </a:solidFill>
                        <a:effectLst/>
                        <a:latin typeface="Arial" panose="020B0604020202020204" pitchFamily="34" charset="0"/>
                      </a:endParaRPr>
                    </a:p>
                  </a:txBody>
                  <a:tcPr marL="8792" marR="8792" marT="8792"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b"/>
                      <a:r>
                        <a:rPr lang="en-US" sz="800" b="1" i="0" u="none" strike="noStrike" dirty="0">
                          <a:solidFill>
                            <a:schemeClr val="bg1"/>
                          </a:solidFill>
                          <a:effectLst/>
                          <a:latin typeface="Arial" panose="020B0604020202020204" pitchFamily="34" charset="0"/>
                        </a:rPr>
                        <a:t>Forward 12M P/E </a:t>
                      </a:r>
                    </a:p>
                  </a:txBody>
                  <a:tcPr marL="8792" marR="8792" marT="8792"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135079132"/>
                  </a:ext>
                </a:extLst>
              </a:tr>
              <a:tr h="116892">
                <a:tc>
                  <a:txBody>
                    <a:bodyPr/>
                    <a:lstStyle/>
                    <a:p>
                      <a:pPr algn="ctr" rtl="0" fontAlgn="b">
                        <a:buNone/>
                      </a:pPr>
                      <a:r>
                        <a:rPr lang="en-US" sz="800" b="1" i="0" u="none" strike="noStrike" dirty="0">
                          <a:solidFill>
                            <a:srgbClr val="000000"/>
                          </a:solidFill>
                          <a:effectLst/>
                          <a:latin typeface="Arial" panose="020B0604020202020204" pitchFamily="34" charset="0"/>
                        </a:rPr>
                        <a:t>NKY</a:t>
                      </a:r>
                    </a:p>
                  </a:txBody>
                  <a:tcPr marL="7620" marR="7620" marT="7620" marB="0" anchor="b">
                    <a:lnT w="25400" cmpd="sng">
                      <a:noFill/>
                    </a:lnT>
                    <a:solidFill>
                      <a:schemeClr val="bg1">
                        <a:lumMod val="95000"/>
                      </a:schemeClr>
                    </a:solidFill>
                  </a:tcPr>
                </a:tc>
                <a:tc>
                  <a:txBody>
                    <a:bodyPr/>
                    <a:lstStyle/>
                    <a:p>
                      <a:pPr algn="ctr" rtl="0" fontAlgn="b">
                        <a:buNone/>
                      </a:pPr>
                      <a:r>
                        <a:rPr lang="en-US" altLang="zh-CN" sz="800" b="0" i="0" u="none" strike="noStrike" dirty="0">
                          <a:solidFill>
                            <a:srgbClr val="00B050"/>
                          </a:solidFill>
                          <a:effectLst/>
                          <a:latin typeface="Arial" panose="020B0604020202020204" pitchFamily="34" charset="0"/>
                        </a:rPr>
                        <a:t>18.8</a:t>
                      </a:r>
                      <a:r>
                        <a:rPr lang="en-US" sz="800" b="0" i="0" u="none" strike="noStrike" dirty="0">
                          <a:solidFill>
                            <a:srgbClr val="00B050"/>
                          </a:solidFill>
                          <a:effectLst/>
                          <a:latin typeface="Arial" panose="020B0604020202020204" pitchFamily="34" charset="0"/>
                        </a:rPr>
                        <a:t>%</a:t>
                      </a:r>
                    </a:p>
                  </a:txBody>
                  <a:tcPr marL="7620" marR="7620" marT="7620" marB="0" anchor="b">
                    <a:lnT w="25400" cmpd="sng">
                      <a:noFill/>
                    </a:lnT>
                    <a:solidFill>
                      <a:schemeClr val="bg1">
                        <a:lumMod val="95000"/>
                      </a:schemeClr>
                    </a:solidFill>
                  </a:tcPr>
                </a:tc>
                <a:tc>
                  <a:txBody>
                    <a:bodyPr/>
                    <a:lstStyle/>
                    <a:p>
                      <a:pPr algn="ctr" fontAlgn="b">
                        <a:buNone/>
                      </a:pPr>
                      <a:r>
                        <a:rPr lang="en-US" sz="800" b="0" i="0" u="none" strike="noStrike" dirty="0">
                          <a:solidFill>
                            <a:srgbClr val="000000"/>
                          </a:solidFill>
                          <a:effectLst/>
                          <a:latin typeface="Arial" panose="020B0604020202020204" pitchFamily="34" charset="0"/>
                        </a:rPr>
                        <a:t>21.6x</a:t>
                      </a:r>
                    </a:p>
                  </a:txBody>
                  <a:tcPr marL="7620" marR="7620" marT="7620" marB="0" anchor="b">
                    <a:lnT w="25400" cmpd="sng">
                      <a:noFill/>
                    </a:lnT>
                    <a:solidFill>
                      <a:schemeClr val="bg1">
                        <a:lumMod val="95000"/>
                      </a:schemeClr>
                    </a:solidFill>
                  </a:tcPr>
                </a:tc>
                <a:extLst>
                  <a:ext uri="{0D108BD9-81ED-4DB2-BD59-A6C34878D82A}">
                    <a16:rowId xmlns:a16="http://schemas.microsoft.com/office/drawing/2014/main" val="2638485723"/>
                  </a:ext>
                </a:extLst>
              </a:tr>
              <a:tr h="116892">
                <a:tc>
                  <a:txBody>
                    <a:bodyPr/>
                    <a:lstStyle/>
                    <a:p>
                      <a:pPr algn="ctr" rtl="0" fontAlgn="b">
                        <a:buNone/>
                      </a:pPr>
                      <a:r>
                        <a:rPr lang="en-US" sz="800" b="1" i="0" u="none" strike="noStrike">
                          <a:solidFill>
                            <a:srgbClr val="000000"/>
                          </a:solidFill>
                          <a:effectLst/>
                          <a:latin typeface="Arial" panose="020B0604020202020204" pitchFamily="34" charset="0"/>
                        </a:rPr>
                        <a:t>SPX</a:t>
                      </a:r>
                    </a:p>
                  </a:txBody>
                  <a:tcPr marL="7620" marR="7620" marT="7620" marB="0" anchor="b">
                    <a:solidFill>
                      <a:schemeClr val="bg1"/>
                    </a:solidFill>
                  </a:tcPr>
                </a:tc>
                <a:tc>
                  <a:txBody>
                    <a:bodyPr/>
                    <a:lstStyle/>
                    <a:p>
                      <a:pPr algn="ctr" rtl="0" fontAlgn="b">
                        <a:buNone/>
                      </a:pPr>
                      <a:r>
                        <a:rPr lang="en-US" sz="800" b="0" i="0" u="none" strike="noStrike" dirty="0">
                          <a:solidFill>
                            <a:srgbClr val="00B050"/>
                          </a:solidFill>
                          <a:effectLst/>
                          <a:latin typeface="Arial" panose="020B0604020202020204" pitchFamily="34" charset="0"/>
                        </a:rPr>
                        <a:t>8.</a:t>
                      </a:r>
                      <a:r>
                        <a:rPr lang="en-US" altLang="zh-CN" sz="800" b="0" i="0" u="none" strike="noStrike" dirty="0">
                          <a:solidFill>
                            <a:srgbClr val="00B050"/>
                          </a:solidFill>
                          <a:effectLst/>
                          <a:latin typeface="Arial" panose="020B0604020202020204" pitchFamily="34" charset="0"/>
                        </a:rPr>
                        <a:t>6</a:t>
                      </a:r>
                      <a:r>
                        <a:rPr lang="en-US" sz="800" b="0" i="0" u="none" strike="noStrike" dirty="0">
                          <a:solidFill>
                            <a:srgbClr val="00B050"/>
                          </a:solidFill>
                          <a:effectLst/>
                          <a:latin typeface="Arial" panose="020B0604020202020204" pitchFamily="34" charset="0"/>
                        </a:rPr>
                        <a:t>%</a:t>
                      </a:r>
                    </a:p>
                  </a:txBody>
                  <a:tcPr marL="7620" marR="7620" marT="7620" marB="0" anchor="b">
                    <a:solidFill>
                      <a:schemeClr val="bg1"/>
                    </a:solidFill>
                  </a:tcPr>
                </a:tc>
                <a:tc>
                  <a:txBody>
                    <a:bodyPr/>
                    <a:lstStyle/>
                    <a:p>
                      <a:pPr algn="ctr" fontAlgn="b">
                        <a:buNone/>
                      </a:pPr>
                      <a:r>
                        <a:rPr lang="en-US" sz="800" b="0" i="0" u="none" strike="noStrike" dirty="0">
                          <a:solidFill>
                            <a:srgbClr val="000000"/>
                          </a:solidFill>
                          <a:effectLst/>
                          <a:latin typeface="Arial" panose="020B0604020202020204" pitchFamily="34" charset="0"/>
                        </a:rPr>
                        <a:t>22.1x</a:t>
                      </a:r>
                    </a:p>
                  </a:txBody>
                  <a:tcPr marL="7620" marR="7620" marT="7620" marB="0" anchor="b">
                    <a:solidFill>
                      <a:schemeClr val="bg1"/>
                    </a:solidFill>
                  </a:tcPr>
                </a:tc>
                <a:extLst>
                  <a:ext uri="{0D108BD9-81ED-4DB2-BD59-A6C34878D82A}">
                    <a16:rowId xmlns:a16="http://schemas.microsoft.com/office/drawing/2014/main" val="2790649644"/>
                  </a:ext>
                </a:extLst>
              </a:tr>
              <a:tr h="116892">
                <a:tc>
                  <a:txBody>
                    <a:bodyPr/>
                    <a:lstStyle/>
                    <a:p>
                      <a:pPr algn="ctr" rtl="0" fontAlgn="b">
                        <a:buNone/>
                      </a:pPr>
                      <a:r>
                        <a:rPr lang="en-US" sz="800" b="1" i="0" u="none" strike="noStrike">
                          <a:solidFill>
                            <a:srgbClr val="000000"/>
                          </a:solidFill>
                          <a:effectLst/>
                          <a:latin typeface="Arial" panose="020B0604020202020204" pitchFamily="34" charset="0"/>
                        </a:rPr>
                        <a:t>STI</a:t>
                      </a:r>
                    </a:p>
                  </a:txBody>
                  <a:tcPr marL="7620" marR="7620" marT="7620" marB="0" anchor="b">
                    <a:solidFill>
                      <a:schemeClr val="bg1">
                        <a:lumMod val="95000"/>
                      </a:schemeClr>
                    </a:solidFill>
                  </a:tcPr>
                </a:tc>
                <a:tc>
                  <a:txBody>
                    <a:bodyPr/>
                    <a:lstStyle/>
                    <a:p>
                      <a:pPr algn="ctr" rtl="0" fontAlgn="b">
                        <a:buNone/>
                      </a:pPr>
                      <a:r>
                        <a:rPr lang="en-US" sz="800" b="0" i="0" u="none" strike="noStrike" dirty="0">
                          <a:solidFill>
                            <a:srgbClr val="00B050"/>
                          </a:solidFill>
                          <a:effectLst/>
                          <a:latin typeface="Arial" panose="020B0604020202020204" pitchFamily="34" charset="0"/>
                        </a:rPr>
                        <a:t>8.6%</a:t>
                      </a:r>
                    </a:p>
                  </a:txBody>
                  <a:tcPr marL="7620" marR="7620" marT="7620" marB="0" anchor="b">
                    <a:solidFill>
                      <a:schemeClr val="bg1">
                        <a:lumMod val="95000"/>
                      </a:schemeClr>
                    </a:solidFill>
                  </a:tcPr>
                </a:tc>
                <a:tc>
                  <a:txBody>
                    <a:bodyPr/>
                    <a:lstStyle/>
                    <a:p>
                      <a:pPr algn="ctr" fontAlgn="b">
                        <a:buNone/>
                      </a:pPr>
                      <a:r>
                        <a:rPr lang="en-US" sz="800" b="0" i="0" u="none" strike="noStrike" dirty="0">
                          <a:solidFill>
                            <a:srgbClr val="000000"/>
                          </a:solidFill>
                          <a:effectLst/>
                          <a:latin typeface="Arial" panose="020B0604020202020204" pitchFamily="34" charset="0"/>
                        </a:rPr>
                        <a:t>15.7x</a:t>
                      </a:r>
                    </a:p>
                  </a:txBody>
                  <a:tcPr marL="7620" marR="7620" marT="7620" marB="0" anchor="b">
                    <a:solidFill>
                      <a:schemeClr val="bg1">
                        <a:lumMod val="95000"/>
                      </a:schemeClr>
                    </a:solidFill>
                  </a:tcPr>
                </a:tc>
                <a:extLst>
                  <a:ext uri="{0D108BD9-81ED-4DB2-BD59-A6C34878D82A}">
                    <a16:rowId xmlns:a16="http://schemas.microsoft.com/office/drawing/2014/main" val="1854203271"/>
                  </a:ext>
                </a:extLst>
              </a:tr>
              <a:tr h="116892">
                <a:tc>
                  <a:txBody>
                    <a:bodyPr/>
                    <a:lstStyle/>
                    <a:p>
                      <a:pPr algn="ctr" rtl="0" fontAlgn="b">
                        <a:buNone/>
                      </a:pPr>
                      <a:r>
                        <a:rPr lang="en-US" sz="800" b="1" i="0" u="none" strike="noStrike">
                          <a:solidFill>
                            <a:srgbClr val="000000"/>
                          </a:solidFill>
                          <a:effectLst/>
                          <a:latin typeface="Arial" panose="020B0604020202020204" pitchFamily="34" charset="0"/>
                        </a:rPr>
                        <a:t>SHCOMP</a:t>
                      </a:r>
                    </a:p>
                  </a:txBody>
                  <a:tcPr marL="7620" marR="7620" marT="7620" marB="0" anchor="b">
                    <a:solidFill>
                      <a:schemeClr val="bg1"/>
                    </a:solidFill>
                  </a:tcPr>
                </a:tc>
                <a:tc>
                  <a:txBody>
                    <a:bodyPr/>
                    <a:lstStyle/>
                    <a:p>
                      <a:pPr algn="ctr" rtl="0" fontAlgn="b">
                        <a:buNone/>
                      </a:pPr>
                      <a:r>
                        <a:rPr lang="en-US" sz="800" b="0" i="0" u="none" strike="noStrike" dirty="0">
                          <a:solidFill>
                            <a:srgbClr val="00B050"/>
                          </a:solidFill>
                          <a:effectLst/>
                          <a:latin typeface="Arial" panose="020B0604020202020204" pitchFamily="34" charset="0"/>
                        </a:rPr>
                        <a:t>4.9%</a:t>
                      </a:r>
                    </a:p>
                  </a:txBody>
                  <a:tcPr marL="7620" marR="7620" marT="7620" marB="0" anchor="b">
                    <a:solidFill>
                      <a:schemeClr val="bg1"/>
                    </a:solidFill>
                  </a:tcPr>
                </a:tc>
                <a:tc>
                  <a:txBody>
                    <a:bodyPr/>
                    <a:lstStyle/>
                    <a:p>
                      <a:pPr algn="ctr" fontAlgn="b">
                        <a:buNone/>
                      </a:pPr>
                      <a:r>
                        <a:rPr lang="en-US" sz="800" b="0" i="0" u="none" strike="noStrike" dirty="0">
                          <a:solidFill>
                            <a:srgbClr val="000000"/>
                          </a:solidFill>
                          <a:effectLst/>
                          <a:latin typeface="Arial" panose="020B0604020202020204" pitchFamily="34" charset="0"/>
                        </a:rPr>
                        <a:t>14.6x</a:t>
                      </a:r>
                    </a:p>
                  </a:txBody>
                  <a:tcPr marL="7620" marR="7620" marT="7620" marB="0" anchor="b">
                    <a:solidFill>
                      <a:schemeClr val="bg1"/>
                    </a:solidFill>
                  </a:tcPr>
                </a:tc>
                <a:extLst>
                  <a:ext uri="{0D108BD9-81ED-4DB2-BD59-A6C34878D82A}">
                    <a16:rowId xmlns:a16="http://schemas.microsoft.com/office/drawing/2014/main" val="2091021939"/>
                  </a:ext>
                </a:extLst>
              </a:tr>
              <a:tr h="116892">
                <a:tc>
                  <a:txBody>
                    <a:bodyPr/>
                    <a:lstStyle/>
                    <a:p>
                      <a:pPr algn="ctr" rtl="0" fontAlgn="b">
                        <a:buNone/>
                      </a:pPr>
                      <a:r>
                        <a:rPr lang="en-US" sz="800" b="1" i="0" u="none" strike="noStrike">
                          <a:solidFill>
                            <a:srgbClr val="000000"/>
                          </a:solidFill>
                          <a:effectLst/>
                          <a:latin typeface="Arial" panose="020B0604020202020204" pitchFamily="34" charset="0"/>
                        </a:rPr>
                        <a:t>SXXP</a:t>
                      </a:r>
                    </a:p>
                  </a:txBody>
                  <a:tcPr marL="7620" marR="7620" marT="7620" marB="0" anchor="b">
                    <a:lnB>
                      <a:noFill/>
                    </a:lnB>
                    <a:solidFill>
                      <a:schemeClr val="bg1">
                        <a:lumMod val="95000"/>
                      </a:schemeClr>
                    </a:solidFill>
                  </a:tcPr>
                </a:tc>
                <a:tc>
                  <a:txBody>
                    <a:bodyPr/>
                    <a:lstStyle/>
                    <a:p>
                      <a:pPr algn="ctr" rtl="0" fontAlgn="b">
                        <a:buNone/>
                      </a:pPr>
                      <a:r>
                        <a:rPr lang="en-US" sz="800" b="0" i="0" u="none" strike="noStrike" dirty="0">
                          <a:solidFill>
                            <a:srgbClr val="00B050"/>
                          </a:solidFill>
                          <a:effectLst/>
                          <a:latin typeface="Arial" panose="020B0604020202020204" pitchFamily="34" charset="0"/>
                        </a:rPr>
                        <a:t>4.7%</a:t>
                      </a:r>
                    </a:p>
                  </a:txBody>
                  <a:tcPr marL="7620" marR="7620" marT="7620" marB="0" anchor="b">
                    <a:lnB>
                      <a:noFill/>
                    </a:lnB>
                    <a:solidFill>
                      <a:schemeClr val="bg1">
                        <a:lumMod val="95000"/>
                      </a:schemeClr>
                    </a:solidFill>
                  </a:tcPr>
                </a:tc>
                <a:tc>
                  <a:txBody>
                    <a:bodyPr/>
                    <a:lstStyle/>
                    <a:p>
                      <a:pPr algn="ctr" fontAlgn="b">
                        <a:buNone/>
                      </a:pPr>
                      <a:r>
                        <a:rPr lang="en-US" sz="800" b="0" i="0" u="none" strike="noStrike" dirty="0">
                          <a:solidFill>
                            <a:srgbClr val="000000"/>
                          </a:solidFill>
                          <a:effectLst/>
                          <a:latin typeface="Arial" panose="020B0604020202020204" pitchFamily="34" charset="0"/>
                        </a:rPr>
                        <a:t>15.3x</a:t>
                      </a:r>
                    </a:p>
                  </a:txBody>
                  <a:tcPr marL="7620" marR="7620" marT="7620" marB="0" anchor="b">
                    <a:lnB>
                      <a:noFill/>
                    </a:lnB>
                    <a:solidFill>
                      <a:schemeClr val="bg1">
                        <a:lumMod val="95000"/>
                      </a:schemeClr>
                    </a:solidFill>
                  </a:tcPr>
                </a:tc>
                <a:extLst>
                  <a:ext uri="{0D108BD9-81ED-4DB2-BD59-A6C34878D82A}">
                    <a16:rowId xmlns:a16="http://schemas.microsoft.com/office/drawing/2014/main" val="3897527796"/>
                  </a:ext>
                </a:extLst>
              </a:tr>
              <a:tr h="116892">
                <a:tc>
                  <a:txBody>
                    <a:bodyPr/>
                    <a:lstStyle/>
                    <a:p>
                      <a:pPr algn="ctr" rtl="0" fontAlgn="b">
                        <a:buNone/>
                      </a:pPr>
                      <a:r>
                        <a:rPr lang="en-US" sz="800" b="1" i="0" u="none" strike="noStrike">
                          <a:solidFill>
                            <a:srgbClr val="000000"/>
                          </a:solidFill>
                          <a:effectLst/>
                          <a:latin typeface="Arial" panose="020B0604020202020204" pitchFamily="34" charset="0"/>
                        </a:rPr>
                        <a:t>HSI</a:t>
                      </a:r>
                    </a:p>
                  </a:txBody>
                  <a:tcPr marL="7620" marR="7620" marT="7620" marB="0" anchor="b">
                    <a:lnL>
                      <a:noFill/>
                    </a:lnL>
                    <a:lnR>
                      <a:noFill/>
                    </a:lnR>
                    <a:lnT>
                      <a:noFill/>
                    </a:lnT>
                    <a:lnB w="254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altLang="zh-CN" sz="800" b="0" i="0" u="none" strike="noStrike" dirty="0">
                          <a:solidFill>
                            <a:srgbClr val="00B050"/>
                          </a:solidFill>
                          <a:effectLst/>
                          <a:latin typeface="Arial" panose="020B0604020202020204" pitchFamily="34" charset="0"/>
                        </a:rPr>
                        <a:t>0.1</a:t>
                      </a:r>
                      <a:r>
                        <a:rPr lang="en-US" sz="800" b="0" i="0" u="none" strike="noStrike" dirty="0">
                          <a:solidFill>
                            <a:srgbClr val="00B050"/>
                          </a:solidFill>
                          <a:effectLst/>
                          <a:latin typeface="Arial" panose="020B0604020202020204" pitchFamily="34" charset="0"/>
                        </a:rPr>
                        <a:t>%</a:t>
                      </a:r>
                    </a:p>
                  </a:txBody>
                  <a:tcPr marL="7620" marR="7620" marT="7620" marB="0" anchor="b">
                    <a:lnL>
                      <a:noFill/>
                    </a:lnL>
                    <a:lnR>
                      <a:noFill/>
                    </a:lnR>
                    <a:lnT>
                      <a:noFill/>
                    </a:lnT>
                    <a:lnB w="25400" cmpd="sng">
                      <a:noFill/>
                    </a:lnB>
                    <a:lnTlToBr w="12700" cmpd="sng">
                      <a:noFill/>
                      <a:prstDash val="solid"/>
                    </a:lnTlToBr>
                    <a:lnBlToTr w="12700" cmpd="sng">
                      <a:noFill/>
                      <a:prstDash val="solid"/>
                    </a:lnBlToTr>
                    <a:solidFill>
                      <a:schemeClr val="bg1"/>
                    </a:solidFill>
                  </a:tcPr>
                </a:tc>
                <a:tc>
                  <a:txBody>
                    <a:bodyPr/>
                    <a:lstStyle/>
                    <a:p>
                      <a:pPr algn="ctr" fontAlgn="b">
                        <a:buNone/>
                      </a:pPr>
                      <a:r>
                        <a:rPr lang="en-US" sz="800" b="0" i="0" u="none" strike="noStrike" dirty="0">
                          <a:solidFill>
                            <a:srgbClr val="000000"/>
                          </a:solidFill>
                          <a:effectLst/>
                          <a:latin typeface="Arial" panose="020B0604020202020204" pitchFamily="34" charset="0"/>
                        </a:rPr>
                        <a:t>11.4x</a:t>
                      </a:r>
                    </a:p>
                  </a:txBody>
                  <a:tcPr marL="7620" marR="7620" marT="7620" marB="0" anchor="b">
                    <a:lnL>
                      <a:noFill/>
                    </a:lnL>
                    <a:lnR>
                      <a:noFill/>
                    </a:lnR>
                    <a:lnT>
                      <a:noFill/>
                    </a:lnT>
                    <a:lnB w="254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99454168"/>
                  </a:ext>
                </a:extLst>
              </a:tr>
            </a:tbl>
          </a:graphicData>
        </a:graphic>
      </p:graphicFrame>
      <p:cxnSp>
        <p:nvCxnSpPr>
          <p:cNvPr id="25" name="Straight Connector 32">
            <a:extLst>
              <a:ext uri="{FF2B5EF4-FFF2-40B4-BE49-F238E27FC236}">
                <a16:creationId xmlns:a16="http://schemas.microsoft.com/office/drawing/2014/main" id="{BACB8B0F-2672-92D0-4CD3-46F5559CAD28}"/>
              </a:ext>
            </a:extLst>
          </p:cNvPr>
          <p:cNvCxnSpPr>
            <a:cxnSpLocks noChangeAspect="1"/>
          </p:cNvCxnSpPr>
          <p:nvPr/>
        </p:nvCxnSpPr>
        <p:spPr bwMode="auto">
          <a:xfrm>
            <a:off x="4473089" y="3391753"/>
            <a:ext cx="0" cy="2686689"/>
          </a:xfrm>
          <a:prstGeom prst="line">
            <a:avLst/>
          </a:prstGeom>
          <a:ln w="19050" cap="flat" cmpd="sng" algn="ctr">
            <a:solidFill>
              <a:srgbClr val="40404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F1422AD4-935F-0319-E017-6C961EE5FD22}"/>
              </a:ext>
            </a:extLst>
          </p:cNvPr>
          <p:cNvSpPr txBox="1">
            <a:spLocks noChangeAspect="1"/>
          </p:cNvSpPr>
          <p:nvPr/>
        </p:nvSpPr>
        <p:spPr>
          <a:xfrm>
            <a:off x="1614901" y="4170846"/>
            <a:ext cx="1026813" cy="738664"/>
          </a:xfrm>
          <a:prstGeom prst="rect">
            <a:avLst/>
          </a:prstGeom>
          <a:solidFill>
            <a:schemeClr val="bg1">
              <a:lumMod val="95000"/>
              <a:alpha val="80000"/>
            </a:schemeClr>
          </a:solidFill>
        </p:spPr>
        <p:txBody>
          <a:bodyPr wrap="square" rtlCol="0">
            <a:spAutoFit/>
          </a:bodyPr>
          <a:lstStyle/>
          <a:p>
            <a:pPr defTabSz="844083">
              <a:defRPr/>
            </a:pPr>
            <a:r>
              <a:rPr lang="en-US" sz="700" dirty="0">
                <a:solidFill>
                  <a:srgbClr val="000000"/>
                </a:solidFill>
                <a:latin typeface="+mn-lt"/>
                <a:ea typeface="DFKaiShu-GB5"/>
              </a:rPr>
              <a:t>Jan</a:t>
            </a:r>
            <a:r>
              <a:rPr lang="en-US" sz="700" b="0" dirty="0">
                <a:solidFill>
                  <a:srgbClr val="000000"/>
                </a:solidFill>
                <a:latin typeface="+mn-lt"/>
                <a:ea typeface="DFKaiShu-GB5"/>
              </a:rPr>
              <a:t> – US stocks opened the year strongly, driven by solid economic fundamentals and enthusiasm for AI.</a:t>
            </a:r>
            <a:endParaRPr lang="en-US" sz="700" dirty="0">
              <a:solidFill>
                <a:srgbClr val="000000"/>
              </a:solidFill>
              <a:latin typeface="+mn-lt"/>
              <a:ea typeface="DFKaiShu-GB5"/>
            </a:endParaRPr>
          </a:p>
        </p:txBody>
      </p:sp>
      <p:cxnSp>
        <p:nvCxnSpPr>
          <p:cNvPr id="27" name="Straight Connector 32">
            <a:extLst>
              <a:ext uri="{FF2B5EF4-FFF2-40B4-BE49-F238E27FC236}">
                <a16:creationId xmlns:a16="http://schemas.microsoft.com/office/drawing/2014/main" id="{02903A3D-1DAF-F07E-7C1E-EE9996266461}"/>
              </a:ext>
            </a:extLst>
          </p:cNvPr>
          <p:cNvCxnSpPr>
            <a:cxnSpLocks noChangeAspect="1"/>
          </p:cNvCxnSpPr>
          <p:nvPr/>
        </p:nvCxnSpPr>
        <p:spPr bwMode="auto">
          <a:xfrm>
            <a:off x="2798056" y="4540178"/>
            <a:ext cx="0" cy="1538264"/>
          </a:xfrm>
          <a:prstGeom prst="line">
            <a:avLst/>
          </a:prstGeom>
          <a:ln w="19050" cap="flat" cmpd="sng" algn="ctr">
            <a:solidFill>
              <a:srgbClr val="40404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468C9652-9E34-CE9A-3D83-9F714D332DD0}"/>
              </a:ext>
            </a:extLst>
          </p:cNvPr>
          <p:cNvSpPr txBox="1">
            <a:spLocks noChangeAspect="1"/>
          </p:cNvSpPr>
          <p:nvPr/>
        </p:nvSpPr>
        <p:spPr>
          <a:xfrm>
            <a:off x="4629432" y="3068587"/>
            <a:ext cx="1339858" cy="738664"/>
          </a:xfrm>
          <a:prstGeom prst="rect">
            <a:avLst/>
          </a:prstGeom>
          <a:solidFill>
            <a:schemeClr val="bg1">
              <a:lumMod val="95000"/>
              <a:alpha val="80000"/>
            </a:schemeClr>
          </a:solidFill>
        </p:spPr>
        <p:txBody>
          <a:bodyPr wrap="square" rtlCol="0">
            <a:spAutoFit/>
          </a:bodyPr>
          <a:lstStyle/>
          <a:p>
            <a:pPr defTabSz="844083">
              <a:defRPr/>
            </a:pPr>
            <a:r>
              <a:rPr lang="en-US" sz="700" dirty="0">
                <a:solidFill>
                  <a:srgbClr val="000000"/>
                </a:solidFill>
                <a:latin typeface="+mn-lt"/>
                <a:ea typeface="DFKaiShu-GB5" panose="03000509000000000000" pitchFamily="65" charset="-128"/>
                <a:cs typeface="DFKaiShu-GB5" panose="03000509000000000000" pitchFamily="65" charset="-128"/>
              </a:rPr>
              <a:t>28 Feb </a:t>
            </a:r>
            <a:r>
              <a:rPr lang="en-US" sz="700" b="0" dirty="0">
                <a:solidFill>
                  <a:srgbClr val="000000"/>
                </a:solidFill>
                <a:latin typeface="+mn-lt"/>
                <a:ea typeface="DFKaiShu-GB5" panose="03000509000000000000" pitchFamily="65" charset="-128"/>
                <a:cs typeface="DFKaiShu-GB5" panose="03000509000000000000" pitchFamily="65" charset="-128"/>
              </a:rPr>
              <a:t>– US and Israel launched a series of joint military strikes against targets in Iran. Triggering surge in gold and oil prices and putting pressure on global equities</a:t>
            </a:r>
            <a:endParaRPr lang="en-US" sz="700" b="0" dirty="0">
              <a:solidFill>
                <a:srgbClr val="000000"/>
              </a:solidFill>
              <a:latin typeface="+mn-lt"/>
              <a:ea typeface="DFKaiShu-GB5"/>
            </a:endParaRPr>
          </a:p>
        </p:txBody>
      </p:sp>
      <p:pic>
        <p:nvPicPr>
          <p:cNvPr id="29" name="Picture 28" descr="A blue and white globe&#10;&#10;AI-generated content may be incorrect.">
            <a:extLst>
              <a:ext uri="{FF2B5EF4-FFF2-40B4-BE49-F238E27FC236}">
                <a16:creationId xmlns:a16="http://schemas.microsoft.com/office/drawing/2014/main" id="{4A3AB5AF-9C0A-656A-60E8-C6F85B72627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58599" y="3060670"/>
            <a:ext cx="229598" cy="238928"/>
          </a:xfrm>
          <a:prstGeom prst="rect">
            <a:avLst/>
          </a:prstGeom>
        </p:spPr>
      </p:pic>
      <p:pic>
        <p:nvPicPr>
          <p:cNvPr id="30" name="Picture 29">
            <a:extLst>
              <a:ext uri="{FF2B5EF4-FFF2-40B4-BE49-F238E27FC236}">
                <a16:creationId xmlns:a16="http://schemas.microsoft.com/office/drawing/2014/main" id="{25612609-EB26-B215-FE30-69672CFDF9AD}"/>
              </a:ext>
            </a:extLst>
          </p:cNvPr>
          <p:cNvPicPr>
            <a:picLocks noChangeAspect="1"/>
          </p:cNvPicPr>
          <p:nvPr/>
        </p:nvPicPr>
        <p:blipFill>
          <a:blip r:embed="rId5"/>
          <a:stretch>
            <a:fillRect/>
          </a:stretch>
        </p:blipFill>
        <p:spPr>
          <a:xfrm>
            <a:off x="2678630" y="4256109"/>
            <a:ext cx="248014" cy="220136"/>
          </a:xfrm>
          <a:prstGeom prst="rect">
            <a:avLst/>
          </a:prstGeom>
        </p:spPr>
      </p:pic>
      <p:pic>
        <p:nvPicPr>
          <p:cNvPr id="32" name="Picture 31">
            <a:extLst>
              <a:ext uri="{FF2B5EF4-FFF2-40B4-BE49-F238E27FC236}">
                <a16:creationId xmlns:a16="http://schemas.microsoft.com/office/drawing/2014/main" id="{86FBDC8D-CDB5-6F72-9945-3759D1E00B2F}"/>
              </a:ext>
            </a:extLst>
          </p:cNvPr>
          <p:cNvPicPr>
            <a:picLocks noChangeAspect="1"/>
          </p:cNvPicPr>
          <p:nvPr/>
        </p:nvPicPr>
        <p:blipFill>
          <a:blip r:embed="rId6"/>
          <a:stretch>
            <a:fillRect/>
          </a:stretch>
        </p:blipFill>
        <p:spPr>
          <a:xfrm>
            <a:off x="3026484" y="3068587"/>
            <a:ext cx="220136" cy="220136"/>
          </a:xfrm>
          <a:prstGeom prst="rect">
            <a:avLst/>
          </a:prstGeom>
        </p:spPr>
      </p:pic>
      <p:cxnSp>
        <p:nvCxnSpPr>
          <p:cNvPr id="38" name="Straight Connector 32">
            <a:extLst>
              <a:ext uri="{FF2B5EF4-FFF2-40B4-BE49-F238E27FC236}">
                <a16:creationId xmlns:a16="http://schemas.microsoft.com/office/drawing/2014/main" id="{49EA541E-CD8F-6267-9A7F-8BDCFA943E04}"/>
              </a:ext>
            </a:extLst>
          </p:cNvPr>
          <p:cNvCxnSpPr>
            <a:cxnSpLocks noChangeAspect="1"/>
          </p:cNvCxnSpPr>
          <p:nvPr/>
        </p:nvCxnSpPr>
        <p:spPr bwMode="auto">
          <a:xfrm>
            <a:off x="3121135" y="3391752"/>
            <a:ext cx="0" cy="2686690"/>
          </a:xfrm>
          <a:prstGeom prst="line">
            <a:avLst/>
          </a:prstGeom>
          <a:ln w="19050" cap="flat" cmpd="sng" algn="ctr">
            <a:solidFill>
              <a:srgbClr val="40404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0" name="TextBox 39">
            <a:extLst>
              <a:ext uri="{FF2B5EF4-FFF2-40B4-BE49-F238E27FC236}">
                <a16:creationId xmlns:a16="http://schemas.microsoft.com/office/drawing/2014/main" id="{34243F82-99E6-86BA-CDA8-F437F2CE8901}"/>
              </a:ext>
            </a:extLst>
          </p:cNvPr>
          <p:cNvSpPr txBox="1">
            <a:spLocks noChangeAspect="1"/>
          </p:cNvSpPr>
          <p:nvPr/>
        </p:nvSpPr>
        <p:spPr>
          <a:xfrm>
            <a:off x="3267237" y="3072009"/>
            <a:ext cx="1011427" cy="1061829"/>
          </a:xfrm>
          <a:prstGeom prst="rect">
            <a:avLst/>
          </a:prstGeom>
          <a:solidFill>
            <a:schemeClr val="bg1">
              <a:lumMod val="95000"/>
              <a:alpha val="80000"/>
            </a:schemeClr>
          </a:solidFill>
        </p:spPr>
        <p:txBody>
          <a:bodyPr wrap="square" rtlCol="0">
            <a:spAutoFit/>
          </a:bodyPr>
          <a:lstStyle/>
          <a:p>
            <a:pPr defTabSz="844083">
              <a:defRPr/>
            </a:pPr>
            <a:r>
              <a:rPr lang="en-US" sz="700" dirty="0">
                <a:solidFill>
                  <a:srgbClr val="000000"/>
                </a:solidFill>
                <a:latin typeface="+mn-lt"/>
                <a:ea typeface="DFKaiShu-GB5" panose="03000509000000000000" pitchFamily="65" charset="-128"/>
                <a:cs typeface="DFKaiShu-GB5" panose="03000509000000000000" pitchFamily="65" charset="-128"/>
              </a:rPr>
              <a:t>8 Feb </a:t>
            </a:r>
            <a:r>
              <a:rPr lang="en-US" sz="700" b="0" dirty="0">
                <a:solidFill>
                  <a:srgbClr val="000000"/>
                </a:solidFill>
                <a:latin typeface="+mn-lt"/>
                <a:ea typeface="DFKaiShu-GB5" panose="03000509000000000000" pitchFamily="65" charset="-128"/>
                <a:cs typeface="DFKaiShu-GB5" panose="03000509000000000000" pitchFamily="65" charset="-128"/>
              </a:rPr>
              <a:t>– In Japan, snap election victory by Prime Minister </a:t>
            </a:r>
            <a:r>
              <a:rPr lang="en-US" sz="700" b="0" dirty="0" err="1">
                <a:solidFill>
                  <a:srgbClr val="000000"/>
                </a:solidFill>
                <a:latin typeface="+mn-lt"/>
                <a:ea typeface="DFKaiShu-GB5" panose="03000509000000000000" pitchFamily="65" charset="-128"/>
                <a:cs typeface="DFKaiShu-GB5" panose="03000509000000000000" pitchFamily="65" charset="-128"/>
              </a:rPr>
              <a:t>Takaichi</a:t>
            </a:r>
            <a:r>
              <a:rPr lang="en-US" sz="700" b="0" dirty="0">
                <a:solidFill>
                  <a:srgbClr val="000000"/>
                </a:solidFill>
                <a:latin typeface="+mn-lt"/>
                <a:ea typeface="DFKaiShu-GB5" panose="03000509000000000000" pitchFamily="65" charset="-128"/>
                <a:cs typeface="DFKaiShu-GB5" panose="03000509000000000000" pitchFamily="65" charset="-128"/>
              </a:rPr>
              <a:t> brings  confidence to investors that the fiscal and economic initiatives promised will spur growth</a:t>
            </a:r>
            <a:endParaRPr lang="en-US" sz="700" b="0" dirty="0">
              <a:solidFill>
                <a:srgbClr val="000000"/>
              </a:solidFill>
              <a:latin typeface="+mn-lt"/>
              <a:ea typeface="DFKaiShu-GB5"/>
            </a:endParaRPr>
          </a:p>
        </p:txBody>
      </p:sp>
      <p:sp>
        <p:nvSpPr>
          <p:cNvPr id="41" name="TextBox 40">
            <a:extLst>
              <a:ext uri="{FF2B5EF4-FFF2-40B4-BE49-F238E27FC236}">
                <a16:creationId xmlns:a16="http://schemas.microsoft.com/office/drawing/2014/main" id="{D467D1DB-254C-B86E-73A8-4C3442632B16}"/>
              </a:ext>
            </a:extLst>
          </p:cNvPr>
          <p:cNvSpPr txBox="1">
            <a:spLocks noChangeAspect="1"/>
          </p:cNvSpPr>
          <p:nvPr/>
        </p:nvSpPr>
        <p:spPr>
          <a:xfrm>
            <a:off x="6478897" y="3017929"/>
            <a:ext cx="2066858" cy="954107"/>
          </a:xfrm>
          <a:prstGeom prst="rect">
            <a:avLst/>
          </a:prstGeom>
          <a:solidFill>
            <a:schemeClr val="bg1">
              <a:lumMod val="95000"/>
              <a:alpha val="80000"/>
            </a:schemeClr>
          </a:solidFill>
        </p:spPr>
        <p:txBody>
          <a:bodyPr wrap="square" rtlCol="0">
            <a:spAutoFit/>
          </a:bodyPr>
          <a:lstStyle/>
          <a:p>
            <a:pPr defTabSz="844083">
              <a:defRPr/>
            </a:pPr>
            <a:r>
              <a:rPr lang="en-US" sz="700" dirty="0">
                <a:solidFill>
                  <a:srgbClr val="000000"/>
                </a:solidFill>
                <a:latin typeface="+mn-lt"/>
                <a:ea typeface="DFKaiShu-GB5" panose="03000509000000000000" pitchFamily="65" charset="-128"/>
                <a:cs typeface="DFKaiShu-GB5" panose="03000509000000000000" pitchFamily="65" charset="-128"/>
              </a:rPr>
              <a:t>Rebound from Apr </a:t>
            </a:r>
            <a:r>
              <a:rPr lang="en-US" sz="700" b="0" dirty="0">
                <a:solidFill>
                  <a:srgbClr val="000000"/>
                </a:solidFill>
                <a:latin typeface="+mn-lt"/>
                <a:ea typeface="DFKaiShu-GB5" panose="03000509000000000000" pitchFamily="65" charset="-128"/>
                <a:cs typeface="DFKaiShu-GB5" panose="03000509000000000000" pitchFamily="65" charset="-128"/>
              </a:rPr>
              <a:t>– Middle East geopolitical fears slightly stabilized into talks of ceasefire. </a:t>
            </a:r>
          </a:p>
          <a:p>
            <a:pPr defTabSz="844083">
              <a:defRPr/>
            </a:pPr>
            <a:endParaRPr lang="en-US" sz="700" b="0" dirty="0">
              <a:solidFill>
                <a:srgbClr val="000000"/>
              </a:solidFill>
              <a:latin typeface="+mn-lt"/>
              <a:ea typeface="DFKaiShu-GB5" panose="03000509000000000000" pitchFamily="65" charset="-128"/>
              <a:cs typeface="DFKaiShu-GB5" panose="03000509000000000000" pitchFamily="65" charset="-128"/>
            </a:endParaRPr>
          </a:p>
          <a:p>
            <a:pPr defTabSz="844083">
              <a:defRPr/>
            </a:pPr>
            <a:r>
              <a:rPr lang="en-US" sz="700" b="0" dirty="0">
                <a:solidFill>
                  <a:srgbClr val="000000"/>
                </a:solidFill>
                <a:latin typeface="+mn-lt"/>
                <a:ea typeface="DFKaiShu-GB5" panose="03000509000000000000" pitchFamily="65" charset="-128"/>
                <a:cs typeface="DFKaiShu-GB5" panose="03000509000000000000" pitchFamily="65" charset="-128"/>
              </a:rPr>
              <a:t>Equities investors shifted attention back to a flurry of positive corporate earnings globally. </a:t>
            </a:r>
          </a:p>
          <a:p>
            <a:pPr defTabSz="844083">
              <a:defRPr/>
            </a:pPr>
            <a:endParaRPr lang="en-US" sz="700" b="0" dirty="0">
              <a:solidFill>
                <a:srgbClr val="000000"/>
              </a:solidFill>
              <a:latin typeface="+mn-lt"/>
              <a:ea typeface="DFKaiShu-GB5" panose="03000509000000000000" pitchFamily="65" charset="-128"/>
              <a:cs typeface="DFKaiShu-GB5" panose="03000509000000000000" pitchFamily="65" charset="-128"/>
            </a:endParaRPr>
          </a:p>
          <a:p>
            <a:pPr defTabSz="844083">
              <a:defRPr/>
            </a:pPr>
            <a:r>
              <a:rPr lang="en-US" sz="700" b="0" dirty="0">
                <a:solidFill>
                  <a:srgbClr val="000000"/>
                </a:solidFill>
                <a:latin typeface="+mn-lt"/>
                <a:ea typeface="DFKaiShu-GB5" panose="03000509000000000000" pitchFamily="65" charset="-128"/>
                <a:cs typeface="DFKaiShu-GB5" panose="03000509000000000000" pitchFamily="65" charset="-128"/>
              </a:rPr>
              <a:t>Markets were also lifted by optimism on AI infrastructure and semiconductor thematic play</a:t>
            </a:r>
            <a:endParaRPr lang="en-US" sz="700" b="0" dirty="0">
              <a:solidFill>
                <a:srgbClr val="000000"/>
              </a:solidFill>
              <a:latin typeface="+mn-lt"/>
              <a:ea typeface="DFKaiShu-GB5"/>
            </a:endParaRPr>
          </a:p>
        </p:txBody>
      </p:sp>
      <p:pic>
        <p:nvPicPr>
          <p:cNvPr id="42" name="Picture 41" descr="A blue and white globe&#10;&#10;AI-generated content may be incorrect.">
            <a:extLst>
              <a:ext uri="{FF2B5EF4-FFF2-40B4-BE49-F238E27FC236}">
                <a16:creationId xmlns:a16="http://schemas.microsoft.com/office/drawing/2014/main" id="{EA9AC586-12C2-8077-2C38-64A43AC718C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83687" y="3367039"/>
            <a:ext cx="229598" cy="246077"/>
          </a:xfrm>
          <a:prstGeom prst="rect">
            <a:avLst/>
          </a:prstGeom>
        </p:spPr>
      </p:pic>
      <p:cxnSp>
        <p:nvCxnSpPr>
          <p:cNvPr id="43" name="Straight Connector 32">
            <a:extLst>
              <a:ext uri="{FF2B5EF4-FFF2-40B4-BE49-F238E27FC236}">
                <a16:creationId xmlns:a16="http://schemas.microsoft.com/office/drawing/2014/main" id="{E385C662-632C-6F81-4BEE-C69F9F1840E9}"/>
              </a:ext>
            </a:extLst>
          </p:cNvPr>
          <p:cNvCxnSpPr>
            <a:cxnSpLocks noChangeAspect="1"/>
          </p:cNvCxnSpPr>
          <p:nvPr/>
        </p:nvCxnSpPr>
        <p:spPr bwMode="auto">
          <a:xfrm>
            <a:off x="6291595" y="3903006"/>
            <a:ext cx="0" cy="2175436"/>
          </a:xfrm>
          <a:prstGeom prst="line">
            <a:avLst/>
          </a:prstGeom>
          <a:ln w="19050" cap="flat" cmpd="sng" algn="ctr">
            <a:solidFill>
              <a:srgbClr val="40404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5" name="Picture 44">
            <a:extLst>
              <a:ext uri="{FF2B5EF4-FFF2-40B4-BE49-F238E27FC236}">
                <a16:creationId xmlns:a16="http://schemas.microsoft.com/office/drawing/2014/main" id="{89D6DC1D-3458-3CCF-FCA7-52070785EEB8}"/>
              </a:ext>
            </a:extLst>
          </p:cNvPr>
          <p:cNvPicPr>
            <a:picLocks noChangeAspect="1"/>
          </p:cNvPicPr>
          <p:nvPr/>
        </p:nvPicPr>
        <p:blipFill>
          <a:blip r:embed="rId5"/>
          <a:stretch>
            <a:fillRect/>
          </a:stretch>
        </p:blipFill>
        <p:spPr>
          <a:xfrm>
            <a:off x="6160841" y="3091431"/>
            <a:ext cx="248014" cy="220136"/>
          </a:xfrm>
          <a:prstGeom prst="rect">
            <a:avLst/>
          </a:prstGeom>
        </p:spPr>
      </p:pic>
      <p:pic>
        <p:nvPicPr>
          <p:cNvPr id="46" name="Picture 45">
            <a:extLst>
              <a:ext uri="{FF2B5EF4-FFF2-40B4-BE49-F238E27FC236}">
                <a16:creationId xmlns:a16="http://schemas.microsoft.com/office/drawing/2014/main" id="{E4143524-697D-9CE9-EF04-4FAAE0B4DB5A}"/>
              </a:ext>
            </a:extLst>
          </p:cNvPr>
          <p:cNvPicPr>
            <a:picLocks noChangeAspect="1"/>
          </p:cNvPicPr>
          <p:nvPr/>
        </p:nvPicPr>
        <p:blipFill>
          <a:blip r:embed="rId6"/>
          <a:stretch>
            <a:fillRect/>
          </a:stretch>
        </p:blipFill>
        <p:spPr>
          <a:xfrm>
            <a:off x="6178676" y="3669346"/>
            <a:ext cx="220136" cy="220136"/>
          </a:xfrm>
          <a:prstGeom prst="rect">
            <a:avLst/>
          </a:prstGeom>
        </p:spPr>
      </p:pic>
    </p:spTree>
    <p:extLst>
      <p:ext uri="{BB962C8B-B14F-4D97-AF65-F5344CB8AC3E}">
        <p14:creationId xmlns:p14="http://schemas.microsoft.com/office/powerpoint/2010/main" val="35774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 name="Chart 93">
            <a:extLst>
              <a:ext uri="{FF2B5EF4-FFF2-40B4-BE49-F238E27FC236}">
                <a16:creationId xmlns:a16="http://schemas.microsoft.com/office/drawing/2014/main" id="{F1892D96-CD77-6040-CCD7-24A119196FBA}"/>
              </a:ext>
            </a:extLst>
          </p:cNvPr>
          <p:cNvGraphicFramePr/>
          <p:nvPr>
            <p:extLst>
              <p:ext uri="{D42A27DB-BD31-4B8C-83A1-F6EECF244321}">
                <p14:modId xmlns:p14="http://schemas.microsoft.com/office/powerpoint/2010/main" val="471626224"/>
              </p:ext>
            </p:extLst>
          </p:nvPr>
        </p:nvGraphicFramePr>
        <p:xfrm>
          <a:off x="4602495" y="1235507"/>
          <a:ext cx="4261311" cy="2240440"/>
        </p:xfrm>
        <a:graphic>
          <a:graphicData uri="http://schemas.openxmlformats.org/drawingml/2006/chart">
            <c:chart xmlns:c="http://schemas.openxmlformats.org/drawingml/2006/chart" xmlns:r="http://schemas.openxmlformats.org/officeDocument/2006/relationships" r:id="rId3"/>
          </a:graphicData>
        </a:graphic>
      </p:graphicFrame>
      <p:grpSp>
        <p:nvGrpSpPr>
          <p:cNvPr id="13" name="Group 12">
            <a:extLst>
              <a:ext uri="{FF2B5EF4-FFF2-40B4-BE49-F238E27FC236}">
                <a16:creationId xmlns:a16="http://schemas.microsoft.com/office/drawing/2014/main" id="{D3BD3AD3-DD4E-2BD0-C63F-90718EF0ECB3}"/>
              </a:ext>
            </a:extLst>
          </p:cNvPr>
          <p:cNvGrpSpPr/>
          <p:nvPr/>
        </p:nvGrpSpPr>
        <p:grpSpPr>
          <a:xfrm>
            <a:off x="3287208" y="5998296"/>
            <a:ext cx="961399" cy="129044"/>
            <a:chOff x="5212080" y="6058079"/>
            <a:chExt cx="721175" cy="20363"/>
          </a:xfrm>
        </p:grpSpPr>
        <p:cxnSp>
          <p:nvCxnSpPr>
            <p:cNvPr id="16" name="Straight Connector 15">
              <a:extLst>
                <a:ext uri="{FF2B5EF4-FFF2-40B4-BE49-F238E27FC236}">
                  <a16:creationId xmlns:a16="http://schemas.microsoft.com/office/drawing/2014/main" id="{1B6AA97C-AB80-BEE9-C082-F41BC4E624FD}"/>
                </a:ext>
              </a:extLst>
            </p:cNvPr>
            <p:cNvCxnSpPr>
              <a:cxnSpLocks/>
            </p:cNvCxnSpPr>
            <p:nvPr/>
          </p:nvCxnSpPr>
          <p:spPr bwMode="auto">
            <a:xfrm>
              <a:off x="5212080" y="6068259"/>
              <a:ext cx="721175" cy="0"/>
            </a:xfrm>
            <a:prstGeom prst="line">
              <a:avLst/>
            </a:prstGeom>
            <a:noFill/>
            <a:ln w="9525" cap="flat" cmpd="sng" algn="ctr">
              <a:solidFill>
                <a:schemeClr val="tx1">
                  <a:lumMod val="85000"/>
                  <a:lumOff val="15000"/>
                </a:schemeClr>
              </a:solidFill>
              <a:prstDash val="solid"/>
              <a:round/>
              <a:headEnd type="arrow" w="sm" len="sm"/>
              <a:tailEnd type="arrow"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68">
              <a:extLst>
                <a:ext uri="{FF2B5EF4-FFF2-40B4-BE49-F238E27FC236}">
                  <a16:creationId xmlns:a16="http://schemas.microsoft.com/office/drawing/2014/main" id="{4913CEEE-4A6D-355A-F96C-1BAE7DF52CFD}"/>
                </a:ext>
              </a:extLst>
            </p:cNvPr>
            <p:cNvSpPr txBox="1"/>
            <p:nvPr/>
          </p:nvSpPr>
          <p:spPr>
            <a:xfrm>
              <a:off x="5434421" y="6058079"/>
              <a:ext cx="222977" cy="20363"/>
            </a:xfrm>
            <a:prstGeom prst="rect">
              <a:avLst/>
            </a:prstGeom>
            <a:solidFill>
              <a:schemeClr val="bg1"/>
            </a:solidFill>
          </p:spPr>
          <p:txBody>
            <a:bodyPr wrap="square" lIns="27432" tIns="0" rIns="27432" bIns="0" rtlCol="0" anchor="ctr" anchorCtr="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sz="800">
                  <a:solidFill>
                    <a:srgbClr val="000000"/>
                  </a:solidFill>
                  <a:latin typeface="Arial" panose="020B0604020202020204" pitchFamily="34" charset="0"/>
                  <a:ea typeface="DFKaiShu-GB5"/>
                  <a:cs typeface="Arial" panose="020B0604020202020204" pitchFamily="34" charset="0"/>
                </a:defRPr>
              </a:lvl1pPr>
              <a:lvl2pPr indent="0">
                <a:defRPr sz="1100">
                  <a:latin typeface="+mn-lt"/>
                </a:defRPr>
              </a:lvl2pPr>
              <a:lvl3pPr indent="0">
                <a:defRPr sz="1100">
                  <a:latin typeface="+mn-lt"/>
                </a:defRPr>
              </a:lvl3pPr>
              <a:lvl4pPr indent="0">
                <a:defRPr sz="1100">
                  <a:latin typeface="+mn-lt"/>
                </a:defRPr>
              </a:lvl4pPr>
              <a:lvl5pPr indent="0">
                <a:defRPr sz="1100">
                  <a:latin typeface="+mn-lt"/>
                </a:defRPr>
              </a:lvl5pPr>
              <a:lvl6pPr indent="0">
                <a:defRPr sz="1100">
                  <a:latin typeface="+mn-lt"/>
                </a:defRPr>
              </a:lvl6pPr>
              <a:lvl7pPr indent="0">
                <a:defRPr sz="1100">
                  <a:latin typeface="+mn-lt"/>
                </a:defRPr>
              </a:lvl7pPr>
              <a:lvl8pPr indent="0">
                <a:defRPr sz="1100">
                  <a:latin typeface="+mn-lt"/>
                </a:defRPr>
              </a:lvl8pPr>
              <a:lvl9pPr indent="0">
                <a:defRPr sz="1100">
                  <a:latin typeface="+mn-lt"/>
                </a:defRPr>
              </a:lvl9pPr>
            </a:lstStyle>
            <a:p>
              <a:pPr algn="ctr"/>
              <a:r>
                <a:rPr lang="en-US" sz="600" dirty="0">
                  <a:latin typeface="+mj-lt"/>
                </a:rPr>
                <a:t>2026</a:t>
              </a:r>
            </a:p>
          </p:txBody>
        </p:sp>
      </p:grpSp>
      <p:grpSp>
        <p:nvGrpSpPr>
          <p:cNvPr id="3" name="Group 2">
            <a:extLst>
              <a:ext uri="{FF2B5EF4-FFF2-40B4-BE49-F238E27FC236}">
                <a16:creationId xmlns:a16="http://schemas.microsoft.com/office/drawing/2014/main" id="{89673FE6-494F-847A-7A7E-EDB8550C0547}"/>
              </a:ext>
            </a:extLst>
          </p:cNvPr>
          <p:cNvGrpSpPr/>
          <p:nvPr/>
        </p:nvGrpSpPr>
        <p:grpSpPr>
          <a:xfrm>
            <a:off x="672287" y="5962372"/>
            <a:ext cx="2570399" cy="186038"/>
            <a:chOff x="964768" y="6062225"/>
            <a:chExt cx="4116069" cy="12066"/>
          </a:xfrm>
        </p:grpSpPr>
        <p:cxnSp>
          <p:nvCxnSpPr>
            <p:cNvPr id="9" name="Straight Connector 8">
              <a:extLst>
                <a:ext uri="{FF2B5EF4-FFF2-40B4-BE49-F238E27FC236}">
                  <a16:creationId xmlns:a16="http://schemas.microsoft.com/office/drawing/2014/main" id="{B4720F11-5886-51C5-DB8F-BD1C5DFC2761}"/>
                </a:ext>
              </a:extLst>
            </p:cNvPr>
            <p:cNvCxnSpPr>
              <a:cxnSpLocks/>
            </p:cNvCxnSpPr>
            <p:nvPr/>
          </p:nvCxnSpPr>
          <p:spPr bwMode="auto">
            <a:xfrm>
              <a:off x="964768" y="6068259"/>
              <a:ext cx="4116069" cy="0"/>
            </a:xfrm>
            <a:prstGeom prst="line">
              <a:avLst/>
            </a:prstGeom>
            <a:noFill/>
            <a:ln w="9525" cap="flat" cmpd="sng" algn="ctr">
              <a:solidFill>
                <a:schemeClr val="tx1">
                  <a:lumMod val="85000"/>
                  <a:lumOff val="15000"/>
                </a:schemeClr>
              </a:solidFill>
              <a:prstDash val="solid"/>
              <a:round/>
              <a:headEnd type="arrow" w="sm" len="sm"/>
              <a:tailEnd type="arrow"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68">
              <a:extLst>
                <a:ext uri="{FF2B5EF4-FFF2-40B4-BE49-F238E27FC236}">
                  <a16:creationId xmlns:a16="http://schemas.microsoft.com/office/drawing/2014/main" id="{EAAFAB50-91D8-DD22-A8F5-DD2D365A685C}"/>
                </a:ext>
              </a:extLst>
            </p:cNvPr>
            <p:cNvSpPr txBox="1"/>
            <p:nvPr/>
          </p:nvSpPr>
          <p:spPr>
            <a:xfrm>
              <a:off x="2914142" y="6062225"/>
              <a:ext cx="445906" cy="12066"/>
            </a:xfrm>
            <a:prstGeom prst="rect">
              <a:avLst/>
            </a:prstGeom>
            <a:solidFill>
              <a:schemeClr val="bg1"/>
            </a:solidFill>
          </p:spPr>
          <p:txBody>
            <a:bodyPr wrap="none" lIns="27432" tIns="0" rIns="27432" bIns="0" rtlCol="0" anchor="ctr"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dirty="0">
                  <a:solidFill>
                    <a:srgbClr val="000000"/>
                  </a:solidFill>
                  <a:latin typeface="+mj-lt"/>
                  <a:ea typeface="DFKaiShu-GB5"/>
                  <a:cs typeface="Arial" panose="020B0604020202020204" pitchFamily="34" charset="0"/>
                </a:rPr>
                <a:t>2025</a:t>
              </a:r>
              <a:endParaRPr lang="en-US" sz="500" dirty="0">
                <a:solidFill>
                  <a:srgbClr val="000000"/>
                </a:solidFill>
                <a:latin typeface="+mj-lt"/>
                <a:ea typeface="DFKaiShu-GB5"/>
                <a:cs typeface="Arial" panose="020B0604020202020204" pitchFamily="34" charset="0"/>
              </a:endParaRPr>
            </a:p>
          </p:txBody>
        </p:sp>
      </p:grpSp>
      <p:sp>
        <p:nvSpPr>
          <p:cNvPr id="6" name="Title 5"/>
          <p:cNvSpPr>
            <a:spLocks noGrp="1"/>
          </p:cNvSpPr>
          <p:nvPr>
            <p:ph type="title"/>
          </p:nvPr>
        </p:nvSpPr>
        <p:spPr>
          <a:xfrm>
            <a:off x="339938" y="475756"/>
            <a:ext cx="9144000" cy="424732"/>
          </a:xfrm>
        </p:spPr>
        <p:txBody>
          <a:bodyPr/>
          <a:lstStyle/>
          <a:p>
            <a:r>
              <a:rPr lang="en-US" altLang="zh-CN" dirty="0">
                <a:solidFill>
                  <a:srgbClr val="000000"/>
                </a:solidFill>
                <a:ea typeface="SimSun" pitchFamily="2" charset="-122"/>
              </a:rPr>
              <a:t>Equity Capital Markets Recap – </a:t>
            </a:r>
            <a:r>
              <a:rPr lang="en-GB" altLang="zh-CN" dirty="0">
                <a:solidFill>
                  <a:srgbClr val="000000"/>
                </a:solidFill>
                <a:latin typeface="+mn-lt"/>
                <a:ea typeface="SimSun" pitchFamily="2" charset="-122"/>
              </a:rPr>
              <a:t>2026YTD</a:t>
            </a:r>
            <a:r>
              <a:rPr lang="en-US" altLang="zh-CN" dirty="0">
                <a:solidFill>
                  <a:srgbClr val="000000"/>
                </a:solidFill>
                <a:ea typeface="SimSun" pitchFamily="2" charset="-122"/>
              </a:rPr>
              <a:t> </a:t>
            </a:r>
            <a:r>
              <a:rPr lang="en-GB" altLang="zh-CN" dirty="0">
                <a:solidFill>
                  <a:srgbClr val="000000"/>
                </a:solidFill>
                <a:latin typeface="+mn-lt"/>
                <a:ea typeface="SimSun" pitchFamily="2" charset="-122"/>
              </a:rPr>
              <a:t>(cont’d) </a:t>
            </a:r>
            <a:endParaRPr lang="en-US" dirty="0">
              <a:latin typeface="+mn-lt"/>
            </a:endParaRPr>
          </a:p>
        </p:txBody>
      </p:sp>
      <p:sp>
        <p:nvSpPr>
          <p:cNvPr id="105" name="TextBox 104">
            <a:extLst>
              <a:ext uri="{FF2B5EF4-FFF2-40B4-BE49-F238E27FC236}">
                <a16:creationId xmlns:a16="http://schemas.microsoft.com/office/drawing/2014/main" id="{244402D5-0950-422E-9816-2D0AB14D0027}"/>
              </a:ext>
            </a:extLst>
          </p:cNvPr>
          <p:cNvSpPr txBox="1"/>
          <p:nvPr/>
        </p:nvSpPr>
        <p:spPr>
          <a:xfrm>
            <a:off x="1218343" y="6362087"/>
            <a:ext cx="6979428" cy="438582"/>
          </a:xfrm>
          <a:prstGeom prst="rect">
            <a:avLst/>
          </a:prstGeom>
          <a:noFill/>
        </p:spPr>
        <p:txBody>
          <a:bodyPr wrap="square" rtlCol="0">
            <a:spAutoFit/>
          </a:bodyPr>
          <a:lstStyle/>
          <a:p>
            <a:pPr>
              <a:defRPr/>
            </a:pPr>
            <a:r>
              <a:rPr lang="en-US" sz="750" i="1" dirty="0">
                <a:solidFill>
                  <a:srgbClr val="000000"/>
                </a:solidFill>
                <a:latin typeface="+mn-lt"/>
                <a:ea typeface="DFKaiShu-GB5"/>
                <a:cs typeface="Arial" panose="020B0604020202020204" pitchFamily="34" charset="0"/>
              </a:rPr>
              <a:t>1: Bloomberg, D</a:t>
            </a:r>
            <a:r>
              <a:rPr lang="en-US" altLang="zh-CN" sz="750" i="1" dirty="0">
                <a:solidFill>
                  <a:srgbClr val="000000"/>
                </a:solidFill>
                <a:latin typeface="+mn-lt"/>
                <a:ea typeface="DFKaiShu-GB5"/>
                <a:cs typeface="Arial" panose="020B0604020202020204" pitchFamily="34" charset="0"/>
              </a:rPr>
              <a:t>ealogic, as of 20 May 2026</a:t>
            </a:r>
            <a:endParaRPr lang="en-US" sz="750" i="1" dirty="0">
              <a:solidFill>
                <a:srgbClr val="000000"/>
              </a:solidFill>
              <a:latin typeface="+mn-lt"/>
              <a:ea typeface="DFKaiShu-GB5"/>
              <a:cs typeface="Arial" panose="020B0604020202020204" pitchFamily="34" charset="0"/>
            </a:endParaRPr>
          </a:p>
          <a:p>
            <a:pPr>
              <a:defRPr/>
            </a:pPr>
            <a:r>
              <a:rPr lang="en-US" sz="750" i="1" dirty="0">
                <a:solidFill>
                  <a:srgbClr val="000000"/>
                </a:solidFill>
                <a:latin typeface="+mn-lt"/>
                <a:ea typeface="DFKaiShu-GB5"/>
                <a:cs typeface="Arial" panose="020B0604020202020204" pitchFamily="34" charset="0"/>
              </a:rPr>
              <a:t>2: </a:t>
            </a:r>
            <a:r>
              <a:rPr lang="en-US" sz="750" i="1" dirty="0">
                <a:solidFill>
                  <a:srgbClr val="000000"/>
                </a:solidFill>
                <a:latin typeface="+mn-lt"/>
                <a:ea typeface="DFKaiShu-GB5"/>
                <a:cs typeface="Calibri" panose="020F0502020204030204" pitchFamily="34" charset="0"/>
              </a:rPr>
              <a:t>Q</a:t>
            </a:r>
            <a:r>
              <a:rPr lang="en-US" altLang="zh-CN" sz="750" i="1" dirty="0">
                <a:solidFill>
                  <a:srgbClr val="000000"/>
                </a:solidFill>
                <a:latin typeface="+mn-lt"/>
                <a:ea typeface="DFKaiShu-GB5"/>
                <a:cs typeface="Calibri" panose="020F0502020204030204" pitchFamily="34" charset="0"/>
              </a:rPr>
              <a:t>oQ Comparison: 1Q 2026 vs 2QTD 2026</a:t>
            </a:r>
          </a:p>
          <a:p>
            <a:pPr>
              <a:defRPr/>
            </a:pPr>
            <a:r>
              <a:rPr lang="en-US" sz="750" i="1" dirty="0">
                <a:solidFill>
                  <a:srgbClr val="000000"/>
                </a:solidFill>
                <a:latin typeface="+mn-lt"/>
                <a:ea typeface="DFKaiShu-GB5"/>
                <a:cs typeface="Calibri" panose="020F0502020204030204" pitchFamily="34" charset="0"/>
              </a:rPr>
              <a:t>3. Exchanges have stopped releasing daily Northbound data since 19 August 2024</a:t>
            </a:r>
            <a:endParaRPr kumimoji="0" lang="en-US" sz="750" b="0" i="1" u="none" strike="noStrike" kern="1200" cap="none" spc="0" normalizeH="0" baseline="0" noProof="0" dirty="0">
              <a:ln>
                <a:noFill/>
              </a:ln>
              <a:solidFill>
                <a:srgbClr val="000000"/>
              </a:solidFill>
              <a:effectLst/>
              <a:uLnTx/>
              <a:uFillTx/>
              <a:latin typeface="+mn-lt"/>
              <a:ea typeface="DFKaiShu-GB5"/>
              <a:cs typeface="Calibri" panose="020F0502020204030204" pitchFamily="34" charset="0"/>
            </a:endParaRPr>
          </a:p>
        </p:txBody>
      </p:sp>
      <p:sp>
        <p:nvSpPr>
          <p:cNvPr id="47" name="TextBox 7">
            <a:extLst>
              <a:ext uri="{FF2B5EF4-FFF2-40B4-BE49-F238E27FC236}">
                <a16:creationId xmlns:a16="http://schemas.microsoft.com/office/drawing/2014/main" id="{B58B3EF5-429E-495B-A3F3-725C54A049AD}"/>
              </a:ext>
            </a:extLst>
          </p:cNvPr>
          <p:cNvSpPr txBox="1">
            <a:spLocks noChangeArrowheads="1"/>
          </p:cNvSpPr>
          <p:nvPr/>
        </p:nvSpPr>
        <p:spPr bwMode="auto">
          <a:xfrm>
            <a:off x="339938" y="886599"/>
            <a:ext cx="4002849" cy="270584"/>
          </a:xfrm>
          <a:prstGeom prst="rect">
            <a:avLst/>
          </a:prstGeom>
          <a:solidFill>
            <a:srgbClr val="C00000"/>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Regional ECM deal volume</a:t>
            </a:r>
            <a:r>
              <a:rPr kumimoji="0" lang="en-US" sz="1200" b="1" i="0" u="none" strike="noStrike" kern="1200" cap="none" spc="0" normalizeH="0" baseline="30000" noProof="0" dirty="0">
                <a:ln>
                  <a:noFill/>
                </a:ln>
                <a:solidFill>
                  <a:schemeClr val="bg1"/>
                </a:solidFill>
                <a:effectLst/>
                <a:uLnTx/>
                <a:uFillTx/>
                <a:latin typeface="Calibri" panose="020F0502020204030204" pitchFamily="34" charset="0"/>
                <a:ea typeface="DFKaiShu-GB5"/>
                <a:cs typeface="Calibri" panose="020F0502020204030204" pitchFamily="34" charset="0"/>
              </a:rPr>
              <a:t>1</a:t>
            </a:r>
          </a:p>
        </p:txBody>
      </p:sp>
      <p:sp>
        <p:nvSpPr>
          <p:cNvPr id="61" name="TextBox 7">
            <a:extLst>
              <a:ext uri="{FF2B5EF4-FFF2-40B4-BE49-F238E27FC236}">
                <a16:creationId xmlns:a16="http://schemas.microsoft.com/office/drawing/2014/main" id="{6AF70896-83F7-4AB3-A545-1BCE99DF775D}"/>
              </a:ext>
            </a:extLst>
          </p:cNvPr>
          <p:cNvSpPr txBox="1">
            <a:spLocks noChangeArrowheads="1"/>
          </p:cNvSpPr>
          <p:nvPr/>
        </p:nvSpPr>
        <p:spPr bwMode="auto">
          <a:xfrm>
            <a:off x="4801423" y="886299"/>
            <a:ext cx="4062383" cy="270583"/>
          </a:xfrm>
          <a:prstGeom prst="rect">
            <a:avLst/>
          </a:prstGeom>
          <a:solidFill>
            <a:srgbClr val="C00000"/>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HK ECM deal volume </a:t>
            </a:r>
            <a:r>
              <a:rPr lang="en-US" sz="1200" b="1" dirty="0">
                <a:solidFill>
                  <a:schemeClr val="bg1"/>
                </a:solidFill>
                <a:latin typeface="Calibri" panose="020F0502020204030204" pitchFamily="34" charset="0"/>
                <a:ea typeface="DFKaiShu-GB5"/>
                <a:cs typeface="Calibri" panose="020F0502020204030204" pitchFamily="34" charset="0"/>
              </a:rPr>
              <a:t>2021 </a:t>
            </a:r>
            <a:r>
              <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 2026YTD</a:t>
            </a:r>
          </a:p>
        </p:txBody>
      </p:sp>
      <p:sp>
        <p:nvSpPr>
          <p:cNvPr id="70" name="TextBox 69">
            <a:extLst>
              <a:ext uri="{FF2B5EF4-FFF2-40B4-BE49-F238E27FC236}">
                <a16:creationId xmlns:a16="http://schemas.microsoft.com/office/drawing/2014/main" id="{956EFC67-938E-47B8-ABDA-A64CA58C7C1E}"/>
              </a:ext>
            </a:extLst>
          </p:cNvPr>
          <p:cNvSpPr txBox="1"/>
          <p:nvPr/>
        </p:nvSpPr>
        <p:spPr>
          <a:xfrm>
            <a:off x="4782265" y="1126475"/>
            <a:ext cx="575434" cy="2460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000000"/>
                </a:solidFill>
                <a:effectLst/>
                <a:uLnTx/>
                <a:uFillTx/>
                <a:latin typeface="Calibri"/>
                <a:ea typeface="DFKaiShu-GB5"/>
                <a:cs typeface="Calibri" panose="020F0502020204030204" pitchFamily="34" charset="0"/>
              </a:rPr>
              <a:t>US$’bn</a:t>
            </a:r>
            <a:endParaRPr kumimoji="0" lang="en-US" sz="1000" b="1" i="0"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endParaRPr>
          </a:p>
        </p:txBody>
      </p:sp>
      <p:sp>
        <p:nvSpPr>
          <p:cNvPr id="75" name="TextBox 7">
            <a:extLst>
              <a:ext uri="{FF2B5EF4-FFF2-40B4-BE49-F238E27FC236}">
                <a16:creationId xmlns:a16="http://schemas.microsoft.com/office/drawing/2014/main" id="{2EA912D9-B0FD-467B-A434-8ADB5F03C479}"/>
              </a:ext>
            </a:extLst>
          </p:cNvPr>
          <p:cNvSpPr txBox="1">
            <a:spLocks noChangeArrowheads="1"/>
          </p:cNvSpPr>
          <p:nvPr/>
        </p:nvSpPr>
        <p:spPr bwMode="auto">
          <a:xfrm>
            <a:off x="4801423" y="3381107"/>
            <a:ext cx="4062383" cy="274320"/>
          </a:xfrm>
          <a:prstGeom prst="rect">
            <a:avLst/>
          </a:prstGeom>
          <a:solidFill>
            <a:srgbClr val="C00000"/>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200" b="1" dirty="0">
                <a:solidFill>
                  <a:schemeClr val="bg1"/>
                </a:solidFill>
                <a:latin typeface="Calibri" panose="020F0502020204030204" pitchFamily="34" charset="0"/>
                <a:ea typeface="DFKaiShu-GB5"/>
                <a:cs typeface="Calibri" panose="020F0502020204030204" pitchFamily="34" charset="0"/>
              </a:rPr>
              <a:t>Hong Kong Market Liquidity </a:t>
            </a:r>
            <a:r>
              <a:rPr kumimoji="0" lang="nl-NL"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2021 – 2026YTD</a:t>
            </a:r>
          </a:p>
        </p:txBody>
      </p:sp>
      <p:sp>
        <p:nvSpPr>
          <p:cNvPr id="65" name="TextBox 7">
            <a:extLst>
              <a:ext uri="{FF2B5EF4-FFF2-40B4-BE49-F238E27FC236}">
                <a16:creationId xmlns:a16="http://schemas.microsoft.com/office/drawing/2014/main" id="{B8DC0B55-8331-4875-92D2-BA03D49FB454}"/>
              </a:ext>
            </a:extLst>
          </p:cNvPr>
          <p:cNvSpPr txBox="1">
            <a:spLocks noChangeArrowheads="1"/>
          </p:cNvSpPr>
          <p:nvPr/>
        </p:nvSpPr>
        <p:spPr bwMode="auto">
          <a:xfrm>
            <a:off x="339938" y="3384844"/>
            <a:ext cx="4062383" cy="270583"/>
          </a:xfrm>
          <a:prstGeom prst="rect">
            <a:avLst/>
          </a:prstGeom>
          <a:solidFill>
            <a:srgbClr val="C00000"/>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Calibri" panose="020F0502020204030204" pitchFamily="34" charset="0"/>
                <a:ea typeface="DFKaiShu-GB5"/>
                <a:cs typeface="Calibri" panose="020F0502020204030204" pitchFamily="34" charset="0"/>
              </a:rPr>
              <a:t>Northbound vs Southbound Monthly Inflow</a:t>
            </a:r>
            <a:r>
              <a:rPr lang="en-US" sz="1200" b="1" baseline="30000" dirty="0">
                <a:solidFill>
                  <a:schemeClr val="bg1"/>
                </a:solidFill>
                <a:latin typeface="Calibri" panose="020F0502020204030204" pitchFamily="34" charset="0"/>
                <a:ea typeface="DFKaiShu-GB5"/>
                <a:cs typeface="Calibri" panose="020F0502020204030204" pitchFamily="34" charset="0"/>
              </a:rPr>
              <a:t>3</a:t>
            </a:r>
            <a:endPar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endParaRPr>
          </a:p>
        </p:txBody>
      </p:sp>
      <p:sp>
        <p:nvSpPr>
          <p:cNvPr id="81" name="TextBox 80">
            <a:extLst>
              <a:ext uri="{FF2B5EF4-FFF2-40B4-BE49-F238E27FC236}">
                <a16:creationId xmlns:a16="http://schemas.microsoft.com/office/drawing/2014/main" id="{595AFB7B-6950-485C-96EE-261CA5B1DA0C}"/>
              </a:ext>
            </a:extLst>
          </p:cNvPr>
          <p:cNvSpPr txBox="1"/>
          <p:nvPr/>
        </p:nvSpPr>
        <p:spPr>
          <a:xfrm>
            <a:off x="4782265" y="3655427"/>
            <a:ext cx="575434" cy="2460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000000"/>
                </a:solidFill>
                <a:effectLst/>
                <a:uLnTx/>
                <a:uFillTx/>
                <a:latin typeface="Calibri"/>
                <a:ea typeface="DFKaiShu-GB5"/>
                <a:cs typeface="Calibri" panose="020F0502020204030204" pitchFamily="34" charset="0"/>
              </a:rPr>
              <a:t>US$’bn</a:t>
            </a:r>
            <a:endParaRPr kumimoji="0" lang="en-US" sz="1000" b="1" i="0"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endParaRPr>
          </a:p>
        </p:txBody>
      </p:sp>
      <p:sp>
        <p:nvSpPr>
          <p:cNvPr id="4" name="Slide Number Placeholder 3">
            <a:extLst>
              <a:ext uri="{FF2B5EF4-FFF2-40B4-BE49-F238E27FC236}">
                <a16:creationId xmlns:a16="http://schemas.microsoft.com/office/drawing/2014/main" id="{DF111443-7EBE-4489-B671-064DBA727565}"/>
              </a:ext>
            </a:extLst>
          </p:cNvPr>
          <p:cNvSpPr>
            <a:spLocks noGrp="1"/>
          </p:cNvSpPr>
          <p:nvPr>
            <p:ph type="sldNum" sz="quarter" idx="4"/>
          </p:nvPr>
        </p:nvSpPr>
        <p:spPr>
          <a:xfrm>
            <a:off x="9444286" y="6489265"/>
            <a:ext cx="341760" cy="246221"/>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000" kern="1200" baseline="0">
                <a:solidFill>
                  <a:schemeClr val="tx1">
                    <a:tint val="75000"/>
                  </a:schemeClr>
                </a:solidFill>
                <a:latin typeface="Calibri" panose="020F0502020204030204" pitchFamily="34" charset="0"/>
                <a:ea typeface="DFKaiShu-GB5" panose="03000509000000000000" pitchFamily="65"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46F7334-D539-4DA0-AE05-1AF7E48B82B8}" type="slidenum">
              <a:rPr lang="en-US" smtClean="0"/>
              <a:pPr>
                <a:defRPr/>
              </a:pPr>
              <a:t>2</a:t>
            </a:fld>
            <a:endParaRPr lang="en-US" dirty="0"/>
          </a:p>
        </p:txBody>
      </p:sp>
      <p:sp>
        <p:nvSpPr>
          <p:cNvPr id="64" name="Rectangle 63">
            <a:extLst>
              <a:ext uri="{FF2B5EF4-FFF2-40B4-BE49-F238E27FC236}">
                <a16:creationId xmlns:a16="http://schemas.microsoft.com/office/drawing/2014/main" id="{5DEC1AE3-C5AC-429F-ACA7-A4F9039653FA}"/>
              </a:ext>
            </a:extLst>
          </p:cNvPr>
          <p:cNvSpPr/>
          <p:nvPr/>
        </p:nvSpPr>
        <p:spPr>
          <a:xfrm>
            <a:off x="7831416" y="1625176"/>
            <a:ext cx="955480" cy="112737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u="sng" dirty="0">
                <a:solidFill>
                  <a:srgbClr val="000000"/>
                </a:solidFill>
                <a:latin typeface="Calibri"/>
                <a:ea typeface="DFKaiShu-GB5"/>
              </a:rPr>
              <a:t>2026YTD</a:t>
            </a:r>
            <a:endParaRPr kumimoji="0" lang="en-US" sz="800" b="1" i="0" u="sng" strike="noStrike" kern="1200" cap="none" spc="0" normalizeH="0" baseline="0" noProof="0" dirty="0">
              <a:ln>
                <a:noFill/>
              </a:ln>
              <a:solidFill>
                <a:srgbClr val="000000"/>
              </a:solidFill>
              <a:effectLst/>
              <a:uLnTx/>
              <a:uFillTx/>
              <a:latin typeface="Calibri"/>
              <a:ea typeface="DFKaiShu-GB5"/>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Calibri"/>
                <a:ea typeface="DFKaiShu-GB5"/>
                <a:cs typeface="+mn-cs"/>
              </a:rPr>
              <a:t>IPO</a:t>
            </a:r>
            <a:r>
              <a:rPr kumimoji="0" lang="en-US" sz="800" b="0" i="0" u="none" strike="noStrike" kern="1200" cap="none" spc="0" normalizeH="0" baseline="0" noProof="0" dirty="0">
                <a:ln>
                  <a:noFill/>
                </a:ln>
                <a:solidFill>
                  <a:srgbClr val="000000"/>
                </a:solidFill>
                <a:effectLst/>
                <a:uLnTx/>
                <a:uFillTx/>
                <a:latin typeface="Calibri"/>
                <a:ea typeface="DFKaiShu-GB5"/>
                <a:cs typeface="+mn-cs"/>
              </a:rPr>
              <a:t>: 20.9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Calibri"/>
                <a:ea typeface="DFKaiShu-GB5"/>
                <a:cs typeface="+mn-cs"/>
              </a:rPr>
              <a:t>Placement: </a:t>
            </a:r>
            <a:r>
              <a:rPr kumimoji="0" lang="en-US" sz="800" i="0" u="none" strike="noStrike" kern="1200" cap="none" spc="0" normalizeH="0" baseline="0" noProof="0" dirty="0">
                <a:ln>
                  <a:noFill/>
                </a:ln>
                <a:solidFill>
                  <a:srgbClr val="000000"/>
                </a:solidFill>
                <a:effectLst/>
                <a:uLnTx/>
                <a:uFillTx/>
                <a:latin typeface="Calibri"/>
                <a:ea typeface="DFKaiShu-GB5"/>
                <a:cs typeface="+mn-cs"/>
              </a:rPr>
              <a:t>14.7</a:t>
            </a:r>
            <a:endParaRPr lang="en-US" sz="800" dirty="0">
              <a:solidFill>
                <a:srgbClr val="000000"/>
              </a:solidFill>
              <a:latin typeface="Calibri"/>
              <a:ea typeface="DFKaiShu-GB5"/>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000000"/>
                </a:solidFill>
                <a:latin typeface="Calibri"/>
                <a:ea typeface="DFKaiShu-GB5"/>
              </a:rPr>
              <a:t>Rights Issue</a:t>
            </a:r>
            <a:r>
              <a:rPr kumimoji="0" lang="en-US" sz="800" b="1" i="0" u="none" strike="noStrike" kern="1200" cap="none" spc="0" normalizeH="0" baseline="0" noProof="0" dirty="0">
                <a:ln>
                  <a:noFill/>
                </a:ln>
                <a:solidFill>
                  <a:srgbClr val="000000"/>
                </a:solidFill>
                <a:effectLst/>
                <a:uLnTx/>
                <a:uFillTx/>
                <a:latin typeface="Calibri"/>
                <a:ea typeface="DFKaiShu-GB5"/>
                <a:cs typeface="+mn-cs"/>
              </a:rPr>
              <a:t>:</a:t>
            </a:r>
            <a:r>
              <a:rPr kumimoji="0" lang="en-US" sz="800" b="0" i="0" u="none" strike="noStrike" kern="1200" cap="none" spc="0" normalizeH="0" baseline="0" noProof="0" dirty="0">
                <a:ln>
                  <a:noFill/>
                </a:ln>
                <a:solidFill>
                  <a:srgbClr val="000000"/>
                </a:solidFill>
                <a:effectLst/>
                <a:uLnTx/>
                <a:uFillTx/>
                <a:latin typeface="Calibri"/>
                <a:ea typeface="DFKaiShu-GB5"/>
                <a:cs typeface="+mn-cs"/>
              </a:rPr>
              <a:t> </a:t>
            </a:r>
            <a:r>
              <a:rPr lang="en-US" sz="800" dirty="0">
                <a:solidFill>
                  <a:srgbClr val="000000"/>
                </a:solidFill>
                <a:latin typeface="Calibri"/>
                <a:ea typeface="DFKaiShu-GB5"/>
              </a:rPr>
              <a:t>0.4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Calibri"/>
              <a:ea typeface="DFKaiShu-GB5"/>
              <a:cs typeface="+mn-cs"/>
            </a:endParaRPr>
          </a:p>
          <a:p>
            <a:pPr eaLnBrk="1" fontAlgn="auto" hangingPunct="1">
              <a:spcBef>
                <a:spcPts val="0"/>
              </a:spcBef>
              <a:spcAft>
                <a:spcPts val="0"/>
              </a:spcAft>
              <a:defRPr/>
            </a:pPr>
            <a:r>
              <a:rPr lang="en-US" sz="800" b="1" u="sng" dirty="0">
                <a:solidFill>
                  <a:srgbClr val="000000"/>
                </a:solidFill>
                <a:latin typeface="Calibri"/>
                <a:ea typeface="DFKaiShu-GB5"/>
              </a:rPr>
              <a:t>2025 Same Period</a:t>
            </a:r>
          </a:p>
          <a:p>
            <a:pPr lvl="0" eaLnBrk="1" fontAlgn="auto" hangingPunct="1">
              <a:spcBef>
                <a:spcPts val="0"/>
              </a:spcBef>
              <a:spcAft>
                <a:spcPts val="0"/>
              </a:spcAft>
              <a:defRPr/>
            </a:pPr>
            <a:r>
              <a:rPr lang="en-US" sz="800" b="1" dirty="0">
                <a:solidFill>
                  <a:srgbClr val="000000"/>
                </a:solidFill>
              </a:rPr>
              <a:t>IPO</a:t>
            </a:r>
            <a:r>
              <a:rPr lang="en-US" sz="800" dirty="0">
                <a:solidFill>
                  <a:srgbClr val="000000"/>
                </a:solidFill>
              </a:rPr>
              <a:t>: 8.4</a:t>
            </a:r>
          </a:p>
          <a:p>
            <a:pPr lvl="0" eaLnBrk="1" fontAlgn="auto" hangingPunct="1">
              <a:spcBef>
                <a:spcPts val="0"/>
              </a:spcBef>
              <a:spcAft>
                <a:spcPts val="0"/>
              </a:spcAft>
              <a:defRPr/>
            </a:pPr>
            <a:r>
              <a:rPr lang="en-US" sz="800" b="1" dirty="0">
                <a:solidFill>
                  <a:srgbClr val="000000"/>
                </a:solidFill>
              </a:rPr>
              <a:t>Placement: </a:t>
            </a:r>
            <a:r>
              <a:rPr lang="en-US" sz="800" dirty="0">
                <a:solidFill>
                  <a:srgbClr val="000000"/>
                </a:solidFill>
              </a:rPr>
              <a:t>16.1</a:t>
            </a:r>
          </a:p>
          <a:p>
            <a:pPr lvl="0" eaLnBrk="1" fontAlgn="auto" hangingPunct="1">
              <a:spcBef>
                <a:spcPts val="0"/>
              </a:spcBef>
              <a:spcAft>
                <a:spcPts val="0"/>
              </a:spcAft>
              <a:defRPr/>
            </a:pPr>
            <a:r>
              <a:rPr lang="en-US" sz="800" b="1" dirty="0">
                <a:solidFill>
                  <a:srgbClr val="000000"/>
                </a:solidFill>
              </a:rPr>
              <a:t>Rights Issue:</a:t>
            </a:r>
            <a:r>
              <a:rPr lang="en-US" sz="800" dirty="0">
                <a:solidFill>
                  <a:srgbClr val="000000"/>
                </a:solidFill>
              </a:rPr>
              <a:t> 0.5</a:t>
            </a:r>
          </a:p>
        </p:txBody>
      </p:sp>
      <p:graphicFrame>
        <p:nvGraphicFramePr>
          <p:cNvPr id="7" name="Chart 6">
            <a:extLst>
              <a:ext uri="{FF2B5EF4-FFF2-40B4-BE49-F238E27FC236}">
                <a16:creationId xmlns:a16="http://schemas.microsoft.com/office/drawing/2014/main" id="{6947DCF0-71B3-4F24-B2C1-2326101A2303}"/>
              </a:ext>
            </a:extLst>
          </p:cNvPr>
          <p:cNvGraphicFramePr/>
          <p:nvPr>
            <p:extLst>
              <p:ext uri="{D42A27DB-BD31-4B8C-83A1-F6EECF244321}">
                <p14:modId xmlns:p14="http://schemas.microsoft.com/office/powerpoint/2010/main" val="3730252117"/>
              </p:ext>
            </p:extLst>
          </p:nvPr>
        </p:nvGraphicFramePr>
        <p:xfrm>
          <a:off x="262628" y="3677429"/>
          <a:ext cx="4114766" cy="2427909"/>
        </p:xfrm>
        <a:graphic>
          <a:graphicData uri="http://schemas.openxmlformats.org/drawingml/2006/chart">
            <c:chart xmlns:c="http://schemas.openxmlformats.org/drawingml/2006/chart" xmlns:r="http://schemas.openxmlformats.org/officeDocument/2006/relationships" r:id="rId4"/>
          </a:graphicData>
        </a:graphic>
      </p:graphicFrame>
      <p:sp>
        <p:nvSpPr>
          <p:cNvPr id="69" name="TextBox 68">
            <a:extLst>
              <a:ext uri="{FF2B5EF4-FFF2-40B4-BE49-F238E27FC236}">
                <a16:creationId xmlns:a16="http://schemas.microsoft.com/office/drawing/2014/main" id="{D7CC85CC-27D0-4E01-B4F9-77B3A7ECFA21}"/>
              </a:ext>
            </a:extLst>
          </p:cNvPr>
          <p:cNvSpPr txBox="1"/>
          <p:nvPr/>
        </p:nvSpPr>
        <p:spPr>
          <a:xfrm>
            <a:off x="272934" y="3633717"/>
            <a:ext cx="575434" cy="2460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000000"/>
                </a:solidFill>
                <a:latin typeface="Calibri"/>
                <a:ea typeface="DFKaiShu-GB5"/>
                <a:cs typeface="Calibri" panose="020F0502020204030204" pitchFamily="34" charset="0"/>
              </a:rPr>
              <a:t>HK</a:t>
            </a:r>
            <a:r>
              <a:rPr kumimoji="0" lang="en-US" sz="1000" b="1" i="0"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rPr>
              <a:t>$’bn</a:t>
            </a:r>
          </a:p>
        </p:txBody>
      </p:sp>
      <p:cxnSp>
        <p:nvCxnSpPr>
          <p:cNvPr id="12" name="Straight Connector 11">
            <a:extLst>
              <a:ext uri="{FF2B5EF4-FFF2-40B4-BE49-F238E27FC236}">
                <a16:creationId xmlns:a16="http://schemas.microsoft.com/office/drawing/2014/main" id="{E268E3DB-B3BD-6932-13EA-D43BCA173956}"/>
              </a:ext>
            </a:extLst>
          </p:cNvPr>
          <p:cNvCxnSpPr>
            <a:cxnSpLocks/>
          </p:cNvCxnSpPr>
          <p:nvPr/>
        </p:nvCxnSpPr>
        <p:spPr bwMode="auto">
          <a:xfrm>
            <a:off x="7754506" y="1560516"/>
            <a:ext cx="0" cy="1501734"/>
          </a:xfrm>
          <a:prstGeom prst="line">
            <a:avLst/>
          </a:prstGeom>
          <a:ln>
            <a:solidFill>
              <a:schemeClr val="tx1">
                <a:lumMod val="85000"/>
                <a:lumOff val="15000"/>
              </a:schemeClr>
            </a:solidFill>
            <a:prstDash val="sysDash"/>
            <a:headEnd type="none" w="med" len="med"/>
            <a:tailEnd type="none" w="med" len="med"/>
          </a:ln>
        </p:spPr>
        <p:style>
          <a:lnRef idx="1">
            <a:schemeClr val="accent4"/>
          </a:lnRef>
          <a:fillRef idx="0">
            <a:schemeClr val="accent4"/>
          </a:fillRef>
          <a:effectRef idx="0">
            <a:schemeClr val="accent4"/>
          </a:effectRef>
          <a:fontRef idx="minor">
            <a:schemeClr val="tx1"/>
          </a:fontRef>
        </p:style>
      </p:cxnSp>
      <p:graphicFrame>
        <p:nvGraphicFramePr>
          <p:cNvPr id="67" name="Table 66">
            <a:extLst>
              <a:ext uri="{FF2B5EF4-FFF2-40B4-BE49-F238E27FC236}">
                <a16:creationId xmlns:a16="http://schemas.microsoft.com/office/drawing/2014/main" id="{11F8C1EF-1669-5FEB-0E00-499FFF1E6490}"/>
              </a:ext>
            </a:extLst>
          </p:cNvPr>
          <p:cNvGraphicFramePr>
            <a:graphicFrameLocks noGrp="1"/>
          </p:cNvGraphicFramePr>
          <p:nvPr/>
        </p:nvGraphicFramePr>
        <p:xfrm>
          <a:off x="4953000" y="1463347"/>
          <a:ext cx="3910809" cy="190500"/>
        </p:xfrm>
        <a:graphic>
          <a:graphicData uri="http://schemas.openxmlformats.org/drawingml/2006/table">
            <a:tbl>
              <a:tblPr>
                <a:tableStyleId>{5C22544A-7EE6-4342-B048-85BDC9FD1C3A}</a:tableStyleId>
              </a:tblPr>
              <a:tblGrid>
                <a:gridCol w="558687">
                  <a:extLst>
                    <a:ext uri="{9D8B030D-6E8A-4147-A177-3AD203B41FA5}">
                      <a16:colId xmlns:a16="http://schemas.microsoft.com/office/drawing/2014/main" val="4077783810"/>
                    </a:ext>
                  </a:extLst>
                </a:gridCol>
                <a:gridCol w="558687">
                  <a:extLst>
                    <a:ext uri="{9D8B030D-6E8A-4147-A177-3AD203B41FA5}">
                      <a16:colId xmlns:a16="http://schemas.microsoft.com/office/drawing/2014/main" val="3314379642"/>
                    </a:ext>
                  </a:extLst>
                </a:gridCol>
                <a:gridCol w="558687">
                  <a:extLst>
                    <a:ext uri="{9D8B030D-6E8A-4147-A177-3AD203B41FA5}">
                      <a16:colId xmlns:a16="http://schemas.microsoft.com/office/drawing/2014/main" val="1047351390"/>
                    </a:ext>
                  </a:extLst>
                </a:gridCol>
                <a:gridCol w="558687">
                  <a:extLst>
                    <a:ext uri="{9D8B030D-6E8A-4147-A177-3AD203B41FA5}">
                      <a16:colId xmlns:a16="http://schemas.microsoft.com/office/drawing/2014/main" val="457805657"/>
                    </a:ext>
                  </a:extLst>
                </a:gridCol>
                <a:gridCol w="558687">
                  <a:extLst>
                    <a:ext uri="{9D8B030D-6E8A-4147-A177-3AD203B41FA5}">
                      <a16:colId xmlns:a16="http://schemas.microsoft.com/office/drawing/2014/main" val="1666367389"/>
                    </a:ext>
                  </a:extLst>
                </a:gridCol>
                <a:gridCol w="558687">
                  <a:extLst>
                    <a:ext uri="{9D8B030D-6E8A-4147-A177-3AD203B41FA5}">
                      <a16:colId xmlns:a16="http://schemas.microsoft.com/office/drawing/2014/main" val="591188646"/>
                    </a:ext>
                  </a:extLst>
                </a:gridCol>
                <a:gridCol w="558687">
                  <a:extLst>
                    <a:ext uri="{9D8B030D-6E8A-4147-A177-3AD203B41FA5}">
                      <a16:colId xmlns:a16="http://schemas.microsoft.com/office/drawing/2014/main" val="973111768"/>
                    </a:ext>
                  </a:extLst>
                </a:gridCol>
              </a:tblGrid>
              <a:tr h="190500">
                <a:tc>
                  <a:txBody>
                    <a:bodyPr/>
                    <a:lstStyle/>
                    <a:p>
                      <a:pPr algn="ctr" fontAlgn="b"/>
                      <a:r>
                        <a:rPr lang="en-US" sz="900" b="1" u="none" strike="noStrike" dirty="0">
                          <a:effectLst/>
                        </a:rPr>
                        <a:t>112.5</a:t>
                      </a:r>
                      <a:endParaRPr lang="en-US" sz="900" b="1" i="0"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b"/>
                      <a:r>
                        <a:rPr lang="en-US" sz="900" b="1" u="none" strike="noStrike" dirty="0">
                          <a:effectLst/>
                        </a:rPr>
                        <a:t>23.2</a:t>
                      </a:r>
                      <a:endParaRPr lang="en-US" sz="900" b="1" i="0"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b"/>
                      <a:r>
                        <a:rPr lang="en-US" sz="900" b="1" u="none" strike="noStrike" dirty="0">
                          <a:effectLst/>
                        </a:rPr>
                        <a:t>17.8</a:t>
                      </a:r>
                      <a:endParaRPr lang="en-US" sz="900" b="1" i="0"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b"/>
                      <a:r>
                        <a:rPr lang="en-US" sz="900" b="1" i="0" u="none" strike="noStrike" dirty="0">
                          <a:solidFill>
                            <a:srgbClr val="000000"/>
                          </a:solidFill>
                          <a:effectLst/>
                          <a:latin typeface="Calibri" panose="020F0502020204030204" pitchFamily="34" charset="0"/>
                        </a:rPr>
                        <a:t>18.8</a:t>
                      </a:r>
                    </a:p>
                  </a:txBody>
                  <a:tcPr marL="9525" marR="9525" marT="9525" marB="0" anchor="ctr">
                    <a:noFill/>
                  </a:tcPr>
                </a:tc>
                <a:tc>
                  <a:txBody>
                    <a:bodyPr/>
                    <a:lstStyle/>
                    <a:p>
                      <a:pPr algn="ctr" fontAlgn="b"/>
                      <a:r>
                        <a:rPr lang="en-US" sz="900" b="1" i="0" u="none" strike="noStrike" dirty="0">
                          <a:solidFill>
                            <a:srgbClr val="000000"/>
                          </a:solidFill>
                          <a:effectLst/>
                          <a:latin typeface="Calibri" panose="020F0502020204030204" pitchFamily="34" charset="0"/>
                        </a:rPr>
                        <a:t>82.2</a:t>
                      </a:r>
                    </a:p>
                  </a:txBody>
                  <a:tcPr marL="9525" marR="9525" marT="9525" marB="0" anchor="ctr">
                    <a:noFill/>
                  </a:tcPr>
                </a:tc>
                <a:tc>
                  <a:txBody>
                    <a:bodyPr/>
                    <a:lstStyle/>
                    <a:p>
                      <a:pPr algn="ctr" fontAlgn="b"/>
                      <a:r>
                        <a:rPr lang="en-US" sz="900" b="1" i="0" u="none" strike="noStrike" dirty="0">
                          <a:solidFill>
                            <a:srgbClr val="000000"/>
                          </a:solidFill>
                          <a:effectLst/>
                          <a:latin typeface="Calibri" panose="020F0502020204030204" pitchFamily="34" charset="0"/>
                        </a:rPr>
                        <a:t>3.1</a:t>
                      </a:r>
                    </a:p>
                  </a:txBody>
                  <a:tcPr marL="9525" marR="9525" marT="9525" marB="0" anchor="ctr">
                    <a:noFill/>
                  </a:tcPr>
                </a:tc>
                <a:tc>
                  <a:txBody>
                    <a:bodyPr/>
                    <a:lstStyle/>
                    <a:p>
                      <a:pPr algn="ctr" fontAlgn="b"/>
                      <a:r>
                        <a:rPr lang="en-US" sz="900" b="1" i="0" u="none" strike="noStrike" dirty="0">
                          <a:solidFill>
                            <a:srgbClr val="000000"/>
                          </a:solidFill>
                          <a:effectLst/>
                          <a:latin typeface="Calibri" panose="020F0502020204030204" pitchFamily="34" charset="0"/>
                        </a:rPr>
                        <a:t>16.7</a:t>
                      </a:r>
                    </a:p>
                  </a:txBody>
                  <a:tcPr marL="9525" marR="9525" marT="9525" marB="0" anchor="ctr">
                    <a:noFill/>
                  </a:tcPr>
                </a:tc>
                <a:extLst>
                  <a:ext uri="{0D108BD9-81ED-4DB2-BD59-A6C34878D82A}">
                    <a16:rowId xmlns:a16="http://schemas.microsoft.com/office/drawing/2014/main" val="907917622"/>
                  </a:ext>
                </a:extLst>
              </a:tr>
            </a:tbl>
          </a:graphicData>
        </a:graphic>
      </p:graphicFrame>
      <p:graphicFrame>
        <p:nvGraphicFramePr>
          <p:cNvPr id="14" name="Chart 13">
            <a:extLst>
              <a:ext uri="{FF2B5EF4-FFF2-40B4-BE49-F238E27FC236}">
                <a16:creationId xmlns:a16="http://schemas.microsoft.com/office/drawing/2014/main" id="{779D6726-228A-56B9-7D1F-BAEB108BE6C9}"/>
              </a:ext>
            </a:extLst>
          </p:cNvPr>
          <p:cNvGraphicFramePr>
            <a:graphicFrameLocks/>
          </p:cNvGraphicFramePr>
          <p:nvPr>
            <p:extLst>
              <p:ext uri="{D42A27DB-BD31-4B8C-83A1-F6EECF244321}">
                <p14:modId xmlns:p14="http://schemas.microsoft.com/office/powerpoint/2010/main" val="3653634433"/>
              </p:ext>
            </p:extLst>
          </p:nvPr>
        </p:nvGraphicFramePr>
        <p:xfrm>
          <a:off x="4752468" y="3903709"/>
          <a:ext cx="4231511" cy="2346054"/>
        </p:xfrm>
        <a:graphic>
          <a:graphicData uri="http://schemas.openxmlformats.org/drawingml/2006/chart">
            <c:chart xmlns:c="http://schemas.openxmlformats.org/drawingml/2006/chart" xmlns:r="http://schemas.openxmlformats.org/officeDocument/2006/relationships" r:id="rId5"/>
          </a:graphicData>
        </a:graphic>
      </p:graphicFrame>
      <p:grpSp>
        <p:nvGrpSpPr>
          <p:cNvPr id="62" name="Group 61">
            <a:extLst>
              <a:ext uri="{FF2B5EF4-FFF2-40B4-BE49-F238E27FC236}">
                <a16:creationId xmlns:a16="http://schemas.microsoft.com/office/drawing/2014/main" id="{2FB3A026-9B64-CC5A-87C4-4459001EB30D}"/>
              </a:ext>
            </a:extLst>
          </p:cNvPr>
          <p:cNvGrpSpPr/>
          <p:nvPr/>
        </p:nvGrpSpPr>
        <p:grpSpPr>
          <a:xfrm>
            <a:off x="4997119" y="3904693"/>
            <a:ext cx="2349058" cy="883823"/>
            <a:chOff x="5062623" y="4091712"/>
            <a:chExt cx="3383592" cy="883823"/>
          </a:xfrm>
        </p:grpSpPr>
        <p:sp>
          <p:nvSpPr>
            <p:cNvPr id="63" name="TextBox 62">
              <a:extLst>
                <a:ext uri="{FF2B5EF4-FFF2-40B4-BE49-F238E27FC236}">
                  <a16:creationId xmlns:a16="http://schemas.microsoft.com/office/drawing/2014/main" id="{A006F178-E579-DB1D-8D6A-C782EA24C22A}"/>
                </a:ext>
              </a:extLst>
            </p:cNvPr>
            <p:cNvSpPr txBox="1"/>
            <p:nvPr/>
          </p:nvSpPr>
          <p:spPr>
            <a:xfrm>
              <a:off x="7127331" y="4674559"/>
              <a:ext cx="131888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dirty="0">
                  <a:ln>
                    <a:noFill/>
                  </a:ln>
                  <a:solidFill>
                    <a:srgbClr val="000000"/>
                  </a:solidFill>
                  <a:effectLst/>
                  <a:uLnTx/>
                  <a:uFillTx/>
                  <a:latin typeface="Calibri"/>
                  <a:ea typeface="DFKaiShu-GB5"/>
                  <a:cs typeface="+mn-cs"/>
                </a:rPr>
                <a:t>2023 Avg: </a:t>
              </a:r>
              <a:r>
                <a:rPr kumimoji="0" lang="en-US" sz="700" b="1" i="0" u="none" strike="noStrike" kern="1200" cap="none" spc="0" normalizeH="0" baseline="0" noProof="0" dirty="0">
                  <a:ln>
                    <a:noFill/>
                  </a:ln>
                  <a:solidFill>
                    <a:srgbClr val="000000"/>
                  </a:solidFill>
                  <a:effectLst/>
                  <a:uLnTx/>
                  <a:uFillTx/>
                  <a:latin typeface="Calibri"/>
                  <a:ea typeface="DFKaiShu-GB5"/>
                  <a:cs typeface="+mn-cs"/>
                </a:rPr>
                <a:t>US$13.4b</a:t>
              </a:r>
            </a:p>
          </p:txBody>
        </p:sp>
        <p:sp>
          <p:nvSpPr>
            <p:cNvPr id="66" name="TextBox 65">
              <a:extLst>
                <a:ext uri="{FF2B5EF4-FFF2-40B4-BE49-F238E27FC236}">
                  <a16:creationId xmlns:a16="http://schemas.microsoft.com/office/drawing/2014/main" id="{3E2393AF-8A22-CC60-F5EE-26E3FE23C3E5}"/>
                </a:ext>
              </a:extLst>
            </p:cNvPr>
            <p:cNvSpPr txBox="1"/>
            <p:nvPr/>
          </p:nvSpPr>
          <p:spPr>
            <a:xfrm>
              <a:off x="5062623" y="4091712"/>
              <a:ext cx="131888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dirty="0">
                  <a:ln>
                    <a:noFill/>
                  </a:ln>
                  <a:solidFill>
                    <a:srgbClr val="000000"/>
                  </a:solidFill>
                  <a:effectLst/>
                  <a:uLnTx/>
                  <a:uFillTx/>
                  <a:latin typeface="Calibri"/>
                  <a:ea typeface="DFKaiShu-GB5"/>
                  <a:cs typeface="+mn-cs"/>
                </a:rPr>
                <a:t>2021 </a:t>
              </a:r>
              <a:r>
                <a:rPr lang="en-US" sz="700" dirty="0">
                  <a:solidFill>
                    <a:srgbClr val="000000"/>
                  </a:solidFill>
                  <a:latin typeface="Calibri"/>
                  <a:ea typeface="DFKaiShu-GB5"/>
                </a:rPr>
                <a:t>Avg</a:t>
              </a:r>
              <a:r>
                <a:rPr kumimoji="0" lang="en-US" sz="700" i="0" u="none" strike="noStrike" kern="1200" cap="none" spc="0" normalizeH="0" baseline="0" noProof="0" dirty="0">
                  <a:ln>
                    <a:noFill/>
                  </a:ln>
                  <a:solidFill>
                    <a:srgbClr val="000000"/>
                  </a:solidFill>
                  <a:effectLst/>
                  <a:uLnTx/>
                  <a:uFillTx/>
                  <a:latin typeface="Calibri"/>
                  <a:ea typeface="DFKaiShu-GB5"/>
                  <a:cs typeface="+mn-cs"/>
                </a:rPr>
                <a:t>: </a:t>
              </a:r>
              <a:r>
                <a:rPr kumimoji="0" lang="en-US" sz="700" b="1" i="0" u="none" strike="noStrike" kern="1200" cap="none" spc="0" normalizeH="0" baseline="0" noProof="0" dirty="0">
                  <a:ln>
                    <a:noFill/>
                  </a:ln>
                  <a:solidFill>
                    <a:srgbClr val="000000"/>
                  </a:solidFill>
                  <a:effectLst/>
                  <a:uLnTx/>
                  <a:uFillTx/>
                  <a:latin typeface="Calibri"/>
                  <a:ea typeface="DFKaiShu-GB5"/>
                  <a:cs typeface="+mn-cs"/>
                </a:rPr>
                <a:t>US$21.4b</a:t>
              </a:r>
            </a:p>
          </p:txBody>
        </p:sp>
        <p:sp>
          <p:nvSpPr>
            <p:cNvPr id="68" name="TextBox 67">
              <a:extLst>
                <a:ext uri="{FF2B5EF4-FFF2-40B4-BE49-F238E27FC236}">
                  <a16:creationId xmlns:a16="http://schemas.microsoft.com/office/drawing/2014/main" id="{5DFAB03F-E8F2-347F-2E8F-89B6FF5B9DF4}"/>
                </a:ext>
              </a:extLst>
            </p:cNvPr>
            <p:cNvSpPr txBox="1"/>
            <p:nvPr/>
          </p:nvSpPr>
          <p:spPr>
            <a:xfrm>
              <a:off x="6083047" y="4530556"/>
              <a:ext cx="131888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dirty="0">
                  <a:ln>
                    <a:noFill/>
                  </a:ln>
                  <a:solidFill>
                    <a:srgbClr val="000000"/>
                  </a:solidFill>
                  <a:effectLst/>
                  <a:uLnTx/>
                  <a:uFillTx/>
                  <a:latin typeface="Calibri"/>
                  <a:ea typeface="DFKaiShu-GB5"/>
                  <a:cs typeface="+mn-cs"/>
                </a:rPr>
                <a:t>2022 </a:t>
              </a:r>
              <a:r>
                <a:rPr lang="en-US" sz="700" dirty="0">
                  <a:solidFill>
                    <a:srgbClr val="000000"/>
                  </a:solidFill>
                  <a:latin typeface="Calibri"/>
                  <a:ea typeface="DFKaiShu-GB5"/>
                </a:rPr>
                <a:t>Avg</a:t>
              </a:r>
              <a:r>
                <a:rPr kumimoji="0" lang="en-US" sz="700" i="0" u="none" strike="noStrike" kern="1200" cap="none" spc="0" normalizeH="0" baseline="0" noProof="0" dirty="0">
                  <a:ln>
                    <a:noFill/>
                  </a:ln>
                  <a:solidFill>
                    <a:srgbClr val="000000"/>
                  </a:solidFill>
                  <a:effectLst/>
                  <a:uLnTx/>
                  <a:uFillTx/>
                  <a:latin typeface="Calibri"/>
                  <a:ea typeface="DFKaiShu-GB5"/>
                  <a:cs typeface="+mn-cs"/>
                </a:rPr>
                <a:t>: </a:t>
              </a:r>
              <a:r>
                <a:rPr kumimoji="0" lang="en-US" sz="700" b="1" i="0" u="none" strike="noStrike" kern="1200" cap="none" spc="0" normalizeH="0" baseline="0" noProof="0" dirty="0">
                  <a:ln>
                    <a:noFill/>
                  </a:ln>
                  <a:solidFill>
                    <a:srgbClr val="000000"/>
                  </a:solidFill>
                  <a:effectLst/>
                  <a:uLnTx/>
                  <a:uFillTx/>
                  <a:latin typeface="Calibri"/>
                  <a:ea typeface="DFKaiShu-GB5"/>
                  <a:cs typeface="+mn-cs"/>
                </a:rPr>
                <a:t>US$</a:t>
              </a:r>
              <a:r>
                <a:rPr lang="en-US" sz="700" b="1" dirty="0">
                  <a:solidFill>
                    <a:srgbClr val="000000"/>
                  </a:solidFill>
                  <a:latin typeface="Calibri"/>
                  <a:ea typeface="DFKaiShu-GB5"/>
                </a:rPr>
                <a:t>15.9</a:t>
              </a:r>
              <a:r>
                <a:rPr kumimoji="0" lang="en-US" sz="700" b="1" i="0" u="none" strike="noStrike" kern="1200" cap="none" spc="0" normalizeH="0" baseline="0" noProof="0" dirty="0">
                  <a:ln>
                    <a:noFill/>
                  </a:ln>
                  <a:solidFill>
                    <a:srgbClr val="000000"/>
                  </a:solidFill>
                  <a:effectLst/>
                  <a:uLnTx/>
                  <a:uFillTx/>
                  <a:latin typeface="Calibri"/>
                  <a:ea typeface="DFKaiShu-GB5"/>
                  <a:cs typeface="+mn-cs"/>
                </a:rPr>
                <a:t>b</a:t>
              </a:r>
            </a:p>
          </p:txBody>
        </p:sp>
        <p:sp>
          <p:nvSpPr>
            <p:cNvPr id="71" name="Left Brace 70">
              <a:extLst>
                <a:ext uri="{FF2B5EF4-FFF2-40B4-BE49-F238E27FC236}">
                  <a16:creationId xmlns:a16="http://schemas.microsoft.com/office/drawing/2014/main" id="{2A53E6AE-CF02-E8C7-BCB2-73D6AC5A6B39}"/>
                </a:ext>
              </a:extLst>
            </p:cNvPr>
            <p:cNvSpPr/>
            <p:nvPr/>
          </p:nvSpPr>
          <p:spPr>
            <a:xfrm rot="5400000">
              <a:off x="5592793" y="3896357"/>
              <a:ext cx="108610" cy="8647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sp>
          <p:nvSpPr>
            <p:cNvPr id="72" name="Left Brace 71">
              <a:extLst>
                <a:ext uri="{FF2B5EF4-FFF2-40B4-BE49-F238E27FC236}">
                  <a16:creationId xmlns:a16="http://schemas.microsoft.com/office/drawing/2014/main" id="{2CC73019-AA49-B20E-B639-D6977F4ADC86}"/>
                </a:ext>
              </a:extLst>
            </p:cNvPr>
            <p:cNvSpPr/>
            <p:nvPr/>
          </p:nvSpPr>
          <p:spPr>
            <a:xfrm rot="5400000">
              <a:off x="6628898" y="4324801"/>
              <a:ext cx="120736" cy="9331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sp>
          <p:nvSpPr>
            <p:cNvPr id="74" name="Left Brace 73">
              <a:extLst>
                <a:ext uri="{FF2B5EF4-FFF2-40B4-BE49-F238E27FC236}">
                  <a16:creationId xmlns:a16="http://schemas.microsoft.com/office/drawing/2014/main" id="{0D5E5C00-C69D-4479-CFD3-DD63DFDAB989}"/>
                </a:ext>
              </a:extLst>
            </p:cNvPr>
            <p:cNvSpPr/>
            <p:nvPr/>
          </p:nvSpPr>
          <p:spPr>
            <a:xfrm rot="5400000">
              <a:off x="7701671" y="4448612"/>
              <a:ext cx="120736" cy="9331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grpSp>
      <p:grpSp>
        <p:nvGrpSpPr>
          <p:cNvPr id="22" name="Group 21">
            <a:extLst>
              <a:ext uri="{FF2B5EF4-FFF2-40B4-BE49-F238E27FC236}">
                <a16:creationId xmlns:a16="http://schemas.microsoft.com/office/drawing/2014/main" id="{2C5CB86B-839F-BC9D-D734-E2966123F101}"/>
              </a:ext>
            </a:extLst>
          </p:cNvPr>
          <p:cNvGrpSpPr/>
          <p:nvPr/>
        </p:nvGrpSpPr>
        <p:grpSpPr>
          <a:xfrm>
            <a:off x="7067572" y="4093135"/>
            <a:ext cx="915635" cy="342664"/>
            <a:chOff x="7663738" y="4308076"/>
            <a:chExt cx="1040297" cy="342664"/>
          </a:xfrm>
        </p:grpSpPr>
        <p:sp>
          <p:nvSpPr>
            <p:cNvPr id="8" name="Left Brace 7">
              <a:extLst>
                <a:ext uri="{FF2B5EF4-FFF2-40B4-BE49-F238E27FC236}">
                  <a16:creationId xmlns:a16="http://schemas.microsoft.com/office/drawing/2014/main" id="{F61B1E1E-C6BA-F592-C9B5-C30ED2E6ECC8}"/>
                </a:ext>
              </a:extLst>
            </p:cNvPr>
            <p:cNvSpPr/>
            <p:nvPr/>
          </p:nvSpPr>
          <p:spPr>
            <a:xfrm rot="5400000">
              <a:off x="8141927" y="4195647"/>
              <a:ext cx="120736" cy="7894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sp>
          <p:nvSpPr>
            <p:cNvPr id="20" name="TextBox 19">
              <a:extLst>
                <a:ext uri="{FF2B5EF4-FFF2-40B4-BE49-F238E27FC236}">
                  <a16:creationId xmlns:a16="http://schemas.microsoft.com/office/drawing/2014/main" id="{F10742FF-40D0-7A05-4D0D-16D90688E555}"/>
                </a:ext>
              </a:extLst>
            </p:cNvPr>
            <p:cNvSpPr txBox="1"/>
            <p:nvPr/>
          </p:nvSpPr>
          <p:spPr>
            <a:xfrm>
              <a:off x="7663738" y="4308076"/>
              <a:ext cx="1040297"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dirty="0">
                  <a:ln>
                    <a:noFill/>
                  </a:ln>
                  <a:solidFill>
                    <a:srgbClr val="000000"/>
                  </a:solidFill>
                  <a:effectLst/>
                  <a:uLnTx/>
                  <a:uFillTx/>
                  <a:latin typeface="Calibri"/>
                  <a:ea typeface="DFKaiShu-GB5"/>
                  <a:cs typeface="+mn-cs"/>
                </a:rPr>
                <a:t>2024 Avg: </a:t>
              </a:r>
              <a:r>
                <a:rPr kumimoji="0" lang="en-US" sz="700" b="1" i="0" u="none" strike="noStrike" kern="1200" cap="none" spc="0" normalizeH="0" baseline="0" noProof="0" dirty="0">
                  <a:ln>
                    <a:noFill/>
                  </a:ln>
                  <a:solidFill>
                    <a:srgbClr val="000000"/>
                  </a:solidFill>
                  <a:effectLst/>
                  <a:uLnTx/>
                  <a:uFillTx/>
                  <a:latin typeface="Calibri"/>
                  <a:ea typeface="DFKaiShu-GB5"/>
                  <a:cs typeface="+mn-cs"/>
                </a:rPr>
                <a:t>US$16.9b</a:t>
              </a:r>
            </a:p>
          </p:txBody>
        </p:sp>
      </p:grpSp>
      <p:grpSp>
        <p:nvGrpSpPr>
          <p:cNvPr id="19" name="Group 18">
            <a:extLst>
              <a:ext uri="{FF2B5EF4-FFF2-40B4-BE49-F238E27FC236}">
                <a16:creationId xmlns:a16="http://schemas.microsoft.com/office/drawing/2014/main" id="{830805C3-28BC-F39B-43FB-10FBA46D014A}"/>
              </a:ext>
            </a:extLst>
          </p:cNvPr>
          <p:cNvGrpSpPr/>
          <p:nvPr/>
        </p:nvGrpSpPr>
        <p:grpSpPr>
          <a:xfrm>
            <a:off x="7791452" y="3710908"/>
            <a:ext cx="915635" cy="342664"/>
            <a:chOff x="7663738" y="4308076"/>
            <a:chExt cx="1040298" cy="342664"/>
          </a:xfrm>
        </p:grpSpPr>
        <p:sp>
          <p:nvSpPr>
            <p:cNvPr id="21" name="Left Brace 20">
              <a:extLst>
                <a:ext uri="{FF2B5EF4-FFF2-40B4-BE49-F238E27FC236}">
                  <a16:creationId xmlns:a16="http://schemas.microsoft.com/office/drawing/2014/main" id="{9BD6448B-203D-5150-9460-4BA28595EC2E}"/>
                </a:ext>
              </a:extLst>
            </p:cNvPr>
            <p:cNvSpPr/>
            <p:nvPr/>
          </p:nvSpPr>
          <p:spPr>
            <a:xfrm rot="5400000">
              <a:off x="8141927" y="4195647"/>
              <a:ext cx="120736" cy="7894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sp>
          <p:nvSpPr>
            <p:cNvPr id="26" name="TextBox 25">
              <a:extLst>
                <a:ext uri="{FF2B5EF4-FFF2-40B4-BE49-F238E27FC236}">
                  <a16:creationId xmlns:a16="http://schemas.microsoft.com/office/drawing/2014/main" id="{ED8D9572-1E6A-CB86-8629-9BD52ED83D19}"/>
                </a:ext>
              </a:extLst>
            </p:cNvPr>
            <p:cNvSpPr txBox="1"/>
            <p:nvPr/>
          </p:nvSpPr>
          <p:spPr>
            <a:xfrm>
              <a:off x="7663738" y="4308076"/>
              <a:ext cx="1040298"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dirty="0">
                  <a:ln>
                    <a:noFill/>
                  </a:ln>
                  <a:solidFill>
                    <a:srgbClr val="000000"/>
                  </a:solidFill>
                  <a:effectLst/>
                  <a:uLnTx/>
                  <a:uFillTx/>
                  <a:latin typeface="Calibri"/>
                  <a:ea typeface="DFKaiShu-GB5"/>
                  <a:cs typeface="+mn-cs"/>
                </a:rPr>
                <a:t>2025 Avg: </a:t>
              </a:r>
              <a:r>
                <a:rPr kumimoji="0" lang="en-US" sz="700" b="1" i="0" u="none" strike="noStrike" kern="1200" cap="none" spc="0" normalizeH="0" baseline="0" noProof="0" dirty="0">
                  <a:ln>
                    <a:noFill/>
                  </a:ln>
                  <a:solidFill>
                    <a:srgbClr val="000000"/>
                  </a:solidFill>
                  <a:effectLst/>
                  <a:uLnTx/>
                  <a:uFillTx/>
                  <a:latin typeface="Calibri"/>
                  <a:ea typeface="DFKaiShu-GB5"/>
                  <a:cs typeface="+mn-cs"/>
                </a:rPr>
                <a:t>US$</a:t>
              </a:r>
              <a:r>
                <a:rPr lang="en-US" sz="700" b="1" dirty="0">
                  <a:solidFill>
                    <a:srgbClr val="000000"/>
                  </a:solidFill>
                  <a:latin typeface="Calibri"/>
                  <a:ea typeface="DFKaiShu-GB5"/>
                  <a:cs typeface="+mn-cs"/>
                </a:rPr>
                <a:t>32.0</a:t>
              </a:r>
              <a:r>
                <a:rPr kumimoji="0" lang="en-US" sz="700" b="1" i="0" u="none" strike="noStrike" kern="1200" cap="none" spc="0" normalizeH="0" baseline="0" noProof="0" dirty="0">
                  <a:ln>
                    <a:noFill/>
                  </a:ln>
                  <a:solidFill>
                    <a:srgbClr val="000000"/>
                  </a:solidFill>
                  <a:effectLst/>
                  <a:uLnTx/>
                  <a:uFillTx/>
                  <a:latin typeface="Calibri"/>
                  <a:ea typeface="DFKaiShu-GB5"/>
                  <a:cs typeface="+mn-cs"/>
                </a:rPr>
                <a:t>b</a:t>
              </a:r>
            </a:p>
          </p:txBody>
        </p:sp>
      </p:grpSp>
      <p:grpSp>
        <p:nvGrpSpPr>
          <p:cNvPr id="57" name="Group 56">
            <a:extLst>
              <a:ext uri="{FF2B5EF4-FFF2-40B4-BE49-F238E27FC236}">
                <a16:creationId xmlns:a16="http://schemas.microsoft.com/office/drawing/2014/main" id="{3E6AF932-3BE1-4F8B-1504-AF5655493111}"/>
              </a:ext>
            </a:extLst>
          </p:cNvPr>
          <p:cNvGrpSpPr/>
          <p:nvPr/>
        </p:nvGrpSpPr>
        <p:grpSpPr>
          <a:xfrm>
            <a:off x="347894" y="1143057"/>
            <a:ext cx="3994893" cy="2257289"/>
            <a:chOff x="530085" y="1838139"/>
            <a:chExt cx="3950001" cy="1962966"/>
          </a:xfrm>
        </p:grpSpPr>
        <p:graphicFrame>
          <p:nvGraphicFramePr>
            <p:cNvPr id="79" name="Chart 14">
              <a:extLst>
                <a:ext uri="{FF2B5EF4-FFF2-40B4-BE49-F238E27FC236}">
                  <a16:creationId xmlns:a16="http://schemas.microsoft.com/office/drawing/2014/main" id="{94E4F024-43F7-852B-A580-77A1D11971BE}"/>
                </a:ext>
              </a:extLst>
            </p:cNvPr>
            <p:cNvGraphicFramePr>
              <a:graphicFrameLocks/>
            </p:cNvGraphicFramePr>
            <p:nvPr>
              <p:extLst>
                <p:ext uri="{D42A27DB-BD31-4B8C-83A1-F6EECF244321}">
                  <p14:modId xmlns:p14="http://schemas.microsoft.com/office/powerpoint/2010/main" val="1923030528"/>
                </p:ext>
              </p:extLst>
            </p:nvPr>
          </p:nvGraphicFramePr>
          <p:xfrm>
            <a:off x="530085" y="2003404"/>
            <a:ext cx="3950001" cy="1797701"/>
          </p:xfrm>
          <a:graphic>
            <a:graphicData uri="http://schemas.openxmlformats.org/drawingml/2006/chart">
              <c:chart xmlns:c="http://schemas.openxmlformats.org/drawingml/2006/chart" xmlns:r="http://schemas.openxmlformats.org/officeDocument/2006/relationships" r:id="rId6"/>
            </a:graphicData>
          </a:graphic>
        </p:graphicFrame>
        <p:sp>
          <p:nvSpPr>
            <p:cNvPr id="80" name="TextBox 79">
              <a:extLst>
                <a:ext uri="{FF2B5EF4-FFF2-40B4-BE49-F238E27FC236}">
                  <a16:creationId xmlns:a16="http://schemas.microsoft.com/office/drawing/2014/main" id="{4336DB3E-2B14-B3F3-5682-776136F5354D}"/>
                </a:ext>
              </a:extLst>
            </p:cNvPr>
            <p:cNvSpPr txBox="1"/>
            <p:nvPr/>
          </p:nvSpPr>
          <p:spPr>
            <a:xfrm>
              <a:off x="530085" y="1838139"/>
              <a:ext cx="594854" cy="2141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000000"/>
                  </a:solidFill>
                  <a:effectLst/>
                  <a:uLnTx/>
                  <a:uFillTx/>
                  <a:latin typeface="Calibri"/>
                  <a:ea typeface="DFKaiShu-GB5"/>
                  <a:cs typeface="Calibri" panose="020F0502020204030204" pitchFamily="34" charset="0"/>
                </a:rPr>
                <a:t>US$’bn</a:t>
              </a:r>
              <a:endParaRPr kumimoji="0" lang="en-US" sz="1000" b="1" i="0"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endParaRPr>
            </a:p>
          </p:txBody>
        </p:sp>
      </p:grpSp>
      <p:sp>
        <p:nvSpPr>
          <p:cNvPr id="82" name="Arrow: Right 81">
            <a:extLst>
              <a:ext uri="{FF2B5EF4-FFF2-40B4-BE49-F238E27FC236}">
                <a16:creationId xmlns:a16="http://schemas.microsoft.com/office/drawing/2014/main" id="{B74AACC7-361E-E46C-8DAA-49BF3C5E31F5}"/>
              </a:ext>
            </a:extLst>
          </p:cNvPr>
          <p:cNvSpPr/>
          <p:nvPr/>
        </p:nvSpPr>
        <p:spPr bwMode="auto">
          <a:xfrm rot="20509946">
            <a:off x="808669" y="1282220"/>
            <a:ext cx="502050"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dirty="0">
                <a:solidFill>
                  <a:srgbClr val="00B050"/>
                </a:solidFill>
                <a:latin typeface="Arial" panose="020B0604020202020204" pitchFamily="34" charset="0"/>
              </a:rPr>
              <a:t>57</a:t>
            </a:r>
            <a:r>
              <a:rPr lang="en-SG" sz="700" b="1" dirty="0">
                <a:solidFill>
                  <a:srgbClr val="00B050"/>
                </a:solidFill>
                <a:latin typeface="Arial" panose="020B0604020202020204" pitchFamily="34" charset="0"/>
              </a:rPr>
              <a:t>%</a:t>
            </a:r>
            <a:endParaRPr kumimoji="0" lang="en-SG" sz="700" b="1" i="0" u="none" strike="noStrike" cap="none" normalizeH="0" baseline="0" dirty="0">
              <a:ln>
                <a:noFill/>
              </a:ln>
              <a:solidFill>
                <a:srgbClr val="00B050"/>
              </a:solidFill>
              <a:effectLst/>
              <a:latin typeface="Arial" panose="020B0604020202020204" pitchFamily="34" charset="0"/>
            </a:endParaRPr>
          </a:p>
        </p:txBody>
      </p:sp>
      <p:sp>
        <p:nvSpPr>
          <p:cNvPr id="86" name="Arrow: Right 85">
            <a:extLst>
              <a:ext uri="{FF2B5EF4-FFF2-40B4-BE49-F238E27FC236}">
                <a16:creationId xmlns:a16="http://schemas.microsoft.com/office/drawing/2014/main" id="{1F25667D-F380-825E-992F-6275B2E78CC2}"/>
              </a:ext>
            </a:extLst>
          </p:cNvPr>
          <p:cNvSpPr/>
          <p:nvPr/>
        </p:nvSpPr>
        <p:spPr bwMode="auto">
          <a:xfrm rot="1440862">
            <a:off x="3878372" y="2512362"/>
            <a:ext cx="502920" cy="210312"/>
          </a:xfrm>
          <a:prstGeom prst="rightArrow">
            <a:avLst>
              <a:gd name="adj1" fmla="val 60561"/>
              <a:gd name="adj2" fmla="val 59964"/>
            </a:avLst>
          </a:prstGeom>
          <a:solidFill>
            <a:srgbClr val="FE9999"/>
          </a:solidFill>
          <a:ln>
            <a:solidFill>
              <a:srgbClr val="C00000"/>
            </a:solidFill>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700" b="1" i="0" u="none" strike="noStrike" kern="0" cap="none" spc="0" normalizeH="0" baseline="0" noProof="0" dirty="0">
                <a:ln>
                  <a:noFill/>
                </a:ln>
                <a:solidFill>
                  <a:srgbClr val="C00000"/>
                </a:solidFill>
                <a:effectLst/>
                <a:uLnTx/>
                <a:uFillTx/>
                <a:latin typeface="Arial" panose="020B0604020202020204" pitchFamily="34" charset="0"/>
                <a:ea typeface="+mn-ea"/>
                <a:cs typeface="+mn-cs"/>
              </a:rPr>
              <a:t>20</a:t>
            </a:r>
            <a:r>
              <a:rPr kumimoji="0" lang="en-SG" sz="700" b="1" i="0" u="none" strike="noStrike" kern="0" cap="none" spc="0" normalizeH="0" baseline="0" noProof="0" dirty="0">
                <a:ln>
                  <a:noFill/>
                </a:ln>
                <a:solidFill>
                  <a:srgbClr val="C00000"/>
                </a:solidFill>
                <a:effectLst/>
                <a:uLnTx/>
                <a:uFillTx/>
                <a:latin typeface="Arial" panose="020B0604020202020204" pitchFamily="34" charset="0"/>
                <a:ea typeface="+mn-ea"/>
                <a:cs typeface="+mn-cs"/>
              </a:rPr>
              <a:t>%</a:t>
            </a:r>
          </a:p>
        </p:txBody>
      </p:sp>
      <p:sp>
        <p:nvSpPr>
          <p:cNvPr id="87" name="Arrow: Right 86">
            <a:extLst>
              <a:ext uri="{FF2B5EF4-FFF2-40B4-BE49-F238E27FC236}">
                <a16:creationId xmlns:a16="http://schemas.microsoft.com/office/drawing/2014/main" id="{F11CD0F3-3799-AF8D-183D-CA1BC5C4D517}"/>
              </a:ext>
            </a:extLst>
          </p:cNvPr>
          <p:cNvSpPr/>
          <p:nvPr/>
        </p:nvSpPr>
        <p:spPr bwMode="auto">
          <a:xfrm rot="20315387">
            <a:off x="1255566" y="2380822"/>
            <a:ext cx="502050"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700" b="1" dirty="0">
                <a:solidFill>
                  <a:srgbClr val="00B050"/>
                </a:solidFill>
                <a:latin typeface="Arial" panose="020B0604020202020204" pitchFamily="34" charset="0"/>
              </a:rPr>
              <a:t>85</a:t>
            </a:r>
            <a:r>
              <a:rPr lang="en-SG" sz="700" b="1" dirty="0">
                <a:solidFill>
                  <a:srgbClr val="00B050"/>
                </a:solidFill>
                <a:latin typeface="Arial" panose="020B0604020202020204" pitchFamily="34" charset="0"/>
              </a:rPr>
              <a:t>%</a:t>
            </a:r>
            <a:endParaRPr kumimoji="0" lang="en-SG" sz="700" b="1" i="0" u="none" strike="noStrike" cap="none" normalizeH="0" baseline="0" dirty="0">
              <a:ln>
                <a:noFill/>
              </a:ln>
              <a:solidFill>
                <a:srgbClr val="00B050"/>
              </a:solidFill>
              <a:effectLst/>
              <a:latin typeface="Arial" panose="020B0604020202020204" pitchFamily="34" charset="0"/>
            </a:endParaRPr>
          </a:p>
        </p:txBody>
      </p:sp>
      <p:sp>
        <p:nvSpPr>
          <p:cNvPr id="88" name="Arrow: Right 87">
            <a:extLst>
              <a:ext uri="{FF2B5EF4-FFF2-40B4-BE49-F238E27FC236}">
                <a16:creationId xmlns:a16="http://schemas.microsoft.com/office/drawing/2014/main" id="{DAA28441-7580-299F-92C5-3EAE6AB6F3B4}"/>
              </a:ext>
            </a:extLst>
          </p:cNvPr>
          <p:cNvSpPr/>
          <p:nvPr/>
        </p:nvSpPr>
        <p:spPr bwMode="auto">
          <a:xfrm rot="19636097">
            <a:off x="1780773" y="2423709"/>
            <a:ext cx="502050"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SG" sz="700" b="1" dirty="0">
                <a:solidFill>
                  <a:srgbClr val="00B050"/>
                </a:solidFill>
                <a:latin typeface="Arial" panose="020B0604020202020204" pitchFamily="34" charset="0"/>
              </a:rPr>
              <a:t>44%</a:t>
            </a:r>
            <a:endParaRPr kumimoji="0" lang="en-SG" sz="700" b="1" i="0" u="none" strike="noStrike" cap="none" normalizeH="0" baseline="0" dirty="0">
              <a:ln>
                <a:noFill/>
              </a:ln>
              <a:solidFill>
                <a:srgbClr val="00B050"/>
              </a:solidFill>
              <a:effectLst/>
              <a:latin typeface="Arial" panose="020B0604020202020204" pitchFamily="34" charset="0"/>
            </a:endParaRPr>
          </a:p>
        </p:txBody>
      </p:sp>
      <p:sp>
        <p:nvSpPr>
          <p:cNvPr id="89" name="Arrow: Right 88">
            <a:extLst>
              <a:ext uri="{FF2B5EF4-FFF2-40B4-BE49-F238E27FC236}">
                <a16:creationId xmlns:a16="http://schemas.microsoft.com/office/drawing/2014/main" id="{9C08B8AE-4D2C-3752-FE77-83F5DDAFD5A9}"/>
              </a:ext>
            </a:extLst>
          </p:cNvPr>
          <p:cNvSpPr/>
          <p:nvPr/>
        </p:nvSpPr>
        <p:spPr bwMode="auto">
          <a:xfrm rot="20081783">
            <a:off x="2310316" y="2562517"/>
            <a:ext cx="502050"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SG" sz="700" b="1" dirty="0">
                <a:solidFill>
                  <a:srgbClr val="00B050"/>
                </a:solidFill>
                <a:latin typeface="Arial" panose="020B0604020202020204" pitchFamily="34" charset="0"/>
              </a:rPr>
              <a:t>596%</a:t>
            </a:r>
            <a:endParaRPr kumimoji="0" lang="en-SG" sz="700" b="1" i="0" u="none" strike="noStrike" cap="none" normalizeH="0" baseline="0" dirty="0">
              <a:ln>
                <a:noFill/>
              </a:ln>
              <a:solidFill>
                <a:srgbClr val="00B050"/>
              </a:solidFill>
              <a:effectLst/>
              <a:latin typeface="Arial" panose="020B0604020202020204" pitchFamily="34" charset="0"/>
            </a:endParaRPr>
          </a:p>
        </p:txBody>
      </p:sp>
      <p:sp>
        <p:nvSpPr>
          <p:cNvPr id="91" name="Arrow: Right 90">
            <a:extLst>
              <a:ext uri="{FF2B5EF4-FFF2-40B4-BE49-F238E27FC236}">
                <a16:creationId xmlns:a16="http://schemas.microsoft.com/office/drawing/2014/main" id="{F421B666-F87A-F929-D001-3AFA97B27EBF}"/>
              </a:ext>
            </a:extLst>
          </p:cNvPr>
          <p:cNvSpPr/>
          <p:nvPr/>
        </p:nvSpPr>
        <p:spPr bwMode="auto">
          <a:xfrm rot="1369312">
            <a:off x="2840678" y="2486644"/>
            <a:ext cx="480507" cy="210312"/>
          </a:xfrm>
          <a:prstGeom prst="rightArrow">
            <a:avLst>
              <a:gd name="adj1" fmla="val 60561"/>
              <a:gd name="adj2" fmla="val 59964"/>
            </a:avLst>
          </a:prstGeom>
          <a:solidFill>
            <a:srgbClr val="FE9999"/>
          </a:solidFill>
          <a:ln>
            <a:solidFill>
              <a:srgbClr val="C00000"/>
            </a:solidFill>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SG" sz="700" b="1" i="0" u="none" strike="noStrike" kern="0" cap="none" spc="0" normalizeH="0" baseline="0" noProof="0" dirty="0">
                <a:ln>
                  <a:noFill/>
                </a:ln>
                <a:solidFill>
                  <a:srgbClr val="C00000"/>
                </a:solidFill>
                <a:effectLst/>
                <a:uLnTx/>
                <a:uFillTx/>
                <a:latin typeface="Arial" panose="020B0604020202020204" pitchFamily="34" charset="0"/>
                <a:ea typeface="+mn-ea"/>
                <a:cs typeface="+mn-cs"/>
              </a:rPr>
              <a:t>24%</a:t>
            </a:r>
          </a:p>
        </p:txBody>
      </p:sp>
      <p:sp>
        <p:nvSpPr>
          <p:cNvPr id="93" name="Arrow: Right 92">
            <a:extLst>
              <a:ext uri="{FF2B5EF4-FFF2-40B4-BE49-F238E27FC236}">
                <a16:creationId xmlns:a16="http://schemas.microsoft.com/office/drawing/2014/main" id="{060B36C7-F102-6324-D50F-F3BFD1BFDEBD}"/>
              </a:ext>
            </a:extLst>
          </p:cNvPr>
          <p:cNvSpPr/>
          <p:nvPr/>
        </p:nvSpPr>
        <p:spPr bwMode="auto">
          <a:xfrm rot="1912843">
            <a:off x="3377287" y="2517018"/>
            <a:ext cx="502920" cy="210312"/>
          </a:xfrm>
          <a:prstGeom prst="rightArrow">
            <a:avLst>
              <a:gd name="adj1" fmla="val 60561"/>
              <a:gd name="adj2" fmla="val 59964"/>
            </a:avLst>
          </a:prstGeom>
          <a:solidFill>
            <a:srgbClr val="FE9999"/>
          </a:solidFill>
          <a:ln>
            <a:solidFill>
              <a:srgbClr val="C00000"/>
            </a:solidFill>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SG" sz="700" b="1" i="0" u="none" strike="noStrike" kern="0" cap="none" spc="0" normalizeH="0" baseline="0" noProof="0" dirty="0">
                <a:ln>
                  <a:noFill/>
                </a:ln>
                <a:solidFill>
                  <a:srgbClr val="C00000"/>
                </a:solidFill>
                <a:effectLst/>
                <a:uLnTx/>
                <a:uFillTx/>
                <a:latin typeface="Arial" panose="020B0604020202020204" pitchFamily="34" charset="0"/>
                <a:ea typeface="+mn-ea"/>
                <a:cs typeface="+mn-cs"/>
              </a:rPr>
              <a:t>63%</a:t>
            </a:r>
          </a:p>
        </p:txBody>
      </p:sp>
      <p:sp>
        <p:nvSpPr>
          <p:cNvPr id="97" name="Arrow: Right 96">
            <a:extLst>
              <a:ext uri="{FF2B5EF4-FFF2-40B4-BE49-F238E27FC236}">
                <a16:creationId xmlns:a16="http://schemas.microsoft.com/office/drawing/2014/main" id="{C6488988-A66A-330C-DEB7-32476DDB7A0F}"/>
              </a:ext>
            </a:extLst>
          </p:cNvPr>
          <p:cNvSpPr/>
          <p:nvPr/>
        </p:nvSpPr>
        <p:spPr bwMode="auto">
          <a:xfrm rot="19881007">
            <a:off x="8759358" y="2552340"/>
            <a:ext cx="609241"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dirty="0">
                <a:solidFill>
                  <a:srgbClr val="00B050"/>
                </a:solidFill>
                <a:latin typeface="Arial" panose="020B0604020202020204" pitchFamily="34" charset="0"/>
              </a:rPr>
              <a:t>43.7</a:t>
            </a:r>
            <a:r>
              <a:rPr lang="en-SG" sz="700" b="1" dirty="0">
                <a:solidFill>
                  <a:srgbClr val="00B050"/>
                </a:solidFill>
                <a:latin typeface="Arial" panose="020B0604020202020204" pitchFamily="34" charset="0"/>
              </a:rPr>
              <a:t>%</a:t>
            </a:r>
            <a:endParaRPr kumimoji="0" lang="en-SG" sz="700" b="1" i="0" u="none" strike="noStrike" cap="none" normalizeH="0" baseline="0" dirty="0">
              <a:ln>
                <a:noFill/>
              </a:ln>
              <a:solidFill>
                <a:srgbClr val="00B050"/>
              </a:solidFill>
              <a:effectLst/>
              <a:latin typeface="Arial" panose="020B0604020202020204" pitchFamily="34" charset="0"/>
            </a:endParaRPr>
          </a:p>
        </p:txBody>
      </p:sp>
      <p:sp>
        <p:nvSpPr>
          <p:cNvPr id="98" name="Arrow: Right 97">
            <a:extLst>
              <a:ext uri="{FF2B5EF4-FFF2-40B4-BE49-F238E27FC236}">
                <a16:creationId xmlns:a16="http://schemas.microsoft.com/office/drawing/2014/main" id="{FA2998FA-738C-9097-D683-D906E107CAC8}"/>
              </a:ext>
            </a:extLst>
          </p:cNvPr>
          <p:cNvSpPr/>
          <p:nvPr/>
        </p:nvSpPr>
        <p:spPr bwMode="auto">
          <a:xfrm rot="1299446">
            <a:off x="8669598" y="4112371"/>
            <a:ext cx="628761" cy="237230"/>
          </a:xfrm>
          <a:prstGeom prst="rightArrow">
            <a:avLst>
              <a:gd name="adj1" fmla="val 51773"/>
              <a:gd name="adj2" fmla="val 61241"/>
            </a:avLst>
          </a:prstGeom>
          <a:solidFill>
            <a:srgbClr val="FE9999"/>
          </a:solidFill>
          <a:ln>
            <a:solidFill>
              <a:schemeClr val="accent1"/>
            </a:solidFill>
          </a:ln>
          <a:effectLst/>
        </p:spPr>
        <p:txBody>
          <a:bodyPr vert="horz" wrap="square" lIns="91440" tIns="45720" rIns="91440" bIns="45720" numCol="1" rtlCol="0" anchor="ctr" anchorCtr="0" compatLnSpc="1">
            <a:prstTxWarp prst="textNoShape">
              <a:avLst/>
            </a:prstTxWarp>
          </a:bodyPr>
          <a:lstStyle/>
          <a:p>
            <a:r>
              <a:rPr lang="en-US" altLang="zh-CN" sz="600" b="1" kern="0" dirty="0">
                <a:solidFill>
                  <a:srgbClr val="BC0000"/>
                </a:solidFill>
                <a:latin typeface="+mn-lt"/>
              </a:rPr>
              <a:t>-</a:t>
            </a:r>
            <a:r>
              <a:rPr lang="en-US" altLang="zh-CN" sz="600" b="1" kern="0" dirty="0">
                <a:solidFill>
                  <a:srgbClr val="BC0000"/>
                </a:solidFill>
                <a:latin typeface="Arial" panose="020B0604020202020204" pitchFamily="34" charset="0"/>
              </a:rPr>
              <a:t>6</a:t>
            </a:r>
            <a:r>
              <a:rPr lang="en-SG" sz="600" b="1" kern="0" dirty="0">
                <a:solidFill>
                  <a:srgbClr val="BC0000"/>
                </a:solidFill>
                <a:latin typeface="Arial" panose="020B0604020202020204" pitchFamily="34" charset="0"/>
              </a:rPr>
              <a:t>%</a:t>
            </a:r>
            <a:r>
              <a:rPr kumimoji="0" lang="en-US" sz="600" b="1" i="0" u="none" strike="noStrike" cap="none" normalizeH="0" baseline="0" dirty="0">
                <a:ln>
                  <a:noFill/>
                </a:ln>
                <a:solidFill>
                  <a:srgbClr val="BC0000"/>
                </a:solidFill>
                <a:effectLst/>
                <a:latin typeface="+mn-lt"/>
              </a:rPr>
              <a:t> </a:t>
            </a:r>
            <a:r>
              <a:rPr lang="en-US" sz="600" b="1" dirty="0">
                <a:solidFill>
                  <a:srgbClr val="BC0000"/>
                </a:solidFill>
                <a:latin typeface="+mn-lt"/>
              </a:rPr>
              <a:t>QoQ</a:t>
            </a:r>
            <a:r>
              <a:rPr lang="en-US" sz="600" b="1" baseline="30000" dirty="0">
                <a:solidFill>
                  <a:srgbClr val="BC0000"/>
                </a:solidFill>
                <a:latin typeface="+mn-lt"/>
              </a:rPr>
              <a:t>2</a:t>
            </a:r>
            <a:endParaRPr kumimoji="0" lang="en-SG" sz="600" b="1" i="0" u="none" cap="none" normalizeH="0" baseline="30000" dirty="0">
              <a:ln>
                <a:noFill/>
              </a:ln>
              <a:solidFill>
                <a:srgbClr val="BC0000"/>
              </a:solidFill>
              <a:effectLst/>
              <a:latin typeface="+mn-lt"/>
            </a:endParaRPr>
          </a:p>
        </p:txBody>
      </p:sp>
    </p:spTree>
    <p:extLst>
      <p:ext uri="{BB962C8B-B14F-4D97-AF65-F5344CB8AC3E}">
        <p14:creationId xmlns:p14="http://schemas.microsoft.com/office/powerpoint/2010/main" val="94835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587E9698-6B92-0D52-C6E4-C03436B9880E}"/>
              </a:ext>
            </a:extLst>
          </p:cNvPr>
          <p:cNvGraphicFramePr>
            <a:graphicFrameLocks/>
          </p:cNvGraphicFramePr>
          <p:nvPr>
            <p:extLst>
              <p:ext uri="{D42A27DB-BD31-4B8C-83A1-F6EECF244321}">
                <p14:modId xmlns:p14="http://schemas.microsoft.com/office/powerpoint/2010/main" val="444287685"/>
              </p:ext>
            </p:extLst>
          </p:nvPr>
        </p:nvGraphicFramePr>
        <p:xfrm>
          <a:off x="-753539" y="4091465"/>
          <a:ext cx="4333208" cy="22907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93E484E4-71B6-4B16-54A0-BA88B68EF4EE}"/>
              </a:ext>
            </a:extLst>
          </p:cNvPr>
          <p:cNvGraphicFramePr>
            <a:graphicFrameLocks/>
          </p:cNvGraphicFramePr>
          <p:nvPr>
            <p:extLst>
              <p:ext uri="{D42A27DB-BD31-4B8C-83A1-F6EECF244321}">
                <p14:modId xmlns:p14="http://schemas.microsoft.com/office/powerpoint/2010/main" val="4062368543"/>
              </p:ext>
            </p:extLst>
          </p:nvPr>
        </p:nvGraphicFramePr>
        <p:xfrm>
          <a:off x="1669143" y="4091464"/>
          <a:ext cx="3691361" cy="2299653"/>
        </p:xfrm>
        <a:graphic>
          <a:graphicData uri="http://schemas.openxmlformats.org/drawingml/2006/chart">
            <c:chart xmlns:c="http://schemas.openxmlformats.org/drawingml/2006/chart" xmlns:r="http://schemas.openxmlformats.org/officeDocument/2006/relationships" r:id="rId4"/>
          </a:graphicData>
        </a:graphic>
      </p:graphicFrame>
      <p:sp>
        <p:nvSpPr>
          <p:cNvPr id="6" name="Title 5"/>
          <p:cNvSpPr>
            <a:spLocks noGrp="1"/>
          </p:cNvSpPr>
          <p:nvPr>
            <p:ph type="title"/>
          </p:nvPr>
        </p:nvSpPr>
        <p:spPr>
          <a:xfrm>
            <a:off x="339938" y="475756"/>
            <a:ext cx="9144000" cy="424732"/>
          </a:xfrm>
        </p:spPr>
        <p:txBody>
          <a:bodyPr/>
          <a:lstStyle/>
          <a:p>
            <a:r>
              <a:rPr lang="en-US" altLang="zh-CN" dirty="0">
                <a:solidFill>
                  <a:srgbClr val="000000"/>
                </a:solidFill>
                <a:ea typeface="SimSun" pitchFamily="2" charset="-122"/>
              </a:rPr>
              <a:t>Hong Kong IPO Trends – 2026 YTD</a:t>
            </a:r>
            <a:endParaRPr lang="en-US" dirty="0"/>
          </a:p>
        </p:txBody>
      </p:sp>
      <p:sp>
        <p:nvSpPr>
          <p:cNvPr id="47" name="TextBox 7">
            <a:extLst>
              <a:ext uri="{FF2B5EF4-FFF2-40B4-BE49-F238E27FC236}">
                <a16:creationId xmlns:a16="http://schemas.microsoft.com/office/drawing/2014/main" id="{B58B3EF5-429E-495B-A3F3-725C54A049AD}"/>
              </a:ext>
            </a:extLst>
          </p:cNvPr>
          <p:cNvSpPr txBox="1">
            <a:spLocks noChangeArrowheads="1"/>
          </p:cNvSpPr>
          <p:nvPr/>
        </p:nvSpPr>
        <p:spPr bwMode="auto">
          <a:xfrm>
            <a:off x="339938" y="1006879"/>
            <a:ext cx="4108237" cy="270584"/>
          </a:xfrm>
          <a:prstGeom prst="rect">
            <a:avLst/>
          </a:prstGeom>
          <a:solidFill>
            <a:srgbClr val="C00000"/>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Next 12-Month Indices Forecast</a:t>
            </a:r>
          </a:p>
        </p:txBody>
      </p:sp>
      <p:sp>
        <p:nvSpPr>
          <p:cNvPr id="75" name="TextBox 7">
            <a:extLst>
              <a:ext uri="{FF2B5EF4-FFF2-40B4-BE49-F238E27FC236}">
                <a16:creationId xmlns:a16="http://schemas.microsoft.com/office/drawing/2014/main" id="{2EA912D9-B0FD-467B-A434-8ADB5F03C479}"/>
              </a:ext>
            </a:extLst>
          </p:cNvPr>
          <p:cNvSpPr txBox="1">
            <a:spLocks noChangeArrowheads="1"/>
          </p:cNvSpPr>
          <p:nvPr/>
        </p:nvSpPr>
        <p:spPr bwMode="auto">
          <a:xfrm>
            <a:off x="4594860" y="1007079"/>
            <a:ext cx="4849425" cy="270384"/>
          </a:xfrm>
          <a:prstGeom prst="rect">
            <a:avLst/>
          </a:prstGeom>
          <a:solidFill>
            <a:srgbClr val="C00000"/>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202</a:t>
            </a:r>
            <a:r>
              <a:rPr kumimoji="0" lang="en-US" altLang="zh-CN"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6</a:t>
            </a:r>
            <a:r>
              <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YTD</a:t>
            </a:r>
            <a:r>
              <a:rPr kumimoji="0" lang="en-US" altLang="zh-CN"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 </a:t>
            </a:r>
            <a:r>
              <a:rPr kumimoji="0" lang="nl-NL"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IPO Performance</a:t>
            </a:r>
          </a:p>
        </p:txBody>
      </p:sp>
      <p:sp>
        <p:nvSpPr>
          <p:cNvPr id="65" name="TextBox 7">
            <a:extLst>
              <a:ext uri="{FF2B5EF4-FFF2-40B4-BE49-F238E27FC236}">
                <a16:creationId xmlns:a16="http://schemas.microsoft.com/office/drawing/2014/main" id="{B8DC0B55-8331-4875-92D2-BA03D49FB454}"/>
              </a:ext>
            </a:extLst>
          </p:cNvPr>
          <p:cNvSpPr txBox="1">
            <a:spLocks noChangeArrowheads="1"/>
          </p:cNvSpPr>
          <p:nvPr/>
        </p:nvSpPr>
        <p:spPr bwMode="auto">
          <a:xfrm>
            <a:off x="339938" y="3719969"/>
            <a:ext cx="4108237" cy="270583"/>
          </a:xfrm>
          <a:prstGeom prst="rect">
            <a:avLst/>
          </a:prstGeom>
          <a:solidFill>
            <a:srgbClr val="C00000"/>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ECM</a:t>
            </a:r>
            <a:r>
              <a:rPr kumimoji="0" lang="en-US" sz="1200" b="1" i="0" u="none" strike="noStrike" kern="1200" cap="none" spc="0" normalizeH="0" baseline="30000" noProof="0" dirty="0">
                <a:ln>
                  <a:noFill/>
                </a:ln>
                <a:solidFill>
                  <a:schemeClr val="bg1"/>
                </a:solidFill>
                <a:effectLst/>
                <a:uLnTx/>
                <a:uFillTx/>
                <a:latin typeface="Calibri" panose="020F0502020204030204" pitchFamily="34" charset="0"/>
                <a:ea typeface="DFKaiShu-GB5"/>
                <a:cs typeface="Calibri" panose="020F0502020204030204" pitchFamily="34" charset="0"/>
              </a:rPr>
              <a:t>1</a:t>
            </a:r>
            <a:r>
              <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 Activity 202</a:t>
            </a:r>
            <a:r>
              <a:rPr kumimoji="0" lang="en-US" altLang="zh-CN"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6</a:t>
            </a:r>
            <a:r>
              <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YTD vs. 202</a:t>
            </a:r>
            <a:r>
              <a:rPr kumimoji="0" lang="en-US" altLang="zh-CN"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rPr>
              <a:t>5</a:t>
            </a:r>
            <a:r>
              <a:rPr lang="en-US" sz="1200" b="1" dirty="0">
                <a:solidFill>
                  <a:schemeClr val="bg1"/>
                </a:solidFill>
                <a:latin typeface="Calibri" panose="020F0502020204030204" pitchFamily="34" charset="0"/>
                <a:ea typeface="DFKaiShu-GB5"/>
                <a:cs typeface="Calibri" panose="020F0502020204030204" pitchFamily="34" charset="0"/>
              </a:rPr>
              <a:t> Same Period</a:t>
            </a:r>
            <a:endParaRPr kumimoji="0" lang="en-US" sz="1200" b="1" i="0" u="none" strike="noStrike" kern="1200" cap="none" spc="0" normalizeH="0" baseline="0" noProof="0" dirty="0">
              <a:ln>
                <a:noFill/>
              </a:ln>
              <a:solidFill>
                <a:schemeClr val="bg1"/>
              </a:solidFill>
              <a:effectLst/>
              <a:uLnTx/>
              <a:uFillTx/>
              <a:latin typeface="Calibri" panose="020F0502020204030204" pitchFamily="34" charset="0"/>
              <a:ea typeface="DFKaiShu-GB5"/>
              <a:cs typeface="Calibri" panose="020F0502020204030204" pitchFamily="34" charset="0"/>
            </a:endParaRPr>
          </a:p>
        </p:txBody>
      </p:sp>
      <p:sp>
        <p:nvSpPr>
          <p:cNvPr id="54" name="TextBox 53">
            <a:extLst>
              <a:ext uri="{FF2B5EF4-FFF2-40B4-BE49-F238E27FC236}">
                <a16:creationId xmlns:a16="http://schemas.microsoft.com/office/drawing/2014/main" id="{1D478016-4EA7-41B8-91B3-A99F3862387F}"/>
              </a:ext>
            </a:extLst>
          </p:cNvPr>
          <p:cNvSpPr txBox="1"/>
          <p:nvPr/>
        </p:nvSpPr>
        <p:spPr>
          <a:xfrm>
            <a:off x="229975" y="3483414"/>
            <a:ext cx="2340705" cy="21544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rPr>
              <a:t>*Based on the analysts’ consensus from Bloomberg </a:t>
            </a:r>
          </a:p>
        </p:txBody>
      </p:sp>
      <p:sp>
        <p:nvSpPr>
          <p:cNvPr id="4" name="Slide Number Placeholder 3">
            <a:extLst>
              <a:ext uri="{FF2B5EF4-FFF2-40B4-BE49-F238E27FC236}">
                <a16:creationId xmlns:a16="http://schemas.microsoft.com/office/drawing/2014/main" id="{DF111443-7EBE-4489-B671-064DBA727565}"/>
              </a:ext>
            </a:extLst>
          </p:cNvPr>
          <p:cNvSpPr>
            <a:spLocks noGrp="1"/>
          </p:cNvSpPr>
          <p:nvPr>
            <p:ph type="sldNum" sz="quarter" idx="4"/>
          </p:nvPr>
        </p:nvSpPr>
        <p:spPr>
          <a:xfrm>
            <a:off x="9444286" y="6489265"/>
            <a:ext cx="341760" cy="246221"/>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000" kern="1200" baseline="0">
                <a:solidFill>
                  <a:schemeClr val="tx1">
                    <a:tint val="75000"/>
                  </a:schemeClr>
                </a:solidFill>
                <a:latin typeface="Calibri" panose="020F0502020204030204" pitchFamily="34" charset="0"/>
                <a:ea typeface="DFKaiShu-GB5" panose="03000509000000000000" pitchFamily="65"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46F7334-D539-4DA0-AE05-1AF7E48B82B8}" type="slidenum">
              <a:rPr lang="en-US" smtClean="0"/>
              <a:pPr>
                <a:defRPr/>
              </a:pPr>
              <a:t>3</a:t>
            </a:fld>
            <a:endParaRPr lang="en-US" dirty="0"/>
          </a:p>
        </p:txBody>
      </p:sp>
      <p:graphicFrame>
        <p:nvGraphicFramePr>
          <p:cNvPr id="72" name="Table 4">
            <a:extLst>
              <a:ext uri="{FF2B5EF4-FFF2-40B4-BE49-F238E27FC236}">
                <a16:creationId xmlns:a16="http://schemas.microsoft.com/office/drawing/2014/main" id="{BCEAE837-FE51-4A8A-B77C-A1589230E8FB}"/>
              </a:ext>
            </a:extLst>
          </p:cNvPr>
          <p:cNvGraphicFramePr>
            <a:graphicFrameLocks noGrp="1"/>
          </p:cNvGraphicFramePr>
          <p:nvPr>
            <p:extLst>
              <p:ext uri="{D42A27DB-BD31-4B8C-83A1-F6EECF244321}">
                <p14:modId xmlns:p14="http://schemas.microsoft.com/office/powerpoint/2010/main" val="1652360261"/>
              </p:ext>
            </p:extLst>
          </p:nvPr>
        </p:nvGraphicFramePr>
        <p:xfrm>
          <a:off x="339940" y="1349320"/>
          <a:ext cx="4108235" cy="2151965"/>
        </p:xfrm>
        <a:graphic>
          <a:graphicData uri="http://schemas.openxmlformats.org/drawingml/2006/table">
            <a:tbl>
              <a:tblPr firstRow="1" bandRow="1">
                <a:tableStyleId>{7E9639D4-E3E2-4D34-9284-5A2195B3D0D7}</a:tableStyleId>
              </a:tblPr>
              <a:tblGrid>
                <a:gridCol w="1286864">
                  <a:extLst>
                    <a:ext uri="{9D8B030D-6E8A-4147-A177-3AD203B41FA5}">
                      <a16:colId xmlns:a16="http://schemas.microsoft.com/office/drawing/2014/main" val="1082423738"/>
                    </a:ext>
                  </a:extLst>
                </a:gridCol>
                <a:gridCol w="638052">
                  <a:extLst>
                    <a:ext uri="{9D8B030D-6E8A-4147-A177-3AD203B41FA5}">
                      <a16:colId xmlns:a16="http://schemas.microsoft.com/office/drawing/2014/main" val="2782378124"/>
                    </a:ext>
                  </a:extLst>
                </a:gridCol>
                <a:gridCol w="727773">
                  <a:extLst>
                    <a:ext uri="{9D8B030D-6E8A-4147-A177-3AD203B41FA5}">
                      <a16:colId xmlns:a16="http://schemas.microsoft.com/office/drawing/2014/main" val="2676260073"/>
                    </a:ext>
                  </a:extLst>
                </a:gridCol>
                <a:gridCol w="727773">
                  <a:extLst>
                    <a:ext uri="{9D8B030D-6E8A-4147-A177-3AD203B41FA5}">
                      <a16:colId xmlns:a16="http://schemas.microsoft.com/office/drawing/2014/main" val="1201224616"/>
                    </a:ext>
                  </a:extLst>
                </a:gridCol>
                <a:gridCol w="727773">
                  <a:extLst>
                    <a:ext uri="{9D8B030D-6E8A-4147-A177-3AD203B41FA5}">
                      <a16:colId xmlns:a16="http://schemas.microsoft.com/office/drawing/2014/main" val="180136882"/>
                    </a:ext>
                  </a:extLst>
                </a:gridCol>
              </a:tblGrid>
              <a:tr h="525264">
                <a:tc>
                  <a:txBody>
                    <a:bodyPr/>
                    <a:lstStyle/>
                    <a:p>
                      <a:pPr algn="ctr"/>
                      <a:r>
                        <a:rPr lang="en-US" sz="1000" dirty="0">
                          <a:latin typeface="Calibri" panose="020F0502020204030204" pitchFamily="34" charset="0"/>
                          <a:cs typeface="Calibri" panose="020F0502020204030204" pitchFamily="34" charset="0"/>
                        </a:rPr>
                        <a:t>Index</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cs typeface="Calibri" panose="020F0502020204030204" pitchFamily="34" charset="0"/>
                        </a:rPr>
                        <a:t>YTD Return %</a:t>
                      </a:r>
                    </a:p>
                  </a:txBody>
                  <a:tcPr anchor="ctr"/>
                </a:tc>
                <a:tc>
                  <a:txBody>
                    <a:bodyPr/>
                    <a:lstStyle/>
                    <a:p>
                      <a:pPr algn="ctr"/>
                      <a:r>
                        <a:rPr lang="en-US" altLang="zh-CN" sz="1000" dirty="0">
                          <a:latin typeface="Calibri" panose="020F0502020204030204" pitchFamily="34" charset="0"/>
                          <a:cs typeface="Calibri" panose="020F0502020204030204" pitchFamily="34" charset="0"/>
                        </a:rPr>
                        <a:t>May 20</a:t>
                      </a:r>
                    </a:p>
                    <a:p>
                      <a:pPr algn="ctr"/>
                      <a:r>
                        <a:rPr lang="en-US" sz="1000" dirty="0">
                          <a:latin typeface="Calibri" panose="020F0502020204030204" pitchFamily="34" charset="0"/>
                          <a:cs typeface="Calibri" panose="020F0502020204030204" pitchFamily="34" charset="0"/>
                        </a:rPr>
                        <a:t>Close Price</a:t>
                      </a:r>
                    </a:p>
                  </a:txBody>
                  <a:tcPr anchor="ctr"/>
                </a:tc>
                <a:tc>
                  <a:txBody>
                    <a:bodyPr/>
                    <a:lstStyle/>
                    <a:p>
                      <a:pPr algn="ctr"/>
                      <a:r>
                        <a:rPr lang="en-US" sz="1000" dirty="0">
                          <a:latin typeface="Calibri" panose="020F0502020204030204" pitchFamily="34" charset="0"/>
                          <a:cs typeface="Calibri" panose="020F0502020204030204" pitchFamily="34" charset="0"/>
                        </a:rPr>
                        <a:t>Analyst 12M Target</a:t>
                      </a:r>
                      <a:endParaRPr lang="en-US" sz="1000" baseline="30000" dirty="0">
                        <a:latin typeface="Calibri" panose="020F0502020204030204" pitchFamily="34" charset="0"/>
                        <a:cs typeface="Calibri" panose="020F0502020204030204" pitchFamily="34" charset="0"/>
                      </a:endParaRPr>
                    </a:p>
                  </a:txBody>
                  <a:tcPr anchor="ctr"/>
                </a:tc>
                <a:tc>
                  <a:txBody>
                    <a:bodyPr/>
                    <a:lstStyle/>
                    <a:p>
                      <a:pPr algn="ctr"/>
                      <a:r>
                        <a:rPr lang="en-US" sz="1000" dirty="0">
                          <a:latin typeface="Calibri" panose="020F0502020204030204" pitchFamily="34" charset="0"/>
                          <a:cs typeface="Calibri" panose="020F0502020204030204" pitchFamily="34" charset="0"/>
                        </a:rPr>
                        <a:t>Further Upside %</a:t>
                      </a:r>
                    </a:p>
                  </a:txBody>
                  <a:tcPr anchor="ctr"/>
                </a:tc>
                <a:extLst>
                  <a:ext uri="{0D108BD9-81ED-4DB2-BD59-A6C34878D82A}">
                    <a16:rowId xmlns:a16="http://schemas.microsoft.com/office/drawing/2014/main" val="2020473036"/>
                  </a:ext>
                </a:extLst>
              </a:tr>
              <a:tr h="320665">
                <a:tc>
                  <a:txBody>
                    <a:bodyPr/>
                    <a:lstStyle/>
                    <a:p>
                      <a:pPr algn="ctr"/>
                      <a:r>
                        <a:rPr lang="en-US" sz="1000" b="1" dirty="0">
                          <a:latin typeface="Calibri" panose="020F0502020204030204" pitchFamily="34" charset="0"/>
                          <a:cs typeface="Calibri" panose="020F0502020204030204" pitchFamily="34" charset="0"/>
                        </a:rPr>
                        <a:t>S&amp;P 500</a:t>
                      </a:r>
                    </a:p>
                  </a:txBody>
                  <a:tcPr anchor="ctr"/>
                </a:tc>
                <a:tc>
                  <a:txBody>
                    <a:bodyPr/>
                    <a:lstStyle/>
                    <a:p>
                      <a:pPr algn="ctr" rtl="0" fontAlgn="ctr"/>
                      <a:r>
                        <a:rPr lang="en-US" altLang="zh-CN" sz="1000" b="1" i="0" u="none" strike="noStrike" kern="1200" dirty="0">
                          <a:solidFill>
                            <a:srgbClr val="00B050"/>
                          </a:solidFill>
                          <a:effectLst/>
                          <a:latin typeface="+mn-lt"/>
                          <a:ea typeface="+mn-ea"/>
                          <a:cs typeface="Calibri" panose="020F0502020204030204" pitchFamily="34" charset="0"/>
                        </a:rPr>
                        <a:t>8.6</a:t>
                      </a:r>
                      <a:r>
                        <a:rPr lang="en-US" sz="1000" b="1" i="0" u="none" strike="noStrike" kern="1200" dirty="0">
                          <a:solidFill>
                            <a:srgbClr val="00B050"/>
                          </a:solidFill>
                          <a:effectLst/>
                          <a:latin typeface="+mn-lt"/>
                          <a:ea typeface="+mn-ea"/>
                          <a:cs typeface="Calibri" panose="020F0502020204030204" pitchFamily="34" charset="0"/>
                        </a:rPr>
                        <a:t>%</a:t>
                      </a:r>
                    </a:p>
                  </a:txBody>
                  <a:tcPr marL="9525" marR="9525" marT="9525" marB="0" anchor="ctr"/>
                </a:tc>
                <a:tc>
                  <a:txBody>
                    <a:bodyPr/>
                    <a:lstStyle/>
                    <a:p>
                      <a:pPr algn="ctr" rtl="0" fontAlgn="ctr"/>
                      <a:r>
                        <a:rPr lang="en-US" altLang="zh-CN" sz="1000" b="0" i="0" u="none" strike="noStrike" dirty="0">
                          <a:solidFill>
                            <a:srgbClr val="000000"/>
                          </a:solidFill>
                          <a:effectLst/>
                          <a:latin typeface="+mn-lt"/>
                          <a:cs typeface="Calibri" panose="020F0502020204030204" pitchFamily="34" charset="0"/>
                        </a:rPr>
                        <a:t>7</a:t>
                      </a:r>
                      <a:r>
                        <a:rPr lang="en-US" sz="1000" b="0" i="0" u="none" strike="noStrike" dirty="0">
                          <a:solidFill>
                            <a:srgbClr val="000000"/>
                          </a:solidFill>
                          <a:effectLst/>
                          <a:latin typeface="+mn-lt"/>
                          <a:cs typeface="Calibri" panose="020F0502020204030204" pitchFamily="34" charset="0"/>
                        </a:rPr>
                        <a:t>,</a:t>
                      </a:r>
                      <a:r>
                        <a:rPr lang="en-US" altLang="zh-CN" sz="1000" b="0" i="0" u="none" strike="noStrike" dirty="0">
                          <a:solidFill>
                            <a:srgbClr val="000000"/>
                          </a:solidFill>
                          <a:effectLst/>
                          <a:latin typeface="+mn-lt"/>
                          <a:cs typeface="Calibri" panose="020F0502020204030204" pitchFamily="34" charset="0"/>
                        </a:rPr>
                        <a:t>433</a:t>
                      </a:r>
                      <a:endParaRPr lang="en-US" sz="1000" b="0" i="0" u="none" strike="noStrike" dirty="0">
                        <a:solidFill>
                          <a:srgbClr val="000000"/>
                        </a:solidFill>
                        <a:effectLst/>
                        <a:latin typeface="+mn-lt"/>
                        <a:cs typeface="Calibri" panose="020F0502020204030204" pitchFamily="34" charset="0"/>
                      </a:endParaRPr>
                    </a:p>
                  </a:txBody>
                  <a:tcPr marL="9525" marR="9525" marT="9525" marB="0" anchor="ctr"/>
                </a:tc>
                <a:tc>
                  <a:txBody>
                    <a:bodyPr/>
                    <a:lstStyle/>
                    <a:p>
                      <a:pPr algn="ctr" rtl="0" fontAlgn="ctr"/>
                      <a:r>
                        <a:rPr lang="en-US" sz="1000" b="0" i="0" u="none" strike="noStrike" dirty="0">
                          <a:solidFill>
                            <a:schemeClr val="tx1"/>
                          </a:solidFill>
                          <a:effectLst/>
                          <a:latin typeface="+mn-lt"/>
                          <a:cs typeface="Calibri" panose="020F0502020204030204" pitchFamily="34" charset="0"/>
                        </a:rPr>
                        <a:t>8,609</a:t>
                      </a:r>
                    </a:p>
                  </a:txBody>
                  <a:tcPr marL="9525" marR="9525" marT="9525" marB="0" anchor="ctr"/>
                </a:tc>
                <a:tc>
                  <a:txBody>
                    <a:bodyPr/>
                    <a:lstStyle/>
                    <a:p>
                      <a:pPr algn="ctr" fontAlgn="b">
                        <a:buNone/>
                      </a:pPr>
                      <a:r>
                        <a:rPr lang="en-US" sz="1000" b="0" i="0" u="none" strike="noStrike" dirty="0">
                          <a:solidFill>
                            <a:srgbClr val="000000"/>
                          </a:solidFill>
                          <a:effectLst/>
                          <a:latin typeface="+mn-lt"/>
                        </a:rPr>
                        <a:t>15.8%</a:t>
                      </a:r>
                    </a:p>
                  </a:txBody>
                  <a:tcPr marL="7620" marR="7620" marT="7620" marB="0" anchor="ctr"/>
                </a:tc>
                <a:extLst>
                  <a:ext uri="{0D108BD9-81ED-4DB2-BD59-A6C34878D82A}">
                    <a16:rowId xmlns:a16="http://schemas.microsoft.com/office/drawing/2014/main" val="1667350149"/>
                  </a:ext>
                </a:extLst>
              </a:tr>
              <a:tr h="320665">
                <a:tc>
                  <a:txBody>
                    <a:bodyPr/>
                    <a:lstStyle/>
                    <a:p>
                      <a:pPr algn="ctr"/>
                      <a:r>
                        <a:rPr lang="en-US" sz="1000" b="1" dirty="0">
                          <a:latin typeface="Calibri" panose="020F0502020204030204" pitchFamily="34" charset="0"/>
                          <a:cs typeface="Calibri" panose="020F0502020204030204" pitchFamily="34" charset="0"/>
                        </a:rPr>
                        <a:t>Straits Times</a:t>
                      </a:r>
                    </a:p>
                  </a:txBody>
                  <a:tcPr anchor="ctr"/>
                </a:tc>
                <a:tc>
                  <a:txBody>
                    <a:bodyPr/>
                    <a:lstStyle/>
                    <a:p>
                      <a:pPr algn="ctr" rtl="0" fontAlgn="ctr"/>
                      <a:r>
                        <a:rPr lang="en-US" altLang="zh-CN" sz="1000" b="1" i="0" u="none" strike="noStrike" dirty="0">
                          <a:solidFill>
                            <a:srgbClr val="00B050"/>
                          </a:solidFill>
                          <a:effectLst/>
                          <a:latin typeface="+mn-lt"/>
                          <a:cs typeface="Calibri" panose="020F0502020204030204" pitchFamily="34" charset="0"/>
                        </a:rPr>
                        <a:t>8.6</a:t>
                      </a:r>
                      <a:r>
                        <a:rPr lang="en-US" sz="1000" b="1" i="0" u="none" strike="noStrike" dirty="0">
                          <a:solidFill>
                            <a:srgbClr val="00B050"/>
                          </a:solidFill>
                          <a:effectLst/>
                          <a:latin typeface="+mn-lt"/>
                          <a:cs typeface="Calibri" panose="020F0502020204030204" pitchFamily="34" charset="0"/>
                        </a:rPr>
                        <a:t>%</a:t>
                      </a:r>
                    </a:p>
                  </a:txBody>
                  <a:tcPr marL="9525" marR="9525" marT="9525" marB="0" anchor="ctr"/>
                </a:tc>
                <a:tc>
                  <a:txBody>
                    <a:bodyPr/>
                    <a:lstStyle/>
                    <a:p>
                      <a:pPr algn="ctr" rtl="0" fontAlgn="ctr"/>
                      <a:r>
                        <a:rPr lang="en-US" altLang="zh-CN" sz="1000" b="0" i="0" u="none" strike="noStrike" dirty="0">
                          <a:solidFill>
                            <a:schemeClr val="tx1"/>
                          </a:solidFill>
                          <a:effectLst/>
                          <a:latin typeface="+mn-lt"/>
                          <a:cs typeface="Calibri" panose="020F0502020204030204" pitchFamily="34" charset="0"/>
                        </a:rPr>
                        <a:t>5</a:t>
                      </a:r>
                      <a:r>
                        <a:rPr lang="en-US" sz="1000" b="0" i="0" u="none" strike="noStrike" dirty="0">
                          <a:solidFill>
                            <a:schemeClr val="tx1"/>
                          </a:solidFill>
                          <a:effectLst/>
                          <a:latin typeface="+mn-lt"/>
                          <a:cs typeface="Calibri" panose="020F0502020204030204" pitchFamily="34" charset="0"/>
                        </a:rPr>
                        <a:t>,</a:t>
                      </a:r>
                      <a:r>
                        <a:rPr lang="en-US" altLang="zh-CN" sz="1000" b="0" i="0" u="none" strike="noStrike" dirty="0">
                          <a:solidFill>
                            <a:schemeClr val="tx1"/>
                          </a:solidFill>
                          <a:effectLst/>
                          <a:latin typeface="+mn-lt"/>
                          <a:cs typeface="Calibri" panose="020F0502020204030204" pitchFamily="34" charset="0"/>
                        </a:rPr>
                        <a:t>045</a:t>
                      </a:r>
                      <a:endParaRPr lang="en-US" sz="1000" b="0" i="0" u="none" strike="noStrike" dirty="0">
                        <a:solidFill>
                          <a:schemeClr val="tx1"/>
                        </a:solidFill>
                        <a:effectLst/>
                        <a:latin typeface="+mn-lt"/>
                        <a:cs typeface="Calibri" panose="020F0502020204030204" pitchFamily="34" charset="0"/>
                      </a:endParaRPr>
                    </a:p>
                  </a:txBody>
                  <a:tcPr marL="9525" marR="9525" marT="9525" marB="0" anchor="ctr"/>
                </a:tc>
                <a:tc>
                  <a:txBody>
                    <a:bodyPr/>
                    <a:lstStyle/>
                    <a:p>
                      <a:pPr algn="ctr" rtl="0" fontAlgn="ctr"/>
                      <a:r>
                        <a:rPr lang="en-US" sz="1000" b="0" i="0" u="none" strike="noStrike" kern="1200" dirty="0">
                          <a:solidFill>
                            <a:schemeClr val="tx1"/>
                          </a:solidFill>
                          <a:effectLst/>
                          <a:latin typeface="+mn-lt"/>
                          <a:ea typeface="+mn-ea"/>
                          <a:cs typeface="Calibri" panose="020F0502020204030204" pitchFamily="34" charset="0"/>
                        </a:rPr>
                        <a:t>5,428</a:t>
                      </a:r>
                    </a:p>
                  </a:txBody>
                  <a:tcPr marL="9525" marR="9525" marT="9525" marB="0" anchor="ctr"/>
                </a:tc>
                <a:tc>
                  <a:txBody>
                    <a:bodyPr/>
                    <a:lstStyle/>
                    <a:p>
                      <a:pPr algn="ctr" fontAlgn="b">
                        <a:buNone/>
                      </a:pPr>
                      <a:r>
                        <a:rPr lang="en-US" sz="1000" b="0" i="0" u="none" strike="noStrike">
                          <a:solidFill>
                            <a:srgbClr val="000000"/>
                          </a:solidFill>
                          <a:effectLst/>
                          <a:latin typeface="+mn-lt"/>
                        </a:rPr>
                        <a:t>7.6%</a:t>
                      </a:r>
                    </a:p>
                  </a:txBody>
                  <a:tcPr marL="7620" marR="7620" marT="7620" marB="0" anchor="ctr"/>
                </a:tc>
                <a:extLst>
                  <a:ext uri="{0D108BD9-81ED-4DB2-BD59-A6C34878D82A}">
                    <a16:rowId xmlns:a16="http://schemas.microsoft.com/office/drawing/2014/main" val="792337932"/>
                  </a:ext>
                </a:extLst>
              </a:tr>
              <a:tr h="3206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latin typeface="Calibri" panose="020F0502020204030204" pitchFamily="34" charset="0"/>
                          <a:cs typeface="Calibri" panose="020F0502020204030204" pitchFamily="34" charset="0"/>
                        </a:rPr>
                        <a:t>Shanghai Comp</a:t>
                      </a:r>
                    </a:p>
                  </a:txBody>
                  <a:tcPr anchor="ctr"/>
                </a:tc>
                <a:tc>
                  <a:txBody>
                    <a:bodyPr/>
                    <a:lstStyle/>
                    <a:p>
                      <a:pPr marL="0" algn="ctr" defTabSz="990570" rtl="0" eaLnBrk="1" fontAlgn="ctr" latinLnBrk="0" hangingPunct="1"/>
                      <a:r>
                        <a:rPr lang="en-US" altLang="zh-CN" sz="1000" b="1" i="0" u="none" strike="noStrike" kern="1200" dirty="0">
                          <a:solidFill>
                            <a:srgbClr val="00B050"/>
                          </a:solidFill>
                          <a:effectLst/>
                          <a:latin typeface="+mn-lt"/>
                          <a:ea typeface="+mn-ea"/>
                          <a:cs typeface="Calibri" panose="020F0502020204030204" pitchFamily="34" charset="0"/>
                        </a:rPr>
                        <a:t>4.9</a:t>
                      </a:r>
                      <a:r>
                        <a:rPr lang="en-US" sz="1000" b="1" i="0" u="none" strike="noStrike" kern="1200" dirty="0">
                          <a:solidFill>
                            <a:srgbClr val="00B050"/>
                          </a:solidFill>
                          <a:effectLst/>
                          <a:latin typeface="+mn-lt"/>
                          <a:ea typeface="+mn-ea"/>
                          <a:cs typeface="Calibri" panose="020F0502020204030204" pitchFamily="34" charset="0"/>
                        </a:rPr>
                        <a:t>%</a:t>
                      </a:r>
                    </a:p>
                  </a:txBody>
                  <a:tcPr marL="9525" marR="9525" marT="9525" marB="0" anchor="ctr"/>
                </a:tc>
                <a:tc>
                  <a:txBody>
                    <a:bodyPr/>
                    <a:lstStyle/>
                    <a:p>
                      <a:pPr marL="0" algn="ctr" defTabSz="990570" rtl="0" eaLnBrk="1" fontAlgn="ctr" latinLnBrk="0" hangingPunct="1"/>
                      <a:r>
                        <a:rPr lang="en-US" altLang="zh-CN" sz="1000" b="0" i="0" u="none" strike="noStrike" kern="1200" dirty="0">
                          <a:solidFill>
                            <a:srgbClr val="000000"/>
                          </a:solidFill>
                          <a:effectLst/>
                          <a:latin typeface="+mn-lt"/>
                          <a:ea typeface="+mn-ea"/>
                          <a:cs typeface="Calibri" panose="020F0502020204030204" pitchFamily="34" charset="0"/>
                        </a:rPr>
                        <a:t>4</a:t>
                      </a:r>
                      <a:r>
                        <a:rPr lang="en-US" sz="1000" b="0" i="0" u="none" strike="noStrike" kern="1200" dirty="0">
                          <a:solidFill>
                            <a:srgbClr val="000000"/>
                          </a:solidFill>
                          <a:effectLst/>
                          <a:latin typeface="+mn-lt"/>
                          <a:ea typeface="+mn-ea"/>
                          <a:cs typeface="Calibri" panose="020F0502020204030204" pitchFamily="34" charset="0"/>
                        </a:rPr>
                        <a:t>,</a:t>
                      </a:r>
                      <a:r>
                        <a:rPr lang="en-US" altLang="zh-CN" sz="1000" b="0" i="0" u="none" strike="noStrike" kern="1200" dirty="0">
                          <a:solidFill>
                            <a:srgbClr val="000000"/>
                          </a:solidFill>
                          <a:effectLst/>
                          <a:latin typeface="+mn-lt"/>
                          <a:ea typeface="+mn-ea"/>
                          <a:cs typeface="Calibri" panose="020F0502020204030204" pitchFamily="34" charset="0"/>
                        </a:rPr>
                        <a:t>162</a:t>
                      </a:r>
                      <a:endParaRPr lang="en-US" sz="1000" b="0" i="0" u="none" strike="noStrike" kern="1200" dirty="0">
                        <a:solidFill>
                          <a:srgbClr val="000000"/>
                        </a:solidFill>
                        <a:effectLst/>
                        <a:latin typeface="+mn-lt"/>
                        <a:ea typeface="+mn-ea"/>
                        <a:cs typeface="Calibri" panose="020F0502020204030204" pitchFamily="34" charset="0"/>
                      </a:endParaRPr>
                    </a:p>
                  </a:txBody>
                  <a:tcPr marL="9525" marR="9525" marT="9525" marB="0" anchor="ctr"/>
                </a:tc>
                <a:tc>
                  <a:txBody>
                    <a:bodyPr/>
                    <a:lstStyle/>
                    <a:p>
                      <a:pPr algn="ctr" rtl="0" fontAlgn="ctr"/>
                      <a:r>
                        <a:rPr lang="en-US" sz="1000" b="0" i="0" u="none" strike="noStrike" kern="1200" dirty="0">
                          <a:solidFill>
                            <a:schemeClr val="tx1"/>
                          </a:solidFill>
                          <a:effectLst/>
                          <a:latin typeface="+mn-lt"/>
                          <a:ea typeface="+mn-ea"/>
                          <a:cs typeface="Calibri" panose="020F0502020204030204" pitchFamily="34" charset="0"/>
                        </a:rPr>
                        <a:t>5,027</a:t>
                      </a:r>
                    </a:p>
                  </a:txBody>
                  <a:tcPr marL="9525" marR="9525" marT="9525" marB="0" anchor="ctr"/>
                </a:tc>
                <a:tc>
                  <a:txBody>
                    <a:bodyPr/>
                    <a:lstStyle/>
                    <a:p>
                      <a:pPr algn="ctr" fontAlgn="b">
                        <a:buNone/>
                      </a:pPr>
                      <a:r>
                        <a:rPr lang="en-US" sz="1000" b="0" i="0" u="none" strike="noStrike" dirty="0">
                          <a:solidFill>
                            <a:srgbClr val="000000"/>
                          </a:solidFill>
                          <a:effectLst/>
                          <a:latin typeface="+mn-lt"/>
                        </a:rPr>
                        <a:t>20.8%</a:t>
                      </a:r>
                    </a:p>
                  </a:txBody>
                  <a:tcPr marL="7620" marR="7620" marT="7620" marB="0" anchor="ctr"/>
                </a:tc>
                <a:extLst>
                  <a:ext uri="{0D108BD9-81ED-4DB2-BD59-A6C34878D82A}">
                    <a16:rowId xmlns:a16="http://schemas.microsoft.com/office/drawing/2014/main" val="831172971"/>
                  </a:ext>
                </a:extLst>
              </a:tr>
              <a:tr h="3206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latin typeface="Calibri" panose="020F0502020204030204" pitchFamily="34" charset="0"/>
                          <a:cs typeface="Calibri" panose="020F0502020204030204" pitchFamily="34" charset="0"/>
                        </a:rPr>
                        <a:t>Hang Seng</a:t>
                      </a:r>
                    </a:p>
                  </a:txBody>
                  <a:tcPr anchor="ctr"/>
                </a:tc>
                <a:tc>
                  <a:txBody>
                    <a:bodyPr/>
                    <a:lstStyle/>
                    <a:p>
                      <a:pPr algn="ctr" rtl="0" fontAlgn="ctr"/>
                      <a:r>
                        <a:rPr lang="en-US" altLang="zh-CN" sz="1000" b="1" i="0" u="none" strike="noStrike" kern="1200" dirty="0">
                          <a:solidFill>
                            <a:srgbClr val="00B050"/>
                          </a:solidFill>
                          <a:effectLst/>
                          <a:latin typeface="+mn-lt"/>
                          <a:ea typeface="+mn-ea"/>
                          <a:cs typeface="Calibri" panose="020F0502020204030204" pitchFamily="34" charset="0"/>
                        </a:rPr>
                        <a:t>0.1</a:t>
                      </a:r>
                      <a:r>
                        <a:rPr lang="en-US" sz="1000" b="1" i="0" u="none" strike="noStrike" kern="1200" dirty="0">
                          <a:solidFill>
                            <a:srgbClr val="00B050"/>
                          </a:solidFill>
                          <a:effectLst/>
                          <a:latin typeface="+mn-lt"/>
                          <a:ea typeface="+mn-ea"/>
                          <a:cs typeface="Calibri" panose="020F0502020204030204" pitchFamily="34" charset="0"/>
                        </a:rPr>
                        <a:t>%</a:t>
                      </a:r>
                    </a:p>
                  </a:txBody>
                  <a:tcPr marL="9525" marR="9525" marT="9525" marB="0" anchor="ctr"/>
                </a:tc>
                <a:tc>
                  <a:txBody>
                    <a:bodyPr/>
                    <a:lstStyle/>
                    <a:p>
                      <a:pPr marL="0" algn="ctr" defTabSz="990570" rtl="0" eaLnBrk="1" fontAlgn="ctr" latinLnBrk="0" hangingPunct="1"/>
                      <a:r>
                        <a:rPr lang="en-US" altLang="zh-CN" sz="1000" b="0" i="0" u="none" strike="noStrike" kern="1200" dirty="0">
                          <a:solidFill>
                            <a:schemeClr val="tx1"/>
                          </a:solidFill>
                          <a:effectLst/>
                          <a:latin typeface="+mn-lt"/>
                          <a:ea typeface="+mn-ea"/>
                          <a:cs typeface="Calibri" panose="020F0502020204030204" pitchFamily="34" charset="0"/>
                        </a:rPr>
                        <a:t>25</a:t>
                      </a:r>
                      <a:r>
                        <a:rPr lang="en-US" sz="1000" b="0" i="0" u="none" strike="noStrike" kern="1200" dirty="0">
                          <a:solidFill>
                            <a:schemeClr val="tx1"/>
                          </a:solidFill>
                          <a:effectLst/>
                          <a:latin typeface="+mn-lt"/>
                          <a:ea typeface="+mn-ea"/>
                          <a:cs typeface="Calibri" panose="020F0502020204030204" pitchFamily="34" charset="0"/>
                        </a:rPr>
                        <a:t>,</a:t>
                      </a:r>
                      <a:r>
                        <a:rPr lang="en-US" altLang="zh-CN" sz="1000" b="0" i="0" u="none" strike="noStrike" kern="1200" dirty="0">
                          <a:solidFill>
                            <a:schemeClr val="tx1"/>
                          </a:solidFill>
                          <a:effectLst/>
                          <a:latin typeface="+mn-lt"/>
                          <a:ea typeface="+mn-ea"/>
                          <a:cs typeface="Calibri" panose="020F0502020204030204" pitchFamily="34" charset="0"/>
                        </a:rPr>
                        <a:t>651</a:t>
                      </a:r>
                      <a:endParaRPr lang="en-US" sz="1000" b="0" i="0" u="none" strike="noStrike" kern="1200" dirty="0">
                        <a:solidFill>
                          <a:schemeClr val="tx1"/>
                        </a:solidFill>
                        <a:effectLst/>
                        <a:latin typeface="+mn-lt"/>
                        <a:ea typeface="+mn-ea"/>
                        <a:cs typeface="Calibri" panose="020F0502020204030204" pitchFamily="34" charset="0"/>
                      </a:endParaRPr>
                    </a:p>
                  </a:txBody>
                  <a:tcPr marL="9525" marR="9525" marT="9525" marB="0" anchor="ctr"/>
                </a:tc>
                <a:tc>
                  <a:txBody>
                    <a:bodyPr/>
                    <a:lstStyle/>
                    <a:p>
                      <a:pPr algn="ctr" rtl="0" fontAlgn="ctr"/>
                      <a:r>
                        <a:rPr lang="en-US" sz="1000" b="0" i="0" u="none" strike="noStrike" kern="1200" dirty="0">
                          <a:solidFill>
                            <a:schemeClr val="tx1"/>
                          </a:solidFill>
                          <a:effectLst/>
                          <a:latin typeface="+mn-lt"/>
                          <a:ea typeface="+mn-ea"/>
                          <a:cs typeface="Calibri" panose="020F0502020204030204" pitchFamily="34" charset="0"/>
                        </a:rPr>
                        <a:t>32,488</a:t>
                      </a:r>
                    </a:p>
                  </a:txBody>
                  <a:tcPr marL="9525" marR="9525" marT="9525" marB="0" anchor="ctr"/>
                </a:tc>
                <a:tc>
                  <a:txBody>
                    <a:bodyPr/>
                    <a:lstStyle/>
                    <a:p>
                      <a:pPr algn="ctr" fontAlgn="b">
                        <a:buNone/>
                      </a:pPr>
                      <a:r>
                        <a:rPr lang="en-US" sz="1000" b="0" i="0" u="none" strike="noStrike" dirty="0">
                          <a:solidFill>
                            <a:srgbClr val="000000"/>
                          </a:solidFill>
                          <a:effectLst/>
                          <a:latin typeface="+mn-lt"/>
                        </a:rPr>
                        <a:t>26.7%</a:t>
                      </a:r>
                    </a:p>
                  </a:txBody>
                  <a:tcPr marL="7620" marR="7620" marT="7620" marB="0" anchor="ctr"/>
                </a:tc>
                <a:extLst>
                  <a:ext uri="{0D108BD9-81ED-4DB2-BD59-A6C34878D82A}">
                    <a16:rowId xmlns:a16="http://schemas.microsoft.com/office/drawing/2014/main" val="1840566693"/>
                  </a:ext>
                </a:extLst>
              </a:tr>
              <a:tr h="3206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latin typeface="Calibri" panose="020F0502020204030204" pitchFamily="34" charset="0"/>
                          <a:cs typeface="Calibri" panose="020F0502020204030204" pitchFamily="34" charset="0"/>
                        </a:rPr>
                        <a:t>HS China Enterprises</a:t>
                      </a:r>
                    </a:p>
                  </a:txBody>
                  <a:tcPr anchor="ctr"/>
                </a:tc>
                <a:tc>
                  <a:txBody>
                    <a:bodyPr/>
                    <a:lstStyle/>
                    <a:p>
                      <a:pPr algn="ctr" rtl="0" fontAlgn="ctr"/>
                      <a:r>
                        <a:rPr lang="en-US" altLang="zh-CN" sz="1000" b="1" i="0" u="none" strike="noStrike" kern="1200" dirty="0">
                          <a:solidFill>
                            <a:srgbClr val="FF0000"/>
                          </a:solidFill>
                          <a:effectLst/>
                          <a:latin typeface="+mn-lt"/>
                          <a:ea typeface="+mn-ea"/>
                          <a:cs typeface="Calibri" panose="020F0502020204030204" pitchFamily="34" charset="0"/>
                        </a:rPr>
                        <a:t>-3.5</a:t>
                      </a:r>
                      <a:r>
                        <a:rPr lang="en-US" sz="1000" b="1" i="0" u="none" strike="noStrike" kern="1200" dirty="0">
                          <a:solidFill>
                            <a:srgbClr val="FF0000"/>
                          </a:solidFill>
                          <a:effectLst/>
                          <a:latin typeface="+mn-lt"/>
                          <a:ea typeface="+mn-ea"/>
                          <a:cs typeface="Calibri" panose="020F0502020204030204" pitchFamily="34" charset="0"/>
                        </a:rPr>
                        <a:t>%</a:t>
                      </a:r>
                    </a:p>
                  </a:txBody>
                  <a:tcPr marL="9525" marR="9525" marT="9525" marB="0" anchor="ctr"/>
                </a:tc>
                <a:tc>
                  <a:txBody>
                    <a:bodyPr/>
                    <a:lstStyle/>
                    <a:p>
                      <a:pPr algn="ctr" rtl="0" fontAlgn="ctr"/>
                      <a:r>
                        <a:rPr lang="en-US" altLang="zh-CN" sz="1000" b="0" i="0" u="none" strike="noStrike" dirty="0">
                          <a:solidFill>
                            <a:schemeClr val="tx1"/>
                          </a:solidFill>
                          <a:effectLst/>
                          <a:latin typeface="+mn-lt"/>
                          <a:cs typeface="Calibri" panose="020F0502020204030204" pitchFamily="34" charset="0"/>
                        </a:rPr>
                        <a:t>8</a:t>
                      </a:r>
                      <a:r>
                        <a:rPr lang="en-US" sz="1000" b="0" i="0" u="none" strike="noStrike" dirty="0">
                          <a:solidFill>
                            <a:schemeClr val="tx1"/>
                          </a:solidFill>
                          <a:effectLst/>
                          <a:latin typeface="+mn-lt"/>
                          <a:cs typeface="Calibri" panose="020F0502020204030204" pitchFamily="34" charset="0"/>
                        </a:rPr>
                        <a:t>,</a:t>
                      </a:r>
                      <a:r>
                        <a:rPr lang="en-US" altLang="zh-CN" sz="1000" b="0" i="0" u="none" strike="noStrike" dirty="0">
                          <a:solidFill>
                            <a:schemeClr val="tx1"/>
                          </a:solidFill>
                          <a:effectLst/>
                          <a:latin typeface="+mn-lt"/>
                          <a:cs typeface="Calibri" panose="020F0502020204030204" pitchFamily="34" charset="0"/>
                        </a:rPr>
                        <a:t>605</a:t>
                      </a:r>
                      <a:endParaRPr lang="en-US" sz="1000" b="0" i="0" u="none" strike="noStrike" dirty="0">
                        <a:solidFill>
                          <a:schemeClr val="tx1"/>
                        </a:solidFill>
                        <a:effectLst/>
                        <a:latin typeface="+mn-lt"/>
                        <a:cs typeface="Calibri" panose="020F0502020204030204" pitchFamily="34" charset="0"/>
                      </a:endParaRPr>
                    </a:p>
                  </a:txBody>
                  <a:tcPr marL="9525" marR="9525" marT="9525" marB="0" anchor="ctr"/>
                </a:tc>
                <a:tc>
                  <a:txBody>
                    <a:bodyPr/>
                    <a:lstStyle/>
                    <a:p>
                      <a:pPr algn="ctr" rtl="0" fontAlgn="ctr"/>
                      <a:r>
                        <a:rPr lang="en-US" sz="1000" b="0" i="0" u="none" strike="noStrike" kern="1200" dirty="0">
                          <a:solidFill>
                            <a:schemeClr val="tx1"/>
                          </a:solidFill>
                          <a:effectLst/>
                          <a:latin typeface="+mn-lt"/>
                          <a:ea typeface="+mn-ea"/>
                          <a:cs typeface="Calibri" panose="020F0502020204030204" pitchFamily="34" charset="0"/>
                        </a:rPr>
                        <a:t>11,162</a:t>
                      </a:r>
                    </a:p>
                  </a:txBody>
                  <a:tcPr marL="9525" marR="9525" marT="9525" marB="0" anchor="ctr"/>
                </a:tc>
                <a:tc>
                  <a:txBody>
                    <a:bodyPr/>
                    <a:lstStyle/>
                    <a:p>
                      <a:pPr algn="ctr" fontAlgn="b">
                        <a:buNone/>
                      </a:pPr>
                      <a:r>
                        <a:rPr lang="en-US" sz="1000" b="0" i="0" u="none" strike="noStrike" dirty="0">
                          <a:solidFill>
                            <a:srgbClr val="000000"/>
                          </a:solidFill>
                          <a:effectLst/>
                          <a:latin typeface="+mn-lt"/>
                        </a:rPr>
                        <a:t>29.7%</a:t>
                      </a:r>
                    </a:p>
                  </a:txBody>
                  <a:tcPr marL="7620" marR="7620" marT="7620" marB="0" anchor="ctr"/>
                </a:tc>
                <a:extLst>
                  <a:ext uri="{0D108BD9-81ED-4DB2-BD59-A6C34878D82A}">
                    <a16:rowId xmlns:a16="http://schemas.microsoft.com/office/drawing/2014/main" val="487902419"/>
                  </a:ext>
                </a:extLst>
              </a:tr>
            </a:tbl>
          </a:graphicData>
        </a:graphic>
      </p:graphicFrame>
      <p:sp>
        <p:nvSpPr>
          <p:cNvPr id="18" name="TextBox 17">
            <a:extLst>
              <a:ext uri="{FF2B5EF4-FFF2-40B4-BE49-F238E27FC236}">
                <a16:creationId xmlns:a16="http://schemas.microsoft.com/office/drawing/2014/main" id="{88654244-FC67-4AE2-9EC9-F23914D87768}"/>
              </a:ext>
            </a:extLst>
          </p:cNvPr>
          <p:cNvSpPr txBox="1"/>
          <p:nvPr/>
        </p:nvSpPr>
        <p:spPr>
          <a:xfrm>
            <a:off x="1198483" y="6329020"/>
            <a:ext cx="6765132" cy="507831"/>
          </a:xfrm>
          <a:prstGeom prst="rect">
            <a:avLst/>
          </a:prstGeom>
          <a:noFill/>
        </p:spPr>
        <p:txBody>
          <a:bodyPr wrap="square" rtlCol="0">
            <a:spAutoFit/>
          </a:bodyPr>
          <a:lstStyle/>
          <a:p>
            <a:pPr fontAlgn="base">
              <a:spcBef>
                <a:spcPct val="0"/>
              </a:spcBef>
              <a:spcAft>
                <a:spcPct val="0"/>
              </a:spcAft>
              <a:defRPr/>
            </a:pPr>
            <a:r>
              <a:rPr kumimoji="0" lang="en-US" sz="900" b="0" i="1"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rPr>
              <a:t>Source: </a:t>
            </a:r>
            <a:r>
              <a:rPr lang="en-US" sz="900" i="1" dirty="0">
                <a:solidFill>
                  <a:srgbClr val="000000"/>
                </a:solidFill>
                <a:latin typeface="Calibri"/>
                <a:ea typeface="DFKaiShu-GB5"/>
                <a:cs typeface="Calibri" panose="020F0502020204030204" pitchFamily="34" charset="0"/>
              </a:rPr>
              <a:t>Bloomberg</a:t>
            </a:r>
            <a:r>
              <a:rPr kumimoji="0" lang="en-US" sz="900" b="0" i="1"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rPr>
              <a:t>, as of </a:t>
            </a:r>
            <a:r>
              <a:rPr lang="en-US" sz="900" i="1" dirty="0">
                <a:solidFill>
                  <a:srgbClr val="000000"/>
                </a:solidFill>
                <a:latin typeface="Calibri"/>
                <a:ea typeface="DFKaiShu-GB5"/>
                <a:cs typeface="Calibri" panose="020F0502020204030204" pitchFamily="34" charset="0"/>
              </a:rPr>
              <a:t>20 </a:t>
            </a:r>
            <a:r>
              <a:rPr kumimoji="0" lang="en-US" sz="900" b="0" i="1"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rPr>
              <a:t>M</a:t>
            </a:r>
            <a:r>
              <a:rPr kumimoji="0" lang="en-US" altLang="zh-CN" sz="900" b="0" i="1"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rPr>
              <a:t>ay</a:t>
            </a:r>
            <a:r>
              <a:rPr lang="en-US" altLang="zh-CN" sz="900" i="1" dirty="0">
                <a:solidFill>
                  <a:srgbClr val="000000"/>
                </a:solidFill>
                <a:latin typeface="Calibri"/>
                <a:ea typeface="DFKaiShu-GB5"/>
                <a:cs typeface="Calibri" panose="020F0502020204030204" pitchFamily="34" charset="0"/>
              </a:rPr>
              <a:t> </a:t>
            </a:r>
            <a:r>
              <a:rPr kumimoji="0" lang="en-US" sz="900" b="0" i="1"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rPr>
              <a:t>2026</a:t>
            </a:r>
          </a:p>
          <a:p>
            <a:pPr marL="228600" marR="0" lvl="0" indent="-228600" algn="l" defTabSz="914400" rtl="0" eaLnBrk="1" fontAlgn="base" latinLnBrk="0" hangingPunct="1">
              <a:lnSpc>
                <a:spcPct val="100000"/>
              </a:lnSpc>
              <a:spcBef>
                <a:spcPct val="0"/>
              </a:spcBef>
              <a:spcAft>
                <a:spcPct val="0"/>
              </a:spcAft>
              <a:buClrTx/>
              <a:buSzTx/>
              <a:buFontTx/>
              <a:buAutoNum type="arabicPeriod"/>
              <a:tabLst/>
              <a:defRPr/>
            </a:pPr>
            <a:r>
              <a:rPr kumimoji="0" lang="en-US" sz="900" b="0" i="1" u="none" strike="noStrike" kern="1200" cap="none" spc="0" normalizeH="0" baseline="0" noProof="0" dirty="0">
                <a:ln>
                  <a:noFill/>
                </a:ln>
                <a:solidFill>
                  <a:srgbClr val="000000"/>
                </a:solidFill>
                <a:effectLst/>
                <a:uLnTx/>
                <a:uFillTx/>
                <a:latin typeface="Calibri"/>
                <a:ea typeface="DFKaiShu-GB5"/>
                <a:cs typeface="Calibri" panose="020F0502020204030204" pitchFamily="34" charset="0"/>
              </a:rPr>
              <a:t>ECM deal volume includes IPO that have been priced but pending trading, and secondaries that have been announced but pending completion</a:t>
            </a:r>
          </a:p>
        </p:txBody>
      </p:sp>
      <p:grpSp>
        <p:nvGrpSpPr>
          <p:cNvPr id="7" name="Group 6">
            <a:extLst>
              <a:ext uri="{FF2B5EF4-FFF2-40B4-BE49-F238E27FC236}">
                <a16:creationId xmlns:a16="http://schemas.microsoft.com/office/drawing/2014/main" id="{44B8B383-13E6-CB96-77C2-64C20C220335}"/>
              </a:ext>
            </a:extLst>
          </p:cNvPr>
          <p:cNvGrpSpPr/>
          <p:nvPr/>
        </p:nvGrpSpPr>
        <p:grpSpPr>
          <a:xfrm>
            <a:off x="793858" y="5064443"/>
            <a:ext cx="3359333" cy="396700"/>
            <a:chOff x="690910" y="4916040"/>
            <a:chExt cx="3359333" cy="396700"/>
          </a:xfrm>
        </p:grpSpPr>
        <p:sp>
          <p:nvSpPr>
            <p:cNvPr id="17" name="TextBox 16">
              <a:extLst>
                <a:ext uri="{FF2B5EF4-FFF2-40B4-BE49-F238E27FC236}">
                  <a16:creationId xmlns:a16="http://schemas.microsoft.com/office/drawing/2014/main" id="{B74ED673-7C24-48A9-BE69-925819B65FBA}"/>
                </a:ext>
              </a:extLst>
            </p:cNvPr>
            <p:cNvSpPr txBox="1"/>
            <p:nvPr/>
          </p:nvSpPr>
          <p:spPr>
            <a:xfrm>
              <a:off x="2814551" y="4927630"/>
              <a:ext cx="123569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lvl="0">
                <a:buClr>
                  <a:srgbClr val="C00000"/>
                </a:buClr>
                <a:defRPr/>
              </a:pPr>
              <a:r>
                <a:rPr kumimoji="0" lang="en-US" sz="1200" b="1" i="0" u="none" strike="noStrike" kern="0" cap="none" spc="0" normalizeH="0" baseline="0" noProof="0" dirty="0">
                  <a:ln>
                    <a:noFill/>
                  </a:ln>
                  <a:solidFill>
                    <a:srgbClr val="000000"/>
                  </a:solidFill>
                  <a:effectLst/>
                  <a:uLnTx/>
                  <a:uFillTx/>
                  <a:latin typeface="+mj-lt"/>
                  <a:ea typeface="DFKaiShu-GB5"/>
                  <a:cs typeface="+mn-cs"/>
                </a:rPr>
                <a:t>2025 Same P. </a:t>
              </a:r>
            </a:p>
            <a:p>
              <a:pPr lvl="0">
                <a:buClr>
                  <a:srgbClr val="C00000"/>
                </a:buClr>
                <a:defRPr/>
              </a:pPr>
              <a:r>
                <a:rPr kumimoji="0" lang="en-US" sz="1200" b="1" i="0" u="none" strike="noStrike" kern="0" cap="none" spc="0" normalizeH="0" baseline="0" noProof="0" dirty="0">
                  <a:ln>
                    <a:noFill/>
                  </a:ln>
                  <a:solidFill>
                    <a:srgbClr val="000000"/>
                  </a:solidFill>
                  <a:effectLst/>
                  <a:uLnTx/>
                  <a:uFillTx/>
                  <a:latin typeface="+mj-lt"/>
                  <a:ea typeface="DFKaiShu-GB5"/>
                  <a:cs typeface="+mn-cs"/>
                </a:rPr>
                <a:t>ECM </a:t>
              </a:r>
              <a:r>
                <a:rPr kumimoji="0" lang="en-US" sz="1200" b="1" i="0" strike="noStrike" kern="0" cap="none" spc="0" normalizeH="0" baseline="0" noProof="0" dirty="0">
                  <a:ln>
                    <a:noFill/>
                  </a:ln>
                  <a:solidFill>
                    <a:srgbClr val="000000"/>
                  </a:solidFill>
                  <a:effectLst/>
                  <a:uLnTx/>
                  <a:uFillTx/>
                  <a:latin typeface="+mj-lt"/>
                  <a:ea typeface="DFKaiShu-GB5"/>
                  <a:cs typeface="+mn-cs"/>
                </a:rPr>
                <a:t>Volume: </a:t>
              </a:r>
              <a:r>
                <a:rPr kumimoji="0" lang="en-US" sz="1200" b="1" i="0" u="none" strike="noStrike" kern="0" cap="none" spc="0" normalizeH="0" baseline="0" noProof="0" dirty="0">
                  <a:ln>
                    <a:noFill/>
                  </a:ln>
                  <a:solidFill>
                    <a:srgbClr val="000000"/>
                  </a:solidFill>
                  <a:effectLst/>
                  <a:uLnTx/>
                  <a:uFillTx/>
                  <a:latin typeface="+mj-lt"/>
                  <a:ea typeface="DFKaiShu-GB5"/>
                  <a:cs typeface="+mn-cs"/>
                </a:rPr>
                <a:t>US</a:t>
              </a:r>
              <a:r>
                <a:rPr lang="en-US" sz="1200" b="1" dirty="0">
                  <a:solidFill>
                    <a:srgbClr val="000000"/>
                  </a:solidFill>
                  <a:latin typeface="+mj-lt"/>
                </a:rPr>
                <a:t>$25.0B</a:t>
              </a:r>
              <a:endParaRPr kumimoji="0" lang="en-US" sz="1200" b="1" i="0" u="none" strike="noStrike" kern="0" cap="none" spc="0" normalizeH="0" baseline="0" noProof="0" dirty="0">
                <a:ln>
                  <a:noFill/>
                </a:ln>
                <a:solidFill>
                  <a:srgbClr val="000000"/>
                </a:solidFill>
                <a:effectLst/>
                <a:uLnTx/>
                <a:uFillTx/>
                <a:latin typeface="+mj-lt"/>
                <a:ea typeface="DFKaiShu-GB5"/>
                <a:cs typeface="+mn-cs"/>
              </a:endParaRPr>
            </a:p>
          </p:txBody>
        </p:sp>
        <p:sp>
          <p:nvSpPr>
            <p:cNvPr id="10" name="TextBox 9">
              <a:extLst>
                <a:ext uri="{FF2B5EF4-FFF2-40B4-BE49-F238E27FC236}">
                  <a16:creationId xmlns:a16="http://schemas.microsoft.com/office/drawing/2014/main" id="{788C05EE-7CBE-42F1-BB53-25491D38FD6E}"/>
                </a:ext>
              </a:extLst>
            </p:cNvPr>
            <p:cNvSpPr txBox="1"/>
            <p:nvPr/>
          </p:nvSpPr>
          <p:spPr>
            <a:xfrm>
              <a:off x="690910" y="4916040"/>
              <a:ext cx="1235692" cy="377811"/>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lvl="0">
                <a:buClr>
                  <a:srgbClr val="C00000"/>
                </a:buClr>
                <a:defRPr/>
              </a:pPr>
              <a:r>
                <a:rPr kumimoji="0" lang="en-US" sz="1200" b="1" i="0" u="none" strike="noStrike" kern="0" cap="none" spc="0" normalizeH="0" baseline="0" noProof="0" dirty="0">
                  <a:ln>
                    <a:noFill/>
                  </a:ln>
                  <a:solidFill>
                    <a:srgbClr val="000000"/>
                  </a:solidFill>
                  <a:effectLst/>
                  <a:uLnTx/>
                  <a:uFillTx/>
                  <a:latin typeface="+mj-lt"/>
                  <a:ea typeface="DFKaiShu-GB5"/>
                  <a:cs typeface="+mn-cs"/>
                </a:rPr>
                <a:t>2026YTD </a:t>
              </a:r>
            </a:p>
            <a:p>
              <a:pPr lvl="0">
                <a:buClr>
                  <a:srgbClr val="C00000"/>
                </a:buClr>
                <a:defRPr/>
              </a:pPr>
              <a:r>
                <a:rPr kumimoji="0" lang="en-US" sz="1200" b="1" i="0" u="none" strike="noStrike" kern="0" cap="none" spc="0" normalizeH="0" baseline="0" noProof="0" dirty="0">
                  <a:ln>
                    <a:noFill/>
                  </a:ln>
                  <a:solidFill>
                    <a:srgbClr val="000000"/>
                  </a:solidFill>
                  <a:effectLst/>
                  <a:uLnTx/>
                  <a:uFillTx/>
                  <a:latin typeface="+mj-lt"/>
                  <a:ea typeface="DFKaiShu-GB5"/>
                  <a:cs typeface="+mn-cs"/>
                </a:rPr>
                <a:t>ECM </a:t>
              </a:r>
              <a:r>
                <a:rPr kumimoji="0" lang="en-US" sz="1200" b="1" i="0" strike="noStrike" kern="0" cap="none" spc="0" normalizeH="0" baseline="0" noProof="0" dirty="0">
                  <a:ln>
                    <a:noFill/>
                  </a:ln>
                  <a:solidFill>
                    <a:srgbClr val="000000"/>
                  </a:solidFill>
                  <a:effectLst/>
                  <a:uLnTx/>
                  <a:uFillTx/>
                  <a:latin typeface="+mj-lt"/>
                  <a:ea typeface="DFKaiShu-GB5"/>
                  <a:cs typeface="+mn-cs"/>
                </a:rPr>
                <a:t>Volume: </a:t>
              </a:r>
              <a:r>
                <a:rPr kumimoji="0" lang="en-US" sz="1200" b="1" i="0" u="none" strike="noStrike" kern="0" cap="none" spc="0" normalizeH="0" baseline="0" noProof="0" dirty="0">
                  <a:ln>
                    <a:noFill/>
                  </a:ln>
                  <a:solidFill>
                    <a:srgbClr val="000000"/>
                  </a:solidFill>
                  <a:effectLst/>
                  <a:uLnTx/>
                  <a:uFillTx/>
                  <a:latin typeface="+mj-lt"/>
                  <a:ea typeface="DFKaiShu-GB5"/>
                  <a:cs typeface="+mn-cs"/>
                </a:rPr>
                <a:t>US</a:t>
              </a:r>
              <a:r>
                <a:rPr lang="en-US" sz="1200" b="1" dirty="0">
                  <a:solidFill>
                    <a:srgbClr val="000000"/>
                  </a:solidFill>
                  <a:latin typeface="+mj-lt"/>
                </a:rPr>
                <a:t>$36.0B</a:t>
              </a:r>
              <a:endParaRPr kumimoji="0" lang="en-US" sz="1200" b="1" i="0" u="none" strike="noStrike" kern="0" cap="none" spc="0" normalizeH="0" baseline="0" noProof="0" dirty="0">
                <a:ln>
                  <a:noFill/>
                </a:ln>
                <a:solidFill>
                  <a:srgbClr val="000000"/>
                </a:solidFill>
                <a:effectLst/>
                <a:uLnTx/>
                <a:uFillTx/>
                <a:latin typeface="+mj-lt"/>
                <a:ea typeface="DFKaiShu-GB5"/>
                <a:cs typeface="+mn-cs"/>
              </a:endParaRPr>
            </a:p>
          </p:txBody>
        </p:sp>
      </p:grpSp>
      <p:graphicFrame>
        <p:nvGraphicFramePr>
          <p:cNvPr id="9" name="Table 8">
            <a:extLst>
              <a:ext uri="{FF2B5EF4-FFF2-40B4-BE49-F238E27FC236}">
                <a16:creationId xmlns:a16="http://schemas.microsoft.com/office/drawing/2014/main" id="{0DED6F1A-5052-9844-6255-8BF8DDB06DB9}"/>
              </a:ext>
            </a:extLst>
          </p:cNvPr>
          <p:cNvGraphicFramePr>
            <a:graphicFrameLocks noGrp="1"/>
          </p:cNvGraphicFramePr>
          <p:nvPr>
            <p:extLst>
              <p:ext uri="{D42A27DB-BD31-4B8C-83A1-F6EECF244321}">
                <p14:modId xmlns:p14="http://schemas.microsoft.com/office/powerpoint/2010/main" val="3355150526"/>
              </p:ext>
            </p:extLst>
          </p:nvPr>
        </p:nvGraphicFramePr>
        <p:xfrm>
          <a:off x="4594860" y="1349319"/>
          <a:ext cx="4889078" cy="5032934"/>
        </p:xfrm>
        <a:graphic>
          <a:graphicData uri="http://schemas.openxmlformats.org/drawingml/2006/table">
            <a:tbl>
              <a:tblPr>
                <a:tableStyleId>{5FD0F851-EC5A-4D38-B0AD-8093EC10F338}</a:tableStyleId>
              </a:tblPr>
              <a:tblGrid>
                <a:gridCol w="166480">
                  <a:extLst>
                    <a:ext uri="{9D8B030D-6E8A-4147-A177-3AD203B41FA5}">
                      <a16:colId xmlns:a16="http://schemas.microsoft.com/office/drawing/2014/main" val="953951278"/>
                    </a:ext>
                  </a:extLst>
                </a:gridCol>
                <a:gridCol w="561188">
                  <a:extLst>
                    <a:ext uri="{9D8B030D-6E8A-4147-A177-3AD203B41FA5}">
                      <a16:colId xmlns:a16="http://schemas.microsoft.com/office/drawing/2014/main" val="703069288"/>
                    </a:ext>
                  </a:extLst>
                </a:gridCol>
                <a:gridCol w="336030">
                  <a:extLst>
                    <a:ext uri="{9D8B030D-6E8A-4147-A177-3AD203B41FA5}">
                      <a16:colId xmlns:a16="http://schemas.microsoft.com/office/drawing/2014/main" val="1072402543"/>
                    </a:ext>
                  </a:extLst>
                </a:gridCol>
                <a:gridCol w="1350946">
                  <a:extLst>
                    <a:ext uri="{9D8B030D-6E8A-4147-A177-3AD203B41FA5}">
                      <a16:colId xmlns:a16="http://schemas.microsoft.com/office/drawing/2014/main" val="1732231612"/>
                    </a:ext>
                  </a:extLst>
                </a:gridCol>
                <a:gridCol w="519656">
                  <a:extLst>
                    <a:ext uri="{9D8B030D-6E8A-4147-A177-3AD203B41FA5}">
                      <a16:colId xmlns:a16="http://schemas.microsoft.com/office/drawing/2014/main" val="752218670"/>
                    </a:ext>
                  </a:extLst>
                </a:gridCol>
                <a:gridCol w="666884">
                  <a:extLst>
                    <a:ext uri="{9D8B030D-6E8A-4147-A177-3AD203B41FA5}">
                      <a16:colId xmlns:a16="http://schemas.microsoft.com/office/drawing/2014/main" val="3784288677"/>
                    </a:ext>
                  </a:extLst>
                </a:gridCol>
                <a:gridCol w="643947">
                  <a:extLst>
                    <a:ext uri="{9D8B030D-6E8A-4147-A177-3AD203B41FA5}">
                      <a16:colId xmlns:a16="http://schemas.microsoft.com/office/drawing/2014/main" val="1981406090"/>
                    </a:ext>
                  </a:extLst>
                </a:gridCol>
                <a:gridCol w="643947">
                  <a:extLst>
                    <a:ext uri="{9D8B030D-6E8A-4147-A177-3AD203B41FA5}">
                      <a16:colId xmlns:a16="http://schemas.microsoft.com/office/drawing/2014/main" val="2274803678"/>
                    </a:ext>
                  </a:extLst>
                </a:gridCol>
              </a:tblGrid>
              <a:tr h="293320">
                <a:tc>
                  <a:txBody>
                    <a:bodyPr/>
                    <a:lstStyle/>
                    <a:p>
                      <a:pPr algn="ctr" rtl="0" fontAlgn="b"/>
                      <a:r>
                        <a:rPr lang="en-US" sz="900" b="1" i="0" u="none" strike="noStrike" dirty="0">
                          <a:solidFill>
                            <a:srgbClr val="FFFFFF"/>
                          </a:solidFill>
                          <a:effectLst/>
                          <a:latin typeface="+mj-lt"/>
                        </a:rPr>
                        <a:t>#</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0" fontAlgn="b"/>
                      <a:r>
                        <a:rPr lang="en-US" sz="900" b="1" i="0" u="none" strike="noStrike" dirty="0">
                          <a:solidFill>
                            <a:srgbClr val="FFFFFF"/>
                          </a:solidFill>
                          <a:effectLst/>
                          <a:latin typeface="+mj-lt"/>
                        </a:rPr>
                        <a:t>Listing</a:t>
                      </a:r>
                    </a:p>
                    <a:p>
                      <a:pPr algn="ctr" rtl="0" fontAlgn="b"/>
                      <a:r>
                        <a:rPr lang="en-US" sz="900" b="1" i="0" u="none" strike="noStrike" dirty="0">
                          <a:solidFill>
                            <a:srgbClr val="FFFFFF"/>
                          </a:solidFill>
                          <a:effectLst/>
                          <a:latin typeface="+mj-lt"/>
                        </a:rPr>
                        <a:t>Date</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0" fontAlgn="b"/>
                      <a:r>
                        <a:rPr lang="en-US" sz="900" b="1" i="0" u="none" strike="noStrike" dirty="0">
                          <a:solidFill>
                            <a:srgbClr val="FFFFFF"/>
                          </a:solidFill>
                          <a:effectLst/>
                          <a:latin typeface="+mj-lt"/>
                        </a:rPr>
                        <a:t>Ticker</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0" fontAlgn="b"/>
                      <a:r>
                        <a:rPr lang="en-US" sz="900" b="1" i="0" u="none" strike="noStrike" dirty="0">
                          <a:solidFill>
                            <a:srgbClr val="FFFFFF"/>
                          </a:solidFill>
                          <a:effectLst/>
                          <a:highlight>
                            <a:srgbClr val="000000"/>
                          </a:highlight>
                          <a:latin typeface="+mj-lt"/>
                        </a:rPr>
                        <a:t>Name</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rtl="0" fontAlgn="b"/>
                      <a:r>
                        <a:rPr lang="en-US" sz="900" b="1" i="0" u="none" strike="noStrike" dirty="0">
                          <a:solidFill>
                            <a:srgbClr val="FFFFFF"/>
                          </a:solidFill>
                          <a:effectLst/>
                          <a:latin typeface="+mj-lt"/>
                        </a:rPr>
                        <a:t>Deal Size</a:t>
                      </a:r>
                    </a:p>
                    <a:p>
                      <a:pPr algn="ctr" rtl="0" fontAlgn="b"/>
                      <a:r>
                        <a:rPr lang="en-US" sz="900" b="1" i="0" u="none" strike="noStrike" dirty="0">
                          <a:solidFill>
                            <a:srgbClr val="FFFFFF"/>
                          </a:solidFill>
                          <a:effectLst/>
                          <a:highlight>
                            <a:srgbClr val="000000"/>
                          </a:highlight>
                          <a:latin typeface="+mj-lt"/>
                        </a:rPr>
                        <a:t>(US$’</a:t>
                      </a:r>
                      <a:r>
                        <a:rPr lang="en-US" sz="900" b="1" i="0" u="none" strike="noStrike" dirty="0" err="1">
                          <a:solidFill>
                            <a:srgbClr val="FFFFFF"/>
                          </a:solidFill>
                          <a:effectLst/>
                          <a:highlight>
                            <a:srgbClr val="000000"/>
                          </a:highlight>
                          <a:latin typeface="+mj-lt"/>
                        </a:rPr>
                        <a:t>mn</a:t>
                      </a:r>
                      <a:r>
                        <a:rPr lang="en-US" sz="900" b="1" i="0" u="none" strike="noStrike" dirty="0">
                          <a:solidFill>
                            <a:srgbClr val="FFFFFF"/>
                          </a:solidFill>
                          <a:effectLst/>
                          <a:highlight>
                            <a:srgbClr val="000000"/>
                          </a:highlight>
                          <a:latin typeface="+mj-lt"/>
                        </a:rPr>
                        <a:t>)</a:t>
                      </a:r>
                    </a:p>
                  </a:txBody>
                  <a:tcPr marL="0" marR="0" marT="0" marB="0" anchor="ctr">
                    <a:lnL>
                      <a:noFill/>
                    </a:lnL>
                    <a:lnR>
                      <a:noFill/>
                    </a:lnR>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tx1"/>
                    </a:solidFill>
                  </a:tcPr>
                </a:tc>
                <a:tc>
                  <a:txBody>
                    <a:bodyPr/>
                    <a:lstStyle/>
                    <a:p>
                      <a:pPr algn="ctr" rtl="0" fontAlgn="b"/>
                      <a:r>
                        <a:rPr lang="en-US" sz="900" b="1" i="0" u="none" strike="noStrike" kern="1200" dirty="0">
                          <a:solidFill>
                            <a:schemeClr val="bg1"/>
                          </a:solidFill>
                          <a:effectLst/>
                          <a:latin typeface="+mj-lt"/>
                          <a:ea typeface="+mn-ea"/>
                          <a:cs typeface="+mn-cs"/>
                        </a:rPr>
                        <a:t>Sector</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rtl="0" fontAlgn="b"/>
                      <a:r>
                        <a:rPr lang="en-US" sz="900" b="1" i="0" u="none" strike="noStrike" dirty="0">
                          <a:solidFill>
                            <a:srgbClr val="FFFFFF"/>
                          </a:solidFill>
                          <a:effectLst/>
                          <a:latin typeface="+mj-lt"/>
                        </a:rPr>
                        <a:t>1</a:t>
                      </a:r>
                      <a:r>
                        <a:rPr lang="en-US" sz="900" b="1" i="0" u="none" strike="noStrike" baseline="30000" dirty="0">
                          <a:solidFill>
                            <a:srgbClr val="FFFFFF"/>
                          </a:solidFill>
                          <a:effectLst/>
                          <a:latin typeface="+mj-lt"/>
                        </a:rPr>
                        <a:t>st</a:t>
                      </a:r>
                      <a:r>
                        <a:rPr lang="en-US" sz="900" b="1" i="0" u="none" strike="noStrike" dirty="0">
                          <a:solidFill>
                            <a:srgbClr val="FFFFFF"/>
                          </a:solidFill>
                          <a:effectLst/>
                          <a:latin typeface="+mj-lt"/>
                        </a:rPr>
                        <a:t> Day</a:t>
                      </a:r>
                    </a:p>
                    <a:p>
                      <a:pPr algn="ctr" rtl="0" fontAlgn="b"/>
                      <a:r>
                        <a:rPr lang="en-US" sz="900" b="1" i="0" u="none" strike="noStrike" dirty="0">
                          <a:solidFill>
                            <a:srgbClr val="FFFFFF"/>
                          </a:solidFill>
                          <a:effectLst/>
                          <a:highlight>
                            <a:srgbClr val="000000"/>
                          </a:highlight>
                          <a:latin typeface="+mj-lt"/>
                        </a:rPr>
                        <a:t>Return</a:t>
                      </a:r>
                    </a:p>
                  </a:txBody>
                  <a:tcPr marL="0" marR="0" marT="0" marB="0" anchor="ctr">
                    <a:lnL>
                      <a:noFill/>
                    </a:lnL>
                    <a:lnR>
                      <a:noFill/>
                    </a:lnR>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tx1"/>
                    </a:solidFill>
                  </a:tcPr>
                </a:tc>
                <a:tc>
                  <a:txBody>
                    <a:bodyPr/>
                    <a:lstStyle/>
                    <a:p>
                      <a:pPr algn="ctr" rtl="0" fontAlgn="b"/>
                      <a:r>
                        <a:rPr lang="en-US" sz="900" b="1" i="0" u="none" strike="noStrike" dirty="0">
                          <a:solidFill>
                            <a:srgbClr val="FFFFFF"/>
                          </a:solidFill>
                          <a:effectLst/>
                          <a:latin typeface="+mj-lt"/>
                        </a:rPr>
                        <a:t>Offer to Date </a:t>
                      </a:r>
                    </a:p>
                    <a:p>
                      <a:pPr algn="ctr" rtl="0" fontAlgn="b"/>
                      <a:r>
                        <a:rPr lang="en-US" sz="900" b="1" i="0" u="none" strike="noStrike" dirty="0">
                          <a:solidFill>
                            <a:srgbClr val="FFFFFF"/>
                          </a:solidFill>
                          <a:effectLst/>
                          <a:highlight>
                            <a:srgbClr val="000000"/>
                          </a:highlight>
                          <a:latin typeface="+mj-lt"/>
                        </a:rPr>
                        <a:t>Return</a:t>
                      </a:r>
                    </a:p>
                  </a:txBody>
                  <a:tcPr marL="0" marR="0" marT="0" marB="0" anchor="ctr">
                    <a:lnL>
                      <a:noFill/>
                    </a:lnL>
                    <a:lnR>
                      <a:noFill/>
                    </a:lnR>
                    <a:lnT w="12700" cap="flat" cmpd="sng" algn="ctr">
                      <a:noFill/>
                      <a:prstDash val="solid"/>
                      <a:round/>
                      <a:headEnd type="none" w="med" len="med"/>
                      <a:tailEnd type="none" w="med" len="med"/>
                    </a:lnT>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729343995"/>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a:t>
                      </a:r>
                    </a:p>
                  </a:txBody>
                  <a:tcPr marL="7620" marR="7620" marT="7620" marB="0" anchor="ctr">
                    <a:lnT w="12700" cap="flat" cmpd="sng" algn="ctr">
                      <a:noFill/>
                      <a:prstDash val="solid"/>
                      <a:round/>
                      <a:headEnd type="none" w="med" len="med"/>
                      <a:tailEnd type="none" w="med" len="med"/>
                    </a:lnT>
                    <a:lnB>
                      <a:noFill/>
                    </a:lnB>
                    <a:no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31-Mar-26</a:t>
                      </a:r>
                    </a:p>
                  </a:txBody>
                  <a:tcPr marL="7620" marR="7620" marT="7620" marB="0" anchor="ctr">
                    <a:lnT w="12700" cap="flat" cmpd="sng" algn="ctr">
                      <a:noFill/>
                      <a:prstDash val="solid"/>
                      <a:round/>
                      <a:headEnd type="none" w="med" len="med"/>
                      <a:tailEnd type="none" w="med" len="med"/>
                    </a:lnT>
                    <a:lnB>
                      <a:noFill/>
                    </a:lnB>
                    <a:no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0664</a:t>
                      </a:r>
                    </a:p>
                  </a:txBody>
                  <a:tcPr marL="7620" marR="7620" marT="7620" marB="0" anchor="ctr">
                    <a:lnT w="12700" cap="flat" cmpd="sng" algn="ctr">
                      <a:noFill/>
                      <a:prstDash val="solid"/>
                      <a:round/>
                      <a:headEnd type="none" w="med" len="med"/>
                      <a:tailEnd type="none" w="med" len="med"/>
                    </a:lnT>
                    <a:lnB>
                      <a:noFill/>
                    </a:lnB>
                    <a:noFill/>
                  </a:tcPr>
                </a:tc>
                <a:tc>
                  <a:txBody>
                    <a:bodyPr/>
                    <a:lstStyle/>
                    <a:p>
                      <a:pPr algn="ctr" fontAlgn="ctr">
                        <a:buNone/>
                      </a:pPr>
                      <a:r>
                        <a:rPr lang="en-US" sz="900" b="0" i="0" u="none" strike="noStrike" kern="1200" dirty="0" err="1">
                          <a:solidFill>
                            <a:schemeClr val="tx1"/>
                          </a:solidFill>
                          <a:effectLst/>
                          <a:latin typeface="Calibri" panose="020F0502020204030204" pitchFamily="34" charset="0"/>
                          <a:ea typeface="+mn-ea"/>
                          <a:cs typeface="+mn-cs"/>
                        </a:rPr>
                        <a:t>Tonghifu</a:t>
                      </a:r>
                      <a:endParaRPr lang="en-US" sz="900" b="0" i="0" u="none" strike="noStrike" kern="1200" dirty="0">
                        <a:solidFill>
                          <a:schemeClr val="tx1"/>
                        </a:solidFill>
                        <a:effectLst/>
                        <a:latin typeface="Calibri" panose="020F0502020204030204" pitchFamily="34" charset="0"/>
                        <a:ea typeface="+mn-ea"/>
                        <a:cs typeface="+mn-cs"/>
                      </a:endParaRPr>
                    </a:p>
                  </a:txBody>
                  <a:tcPr marL="7620" marR="7620" marT="7620" marB="0" anchor="ctr">
                    <a:lnT w="12700" cap="flat" cmpd="sng" algn="ctr">
                      <a:noFill/>
                      <a:prstDash val="solid"/>
                      <a:round/>
                      <a:headEnd type="none" w="med" len="med"/>
                      <a:tailEnd type="none" w="med" len="med"/>
                    </a:lnT>
                    <a:lnB>
                      <a:noFill/>
                    </a:lnB>
                    <a:no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57</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Consumer</a:t>
                      </a:r>
                    </a:p>
                  </a:txBody>
                  <a:tcPr marL="7620" marR="7620" marT="7620" marB="0" anchor="ctr">
                    <a:lnT w="12700" cap="flat" cmpd="sng" algn="ctr">
                      <a:noFill/>
                      <a:prstDash val="solid"/>
                      <a:round/>
                      <a:headEnd type="none" w="med" len="med"/>
                      <a:tailEnd type="none" w="med" len="med"/>
                    </a:lnT>
                    <a:lnB>
                      <a:noFill/>
                    </a:lnB>
                    <a:noFill/>
                  </a:tcPr>
                </a:tc>
                <a:tc>
                  <a:txBody>
                    <a:bodyPr/>
                    <a:lstStyle/>
                    <a:p>
                      <a:pPr marL="0" algn="ctr" defTabSz="990570" rtl="0" eaLnBrk="1" fontAlgn="ctr" latinLnBrk="0" hangingPunct="1">
                        <a:buNone/>
                      </a:pPr>
                      <a:r>
                        <a:rPr lang="en-US" sz="900" b="0" i="0" u="none" strike="noStrike" kern="1200" dirty="0">
                          <a:solidFill>
                            <a:srgbClr val="FF0000"/>
                          </a:solidFill>
                          <a:effectLst/>
                          <a:latin typeface="Calibri" panose="020F0502020204030204" pitchFamily="34" charset="0"/>
                          <a:ea typeface="+mn-ea"/>
                          <a:cs typeface="+mn-cs"/>
                        </a:rPr>
                        <a:t>-49.</a:t>
                      </a:r>
                      <a:r>
                        <a:rPr lang="en-US" altLang="zh-CN" sz="900" b="0" i="0" u="none" strike="noStrike" kern="1200" dirty="0">
                          <a:solidFill>
                            <a:srgbClr val="FF0000"/>
                          </a:solidFill>
                          <a:effectLst/>
                          <a:latin typeface="Calibri" panose="020F0502020204030204" pitchFamily="34" charset="0"/>
                          <a:ea typeface="+mn-ea"/>
                          <a:cs typeface="+mn-cs"/>
                        </a:rPr>
                        <a:t>2</a:t>
                      </a:r>
                      <a:r>
                        <a:rPr lang="en-US" sz="900" b="0" i="0" u="none" strike="noStrike" kern="1200" dirty="0">
                          <a:solidFill>
                            <a:srgbClr val="FF0000"/>
                          </a:solidFill>
                          <a:effectLst/>
                          <a:latin typeface="Calibri" panose="020F0502020204030204" pitchFamily="34" charset="0"/>
                          <a:ea typeface="+mn-ea"/>
                          <a:cs typeface="+mn-cs"/>
                        </a:rPr>
                        <a:t>%</a:t>
                      </a:r>
                    </a:p>
                  </a:txBody>
                  <a:tcPr marL="7620" marR="7620" marT="7620" marB="0" anchor="ctr">
                    <a:noFill/>
                  </a:tcPr>
                </a:tc>
                <a:tc>
                  <a:txBody>
                    <a:bodyPr/>
                    <a:lstStyle/>
                    <a:p>
                      <a:pPr marL="0" algn="ctr" defTabSz="990570" rtl="0" eaLnBrk="1" fontAlgn="b" latinLnBrk="0" hangingPunct="1">
                        <a:buNone/>
                      </a:pPr>
                      <a:r>
                        <a:rPr lang="en-US" sz="900" b="0" i="0" u="none" strike="noStrike" kern="12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-68.5%</a:t>
                      </a:r>
                    </a:p>
                  </a:txBody>
                  <a:tcPr marL="7620" marR="7620" marT="7620" marB="0" anchor="ctr">
                    <a:noFill/>
                  </a:tcPr>
                </a:tc>
                <a:extLst>
                  <a:ext uri="{0D108BD9-81ED-4DB2-BD59-A6C34878D82A}">
                    <a16:rowId xmlns:a16="http://schemas.microsoft.com/office/drawing/2014/main" val="3485756157"/>
                  </a:ext>
                </a:extLst>
              </a:tr>
              <a:tr h="215437">
                <a:tc>
                  <a:txBody>
                    <a:bodyPr/>
                    <a:lstStyle/>
                    <a:p>
                      <a:pPr algn="ctr" fontAlgn="b"/>
                      <a:r>
                        <a:rPr lang="en-US" sz="900" b="0" i="0" u="none" strike="noStrike" kern="1200" dirty="0">
                          <a:solidFill>
                            <a:srgbClr val="000000"/>
                          </a:solidFill>
                          <a:effectLst/>
                          <a:latin typeface="+mj-lt"/>
                          <a:ea typeface="+mn-ea"/>
                          <a:cs typeface="+mn-cs"/>
                        </a:rPr>
                        <a:t>2</a:t>
                      </a: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31-Mar-26</a:t>
                      </a: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3625</a:t>
                      </a: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Shanghai </a:t>
                      </a:r>
                      <a:r>
                        <a:rPr lang="en-US" sz="900" b="0" i="0" u="none" strike="noStrike" kern="1200" dirty="0" err="1">
                          <a:solidFill>
                            <a:schemeClr val="tx1"/>
                          </a:solidFill>
                          <a:effectLst/>
                          <a:latin typeface="Calibri" panose="020F0502020204030204" pitchFamily="34" charset="0"/>
                          <a:ea typeface="+mn-ea"/>
                          <a:cs typeface="+mn-cs"/>
                        </a:rPr>
                        <a:t>FourSemi</a:t>
                      </a:r>
                      <a:endParaRPr lang="en-US" sz="900" b="0" i="0" u="none" strike="noStrike" kern="1200" dirty="0">
                        <a:solidFill>
                          <a:schemeClr val="tx1"/>
                        </a:solidFill>
                        <a:effectLst/>
                        <a:latin typeface="Calibri" panose="020F0502020204030204" pitchFamily="34" charset="0"/>
                        <a:ea typeface="+mn-ea"/>
                        <a:cs typeface="+mn-cs"/>
                      </a:endParaRP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61</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100.0%</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196.8%</a:t>
                      </a:r>
                    </a:p>
                  </a:txBody>
                  <a:tcPr marL="7620" marR="7620" marT="7620" marB="0" anchor="ctr">
                    <a:solidFill>
                      <a:srgbClr val="F0F0F0"/>
                    </a:solidFill>
                  </a:tcPr>
                </a:tc>
                <a:extLst>
                  <a:ext uri="{0D108BD9-81ED-4DB2-BD59-A6C34878D82A}">
                    <a16:rowId xmlns:a16="http://schemas.microsoft.com/office/drawing/2014/main" val="780406940"/>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3</a:t>
                      </a:r>
                    </a:p>
                  </a:txBody>
                  <a:tcPr marL="7620" marR="7620" marT="7620" marB="0" anchor="ctr">
                    <a:lnT w="12700" cap="flat" cmpd="sng" algn="ctr">
                      <a:noFill/>
                      <a:prstDash val="solid"/>
                      <a:round/>
                      <a:headEnd type="none" w="med" len="med"/>
                      <a:tailEnd type="none" w="med" len="med"/>
                    </a:lnT>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30-Mar-26</a:t>
                      </a:r>
                    </a:p>
                  </a:txBody>
                  <a:tcPr marL="7620" marR="7620" marT="7620" marB="0" anchor="ctr">
                    <a:lnT w="12700" cap="flat" cmpd="sng" algn="ctr">
                      <a:noFill/>
                      <a:prstDash val="solid"/>
                      <a:round/>
                      <a:headEnd type="none" w="med" len="med"/>
                      <a:tailEnd type="none" w="med" len="med"/>
                    </a:lnT>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2726</a:t>
                      </a:r>
                    </a:p>
                  </a:txBody>
                  <a:tcPr marL="7620" marR="7620" marT="7620" marB="0" anchor="ctr">
                    <a:lnT w="12700" cap="flat" cmpd="sng" algn="ctr">
                      <a:noFill/>
                      <a:prstDash val="solid"/>
                      <a:round/>
                      <a:headEnd type="none" w="med" len="med"/>
                      <a:tailEnd type="none" w="med" len="med"/>
                    </a:lnT>
                  </a:tcPr>
                </a:tc>
                <a:tc>
                  <a:txBody>
                    <a:bodyPr/>
                    <a:lstStyle/>
                    <a:p>
                      <a:pPr algn="ctr" fontAlgn="ctr">
                        <a:buNone/>
                      </a:pPr>
                      <a:r>
                        <a:rPr lang="en-US" sz="900" b="0" i="0" u="none" strike="noStrike" kern="1200" dirty="0" err="1">
                          <a:solidFill>
                            <a:schemeClr val="tx1"/>
                          </a:solidFill>
                          <a:effectLst/>
                          <a:latin typeface="Calibri" panose="020F0502020204030204" pitchFamily="34" charset="0"/>
                          <a:ea typeface="+mn-ea"/>
                          <a:cs typeface="+mn-cs"/>
                        </a:rPr>
                        <a:t>Epiworld</a:t>
                      </a:r>
                      <a:r>
                        <a:rPr lang="en-US" sz="900" b="0" i="0" u="none" strike="noStrike" kern="1200" dirty="0">
                          <a:solidFill>
                            <a:schemeClr val="tx1"/>
                          </a:solidFill>
                          <a:effectLst/>
                          <a:latin typeface="Calibri" panose="020F0502020204030204" pitchFamily="34" charset="0"/>
                          <a:ea typeface="+mn-ea"/>
                          <a:cs typeface="+mn-cs"/>
                        </a:rPr>
                        <a:t> International</a:t>
                      </a:r>
                    </a:p>
                  </a:txBody>
                  <a:tcPr marL="7620" marR="7620" marT="7620" marB="0" anchor="ctr">
                    <a:lnT w="12700" cap="flat" cmpd="sng" algn="ctr">
                      <a:noFill/>
                      <a:prstDash val="solid"/>
                      <a:round/>
                      <a:headEnd type="none" w="med" len="med"/>
                      <a:tailEnd type="none" w="med" len="med"/>
                    </a:lnT>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209</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lnT w="12700" cap="flat" cmpd="sng" algn="ctr">
                      <a:noFill/>
                      <a:prstDash val="solid"/>
                      <a:round/>
                      <a:headEnd type="none" w="med" len="med"/>
                      <a:tailEnd type="none" w="med" len="med"/>
                    </a:lnT>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35.</a:t>
                      </a:r>
                      <a:r>
                        <a:rPr lang="en-US" altLang="zh-CN" sz="900" b="0" i="0" u="none" strike="noStrike" kern="1200" dirty="0">
                          <a:solidFill>
                            <a:srgbClr val="00863D"/>
                          </a:solidFill>
                          <a:effectLst/>
                          <a:latin typeface="Calibri" panose="020F0502020204030204" pitchFamily="34" charset="0"/>
                          <a:ea typeface="+mn-ea"/>
                          <a:cs typeface="+mn-cs"/>
                        </a:rPr>
                        <a:t>1</a:t>
                      </a:r>
                      <a:r>
                        <a:rPr lang="en-US" sz="900" b="0" i="0" u="none" strike="noStrike" kern="1200" dirty="0">
                          <a:solidFill>
                            <a:srgbClr val="00863D"/>
                          </a:solidFill>
                          <a:effectLst/>
                          <a:latin typeface="Calibri" panose="020F0502020204030204" pitchFamily="34" charset="0"/>
                          <a:ea typeface="+mn-ea"/>
                          <a:cs typeface="+mn-cs"/>
                        </a:rPr>
                        <a:t>%</a:t>
                      </a:r>
                    </a:p>
                  </a:txBody>
                  <a:tcPr marL="7620" marR="7620" marT="7620" marB="0" anchor="ctr"/>
                </a:tc>
                <a:tc>
                  <a:txBody>
                    <a:bodyPr/>
                    <a:lstStyle/>
                    <a:p>
                      <a:pPr marL="0" algn="ctr" defTabSz="990570" rtl="0" eaLnBrk="1" fontAlgn="b" latinLnBrk="0" hangingPunct="1">
                        <a:buNone/>
                      </a:pPr>
                      <a:r>
                        <a:rPr lang="en-US" sz="900" b="0" i="0" u="none" strike="noStrike" kern="1200">
                          <a:solidFill>
                            <a:srgbClr val="00863D"/>
                          </a:solidFill>
                          <a:effectLst/>
                          <a:latin typeface="Calibri" panose="020F0502020204030204" pitchFamily="34" charset="0"/>
                          <a:ea typeface="Calibri" panose="020F0502020204030204" pitchFamily="34" charset="0"/>
                          <a:cs typeface="Calibri" panose="020F0502020204030204" pitchFamily="34" charset="0"/>
                        </a:rPr>
                        <a:t>37.8%</a:t>
                      </a:r>
                    </a:p>
                  </a:txBody>
                  <a:tcPr marL="7620" marR="7620" marT="7620" marB="0" anchor="ctr"/>
                </a:tc>
                <a:extLst>
                  <a:ext uri="{0D108BD9-81ED-4DB2-BD59-A6C34878D82A}">
                    <a16:rowId xmlns:a16="http://schemas.microsoft.com/office/drawing/2014/main" val="2574300797"/>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4</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30-Mar-26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6636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Shandong Extreme Vision</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64</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150.0%</a:t>
                      </a:r>
                    </a:p>
                  </a:txBody>
                  <a:tcPr marL="7620" marR="7620" marT="7620" marB="0" anchor="ctr">
                    <a:solidFill>
                      <a:schemeClr val="bg2">
                        <a:lumMod val="20000"/>
                        <a:lumOff val="80000"/>
                      </a:schemeClr>
                    </a:solidFill>
                  </a:tcP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144.6%</a:t>
                      </a:r>
                    </a:p>
                  </a:txBody>
                  <a:tcPr marL="7620" marR="7620" marT="7620" marB="0" anchor="ctr">
                    <a:solidFill>
                      <a:schemeClr val="bg2">
                        <a:lumMod val="20000"/>
                        <a:lumOff val="80000"/>
                      </a:schemeClr>
                    </a:solidFill>
                  </a:tcPr>
                </a:tc>
                <a:extLst>
                  <a:ext uri="{0D108BD9-81ED-4DB2-BD59-A6C34878D82A}">
                    <a16:rowId xmlns:a16="http://schemas.microsoft.com/office/drawing/2014/main" val="158687809"/>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5</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30-Mar-26</a:t>
                      </a:r>
                    </a:p>
                  </a:txBody>
                  <a:tcPr marL="7620" marR="7620" marT="7620" marB="0" anchor="ct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2526</a:t>
                      </a:r>
                    </a:p>
                  </a:txBody>
                  <a:tcPr marL="7620" marR="7620" marT="7620" marB="0" anchor="ctr"/>
                </a:tc>
                <a:tc>
                  <a:txBody>
                    <a:bodyPr/>
                    <a:lstStyle/>
                    <a:p>
                      <a:pPr algn="ctr" fontAlgn="ctr">
                        <a:buNone/>
                      </a:pPr>
                      <a:r>
                        <a:rPr lang="en-US" sz="900" b="0" i="0" u="none" strike="noStrike" kern="1200" dirty="0" err="1">
                          <a:solidFill>
                            <a:schemeClr val="tx1"/>
                          </a:solidFill>
                          <a:effectLst/>
                          <a:latin typeface="Calibri" panose="020F0502020204030204" pitchFamily="34" charset="0"/>
                          <a:ea typeface="+mn-ea"/>
                          <a:cs typeface="+mn-cs"/>
                        </a:rPr>
                        <a:t>Diagens</a:t>
                      </a:r>
                      <a:r>
                        <a:rPr lang="en-US" sz="900" b="0" i="0" u="none" strike="noStrike" kern="1200" dirty="0">
                          <a:solidFill>
                            <a:schemeClr val="tx1"/>
                          </a:solidFill>
                          <a:effectLst/>
                          <a:latin typeface="Calibri" panose="020F0502020204030204" pitchFamily="34" charset="0"/>
                          <a:ea typeface="+mn-ea"/>
                          <a:cs typeface="+mn-cs"/>
                        </a:rPr>
                        <a:t> Biotechnology</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101</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Healthcare</a:t>
                      </a:r>
                    </a:p>
                  </a:txBody>
                  <a:tcPr marL="7620" marR="7620" marT="7620" marB="0" anchor="ct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111.7%</a:t>
                      </a:r>
                    </a:p>
                  </a:txBody>
                  <a:tcPr marL="7620" marR="7620" marT="7620" marB="0" anchor="ct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215.0%</a:t>
                      </a:r>
                    </a:p>
                  </a:txBody>
                  <a:tcPr marL="7620" marR="7620" marT="7620" marB="0" anchor="ctr"/>
                </a:tc>
                <a:extLst>
                  <a:ext uri="{0D108BD9-81ED-4DB2-BD59-A6C34878D82A}">
                    <a16:rowId xmlns:a16="http://schemas.microsoft.com/office/drawing/2014/main" val="610609314"/>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6</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30-Mar-26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1021</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dirty="0" err="1">
                          <a:solidFill>
                            <a:schemeClr val="tx1"/>
                          </a:solidFill>
                          <a:effectLst/>
                          <a:latin typeface="Calibri" panose="020F0502020204030204" pitchFamily="34" charset="0"/>
                          <a:ea typeface="+mn-ea"/>
                          <a:cs typeface="+mn-cs"/>
                        </a:rPr>
                        <a:t>Huayan</a:t>
                      </a:r>
                      <a:r>
                        <a:rPr lang="en-US" sz="900" b="0" i="0" u="none" strike="noStrike" kern="1200" dirty="0">
                          <a:solidFill>
                            <a:schemeClr val="tx1"/>
                          </a:solidFill>
                          <a:effectLst/>
                          <a:latin typeface="Calibri" panose="020F0502020204030204" pitchFamily="34" charset="0"/>
                          <a:ea typeface="+mn-ea"/>
                          <a:cs typeface="+mn-cs"/>
                        </a:rPr>
                        <a:t> Robotics</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202</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Industrials</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8.2%</a:t>
                      </a:r>
                    </a:p>
                  </a:txBody>
                  <a:tcPr marL="7620" marR="7620" marT="7620" marB="0" anchor="ctr">
                    <a:solidFill>
                      <a:schemeClr val="bg2">
                        <a:lumMod val="20000"/>
                        <a:lumOff val="80000"/>
                      </a:schemeClr>
                    </a:solidFill>
                  </a:tcPr>
                </a:tc>
                <a:tc>
                  <a:txBody>
                    <a:bodyPr/>
                    <a:lstStyle/>
                    <a:p>
                      <a:pPr marL="0" algn="ctr" defTabSz="990570" rtl="0" eaLnBrk="1" fontAlgn="b" latinLnBrk="0" hangingPunct="1">
                        <a:buNone/>
                      </a:pPr>
                      <a:r>
                        <a:rPr lang="en-US" sz="900" b="0" i="0" u="none" strike="noStrike" kern="1200">
                          <a:solidFill>
                            <a:srgbClr val="00863D"/>
                          </a:solidFill>
                          <a:effectLst/>
                          <a:latin typeface="Calibri" panose="020F0502020204030204" pitchFamily="34" charset="0"/>
                          <a:ea typeface="Calibri" panose="020F0502020204030204" pitchFamily="34" charset="0"/>
                          <a:cs typeface="Calibri" panose="020F0502020204030204" pitchFamily="34" charset="0"/>
                        </a:rPr>
                        <a:t>4.6%</a:t>
                      </a:r>
                    </a:p>
                  </a:txBody>
                  <a:tcPr marL="7620" marR="7620" marT="7620" marB="0" anchor="ctr">
                    <a:solidFill>
                      <a:schemeClr val="bg2">
                        <a:lumMod val="20000"/>
                        <a:lumOff val="80000"/>
                      </a:schemeClr>
                    </a:solidFill>
                  </a:tcPr>
                </a:tc>
                <a:extLst>
                  <a:ext uri="{0D108BD9-81ED-4DB2-BD59-A6C34878D82A}">
                    <a16:rowId xmlns:a16="http://schemas.microsoft.com/office/drawing/2014/main" val="3044871248"/>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7</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24-Mar-26</a:t>
                      </a:r>
                    </a:p>
                  </a:txBody>
                  <a:tcPr marL="7620" marR="7620" marT="7620" marB="0" anchor="ct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2632</a:t>
                      </a:r>
                    </a:p>
                  </a:txBody>
                  <a:tcPr marL="7620" marR="7620" marT="7620" marB="0" anchor="ct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Jiangsu New Vision</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92</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Consumer</a:t>
                      </a:r>
                    </a:p>
                  </a:txBody>
                  <a:tcPr marL="7620" marR="7620" marT="7620" marB="0" anchor="ctr"/>
                </a:tc>
                <a:tc>
                  <a:txBody>
                    <a:bodyPr/>
                    <a:lstStyle/>
                    <a:p>
                      <a:pPr marL="0" algn="ctr" defTabSz="990570" rtl="0" eaLnBrk="1" fontAlgn="ctr" latinLnBrk="0" hangingPunct="1">
                        <a:buNone/>
                      </a:pPr>
                      <a:r>
                        <a:rPr lang="en-US" sz="900" b="0" i="0" u="none" strike="noStrike" kern="1200" dirty="0">
                          <a:solidFill>
                            <a:srgbClr val="FF0000"/>
                          </a:solidFill>
                          <a:effectLst/>
                          <a:latin typeface="Calibri" panose="020F0502020204030204" pitchFamily="34" charset="0"/>
                          <a:ea typeface="+mn-ea"/>
                          <a:cs typeface="+mn-cs"/>
                        </a:rPr>
                        <a:t>-36.9%</a:t>
                      </a:r>
                    </a:p>
                  </a:txBody>
                  <a:tcPr marL="7620" marR="7620" marT="7620" marB="0" anchor="ct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170.4%</a:t>
                      </a:r>
                    </a:p>
                  </a:txBody>
                  <a:tcPr marL="7620" marR="7620" marT="7620" marB="0" anchor="ctr"/>
                </a:tc>
                <a:extLst>
                  <a:ext uri="{0D108BD9-81ED-4DB2-BD59-A6C34878D82A}">
                    <a16:rowId xmlns:a16="http://schemas.microsoft.com/office/drawing/2014/main" val="554230434"/>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8</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24-Mar-26</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2729</a:t>
                      </a:r>
                    </a:p>
                  </a:txBody>
                  <a:tcPr marL="7620" marR="7620" marT="7620" marB="0" anchor="ctr">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Zhejiang </a:t>
                      </a:r>
                      <a:r>
                        <a:rPr lang="en-US" sz="900" b="0" i="0" u="none" strike="noStrike" kern="1200" dirty="0" err="1">
                          <a:solidFill>
                            <a:schemeClr val="tx1"/>
                          </a:solidFill>
                          <a:effectLst/>
                          <a:latin typeface="Calibri" panose="020F0502020204030204" pitchFamily="34" charset="0"/>
                          <a:ea typeface="+mn-ea"/>
                          <a:cs typeface="+mn-cs"/>
                        </a:rPr>
                        <a:t>Galaxis</a:t>
                      </a:r>
                      <a:r>
                        <a:rPr lang="en-US" sz="900" b="0" i="0" u="none" strike="noStrike" kern="1200" dirty="0">
                          <a:solidFill>
                            <a:schemeClr val="tx1"/>
                          </a:solidFill>
                          <a:effectLst/>
                          <a:latin typeface="Calibri" panose="020F0502020204030204" pitchFamily="34" charset="0"/>
                          <a:ea typeface="+mn-ea"/>
                          <a:cs typeface="+mn-cs"/>
                        </a:rPr>
                        <a:t> Technology</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78</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TMT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84.</a:t>
                      </a:r>
                      <a:r>
                        <a:rPr lang="en-US" altLang="zh-CN" sz="900" b="0" i="0" u="none" strike="noStrike" kern="1200" dirty="0">
                          <a:solidFill>
                            <a:srgbClr val="00863D"/>
                          </a:solidFill>
                          <a:effectLst/>
                          <a:latin typeface="Calibri" panose="020F0502020204030204" pitchFamily="34" charset="0"/>
                          <a:ea typeface="+mn-ea"/>
                          <a:cs typeface="+mn-cs"/>
                        </a:rPr>
                        <a:t>3</a:t>
                      </a:r>
                      <a:r>
                        <a:rPr lang="en-US" sz="900" b="0" i="0" u="none" strike="noStrike" kern="1200" dirty="0">
                          <a:solidFill>
                            <a:srgbClr val="00863D"/>
                          </a:solidFill>
                          <a:effectLst/>
                          <a:latin typeface="Calibri" panose="020F0502020204030204" pitchFamily="34" charset="0"/>
                          <a:ea typeface="+mn-ea"/>
                          <a:cs typeface="+mn-cs"/>
                        </a:rPr>
                        <a:t>%</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a:solidFill>
                            <a:srgbClr val="00863D"/>
                          </a:solidFill>
                          <a:effectLst/>
                          <a:latin typeface="Calibri" panose="020F0502020204030204" pitchFamily="34" charset="0"/>
                          <a:ea typeface="Calibri" panose="020F0502020204030204" pitchFamily="34" charset="0"/>
                          <a:cs typeface="Calibri" panose="020F0502020204030204" pitchFamily="34" charset="0"/>
                        </a:rPr>
                        <a:t>95.1%</a:t>
                      </a:r>
                    </a:p>
                  </a:txBody>
                  <a:tcPr marL="7620" marR="7620" marT="7620" marB="0" anchor="ctr">
                    <a:solidFill>
                      <a:srgbClr val="F0F0F0"/>
                    </a:solidFill>
                  </a:tcPr>
                </a:tc>
                <a:extLst>
                  <a:ext uri="{0D108BD9-81ED-4DB2-BD59-A6C34878D82A}">
                    <a16:rowId xmlns:a16="http://schemas.microsoft.com/office/drawing/2014/main" val="2122495327"/>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9</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23-Mar-26</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2701</a:t>
                      </a:r>
                    </a:p>
                  </a:txBody>
                  <a:tcPr marL="7620" marR="7620" marT="7620" marB="0" anchor="ctr">
                    <a:noFill/>
                  </a:tcPr>
                </a:tc>
                <a:tc>
                  <a:txBody>
                    <a:bodyPr/>
                    <a:lstStyle/>
                    <a:p>
                      <a:pPr algn="ctr" fontAlgn="ctr">
                        <a:buNone/>
                      </a:pPr>
                      <a:r>
                        <a:rPr lang="en-US" sz="900" b="0" i="0" u="none" strike="noStrike" kern="1200" dirty="0" err="1">
                          <a:solidFill>
                            <a:schemeClr val="tx1"/>
                          </a:solidFill>
                          <a:effectLst/>
                          <a:latin typeface="Calibri" panose="020F0502020204030204" pitchFamily="34" charset="0"/>
                          <a:ea typeface="+mn-ea"/>
                          <a:cs typeface="+mn-cs"/>
                        </a:rPr>
                        <a:t>Nsing</a:t>
                      </a:r>
                      <a:r>
                        <a:rPr lang="en-US" sz="900" b="0" i="0" u="none" strike="noStrike" kern="1200" dirty="0">
                          <a:solidFill>
                            <a:schemeClr val="tx1"/>
                          </a:solidFill>
                          <a:effectLst/>
                          <a:latin typeface="Calibri" panose="020F0502020204030204" pitchFamily="34" charset="0"/>
                          <a:ea typeface="+mn-ea"/>
                          <a:cs typeface="+mn-cs"/>
                        </a:rPr>
                        <a:t> Technologies</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131</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4.</a:t>
                      </a:r>
                      <a:r>
                        <a:rPr lang="en-US" altLang="zh-CN" sz="900" b="0" i="0" u="none" strike="noStrike" kern="1200" dirty="0">
                          <a:solidFill>
                            <a:srgbClr val="00863D"/>
                          </a:solidFill>
                          <a:effectLst/>
                          <a:latin typeface="Calibri" panose="020F0502020204030204" pitchFamily="34" charset="0"/>
                          <a:ea typeface="+mn-ea"/>
                          <a:cs typeface="+mn-cs"/>
                        </a:rPr>
                        <a:t>2</a:t>
                      </a:r>
                      <a:r>
                        <a:rPr lang="en-US" sz="900" b="0" i="0" u="none" strike="noStrike" kern="1200" dirty="0">
                          <a:solidFill>
                            <a:srgbClr val="00863D"/>
                          </a:solidFill>
                          <a:effectLst/>
                          <a:latin typeface="Calibri" panose="020F0502020204030204" pitchFamily="34" charset="0"/>
                          <a:ea typeface="+mn-ea"/>
                          <a:cs typeface="+mn-cs"/>
                        </a:rPr>
                        <a:t>%</a:t>
                      </a:r>
                    </a:p>
                  </a:txBody>
                  <a:tcPr marL="7620" marR="7620" marT="7620" marB="0" anchor="ctr">
                    <a:noFill/>
                  </a:tcP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38.0%</a:t>
                      </a:r>
                    </a:p>
                  </a:txBody>
                  <a:tcPr marL="7620" marR="7620" marT="7620" marB="0" anchor="ctr">
                    <a:noFill/>
                  </a:tcPr>
                </a:tc>
                <a:extLst>
                  <a:ext uri="{0D108BD9-81ED-4DB2-BD59-A6C34878D82A}">
                    <a16:rowId xmlns:a16="http://schemas.microsoft.com/office/drawing/2014/main" val="3452081624"/>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10</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23-Mar-26</a:t>
                      </a:r>
                    </a:p>
                  </a:txBody>
                  <a:tcPr marL="7620" marR="7620" marT="7620" marB="0" anchor="ctr">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3355</a:t>
                      </a:r>
                    </a:p>
                  </a:txBody>
                  <a:tcPr marL="7620" marR="7620" marT="7620" marB="0" anchor="ctr">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FS.com </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243</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13.</a:t>
                      </a:r>
                      <a:r>
                        <a:rPr lang="en-US" altLang="zh-CN" sz="900" b="0" i="0" u="none" strike="noStrike" kern="1200" dirty="0">
                          <a:solidFill>
                            <a:srgbClr val="00863D"/>
                          </a:solidFill>
                          <a:effectLst/>
                          <a:latin typeface="Calibri" panose="020F0502020204030204" pitchFamily="34" charset="0"/>
                          <a:ea typeface="+mn-ea"/>
                          <a:cs typeface="+mn-cs"/>
                        </a:rPr>
                        <a:t>6</a:t>
                      </a:r>
                      <a:r>
                        <a:rPr lang="en-US" sz="900" b="0" i="0" u="none" strike="noStrike" kern="1200" dirty="0">
                          <a:solidFill>
                            <a:srgbClr val="00863D"/>
                          </a:solidFill>
                          <a:effectLst/>
                          <a:latin typeface="Calibri" panose="020F0502020204030204" pitchFamily="34" charset="0"/>
                          <a:ea typeface="+mn-ea"/>
                          <a:cs typeface="+mn-cs"/>
                        </a:rPr>
                        <a:t>%</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4.1%</a:t>
                      </a:r>
                    </a:p>
                  </a:txBody>
                  <a:tcPr marL="7620" marR="7620" marT="7620" marB="0" anchor="ctr">
                    <a:solidFill>
                      <a:srgbClr val="F0F0F0"/>
                    </a:solidFill>
                  </a:tcPr>
                </a:tc>
                <a:extLst>
                  <a:ext uri="{0D108BD9-81ED-4DB2-BD59-A6C34878D82A}">
                    <a16:rowId xmlns:a16="http://schemas.microsoft.com/office/drawing/2014/main" val="624934876"/>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11</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20-Mar-26</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1989</a:t>
                      </a:r>
                    </a:p>
                  </a:txBody>
                  <a:tcPr marL="7620" marR="7620" marT="7620" marB="0" anchor="ctr">
                    <a:no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Delton Technology</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422</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TMT</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33.</a:t>
                      </a:r>
                      <a:r>
                        <a:rPr lang="en-US" altLang="zh-CN" sz="900" b="0" i="0" u="none" strike="noStrike" kern="1200" dirty="0">
                          <a:solidFill>
                            <a:srgbClr val="00863D"/>
                          </a:solidFill>
                          <a:effectLst/>
                          <a:latin typeface="Calibri" panose="020F0502020204030204" pitchFamily="34" charset="0"/>
                          <a:ea typeface="+mn-ea"/>
                          <a:cs typeface="+mn-cs"/>
                        </a:rPr>
                        <a:t>6</a:t>
                      </a:r>
                      <a:r>
                        <a:rPr lang="en-US" sz="900" b="0" i="0" u="none" strike="noStrike" kern="1200" dirty="0">
                          <a:solidFill>
                            <a:srgbClr val="00863D"/>
                          </a:solidFill>
                          <a:effectLst/>
                          <a:latin typeface="Calibri" panose="020F0502020204030204" pitchFamily="34" charset="0"/>
                          <a:ea typeface="+mn-ea"/>
                          <a:cs typeface="+mn-cs"/>
                        </a:rPr>
                        <a:t>%</a:t>
                      </a:r>
                    </a:p>
                  </a:txBody>
                  <a:tcPr marL="7620" marR="7620" marT="7620" marB="0" anchor="ctr">
                    <a:noFill/>
                  </a:tcPr>
                </a:tc>
                <a:tc>
                  <a:txBody>
                    <a:bodyPr/>
                    <a:lstStyle/>
                    <a:p>
                      <a:pPr marL="0" algn="ctr" defTabSz="990570" rtl="0" eaLnBrk="1" fontAlgn="b" latinLnBrk="0" hangingPunct="1">
                        <a:buNone/>
                      </a:pPr>
                      <a:r>
                        <a:rPr lang="en-US" sz="900" b="0" i="0" u="none" strike="noStrike" kern="1200">
                          <a:solidFill>
                            <a:srgbClr val="00863D"/>
                          </a:solidFill>
                          <a:effectLst/>
                          <a:latin typeface="Calibri" panose="020F0502020204030204" pitchFamily="34" charset="0"/>
                          <a:ea typeface="Calibri" panose="020F0502020204030204" pitchFamily="34" charset="0"/>
                          <a:cs typeface="Calibri" panose="020F0502020204030204" pitchFamily="34" charset="0"/>
                        </a:rPr>
                        <a:t>139.3%</a:t>
                      </a:r>
                    </a:p>
                  </a:txBody>
                  <a:tcPr marL="7620" marR="7620" marT="7620" marB="0" anchor="ctr">
                    <a:noFill/>
                  </a:tcPr>
                </a:tc>
                <a:extLst>
                  <a:ext uri="{0D108BD9-81ED-4DB2-BD59-A6C34878D82A}">
                    <a16:rowId xmlns:a16="http://schemas.microsoft.com/office/drawing/2014/main" val="739642647"/>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12</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10-Mar-26</a:t>
                      </a:r>
                    </a:p>
                  </a:txBody>
                  <a:tcPr marL="7620" marR="7620" marT="7620" marB="0" anchor="ctr">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3268</a:t>
                      </a:r>
                    </a:p>
                  </a:txBody>
                  <a:tcPr marL="7620" marR="7620" marT="7620" marB="0" anchor="ctr">
                    <a:solidFill>
                      <a:srgbClr val="F0F0F0"/>
                    </a:solidFill>
                  </a:tcPr>
                </a:tc>
                <a:tc>
                  <a:txBody>
                    <a:bodyPr/>
                    <a:lstStyle/>
                    <a:p>
                      <a:pPr algn="ctr" fontAlgn="ctr">
                        <a:buNone/>
                      </a:pPr>
                      <a:r>
                        <a:rPr lang="en-US" sz="900" b="0" i="0" u="none" strike="noStrike" kern="1200" dirty="0" err="1">
                          <a:solidFill>
                            <a:schemeClr val="tx1"/>
                          </a:solidFill>
                          <a:effectLst/>
                          <a:latin typeface="Calibri" panose="020F0502020204030204" pitchFamily="34" charset="0"/>
                          <a:ea typeface="+mn-ea"/>
                          <a:cs typeface="+mn-cs"/>
                        </a:rPr>
                        <a:t>MeiG</a:t>
                      </a:r>
                      <a:r>
                        <a:rPr lang="en-US" sz="900" b="0" i="0" u="none" strike="noStrike" kern="1200" dirty="0">
                          <a:solidFill>
                            <a:schemeClr val="tx1"/>
                          </a:solidFill>
                          <a:effectLst/>
                          <a:latin typeface="Calibri" panose="020F0502020204030204" pitchFamily="34" charset="0"/>
                          <a:ea typeface="+mn-ea"/>
                          <a:cs typeface="+mn-cs"/>
                        </a:rPr>
                        <a:t> Smart Technology </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149</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1.5%</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-11.6%</a:t>
                      </a:r>
                    </a:p>
                  </a:txBody>
                  <a:tcPr marL="7620" marR="7620" marT="7620" marB="0" anchor="ctr">
                    <a:solidFill>
                      <a:srgbClr val="F0F0F0"/>
                    </a:solidFill>
                  </a:tcPr>
                </a:tc>
                <a:extLst>
                  <a:ext uri="{0D108BD9-81ED-4DB2-BD59-A6C34878D82A}">
                    <a16:rowId xmlns:a16="http://schemas.microsoft.com/office/drawing/2014/main" val="4288369050"/>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13</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09-Mar-26</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2715</a:t>
                      </a:r>
                    </a:p>
                  </a:txBody>
                  <a:tcPr marL="7620" marR="7620" marT="7620" marB="0" anchor="ctr">
                    <a:noFill/>
                  </a:tcPr>
                </a:tc>
                <a:tc>
                  <a:txBody>
                    <a:bodyPr/>
                    <a:lstStyle/>
                    <a:p>
                      <a:pPr algn="ctr" fontAlgn="ctr">
                        <a:buNone/>
                      </a:pPr>
                      <a:r>
                        <a:rPr lang="en-US" sz="900" b="0" i="0" u="none" strike="noStrike" kern="1200" dirty="0" err="1">
                          <a:solidFill>
                            <a:schemeClr val="tx1"/>
                          </a:solidFill>
                          <a:effectLst/>
                          <a:latin typeface="Calibri" panose="020F0502020204030204" pitchFamily="34" charset="0"/>
                          <a:ea typeface="+mn-ea"/>
                          <a:cs typeface="+mn-cs"/>
                        </a:rPr>
                        <a:t>Estun</a:t>
                      </a:r>
                      <a:r>
                        <a:rPr lang="en-US" sz="900" b="0" i="0" u="none" strike="noStrike" kern="1200" dirty="0">
                          <a:solidFill>
                            <a:schemeClr val="tx1"/>
                          </a:solidFill>
                          <a:effectLst/>
                          <a:latin typeface="Calibri" panose="020F0502020204030204" pitchFamily="34" charset="0"/>
                          <a:ea typeface="+mn-ea"/>
                          <a:cs typeface="+mn-cs"/>
                        </a:rPr>
                        <a:t> Automation</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190</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Industrials</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rgbClr val="FF0000"/>
                          </a:solidFill>
                          <a:effectLst/>
                          <a:latin typeface="Calibri" panose="020F0502020204030204" pitchFamily="34" charset="0"/>
                          <a:ea typeface="+mn-ea"/>
                          <a:cs typeface="+mn-cs"/>
                        </a:rPr>
                        <a:t>-16.0%</a:t>
                      </a:r>
                    </a:p>
                  </a:txBody>
                  <a:tcPr marL="7620" marR="7620" marT="7620" marB="0" anchor="ctr">
                    <a:noFill/>
                  </a:tcPr>
                </a:tc>
                <a:tc>
                  <a:txBody>
                    <a:bodyPr/>
                    <a:lstStyle/>
                    <a:p>
                      <a:pPr marL="0" algn="ctr" defTabSz="990570" rtl="0" eaLnBrk="1" fontAlgn="b" latinLnBrk="0" hangingPunct="1">
                        <a:buNone/>
                      </a:pPr>
                      <a:r>
                        <a:rPr lang="en-US" sz="900" b="0" i="0" u="none" strike="noStrike" kern="12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-0.4%</a:t>
                      </a:r>
                    </a:p>
                  </a:txBody>
                  <a:tcPr marL="7620" marR="7620" marT="7620" marB="0" anchor="ctr">
                    <a:noFill/>
                  </a:tcPr>
                </a:tc>
                <a:extLst>
                  <a:ext uri="{0D108BD9-81ED-4DB2-BD59-A6C34878D82A}">
                    <a16:rowId xmlns:a16="http://schemas.microsoft.com/office/drawing/2014/main" val="4199899448"/>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14</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09-Mar-26</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2692</a:t>
                      </a:r>
                    </a:p>
                  </a:txBody>
                  <a:tcPr marL="7620" marR="7620" marT="7620" marB="0" anchor="ctr">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Shenzhen </a:t>
                      </a:r>
                      <a:r>
                        <a:rPr lang="en-US" sz="900" b="0" i="0" u="none" strike="noStrike" kern="1200" dirty="0" err="1">
                          <a:solidFill>
                            <a:schemeClr val="tx1"/>
                          </a:solidFill>
                          <a:effectLst/>
                          <a:latin typeface="Calibri" panose="020F0502020204030204" pitchFamily="34" charset="0"/>
                          <a:ea typeface="+mn-ea"/>
                          <a:cs typeface="+mn-cs"/>
                        </a:rPr>
                        <a:t>Zhaowei</a:t>
                      </a:r>
                      <a:endParaRPr lang="en-US" sz="900" b="0" i="0" u="none" strike="noStrike" kern="1200" dirty="0">
                        <a:solidFill>
                          <a:schemeClr val="tx1"/>
                        </a:solidFill>
                        <a:effectLst/>
                        <a:latin typeface="Calibri" panose="020F0502020204030204" pitchFamily="34" charset="0"/>
                        <a:ea typeface="+mn-ea"/>
                        <a:cs typeface="+mn-cs"/>
                      </a:endParaRP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244</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Industrials</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2.4%</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3.5%</a:t>
                      </a:r>
                    </a:p>
                  </a:txBody>
                  <a:tcPr marL="7620" marR="7620" marT="7620" marB="0" anchor="ctr">
                    <a:solidFill>
                      <a:srgbClr val="F0F0F0"/>
                    </a:solidFill>
                  </a:tcPr>
                </a:tc>
                <a:extLst>
                  <a:ext uri="{0D108BD9-81ED-4DB2-BD59-A6C34878D82A}">
                    <a16:rowId xmlns:a16="http://schemas.microsoft.com/office/drawing/2014/main" val="320559212"/>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15</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09-Mar-26</a:t>
                      </a:r>
                    </a:p>
                  </a:txBody>
                  <a:tcPr marL="7620" marR="7620" marT="7620" marB="0" anchor="ctr">
                    <a:no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2649</a:t>
                      </a:r>
                    </a:p>
                  </a:txBody>
                  <a:tcPr marL="7620" marR="7620" marT="7620" marB="0" anchor="ctr">
                    <a:no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ALSCO Pooling </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29</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Industrials</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rgbClr val="FF0000"/>
                          </a:solidFill>
                          <a:effectLst/>
                          <a:latin typeface="Calibri" panose="020F0502020204030204" pitchFamily="34" charset="0"/>
                          <a:ea typeface="+mn-ea"/>
                          <a:cs typeface="+mn-cs"/>
                        </a:rPr>
                        <a:t>-43.6%</a:t>
                      </a:r>
                    </a:p>
                  </a:txBody>
                  <a:tcPr marL="7620" marR="7620" marT="7620" marB="0" anchor="ctr">
                    <a:noFill/>
                  </a:tcPr>
                </a:tc>
                <a:tc>
                  <a:txBody>
                    <a:bodyPr/>
                    <a:lstStyle/>
                    <a:p>
                      <a:pPr marL="0" algn="ctr" defTabSz="990570" rtl="0" eaLnBrk="1" fontAlgn="b" latinLnBrk="0" hangingPunct="1">
                        <a:buNone/>
                      </a:pPr>
                      <a:r>
                        <a:rPr lang="en-US" sz="900" b="0" i="0" u="none" strike="noStrike" kern="12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-64.6%</a:t>
                      </a:r>
                    </a:p>
                  </a:txBody>
                  <a:tcPr marL="7620" marR="7620" marT="7620" marB="0" anchor="ctr">
                    <a:noFill/>
                  </a:tcPr>
                </a:tc>
                <a:extLst>
                  <a:ext uri="{0D108BD9-81ED-4DB2-BD59-A6C34878D82A}">
                    <a16:rowId xmlns:a16="http://schemas.microsoft.com/office/drawing/2014/main" val="3630939319"/>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16</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13-Feb-26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2706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Beijing </a:t>
                      </a:r>
                      <a:r>
                        <a:rPr lang="en-US" sz="900" b="0" i="0" u="none" strike="noStrike" kern="1200" dirty="0" err="1">
                          <a:solidFill>
                            <a:schemeClr val="tx1"/>
                          </a:solidFill>
                          <a:effectLst/>
                          <a:latin typeface="Calibri" panose="020F0502020204030204" pitchFamily="34" charset="0"/>
                          <a:ea typeface="+mn-ea"/>
                          <a:cs typeface="+mn-cs"/>
                        </a:rPr>
                        <a:t>Haizhi</a:t>
                      </a:r>
                      <a:r>
                        <a:rPr lang="en-US" sz="900" b="0" i="0" u="none" strike="noStrike" kern="1200" dirty="0">
                          <a:solidFill>
                            <a:schemeClr val="tx1"/>
                          </a:solidFill>
                          <a:effectLst/>
                          <a:latin typeface="Calibri" panose="020F0502020204030204" pitchFamily="34" charset="0"/>
                          <a:ea typeface="+mn-ea"/>
                          <a:cs typeface="+mn-cs"/>
                        </a:rPr>
                        <a:t> Technology</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97</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TMT</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242.2%</a:t>
                      </a:r>
                    </a:p>
                  </a:txBody>
                  <a:tcPr marL="7620" marR="7620" marT="7620" marB="0" anchor="ctr">
                    <a:solidFill>
                      <a:schemeClr val="bg2">
                        <a:lumMod val="20000"/>
                        <a:lumOff val="80000"/>
                      </a:schemeClr>
                    </a:solidFill>
                  </a:tcP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115.1%</a:t>
                      </a:r>
                    </a:p>
                  </a:txBody>
                  <a:tcPr marL="7620" marR="7620" marT="7620" marB="0" anchor="ctr">
                    <a:solidFill>
                      <a:schemeClr val="bg2">
                        <a:lumMod val="20000"/>
                        <a:lumOff val="80000"/>
                      </a:schemeClr>
                    </a:solidFill>
                  </a:tcPr>
                </a:tc>
                <a:extLst>
                  <a:ext uri="{0D108BD9-81ED-4DB2-BD59-A6C34878D82A}">
                    <a16:rowId xmlns:a16="http://schemas.microsoft.com/office/drawing/2014/main" val="3277418947"/>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17</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13-Feb-26</a:t>
                      </a:r>
                    </a:p>
                  </a:txBody>
                  <a:tcPr marL="7620" marR="7620" marT="7620" marB="0" anchor="ctr">
                    <a:no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9981</a:t>
                      </a:r>
                    </a:p>
                  </a:txBody>
                  <a:tcPr marL="7620" marR="7620" marT="7620" marB="0" anchor="ctr">
                    <a:no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Shenzhen Woer</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360</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TMT</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2.9%</a:t>
                      </a:r>
                    </a:p>
                  </a:txBody>
                  <a:tcPr marL="7620" marR="7620" marT="7620" marB="0" anchor="ctr">
                    <a:noFill/>
                  </a:tcPr>
                </a:tc>
                <a:tc>
                  <a:txBody>
                    <a:bodyPr/>
                    <a:lstStyle/>
                    <a:p>
                      <a:pPr marL="0" algn="ctr" defTabSz="990570" rtl="0" eaLnBrk="1" fontAlgn="b" latinLnBrk="0" hangingPunct="1">
                        <a:buNone/>
                      </a:pPr>
                      <a:r>
                        <a:rPr lang="en-US" sz="900" b="0" i="0" u="none" strike="noStrike" kern="12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-26.9%</a:t>
                      </a:r>
                    </a:p>
                  </a:txBody>
                  <a:tcPr marL="7620" marR="7620" marT="7620" marB="0" anchor="ctr">
                    <a:noFill/>
                  </a:tcPr>
                </a:tc>
                <a:extLst>
                  <a:ext uri="{0D108BD9-81ED-4DB2-BD59-A6C34878D82A}">
                    <a16:rowId xmlns:a16="http://schemas.microsoft.com/office/drawing/2014/main" val="1713625894"/>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18</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11-Feb-26</a:t>
                      </a:r>
                    </a:p>
                  </a:txBody>
                  <a:tcPr marL="7620" marR="7620" marT="7620" marB="0" anchor="ctr">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470</a:t>
                      </a:r>
                    </a:p>
                  </a:txBody>
                  <a:tcPr marL="7620" marR="7620" marT="7620" marB="0" anchor="ctr">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Wuxi Lead Intelligent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633</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Industrials</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0.0%</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15.1%</a:t>
                      </a:r>
                    </a:p>
                  </a:txBody>
                  <a:tcPr marL="7620" marR="7620" marT="7620" marB="0" anchor="ctr">
                    <a:solidFill>
                      <a:srgbClr val="F0F0F0"/>
                    </a:solidFill>
                  </a:tcPr>
                </a:tc>
                <a:extLst>
                  <a:ext uri="{0D108BD9-81ED-4DB2-BD59-A6C34878D82A}">
                    <a16:rowId xmlns:a16="http://schemas.microsoft.com/office/drawing/2014/main" val="3376896728"/>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19</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10-Feb-26</a:t>
                      </a:r>
                    </a:p>
                  </a:txBody>
                  <a:tcPr marL="7620" marR="7620" marT="7620" marB="0" anchor="ctr">
                    <a:no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2720</a:t>
                      </a:r>
                    </a:p>
                  </a:txBody>
                  <a:tcPr marL="7620" marR="7620" marT="7620" marB="0" anchor="ctr">
                    <a:no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Ridge Outdoor International</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44</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Consumer</a:t>
                      </a:r>
                    </a:p>
                  </a:txBody>
                  <a:tcPr marL="7620" marR="7620" marT="7620" marB="0" anchor="ctr">
                    <a:noFill/>
                  </a:tcPr>
                </a:tc>
                <a:tc>
                  <a:txBody>
                    <a:bodyPr/>
                    <a:lstStyle/>
                    <a:p>
                      <a:pPr marL="0" algn="ctr" defTabSz="990570" rtl="0" eaLnBrk="1" fontAlgn="ctr" latinLnBrk="0" hangingPunct="1">
                        <a:buNone/>
                      </a:pPr>
                      <a:r>
                        <a:rPr lang="en-US" sz="900" b="0" i="0" u="none" strike="noStrike" kern="1200" dirty="0">
                          <a:solidFill>
                            <a:srgbClr val="00863D"/>
                          </a:solidFill>
                          <a:effectLst/>
                          <a:latin typeface="Calibri" panose="020F0502020204030204" pitchFamily="34" charset="0"/>
                          <a:ea typeface="+mn-ea"/>
                          <a:cs typeface="+mn-cs"/>
                        </a:rPr>
                        <a:t>102.</a:t>
                      </a:r>
                      <a:r>
                        <a:rPr lang="en-US" altLang="zh-CN" sz="900" b="0" i="0" u="none" strike="noStrike" kern="1200" dirty="0">
                          <a:solidFill>
                            <a:srgbClr val="00863D"/>
                          </a:solidFill>
                          <a:effectLst/>
                          <a:latin typeface="Calibri" panose="020F0502020204030204" pitchFamily="34" charset="0"/>
                          <a:ea typeface="+mn-ea"/>
                          <a:cs typeface="+mn-cs"/>
                        </a:rPr>
                        <a:t>3</a:t>
                      </a:r>
                      <a:r>
                        <a:rPr lang="en-US" sz="900" b="0" i="0" u="none" strike="noStrike" kern="1200" dirty="0">
                          <a:solidFill>
                            <a:srgbClr val="00863D"/>
                          </a:solidFill>
                          <a:effectLst/>
                          <a:latin typeface="Calibri" panose="020F0502020204030204" pitchFamily="34" charset="0"/>
                          <a:ea typeface="+mn-ea"/>
                          <a:cs typeface="+mn-cs"/>
                        </a:rPr>
                        <a:t>%</a:t>
                      </a:r>
                    </a:p>
                  </a:txBody>
                  <a:tcPr marL="7620" marR="7620" marT="7620" marB="0" anchor="ctr">
                    <a:noFill/>
                  </a:tcPr>
                </a:tc>
                <a:tc>
                  <a:txBody>
                    <a:bodyPr/>
                    <a:lstStyle/>
                    <a:p>
                      <a:pPr marL="0" algn="ctr" defTabSz="990570" rtl="0" eaLnBrk="1" fontAlgn="b" latinLnBrk="0" hangingPunct="1">
                        <a:buNone/>
                      </a:pPr>
                      <a:r>
                        <a:rPr lang="en-US" sz="900" b="0" i="0" u="none" strike="noStrike" kern="1200" dirty="0">
                          <a:solidFill>
                            <a:srgbClr val="00863D"/>
                          </a:solidFill>
                          <a:effectLst/>
                          <a:latin typeface="Calibri" panose="020F0502020204030204" pitchFamily="34" charset="0"/>
                          <a:ea typeface="Calibri" panose="020F0502020204030204" pitchFamily="34" charset="0"/>
                          <a:cs typeface="Calibri" panose="020F0502020204030204" pitchFamily="34" charset="0"/>
                        </a:rPr>
                        <a:t>98.9%</a:t>
                      </a:r>
                    </a:p>
                  </a:txBody>
                  <a:tcPr marL="7620" marR="7620" marT="7620" marB="0" anchor="ctr">
                    <a:noFill/>
                  </a:tcPr>
                </a:tc>
                <a:extLst>
                  <a:ext uri="{0D108BD9-81ED-4DB2-BD59-A6C34878D82A}">
                    <a16:rowId xmlns:a16="http://schemas.microsoft.com/office/drawing/2014/main" val="1943764940"/>
                  </a:ext>
                </a:extLst>
              </a:tr>
              <a:tr h="215437">
                <a:tc>
                  <a:txBody>
                    <a:bodyPr/>
                    <a:lstStyle/>
                    <a:p>
                      <a:pPr marL="0" algn="ctr" defTabSz="990570" rtl="0" eaLnBrk="1" fontAlgn="b" latinLnBrk="0" hangingPunct="1"/>
                      <a:r>
                        <a:rPr lang="en-US" sz="900" b="0" i="0" u="none" strike="noStrike" kern="1200" dirty="0">
                          <a:solidFill>
                            <a:srgbClr val="000000"/>
                          </a:solidFill>
                          <a:effectLst/>
                          <a:latin typeface="+mj-lt"/>
                          <a:ea typeface="+mn-ea"/>
                          <a:cs typeface="+mn-cs"/>
                        </a:rPr>
                        <a:t>20</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10-Feb-26</a:t>
                      </a:r>
                    </a:p>
                  </a:txBody>
                  <a:tcPr marL="7620" marR="7620" marT="7620" marB="0" anchor="ctr">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600</a:t>
                      </a:r>
                    </a:p>
                  </a:txBody>
                  <a:tcPr marL="7620" marR="7620" marT="7620" marB="0" anchor="ctr">
                    <a:solidFill>
                      <a:srgbClr val="F0F0F0"/>
                    </a:solidFill>
                  </a:tcPr>
                </a:tc>
                <a:tc>
                  <a:txBody>
                    <a:bodyPr/>
                    <a:lstStyle/>
                    <a:p>
                      <a:pPr algn="ctr" fontAlgn="ctr">
                        <a:buNone/>
                      </a:pPr>
                      <a:r>
                        <a:rPr lang="en-US" sz="900" b="0" i="0" u="none" strike="noStrike" kern="1200" dirty="0">
                          <a:solidFill>
                            <a:schemeClr val="tx1"/>
                          </a:solidFill>
                          <a:effectLst/>
                          <a:latin typeface="Calibri" panose="020F0502020204030204" pitchFamily="34" charset="0"/>
                          <a:ea typeface="+mn-ea"/>
                          <a:cs typeface="+mn-cs"/>
                        </a:rPr>
                        <a:t>Axera Semiconductor</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383</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TMT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dirty="0">
                          <a:solidFill>
                            <a:schemeClr val="tx1"/>
                          </a:solidFill>
                          <a:effectLst/>
                          <a:latin typeface="Calibri" panose="020F0502020204030204" pitchFamily="34" charset="0"/>
                          <a:ea typeface="+mn-ea"/>
                          <a:cs typeface="+mn-cs"/>
                        </a:rPr>
                        <a:t>0.0%</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-25.2%</a:t>
                      </a:r>
                    </a:p>
                  </a:txBody>
                  <a:tcPr marL="7620" marR="7620" marT="7620" marB="0" anchor="ctr">
                    <a:solidFill>
                      <a:srgbClr val="F0F0F0"/>
                    </a:solidFill>
                  </a:tcPr>
                </a:tc>
                <a:extLst>
                  <a:ext uri="{0D108BD9-81ED-4DB2-BD59-A6C34878D82A}">
                    <a16:rowId xmlns:a16="http://schemas.microsoft.com/office/drawing/2014/main" val="1488604654"/>
                  </a:ext>
                </a:extLst>
              </a:tr>
              <a:tr h="215437">
                <a:tc>
                  <a:txBody>
                    <a:bodyPr/>
                    <a:lstStyle/>
                    <a:p>
                      <a:pPr algn="ctr" rtl="0" fontAlgn="b"/>
                      <a:endParaRPr lang="en-US" sz="900" b="0" i="0" u="none" strike="noStrike" dirty="0">
                        <a:solidFill>
                          <a:srgbClr val="000000"/>
                        </a:solidFill>
                        <a:effectLst/>
                        <a:latin typeface="+mj-lt"/>
                      </a:endParaRPr>
                    </a:p>
                  </a:txBody>
                  <a:tcPr marL="0" marR="0" marT="0" marB="0" anchor="ctr">
                    <a:solidFill>
                      <a:srgbClr val="FAD0A9"/>
                    </a:solidFill>
                  </a:tcPr>
                </a:tc>
                <a:tc>
                  <a:txBody>
                    <a:bodyPr/>
                    <a:lstStyle/>
                    <a:p>
                      <a:pPr algn="ctr" rtl="0" fontAlgn="b"/>
                      <a:endParaRPr lang="en-US" sz="900" b="0" i="0" u="none" strike="noStrike" dirty="0">
                        <a:solidFill>
                          <a:srgbClr val="000000"/>
                        </a:solidFill>
                        <a:effectLst/>
                        <a:latin typeface="+mj-lt"/>
                      </a:endParaRPr>
                    </a:p>
                  </a:txBody>
                  <a:tcPr marL="0" marR="0" marT="0" marB="0" anchor="ctr">
                    <a:solidFill>
                      <a:srgbClr val="FAD0A9"/>
                    </a:solidFill>
                  </a:tcPr>
                </a:tc>
                <a:tc>
                  <a:txBody>
                    <a:bodyPr/>
                    <a:lstStyle/>
                    <a:p>
                      <a:pPr algn="ctr" rtl="0" fontAlgn="b"/>
                      <a:endParaRPr lang="en-US" sz="900" b="0" i="0" u="none" strike="noStrike" dirty="0">
                        <a:solidFill>
                          <a:srgbClr val="000000"/>
                        </a:solidFill>
                        <a:effectLst/>
                        <a:latin typeface="+mj-lt"/>
                      </a:endParaRPr>
                    </a:p>
                  </a:txBody>
                  <a:tcPr marL="0" marR="0" marT="0" marB="0" anchor="ctr">
                    <a:solidFill>
                      <a:srgbClr val="FAD0A9"/>
                    </a:solidFill>
                  </a:tcPr>
                </a:tc>
                <a:tc>
                  <a:txBody>
                    <a:bodyPr/>
                    <a:lstStyle/>
                    <a:p>
                      <a:pPr algn="ctr" rtl="0" fontAlgn="b"/>
                      <a:r>
                        <a:rPr lang="en-US" sz="900" b="0" i="0" u="none" strike="noStrike" kern="1200" dirty="0">
                          <a:solidFill>
                            <a:schemeClr val="tx1"/>
                          </a:solidFill>
                          <a:effectLst/>
                          <a:latin typeface="Calibri" panose="020F0502020204030204" pitchFamily="34" charset="0"/>
                          <a:ea typeface="+mn-ea"/>
                          <a:cs typeface="+mn-cs"/>
                        </a:rPr>
                        <a:t>Average</a:t>
                      </a:r>
                    </a:p>
                  </a:txBody>
                  <a:tcPr marL="0" marR="0" marT="0" marB="0" anchor="ctr">
                    <a:solidFill>
                      <a:srgbClr val="FAD0A9"/>
                    </a:solidFill>
                  </a:tcPr>
                </a:tc>
                <a:tc>
                  <a:txBody>
                    <a:bodyPr/>
                    <a:lstStyle/>
                    <a:p>
                      <a:pPr algn="ctr" fontAlgn="b"/>
                      <a:r>
                        <a:rPr lang="en-US" altLang="zh-CN" sz="900" b="1" i="0" u="none" strike="noStrike" kern="1200" dirty="0">
                          <a:solidFill>
                            <a:schemeClr val="tx1"/>
                          </a:solidFill>
                          <a:effectLst/>
                          <a:latin typeface="+mj-lt"/>
                          <a:ea typeface="+mn-ea"/>
                          <a:cs typeface="+mn-cs"/>
                        </a:rPr>
                        <a:t>189</a:t>
                      </a:r>
                      <a:endParaRPr lang="en-US" sz="900" b="1" i="0" u="none" strike="noStrike" kern="1200" dirty="0">
                        <a:solidFill>
                          <a:schemeClr val="tx1"/>
                        </a:solidFill>
                        <a:effectLst/>
                        <a:latin typeface="+mj-lt"/>
                        <a:ea typeface="+mn-ea"/>
                        <a:cs typeface="+mn-cs"/>
                      </a:endParaRPr>
                    </a:p>
                  </a:txBody>
                  <a:tcPr marL="6350" marR="6350" marT="6350" marB="0" anchor="ctr">
                    <a:solidFill>
                      <a:srgbClr val="FAD0A9"/>
                    </a:solidFill>
                  </a:tcPr>
                </a:tc>
                <a:tc>
                  <a:txBody>
                    <a:bodyPr/>
                    <a:lstStyle/>
                    <a:p>
                      <a:pPr algn="ctr" rtl="0" fontAlgn="b"/>
                      <a:endParaRPr lang="en-US" sz="900" b="1" i="0" u="none" strike="noStrike" kern="1200" dirty="0">
                        <a:solidFill>
                          <a:schemeClr val="tx1"/>
                        </a:solidFill>
                        <a:effectLst/>
                        <a:latin typeface="+mj-lt"/>
                        <a:ea typeface="+mn-ea"/>
                        <a:cs typeface="+mn-cs"/>
                      </a:endParaRPr>
                    </a:p>
                  </a:txBody>
                  <a:tcPr marL="0" marR="0" marT="0" marB="0" anchor="ctr">
                    <a:solidFill>
                      <a:srgbClr val="FAD0A9"/>
                    </a:solidFill>
                  </a:tcPr>
                </a:tc>
                <a:tc>
                  <a:txBody>
                    <a:bodyPr/>
                    <a:lstStyle/>
                    <a:p>
                      <a:pPr marL="0" algn="ctr" defTabSz="990570" rtl="0" eaLnBrk="1" fontAlgn="ctr" latinLnBrk="0" hangingPunct="1"/>
                      <a:r>
                        <a:rPr lang="en-US" altLang="zh-CN" sz="900" b="1" i="0" u="none" strike="noStrike" kern="1200" dirty="0">
                          <a:solidFill>
                            <a:schemeClr val="tx1"/>
                          </a:solidFill>
                          <a:effectLst/>
                          <a:latin typeface="+mj-lt"/>
                          <a:ea typeface="+mn-ea"/>
                          <a:cs typeface="+mn-cs"/>
                        </a:rPr>
                        <a:t>37.3</a:t>
                      </a:r>
                      <a:r>
                        <a:rPr lang="en-US" sz="900" b="1" i="0" u="none" strike="noStrike" kern="1200" dirty="0">
                          <a:solidFill>
                            <a:schemeClr val="tx1"/>
                          </a:solidFill>
                          <a:effectLst/>
                          <a:latin typeface="+mj-lt"/>
                          <a:ea typeface="+mn-ea"/>
                          <a:cs typeface="+mn-cs"/>
                        </a:rPr>
                        <a:t>%</a:t>
                      </a:r>
                    </a:p>
                  </a:txBody>
                  <a:tcPr marL="0" marR="0" marT="0" marB="0" anchor="ctr">
                    <a:solidFill>
                      <a:srgbClr val="FAD0A9"/>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lang="en-US" altLang="zh-CN" sz="900" b="1" i="0" u="none" strike="noStrike" kern="1200" dirty="0">
                          <a:solidFill>
                            <a:schemeClr val="tx1"/>
                          </a:solidFill>
                          <a:effectLst/>
                          <a:latin typeface="+mj-lt"/>
                          <a:ea typeface="+mn-ea"/>
                          <a:cs typeface="+mn-cs"/>
                        </a:rPr>
                        <a:t>54.1</a:t>
                      </a:r>
                      <a:r>
                        <a:rPr lang="en-US" sz="900" b="1" i="0" u="none" strike="noStrike" kern="1200" dirty="0">
                          <a:solidFill>
                            <a:schemeClr val="tx1"/>
                          </a:solidFill>
                          <a:effectLst/>
                          <a:latin typeface="+mj-lt"/>
                          <a:ea typeface="+mn-ea"/>
                          <a:cs typeface="+mn-cs"/>
                        </a:rPr>
                        <a:t>%</a:t>
                      </a:r>
                    </a:p>
                  </a:txBody>
                  <a:tcPr marL="0" marR="0" marT="0" marB="0" anchor="ctr">
                    <a:solidFill>
                      <a:srgbClr val="FAD0A9"/>
                    </a:solidFill>
                  </a:tcPr>
                </a:tc>
                <a:extLst>
                  <a:ext uri="{0D108BD9-81ED-4DB2-BD59-A6C34878D82A}">
                    <a16:rowId xmlns:a16="http://schemas.microsoft.com/office/drawing/2014/main" val="690324354"/>
                  </a:ext>
                </a:extLst>
              </a:tr>
              <a:tr h="215437">
                <a:tc>
                  <a:txBody>
                    <a:bodyPr/>
                    <a:lstStyle/>
                    <a:p>
                      <a:pPr algn="ctr" rtl="0" fontAlgn="b"/>
                      <a:endParaRPr lang="en-US" sz="900" b="0" i="0" u="none" strike="noStrike" dirty="0">
                        <a:solidFill>
                          <a:srgbClr val="000000"/>
                        </a:solidFill>
                        <a:effectLst/>
                        <a:latin typeface="+mj-lt"/>
                      </a:endParaRPr>
                    </a:p>
                  </a:txBody>
                  <a:tcPr marL="0" marR="0" marT="0" marB="0" anchor="ctr">
                    <a:solidFill>
                      <a:srgbClr val="FAD0A9"/>
                    </a:solidFill>
                  </a:tcPr>
                </a:tc>
                <a:tc>
                  <a:txBody>
                    <a:bodyPr/>
                    <a:lstStyle/>
                    <a:p>
                      <a:pPr algn="ctr" rtl="0" fontAlgn="b"/>
                      <a:endParaRPr lang="en-US" sz="900" b="0" i="0" u="none" strike="noStrike" dirty="0">
                        <a:solidFill>
                          <a:srgbClr val="000000"/>
                        </a:solidFill>
                        <a:effectLst/>
                        <a:latin typeface="+mj-lt"/>
                      </a:endParaRPr>
                    </a:p>
                  </a:txBody>
                  <a:tcPr marL="0" marR="0" marT="0" marB="0" anchor="ctr">
                    <a:solidFill>
                      <a:srgbClr val="FAD0A9"/>
                    </a:solidFill>
                  </a:tcPr>
                </a:tc>
                <a:tc>
                  <a:txBody>
                    <a:bodyPr/>
                    <a:lstStyle/>
                    <a:p>
                      <a:pPr algn="ctr" rtl="0" fontAlgn="b"/>
                      <a:endParaRPr lang="en-US" sz="900" b="0" i="0" u="none" strike="noStrike" dirty="0">
                        <a:solidFill>
                          <a:srgbClr val="000000"/>
                        </a:solidFill>
                        <a:effectLst/>
                        <a:latin typeface="+mj-lt"/>
                      </a:endParaRPr>
                    </a:p>
                  </a:txBody>
                  <a:tcPr marL="0" marR="0" marT="0" marB="0" anchor="ctr">
                    <a:solidFill>
                      <a:srgbClr val="FAD0A9"/>
                    </a:solidFill>
                  </a:tcPr>
                </a:tc>
                <a:tc>
                  <a:txBody>
                    <a:bodyPr/>
                    <a:lstStyle/>
                    <a:p>
                      <a:pPr algn="ctr" rtl="0" fontAlgn="b"/>
                      <a:r>
                        <a:rPr lang="en-US" sz="900" b="1" i="0" u="none" strike="noStrike" dirty="0">
                          <a:solidFill>
                            <a:srgbClr val="000000"/>
                          </a:solidFill>
                          <a:effectLst/>
                          <a:latin typeface="+mj-lt"/>
                        </a:rPr>
                        <a:t>Median</a:t>
                      </a:r>
                    </a:p>
                  </a:txBody>
                  <a:tcPr marL="0" marR="0" marT="0" marB="0" anchor="ctr">
                    <a:solidFill>
                      <a:srgbClr val="FAD0A9"/>
                    </a:solidFill>
                  </a:tcPr>
                </a:tc>
                <a:tc>
                  <a:txBody>
                    <a:bodyPr/>
                    <a:lstStyle/>
                    <a:p>
                      <a:pPr algn="ctr" fontAlgn="b"/>
                      <a:r>
                        <a:rPr lang="en-US" sz="900" b="1" i="0" u="none" strike="noStrike" kern="1200" dirty="0">
                          <a:solidFill>
                            <a:schemeClr val="tx1"/>
                          </a:solidFill>
                          <a:effectLst/>
                          <a:latin typeface="+mj-lt"/>
                          <a:ea typeface="+mn-ea"/>
                          <a:cs typeface="+mn-cs"/>
                        </a:rPr>
                        <a:t>1</a:t>
                      </a:r>
                      <a:r>
                        <a:rPr lang="en-US" altLang="zh-CN" sz="900" b="1" i="0" u="none" strike="noStrike" kern="1200" dirty="0">
                          <a:solidFill>
                            <a:schemeClr val="tx1"/>
                          </a:solidFill>
                          <a:effectLst/>
                          <a:latin typeface="+mj-lt"/>
                          <a:ea typeface="+mn-ea"/>
                          <a:cs typeface="+mn-cs"/>
                        </a:rPr>
                        <a:t>40</a:t>
                      </a:r>
                      <a:endParaRPr lang="en-US" sz="900" b="1" i="0" u="none" strike="noStrike" kern="1200" dirty="0">
                        <a:solidFill>
                          <a:schemeClr val="tx1"/>
                        </a:solidFill>
                        <a:effectLst/>
                        <a:latin typeface="+mj-lt"/>
                        <a:ea typeface="+mn-ea"/>
                        <a:cs typeface="+mn-cs"/>
                      </a:endParaRPr>
                    </a:p>
                  </a:txBody>
                  <a:tcPr marL="6350" marR="6350" marT="6350" marB="0" anchor="ctr">
                    <a:solidFill>
                      <a:srgbClr val="FAD0A9"/>
                    </a:solidFill>
                  </a:tcPr>
                </a:tc>
                <a:tc>
                  <a:txBody>
                    <a:bodyPr/>
                    <a:lstStyle/>
                    <a:p>
                      <a:pPr algn="ctr" rtl="0" fontAlgn="b"/>
                      <a:endParaRPr lang="en-US" sz="900" b="1" i="0" u="none" strike="noStrike" kern="1200" dirty="0">
                        <a:solidFill>
                          <a:schemeClr val="tx1"/>
                        </a:solidFill>
                        <a:effectLst/>
                        <a:latin typeface="+mj-lt"/>
                        <a:ea typeface="+mn-ea"/>
                        <a:cs typeface="+mn-cs"/>
                      </a:endParaRPr>
                    </a:p>
                  </a:txBody>
                  <a:tcPr marL="0" marR="0" marT="0" marB="0" anchor="ctr">
                    <a:solidFill>
                      <a:srgbClr val="FAD0A9"/>
                    </a:solidFill>
                  </a:tcPr>
                </a:tc>
                <a:tc>
                  <a:txBody>
                    <a:bodyPr/>
                    <a:lstStyle/>
                    <a:p>
                      <a:pPr marL="0" algn="ctr" defTabSz="990570" rtl="0" eaLnBrk="1" fontAlgn="ctr" latinLnBrk="0" hangingPunct="1"/>
                      <a:r>
                        <a:rPr lang="en-US" altLang="zh-CN" sz="900" b="1" i="0" u="none" strike="noStrike" kern="1200" dirty="0">
                          <a:solidFill>
                            <a:schemeClr val="tx1"/>
                          </a:solidFill>
                          <a:effectLst/>
                          <a:latin typeface="+mj-lt"/>
                          <a:ea typeface="+mn-ea"/>
                          <a:cs typeface="+mn-cs"/>
                        </a:rPr>
                        <a:t>6.2</a:t>
                      </a:r>
                      <a:r>
                        <a:rPr lang="en-US" sz="900" b="1" i="0" u="none" strike="noStrike" kern="1200" dirty="0">
                          <a:solidFill>
                            <a:schemeClr val="tx1"/>
                          </a:solidFill>
                          <a:effectLst/>
                          <a:latin typeface="+mj-lt"/>
                          <a:ea typeface="+mn-ea"/>
                          <a:cs typeface="+mn-cs"/>
                        </a:rPr>
                        <a:t>%</a:t>
                      </a:r>
                    </a:p>
                  </a:txBody>
                  <a:tcPr marL="0" marR="0" marT="0" marB="0" anchor="ctr">
                    <a:solidFill>
                      <a:srgbClr val="FAD0A9"/>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lang="en-US" altLang="zh-CN" sz="900" b="1" i="0" u="none" strike="noStrike" kern="1200" dirty="0">
                          <a:solidFill>
                            <a:schemeClr val="tx1"/>
                          </a:solidFill>
                          <a:effectLst/>
                          <a:latin typeface="+mj-lt"/>
                          <a:ea typeface="+mn-ea"/>
                          <a:cs typeface="+mn-cs"/>
                        </a:rPr>
                        <a:t>26.5</a:t>
                      </a:r>
                      <a:r>
                        <a:rPr lang="en-US" sz="900" b="1" i="0" u="none" strike="noStrike" kern="1200" dirty="0">
                          <a:solidFill>
                            <a:schemeClr val="tx1"/>
                          </a:solidFill>
                          <a:effectLst/>
                          <a:latin typeface="+mj-lt"/>
                          <a:ea typeface="+mn-ea"/>
                          <a:cs typeface="+mn-cs"/>
                        </a:rPr>
                        <a:t>%</a:t>
                      </a:r>
                    </a:p>
                  </a:txBody>
                  <a:tcPr marL="0" marR="0" marT="0" marB="0" anchor="ctr">
                    <a:solidFill>
                      <a:srgbClr val="FAD0A9"/>
                    </a:solidFill>
                  </a:tcPr>
                </a:tc>
                <a:extLst>
                  <a:ext uri="{0D108BD9-81ED-4DB2-BD59-A6C34878D82A}">
                    <a16:rowId xmlns:a16="http://schemas.microsoft.com/office/drawing/2014/main" val="840468331"/>
                  </a:ext>
                </a:extLst>
              </a:tr>
            </a:tbl>
          </a:graphicData>
        </a:graphic>
      </p:graphicFrame>
    </p:spTree>
    <p:extLst>
      <p:ext uri="{BB962C8B-B14F-4D97-AF65-F5344CB8AC3E}">
        <p14:creationId xmlns:p14="http://schemas.microsoft.com/office/powerpoint/2010/main" val="266194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BB7EEBE-C764-4080-3F4B-D1E612C90485}"/>
              </a:ext>
            </a:extLst>
          </p:cNvPr>
          <p:cNvSpPr>
            <a:spLocks noGrp="1"/>
          </p:cNvSpPr>
          <p:nvPr>
            <p:ph type="title"/>
          </p:nvPr>
        </p:nvSpPr>
        <p:spPr>
          <a:xfrm>
            <a:off x="725488" y="2641600"/>
            <a:ext cx="8504237" cy="430213"/>
          </a:xfrm>
        </p:spPr>
        <p:txBody>
          <a:bodyPr/>
          <a:lstStyle/>
          <a:p>
            <a:pPr defTabSz="990570" fontAlgn="auto">
              <a:spcAft>
                <a:spcPts val="0"/>
              </a:spcAft>
              <a:defRPr/>
            </a:pPr>
            <a:r>
              <a:rPr dirty="0">
                <a:cs typeface="+mj-cs"/>
              </a:rPr>
              <a:t>Appendix 2</a:t>
            </a:r>
          </a:p>
        </p:txBody>
      </p:sp>
      <p:sp>
        <p:nvSpPr>
          <p:cNvPr id="12" name="Text Placeholder 11">
            <a:extLst>
              <a:ext uri="{FF2B5EF4-FFF2-40B4-BE49-F238E27FC236}">
                <a16:creationId xmlns:a16="http://schemas.microsoft.com/office/drawing/2014/main" id="{AE0A6C8E-927A-75F4-6604-5C4326ED1DFE}"/>
              </a:ext>
            </a:extLst>
          </p:cNvPr>
          <p:cNvSpPr>
            <a:spLocks noGrp="1"/>
          </p:cNvSpPr>
          <p:nvPr>
            <p:ph type="body" sz="quarter" idx="11"/>
          </p:nvPr>
        </p:nvSpPr>
        <p:spPr>
          <a:xfrm>
            <a:off x="725488" y="3117850"/>
            <a:ext cx="8504237" cy="466725"/>
          </a:xfrm>
        </p:spPr>
        <p:txBody>
          <a:bodyPr rtlCol="0"/>
          <a:lstStyle/>
          <a:p>
            <a:pPr marL="247642" indent="-247642" defTabSz="990570">
              <a:tabLst>
                <a:tab pos="247642" algn="l"/>
              </a:tabLst>
              <a:defRPr/>
            </a:pPr>
            <a:r>
              <a:rPr dirty="0"/>
              <a:t>1Q 2026 Missed Deals</a:t>
            </a:r>
          </a:p>
        </p:txBody>
      </p:sp>
      <p:sp>
        <p:nvSpPr>
          <p:cNvPr id="2" name="Slide Number Placeholder 1">
            <a:extLst>
              <a:ext uri="{FF2B5EF4-FFF2-40B4-BE49-F238E27FC236}">
                <a16:creationId xmlns:a16="http://schemas.microsoft.com/office/drawing/2014/main" id="{65F50539-14D1-8D8D-BDC4-179BEC0C083D}"/>
              </a:ext>
            </a:extLst>
          </p:cNvPr>
          <p:cNvSpPr>
            <a:spLocks noGrp="1"/>
          </p:cNvSpPr>
          <p:nvPr>
            <p:ph type="sldNum" sz="quarter" idx="12"/>
          </p:nvPr>
        </p:nvSpPr>
        <p:spPr/>
        <p:txBody>
          <a:bodyPr/>
          <a:lstStyle/>
          <a:p>
            <a:pPr>
              <a:defRPr/>
            </a:pPr>
            <a:fld id="{0A72BECF-2DCF-4571-8AD6-783742354A8D}"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756" y="475756"/>
            <a:ext cx="9144000" cy="424732"/>
          </a:xfrm>
        </p:spPr>
        <p:txBody>
          <a:bodyPr/>
          <a:lstStyle/>
          <a:p>
            <a:r>
              <a:rPr lang="en-US" dirty="0"/>
              <a:t>1Q2026 Deals Summary – IPO</a:t>
            </a:r>
          </a:p>
        </p:txBody>
      </p:sp>
      <p:graphicFrame>
        <p:nvGraphicFramePr>
          <p:cNvPr id="17" name="Table 16">
            <a:extLst>
              <a:ext uri="{FF2B5EF4-FFF2-40B4-BE49-F238E27FC236}">
                <a16:creationId xmlns:a16="http://schemas.microsoft.com/office/drawing/2014/main" id="{304D2575-0DEF-4267-AA08-F6FDC53B2A54}"/>
              </a:ext>
            </a:extLst>
          </p:cNvPr>
          <p:cNvGraphicFramePr>
            <a:graphicFrameLocks noGrp="1"/>
          </p:cNvGraphicFramePr>
          <p:nvPr>
            <p:extLst>
              <p:ext uri="{D42A27DB-BD31-4B8C-83A1-F6EECF244321}">
                <p14:modId xmlns:p14="http://schemas.microsoft.com/office/powerpoint/2010/main" val="4217542347"/>
              </p:ext>
            </p:extLst>
          </p:nvPr>
        </p:nvGraphicFramePr>
        <p:xfrm>
          <a:off x="366680" y="3979005"/>
          <a:ext cx="4364197" cy="1934690"/>
        </p:xfrm>
        <a:graphic>
          <a:graphicData uri="http://schemas.openxmlformats.org/drawingml/2006/table">
            <a:tbl>
              <a:tblPr firstRow="1" bandRow="1">
                <a:tableStyleId>{5C22544A-7EE6-4342-B048-85BDC9FD1C3A}</a:tableStyleId>
              </a:tblPr>
              <a:tblGrid>
                <a:gridCol w="361490">
                  <a:extLst>
                    <a:ext uri="{9D8B030D-6E8A-4147-A177-3AD203B41FA5}">
                      <a16:colId xmlns:a16="http://schemas.microsoft.com/office/drawing/2014/main" val="3778908565"/>
                    </a:ext>
                  </a:extLst>
                </a:gridCol>
                <a:gridCol w="2057560">
                  <a:extLst>
                    <a:ext uri="{9D8B030D-6E8A-4147-A177-3AD203B41FA5}">
                      <a16:colId xmlns:a16="http://schemas.microsoft.com/office/drawing/2014/main" val="3812810555"/>
                    </a:ext>
                  </a:extLst>
                </a:gridCol>
                <a:gridCol w="546406">
                  <a:extLst>
                    <a:ext uri="{9D8B030D-6E8A-4147-A177-3AD203B41FA5}">
                      <a16:colId xmlns:a16="http://schemas.microsoft.com/office/drawing/2014/main" val="500530285"/>
                    </a:ext>
                  </a:extLst>
                </a:gridCol>
                <a:gridCol w="1398741">
                  <a:extLst>
                    <a:ext uri="{9D8B030D-6E8A-4147-A177-3AD203B41FA5}">
                      <a16:colId xmlns:a16="http://schemas.microsoft.com/office/drawing/2014/main" val="525576982"/>
                    </a:ext>
                  </a:extLst>
                </a:gridCol>
              </a:tblGrid>
              <a:tr h="330323">
                <a:tc>
                  <a:txBody>
                    <a:bodyPr/>
                    <a:lstStyle/>
                    <a:p>
                      <a:pPr algn="ctr"/>
                      <a:r>
                        <a:rPr lang="en-US" sz="1000" b="1" dirty="0">
                          <a:solidFill>
                            <a:schemeClr val="tx1"/>
                          </a:solidFill>
                          <a:latin typeface="+mn-lt"/>
                        </a:rPr>
                        <a:t>#</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00" b="1" dirty="0">
                          <a:solidFill>
                            <a:schemeClr val="tx1"/>
                          </a:solidFill>
                          <a:latin typeface="+mn-lt"/>
                        </a:rPr>
                        <a:t>Issuer</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latinLnBrk="0" hangingPunct="1"/>
                      <a:r>
                        <a:rPr lang="en-US" sz="1000" b="1" kern="1200" dirty="0" err="1">
                          <a:solidFill>
                            <a:schemeClr val="tx1"/>
                          </a:solidFill>
                          <a:latin typeface="+mn-lt"/>
                          <a:ea typeface="+mn-ea"/>
                          <a:cs typeface="+mn-cs"/>
                        </a:rPr>
                        <a:t>US$m</a:t>
                      </a:r>
                      <a:r>
                        <a:rPr lang="en-US" altLang="zh-CN" sz="1000" b="1" kern="1200" dirty="0" err="1">
                          <a:solidFill>
                            <a:schemeClr val="tx1"/>
                          </a:solidFill>
                          <a:latin typeface="+mn-lt"/>
                          <a:ea typeface="+mn-ea"/>
                          <a:cs typeface="+mn-cs"/>
                        </a:rPr>
                        <a:t>n</a:t>
                      </a:r>
                      <a:endParaRPr lang="en-US" sz="1000" b="1" kern="1200" dirty="0">
                        <a:solidFill>
                          <a:schemeClr val="tx1"/>
                        </a:solidFill>
                        <a:latin typeface="+mn-lt"/>
                        <a:ea typeface="+mn-ea"/>
                        <a:cs typeface="+mn-cs"/>
                      </a:endParaRP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latinLnBrk="0" hangingPunct="1"/>
                      <a:r>
                        <a:rPr lang="en-US" sz="1000" b="1" kern="1200" dirty="0">
                          <a:solidFill>
                            <a:schemeClr val="tx1"/>
                          </a:solidFill>
                          <a:latin typeface="+mn-lt"/>
                          <a:ea typeface="+mn-ea"/>
                          <a:cs typeface="+mn-cs"/>
                        </a:rPr>
                        <a:t>Sector</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162203070"/>
                  </a:ext>
                </a:extLst>
              </a:tr>
              <a:tr h="356116">
                <a:tc>
                  <a:txBody>
                    <a:bodyPr/>
                    <a:lstStyle/>
                    <a:p>
                      <a:pPr algn="ctr"/>
                      <a:r>
                        <a:rPr lang="en-US" sz="1000" dirty="0">
                          <a:solidFill>
                            <a:schemeClr val="tx1"/>
                          </a:solidFill>
                          <a:latin typeface="+mn-lt"/>
                        </a:rPr>
                        <a:t>1</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US" sz="1050" b="0" i="0" u="none" strike="noStrike">
                          <a:solidFill>
                            <a:srgbClr val="000000"/>
                          </a:solidFill>
                          <a:effectLst/>
                          <a:latin typeface="Aptos Narrow" panose="020B0004020202020204" pitchFamily="34" charset="0"/>
                        </a:rPr>
                        <a:t>Muyuan Foods Co Ltd</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000" b="0" i="0" u="none" strike="noStrike" dirty="0">
                          <a:solidFill>
                            <a:srgbClr val="000000"/>
                          </a:solidFill>
                          <a:effectLst/>
                          <a:latin typeface="Calibri" panose="020F0502020204030204" pitchFamily="34" charset="0"/>
                        </a:rPr>
                        <a:t>1,549 </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000" b="0" i="0" u="none" strike="noStrike" dirty="0">
                          <a:effectLst/>
                          <a:latin typeface="Calibri" panose="020F0502020204030204" pitchFamily="34" charset="0"/>
                        </a:rPr>
                        <a:t>Agribusiness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1337841"/>
                  </a:ext>
                </a:extLst>
              </a:tr>
              <a:tr h="312912">
                <a:tc>
                  <a:txBody>
                    <a:bodyPr/>
                    <a:lstStyle/>
                    <a:p>
                      <a:pPr algn="ctr"/>
                      <a:r>
                        <a:rPr lang="en-US" sz="1000" dirty="0">
                          <a:solidFill>
                            <a:schemeClr val="tx1"/>
                          </a:solidFill>
                          <a:latin typeface="+mn-lt"/>
                        </a:rPr>
                        <a:t>2</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050" b="0" i="0" u="none" strike="noStrike">
                          <a:solidFill>
                            <a:srgbClr val="000000"/>
                          </a:solidFill>
                          <a:effectLst/>
                          <a:latin typeface="Aptos Narrow" panose="020B0004020202020204" pitchFamily="34" charset="0"/>
                        </a:rPr>
                        <a:t>Eastroc Beverage (Group) Co Ltd</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00" b="0" i="0" u="none" strike="noStrike" dirty="0">
                          <a:solidFill>
                            <a:srgbClr val="000000"/>
                          </a:solidFill>
                          <a:effectLst/>
                          <a:latin typeface="Calibri" panose="020F0502020204030204" pitchFamily="34" charset="0"/>
                        </a:rPr>
                        <a:t>1,421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00" b="0" i="0" u="none" strike="noStrike" dirty="0">
                          <a:effectLst/>
                          <a:latin typeface="Calibri" panose="020F0502020204030204" pitchFamily="34" charset="0"/>
                        </a:rPr>
                        <a:t>Food &amp; Beverage</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6824368"/>
                  </a:ext>
                </a:extLst>
              </a:tr>
              <a:tr h="312912">
                <a:tc>
                  <a:txBody>
                    <a:bodyPr/>
                    <a:lstStyle/>
                    <a:p>
                      <a:pPr algn="ctr"/>
                      <a:r>
                        <a:rPr lang="en-US" sz="1000" dirty="0">
                          <a:solidFill>
                            <a:schemeClr val="tx1"/>
                          </a:solidFill>
                          <a:latin typeface="+mn-lt"/>
                        </a:rPr>
                        <a:t>3</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US" sz="1050" b="0" i="0" u="none" strike="noStrike">
                          <a:solidFill>
                            <a:srgbClr val="000000"/>
                          </a:solidFill>
                          <a:effectLst/>
                          <a:latin typeface="Aptos Narrow" panose="020B0004020202020204" pitchFamily="34" charset="0"/>
                        </a:rPr>
                        <a:t>Montage Technology Co Ltd</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000" b="0" i="0" u="none" strike="noStrike" dirty="0">
                          <a:solidFill>
                            <a:srgbClr val="000000"/>
                          </a:solidFill>
                          <a:effectLst/>
                          <a:latin typeface="Calibri" panose="020F0502020204030204" pitchFamily="34" charset="0"/>
                        </a:rPr>
                        <a:t>1,037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000" b="0" i="0" u="none" strike="noStrike" dirty="0">
                          <a:effectLst/>
                          <a:latin typeface="Calibri" panose="020F0502020204030204" pitchFamily="34" charset="0"/>
                        </a:rPr>
                        <a:t>TMT</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4467716"/>
                  </a:ext>
                </a:extLst>
              </a:tr>
              <a:tr h="312912">
                <a:tc>
                  <a:txBody>
                    <a:bodyPr/>
                    <a:lstStyle/>
                    <a:p>
                      <a:pPr algn="ctr"/>
                      <a:r>
                        <a:rPr lang="en-US" sz="1000" dirty="0">
                          <a:solidFill>
                            <a:schemeClr val="tx1"/>
                          </a:solidFill>
                          <a:latin typeface="+mn-lt"/>
                        </a:rPr>
                        <a:t>4</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US" sz="1050" b="0" i="0" u="none" strike="noStrike">
                          <a:solidFill>
                            <a:srgbClr val="000000"/>
                          </a:solidFill>
                          <a:effectLst/>
                          <a:latin typeface="Aptos Narrow" panose="020B0004020202020204" pitchFamily="34" charset="0"/>
                        </a:rPr>
                        <a:t>Biren Technology</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Calibri" panose="020F0502020204030204" pitchFamily="34" charset="0"/>
                        </a:rPr>
                        <a:t>825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DFKaiShu-GB5"/>
                          <a:cs typeface="+mn-cs"/>
                        </a:rPr>
                        <a:t>TMT</a:t>
                      </a:r>
                      <a:endPar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DFKaiShu-GB5"/>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896238"/>
                  </a:ext>
                </a:extLst>
              </a:tr>
              <a:tr h="309515">
                <a:tc>
                  <a:txBody>
                    <a:bodyPr/>
                    <a:lstStyle/>
                    <a:p>
                      <a:pPr algn="ctr"/>
                      <a:r>
                        <a:rPr lang="en-US" sz="1000" dirty="0">
                          <a:solidFill>
                            <a:schemeClr val="tx1"/>
                          </a:solidFill>
                          <a:latin typeface="+mn-lt"/>
                        </a:rPr>
                        <a:t>5</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US" sz="1050" b="0" i="0" u="none" strike="noStrike" dirty="0" err="1">
                          <a:solidFill>
                            <a:srgbClr val="000000"/>
                          </a:solidFill>
                          <a:effectLst/>
                          <a:latin typeface="Aptos Narrow" panose="020B0004020202020204" pitchFamily="34" charset="0"/>
                        </a:rPr>
                        <a:t>MiniMax</a:t>
                      </a:r>
                      <a:r>
                        <a:rPr lang="en-US" sz="1050" b="0" i="0" u="none" strike="noStrike" dirty="0">
                          <a:solidFill>
                            <a:srgbClr val="000000"/>
                          </a:solidFill>
                          <a:effectLst/>
                          <a:latin typeface="Aptos Narrow" panose="020B0004020202020204" pitchFamily="34" charset="0"/>
                        </a:rPr>
                        <a:t> Group Inc</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000" b="0" i="0" u="none" strike="noStrike" dirty="0">
                          <a:solidFill>
                            <a:srgbClr val="000000"/>
                          </a:solidFill>
                          <a:effectLst/>
                          <a:latin typeface="Calibri" panose="020F0502020204030204" pitchFamily="34" charset="0"/>
                        </a:rPr>
                        <a:t>711 </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DFKaiShu-GB5"/>
                          <a:cs typeface="+mn-cs"/>
                        </a:rPr>
                        <a:t>TMT</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sp>
        <p:nvSpPr>
          <p:cNvPr id="30" name="TextBox 7"/>
          <p:cNvSpPr txBox="1">
            <a:spLocks noChangeArrowheads="1"/>
          </p:cNvSpPr>
          <p:nvPr/>
        </p:nvSpPr>
        <p:spPr bwMode="auto">
          <a:xfrm>
            <a:off x="341757" y="3683331"/>
            <a:ext cx="4389120" cy="228398"/>
          </a:xfrm>
          <a:prstGeom prst="rect">
            <a:avLst/>
          </a:prstGeom>
          <a:solidFill>
            <a:schemeClr val="accent6"/>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Top Deals in </a:t>
            </a:r>
            <a:r>
              <a:rPr lang="en-US" dirty="0">
                <a:latin typeface="Calibri"/>
                <a:ea typeface="DFKaiShu-GB5"/>
              </a:rPr>
              <a:t>1Q</a:t>
            </a:r>
            <a:r>
              <a:rPr kumimoji="0" lang="en-US" sz="1200" b="1" i="0" u="none" strike="noStrike" kern="0" cap="none" spc="0" normalizeH="0" baseline="0" noProof="0" dirty="0">
                <a:ln>
                  <a:noFill/>
                </a:ln>
                <a:solidFill>
                  <a:srgbClr val="FFFFFF"/>
                </a:solidFill>
                <a:effectLst/>
                <a:uLnTx/>
                <a:uFillTx/>
                <a:latin typeface="Calibri"/>
                <a:ea typeface="DFKaiShu-GB5"/>
                <a:cs typeface="+mn-cs"/>
              </a:rPr>
              <a:t>20</a:t>
            </a:r>
            <a:r>
              <a:rPr kumimoji="0" lang="en-US" altLang="zh-CN" sz="1200" b="1" i="0" u="none" strike="noStrike" kern="0" cap="none" spc="0" normalizeH="0" baseline="0" noProof="0" dirty="0">
                <a:ln>
                  <a:noFill/>
                </a:ln>
                <a:solidFill>
                  <a:srgbClr val="FFFFFF"/>
                </a:solidFill>
                <a:effectLst/>
                <a:uLnTx/>
                <a:uFillTx/>
                <a:latin typeface="Calibri"/>
                <a:ea typeface="DFKaiShu-GB5"/>
                <a:cs typeface="+mn-cs"/>
              </a:rPr>
              <a:t>26</a:t>
            </a:r>
            <a:endParaRPr kumimoji="0" lang="en-US" sz="1200" b="1" i="0" u="none" strike="noStrike" kern="0" cap="none" spc="0" normalizeH="0" baseline="0" noProof="0" dirty="0">
              <a:ln>
                <a:noFill/>
              </a:ln>
              <a:solidFill>
                <a:srgbClr val="FFFFFF"/>
              </a:solidFill>
              <a:effectLst/>
              <a:uLnTx/>
              <a:uFillTx/>
              <a:latin typeface="Calibri"/>
              <a:ea typeface="DFKaiShu-GB5"/>
              <a:cs typeface="+mn-cs"/>
            </a:endParaRPr>
          </a:p>
        </p:txBody>
      </p:sp>
      <p:sp>
        <p:nvSpPr>
          <p:cNvPr id="27" name="TextBox 7">
            <a:extLst>
              <a:ext uri="{FF2B5EF4-FFF2-40B4-BE49-F238E27FC236}">
                <a16:creationId xmlns:a16="http://schemas.microsoft.com/office/drawing/2014/main" id="{9AA21388-97A5-412F-B900-6B2859B988C0}"/>
              </a:ext>
            </a:extLst>
          </p:cNvPr>
          <p:cNvSpPr txBox="1">
            <a:spLocks noChangeArrowheads="1"/>
          </p:cNvSpPr>
          <p:nvPr/>
        </p:nvSpPr>
        <p:spPr bwMode="auto">
          <a:xfrm>
            <a:off x="5096636" y="3959099"/>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Volume</a:t>
            </a:r>
          </a:p>
        </p:txBody>
      </p:sp>
      <p:sp>
        <p:nvSpPr>
          <p:cNvPr id="33" name="TextBox 7">
            <a:extLst>
              <a:ext uri="{FF2B5EF4-FFF2-40B4-BE49-F238E27FC236}">
                <a16:creationId xmlns:a16="http://schemas.microsoft.com/office/drawing/2014/main" id="{4323BD8D-26C1-4A62-9AE6-04941A2D9145}"/>
              </a:ext>
            </a:extLst>
          </p:cNvPr>
          <p:cNvSpPr txBox="1">
            <a:spLocks noChangeArrowheads="1"/>
          </p:cNvSpPr>
          <p:nvPr/>
        </p:nvSpPr>
        <p:spPr bwMode="auto">
          <a:xfrm>
            <a:off x="7384504" y="3959099"/>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Number of Deals</a:t>
            </a:r>
          </a:p>
        </p:txBody>
      </p:sp>
      <p:graphicFrame>
        <p:nvGraphicFramePr>
          <p:cNvPr id="38" name="Chart 37">
            <a:extLst>
              <a:ext uri="{FF2B5EF4-FFF2-40B4-BE49-F238E27FC236}">
                <a16:creationId xmlns:a16="http://schemas.microsoft.com/office/drawing/2014/main" id="{B7283BD8-FFF4-4745-A4CC-CADB0D558E03}"/>
              </a:ext>
            </a:extLst>
          </p:cNvPr>
          <p:cNvGraphicFramePr/>
          <p:nvPr>
            <p:extLst>
              <p:ext uri="{D42A27DB-BD31-4B8C-83A1-F6EECF244321}">
                <p14:modId xmlns:p14="http://schemas.microsoft.com/office/powerpoint/2010/main" val="3188001342"/>
              </p:ext>
            </p:extLst>
          </p:nvPr>
        </p:nvGraphicFramePr>
        <p:xfrm>
          <a:off x="5001575" y="4236469"/>
          <a:ext cx="2101252" cy="16609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5" name="Chart 44">
            <a:extLst>
              <a:ext uri="{FF2B5EF4-FFF2-40B4-BE49-F238E27FC236}">
                <a16:creationId xmlns:a16="http://schemas.microsoft.com/office/drawing/2014/main" id="{88A89123-5715-4E0B-BE6E-233F6CDE462D}"/>
              </a:ext>
            </a:extLst>
          </p:cNvPr>
          <p:cNvGraphicFramePr/>
          <p:nvPr>
            <p:extLst>
              <p:ext uri="{D42A27DB-BD31-4B8C-83A1-F6EECF244321}">
                <p14:modId xmlns:p14="http://schemas.microsoft.com/office/powerpoint/2010/main" val="3336061721"/>
              </p:ext>
            </p:extLst>
          </p:nvPr>
        </p:nvGraphicFramePr>
        <p:xfrm>
          <a:off x="7513914" y="4236469"/>
          <a:ext cx="2101252" cy="1660926"/>
        </p:xfrm>
        <a:graphic>
          <a:graphicData uri="http://schemas.openxmlformats.org/drawingml/2006/chart">
            <c:chart xmlns:c="http://schemas.openxmlformats.org/drawingml/2006/chart" xmlns:r="http://schemas.openxmlformats.org/officeDocument/2006/relationships" r:id="rId3"/>
          </a:graphicData>
        </a:graphic>
      </p:graphicFrame>
      <p:sp>
        <p:nvSpPr>
          <p:cNvPr id="59" name="TextBox 58">
            <a:extLst>
              <a:ext uri="{FF2B5EF4-FFF2-40B4-BE49-F238E27FC236}">
                <a16:creationId xmlns:a16="http://schemas.microsoft.com/office/drawing/2014/main" id="{46FFC036-9593-4E9D-920B-8ECEA91672F1}"/>
              </a:ext>
            </a:extLst>
          </p:cNvPr>
          <p:cNvSpPr txBox="1"/>
          <p:nvPr/>
        </p:nvSpPr>
        <p:spPr>
          <a:xfrm>
            <a:off x="5079988" y="5844580"/>
            <a:ext cx="210125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R="0" lvl="0" algn="ctr" defTabSz="844083" rtl="0" eaLnBrk="1" fontAlgn="auto" latinLnBrk="0" hangingPunct="1">
              <a:lnSpc>
                <a:spcPct val="120000"/>
              </a:lnSpc>
              <a:spcBef>
                <a:spcPts val="0"/>
              </a:spcBef>
              <a:spcAft>
                <a:spcPts val="0"/>
              </a:spcAft>
              <a:buClr>
                <a:srgbClr val="C00000"/>
              </a:buClr>
              <a:buSzTx/>
              <a:tabLst/>
              <a:defRPr/>
            </a:pPr>
            <a:r>
              <a:rPr kumimoji="0" lang="en-US" sz="1100" b="0" i="0" u="none" strike="noStrike" kern="0" cap="none" spc="0" normalizeH="0" baseline="0" noProof="0" dirty="0">
                <a:ln>
                  <a:noFill/>
                </a:ln>
                <a:solidFill>
                  <a:srgbClr val="000000"/>
                </a:solidFill>
                <a:effectLst/>
                <a:uLnTx/>
                <a:uFillTx/>
                <a:latin typeface="Calibri"/>
                <a:ea typeface="DFKaiShu-GB5"/>
                <a:cs typeface="+mn-cs"/>
              </a:rPr>
              <a:t>Total Volume: US$13</a:t>
            </a:r>
            <a:r>
              <a:rPr lang="en-US" sz="1100" dirty="0">
                <a:solidFill>
                  <a:srgbClr val="000000"/>
                </a:solidFill>
                <a:latin typeface="Calibri"/>
                <a:ea typeface="DFKaiShu-GB5"/>
              </a:rPr>
              <a:t>,713mn</a:t>
            </a:r>
            <a:r>
              <a:rPr kumimoji="0" lang="en-US" sz="1100" b="0" i="0" u="none" strike="noStrike" kern="0" cap="none" spc="0" normalizeH="0" baseline="0" noProof="0" dirty="0">
                <a:ln>
                  <a:noFill/>
                </a:ln>
                <a:solidFill>
                  <a:srgbClr val="000000"/>
                </a:solidFill>
                <a:effectLst/>
                <a:uLnTx/>
                <a:uFillTx/>
                <a:latin typeface="Calibri"/>
                <a:ea typeface="DFKaiShu-GB5"/>
                <a:cs typeface="+mn-cs"/>
              </a:rPr>
              <a:t>^</a:t>
            </a:r>
          </a:p>
        </p:txBody>
      </p:sp>
      <p:sp>
        <p:nvSpPr>
          <p:cNvPr id="63" name="TextBox 62">
            <a:extLst>
              <a:ext uri="{FF2B5EF4-FFF2-40B4-BE49-F238E27FC236}">
                <a16:creationId xmlns:a16="http://schemas.microsoft.com/office/drawing/2014/main" id="{2A51A598-EBDD-4752-914B-A70CDA14141D}"/>
              </a:ext>
            </a:extLst>
          </p:cNvPr>
          <p:cNvSpPr txBox="1"/>
          <p:nvPr/>
        </p:nvSpPr>
        <p:spPr>
          <a:xfrm>
            <a:off x="7384504" y="5844580"/>
            <a:ext cx="2101252" cy="384463"/>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L="0" marR="0" lvl="0" indent="0" algn="ctr" defTabSz="844083" rtl="0" eaLnBrk="1" fontAlgn="auto" latinLnBrk="0" hangingPunct="1">
              <a:lnSpc>
                <a:spcPct val="120000"/>
              </a:lnSpc>
              <a:spcBef>
                <a:spcPts val="0"/>
              </a:spcBef>
              <a:spcAft>
                <a:spcPts val="0"/>
              </a:spcAft>
              <a:buClr>
                <a:srgbClr val="C00000"/>
              </a:buClr>
              <a:buSzTx/>
              <a:buFontTx/>
              <a:buNone/>
              <a:tabLst/>
              <a:defRPr/>
            </a:pPr>
            <a:r>
              <a:rPr kumimoji="0" lang="en-US" sz="1100" b="0" i="0" u="none" strike="noStrike" kern="0" cap="none" spc="0" normalizeH="0" baseline="0" noProof="0" dirty="0">
                <a:ln>
                  <a:noFill/>
                </a:ln>
                <a:solidFill>
                  <a:srgbClr val="000000"/>
                </a:solidFill>
                <a:effectLst/>
                <a:uLnTx/>
                <a:uFillTx/>
                <a:latin typeface="Calibri"/>
                <a:ea typeface="DFKaiShu-GB5"/>
                <a:cs typeface="+mn-cs"/>
              </a:rPr>
              <a:t># of Deals: </a:t>
            </a:r>
            <a:r>
              <a:rPr lang="en-US" sz="1100" dirty="0">
                <a:solidFill>
                  <a:srgbClr val="000000"/>
                </a:solidFill>
                <a:latin typeface="Calibri"/>
                <a:ea typeface="DFKaiShu-GB5"/>
              </a:rPr>
              <a:t>36</a:t>
            </a:r>
            <a:r>
              <a:rPr kumimoji="0" lang="en-US" sz="1100" b="0" i="0" u="none" strike="noStrike" kern="0" cap="none" spc="0" normalizeH="0" baseline="0" noProof="0" dirty="0">
                <a:ln>
                  <a:noFill/>
                </a:ln>
                <a:solidFill>
                  <a:srgbClr val="000000"/>
                </a:solidFill>
                <a:effectLst/>
                <a:uLnTx/>
                <a:uFillTx/>
                <a:latin typeface="Calibri"/>
                <a:ea typeface="DFKaiShu-GB5"/>
                <a:cs typeface="+mn-cs"/>
              </a:rPr>
              <a:t>^</a:t>
            </a:r>
          </a:p>
        </p:txBody>
      </p:sp>
      <p:sp>
        <p:nvSpPr>
          <p:cNvPr id="41" name="Rectangle 40">
            <a:extLst>
              <a:ext uri="{FF2B5EF4-FFF2-40B4-BE49-F238E27FC236}">
                <a16:creationId xmlns:a16="http://schemas.microsoft.com/office/drawing/2014/main" id="{D441A78F-8CF0-445F-AE50-1FB7FABA8D23}"/>
              </a:ext>
            </a:extLst>
          </p:cNvPr>
          <p:cNvSpPr/>
          <p:nvPr/>
        </p:nvSpPr>
        <p:spPr>
          <a:xfrm>
            <a:off x="342899" y="6013259"/>
            <a:ext cx="8435468" cy="276999"/>
          </a:xfrm>
          <a:prstGeom prst="rect">
            <a:avLst/>
          </a:prstGeom>
          <a:noFill/>
        </p:spPr>
        <p:txBody>
          <a:bodyPr wrap="square" lIns="0" tIns="0" rIns="0" bIns="0" rtlCol="0">
            <a:spAutoFit/>
          </a:bodyPr>
          <a:lstStyle/>
          <a:p>
            <a:pPr eaLnBrk="1" fontAlgn="auto" hangingPunct="1">
              <a:spcBef>
                <a:spcPts val="0"/>
              </a:spcBef>
              <a:spcAft>
                <a:spcPts val="0"/>
              </a:spcAft>
              <a:defRPr/>
            </a:pPr>
            <a:r>
              <a:rPr kumimoji="0" lang="en-US" altLang="zh-CN" sz="900" b="0" i="1" u="none" strike="noStrike" kern="1200" cap="none" spc="0" normalizeH="0" baseline="0" noProof="0" dirty="0">
                <a:ln>
                  <a:noFill/>
                </a:ln>
                <a:solidFill>
                  <a:srgbClr val="000000"/>
                </a:solidFill>
                <a:effectLst/>
                <a:uLnTx/>
                <a:uFillTx/>
                <a:latin typeface="Calibri"/>
                <a:ea typeface="DFKaiShu-GB5"/>
                <a:cs typeface="+mn-cs"/>
              </a:rPr>
              <a:t>Sources</a:t>
            </a:r>
            <a:r>
              <a:rPr kumimoji="0" lang="zh-CN" altLang="en-US" sz="900" b="0" i="1" u="none" strike="noStrike" kern="1200" cap="none" spc="0" normalizeH="0" baseline="0" noProof="0" dirty="0">
                <a:ln>
                  <a:noFill/>
                </a:ln>
                <a:solidFill>
                  <a:srgbClr val="000000"/>
                </a:solidFill>
                <a:effectLst/>
                <a:uLnTx/>
                <a:uFillTx/>
                <a:latin typeface="Calibri"/>
                <a:ea typeface="DFKaiShu-GB5"/>
                <a:cs typeface="+mn-cs"/>
              </a:rPr>
              <a:t>：</a:t>
            </a:r>
            <a:r>
              <a:rPr kumimoji="0" lang="en-US" altLang="zh-CN" sz="900" b="0" i="1" u="none" strike="noStrike" kern="1200" cap="none" spc="0" normalizeH="0" baseline="0" noProof="0" dirty="0">
                <a:ln>
                  <a:noFill/>
                </a:ln>
                <a:solidFill>
                  <a:srgbClr val="000000"/>
                </a:solidFill>
                <a:effectLst/>
                <a:uLnTx/>
                <a:uFillTx/>
                <a:latin typeface="Calibri"/>
                <a:ea typeface="DFKaiShu-GB5"/>
                <a:cs typeface="+mn-cs"/>
              </a:rPr>
              <a:t>Dealogic, DBS, as of 20 May 2026</a:t>
            </a:r>
          </a:p>
          <a:p>
            <a:pPr eaLnBrk="1" fontAlgn="auto" hangingPunct="1">
              <a:spcBef>
                <a:spcPts val="0"/>
              </a:spcBef>
              <a:spcAft>
                <a:spcPts val="0"/>
              </a:spcAft>
              <a:defRPr/>
            </a:pPr>
            <a:r>
              <a:rPr lang="en-US" sz="900" i="1" dirty="0">
                <a:solidFill>
                  <a:srgbClr val="000000"/>
                </a:solidFill>
                <a:latin typeface="Calibri"/>
                <a:ea typeface="DFKaiShu-GB5"/>
              </a:rPr>
              <a:t>Note 1: All deal size is p</a:t>
            </a:r>
            <a:r>
              <a:rPr lang="en-US" altLang="zh-CN" sz="900" i="1" dirty="0">
                <a:solidFill>
                  <a:srgbClr val="000000"/>
                </a:solidFill>
                <a:latin typeface="Calibri"/>
                <a:ea typeface="DFKaiShu-GB5"/>
              </a:rPr>
              <a:t>ost</a:t>
            </a:r>
            <a:r>
              <a:rPr lang="en-US" sz="900" i="1" dirty="0">
                <a:solidFill>
                  <a:srgbClr val="000000"/>
                </a:solidFill>
                <a:latin typeface="Calibri"/>
                <a:ea typeface="DFKaiShu-GB5"/>
              </a:rPr>
              <a:t>-shoe deal size (USD’m)</a:t>
            </a:r>
            <a:endParaRPr kumimoji="0" lang="en-US" sz="900" b="0" i="1" u="none" strike="noStrike" kern="1200" cap="none" spc="0" normalizeH="0" baseline="0" noProof="0" dirty="0">
              <a:ln>
                <a:noFill/>
              </a:ln>
              <a:solidFill>
                <a:srgbClr val="000000"/>
              </a:solidFill>
              <a:effectLst/>
              <a:uLnTx/>
              <a:uFillTx/>
              <a:latin typeface="Calibri"/>
              <a:ea typeface="DFKaiShu-GB5"/>
              <a:cs typeface="+mn-cs"/>
            </a:endParaRPr>
          </a:p>
        </p:txBody>
      </p:sp>
      <p:sp>
        <p:nvSpPr>
          <p:cNvPr id="51" name="TextBox 7">
            <a:extLst>
              <a:ext uri="{FF2B5EF4-FFF2-40B4-BE49-F238E27FC236}">
                <a16:creationId xmlns:a16="http://schemas.microsoft.com/office/drawing/2014/main" id="{9FB6FE46-2058-4632-A6F3-517C1094AB46}"/>
              </a:ext>
            </a:extLst>
          </p:cNvPr>
          <p:cNvSpPr txBox="1">
            <a:spLocks noChangeArrowheads="1"/>
          </p:cNvSpPr>
          <p:nvPr/>
        </p:nvSpPr>
        <p:spPr bwMode="auto">
          <a:xfrm>
            <a:off x="5096636" y="1011771"/>
            <a:ext cx="4389120" cy="228398"/>
          </a:xfrm>
          <a:prstGeom prst="rect">
            <a:avLst/>
          </a:prstGeom>
          <a:solidFill>
            <a:schemeClr val="accent6"/>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4Q20</a:t>
            </a:r>
            <a:r>
              <a:rPr kumimoji="0" lang="en-US" altLang="zh-CN" sz="1200" b="1" i="0" u="none" strike="noStrike" kern="0" cap="none" spc="0" normalizeH="0" baseline="0" noProof="0" dirty="0">
                <a:ln>
                  <a:noFill/>
                </a:ln>
                <a:solidFill>
                  <a:srgbClr val="FFFFFF"/>
                </a:solidFill>
                <a:effectLst/>
                <a:uLnTx/>
                <a:uFillTx/>
                <a:latin typeface="Calibri"/>
                <a:ea typeface="DFKaiShu-GB5"/>
                <a:cs typeface="+mn-cs"/>
              </a:rPr>
              <a:t>25 – Comparison</a:t>
            </a:r>
          </a:p>
        </p:txBody>
      </p:sp>
      <p:sp>
        <p:nvSpPr>
          <p:cNvPr id="52" name="TextBox 7">
            <a:extLst>
              <a:ext uri="{FF2B5EF4-FFF2-40B4-BE49-F238E27FC236}">
                <a16:creationId xmlns:a16="http://schemas.microsoft.com/office/drawing/2014/main" id="{34010F9B-E4BE-4613-AC96-E54D5B8AF622}"/>
              </a:ext>
            </a:extLst>
          </p:cNvPr>
          <p:cNvSpPr txBox="1">
            <a:spLocks noChangeArrowheads="1"/>
          </p:cNvSpPr>
          <p:nvPr/>
        </p:nvSpPr>
        <p:spPr bwMode="auto">
          <a:xfrm>
            <a:off x="5096636" y="1283892"/>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Volume</a:t>
            </a:r>
          </a:p>
        </p:txBody>
      </p:sp>
      <p:sp>
        <p:nvSpPr>
          <p:cNvPr id="53" name="TextBox 7">
            <a:extLst>
              <a:ext uri="{FF2B5EF4-FFF2-40B4-BE49-F238E27FC236}">
                <a16:creationId xmlns:a16="http://schemas.microsoft.com/office/drawing/2014/main" id="{6AC7C2FA-6346-4165-9F69-7B1A7D028E02}"/>
              </a:ext>
            </a:extLst>
          </p:cNvPr>
          <p:cNvSpPr txBox="1">
            <a:spLocks noChangeArrowheads="1"/>
          </p:cNvSpPr>
          <p:nvPr/>
        </p:nvSpPr>
        <p:spPr bwMode="auto">
          <a:xfrm>
            <a:off x="7384504" y="1283892"/>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Number of Deals</a:t>
            </a:r>
          </a:p>
        </p:txBody>
      </p:sp>
      <p:sp>
        <p:nvSpPr>
          <p:cNvPr id="29" name="TextBox 7"/>
          <p:cNvSpPr txBox="1">
            <a:spLocks noChangeArrowheads="1"/>
          </p:cNvSpPr>
          <p:nvPr/>
        </p:nvSpPr>
        <p:spPr bwMode="auto">
          <a:xfrm>
            <a:off x="327011" y="999046"/>
            <a:ext cx="4389120" cy="228398"/>
          </a:xfrm>
          <a:prstGeom prst="rect">
            <a:avLst/>
          </a:prstGeom>
          <a:solidFill>
            <a:schemeClr val="accent6"/>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1Q2026 – Sector Analysis </a:t>
            </a:r>
          </a:p>
        </p:txBody>
      </p:sp>
      <p:sp>
        <p:nvSpPr>
          <p:cNvPr id="20" name="TextBox 7">
            <a:extLst>
              <a:ext uri="{FF2B5EF4-FFF2-40B4-BE49-F238E27FC236}">
                <a16:creationId xmlns:a16="http://schemas.microsoft.com/office/drawing/2014/main" id="{ED26DD9D-C49E-4B70-B53C-87EA83419705}"/>
              </a:ext>
            </a:extLst>
          </p:cNvPr>
          <p:cNvSpPr txBox="1">
            <a:spLocks noChangeArrowheads="1"/>
          </p:cNvSpPr>
          <p:nvPr/>
        </p:nvSpPr>
        <p:spPr bwMode="auto">
          <a:xfrm>
            <a:off x="327011" y="1283892"/>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Volume</a:t>
            </a:r>
          </a:p>
        </p:txBody>
      </p:sp>
      <p:sp>
        <p:nvSpPr>
          <p:cNvPr id="21" name="TextBox 7">
            <a:extLst>
              <a:ext uri="{FF2B5EF4-FFF2-40B4-BE49-F238E27FC236}">
                <a16:creationId xmlns:a16="http://schemas.microsoft.com/office/drawing/2014/main" id="{E9A7EDDE-722C-4566-9E14-0563E1D94B24}"/>
              </a:ext>
            </a:extLst>
          </p:cNvPr>
          <p:cNvSpPr txBox="1">
            <a:spLocks noChangeArrowheads="1"/>
          </p:cNvSpPr>
          <p:nvPr/>
        </p:nvSpPr>
        <p:spPr bwMode="auto">
          <a:xfrm>
            <a:off x="2614879" y="1283893"/>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Number of Deals</a:t>
            </a:r>
          </a:p>
        </p:txBody>
      </p:sp>
      <p:sp>
        <p:nvSpPr>
          <p:cNvPr id="5" name="Slide Number Placeholder 4">
            <a:extLst>
              <a:ext uri="{FF2B5EF4-FFF2-40B4-BE49-F238E27FC236}">
                <a16:creationId xmlns:a16="http://schemas.microsoft.com/office/drawing/2014/main" id="{F70EDB5B-103C-4C69-8198-ECE36AAD91D2}"/>
              </a:ext>
            </a:extLst>
          </p:cNvPr>
          <p:cNvSpPr>
            <a:spLocks noGrp="1"/>
          </p:cNvSpPr>
          <p:nvPr>
            <p:ph type="sldNum" sz="quarter" idx="4"/>
          </p:nvPr>
        </p:nvSpPr>
        <p:spPr>
          <a:xfrm>
            <a:off x="9444286" y="6489265"/>
            <a:ext cx="341760" cy="246221"/>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000" kern="1200" baseline="0">
                <a:solidFill>
                  <a:schemeClr val="tx1">
                    <a:tint val="75000"/>
                  </a:schemeClr>
                </a:solidFill>
                <a:latin typeface="Calibri" panose="020F0502020204030204" pitchFamily="34" charset="0"/>
                <a:ea typeface="DFKaiShu-GB5" panose="03000509000000000000" pitchFamily="65"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46F7334-D539-4DA0-AE05-1AF7E48B82B8}" type="slidenum">
              <a:rPr lang="en-US" smtClean="0"/>
              <a:pPr>
                <a:defRPr/>
              </a:pPr>
              <a:t>5</a:t>
            </a:fld>
            <a:endParaRPr lang="en-US" dirty="0"/>
          </a:p>
        </p:txBody>
      </p:sp>
      <p:sp>
        <p:nvSpPr>
          <p:cNvPr id="4" name="Rectangle 3">
            <a:extLst>
              <a:ext uri="{FF2B5EF4-FFF2-40B4-BE49-F238E27FC236}">
                <a16:creationId xmlns:a16="http://schemas.microsoft.com/office/drawing/2014/main" id="{B63172AE-A954-391F-7D06-819DE9DD188A}"/>
              </a:ext>
            </a:extLst>
          </p:cNvPr>
          <p:cNvSpPr/>
          <p:nvPr/>
        </p:nvSpPr>
        <p:spPr>
          <a:xfrm>
            <a:off x="4952999" y="6257700"/>
            <a:ext cx="4730931" cy="276999"/>
          </a:xfrm>
          <a:prstGeom prst="rect">
            <a:avLst/>
          </a:prstGeom>
          <a:noFill/>
        </p:spPr>
        <p:txBody>
          <a:bodyPr wrap="square" lIns="0" tIns="0" rIns="0" bIns="0" rtlCol="0">
            <a:spAutoFit/>
          </a:bodyPr>
          <a:lstStyle/>
          <a:p>
            <a:pPr>
              <a:defRPr/>
            </a:pPr>
            <a:r>
              <a:rPr lang="en-US" sz="900" i="1" dirty="0">
                <a:solidFill>
                  <a:srgbClr val="000000"/>
                </a:solidFill>
                <a:latin typeface="Calibri"/>
                <a:ea typeface="DFKaiShu-GB5"/>
              </a:rPr>
              <a:t>^: The</a:t>
            </a:r>
            <a:r>
              <a:rPr lang="zh-CN" altLang="en-US" sz="900" i="1" dirty="0">
                <a:solidFill>
                  <a:srgbClr val="000000"/>
                </a:solidFill>
                <a:latin typeface="Calibri"/>
                <a:ea typeface="DFKaiShu-GB5"/>
              </a:rPr>
              <a:t> </a:t>
            </a:r>
            <a:r>
              <a:rPr lang="en-US" altLang="zh-CN" sz="900" i="1" dirty="0">
                <a:solidFill>
                  <a:srgbClr val="000000"/>
                </a:solidFill>
                <a:latin typeface="Calibri"/>
                <a:ea typeface="DFKaiShu-GB5"/>
              </a:rPr>
              <a:t>discrepancy in figures is due to Shenzhen Woer(US$360mn) and ALSCO (US$29mn). </a:t>
            </a:r>
            <a:r>
              <a:rPr lang="en-US" sz="900" i="1" dirty="0">
                <a:solidFill>
                  <a:srgbClr val="000000"/>
                </a:solidFill>
                <a:latin typeface="Calibri"/>
                <a:ea typeface="DFKaiShu-GB5"/>
              </a:rPr>
              <a:t>DBS participated in these deals.</a:t>
            </a:r>
            <a:endParaRPr kumimoji="0" lang="en-US" sz="900" b="0" i="1" u="none" strike="noStrike" kern="1200" cap="none" spc="0" normalizeH="0" baseline="0" noProof="0" dirty="0">
              <a:ln>
                <a:noFill/>
              </a:ln>
              <a:solidFill>
                <a:srgbClr val="000000"/>
              </a:solidFill>
              <a:effectLst/>
              <a:uLnTx/>
              <a:uFillTx/>
              <a:latin typeface="Calibri"/>
              <a:ea typeface="DFKaiShu-GB5"/>
              <a:cs typeface="+mn-cs"/>
            </a:endParaRPr>
          </a:p>
        </p:txBody>
      </p:sp>
      <p:sp>
        <p:nvSpPr>
          <p:cNvPr id="3" name="TextBox 7">
            <a:extLst>
              <a:ext uri="{FF2B5EF4-FFF2-40B4-BE49-F238E27FC236}">
                <a16:creationId xmlns:a16="http://schemas.microsoft.com/office/drawing/2014/main" id="{F998CDA9-C162-313B-5A7E-095BD872FDFC}"/>
              </a:ext>
            </a:extLst>
          </p:cNvPr>
          <p:cNvSpPr txBox="1">
            <a:spLocks noChangeArrowheads="1"/>
          </p:cNvSpPr>
          <p:nvPr/>
        </p:nvSpPr>
        <p:spPr bwMode="auto">
          <a:xfrm>
            <a:off x="5090922" y="3683331"/>
            <a:ext cx="4389120" cy="228398"/>
          </a:xfrm>
          <a:prstGeom prst="rect">
            <a:avLst/>
          </a:prstGeom>
          <a:solidFill>
            <a:schemeClr val="accent6"/>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Missed Deals in 1Q20</a:t>
            </a:r>
            <a:r>
              <a:rPr kumimoji="0" lang="en-US" altLang="zh-CN" sz="1200" b="1" i="0" u="none" strike="noStrike" kern="0" cap="none" spc="0" normalizeH="0" baseline="0" noProof="0" dirty="0">
                <a:ln>
                  <a:noFill/>
                </a:ln>
                <a:solidFill>
                  <a:srgbClr val="FFFFFF"/>
                </a:solidFill>
                <a:effectLst/>
                <a:uLnTx/>
                <a:uFillTx/>
                <a:latin typeface="Calibri"/>
                <a:ea typeface="DFKaiShu-GB5"/>
                <a:cs typeface="+mn-cs"/>
              </a:rPr>
              <a:t>26</a:t>
            </a:r>
            <a:endParaRPr kumimoji="0" lang="en-US" sz="1200" b="1" i="0" u="none" strike="noStrike" kern="0" cap="none" spc="0" normalizeH="0" baseline="0" noProof="0" dirty="0">
              <a:ln>
                <a:noFill/>
              </a:ln>
              <a:solidFill>
                <a:srgbClr val="FFFFFF"/>
              </a:solidFill>
              <a:effectLst/>
              <a:uLnTx/>
              <a:uFillTx/>
              <a:latin typeface="Calibri"/>
              <a:ea typeface="DFKaiShu-GB5"/>
              <a:cs typeface="+mn-cs"/>
            </a:endParaRPr>
          </a:p>
        </p:txBody>
      </p:sp>
      <p:graphicFrame>
        <p:nvGraphicFramePr>
          <p:cNvPr id="6" name="Chart 5">
            <a:extLst>
              <a:ext uri="{FF2B5EF4-FFF2-40B4-BE49-F238E27FC236}">
                <a16:creationId xmlns:a16="http://schemas.microsoft.com/office/drawing/2014/main" id="{07F505B6-C9F8-4347-BFDD-7B07C9F51A91}"/>
              </a:ext>
            </a:extLst>
          </p:cNvPr>
          <p:cNvGraphicFramePr/>
          <p:nvPr>
            <p:extLst>
              <p:ext uri="{D42A27DB-BD31-4B8C-83A1-F6EECF244321}">
                <p14:modId xmlns:p14="http://schemas.microsoft.com/office/powerpoint/2010/main" val="4211189996"/>
              </p:ext>
            </p:extLst>
          </p:nvPr>
        </p:nvGraphicFramePr>
        <p:xfrm>
          <a:off x="6579426" y="1225891"/>
          <a:ext cx="3494889" cy="242467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4E5499C2-1F62-4567-A920-143919EB098A}"/>
              </a:ext>
            </a:extLst>
          </p:cNvPr>
          <p:cNvGraphicFramePr/>
          <p:nvPr>
            <p:extLst>
              <p:ext uri="{D42A27DB-BD31-4B8C-83A1-F6EECF244321}">
                <p14:modId xmlns:p14="http://schemas.microsoft.com/office/powerpoint/2010/main" val="1631823203"/>
              </p:ext>
            </p:extLst>
          </p:nvPr>
        </p:nvGraphicFramePr>
        <p:xfrm>
          <a:off x="4390843" y="1225891"/>
          <a:ext cx="3494889" cy="2424674"/>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7">
            <a:extLst>
              <a:ext uri="{FF2B5EF4-FFF2-40B4-BE49-F238E27FC236}">
                <a16:creationId xmlns:a16="http://schemas.microsoft.com/office/drawing/2014/main" id="{AD534A78-C5B6-44B3-9503-698050C4C499}"/>
              </a:ext>
            </a:extLst>
          </p:cNvPr>
          <p:cNvSpPr txBox="1"/>
          <p:nvPr/>
        </p:nvSpPr>
        <p:spPr>
          <a:xfrm>
            <a:off x="5198047" y="3348718"/>
            <a:ext cx="210125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R="0" lvl="0" algn="ctr" defTabSz="844083" rtl="0" eaLnBrk="1" fontAlgn="auto" latinLnBrk="0" hangingPunct="1">
              <a:lnSpc>
                <a:spcPct val="120000"/>
              </a:lnSpc>
              <a:spcBef>
                <a:spcPts val="0"/>
              </a:spcBef>
              <a:spcAft>
                <a:spcPts val="0"/>
              </a:spcAft>
              <a:buClr>
                <a:srgbClr val="C00000"/>
              </a:buClr>
              <a:buSzTx/>
              <a:tabLst/>
              <a:defRPr/>
            </a:pPr>
            <a:r>
              <a:rPr kumimoji="0" lang="en-US" sz="1050" b="0" i="0" u="none" strike="noStrike" kern="0" cap="none" spc="0" normalizeH="0" baseline="0" noProof="0" dirty="0">
                <a:ln>
                  <a:noFill/>
                </a:ln>
                <a:solidFill>
                  <a:srgbClr val="000000"/>
                </a:solidFill>
                <a:effectLst/>
                <a:uLnTx/>
                <a:uFillTx/>
                <a:latin typeface="Calibri"/>
                <a:ea typeface="DFKaiShu-GB5"/>
                <a:cs typeface="+mn-cs"/>
              </a:rPr>
              <a:t>Total </a:t>
            </a:r>
            <a:r>
              <a:rPr kumimoji="0" lang="en-US" sz="1050" b="0" i="0" strike="noStrike" kern="0" cap="none" spc="0" normalizeH="0" baseline="0" noProof="0" dirty="0">
                <a:ln>
                  <a:noFill/>
                </a:ln>
                <a:solidFill>
                  <a:srgbClr val="000000"/>
                </a:solidFill>
                <a:effectLst/>
                <a:uLnTx/>
                <a:uFillTx/>
                <a:latin typeface="Calibri"/>
                <a:ea typeface="DFKaiShu-GB5"/>
                <a:cs typeface="+mn-cs"/>
              </a:rPr>
              <a:t>Volume: </a:t>
            </a:r>
            <a:r>
              <a:rPr kumimoji="0" lang="en-US" sz="1050" b="0" i="0" u="none" strike="noStrike" kern="0" cap="none" spc="0" normalizeH="0" baseline="0" noProof="0" dirty="0">
                <a:ln>
                  <a:noFill/>
                </a:ln>
                <a:solidFill>
                  <a:srgbClr val="000000"/>
                </a:solidFill>
                <a:effectLst/>
                <a:uLnTx/>
                <a:uFillTx/>
                <a:latin typeface="Calibri"/>
                <a:ea typeface="DFKaiShu-GB5"/>
                <a:cs typeface="+mn-cs"/>
              </a:rPr>
              <a:t>US$12,681</a:t>
            </a:r>
            <a:r>
              <a:rPr lang="en-US" sz="1050" dirty="0" err="1">
                <a:solidFill>
                  <a:srgbClr val="000000"/>
                </a:solidFill>
                <a:latin typeface="Calibri"/>
                <a:ea typeface="DFKaiShu-GB5"/>
              </a:rPr>
              <a:t>mn</a:t>
            </a:r>
            <a:endParaRPr kumimoji="0" lang="en-US" sz="1050" b="0" i="0" u="none" strike="noStrike" kern="0" cap="none" spc="0" normalizeH="0" baseline="0" noProof="0" dirty="0">
              <a:ln>
                <a:noFill/>
              </a:ln>
              <a:solidFill>
                <a:srgbClr val="000000"/>
              </a:solidFill>
              <a:effectLst/>
              <a:uLnTx/>
              <a:uFillTx/>
              <a:latin typeface="Calibri"/>
              <a:ea typeface="DFKaiShu-GB5"/>
              <a:cs typeface="+mn-cs"/>
            </a:endParaRPr>
          </a:p>
        </p:txBody>
      </p:sp>
      <p:sp>
        <p:nvSpPr>
          <p:cNvPr id="9" name="TextBox 8">
            <a:extLst>
              <a:ext uri="{FF2B5EF4-FFF2-40B4-BE49-F238E27FC236}">
                <a16:creationId xmlns:a16="http://schemas.microsoft.com/office/drawing/2014/main" id="{01642BB3-454B-4B36-AA38-A61B62ED1332}"/>
              </a:ext>
            </a:extLst>
          </p:cNvPr>
          <p:cNvSpPr txBox="1"/>
          <p:nvPr/>
        </p:nvSpPr>
        <p:spPr>
          <a:xfrm>
            <a:off x="7582678" y="3348718"/>
            <a:ext cx="210125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R="0" lvl="0" algn="ctr" defTabSz="844083" rtl="0" eaLnBrk="1" fontAlgn="auto" latinLnBrk="0" hangingPunct="1">
              <a:lnSpc>
                <a:spcPct val="120000"/>
              </a:lnSpc>
              <a:spcBef>
                <a:spcPts val="0"/>
              </a:spcBef>
              <a:spcAft>
                <a:spcPts val="0"/>
              </a:spcAft>
              <a:buClr>
                <a:srgbClr val="C00000"/>
              </a:buClr>
              <a:buSzTx/>
              <a:tabLst/>
              <a:defRPr/>
            </a:pPr>
            <a:r>
              <a:rPr kumimoji="0" lang="en-US" sz="1050" b="0" i="0" u="none" strike="noStrike" kern="0" cap="none" spc="0" normalizeH="0" baseline="0" noProof="0" dirty="0">
                <a:ln>
                  <a:noFill/>
                </a:ln>
                <a:solidFill>
                  <a:srgbClr val="000000"/>
                </a:solidFill>
                <a:effectLst/>
                <a:uLnTx/>
                <a:uFillTx/>
                <a:latin typeface="Calibri"/>
                <a:ea typeface="DFKaiShu-GB5"/>
                <a:cs typeface="+mn-cs"/>
              </a:rPr>
              <a:t># of Deals: 47</a:t>
            </a:r>
          </a:p>
        </p:txBody>
      </p:sp>
      <p:graphicFrame>
        <p:nvGraphicFramePr>
          <p:cNvPr id="10" name="Chart 9">
            <a:extLst>
              <a:ext uri="{FF2B5EF4-FFF2-40B4-BE49-F238E27FC236}">
                <a16:creationId xmlns:a16="http://schemas.microsoft.com/office/drawing/2014/main" id="{4664B3BC-3D12-76DE-940D-F76C2961A230}"/>
              </a:ext>
            </a:extLst>
          </p:cNvPr>
          <p:cNvGraphicFramePr/>
          <p:nvPr>
            <p:extLst>
              <p:ext uri="{D42A27DB-BD31-4B8C-83A1-F6EECF244321}">
                <p14:modId xmlns:p14="http://schemas.microsoft.com/office/powerpoint/2010/main" val="2195565659"/>
              </p:ext>
            </p:extLst>
          </p:nvPr>
        </p:nvGraphicFramePr>
        <p:xfrm>
          <a:off x="1799993" y="1225891"/>
          <a:ext cx="3494889" cy="242467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Chart 10">
            <a:extLst>
              <a:ext uri="{FF2B5EF4-FFF2-40B4-BE49-F238E27FC236}">
                <a16:creationId xmlns:a16="http://schemas.microsoft.com/office/drawing/2014/main" id="{A2EB1F05-C655-850F-E92F-4C39F47D0B60}"/>
              </a:ext>
            </a:extLst>
          </p:cNvPr>
          <p:cNvGraphicFramePr/>
          <p:nvPr>
            <p:extLst>
              <p:ext uri="{D42A27DB-BD31-4B8C-83A1-F6EECF244321}">
                <p14:modId xmlns:p14="http://schemas.microsoft.com/office/powerpoint/2010/main" val="1370935131"/>
              </p:ext>
            </p:extLst>
          </p:nvPr>
        </p:nvGraphicFramePr>
        <p:xfrm>
          <a:off x="-397218" y="1225891"/>
          <a:ext cx="3494889" cy="2424674"/>
        </p:xfrm>
        <a:graphic>
          <a:graphicData uri="http://schemas.openxmlformats.org/drawingml/2006/chart">
            <c:chart xmlns:c="http://schemas.openxmlformats.org/drawingml/2006/chart" xmlns:r="http://schemas.openxmlformats.org/officeDocument/2006/relationships" r:id="rId7"/>
          </a:graphicData>
        </a:graphic>
      </p:graphicFrame>
      <p:sp>
        <p:nvSpPr>
          <p:cNvPr id="12" name="TextBox 11">
            <a:extLst>
              <a:ext uri="{FF2B5EF4-FFF2-40B4-BE49-F238E27FC236}">
                <a16:creationId xmlns:a16="http://schemas.microsoft.com/office/drawing/2014/main" id="{E2753FBC-A71A-30A5-A74A-985FA202917C}"/>
              </a:ext>
            </a:extLst>
          </p:cNvPr>
          <p:cNvSpPr txBox="1"/>
          <p:nvPr/>
        </p:nvSpPr>
        <p:spPr>
          <a:xfrm>
            <a:off x="418614" y="3348718"/>
            <a:ext cx="210125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R="0" lvl="0" algn="ctr" defTabSz="844083" rtl="0" eaLnBrk="1" fontAlgn="auto" latinLnBrk="0" hangingPunct="1">
              <a:lnSpc>
                <a:spcPct val="120000"/>
              </a:lnSpc>
              <a:spcBef>
                <a:spcPts val="0"/>
              </a:spcBef>
              <a:spcAft>
                <a:spcPts val="0"/>
              </a:spcAft>
              <a:buClr>
                <a:srgbClr val="C00000"/>
              </a:buClr>
              <a:buSzTx/>
              <a:tabLst/>
              <a:defRPr/>
            </a:pPr>
            <a:r>
              <a:rPr kumimoji="0" lang="en-US" sz="1050" b="0" i="0" u="none" strike="noStrike" kern="0" cap="none" spc="0" normalizeH="0" baseline="0" noProof="0" dirty="0">
                <a:ln>
                  <a:noFill/>
                </a:ln>
                <a:solidFill>
                  <a:srgbClr val="000000"/>
                </a:solidFill>
                <a:effectLst/>
                <a:uLnTx/>
                <a:uFillTx/>
                <a:latin typeface="Calibri"/>
                <a:ea typeface="DFKaiShu-GB5"/>
                <a:cs typeface="+mn-cs"/>
              </a:rPr>
              <a:t>Total </a:t>
            </a:r>
            <a:r>
              <a:rPr kumimoji="0" lang="en-US" sz="1050" b="0" i="0" strike="noStrike" kern="0" cap="none" spc="0" normalizeH="0" baseline="0" noProof="0" dirty="0">
                <a:ln>
                  <a:noFill/>
                </a:ln>
                <a:solidFill>
                  <a:srgbClr val="000000"/>
                </a:solidFill>
                <a:effectLst/>
                <a:uLnTx/>
                <a:uFillTx/>
                <a:latin typeface="Calibri"/>
                <a:ea typeface="DFKaiShu-GB5"/>
                <a:cs typeface="+mn-cs"/>
              </a:rPr>
              <a:t>Volume: </a:t>
            </a:r>
            <a:r>
              <a:rPr kumimoji="0" lang="en-US" sz="1050" b="0" i="0" u="none" strike="noStrike" kern="0" cap="none" spc="0" normalizeH="0" baseline="0" noProof="0" dirty="0">
                <a:ln>
                  <a:noFill/>
                </a:ln>
                <a:solidFill>
                  <a:srgbClr val="000000"/>
                </a:solidFill>
                <a:effectLst/>
                <a:uLnTx/>
                <a:uFillTx/>
                <a:latin typeface="Calibri"/>
                <a:ea typeface="DFKaiShu-GB5"/>
                <a:cs typeface="+mn-cs"/>
              </a:rPr>
              <a:t>US$14,102</a:t>
            </a:r>
            <a:r>
              <a:rPr lang="en-US" sz="1050" dirty="0" err="1">
                <a:solidFill>
                  <a:srgbClr val="000000"/>
                </a:solidFill>
                <a:latin typeface="Calibri"/>
                <a:ea typeface="DFKaiShu-GB5"/>
              </a:rPr>
              <a:t>mn</a:t>
            </a:r>
            <a:endParaRPr kumimoji="0" lang="en-US" sz="1050" b="0" i="0" u="none" strike="noStrike" kern="0" cap="none" spc="0" normalizeH="0" baseline="0" noProof="0" dirty="0">
              <a:ln>
                <a:noFill/>
              </a:ln>
              <a:solidFill>
                <a:srgbClr val="000000"/>
              </a:solidFill>
              <a:effectLst/>
              <a:uLnTx/>
              <a:uFillTx/>
              <a:latin typeface="Calibri"/>
              <a:ea typeface="DFKaiShu-GB5"/>
              <a:cs typeface="+mn-cs"/>
            </a:endParaRPr>
          </a:p>
        </p:txBody>
      </p:sp>
      <p:sp>
        <p:nvSpPr>
          <p:cNvPr id="13" name="TextBox 12">
            <a:extLst>
              <a:ext uri="{FF2B5EF4-FFF2-40B4-BE49-F238E27FC236}">
                <a16:creationId xmlns:a16="http://schemas.microsoft.com/office/drawing/2014/main" id="{A5A14D8D-ACED-AC4B-E269-C633AB8C25E9}"/>
              </a:ext>
            </a:extLst>
          </p:cNvPr>
          <p:cNvSpPr txBox="1"/>
          <p:nvPr/>
        </p:nvSpPr>
        <p:spPr>
          <a:xfrm>
            <a:off x="2803245" y="3348718"/>
            <a:ext cx="210125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R="0" lvl="0" algn="ctr" defTabSz="844083" rtl="0" eaLnBrk="1" fontAlgn="auto" latinLnBrk="0" hangingPunct="1">
              <a:lnSpc>
                <a:spcPct val="120000"/>
              </a:lnSpc>
              <a:spcBef>
                <a:spcPts val="0"/>
              </a:spcBef>
              <a:spcAft>
                <a:spcPts val="0"/>
              </a:spcAft>
              <a:buClr>
                <a:srgbClr val="C00000"/>
              </a:buClr>
              <a:buSzTx/>
              <a:tabLst/>
              <a:defRPr/>
            </a:pPr>
            <a:r>
              <a:rPr kumimoji="0" lang="en-US" sz="1050" b="0" i="0" u="none" strike="noStrike" kern="0" cap="none" spc="0" normalizeH="0" baseline="0" noProof="0" dirty="0">
                <a:ln>
                  <a:noFill/>
                </a:ln>
                <a:solidFill>
                  <a:srgbClr val="000000"/>
                </a:solidFill>
                <a:effectLst/>
                <a:uLnTx/>
                <a:uFillTx/>
                <a:latin typeface="Calibri"/>
                <a:ea typeface="DFKaiShu-GB5"/>
                <a:cs typeface="+mn-cs"/>
              </a:rPr>
              <a:t># of Deals: </a:t>
            </a:r>
            <a:r>
              <a:rPr lang="en-US" sz="1050" dirty="0">
                <a:solidFill>
                  <a:srgbClr val="000000"/>
                </a:solidFill>
                <a:latin typeface="Calibri"/>
                <a:ea typeface="DFKaiShu-GB5"/>
              </a:rPr>
              <a:t>38</a:t>
            </a:r>
            <a:endParaRPr kumimoji="0" lang="en-US" sz="1050" b="0" i="0" u="none" strike="noStrike" kern="0" cap="none" spc="0" normalizeH="0" baseline="0" noProof="0" dirty="0">
              <a:ln>
                <a:noFill/>
              </a:ln>
              <a:solidFill>
                <a:srgbClr val="000000"/>
              </a:solidFill>
              <a:effectLst/>
              <a:uLnTx/>
              <a:uFillTx/>
              <a:latin typeface="Calibri"/>
              <a:ea typeface="DFKaiShu-GB5"/>
              <a:cs typeface="+mn-cs"/>
            </a:endParaRPr>
          </a:p>
        </p:txBody>
      </p:sp>
    </p:spTree>
    <p:extLst>
      <p:ext uri="{BB962C8B-B14F-4D97-AF65-F5344CB8AC3E}">
        <p14:creationId xmlns:p14="http://schemas.microsoft.com/office/powerpoint/2010/main" val="568089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1Q2026 Deals Summary – Placements</a:t>
            </a:r>
          </a:p>
        </p:txBody>
      </p:sp>
      <p:sp>
        <p:nvSpPr>
          <p:cNvPr id="31" name="TextBox 7"/>
          <p:cNvSpPr txBox="1">
            <a:spLocks noChangeArrowheads="1"/>
          </p:cNvSpPr>
          <p:nvPr/>
        </p:nvSpPr>
        <p:spPr bwMode="auto">
          <a:xfrm>
            <a:off x="5090922" y="3725423"/>
            <a:ext cx="4389120" cy="228398"/>
          </a:xfrm>
          <a:prstGeom prst="rect">
            <a:avLst/>
          </a:prstGeom>
          <a:solidFill>
            <a:schemeClr val="accent6"/>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Missed Deals in 1Q20</a:t>
            </a:r>
            <a:r>
              <a:rPr kumimoji="0" lang="en-US" altLang="zh-CN" sz="1200" b="1" i="0" u="none" strike="noStrike" kern="0" cap="none" spc="0" normalizeH="0" baseline="0" noProof="0" dirty="0">
                <a:ln>
                  <a:noFill/>
                </a:ln>
                <a:solidFill>
                  <a:srgbClr val="FFFFFF"/>
                </a:solidFill>
                <a:effectLst/>
                <a:uLnTx/>
                <a:uFillTx/>
                <a:latin typeface="Calibri"/>
                <a:ea typeface="DFKaiShu-GB5"/>
                <a:cs typeface="+mn-cs"/>
              </a:rPr>
              <a:t>26</a:t>
            </a:r>
            <a:endParaRPr kumimoji="0" lang="en-US" sz="1200" b="1" i="0" u="none" strike="noStrike" kern="0" cap="none" spc="0" normalizeH="0" baseline="0" noProof="0" dirty="0">
              <a:ln>
                <a:noFill/>
              </a:ln>
              <a:solidFill>
                <a:srgbClr val="FFFFFF"/>
              </a:solidFill>
              <a:effectLst/>
              <a:uLnTx/>
              <a:uFillTx/>
              <a:latin typeface="Calibri"/>
              <a:ea typeface="DFKaiShu-GB5"/>
              <a:cs typeface="+mn-cs"/>
            </a:endParaRPr>
          </a:p>
        </p:txBody>
      </p:sp>
      <p:grpSp>
        <p:nvGrpSpPr>
          <p:cNvPr id="5" name="Group 4">
            <a:extLst>
              <a:ext uri="{FF2B5EF4-FFF2-40B4-BE49-F238E27FC236}">
                <a16:creationId xmlns:a16="http://schemas.microsoft.com/office/drawing/2014/main" id="{C25EEB13-EA11-4DF5-8801-8618F194254F}"/>
              </a:ext>
            </a:extLst>
          </p:cNvPr>
          <p:cNvGrpSpPr/>
          <p:nvPr/>
        </p:nvGrpSpPr>
        <p:grpSpPr>
          <a:xfrm>
            <a:off x="5096187" y="4001191"/>
            <a:ext cx="4383855" cy="228398"/>
            <a:chOff x="5090922" y="4001191"/>
            <a:chExt cx="4383855" cy="228398"/>
          </a:xfrm>
        </p:grpSpPr>
        <p:sp>
          <p:nvSpPr>
            <p:cNvPr id="27" name="TextBox 7">
              <a:extLst>
                <a:ext uri="{FF2B5EF4-FFF2-40B4-BE49-F238E27FC236}">
                  <a16:creationId xmlns:a16="http://schemas.microsoft.com/office/drawing/2014/main" id="{9AA21388-97A5-412F-B900-6B2859B988C0}"/>
                </a:ext>
              </a:extLst>
            </p:cNvPr>
            <p:cNvSpPr txBox="1">
              <a:spLocks noChangeArrowheads="1"/>
            </p:cNvSpPr>
            <p:nvPr/>
          </p:nvSpPr>
          <p:spPr bwMode="auto">
            <a:xfrm>
              <a:off x="5090922" y="4001191"/>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Volume</a:t>
              </a:r>
            </a:p>
          </p:txBody>
        </p:sp>
        <p:sp>
          <p:nvSpPr>
            <p:cNvPr id="33" name="TextBox 7">
              <a:extLst>
                <a:ext uri="{FF2B5EF4-FFF2-40B4-BE49-F238E27FC236}">
                  <a16:creationId xmlns:a16="http://schemas.microsoft.com/office/drawing/2014/main" id="{4323BD8D-26C1-4A62-9AE6-04941A2D9145}"/>
                </a:ext>
              </a:extLst>
            </p:cNvPr>
            <p:cNvSpPr txBox="1">
              <a:spLocks noChangeArrowheads="1"/>
            </p:cNvSpPr>
            <p:nvPr/>
          </p:nvSpPr>
          <p:spPr bwMode="auto">
            <a:xfrm>
              <a:off x="7373525" y="4001191"/>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Number of Deals</a:t>
              </a:r>
            </a:p>
          </p:txBody>
        </p:sp>
      </p:grpSp>
      <p:graphicFrame>
        <p:nvGraphicFramePr>
          <p:cNvPr id="38" name="Chart 37">
            <a:extLst>
              <a:ext uri="{FF2B5EF4-FFF2-40B4-BE49-F238E27FC236}">
                <a16:creationId xmlns:a16="http://schemas.microsoft.com/office/drawing/2014/main" id="{B7283BD8-FFF4-4745-A4CC-CADB0D558E03}"/>
              </a:ext>
            </a:extLst>
          </p:cNvPr>
          <p:cNvGraphicFramePr/>
          <p:nvPr>
            <p:extLst>
              <p:ext uri="{D42A27DB-BD31-4B8C-83A1-F6EECF244321}">
                <p14:modId xmlns:p14="http://schemas.microsoft.com/office/powerpoint/2010/main" val="2871192419"/>
              </p:ext>
            </p:extLst>
          </p:nvPr>
        </p:nvGraphicFramePr>
        <p:xfrm>
          <a:off x="4885887" y="4088203"/>
          <a:ext cx="2284709" cy="20091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5" name="Chart 44">
            <a:extLst>
              <a:ext uri="{FF2B5EF4-FFF2-40B4-BE49-F238E27FC236}">
                <a16:creationId xmlns:a16="http://schemas.microsoft.com/office/drawing/2014/main" id="{88A89123-5715-4E0B-BE6E-233F6CDE462D}"/>
              </a:ext>
            </a:extLst>
          </p:cNvPr>
          <p:cNvGraphicFramePr/>
          <p:nvPr>
            <p:extLst>
              <p:ext uri="{D42A27DB-BD31-4B8C-83A1-F6EECF244321}">
                <p14:modId xmlns:p14="http://schemas.microsoft.com/office/powerpoint/2010/main" val="3560238888"/>
              </p:ext>
            </p:extLst>
          </p:nvPr>
        </p:nvGraphicFramePr>
        <p:xfrm>
          <a:off x="7373525" y="4188942"/>
          <a:ext cx="2204428" cy="1908419"/>
        </p:xfrm>
        <a:graphic>
          <a:graphicData uri="http://schemas.openxmlformats.org/drawingml/2006/chart">
            <c:chart xmlns:c="http://schemas.openxmlformats.org/drawingml/2006/chart" xmlns:r="http://schemas.openxmlformats.org/officeDocument/2006/relationships" r:id="rId3"/>
          </a:graphicData>
        </a:graphic>
      </p:graphicFrame>
      <p:sp>
        <p:nvSpPr>
          <p:cNvPr id="59" name="TextBox 58">
            <a:extLst>
              <a:ext uri="{FF2B5EF4-FFF2-40B4-BE49-F238E27FC236}">
                <a16:creationId xmlns:a16="http://schemas.microsoft.com/office/drawing/2014/main" id="{46FFC036-9593-4E9D-920B-8ECEA91672F1}"/>
              </a:ext>
            </a:extLst>
          </p:cNvPr>
          <p:cNvSpPr txBox="1"/>
          <p:nvPr/>
        </p:nvSpPr>
        <p:spPr>
          <a:xfrm>
            <a:off x="5090922" y="5989632"/>
            <a:ext cx="210125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R="0" lvl="0" algn="ctr" defTabSz="844083" rtl="0" eaLnBrk="1" fontAlgn="auto" latinLnBrk="0" hangingPunct="1">
              <a:lnSpc>
                <a:spcPct val="120000"/>
              </a:lnSpc>
              <a:spcBef>
                <a:spcPts val="0"/>
              </a:spcBef>
              <a:spcAft>
                <a:spcPts val="0"/>
              </a:spcAft>
              <a:buClr>
                <a:srgbClr val="C00000"/>
              </a:buClr>
              <a:buSzTx/>
              <a:tabLst/>
              <a:defRPr/>
            </a:pPr>
            <a:r>
              <a:rPr kumimoji="0" lang="en-US" sz="1100" b="0" i="0" u="none" strike="noStrike" kern="0" cap="none" spc="0" normalizeH="0" baseline="0" noProof="0" dirty="0">
                <a:ln>
                  <a:noFill/>
                </a:ln>
                <a:solidFill>
                  <a:schemeClr val="tx1"/>
                </a:solidFill>
                <a:effectLst/>
                <a:uLnTx/>
                <a:uFillTx/>
                <a:latin typeface="Calibri"/>
                <a:ea typeface="DFKaiShu-GB5"/>
                <a:cs typeface="+mn-cs"/>
              </a:rPr>
              <a:t>Total Volume: US$</a:t>
            </a:r>
            <a:r>
              <a:rPr lang="en-US" sz="1100" dirty="0">
                <a:solidFill>
                  <a:schemeClr val="tx1"/>
                </a:solidFill>
                <a:latin typeface="Calibri"/>
                <a:ea typeface="DFKaiShu-GB5"/>
              </a:rPr>
              <a:t>3</a:t>
            </a:r>
            <a:r>
              <a:rPr kumimoji="0" lang="en-US" sz="1100" b="0" i="0" u="none" strike="noStrike" kern="0" cap="none" spc="0" normalizeH="0" baseline="0" noProof="0" dirty="0">
                <a:ln>
                  <a:noFill/>
                </a:ln>
                <a:solidFill>
                  <a:schemeClr val="tx1"/>
                </a:solidFill>
                <a:effectLst/>
                <a:uLnTx/>
                <a:uFillTx/>
                <a:latin typeface="Calibri"/>
                <a:ea typeface="DFKaiShu-GB5"/>
                <a:cs typeface="+mn-cs"/>
              </a:rPr>
              <a:t>,136mn</a:t>
            </a:r>
            <a:r>
              <a:rPr kumimoji="0" lang="en-US" sz="1100" b="0" i="0" u="none" strike="noStrike" kern="0" cap="none" spc="0" normalizeH="0" baseline="0" noProof="0" dirty="0">
                <a:ln>
                  <a:noFill/>
                </a:ln>
                <a:solidFill>
                  <a:srgbClr val="000000"/>
                </a:solidFill>
                <a:effectLst/>
                <a:uLnTx/>
                <a:uFillTx/>
                <a:latin typeface="Calibri"/>
                <a:ea typeface="DFKaiShu-GB5"/>
                <a:cs typeface="+mn-cs"/>
              </a:rPr>
              <a:t>^</a:t>
            </a:r>
            <a:endParaRPr kumimoji="0" lang="en-US" sz="1100" b="0" i="0" u="none" strike="noStrike" kern="0" cap="none" spc="0" normalizeH="0" baseline="0" noProof="0" dirty="0">
              <a:ln>
                <a:noFill/>
              </a:ln>
              <a:solidFill>
                <a:schemeClr val="tx1"/>
              </a:solidFill>
              <a:effectLst/>
              <a:uLnTx/>
              <a:uFillTx/>
              <a:latin typeface="Calibri"/>
              <a:ea typeface="DFKaiShu-GB5"/>
              <a:cs typeface="+mn-cs"/>
            </a:endParaRPr>
          </a:p>
        </p:txBody>
      </p:sp>
      <p:sp>
        <p:nvSpPr>
          <p:cNvPr id="63" name="TextBox 62">
            <a:extLst>
              <a:ext uri="{FF2B5EF4-FFF2-40B4-BE49-F238E27FC236}">
                <a16:creationId xmlns:a16="http://schemas.microsoft.com/office/drawing/2014/main" id="{2A51A598-EBDD-4752-914B-A70CDA14141D}"/>
              </a:ext>
            </a:extLst>
          </p:cNvPr>
          <p:cNvSpPr txBox="1"/>
          <p:nvPr/>
        </p:nvSpPr>
        <p:spPr>
          <a:xfrm>
            <a:off x="7462148" y="5989955"/>
            <a:ext cx="2101252" cy="384463"/>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L="0" marR="0" lvl="0" indent="0" algn="ctr" defTabSz="844083" rtl="0" eaLnBrk="1" fontAlgn="auto" latinLnBrk="0" hangingPunct="1">
              <a:lnSpc>
                <a:spcPct val="120000"/>
              </a:lnSpc>
              <a:spcBef>
                <a:spcPts val="0"/>
              </a:spcBef>
              <a:spcAft>
                <a:spcPts val="0"/>
              </a:spcAft>
              <a:buClr>
                <a:srgbClr val="C00000"/>
              </a:buClr>
              <a:buSzTx/>
              <a:buFontTx/>
              <a:buNone/>
              <a:tabLst/>
              <a:defRPr/>
            </a:pPr>
            <a:r>
              <a:rPr kumimoji="0" lang="en-US" sz="1100" b="0" i="0" u="none" strike="noStrike" kern="0" cap="none" spc="0" normalizeH="0" baseline="0" noProof="0" dirty="0">
                <a:ln>
                  <a:noFill/>
                </a:ln>
                <a:solidFill>
                  <a:schemeClr val="tx1"/>
                </a:solidFill>
                <a:effectLst/>
                <a:uLnTx/>
                <a:uFillTx/>
                <a:latin typeface="Calibri"/>
                <a:ea typeface="DFKaiShu-GB5"/>
                <a:cs typeface="+mn-cs"/>
              </a:rPr>
              <a:t># of Deals: 32</a:t>
            </a:r>
            <a:r>
              <a:rPr kumimoji="0" lang="en-US" sz="1100" b="0" i="0" u="none" strike="noStrike" kern="0" cap="none" spc="0" normalizeH="0" baseline="0" noProof="0" dirty="0">
                <a:ln>
                  <a:noFill/>
                </a:ln>
                <a:solidFill>
                  <a:srgbClr val="000000"/>
                </a:solidFill>
                <a:effectLst/>
                <a:uLnTx/>
                <a:uFillTx/>
                <a:latin typeface="Calibri"/>
                <a:ea typeface="DFKaiShu-GB5"/>
                <a:cs typeface="+mn-cs"/>
              </a:rPr>
              <a:t>^</a:t>
            </a:r>
            <a:endParaRPr kumimoji="0" lang="en-US" sz="1100" b="0" i="0" u="none" strike="noStrike" kern="0" cap="none" spc="0" normalizeH="0" baseline="0" noProof="0" dirty="0">
              <a:ln>
                <a:noFill/>
              </a:ln>
              <a:solidFill>
                <a:schemeClr val="tx1"/>
              </a:solidFill>
              <a:effectLst/>
              <a:uLnTx/>
              <a:uFillTx/>
              <a:latin typeface="Calibri"/>
              <a:ea typeface="DFKaiShu-GB5"/>
              <a:cs typeface="+mn-cs"/>
            </a:endParaRPr>
          </a:p>
        </p:txBody>
      </p:sp>
      <p:sp>
        <p:nvSpPr>
          <p:cNvPr id="42" name="TextBox 7">
            <a:extLst>
              <a:ext uri="{FF2B5EF4-FFF2-40B4-BE49-F238E27FC236}">
                <a16:creationId xmlns:a16="http://schemas.microsoft.com/office/drawing/2014/main" id="{F7EAED68-07A2-46DD-9316-E1EF3912510E}"/>
              </a:ext>
            </a:extLst>
          </p:cNvPr>
          <p:cNvSpPr txBox="1">
            <a:spLocks noChangeArrowheads="1"/>
          </p:cNvSpPr>
          <p:nvPr/>
        </p:nvSpPr>
        <p:spPr bwMode="auto">
          <a:xfrm>
            <a:off x="341757" y="3725423"/>
            <a:ext cx="4389120" cy="228398"/>
          </a:xfrm>
          <a:prstGeom prst="rect">
            <a:avLst/>
          </a:prstGeom>
          <a:solidFill>
            <a:schemeClr val="accent6"/>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Top Deals in 1Q20</a:t>
            </a:r>
            <a:r>
              <a:rPr kumimoji="0" lang="en-US" altLang="zh-CN" sz="1200" b="1" i="0" u="none" strike="noStrike" kern="0" cap="none" spc="0" normalizeH="0" baseline="0" noProof="0" dirty="0">
                <a:ln>
                  <a:noFill/>
                </a:ln>
                <a:solidFill>
                  <a:srgbClr val="FFFFFF"/>
                </a:solidFill>
                <a:effectLst/>
                <a:uLnTx/>
                <a:uFillTx/>
                <a:latin typeface="Calibri"/>
                <a:ea typeface="DFKaiShu-GB5"/>
                <a:cs typeface="+mn-cs"/>
              </a:rPr>
              <a:t>26</a:t>
            </a:r>
            <a:r>
              <a:rPr kumimoji="0" lang="en-US" sz="1200" b="1" i="0" u="none" strike="noStrike" kern="0" cap="none" spc="0" normalizeH="0" baseline="0" noProof="0" dirty="0">
                <a:ln>
                  <a:noFill/>
                </a:ln>
                <a:solidFill>
                  <a:srgbClr val="FFFFFF"/>
                </a:solidFill>
                <a:effectLst/>
                <a:uLnTx/>
                <a:uFillTx/>
                <a:latin typeface="Calibri"/>
                <a:ea typeface="DFKaiShu-GB5"/>
                <a:cs typeface="+mn-cs"/>
              </a:rPr>
              <a:t> </a:t>
            </a:r>
          </a:p>
        </p:txBody>
      </p:sp>
      <p:sp>
        <p:nvSpPr>
          <p:cNvPr id="30" name="TextBox 7">
            <a:extLst>
              <a:ext uri="{FF2B5EF4-FFF2-40B4-BE49-F238E27FC236}">
                <a16:creationId xmlns:a16="http://schemas.microsoft.com/office/drawing/2014/main" id="{ED80114B-E478-4CA0-B8E8-2449B7A35FA6}"/>
              </a:ext>
            </a:extLst>
          </p:cNvPr>
          <p:cNvSpPr txBox="1">
            <a:spLocks noChangeArrowheads="1"/>
          </p:cNvSpPr>
          <p:nvPr/>
        </p:nvSpPr>
        <p:spPr bwMode="auto">
          <a:xfrm>
            <a:off x="5090922" y="998788"/>
            <a:ext cx="4389120" cy="225017"/>
          </a:xfrm>
          <a:prstGeom prst="rect">
            <a:avLst/>
          </a:prstGeom>
          <a:solidFill>
            <a:schemeClr val="accent6"/>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4Q20</a:t>
            </a:r>
            <a:r>
              <a:rPr kumimoji="0" lang="en-US" altLang="zh-CN" sz="1200" b="1" i="0" u="none" strike="noStrike" kern="0" cap="none" spc="0" normalizeH="0" baseline="0" noProof="0" dirty="0">
                <a:ln>
                  <a:noFill/>
                </a:ln>
                <a:solidFill>
                  <a:srgbClr val="FFFFFF"/>
                </a:solidFill>
                <a:effectLst/>
                <a:uLnTx/>
                <a:uFillTx/>
                <a:latin typeface="Calibri"/>
                <a:ea typeface="DFKaiShu-GB5"/>
                <a:cs typeface="+mn-cs"/>
              </a:rPr>
              <a:t>25 </a:t>
            </a:r>
            <a:r>
              <a:rPr kumimoji="0" lang="en-US" sz="1200" b="1" i="0" u="none" strike="noStrike" kern="0" cap="none" spc="0" normalizeH="0" baseline="0" noProof="0" dirty="0">
                <a:ln>
                  <a:noFill/>
                </a:ln>
                <a:solidFill>
                  <a:srgbClr val="FFFFFF"/>
                </a:solidFill>
                <a:effectLst/>
                <a:uLnTx/>
                <a:uFillTx/>
                <a:latin typeface="Calibri"/>
                <a:ea typeface="DFKaiShu-GB5"/>
                <a:cs typeface="+mn-cs"/>
              </a:rPr>
              <a:t>–  Comparison</a:t>
            </a:r>
          </a:p>
        </p:txBody>
      </p:sp>
      <p:sp>
        <p:nvSpPr>
          <p:cNvPr id="32" name="TextBox 7">
            <a:extLst>
              <a:ext uri="{FF2B5EF4-FFF2-40B4-BE49-F238E27FC236}">
                <a16:creationId xmlns:a16="http://schemas.microsoft.com/office/drawing/2014/main" id="{1BFF1D31-B3F7-48EA-B60B-97DFBAB566B2}"/>
              </a:ext>
            </a:extLst>
          </p:cNvPr>
          <p:cNvSpPr txBox="1">
            <a:spLocks noChangeArrowheads="1"/>
          </p:cNvSpPr>
          <p:nvPr/>
        </p:nvSpPr>
        <p:spPr bwMode="auto">
          <a:xfrm>
            <a:off x="5090922" y="1259050"/>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Volume</a:t>
            </a:r>
          </a:p>
        </p:txBody>
      </p:sp>
      <p:sp>
        <p:nvSpPr>
          <p:cNvPr id="36" name="TextBox 7">
            <a:extLst>
              <a:ext uri="{FF2B5EF4-FFF2-40B4-BE49-F238E27FC236}">
                <a16:creationId xmlns:a16="http://schemas.microsoft.com/office/drawing/2014/main" id="{60596947-5BA7-4734-A80B-11625A775561}"/>
              </a:ext>
            </a:extLst>
          </p:cNvPr>
          <p:cNvSpPr txBox="1">
            <a:spLocks noChangeArrowheads="1"/>
          </p:cNvSpPr>
          <p:nvPr/>
        </p:nvSpPr>
        <p:spPr bwMode="auto">
          <a:xfrm>
            <a:off x="7378790" y="1259050"/>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Number of Deals</a:t>
            </a:r>
          </a:p>
        </p:txBody>
      </p:sp>
      <p:sp>
        <p:nvSpPr>
          <p:cNvPr id="29" name="TextBox 7"/>
          <p:cNvSpPr txBox="1">
            <a:spLocks noChangeArrowheads="1"/>
          </p:cNvSpPr>
          <p:nvPr/>
        </p:nvSpPr>
        <p:spPr bwMode="auto">
          <a:xfrm>
            <a:off x="341757" y="999371"/>
            <a:ext cx="4389120" cy="228398"/>
          </a:xfrm>
          <a:prstGeom prst="rect">
            <a:avLst/>
          </a:prstGeom>
          <a:solidFill>
            <a:schemeClr val="accent6"/>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1Q202</a:t>
            </a:r>
            <a:r>
              <a:rPr lang="en-US" altLang="zh-CN" dirty="0">
                <a:latin typeface="Calibri"/>
                <a:ea typeface="DFKaiShu-GB5"/>
              </a:rPr>
              <a:t>6</a:t>
            </a:r>
            <a:r>
              <a:rPr kumimoji="0" lang="en-US" sz="1200" b="1" i="0" u="none" strike="noStrike" kern="0" cap="none" spc="0" normalizeH="0" baseline="0" noProof="0" dirty="0">
                <a:ln>
                  <a:noFill/>
                </a:ln>
                <a:solidFill>
                  <a:srgbClr val="FFFFFF"/>
                </a:solidFill>
                <a:effectLst/>
                <a:uLnTx/>
                <a:uFillTx/>
                <a:latin typeface="Calibri"/>
                <a:ea typeface="DFKaiShu-GB5"/>
                <a:cs typeface="+mn-cs"/>
              </a:rPr>
              <a:t> – Sector Analysis</a:t>
            </a:r>
          </a:p>
        </p:txBody>
      </p:sp>
      <p:sp>
        <p:nvSpPr>
          <p:cNvPr id="20" name="TextBox 7">
            <a:extLst>
              <a:ext uri="{FF2B5EF4-FFF2-40B4-BE49-F238E27FC236}">
                <a16:creationId xmlns:a16="http://schemas.microsoft.com/office/drawing/2014/main" id="{ED26DD9D-C49E-4B70-B53C-87EA83419705}"/>
              </a:ext>
            </a:extLst>
          </p:cNvPr>
          <p:cNvSpPr txBox="1">
            <a:spLocks noChangeArrowheads="1"/>
          </p:cNvSpPr>
          <p:nvPr/>
        </p:nvSpPr>
        <p:spPr bwMode="auto">
          <a:xfrm>
            <a:off x="341757" y="1259050"/>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Volume</a:t>
            </a:r>
          </a:p>
        </p:txBody>
      </p:sp>
      <p:sp>
        <p:nvSpPr>
          <p:cNvPr id="21" name="TextBox 7">
            <a:extLst>
              <a:ext uri="{FF2B5EF4-FFF2-40B4-BE49-F238E27FC236}">
                <a16:creationId xmlns:a16="http://schemas.microsoft.com/office/drawing/2014/main" id="{E9A7EDDE-722C-4566-9E14-0563E1D94B24}"/>
              </a:ext>
            </a:extLst>
          </p:cNvPr>
          <p:cNvSpPr txBox="1">
            <a:spLocks noChangeArrowheads="1"/>
          </p:cNvSpPr>
          <p:nvPr/>
        </p:nvSpPr>
        <p:spPr bwMode="auto">
          <a:xfrm>
            <a:off x="2629625" y="1259050"/>
            <a:ext cx="2101252" cy="228398"/>
          </a:xfrm>
          <a:prstGeom prst="rect">
            <a:avLst/>
          </a:prstGeom>
          <a:solidFill>
            <a:schemeClr val="tx1"/>
          </a:solidFill>
          <a:ln>
            <a:noFill/>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Calibri"/>
                <a:ea typeface="DFKaiShu-GB5"/>
                <a:cs typeface="+mn-cs"/>
              </a:rPr>
              <a:t>By Number of Deals</a:t>
            </a:r>
          </a:p>
        </p:txBody>
      </p:sp>
      <p:sp>
        <p:nvSpPr>
          <p:cNvPr id="6" name="Slide Number Placeholder 5">
            <a:extLst>
              <a:ext uri="{FF2B5EF4-FFF2-40B4-BE49-F238E27FC236}">
                <a16:creationId xmlns:a16="http://schemas.microsoft.com/office/drawing/2014/main" id="{F0320C6E-7E32-47CE-90D7-B34D9A8E575B}"/>
              </a:ext>
            </a:extLst>
          </p:cNvPr>
          <p:cNvSpPr>
            <a:spLocks noGrp="1"/>
          </p:cNvSpPr>
          <p:nvPr>
            <p:ph type="sldNum" sz="quarter" idx="4"/>
          </p:nvPr>
        </p:nvSpPr>
        <p:spPr>
          <a:xfrm>
            <a:off x="9444286" y="6489265"/>
            <a:ext cx="341760" cy="246221"/>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000" kern="1200" baseline="0">
                <a:solidFill>
                  <a:schemeClr val="tx1">
                    <a:tint val="75000"/>
                  </a:schemeClr>
                </a:solidFill>
                <a:latin typeface="Calibri" panose="020F0502020204030204" pitchFamily="34" charset="0"/>
                <a:ea typeface="DFKaiShu-GB5" panose="03000509000000000000" pitchFamily="65"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46F7334-D539-4DA0-AE05-1AF7E48B82B8}" type="slidenum">
              <a:rPr lang="en-US" smtClean="0"/>
              <a:pPr>
                <a:defRPr/>
              </a:pPr>
              <a:t>6</a:t>
            </a:fld>
            <a:endParaRPr lang="en-US" dirty="0"/>
          </a:p>
        </p:txBody>
      </p:sp>
      <p:graphicFrame>
        <p:nvGraphicFramePr>
          <p:cNvPr id="11" name="Table 10">
            <a:extLst>
              <a:ext uri="{FF2B5EF4-FFF2-40B4-BE49-F238E27FC236}">
                <a16:creationId xmlns:a16="http://schemas.microsoft.com/office/drawing/2014/main" id="{F145956D-B831-98B3-E9A6-CF534916E8C7}"/>
              </a:ext>
            </a:extLst>
          </p:cNvPr>
          <p:cNvGraphicFramePr>
            <a:graphicFrameLocks noGrp="1"/>
          </p:cNvGraphicFramePr>
          <p:nvPr>
            <p:extLst>
              <p:ext uri="{D42A27DB-BD31-4B8C-83A1-F6EECF244321}">
                <p14:modId xmlns:p14="http://schemas.microsoft.com/office/powerpoint/2010/main" val="1286502845"/>
              </p:ext>
            </p:extLst>
          </p:nvPr>
        </p:nvGraphicFramePr>
        <p:xfrm>
          <a:off x="354218" y="3999476"/>
          <a:ext cx="4364197" cy="1964107"/>
        </p:xfrm>
        <a:graphic>
          <a:graphicData uri="http://schemas.openxmlformats.org/drawingml/2006/table">
            <a:tbl>
              <a:tblPr firstRow="1" bandRow="1">
                <a:tableStyleId>{5C22544A-7EE6-4342-B048-85BDC9FD1C3A}</a:tableStyleId>
              </a:tblPr>
              <a:tblGrid>
                <a:gridCol w="361490">
                  <a:extLst>
                    <a:ext uri="{9D8B030D-6E8A-4147-A177-3AD203B41FA5}">
                      <a16:colId xmlns:a16="http://schemas.microsoft.com/office/drawing/2014/main" val="3778908565"/>
                    </a:ext>
                  </a:extLst>
                </a:gridCol>
                <a:gridCol w="1698507">
                  <a:extLst>
                    <a:ext uri="{9D8B030D-6E8A-4147-A177-3AD203B41FA5}">
                      <a16:colId xmlns:a16="http://schemas.microsoft.com/office/drawing/2014/main" val="3812810555"/>
                    </a:ext>
                  </a:extLst>
                </a:gridCol>
                <a:gridCol w="738554">
                  <a:extLst>
                    <a:ext uri="{9D8B030D-6E8A-4147-A177-3AD203B41FA5}">
                      <a16:colId xmlns:a16="http://schemas.microsoft.com/office/drawing/2014/main" val="500530285"/>
                    </a:ext>
                  </a:extLst>
                </a:gridCol>
                <a:gridCol w="828576">
                  <a:extLst>
                    <a:ext uri="{9D8B030D-6E8A-4147-A177-3AD203B41FA5}">
                      <a16:colId xmlns:a16="http://schemas.microsoft.com/office/drawing/2014/main" val="525576982"/>
                    </a:ext>
                  </a:extLst>
                </a:gridCol>
                <a:gridCol w="737070">
                  <a:extLst>
                    <a:ext uri="{9D8B030D-6E8A-4147-A177-3AD203B41FA5}">
                      <a16:colId xmlns:a16="http://schemas.microsoft.com/office/drawing/2014/main" val="2350262838"/>
                    </a:ext>
                  </a:extLst>
                </a:gridCol>
              </a:tblGrid>
              <a:tr h="340293">
                <a:tc>
                  <a:txBody>
                    <a:bodyPr/>
                    <a:lstStyle/>
                    <a:p>
                      <a:pPr algn="ctr"/>
                      <a:r>
                        <a:rPr lang="en-US" sz="1000" b="1" dirty="0">
                          <a:solidFill>
                            <a:schemeClr val="tx1"/>
                          </a:solidFill>
                          <a:latin typeface="+mn-lt"/>
                        </a:rPr>
                        <a:t>#</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00" b="1" dirty="0">
                          <a:solidFill>
                            <a:schemeClr val="tx1"/>
                          </a:solidFill>
                          <a:latin typeface="+mn-lt"/>
                        </a:rPr>
                        <a:t>Issuer</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latinLnBrk="0" hangingPunct="1"/>
                      <a:r>
                        <a:rPr lang="en-US" sz="1000" b="1" kern="1200" dirty="0">
                          <a:solidFill>
                            <a:schemeClr val="tx1"/>
                          </a:solidFill>
                          <a:latin typeface="+mn-lt"/>
                          <a:ea typeface="+mn-ea"/>
                          <a:cs typeface="+mn-cs"/>
                        </a:rPr>
                        <a:t>USD’m</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latinLnBrk="0" hangingPunct="1"/>
                      <a:r>
                        <a:rPr lang="en-US" sz="1000" b="1" kern="1200" dirty="0">
                          <a:solidFill>
                            <a:schemeClr val="tx1"/>
                          </a:solidFill>
                          <a:latin typeface="+mn-lt"/>
                          <a:ea typeface="+mn-ea"/>
                          <a:cs typeface="+mn-cs"/>
                        </a:rPr>
                        <a:t>Sector</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latinLnBrk="0" hangingPunct="1"/>
                      <a:r>
                        <a:rPr lang="en-US" sz="1000" b="1" kern="1200" dirty="0">
                          <a:solidFill>
                            <a:schemeClr val="tx1"/>
                          </a:solidFill>
                          <a:latin typeface="+mn-lt"/>
                          <a:ea typeface="+mn-ea"/>
                          <a:cs typeface="+mn-cs"/>
                        </a:rPr>
                        <a:t>Type</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162203070"/>
                  </a:ext>
                </a:extLst>
              </a:tr>
              <a:tr h="313493">
                <a:tc>
                  <a:txBody>
                    <a:bodyPr/>
                    <a:lstStyle/>
                    <a:p>
                      <a:pPr marL="0" algn="ctr" defTabSz="990570" rtl="0" eaLnBrk="1" fontAlgn="ctr" latinLnBrk="0" hangingPunct="1"/>
                      <a:r>
                        <a:rPr lang="en-US" sz="1000" b="0" i="0" u="none" strike="noStrike" kern="1200" dirty="0">
                          <a:solidFill>
                            <a:schemeClr val="tx1"/>
                          </a:solidFill>
                          <a:effectLst/>
                          <a:latin typeface="+mn-lt"/>
                          <a:ea typeface="+mn-ea"/>
                          <a:cs typeface="+mn-cs"/>
                        </a:rPr>
                        <a:t>1</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1000" b="0" i="0" u="none" strike="noStrike" dirty="0" err="1">
                          <a:solidFill>
                            <a:schemeClr val="tx1"/>
                          </a:solidFill>
                          <a:effectLst/>
                          <a:latin typeface="Calibri" panose="020F0502020204030204" pitchFamily="34" charset="0"/>
                        </a:rPr>
                        <a:t>WuXi</a:t>
                      </a:r>
                      <a:r>
                        <a:rPr lang="en-US" sz="1000" b="0" i="0" u="none" strike="noStrike" dirty="0">
                          <a:solidFill>
                            <a:schemeClr val="tx1"/>
                          </a:solidFill>
                          <a:effectLst/>
                          <a:latin typeface="Calibri" panose="020F0502020204030204" pitchFamily="34" charset="0"/>
                        </a:rPr>
                        <a:t> Biologics (Cayman) Inc</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741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n-US" sz="1000" b="0" i="0" u="none" strike="noStrike">
                          <a:solidFill>
                            <a:schemeClr val="tx1"/>
                          </a:solidFill>
                          <a:effectLst/>
                          <a:latin typeface="Calibri" panose="020F0502020204030204" pitchFamily="34" charset="0"/>
                        </a:rPr>
                        <a:t>Healthcare</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lang="en-US" sz="1000" b="0" i="0" u="none" strike="noStrike" kern="1200" noProof="0" dirty="0">
                          <a:solidFill>
                            <a:schemeClr val="tx1"/>
                          </a:solidFill>
                          <a:effectLst/>
                          <a:latin typeface="+mn-lt"/>
                          <a:ea typeface="+mn-ea"/>
                          <a:cs typeface="+mn-cs"/>
                        </a:rPr>
                        <a:t>V</a:t>
                      </a:r>
                      <a:r>
                        <a:rPr lang="en-US" altLang="zh-CN" sz="1000" b="0" i="0" u="none" strike="noStrike" kern="1200" noProof="0" dirty="0">
                          <a:solidFill>
                            <a:schemeClr val="tx1"/>
                          </a:solidFill>
                          <a:effectLst/>
                          <a:latin typeface="+mn-lt"/>
                          <a:ea typeface="+mn-ea"/>
                          <a:cs typeface="+mn-cs"/>
                        </a:rPr>
                        <a:t>endor</a:t>
                      </a:r>
                      <a:endParaRPr lang="en-US" sz="1000" b="0" i="0" u="none" strike="noStrike" kern="1200" noProof="0" dirty="0">
                        <a:solidFill>
                          <a:schemeClr val="tx1"/>
                        </a:solidFill>
                        <a:effectLst/>
                        <a:latin typeface="+mn-lt"/>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1337841"/>
                  </a:ext>
                </a:extLst>
              </a:tr>
              <a:tr h="290787">
                <a:tc>
                  <a:txBody>
                    <a:bodyPr/>
                    <a:lstStyle/>
                    <a:p>
                      <a:pPr algn="ctr"/>
                      <a:r>
                        <a:rPr lang="en-US" sz="1000" dirty="0">
                          <a:solidFill>
                            <a:schemeClr val="tx1"/>
                          </a:solidFill>
                          <a:latin typeface="+mn-lt"/>
                        </a:rPr>
                        <a:t>2</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1000" b="0" i="0" u="none" strike="noStrike" dirty="0">
                          <a:solidFill>
                            <a:schemeClr val="tx1"/>
                          </a:solidFill>
                          <a:effectLst/>
                          <a:latin typeface="Calibri" panose="020F0502020204030204" pitchFamily="34" charset="0"/>
                        </a:rPr>
                        <a:t>GF Securities Co Ltd</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1000" b="0" i="0" u="none" strike="noStrike">
                          <a:solidFill>
                            <a:schemeClr val="tx1"/>
                          </a:solidFill>
                          <a:effectLst/>
                          <a:latin typeface="Calibri" panose="020F0502020204030204" pitchFamily="34" charset="0"/>
                        </a:rPr>
                        <a:t>510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US" sz="1000" b="0" i="0" u="none" strike="noStrike" dirty="0">
                          <a:solidFill>
                            <a:schemeClr val="tx1"/>
                          </a:solidFill>
                          <a:effectLst/>
                          <a:latin typeface="Calibri" panose="020F0502020204030204" pitchFamily="34" charset="0"/>
                        </a:rPr>
                        <a:t>Finance</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Calibri"/>
                          <a:ea typeface="DFKaiShu-GB5"/>
                          <a:cs typeface="+mn-cs"/>
                        </a:rPr>
                        <a:t>New Share</a:t>
                      </a:r>
                      <a:endParaRPr kumimoji="0" lang="en-US" sz="1000" b="0" i="0" u="none" strike="noStrike" kern="1200" cap="none" spc="0" normalizeH="0" baseline="0" noProof="0" dirty="0">
                        <a:ln>
                          <a:noFill/>
                        </a:ln>
                        <a:solidFill>
                          <a:schemeClr val="tx1"/>
                        </a:solidFill>
                        <a:effectLst/>
                        <a:uLnTx/>
                        <a:uFillTx/>
                        <a:latin typeface="Calibri"/>
                        <a:ea typeface="DFKaiShu-GB5"/>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6824368"/>
                  </a:ext>
                </a:extLst>
              </a:tr>
              <a:tr h="342245">
                <a:tc>
                  <a:txBody>
                    <a:bodyPr/>
                    <a:lstStyle/>
                    <a:p>
                      <a:pPr algn="ctr"/>
                      <a:r>
                        <a:rPr lang="en-US" sz="1000" dirty="0">
                          <a:solidFill>
                            <a:schemeClr val="tx1"/>
                          </a:solidFill>
                          <a:latin typeface="+mn-lt"/>
                        </a:rPr>
                        <a:t>3</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Tianqi Lithium Corp</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1000" b="0" i="0" u="none" strike="noStrike" dirty="0">
                          <a:solidFill>
                            <a:schemeClr val="tx1"/>
                          </a:solidFill>
                          <a:effectLst/>
                          <a:latin typeface="Calibri" panose="020F0502020204030204" pitchFamily="34" charset="0"/>
                        </a:rPr>
                        <a:t>375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n-US" sz="1000" b="0" i="0" u="none" strike="noStrike">
                          <a:solidFill>
                            <a:schemeClr val="tx1"/>
                          </a:solidFill>
                          <a:effectLst/>
                          <a:latin typeface="Calibri" panose="020F0502020204030204" pitchFamily="34" charset="0"/>
                        </a:rPr>
                        <a:t>Industrials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Calibri"/>
                          <a:ea typeface="DFKaiShu-GB5"/>
                          <a:cs typeface="+mn-cs"/>
                        </a:rPr>
                        <a:t>New Share</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988957"/>
                  </a:ext>
                </a:extLst>
              </a:tr>
              <a:tr h="345329">
                <a:tc>
                  <a:txBody>
                    <a:bodyPr/>
                    <a:lstStyle/>
                    <a:p>
                      <a:pPr algn="ctr"/>
                      <a:r>
                        <a:rPr lang="en-US" sz="1000" dirty="0">
                          <a:solidFill>
                            <a:schemeClr val="tx1"/>
                          </a:solidFill>
                          <a:latin typeface="+mn-lt"/>
                        </a:rPr>
                        <a:t>4</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1000" b="0" i="0" u="none" strike="noStrike">
                          <a:solidFill>
                            <a:schemeClr val="tx1"/>
                          </a:solidFill>
                          <a:effectLst/>
                          <a:latin typeface="Calibri" panose="020F0502020204030204" pitchFamily="34" charset="0"/>
                        </a:rPr>
                        <a:t>Kingboard Laminates Holdings Ltd</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1000" b="0" i="0" u="none" strike="noStrike" dirty="0">
                          <a:solidFill>
                            <a:schemeClr val="tx1"/>
                          </a:solidFill>
                          <a:effectLst/>
                          <a:latin typeface="Calibri" panose="020F0502020204030204" pitchFamily="34" charset="0"/>
                        </a:rPr>
                        <a:t>348</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US" sz="1000" b="0" i="0" u="none" strike="noStrike">
                          <a:solidFill>
                            <a:schemeClr val="tx1"/>
                          </a:solidFill>
                          <a:effectLst/>
                          <a:latin typeface="Calibri" panose="020F0502020204030204" pitchFamily="34" charset="0"/>
                        </a:rPr>
                        <a:t>TMT</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lang="en-US" sz="1000" b="0" i="0" u="none" strike="noStrike" kern="1200" noProof="0" dirty="0">
                          <a:solidFill>
                            <a:schemeClr val="tx1"/>
                          </a:solidFill>
                          <a:effectLst/>
                          <a:latin typeface="+mn-lt"/>
                          <a:ea typeface="+mn-ea"/>
                          <a:cs typeface="+mn-cs"/>
                        </a:rPr>
                        <a:t>V</a:t>
                      </a:r>
                      <a:r>
                        <a:rPr lang="en-US" altLang="zh-CN" sz="1000" b="0" i="0" u="none" strike="noStrike" kern="1200" noProof="0" dirty="0">
                          <a:solidFill>
                            <a:schemeClr val="tx1"/>
                          </a:solidFill>
                          <a:effectLst/>
                          <a:latin typeface="+mn-lt"/>
                          <a:ea typeface="+mn-ea"/>
                          <a:cs typeface="+mn-cs"/>
                        </a:rPr>
                        <a:t>endor</a:t>
                      </a:r>
                      <a:endParaRPr lang="en-US" sz="1000" b="0" i="0" u="none" strike="noStrike" kern="1200" noProof="0" dirty="0">
                        <a:solidFill>
                          <a:schemeClr val="tx1"/>
                        </a:solidFill>
                        <a:effectLst/>
                        <a:latin typeface="+mn-lt"/>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4467716"/>
                  </a:ext>
                </a:extLst>
              </a:tr>
              <a:tr h="331960">
                <a:tc>
                  <a:txBody>
                    <a:bodyPr/>
                    <a:lstStyle/>
                    <a:p>
                      <a:pPr algn="ctr"/>
                      <a:r>
                        <a:rPr lang="en-US" sz="1000" dirty="0">
                          <a:solidFill>
                            <a:schemeClr val="tx1"/>
                          </a:solidFill>
                          <a:latin typeface="+mn-lt"/>
                        </a:rPr>
                        <a:t>5</a:t>
                      </a:r>
                    </a:p>
                  </a:txBody>
                  <a:tcPr marL="74295" marR="74295" marT="37148" marB="371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1000" b="0" i="0" u="none" strike="noStrike" dirty="0">
                          <a:solidFill>
                            <a:schemeClr val="tx1"/>
                          </a:solidFill>
                          <a:effectLst/>
                          <a:latin typeface="Calibri" panose="020F0502020204030204" pitchFamily="34" charset="0"/>
                        </a:rPr>
                        <a:t>Nanshan </a:t>
                      </a:r>
                      <a:r>
                        <a:rPr lang="en-US" sz="1000" b="0" i="0" u="none" strike="noStrike" dirty="0" err="1">
                          <a:solidFill>
                            <a:schemeClr val="tx1"/>
                          </a:solidFill>
                          <a:effectLst/>
                          <a:latin typeface="Calibri" panose="020F0502020204030204" pitchFamily="34" charset="0"/>
                        </a:rPr>
                        <a:t>Aluminium</a:t>
                      </a:r>
                      <a:r>
                        <a:rPr lang="en-US" sz="1000" b="0" i="0" u="none" strike="noStrike" dirty="0">
                          <a:solidFill>
                            <a:schemeClr val="tx1"/>
                          </a:solidFill>
                          <a:effectLst/>
                          <a:latin typeface="Calibri" panose="020F0502020204030204" pitchFamily="34" charset="0"/>
                        </a:rPr>
                        <a:t> International Holdings Ltd</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1000" b="0" i="0" u="none" strike="noStrike" dirty="0">
                          <a:solidFill>
                            <a:schemeClr val="tx1"/>
                          </a:solidFill>
                          <a:effectLst/>
                          <a:latin typeface="Calibri" panose="020F0502020204030204" pitchFamily="34" charset="0"/>
                        </a:rPr>
                        <a:t>256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n-US" sz="1000" b="0" i="0" u="none" strike="noStrike" dirty="0">
                          <a:solidFill>
                            <a:schemeClr val="tx1"/>
                          </a:solidFill>
                          <a:effectLst/>
                          <a:latin typeface="Calibri" panose="020F0502020204030204" pitchFamily="34" charset="0"/>
                        </a:rPr>
                        <a:t>Mining</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Calibri"/>
                          <a:ea typeface="DFKaiShu-GB5"/>
                          <a:cs typeface="+mn-cs"/>
                        </a:rPr>
                        <a:t>New Share</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8896238"/>
                  </a:ext>
                </a:extLst>
              </a:tr>
            </a:tbl>
          </a:graphicData>
        </a:graphic>
      </p:graphicFrame>
      <p:sp>
        <p:nvSpPr>
          <p:cNvPr id="15" name="Rectangle 14">
            <a:extLst>
              <a:ext uri="{FF2B5EF4-FFF2-40B4-BE49-F238E27FC236}">
                <a16:creationId xmlns:a16="http://schemas.microsoft.com/office/drawing/2014/main" id="{85636BC5-73CA-BD66-BD06-4BF4D1A3D6D5}"/>
              </a:ext>
            </a:extLst>
          </p:cNvPr>
          <p:cNvSpPr/>
          <p:nvPr/>
        </p:nvSpPr>
        <p:spPr>
          <a:xfrm>
            <a:off x="1261127" y="6143016"/>
            <a:ext cx="4086488" cy="415498"/>
          </a:xfrm>
          <a:prstGeom prst="rect">
            <a:avLst/>
          </a:prstGeom>
          <a:noFill/>
        </p:spPr>
        <p:txBody>
          <a:bodyPr wrap="square" lIns="0" tIns="0" rIns="0" bIns="0" rtlCol="0">
            <a:spAutoFit/>
          </a:bodyPr>
          <a:lstStyle/>
          <a:p>
            <a:pPr eaLnBrk="1" fontAlgn="auto" hangingPunct="1">
              <a:spcBef>
                <a:spcPts val="0"/>
              </a:spcBef>
              <a:spcAft>
                <a:spcPts val="0"/>
              </a:spcAft>
              <a:defRPr/>
            </a:pPr>
            <a:r>
              <a:rPr kumimoji="0" lang="en-US" altLang="zh-CN" sz="900" b="0" i="1" u="none" strike="noStrike" kern="1200" cap="none" spc="0" normalizeH="0" baseline="0" noProof="0" dirty="0">
                <a:ln>
                  <a:noFill/>
                </a:ln>
                <a:effectLst/>
                <a:uLnTx/>
                <a:uFillTx/>
                <a:latin typeface="Calibri"/>
                <a:ea typeface="DFKaiShu-GB5"/>
                <a:cs typeface="+mn-cs"/>
              </a:rPr>
              <a:t>Sources</a:t>
            </a:r>
            <a:r>
              <a:rPr kumimoji="0" lang="zh-CN" altLang="en-US" sz="900" b="0" i="1" u="none" strike="noStrike" kern="1200" cap="none" spc="0" normalizeH="0" baseline="0" noProof="0" dirty="0">
                <a:ln>
                  <a:noFill/>
                </a:ln>
                <a:effectLst/>
                <a:uLnTx/>
                <a:uFillTx/>
                <a:latin typeface="Calibri"/>
                <a:ea typeface="DFKaiShu-GB5"/>
                <a:cs typeface="+mn-cs"/>
              </a:rPr>
              <a:t>：</a:t>
            </a:r>
            <a:r>
              <a:rPr kumimoji="0" lang="en-US" altLang="zh-CN" sz="900" b="0" i="1" u="none" strike="noStrike" kern="1200" cap="none" spc="0" normalizeH="0" baseline="0" noProof="0" dirty="0">
                <a:ln>
                  <a:noFill/>
                </a:ln>
                <a:effectLst/>
                <a:uLnTx/>
                <a:uFillTx/>
                <a:latin typeface="Calibri"/>
                <a:ea typeface="DFKaiShu-GB5"/>
                <a:cs typeface="+mn-cs"/>
              </a:rPr>
              <a:t>Dealogic, DBS, as of </a:t>
            </a:r>
            <a:r>
              <a:rPr lang="en-US" altLang="zh-CN" sz="900" i="1" dirty="0">
                <a:latin typeface="Calibri"/>
                <a:ea typeface="DFKaiShu-GB5"/>
                <a:cs typeface="+mn-cs"/>
              </a:rPr>
              <a:t>20 </a:t>
            </a:r>
            <a:r>
              <a:rPr kumimoji="0" lang="en-US" altLang="zh-CN" sz="900" b="0" i="1" u="none" strike="noStrike" kern="1200" cap="none" spc="0" normalizeH="0" baseline="0" noProof="0" dirty="0">
                <a:ln>
                  <a:noFill/>
                </a:ln>
                <a:effectLst/>
                <a:uLnTx/>
                <a:uFillTx/>
                <a:latin typeface="Calibri"/>
                <a:ea typeface="DFKaiShu-GB5"/>
                <a:cs typeface="+mn-cs"/>
              </a:rPr>
              <a:t>May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effectLst/>
                <a:uLnTx/>
                <a:uFillTx/>
                <a:latin typeface="Calibri"/>
                <a:ea typeface="DFKaiShu-GB5"/>
                <a:cs typeface="+mn-cs"/>
              </a:rPr>
              <a:t>N</a:t>
            </a:r>
            <a:r>
              <a:rPr kumimoji="0" lang="en-US" altLang="zh-CN" sz="900" b="0" i="1" u="none" strike="noStrike" kern="1200" cap="none" spc="0" normalizeH="0" baseline="0" noProof="0" dirty="0">
                <a:ln>
                  <a:noFill/>
                </a:ln>
                <a:effectLst/>
                <a:uLnTx/>
                <a:uFillTx/>
                <a:latin typeface="Calibri"/>
                <a:ea typeface="DFKaiShu-GB5"/>
                <a:cs typeface="+mn-cs"/>
              </a:rPr>
              <a:t>ote 1: </a:t>
            </a:r>
            <a:r>
              <a:rPr kumimoji="0" lang="en-US" sz="900" b="0" i="1" u="none" strike="noStrike" kern="1200" cap="none" spc="0" normalizeH="0" baseline="0" noProof="0" dirty="0">
                <a:ln>
                  <a:noFill/>
                </a:ln>
                <a:effectLst/>
                <a:uLnTx/>
                <a:uFillTx/>
                <a:latin typeface="Calibri"/>
                <a:ea typeface="DFKaiShu-GB5"/>
                <a:cs typeface="+mn-cs"/>
              </a:rPr>
              <a:t>Only included deals with &gt;US$10m transaction volume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latin typeface="Calibri"/>
                <a:ea typeface="DFKaiShu-GB5"/>
                <a:cs typeface="+mn-cs"/>
              </a:rPr>
              <a:t>^ </a:t>
            </a:r>
            <a:r>
              <a:rPr kumimoji="0" lang="en-US" altLang="zh-CN" sz="900" b="0" i="1" u="none" strike="noStrike" kern="1200" cap="none" spc="0" normalizeH="0" baseline="0" noProof="0" dirty="0">
                <a:ln>
                  <a:noFill/>
                </a:ln>
                <a:effectLst/>
                <a:uLnTx/>
                <a:uFillTx/>
                <a:latin typeface="Calibri"/>
                <a:ea typeface="DFKaiShu-GB5"/>
                <a:cs typeface="+mn-cs"/>
              </a:rPr>
              <a:t>: 18 </a:t>
            </a:r>
            <a:r>
              <a:rPr kumimoji="0" lang="en-US" sz="900" b="0" i="1" u="none" strike="noStrike" kern="1200" cap="none" spc="0" normalizeH="0" baseline="0" noProof="0" dirty="0">
                <a:ln>
                  <a:noFill/>
                </a:ln>
                <a:effectLst/>
                <a:uLnTx/>
                <a:uFillTx/>
                <a:latin typeface="Calibri"/>
                <a:ea typeface="DFKaiShu-GB5"/>
                <a:cs typeface="+mn-cs"/>
              </a:rPr>
              <a:t>Vendor placements were excluded when calculating the missed deals</a:t>
            </a:r>
          </a:p>
        </p:txBody>
      </p:sp>
      <p:graphicFrame>
        <p:nvGraphicFramePr>
          <p:cNvPr id="3" name="Chart 2">
            <a:extLst>
              <a:ext uri="{FF2B5EF4-FFF2-40B4-BE49-F238E27FC236}">
                <a16:creationId xmlns:a16="http://schemas.microsoft.com/office/drawing/2014/main" id="{A907C85D-C42F-4606-9FF3-C65C1CED6C10}"/>
              </a:ext>
            </a:extLst>
          </p:cNvPr>
          <p:cNvGraphicFramePr/>
          <p:nvPr>
            <p:extLst>
              <p:ext uri="{D42A27DB-BD31-4B8C-83A1-F6EECF244321}">
                <p14:modId xmlns:p14="http://schemas.microsoft.com/office/powerpoint/2010/main" val="222155596"/>
              </p:ext>
            </p:extLst>
          </p:nvPr>
        </p:nvGraphicFramePr>
        <p:xfrm>
          <a:off x="6640809" y="1288890"/>
          <a:ext cx="3791251" cy="249582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DCCB9489-9FD0-4E85-8445-331AB66A702C}"/>
              </a:ext>
            </a:extLst>
          </p:cNvPr>
          <p:cNvGraphicFramePr/>
          <p:nvPr>
            <p:extLst>
              <p:ext uri="{D42A27DB-BD31-4B8C-83A1-F6EECF244321}">
                <p14:modId xmlns:p14="http://schemas.microsoft.com/office/powerpoint/2010/main" val="2381823776"/>
              </p:ext>
            </p:extLst>
          </p:nvPr>
        </p:nvGraphicFramePr>
        <p:xfrm>
          <a:off x="4394546" y="1288890"/>
          <a:ext cx="3791251" cy="2495828"/>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8">
            <a:extLst>
              <a:ext uri="{FF2B5EF4-FFF2-40B4-BE49-F238E27FC236}">
                <a16:creationId xmlns:a16="http://schemas.microsoft.com/office/drawing/2014/main" id="{1A122EF2-24A8-7CBE-EFA9-5E7830BAE7B9}"/>
              </a:ext>
            </a:extLst>
          </p:cNvPr>
          <p:cNvSpPr txBox="1"/>
          <p:nvPr/>
        </p:nvSpPr>
        <p:spPr>
          <a:xfrm>
            <a:off x="5356921" y="3397626"/>
            <a:ext cx="210125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R="0" lvl="0" algn="ctr" defTabSz="844083" rtl="0" eaLnBrk="1" fontAlgn="auto" latinLnBrk="0" hangingPunct="1">
              <a:lnSpc>
                <a:spcPct val="120000"/>
              </a:lnSpc>
              <a:spcBef>
                <a:spcPts val="0"/>
              </a:spcBef>
              <a:spcAft>
                <a:spcPts val="0"/>
              </a:spcAft>
              <a:buClr>
                <a:srgbClr val="C00000"/>
              </a:buClr>
              <a:buSzTx/>
              <a:tabLst/>
              <a:defRPr/>
            </a:pPr>
            <a:r>
              <a:rPr kumimoji="0" lang="en-US" sz="1050" b="0" i="0" u="none" strike="noStrike" kern="0" cap="none" spc="0" normalizeH="0" baseline="0" noProof="0" dirty="0">
                <a:ln>
                  <a:noFill/>
                </a:ln>
                <a:solidFill>
                  <a:srgbClr val="000000"/>
                </a:solidFill>
                <a:effectLst/>
                <a:uLnTx/>
                <a:uFillTx/>
                <a:latin typeface="Calibri"/>
                <a:ea typeface="DFKaiShu-GB5"/>
                <a:cs typeface="+mn-cs"/>
              </a:rPr>
              <a:t>Total Volume: US$5,327</a:t>
            </a:r>
            <a:r>
              <a:rPr lang="en-US" altLang="zh-CN" sz="1050" dirty="0" err="1">
                <a:solidFill>
                  <a:srgbClr val="000000"/>
                </a:solidFill>
                <a:latin typeface="Calibri"/>
                <a:ea typeface="DFKaiShu-GB5"/>
              </a:rPr>
              <a:t>mn</a:t>
            </a:r>
            <a:endParaRPr kumimoji="0" lang="en-US" sz="1050" b="0" i="0" u="none" strike="noStrike" kern="0" cap="none" spc="0" normalizeH="0" baseline="0" noProof="0" dirty="0">
              <a:ln>
                <a:noFill/>
              </a:ln>
              <a:solidFill>
                <a:srgbClr val="000000"/>
              </a:solidFill>
              <a:effectLst/>
              <a:uLnTx/>
              <a:uFillTx/>
              <a:latin typeface="Calibri"/>
              <a:ea typeface="DFKaiShu-GB5"/>
              <a:cs typeface="+mn-cs"/>
            </a:endParaRPr>
          </a:p>
        </p:txBody>
      </p:sp>
      <p:sp>
        <p:nvSpPr>
          <p:cNvPr id="10" name="TextBox 9">
            <a:extLst>
              <a:ext uri="{FF2B5EF4-FFF2-40B4-BE49-F238E27FC236}">
                <a16:creationId xmlns:a16="http://schemas.microsoft.com/office/drawing/2014/main" id="{676E90A9-F6F0-39FA-AA53-B9BA3E418DFE}"/>
              </a:ext>
            </a:extLst>
          </p:cNvPr>
          <p:cNvSpPr txBox="1"/>
          <p:nvPr/>
        </p:nvSpPr>
        <p:spPr>
          <a:xfrm>
            <a:off x="7684794" y="3397626"/>
            <a:ext cx="2101252" cy="384463"/>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L="0" marR="0" lvl="0" indent="0" algn="ctr" defTabSz="844083" rtl="0" eaLnBrk="1" fontAlgn="auto" latinLnBrk="0" hangingPunct="1">
              <a:lnSpc>
                <a:spcPct val="120000"/>
              </a:lnSpc>
              <a:spcBef>
                <a:spcPts val="0"/>
              </a:spcBef>
              <a:spcAft>
                <a:spcPts val="0"/>
              </a:spcAft>
              <a:buClr>
                <a:srgbClr val="C00000"/>
              </a:buClr>
              <a:buSzTx/>
              <a:buFontTx/>
              <a:buNone/>
              <a:tabLst/>
              <a:defRPr/>
            </a:pPr>
            <a:r>
              <a:rPr kumimoji="0" lang="en-US" sz="1050" b="0" i="0" u="none" strike="noStrike" kern="0" cap="none" spc="0" normalizeH="0" baseline="0" noProof="0" dirty="0">
                <a:ln>
                  <a:noFill/>
                </a:ln>
                <a:solidFill>
                  <a:srgbClr val="000000"/>
                </a:solidFill>
                <a:effectLst/>
                <a:uLnTx/>
                <a:uFillTx/>
                <a:latin typeface="Calibri"/>
                <a:ea typeface="DFKaiShu-GB5"/>
                <a:cs typeface="+mn-cs"/>
              </a:rPr>
              <a:t># of Deals: 32</a:t>
            </a:r>
          </a:p>
        </p:txBody>
      </p:sp>
      <p:graphicFrame>
        <p:nvGraphicFramePr>
          <p:cNvPr id="16" name="Chart 15">
            <a:extLst>
              <a:ext uri="{FF2B5EF4-FFF2-40B4-BE49-F238E27FC236}">
                <a16:creationId xmlns:a16="http://schemas.microsoft.com/office/drawing/2014/main" id="{71ABE8CF-86EE-A34F-4BEF-A4930C65C6E9}"/>
              </a:ext>
            </a:extLst>
          </p:cNvPr>
          <p:cNvGraphicFramePr/>
          <p:nvPr>
            <p:extLst>
              <p:ext uri="{D42A27DB-BD31-4B8C-83A1-F6EECF244321}">
                <p14:modId xmlns:p14="http://schemas.microsoft.com/office/powerpoint/2010/main" val="1709734616"/>
              </p:ext>
            </p:extLst>
          </p:nvPr>
        </p:nvGraphicFramePr>
        <p:xfrm>
          <a:off x="1720203" y="1288890"/>
          <a:ext cx="3791251" cy="249582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7" name="Chart 16">
            <a:extLst>
              <a:ext uri="{FF2B5EF4-FFF2-40B4-BE49-F238E27FC236}">
                <a16:creationId xmlns:a16="http://schemas.microsoft.com/office/drawing/2014/main" id="{A491069A-27B6-DECF-C368-94C3F0A484CE}"/>
              </a:ext>
            </a:extLst>
          </p:cNvPr>
          <p:cNvGraphicFramePr/>
          <p:nvPr>
            <p:extLst>
              <p:ext uri="{D42A27DB-BD31-4B8C-83A1-F6EECF244321}">
                <p14:modId xmlns:p14="http://schemas.microsoft.com/office/powerpoint/2010/main" val="710133092"/>
              </p:ext>
            </p:extLst>
          </p:nvPr>
        </p:nvGraphicFramePr>
        <p:xfrm>
          <a:off x="-448424" y="1288890"/>
          <a:ext cx="3791251" cy="2495828"/>
        </p:xfrm>
        <a:graphic>
          <a:graphicData uri="http://schemas.openxmlformats.org/drawingml/2006/chart">
            <c:chart xmlns:c="http://schemas.openxmlformats.org/drawingml/2006/chart" xmlns:r="http://schemas.openxmlformats.org/officeDocument/2006/relationships" r:id="rId7"/>
          </a:graphicData>
        </a:graphic>
      </p:graphicFrame>
      <p:sp>
        <p:nvSpPr>
          <p:cNvPr id="18" name="TextBox 17">
            <a:extLst>
              <a:ext uri="{FF2B5EF4-FFF2-40B4-BE49-F238E27FC236}">
                <a16:creationId xmlns:a16="http://schemas.microsoft.com/office/drawing/2014/main" id="{5D242CCB-F9A2-FF30-9182-098DE5992EA9}"/>
              </a:ext>
            </a:extLst>
          </p:cNvPr>
          <p:cNvSpPr txBox="1"/>
          <p:nvPr/>
        </p:nvSpPr>
        <p:spPr>
          <a:xfrm>
            <a:off x="436315" y="3397626"/>
            <a:ext cx="210125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R="0" lvl="0" algn="ctr" defTabSz="844083" rtl="0" eaLnBrk="1" fontAlgn="auto" latinLnBrk="0" hangingPunct="1">
              <a:lnSpc>
                <a:spcPct val="120000"/>
              </a:lnSpc>
              <a:spcBef>
                <a:spcPts val="0"/>
              </a:spcBef>
              <a:spcAft>
                <a:spcPts val="0"/>
              </a:spcAft>
              <a:buClr>
                <a:srgbClr val="C00000"/>
              </a:buClr>
              <a:buSzTx/>
              <a:tabLst/>
              <a:defRPr/>
            </a:pPr>
            <a:r>
              <a:rPr kumimoji="0" lang="en-US" sz="1050" b="0" i="0" u="none" strike="noStrike" kern="0" cap="none" spc="0" normalizeH="0" baseline="0" noProof="0" dirty="0">
                <a:ln>
                  <a:noFill/>
                </a:ln>
                <a:solidFill>
                  <a:srgbClr val="000000"/>
                </a:solidFill>
                <a:effectLst/>
                <a:uLnTx/>
                <a:uFillTx/>
                <a:latin typeface="Calibri"/>
                <a:ea typeface="DFKaiShu-GB5"/>
                <a:cs typeface="+mn-cs"/>
              </a:rPr>
              <a:t>Total Volume: US$</a:t>
            </a:r>
            <a:r>
              <a:rPr lang="en-US" altLang="zh-CN" sz="1050" dirty="0">
                <a:solidFill>
                  <a:srgbClr val="000000"/>
                </a:solidFill>
                <a:latin typeface="Calibri"/>
                <a:ea typeface="DFKaiShu-GB5"/>
              </a:rPr>
              <a:t>6</a:t>
            </a:r>
            <a:r>
              <a:rPr kumimoji="0" lang="en-US" sz="1050" b="0" i="0" u="none" strike="noStrike" kern="0" cap="none" spc="0" normalizeH="0" baseline="0" noProof="0" dirty="0">
                <a:ln>
                  <a:noFill/>
                </a:ln>
                <a:solidFill>
                  <a:srgbClr val="000000"/>
                </a:solidFill>
                <a:effectLst/>
                <a:uLnTx/>
                <a:uFillTx/>
                <a:latin typeface="Calibri"/>
                <a:ea typeface="DFKaiShu-GB5"/>
                <a:cs typeface="+mn-cs"/>
              </a:rPr>
              <a:t>,</a:t>
            </a:r>
            <a:r>
              <a:rPr kumimoji="0" lang="en-US" altLang="zh-CN" sz="1050" b="0" i="0" u="none" strike="noStrike" kern="0" cap="none" spc="0" normalizeH="0" baseline="0" noProof="0" dirty="0">
                <a:ln>
                  <a:noFill/>
                </a:ln>
                <a:solidFill>
                  <a:srgbClr val="000000"/>
                </a:solidFill>
                <a:effectLst/>
                <a:uLnTx/>
                <a:uFillTx/>
                <a:latin typeface="Calibri"/>
                <a:ea typeface="DFKaiShu-GB5"/>
                <a:cs typeface="+mn-cs"/>
              </a:rPr>
              <a:t>268</a:t>
            </a:r>
            <a:r>
              <a:rPr lang="en-US" altLang="zh-CN" sz="1050" dirty="0" err="1">
                <a:solidFill>
                  <a:srgbClr val="000000"/>
                </a:solidFill>
                <a:latin typeface="Calibri"/>
                <a:ea typeface="DFKaiShu-GB5"/>
              </a:rPr>
              <a:t>mn</a:t>
            </a:r>
            <a:endParaRPr kumimoji="0" lang="en-US" sz="1050" b="0" i="0" u="none" strike="noStrike" kern="0" cap="none" spc="0" normalizeH="0" baseline="0" noProof="0" dirty="0">
              <a:ln>
                <a:noFill/>
              </a:ln>
              <a:solidFill>
                <a:srgbClr val="000000"/>
              </a:solidFill>
              <a:effectLst/>
              <a:uLnTx/>
              <a:uFillTx/>
              <a:latin typeface="Calibri"/>
              <a:ea typeface="DFKaiShu-GB5"/>
              <a:cs typeface="+mn-cs"/>
            </a:endParaRPr>
          </a:p>
        </p:txBody>
      </p:sp>
      <p:sp>
        <p:nvSpPr>
          <p:cNvPr id="19" name="TextBox 18">
            <a:extLst>
              <a:ext uri="{FF2B5EF4-FFF2-40B4-BE49-F238E27FC236}">
                <a16:creationId xmlns:a16="http://schemas.microsoft.com/office/drawing/2014/main" id="{8F20404D-B33C-1E20-9F82-5709D61B6FD3}"/>
              </a:ext>
            </a:extLst>
          </p:cNvPr>
          <p:cNvSpPr txBox="1"/>
          <p:nvPr/>
        </p:nvSpPr>
        <p:spPr>
          <a:xfrm>
            <a:off x="2764188" y="3397626"/>
            <a:ext cx="2101252" cy="384463"/>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marL="0" marR="0" lvl="0" indent="0" algn="ctr" defTabSz="844083" rtl="0" eaLnBrk="1" fontAlgn="auto" latinLnBrk="0" hangingPunct="1">
              <a:lnSpc>
                <a:spcPct val="120000"/>
              </a:lnSpc>
              <a:spcBef>
                <a:spcPts val="0"/>
              </a:spcBef>
              <a:spcAft>
                <a:spcPts val="0"/>
              </a:spcAft>
              <a:buClr>
                <a:srgbClr val="C00000"/>
              </a:buClr>
              <a:buSzTx/>
              <a:buFontTx/>
              <a:buNone/>
              <a:tabLst/>
              <a:defRPr/>
            </a:pPr>
            <a:r>
              <a:rPr kumimoji="0" lang="en-US" sz="1050" b="0" i="0" u="none" strike="noStrike" kern="0" cap="none" spc="0" normalizeH="0" baseline="0" noProof="0" dirty="0">
                <a:ln>
                  <a:noFill/>
                </a:ln>
                <a:solidFill>
                  <a:srgbClr val="000000"/>
                </a:solidFill>
                <a:effectLst/>
                <a:uLnTx/>
                <a:uFillTx/>
                <a:latin typeface="Calibri"/>
                <a:ea typeface="DFKaiShu-GB5"/>
                <a:cs typeface="+mn-cs"/>
              </a:rPr>
              <a:t># of Deals: </a:t>
            </a:r>
            <a:r>
              <a:rPr kumimoji="0" lang="en-US" altLang="zh-CN" sz="1050" b="0" i="0" u="none" strike="noStrike" kern="0" cap="none" spc="0" normalizeH="0" baseline="0" noProof="0" dirty="0">
                <a:ln>
                  <a:noFill/>
                </a:ln>
                <a:solidFill>
                  <a:srgbClr val="000000"/>
                </a:solidFill>
                <a:effectLst/>
                <a:uLnTx/>
                <a:uFillTx/>
                <a:latin typeface="Calibri"/>
                <a:ea typeface="DFKaiShu-GB5"/>
                <a:cs typeface="+mn-cs"/>
              </a:rPr>
              <a:t>50</a:t>
            </a:r>
            <a:endParaRPr kumimoji="0" lang="en-US" sz="1050" b="0" i="0" u="none" strike="noStrike" kern="0" cap="none" spc="0" normalizeH="0" baseline="0" noProof="0" dirty="0">
              <a:ln>
                <a:noFill/>
              </a:ln>
              <a:solidFill>
                <a:srgbClr val="000000"/>
              </a:solidFill>
              <a:effectLst/>
              <a:uLnTx/>
              <a:uFillTx/>
              <a:latin typeface="Calibri"/>
              <a:ea typeface="DFKaiShu-GB5"/>
              <a:cs typeface="+mn-cs"/>
            </a:endParaRPr>
          </a:p>
        </p:txBody>
      </p:sp>
    </p:spTree>
    <p:extLst>
      <p:ext uri="{BB962C8B-B14F-4D97-AF65-F5344CB8AC3E}">
        <p14:creationId xmlns:p14="http://schemas.microsoft.com/office/powerpoint/2010/main" val="1705541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1Q2026 Missed Deals: IPOs</a:t>
            </a:r>
          </a:p>
        </p:txBody>
      </p:sp>
      <p:sp>
        <p:nvSpPr>
          <p:cNvPr id="2" name="Slide Number Placeholder 1">
            <a:extLst>
              <a:ext uri="{FF2B5EF4-FFF2-40B4-BE49-F238E27FC236}">
                <a16:creationId xmlns:a16="http://schemas.microsoft.com/office/drawing/2014/main" id="{3D5BD2AF-44FF-4476-8288-4D6426536102}"/>
              </a:ext>
            </a:extLst>
          </p:cNvPr>
          <p:cNvSpPr>
            <a:spLocks noGrp="1"/>
          </p:cNvSpPr>
          <p:nvPr>
            <p:ph type="sldNum" sz="quarter" idx="4"/>
          </p:nvPr>
        </p:nvSpPr>
        <p:spPr>
          <a:xfrm>
            <a:off x="9444286" y="6489265"/>
            <a:ext cx="341760" cy="246221"/>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000" kern="1200" baseline="0">
                <a:solidFill>
                  <a:schemeClr val="tx1">
                    <a:tint val="75000"/>
                  </a:schemeClr>
                </a:solidFill>
                <a:latin typeface="Calibri" panose="020F0502020204030204" pitchFamily="34" charset="0"/>
                <a:ea typeface="DFKaiShu-GB5" panose="03000509000000000000" pitchFamily="65"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46F7334-D539-4DA0-AE05-1AF7E48B82B8}" type="slidenum">
              <a:rPr lang="en-US" smtClean="0"/>
              <a:pPr>
                <a:defRPr/>
              </a:pPr>
              <a:t>7</a:t>
            </a:fld>
            <a:endParaRPr lang="en-US" dirty="0"/>
          </a:p>
        </p:txBody>
      </p:sp>
      <p:graphicFrame>
        <p:nvGraphicFramePr>
          <p:cNvPr id="5" name="Table 4">
            <a:extLst>
              <a:ext uri="{FF2B5EF4-FFF2-40B4-BE49-F238E27FC236}">
                <a16:creationId xmlns:a16="http://schemas.microsoft.com/office/drawing/2014/main" id="{8B43FD81-7A46-FA12-064C-B3D79C547381}"/>
              </a:ext>
            </a:extLst>
          </p:cNvPr>
          <p:cNvGraphicFramePr>
            <a:graphicFrameLocks noGrp="1"/>
          </p:cNvGraphicFramePr>
          <p:nvPr>
            <p:extLst>
              <p:ext uri="{D42A27DB-BD31-4B8C-83A1-F6EECF244321}">
                <p14:modId xmlns:p14="http://schemas.microsoft.com/office/powerpoint/2010/main" val="220016504"/>
              </p:ext>
            </p:extLst>
          </p:nvPr>
        </p:nvGraphicFramePr>
        <p:xfrm>
          <a:off x="341755" y="1012664"/>
          <a:ext cx="9144001" cy="1219097"/>
        </p:xfrm>
        <a:graphic>
          <a:graphicData uri="http://schemas.openxmlformats.org/drawingml/2006/table">
            <a:tbl>
              <a:tblPr firstRow="1" bandRow="1">
                <a:tableStyleId>{073A0DAA-6AF3-43AB-8588-CEC1D06C72B9}</a:tableStyleId>
              </a:tblPr>
              <a:tblGrid>
                <a:gridCol w="239657">
                  <a:extLst>
                    <a:ext uri="{9D8B030D-6E8A-4147-A177-3AD203B41FA5}">
                      <a16:colId xmlns:a16="http://schemas.microsoft.com/office/drawing/2014/main" val="20000"/>
                    </a:ext>
                  </a:extLst>
                </a:gridCol>
                <a:gridCol w="677201">
                  <a:extLst>
                    <a:ext uri="{9D8B030D-6E8A-4147-A177-3AD203B41FA5}">
                      <a16:colId xmlns:a16="http://schemas.microsoft.com/office/drawing/2014/main" val="20001"/>
                    </a:ext>
                  </a:extLst>
                </a:gridCol>
                <a:gridCol w="687902">
                  <a:extLst>
                    <a:ext uri="{9D8B030D-6E8A-4147-A177-3AD203B41FA5}">
                      <a16:colId xmlns:a16="http://schemas.microsoft.com/office/drawing/2014/main" val="20002"/>
                    </a:ext>
                  </a:extLst>
                </a:gridCol>
                <a:gridCol w="1557491">
                  <a:extLst>
                    <a:ext uri="{9D8B030D-6E8A-4147-A177-3AD203B41FA5}">
                      <a16:colId xmlns:a16="http://schemas.microsoft.com/office/drawing/2014/main" val="20003"/>
                    </a:ext>
                  </a:extLst>
                </a:gridCol>
                <a:gridCol w="1023311">
                  <a:extLst>
                    <a:ext uri="{9D8B030D-6E8A-4147-A177-3AD203B41FA5}">
                      <a16:colId xmlns:a16="http://schemas.microsoft.com/office/drawing/2014/main" val="20004"/>
                    </a:ext>
                  </a:extLst>
                </a:gridCol>
                <a:gridCol w="644656">
                  <a:extLst>
                    <a:ext uri="{9D8B030D-6E8A-4147-A177-3AD203B41FA5}">
                      <a16:colId xmlns:a16="http://schemas.microsoft.com/office/drawing/2014/main" val="20005"/>
                    </a:ext>
                  </a:extLst>
                </a:gridCol>
                <a:gridCol w="1285275">
                  <a:extLst>
                    <a:ext uri="{9D8B030D-6E8A-4147-A177-3AD203B41FA5}">
                      <a16:colId xmlns:a16="http://schemas.microsoft.com/office/drawing/2014/main" val="20006"/>
                    </a:ext>
                  </a:extLst>
                </a:gridCol>
                <a:gridCol w="2256545">
                  <a:extLst>
                    <a:ext uri="{9D8B030D-6E8A-4147-A177-3AD203B41FA5}">
                      <a16:colId xmlns:a16="http://schemas.microsoft.com/office/drawing/2014/main" val="20007"/>
                    </a:ext>
                  </a:extLst>
                </a:gridCol>
                <a:gridCol w="771963">
                  <a:extLst>
                    <a:ext uri="{9D8B030D-6E8A-4147-A177-3AD203B41FA5}">
                      <a16:colId xmlns:a16="http://schemas.microsoft.com/office/drawing/2014/main" val="20010"/>
                    </a:ext>
                  </a:extLst>
                </a:gridCol>
              </a:tblGrid>
              <a:tr h="605345">
                <a:tc>
                  <a:txBody>
                    <a:bodyPr/>
                    <a:lstStyle/>
                    <a:p>
                      <a:pPr algn="ctr"/>
                      <a:r>
                        <a:rPr lang="en-US" sz="1100" dirty="0">
                          <a:latin typeface="+mj-lt"/>
                        </a:rPr>
                        <a:t>#</a:t>
                      </a:r>
                      <a:endParaRPr lang="en-US" sz="1100" b="1" dirty="0">
                        <a:latin typeface="+mj-lt"/>
                      </a:endParaRPr>
                    </a:p>
                  </a:txBody>
                  <a:tcPr marL="22289" marR="22289" marT="0" marB="0" anchor="ctr">
                    <a:solidFill>
                      <a:srgbClr val="C00000"/>
                    </a:solidFill>
                  </a:tcPr>
                </a:tc>
                <a:tc>
                  <a:txBody>
                    <a:bodyPr/>
                    <a:lstStyle/>
                    <a:p>
                      <a:pPr algn="ctr"/>
                      <a:r>
                        <a:rPr lang="en-US" sz="1100" dirty="0">
                          <a:latin typeface="+mj-lt"/>
                        </a:rPr>
                        <a:t>Listing Date</a:t>
                      </a:r>
                      <a:endParaRPr lang="en-US" sz="1100" b="1" dirty="0">
                        <a:latin typeface="+mj-lt"/>
                      </a:endParaRPr>
                    </a:p>
                  </a:txBody>
                  <a:tcPr marL="22289" marR="22289" marT="0" marB="0" anchor="ctr">
                    <a:solidFill>
                      <a:srgbClr val="C00000"/>
                    </a:solidFill>
                  </a:tcPr>
                </a:tc>
                <a:tc>
                  <a:txBody>
                    <a:bodyPr/>
                    <a:lstStyle/>
                    <a:p>
                      <a:pPr algn="ctr"/>
                      <a:r>
                        <a:rPr lang="en-US" sz="1100" dirty="0">
                          <a:latin typeface="+mj-lt"/>
                        </a:rPr>
                        <a:t>Ticker</a:t>
                      </a:r>
                      <a:endParaRPr lang="en-US" sz="1100" b="1" dirty="0">
                        <a:latin typeface="+mj-lt"/>
                      </a:endParaRPr>
                    </a:p>
                  </a:txBody>
                  <a:tcPr marL="22289" marR="22289" marT="0" marB="0" anchor="ctr">
                    <a:solidFill>
                      <a:srgbClr val="C00000"/>
                    </a:solidFill>
                  </a:tcPr>
                </a:tc>
                <a:tc>
                  <a:txBody>
                    <a:bodyPr/>
                    <a:lstStyle/>
                    <a:p>
                      <a:pPr algn="ctr"/>
                      <a:r>
                        <a:rPr lang="en-US" sz="1100" dirty="0">
                          <a:latin typeface="+mj-lt"/>
                        </a:rPr>
                        <a:t>Issuer</a:t>
                      </a:r>
                      <a:endParaRPr lang="en-US" sz="1100" b="1" dirty="0">
                        <a:latin typeface="+mj-lt"/>
                      </a:endParaRPr>
                    </a:p>
                  </a:txBody>
                  <a:tcPr marL="22289" marR="22289" marT="0" marB="0" anchor="ctr">
                    <a:solidFill>
                      <a:srgbClr val="C00000"/>
                    </a:solidFill>
                  </a:tcPr>
                </a:tc>
                <a:tc>
                  <a:txBody>
                    <a:bodyPr/>
                    <a:lstStyle/>
                    <a:p>
                      <a:pPr algn="ctr"/>
                      <a:r>
                        <a:rPr lang="en-US" sz="1100" dirty="0">
                          <a:latin typeface="+mj-lt"/>
                        </a:rPr>
                        <a:t>Sector</a:t>
                      </a:r>
                      <a:endParaRPr lang="en-US" sz="1100" b="1" dirty="0">
                        <a:latin typeface="+mj-lt"/>
                      </a:endParaRPr>
                    </a:p>
                  </a:txBody>
                  <a:tcPr marL="22289" marR="22289" marT="0" marB="0" anchor="ctr">
                    <a:solidFill>
                      <a:srgbClr val="C00000"/>
                    </a:solidFill>
                  </a:tcPr>
                </a:tc>
                <a:tc>
                  <a:txBody>
                    <a:bodyPr/>
                    <a:lstStyle/>
                    <a:p>
                      <a:pPr algn="ctr"/>
                      <a:r>
                        <a:rPr lang="en-US" sz="1100" dirty="0">
                          <a:latin typeface="+mj-lt"/>
                        </a:rPr>
                        <a:t>Size USD’m</a:t>
                      </a:r>
                      <a:endParaRPr lang="en-US" sz="1100" b="1" dirty="0">
                        <a:latin typeface="+mj-lt"/>
                      </a:endParaRPr>
                    </a:p>
                  </a:txBody>
                  <a:tcPr marL="22289" marR="74295" marT="0" marB="0" anchor="ctr">
                    <a:solidFill>
                      <a:srgbClr val="C00000"/>
                    </a:solidFill>
                  </a:tcPr>
                </a:tc>
                <a:tc>
                  <a:txBody>
                    <a:bodyPr/>
                    <a:lstStyle/>
                    <a:p>
                      <a:pPr algn="ctr"/>
                      <a:r>
                        <a:rPr lang="en-US" sz="1100" dirty="0">
                          <a:latin typeface="+mj-lt"/>
                        </a:rPr>
                        <a:t>Sponsor</a:t>
                      </a:r>
                      <a:endParaRPr lang="en-US" sz="1100" b="1" dirty="0">
                        <a:latin typeface="+mj-lt"/>
                      </a:endParaRPr>
                    </a:p>
                  </a:txBody>
                  <a:tcPr marL="22289" marR="22289" marT="0" marB="0" anchor="ctr">
                    <a:solidFill>
                      <a:srgbClr val="C00000"/>
                    </a:solidFill>
                  </a:tcPr>
                </a:tc>
                <a:tc>
                  <a:txBody>
                    <a:bodyPr/>
                    <a:lstStyle/>
                    <a:p>
                      <a:pPr algn="ctr"/>
                      <a:r>
                        <a:rPr lang="en-US" sz="1100" dirty="0">
                          <a:latin typeface="+mj-lt"/>
                        </a:rPr>
                        <a:t>Bookrunner</a:t>
                      </a:r>
                      <a:endParaRPr lang="en-US" sz="1100" b="1" dirty="0">
                        <a:latin typeface="+mj-lt"/>
                      </a:endParaRPr>
                    </a:p>
                  </a:txBody>
                  <a:tcPr marL="22289" marR="22289" marT="0" marB="0" anchor="ctr">
                    <a:solidFill>
                      <a:srgbClr val="C00000"/>
                    </a:solidFill>
                  </a:tcPr>
                </a:tc>
                <a:tc>
                  <a:txBody>
                    <a:bodyPr/>
                    <a:lstStyle/>
                    <a:p>
                      <a:pPr algn="ctr"/>
                      <a:r>
                        <a:rPr lang="en-US" sz="1100" dirty="0">
                          <a:latin typeface="+mj-lt"/>
                        </a:rPr>
                        <a:t>IBG Segment</a:t>
                      </a:r>
                      <a:endParaRPr lang="en-US" sz="1100" b="1" dirty="0">
                        <a:latin typeface="+mj-lt"/>
                      </a:endParaRPr>
                    </a:p>
                  </a:txBody>
                  <a:tcPr marL="22289" marR="22289" marT="0" marB="0" anchor="ctr">
                    <a:solidFill>
                      <a:srgbClr val="C00000"/>
                    </a:solidFill>
                  </a:tcPr>
                </a:tc>
                <a:extLst>
                  <a:ext uri="{0D108BD9-81ED-4DB2-BD59-A6C34878D82A}">
                    <a16:rowId xmlns:a16="http://schemas.microsoft.com/office/drawing/2014/main" val="10000"/>
                  </a:ext>
                </a:extLst>
              </a:tr>
              <a:tr h="613752">
                <a:tc>
                  <a:txBody>
                    <a:bodyPr/>
                    <a:lstStyle/>
                    <a:p>
                      <a:pPr algn="ctr" fontAlgn="ctr"/>
                      <a:r>
                        <a:rPr lang="en-US" sz="900" b="0" i="0" u="none" strike="noStrike" dirty="0">
                          <a:solidFill>
                            <a:schemeClr val="tx1"/>
                          </a:solidFill>
                          <a:effectLst/>
                          <a:latin typeface="+mn-lt"/>
                        </a:rPr>
                        <a:t>1</a:t>
                      </a:r>
                    </a:p>
                  </a:txBody>
                  <a:tcPr marL="7739" marR="7739" marT="7739" marB="0" anchor="ctr"/>
                </a:tc>
                <a:tc>
                  <a:txBody>
                    <a:bodyPr/>
                    <a:lstStyle/>
                    <a:p>
                      <a:pPr algn="ctr" fontAlgn="ctr"/>
                      <a:r>
                        <a:rPr lang="en-US" sz="1000" b="0" i="0" u="none" strike="noStrike" dirty="0">
                          <a:solidFill>
                            <a:srgbClr val="000000"/>
                          </a:solidFill>
                          <a:effectLst/>
                          <a:latin typeface="Calibri" panose="020F0502020204030204" pitchFamily="34" charset="0"/>
                        </a:rPr>
                        <a:t>20-Mar-26</a:t>
                      </a:r>
                    </a:p>
                  </a:txBody>
                  <a:tcPr marL="7620" marR="7620" marT="7620" marB="0" anchor="ctr"/>
                </a:tc>
                <a:tc>
                  <a:txBody>
                    <a:bodyPr/>
                    <a:lstStyle/>
                    <a:p>
                      <a:pPr algn="ctr" fontAlgn="ctr"/>
                      <a:r>
                        <a:rPr lang="en-US" sz="1000" b="0" i="0" u="none" strike="noStrike" dirty="0">
                          <a:solidFill>
                            <a:srgbClr val="000000"/>
                          </a:solidFill>
                          <a:effectLst/>
                          <a:latin typeface="Calibri" panose="020F0502020204030204" pitchFamily="34" charset="0"/>
                        </a:rPr>
                        <a:t>1989</a:t>
                      </a:r>
                    </a:p>
                  </a:txBody>
                  <a:tcPr marL="7620" marR="7620" marT="7620" marB="0" anchor="ctr"/>
                </a:tc>
                <a:tc>
                  <a:txBody>
                    <a:bodyPr/>
                    <a:lstStyle/>
                    <a:p>
                      <a:pPr algn="ctr" fontAlgn="ctr"/>
                      <a:r>
                        <a:rPr lang="en-US" sz="1000" b="0" i="0" u="none" strike="noStrike" dirty="0">
                          <a:solidFill>
                            <a:srgbClr val="000000"/>
                          </a:solidFill>
                          <a:effectLst/>
                          <a:latin typeface="Calibri" panose="020F0502020204030204" pitchFamily="34" charset="0"/>
                        </a:rPr>
                        <a:t>Delton Technology (Guangzhou) Inc</a:t>
                      </a:r>
                    </a:p>
                  </a:txBody>
                  <a:tcPr marL="7620" marR="7620" marT="7620" marB="0" anchor="ctr"/>
                </a:tc>
                <a:tc>
                  <a:txBody>
                    <a:bodyPr/>
                    <a:lstStyle/>
                    <a:p>
                      <a:pPr marL="0" marR="0" lvl="0" indent="0" algn="ctr" defTabSz="99057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Calibri" panose="020F0502020204030204" pitchFamily="34" charset="0"/>
                          <a:ea typeface="+mn-ea"/>
                          <a:cs typeface="+mn-cs"/>
                        </a:rPr>
                        <a:t>TMT</a:t>
                      </a:r>
                    </a:p>
                  </a:txBody>
                  <a:tcPr marL="7620" marR="7620" marT="7620" marB="0" anchor="ctr"/>
                </a:tc>
                <a:tc>
                  <a:txBody>
                    <a:bodyPr/>
                    <a:lstStyle/>
                    <a:p>
                      <a:pPr marL="0" marR="0" lvl="0" indent="0" algn="ctr" defTabSz="99057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Calibri" panose="020F0502020204030204" pitchFamily="34" charset="0"/>
                          <a:ea typeface="+mn-ea"/>
                          <a:cs typeface="+mn-cs"/>
                        </a:rPr>
                        <a:t>422</a:t>
                      </a:r>
                    </a:p>
                  </a:txBody>
                  <a:tcPr marL="7620" marR="7620" marT="7620" marB="0" anchor="ctr"/>
                </a:tc>
                <a:tc>
                  <a:txBody>
                    <a:bodyPr/>
                    <a:lstStyle/>
                    <a:p>
                      <a:pPr marL="0" marR="0" lvl="0" indent="0" algn="ctr" defTabSz="99057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Calibri" panose="020F0502020204030204" pitchFamily="34" charset="0"/>
                          <a:ea typeface="+mn-ea"/>
                          <a:cs typeface="+mn-cs"/>
                        </a:rPr>
                        <a:t>CITIC Securities, HSBC</a:t>
                      </a:r>
                    </a:p>
                  </a:txBody>
                  <a:tcPr marL="7620" marR="7620" marT="7620" marB="0" anchor="ct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Calibri" panose="020F0502020204030204" pitchFamily="34" charset="0"/>
                          <a:ea typeface="+mn-ea"/>
                          <a:cs typeface="+mn-cs"/>
                        </a:rPr>
                        <a:t>GF Securities, Huatai, </a:t>
                      </a:r>
                      <a:r>
                        <a:rPr lang="en-US" sz="1000" b="0" i="0" u="none" strike="noStrike" kern="1200" dirty="0" err="1">
                          <a:solidFill>
                            <a:srgbClr val="000000"/>
                          </a:solidFill>
                          <a:effectLst/>
                          <a:latin typeface="Calibri" panose="020F0502020204030204" pitchFamily="34" charset="0"/>
                          <a:ea typeface="+mn-ea"/>
                          <a:cs typeface="+mn-cs"/>
                        </a:rPr>
                        <a:t>Guolian</a:t>
                      </a:r>
                      <a:r>
                        <a:rPr lang="en-US" sz="1000" b="0" i="0" u="none" strike="noStrike" kern="1200" dirty="0">
                          <a:solidFill>
                            <a:srgbClr val="000000"/>
                          </a:solidFill>
                          <a:effectLst/>
                          <a:latin typeface="Calibri" panose="020F0502020204030204" pitchFamily="34" charset="0"/>
                          <a:ea typeface="+mn-ea"/>
                          <a:cs typeface="+mn-cs"/>
                        </a:rPr>
                        <a:t> Securities</a:t>
                      </a:r>
                    </a:p>
                  </a:txBody>
                  <a:tcPr marL="7620" marR="7620" marT="7620" marB="0" anchor="ctr"/>
                </a:tc>
                <a:tc>
                  <a:txBody>
                    <a:bodyPr/>
                    <a:lstStyle/>
                    <a:p>
                      <a:pPr algn="ctr" fontAlgn="ctr"/>
                      <a:r>
                        <a:rPr lang="en-US" sz="1000" b="0" i="0" u="none" strike="noStrike" kern="1200" dirty="0">
                          <a:solidFill>
                            <a:srgbClr val="000000"/>
                          </a:solidFill>
                          <a:effectLst/>
                          <a:latin typeface="Calibri" panose="020F0502020204030204" pitchFamily="34" charset="0"/>
                          <a:ea typeface="+mn-ea"/>
                          <a:cs typeface="+mn-cs"/>
                        </a:rPr>
                        <a:t>IBG </a:t>
                      </a:r>
                      <a:r>
                        <a:rPr lang="en-US" sz="1000" b="0" i="0" u="none" strike="noStrike" kern="1200" dirty="0" err="1">
                          <a:solidFill>
                            <a:srgbClr val="000000"/>
                          </a:solidFill>
                          <a:effectLst/>
                          <a:latin typeface="Calibri" panose="020F0502020204030204" pitchFamily="34" charset="0"/>
                          <a:ea typeface="+mn-ea"/>
                          <a:cs typeface="+mn-cs"/>
                        </a:rPr>
                        <a:t>MidCap</a:t>
                      </a:r>
                      <a:endParaRPr lang="en-US" sz="1000" b="0" i="0" u="none" strike="noStrike" kern="1200" dirty="0">
                        <a:solidFill>
                          <a:srgbClr val="000000"/>
                        </a:solidFill>
                        <a:effectLst/>
                        <a:latin typeface="Calibri" panose="020F0502020204030204" pitchFamily="34" charset="0"/>
                        <a:ea typeface="+mn-ea"/>
                        <a:cs typeface="+mn-cs"/>
                      </a:endParaRPr>
                    </a:p>
                  </a:txBody>
                  <a:tcPr marL="7620" marR="7620" marT="7620" marB="0" anchor="ctr"/>
                </a:tc>
                <a:extLst>
                  <a:ext uri="{0D108BD9-81ED-4DB2-BD59-A6C34878D82A}">
                    <a16:rowId xmlns:a16="http://schemas.microsoft.com/office/drawing/2014/main" val="3401317092"/>
                  </a:ext>
                </a:extLst>
              </a:tr>
            </a:tbl>
          </a:graphicData>
        </a:graphic>
      </p:graphicFrame>
      <p:sp>
        <p:nvSpPr>
          <p:cNvPr id="4" name="Rectangle 3">
            <a:extLst>
              <a:ext uri="{FF2B5EF4-FFF2-40B4-BE49-F238E27FC236}">
                <a16:creationId xmlns:a16="http://schemas.microsoft.com/office/drawing/2014/main" id="{6F1EC747-5B93-31C0-07AF-FC7FE27A2B24}"/>
              </a:ext>
            </a:extLst>
          </p:cNvPr>
          <p:cNvSpPr/>
          <p:nvPr/>
        </p:nvSpPr>
        <p:spPr>
          <a:xfrm>
            <a:off x="342899" y="6013259"/>
            <a:ext cx="8435468" cy="276999"/>
          </a:xfrm>
          <a:prstGeom prst="rect">
            <a:avLst/>
          </a:prstGeom>
          <a:noFill/>
        </p:spPr>
        <p:txBody>
          <a:bodyPr wrap="square" lIns="0" tIns="0" rIns="0" bIns="0" rtlCol="0">
            <a:spAutoFit/>
          </a:bodyPr>
          <a:lstStyle/>
          <a:p>
            <a:pPr eaLnBrk="1" fontAlgn="auto" hangingPunct="1">
              <a:spcBef>
                <a:spcPts val="0"/>
              </a:spcBef>
              <a:spcAft>
                <a:spcPts val="0"/>
              </a:spcAft>
              <a:defRPr/>
            </a:pPr>
            <a:r>
              <a:rPr lang="en-US" altLang="zh-CN" sz="900" i="1" dirty="0">
                <a:solidFill>
                  <a:srgbClr val="000000"/>
                </a:solidFill>
                <a:latin typeface="Calibri"/>
                <a:ea typeface="DFKaiShu-GB5"/>
              </a:rPr>
              <a:t>Sources</a:t>
            </a:r>
            <a:r>
              <a:rPr lang="zh-CN" altLang="en-US" sz="900" i="1" dirty="0">
                <a:solidFill>
                  <a:srgbClr val="000000"/>
                </a:solidFill>
                <a:latin typeface="Calibri"/>
                <a:ea typeface="DFKaiShu-GB5"/>
              </a:rPr>
              <a:t>：</a:t>
            </a:r>
            <a:r>
              <a:rPr lang="en-US" altLang="zh-CN" sz="900" i="1" dirty="0">
                <a:solidFill>
                  <a:srgbClr val="000000"/>
                </a:solidFill>
                <a:latin typeface="Calibri"/>
                <a:ea typeface="DFKaiShu-GB5"/>
              </a:rPr>
              <a:t>Dealogic, DBS, as of 20 May 2026</a:t>
            </a:r>
          </a:p>
          <a:p>
            <a:pPr eaLnBrk="1" fontAlgn="auto" hangingPunct="1">
              <a:spcBef>
                <a:spcPts val="0"/>
              </a:spcBef>
              <a:spcAft>
                <a:spcPts val="0"/>
              </a:spcAft>
              <a:defRPr/>
            </a:pPr>
            <a:r>
              <a:rPr lang="en-US" sz="900" i="1" dirty="0">
                <a:solidFill>
                  <a:srgbClr val="000000"/>
                </a:solidFill>
                <a:latin typeface="Calibri"/>
                <a:ea typeface="DFKaiShu-GB5"/>
              </a:rPr>
              <a:t>Note 1: All deal size is p</a:t>
            </a:r>
            <a:r>
              <a:rPr lang="en-US" altLang="zh-CN" sz="900" i="1" dirty="0">
                <a:solidFill>
                  <a:srgbClr val="000000"/>
                </a:solidFill>
                <a:latin typeface="Calibri"/>
                <a:ea typeface="DFKaiShu-GB5"/>
              </a:rPr>
              <a:t>ost</a:t>
            </a:r>
            <a:r>
              <a:rPr lang="en-US" sz="900" i="1" dirty="0">
                <a:solidFill>
                  <a:srgbClr val="000000"/>
                </a:solidFill>
                <a:latin typeface="Calibri"/>
                <a:ea typeface="DFKaiShu-GB5"/>
              </a:rPr>
              <a:t>-shoe deal size (USD’m)</a:t>
            </a:r>
            <a:endParaRPr kumimoji="0" lang="en-US" sz="900" b="0" i="1" u="none" strike="noStrike" kern="1200" cap="none" spc="0" normalizeH="0" baseline="0" noProof="0" dirty="0">
              <a:ln>
                <a:noFill/>
              </a:ln>
              <a:solidFill>
                <a:srgbClr val="000000"/>
              </a:solidFill>
              <a:effectLst/>
              <a:uLnTx/>
              <a:uFillTx/>
              <a:latin typeface="Calibri"/>
              <a:ea typeface="DFKaiShu-GB5"/>
              <a:cs typeface="+mn-cs"/>
            </a:endParaRPr>
          </a:p>
        </p:txBody>
      </p:sp>
    </p:spTree>
    <p:extLst>
      <p:ext uri="{BB962C8B-B14F-4D97-AF65-F5344CB8AC3E}">
        <p14:creationId xmlns:p14="http://schemas.microsoft.com/office/powerpoint/2010/main" val="4235299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1Q2026 Missed Deals: Placements</a:t>
            </a:r>
          </a:p>
        </p:txBody>
      </p:sp>
      <p:sp>
        <p:nvSpPr>
          <p:cNvPr id="2" name="Slide Number Placeholder 1">
            <a:extLst>
              <a:ext uri="{FF2B5EF4-FFF2-40B4-BE49-F238E27FC236}">
                <a16:creationId xmlns:a16="http://schemas.microsoft.com/office/drawing/2014/main" id="{F6805819-3F92-42B4-AFF5-38C704BC7F02}"/>
              </a:ext>
            </a:extLst>
          </p:cNvPr>
          <p:cNvSpPr>
            <a:spLocks noGrp="1"/>
          </p:cNvSpPr>
          <p:nvPr>
            <p:ph type="sldNum" sz="quarter" idx="4"/>
          </p:nvPr>
        </p:nvSpPr>
        <p:spPr>
          <a:xfrm>
            <a:off x="9444286" y="6489265"/>
            <a:ext cx="341760" cy="246221"/>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000" kern="1200" baseline="0">
                <a:solidFill>
                  <a:schemeClr val="tx1">
                    <a:tint val="75000"/>
                  </a:schemeClr>
                </a:solidFill>
                <a:latin typeface="Calibri" panose="020F0502020204030204" pitchFamily="34" charset="0"/>
                <a:ea typeface="DFKaiShu-GB5" panose="03000509000000000000" pitchFamily="65"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46F7334-D539-4DA0-AE05-1AF7E48B82B8}" type="slidenum">
              <a:rPr lang="en-US" smtClean="0"/>
              <a:pPr>
                <a:defRPr/>
              </a:pPr>
              <a:t>8</a:t>
            </a:fld>
            <a:endParaRPr lang="en-US" dirty="0"/>
          </a:p>
        </p:txBody>
      </p:sp>
      <p:graphicFrame>
        <p:nvGraphicFramePr>
          <p:cNvPr id="4" name="Table 3">
            <a:extLst>
              <a:ext uri="{FF2B5EF4-FFF2-40B4-BE49-F238E27FC236}">
                <a16:creationId xmlns:a16="http://schemas.microsoft.com/office/drawing/2014/main" id="{4E8D6002-334A-5D36-5EA7-6CDCD84D0C01}"/>
              </a:ext>
            </a:extLst>
          </p:cNvPr>
          <p:cNvGraphicFramePr>
            <a:graphicFrameLocks noGrp="1"/>
          </p:cNvGraphicFramePr>
          <p:nvPr>
            <p:extLst>
              <p:ext uri="{D42A27DB-BD31-4B8C-83A1-F6EECF244321}">
                <p14:modId xmlns:p14="http://schemas.microsoft.com/office/powerpoint/2010/main" val="1382470310"/>
              </p:ext>
            </p:extLst>
          </p:nvPr>
        </p:nvGraphicFramePr>
        <p:xfrm>
          <a:off x="341756" y="1009650"/>
          <a:ext cx="9222489" cy="2301240"/>
        </p:xfrm>
        <a:graphic>
          <a:graphicData uri="http://schemas.openxmlformats.org/drawingml/2006/table">
            <a:tbl>
              <a:tblPr firstRow="1" bandRow="1">
                <a:tableStyleId>{073A0DAA-6AF3-43AB-8588-CEC1D06C72B9}</a:tableStyleId>
              </a:tblPr>
              <a:tblGrid>
                <a:gridCol w="286285">
                  <a:extLst>
                    <a:ext uri="{9D8B030D-6E8A-4147-A177-3AD203B41FA5}">
                      <a16:colId xmlns:a16="http://schemas.microsoft.com/office/drawing/2014/main" val="20000"/>
                    </a:ext>
                  </a:extLst>
                </a:gridCol>
                <a:gridCol w="808957">
                  <a:extLst>
                    <a:ext uri="{9D8B030D-6E8A-4147-A177-3AD203B41FA5}">
                      <a16:colId xmlns:a16="http://schemas.microsoft.com/office/drawing/2014/main" val="20001"/>
                    </a:ext>
                  </a:extLst>
                </a:gridCol>
                <a:gridCol w="821739">
                  <a:extLst>
                    <a:ext uri="{9D8B030D-6E8A-4147-A177-3AD203B41FA5}">
                      <a16:colId xmlns:a16="http://schemas.microsoft.com/office/drawing/2014/main" val="20002"/>
                    </a:ext>
                  </a:extLst>
                </a:gridCol>
                <a:gridCol w="1764719">
                  <a:extLst>
                    <a:ext uri="{9D8B030D-6E8A-4147-A177-3AD203B41FA5}">
                      <a16:colId xmlns:a16="http://schemas.microsoft.com/office/drawing/2014/main" val="20003"/>
                    </a:ext>
                  </a:extLst>
                </a:gridCol>
                <a:gridCol w="1318201">
                  <a:extLst>
                    <a:ext uri="{9D8B030D-6E8A-4147-A177-3AD203B41FA5}">
                      <a16:colId xmlns:a16="http://schemas.microsoft.com/office/drawing/2014/main" val="20004"/>
                    </a:ext>
                  </a:extLst>
                </a:gridCol>
                <a:gridCol w="770079">
                  <a:extLst>
                    <a:ext uri="{9D8B030D-6E8A-4147-A177-3AD203B41FA5}">
                      <a16:colId xmlns:a16="http://schemas.microsoft.com/office/drawing/2014/main" val="20005"/>
                    </a:ext>
                  </a:extLst>
                </a:gridCol>
                <a:gridCol w="692020">
                  <a:extLst>
                    <a:ext uri="{9D8B030D-6E8A-4147-A177-3AD203B41FA5}">
                      <a16:colId xmlns:a16="http://schemas.microsoft.com/office/drawing/2014/main" val="20006"/>
                    </a:ext>
                  </a:extLst>
                </a:gridCol>
                <a:gridCol w="1119559">
                  <a:extLst>
                    <a:ext uri="{9D8B030D-6E8A-4147-A177-3AD203B41FA5}">
                      <a16:colId xmlns:a16="http://schemas.microsoft.com/office/drawing/2014/main" val="3649777117"/>
                    </a:ext>
                  </a:extLst>
                </a:gridCol>
                <a:gridCol w="927802">
                  <a:extLst>
                    <a:ext uri="{9D8B030D-6E8A-4147-A177-3AD203B41FA5}">
                      <a16:colId xmlns:a16="http://schemas.microsoft.com/office/drawing/2014/main" val="20007"/>
                    </a:ext>
                  </a:extLst>
                </a:gridCol>
                <a:gridCol w="713128">
                  <a:extLst>
                    <a:ext uri="{9D8B030D-6E8A-4147-A177-3AD203B41FA5}">
                      <a16:colId xmlns:a16="http://schemas.microsoft.com/office/drawing/2014/main" val="20010"/>
                    </a:ext>
                  </a:extLst>
                </a:gridCol>
              </a:tblGrid>
              <a:tr h="548640">
                <a:tc>
                  <a:txBody>
                    <a:bodyPr/>
                    <a:lstStyle/>
                    <a:p>
                      <a:pPr algn="ctr"/>
                      <a:r>
                        <a:rPr lang="en-US" sz="900" dirty="0">
                          <a:latin typeface="+mn-lt"/>
                        </a:rPr>
                        <a:t>#</a:t>
                      </a:r>
                      <a:endParaRPr lang="en-US" sz="900" b="1" dirty="0">
                        <a:latin typeface="+mn-lt"/>
                      </a:endParaRPr>
                    </a:p>
                  </a:txBody>
                  <a:tcPr marL="22289" marR="22289" marT="0" marB="0" anchor="ctr">
                    <a:solidFill>
                      <a:srgbClr val="C00000"/>
                    </a:solidFill>
                  </a:tcPr>
                </a:tc>
                <a:tc>
                  <a:txBody>
                    <a:bodyPr/>
                    <a:lstStyle/>
                    <a:p>
                      <a:pPr algn="ctr"/>
                      <a:r>
                        <a:rPr lang="en-US" sz="900" dirty="0">
                          <a:latin typeface="+mn-lt"/>
                        </a:rPr>
                        <a:t>Trade Date</a:t>
                      </a:r>
                      <a:endParaRPr lang="en-US" sz="900" b="1" dirty="0">
                        <a:latin typeface="+mn-lt"/>
                      </a:endParaRPr>
                    </a:p>
                  </a:txBody>
                  <a:tcPr marL="22289" marR="22289" marT="0" marB="0" anchor="ctr">
                    <a:solidFill>
                      <a:srgbClr val="C00000"/>
                    </a:solidFill>
                  </a:tcPr>
                </a:tc>
                <a:tc>
                  <a:txBody>
                    <a:bodyPr/>
                    <a:lstStyle/>
                    <a:p>
                      <a:pPr algn="ctr"/>
                      <a:r>
                        <a:rPr lang="en-US" sz="900" dirty="0">
                          <a:latin typeface="+mn-lt"/>
                        </a:rPr>
                        <a:t>Ticker</a:t>
                      </a:r>
                      <a:endParaRPr lang="en-US" sz="900" b="1" dirty="0">
                        <a:latin typeface="+mn-lt"/>
                      </a:endParaRPr>
                    </a:p>
                  </a:txBody>
                  <a:tcPr marL="22289" marR="22289" marT="0" marB="0" anchor="ctr">
                    <a:solidFill>
                      <a:srgbClr val="C00000"/>
                    </a:solidFill>
                  </a:tcPr>
                </a:tc>
                <a:tc>
                  <a:txBody>
                    <a:bodyPr/>
                    <a:lstStyle/>
                    <a:p>
                      <a:pPr algn="ctr"/>
                      <a:r>
                        <a:rPr lang="en-US" sz="900" dirty="0">
                          <a:latin typeface="+mn-lt"/>
                        </a:rPr>
                        <a:t>Issuer</a:t>
                      </a:r>
                      <a:endParaRPr lang="en-US" sz="900" b="1" dirty="0">
                        <a:latin typeface="+mn-lt"/>
                      </a:endParaRPr>
                    </a:p>
                  </a:txBody>
                  <a:tcPr marL="22289" marR="22289" marT="0" marB="0" anchor="ctr">
                    <a:solidFill>
                      <a:srgbClr val="C00000"/>
                    </a:solidFill>
                  </a:tcPr>
                </a:tc>
                <a:tc>
                  <a:txBody>
                    <a:bodyPr/>
                    <a:lstStyle/>
                    <a:p>
                      <a:pPr algn="ctr"/>
                      <a:r>
                        <a:rPr lang="en-US" sz="900" dirty="0">
                          <a:latin typeface="+mn-lt"/>
                        </a:rPr>
                        <a:t>Sector</a:t>
                      </a:r>
                      <a:endParaRPr lang="en-US" sz="900" b="1" dirty="0">
                        <a:latin typeface="+mn-lt"/>
                      </a:endParaRPr>
                    </a:p>
                  </a:txBody>
                  <a:tcPr marL="22289" marR="22289" marT="0" marB="0" anchor="ctr">
                    <a:solidFill>
                      <a:srgbClr val="C00000"/>
                    </a:solidFill>
                  </a:tcPr>
                </a:tc>
                <a:tc>
                  <a:txBody>
                    <a:bodyPr/>
                    <a:lstStyle/>
                    <a:p>
                      <a:pPr algn="ctr"/>
                      <a:r>
                        <a:rPr lang="en-US" sz="900" dirty="0">
                          <a:latin typeface="+mn-lt"/>
                        </a:rPr>
                        <a:t>Size USD’m</a:t>
                      </a:r>
                      <a:endParaRPr lang="en-US" sz="900" b="1" dirty="0">
                        <a:latin typeface="+mn-lt"/>
                      </a:endParaRPr>
                    </a:p>
                  </a:txBody>
                  <a:tcPr marL="22289" marR="74295" marT="0" marB="0" anchor="ctr">
                    <a:solidFill>
                      <a:srgbClr val="C00000"/>
                    </a:solidFill>
                  </a:tcPr>
                </a:tc>
                <a:tc>
                  <a:txBody>
                    <a:bodyPr/>
                    <a:lstStyle/>
                    <a:p>
                      <a:pPr algn="ctr"/>
                      <a:r>
                        <a:rPr lang="en-US" sz="900" b="1" dirty="0">
                          <a:latin typeface="+mn-lt"/>
                        </a:rPr>
                        <a:t>Discount to Last Trading</a:t>
                      </a:r>
                    </a:p>
                  </a:txBody>
                  <a:tcPr marL="74295" marR="74295" marT="37148" marB="37148" anchor="ctr">
                    <a:solidFill>
                      <a:srgbClr val="C00000"/>
                    </a:solidFill>
                  </a:tcPr>
                </a:tc>
                <a:tc>
                  <a:txBody>
                    <a:bodyPr/>
                    <a:lstStyle/>
                    <a:p>
                      <a:pPr algn="ctr"/>
                      <a:r>
                        <a:rPr lang="en-US" sz="900" b="1" dirty="0">
                          <a:latin typeface="+mn-lt"/>
                        </a:rPr>
                        <a:t>Bookrunner</a:t>
                      </a:r>
                    </a:p>
                  </a:txBody>
                  <a:tcPr marL="74295" marR="74295" marT="37148" marB="37148" anchor="ctr">
                    <a:solidFill>
                      <a:srgbClr val="C00000"/>
                    </a:solidFill>
                  </a:tcPr>
                </a:tc>
                <a:tc>
                  <a:txBody>
                    <a:bodyPr/>
                    <a:lstStyle/>
                    <a:p>
                      <a:pPr algn="ctr"/>
                      <a:r>
                        <a:rPr lang="en-US" sz="900" b="1" dirty="0">
                          <a:latin typeface="+mn-lt"/>
                        </a:rPr>
                        <a:t>Type</a:t>
                      </a:r>
                    </a:p>
                  </a:txBody>
                  <a:tcPr marL="74295" marR="74295" marT="37148" marB="37148" anchor="ctr">
                    <a:solidFill>
                      <a:srgbClr val="C00000"/>
                    </a:solidFill>
                  </a:tcPr>
                </a:tc>
                <a:tc>
                  <a:txBody>
                    <a:bodyPr/>
                    <a:lstStyle/>
                    <a:p>
                      <a:pPr algn="ctr"/>
                      <a:r>
                        <a:rPr lang="en-US" sz="900" dirty="0">
                          <a:latin typeface="+mn-lt"/>
                        </a:rPr>
                        <a:t>IBG Segment</a:t>
                      </a:r>
                      <a:endParaRPr lang="en-US" sz="900" b="1" dirty="0">
                        <a:latin typeface="+mn-lt"/>
                      </a:endParaRPr>
                    </a:p>
                  </a:txBody>
                  <a:tcPr marL="22289" marR="22289" marT="0" marB="0" anchor="ctr">
                    <a:solidFill>
                      <a:srgbClr val="C00000"/>
                    </a:solidFill>
                  </a:tcPr>
                </a:tc>
                <a:extLst>
                  <a:ext uri="{0D108BD9-81ED-4DB2-BD59-A6C34878D82A}">
                    <a16:rowId xmlns:a16="http://schemas.microsoft.com/office/drawing/2014/main" val="10000"/>
                  </a:ext>
                </a:extLst>
              </a:tr>
              <a:tr h="411480">
                <a:tc>
                  <a:txBody>
                    <a:bodyPr/>
                    <a:lstStyle/>
                    <a:p>
                      <a:pPr marL="0" algn="ctr" defTabSz="990570" rtl="0" eaLnBrk="1" fontAlgn="ctr" latinLnBrk="0" hangingPunct="1"/>
                      <a:r>
                        <a:rPr lang="en-US" sz="1000" b="0" i="0" u="none" strike="noStrike" kern="1200" dirty="0">
                          <a:solidFill>
                            <a:schemeClr val="tx1"/>
                          </a:solidFill>
                          <a:effectLst/>
                          <a:latin typeface="+mn-lt"/>
                          <a:ea typeface="+mn-ea"/>
                          <a:cs typeface="Calibri" panose="020F0502020204030204" pitchFamily="34" charset="0"/>
                        </a:rPr>
                        <a:t>1</a:t>
                      </a:r>
                    </a:p>
                  </a:txBody>
                  <a:tcPr marL="7739" marR="7739" marT="7739" marB="0" anchor="ctr"/>
                </a:tc>
                <a:tc>
                  <a:txBody>
                    <a:bodyPr/>
                    <a:lstStyle/>
                    <a:p>
                      <a:pPr algn="ctr" fontAlgn="ctr">
                        <a:buNone/>
                      </a:pPr>
                      <a:r>
                        <a:rPr lang="en-US" sz="1000" b="0" i="0" u="none" strike="noStrike" dirty="0">
                          <a:solidFill>
                            <a:srgbClr val="000000"/>
                          </a:solidFill>
                          <a:effectLst/>
                          <a:latin typeface="+mn-lt"/>
                        </a:rPr>
                        <a:t>16-Jan-26</a:t>
                      </a:r>
                    </a:p>
                  </a:txBody>
                  <a:tcPr marL="7620" marR="7620" marT="7620" marB="0" anchor="ctr"/>
                </a:tc>
                <a:tc>
                  <a:txBody>
                    <a:bodyPr/>
                    <a:lstStyle/>
                    <a:p>
                      <a:pPr algn="ctr" fontAlgn="ctr">
                        <a:buNone/>
                      </a:pPr>
                      <a:r>
                        <a:rPr lang="en-US" sz="1000" b="0" i="0" u="none" strike="noStrike" dirty="0">
                          <a:solidFill>
                            <a:srgbClr val="000000"/>
                          </a:solidFill>
                          <a:effectLst/>
                          <a:latin typeface="+mn-lt"/>
                        </a:rPr>
                        <a:t>9858</a:t>
                      </a:r>
                    </a:p>
                  </a:txBody>
                  <a:tcPr marL="7620" marR="7620" marT="7620" marB="0" anchor="ctr"/>
                </a:tc>
                <a:tc>
                  <a:txBody>
                    <a:bodyPr/>
                    <a:lstStyle/>
                    <a:p>
                      <a:pPr algn="ctr" fontAlgn="ctr">
                        <a:buNone/>
                      </a:pPr>
                      <a:r>
                        <a:rPr lang="en-US" sz="1000" b="0" i="0" u="none" strike="noStrike">
                          <a:solidFill>
                            <a:srgbClr val="000000"/>
                          </a:solidFill>
                          <a:effectLst/>
                          <a:latin typeface="+mn-lt"/>
                        </a:rPr>
                        <a:t>China Youran Dairy Group Ltd</a:t>
                      </a:r>
                    </a:p>
                  </a:txBody>
                  <a:tcPr marL="7620" marR="7620" marT="7620" marB="0" anchor="ctr"/>
                </a:tc>
                <a:tc>
                  <a:txBody>
                    <a:bodyPr/>
                    <a:lstStyle/>
                    <a:p>
                      <a:pPr algn="ctr" fontAlgn="b">
                        <a:buNone/>
                      </a:pPr>
                      <a:r>
                        <a:rPr lang="en-US" sz="1000" b="0" i="0" u="none" strike="noStrike">
                          <a:solidFill>
                            <a:srgbClr val="000000"/>
                          </a:solidFill>
                          <a:effectLst/>
                          <a:latin typeface="+mn-lt"/>
                        </a:rPr>
                        <a:t>Consumer </a:t>
                      </a:r>
                    </a:p>
                  </a:txBody>
                  <a:tcPr marL="7620" marR="7620" marT="7620" marB="0" anchor="ctr"/>
                </a:tc>
                <a:tc>
                  <a:txBody>
                    <a:bodyPr/>
                    <a:lstStyle/>
                    <a:p>
                      <a:pPr algn="ctr" fontAlgn="ctr">
                        <a:buNone/>
                      </a:pPr>
                      <a:r>
                        <a:rPr lang="en-US" sz="1000" b="0" i="0" u="none" strike="noStrike">
                          <a:solidFill>
                            <a:srgbClr val="000000"/>
                          </a:solidFill>
                          <a:effectLst/>
                          <a:latin typeface="+mn-lt"/>
                        </a:rPr>
                        <a:t>150</a:t>
                      </a:r>
                    </a:p>
                  </a:txBody>
                  <a:tcPr marL="7620" marR="7620" marT="7620" marB="0" anchor="ctr"/>
                </a:tc>
                <a:tc>
                  <a:txBody>
                    <a:bodyPr/>
                    <a:lstStyle/>
                    <a:p>
                      <a:pPr algn="ctr" fontAlgn="ctr"/>
                      <a:r>
                        <a:rPr lang="en-US" sz="1000" b="0" i="0" u="none" strike="noStrike" dirty="0">
                          <a:solidFill>
                            <a:srgbClr val="000000"/>
                          </a:solidFill>
                          <a:effectLst/>
                          <a:latin typeface="+mn-lt"/>
                        </a:rPr>
                        <a:t>-8.84%</a:t>
                      </a:r>
                    </a:p>
                  </a:txBody>
                  <a:tcPr marL="7620" marR="7620" marT="7620" marB="0" anchor="ctr"/>
                </a:tc>
                <a:tc>
                  <a:txBody>
                    <a:bodyPr/>
                    <a:lstStyle/>
                    <a:p>
                      <a:pPr algn="ctr" fontAlgn="ctr">
                        <a:buNone/>
                      </a:pPr>
                      <a:r>
                        <a:rPr lang="en-US" sz="1000" b="0" i="0" u="none" strike="noStrike">
                          <a:solidFill>
                            <a:srgbClr val="000000"/>
                          </a:solidFill>
                          <a:effectLst/>
                          <a:latin typeface="Calibri" panose="020F0502020204030204" pitchFamily="34" charset="0"/>
                        </a:rPr>
                        <a:t>JPMorgan</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CITIC Securities</a:t>
                      </a:r>
                    </a:p>
                  </a:txBody>
                  <a:tcPr marL="7620" marR="7620" marT="7620" marB="0" anchor="ct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lang="en-US" sz="1000" b="0" i="0" u="none" strike="noStrike" kern="1200" noProof="0" dirty="0">
                          <a:solidFill>
                            <a:schemeClr val="tx1"/>
                          </a:solidFill>
                          <a:effectLst/>
                          <a:latin typeface="+mn-lt"/>
                          <a:ea typeface="+mn-ea"/>
                          <a:cs typeface="Calibri" panose="020F0502020204030204" pitchFamily="34" charset="0"/>
                        </a:rPr>
                        <a:t>New Share</a:t>
                      </a:r>
                    </a:p>
                  </a:txBody>
                  <a:tcPr marL="7620" marR="7620" marT="7620" marB="0" anchor="ctr"/>
                </a:tc>
                <a:tc>
                  <a:txBody>
                    <a:bodyPr/>
                    <a:lstStyle/>
                    <a:p>
                      <a:pPr algn="ctr" fontAlgn="b">
                        <a:buNone/>
                      </a:pPr>
                      <a:r>
                        <a:rPr lang="en-US" sz="1000" b="0" i="0" u="none" strike="noStrike">
                          <a:solidFill>
                            <a:srgbClr val="000000"/>
                          </a:solidFill>
                          <a:effectLst/>
                          <a:latin typeface="+mn-lt"/>
                        </a:rPr>
                        <a:t>LC</a:t>
                      </a:r>
                    </a:p>
                  </a:txBody>
                  <a:tcPr marL="7620" marR="7620" marT="7620" marB="0" anchor="ctr"/>
                </a:tc>
                <a:extLst>
                  <a:ext uri="{0D108BD9-81ED-4DB2-BD59-A6C34878D82A}">
                    <a16:rowId xmlns:a16="http://schemas.microsoft.com/office/drawing/2014/main" val="1910344405"/>
                  </a:ext>
                </a:extLst>
              </a:tr>
              <a:tr h="411480">
                <a:tc>
                  <a:txBody>
                    <a:bodyPr/>
                    <a:lstStyle/>
                    <a:p>
                      <a:pPr marL="0" algn="ctr" defTabSz="990570" rtl="0" eaLnBrk="1" fontAlgn="ctr" latinLnBrk="0" hangingPunct="1"/>
                      <a:r>
                        <a:rPr lang="en-US" altLang="zh-CN" sz="1000" b="0" i="0" u="none" strike="noStrike" kern="1200" dirty="0">
                          <a:solidFill>
                            <a:schemeClr val="tx1"/>
                          </a:solidFill>
                          <a:effectLst/>
                          <a:latin typeface="+mn-lt"/>
                          <a:ea typeface="+mn-ea"/>
                          <a:cs typeface="Calibri" panose="020F0502020204030204" pitchFamily="34" charset="0"/>
                        </a:rPr>
                        <a:t>2</a:t>
                      </a:r>
                      <a:endParaRPr lang="en-US" sz="1000" b="0" i="0" u="none" strike="noStrike" kern="1200" dirty="0">
                        <a:solidFill>
                          <a:schemeClr val="tx1"/>
                        </a:solidFill>
                        <a:effectLst/>
                        <a:latin typeface="+mn-lt"/>
                        <a:ea typeface="+mn-ea"/>
                        <a:cs typeface="Calibri" panose="020F0502020204030204" pitchFamily="34" charset="0"/>
                      </a:endParaRPr>
                    </a:p>
                  </a:txBody>
                  <a:tcPr marL="7739" marR="7739" marT="7739" marB="0" anchor="ctr"/>
                </a:tc>
                <a:tc>
                  <a:txBody>
                    <a:bodyPr/>
                    <a:lstStyle/>
                    <a:p>
                      <a:pPr algn="ctr" fontAlgn="ctr">
                        <a:buNone/>
                      </a:pPr>
                      <a:r>
                        <a:rPr lang="en-US" sz="1000" b="0" i="0" u="none" strike="noStrike">
                          <a:solidFill>
                            <a:srgbClr val="000000"/>
                          </a:solidFill>
                          <a:effectLst/>
                          <a:latin typeface="+mn-lt"/>
                        </a:rPr>
                        <a:t>22-Jan-26</a:t>
                      </a:r>
                    </a:p>
                  </a:txBody>
                  <a:tcPr marL="7620" marR="7620" marT="7620" marB="0" anchor="ctr"/>
                </a:tc>
                <a:tc>
                  <a:txBody>
                    <a:bodyPr/>
                    <a:lstStyle/>
                    <a:p>
                      <a:pPr algn="ctr" fontAlgn="ctr">
                        <a:buNone/>
                      </a:pPr>
                      <a:r>
                        <a:rPr lang="en-US" sz="1000" b="0" i="0" u="none" strike="noStrike">
                          <a:solidFill>
                            <a:srgbClr val="000000"/>
                          </a:solidFill>
                          <a:effectLst/>
                          <a:latin typeface="+mn-lt"/>
                        </a:rPr>
                        <a:t>2610</a:t>
                      </a:r>
                    </a:p>
                  </a:txBody>
                  <a:tcPr marL="7620" marR="7620" marT="7620" marB="0" anchor="ctr"/>
                </a:tc>
                <a:tc>
                  <a:txBody>
                    <a:bodyPr/>
                    <a:lstStyle/>
                    <a:p>
                      <a:pPr algn="ctr" fontAlgn="ctr">
                        <a:buNone/>
                      </a:pPr>
                      <a:r>
                        <a:rPr lang="en-US" sz="1000" b="0" i="0" u="none" strike="noStrike" dirty="0">
                          <a:solidFill>
                            <a:srgbClr val="000000"/>
                          </a:solidFill>
                          <a:effectLst/>
                          <a:latin typeface="+mn-lt"/>
                        </a:rPr>
                        <a:t>Nanshan </a:t>
                      </a:r>
                      <a:r>
                        <a:rPr lang="en-US" sz="1000" b="0" i="0" u="none" strike="noStrike" dirty="0" err="1">
                          <a:solidFill>
                            <a:srgbClr val="000000"/>
                          </a:solidFill>
                          <a:effectLst/>
                          <a:latin typeface="+mn-lt"/>
                        </a:rPr>
                        <a:t>Aluminium</a:t>
                      </a:r>
                      <a:r>
                        <a:rPr lang="en-US" sz="1000" b="0" i="0" u="none" strike="noStrike" dirty="0">
                          <a:solidFill>
                            <a:srgbClr val="000000"/>
                          </a:solidFill>
                          <a:effectLst/>
                          <a:latin typeface="+mn-lt"/>
                        </a:rPr>
                        <a:t> International Holdings Ltd</a:t>
                      </a:r>
                    </a:p>
                  </a:txBody>
                  <a:tcPr marL="7620" marR="7620" marT="7620" marB="0" anchor="ctr"/>
                </a:tc>
                <a:tc>
                  <a:txBody>
                    <a:bodyPr/>
                    <a:lstStyle/>
                    <a:p>
                      <a:pPr algn="ctr" fontAlgn="b">
                        <a:buNone/>
                      </a:pPr>
                      <a:r>
                        <a:rPr lang="en-US" sz="1000" b="0" i="0" u="none" strike="noStrike">
                          <a:solidFill>
                            <a:srgbClr val="000000"/>
                          </a:solidFill>
                          <a:effectLst/>
                          <a:latin typeface="+mn-lt"/>
                        </a:rPr>
                        <a:t>Mining</a:t>
                      </a:r>
                    </a:p>
                  </a:txBody>
                  <a:tcPr marL="7620" marR="7620" marT="7620" marB="0" anchor="ctr"/>
                </a:tc>
                <a:tc>
                  <a:txBody>
                    <a:bodyPr/>
                    <a:lstStyle/>
                    <a:p>
                      <a:pPr algn="ctr" fontAlgn="ctr">
                        <a:buNone/>
                      </a:pPr>
                      <a:r>
                        <a:rPr lang="en-US" sz="1000" b="0" i="0" u="none" strike="noStrike">
                          <a:solidFill>
                            <a:srgbClr val="000000"/>
                          </a:solidFill>
                          <a:effectLst/>
                          <a:latin typeface="+mn-lt"/>
                        </a:rPr>
                        <a:t>256</a:t>
                      </a:r>
                    </a:p>
                  </a:txBody>
                  <a:tcPr marL="7620" marR="7620" marT="7620" marB="0" anchor="ctr"/>
                </a:tc>
                <a:tc>
                  <a:txBody>
                    <a:bodyPr/>
                    <a:lstStyle/>
                    <a:p>
                      <a:pPr algn="ctr" fontAlgn="ctr"/>
                      <a:r>
                        <a:rPr lang="en-US" sz="1000" b="0" i="0" u="none" strike="noStrike" dirty="0">
                          <a:solidFill>
                            <a:srgbClr val="000000"/>
                          </a:solidFill>
                          <a:effectLst/>
                          <a:latin typeface="+mn-lt"/>
                        </a:rPr>
                        <a:t>-6.39%</a:t>
                      </a:r>
                    </a:p>
                  </a:txBody>
                  <a:tcPr marL="7620" marR="7620" marT="7620" marB="0" anchor="ctr"/>
                </a:tc>
                <a:tc>
                  <a:txBody>
                    <a:bodyPr/>
                    <a:lstStyle/>
                    <a:p>
                      <a:pPr algn="ctr" fontAlgn="ctr">
                        <a:buNone/>
                      </a:pPr>
                      <a:r>
                        <a:rPr lang="en-US" sz="1000" b="0" i="0" u="none" strike="noStrike">
                          <a:solidFill>
                            <a:srgbClr val="000000"/>
                          </a:solidFill>
                          <a:effectLst/>
                          <a:latin typeface="Calibri" panose="020F0502020204030204" pitchFamily="34" charset="0"/>
                        </a:rPr>
                        <a:t>Huatai Securities Co Ltd</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CICC</a:t>
                      </a:r>
                    </a:p>
                  </a:txBody>
                  <a:tcPr marL="7620" marR="7620" marT="7620" marB="0" anchor="ct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DFKaiShu-GB5"/>
                          <a:cs typeface="Calibri" panose="020F0502020204030204" pitchFamily="34" charset="0"/>
                        </a:rPr>
                        <a:t>New Share</a:t>
                      </a:r>
                      <a:endParaRPr kumimoji="0" lang="en-US" sz="1000" b="0" i="0" u="none" strike="noStrike" kern="1200" cap="none" spc="0" normalizeH="0" baseline="0" noProof="0" dirty="0">
                        <a:ln>
                          <a:noFill/>
                        </a:ln>
                        <a:solidFill>
                          <a:srgbClr val="000000"/>
                        </a:solidFill>
                        <a:effectLst/>
                        <a:uLnTx/>
                        <a:uFillTx/>
                        <a:latin typeface="+mn-lt"/>
                        <a:ea typeface="DFKaiShu-GB5"/>
                        <a:cs typeface="Calibri" panose="020F0502020204030204" pitchFamily="34" charset="0"/>
                      </a:endParaRPr>
                    </a:p>
                  </a:txBody>
                  <a:tcPr marL="7620" marR="7620" marT="7620" marB="0" anchor="ctr"/>
                </a:tc>
                <a:tc>
                  <a:txBody>
                    <a:bodyPr/>
                    <a:lstStyle/>
                    <a:p>
                      <a:pPr algn="ctr" fontAlgn="b">
                        <a:buNone/>
                      </a:pPr>
                      <a:r>
                        <a:rPr lang="en-US" sz="1000" b="0" i="0" u="none" strike="noStrike">
                          <a:solidFill>
                            <a:srgbClr val="000000"/>
                          </a:solidFill>
                          <a:effectLst/>
                          <a:latin typeface="+mn-lt"/>
                        </a:rPr>
                        <a:t>LC</a:t>
                      </a:r>
                    </a:p>
                  </a:txBody>
                  <a:tcPr marL="7620" marR="7620" marT="7620" marB="0" anchor="ctr"/>
                </a:tc>
                <a:extLst>
                  <a:ext uri="{0D108BD9-81ED-4DB2-BD59-A6C34878D82A}">
                    <a16:rowId xmlns:a16="http://schemas.microsoft.com/office/drawing/2014/main" val="808557853"/>
                  </a:ext>
                </a:extLst>
              </a:tr>
              <a:tr h="411480">
                <a:tc>
                  <a:txBody>
                    <a:bodyPr/>
                    <a:lstStyle/>
                    <a:p>
                      <a:pPr marL="0" algn="ctr" defTabSz="990570" rtl="0" eaLnBrk="1" fontAlgn="ctr" latinLnBrk="0" hangingPunct="1"/>
                      <a:r>
                        <a:rPr lang="en-US" altLang="zh-CN" sz="1000" b="0" i="0" u="none" strike="noStrike" kern="1200" dirty="0">
                          <a:solidFill>
                            <a:schemeClr val="tx1"/>
                          </a:solidFill>
                          <a:effectLst/>
                          <a:latin typeface="+mn-lt"/>
                          <a:ea typeface="+mn-ea"/>
                          <a:cs typeface="Calibri" panose="020F0502020204030204" pitchFamily="34" charset="0"/>
                        </a:rPr>
                        <a:t>3</a:t>
                      </a:r>
                      <a:endParaRPr lang="en-US" sz="1000" b="0" i="0" u="none" strike="noStrike" kern="1200" dirty="0">
                        <a:solidFill>
                          <a:schemeClr val="tx1"/>
                        </a:solidFill>
                        <a:effectLst/>
                        <a:latin typeface="+mn-lt"/>
                        <a:ea typeface="+mn-ea"/>
                        <a:cs typeface="Calibri" panose="020F0502020204030204" pitchFamily="34" charset="0"/>
                      </a:endParaRPr>
                    </a:p>
                  </a:txBody>
                  <a:tcPr marL="7739" marR="7739" marT="7739" marB="0" anchor="ctr"/>
                </a:tc>
                <a:tc>
                  <a:txBody>
                    <a:bodyPr/>
                    <a:lstStyle/>
                    <a:p>
                      <a:pPr algn="ctr" fontAlgn="ctr">
                        <a:buNone/>
                      </a:pPr>
                      <a:r>
                        <a:rPr lang="en-US" sz="1000" b="0" i="0" u="none" strike="noStrike">
                          <a:solidFill>
                            <a:srgbClr val="000000"/>
                          </a:solidFill>
                          <a:effectLst/>
                          <a:latin typeface="+mn-lt"/>
                        </a:rPr>
                        <a:t>6-Feb-26</a:t>
                      </a:r>
                    </a:p>
                  </a:txBody>
                  <a:tcPr marL="7620" marR="7620" marT="7620" marB="0" anchor="ctr"/>
                </a:tc>
                <a:tc>
                  <a:txBody>
                    <a:bodyPr/>
                    <a:lstStyle/>
                    <a:p>
                      <a:pPr algn="ctr" fontAlgn="ctr">
                        <a:buNone/>
                      </a:pPr>
                      <a:r>
                        <a:rPr lang="en-US" sz="1000" b="0" i="0" u="none" strike="noStrike">
                          <a:solidFill>
                            <a:srgbClr val="000000"/>
                          </a:solidFill>
                          <a:effectLst/>
                          <a:latin typeface="+mn-lt"/>
                        </a:rPr>
                        <a:t>3680</a:t>
                      </a:r>
                    </a:p>
                  </a:txBody>
                  <a:tcPr marL="7620" marR="7620" marT="7620" marB="0" anchor="ctr"/>
                </a:tc>
                <a:tc>
                  <a:txBody>
                    <a:bodyPr/>
                    <a:lstStyle/>
                    <a:p>
                      <a:pPr algn="ctr" fontAlgn="ctr">
                        <a:buNone/>
                      </a:pPr>
                      <a:r>
                        <a:rPr lang="en-US" sz="1000" b="0" i="0" u="none" strike="noStrike">
                          <a:solidFill>
                            <a:srgbClr val="000000"/>
                          </a:solidFill>
                          <a:effectLst/>
                          <a:latin typeface="+mn-lt"/>
                        </a:rPr>
                        <a:t>Ruihe Data Technology Holdings Ltd</a:t>
                      </a:r>
                    </a:p>
                  </a:txBody>
                  <a:tcPr marL="7620" marR="7620" marT="7620" marB="0" anchor="ctr"/>
                </a:tc>
                <a:tc>
                  <a:txBody>
                    <a:bodyPr/>
                    <a:lstStyle/>
                    <a:p>
                      <a:pPr algn="ctr" fontAlgn="b">
                        <a:buNone/>
                      </a:pPr>
                      <a:r>
                        <a:rPr lang="en-US" sz="1000" b="0" i="0" u="none" strike="noStrike" dirty="0">
                          <a:solidFill>
                            <a:srgbClr val="000000"/>
                          </a:solidFill>
                          <a:effectLst/>
                          <a:latin typeface="+mn-lt"/>
                        </a:rPr>
                        <a:t>TMT</a:t>
                      </a:r>
                    </a:p>
                  </a:txBody>
                  <a:tcPr marL="7620" marR="7620" marT="7620" marB="0" anchor="ctr"/>
                </a:tc>
                <a:tc>
                  <a:txBody>
                    <a:bodyPr/>
                    <a:lstStyle/>
                    <a:p>
                      <a:pPr algn="ctr" fontAlgn="ctr">
                        <a:buNone/>
                      </a:pPr>
                      <a:r>
                        <a:rPr lang="en-US" sz="1000" b="0" i="0" u="none" strike="noStrike">
                          <a:solidFill>
                            <a:srgbClr val="000000"/>
                          </a:solidFill>
                          <a:effectLst/>
                          <a:latin typeface="+mn-lt"/>
                        </a:rPr>
                        <a:t>11</a:t>
                      </a:r>
                    </a:p>
                  </a:txBody>
                  <a:tcPr marL="7620" marR="7620" marT="7620" marB="0" anchor="ctr"/>
                </a:tc>
                <a:tc>
                  <a:txBody>
                    <a:bodyPr/>
                    <a:lstStyle/>
                    <a:p>
                      <a:pPr algn="ctr" fontAlgn="ctr"/>
                      <a:r>
                        <a:rPr lang="en-US" sz="1000" b="0" i="0" u="none" strike="noStrike" dirty="0">
                          <a:solidFill>
                            <a:srgbClr val="000000"/>
                          </a:solidFill>
                          <a:effectLst/>
                          <a:latin typeface="+mn-lt"/>
                        </a:rPr>
                        <a:t>-13.96%</a:t>
                      </a:r>
                    </a:p>
                  </a:txBody>
                  <a:tcPr marL="7620" marR="7620" marT="7620" marB="0" anchor="ctr"/>
                </a:tc>
                <a:tc>
                  <a:txBody>
                    <a:bodyPr/>
                    <a:lstStyle/>
                    <a:p>
                      <a:pPr algn="ctr" fontAlgn="ctr">
                        <a:buNone/>
                      </a:pPr>
                      <a:r>
                        <a:rPr lang="en-US" sz="1000" b="0" i="0" u="none" strike="noStrike">
                          <a:solidFill>
                            <a:srgbClr val="000000"/>
                          </a:solidFill>
                          <a:effectLst/>
                          <a:latin typeface="Calibri" panose="020F0502020204030204" pitchFamily="34" charset="0"/>
                        </a:rPr>
                        <a:t>Theia Securities Ltd</a:t>
                      </a:r>
                    </a:p>
                  </a:txBody>
                  <a:tcPr marL="7620" marR="7620" marT="7620" marB="0" anchor="ct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DFKaiShu-GB5"/>
                          <a:cs typeface="Calibri" panose="020F0502020204030204" pitchFamily="34" charset="0"/>
                        </a:rPr>
                        <a:t>New Share</a:t>
                      </a:r>
                      <a:endParaRPr kumimoji="0" lang="en-US" sz="1000" b="0" i="0" u="none" strike="noStrike" kern="1200" cap="none" spc="0" normalizeH="0" baseline="0" noProof="0" dirty="0">
                        <a:ln>
                          <a:noFill/>
                        </a:ln>
                        <a:solidFill>
                          <a:srgbClr val="000000"/>
                        </a:solidFill>
                        <a:effectLst/>
                        <a:uLnTx/>
                        <a:uFillTx/>
                        <a:latin typeface="+mn-lt"/>
                        <a:ea typeface="DFKaiShu-GB5"/>
                        <a:cs typeface="Calibri" panose="020F0502020204030204" pitchFamily="34" charset="0"/>
                      </a:endParaRPr>
                    </a:p>
                  </a:txBody>
                  <a:tcPr marL="7620" marR="7620" marT="7620" marB="0" anchor="ctr"/>
                </a:tc>
                <a:tc>
                  <a:txBody>
                    <a:bodyPr/>
                    <a:lstStyle/>
                    <a:p>
                      <a:pPr algn="ctr" fontAlgn="b">
                        <a:buNone/>
                      </a:pPr>
                      <a:r>
                        <a:rPr lang="en-US" sz="1000" b="0" i="0" u="none" strike="noStrike">
                          <a:solidFill>
                            <a:srgbClr val="000000"/>
                          </a:solidFill>
                          <a:effectLst/>
                          <a:latin typeface="+mn-lt"/>
                        </a:rPr>
                        <a:t>SME</a:t>
                      </a:r>
                    </a:p>
                  </a:txBody>
                  <a:tcPr marL="7620" marR="7620" marT="7620" marB="0" anchor="ctr"/>
                </a:tc>
                <a:extLst>
                  <a:ext uri="{0D108BD9-81ED-4DB2-BD59-A6C34878D82A}">
                    <a16:rowId xmlns:a16="http://schemas.microsoft.com/office/drawing/2014/main" val="2416037843"/>
                  </a:ext>
                </a:extLst>
              </a:tr>
              <a:tr h="411480">
                <a:tc>
                  <a:txBody>
                    <a:bodyPr/>
                    <a:lstStyle/>
                    <a:p>
                      <a:pPr marL="0" algn="ctr" defTabSz="990570" rtl="0" eaLnBrk="1" fontAlgn="ctr" latinLnBrk="0" hangingPunct="1"/>
                      <a:r>
                        <a:rPr lang="en-US" altLang="zh-CN" sz="1000" b="0" i="0" u="none" strike="noStrike" kern="1200" dirty="0">
                          <a:solidFill>
                            <a:schemeClr val="tx1"/>
                          </a:solidFill>
                          <a:effectLst/>
                          <a:latin typeface="+mn-lt"/>
                          <a:ea typeface="+mn-ea"/>
                          <a:cs typeface="Calibri" panose="020F0502020204030204" pitchFamily="34" charset="0"/>
                        </a:rPr>
                        <a:t>4</a:t>
                      </a:r>
                      <a:endParaRPr lang="en-US" sz="1000" b="0" i="0" u="none" strike="noStrike" kern="1200" dirty="0">
                        <a:solidFill>
                          <a:schemeClr val="tx1"/>
                        </a:solidFill>
                        <a:effectLst/>
                        <a:latin typeface="+mn-lt"/>
                        <a:ea typeface="+mn-ea"/>
                        <a:cs typeface="Calibri" panose="020F0502020204030204" pitchFamily="34" charset="0"/>
                      </a:endParaRPr>
                    </a:p>
                  </a:txBody>
                  <a:tcPr marL="7739" marR="7739" marT="7739" marB="0" anchor="ctr"/>
                </a:tc>
                <a:tc>
                  <a:txBody>
                    <a:bodyPr/>
                    <a:lstStyle/>
                    <a:p>
                      <a:pPr algn="ctr" fontAlgn="ctr">
                        <a:buNone/>
                      </a:pPr>
                      <a:r>
                        <a:rPr lang="en-US" sz="1000" b="0" i="0" u="none" strike="noStrike">
                          <a:solidFill>
                            <a:srgbClr val="000000"/>
                          </a:solidFill>
                          <a:effectLst/>
                          <a:latin typeface="+mn-lt"/>
                        </a:rPr>
                        <a:t>11-Feb-26</a:t>
                      </a:r>
                    </a:p>
                  </a:txBody>
                  <a:tcPr marL="7620" marR="7620" marT="7620" marB="0" anchor="ctr"/>
                </a:tc>
                <a:tc>
                  <a:txBody>
                    <a:bodyPr/>
                    <a:lstStyle/>
                    <a:p>
                      <a:pPr algn="ctr" fontAlgn="ctr">
                        <a:buNone/>
                      </a:pPr>
                      <a:r>
                        <a:rPr lang="en-US" sz="1000" b="0" i="0" u="none" strike="noStrike">
                          <a:solidFill>
                            <a:srgbClr val="000000"/>
                          </a:solidFill>
                          <a:effectLst/>
                          <a:latin typeface="+mn-lt"/>
                        </a:rPr>
                        <a:t>8283</a:t>
                      </a:r>
                    </a:p>
                  </a:txBody>
                  <a:tcPr marL="7620" marR="7620" marT="7620" marB="0" anchor="ctr"/>
                </a:tc>
                <a:tc>
                  <a:txBody>
                    <a:bodyPr/>
                    <a:lstStyle/>
                    <a:p>
                      <a:pPr algn="ctr" fontAlgn="ctr">
                        <a:buNone/>
                      </a:pPr>
                      <a:r>
                        <a:rPr lang="en-US" sz="1000" b="0" i="0" u="none" strike="noStrike" dirty="0" err="1">
                          <a:solidFill>
                            <a:srgbClr val="000000"/>
                          </a:solidFill>
                          <a:effectLst/>
                          <a:latin typeface="+mn-lt"/>
                        </a:rPr>
                        <a:t>Zhongshi</a:t>
                      </a:r>
                      <a:r>
                        <a:rPr lang="en-US" sz="1000" b="0" i="0" u="none" strike="noStrike" dirty="0">
                          <a:solidFill>
                            <a:srgbClr val="000000"/>
                          </a:solidFill>
                          <a:effectLst/>
                          <a:latin typeface="+mn-lt"/>
                        </a:rPr>
                        <a:t> </a:t>
                      </a:r>
                      <a:r>
                        <a:rPr lang="en-US" sz="1000" b="0" i="0" u="none" strike="noStrike" dirty="0" err="1">
                          <a:solidFill>
                            <a:srgbClr val="000000"/>
                          </a:solidFill>
                          <a:effectLst/>
                          <a:latin typeface="+mn-lt"/>
                        </a:rPr>
                        <a:t>Minan</a:t>
                      </a:r>
                      <a:r>
                        <a:rPr lang="en-US" sz="1000" b="0" i="0" u="none" strike="noStrike" dirty="0">
                          <a:solidFill>
                            <a:srgbClr val="000000"/>
                          </a:solidFill>
                          <a:effectLst/>
                          <a:latin typeface="+mn-lt"/>
                        </a:rPr>
                        <a:t> Holdings Ltd</a:t>
                      </a:r>
                    </a:p>
                  </a:txBody>
                  <a:tcPr marL="7620" marR="7620" marT="7620" marB="0" anchor="ctr"/>
                </a:tc>
                <a:tc>
                  <a:txBody>
                    <a:bodyPr/>
                    <a:lstStyle/>
                    <a:p>
                      <a:pPr algn="ctr" fontAlgn="b">
                        <a:buNone/>
                      </a:pPr>
                      <a:r>
                        <a:rPr lang="en-US" sz="1000" b="0" i="0" u="none" strike="noStrike" dirty="0">
                          <a:solidFill>
                            <a:srgbClr val="000000"/>
                          </a:solidFill>
                          <a:effectLst/>
                          <a:latin typeface="+mn-lt"/>
                        </a:rPr>
                        <a:t>Industrials</a:t>
                      </a:r>
                    </a:p>
                  </a:txBody>
                  <a:tcPr marL="7620" marR="7620" marT="7620" marB="0" anchor="ctr"/>
                </a:tc>
                <a:tc>
                  <a:txBody>
                    <a:bodyPr/>
                    <a:lstStyle/>
                    <a:p>
                      <a:pPr algn="ctr" fontAlgn="ctr">
                        <a:buNone/>
                      </a:pPr>
                      <a:r>
                        <a:rPr lang="en-US" sz="1000" b="0" i="0" u="none" strike="noStrike" dirty="0">
                          <a:solidFill>
                            <a:srgbClr val="000000"/>
                          </a:solidFill>
                          <a:effectLst/>
                          <a:latin typeface="+mn-lt"/>
                        </a:rPr>
                        <a:t>12</a:t>
                      </a:r>
                    </a:p>
                  </a:txBody>
                  <a:tcPr marL="7620" marR="7620" marT="7620" marB="0" anchor="ctr"/>
                </a:tc>
                <a:tc>
                  <a:txBody>
                    <a:bodyPr/>
                    <a:lstStyle/>
                    <a:p>
                      <a:pPr algn="ctr" fontAlgn="ctr"/>
                      <a:r>
                        <a:rPr lang="en-US" sz="1000" b="0" i="0" u="none" strike="noStrike" dirty="0">
                          <a:solidFill>
                            <a:srgbClr val="000000"/>
                          </a:solidFill>
                          <a:effectLst/>
                          <a:latin typeface="+mn-lt"/>
                        </a:rPr>
                        <a:t>-23.91%</a:t>
                      </a:r>
                    </a:p>
                  </a:txBody>
                  <a:tcPr marL="7620" marR="7620" marT="7620" marB="0" anchor="ctr"/>
                </a:tc>
                <a:tc>
                  <a:txBody>
                    <a:bodyPr/>
                    <a:lstStyle/>
                    <a:p>
                      <a:pPr algn="ctr" fontAlgn="ctr">
                        <a:buNone/>
                      </a:pPr>
                      <a:r>
                        <a:rPr lang="en-US" sz="1000" b="0" i="0" u="none" strike="noStrike" dirty="0">
                          <a:solidFill>
                            <a:srgbClr val="000000"/>
                          </a:solidFill>
                          <a:effectLst/>
                          <a:latin typeface="Calibri" panose="020F0502020204030204" pitchFamily="34" charset="0"/>
                        </a:rPr>
                        <a:t>Yuet Sheung International Securities Ltd</a:t>
                      </a:r>
                    </a:p>
                  </a:txBody>
                  <a:tcPr marL="7620" marR="7620" marT="7620" marB="0" anchor="ct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DFKaiShu-GB5"/>
                          <a:cs typeface="Calibri" panose="020F0502020204030204" pitchFamily="34" charset="0"/>
                        </a:rPr>
                        <a:t>New Share</a:t>
                      </a:r>
                      <a:endParaRPr kumimoji="0" lang="en-US" sz="1000" b="0" i="0" u="none" strike="noStrike" kern="1200" cap="none" spc="0" normalizeH="0" baseline="0" noProof="0" dirty="0">
                        <a:ln>
                          <a:noFill/>
                        </a:ln>
                        <a:solidFill>
                          <a:srgbClr val="000000"/>
                        </a:solidFill>
                        <a:effectLst/>
                        <a:uLnTx/>
                        <a:uFillTx/>
                        <a:latin typeface="+mn-lt"/>
                        <a:ea typeface="DFKaiShu-GB5"/>
                        <a:cs typeface="Calibri" panose="020F0502020204030204" pitchFamily="34" charset="0"/>
                      </a:endParaRPr>
                    </a:p>
                  </a:txBody>
                  <a:tcPr marL="7620" marR="7620" marT="7620" marB="0" anchor="ctr"/>
                </a:tc>
                <a:tc>
                  <a:txBody>
                    <a:bodyPr/>
                    <a:lstStyle/>
                    <a:p>
                      <a:pPr algn="ctr" fontAlgn="b">
                        <a:buNone/>
                      </a:pPr>
                      <a:r>
                        <a:rPr lang="en-US" sz="1000" b="0" i="0" u="none" strike="noStrike" dirty="0">
                          <a:solidFill>
                            <a:srgbClr val="000000"/>
                          </a:solidFill>
                          <a:effectLst/>
                          <a:latin typeface="+mn-lt"/>
                        </a:rPr>
                        <a:t>SME</a:t>
                      </a:r>
                    </a:p>
                  </a:txBody>
                  <a:tcPr marL="7620" marR="7620" marT="7620" marB="0" anchor="ctr"/>
                </a:tc>
                <a:extLst>
                  <a:ext uri="{0D108BD9-81ED-4DB2-BD59-A6C34878D82A}">
                    <a16:rowId xmlns:a16="http://schemas.microsoft.com/office/drawing/2014/main" val="4001263522"/>
                  </a:ext>
                </a:extLst>
              </a:tr>
            </a:tbl>
          </a:graphicData>
        </a:graphic>
      </p:graphicFrame>
      <p:sp>
        <p:nvSpPr>
          <p:cNvPr id="6" name="Rectangle 5">
            <a:extLst>
              <a:ext uri="{FF2B5EF4-FFF2-40B4-BE49-F238E27FC236}">
                <a16:creationId xmlns:a16="http://schemas.microsoft.com/office/drawing/2014/main" id="{DB2D2B35-A3A6-E8BF-1380-23EAAADFF000}"/>
              </a:ext>
            </a:extLst>
          </p:cNvPr>
          <p:cNvSpPr/>
          <p:nvPr/>
        </p:nvSpPr>
        <p:spPr>
          <a:xfrm>
            <a:off x="1261127" y="6143016"/>
            <a:ext cx="4086488" cy="415498"/>
          </a:xfrm>
          <a:prstGeom prst="rect">
            <a:avLst/>
          </a:prstGeom>
          <a:noFill/>
        </p:spPr>
        <p:txBody>
          <a:bodyPr wrap="square" lIns="0" tIns="0" rIns="0" bIns="0" rtlCol="0">
            <a:spAutoFit/>
          </a:bodyPr>
          <a:lstStyle/>
          <a:p>
            <a:pPr eaLnBrk="1" fontAlgn="auto" hangingPunct="1">
              <a:spcBef>
                <a:spcPts val="0"/>
              </a:spcBef>
              <a:spcAft>
                <a:spcPts val="0"/>
              </a:spcAft>
              <a:defRPr/>
            </a:pPr>
            <a:r>
              <a:rPr kumimoji="0" lang="en-US" altLang="zh-CN" sz="900" b="0" i="1" u="none" strike="noStrike" kern="1200" cap="none" spc="0" normalizeH="0" baseline="0" noProof="0" dirty="0">
                <a:ln>
                  <a:noFill/>
                </a:ln>
                <a:effectLst/>
                <a:uLnTx/>
                <a:uFillTx/>
                <a:latin typeface="Calibri"/>
                <a:ea typeface="DFKaiShu-GB5"/>
                <a:cs typeface="+mn-cs"/>
              </a:rPr>
              <a:t>Sources</a:t>
            </a:r>
            <a:r>
              <a:rPr kumimoji="0" lang="zh-CN" altLang="en-US" sz="900" b="0" i="1" u="none" strike="noStrike" kern="1200" cap="none" spc="0" normalizeH="0" baseline="0" noProof="0" dirty="0">
                <a:ln>
                  <a:noFill/>
                </a:ln>
                <a:effectLst/>
                <a:uLnTx/>
                <a:uFillTx/>
                <a:latin typeface="Calibri"/>
                <a:ea typeface="DFKaiShu-GB5"/>
                <a:cs typeface="+mn-cs"/>
              </a:rPr>
              <a:t>：</a:t>
            </a:r>
            <a:r>
              <a:rPr kumimoji="0" lang="en-US" altLang="zh-CN" sz="900" b="0" i="1" u="none" strike="noStrike" kern="1200" cap="none" spc="0" normalizeH="0" baseline="0" noProof="0" dirty="0">
                <a:ln>
                  <a:noFill/>
                </a:ln>
                <a:effectLst/>
                <a:uLnTx/>
                <a:uFillTx/>
                <a:latin typeface="Calibri"/>
                <a:ea typeface="DFKaiShu-GB5"/>
                <a:cs typeface="+mn-cs"/>
              </a:rPr>
              <a:t>Dealogic, DBS, as of </a:t>
            </a:r>
            <a:r>
              <a:rPr lang="en-US" altLang="zh-CN" sz="900" i="1" dirty="0">
                <a:latin typeface="Calibri"/>
                <a:ea typeface="DFKaiShu-GB5"/>
                <a:cs typeface="+mn-cs"/>
              </a:rPr>
              <a:t>20 </a:t>
            </a:r>
            <a:r>
              <a:rPr kumimoji="0" lang="en-US" altLang="zh-CN" sz="900" b="0" i="1" u="none" strike="noStrike" kern="1200" cap="none" spc="0" normalizeH="0" baseline="0" noProof="0" dirty="0">
                <a:ln>
                  <a:noFill/>
                </a:ln>
                <a:effectLst/>
                <a:uLnTx/>
                <a:uFillTx/>
                <a:latin typeface="Calibri"/>
                <a:ea typeface="DFKaiShu-GB5"/>
                <a:cs typeface="+mn-cs"/>
              </a:rPr>
              <a:t>May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effectLst/>
                <a:uLnTx/>
                <a:uFillTx/>
                <a:latin typeface="Calibri"/>
                <a:ea typeface="DFKaiShu-GB5"/>
                <a:cs typeface="+mn-cs"/>
              </a:rPr>
              <a:t>N</a:t>
            </a:r>
            <a:r>
              <a:rPr kumimoji="0" lang="en-US" altLang="zh-CN" sz="900" b="0" i="1" u="none" strike="noStrike" kern="1200" cap="none" spc="0" normalizeH="0" baseline="0" noProof="0" dirty="0">
                <a:ln>
                  <a:noFill/>
                </a:ln>
                <a:effectLst/>
                <a:uLnTx/>
                <a:uFillTx/>
                <a:latin typeface="Calibri"/>
                <a:ea typeface="DFKaiShu-GB5"/>
                <a:cs typeface="+mn-cs"/>
              </a:rPr>
              <a:t>ote 1: </a:t>
            </a:r>
            <a:r>
              <a:rPr kumimoji="0" lang="en-US" sz="900" b="0" i="1" u="none" strike="noStrike" kern="1200" cap="none" spc="0" normalizeH="0" baseline="0" noProof="0" dirty="0">
                <a:ln>
                  <a:noFill/>
                </a:ln>
                <a:effectLst/>
                <a:uLnTx/>
                <a:uFillTx/>
                <a:latin typeface="Calibri"/>
                <a:ea typeface="DFKaiShu-GB5"/>
                <a:cs typeface="+mn-cs"/>
              </a:rPr>
              <a:t>Only included deals with &gt;US$10m transaction volume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latin typeface="Calibri"/>
                <a:ea typeface="DFKaiShu-GB5"/>
                <a:cs typeface="+mn-cs"/>
              </a:rPr>
              <a:t>^ </a:t>
            </a:r>
            <a:r>
              <a:rPr kumimoji="0" lang="en-US" altLang="zh-CN" sz="900" b="0" i="1" u="none" strike="noStrike" kern="1200" cap="none" spc="0" normalizeH="0" baseline="0" noProof="0" dirty="0">
                <a:ln>
                  <a:noFill/>
                </a:ln>
                <a:effectLst/>
                <a:uLnTx/>
                <a:uFillTx/>
                <a:latin typeface="Calibri"/>
                <a:ea typeface="DFKaiShu-GB5"/>
                <a:cs typeface="+mn-cs"/>
              </a:rPr>
              <a:t>: 18 </a:t>
            </a:r>
            <a:r>
              <a:rPr kumimoji="0" lang="en-US" sz="900" b="0" i="1" u="none" strike="noStrike" kern="1200" cap="none" spc="0" normalizeH="0" baseline="0" noProof="0" dirty="0">
                <a:ln>
                  <a:noFill/>
                </a:ln>
                <a:effectLst/>
                <a:uLnTx/>
                <a:uFillTx/>
                <a:latin typeface="Calibri"/>
                <a:ea typeface="DFKaiShu-GB5"/>
                <a:cs typeface="+mn-cs"/>
              </a:rPr>
              <a:t>Vendor placements were excluded when calculating the missed deals</a:t>
            </a:r>
          </a:p>
        </p:txBody>
      </p:sp>
    </p:spTree>
    <p:extLst>
      <p:ext uri="{BB962C8B-B14F-4D97-AF65-F5344CB8AC3E}">
        <p14:creationId xmlns:p14="http://schemas.microsoft.com/office/powerpoint/2010/main" val="3965098257"/>
      </p:ext>
    </p:extLst>
  </p:cSld>
  <p:clrMapOvr>
    <a:masterClrMapping/>
  </p:clrMapOvr>
</p:sld>
</file>

<file path=ppt/theme/theme1.xml><?xml version="1.0" encoding="utf-8"?>
<a:theme xmlns:a="http://schemas.openxmlformats.org/drawingml/2006/main" name="Office Theme">
  <a:themeElements>
    <a:clrScheme name="DBS">
      <a:dk1>
        <a:srgbClr val="000000"/>
      </a:dk1>
      <a:lt1>
        <a:srgbClr val="FFFFFF"/>
      </a:lt1>
      <a:dk2>
        <a:srgbClr val="626262"/>
      </a:dk2>
      <a:lt2>
        <a:srgbClr val="B2B2B2"/>
      </a:lt2>
      <a:accent1>
        <a:srgbClr val="C00000"/>
      </a:accent1>
      <a:accent2>
        <a:srgbClr val="FAD0A9"/>
      </a:accent2>
      <a:accent3>
        <a:srgbClr val="E59B9D"/>
      </a:accent3>
      <a:accent4>
        <a:srgbClr val="8657FF"/>
      </a:accent4>
      <a:accent5>
        <a:srgbClr val="626262"/>
      </a:accent5>
      <a:accent6>
        <a:srgbClr val="CC0000"/>
      </a:accent6>
      <a:hlink>
        <a:srgbClr val="000000"/>
      </a:hlink>
      <a:folHlink>
        <a:srgbClr val="DDDDDD"/>
      </a:folHlink>
    </a:clrScheme>
    <a:fontScheme name="DBS">
      <a:majorFont>
        <a:latin typeface="Calibri"/>
        <a:ea typeface="DFKaiShu-GB5"/>
        <a:cs typeface=""/>
      </a:majorFont>
      <a:minorFont>
        <a:latin typeface="Calibri"/>
        <a:ea typeface="DFKaiShu-GB5"/>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80666</TotalTime>
  <Words>1574</Words>
  <Application>Microsoft Office PowerPoint</Application>
  <PresentationFormat>A4 Paper (210x297 mm)</PresentationFormat>
  <Paragraphs>537</Paragraphs>
  <Slides>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DFKaiShu-GB5</vt:lpstr>
      <vt:lpstr>SimSun</vt:lpstr>
      <vt:lpstr>Aptos Narrow</vt:lpstr>
      <vt:lpstr>Arial</vt:lpstr>
      <vt:lpstr>Calibri</vt:lpstr>
      <vt:lpstr>Wingdings</vt:lpstr>
      <vt:lpstr>Office Theme</vt:lpstr>
      <vt:lpstr>Equity Capital Markets Recap – 2026YTD</vt:lpstr>
      <vt:lpstr>Equity Capital Markets Recap – 2026YTD (cont’d) </vt:lpstr>
      <vt:lpstr>Hong Kong IPO Trends – 2026 YTD</vt:lpstr>
      <vt:lpstr>Appendix 2</vt:lpstr>
      <vt:lpstr>1Q2026 Deals Summary – IPO</vt:lpstr>
      <vt:lpstr>1Q2026 Deals Summary – Placements</vt:lpstr>
      <vt:lpstr>1Q2026 Missed Deals: IPOs</vt:lpstr>
      <vt:lpstr>1Q2026 Missed Deals: Placements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Christine Wing Yin WONG</dc:creator>
  <cp:lastModifiedBy>Justin Cheuk Lai Jonathan LEUNG</cp:lastModifiedBy>
  <cp:revision>2084</cp:revision>
  <cp:lastPrinted>2025-02-25T06:28:35Z</cp:lastPrinted>
  <dcterms:created xsi:type="dcterms:W3CDTF">2019-04-08T09:09:06Z</dcterms:created>
  <dcterms:modified xsi:type="dcterms:W3CDTF">2026-05-22T08:23:33Z</dcterms:modified>
</cp:coreProperties>
</file>