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notesSlides/notesSlide16.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3.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charts/chart9.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3.xml" ContentType="application/vnd.openxmlformats-officedocument.presentationml.notesSlide+xml"/>
  <Override PartName="/ppt/charts/chart10.xml" ContentType="application/vnd.openxmlformats-officedocument.drawingml.chart+xml"/>
  <Override PartName="/ppt/charts/style8.xml" ContentType="application/vnd.ms-office.chartstyle+xml"/>
  <Override PartName="/ppt/charts/colors8.xml" ContentType="application/vnd.ms-office.chartcolorstyle+xml"/>
  <Override PartName="/ppt/charts/chart11.xml" ContentType="application/vnd.openxmlformats-officedocument.drawingml.chart+xml"/>
  <Override PartName="/ppt/charts/style9.xml" ContentType="application/vnd.ms-office.chartstyle+xml"/>
  <Override PartName="/ppt/charts/colors9.xml" ContentType="application/vnd.ms-office.chartcolorstyle+xml"/>
  <Override PartName="/ppt/charts/chart12.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charts/chart13.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5.xml" ContentType="application/vnd.openxmlformats-officedocument.themeOverride+xml"/>
  <Override PartName="/ppt/charts/chart14.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6.xml" ContentType="application/vnd.openxmlformats-officedocument.themeOverride+xml"/>
  <Override PartName="/ppt/charts/chart15.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7.xml" ContentType="application/vnd.openxmlformats-officedocument.themeOverride+xml"/>
  <Override PartName="/ppt/charts/chart16.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8.xml" ContentType="application/vnd.openxmlformats-officedocument.themeOverride+xml"/>
  <Override PartName="/ppt/charts/chart17.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9.xml" ContentType="application/vnd.openxmlformats-officedocument.themeOverride+xml"/>
  <Override PartName="/ppt/charts/chart18.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10.xml" ContentType="application/vnd.openxmlformats-officedocument.themeOverride+xml"/>
  <Override PartName="/ppt/charts/chart19.xml" ContentType="application/vnd.openxmlformats-officedocument.drawingml.chart+xml"/>
  <Override PartName="/ppt/charts/style17.xml" ContentType="application/vnd.ms-office.chartstyle+xml"/>
  <Override PartName="/ppt/charts/colors17.xml" ContentType="application/vnd.ms-office.chartcolorstyle+xml"/>
  <Override PartName="/ppt/theme/themeOverride11.xml" ContentType="application/vnd.openxmlformats-officedocument.themeOverride+xml"/>
  <Override PartName="/ppt/charts/chart20.xml" ContentType="application/vnd.openxmlformats-officedocument.drawingml.chart+xml"/>
  <Override PartName="/ppt/charts/style18.xml" ContentType="application/vnd.ms-office.chartstyle+xml"/>
  <Override PartName="/ppt/charts/colors18.xml" ContentType="application/vnd.ms-office.chartcolorstyle+xml"/>
  <Override PartName="/ppt/theme/themeOverride12.xml" ContentType="application/vnd.openxmlformats-officedocument.themeOverride+xml"/>
  <Override PartName="/ppt/charts/chart21.xml" ContentType="application/vnd.openxmlformats-officedocument.drawingml.chart+xml"/>
  <Override PartName="/ppt/charts/style19.xml" ContentType="application/vnd.ms-office.chartstyle+xml"/>
  <Override PartName="/ppt/charts/colors19.xml" ContentType="application/vnd.ms-office.chartcolorstyle+xml"/>
  <Override PartName="/ppt/theme/themeOverride13.xml" ContentType="application/vnd.openxmlformats-officedocument.themeOverride+xml"/>
  <Override PartName="/ppt/notesSlides/notesSlide24.xml" ContentType="application/vnd.openxmlformats-officedocument.presentationml.notesSlide+xml"/>
  <Override PartName="/ppt/charts/chart22.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23.xml" ContentType="application/vnd.openxmlformats-officedocument.drawingml.chart+xml"/>
  <Override PartName="/ppt/charts/style21.xml" ContentType="application/vnd.ms-office.chartstyle+xml"/>
  <Override PartName="/ppt/charts/colors21.xml" ContentType="application/vnd.ms-office.chartcolorstyle+xml"/>
  <Override PartName="/ppt/drawings/drawing1.xml" ContentType="application/vnd.openxmlformats-officedocument.drawingml.chartshapes+xml"/>
  <Override PartName="/ppt/charts/chart24.xml" ContentType="application/vnd.openxmlformats-officedocument.drawingml.chart+xml"/>
  <Override PartName="/ppt/charts/style22.xml" ContentType="application/vnd.ms-office.chartstyle+xml"/>
  <Override PartName="/ppt/charts/colors22.xml" ContentType="application/vnd.ms-office.chartcolorstyle+xml"/>
  <Override PartName="/ppt/notesSlides/notesSlide27.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326" r:id="rId5"/>
  </p:sldMasterIdLst>
  <p:notesMasterIdLst>
    <p:notesMasterId r:id="rId80"/>
  </p:notesMasterIdLst>
  <p:handoutMasterIdLst>
    <p:handoutMasterId r:id="rId81"/>
  </p:handoutMasterIdLst>
  <p:sldIdLst>
    <p:sldId id="256" r:id="rId6"/>
    <p:sldId id="2147483647" r:id="rId7"/>
    <p:sldId id="294" r:id="rId8"/>
    <p:sldId id="2147483578" r:id="rId9"/>
    <p:sldId id="2147483629" r:id="rId10"/>
    <p:sldId id="2147477197" r:id="rId11"/>
    <p:sldId id="323" r:id="rId12"/>
    <p:sldId id="2560" r:id="rId13"/>
    <p:sldId id="2147483575" r:id="rId14"/>
    <p:sldId id="2147481602" r:id="rId15"/>
    <p:sldId id="2147481538" r:id="rId16"/>
    <p:sldId id="2147481430" r:id="rId17"/>
    <p:sldId id="309" r:id="rId18"/>
    <p:sldId id="318" r:id="rId19"/>
    <p:sldId id="2147481593" r:id="rId20"/>
    <p:sldId id="2147481686" r:id="rId21"/>
    <p:sldId id="2147477219" r:id="rId22"/>
    <p:sldId id="2147377144" r:id="rId23"/>
    <p:sldId id="2147377154" r:id="rId24"/>
    <p:sldId id="2147481679" r:id="rId25"/>
    <p:sldId id="2147483581" r:id="rId26"/>
    <p:sldId id="2147483582" r:id="rId27"/>
    <p:sldId id="2147474126" r:id="rId28"/>
    <p:sldId id="2147483594" r:id="rId29"/>
    <p:sldId id="264" r:id="rId30"/>
    <p:sldId id="258" r:id="rId31"/>
    <p:sldId id="2147481767" r:id="rId32"/>
    <p:sldId id="2147481769" r:id="rId33"/>
    <p:sldId id="257" r:id="rId34"/>
    <p:sldId id="2147483632" r:id="rId35"/>
    <p:sldId id="2147483633" r:id="rId36"/>
    <p:sldId id="259" r:id="rId37"/>
    <p:sldId id="270" r:id="rId38"/>
    <p:sldId id="269" r:id="rId39"/>
    <p:sldId id="277" r:id="rId40"/>
    <p:sldId id="278" r:id="rId41"/>
    <p:sldId id="279" r:id="rId42"/>
    <p:sldId id="276" r:id="rId43"/>
    <p:sldId id="274" r:id="rId44"/>
    <p:sldId id="260" r:id="rId45"/>
    <p:sldId id="272" r:id="rId46"/>
    <p:sldId id="261" r:id="rId47"/>
    <p:sldId id="280" r:id="rId48"/>
    <p:sldId id="281" r:id="rId49"/>
    <p:sldId id="262" r:id="rId50"/>
    <p:sldId id="266" r:id="rId51"/>
    <p:sldId id="275" r:id="rId52"/>
    <p:sldId id="265" r:id="rId53"/>
    <p:sldId id="2147483646" r:id="rId54"/>
    <p:sldId id="2147481545" r:id="rId55"/>
    <p:sldId id="2147483622" r:id="rId56"/>
    <p:sldId id="2147483635" r:id="rId57"/>
    <p:sldId id="2147483636" r:id="rId58"/>
    <p:sldId id="2147483590" r:id="rId59"/>
    <p:sldId id="2147483637" r:id="rId60"/>
    <p:sldId id="2147483638" r:id="rId61"/>
    <p:sldId id="2147483639" r:id="rId62"/>
    <p:sldId id="2147483640" r:id="rId63"/>
    <p:sldId id="2147483641" r:id="rId64"/>
    <p:sldId id="2147483642" r:id="rId65"/>
    <p:sldId id="2147483643" r:id="rId66"/>
    <p:sldId id="2147481691" r:id="rId67"/>
    <p:sldId id="2147483644" r:id="rId68"/>
    <p:sldId id="2147483626" r:id="rId69"/>
    <p:sldId id="2147483627" r:id="rId70"/>
    <p:sldId id="2147483628" r:id="rId71"/>
    <p:sldId id="2147483645" r:id="rId72"/>
    <p:sldId id="2147483586" r:id="rId73"/>
    <p:sldId id="2147483587" r:id="rId74"/>
    <p:sldId id="2147483588" r:id="rId75"/>
    <p:sldId id="271" r:id="rId76"/>
    <p:sldId id="267" r:id="rId77"/>
    <p:sldId id="273" r:id="rId78"/>
    <p:sldId id="263" r:id="rId79"/>
  </p:sldIdLst>
  <p:sldSz cx="9906000" cy="6858000" type="A4"/>
  <p:notesSz cx="9305925" cy="7019925"/>
  <p:custDataLst>
    <p:tags r:id="rId82"/>
  </p:custDataLst>
  <p:defaultTextStyle>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p:defaultTextStyle>
  <p:extLst>
    <p:ext uri="{521415D9-36F7-43E2-AB2F-B90AF26B5E84}">
      <p14:sectionLst xmlns:p14="http://schemas.microsoft.com/office/powerpoint/2010/main">
        <p14:section name="Default Section" id="{4E946567-8262-4B28-9556-B5A77E226AD3}">
          <p14:sldIdLst>
            <p14:sldId id="256"/>
            <p14:sldId id="2147483647"/>
            <p14:sldId id="294"/>
            <p14:sldId id="2147483578"/>
            <p14:sldId id="2147483629"/>
            <p14:sldId id="2147477197"/>
            <p14:sldId id="323"/>
            <p14:sldId id="2560"/>
            <p14:sldId id="2147483575"/>
            <p14:sldId id="2147481602"/>
            <p14:sldId id="2147481538"/>
            <p14:sldId id="2147481430"/>
            <p14:sldId id="309"/>
            <p14:sldId id="318"/>
            <p14:sldId id="2147481593"/>
            <p14:sldId id="2147481686"/>
            <p14:sldId id="2147477219"/>
            <p14:sldId id="2147377144"/>
            <p14:sldId id="2147377154"/>
            <p14:sldId id="2147481679"/>
            <p14:sldId id="2147483581"/>
            <p14:sldId id="2147483582"/>
            <p14:sldId id="2147474126"/>
            <p14:sldId id="2147483594"/>
            <p14:sldId id="264"/>
            <p14:sldId id="258"/>
            <p14:sldId id="2147481767"/>
            <p14:sldId id="2147481769"/>
            <p14:sldId id="257"/>
            <p14:sldId id="2147483632"/>
            <p14:sldId id="2147483633"/>
            <p14:sldId id="259"/>
            <p14:sldId id="270"/>
            <p14:sldId id="269"/>
            <p14:sldId id="277"/>
            <p14:sldId id="278"/>
            <p14:sldId id="279"/>
            <p14:sldId id="276"/>
            <p14:sldId id="274"/>
            <p14:sldId id="260"/>
            <p14:sldId id="272"/>
            <p14:sldId id="261"/>
            <p14:sldId id="280"/>
            <p14:sldId id="281"/>
            <p14:sldId id="262"/>
            <p14:sldId id="266"/>
            <p14:sldId id="275"/>
            <p14:sldId id="265"/>
            <p14:sldId id="2147483646"/>
            <p14:sldId id="2147481545"/>
            <p14:sldId id="2147483622"/>
            <p14:sldId id="2147483635"/>
            <p14:sldId id="2147483636"/>
            <p14:sldId id="2147483590"/>
            <p14:sldId id="2147483637"/>
            <p14:sldId id="2147483638"/>
            <p14:sldId id="2147483639"/>
            <p14:sldId id="2147483640"/>
            <p14:sldId id="2147483641"/>
            <p14:sldId id="2147483642"/>
            <p14:sldId id="2147483643"/>
            <p14:sldId id="2147481691"/>
            <p14:sldId id="2147483644"/>
            <p14:sldId id="2147483626"/>
            <p14:sldId id="2147483627"/>
            <p14:sldId id="2147483628"/>
            <p14:sldId id="2147483645"/>
            <p14:sldId id="2147483586"/>
            <p14:sldId id="2147483587"/>
            <p14:sldId id="2147483588"/>
            <p14:sldId id="271"/>
            <p14:sldId id="267"/>
            <p14:sldId id="273"/>
            <p14:sldId id="263"/>
          </p14:sldIdLst>
        </p14:section>
      </p14:sectionLst>
    </p:ext>
    <p:ext uri="{EFAFB233-063F-42B5-8137-9DF3F51BA10A}">
      <p15:sldGuideLst xmlns:p15="http://schemas.microsoft.com/office/powerpoint/2012/main">
        <p15:guide id="26" pos="456" userDrawn="1">
          <p15:clr>
            <a:srgbClr val="A4A3A4"/>
          </p15:clr>
        </p15:guide>
        <p15:guide id="27" pos="5808" userDrawn="1">
          <p15:clr>
            <a:srgbClr val="A4A3A4"/>
          </p15:clr>
        </p15:guide>
        <p15:guide id="30" orient="horz" pos="696" userDrawn="1">
          <p15:clr>
            <a:srgbClr val="A4A3A4"/>
          </p15:clr>
        </p15:guide>
      </p15:sldGuideLst>
    </p:ext>
    <p:ext uri="{2D200454-40CA-4A62-9FC3-DE9A4176ACB9}">
      <p15:notesGuideLst xmlns:p15="http://schemas.microsoft.com/office/powerpoint/2012/main">
        <p15:guide id="1" orient="horz" pos="2211" userDrawn="1">
          <p15:clr>
            <a:srgbClr val="A4A3A4"/>
          </p15:clr>
        </p15:guide>
        <p15:guide id="2" pos="293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0F95BF0-4677-A3C8-F9CB-452982B1530C}" name="Jessica Fan En MENG" initials="JM" userId="S::jessicameng@dbs.com::8484b505-c854-4acf-9611-f35cc7248db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EBFB3"/>
    <a:srgbClr val="FAEFF0"/>
    <a:srgbClr val="FFE1E1"/>
    <a:srgbClr val="404040"/>
    <a:srgbClr val="9F9F9F"/>
    <a:srgbClr val="CECFDF"/>
    <a:srgbClr val="F5DEDF"/>
    <a:srgbClr val="CCFFFF"/>
    <a:srgbClr val="FAD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11" autoAdjust="0"/>
    <p:restoredTop sz="94557" autoAdjust="0"/>
  </p:normalViewPr>
  <p:slideViewPr>
    <p:cSldViewPr snapToGrid="0">
      <p:cViewPr>
        <p:scale>
          <a:sx n="100" d="100"/>
          <a:sy n="100" d="100"/>
        </p:scale>
        <p:origin x="240" y="-252"/>
      </p:cViewPr>
      <p:guideLst>
        <p:guide pos="456"/>
        <p:guide pos="5808"/>
        <p:guide orient="horz" pos="696"/>
      </p:guideLst>
    </p:cSldViewPr>
  </p:slideViewPr>
  <p:notesTextViewPr>
    <p:cViewPr>
      <p:scale>
        <a:sx n="1" d="1"/>
        <a:sy n="1" d="1"/>
      </p:scale>
      <p:origin x="0" y="0"/>
    </p:cViewPr>
  </p:notesTextViewPr>
  <p:sorterViewPr>
    <p:cViewPr>
      <p:scale>
        <a:sx n="100" d="100"/>
        <a:sy n="100" d="100"/>
      </p:scale>
      <p:origin x="0" y="-24354"/>
    </p:cViewPr>
  </p:sorterViewPr>
  <p:notesViewPr>
    <p:cSldViewPr snapToGrid="0">
      <p:cViewPr>
        <p:scale>
          <a:sx n="1" d="2"/>
          <a:sy n="1" d="2"/>
        </p:scale>
        <p:origin x="0" y="0"/>
      </p:cViewPr>
      <p:guideLst>
        <p:guide orient="horz" pos="2211"/>
        <p:guide pos="2933"/>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microsoft.com/office/2018/10/relationships/authors" Target="authors.xml"/><Relationship Id="rId61" Type="http://schemas.openxmlformats.org/officeDocument/2006/relationships/slide" Target="slides/slide56.xml"/><Relationship Id="rId82" Type="http://schemas.openxmlformats.org/officeDocument/2006/relationships/tags" Target="tags/tag1.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3.xml"/><Relationship Id="rId1" Type="http://schemas.microsoft.com/office/2011/relationships/chartStyle" Target="style3.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4.xml"/><Relationship Id="rId1" Type="http://schemas.microsoft.com/office/2011/relationships/chartStyle" Target="style4.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5.xml"/><Relationship Id="rId1" Type="http://schemas.microsoft.com/office/2011/relationships/chartStyle" Target="style5.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6.xml"/><Relationship Id="rId1" Type="http://schemas.microsoft.com/office/2011/relationships/chartStyle" Target="style6.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7.xml"/><Relationship Id="rId1" Type="http://schemas.microsoft.com/office/2011/relationships/chartStyle" Target="style7.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8.xml"/><Relationship Id="rId1" Type="http://schemas.microsoft.com/office/2011/relationships/chartStyle" Target="style8.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9.xml"/><Relationship Id="rId1" Type="http://schemas.microsoft.com/office/2011/relationships/chartStyle" Target="style9.xml"/></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6.xml"/><Relationship Id="rId1" Type="http://schemas.microsoft.com/office/2011/relationships/chartStyle" Target="style16.xml"/><Relationship Id="rId4"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17.xml"/><Relationship Id="rId1" Type="http://schemas.microsoft.com/office/2011/relationships/chartStyle" Target="style17.xml"/><Relationship Id="rId4"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18.xml"/><Relationship Id="rId1" Type="http://schemas.microsoft.com/office/2011/relationships/chartStyle" Target="style18.xml"/><Relationship Id="rId4"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19.xml"/><Relationship Id="rId1" Type="http://schemas.microsoft.com/office/2011/relationships/chartStyle" Target="style19.xml"/><Relationship Id="rId4"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0.xml"/><Relationship Id="rId1" Type="http://schemas.microsoft.com/office/2011/relationships/chartStyle" Target="style20.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chartUserShapes" Target="../drawings/drawing1.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2.xml"/><Relationship Id="rId1" Type="http://schemas.microsoft.com/office/2011/relationships/chartStyle" Target="style2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Sheet1!$B$1</c:f>
              <c:strCache>
                <c:ptCount val="1"/>
                <c:pt idx="0">
                  <c:v>Offer Size</c:v>
                </c:pt>
              </c:strCache>
            </c:strRef>
          </c:tx>
          <c:spPr>
            <a:solidFill>
              <a:schemeClr val="accent1"/>
            </a:solidFill>
            <a:ln>
              <a:noFill/>
            </a:ln>
            <a:effectLst/>
          </c:spPr>
          <c:invertIfNegative val="0"/>
          <c:dLbls>
            <c:dLbl>
              <c:idx val="0"/>
              <c:layout>
                <c:manualLayout>
                  <c:x val="-3.3012477255003912E-2"/>
                  <c:y val="1.3324024002127647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17985339225370414"/>
                      <c:h val="9.0836795918442279E-2"/>
                    </c:manualLayout>
                  </c15:layout>
                </c:ext>
                <c:ext xmlns:c16="http://schemas.microsoft.com/office/drawing/2014/chart" uri="{C3380CC4-5D6E-409C-BE32-E72D297353CC}">
                  <c16:uniqueId val="{00000000-6F60-4217-9165-29AD6EB6205B}"/>
                </c:ext>
              </c:extLst>
            </c:dLbl>
            <c:dLbl>
              <c:idx val="1"/>
              <c:layout>
                <c:manualLayout>
                  <c:x val="2.5994281258123212E-7"/>
                  <c:y val="1.3324024002127647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17985339225370414"/>
                      <c:h val="9.7498807919506103E-2"/>
                    </c:manualLayout>
                  </c15:layout>
                </c:ext>
                <c:ext xmlns:c16="http://schemas.microsoft.com/office/drawing/2014/chart" uri="{C3380CC4-5D6E-409C-BE32-E72D297353CC}">
                  <c16:uniqueId val="{00000001-6F60-4217-9165-29AD6EB6205B}"/>
                </c:ext>
              </c:extLst>
            </c:dLbl>
            <c:spPr>
              <a:noFill/>
              <a:ln>
                <a:noFill/>
              </a:ln>
              <a:effectLst/>
            </c:spPr>
            <c:txPr>
              <a:bodyPr rot="0" vertOverflow="overflow" horzOverflow="overflow" vert="horz" wrap="none">
                <a:noAutofit/>
              </a:bodyPr>
              <a:lstStyle/>
              <a:p>
                <a:pPr>
                  <a:defRPr sz="800">
                    <a:latin typeface="+mj-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International Placement </c:v>
                </c:pt>
                <c:pt idx="1">
                  <c:v>Hong Kong Public Offering </c:v>
                </c:pt>
              </c:strCache>
            </c:strRef>
          </c:cat>
          <c:val>
            <c:numRef>
              <c:f>Sheet1!$B$2:$B$3</c:f>
              <c:numCache>
                <c:formatCode>_(* #,##0_);_(* \(#,##0\);_(* "-"??_);_(@_)</c:formatCode>
                <c:ptCount val="2"/>
                <c:pt idx="0">
                  <c:v>79411700</c:v>
                </c:pt>
                <c:pt idx="1">
                  <c:v>8823600</c:v>
                </c:pt>
              </c:numCache>
            </c:numRef>
          </c:val>
          <c:extLst>
            <c:ext xmlns:c16="http://schemas.microsoft.com/office/drawing/2014/chart" uri="{C3380CC4-5D6E-409C-BE32-E72D297353CC}">
              <c16:uniqueId val="{00000002-6F60-4217-9165-29AD6EB6205B}"/>
            </c:ext>
          </c:extLst>
        </c:ser>
        <c:ser>
          <c:idx val="1"/>
          <c:order val="1"/>
          <c:tx>
            <c:strRef>
              <c:f>Sheet1!$C$1</c:f>
              <c:strCache>
                <c:ptCount val="1"/>
                <c:pt idx="0">
                  <c:v>Subscription</c:v>
                </c:pt>
              </c:strCache>
            </c:strRef>
          </c:tx>
          <c:spPr>
            <a:solidFill>
              <a:schemeClr val="accent2"/>
            </a:solidFill>
            <a:ln>
              <a:noFill/>
            </a:ln>
            <a:effectLst/>
          </c:spPr>
          <c:invertIfNegative val="0"/>
          <c:dLbls>
            <c:dLbl>
              <c:idx val="1"/>
              <c:dLblPos val="outEnd"/>
              <c:showLegendKey val="0"/>
              <c:showVal val="1"/>
              <c:showCatName val="0"/>
              <c:showSerName val="0"/>
              <c:showPercent val="0"/>
              <c:showBubbleSize val="0"/>
              <c:extLst>
                <c:ext xmlns:c15="http://schemas.microsoft.com/office/drawing/2012/chart" uri="{CE6537A1-D6FC-4f65-9D91-7224C49458BB}">
                  <c15:layout>
                    <c:manualLayout>
                      <c:w val="0.29209669872628014"/>
                      <c:h val="0.19076697593439965"/>
                    </c:manualLayout>
                  </c15:layout>
                </c:ext>
                <c:ext xmlns:c16="http://schemas.microsoft.com/office/drawing/2014/chart" uri="{C3380CC4-5D6E-409C-BE32-E72D297353CC}">
                  <c16:uniqueId val="{00000003-6F60-4217-9165-29AD6EB6205B}"/>
                </c:ext>
              </c:extLst>
            </c:dLbl>
            <c:spPr>
              <a:noFill/>
              <a:ln>
                <a:noFill/>
              </a:ln>
              <a:effectLst/>
            </c:spPr>
            <c:txPr>
              <a:bodyPr rot="0" vert="horz" wrap="none"/>
              <a:lstStyle/>
              <a:p>
                <a:pPr>
                  <a:defRPr sz="800">
                    <a:latin typeface="+mj-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International Placement </c:v>
                </c:pt>
                <c:pt idx="1">
                  <c:v>Hong Kong Public Offering </c:v>
                </c:pt>
              </c:strCache>
            </c:strRef>
          </c:cat>
          <c:val>
            <c:numRef>
              <c:f>Sheet1!$C$2:$C$3</c:f>
              <c:numCache>
                <c:formatCode>_(* #,##0_);_(* \(#,##0\);_(* "-"??_);_(@_)</c:formatCode>
                <c:ptCount val="2"/>
                <c:pt idx="0">
                  <c:v>132617500</c:v>
                </c:pt>
                <c:pt idx="1">
                  <c:v>34323800</c:v>
                </c:pt>
              </c:numCache>
            </c:numRef>
          </c:val>
          <c:extLst>
            <c:ext xmlns:c16="http://schemas.microsoft.com/office/drawing/2014/chart" uri="{C3380CC4-5D6E-409C-BE32-E72D297353CC}">
              <c16:uniqueId val="{00000004-6F60-4217-9165-29AD6EB6205B}"/>
            </c:ext>
          </c:extLst>
        </c:ser>
        <c:dLbls>
          <c:dLblPos val="outEnd"/>
          <c:showLegendKey val="0"/>
          <c:showVal val="1"/>
          <c:showCatName val="0"/>
          <c:showSerName val="0"/>
          <c:showPercent val="0"/>
          <c:showBubbleSize val="0"/>
        </c:dLbls>
        <c:gapWidth val="219"/>
        <c:overlap val="-27"/>
        <c:axId val="324490688"/>
        <c:axId val="244478320"/>
      </c:barChart>
      <c:catAx>
        <c:axId val="324490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sz="800"/>
            </a:pPr>
            <a:endParaRPr lang="en-US"/>
          </a:p>
        </c:txPr>
        <c:crossAx val="244478320"/>
        <c:crosses val="autoZero"/>
        <c:auto val="1"/>
        <c:lblAlgn val="ctr"/>
        <c:lblOffset val="100"/>
        <c:noMultiLvlLbl val="0"/>
      </c:catAx>
      <c:valAx>
        <c:axId val="244478320"/>
        <c:scaling>
          <c:orientation val="minMax"/>
        </c:scaling>
        <c:delete val="1"/>
        <c:axPos val="l"/>
        <c:numFmt formatCode="_(* #,##0_);_(* \(#,##0\);_(* &quot;-&quot;??_);_(@_)" sourceLinked="1"/>
        <c:majorTickMark val="none"/>
        <c:minorTickMark val="none"/>
        <c:tickLblPos val="nextTo"/>
        <c:crossAx val="324490688"/>
        <c:crosses val="autoZero"/>
        <c:crossBetween val="between"/>
      </c:valAx>
      <c:spPr>
        <a:noFill/>
        <a:ln>
          <a:noFill/>
        </a:ln>
        <a:effectLst/>
      </c:spPr>
    </c:plotArea>
    <c:legend>
      <c:legendPos val="b"/>
      <c:layout>
        <c:manualLayout>
          <c:xMode val="edge"/>
          <c:yMode val="edge"/>
          <c:x val="8.4476215232648824E-2"/>
          <c:y val="0.89034695443760825"/>
          <c:w val="0.82444502209513904"/>
          <c:h val="9.6329021560264197E-2"/>
        </c:manualLayout>
      </c:layout>
      <c:overlay val="0"/>
      <c:spPr>
        <a:noFill/>
        <a:ln>
          <a:noFill/>
        </a:ln>
        <a:effectLst/>
      </c:spPr>
      <c:txPr>
        <a:bodyPr rot="0" vert="horz"/>
        <a:lstStyle/>
        <a:p>
          <a:pPr>
            <a:defRPr sz="800"/>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700"/>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0635024788568096"/>
          <c:y val="0.11446732051816622"/>
          <c:w val="0.53968139399241766"/>
          <c:h val="0.74553070543848943"/>
        </c:manualLayout>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2AF-47A5-B86A-F22C1C0A532C}"/>
              </c:ext>
            </c:extLst>
          </c:dPt>
          <c:dLbls>
            <c:dLbl>
              <c:idx val="0"/>
              <c:layout>
                <c:manualLayout>
                  <c:x val="3.0089311752697537E-2"/>
                  <c:y val="-0.23023841609207904"/>
                </c:manualLayout>
              </c:layout>
              <c:spPr>
                <a:noFill/>
                <a:ln>
                  <a:noFill/>
                </a:ln>
                <a:effectLst/>
              </c:spPr>
              <c:txPr>
                <a:bodyPr rot="0" vert="horz"/>
                <a:lstStyle/>
                <a:p>
                  <a:pPr>
                    <a:defRPr>
                      <a:solidFill>
                        <a:schemeClr val="bg1"/>
                      </a:solidFill>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0.2607866724992709"/>
                      <c:h val="0.28818112049117417"/>
                    </c:manualLayout>
                  </c15:layout>
                </c:ext>
                <c:ext xmlns:c16="http://schemas.microsoft.com/office/drawing/2014/chart" uri="{C3380CC4-5D6E-409C-BE32-E72D297353CC}">
                  <c16:uniqueId val="{00000001-D2AF-47A5-B86A-F22C1C0A532C}"/>
                </c:ext>
              </c:extLst>
            </c:dLbl>
            <c:spPr>
              <a:noFill/>
              <a:ln>
                <a:noFill/>
              </a:ln>
              <a:effectLst/>
            </c:spPr>
            <c:txPr>
              <a:bodyPr rot="0" vert="horz"/>
              <a:lstStyle/>
              <a:p>
                <a:pPr>
                  <a:defRPr/>
                </a:pPr>
                <a:endParaRPr lang="en-US"/>
              </a:p>
            </c:txPr>
            <c:dLblPos val="bestFi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ext>
            </c:extLst>
          </c:dLbls>
          <c:cat>
            <c:strRef>
              <c:f>Sheet1!$A$2</c:f>
              <c:strCache>
                <c:ptCount val="1"/>
                <c:pt idx="0">
                  <c:v>DBS</c:v>
                </c:pt>
              </c:strCache>
            </c:strRef>
          </c:cat>
          <c:val>
            <c:numRef>
              <c:f>Sheet1!$B$2</c:f>
              <c:numCache>
                <c:formatCode>0%</c:formatCode>
                <c:ptCount val="1"/>
                <c:pt idx="0">
                  <c:v>1</c:v>
                </c:pt>
              </c:numCache>
            </c:numRef>
          </c:val>
          <c:extLst>
            <c:ext xmlns:c16="http://schemas.microsoft.com/office/drawing/2014/chart" uri="{C3380CC4-5D6E-409C-BE32-E72D297353CC}">
              <c16:uniqueId val="{00000002-D2AF-47A5-B86A-F22C1C0A532C}"/>
            </c:ext>
          </c:extLst>
        </c:ser>
        <c:dLbls>
          <c:dLblPos val="bestFit"/>
          <c:showLegendKey val="0"/>
          <c:showVal val="1"/>
          <c:showCatName val="0"/>
          <c:showSerName val="0"/>
          <c:showPercent val="0"/>
          <c:showBubbleSize val="0"/>
          <c:showLeaderLines val="0"/>
        </c:dLbls>
        <c:firstSliceAng val="0"/>
      </c:pieChart>
      <c:spPr>
        <a:noFill/>
        <a:ln>
          <a:noFill/>
        </a:ln>
        <a:effectLst/>
      </c:spPr>
    </c:plotArea>
    <c:legend>
      <c:legendPos val="r"/>
      <c:legendEntry>
        <c:idx val="0"/>
        <c:txPr>
          <a:bodyPr rot="0" vert="horz"/>
          <a:lstStyle/>
          <a:p>
            <a:pPr>
              <a:defRPr/>
            </a:pPr>
            <a:endParaRPr lang="en-US"/>
          </a:p>
        </c:txPr>
      </c:legendEntry>
      <c:layout>
        <c:manualLayout>
          <c:xMode val="edge"/>
          <c:yMode val="edge"/>
          <c:x val="0"/>
          <c:y val="0.80081399073005355"/>
          <c:w val="0.30411479198465041"/>
          <c:h val="0.17360419592408308"/>
        </c:manualLayout>
      </c:layout>
      <c:overlay val="0"/>
      <c:spPr>
        <a:noFill/>
        <a:ln>
          <a:noFill/>
        </a:ln>
        <a:effectLst/>
      </c:spPr>
      <c:txPr>
        <a:bodyPr rot="0" vert="horz"/>
        <a:lstStyle/>
        <a:p>
          <a:pPr>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2619130941965587"/>
          <c:y val="0.12725831565758808"/>
          <c:w val="0.53042213473315836"/>
          <c:h val="0.73273971029906759"/>
        </c:manualLayout>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A35-4A00-B8E0-EC234E1F673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CA35-4A00-B8E0-EC234E1F673D}"/>
              </c:ext>
            </c:extLst>
          </c:dPt>
          <c:dLbls>
            <c:dLbl>
              <c:idx val="0"/>
              <c:layout>
                <c:manualLayout>
                  <c:x val="-2.9806430446194226E-2"/>
                  <c:y val="3.6881374095314064E-2"/>
                </c:manualLayout>
              </c:layout>
              <c:spPr>
                <a:noFill/>
                <a:ln>
                  <a:noFill/>
                </a:ln>
                <a:effectLst/>
              </c:spPr>
              <c:txPr>
                <a:bodyPr rot="0" spcFirstLastPara="1" vertOverflow="clip" horzOverflow="clip" vert="horz" wrap="square" lIns="36576" tIns="18288" rIns="36576" bIns="18288" anchor="ctr" anchorCtr="1">
                  <a:spAutoFit/>
                </a:bodyPr>
                <a:lstStyle/>
                <a:p>
                  <a:pPr>
                    <a:defRPr sz="800"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1-CA35-4A00-B8E0-EC234E1F673D}"/>
                </c:ext>
              </c:extLst>
            </c:dLbl>
            <c:dLbl>
              <c:idx val="1"/>
              <c:delete val="1"/>
              <c:extLst>
                <c:ext xmlns:c15="http://schemas.microsoft.com/office/drawing/2012/chart" uri="{CE6537A1-D6FC-4f65-9D91-7224C49458BB}"/>
                <c:ext xmlns:c16="http://schemas.microsoft.com/office/drawing/2014/chart" uri="{C3380CC4-5D6E-409C-BE32-E72D297353CC}">
                  <c16:uniqueId val="{00000003-CA35-4A00-B8E0-EC234E1F673D}"/>
                </c:ext>
              </c:extLst>
            </c:dLbl>
            <c:spPr>
              <a:noFill/>
              <a:ln>
                <a:noFill/>
              </a:ln>
              <a:effectLst/>
            </c:spPr>
            <c:txPr>
              <a:bodyPr rot="0" spcFirstLastPara="1" vertOverflow="clip" horzOverflow="clip" vert="horz" wrap="square" lIns="36576" tIns="18288" rIns="36576" bIns="18288" anchor="ctr" anchorCtr="1">
                <a:spAutoFit/>
              </a:bodyPr>
              <a:lstStyle/>
              <a:p>
                <a:pPr>
                  <a:defRPr sz="8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a:noFill/>
                  <a:ln>
                    <a:noFill/>
                  </a:ln>
                </c15:spPr>
              </c:ext>
            </c:extLst>
          </c:dLbls>
          <c:cat>
            <c:strRef>
              <c:f>Sheet1!$A$2:$A$3</c:f>
              <c:strCache>
                <c:ptCount val="2"/>
                <c:pt idx="0">
                  <c:v>DBS</c:v>
                </c:pt>
                <c:pt idx="1">
                  <c:v>其他</c:v>
                </c:pt>
              </c:strCache>
            </c:strRef>
          </c:cat>
          <c:val>
            <c:numRef>
              <c:f>Sheet1!$B$2:$B$3</c:f>
              <c:numCache>
                <c:formatCode>0%</c:formatCode>
                <c:ptCount val="2"/>
                <c:pt idx="0">
                  <c:v>0.33</c:v>
                </c:pt>
                <c:pt idx="1">
                  <c:v>0.66999999999999993</c:v>
                </c:pt>
              </c:numCache>
            </c:numRef>
          </c:val>
          <c:extLst>
            <c:ext xmlns:c16="http://schemas.microsoft.com/office/drawing/2014/chart" uri="{C3380CC4-5D6E-409C-BE32-E72D297353CC}">
              <c16:uniqueId val="{00000004-CA35-4A00-B8E0-EC234E1F673D}"/>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legendEntry>
        <c:idx val="1"/>
        <c:delete val="1"/>
      </c:legendEntry>
      <c:layout>
        <c:manualLayout>
          <c:xMode val="edge"/>
          <c:yMode val="edge"/>
          <c:x val="0"/>
          <c:y val="0.82231293421399843"/>
          <c:w val="0.42038732223970454"/>
          <c:h val="0.1640733213219371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rgbClr val="002060"/>
            </a:solidFill>
            <a:ln>
              <a:noFill/>
            </a:ln>
          </c:spPr>
          <c:dPt>
            <c:idx val="0"/>
            <c:bubble3D val="0"/>
            <c:spPr>
              <a:solidFill>
                <a:schemeClr val="bg1"/>
              </a:solidFill>
              <a:ln w="19050">
                <a:noFill/>
              </a:ln>
              <a:effectLst/>
            </c:spPr>
            <c:extLst>
              <c:ext xmlns:c16="http://schemas.microsoft.com/office/drawing/2014/chart" uri="{C3380CC4-5D6E-409C-BE32-E72D297353CC}">
                <c16:uniqueId val="{00000001-5E67-4A4B-B539-F631C8E28116}"/>
              </c:ext>
            </c:extLst>
          </c:dPt>
          <c:dPt>
            <c:idx val="1"/>
            <c:bubble3D val="0"/>
            <c:spPr>
              <a:solidFill>
                <a:srgbClr val="FFFFFF"/>
              </a:solidFill>
              <a:ln w="19050">
                <a:noFill/>
              </a:ln>
              <a:effectLst/>
            </c:spPr>
            <c:extLst>
              <c:ext xmlns:c16="http://schemas.microsoft.com/office/drawing/2014/chart" uri="{C3380CC4-5D6E-409C-BE32-E72D297353CC}">
                <c16:uniqueId val="{00000003-5E67-4A4B-B539-F631C8E28116}"/>
              </c:ext>
            </c:extLst>
          </c:dPt>
          <c:dPt>
            <c:idx val="2"/>
            <c:bubble3D val="0"/>
            <c:spPr>
              <a:solidFill>
                <a:schemeClr val="accent1"/>
              </a:solidFill>
              <a:ln w="19050">
                <a:noFill/>
              </a:ln>
              <a:effectLst/>
            </c:spPr>
            <c:extLst>
              <c:ext xmlns:c16="http://schemas.microsoft.com/office/drawing/2014/chart" uri="{C3380CC4-5D6E-409C-BE32-E72D297353CC}">
                <c16:uniqueId val="{00000005-5E67-4A4B-B539-F631C8E28116}"/>
              </c:ext>
            </c:extLst>
          </c:dPt>
          <c:dPt>
            <c:idx val="3"/>
            <c:bubble3D val="0"/>
            <c:spPr>
              <a:solidFill>
                <a:schemeClr val="accent1"/>
              </a:solidFill>
              <a:ln w="19050">
                <a:noFill/>
              </a:ln>
              <a:effectLst/>
            </c:spPr>
            <c:extLst>
              <c:ext xmlns:c16="http://schemas.microsoft.com/office/drawing/2014/chart" uri="{C3380CC4-5D6E-409C-BE32-E72D297353CC}">
                <c16:uniqueId val="{00000007-5E67-4A4B-B539-F631C8E28116}"/>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5E67-4A4B-B539-F631C8E28116}"/>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chemeClr val="accent1"/>
            </a:solidFill>
            <a:ln>
              <a:noFill/>
            </a:ln>
          </c:spPr>
          <c:dPt>
            <c:idx val="0"/>
            <c:bubble3D val="0"/>
            <c:spPr>
              <a:solidFill>
                <a:schemeClr val="bg1"/>
              </a:solidFill>
              <a:ln w="19050">
                <a:noFill/>
              </a:ln>
              <a:effectLst/>
            </c:spPr>
            <c:extLst>
              <c:ext xmlns:c16="http://schemas.microsoft.com/office/drawing/2014/chart" uri="{C3380CC4-5D6E-409C-BE32-E72D297353CC}">
                <c16:uniqueId val="{00000001-040E-421B-8D11-1D504DDC2DA4}"/>
              </c:ext>
            </c:extLst>
          </c:dPt>
          <c:dPt>
            <c:idx val="1"/>
            <c:bubble3D val="0"/>
            <c:spPr>
              <a:solidFill>
                <a:srgbClr val="FFFFFF"/>
              </a:solidFill>
              <a:ln w="19050">
                <a:noFill/>
              </a:ln>
              <a:effectLst/>
            </c:spPr>
            <c:extLst>
              <c:ext xmlns:c16="http://schemas.microsoft.com/office/drawing/2014/chart" uri="{C3380CC4-5D6E-409C-BE32-E72D297353CC}">
                <c16:uniqueId val="{00000003-040E-421B-8D11-1D504DDC2DA4}"/>
              </c:ext>
            </c:extLst>
          </c:dPt>
          <c:dPt>
            <c:idx val="2"/>
            <c:bubble3D val="0"/>
            <c:spPr>
              <a:solidFill>
                <a:schemeClr val="accent1"/>
              </a:solidFill>
              <a:ln w="19050">
                <a:noFill/>
              </a:ln>
              <a:effectLst/>
            </c:spPr>
            <c:extLst>
              <c:ext xmlns:c16="http://schemas.microsoft.com/office/drawing/2014/chart" uri="{C3380CC4-5D6E-409C-BE32-E72D297353CC}">
                <c16:uniqueId val="{00000005-040E-421B-8D11-1D504DDC2DA4}"/>
              </c:ext>
            </c:extLst>
          </c:dPt>
          <c:dPt>
            <c:idx val="3"/>
            <c:bubble3D val="0"/>
            <c:spPr>
              <a:solidFill>
                <a:schemeClr val="accent1"/>
              </a:solidFill>
              <a:ln w="19050">
                <a:noFill/>
              </a:ln>
              <a:effectLst/>
            </c:spPr>
            <c:extLst>
              <c:ext xmlns:c16="http://schemas.microsoft.com/office/drawing/2014/chart" uri="{C3380CC4-5D6E-409C-BE32-E72D297353CC}">
                <c16:uniqueId val="{00000007-040E-421B-8D11-1D504DDC2DA4}"/>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040E-421B-8D11-1D504DDC2DA4}"/>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rgbClr val="C00000"/>
            </a:solidFill>
            <a:ln>
              <a:noFill/>
            </a:ln>
          </c:spPr>
          <c:dPt>
            <c:idx val="0"/>
            <c:bubble3D val="0"/>
            <c:spPr>
              <a:solidFill>
                <a:srgbClr val="C00000"/>
              </a:solidFill>
              <a:ln w="19050">
                <a:noFill/>
              </a:ln>
              <a:effectLst/>
            </c:spPr>
            <c:extLst>
              <c:ext xmlns:c16="http://schemas.microsoft.com/office/drawing/2014/chart" uri="{C3380CC4-5D6E-409C-BE32-E72D297353CC}">
                <c16:uniqueId val="{00000001-65D2-4D34-A1DC-37329A94D148}"/>
              </c:ext>
            </c:extLst>
          </c:dPt>
          <c:dPt>
            <c:idx val="1"/>
            <c:bubble3D val="0"/>
            <c:spPr>
              <a:solidFill>
                <a:srgbClr val="C00000"/>
              </a:solidFill>
              <a:ln w="19050">
                <a:noFill/>
              </a:ln>
              <a:effectLst/>
            </c:spPr>
            <c:extLst>
              <c:ext xmlns:c16="http://schemas.microsoft.com/office/drawing/2014/chart" uri="{C3380CC4-5D6E-409C-BE32-E72D297353CC}">
                <c16:uniqueId val="{00000003-65D2-4D34-A1DC-37329A94D148}"/>
              </c:ext>
            </c:extLst>
          </c:dPt>
          <c:dPt>
            <c:idx val="2"/>
            <c:bubble3D val="0"/>
            <c:spPr>
              <a:solidFill>
                <a:srgbClr val="C00000"/>
              </a:solidFill>
              <a:ln w="19050">
                <a:noFill/>
              </a:ln>
              <a:effectLst/>
            </c:spPr>
            <c:extLst>
              <c:ext xmlns:c16="http://schemas.microsoft.com/office/drawing/2014/chart" uri="{C3380CC4-5D6E-409C-BE32-E72D297353CC}">
                <c16:uniqueId val="{00000005-65D2-4D34-A1DC-37329A94D148}"/>
              </c:ext>
            </c:extLst>
          </c:dPt>
          <c:dPt>
            <c:idx val="3"/>
            <c:bubble3D val="0"/>
            <c:spPr>
              <a:solidFill>
                <a:srgbClr val="C00000"/>
              </a:solidFill>
              <a:ln w="19050">
                <a:noFill/>
              </a:ln>
              <a:effectLst/>
            </c:spPr>
            <c:extLst>
              <c:ext xmlns:c16="http://schemas.microsoft.com/office/drawing/2014/chart" uri="{C3380CC4-5D6E-409C-BE32-E72D297353CC}">
                <c16:uniqueId val="{00000007-65D2-4D34-A1DC-37329A94D148}"/>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65D2-4D34-A1DC-37329A94D148}"/>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chemeClr val="accent1"/>
            </a:solidFill>
            <a:ln>
              <a:noFill/>
            </a:ln>
          </c:spPr>
          <c:dPt>
            <c:idx val="0"/>
            <c:bubble3D val="0"/>
            <c:spPr>
              <a:solidFill>
                <a:schemeClr val="bg1"/>
              </a:solidFill>
              <a:ln w="19050">
                <a:noFill/>
              </a:ln>
              <a:effectLst/>
            </c:spPr>
            <c:extLst>
              <c:ext xmlns:c16="http://schemas.microsoft.com/office/drawing/2014/chart" uri="{C3380CC4-5D6E-409C-BE32-E72D297353CC}">
                <c16:uniqueId val="{00000001-6785-42D8-ABE1-D32D5A159109}"/>
              </c:ext>
            </c:extLst>
          </c:dPt>
          <c:dPt>
            <c:idx val="1"/>
            <c:bubble3D val="0"/>
            <c:spPr>
              <a:solidFill>
                <a:schemeClr val="bg1"/>
              </a:solidFill>
              <a:ln w="19050">
                <a:noFill/>
              </a:ln>
              <a:effectLst/>
            </c:spPr>
            <c:extLst>
              <c:ext xmlns:c16="http://schemas.microsoft.com/office/drawing/2014/chart" uri="{C3380CC4-5D6E-409C-BE32-E72D297353CC}">
                <c16:uniqueId val="{00000003-6785-42D8-ABE1-D32D5A159109}"/>
              </c:ext>
            </c:extLst>
          </c:dPt>
          <c:dPt>
            <c:idx val="2"/>
            <c:bubble3D val="0"/>
            <c:spPr>
              <a:solidFill>
                <a:schemeClr val="accent1"/>
              </a:solidFill>
              <a:ln w="19050">
                <a:noFill/>
              </a:ln>
              <a:effectLst/>
            </c:spPr>
            <c:extLst>
              <c:ext xmlns:c16="http://schemas.microsoft.com/office/drawing/2014/chart" uri="{C3380CC4-5D6E-409C-BE32-E72D297353CC}">
                <c16:uniqueId val="{00000005-6785-42D8-ABE1-D32D5A159109}"/>
              </c:ext>
            </c:extLst>
          </c:dPt>
          <c:dPt>
            <c:idx val="3"/>
            <c:bubble3D val="0"/>
            <c:spPr>
              <a:solidFill>
                <a:schemeClr val="accent1"/>
              </a:solidFill>
              <a:ln w="19050">
                <a:noFill/>
              </a:ln>
              <a:effectLst/>
            </c:spPr>
            <c:extLst>
              <c:ext xmlns:c16="http://schemas.microsoft.com/office/drawing/2014/chart" uri="{C3380CC4-5D6E-409C-BE32-E72D297353CC}">
                <c16:uniqueId val="{00000007-6785-42D8-ABE1-D32D5A159109}"/>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6785-42D8-ABE1-D32D5A159109}"/>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rgbClr val="C00000"/>
            </a:solidFill>
            <a:ln>
              <a:noFill/>
            </a:ln>
          </c:spPr>
          <c:dPt>
            <c:idx val="0"/>
            <c:bubble3D val="0"/>
            <c:spPr>
              <a:solidFill>
                <a:srgbClr val="C00000"/>
              </a:solidFill>
              <a:ln w="19050">
                <a:noFill/>
              </a:ln>
              <a:effectLst/>
            </c:spPr>
            <c:extLst>
              <c:ext xmlns:c16="http://schemas.microsoft.com/office/drawing/2014/chart" uri="{C3380CC4-5D6E-409C-BE32-E72D297353CC}">
                <c16:uniqueId val="{00000001-6822-4D30-857B-B5A86836782E}"/>
              </c:ext>
            </c:extLst>
          </c:dPt>
          <c:dPt>
            <c:idx val="1"/>
            <c:bubble3D val="0"/>
            <c:spPr>
              <a:solidFill>
                <a:srgbClr val="C00000"/>
              </a:solidFill>
              <a:ln w="19050">
                <a:noFill/>
              </a:ln>
              <a:effectLst/>
            </c:spPr>
            <c:extLst>
              <c:ext xmlns:c16="http://schemas.microsoft.com/office/drawing/2014/chart" uri="{C3380CC4-5D6E-409C-BE32-E72D297353CC}">
                <c16:uniqueId val="{00000003-6822-4D30-857B-B5A86836782E}"/>
              </c:ext>
            </c:extLst>
          </c:dPt>
          <c:dPt>
            <c:idx val="2"/>
            <c:bubble3D val="0"/>
            <c:spPr>
              <a:solidFill>
                <a:srgbClr val="C00000"/>
              </a:solidFill>
              <a:ln w="19050">
                <a:noFill/>
              </a:ln>
              <a:effectLst/>
            </c:spPr>
            <c:extLst>
              <c:ext xmlns:c16="http://schemas.microsoft.com/office/drawing/2014/chart" uri="{C3380CC4-5D6E-409C-BE32-E72D297353CC}">
                <c16:uniqueId val="{00000005-6822-4D30-857B-B5A86836782E}"/>
              </c:ext>
            </c:extLst>
          </c:dPt>
          <c:dPt>
            <c:idx val="3"/>
            <c:bubble3D val="0"/>
            <c:spPr>
              <a:solidFill>
                <a:srgbClr val="C00000"/>
              </a:solidFill>
              <a:ln w="19050">
                <a:noFill/>
              </a:ln>
              <a:effectLst/>
            </c:spPr>
            <c:extLst>
              <c:ext xmlns:c16="http://schemas.microsoft.com/office/drawing/2014/chart" uri="{C3380CC4-5D6E-409C-BE32-E72D297353CC}">
                <c16:uniqueId val="{00000007-6822-4D30-857B-B5A86836782E}"/>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6822-4D30-857B-B5A86836782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rgbClr val="C00000"/>
            </a:solidFill>
            <a:ln>
              <a:noFill/>
            </a:ln>
          </c:spPr>
          <c:dPt>
            <c:idx val="0"/>
            <c:bubble3D val="0"/>
            <c:spPr>
              <a:solidFill>
                <a:srgbClr val="FFFFFF"/>
              </a:solidFill>
              <a:ln w="19050">
                <a:noFill/>
              </a:ln>
              <a:effectLst/>
            </c:spPr>
            <c:extLst>
              <c:ext xmlns:c16="http://schemas.microsoft.com/office/drawing/2014/chart" uri="{C3380CC4-5D6E-409C-BE32-E72D297353CC}">
                <c16:uniqueId val="{00000001-39C1-4AB0-ACAB-81B3A1569D02}"/>
              </c:ext>
            </c:extLst>
          </c:dPt>
          <c:dPt>
            <c:idx val="1"/>
            <c:bubble3D val="0"/>
            <c:spPr>
              <a:solidFill>
                <a:srgbClr val="C00000"/>
              </a:solidFill>
              <a:ln w="19050">
                <a:noFill/>
              </a:ln>
              <a:effectLst/>
            </c:spPr>
            <c:extLst>
              <c:ext xmlns:c16="http://schemas.microsoft.com/office/drawing/2014/chart" uri="{C3380CC4-5D6E-409C-BE32-E72D297353CC}">
                <c16:uniqueId val="{00000003-39C1-4AB0-ACAB-81B3A1569D02}"/>
              </c:ext>
            </c:extLst>
          </c:dPt>
          <c:dPt>
            <c:idx val="2"/>
            <c:bubble3D val="0"/>
            <c:spPr>
              <a:solidFill>
                <a:srgbClr val="C00000"/>
              </a:solidFill>
              <a:ln w="19050">
                <a:noFill/>
              </a:ln>
              <a:effectLst/>
            </c:spPr>
            <c:extLst>
              <c:ext xmlns:c16="http://schemas.microsoft.com/office/drawing/2014/chart" uri="{C3380CC4-5D6E-409C-BE32-E72D297353CC}">
                <c16:uniqueId val="{00000005-39C1-4AB0-ACAB-81B3A1569D02}"/>
              </c:ext>
            </c:extLst>
          </c:dPt>
          <c:dPt>
            <c:idx val="3"/>
            <c:bubble3D val="0"/>
            <c:spPr>
              <a:solidFill>
                <a:srgbClr val="C00000"/>
              </a:solidFill>
              <a:ln w="19050">
                <a:noFill/>
              </a:ln>
              <a:effectLst/>
            </c:spPr>
            <c:extLst>
              <c:ext xmlns:c16="http://schemas.microsoft.com/office/drawing/2014/chart" uri="{C3380CC4-5D6E-409C-BE32-E72D297353CC}">
                <c16:uniqueId val="{00000007-39C1-4AB0-ACAB-81B3A1569D02}"/>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39C1-4AB0-ACAB-81B3A1569D0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rgbClr val="C00000"/>
            </a:solidFill>
            <a:ln>
              <a:noFill/>
            </a:ln>
          </c:spPr>
          <c:dPt>
            <c:idx val="0"/>
            <c:bubble3D val="0"/>
            <c:spPr>
              <a:solidFill>
                <a:srgbClr val="FFFFFF"/>
              </a:solidFill>
              <a:ln w="19050">
                <a:noFill/>
              </a:ln>
              <a:effectLst/>
            </c:spPr>
            <c:extLst>
              <c:ext xmlns:c16="http://schemas.microsoft.com/office/drawing/2014/chart" uri="{C3380CC4-5D6E-409C-BE32-E72D297353CC}">
                <c16:uniqueId val="{00000001-02FD-4143-A846-CBB93E11CF7F}"/>
              </c:ext>
            </c:extLst>
          </c:dPt>
          <c:dPt>
            <c:idx val="1"/>
            <c:bubble3D val="0"/>
            <c:spPr>
              <a:solidFill>
                <a:srgbClr val="C00000"/>
              </a:solidFill>
              <a:ln w="19050">
                <a:noFill/>
              </a:ln>
              <a:effectLst/>
            </c:spPr>
            <c:extLst>
              <c:ext xmlns:c16="http://schemas.microsoft.com/office/drawing/2014/chart" uri="{C3380CC4-5D6E-409C-BE32-E72D297353CC}">
                <c16:uniqueId val="{00000003-02FD-4143-A846-CBB93E11CF7F}"/>
              </c:ext>
            </c:extLst>
          </c:dPt>
          <c:dPt>
            <c:idx val="2"/>
            <c:bubble3D val="0"/>
            <c:spPr>
              <a:solidFill>
                <a:srgbClr val="C00000"/>
              </a:solidFill>
              <a:ln w="19050">
                <a:noFill/>
              </a:ln>
              <a:effectLst/>
            </c:spPr>
            <c:extLst>
              <c:ext xmlns:c16="http://schemas.microsoft.com/office/drawing/2014/chart" uri="{C3380CC4-5D6E-409C-BE32-E72D297353CC}">
                <c16:uniqueId val="{00000005-02FD-4143-A846-CBB93E11CF7F}"/>
              </c:ext>
            </c:extLst>
          </c:dPt>
          <c:dPt>
            <c:idx val="3"/>
            <c:bubble3D val="0"/>
            <c:spPr>
              <a:solidFill>
                <a:srgbClr val="C00000"/>
              </a:solidFill>
              <a:ln w="19050">
                <a:noFill/>
              </a:ln>
              <a:effectLst/>
            </c:spPr>
            <c:extLst>
              <c:ext xmlns:c16="http://schemas.microsoft.com/office/drawing/2014/chart" uri="{C3380CC4-5D6E-409C-BE32-E72D297353CC}">
                <c16:uniqueId val="{00000007-02FD-4143-A846-CBB93E11CF7F}"/>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02FD-4143-A846-CBB93E11CF7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chemeClr val="accent1"/>
            </a:solidFill>
            <a:ln>
              <a:noFill/>
            </a:ln>
          </c:spPr>
          <c:dPt>
            <c:idx val="0"/>
            <c:bubble3D val="0"/>
            <c:spPr>
              <a:solidFill>
                <a:schemeClr val="bg1"/>
              </a:solidFill>
              <a:ln w="19050">
                <a:noFill/>
              </a:ln>
              <a:effectLst/>
            </c:spPr>
            <c:extLst>
              <c:ext xmlns:c16="http://schemas.microsoft.com/office/drawing/2014/chart" uri="{C3380CC4-5D6E-409C-BE32-E72D297353CC}">
                <c16:uniqueId val="{00000001-3AB8-4B71-A644-DA4D34D36EDF}"/>
              </c:ext>
            </c:extLst>
          </c:dPt>
          <c:dPt>
            <c:idx val="1"/>
            <c:bubble3D val="0"/>
            <c:spPr>
              <a:solidFill>
                <a:schemeClr val="bg1"/>
              </a:solidFill>
              <a:ln w="19050">
                <a:noFill/>
              </a:ln>
              <a:effectLst/>
            </c:spPr>
            <c:extLst>
              <c:ext xmlns:c16="http://schemas.microsoft.com/office/drawing/2014/chart" uri="{C3380CC4-5D6E-409C-BE32-E72D297353CC}">
                <c16:uniqueId val="{00000003-3AB8-4B71-A644-DA4D34D36EDF}"/>
              </c:ext>
            </c:extLst>
          </c:dPt>
          <c:dPt>
            <c:idx val="2"/>
            <c:bubble3D val="0"/>
            <c:spPr>
              <a:solidFill>
                <a:schemeClr val="accent1"/>
              </a:solidFill>
              <a:ln w="19050">
                <a:noFill/>
              </a:ln>
              <a:effectLst/>
            </c:spPr>
            <c:extLst>
              <c:ext xmlns:c16="http://schemas.microsoft.com/office/drawing/2014/chart" uri="{C3380CC4-5D6E-409C-BE32-E72D297353CC}">
                <c16:uniqueId val="{00000005-3AB8-4B71-A644-DA4D34D36EDF}"/>
              </c:ext>
            </c:extLst>
          </c:dPt>
          <c:dPt>
            <c:idx val="3"/>
            <c:bubble3D val="0"/>
            <c:spPr>
              <a:solidFill>
                <a:schemeClr val="accent1"/>
              </a:solidFill>
              <a:ln w="19050">
                <a:noFill/>
              </a:ln>
              <a:effectLst/>
            </c:spPr>
            <c:extLst>
              <c:ext xmlns:c16="http://schemas.microsoft.com/office/drawing/2014/chart" uri="{C3380CC4-5D6E-409C-BE32-E72D297353CC}">
                <c16:uniqueId val="{00000007-3AB8-4B71-A644-DA4D34D36EDF}"/>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3AB8-4B71-A644-DA4D34D36ED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Sales</c:v>
                </c:pt>
              </c:strCache>
            </c:strRef>
          </c:tx>
          <c:spPr>
            <a:solidFill>
              <a:srgbClr val="C00000"/>
            </a:solidFill>
            <a:ln>
              <a:noFill/>
            </a:ln>
          </c:spPr>
          <c:dPt>
            <c:idx val="0"/>
            <c:bubble3D val="0"/>
            <c:spPr>
              <a:solidFill>
                <a:srgbClr val="FFFFFF"/>
              </a:solidFill>
              <a:ln w="19050">
                <a:noFill/>
              </a:ln>
              <a:effectLst/>
            </c:spPr>
            <c:extLst>
              <c:ext xmlns:c16="http://schemas.microsoft.com/office/drawing/2014/chart" uri="{C3380CC4-5D6E-409C-BE32-E72D297353CC}">
                <c16:uniqueId val="{00000001-A303-485F-BA70-134055C3AEE3}"/>
              </c:ext>
            </c:extLst>
          </c:dPt>
          <c:dPt>
            <c:idx val="1"/>
            <c:bubble3D val="0"/>
            <c:spPr>
              <a:solidFill>
                <a:srgbClr val="C00000"/>
              </a:solidFill>
              <a:ln w="19050">
                <a:noFill/>
              </a:ln>
              <a:effectLst/>
            </c:spPr>
            <c:extLst>
              <c:ext xmlns:c16="http://schemas.microsoft.com/office/drawing/2014/chart" uri="{C3380CC4-5D6E-409C-BE32-E72D297353CC}">
                <c16:uniqueId val="{00000003-A303-485F-BA70-134055C3AEE3}"/>
              </c:ext>
            </c:extLst>
          </c:dPt>
          <c:dPt>
            <c:idx val="2"/>
            <c:bubble3D val="0"/>
            <c:spPr>
              <a:solidFill>
                <a:srgbClr val="C00000"/>
              </a:solidFill>
              <a:ln w="19050">
                <a:noFill/>
              </a:ln>
              <a:effectLst/>
            </c:spPr>
            <c:extLst>
              <c:ext xmlns:c16="http://schemas.microsoft.com/office/drawing/2014/chart" uri="{C3380CC4-5D6E-409C-BE32-E72D297353CC}">
                <c16:uniqueId val="{00000005-A303-485F-BA70-134055C3AEE3}"/>
              </c:ext>
            </c:extLst>
          </c:dPt>
          <c:dPt>
            <c:idx val="3"/>
            <c:bubble3D val="0"/>
            <c:spPr>
              <a:solidFill>
                <a:srgbClr val="C00000"/>
              </a:solidFill>
              <a:ln w="19050">
                <a:noFill/>
              </a:ln>
              <a:effectLst/>
            </c:spPr>
            <c:extLst>
              <c:ext xmlns:c16="http://schemas.microsoft.com/office/drawing/2014/chart" uri="{C3380CC4-5D6E-409C-BE32-E72D297353CC}">
                <c16:uniqueId val="{00000007-A303-485F-BA70-134055C3AE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A303-485F-BA70-134055C3AEE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Sales</c:v>
                </c:pt>
              </c:strCache>
            </c:strRef>
          </c:tx>
          <c:spPr>
            <a:solidFill>
              <a:srgbClr val="FF5D39"/>
            </a:solidFill>
            <a:ln>
              <a:noFill/>
            </a:ln>
          </c:spPr>
          <c:dPt>
            <c:idx val="0"/>
            <c:bubble3D val="0"/>
            <c:spPr>
              <a:solidFill>
                <a:schemeClr val="bg1"/>
              </a:solidFill>
              <a:ln w="19050">
                <a:noFill/>
              </a:ln>
              <a:effectLst/>
            </c:spPr>
            <c:extLst>
              <c:ext xmlns:c16="http://schemas.microsoft.com/office/drawing/2014/chart" uri="{C3380CC4-5D6E-409C-BE32-E72D297353CC}">
                <c16:uniqueId val="{00000001-1F6F-4059-9F15-2F728C332E93}"/>
              </c:ext>
            </c:extLst>
          </c:dPt>
          <c:dPt>
            <c:idx val="1"/>
            <c:bubble3D val="0"/>
            <c:spPr>
              <a:solidFill>
                <a:srgbClr val="FFFFFF"/>
              </a:solidFill>
              <a:ln w="19050">
                <a:noFill/>
              </a:ln>
              <a:effectLst/>
            </c:spPr>
            <c:extLst>
              <c:ext xmlns:c16="http://schemas.microsoft.com/office/drawing/2014/chart" uri="{C3380CC4-5D6E-409C-BE32-E72D297353CC}">
                <c16:uniqueId val="{00000003-1F6F-4059-9F15-2F728C332E93}"/>
              </c:ext>
            </c:extLst>
          </c:dPt>
          <c:dPt>
            <c:idx val="2"/>
            <c:bubble3D val="0"/>
            <c:spPr>
              <a:solidFill>
                <a:srgbClr val="C00000"/>
              </a:solidFill>
              <a:ln w="19050">
                <a:noFill/>
              </a:ln>
              <a:effectLst/>
            </c:spPr>
            <c:extLst>
              <c:ext xmlns:c16="http://schemas.microsoft.com/office/drawing/2014/chart" uri="{C3380CC4-5D6E-409C-BE32-E72D297353CC}">
                <c16:uniqueId val="{00000005-1F6F-4059-9F15-2F728C332E93}"/>
              </c:ext>
            </c:extLst>
          </c:dPt>
          <c:dPt>
            <c:idx val="3"/>
            <c:bubble3D val="0"/>
            <c:spPr>
              <a:solidFill>
                <a:srgbClr val="C00000"/>
              </a:solidFill>
              <a:ln w="19050">
                <a:noFill/>
              </a:ln>
              <a:effectLst/>
            </c:spPr>
            <c:extLst>
              <c:ext xmlns:c16="http://schemas.microsoft.com/office/drawing/2014/chart" uri="{C3380CC4-5D6E-409C-BE32-E72D297353CC}">
                <c16:uniqueId val="{00000007-1F6F-4059-9F15-2F728C332E9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1F6F-4059-9F15-2F728C332E9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Sales</c:v>
                </c:pt>
              </c:strCache>
            </c:strRef>
          </c:tx>
          <c:spPr>
            <a:solidFill>
              <a:srgbClr val="FF5D39"/>
            </a:solidFill>
            <a:ln>
              <a:noFill/>
            </a:ln>
          </c:spPr>
          <c:dPt>
            <c:idx val="0"/>
            <c:bubble3D val="0"/>
            <c:spPr>
              <a:solidFill>
                <a:schemeClr val="bg1"/>
              </a:solidFill>
              <a:ln w="19050">
                <a:noFill/>
              </a:ln>
              <a:effectLst/>
            </c:spPr>
            <c:extLst>
              <c:ext xmlns:c16="http://schemas.microsoft.com/office/drawing/2014/chart" uri="{C3380CC4-5D6E-409C-BE32-E72D297353CC}">
                <c16:uniqueId val="{00000001-983B-47AF-92E0-A729D9F24877}"/>
              </c:ext>
            </c:extLst>
          </c:dPt>
          <c:dPt>
            <c:idx val="1"/>
            <c:bubble3D val="0"/>
            <c:spPr>
              <a:solidFill>
                <a:srgbClr val="FFFFFF"/>
              </a:solidFill>
              <a:ln w="19050">
                <a:noFill/>
              </a:ln>
              <a:effectLst/>
            </c:spPr>
            <c:extLst>
              <c:ext xmlns:c16="http://schemas.microsoft.com/office/drawing/2014/chart" uri="{C3380CC4-5D6E-409C-BE32-E72D297353CC}">
                <c16:uniqueId val="{00000003-983B-47AF-92E0-A729D9F24877}"/>
              </c:ext>
            </c:extLst>
          </c:dPt>
          <c:dPt>
            <c:idx val="2"/>
            <c:bubble3D val="0"/>
            <c:spPr>
              <a:solidFill>
                <a:srgbClr val="C00000"/>
              </a:solidFill>
              <a:ln w="19050">
                <a:noFill/>
              </a:ln>
              <a:effectLst/>
            </c:spPr>
            <c:extLst>
              <c:ext xmlns:c16="http://schemas.microsoft.com/office/drawing/2014/chart" uri="{C3380CC4-5D6E-409C-BE32-E72D297353CC}">
                <c16:uniqueId val="{00000005-983B-47AF-92E0-A729D9F24877}"/>
              </c:ext>
            </c:extLst>
          </c:dPt>
          <c:dPt>
            <c:idx val="3"/>
            <c:bubble3D val="0"/>
            <c:spPr>
              <a:solidFill>
                <a:srgbClr val="C00000"/>
              </a:solidFill>
              <a:ln w="19050">
                <a:noFill/>
              </a:ln>
              <a:effectLst/>
            </c:spPr>
            <c:extLst>
              <c:ext xmlns:c16="http://schemas.microsoft.com/office/drawing/2014/chart" uri="{C3380CC4-5D6E-409C-BE32-E72D297353CC}">
                <c16:uniqueId val="{00000007-983B-47AF-92E0-A729D9F24877}"/>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983B-47AF-92E0-A729D9F24877}"/>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Sales</c:v>
                </c:pt>
              </c:strCache>
            </c:strRef>
          </c:tx>
          <c:spPr>
            <a:solidFill>
              <a:srgbClr val="C00000"/>
            </a:solidFill>
            <a:ln>
              <a:noFill/>
            </a:ln>
          </c:spPr>
          <c:dPt>
            <c:idx val="0"/>
            <c:bubble3D val="0"/>
            <c:spPr>
              <a:solidFill>
                <a:srgbClr val="C00000"/>
              </a:solidFill>
              <a:ln w="19050">
                <a:noFill/>
              </a:ln>
              <a:effectLst/>
            </c:spPr>
            <c:extLst>
              <c:ext xmlns:c16="http://schemas.microsoft.com/office/drawing/2014/chart" uri="{C3380CC4-5D6E-409C-BE32-E72D297353CC}">
                <c16:uniqueId val="{00000001-BE5C-401C-AE4A-DE1C8076AA20}"/>
              </c:ext>
            </c:extLst>
          </c:dPt>
          <c:dPt>
            <c:idx val="1"/>
            <c:bubble3D val="0"/>
            <c:spPr>
              <a:solidFill>
                <a:srgbClr val="C00000"/>
              </a:solidFill>
              <a:ln w="19050">
                <a:noFill/>
              </a:ln>
              <a:effectLst/>
            </c:spPr>
            <c:extLst>
              <c:ext xmlns:c16="http://schemas.microsoft.com/office/drawing/2014/chart" uri="{C3380CC4-5D6E-409C-BE32-E72D297353CC}">
                <c16:uniqueId val="{00000003-BE5C-401C-AE4A-DE1C8076AA20}"/>
              </c:ext>
            </c:extLst>
          </c:dPt>
          <c:dPt>
            <c:idx val="2"/>
            <c:bubble3D val="0"/>
            <c:spPr>
              <a:solidFill>
                <a:srgbClr val="C00000"/>
              </a:solidFill>
              <a:ln w="19050">
                <a:noFill/>
              </a:ln>
              <a:effectLst/>
            </c:spPr>
            <c:extLst>
              <c:ext xmlns:c16="http://schemas.microsoft.com/office/drawing/2014/chart" uri="{C3380CC4-5D6E-409C-BE32-E72D297353CC}">
                <c16:uniqueId val="{00000005-BE5C-401C-AE4A-DE1C8076AA20}"/>
              </c:ext>
            </c:extLst>
          </c:dPt>
          <c:dPt>
            <c:idx val="3"/>
            <c:bubble3D val="0"/>
            <c:spPr>
              <a:solidFill>
                <a:srgbClr val="C00000"/>
              </a:solidFill>
              <a:ln w="19050">
                <a:noFill/>
              </a:ln>
              <a:effectLst/>
            </c:spPr>
            <c:extLst>
              <c:ext xmlns:c16="http://schemas.microsoft.com/office/drawing/2014/chart" uri="{C3380CC4-5D6E-409C-BE32-E72D297353CC}">
                <c16:uniqueId val="{00000007-BE5C-401C-AE4A-DE1C8076AA20}"/>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BE5C-401C-AE4A-DE1C8076AA20}"/>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Sales</c:v>
                </c:pt>
              </c:strCache>
            </c:strRef>
          </c:tx>
          <c:spPr>
            <a:solidFill>
              <a:schemeClr val="accent1"/>
            </a:solidFill>
            <a:ln>
              <a:noFill/>
            </a:ln>
          </c:spPr>
          <c:dPt>
            <c:idx val="0"/>
            <c:bubble3D val="0"/>
            <c:spPr>
              <a:solidFill>
                <a:schemeClr val="bg1"/>
              </a:solidFill>
              <a:ln w="19050">
                <a:noFill/>
              </a:ln>
              <a:effectLst/>
            </c:spPr>
            <c:extLst>
              <c:ext xmlns:c16="http://schemas.microsoft.com/office/drawing/2014/chart" uri="{C3380CC4-5D6E-409C-BE32-E72D297353CC}">
                <c16:uniqueId val="{00000001-50C4-4871-BC59-5943C46DEA0D}"/>
              </c:ext>
            </c:extLst>
          </c:dPt>
          <c:dPt>
            <c:idx val="1"/>
            <c:bubble3D val="0"/>
            <c:spPr>
              <a:solidFill>
                <a:srgbClr val="C00000"/>
              </a:solidFill>
              <a:ln w="19050">
                <a:noFill/>
              </a:ln>
              <a:effectLst/>
            </c:spPr>
            <c:extLst>
              <c:ext xmlns:c16="http://schemas.microsoft.com/office/drawing/2014/chart" uri="{C3380CC4-5D6E-409C-BE32-E72D297353CC}">
                <c16:uniqueId val="{00000003-50C4-4871-BC59-5943C46DEA0D}"/>
              </c:ext>
            </c:extLst>
          </c:dPt>
          <c:dPt>
            <c:idx val="2"/>
            <c:bubble3D val="0"/>
            <c:spPr>
              <a:solidFill>
                <a:srgbClr val="C00000"/>
              </a:solidFill>
              <a:ln w="19050">
                <a:noFill/>
              </a:ln>
              <a:effectLst/>
            </c:spPr>
            <c:extLst>
              <c:ext xmlns:c16="http://schemas.microsoft.com/office/drawing/2014/chart" uri="{C3380CC4-5D6E-409C-BE32-E72D297353CC}">
                <c16:uniqueId val="{00000005-50C4-4871-BC59-5943C46DEA0D}"/>
              </c:ext>
            </c:extLst>
          </c:dPt>
          <c:dPt>
            <c:idx val="3"/>
            <c:bubble3D val="0"/>
            <c:spPr>
              <a:solidFill>
                <a:srgbClr val="C00000"/>
              </a:solidFill>
              <a:ln w="19050">
                <a:noFill/>
              </a:ln>
              <a:effectLst/>
            </c:spPr>
            <c:extLst>
              <c:ext xmlns:c16="http://schemas.microsoft.com/office/drawing/2014/chart" uri="{C3380CC4-5D6E-409C-BE32-E72D297353CC}">
                <c16:uniqueId val="{00000007-50C4-4871-BC59-5943C46DEA0D}"/>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50C4-4871-BC59-5943C46DEA0D}"/>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Sales</c:v>
                </c:pt>
              </c:strCache>
            </c:strRef>
          </c:tx>
          <c:spPr>
            <a:solidFill>
              <a:schemeClr val="accent1"/>
            </a:solidFill>
            <a:ln>
              <a:noFill/>
            </a:ln>
          </c:spPr>
          <c:dPt>
            <c:idx val="0"/>
            <c:bubble3D val="0"/>
            <c:spPr>
              <a:solidFill>
                <a:schemeClr val="bg1"/>
              </a:solidFill>
              <a:ln w="19050">
                <a:noFill/>
              </a:ln>
              <a:effectLst/>
            </c:spPr>
            <c:extLst>
              <c:ext xmlns:c16="http://schemas.microsoft.com/office/drawing/2014/chart" uri="{C3380CC4-5D6E-409C-BE32-E72D297353CC}">
                <c16:uniqueId val="{00000001-3A34-42CE-B687-47694959E5F7}"/>
              </c:ext>
            </c:extLst>
          </c:dPt>
          <c:dPt>
            <c:idx val="1"/>
            <c:bubble3D val="0"/>
            <c:spPr>
              <a:solidFill>
                <a:srgbClr val="FFFFFF"/>
              </a:solidFill>
              <a:ln w="19050">
                <a:noFill/>
              </a:ln>
              <a:effectLst/>
            </c:spPr>
            <c:extLst>
              <c:ext xmlns:c16="http://schemas.microsoft.com/office/drawing/2014/chart" uri="{C3380CC4-5D6E-409C-BE32-E72D297353CC}">
                <c16:uniqueId val="{00000003-3A34-42CE-B687-47694959E5F7}"/>
              </c:ext>
            </c:extLst>
          </c:dPt>
          <c:dPt>
            <c:idx val="2"/>
            <c:bubble3D val="0"/>
            <c:spPr>
              <a:solidFill>
                <a:srgbClr val="C00000"/>
              </a:solidFill>
              <a:ln w="19050">
                <a:noFill/>
              </a:ln>
              <a:effectLst/>
            </c:spPr>
            <c:extLst>
              <c:ext xmlns:c16="http://schemas.microsoft.com/office/drawing/2014/chart" uri="{C3380CC4-5D6E-409C-BE32-E72D297353CC}">
                <c16:uniqueId val="{00000005-3A34-42CE-B687-47694959E5F7}"/>
              </c:ext>
            </c:extLst>
          </c:dPt>
          <c:dPt>
            <c:idx val="3"/>
            <c:bubble3D val="0"/>
            <c:spPr>
              <a:solidFill>
                <a:srgbClr val="C00000"/>
              </a:solidFill>
              <a:ln w="19050">
                <a:noFill/>
              </a:ln>
              <a:effectLst/>
            </c:spPr>
            <c:extLst>
              <c:ext xmlns:c16="http://schemas.microsoft.com/office/drawing/2014/chart" uri="{C3380CC4-5D6E-409C-BE32-E72D297353CC}">
                <c16:uniqueId val="{00000007-3A34-42CE-B687-47694959E5F7}"/>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3A34-42CE-B687-47694959E5F7}"/>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Sales</c:v>
                </c:pt>
              </c:strCache>
            </c:strRef>
          </c:tx>
          <c:spPr>
            <a:solidFill>
              <a:srgbClr val="FF5D39"/>
            </a:solidFill>
            <a:ln>
              <a:noFill/>
            </a:ln>
          </c:spPr>
          <c:dPt>
            <c:idx val="0"/>
            <c:bubble3D val="0"/>
            <c:spPr>
              <a:solidFill>
                <a:schemeClr val="bg1"/>
              </a:solidFill>
              <a:ln w="19050">
                <a:noFill/>
              </a:ln>
              <a:effectLst/>
            </c:spPr>
            <c:extLst>
              <c:ext xmlns:c16="http://schemas.microsoft.com/office/drawing/2014/chart" uri="{C3380CC4-5D6E-409C-BE32-E72D297353CC}">
                <c16:uniqueId val="{00000001-6362-4A91-8722-9655ED968E9A}"/>
              </c:ext>
            </c:extLst>
          </c:dPt>
          <c:dPt>
            <c:idx val="1"/>
            <c:bubble3D val="0"/>
            <c:spPr>
              <a:solidFill>
                <a:srgbClr val="FFFFFF"/>
              </a:solidFill>
              <a:ln w="19050">
                <a:noFill/>
              </a:ln>
              <a:effectLst/>
            </c:spPr>
            <c:extLst>
              <c:ext xmlns:c16="http://schemas.microsoft.com/office/drawing/2014/chart" uri="{C3380CC4-5D6E-409C-BE32-E72D297353CC}">
                <c16:uniqueId val="{00000003-6362-4A91-8722-9655ED968E9A}"/>
              </c:ext>
            </c:extLst>
          </c:dPt>
          <c:dPt>
            <c:idx val="2"/>
            <c:bubble3D val="0"/>
            <c:spPr>
              <a:solidFill>
                <a:srgbClr val="C00000"/>
              </a:solidFill>
              <a:ln w="19050">
                <a:noFill/>
              </a:ln>
              <a:effectLst/>
            </c:spPr>
            <c:extLst>
              <c:ext xmlns:c16="http://schemas.microsoft.com/office/drawing/2014/chart" uri="{C3380CC4-5D6E-409C-BE32-E72D297353CC}">
                <c16:uniqueId val="{00000005-6362-4A91-8722-9655ED968E9A}"/>
              </c:ext>
            </c:extLst>
          </c:dPt>
          <c:dPt>
            <c:idx val="3"/>
            <c:bubble3D val="0"/>
            <c:spPr>
              <a:solidFill>
                <a:srgbClr val="C00000"/>
              </a:solidFill>
              <a:ln w="19050">
                <a:noFill/>
              </a:ln>
              <a:effectLst/>
            </c:spPr>
            <c:extLst>
              <c:ext xmlns:c16="http://schemas.microsoft.com/office/drawing/2014/chart" uri="{C3380CC4-5D6E-409C-BE32-E72D297353CC}">
                <c16:uniqueId val="{00000007-6362-4A91-8722-9655ED968E9A}"/>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6362-4A91-8722-9655ED968E9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Sales</c:v>
                </c:pt>
              </c:strCache>
            </c:strRef>
          </c:tx>
          <c:spPr>
            <a:solidFill>
              <a:srgbClr val="C00000"/>
            </a:solidFill>
            <a:ln>
              <a:noFill/>
            </a:ln>
          </c:spPr>
          <c:dPt>
            <c:idx val="0"/>
            <c:bubble3D val="0"/>
            <c:spPr>
              <a:solidFill>
                <a:srgbClr val="C00000"/>
              </a:solidFill>
              <a:ln w="19050">
                <a:noFill/>
              </a:ln>
              <a:effectLst/>
            </c:spPr>
            <c:extLst>
              <c:ext xmlns:c16="http://schemas.microsoft.com/office/drawing/2014/chart" uri="{C3380CC4-5D6E-409C-BE32-E72D297353CC}">
                <c16:uniqueId val="{00000001-FCEE-4E09-99FF-875474ED5631}"/>
              </c:ext>
            </c:extLst>
          </c:dPt>
          <c:dPt>
            <c:idx val="1"/>
            <c:bubble3D val="0"/>
            <c:spPr>
              <a:solidFill>
                <a:srgbClr val="C00000"/>
              </a:solidFill>
              <a:ln w="19050">
                <a:noFill/>
              </a:ln>
              <a:effectLst/>
            </c:spPr>
            <c:extLst>
              <c:ext xmlns:c16="http://schemas.microsoft.com/office/drawing/2014/chart" uri="{C3380CC4-5D6E-409C-BE32-E72D297353CC}">
                <c16:uniqueId val="{00000003-FCEE-4E09-99FF-875474ED5631}"/>
              </c:ext>
            </c:extLst>
          </c:dPt>
          <c:dPt>
            <c:idx val="2"/>
            <c:bubble3D val="0"/>
            <c:spPr>
              <a:solidFill>
                <a:srgbClr val="C00000"/>
              </a:solidFill>
              <a:ln w="19050">
                <a:noFill/>
              </a:ln>
              <a:effectLst/>
            </c:spPr>
            <c:extLst>
              <c:ext xmlns:c16="http://schemas.microsoft.com/office/drawing/2014/chart" uri="{C3380CC4-5D6E-409C-BE32-E72D297353CC}">
                <c16:uniqueId val="{00000005-FCEE-4E09-99FF-875474ED5631}"/>
              </c:ext>
            </c:extLst>
          </c:dPt>
          <c:dPt>
            <c:idx val="3"/>
            <c:bubble3D val="0"/>
            <c:spPr>
              <a:solidFill>
                <a:srgbClr val="C00000"/>
              </a:solidFill>
              <a:ln w="19050">
                <a:noFill/>
              </a:ln>
              <a:effectLst/>
            </c:spPr>
            <c:extLst>
              <c:ext xmlns:c16="http://schemas.microsoft.com/office/drawing/2014/chart" uri="{C3380CC4-5D6E-409C-BE32-E72D297353CC}">
                <c16:uniqueId val="{00000007-FCEE-4E09-99FF-875474ED5631}"/>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FCEE-4E09-99FF-875474ED5631}"/>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Institutional Holdings</c:v>
                </c:pt>
              </c:strCache>
            </c:strRef>
          </c:tx>
          <c:spPr>
            <a:solidFill>
              <a:schemeClr val="accent1"/>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2017</c:v>
                </c:pt>
                <c:pt idx="1">
                  <c:v>H1 2025</c:v>
                </c:pt>
              </c:strCache>
            </c:strRef>
          </c:cat>
          <c:val>
            <c:numRef>
              <c:f>Sheet1!$B$2:$B$3</c:f>
              <c:numCache>
                <c:formatCode>General</c:formatCode>
                <c:ptCount val="2"/>
                <c:pt idx="0">
                  <c:v>13.3</c:v>
                </c:pt>
                <c:pt idx="1">
                  <c:v>43</c:v>
                </c:pt>
              </c:numCache>
            </c:numRef>
          </c:val>
          <c:extLst>
            <c:ext xmlns:c16="http://schemas.microsoft.com/office/drawing/2014/chart" uri="{C3380CC4-5D6E-409C-BE32-E72D297353CC}">
              <c16:uniqueId val="{00000000-8483-462F-9770-218DB1C380BD}"/>
            </c:ext>
          </c:extLst>
        </c:ser>
        <c:dLbls>
          <c:showLegendKey val="0"/>
          <c:showVal val="1"/>
          <c:showCatName val="0"/>
          <c:showSerName val="0"/>
          <c:showPercent val="0"/>
          <c:showBubbleSize val="0"/>
        </c:dLbls>
        <c:gapWidth val="219"/>
        <c:overlap val="-27"/>
        <c:axId val="2094734554"/>
        <c:axId val="2094734552"/>
      </c:barChart>
      <c:catAx>
        <c:axId val="209473455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269651199709712"/>
          <c:y val="0.30576920761892734"/>
          <c:w val="0.58082133623622256"/>
          <c:h val="0.21799990778316869"/>
        </c:manualLayout>
      </c:layout>
      <c:barChart>
        <c:barDir val="bar"/>
        <c:grouping val="clustered"/>
        <c:varyColors val="0"/>
        <c:ser>
          <c:idx val="1"/>
          <c:order val="0"/>
          <c:tx>
            <c:strRef>
              <c:f>工作表1!$C$1</c:f>
              <c:strCache>
                <c:ptCount val="1"/>
                <c:pt idx="0">
                  <c:v>max</c:v>
                </c:pt>
              </c:strCache>
            </c:strRef>
          </c:tx>
          <c:spPr>
            <a:solidFill>
              <a:schemeClr val="accent2"/>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8D68-404B-AA49-9F7378225FE7}"/>
              </c:ext>
            </c:extLst>
          </c:dPt>
          <c:dPt>
            <c:idx val="1"/>
            <c:invertIfNegative val="0"/>
            <c:bubble3D val="0"/>
            <c:spPr>
              <a:solidFill>
                <a:srgbClr val="C00000"/>
              </a:solidFill>
              <a:ln>
                <a:noFill/>
              </a:ln>
              <a:effectLst/>
            </c:spPr>
            <c:extLst>
              <c:ext xmlns:c16="http://schemas.microsoft.com/office/drawing/2014/chart" uri="{C3380CC4-5D6E-409C-BE32-E72D297353CC}">
                <c16:uniqueId val="{00000003-8D68-404B-AA49-9F7378225FE7}"/>
              </c:ext>
            </c:extLst>
          </c:dPt>
          <c:dLbls>
            <c:dLbl>
              <c:idx val="0"/>
              <c:layout>
                <c:manualLayout>
                  <c:x val="-7.6805612252611845E-3"/>
                  <c:y val="5.288400046014600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D68-404B-AA49-9F7378225FE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C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工作表1!$A$2:$A$3</c:f>
              <c:strCache>
                <c:ptCount val="2"/>
                <c:pt idx="0">
                  <c:v>類別 1</c:v>
                </c:pt>
                <c:pt idx="1">
                  <c:v>類別 2</c:v>
                </c:pt>
              </c:strCache>
            </c:strRef>
          </c:cat>
          <c:val>
            <c:numRef>
              <c:f>工作表1!$C$2:$C$3</c:f>
              <c:numCache>
                <c:formatCode>General</c:formatCode>
                <c:ptCount val="2"/>
                <c:pt idx="0" formatCode="_(* #,##0_);_(* \(#,##0\);_(* &quot;-&quot;??_);_(@_)">
                  <c:v>101.49876</c:v>
                </c:pt>
                <c:pt idx="1">
                  <c:v>106</c:v>
                </c:pt>
              </c:numCache>
            </c:numRef>
          </c:val>
          <c:extLst>
            <c:ext xmlns:c16="http://schemas.microsoft.com/office/drawing/2014/chart" uri="{C3380CC4-5D6E-409C-BE32-E72D297353CC}">
              <c16:uniqueId val="{00000004-8D68-404B-AA49-9F7378225FE7}"/>
            </c:ext>
          </c:extLst>
        </c:ser>
        <c:ser>
          <c:idx val="0"/>
          <c:order val="1"/>
          <c:tx>
            <c:strRef>
              <c:f>工作表1!$B$1</c:f>
              <c:strCache>
                <c:ptCount val="1"/>
                <c:pt idx="0">
                  <c:v>min</c:v>
                </c:pt>
              </c:strCache>
            </c:strRef>
          </c:tx>
          <c:spPr>
            <a:solidFill>
              <a:schemeClr val="accent1"/>
            </a:solidFill>
            <a:ln>
              <a:noFill/>
            </a:ln>
            <a:effectLst/>
          </c:spPr>
          <c:invertIfNegative val="0"/>
          <c:dPt>
            <c:idx val="0"/>
            <c:invertIfNegative val="0"/>
            <c:bubble3D val="0"/>
            <c:spPr>
              <a:solidFill>
                <a:srgbClr val="FFFFFF"/>
              </a:solidFill>
              <a:ln>
                <a:noFill/>
              </a:ln>
              <a:effectLst/>
            </c:spPr>
            <c:extLst>
              <c:ext xmlns:c16="http://schemas.microsoft.com/office/drawing/2014/chart" uri="{C3380CC4-5D6E-409C-BE32-E72D297353CC}">
                <c16:uniqueId val="{00000006-8D68-404B-AA49-9F7378225FE7}"/>
              </c:ext>
            </c:extLst>
          </c:dPt>
          <c:dPt>
            <c:idx val="1"/>
            <c:invertIfNegative val="0"/>
            <c:bubble3D val="0"/>
            <c:spPr>
              <a:solidFill>
                <a:srgbClr val="FFFFFF"/>
              </a:solidFill>
              <a:ln>
                <a:noFill/>
              </a:ln>
              <a:effectLst/>
            </c:spPr>
            <c:extLst>
              <c:ext xmlns:c16="http://schemas.microsoft.com/office/drawing/2014/chart" uri="{C3380CC4-5D6E-409C-BE32-E72D297353CC}">
                <c16:uniqueId val="{00000008-8D68-404B-AA49-9F7378225FE7}"/>
              </c:ext>
            </c:extLst>
          </c:dPt>
          <c:dPt>
            <c:idx val="2"/>
            <c:invertIfNegative val="0"/>
            <c:bubble3D val="0"/>
            <c:spPr>
              <a:solidFill>
                <a:srgbClr val="FFFFFF"/>
              </a:solidFill>
              <a:ln>
                <a:noFill/>
              </a:ln>
              <a:effectLst/>
            </c:spPr>
            <c:extLst>
              <c:ext xmlns:c16="http://schemas.microsoft.com/office/drawing/2014/chart" uri="{C3380CC4-5D6E-409C-BE32-E72D297353CC}">
                <c16:uniqueId val="{0000000A-8D68-404B-AA49-9F7378225FE7}"/>
              </c:ext>
            </c:extLst>
          </c:dPt>
          <c:dPt>
            <c:idx val="3"/>
            <c:invertIfNegative val="0"/>
            <c:bubble3D val="0"/>
            <c:spPr>
              <a:solidFill>
                <a:srgbClr val="FFFFFF"/>
              </a:solidFill>
              <a:ln>
                <a:noFill/>
              </a:ln>
              <a:effectLst/>
            </c:spPr>
            <c:extLst>
              <c:ext xmlns:c16="http://schemas.microsoft.com/office/drawing/2014/chart" uri="{C3380CC4-5D6E-409C-BE32-E72D297353CC}">
                <c16:uniqueId val="{0000000C-8D68-404B-AA49-9F7378225FE7}"/>
              </c:ext>
            </c:extLst>
          </c:dPt>
          <c:dLbls>
            <c:dLbl>
              <c:idx val="1"/>
              <c:layout>
                <c:manualLayout>
                  <c:x val="-3.8348981720869049E-2"/>
                  <c:y val="1.1356752623427642E-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D68-404B-AA49-9F7378225FE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C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工作表1!$A$2:$A$3</c:f>
              <c:strCache>
                <c:ptCount val="2"/>
                <c:pt idx="0">
                  <c:v>類別 1</c:v>
                </c:pt>
                <c:pt idx="1">
                  <c:v>類別 2</c:v>
                </c:pt>
              </c:strCache>
            </c:strRef>
          </c:cat>
          <c:val>
            <c:numRef>
              <c:f>工作表1!$B$2:$B$3</c:f>
              <c:numCache>
                <c:formatCode>General</c:formatCode>
                <c:ptCount val="2"/>
                <c:pt idx="0" formatCode="_(* #,##0_);_(* \(#,##0\);_(* &quot;-&quot;??_);_(@_)">
                  <c:v>96.4953</c:v>
                </c:pt>
                <c:pt idx="1">
                  <c:v>85</c:v>
                </c:pt>
              </c:numCache>
            </c:numRef>
          </c:val>
          <c:extLst>
            <c:ext xmlns:c16="http://schemas.microsoft.com/office/drawing/2014/chart" uri="{C3380CC4-5D6E-409C-BE32-E72D297353CC}">
              <c16:uniqueId val="{0000000D-8D68-404B-AA49-9F7378225FE7}"/>
            </c:ext>
          </c:extLst>
        </c:ser>
        <c:dLbls>
          <c:showLegendKey val="0"/>
          <c:showVal val="0"/>
          <c:showCatName val="0"/>
          <c:showSerName val="0"/>
          <c:showPercent val="0"/>
          <c:showBubbleSize val="0"/>
        </c:dLbls>
        <c:gapWidth val="182"/>
        <c:overlap val="100"/>
        <c:axId val="1181959615"/>
        <c:axId val="1181962495"/>
      </c:barChart>
      <c:catAx>
        <c:axId val="1181959615"/>
        <c:scaling>
          <c:orientation val="maxMin"/>
        </c:scaling>
        <c:delete val="1"/>
        <c:axPos val="l"/>
        <c:numFmt formatCode="General" sourceLinked="1"/>
        <c:majorTickMark val="none"/>
        <c:minorTickMark val="none"/>
        <c:tickLblPos val="nextTo"/>
        <c:crossAx val="1181962495"/>
        <c:crosses val="autoZero"/>
        <c:auto val="1"/>
        <c:lblAlgn val="ctr"/>
        <c:lblOffset val="100"/>
        <c:noMultiLvlLbl val="0"/>
      </c:catAx>
      <c:valAx>
        <c:axId val="1181962495"/>
        <c:scaling>
          <c:orientation val="minMax"/>
        </c:scaling>
        <c:delete val="1"/>
        <c:axPos val="b"/>
        <c:numFmt formatCode="_(* #,##0_);_(* \(#,##0\);_(* &quot;-&quot;??_);_(@_)" sourceLinked="1"/>
        <c:majorTickMark val="in"/>
        <c:minorTickMark val="in"/>
        <c:tickLblPos val="nextTo"/>
        <c:crossAx val="1181959615"/>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522440944881891"/>
          <c:y val="0.60288456973920579"/>
          <c:w val="0.41596305269533607"/>
          <c:h val="0.2353075987804665"/>
        </c:manualLayout>
      </c:layout>
      <c:barChart>
        <c:barDir val="bar"/>
        <c:grouping val="clustered"/>
        <c:varyColors val="0"/>
        <c:ser>
          <c:idx val="1"/>
          <c:order val="0"/>
          <c:tx>
            <c:strRef>
              <c:f>工作表1!$C$1</c:f>
              <c:strCache>
                <c:ptCount val="1"/>
                <c:pt idx="0">
                  <c:v>high</c:v>
                </c:pt>
              </c:strCache>
            </c:strRef>
          </c:tx>
          <c:spPr>
            <a:solidFill>
              <a:schemeClr val="accent2"/>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A-833B-4089-B066-F8186AF8925C}"/>
              </c:ext>
            </c:extLst>
          </c:dPt>
          <c:dPt>
            <c:idx val="1"/>
            <c:invertIfNegative val="0"/>
            <c:bubble3D val="0"/>
            <c:spPr>
              <a:solidFill>
                <a:srgbClr val="C00000"/>
              </a:solidFill>
              <a:ln>
                <a:noFill/>
              </a:ln>
              <a:effectLst/>
            </c:spPr>
            <c:extLst>
              <c:ext xmlns:c16="http://schemas.microsoft.com/office/drawing/2014/chart" uri="{C3380CC4-5D6E-409C-BE32-E72D297353CC}">
                <c16:uniqueId val="{0000000B-833B-4089-B066-F8186AF8925C}"/>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C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工作表1!$A$2:$A$3</c:f>
              <c:strCache>
                <c:ptCount val="2"/>
                <c:pt idx="0">
                  <c:v>類別 1</c:v>
                </c:pt>
                <c:pt idx="1">
                  <c:v>類別 2</c:v>
                </c:pt>
              </c:strCache>
            </c:strRef>
          </c:cat>
          <c:val>
            <c:numRef>
              <c:f>工作表1!$C$2:$C$3</c:f>
              <c:numCache>
                <c:formatCode>General</c:formatCode>
                <c:ptCount val="2"/>
                <c:pt idx="0">
                  <c:v>301</c:v>
                </c:pt>
                <c:pt idx="1">
                  <c:v>192</c:v>
                </c:pt>
              </c:numCache>
            </c:numRef>
          </c:val>
          <c:extLst>
            <c:ext xmlns:c16="http://schemas.microsoft.com/office/drawing/2014/chart" uri="{C3380CC4-5D6E-409C-BE32-E72D297353CC}">
              <c16:uniqueId val="{00000000-833B-4089-B066-F8186AF8925C}"/>
            </c:ext>
          </c:extLst>
        </c:ser>
        <c:ser>
          <c:idx val="0"/>
          <c:order val="1"/>
          <c:tx>
            <c:strRef>
              <c:f>工作表1!$B$1</c:f>
              <c:strCache>
                <c:ptCount val="1"/>
                <c:pt idx="0">
                  <c:v>mid</c:v>
                </c:pt>
              </c:strCache>
            </c:strRef>
          </c:tx>
          <c:spPr>
            <a:solidFill>
              <a:schemeClr val="accent1"/>
            </a:solidFill>
            <a:ln>
              <a:noFill/>
            </a:ln>
            <a:effectLst/>
          </c:spPr>
          <c:invertIfNegative val="0"/>
          <c:dPt>
            <c:idx val="0"/>
            <c:invertIfNegative val="0"/>
            <c:bubble3D val="0"/>
            <c:spPr>
              <a:solidFill>
                <a:srgbClr val="FFFFFF"/>
              </a:solidFill>
              <a:ln>
                <a:noFill/>
              </a:ln>
              <a:effectLst/>
            </c:spPr>
            <c:extLst>
              <c:ext xmlns:c16="http://schemas.microsoft.com/office/drawing/2014/chart" uri="{C3380CC4-5D6E-409C-BE32-E72D297353CC}">
                <c16:uniqueId val="{00000002-833B-4089-B066-F8186AF8925C}"/>
              </c:ext>
            </c:extLst>
          </c:dPt>
          <c:dPt>
            <c:idx val="1"/>
            <c:invertIfNegative val="0"/>
            <c:bubble3D val="0"/>
            <c:spPr>
              <a:solidFill>
                <a:srgbClr val="FFFFFF"/>
              </a:solidFill>
              <a:ln>
                <a:noFill/>
              </a:ln>
              <a:effectLst/>
            </c:spPr>
            <c:extLst>
              <c:ext xmlns:c16="http://schemas.microsoft.com/office/drawing/2014/chart" uri="{C3380CC4-5D6E-409C-BE32-E72D297353CC}">
                <c16:uniqueId val="{00000004-833B-4089-B066-F8186AF8925C}"/>
              </c:ext>
            </c:extLst>
          </c:dPt>
          <c:dPt>
            <c:idx val="2"/>
            <c:invertIfNegative val="0"/>
            <c:bubble3D val="0"/>
            <c:spPr>
              <a:solidFill>
                <a:srgbClr val="FFFFFF"/>
              </a:solidFill>
              <a:ln>
                <a:noFill/>
              </a:ln>
              <a:effectLst/>
            </c:spPr>
            <c:extLst>
              <c:ext xmlns:c16="http://schemas.microsoft.com/office/drawing/2014/chart" uri="{C3380CC4-5D6E-409C-BE32-E72D297353CC}">
                <c16:uniqueId val="{00000006-833B-4089-B066-F8186AF8925C}"/>
              </c:ext>
            </c:extLst>
          </c:dPt>
          <c:dPt>
            <c:idx val="3"/>
            <c:invertIfNegative val="0"/>
            <c:bubble3D val="0"/>
            <c:spPr>
              <a:solidFill>
                <a:srgbClr val="FFFFFF"/>
              </a:solidFill>
              <a:ln>
                <a:noFill/>
              </a:ln>
              <a:effectLst/>
            </c:spPr>
            <c:extLst>
              <c:ext xmlns:c16="http://schemas.microsoft.com/office/drawing/2014/chart" uri="{C3380CC4-5D6E-409C-BE32-E72D297353CC}">
                <c16:uniqueId val="{00000008-833B-4089-B066-F8186AF8925C}"/>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C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工作表1!$A$2:$A$3</c:f>
              <c:strCache>
                <c:ptCount val="2"/>
                <c:pt idx="0">
                  <c:v>類別 1</c:v>
                </c:pt>
                <c:pt idx="1">
                  <c:v>類別 2</c:v>
                </c:pt>
              </c:strCache>
            </c:strRef>
          </c:cat>
          <c:val>
            <c:numRef>
              <c:f>工作表1!$B$2:$B$3</c:f>
              <c:numCache>
                <c:formatCode>General</c:formatCode>
                <c:ptCount val="2"/>
                <c:pt idx="0">
                  <c:v>201</c:v>
                </c:pt>
                <c:pt idx="1">
                  <c:v>128</c:v>
                </c:pt>
              </c:numCache>
            </c:numRef>
          </c:val>
          <c:extLst>
            <c:ext xmlns:c16="http://schemas.microsoft.com/office/drawing/2014/chart" uri="{C3380CC4-5D6E-409C-BE32-E72D297353CC}">
              <c16:uniqueId val="{00000009-833B-4089-B066-F8186AF8925C}"/>
            </c:ext>
          </c:extLst>
        </c:ser>
        <c:dLbls>
          <c:showLegendKey val="0"/>
          <c:showVal val="0"/>
          <c:showCatName val="0"/>
          <c:showSerName val="0"/>
          <c:showPercent val="0"/>
          <c:showBubbleSize val="0"/>
        </c:dLbls>
        <c:gapWidth val="182"/>
        <c:overlap val="100"/>
        <c:axId val="1181959615"/>
        <c:axId val="1181962495"/>
      </c:barChart>
      <c:catAx>
        <c:axId val="1181959615"/>
        <c:scaling>
          <c:orientation val="maxMin"/>
        </c:scaling>
        <c:delete val="1"/>
        <c:axPos val="l"/>
        <c:numFmt formatCode="General" sourceLinked="1"/>
        <c:majorTickMark val="none"/>
        <c:minorTickMark val="none"/>
        <c:tickLblPos val="nextTo"/>
        <c:crossAx val="1181962495"/>
        <c:crosses val="autoZero"/>
        <c:auto val="1"/>
        <c:lblAlgn val="ctr"/>
        <c:lblOffset val="100"/>
        <c:noMultiLvlLbl val="0"/>
      </c:catAx>
      <c:valAx>
        <c:axId val="1181962495"/>
        <c:scaling>
          <c:orientation val="minMax"/>
        </c:scaling>
        <c:delete val="1"/>
        <c:axPos val="b"/>
        <c:numFmt formatCode="General" sourceLinked="1"/>
        <c:majorTickMark val="in"/>
        <c:minorTickMark val="in"/>
        <c:tickLblPos val="nextTo"/>
        <c:crossAx val="1181959615"/>
        <c:crosses val="max"/>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0.56207</cdr:x>
      <cdr:y>0.47884</cdr:y>
    </cdr:from>
    <cdr:to>
      <cdr:x>0.62268</cdr:x>
      <cdr:y>0.52428</cdr:y>
    </cdr:to>
    <cdr:sp macro="" textlink="">
      <cdr:nvSpPr>
        <cdr:cNvPr id="2" name="文字方塊 55">
          <a:extLst xmlns:a="http://schemas.openxmlformats.org/drawingml/2006/main">
            <a:ext uri="{FF2B5EF4-FFF2-40B4-BE49-F238E27FC236}">
              <a16:creationId xmlns:a16="http://schemas.microsoft.com/office/drawing/2014/main" id="{EB2F30CE-0D33-E122-0748-822DC229DDBC}"/>
            </a:ext>
          </a:extLst>
        </cdr:cNvPr>
        <cdr:cNvSpPr txBox="1"/>
      </cdr:nvSpPr>
      <cdr:spPr>
        <a:xfrm xmlns:a="http://schemas.openxmlformats.org/drawingml/2006/main">
          <a:off x="4647012" y="2108182"/>
          <a:ext cx="501049" cy="200055"/>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r>
            <a:rPr lang="en-US" sz="700" dirty="0">
              <a:solidFill>
                <a:schemeClr val="bg2">
                  <a:lumMod val="75000"/>
                </a:schemeClr>
              </a:solidFill>
            </a:rPr>
            <a:t>Mid</a:t>
          </a:r>
        </a:p>
      </cdr:txBody>
    </cdr:sp>
  </cdr:relSizeAnchor>
  <cdr:relSizeAnchor xmlns:cdr="http://schemas.openxmlformats.org/drawingml/2006/chartDrawing">
    <cdr:from>
      <cdr:x>0.66114</cdr:x>
      <cdr:y>0.47884</cdr:y>
    </cdr:from>
    <cdr:to>
      <cdr:x>0.72174</cdr:x>
      <cdr:y>0.52428</cdr:y>
    </cdr:to>
    <cdr:sp macro="" textlink="">
      <cdr:nvSpPr>
        <cdr:cNvPr id="3" name="文字方塊 56">
          <a:extLst xmlns:a="http://schemas.openxmlformats.org/drawingml/2006/main">
            <a:ext uri="{FF2B5EF4-FFF2-40B4-BE49-F238E27FC236}">
              <a16:creationId xmlns:a16="http://schemas.microsoft.com/office/drawing/2014/main" id="{9C63F4C2-EC3B-B497-6E8D-0D16F44D6113}"/>
            </a:ext>
          </a:extLst>
        </cdr:cNvPr>
        <cdr:cNvSpPr txBox="1"/>
      </cdr:nvSpPr>
      <cdr:spPr>
        <a:xfrm xmlns:a="http://schemas.openxmlformats.org/drawingml/2006/main">
          <a:off x="5466023" y="2108182"/>
          <a:ext cx="501049" cy="200055"/>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r>
            <a:rPr lang="en-US" sz="700" dirty="0">
              <a:solidFill>
                <a:schemeClr val="bg2">
                  <a:lumMod val="75000"/>
                </a:schemeClr>
              </a:solidFill>
            </a:rPr>
            <a:t>High</a:t>
          </a:r>
        </a:p>
      </cdr:txBody>
    </cdr:sp>
  </cdr:relSizeAnchor>
  <cdr:relSizeAnchor xmlns:cdr="http://schemas.openxmlformats.org/drawingml/2006/chartDrawing">
    <cdr:from>
      <cdr:x>0.60058</cdr:x>
      <cdr:y>0.36379</cdr:y>
    </cdr:from>
    <cdr:to>
      <cdr:x>0.66119</cdr:x>
      <cdr:y>0.40923</cdr:y>
    </cdr:to>
    <cdr:sp macro="" textlink="">
      <cdr:nvSpPr>
        <cdr:cNvPr id="4" name="文字方塊 55">
          <a:extLst xmlns:a="http://schemas.openxmlformats.org/drawingml/2006/main">
            <a:ext uri="{FF2B5EF4-FFF2-40B4-BE49-F238E27FC236}">
              <a16:creationId xmlns:a16="http://schemas.microsoft.com/office/drawing/2014/main" id="{D6F9379A-D0A0-3F0C-FC4E-9E6D2FC5110A}"/>
            </a:ext>
          </a:extLst>
        </cdr:cNvPr>
        <cdr:cNvSpPr txBox="1"/>
      </cdr:nvSpPr>
      <cdr:spPr>
        <a:xfrm xmlns:a="http://schemas.openxmlformats.org/drawingml/2006/main">
          <a:off x="4965406" y="1601646"/>
          <a:ext cx="501049" cy="200055"/>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indent="0" algn="l" rtl="0" fontAlgn="base">
            <a:spcBef>
              <a:spcPct val="0"/>
            </a:spcBef>
            <a:spcAft>
              <a:spcPct val="0"/>
            </a:spcAft>
            <a:defRPr sz="2400" b="1" kern="1200">
              <a:solidFill>
                <a:schemeClr val="bg2"/>
              </a:solidFill>
              <a:latin typeface="Arial" charset="0"/>
              <a:ea typeface="+mn-ea"/>
              <a:cs typeface="Arial" charset="0"/>
            </a:defRPr>
          </a:lvl1pPr>
          <a:lvl2pPr marL="457200" indent="0" algn="l" rtl="0" fontAlgn="base">
            <a:spcBef>
              <a:spcPct val="0"/>
            </a:spcBef>
            <a:spcAft>
              <a:spcPct val="0"/>
            </a:spcAft>
            <a:defRPr sz="2400" b="1" kern="1200">
              <a:solidFill>
                <a:schemeClr val="bg2"/>
              </a:solidFill>
              <a:latin typeface="Arial" charset="0"/>
              <a:ea typeface="+mn-ea"/>
              <a:cs typeface="Arial" charset="0"/>
            </a:defRPr>
          </a:lvl2pPr>
          <a:lvl3pPr marL="914400" indent="0" algn="l" rtl="0" fontAlgn="base">
            <a:spcBef>
              <a:spcPct val="0"/>
            </a:spcBef>
            <a:spcAft>
              <a:spcPct val="0"/>
            </a:spcAft>
            <a:defRPr sz="2400" b="1" kern="1200">
              <a:solidFill>
                <a:schemeClr val="bg2"/>
              </a:solidFill>
              <a:latin typeface="Arial" charset="0"/>
              <a:ea typeface="+mn-ea"/>
              <a:cs typeface="Arial" charset="0"/>
            </a:defRPr>
          </a:lvl3pPr>
          <a:lvl4pPr marL="1371600" indent="0" algn="l" rtl="0" fontAlgn="base">
            <a:spcBef>
              <a:spcPct val="0"/>
            </a:spcBef>
            <a:spcAft>
              <a:spcPct val="0"/>
            </a:spcAft>
            <a:defRPr sz="2400" b="1" kern="1200">
              <a:solidFill>
                <a:schemeClr val="bg2"/>
              </a:solidFill>
              <a:latin typeface="Arial" charset="0"/>
              <a:ea typeface="+mn-ea"/>
              <a:cs typeface="Arial" charset="0"/>
            </a:defRPr>
          </a:lvl4pPr>
          <a:lvl5pPr marL="1828800" indent="0" algn="l" rtl="0" fontAlgn="base">
            <a:spcBef>
              <a:spcPct val="0"/>
            </a:spcBef>
            <a:spcAft>
              <a:spcPct val="0"/>
            </a:spcAft>
            <a:defRPr sz="2400" b="1" kern="1200">
              <a:solidFill>
                <a:schemeClr val="bg2"/>
              </a:solidFill>
              <a:latin typeface="Arial" charset="0"/>
              <a:ea typeface="+mn-ea"/>
              <a:cs typeface="Arial" charset="0"/>
            </a:defRPr>
          </a:lvl5pPr>
          <a:lvl6pPr marL="2286000" indent="0" algn="l" defTabSz="914400" rtl="0" eaLnBrk="1" latinLnBrk="0" hangingPunct="1">
            <a:defRPr sz="2400" b="1" kern="1200">
              <a:solidFill>
                <a:schemeClr val="bg2"/>
              </a:solidFill>
              <a:latin typeface="Arial" charset="0"/>
              <a:ea typeface="+mn-ea"/>
              <a:cs typeface="Arial" charset="0"/>
            </a:defRPr>
          </a:lvl6pPr>
          <a:lvl7pPr marL="2743200" indent="0" algn="l" defTabSz="914400" rtl="0" eaLnBrk="1" latinLnBrk="0" hangingPunct="1">
            <a:defRPr sz="2400" b="1" kern="1200">
              <a:solidFill>
                <a:schemeClr val="bg2"/>
              </a:solidFill>
              <a:latin typeface="Arial" charset="0"/>
              <a:ea typeface="+mn-ea"/>
              <a:cs typeface="Arial" charset="0"/>
            </a:defRPr>
          </a:lvl7pPr>
          <a:lvl8pPr marL="3200400" indent="0" algn="l" defTabSz="914400" rtl="0" eaLnBrk="1" latinLnBrk="0" hangingPunct="1">
            <a:defRPr sz="2400" b="1" kern="1200">
              <a:solidFill>
                <a:schemeClr val="bg2"/>
              </a:solidFill>
              <a:latin typeface="Arial" charset="0"/>
              <a:ea typeface="+mn-ea"/>
              <a:cs typeface="Arial" charset="0"/>
            </a:defRPr>
          </a:lvl8pPr>
          <a:lvl9pPr marL="3657600" indent="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r>
            <a:rPr lang="en-US" sz="700" dirty="0">
              <a:solidFill>
                <a:schemeClr val="bg2">
                  <a:lumMod val="75000"/>
                </a:schemeClr>
              </a:solidFill>
            </a:rPr>
            <a:t>Mid</a:t>
          </a:r>
        </a:p>
      </cdr:txBody>
    </cdr:sp>
  </cdr:relSizeAnchor>
  <cdr:relSizeAnchor xmlns:cdr="http://schemas.openxmlformats.org/drawingml/2006/chartDrawing">
    <cdr:from>
      <cdr:x>0.65622</cdr:x>
      <cdr:y>0.36466</cdr:y>
    </cdr:from>
    <cdr:to>
      <cdr:x>0.71683</cdr:x>
      <cdr:y>0.4101</cdr:y>
    </cdr:to>
    <cdr:sp macro="" textlink="">
      <cdr:nvSpPr>
        <cdr:cNvPr id="5" name="文字方塊 56">
          <a:extLst xmlns:a="http://schemas.openxmlformats.org/drawingml/2006/main">
            <a:ext uri="{FF2B5EF4-FFF2-40B4-BE49-F238E27FC236}">
              <a16:creationId xmlns:a16="http://schemas.microsoft.com/office/drawing/2014/main" id="{B23684CA-021C-03A5-8D11-13E11FB875FC}"/>
            </a:ext>
          </a:extLst>
        </cdr:cNvPr>
        <cdr:cNvSpPr txBox="1"/>
      </cdr:nvSpPr>
      <cdr:spPr>
        <a:xfrm xmlns:a="http://schemas.openxmlformats.org/drawingml/2006/main">
          <a:off x="5425347" y="1605490"/>
          <a:ext cx="501100" cy="200057"/>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indent="0" algn="l" rtl="0" fontAlgn="base">
            <a:spcBef>
              <a:spcPct val="0"/>
            </a:spcBef>
            <a:spcAft>
              <a:spcPct val="0"/>
            </a:spcAft>
            <a:defRPr sz="2400" b="1" kern="1200">
              <a:solidFill>
                <a:schemeClr val="bg2"/>
              </a:solidFill>
              <a:latin typeface="Arial" charset="0"/>
              <a:ea typeface="+mn-ea"/>
              <a:cs typeface="Arial" charset="0"/>
            </a:defRPr>
          </a:lvl1pPr>
          <a:lvl2pPr marL="457200" indent="0" algn="l" rtl="0" fontAlgn="base">
            <a:spcBef>
              <a:spcPct val="0"/>
            </a:spcBef>
            <a:spcAft>
              <a:spcPct val="0"/>
            </a:spcAft>
            <a:defRPr sz="2400" b="1" kern="1200">
              <a:solidFill>
                <a:schemeClr val="bg2"/>
              </a:solidFill>
              <a:latin typeface="Arial" charset="0"/>
              <a:ea typeface="+mn-ea"/>
              <a:cs typeface="Arial" charset="0"/>
            </a:defRPr>
          </a:lvl2pPr>
          <a:lvl3pPr marL="914400" indent="0" algn="l" rtl="0" fontAlgn="base">
            <a:spcBef>
              <a:spcPct val="0"/>
            </a:spcBef>
            <a:spcAft>
              <a:spcPct val="0"/>
            </a:spcAft>
            <a:defRPr sz="2400" b="1" kern="1200">
              <a:solidFill>
                <a:schemeClr val="bg2"/>
              </a:solidFill>
              <a:latin typeface="Arial" charset="0"/>
              <a:ea typeface="+mn-ea"/>
              <a:cs typeface="Arial" charset="0"/>
            </a:defRPr>
          </a:lvl3pPr>
          <a:lvl4pPr marL="1371600" indent="0" algn="l" rtl="0" fontAlgn="base">
            <a:spcBef>
              <a:spcPct val="0"/>
            </a:spcBef>
            <a:spcAft>
              <a:spcPct val="0"/>
            </a:spcAft>
            <a:defRPr sz="2400" b="1" kern="1200">
              <a:solidFill>
                <a:schemeClr val="bg2"/>
              </a:solidFill>
              <a:latin typeface="Arial" charset="0"/>
              <a:ea typeface="+mn-ea"/>
              <a:cs typeface="Arial" charset="0"/>
            </a:defRPr>
          </a:lvl4pPr>
          <a:lvl5pPr marL="1828800" indent="0" algn="l" rtl="0" fontAlgn="base">
            <a:spcBef>
              <a:spcPct val="0"/>
            </a:spcBef>
            <a:spcAft>
              <a:spcPct val="0"/>
            </a:spcAft>
            <a:defRPr sz="2400" b="1" kern="1200">
              <a:solidFill>
                <a:schemeClr val="bg2"/>
              </a:solidFill>
              <a:latin typeface="Arial" charset="0"/>
              <a:ea typeface="+mn-ea"/>
              <a:cs typeface="Arial" charset="0"/>
            </a:defRPr>
          </a:lvl5pPr>
          <a:lvl6pPr marL="2286000" indent="0" algn="l" defTabSz="914400" rtl="0" eaLnBrk="1" latinLnBrk="0" hangingPunct="1">
            <a:defRPr sz="2400" b="1" kern="1200">
              <a:solidFill>
                <a:schemeClr val="bg2"/>
              </a:solidFill>
              <a:latin typeface="Arial" charset="0"/>
              <a:ea typeface="+mn-ea"/>
              <a:cs typeface="Arial" charset="0"/>
            </a:defRPr>
          </a:lvl6pPr>
          <a:lvl7pPr marL="2743200" indent="0" algn="l" defTabSz="914400" rtl="0" eaLnBrk="1" latinLnBrk="0" hangingPunct="1">
            <a:defRPr sz="2400" b="1" kern="1200">
              <a:solidFill>
                <a:schemeClr val="bg2"/>
              </a:solidFill>
              <a:latin typeface="Arial" charset="0"/>
              <a:ea typeface="+mn-ea"/>
              <a:cs typeface="Arial" charset="0"/>
            </a:defRPr>
          </a:lvl7pPr>
          <a:lvl8pPr marL="3200400" indent="0" algn="l" defTabSz="914400" rtl="0" eaLnBrk="1" latinLnBrk="0" hangingPunct="1">
            <a:defRPr sz="2400" b="1" kern="1200">
              <a:solidFill>
                <a:schemeClr val="bg2"/>
              </a:solidFill>
              <a:latin typeface="Arial" charset="0"/>
              <a:ea typeface="+mn-ea"/>
              <a:cs typeface="Arial" charset="0"/>
            </a:defRPr>
          </a:lvl8pPr>
          <a:lvl9pPr marL="3657600" indent="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r>
            <a:rPr lang="en-US" sz="700" dirty="0">
              <a:solidFill>
                <a:schemeClr val="bg2">
                  <a:lumMod val="75000"/>
                </a:schemeClr>
              </a:solidFill>
            </a:rPr>
            <a:t>High</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13" y="14"/>
            <a:ext cx="4033823" cy="350769"/>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defTabSz="982656">
              <a:defRPr sz="1200" b="0">
                <a:solidFill>
                  <a:schemeClr val="tx1"/>
                </a:solidFill>
              </a:defRPr>
            </a:lvl1pPr>
          </a:lstStyle>
          <a:p>
            <a:endParaRPr lang="en-US"/>
          </a:p>
        </p:txBody>
      </p:sp>
      <p:sp>
        <p:nvSpPr>
          <p:cNvPr id="32771" name="Rectangle 3"/>
          <p:cNvSpPr>
            <a:spLocks noGrp="1" noChangeArrowheads="1"/>
          </p:cNvSpPr>
          <p:nvPr>
            <p:ph type="dt" sz="quarter" idx="1"/>
          </p:nvPr>
        </p:nvSpPr>
        <p:spPr bwMode="auto">
          <a:xfrm>
            <a:off x="5269916" y="14"/>
            <a:ext cx="4033822" cy="350769"/>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algn="r" defTabSz="982656">
              <a:defRPr sz="1200" b="0">
                <a:solidFill>
                  <a:schemeClr val="tx1"/>
                </a:solidFill>
              </a:defRPr>
            </a:lvl1pPr>
          </a:lstStyle>
          <a:p>
            <a:endParaRPr lang="en-US"/>
          </a:p>
        </p:txBody>
      </p:sp>
      <p:sp>
        <p:nvSpPr>
          <p:cNvPr id="32772" name="Rectangle 4"/>
          <p:cNvSpPr>
            <a:spLocks noGrp="1" noChangeArrowheads="1"/>
          </p:cNvSpPr>
          <p:nvPr>
            <p:ph type="ftr" sz="quarter" idx="2"/>
          </p:nvPr>
        </p:nvSpPr>
        <p:spPr bwMode="auto">
          <a:xfrm>
            <a:off x="13" y="6668028"/>
            <a:ext cx="4033823" cy="350769"/>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defTabSz="982656">
              <a:defRPr sz="1200" b="0">
                <a:solidFill>
                  <a:schemeClr val="tx1"/>
                </a:solidFill>
              </a:defRPr>
            </a:lvl1pPr>
          </a:lstStyle>
          <a:p>
            <a:endParaRPr lang="en-US"/>
          </a:p>
        </p:txBody>
      </p:sp>
      <p:sp>
        <p:nvSpPr>
          <p:cNvPr id="32773" name="Rectangle 5"/>
          <p:cNvSpPr>
            <a:spLocks noGrp="1" noChangeArrowheads="1"/>
          </p:cNvSpPr>
          <p:nvPr>
            <p:ph type="sldNum" sz="quarter" idx="3"/>
          </p:nvPr>
        </p:nvSpPr>
        <p:spPr bwMode="auto">
          <a:xfrm>
            <a:off x="5269916" y="6317259"/>
            <a:ext cx="4033822" cy="350769"/>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algn="r" defTabSz="982656">
              <a:defRPr sz="1200" b="0">
                <a:solidFill>
                  <a:schemeClr val="tx1"/>
                </a:solidFill>
              </a:defRPr>
            </a:lvl1pPr>
          </a:lstStyle>
          <a:p>
            <a:fld id="{6BDA94E7-9D81-40A4-AE72-6D574768819A}"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13" y="14"/>
            <a:ext cx="4033823" cy="350769"/>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defTabSz="982656">
              <a:defRPr sz="1200" b="0">
                <a:solidFill>
                  <a:schemeClr val="tx1"/>
                </a:solidFill>
              </a:defRPr>
            </a:lvl1pPr>
          </a:lstStyle>
          <a:p>
            <a:endParaRPr lang="en-US"/>
          </a:p>
        </p:txBody>
      </p:sp>
      <p:sp>
        <p:nvSpPr>
          <p:cNvPr id="20483" name="Rectangle 3"/>
          <p:cNvSpPr>
            <a:spLocks noGrp="1" noChangeArrowheads="1"/>
          </p:cNvSpPr>
          <p:nvPr>
            <p:ph type="dt" idx="1"/>
          </p:nvPr>
        </p:nvSpPr>
        <p:spPr bwMode="auto">
          <a:xfrm>
            <a:off x="5269916" y="14"/>
            <a:ext cx="4033822" cy="350769"/>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algn="r" defTabSz="982656">
              <a:defRPr sz="1200" b="0">
                <a:solidFill>
                  <a:schemeClr val="tx1"/>
                </a:solidFill>
              </a:defRPr>
            </a:lvl1pPr>
          </a:lstStyle>
          <a:p>
            <a:endParaRPr lang="en-US"/>
          </a:p>
        </p:txBody>
      </p:sp>
      <p:sp>
        <p:nvSpPr>
          <p:cNvPr id="49156" name="Rectangle 4"/>
          <p:cNvSpPr>
            <a:spLocks noGrp="1" noRot="1" noChangeAspect="1" noChangeArrowheads="1" noTextEdit="1"/>
          </p:cNvSpPr>
          <p:nvPr>
            <p:ph type="sldImg" idx="2"/>
          </p:nvPr>
        </p:nvSpPr>
        <p:spPr bwMode="auto">
          <a:xfrm>
            <a:off x="2754313" y="527050"/>
            <a:ext cx="3802062" cy="2633663"/>
          </a:xfrm>
          <a:prstGeom prst="rect">
            <a:avLst/>
          </a:prstGeom>
          <a:noFill/>
          <a:ln w="9525">
            <a:solidFill>
              <a:srgbClr val="000000"/>
            </a:solidFill>
            <a:miter lim="800000"/>
            <a:headEnd/>
            <a:tailEnd/>
          </a:ln>
        </p:spPr>
      </p:sp>
      <p:sp>
        <p:nvSpPr>
          <p:cNvPr id="20485" name="Rectangle 5"/>
          <p:cNvSpPr>
            <a:spLocks noGrp="1" noChangeArrowheads="1"/>
          </p:cNvSpPr>
          <p:nvPr>
            <p:ph type="body" sz="quarter" idx="3"/>
          </p:nvPr>
        </p:nvSpPr>
        <p:spPr bwMode="auto">
          <a:xfrm>
            <a:off x="930391" y="3336310"/>
            <a:ext cx="7445185" cy="3156909"/>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486" name="Rectangle 6"/>
          <p:cNvSpPr>
            <a:spLocks noGrp="1" noChangeArrowheads="1"/>
          </p:cNvSpPr>
          <p:nvPr>
            <p:ph type="ftr" sz="quarter" idx="4"/>
          </p:nvPr>
        </p:nvSpPr>
        <p:spPr bwMode="auto">
          <a:xfrm>
            <a:off x="13" y="6668028"/>
            <a:ext cx="4033823" cy="350769"/>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defTabSz="982656">
              <a:defRPr sz="1200" b="0">
                <a:solidFill>
                  <a:schemeClr val="tx1"/>
                </a:solidFill>
              </a:defRPr>
            </a:lvl1pPr>
          </a:lstStyle>
          <a:p>
            <a:endParaRPr lang="en-US"/>
          </a:p>
        </p:txBody>
      </p:sp>
      <p:sp>
        <p:nvSpPr>
          <p:cNvPr id="20487" name="Rectangle 7"/>
          <p:cNvSpPr>
            <a:spLocks noGrp="1" noChangeArrowheads="1"/>
          </p:cNvSpPr>
          <p:nvPr>
            <p:ph type="sldNum" sz="quarter" idx="5"/>
          </p:nvPr>
        </p:nvSpPr>
        <p:spPr bwMode="auto">
          <a:xfrm>
            <a:off x="5269916" y="6668028"/>
            <a:ext cx="4033822" cy="350769"/>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algn="r" defTabSz="982656">
              <a:defRPr sz="1200" b="0">
                <a:solidFill>
                  <a:schemeClr val="tx1"/>
                </a:solidFill>
              </a:defRPr>
            </a:lvl1pPr>
          </a:lstStyle>
          <a:p>
            <a:fld id="{A4DF32EF-BEE2-467E-A20C-05D0FECFF7E5}"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1</a:t>
            </a:fld>
            <a:endParaRPr lang="en-US"/>
          </a:p>
        </p:txBody>
      </p:sp>
    </p:spTree>
    <p:extLst>
      <p:ext uri="{BB962C8B-B14F-4D97-AF65-F5344CB8AC3E}">
        <p14:creationId xmlns:p14="http://schemas.microsoft.com/office/powerpoint/2010/main" val="300386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3</a:t>
            </a:fld>
            <a:endParaRPr lang="en-US"/>
          </a:p>
        </p:txBody>
      </p:sp>
    </p:spTree>
    <p:extLst>
      <p:ext uri="{BB962C8B-B14F-4D97-AF65-F5344CB8AC3E}">
        <p14:creationId xmlns:p14="http://schemas.microsoft.com/office/powerpoint/2010/main" val="1506069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4</a:t>
            </a:fld>
            <a:endParaRPr lang="en-US"/>
          </a:p>
        </p:txBody>
      </p:sp>
    </p:spTree>
    <p:extLst>
      <p:ext uri="{BB962C8B-B14F-4D97-AF65-F5344CB8AC3E}">
        <p14:creationId xmlns:p14="http://schemas.microsoft.com/office/powerpoint/2010/main" val="1669962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2F32F7C2-B728-43A7-95C5-D9D7C0CA4FA7}"/>
              </a:ext>
            </a:extLst>
          </p:cNvPr>
          <p:cNvSpPr txBox="1">
            <a:spLocks noGrp="1" noChangeArrowheads="1"/>
          </p:cNvSpPr>
          <p:nvPr/>
        </p:nvSpPr>
        <p:spPr bwMode="auto">
          <a:xfrm>
            <a:off x="3855885" y="9437646"/>
            <a:ext cx="2948240" cy="498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31" tIns="45269" rIns="90531" bIns="45269" anchor="b"/>
          <a:lstStyle>
            <a:lvl1pPr defTabSz="906463">
              <a:defRPr sz="2000">
                <a:solidFill>
                  <a:schemeClr val="tx1"/>
                </a:solidFill>
                <a:latin typeface="Arial" panose="020B0604020202020204" pitchFamily="34" charset="0"/>
              </a:defRPr>
            </a:lvl1pPr>
            <a:lvl2pPr marL="742950" indent="-285750" defTabSz="906463">
              <a:defRPr sz="2000">
                <a:solidFill>
                  <a:schemeClr val="tx1"/>
                </a:solidFill>
                <a:latin typeface="Arial" panose="020B0604020202020204" pitchFamily="34" charset="0"/>
              </a:defRPr>
            </a:lvl2pPr>
            <a:lvl3pPr marL="1143000" indent="-228600" defTabSz="906463">
              <a:defRPr sz="2000">
                <a:solidFill>
                  <a:schemeClr val="tx1"/>
                </a:solidFill>
                <a:latin typeface="Arial" panose="020B0604020202020204" pitchFamily="34" charset="0"/>
              </a:defRPr>
            </a:lvl3pPr>
            <a:lvl4pPr marL="1600200" indent="-228600" defTabSz="906463">
              <a:defRPr sz="2000">
                <a:solidFill>
                  <a:schemeClr val="tx1"/>
                </a:solidFill>
                <a:latin typeface="Arial" panose="020B0604020202020204" pitchFamily="34" charset="0"/>
              </a:defRPr>
            </a:lvl4pPr>
            <a:lvl5pPr marL="2057400" indent="-228600" defTabSz="906463">
              <a:defRPr sz="2000">
                <a:solidFill>
                  <a:schemeClr val="tx1"/>
                </a:solidFill>
                <a:latin typeface="Arial" panose="020B0604020202020204" pitchFamily="34" charset="0"/>
              </a:defRPr>
            </a:lvl5pPr>
            <a:lvl6pPr marL="2514600" indent="-228600" defTabSz="906463"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06463"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06463"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06463" eaLnBrk="0" fontAlgn="base" hangingPunct="0">
              <a:spcBef>
                <a:spcPct val="0"/>
              </a:spcBef>
              <a:spcAft>
                <a:spcPct val="0"/>
              </a:spcAft>
              <a:defRPr sz="2000">
                <a:solidFill>
                  <a:schemeClr val="tx1"/>
                </a:solidFill>
                <a:latin typeface="Arial" panose="020B0604020202020204" pitchFamily="34" charset="0"/>
              </a:defRPr>
            </a:lvl9pPr>
          </a:lstStyle>
          <a:p>
            <a:pPr marL="0" marR="0" lvl="0" indent="0" algn="r" defTabSz="906372" rtl="0" eaLnBrk="1" fontAlgn="base" latinLnBrk="0" hangingPunct="1">
              <a:lnSpc>
                <a:spcPct val="100000"/>
              </a:lnSpc>
              <a:spcBef>
                <a:spcPct val="0"/>
              </a:spcBef>
              <a:spcAft>
                <a:spcPct val="0"/>
              </a:spcAft>
              <a:buClrTx/>
              <a:buSzTx/>
              <a:buFontTx/>
              <a:buNone/>
              <a:tabLst/>
              <a:defRPr/>
            </a:pPr>
            <a:fld id="{7066A302-1787-4B1B-83BA-89ABA26F33A3}" type="slidenum">
              <a:rPr kumimoji="0" lang="en-GB" altLang="en-US" sz="1200" b="0" i="0" u="none" strike="noStrike" kern="1200" cap="none" spc="0" normalizeH="0" baseline="0" noProof="0">
                <a:ln>
                  <a:noFill/>
                </a:ln>
                <a:solidFill>
                  <a:srgbClr val="000000"/>
                </a:solidFill>
                <a:effectLst/>
                <a:uLnTx/>
                <a:uFillTx/>
                <a:latin typeface="PMingLiU" panose="02020500000000000000" pitchFamily="18" charset="-120"/>
                <a:ea typeface="華康楷體(P)-GB5" panose="03000500000000000000" pitchFamily="66" charset="-128"/>
                <a:cs typeface="DFKaiShu-GB5" panose="03000509000000000000" pitchFamily="65" charset="-128"/>
              </a:rPr>
              <a:pPr marL="0" marR="0" lvl="0" indent="0" algn="r" defTabSz="906372" rtl="0" eaLnBrk="1" fontAlgn="base" latinLnBrk="0" hangingPunct="1">
                <a:lnSpc>
                  <a:spcPct val="100000"/>
                </a:lnSpc>
                <a:spcBef>
                  <a:spcPct val="0"/>
                </a:spcBef>
                <a:spcAft>
                  <a:spcPct val="0"/>
                </a:spcAft>
                <a:buClrTx/>
                <a:buSzTx/>
                <a:buFontTx/>
                <a:buNone/>
                <a:tabLst/>
                <a:defRPr/>
              </a:pPr>
              <a:t>5</a:t>
            </a:fld>
            <a:endParaRPr kumimoji="0" lang="en-GB" altLang="en-US" sz="1200" b="0" i="0" u="none" strike="noStrike" kern="1200" cap="none" spc="0" normalizeH="0" baseline="0" noProof="0">
              <a:ln>
                <a:noFill/>
              </a:ln>
              <a:solidFill>
                <a:srgbClr val="000000"/>
              </a:solidFill>
              <a:effectLst/>
              <a:uLnTx/>
              <a:uFillTx/>
              <a:latin typeface="PMingLiU" panose="02020500000000000000" pitchFamily="18" charset="-120"/>
              <a:ea typeface="華康楷體(P)-GB5" panose="03000500000000000000" pitchFamily="66" charset="-128"/>
              <a:cs typeface="DFKaiShu-GB5" panose="03000509000000000000" pitchFamily="65" charset="-128"/>
            </a:endParaRPr>
          </a:p>
        </p:txBody>
      </p:sp>
      <p:sp>
        <p:nvSpPr>
          <p:cNvPr id="19459" name="Rectangle 2">
            <a:extLst>
              <a:ext uri="{FF2B5EF4-FFF2-40B4-BE49-F238E27FC236}">
                <a16:creationId xmlns:a16="http://schemas.microsoft.com/office/drawing/2014/main" id="{0682C89A-72F2-49CC-93C0-41A1598457B1}"/>
              </a:ext>
            </a:extLst>
          </p:cNvPr>
          <p:cNvSpPr>
            <a:spLocks noGrp="1" noRot="1" noChangeAspect="1" noChangeArrowheads="1" noTextEdit="1"/>
          </p:cNvSpPr>
          <p:nvPr>
            <p:ph type="sldImg"/>
          </p:nvPr>
        </p:nvSpPr>
        <p:spPr>
          <a:xfrm>
            <a:off x="990600" y="1023938"/>
            <a:ext cx="4827588" cy="3343275"/>
          </a:xfr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noChangeArrowheads="1"/>
          </p:cNvSpPr>
          <p:nvPr/>
        </p:nvSpPr>
        <p:spPr bwMode="auto">
          <a:xfrm>
            <a:off x="3742485" y="10086869"/>
            <a:ext cx="2859986" cy="529012"/>
          </a:xfrm>
          <a:prstGeom prst="rect">
            <a:avLst/>
          </a:prstGeom>
          <a:noFill/>
          <a:ln w="9525">
            <a:noFill/>
            <a:miter lim="800000"/>
            <a:headEnd/>
            <a:tailEnd/>
          </a:ln>
        </p:spPr>
        <p:txBody>
          <a:bodyPr lIns="94343" tIns="47171" rIns="94343" bIns="47171" anchor="b"/>
          <a:lstStyle/>
          <a:p>
            <a:pPr algn="r" defTabSz="943118"/>
            <a:fld id="{4FCEE4C5-3AAA-483A-86F3-28CB8E4B3F8B}" type="slidenum">
              <a:rPr lang="en-GB" altLang="en-US" sz="1300">
                <a:latin typeface="Times New Roman" pitchFamily="18" charset="0"/>
                <a:ea typeface="宋体" pitchFamily="2" charset="-122"/>
              </a:rPr>
              <a:pPr algn="r" defTabSz="943118"/>
              <a:t>6</a:t>
            </a:fld>
            <a:endParaRPr lang="en-GB" altLang="en-US" sz="1300">
              <a:latin typeface="Times New Roman" pitchFamily="18" charset="0"/>
              <a:ea typeface="宋体" pitchFamily="2" charset="-122"/>
            </a:endParaRPr>
          </a:p>
        </p:txBody>
      </p:sp>
      <p:sp>
        <p:nvSpPr>
          <p:cNvPr id="67587" name="Rectangle 7"/>
          <p:cNvSpPr txBox="1">
            <a:spLocks noGrp="1" noChangeArrowheads="1"/>
          </p:cNvSpPr>
          <p:nvPr/>
        </p:nvSpPr>
        <p:spPr bwMode="auto">
          <a:xfrm>
            <a:off x="3742485" y="10083468"/>
            <a:ext cx="2859986" cy="532403"/>
          </a:xfrm>
          <a:prstGeom prst="rect">
            <a:avLst/>
          </a:prstGeom>
          <a:noFill/>
          <a:ln w="9525">
            <a:noFill/>
            <a:miter lim="800000"/>
            <a:headEnd/>
            <a:tailEnd/>
          </a:ln>
        </p:spPr>
        <p:txBody>
          <a:bodyPr lIns="98868" tIns="49436" rIns="98868" bIns="49436" anchor="b"/>
          <a:lstStyle/>
          <a:p>
            <a:pPr algn="r" defTabSz="988429"/>
            <a:fld id="{EE08837E-2EBC-44BA-834A-3DD788E9AC28}" type="slidenum">
              <a:rPr lang="en-GB" altLang="en-US" sz="1300">
                <a:latin typeface="PMingLiU" pitchFamily="18" charset="-120"/>
                <a:ea typeface="華康楷體(P)-GB5" pitchFamily="66" charset="-120"/>
              </a:rPr>
              <a:pPr algn="r" defTabSz="988429"/>
              <a:t>6</a:t>
            </a:fld>
            <a:endParaRPr lang="en-GB" altLang="en-US" sz="1300">
              <a:latin typeface="PMingLiU" pitchFamily="18" charset="-120"/>
              <a:ea typeface="華康楷體(P)-GB5" pitchFamily="66" charset="-120"/>
            </a:endParaRPr>
          </a:p>
        </p:txBody>
      </p:sp>
      <p:sp>
        <p:nvSpPr>
          <p:cNvPr id="67588" name="Rectangle 2"/>
          <p:cNvSpPr>
            <a:spLocks noGrp="1" noRot="1" noChangeAspect="1" noChangeArrowheads="1" noTextEdit="1"/>
          </p:cNvSpPr>
          <p:nvPr>
            <p:ph type="sldImg"/>
          </p:nvPr>
        </p:nvSpPr>
        <p:spPr>
          <a:xfrm>
            <a:off x="458788" y="800100"/>
            <a:ext cx="5735637" cy="3971925"/>
          </a:xfrm>
          <a:ln/>
        </p:spPr>
      </p:sp>
    </p:spTree>
    <p:extLst>
      <p:ext uri="{BB962C8B-B14F-4D97-AF65-F5344CB8AC3E}">
        <p14:creationId xmlns:p14="http://schemas.microsoft.com/office/powerpoint/2010/main" val="2503422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a:ln/>
        </p:spPr>
      </p:sp>
      <p:sp>
        <p:nvSpPr>
          <p:cNvPr id="123907" name="Notes Placeholder 2"/>
          <p:cNvSpPr>
            <a:spLocks noGrp="1"/>
          </p:cNvSpPr>
          <p:nvPr>
            <p:ph type="body" idx="1"/>
          </p:nvPr>
        </p:nvSpPr>
        <p:spPr>
          <a:noFill/>
        </p:spPr>
        <p:txBody>
          <a:bodyPr/>
          <a:lstStyle/>
          <a:p>
            <a:endParaRPr lang="en-US">
              <a:ea typeface="華康簡楷"/>
            </a:endParaRPr>
          </a:p>
        </p:txBody>
      </p:sp>
      <p:sp>
        <p:nvSpPr>
          <p:cNvPr id="123908" name="Slide Number Placeholder 3"/>
          <p:cNvSpPr>
            <a:spLocks noGrp="1"/>
          </p:cNvSpPr>
          <p:nvPr>
            <p:ph type="sldNum" sz="quarter" idx="5"/>
          </p:nvPr>
        </p:nvSpPr>
        <p:spPr>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567F59-D0ED-4C35-9B10-23BE3C16CB9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8</a:t>
            </a:fld>
            <a:endParaRPr lang="en-US"/>
          </a:p>
        </p:txBody>
      </p:sp>
    </p:spTree>
    <p:extLst>
      <p:ext uri="{BB962C8B-B14F-4D97-AF65-F5344CB8AC3E}">
        <p14:creationId xmlns:p14="http://schemas.microsoft.com/office/powerpoint/2010/main" val="2654022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9</a:t>
            </a:fld>
            <a:endParaRPr lang="en-US"/>
          </a:p>
        </p:txBody>
      </p:sp>
    </p:spTree>
    <p:extLst>
      <p:ext uri="{BB962C8B-B14F-4D97-AF65-F5344CB8AC3E}">
        <p14:creationId xmlns:p14="http://schemas.microsoft.com/office/powerpoint/2010/main" val="3065425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sz="500"/>
          </a:p>
        </p:txBody>
      </p:sp>
      <p:sp>
        <p:nvSpPr>
          <p:cNvPr id="4" name="Slide Number Placeholder 3"/>
          <p:cNvSpPr>
            <a:spLocks noGrp="1"/>
          </p:cNvSpPr>
          <p:nvPr>
            <p:ph type="sldNum" sz="quarter" idx="5"/>
          </p:nvPr>
        </p:nvSpPr>
        <p:spPr/>
        <p:txBody>
          <a:bodyPr/>
          <a:lstStyle/>
          <a:p>
            <a:pPr marL="0" marR="0" lvl="0" indent="0" algn="r" defTabSz="982656" rtl="0" eaLnBrk="1" fontAlgn="base" latinLnBrk="0" hangingPunct="1">
              <a:lnSpc>
                <a:spcPct val="100000"/>
              </a:lnSpc>
              <a:spcBef>
                <a:spcPct val="0"/>
              </a:spcBef>
              <a:spcAft>
                <a:spcPct val="0"/>
              </a:spcAft>
              <a:buClrTx/>
              <a:buSzTx/>
              <a:buFontTx/>
              <a:buNone/>
              <a:tabLst/>
              <a:defRPr/>
            </a:pPr>
            <a:fld id="{A4DF32EF-BEE2-467E-A20C-05D0FECFF7E5}" type="slidenum">
              <a:rPr kumimoji="0" lang="en-US" sz="12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82656" rtl="0" eaLnBrk="1" fontAlgn="base" latinLnBrk="0" hangingPunct="1">
                <a:lnSpc>
                  <a:spcPct val="100000"/>
                </a:lnSpc>
                <a:spcBef>
                  <a:spcPct val="0"/>
                </a:spcBef>
                <a:spcAft>
                  <a:spcPct val="0"/>
                </a:spcAft>
                <a:buClrTx/>
                <a:buSzTx/>
                <a:buFontTx/>
                <a:buNone/>
                <a:tabLst/>
                <a:defRPr/>
              </a:pPr>
              <a:t>10</a:t>
            </a:fld>
            <a:endParaRPr kumimoji="0" lang="en-US" sz="12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1704622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sz="1000">
              <a:solidFill>
                <a:srgbClr val="000000"/>
              </a:solidFill>
            </a:endParaRPr>
          </a:p>
        </p:txBody>
      </p:sp>
      <p:sp>
        <p:nvSpPr>
          <p:cNvPr id="4" name="Slide Number Placeholder 3"/>
          <p:cNvSpPr>
            <a:spLocks noGrp="1"/>
          </p:cNvSpPr>
          <p:nvPr>
            <p:ph type="sldNum" sz="quarter" idx="5"/>
          </p:nvPr>
        </p:nvSpPr>
        <p:spPr/>
        <p:txBody>
          <a:bodyPr/>
          <a:lstStyle/>
          <a:p>
            <a:fld id="{A4DF32EF-BEE2-467E-A20C-05D0FECFF7E5}" type="slidenum">
              <a:rPr lang="en-US" smtClean="0"/>
              <a:pPr/>
              <a:t>11</a:t>
            </a:fld>
            <a:endParaRPr lang="en-US"/>
          </a:p>
        </p:txBody>
      </p:sp>
    </p:spTree>
    <p:extLst>
      <p:ext uri="{BB962C8B-B14F-4D97-AF65-F5344CB8AC3E}">
        <p14:creationId xmlns:p14="http://schemas.microsoft.com/office/powerpoint/2010/main" val="1219464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12</a:t>
            </a:fld>
            <a:endParaRPr lang="en-US"/>
          </a:p>
        </p:txBody>
      </p:sp>
    </p:spTree>
    <p:extLst>
      <p:ext uri="{BB962C8B-B14F-4D97-AF65-F5344CB8AC3E}">
        <p14:creationId xmlns:p14="http://schemas.microsoft.com/office/powerpoint/2010/main" val="3475470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13</a:t>
            </a:fld>
            <a:endParaRPr lang="en-US"/>
          </a:p>
        </p:txBody>
      </p:sp>
    </p:spTree>
    <p:extLst>
      <p:ext uri="{BB962C8B-B14F-4D97-AF65-F5344CB8AC3E}">
        <p14:creationId xmlns:p14="http://schemas.microsoft.com/office/powerpoint/2010/main" val="2551171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14</a:t>
            </a:fld>
            <a:endParaRPr lang="en-US"/>
          </a:p>
        </p:txBody>
      </p:sp>
    </p:spTree>
    <p:extLst>
      <p:ext uri="{BB962C8B-B14F-4D97-AF65-F5344CB8AC3E}">
        <p14:creationId xmlns:p14="http://schemas.microsoft.com/office/powerpoint/2010/main" val="1836251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15</a:t>
            </a:fld>
            <a:endParaRPr lang="en-US"/>
          </a:p>
        </p:txBody>
      </p:sp>
    </p:spTree>
    <p:extLst>
      <p:ext uri="{BB962C8B-B14F-4D97-AF65-F5344CB8AC3E}">
        <p14:creationId xmlns:p14="http://schemas.microsoft.com/office/powerpoint/2010/main" val="4109111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16</a:t>
            </a:fld>
            <a:endParaRPr lang="en-US"/>
          </a:p>
        </p:txBody>
      </p:sp>
    </p:spTree>
    <p:extLst>
      <p:ext uri="{BB962C8B-B14F-4D97-AF65-F5344CB8AC3E}">
        <p14:creationId xmlns:p14="http://schemas.microsoft.com/office/powerpoint/2010/main" val="2788202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34943" rtl="0" eaLnBrk="1" fontAlgn="base" latinLnBrk="0" hangingPunct="1">
              <a:lnSpc>
                <a:spcPct val="100000"/>
              </a:lnSpc>
              <a:spcBef>
                <a:spcPct val="0"/>
              </a:spcBef>
              <a:spcAft>
                <a:spcPct val="0"/>
              </a:spcAft>
              <a:buClrTx/>
              <a:buSzTx/>
              <a:buFontTx/>
              <a:buNone/>
              <a:tabLst/>
              <a:defRPr/>
            </a:pPr>
            <a:fld id="{0A2B84D7-E6D6-4460-8CC3-F656702789C1}" type="slidenum">
              <a:rPr kumimoji="0" lang="en-GB" altLang="en-US" sz="1200" b="0" i="0" u="none" strike="noStrike" kern="1200" cap="none" spc="0" normalizeH="0" baseline="0" noProof="0">
                <a:ln>
                  <a:noFill/>
                </a:ln>
                <a:solidFill>
                  <a:srgbClr val="000000"/>
                </a:solidFill>
                <a:effectLst/>
                <a:uLnTx/>
                <a:uFillTx/>
                <a:latin typeface="Times New Roman" pitchFamily="18" charset="0"/>
                <a:ea typeface="華康簡楷" charset="-120"/>
                <a:cs typeface="Arial" charset="0"/>
              </a:rPr>
              <a:pPr marL="0" marR="0" lvl="0" indent="0" algn="r" defTabSz="934943" rtl="0" eaLnBrk="1" fontAlgn="base" latinLnBrk="0" hangingPunct="1">
                <a:lnSpc>
                  <a:spcPct val="100000"/>
                </a:lnSpc>
                <a:spcBef>
                  <a:spcPct val="0"/>
                </a:spcBef>
                <a:spcAft>
                  <a:spcPct val="0"/>
                </a:spcAft>
                <a:buClrTx/>
                <a:buSzTx/>
                <a:buFontTx/>
                <a:buNone/>
                <a:tabLst/>
                <a:defRPr/>
              </a:pPr>
              <a:t>17</a:t>
            </a:fld>
            <a:endParaRPr kumimoji="0" lang="en-GB" altLang="en-US" sz="1200" b="0" i="0" u="none" strike="noStrike" kern="1200" cap="none" spc="0" normalizeH="0" baseline="0" noProof="0">
              <a:ln>
                <a:noFill/>
              </a:ln>
              <a:solidFill>
                <a:srgbClr val="000000"/>
              </a:solidFill>
              <a:effectLst/>
              <a:uLnTx/>
              <a:uFillTx/>
              <a:latin typeface="Times New Roman" pitchFamily="18" charset="0"/>
              <a:ea typeface="華康簡楷" charset="-120"/>
              <a:cs typeface="Arial" charset="0"/>
            </a:endParaRPr>
          </a:p>
        </p:txBody>
      </p:sp>
      <p:sp>
        <p:nvSpPr>
          <p:cNvPr id="182275" name="Rectangle 2"/>
          <p:cNvSpPr>
            <a:spLocks noGrp="1" noRot="1" noChangeAspect="1" noChangeArrowheads="1" noTextEdit="1"/>
          </p:cNvSpPr>
          <p:nvPr>
            <p:ph type="sldImg"/>
          </p:nvPr>
        </p:nvSpPr>
        <p:spPr bwMode="auto">
          <a:xfrm>
            <a:off x="1069975" y="692150"/>
            <a:ext cx="4978400" cy="3448050"/>
          </a:xfrm>
          <a:noFill/>
          <a:ln>
            <a:solidFill>
              <a:srgbClr val="000000"/>
            </a:solidFill>
            <a:miter lim="800000"/>
            <a:headEnd/>
            <a:tailEnd/>
          </a:ln>
        </p:spPr>
      </p:sp>
      <p:sp>
        <p:nvSpPr>
          <p:cNvPr id="182276" name="Rectangle 3"/>
          <p:cNvSpPr>
            <a:spLocks noGrp="1" noChangeArrowheads="1"/>
          </p:cNvSpPr>
          <p:nvPr>
            <p:ph type="body" idx="1"/>
          </p:nvPr>
        </p:nvSpPr>
        <p:spPr bwMode="auto">
          <a:xfrm>
            <a:off x="949143" y="4368620"/>
            <a:ext cx="5216874" cy="4142118"/>
          </a:xfrm>
          <a:noFill/>
        </p:spPr>
        <p:txBody>
          <a:bodyPr wrap="square" lIns="0" tIns="0" rIns="0" bIns="0" numCol="1" anchor="t" anchorCtr="0" compatLnSpc="1">
            <a:prstTxWarp prst="textNoShape">
              <a:avLst/>
            </a:prstTxWarp>
            <a:normAutofit/>
          </a:bodyPr>
          <a:lstStyle/>
          <a:p>
            <a:pPr defTabSz="1016761">
              <a:buFontTx/>
              <a:buChar char="•"/>
            </a:pPr>
            <a:endParaRPr lang="en-US" sz="900"/>
          </a:p>
        </p:txBody>
      </p:sp>
    </p:spTree>
    <p:extLst>
      <p:ext uri="{BB962C8B-B14F-4D97-AF65-F5344CB8AC3E}">
        <p14:creationId xmlns:p14="http://schemas.microsoft.com/office/powerpoint/2010/main" val="3293998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DF32EF-BEE2-467E-A20C-05D0FECFF7E5}" type="slidenum">
              <a:rPr lang="en-US" smtClean="0"/>
              <a:pPr/>
              <a:t>20</a:t>
            </a:fld>
            <a:endParaRPr lang="en-US"/>
          </a:p>
        </p:txBody>
      </p:sp>
    </p:spTree>
    <p:extLst>
      <p:ext uri="{BB962C8B-B14F-4D97-AF65-F5344CB8AC3E}">
        <p14:creationId xmlns:p14="http://schemas.microsoft.com/office/powerpoint/2010/main" val="347586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SG" sz="1000">
              <a:solidFill>
                <a:srgbClr val="000000"/>
              </a:solidFill>
            </a:endParaRPr>
          </a:p>
        </p:txBody>
      </p:sp>
      <p:sp>
        <p:nvSpPr>
          <p:cNvPr id="4" name="Slide Number Placeholder 3"/>
          <p:cNvSpPr>
            <a:spLocks noGrp="1"/>
          </p:cNvSpPr>
          <p:nvPr>
            <p:ph type="sldNum" sz="quarter" idx="5"/>
          </p:nvPr>
        </p:nvSpPr>
        <p:spPr/>
        <p:txBody>
          <a:bodyPr/>
          <a:lstStyle/>
          <a:p>
            <a:pPr marL="0" marR="0" lvl="0" indent="0" algn="r" defTabSz="982656" rtl="0" eaLnBrk="1" fontAlgn="base" latinLnBrk="0" hangingPunct="1">
              <a:lnSpc>
                <a:spcPct val="100000"/>
              </a:lnSpc>
              <a:spcBef>
                <a:spcPct val="0"/>
              </a:spcBef>
              <a:spcAft>
                <a:spcPct val="0"/>
              </a:spcAft>
              <a:buClrTx/>
              <a:buSzTx/>
              <a:buFontTx/>
              <a:buNone/>
              <a:tabLst/>
              <a:defRPr/>
            </a:pPr>
            <a:fld id="{A4DF32EF-BEE2-467E-A20C-05D0FECFF7E5}" type="slidenum">
              <a:rPr kumimoji="0" lang="en-US" sz="12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82656"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1775613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SG" sz="1000">
              <a:solidFill>
                <a:srgbClr val="000000"/>
              </a:solidFill>
            </a:endParaRPr>
          </a:p>
        </p:txBody>
      </p:sp>
      <p:sp>
        <p:nvSpPr>
          <p:cNvPr id="4" name="Slide Number Placeholder 3"/>
          <p:cNvSpPr>
            <a:spLocks noGrp="1"/>
          </p:cNvSpPr>
          <p:nvPr>
            <p:ph type="sldNum" sz="quarter" idx="5"/>
          </p:nvPr>
        </p:nvSpPr>
        <p:spPr/>
        <p:txBody>
          <a:bodyPr/>
          <a:lstStyle/>
          <a:p>
            <a:fld id="{A4DF32EF-BEE2-467E-A20C-05D0FECFF7E5}" type="slidenum">
              <a:rPr lang="en-US" smtClean="0"/>
              <a:pPr/>
              <a:t>22</a:t>
            </a:fld>
            <a:endParaRPr lang="en-US"/>
          </a:p>
        </p:txBody>
      </p:sp>
    </p:spTree>
    <p:extLst>
      <p:ext uri="{BB962C8B-B14F-4D97-AF65-F5344CB8AC3E}">
        <p14:creationId xmlns:p14="http://schemas.microsoft.com/office/powerpoint/2010/main" val="15438388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7F5CA-5B20-439C-ED75-A5531824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7FD301-43C7-1938-1CE7-2146428256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434A2-9023-6899-1F9F-BA8892E3BB94}"/>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1D6C5DDE-4322-3D5E-FA58-1F37269EB783}"/>
              </a:ext>
            </a:extLst>
          </p:cNvPr>
          <p:cNvSpPr>
            <a:spLocks noGrp="1"/>
          </p:cNvSpPr>
          <p:nvPr>
            <p:ph type="sldNum" sz="quarter" idx="10"/>
          </p:nvPr>
        </p:nvSpPr>
        <p:spPr/>
        <p:txBody>
          <a:bodyPr/>
          <a:lstStyle/>
          <a:p>
            <a:pPr marL="0" marR="0" lvl="0" indent="0" algn="r" defTabSz="934943" rtl="0" eaLnBrk="1" fontAlgn="base" latinLnBrk="0" hangingPunct="1">
              <a:lnSpc>
                <a:spcPct val="100000"/>
              </a:lnSpc>
              <a:spcBef>
                <a:spcPct val="0"/>
              </a:spcBef>
              <a:spcAft>
                <a:spcPct val="0"/>
              </a:spcAft>
              <a:buClrTx/>
              <a:buSzTx/>
              <a:buFontTx/>
              <a:buNone/>
              <a:tabLst/>
              <a:defRPr/>
            </a:pPr>
            <a:fld id="{8145A894-5B6D-4108-86BB-37DF76B21A3E}" type="slidenum">
              <a:rPr kumimoji="0" lang="zh-TW" altLang="en-US" sz="1200" b="0" i="0" u="none" strike="noStrike" kern="1200" cap="none" spc="0" normalizeH="0" baseline="0" noProof="0" smtClean="0">
                <a:ln>
                  <a:noFill/>
                </a:ln>
                <a:solidFill>
                  <a:srgbClr val="000000"/>
                </a:solidFill>
                <a:effectLst/>
                <a:uLnTx/>
                <a:uFillTx/>
                <a:latin typeface="Times New Roman" pitchFamily="18" charset="0"/>
                <a:ea typeface="華康簡楷" charset="-120"/>
                <a:cs typeface="+mn-cs"/>
              </a:rPr>
              <a:pPr marL="0" marR="0" lvl="0" indent="0" algn="r" defTabSz="934943" rtl="0" eaLnBrk="1" fontAlgn="base" latinLnBrk="0" hangingPunct="1">
                <a:lnSpc>
                  <a:spcPct val="100000"/>
                </a:lnSpc>
                <a:spcBef>
                  <a:spcPct val="0"/>
                </a:spcBef>
                <a:spcAft>
                  <a:spcPct val="0"/>
                </a:spcAft>
                <a:buClrTx/>
                <a:buSzTx/>
                <a:buFontTx/>
                <a:buNone/>
                <a:tabLst/>
                <a:defRPr/>
              </a:pPr>
              <a:t>23</a:t>
            </a:fld>
            <a:endParaRPr kumimoji="0" lang="zh-TW" altLang="zh-TW" sz="1200" b="0" i="0" u="none" strike="noStrike" kern="1200" cap="none" spc="0" normalizeH="0" baseline="0" noProof="0">
              <a:ln>
                <a:noFill/>
              </a:ln>
              <a:solidFill>
                <a:srgbClr val="000000"/>
              </a:solidFill>
              <a:effectLst/>
              <a:uLnTx/>
              <a:uFillTx/>
              <a:latin typeface="Times New Roman" pitchFamily="18" charset="0"/>
              <a:ea typeface="華康簡楷" charset="-120"/>
              <a:cs typeface="+mn-cs"/>
            </a:endParaRPr>
          </a:p>
        </p:txBody>
      </p:sp>
    </p:spTree>
    <p:extLst>
      <p:ext uri="{BB962C8B-B14F-4D97-AF65-F5344CB8AC3E}">
        <p14:creationId xmlns:p14="http://schemas.microsoft.com/office/powerpoint/2010/main" val="3750903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24</a:t>
            </a:fld>
            <a:endParaRPr lang="en-US"/>
          </a:p>
        </p:txBody>
      </p:sp>
    </p:spTree>
    <p:extLst>
      <p:ext uri="{BB962C8B-B14F-4D97-AF65-F5344CB8AC3E}">
        <p14:creationId xmlns:p14="http://schemas.microsoft.com/office/powerpoint/2010/main" val="38778951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11831-091D-BDD9-BA69-FD1422165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C9812-C8BE-F8B8-2C41-B5B526862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BE717-711B-8548-71B2-FF08B448F1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C59EA2D-4591-F9EE-05FE-67AB418A65F7}"/>
              </a:ext>
            </a:extLst>
          </p:cNvPr>
          <p:cNvSpPr>
            <a:spLocks noGrp="1"/>
          </p:cNvSpPr>
          <p:nvPr>
            <p:ph type="sldNum" sz="quarter" idx="5"/>
          </p:nvPr>
        </p:nvSpPr>
        <p:spPr/>
        <p:txBody>
          <a:bodyPr/>
          <a:lstStyle/>
          <a:p>
            <a:fld id="{A4DF32EF-BEE2-467E-A20C-05D0FECFF7E5}" type="slidenum">
              <a:rPr lang="en-US" smtClean="0"/>
              <a:pPr/>
              <a:t>32</a:t>
            </a:fld>
            <a:endParaRPr lang="en-US"/>
          </a:p>
        </p:txBody>
      </p:sp>
    </p:spTree>
    <p:extLst>
      <p:ext uri="{BB962C8B-B14F-4D97-AF65-F5344CB8AC3E}">
        <p14:creationId xmlns:p14="http://schemas.microsoft.com/office/powerpoint/2010/main" val="801851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dirty="0"/>
          </a:p>
        </p:txBody>
      </p:sp>
      <p:sp>
        <p:nvSpPr>
          <p:cNvPr id="4" name="投影片編號版面配置區 3"/>
          <p:cNvSpPr>
            <a:spLocks noGrp="1"/>
          </p:cNvSpPr>
          <p:nvPr>
            <p:ph type="sldNum" sz="quarter" idx="5"/>
          </p:nvPr>
        </p:nvSpPr>
        <p:spPr/>
        <p:txBody>
          <a:bodyPr/>
          <a:lstStyle/>
          <a:p>
            <a:fld id="{A4DF32EF-BEE2-467E-A20C-05D0FECFF7E5}" type="slidenum">
              <a:rPr lang="en-US" smtClean="0"/>
              <a:pPr/>
              <a:t>37</a:t>
            </a:fld>
            <a:endParaRPr lang="en-US"/>
          </a:p>
        </p:txBody>
      </p:sp>
    </p:spTree>
    <p:extLst>
      <p:ext uri="{BB962C8B-B14F-4D97-AF65-F5344CB8AC3E}">
        <p14:creationId xmlns:p14="http://schemas.microsoft.com/office/powerpoint/2010/main" val="37741630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FB9F9-B135-4FF2-2E8E-3001DFA64E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6EDBE-E12B-591B-C81E-8E93974C8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B5DCB-749E-01B3-8135-3AF87DE139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9E5E471-5C9B-FDEC-CAA2-852A0B67BD4E}"/>
              </a:ext>
            </a:extLst>
          </p:cNvPr>
          <p:cNvSpPr>
            <a:spLocks noGrp="1"/>
          </p:cNvSpPr>
          <p:nvPr>
            <p:ph type="sldNum" sz="quarter" idx="5"/>
          </p:nvPr>
        </p:nvSpPr>
        <p:spPr/>
        <p:txBody>
          <a:bodyPr/>
          <a:lstStyle/>
          <a:p>
            <a:fld id="{A4DF32EF-BEE2-467E-A20C-05D0FECFF7E5}" type="slidenum">
              <a:rPr lang="en-US" smtClean="0"/>
              <a:pPr/>
              <a:t>39</a:t>
            </a:fld>
            <a:endParaRPr lang="en-US"/>
          </a:p>
        </p:txBody>
      </p:sp>
    </p:spTree>
    <p:extLst>
      <p:ext uri="{BB962C8B-B14F-4D97-AF65-F5344CB8AC3E}">
        <p14:creationId xmlns:p14="http://schemas.microsoft.com/office/powerpoint/2010/main" val="34134066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40</a:t>
            </a:fld>
            <a:endParaRPr lang="en-US"/>
          </a:p>
        </p:txBody>
      </p:sp>
    </p:spTree>
    <p:extLst>
      <p:ext uri="{BB962C8B-B14F-4D97-AF65-F5344CB8AC3E}">
        <p14:creationId xmlns:p14="http://schemas.microsoft.com/office/powerpoint/2010/main" val="4684187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48</a:t>
            </a:fld>
            <a:endParaRPr lang="en-US"/>
          </a:p>
        </p:txBody>
      </p:sp>
    </p:spTree>
    <p:extLst>
      <p:ext uri="{BB962C8B-B14F-4D97-AF65-F5344CB8AC3E}">
        <p14:creationId xmlns:p14="http://schemas.microsoft.com/office/powerpoint/2010/main" val="370775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36934-6D35-0BAD-B11A-1510625BC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424AF-F377-1989-51F7-81694822EE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C3BC1-3D78-2589-8F57-31F0662489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23FAE5-D6C1-21BD-987B-1803C833FA88}"/>
              </a:ext>
            </a:extLst>
          </p:cNvPr>
          <p:cNvSpPr>
            <a:spLocks noGrp="1"/>
          </p:cNvSpPr>
          <p:nvPr>
            <p:ph type="sldNum" sz="quarter" idx="5"/>
          </p:nvPr>
        </p:nvSpPr>
        <p:spPr/>
        <p:txBody>
          <a:bodyPr/>
          <a:lstStyle/>
          <a:p>
            <a:fld id="{A4DF32EF-BEE2-467E-A20C-05D0FECFF7E5}" type="slidenum">
              <a:rPr lang="en-US" smtClean="0"/>
              <a:pPr/>
              <a:t>49</a:t>
            </a:fld>
            <a:endParaRPr lang="en-US"/>
          </a:p>
        </p:txBody>
      </p:sp>
    </p:spTree>
    <p:extLst>
      <p:ext uri="{BB962C8B-B14F-4D97-AF65-F5344CB8AC3E}">
        <p14:creationId xmlns:p14="http://schemas.microsoft.com/office/powerpoint/2010/main" val="26039227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54</a:t>
            </a:fld>
            <a:endParaRPr lang="en-US"/>
          </a:p>
        </p:txBody>
      </p:sp>
    </p:spTree>
    <p:extLst>
      <p:ext uri="{BB962C8B-B14F-4D97-AF65-F5344CB8AC3E}">
        <p14:creationId xmlns:p14="http://schemas.microsoft.com/office/powerpoint/2010/main" val="10898952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55</a:t>
            </a:fld>
            <a:endParaRPr lang="en-US"/>
          </a:p>
        </p:txBody>
      </p:sp>
    </p:spTree>
    <p:extLst>
      <p:ext uri="{BB962C8B-B14F-4D97-AF65-F5344CB8AC3E}">
        <p14:creationId xmlns:p14="http://schemas.microsoft.com/office/powerpoint/2010/main" val="38549690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56</a:t>
            </a:fld>
            <a:endParaRPr lang="en-US"/>
          </a:p>
        </p:txBody>
      </p:sp>
    </p:spTree>
    <p:extLst>
      <p:ext uri="{BB962C8B-B14F-4D97-AF65-F5344CB8AC3E}">
        <p14:creationId xmlns:p14="http://schemas.microsoft.com/office/powerpoint/2010/main" val="9894687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57</a:t>
            </a:fld>
            <a:endParaRPr lang="en-US"/>
          </a:p>
        </p:txBody>
      </p:sp>
    </p:spTree>
    <p:extLst>
      <p:ext uri="{BB962C8B-B14F-4D97-AF65-F5344CB8AC3E}">
        <p14:creationId xmlns:p14="http://schemas.microsoft.com/office/powerpoint/2010/main" val="11076087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58</a:t>
            </a:fld>
            <a:endParaRPr lang="en-US"/>
          </a:p>
        </p:txBody>
      </p:sp>
    </p:spTree>
    <p:extLst>
      <p:ext uri="{BB962C8B-B14F-4D97-AF65-F5344CB8AC3E}">
        <p14:creationId xmlns:p14="http://schemas.microsoft.com/office/powerpoint/2010/main" val="36698123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59</a:t>
            </a:fld>
            <a:endParaRPr lang="en-US"/>
          </a:p>
        </p:txBody>
      </p:sp>
    </p:spTree>
    <p:extLst>
      <p:ext uri="{BB962C8B-B14F-4D97-AF65-F5344CB8AC3E}">
        <p14:creationId xmlns:p14="http://schemas.microsoft.com/office/powerpoint/2010/main" val="6430112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60</a:t>
            </a:fld>
            <a:endParaRPr lang="en-US"/>
          </a:p>
        </p:txBody>
      </p:sp>
    </p:spTree>
    <p:extLst>
      <p:ext uri="{BB962C8B-B14F-4D97-AF65-F5344CB8AC3E}">
        <p14:creationId xmlns:p14="http://schemas.microsoft.com/office/powerpoint/2010/main" val="32351914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61</a:t>
            </a:fld>
            <a:endParaRPr lang="en-US"/>
          </a:p>
        </p:txBody>
      </p:sp>
    </p:spTree>
    <p:extLst>
      <p:ext uri="{BB962C8B-B14F-4D97-AF65-F5344CB8AC3E}">
        <p14:creationId xmlns:p14="http://schemas.microsoft.com/office/powerpoint/2010/main" val="40818193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62</a:t>
            </a:fld>
            <a:endParaRPr lang="en-US"/>
          </a:p>
        </p:txBody>
      </p:sp>
    </p:spTree>
    <p:extLst>
      <p:ext uri="{BB962C8B-B14F-4D97-AF65-F5344CB8AC3E}">
        <p14:creationId xmlns:p14="http://schemas.microsoft.com/office/powerpoint/2010/main" val="679835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63</a:t>
            </a:fld>
            <a:endParaRPr lang="en-US"/>
          </a:p>
        </p:txBody>
      </p:sp>
    </p:spTree>
    <p:extLst>
      <p:ext uri="{BB962C8B-B14F-4D97-AF65-F5344CB8AC3E}">
        <p14:creationId xmlns:p14="http://schemas.microsoft.com/office/powerpoint/2010/main" val="14790059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6C78C-9C0A-FE65-787E-62E12493F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A35EB0-1403-2112-F798-7515869505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033D9-0D29-5249-6A0B-E2D4E39830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3FDB2A-D2D6-2151-670A-E8426D25157A}"/>
              </a:ext>
            </a:extLst>
          </p:cNvPr>
          <p:cNvSpPr>
            <a:spLocks noGrp="1"/>
          </p:cNvSpPr>
          <p:nvPr>
            <p:ph type="sldNum" sz="quarter" idx="5"/>
          </p:nvPr>
        </p:nvSpPr>
        <p:spPr/>
        <p:txBody>
          <a:bodyPr/>
          <a:lstStyle/>
          <a:p>
            <a:fld id="{A4DF32EF-BEE2-467E-A20C-05D0FECFF7E5}" type="slidenum">
              <a:rPr lang="en-US" smtClean="0"/>
              <a:pPr/>
              <a:t>64</a:t>
            </a:fld>
            <a:endParaRPr lang="en-US"/>
          </a:p>
        </p:txBody>
      </p:sp>
    </p:spTree>
    <p:extLst>
      <p:ext uri="{BB962C8B-B14F-4D97-AF65-F5344CB8AC3E}">
        <p14:creationId xmlns:p14="http://schemas.microsoft.com/office/powerpoint/2010/main" val="31277471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DEA3D-2141-A765-627A-295D0E7D2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87AB1-CE97-F07F-041E-9E5590B636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3968A-9187-BAEF-DEAB-A700E79FE1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AD17B0-73D8-88AB-ABFB-D18CD3CC4211}"/>
              </a:ext>
            </a:extLst>
          </p:cNvPr>
          <p:cNvSpPr>
            <a:spLocks noGrp="1"/>
          </p:cNvSpPr>
          <p:nvPr>
            <p:ph type="sldNum" sz="quarter" idx="5"/>
          </p:nvPr>
        </p:nvSpPr>
        <p:spPr/>
        <p:txBody>
          <a:bodyPr/>
          <a:lstStyle/>
          <a:p>
            <a:fld id="{A4DF32EF-BEE2-467E-A20C-05D0FECFF7E5}" type="slidenum">
              <a:rPr lang="en-US" smtClean="0"/>
              <a:pPr/>
              <a:t>65</a:t>
            </a:fld>
            <a:endParaRPr lang="en-US"/>
          </a:p>
        </p:txBody>
      </p:sp>
    </p:spTree>
    <p:extLst>
      <p:ext uri="{BB962C8B-B14F-4D97-AF65-F5344CB8AC3E}">
        <p14:creationId xmlns:p14="http://schemas.microsoft.com/office/powerpoint/2010/main" val="11560781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53B42-F365-A269-298D-5CA577C29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DFE7B-A0CA-B37E-84F6-FDCB95F6DE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427BA-16A7-3C83-C623-7CED99013C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72B3F9-325F-CC6D-D93E-3D7732C51FBB}"/>
              </a:ext>
            </a:extLst>
          </p:cNvPr>
          <p:cNvSpPr>
            <a:spLocks noGrp="1"/>
          </p:cNvSpPr>
          <p:nvPr>
            <p:ph type="sldNum" sz="quarter" idx="5"/>
          </p:nvPr>
        </p:nvSpPr>
        <p:spPr/>
        <p:txBody>
          <a:bodyPr/>
          <a:lstStyle/>
          <a:p>
            <a:fld id="{A4DF32EF-BEE2-467E-A20C-05D0FECFF7E5}" type="slidenum">
              <a:rPr lang="en-US" smtClean="0"/>
              <a:pPr/>
              <a:t>66</a:t>
            </a:fld>
            <a:endParaRPr lang="en-US"/>
          </a:p>
        </p:txBody>
      </p:sp>
    </p:spTree>
    <p:extLst>
      <p:ext uri="{BB962C8B-B14F-4D97-AF65-F5344CB8AC3E}">
        <p14:creationId xmlns:p14="http://schemas.microsoft.com/office/powerpoint/2010/main" val="5243150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D1C0D-9E36-AF78-6559-30A986449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B0E00-684E-05E2-288A-8864FD593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657B1-BD75-FF3D-FB4D-9CBD967163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DD9DFB-97E0-61EB-B9B8-D7F503FDC3F1}"/>
              </a:ext>
            </a:extLst>
          </p:cNvPr>
          <p:cNvSpPr>
            <a:spLocks noGrp="1"/>
          </p:cNvSpPr>
          <p:nvPr>
            <p:ph type="sldNum" sz="quarter" idx="5"/>
          </p:nvPr>
        </p:nvSpPr>
        <p:spPr/>
        <p:txBody>
          <a:bodyPr/>
          <a:lstStyle/>
          <a:p>
            <a:fld id="{A4DF32EF-BEE2-467E-A20C-05D0FECFF7E5}" type="slidenum">
              <a:rPr lang="en-US" smtClean="0"/>
              <a:pPr/>
              <a:t>67</a:t>
            </a:fld>
            <a:endParaRPr lang="en-US"/>
          </a:p>
        </p:txBody>
      </p:sp>
    </p:spTree>
    <p:extLst>
      <p:ext uri="{BB962C8B-B14F-4D97-AF65-F5344CB8AC3E}">
        <p14:creationId xmlns:p14="http://schemas.microsoft.com/office/powerpoint/2010/main" val="5558943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68</a:t>
            </a:fld>
            <a:endParaRPr lang="en-US"/>
          </a:p>
        </p:txBody>
      </p:sp>
    </p:spTree>
    <p:extLst>
      <p:ext uri="{BB962C8B-B14F-4D97-AF65-F5344CB8AC3E}">
        <p14:creationId xmlns:p14="http://schemas.microsoft.com/office/powerpoint/2010/main" val="26565827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54297-B2DD-3BCD-8B41-6B309D63B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9AD50-98F2-7788-28D6-199889B77A4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590548F-9989-85C0-DED9-B36B4AA858FC}"/>
              </a:ext>
            </a:extLst>
          </p:cNvPr>
          <p:cNvSpPr>
            <a:spLocks noGrp="1"/>
          </p:cNvSpPr>
          <p:nvPr>
            <p:ph type="body" idx="1"/>
          </p:nvPr>
        </p:nvSpPr>
        <p:spPr/>
        <p:txBody>
          <a:bodyPr/>
          <a:lstStyle/>
          <a:p>
            <a:endParaRPr lang="en-SG" sz="1000">
              <a:solidFill>
                <a:srgbClr val="000000"/>
              </a:solidFill>
            </a:endParaRPr>
          </a:p>
        </p:txBody>
      </p:sp>
      <p:sp>
        <p:nvSpPr>
          <p:cNvPr id="4" name="Slide Number Placeholder 3">
            <a:extLst>
              <a:ext uri="{FF2B5EF4-FFF2-40B4-BE49-F238E27FC236}">
                <a16:creationId xmlns:a16="http://schemas.microsoft.com/office/drawing/2014/main" id="{CFF6FB24-4F82-340C-E536-6180371D9CC6}"/>
              </a:ext>
            </a:extLst>
          </p:cNvPr>
          <p:cNvSpPr>
            <a:spLocks noGrp="1"/>
          </p:cNvSpPr>
          <p:nvPr>
            <p:ph type="sldNum" sz="quarter" idx="5"/>
          </p:nvPr>
        </p:nvSpPr>
        <p:spPr/>
        <p:txBody>
          <a:bodyPr/>
          <a:lstStyle/>
          <a:p>
            <a:pPr marL="0" marR="0" lvl="0" indent="0" algn="r" defTabSz="982656" rtl="0" eaLnBrk="1" fontAlgn="base" latinLnBrk="0" hangingPunct="1">
              <a:lnSpc>
                <a:spcPct val="100000"/>
              </a:lnSpc>
              <a:spcBef>
                <a:spcPct val="0"/>
              </a:spcBef>
              <a:spcAft>
                <a:spcPct val="0"/>
              </a:spcAft>
              <a:buClrTx/>
              <a:buSzTx/>
              <a:buFontTx/>
              <a:buNone/>
              <a:tabLst/>
              <a:defRPr/>
            </a:pPr>
            <a:fld id="{A4DF32EF-BEE2-467E-A20C-05D0FECFF7E5}" type="slidenum">
              <a:rPr kumimoji="0" lang="en-US" sz="12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82656" rtl="0" eaLnBrk="1" fontAlgn="base" latinLnBrk="0" hangingPunct="1">
                <a:lnSpc>
                  <a:spcPct val="100000"/>
                </a:lnSpc>
                <a:spcBef>
                  <a:spcPct val="0"/>
                </a:spcBef>
                <a:spcAft>
                  <a:spcPct val="0"/>
                </a:spcAft>
                <a:buClrTx/>
                <a:buSzTx/>
                <a:buFontTx/>
                <a:buNone/>
                <a:tabLst/>
                <a:defRPr/>
              </a:pPr>
              <a:t>69</a:t>
            </a:fld>
            <a:endParaRPr kumimoji="0" lang="en-US" sz="12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25559623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3F7FB-7B77-2019-2188-CB00273D8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A469F-5A28-77FD-0947-629C4ABA48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339976-FA0B-AF8C-06E8-14BB28AAF2A0}"/>
              </a:ext>
            </a:extLst>
          </p:cNvPr>
          <p:cNvSpPr>
            <a:spLocks noGrp="1"/>
          </p:cNvSpPr>
          <p:nvPr>
            <p:ph type="body" idx="1"/>
          </p:nvPr>
        </p:nvSpPr>
        <p:spPr/>
        <p:txBody>
          <a:bodyPr/>
          <a:lstStyle/>
          <a:p>
            <a:endParaRPr lang="en-SG" sz="1000">
              <a:solidFill>
                <a:srgbClr val="000000"/>
              </a:solidFill>
            </a:endParaRPr>
          </a:p>
        </p:txBody>
      </p:sp>
      <p:sp>
        <p:nvSpPr>
          <p:cNvPr id="4" name="Slide Number Placeholder 3">
            <a:extLst>
              <a:ext uri="{FF2B5EF4-FFF2-40B4-BE49-F238E27FC236}">
                <a16:creationId xmlns:a16="http://schemas.microsoft.com/office/drawing/2014/main" id="{0A67BA55-B685-406E-3761-35F8E504AE12}"/>
              </a:ext>
            </a:extLst>
          </p:cNvPr>
          <p:cNvSpPr>
            <a:spLocks noGrp="1"/>
          </p:cNvSpPr>
          <p:nvPr>
            <p:ph type="sldNum" sz="quarter" idx="5"/>
          </p:nvPr>
        </p:nvSpPr>
        <p:spPr/>
        <p:txBody>
          <a:bodyPr/>
          <a:lstStyle/>
          <a:p>
            <a:pPr marL="0" marR="0" lvl="0" indent="0" algn="r" defTabSz="982656" rtl="0" eaLnBrk="1" fontAlgn="base" latinLnBrk="0" hangingPunct="1">
              <a:lnSpc>
                <a:spcPct val="100000"/>
              </a:lnSpc>
              <a:spcBef>
                <a:spcPct val="0"/>
              </a:spcBef>
              <a:spcAft>
                <a:spcPct val="0"/>
              </a:spcAft>
              <a:buClrTx/>
              <a:buSzTx/>
              <a:buFontTx/>
              <a:buNone/>
              <a:tabLst/>
              <a:defRPr/>
            </a:pPr>
            <a:fld id="{A4DF32EF-BEE2-467E-A20C-05D0FECFF7E5}" type="slidenum">
              <a:rPr kumimoji="0" lang="en-US" sz="12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82656" rtl="0" eaLnBrk="1" fontAlgn="base" latinLnBrk="0" hangingPunct="1">
                <a:lnSpc>
                  <a:spcPct val="100000"/>
                </a:lnSpc>
                <a:spcBef>
                  <a:spcPct val="0"/>
                </a:spcBef>
                <a:spcAft>
                  <a:spcPct val="0"/>
                </a:spcAft>
                <a:buClrTx/>
                <a:buSzTx/>
                <a:buFontTx/>
                <a:buNone/>
                <a:tabLst/>
                <a:defRPr/>
              </a:pPr>
              <a:t>70</a:t>
            </a:fld>
            <a:endParaRPr kumimoji="0" lang="en-US" sz="12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28733608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9DB9D-681C-89BC-5B5A-9A363CF22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57503-5744-F182-6A71-60DB647C06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EEDEA-92DD-5413-4377-CC651863E7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5A8E87-357F-048B-4CB5-82795383AFA6}"/>
              </a:ext>
            </a:extLst>
          </p:cNvPr>
          <p:cNvSpPr>
            <a:spLocks noGrp="1"/>
          </p:cNvSpPr>
          <p:nvPr>
            <p:ph type="sldNum" sz="quarter" idx="5"/>
          </p:nvPr>
        </p:nvSpPr>
        <p:spPr/>
        <p:txBody>
          <a:bodyPr/>
          <a:lstStyle/>
          <a:p>
            <a:fld id="{A4DF32EF-BEE2-467E-A20C-05D0FECFF7E5}" type="slidenum">
              <a:rPr lang="en-US" smtClean="0"/>
              <a:pPr/>
              <a:t>71</a:t>
            </a:fld>
            <a:endParaRPr lang="en-US"/>
          </a:p>
        </p:txBody>
      </p:sp>
    </p:spTree>
    <p:extLst>
      <p:ext uri="{BB962C8B-B14F-4D97-AF65-F5344CB8AC3E}">
        <p14:creationId xmlns:p14="http://schemas.microsoft.com/office/powerpoint/2010/main" val="91499982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5.jpeg"/><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5.jpeg"/><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Projec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60429F-0317-4315-AEBC-0A8A1CE0110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4782" y="2330824"/>
            <a:ext cx="9913258" cy="4541861"/>
          </a:xfrm>
          <a:prstGeom prst="rect">
            <a:avLst/>
          </a:prstGeom>
        </p:spPr>
      </p:pic>
      <p:sp>
        <p:nvSpPr>
          <p:cNvPr id="11" name="Rectangle 10">
            <a:extLst>
              <a:ext uri="{FF2B5EF4-FFF2-40B4-BE49-F238E27FC236}">
                <a16:creationId xmlns:a16="http://schemas.microsoft.com/office/drawing/2014/main" id="{6BADD47B-3C64-45B6-A75B-52C3AA7E0584}"/>
              </a:ext>
            </a:extLst>
          </p:cNvPr>
          <p:cNvSpPr/>
          <p:nvPr userDrawn="1"/>
        </p:nvSpPr>
        <p:spPr bwMode="auto">
          <a:xfrm flipV="1">
            <a:off x="-3638" y="2097088"/>
            <a:ext cx="9913257" cy="1890938"/>
          </a:xfrm>
          <a:prstGeom prst="rect">
            <a:avLst/>
          </a:prstGeom>
          <a:gradFill>
            <a:gsLst>
              <a:gs pos="67000">
                <a:srgbClr val="FFFFFF"/>
              </a:gs>
              <a:gs pos="53000">
                <a:schemeClr val="bg1"/>
              </a:gs>
              <a:gs pos="93000">
                <a:srgbClr val="FFFFFF"/>
              </a:gs>
              <a:gs pos="100000">
                <a:srgbClr val="FFFFFF">
                  <a:alpha val="0"/>
                </a:srgbClr>
              </a:gs>
              <a:gs pos="0">
                <a:schemeClr val="bg1">
                  <a:alpha val="0"/>
                </a:schemeClr>
              </a:gs>
            </a:gsLst>
            <a:lin ang="5400000" scaled="0"/>
          </a:gradFill>
          <a:ln w="31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b="1" i="0" u="none" strike="noStrike" cap="none" normalizeH="0" baseline="0">
              <a:ln>
                <a:noFill/>
              </a:ln>
              <a:solidFill>
                <a:srgbClr val="0000FF"/>
              </a:solidFill>
              <a:effectLst/>
              <a:latin typeface="Arial" panose="020B0604020202020204" pitchFamily="34" charset="0"/>
            </a:endParaRPr>
          </a:p>
        </p:txBody>
      </p:sp>
      <p:sp>
        <p:nvSpPr>
          <p:cNvPr id="7" name="Text Box 67">
            <a:extLst>
              <a:ext uri="{FF2B5EF4-FFF2-40B4-BE49-F238E27FC236}">
                <a16:creationId xmlns:a16="http://schemas.microsoft.com/office/drawing/2014/main" id="{307AF2EA-BDFA-493A-953F-EA8DF1250779}"/>
              </a:ext>
            </a:extLst>
          </p:cNvPr>
          <p:cNvSpPr txBox="1">
            <a:spLocks noChangeArrowheads="1"/>
          </p:cNvSpPr>
          <p:nvPr userDrawn="1"/>
        </p:nvSpPr>
        <p:spPr bwMode="auto">
          <a:xfrm>
            <a:off x="228600" y="6279964"/>
            <a:ext cx="7264400" cy="339004"/>
          </a:xfrm>
          <a:prstGeom prst="rect">
            <a:avLst/>
          </a:prstGeom>
          <a:noFill/>
          <a:ln w="9525">
            <a:noFill/>
            <a:miter lim="800000"/>
            <a:headEnd/>
            <a:tailEnd/>
          </a:ln>
          <a:effectLst/>
        </p:spPr>
        <p:txBody>
          <a:bodyPr>
            <a:spAutoFit/>
          </a:bodyPr>
          <a:lstStyle/>
          <a:p>
            <a:pPr>
              <a:lnSpc>
                <a:spcPct val="120000"/>
              </a:lnSpc>
              <a:spcBef>
                <a:spcPct val="50000"/>
              </a:spcBef>
            </a:pPr>
            <a:r>
              <a:rPr lang="en-US" altLang="en-US" sz="700" b="0">
                <a:solidFill>
                  <a:schemeClr val="bg1"/>
                </a:solidFill>
                <a:latin typeface="+mj-lt"/>
                <a:cs typeface="Arial" panose="020B0604020202020204" pitchFamily="34" charset="0"/>
              </a:rPr>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700" b="0">
              <a:solidFill>
                <a:schemeClr val="bg1"/>
              </a:solidFill>
              <a:latin typeface="+mj-lt"/>
              <a:cs typeface="Arial" panose="020B0604020202020204" pitchFamily="34" charset="0"/>
            </a:endParaRPr>
          </a:p>
        </p:txBody>
      </p:sp>
      <p:pic>
        <p:nvPicPr>
          <p:cNvPr id="12" name="Picture 11" descr="Graphical user interface&#10;&#10;Description automatically generated with low confidence">
            <a:extLst>
              <a:ext uri="{FF2B5EF4-FFF2-40B4-BE49-F238E27FC236}">
                <a16:creationId xmlns:a16="http://schemas.microsoft.com/office/drawing/2014/main" id="{C4D429B0-DF2F-4D75-A816-A5A31BD25297}"/>
              </a:ext>
            </a:extLst>
          </p:cNvPr>
          <p:cNvPicPr>
            <a:picLocks noChangeAspect="1"/>
          </p:cNvPicPr>
          <p:nvPr userDrawn="1"/>
        </p:nvPicPr>
        <p:blipFill>
          <a:blip r:embed="rId4"/>
          <a:stretch>
            <a:fillRect/>
          </a:stretch>
        </p:blipFill>
        <p:spPr>
          <a:xfrm>
            <a:off x="1" y="755650"/>
            <a:ext cx="1620000" cy="539493"/>
          </a:xfrm>
          <a:prstGeom prst="rect">
            <a:avLst/>
          </a:prstGeom>
        </p:spPr>
      </p:pic>
      <p:grpSp>
        <p:nvGrpSpPr>
          <p:cNvPr id="17" name="Group 16">
            <a:extLst>
              <a:ext uri="{FF2B5EF4-FFF2-40B4-BE49-F238E27FC236}">
                <a16:creationId xmlns:a16="http://schemas.microsoft.com/office/drawing/2014/main" id="{389AE05F-B4B2-46D4-9601-22D0CC358F32}"/>
              </a:ext>
            </a:extLst>
          </p:cNvPr>
          <p:cNvGrpSpPr/>
          <p:nvPr userDrawn="1"/>
        </p:nvGrpSpPr>
        <p:grpSpPr>
          <a:xfrm>
            <a:off x="6247747" y="3220800"/>
            <a:ext cx="3669694" cy="3651885"/>
            <a:chOff x="6247747" y="2666366"/>
            <a:chExt cx="3669694" cy="3651885"/>
          </a:xfrm>
        </p:grpSpPr>
        <p:sp>
          <p:nvSpPr>
            <p:cNvPr id="18" name="Freeform 9">
              <a:extLst>
                <a:ext uri="{FF2B5EF4-FFF2-40B4-BE49-F238E27FC236}">
                  <a16:creationId xmlns:a16="http://schemas.microsoft.com/office/drawing/2014/main" id="{333B7633-01F9-459A-BB39-BAF6980C3F73}"/>
                </a:ext>
              </a:extLst>
            </p:cNvPr>
            <p:cNvSpPr/>
            <p:nvPr userDrawn="1"/>
          </p:nvSpPr>
          <p:spPr>
            <a:xfrm>
              <a:off x="6697980" y="2666366"/>
              <a:ext cx="3219461" cy="3651885"/>
            </a:xfrm>
            <a:custGeom>
              <a:avLst/>
              <a:gdLst>
                <a:gd name="connsiteX0" fmla="*/ 3211209 w 3219461"/>
                <a:gd name="connsiteY0" fmla="*/ 0 h 3651885"/>
                <a:gd name="connsiteX1" fmla="*/ 3219461 w 3219461"/>
                <a:gd name="connsiteY1" fmla="*/ 3651885 h 3651885"/>
                <a:gd name="connsiteX2" fmla="*/ 856413 w 3219461"/>
                <a:gd name="connsiteY2" fmla="*/ 3651885 h 3651885"/>
                <a:gd name="connsiteX3" fmla="*/ 0 w 3219461"/>
                <a:gd name="connsiteY3" fmla="*/ 1486535 h 3651885"/>
              </a:gdLst>
              <a:ahLst/>
              <a:cxnLst>
                <a:cxn ang="0">
                  <a:pos x="connsiteX0" y="connsiteY0"/>
                </a:cxn>
                <a:cxn ang="0">
                  <a:pos x="connsiteX1" y="connsiteY1"/>
                </a:cxn>
                <a:cxn ang="0">
                  <a:pos x="connsiteX2" y="connsiteY2"/>
                </a:cxn>
                <a:cxn ang="0">
                  <a:pos x="connsiteX3" y="connsiteY3"/>
                </a:cxn>
              </a:cxnLst>
              <a:rect l="l" t="t" r="r" b="b"/>
              <a:pathLst>
                <a:path w="3219461" h="3651885">
                  <a:moveTo>
                    <a:pt x="3211209" y="0"/>
                  </a:moveTo>
                  <a:lnTo>
                    <a:pt x="3219461" y="3651885"/>
                  </a:lnTo>
                  <a:lnTo>
                    <a:pt x="856413" y="3651885"/>
                  </a:lnTo>
                  <a:lnTo>
                    <a:pt x="0" y="1486535"/>
                  </a:lnTo>
                  <a:close/>
                </a:path>
              </a:pathLst>
            </a:cu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9" name="Freeform 9">
              <a:extLst>
                <a:ext uri="{FF2B5EF4-FFF2-40B4-BE49-F238E27FC236}">
                  <a16:creationId xmlns:a16="http://schemas.microsoft.com/office/drawing/2014/main" id="{A30F6731-815E-4776-953D-E81B3A104FD4}"/>
                </a:ext>
              </a:extLst>
            </p:cNvPr>
            <p:cNvSpPr>
              <a:spLocks/>
            </p:cNvSpPr>
            <p:nvPr userDrawn="1"/>
          </p:nvSpPr>
          <p:spPr bwMode="auto">
            <a:xfrm rot="5400000">
              <a:off x="6413515" y="3402068"/>
              <a:ext cx="1383616" cy="1715151"/>
            </a:xfrm>
            <a:custGeom>
              <a:avLst/>
              <a:gdLst>
                <a:gd name="T0" fmla="*/ 15 w 138"/>
                <a:gd name="T1" fmla="*/ 152 h 176"/>
                <a:gd name="T2" fmla="*/ 48 w 138"/>
                <a:gd name="T3" fmla="*/ 140 h 176"/>
                <a:gd name="T4" fmla="*/ 56 w 138"/>
                <a:gd name="T5" fmla="*/ 140 h 176"/>
                <a:gd name="T6" fmla="*/ 62 w 138"/>
                <a:gd name="T7" fmla="*/ 146 h 176"/>
                <a:gd name="T8" fmla="*/ 79 w 138"/>
                <a:gd name="T9" fmla="*/ 176 h 176"/>
                <a:gd name="T10" fmla="*/ 79 w 138"/>
                <a:gd name="T11" fmla="*/ 176 h 176"/>
                <a:gd name="T12" fmla="*/ 67 w 138"/>
                <a:gd name="T13" fmla="*/ 143 h 176"/>
                <a:gd name="T14" fmla="*/ 67 w 138"/>
                <a:gd name="T15" fmla="*/ 135 h 176"/>
                <a:gd name="T16" fmla="*/ 73 w 138"/>
                <a:gd name="T17" fmla="*/ 129 h 176"/>
                <a:gd name="T18" fmla="*/ 138 w 138"/>
                <a:gd name="T19" fmla="*/ 97 h 176"/>
                <a:gd name="T20" fmla="*/ 138 w 138"/>
                <a:gd name="T21" fmla="*/ 97 h 176"/>
                <a:gd name="T22" fmla="*/ 70 w 138"/>
                <a:gd name="T23" fmla="*/ 124 h 176"/>
                <a:gd name="T24" fmla="*/ 62 w 138"/>
                <a:gd name="T25" fmla="*/ 124 h 176"/>
                <a:gd name="T26" fmla="*/ 56 w 138"/>
                <a:gd name="T27" fmla="*/ 118 h 176"/>
                <a:gd name="T28" fmla="*/ 0 w 138"/>
                <a:gd name="T29" fmla="*/ 0 h 176"/>
                <a:gd name="T30" fmla="*/ 0 w 138"/>
                <a:gd name="T31" fmla="*/ 0 h 176"/>
                <a:gd name="T32" fmla="*/ 51 w 138"/>
                <a:gd name="T33" fmla="*/ 121 h 176"/>
                <a:gd name="T34" fmla="*/ 51 w 138"/>
                <a:gd name="T35" fmla="*/ 129 h 176"/>
                <a:gd name="T36" fmla="*/ 45 w 138"/>
                <a:gd name="T37" fmla="*/ 135 h 176"/>
                <a:gd name="T38" fmla="*/ 15 w 138"/>
                <a:gd name="T39" fmla="*/ 152 h 176"/>
                <a:gd name="T40" fmla="*/ 15 w 138"/>
                <a:gd name="T41" fmla="*/ 15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8" h="176">
                  <a:moveTo>
                    <a:pt x="15" y="152"/>
                  </a:moveTo>
                  <a:cubicBezTo>
                    <a:pt x="48" y="140"/>
                    <a:pt x="48" y="140"/>
                    <a:pt x="48" y="140"/>
                  </a:cubicBezTo>
                  <a:cubicBezTo>
                    <a:pt x="48" y="140"/>
                    <a:pt x="52" y="138"/>
                    <a:pt x="56" y="140"/>
                  </a:cubicBezTo>
                  <a:cubicBezTo>
                    <a:pt x="60" y="141"/>
                    <a:pt x="62" y="146"/>
                    <a:pt x="62" y="146"/>
                  </a:cubicBezTo>
                  <a:cubicBezTo>
                    <a:pt x="79" y="176"/>
                    <a:pt x="79" y="176"/>
                    <a:pt x="79" y="176"/>
                  </a:cubicBezTo>
                  <a:cubicBezTo>
                    <a:pt x="79" y="176"/>
                    <a:pt x="79" y="176"/>
                    <a:pt x="79" y="176"/>
                  </a:cubicBezTo>
                  <a:cubicBezTo>
                    <a:pt x="67" y="143"/>
                    <a:pt x="67" y="143"/>
                    <a:pt x="67" y="143"/>
                  </a:cubicBezTo>
                  <a:cubicBezTo>
                    <a:pt x="67" y="143"/>
                    <a:pt x="66" y="139"/>
                    <a:pt x="67" y="135"/>
                  </a:cubicBezTo>
                  <a:cubicBezTo>
                    <a:pt x="68" y="131"/>
                    <a:pt x="73" y="129"/>
                    <a:pt x="73" y="129"/>
                  </a:cubicBezTo>
                  <a:cubicBezTo>
                    <a:pt x="138" y="97"/>
                    <a:pt x="138" y="97"/>
                    <a:pt x="138" y="97"/>
                  </a:cubicBezTo>
                  <a:cubicBezTo>
                    <a:pt x="138" y="97"/>
                    <a:pt x="138" y="97"/>
                    <a:pt x="138" y="97"/>
                  </a:cubicBezTo>
                  <a:cubicBezTo>
                    <a:pt x="70" y="124"/>
                    <a:pt x="70" y="124"/>
                    <a:pt x="70" y="124"/>
                  </a:cubicBezTo>
                  <a:cubicBezTo>
                    <a:pt x="70" y="124"/>
                    <a:pt x="66" y="126"/>
                    <a:pt x="62" y="124"/>
                  </a:cubicBezTo>
                  <a:cubicBezTo>
                    <a:pt x="58" y="123"/>
                    <a:pt x="56" y="118"/>
                    <a:pt x="56" y="118"/>
                  </a:cubicBezTo>
                  <a:cubicBezTo>
                    <a:pt x="0" y="0"/>
                    <a:pt x="0" y="0"/>
                    <a:pt x="0" y="0"/>
                  </a:cubicBezTo>
                  <a:cubicBezTo>
                    <a:pt x="0" y="0"/>
                    <a:pt x="0" y="0"/>
                    <a:pt x="0" y="0"/>
                  </a:cubicBezTo>
                  <a:cubicBezTo>
                    <a:pt x="51" y="121"/>
                    <a:pt x="51" y="121"/>
                    <a:pt x="51" y="121"/>
                  </a:cubicBezTo>
                  <a:cubicBezTo>
                    <a:pt x="51" y="121"/>
                    <a:pt x="53" y="125"/>
                    <a:pt x="51" y="129"/>
                  </a:cubicBezTo>
                  <a:cubicBezTo>
                    <a:pt x="50" y="133"/>
                    <a:pt x="45" y="135"/>
                    <a:pt x="45" y="135"/>
                  </a:cubicBezTo>
                  <a:cubicBezTo>
                    <a:pt x="15" y="152"/>
                    <a:pt x="15" y="152"/>
                    <a:pt x="15" y="152"/>
                  </a:cubicBezTo>
                  <a:cubicBezTo>
                    <a:pt x="15" y="152"/>
                    <a:pt x="15" y="152"/>
                    <a:pt x="15" y="152"/>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13" name="Rectangle 2">
            <a:extLst>
              <a:ext uri="{FF2B5EF4-FFF2-40B4-BE49-F238E27FC236}">
                <a16:creationId xmlns:a16="http://schemas.microsoft.com/office/drawing/2014/main" id="{4B9BCE56-0D77-46A7-95A7-0B3C13920617}"/>
              </a:ext>
            </a:extLst>
          </p:cNvPr>
          <p:cNvSpPr>
            <a:spLocks noGrp="1" noChangeArrowheads="1"/>
          </p:cNvSpPr>
          <p:nvPr>
            <p:ph type="ctrTitle"/>
          </p:nvPr>
        </p:nvSpPr>
        <p:spPr>
          <a:xfrm>
            <a:off x="1438939" y="2274530"/>
            <a:ext cx="7200000" cy="432000"/>
          </a:xfrm>
          <a:prstGeom prst="rect">
            <a:avLst/>
          </a:prstGeom>
        </p:spPr>
        <p:txBody>
          <a:bodyPr lIns="0" tIns="0" rIns="0" bIns="0" anchor="ctr" anchorCtr="1"/>
          <a:lstStyle>
            <a:lvl1pPr algn="ctr">
              <a:lnSpc>
                <a:spcPct val="100000"/>
              </a:lnSpc>
              <a:defRPr sz="2800" b="1">
                <a:solidFill>
                  <a:schemeClr val="tx1"/>
                </a:solidFill>
                <a:latin typeface="Arial" panose="020B0604020202020204" pitchFamily="34" charset="0"/>
                <a:cs typeface="Arial" panose="020B0604020202020204" pitchFamily="34" charset="0"/>
              </a:defRPr>
            </a:lvl1pPr>
          </a:lstStyle>
          <a:p>
            <a:pPr lvl="0"/>
            <a:r>
              <a:rPr lang="en-US" altLang="en-US" noProof="0"/>
              <a:t>Click to edit Master title style</a:t>
            </a:r>
            <a:endParaRPr lang="en-GB" altLang="en-US" noProof="0"/>
          </a:p>
        </p:txBody>
      </p:sp>
      <p:sp>
        <p:nvSpPr>
          <p:cNvPr id="14" name="Rectangle 16">
            <a:extLst>
              <a:ext uri="{FF2B5EF4-FFF2-40B4-BE49-F238E27FC236}">
                <a16:creationId xmlns:a16="http://schemas.microsoft.com/office/drawing/2014/main" id="{7BC465F4-ABBA-4B11-8D75-65D36561FAB6}"/>
              </a:ext>
            </a:extLst>
          </p:cNvPr>
          <p:cNvSpPr>
            <a:spLocks noGrp="1" noChangeArrowheads="1"/>
          </p:cNvSpPr>
          <p:nvPr>
            <p:ph type="subTitle" idx="1"/>
          </p:nvPr>
        </p:nvSpPr>
        <p:spPr>
          <a:xfrm>
            <a:off x="1438939" y="2795954"/>
            <a:ext cx="7200000" cy="360000"/>
          </a:xfrm>
          <a:prstGeom prst="rect">
            <a:avLst/>
          </a:prstGeom>
          <a:extLst>
            <a:ext uri="{909E8E84-426E-40DD-AFC4-6F175D3DCCD1}">
              <a14:hiddenFill xmlns:a14="http://schemas.microsoft.com/office/drawing/2010/main">
                <a:solidFill>
                  <a:schemeClr val="accent1"/>
                </a:solidFill>
              </a14:hiddenFill>
            </a:ext>
          </a:extLst>
        </p:spPr>
        <p:txBody>
          <a:bodyPr lIns="0" tIns="0" rIns="0" bIns="0" anchor="ctr" anchorCtr="1"/>
          <a:lstStyle>
            <a:lvl1pPr marL="0" indent="0" algn="ctr">
              <a:lnSpc>
                <a:spcPct val="100000"/>
              </a:lnSpc>
              <a:buFont typeface="Wingdings" panose="05000000000000000000" pitchFamily="2" charset="2"/>
              <a:buNone/>
              <a:defRPr sz="2000" b="1">
                <a:solidFill>
                  <a:schemeClr val="tx1"/>
                </a:solidFill>
                <a:latin typeface="Arial" panose="020B0604020202020204" pitchFamily="34" charset="0"/>
                <a:cs typeface="Arial" panose="020B0604020202020204" pitchFamily="34" charset="0"/>
              </a:defRPr>
            </a:lvl1pPr>
          </a:lstStyle>
          <a:p>
            <a:pPr lvl="0"/>
            <a:r>
              <a:rPr lang="en-US" altLang="en-US" noProof="0"/>
              <a:t>Click to edit Master subtitle style</a:t>
            </a:r>
            <a:endParaRPr lang="en-GB" altLang="en-US" noProof="0"/>
          </a:p>
        </p:txBody>
      </p:sp>
      <p:sp>
        <p:nvSpPr>
          <p:cNvPr id="15" name="Text Placeholder 2">
            <a:extLst>
              <a:ext uri="{FF2B5EF4-FFF2-40B4-BE49-F238E27FC236}">
                <a16:creationId xmlns:a16="http://schemas.microsoft.com/office/drawing/2014/main" id="{06CB6471-BEB5-42B8-A368-4E2D71C31D32}"/>
              </a:ext>
            </a:extLst>
          </p:cNvPr>
          <p:cNvSpPr>
            <a:spLocks noGrp="1"/>
          </p:cNvSpPr>
          <p:nvPr>
            <p:ph type="body" sz="quarter" idx="11" hasCustomPrompt="1"/>
          </p:nvPr>
        </p:nvSpPr>
        <p:spPr>
          <a:xfrm>
            <a:off x="1438939" y="3169032"/>
            <a:ext cx="7200000" cy="216000"/>
          </a:xfrm>
          <a:prstGeom prst="rect">
            <a:avLst/>
          </a:prstGeom>
        </p:spPr>
        <p:txBody>
          <a:bodyPr lIns="0" tIns="0" rIns="0" bIns="0" anchor="ctr" anchorCtr="1"/>
          <a:lstStyle>
            <a:lvl1pPr marL="0" indent="0" algn="ctr">
              <a:lnSpc>
                <a:spcPct val="100000"/>
              </a:lnSpc>
              <a:buNone/>
              <a:defRPr sz="1600">
                <a:latin typeface="Arial" panose="020B0604020202020204" pitchFamily="34" charset="0"/>
                <a:cs typeface="Arial" panose="020B0604020202020204" pitchFamily="34" charset="0"/>
              </a:defRPr>
            </a:lvl1pPr>
            <a:lvl2pPr marL="371475" indent="0">
              <a:buNone/>
              <a:defRPr/>
            </a:lvl2pPr>
            <a:lvl3pPr marL="742950" indent="0">
              <a:buNone/>
              <a:defRPr/>
            </a:lvl3pPr>
            <a:lvl4pPr marL="1114425" indent="0">
              <a:buNone/>
              <a:defRPr/>
            </a:lvl4pPr>
            <a:lvl5pPr marL="1485900" indent="0">
              <a:buNone/>
              <a:defRPr/>
            </a:lvl5pPr>
          </a:lstStyle>
          <a:p>
            <a:pPr lvl="0"/>
            <a:r>
              <a:rPr lang="en-US"/>
              <a:t>[Date]</a:t>
            </a:r>
          </a:p>
        </p:txBody>
      </p:sp>
    </p:spTree>
    <p:extLst>
      <p:ext uri="{BB962C8B-B14F-4D97-AF65-F5344CB8AC3E}">
        <p14:creationId xmlns:p14="http://schemas.microsoft.com/office/powerpoint/2010/main" val="12542956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SectionDivider">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EA366C9-F8B7-4929-8E6E-FA98B0A571F7}"/>
              </a:ext>
            </a:extLst>
          </p:cNvPr>
          <p:cNvGraphicFramePr>
            <a:graphicFrameLocks noChangeAspect="1"/>
          </p:cNvGraphicFramePr>
          <p:nvPr userDrawn="1">
            <p:custDataLst>
              <p:tags r:id="rId1"/>
            </p:custDataLst>
            <p:extLst>
              <p:ext uri="{D42A27DB-BD31-4B8C-83A1-F6EECF244321}">
                <p14:modId xmlns:p14="http://schemas.microsoft.com/office/powerpoint/2010/main" val="563535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3" name="Object 2" hidden="1">
                        <a:extLst>
                          <a:ext uri="{FF2B5EF4-FFF2-40B4-BE49-F238E27FC236}">
                            <a16:creationId xmlns:a16="http://schemas.microsoft.com/office/drawing/2014/main" id="{1EA366C9-F8B7-4929-8E6E-FA98B0A571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9" name="Picture 7">
            <a:extLst>
              <a:ext uri="{FF2B5EF4-FFF2-40B4-BE49-F238E27FC236}">
                <a16:creationId xmlns:a16="http://schemas.microsoft.com/office/drawing/2014/main" id="{BC0FC7A8-B1CD-44AE-9029-333FC3CA7AB6}"/>
              </a:ext>
            </a:extLst>
          </p:cNvPr>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46405" y="193124"/>
            <a:ext cx="8959595" cy="50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6" name="Rectangle 16"/>
          <p:cNvSpPr>
            <a:spLocks noGrp="1" noChangeArrowheads="1"/>
          </p:cNvSpPr>
          <p:nvPr>
            <p:ph type="subTitle" idx="1" hasCustomPrompt="1"/>
          </p:nvPr>
        </p:nvSpPr>
        <p:spPr>
          <a:xfrm>
            <a:off x="2242944" y="3601093"/>
            <a:ext cx="7200000" cy="492443"/>
          </a:xfrm>
          <a:prstGeom prst="rect">
            <a:avLst/>
          </a:prstGeom>
          <a:extLst>
            <a:ext uri="{909E8E84-426E-40DD-AFC4-6F175D3DCCD1}">
              <a14:hiddenFill xmlns:a14="http://schemas.microsoft.com/office/drawing/2010/main">
                <a:solidFill>
                  <a:schemeClr val="accent1"/>
                </a:solidFill>
              </a14:hiddenFill>
            </a:ext>
          </a:extLst>
        </p:spPr>
        <p:txBody>
          <a:bodyPr wrap="square" lIns="0" tIns="91440" rIns="0" bIns="91440" anchor="b" anchorCtr="0">
            <a:spAutoFit/>
          </a:bodyPr>
          <a:lstStyle>
            <a:lvl1pPr marL="0" indent="0" algn="l">
              <a:spcBef>
                <a:spcPts val="0"/>
              </a:spcBef>
              <a:buFont typeface="Wingdings" panose="05000000000000000000" pitchFamily="2" charset="2"/>
              <a:buNone/>
              <a:defRPr sz="2000" b="1" baseline="0">
                <a:solidFill>
                  <a:schemeClr val="tx1"/>
                </a:solidFill>
                <a:latin typeface="+mj-lt"/>
                <a:cs typeface="Arial" panose="020B0604020202020204" pitchFamily="34" charset="0"/>
              </a:defRPr>
            </a:lvl1pPr>
          </a:lstStyle>
          <a:p>
            <a:pPr lvl="0"/>
            <a:r>
              <a:rPr lang="en-US" altLang="en-US" noProof="0"/>
              <a:t>Section [#]</a:t>
            </a:r>
            <a:endParaRPr lang="en-GB" altLang="en-US" noProof="0"/>
          </a:p>
        </p:txBody>
      </p:sp>
      <p:sp>
        <p:nvSpPr>
          <p:cNvPr id="35842" name="Rectangle 2"/>
          <p:cNvSpPr>
            <a:spLocks noGrp="1" noChangeArrowheads="1"/>
          </p:cNvSpPr>
          <p:nvPr>
            <p:ph type="ctrTitle" hasCustomPrompt="1"/>
          </p:nvPr>
        </p:nvSpPr>
        <p:spPr>
          <a:xfrm>
            <a:off x="2242944" y="4131897"/>
            <a:ext cx="7200000" cy="800219"/>
          </a:xfrm>
          <a:prstGeom prst="rect">
            <a:avLst/>
          </a:prstGeom>
        </p:spPr>
        <p:txBody>
          <a:bodyPr vert="horz" wrap="square" lIns="0" tIns="91440" rIns="0" bIns="91440" anchor="t" anchorCtr="0">
            <a:spAutoFit/>
          </a:bodyPr>
          <a:lstStyle>
            <a:lvl1pPr algn="l">
              <a:defRPr sz="2000" b="1" baseline="0">
                <a:solidFill>
                  <a:srgbClr val="C00000"/>
                </a:solidFill>
                <a:latin typeface="+mj-lt"/>
                <a:cs typeface="Arial" panose="020B0604020202020204" pitchFamily="34" charset="0"/>
              </a:defRPr>
            </a:lvl1pPr>
          </a:lstStyle>
          <a:p>
            <a:pPr lvl="0"/>
            <a:r>
              <a:rPr lang="en-US" altLang="en-US" noProof="0"/>
              <a:t>Section Title – 1</a:t>
            </a:r>
            <a:br>
              <a:rPr lang="en-US" altLang="en-US" noProof="0"/>
            </a:br>
            <a:r>
              <a:rPr lang="en-US" altLang="en-US" noProof="0"/>
              <a:t>Section Title – 2</a:t>
            </a:r>
            <a:endParaRPr lang="en-GB" altLang="en-US" noProof="0"/>
          </a:p>
        </p:txBody>
      </p:sp>
      <p:cxnSp>
        <p:nvCxnSpPr>
          <p:cNvPr id="13" name="Straight Connector 12">
            <a:extLst>
              <a:ext uri="{FF2B5EF4-FFF2-40B4-BE49-F238E27FC236}">
                <a16:creationId xmlns:a16="http://schemas.microsoft.com/office/drawing/2014/main" id="{91B9AEA7-1E6E-446B-91AB-288886B15ECF}"/>
              </a:ext>
            </a:extLst>
          </p:cNvPr>
          <p:cNvCxnSpPr/>
          <p:nvPr userDrawn="1"/>
        </p:nvCxnSpPr>
        <p:spPr>
          <a:xfrm>
            <a:off x="2242944" y="4117243"/>
            <a:ext cx="7200000" cy="0"/>
          </a:xfrm>
          <a:prstGeom prst="line">
            <a:avLst/>
          </a:prstGeom>
          <a:ln w="190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2" name="Rectangle 4">
            <a:extLst>
              <a:ext uri="{FF2B5EF4-FFF2-40B4-BE49-F238E27FC236}">
                <a16:creationId xmlns:a16="http://schemas.microsoft.com/office/drawing/2014/main" id="{258C24EE-2C5D-7473-1682-5B968B2E5C26}"/>
              </a:ext>
            </a:extLst>
          </p:cNvPr>
          <p:cNvSpPr>
            <a:spLocks noGrp="1" noChangeArrowheads="1"/>
          </p:cNvSpPr>
          <p:nvPr>
            <p:ph type="sldNum" sz="quarter" idx="4"/>
          </p:nvPr>
        </p:nvSpPr>
        <p:spPr bwMode="auto">
          <a:xfrm>
            <a:off x="8555964" y="6370638"/>
            <a:ext cx="1155700" cy="381000"/>
          </a:xfrm>
          <a:prstGeom prst="rect">
            <a:avLst/>
          </a:prstGeom>
          <a:noFill/>
          <a:ln w="9525">
            <a:noFill/>
            <a:miter lim="800000"/>
            <a:headEnd/>
            <a:tailEnd/>
          </a:ln>
          <a:effectLst/>
        </p:spPr>
        <p:txBody>
          <a:bodyPr vert="horz" wrap="none" lIns="45720" tIns="45720" rIns="45720" bIns="45720" numCol="1" anchor="ctr" anchorCtr="0" compatLnSpc="1">
            <a:prstTxWarp prst="textNoShape">
              <a:avLst/>
            </a:prstTxWarp>
          </a:bodyPr>
          <a:lstStyle>
            <a:lvl1pPr algn="r" eaLnBrk="0" hangingPunct="0">
              <a:defRPr sz="900">
                <a:latin typeface="+mn-lt"/>
                <a:ea typeface="DFKaiShu-GB5" pitchFamily="65" charset="-128"/>
                <a:cs typeface="+mn-cs"/>
              </a:defRPr>
            </a:lvl1pPr>
          </a:lstStyle>
          <a:p>
            <a:pPr>
              <a:spcBef>
                <a:spcPct val="0"/>
              </a:spcBef>
              <a:defRPr/>
            </a:pPr>
            <a:fld id="{EFB97E77-A14C-4D4A-B483-93BB0C8192BC}" type="slidenum">
              <a:rPr lang="en-US" altLang="en-US" b="0" smtClean="0">
                <a:solidFill>
                  <a:srgbClr val="000000"/>
                </a:solidFill>
              </a:rPr>
              <a:pPr>
                <a:spcBef>
                  <a:spcPct val="0"/>
                </a:spcBef>
                <a:defRPr/>
              </a:pPr>
              <a:t>‹#›</a:t>
            </a:fld>
            <a:endParaRPr lang="en-US" altLang="en-US" b="0">
              <a:solidFill>
                <a:srgbClr val="000000"/>
              </a:solidFill>
            </a:endParaRPr>
          </a:p>
        </p:txBody>
      </p:sp>
    </p:spTree>
    <p:extLst>
      <p:ext uri="{BB962C8B-B14F-4D97-AF65-F5344CB8AC3E}">
        <p14:creationId xmlns:p14="http://schemas.microsoft.com/office/powerpoint/2010/main" val="209867413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17153" y="1280159"/>
            <a:ext cx="8494051" cy="48190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b="0"/>
            </a:lvl1pPr>
          </a:lstStyle>
          <a:p>
            <a:pPr>
              <a:defRPr/>
            </a:pPr>
            <a:fld id="{8795C5C0-7116-4AAA-B0BC-FF75AF793D81}" type="slidenum">
              <a:rPr lang="en-US" altLang="en-US" smtClean="0">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05624137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E4BF70EC-A221-DC4C-0E75-1ADE0EBABE07}"/>
              </a:ext>
            </a:extLst>
          </p:cNvPr>
          <p:cNvSpPr>
            <a:spLocks noGrp="1" noChangeArrowheads="1"/>
          </p:cNvSpPr>
          <p:nvPr>
            <p:ph type="sldNum" sz="quarter" idx="4"/>
          </p:nvPr>
        </p:nvSpPr>
        <p:spPr bwMode="auto">
          <a:xfrm>
            <a:off x="8555964" y="6370638"/>
            <a:ext cx="1155700" cy="381000"/>
          </a:xfrm>
          <a:prstGeom prst="rect">
            <a:avLst/>
          </a:prstGeom>
          <a:noFill/>
          <a:ln w="9525">
            <a:noFill/>
            <a:miter lim="800000"/>
            <a:headEnd/>
            <a:tailEnd/>
          </a:ln>
          <a:effectLst/>
        </p:spPr>
        <p:txBody>
          <a:bodyPr vert="horz" wrap="none" lIns="45720" tIns="45720" rIns="45720" bIns="45720" numCol="1" anchor="ctr" anchorCtr="0" compatLnSpc="1">
            <a:prstTxWarp prst="textNoShape">
              <a:avLst/>
            </a:prstTxWarp>
          </a:bodyPr>
          <a:lstStyle>
            <a:lvl1pPr algn="r" eaLnBrk="0" hangingPunct="0">
              <a:defRPr sz="900">
                <a:latin typeface="+mn-lt"/>
                <a:ea typeface="DFKaiShu-GB5" pitchFamily="65" charset="-128"/>
                <a:cs typeface="+mn-cs"/>
              </a:defRPr>
            </a:lvl1pPr>
          </a:lstStyle>
          <a:p>
            <a:pPr>
              <a:spcBef>
                <a:spcPct val="0"/>
              </a:spcBef>
              <a:defRPr/>
            </a:pPr>
            <a:fld id="{EFB97E77-A14C-4D4A-B483-93BB0C8192BC}" type="slidenum">
              <a:rPr lang="en-US" altLang="en-US" b="0" smtClean="0">
                <a:solidFill>
                  <a:srgbClr val="000000"/>
                </a:solidFill>
              </a:rPr>
              <a:pPr>
                <a:spcBef>
                  <a:spcPct val="0"/>
                </a:spcBef>
                <a:defRPr/>
              </a:pPr>
              <a:t>‹#›</a:t>
            </a:fld>
            <a:endParaRPr lang="en-US" altLang="en-US" b="0">
              <a:solidFill>
                <a:srgbClr val="000000"/>
              </a:solidFill>
            </a:endParaRPr>
          </a:p>
        </p:txBody>
      </p:sp>
    </p:spTree>
    <p:extLst>
      <p:ext uri="{BB962C8B-B14F-4D97-AF65-F5344CB8AC3E}">
        <p14:creationId xmlns:p14="http://schemas.microsoft.com/office/powerpoint/2010/main" val="33671464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01AAE62-B708-4FD4-9A0D-46C84F405A2A}"/>
              </a:ext>
            </a:extLst>
          </p:cNvPr>
          <p:cNvGraphicFramePr>
            <a:graphicFrameLocks noChangeAspect="1"/>
          </p:cNvGraphicFramePr>
          <p:nvPr userDrawn="1">
            <p:custDataLst>
              <p:tags r:id="rId1"/>
            </p:custDataLst>
            <p:extLst>
              <p:ext uri="{D42A27DB-BD31-4B8C-83A1-F6EECF244321}">
                <p14:modId xmlns:p14="http://schemas.microsoft.com/office/powerpoint/2010/main" val="1879197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7" progId="TCLayout.ActiveDocument.1">
                  <p:embed/>
                </p:oleObj>
              </mc:Choice>
              <mc:Fallback>
                <p:oleObj name="think-cell Slide" r:id="rId3" imgW="348" imgH="347" progId="TCLayout.ActiveDocument.1">
                  <p:embed/>
                  <p:pic>
                    <p:nvPicPr>
                      <p:cNvPr id="2" name="Object 1" hidden="1">
                        <a:extLst>
                          <a:ext uri="{FF2B5EF4-FFF2-40B4-BE49-F238E27FC236}">
                            <a16:creationId xmlns:a16="http://schemas.microsoft.com/office/drawing/2014/main" id="{801AAE62-B708-4FD4-9A0D-46C84F405A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7">
            <a:extLst>
              <a:ext uri="{FF2B5EF4-FFF2-40B4-BE49-F238E27FC236}">
                <a16:creationId xmlns:a16="http://schemas.microsoft.com/office/drawing/2014/main" id="{568462B2-821D-427D-826E-75DB00D2A303}"/>
              </a:ext>
            </a:extLst>
          </p:cNvPr>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43428" y="1153172"/>
            <a:ext cx="8959595" cy="50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Graphical user interface&#10;&#10;Description automatically generated with low confidence">
            <a:extLst>
              <a:ext uri="{FF2B5EF4-FFF2-40B4-BE49-F238E27FC236}">
                <a16:creationId xmlns:a16="http://schemas.microsoft.com/office/drawing/2014/main" id="{02D298FA-103C-415C-90C6-8511F80E91A5}"/>
              </a:ext>
            </a:extLst>
          </p:cNvPr>
          <p:cNvPicPr>
            <a:picLocks noChangeAspect="1"/>
          </p:cNvPicPr>
          <p:nvPr userDrawn="1"/>
        </p:nvPicPr>
        <p:blipFill>
          <a:blip r:embed="rId6"/>
          <a:stretch>
            <a:fillRect/>
          </a:stretch>
        </p:blipFill>
        <p:spPr>
          <a:xfrm>
            <a:off x="1" y="755650"/>
            <a:ext cx="1620000" cy="539493"/>
          </a:xfrm>
          <a:prstGeom prst="rect">
            <a:avLst/>
          </a:prstGeom>
        </p:spPr>
      </p:pic>
      <p:sp>
        <p:nvSpPr>
          <p:cNvPr id="8" name="Rectangle 11">
            <a:extLst>
              <a:ext uri="{FF2B5EF4-FFF2-40B4-BE49-F238E27FC236}">
                <a16:creationId xmlns:a16="http://schemas.microsoft.com/office/drawing/2014/main" id="{F694BC04-BC56-4926-8D6A-C347FA4E7C1E}"/>
              </a:ext>
            </a:extLst>
          </p:cNvPr>
          <p:cNvSpPr>
            <a:spLocks noChangeArrowheads="1"/>
          </p:cNvSpPr>
          <p:nvPr userDrawn="1"/>
        </p:nvSpPr>
        <p:spPr bwMode="auto">
          <a:xfrm>
            <a:off x="456065" y="3734336"/>
            <a:ext cx="9007023" cy="2387064"/>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Important Notice</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Presentation (the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Presentation</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presented by DBS Bank and its affiliates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DBS</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is partially based on information obtained from market sources. Although the attached Presentation is predicated on market information relating to the company to which DBS provides a copy (the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Company</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DBS has not independently verified any such information or representation and accordingly, cannot and do not warrant, and do not accept responsibility for the accuracy, completeness or adequacy of such information or representations. DBS puts forward this Presentation in good faith as a basis for consideration by the Company.  </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is possible that the ideas proposed herein are inappropriate should the market information relating to the Company’s business and/or business environment be incorrect. Any information, as contemplated herein, not be disclosed by the Company publicly or made available to any third parties. You should be aware that DBS is not, and does not hold itself to be an advisor as to legal, taxation, accounting or regulatory matters in any jurisdiction; accordingly, neither DBS, nor any of its directors, officers, employees or agents (each a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Relevant Person</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shall incur any responsibility or liability with respect to any action, omission, recommendation or comment made by them or any Relevant Person in relation to any such matters or anything contained herein, and the Company shall be responsible for obtaining all such advice as it thinks appropriate on such matters.</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Company alone shall be responsible for making its own independent investigation and appraisal of the risks, benefits and suitability of the recommendations contained in this Presentation and DBS shall incur no responsibility or liability whatsoever to the Company in respect thereof. No action, omission, recommendation or comment made by DBS or any Relevant Person in relation to the Presentation shall constitute, or be deemed to constitute, a representation, warranty or undertaking by DBS or any Relevant Person. This Presentation has not been reviewed with appropriate or relevant legal counsel and DBS reserves the right without assuming the obligation to seek such legal opinions as be required to ensure that the views set out by DBS fully complies with all legal and regulatory requirements. Nothing in this Presentation should be construed as an offer or a solicitation of an offer to buy or sell any securities. The reproduction and/or dissemination of the contents herein is prohibited without our prior approval.</a:t>
            </a:r>
            <a:endParaRPr kumimoji="0" lang="en-GB"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85762302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7153" y="429768"/>
            <a:ext cx="8494051" cy="577850"/>
          </a:xfrm>
        </p:spPr>
        <p:txBody>
          <a:bodyPr/>
          <a:lstStyle>
            <a:lvl1pPr>
              <a:defRPr sz="2000">
                <a:latin typeface="+mn-lt"/>
                <a:ea typeface="DFKaiShu-GB5" pitchFamily="65" charset="-128"/>
              </a:defRPr>
            </a:lvl1pPr>
          </a:lstStyle>
          <a:p>
            <a:r>
              <a:rPr lang="en-US" dirty="0"/>
              <a:t>Click to edit Master title style</a:t>
            </a:r>
          </a:p>
        </p:txBody>
      </p:sp>
      <p:sp>
        <p:nvSpPr>
          <p:cNvPr id="3" name="Rectangle 4"/>
          <p:cNvSpPr>
            <a:spLocks noGrp="1" noChangeArrowheads="1"/>
          </p:cNvSpPr>
          <p:nvPr>
            <p:ph type="sldNum" sz="quarter" idx="10"/>
          </p:nvPr>
        </p:nvSpPr>
        <p:spPr>
          <a:ln/>
        </p:spPr>
        <p:txBody>
          <a:bodyPr/>
          <a:lstStyle>
            <a:lvl1pPr>
              <a:defRPr>
                <a:latin typeface="+mn-lt"/>
                <a:ea typeface="DFKaiShu-GB5" pitchFamily="65" charset="-128"/>
              </a:defRPr>
            </a:lvl1pPr>
          </a:lstStyle>
          <a:p>
            <a:pPr>
              <a:defRPr/>
            </a:pPr>
            <a:fld id="{AB28634A-1A9A-44FD-A02A-BFA3EA145BD2}" type="slidenum">
              <a:rPr lang="en-US" altLang="en-US" smtClean="0">
                <a:solidFill>
                  <a:srgbClr val="000000"/>
                </a:solidFill>
              </a:rPr>
              <a:pPr>
                <a:defRPr/>
              </a:pPr>
              <a:t>‹#›</a:t>
            </a:fld>
            <a:endParaRPr lang="en-US" altLang="en-US" dirty="0">
              <a:solidFill>
                <a:srgbClr val="000000"/>
              </a:solidFill>
            </a:endParaRPr>
          </a:p>
        </p:txBody>
      </p:sp>
    </p:spTree>
    <p:extLst>
      <p:ext uri="{BB962C8B-B14F-4D97-AF65-F5344CB8AC3E}">
        <p14:creationId xmlns:p14="http://schemas.microsoft.com/office/powerpoint/2010/main" val="784428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Normal Page_white without spark">
    <p:spTree>
      <p:nvGrpSpPr>
        <p:cNvPr id="1" name=""/>
        <p:cNvGrpSpPr/>
        <p:nvPr/>
      </p:nvGrpSpPr>
      <p:grpSpPr>
        <a:xfrm>
          <a:off x="0" y="0"/>
          <a:ext cx="0" cy="0"/>
          <a:chOff x="0" y="0"/>
          <a:chExt cx="0" cy="0"/>
        </a:xfrm>
      </p:grpSpPr>
      <p:sp>
        <p:nvSpPr>
          <p:cNvPr id="9" name="Title 1"/>
          <p:cNvSpPr>
            <a:spLocks noGrp="1"/>
          </p:cNvSpPr>
          <p:nvPr>
            <p:ph type="title"/>
          </p:nvPr>
        </p:nvSpPr>
        <p:spPr>
          <a:xfrm>
            <a:off x="495300" y="448056"/>
            <a:ext cx="8915400" cy="577850"/>
          </a:xfrm>
          <a:prstGeom prst="rect">
            <a:avLst/>
          </a:prstGeom>
        </p:spPr>
        <p:txBody>
          <a:bodyPr lIns="0" anchor="b" anchorCtr="0"/>
          <a:lstStyle>
            <a:lvl1pPr>
              <a:defRPr sz="1950"/>
            </a:lvl1pPr>
          </a:lstStyle>
          <a:p>
            <a:r>
              <a:rPr lang="en-US"/>
              <a:t>Click to edit Master title style</a:t>
            </a:r>
          </a:p>
        </p:txBody>
      </p:sp>
      <p:sp>
        <p:nvSpPr>
          <p:cNvPr id="6" name="Slide Number Placeholder 6"/>
          <p:cNvSpPr>
            <a:spLocks noGrp="1"/>
          </p:cNvSpPr>
          <p:nvPr>
            <p:ph type="sldNum" sz="quarter" idx="14"/>
          </p:nvPr>
        </p:nvSpPr>
        <p:spPr/>
        <p:txBody>
          <a:bodyPr/>
          <a:lstStyle>
            <a:lvl1pPr>
              <a:defRPr>
                <a:solidFill>
                  <a:schemeClr val="tx2">
                    <a:lumMod val="50000"/>
                  </a:schemeClr>
                </a:solidFill>
              </a:defRPr>
            </a:lvl1pPr>
          </a:lstStyle>
          <a:p>
            <a:pPr>
              <a:defRPr/>
            </a:pPr>
            <a:fld id="{1F16F30C-A594-4D63-A3AB-8699917C4F77}" type="slidenum">
              <a:rPr lang="en-US" smtClean="0"/>
              <a:t>‹#›</a:t>
            </a:fld>
            <a:endParaRPr lang="en-US"/>
          </a:p>
        </p:txBody>
      </p:sp>
    </p:spTree>
    <p:extLst>
      <p:ext uri="{BB962C8B-B14F-4D97-AF65-F5344CB8AC3E}">
        <p14:creationId xmlns:p14="http://schemas.microsoft.com/office/powerpoint/2010/main" val="624918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Normal Page_white without spark">
    <p:spTree>
      <p:nvGrpSpPr>
        <p:cNvPr id="1" name=""/>
        <p:cNvGrpSpPr/>
        <p:nvPr/>
      </p:nvGrpSpPr>
      <p:grpSpPr>
        <a:xfrm>
          <a:off x="0" y="0"/>
          <a:ext cx="0" cy="0"/>
          <a:chOff x="0" y="0"/>
          <a:chExt cx="0" cy="0"/>
        </a:xfrm>
      </p:grpSpPr>
      <p:sp>
        <p:nvSpPr>
          <p:cNvPr id="9" name="Title 1"/>
          <p:cNvSpPr>
            <a:spLocks noGrp="1"/>
          </p:cNvSpPr>
          <p:nvPr>
            <p:ph type="title"/>
          </p:nvPr>
        </p:nvSpPr>
        <p:spPr>
          <a:xfrm>
            <a:off x="495300" y="448056"/>
            <a:ext cx="8915400" cy="577850"/>
          </a:xfrm>
          <a:prstGeom prst="rect">
            <a:avLst/>
          </a:prstGeom>
        </p:spPr>
        <p:txBody>
          <a:bodyPr lIns="0" anchor="b" anchorCtr="0"/>
          <a:lstStyle>
            <a:lvl1pPr>
              <a:defRPr sz="1950"/>
            </a:lvl1pPr>
          </a:lstStyle>
          <a:p>
            <a:r>
              <a:rPr lang="en-US"/>
              <a:t>Click to edit Master title style</a:t>
            </a:r>
          </a:p>
        </p:txBody>
      </p:sp>
      <p:sp>
        <p:nvSpPr>
          <p:cNvPr id="6" name="Slide Number Placeholder 6"/>
          <p:cNvSpPr>
            <a:spLocks noGrp="1"/>
          </p:cNvSpPr>
          <p:nvPr>
            <p:ph type="sldNum" sz="quarter" idx="14"/>
          </p:nvPr>
        </p:nvSpPr>
        <p:spPr/>
        <p:txBody>
          <a:bodyPr/>
          <a:lstStyle>
            <a:lvl1pPr>
              <a:defRPr>
                <a:solidFill>
                  <a:schemeClr val="tx2">
                    <a:lumMod val="50000"/>
                  </a:schemeClr>
                </a:solidFill>
              </a:defRPr>
            </a:lvl1pPr>
          </a:lstStyle>
          <a:p>
            <a:pPr>
              <a:defRPr/>
            </a:pPr>
            <a:fld id="{1F16F30C-A594-4D63-A3AB-8699917C4F77}" type="slidenum">
              <a:rPr lang="en-US" smtClean="0"/>
              <a:t>‹#›</a:t>
            </a:fld>
            <a:endParaRPr lang="en-US"/>
          </a:p>
        </p:txBody>
      </p:sp>
      <p:sp>
        <p:nvSpPr>
          <p:cNvPr id="3" name="Text Placeholder 2">
            <a:extLst>
              <a:ext uri="{FF2B5EF4-FFF2-40B4-BE49-F238E27FC236}">
                <a16:creationId xmlns:a16="http://schemas.microsoft.com/office/drawing/2014/main" id="{924FDC23-13DB-CAE8-84CA-332BAF0477B8}"/>
              </a:ext>
            </a:extLst>
          </p:cNvPr>
          <p:cNvSpPr>
            <a:spLocks noGrp="1"/>
          </p:cNvSpPr>
          <p:nvPr>
            <p:ph type="body" sz="quarter" idx="15"/>
          </p:nvPr>
        </p:nvSpPr>
        <p:spPr>
          <a:xfrm>
            <a:off x="495300" y="1310710"/>
            <a:ext cx="8915400" cy="1173078"/>
          </a:xfrm>
          <a:prstGeom prst="rect">
            <a:avLst/>
          </a:prstGeom>
        </p:spPr>
        <p:txBody>
          <a:bodyPr>
            <a:spAutoFit/>
          </a:bodyPr>
          <a:lstStyle>
            <a:lvl1pPr>
              <a:spcBef>
                <a:spcPts val="244"/>
              </a:spcBef>
              <a:spcAft>
                <a:spcPts val="244"/>
              </a:spcAft>
              <a:defRPr sz="1138"/>
            </a:lvl1pPr>
            <a:lvl2pPr>
              <a:spcBef>
                <a:spcPts val="244"/>
              </a:spcBef>
              <a:spcAft>
                <a:spcPts val="244"/>
              </a:spcAft>
              <a:defRPr sz="1138"/>
            </a:lvl2pPr>
            <a:lvl3pPr>
              <a:spcBef>
                <a:spcPts val="244"/>
              </a:spcBef>
              <a:spcAft>
                <a:spcPts val="244"/>
              </a:spcAft>
              <a:defRPr sz="1138"/>
            </a:lvl3pPr>
            <a:lvl4pPr>
              <a:spcBef>
                <a:spcPts val="244"/>
              </a:spcBef>
              <a:spcAft>
                <a:spcPts val="244"/>
              </a:spcAft>
              <a:defRPr sz="1138"/>
            </a:lvl4pPr>
            <a:lvl5pPr>
              <a:spcBef>
                <a:spcPts val="244"/>
              </a:spcBef>
              <a:spcAft>
                <a:spcPts val="244"/>
              </a:spcAft>
              <a:defRPr sz="1138"/>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718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717153" y="381000"/>
            <a:ext cx="8494051" cy="577850"/>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p>
            <a:pPr lvl="0"/>
            <a:r>
              <a:rPr lang="en-US" altLang="en-US"/>
              <a:t>Click to edit Master title / style</a:t>
            </a:r>
          </a:p>
        </p:txBody>
      </p:sp>
      <p:sp>
        <p:nvSpPr>
          <p:cNvPr id="6147" name="Rectangle 3"/>
          <p:cNvSpPr>
            <a:spLocks noGrp="1" noChangeArrowheads="1"/>
          </p:cNvSpPr>
          <p:nvPr>
            <p:ph type="body" idx="1"/>
          </p:nvPr>
        </p:nvSpPr>
        <p:spPr bwMode="auto">
          <a:xfrm>
            <a:off x="717153" y="1280160"/>
            <a:ext cx="8494051" cy="4818888"/>
          </a:xfrm>
          <a:prstGeom prst="rect">
            <a:avLst/>
          </a:prstGeom>
          <a:noFill/>
          <a:ln w="9525">
            <a:noFill/>
            <a:miter lim="800000"/>
            <a:headEnd/>
            <a:tailEnd/>
          </a:ln>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148" name="Rectangle 4"/>
          <p:cNvSpPr>
            <a:spLocks noGrp="1" noChangeArrowheads="1"/>
          </p:cNvSpPr>
          <p:nvPr>
            <p:ph type="sldNum" sz="quarter" idx="4"/>
          </p:nvPr>
        </p:nvSpPr>
        <p:spPr bwMode="auto">
          <a:xfrm>
            <a:off x="8555964" y="6370638"/>
            <a:ext cx="1155700" cy="381000"/>
          </a:xfrm>
          <a:prstGeom prst="rect">
            <a:avLst/>
          </a:prstGeom>
          <a:noFill/>
          <a:ln w="9525">
            <a:noFill/>
            <a:miter lim="800000"/>
            <a:headEnd/>
            <a:tailEnd/>
          </a:ln>
          <a:effectLst/>
        </p:spPr>
        <p:txBody>
          <a:bodyPr vert="horz" wrap="none" lIns="45720" tIns="45720" rIns="45720" bIns="45720" numCol="1" anchor="ctr" anchorCtr="0" compatLnSpc="1">
            <a:prstTxWarp prst="textNoShape">
              <a:avLst/>
            </a:prstTxWarp>
          </a:bodyPr>
          <a:lstStyle>
            <a:lvl1pPr algn="r" eaLnBrk="0" hangingPunct="0">
              <a:defRPr sz="900">
                <a:latin typeface="+mn-lt"/>
                <a:ea typeface="DFKaiShu-GB5" pitchFamily="65" charset="-128"/>
                <a:cs typeface="+mn-cs"/>
              </a:defRPr>
            </a:lvl1pPr>
          </a:lstStyle>
          <a:p>
            <a:pPr>
              <a:spcBef>
                <a:spcPct val="0"/>
              </a:spcBef>
              <a:defRPr/>
            </a:pPr>
            <a:fld id="{EFB97E77-A14C-4D4A-B483-93BB0C8192BC}" type="slidenum">
              <a:rPr lang="en-US" altLang="en-US" b="0" smtClean="0">
                <a:solidFill>
                  <a:srgbClr val="000000"/>
                </a:solidFill>
              </a:rPr>
              <a:pPr>
                <a:spcBef>
                  <a:spcPct val="0"/>
                </a:spcBef>
                <a:defRPr/>
              </a:pPr>
              <a:t>‹#›</a:t>
            </a:fld>
            <a:endParaRPr lang="en-US" altLang="en-US" b="0">
              <a:solidFill>
                <a:srgbClr val="000000"/>
              </a:solidFill>
            </a:endParaRPr>
          </a:p>
        </p:txBody>
      </p:sp>
      <p:sp>
        <p:nvSpPr>
          <p:cNvPr id="1029" name="Line 5"/>
          <p:cNvSpPr>
            <a:spLocks noChangeShapeType="1"/>
          </p:cNvSpPr>
          <p:nvPr/>
        </p:nvSpPr>
        <p:spPr bwMode="auto">
          <a:xfrm>
            <a:off x="701675" y="6172200"/>
            <a:ext cx="8497491" cy="0"/>
          </a:xfrm>
          <a:prstGeom prst="line">
            <a:avLst/>
          </a:prstGeom>
          <a:noFill/>
          <a:ln w="19050">
            <a:solidFill>
              <a:srgbClr val="BE050A"/>
            </a:solidFill>
            <a:round/>
            <a:headEnd/>
            <a:tailEnd/>
          </a:ln>
        </p:spPr>
        <p:txBody>
          <a:bodyPr wrap="none" lIns="45720" rIns="45720" anchor="ctr"/>
          <a:lstStyle/>
          <a:p>
            <a:pPr algn="l" eaLnBrk="1" hangingPunct="1">
              <a:spcBef>
                <a:spcPct val="0"/>
              </a:spcBef>
              <a:defRPr/>
            </a:pPr>
            <a:endParaRPr lang="en-US" sz="1800" b="0">
              <a:solidFill>
                <a:srgbClr val="000000"/>
              </a:solidFill>
              <a:latin typeface="Arial" panose="020B0604020202020204" pitchFamily="34" charset="0"/>
              <a:ea typeface="DFKaiShu-GB5" pitchFamily="65" charset="-128"/>
              <a:cs typeface="DFKaiShu-GB5" pitchFamily="65" charset="-128"/>
            </a:endParaRPr>
          </a:p>
        </p:txBody>
      </p:sp>
      <p:pic>
        <p:nvPicPr>
          <p:cNvPr id="6150" name="Picture 6"/>
          <p:cNvPicPr preferRelativeResize="0">
            <a:picLocks noChangeAspect="1" noChangeArrowheads="1"/>
          </p:cNvPicPr>
          <p:nvPr/>
        </p:nvPicPr>
        <p:blipFill>
          <a:blip r:embed="rId10" cstate="print"/>
          <a:srcRect/>
          <a:stretch>
            <a:fillRect/>
          </a:stretch>
        </p:blipFill>
        <p:spPr bwMode="auto">
          <a:xfrm>
            <a:off x="8065828" y="6280150"/>
            <a:ext cx="1179777" cy="317500"/>
          </a:xfrm>
          <a:prstGeom prst="rect">
            <a:avLst/>
          </a:prstGeom>
          <a:noFill/>
          <a:ln w="9525">
            <a:noFill/>
            <a:miter lim="800000"/>
            <a:headEnd/>
            <a:tailEnd/>
          </a:ln>
        </p:spPr>
      </p:pic>
      <p:sp>
        <p:nvSpPr>
          <p:cNvPr id="1031" name="Line 7"/>
          <p:cNvSpPr>
            <a:spLocks noChangeShapeType="1"/>
          </p:cNvSpPr>
          <p:nvPr/>
        </p:nvSpPr>
        <p:spPr bwMode="gray">
          <a:xfrm>
            <a:off x="717154" y="990600"/>
            <a:ext cx="8497490" cy="0"/>
          </a:xfrm>
          <a:prstGeom prst="line">
            <a:avLst/>
          </a:prstGeom>
          <a:noFill/>
          <a:ln w="19050">
            <a:solidFill>
              <a:srgbClr val="BE050A"/>
            </a:solidFill>
            <a:round/>
            <a:headEnd/>
            <a:tailEnd/>
          </a:ln>
        </p:spPr>
        <p:txBody>
          <a:bodyPr wrap="none" anchor="ctr"/>
          <a:lstStyle/>
          <a:p>
            <a:pPr algn="l" eaLnBrk="1" hangingPunct="1">
              <a:spcBef>
                <a:spcPct val="0"/>
              </a:spcBef>
              <a:defRPr/>
            </a:pPr>
            <a:endParaRPr lang="en-US" sz="1800" b="0">
              <a:solidFill>
                <a:srgbClr val="000000"/>
              </a:solidFill>
              <a:latin typeface="Arial" panose="020B0604020202020204" pitchFamily="34" charset="0"/>
              <a:ea typeface="DFKaiShu-GB5" pitchFamily="65" charset="-128"/>
              <a:cs typeface="DFKaiShu-GB5" pitchFamily="65" charset="-128"/>
            </a:endParaRPr>
          </a:p>
        </p:txBody>
      </p:sp>
      <p:sp>
        <p:nvSpPr>
          <p:cNvPr id="1032" name="Line 8"/>
          <p:cNvSpPr>
            <a:spLocks noChangeShapeType="1"/>
          </p:cNvSpPr>
          <p:nvPr/>
        </p:nvSpPr>
        <p:spPr bwMode="auto">
          <a:xfrm>
            <a:off x="701675" y="6172200"/>
            <a:ext cx="8497491" cy="0"/>
          </a:xfrm>
          <a:prstGeom prst="line">
            <a:avLst/>
          </a:prstGeom>
          <a:noFill/>
          <a:ln w="19050">
            <a:solidFill>
              <a:srgbClr val="BE050A"/>
            </a:solidFill>
            <a:round/>
            <a:headEnd/>
            <a:tailEnd/>
          </a:ln>
        </p:spPr>
        <p:txBody>
          <a:bodyPr wrap="none" lIns="45720" rIns="45720" anchor="ctr"/>
          <a:lstStyle/>
          <a:p>
            <a:pPr algn="l" eaLnBrk="1" hangingPunct="1">
              <a:spcBef>
                <a:spcPct val="0"/>
              </a:spcBef>
              <a:defRPr/>
            </a:pPr>
            <a:endParaRPr lang="en-US" sz="1800" b="0">
              <a:solidFill>
                <a:srgbClr val="000000"/>
              </a:solidFill>
              <a:latin typeface="Arial" panose="020B0604020202020204" pitchFamily="34" charset="0"/>
              <a:ea typeface="DFKaiShu-GB5" pitchFamily="65" charset="-128"/>
              <a:cs typeface="DFKaiShu-GB5" pitchFamily="65" charset="-128"/>
            </a:endParaRPr>
          </a:p>
        </p:txBody>
      </p:sp>
      <p:pic>
        <p:nvPicPr>
          <p:cNvPr id="6153" name="Picture 9"/>
          <p:cNvPicPr preferRelativeResize="0">
            <a:picLocks noChangeAspect="1" noChangeArrowheads="1"/>
          </p:cNvPicPr>
          <p:nvPr/>
        </p:nvPicPr>
        <p:blipFill>
          <a:blip r:embed="rId10" cstate="print"/>
          <a:srcRect/>
          <a:stretch>
            <a:fillRect/>
          </a:stretch>
        </p:blipFill>
        <p:spPr bwMode="auto">
          <a:xfrm>
            <a:off x="8065828" y="6280150"/>
            <a:ext cx="1179777" cy="317500"/>
          </a:xfrm>
          <a:prstGeom prst="rect">
            <a:avLst/>
          </a:prstGeom>
          <a:noFill/>
          <a:ln w="9525">
            <a:noFill/>
            <a:miter lim="800000"/>
            <a:headEnd/>
            <a:tailEnd/>
          </a:ln>
        </p:spPr>
      </p:pic>
      <p:sp>
        <p:nvSpPr>
          <p:cNvPr id="1034" name="Line 10"/>
          <p:cNvSpPr>
            <a:spLocks noChangeShapeType="1"/>
          </p:cNvSpPr>
          <p:nvPr/>
        </p:nvSpPr>
        <p:spPr bwMode="gray">
          <a:xfrm>
            <a:off x="717154" y="990600"/>
            <a:ext cx="8497490" cy="0"/>
          </a:xfrm>
          <a:prstGeom prst="line">
            <a:avLst/>
          </a:prstGeom>
          <a:noFill/>
          <a:ln w="19050">
            <a:solidFill>
              <a:srgbClr val="BE050A"/>
            </a:solidFill>
            <a:round/>
            <a:headEnd/>
            <a:tailEnd/>
          </a:ln>
        </p:spPr>
        <p:txBody>
          <a:bodyPr wrap="none" anchor="ctr"/>
          <a:lstStyle/>
          <a:p>
            <a:pPr algn="l" eaLnBrk="1" hangingPunct="1">
              <a:spcBef>
                <a:spcPct val="0"/>
              </a:spcBef>
              <a:defRPr/>
            </a:pPr>
            <a:endParaRPr lang="en-US" sz="1800" b="0">
              <a:solidFill>
                <a:srgbClr val="000000"/>
              </a:solidFill>
              <a:latin typeface="Arial" panose="020B0604020202020204" pitchFamily="34" charset="0"/>
              <a:ea typeface="DFKaiShu-GB5" pitchFamily="65" charset="-128"/>
              <a:cs typeface="DFKaiShu-GB5" pitchFamily="65" charset="-128"/>
            </a:endParaRPr>
          </a:p>
        </p:txBody>
      </p:sp>
    </p:spTree>
    <p:extLst>
      <p:ext uri="{BB962C8B-B14F-4D97-AF65-F5344CB8AC3E}">
        <p14:creationId xmlns:p14="http://schemas.microsoft.com/office/powerpoint/2010/main" val="2930096440"/>
      </p:ext>
    </p:extLst>
  </p:cSld>
  <p:clrMap bg1="lt1" tx1="dk1" bg2="lt2" tx2="dk2" accent1="accent1" accent2="accent2" accent3="accent3" accent4="accent4" accent5="accent5" accent6="accent6" hlink="hlink" folHlink="folHlink"/>
  <p:sldLayoutIdLst>
    <p:sldLayoutId id="2147484378" r:id="rId1"/>
    <p:sldLayoutId id="2147484381" r:id="rId2"/>
    <p:sldLayoutId id="2147484328" r:id="rId3"/>
    <p:sldLayoutId id="2147484329" r:id="rId4"/>
    <p:sldLayoutId id="2147484385" r:id="rId5"/>
    <p:sldLayoutId id="2147484386" r:id="rId6"/>
    <p:sldLayoutId id="2147484387" r:id="rId7"/>
    <p:sldLayoutId id="2147484388" r:id="rId8"/>
  </p:sldLayoutIdLst>
  <p:hf hdr="0" ftr="0" dt="0"/>
  <p:txStyles>
    <p:titleStyle>
      <a:lvl1pPr algn="l" rtl="0" eaLnBrk="0" fontAlgn="base" hangingPunct="0">
        <a:spcBef>
          <a:spcPct val="0"/>
        </a:spcBef>
        <a:spcAft>
          <a:spcPct val="0"/>
        </a:spcAft>
        <a:tabLst>
          <a:tab pos="457200" algn="l"/>
        </a:tabLst>
        <a:defRPr sz="22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p:titleStyle>
    <p:bodyStyle>
      <a:lvl1pPr marL="284163" indent="-284163" algn="l" rtl="0" eaLnBrk="0" fontAlgn="base" hangingPunct="0">
        <a:spcBef>
          <a:spcPts val="200"/>
        </a:spcBef>
        <a:spcAft>
          <a:spcPts val="200"/>
        </a:spcAft>
        <a:buClr>
          <a:srgbClr val="BE050A"/>
        </a:buClr>
        <a:buFont typeface="Wingdings 2" panose="05020102010507070707" pitchFamily="18" charset="2"/>
        <a:buChar char="¡"/>
        <a:defRPr sz="1600">
          <a:solidFill>
            <a:schemeClr val="tx1"/>
          </a:solidFill>
          <a:latin typeface="+mn-lt"/>
          <a:ea typeface="+mn-ea"/>
          <a:cs typeface="+mn-cs"/>
        </a:defRPr>
      </a:lvl1pPr>
      <a:lvl2pPr marL="684213" indent="-285750" algn="l" rtl="0" eaLnBrk="0" fontAlgn="base" hangingPunct="0">
        <a:spcBef>
          <a:spcPts val="200"/>
        </a:spcBef>
        <a:spcAft>
          <a:spcPts val="200"/>
        </a:spcAft>
        <a:buClr>
          <a:srgbClr val="626262"/>
        </a:buClr>
        <a:buFont typeface="Arial" panose="020B0604020202020204" pitchFamily="34" charset="0"/>
        <a:buChar char="―"/>
        <a:defRPr sz="1500">
          <a:solidFill>
            <a:schemeClr val="tx1"/>
          </a:solidFill>
          <a:latin typeface="+mn-lt"/>
          <a:ea typeface="+mn-ea"/>
          <a:cs typeface="+mn-cs"/>
        </a:defRPr>
      </a:lvl2pPr>
      <a:lvl3pPr marL="1068388" indent="-269875" algn="l" rtl="0" eaLnBrk="0" fontAlgn="base" hangingPunct="0">
        <a:spcBef>
          <a:spcPts val="200"/>
        </a:spcBef>
        <a:spcAft>
          <a:spcPts val="200"/>
        </a:spcAft>
        <a:buFont typeface="Arial" panose="020B0604020202020204" pitchFamily="34" charset="0"/>
        <a:buChar char="‒"/>
        <a:defRPr sz="1500">
          <a:solidFill>
            <a:schemeClr val="tx1"/>
          </a:solidFill>
          <a:latin typeface="+mn-lt"/>
          <a:ea typeface="+mn-ea"/>
          <a:cs typeface="+mn-cs"/>
        </a:defRPr>
      </a:lvl3pPr>
      <a:lvl4pPr marL="1484313" indent="-301625" algn="l" rtl="0" eaLnBrk="0" fontAlgn="base" hangingPunct="0">
        <a:spcBef>
          <a:spcPts val="200"/>
        </a:spcBef>
        <a:spcAft>
          <a:spcPts val="200"/>
        </a:spcAft>
        <a:buChar char="–"/>
        <a:defRPr sz="1500">
          <a:solidFill>
            <a:schemeClr val="tx1"/>
          </a:solidFill>
          <a:latin typeface="+mn-lt"/>
          <a:ea typeface="+mn-ea"/>
          <a:cs typeface="+mn-cs"/>
        </a:defRPr>
      </a:lvl4pPr>
      <a:lvl5pPr marL="1827213" indent="-228600" algn="l" rtl="0" eaLnBrk="0" fontAlgn="base" hangingPunct="0">
        <a:spcBef>
          <a:spcPts val="200"/>
        </a:spcBef>
        <a:spcAft>
          <a:spcPts val="200"/>
        </a:spcAft>
        <a:buChar char="»"/>
        <a:defRPr sz="1500">
          <a:solidFill>
            <a:schemeClr val="tx1"/>
          </a:solidFill>
          <a:latin typeface="+mn-lt"/>
          <a:ea typeface="+mn-ea"/>
          <a:cs typeface="+mn-cs"/>
        </a:defRPr>
      </a:lvl5pPr>
      <a:lvl6pPr marL="2284413" indent="-228600" algn="l" rtl="0" fontAlgn="base">
        <a:spcBef>
          <a:spcPct val="0"/>
        </a:spcBef>
        <a:spcAft>
          <a:spcPct val="30000"/>
        </a:spcAft>
        <a:buChar char="»"/>
        <a:defRPr sz="1500">
          <a:solidFill>
            <a:schemeClr val="tx1"/>
          </a:solidFill>
          <a:latin typeface="+mn-lt"/>
          <a:ea typeface="+mn-ea"/>
          <a:cs typeface="+mn-cs"/>
        </a:defRPr>
      </a:lvl6pPr>
      <a:lvl7pPr marL="2741613" indent="-228600" algn="l" rtl="0" fontAlgn="base">
        <a:spcBef>
          <a:spcPct val="0"/>
        </a:spcBef>
        <a:spcAft>
          <a:spcPct val="30000"/>
        </a:spcAft>
        <a:buChar char="»"/>
        <a:defRPr sz="1500">
          <a:solidFill>
            <a:schemeClr val="tx1"/>
          </a:solidFill>
          <a:latin typeface="+mn-lt"/>
          <a:ea typeface="+mn-ea"/>
          <a:cs typeface="+mn-cs"/>
        </a:defRPr>
      </a:lvl7pPr>
      <a:lvl8pPr marL="3198813" indent="-228600" algn="l" rtl="0" fontAlgn="base">
        <a:spcBef>
          <a:spcPct val="0"/>
        </a:spcBef>
        <a:spcAft>
          <a:spcPct val="30000"/>
        </a:spcAft>
        <a:buChar char="»"/>
        <a:defRPr sz="1500">
          <a:solidFill>
            <a:schemeClr val="tx1"/>
          </a:solidFill>
          <a:latin typeface="+mn-lt"/>
          <a:ea typeface="+mn-ea"/>
          <a:cs typeface="+mn-cs"/>
        </a:defRPr>
      </a:lvl8pPr>
      <a:lvl9pPr marL="3656013" indent="-228600" algn="l" rtl="0" fontAlgn="base">
        <a:spcBef>
          <a:spcPct val="0"/>
        </a:spcBef>
        <a:spcAft>
          <a:spcPct val="30000"/>
        </a:spcAft>
        <a:buChar char="»"/>
        <a:defRPr sz="15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4.emf"/><Relationship Id="rId4" Type="http://schemas.openxmlformats.org/officeDocument/2006/relationships/oleObject" Target="../embeddings/oleObject3.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tags" Target="../tags/tag5.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jpeg"/><Relationship Id="rId5" Type="http://schemas.openxmlformats.org/officeDocument/2006/relationships/image" Target="../media/image10.jpeg"/><Relationship Id="rId10" Type="http://schemas.openxmlformats.org/officeDocument/2006/relationships/image" Target="../media/image15.png"/><Relationship Id="rId4" Type="http://schemas.openxmlformats.org/officeDocument/2006/relationships/image" Target="../media/image9.jpe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svg"/><Relationship Id="rId9" Type="http://schemas.openxmlformats.org/officeDocument/2006/relationships/image" Target="../media/image28.png"/><Relationship Id="rId14" Type="http://schemas.openxmlformats.org/officeDocument/2006/relationships/image" Target="../media/image3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8.xml"/><Relationship Id="rId7" Type="http://schemas.openxmlformats.org/officeDocument/2006/relationships/tags" Target="../tags/tag1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image" Target="../media/image4.emf"/><Relationship Id="rId5" Type="http://schemas.openxmlformats.org/officeDocument/2006/relationships/tags" Target="../tags/tag10.xml"/><Relationship Id="rId10" Type="http://schemas.openxmlformats.org/officeDocument/2006/relationships/oleObject" Target="../embeddings/oleObject5.bin"/><Relationship Id="rId4" Type="http://schemas.openxmlformats.org/officeDocument/2006/relationships/tags" Target="../tags/tag9.xml"/><Relationship Id="rId9"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15.xml"/><Relationship Id="rId7" Type="http://schemas.openxmlformats.org/officeDocument/2006/relationships/image" Target="../media/image35.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34.png"/><Relationship Id="rId5" Type="http://schemas.openxmlformats.org/officeDocument/2006/relationships/notesSlide" Target="../notesSlides/notesSlide10.xml"/><Relationship Id="rId10" Type="http://schemas.openxmlformats.org/officeDocument/2006/relationships/image" Target="../media/image38.png"/><Relationship Id="rId4" Type="http://schemas.openxmlformats.org/officeDocument/2006/relationships/slideLayout" Target="../slideLayouts/slideLayout4.xml"/><Relationship Id="rId9"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3.jpeg"/><Relationship Id="rId3" Type="http://schemas.openxmlformats.org/officeDocument/2006/relationships/notesSlide" Target="../notesSlides/notesSlide12.xml"/><Relationship Id="rId7" Type="http://schemas.openxmlformats.org/officeDocument/2006/relationships/image" Target="../media/image42.jpeg"/><Relationship Id="rId12" Type="http://schemas.openxmlformats.org/officeDocument/2006/relationships/image" Target="../media/image47.png"/><Relationship Id="rId17" Type="http://schemas.openxmlformats.org/officeDocument/2006/relationships/image" Target="../media/image52.png"/><Relationship Id="rId2" Type="http://schemas.openxmlformats.org/officeDocument/2006/relationships/slideLayout" Target="../slideLayouts/slideLayout4.xml"/><Relationship Id="rId16" Type="http://schemas.openxmlformats.org/officeDocument/2006/relationships/image" Target="../media/image51.png"/><Relationship Id="rId1" Type="http://schemas.openxmlformats.org/officeDocument/2006/relationships/tags" Target="../tags/tag16.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emf"/><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oleObject" Target="../embeddings/oleObject5.bin"/><Relationship Id="rId9" Type="http://schemas.openxmlformats.org/officeDocument/2006/relationships/image" Target="../media/image44.png"/><Relationship Id="rId14" Type="http://schemas.openxmlformats.org/officeDocument/2006/relationships/image" Target="../media/image49.png"/></Relationships>
</file>

<file path=ppt/slides/_rels/slide14.xml.rels><?xml version="1.0" encoding="UTF-8" standalone="yes"?>
<Relationships xmlns="http://schemas.openxmlformats.org/package/2006/relationships"><Relationship Id="rId8" Type="http://schemas.openxmlformats.org/officeDocument/2006/relationships/image" Target="../media/image56.jpg"/><Relationship Id="rId3" Type="http://schemas.openxmlformats.org/officeDocument/2006/relationships/notesSlide" Target="../notesSlides/notesSlide13.xml"/><Relationship Id="rId7" Type="http://schemas.openxmlformats.org/officeDocument/2006/relationships/image" Target="../media/image55.jpg"/><Relationship Id="rId2" Type="http://schemas.openxmlformats.org/officeDocument/2006/relationships/slideLayout" Target="../slideLayouts/slideLayout4.xml"/><Relationship Id="rId1" Type="http://schemas.openxmlformats.org/officeDocument/2006/relationships/tags" Target="../tags/tag17.xml"/><Relationship Id="rId6" Type="http://schemas.openxmlformats.org/officeDocument/2006/relationships/image" Target="../media/image54.jpg"/><Relationship Id="rId5" Type="http://schemas.openxmlformats.org/officeDocument/2006/relationships/image" Target="../media/image4.emf"/><Relationship Id="rId10" Type="http://schemas.openxmlformats.org/officeDocument/2006/relationships/image" Target="../media/image58.png"/><Relationship Id="rId4" Type="http://schemas.openxmlformats.org/officeDocument/2006/relationships/oleObject" Target="../embeddings/oleObject5.bin"/><Relationship Id="rId9" Type="http://schemas.openxmlformats.org/officeDocument/2006/relationships/image" Target="../media/image57.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3" Type="http://schemas.microsoft.com/office/2007/relationships/hdphoto" Target="../media/hdphoto5.wdp"/><Relationship Id="rId18" Type="http://schemas.openxmlformats.org/officeDocument/2006/relationships/image" Target="../media/image67.png"/><Relationship Id="rId26" Type="http://schemas.openxmlformats.org/officeDocument/2006/relationships/image" Target="../media/image75.png"/><Relationship Id="rId39" Type="http://schemas.openxmlformats.org/officeDocument/2006/relationships/image" Target="../media/image88.png"/><Relationship Id="rId21" Type="http://schemas.openxmlformats.org/officeDocument/2006/relationships/image" Target="../media/image70.png"/><Relationship Id="rId34" Type="http://schemas.openxmlformats.org/officeDocument/2006/relationships/image" Target="../media/image83.png"/><Relationship Id="rId7" Type="http://schemas.microsoft.com/office/2007/relationships/hdphoto" Target="../media/hdphoto2.wdp"/><Relationship Id="rId12" Type="http://schemas.openxmlformats.org/officeDocument/2006/relationships/image" Target="../media/image63.png"/><Relationship Id="rId17" Type="http://schemas.openxmlformats.org/officeDocument/2006/relationships/image" Target="../media/image66.png"/><Relationship Id="rId25" Type="http://schemas.openxmlformats.org/officeDocument/2006/relationships/image" Target="../media/image74.png"/><Relationship Id="rId33" Type="http://schemas.openxmlformats.org/officeDocument/2006/relationships/image" Target="../media/image82.png"/><Relationship Id="rId38" Type="http://schemas.openxmlformats.org/officeDocument/2006/relationships/image" Target="../media/image87.png"/><Relationship Id="rId2" Type="http://schemas.openxmlformats.org/officeDocument/2006/relationships/tags" Target="../tags/tag19.xml"/><Relationship Id="rId16" Type="http://schemas.openxmlformats.org/officeDocument/2006/relationships/image" Target="../media/image65.png"/><Relationship Id="rId20" Type="http://schemas.openxmlformats.org/officeDocument/2006/relationships/image" Target="../media/image69.png"/><Relationship Id="rId29" Type="http://schemas.openxmlformats.org/officeDocument/2006/relationships/image" Target="../media/image78.png"/><Relationship Id="rId1" Type="http://schemas.openxmlformats.org/officeDocument/2006/relationships/tags" Target="../tags/tag18.xml"/><Relationship Id="rId6" Type="http://schemas.openxmlformats.org/officeDocument/2006/relationships/image" Target="../media/image60.png"/><Relationship Id="rId11" Type="http://schemas.microsoft.com/office/2007/relationships/hdphoto" Target="../media/hdphoto4.wdp"/><Relationship Id="rId24" Type="http://schemas.openxmlformats.org/officeDocument/2006/relationships/image" Target="../media/image73.png"/><Relationship Id="rId32" Type="http://schemas.openxmlformats.org/officeDocument/2006/relationships/image" Target="../media/image81.png"/><Relationship Id="rId37" Type="http://schemas.openxmlformats.org/officeDocument/2006/relationships/image" Target="../media/image86.png"/><Relationship Id="rId5" Type="http://schemas.openxmlformats.org/officeDocument/2006/relationships/image" Target="../media/image59.png"/><Relationship Id="rId15" Type="http://schemas.microsoft.com/office/2007/relationships/hdphoto" Target="../media/hdphoto6.wdp"/><Relationship Id="rId23" Type="http://schemas.openxmlformats.org/officeDocument/2006/relationships/image" Target="../media/image72.png"/><Relationship Id="rId28" Type="http://schemas.openxmlformats.org/officeDocument/2006/relationships/image" Target="../media/image77.png"/><Relationship Id="rId36" Type="http://schemas.openxmlformats.org/officeDocument/2006/relationships/image" Target="../media/image85.png"/><Relationship Id="rId10" Type="http://schemas.openxmlformats.org/officeDocument/2006/relationships/image" Target="../media/image62.png"/><Relationship Id="rId19" Type="http://schemas.openxmlformats.org/officeDocument/2006/relationships/image" Target="../media/image68.png"/><Relationship Id="rId31" Type="http://schemas.openxmlformats.org/officeDocument/2006/relationships/image" Target="../media/image80.png"/><Relationship Id="rId4" Type="http://schemas.openxmlformats.org/officeDocument/2006/relationships/notesSlide" Target="../notesSlides/notesSlide15.xml"/><Relationship Id="rId9" Type="http://schemas.microsoft.com/office/2007/relationships/hdphoto" Target="../media/hdphoto3.wdp"/><Relationship Id="rId14" Type="http://schemas.openxmlformats.org/officeDocument/2006/relationships/image" Target="../media/image64.png"/><Relationship Id="rId22" Type="http://schemas.openxmlformats.org/officeDocument/2006/relationships/image" Target="../media/image71.png"/><Relationship Id="rId27" Type="http://schemas.openxmlformats.org/officeDocument/2006/relationships/image" Target="../media/image76.png"/><Relationship Id="rId30" Type="http://schemas.openxmlformats.org/officeDocument/2006/relationships/image" Target="../media/image79.png"/><Relationship Id="rId35" Type="http://schemas.openxmlformats.org/officeDocument/2006/relationships/image" Target="../media/image84.png"/><Relationship Id="rId8" Type="http://schemas.openxmlformats.org/officeDocument/2006/relationships/image" Target="../media/image61.png"/><Relationship Id="rId3"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89.png"/><Relationship Id="rId2" Type="http://schemas.openxmlformats.org/officeDocument/2006/relationships/slideLayout" Target="../slideLayouts/slideLayout4.xml"/><Relationship Id="rId1" Type="http://schemas.openxmlformats.org/officeDocument/2006/relationships/tags" Target="../tags/tag20.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99.png"/><Relationship Id="rId18" Type="http://schemas.openxmlformats.org/officeDocument/2006/relationships/image" Target="../media/image88.png"/><Relationship Id="rId3" Type="http://schemas.openxmlformats.org/officeDocument/2006/relationships/image" Target="../media/image91.png"/><Relationship Id="rId21" Type="http://schemas.openxmlformats.org/officeDocument/2006/relationships/image" Target="../media/image105.png"/><Relationship Id="rId7" Type="http://schemas.openxmlformats.org/officeDocument/2006/relationships/image" Target="../media/image94.png"/><Relationship Id="rId12" Type="http://schemas.openxmlformats.org/officeDocument/2006/relationships/image" Target="../media/image98.png"/><Relationship Id="rId17" Type="http://schemas.openxmlformats.org/officeDocument/2006/relationships/image" Target="../media/image102.png"/><Relationship Id="rId2" Type="http://schemas.openxmlformats.org/officeDocument/2006/relationships/image" Target="../media/image90.png"/><Relationship Id="rId16" Type="http://schemas.openxmlformats.org/officeDocument/2006/relationships/image" Target="../media/image101.png"/><Relationship Id="rId20" Type="http://schemas.openxmlformats.org/officeDocument/2006/relationships/image" Target="../media/image104.png"/><Relationship Id="rId1" Type="http://schemas.openxmlformats.org/officeDocument/2006/relationships/slideLayout" Target="../slideLayouts/slideLayout4.xml"/><Relationship Id="rId6" Type="http://schemas.openxmlformats.org/officeDocument/2006/relationships/image" Target="../media/image93.png"/><Relationship Id="rId11" Type="http://schemas.openxmlformats.org/officeDocument/2006/relationships/image" Target="../media/image97.png"/><Relationship Id="rId5" Type="http://schemas.openxmlformats.org/officeDocument/2006/relationships/image" Target="../media/image69.png"/><Relationship Id="rId15" Type="http://schemas.openxmlformats.org/officeDocument/2006/relationships/image" Target="../media/image100.png"/><Relationship Id="rId23" Type="http://schemas.openxmlformats.org/officeDocument/2006/relationships/image" Target="../media/image107.png"/><Relationship Id="rId10" Type="http://schemas.openxmlformats.org/officeDocument/2006/relationships/image" Target="../media/image96.png"/><Relationship Id="rId19" Type="http://schemas.openxmlformats.org/officeDocument/2006/relationships/image" Target="../media/image103.png"/><Relationship Id="rId4" Type="http://schemas.openxmlformats.org/officeDocument/2006/relationships/image" Target="../media/image92.png"/><Relationship Id="rId9" Type="http://schemas.openxmlformats.org/officeDocument/2006/relationships/image" Target="../media/image73.png"/><Relationship Id="rId14" Type="http://schemas.openxmlformats.org/officeDocument/2006/relationships/image" Target="../media/image77.png"/><Relationship Id="rId22" Type="http://schemas.openxmlformats.org/officeDocument/2006/relationships/image" Target="../media/image106.png"/></Relationships>
</file>

<file path=ppt/slides/_rels/slide19.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png"/><Relationship Id="rId18" Type="http://schemas.openxmlformats.org/officeDocument/2006/relationships/image" Target="../media/image124.png"/><Relationship Id="rId26" Type="http://schemas.openxmlformats.org/officeDocument/2006/relationships/image" Target="../media/image132.png"/><Relationship Id="rId3" Type="http://schemas.openxmlformats.org/officeDocument/2006/relationships/image" Target="../media/image109.png"/><Relationship Id="rId21" Type="http://schemas.openxmlformats.org/officeDocument/2006/relationships/image" Target="../media/image127.png"/><Relationship Id="rId7" Type="http://schemas.openxmlformats.org/officeDocument/2006/relationships/image" Target="../media/image113.png"/><Relationship Id="rId12" Type="http://schemas.openxmlformats.org/officeDocument/2006/relationships/image" Target="../media/image118.png"/><Relationship Id="rId17" Type="http://schemas.openxmlformats.org/officeDocument/2006/relationships/image" Target="../media/image123.png"/><Relationship Id="rId25" Type="http://schemas.openxmlformats.org/officeDocument/2006/relationships/image" Target="../media/image131.png"/><Relationship Id="rId2" Type="http://schemas.openxmlformats.org/officeDocument/2006/relationships/image" Target="../media/image108.png"/><Relationship Id="rId16" Type="http://schemas.openxmlformats.org/officeDocument/2006/relationships/image" Target="../media/image122.png"/><Relationship Id="rId20" Type="http://schemas.openxmlformats.org/officeDocument/2006/relationships/image" Target="../media/image126.png"/><Relationship Id="rId29" Type="http://schemas.openxmlformats.org/officeDocument/2006/relationships/image" Target="../media/image135.png"/><Relationship Id="rId1" Type="http://schemas.openxmlformats.org/officeDocument/2006/relationships/slideLayout" Target="../slideLayouts/slideLayout4.xml"/><Relationship Id="rId6" Type="http://schemas.openxmlformats.org/officeDocument/2006/relationships/image" Target="../media/image112.png"/><Relationship Id="rId11" Type="http://schemas.openxmlformats.org/officeDocument/2006/relationships/image" Target="../media/image117.png"/><Relationship Id="rId24" Type="http://schemas.openxmlformats.org/officeDocument/2006/relationships/image" Target="../media/image130.png"/><Relationship Id="rId5" Type="http://schemas.openxmlformats.org/officeDocument/2006/relationships/image" Target="../media/image111.png"/><Relationship Id="rId15" Type="http://schemas.openxmlformats.org/officeDocument/2006/relationships/image" Target="../media/image121.png"/><Relationship Id="rId23" Type="http://schemas.openxmlformats.org/officeDocument/2006/relationships/image" Target="../media/image129.png"/><Relationship Id="rId28" Type="http://schemas.openxmlformats.org/officeDocument/2006/relationships/image" Target="../media/image134.png"/><Relationship Id="rId10" Type="http://schemas.openxmlformats.org/officeDocument/2006/relationships/image" Target="../media/image116.png"/><Relationship Id="rId19" Type="http://schemas.openxmlformats.org/officeDocument/2006/relationships/image" Target="../media/image125.png"/><Relationship Id="rId31" Type="http://schemas.openxmlformats.org/officeDocument/2006/relationships/image" Target="../media/image137.png"/><Relationship Id="rId4" Type="http://schemas.openxmlformats.org/officeDocument/2006/relationships/image" Target="../media/image110.png"/><Relationship Id="rId9" Type="http://schemas.openxmlformats.org/officeDocument/2006/relationships/image" Target="../media/image115.png"/><Relationship Id="rId14" Type="http://schemas.openxmlformats.org/officeDocument/2006/relationships/image" Target="../media/image120.png"/><Relationship Id="rId22" Type="http://schemas.openxmlformats.org/officeDocument/2006/relationships/image" Target="../media/image128.png"/><Relationship Id="rId27" Type="http://schemas.openxmlformats.org/officeDocument/2006/relationships/image" Target="../media/image133.png"/><Relationship Id="rId30" Type="http://schemas.openxmlformats.org/officeDocument/2006/relationships/image" Target="../media/image13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39.jpeg"/></Relationships>
</file>

<file path=ppt/slides/_rels/slide2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146.jpeg"/><Relationship Id="rId13" Type="http://schemas.openxmlformats.org/officeDocument/2006/relationships/image" Target="../media/image151.jpeg"/><Relationship Id="rId3" Type="http://schemas.openxmlformats.org/officeDocument/2006/relationships/image" Target="../media/image141.png"/><Relationship Id="rId7" Type="http://schemas.openxmlformats.org/officeDocument/2006/relationships/image" Target="../media/image145.jpeg"/><Relationship Id="rId12" Type="http://schemas.openxmlformats.org/officeDocument/2006/relationships/image" Target="../media/image150.png"/><Relationship Id="rId2" Type="http://schemas.openxmlformats.org/officeDocument/2006/relationships/notesSlide" Target="../notesSlides/notesSlide20.xml"/><Relationship Id="rId16" Type="http://schemas.openxmlformats.org/officeDocument/2006/relationships/image" Target="../media/image154.jpeg"/><Relationship Id="rId1" Type="http://schemas.openxmlformats.org/officeDocument/2006/relationships/slideLayout" Target="../slideLayouts/slideLayout4.xml"/><Relationship Id="rId6" Type="http://schemas.openxmlformats.org/officeDocument/2006/relationships/image" Target="../media/image144.png"/><Relationship Id="rId11" Type="http://schemas.openxmlformats.org/officeDocument/2006/relationships/image" Target="../media/image149.png"/><Relationship Id="rId5" Type="http://schemas.openxmlformats.org/officeDocument/2006/relationships/image" Target="../media/image143.png"/><Relationship Id="rId15" Type="http://schemas.openxmlformats.org/officeDocument/2006/relationships/image" Target="../media/image153.jpeg"/><Relationship Id="rId10"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47.jpeg"/><Relationship Id="rId14" Type="http://schemas.openxmlformats.org/officeDocument/2006/relationships/image" Target="../media/image152.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8" Type="http://schemas.openxmlformats.org/officeDocument/2006/relationships/image" Target="../media/image161.jpg"/><Relationship Id="rId13" Type="http://schemas.openxmlformats.org/officeDocument/2006/relationships/image" Target="../media/image166.png"/><Relationship Id="rId3" Type="http://schemas.openxmlformats.org/officeDocument/2006/relationships/image" Target="../media/image156.png"/><Relationship Id="rId7" Type="http://schemas.openxmlformats.org/officeDocument/2006/relationships/image" Target="../media/image160.png"/><Relationship Id="rId12" Type="http://schemas.openxmlformats.org/officeDocument/2006/relationships/image" Target="../media/image165.png"/><Relationship Id="rId2" Type="http://schemas.openxmlformats.org/officeDocument/2006/relationships/image" Target="../media/image155.png"/><Relationship Id="rId1" Type="http://schemas.openxmlformats.org/officeDocument/2006/relationships/slideLayout" Target="../slideLayouts/slideLayout4.xml"/><Relationship Id="rId6" Type="http://schemas.openxmlformats.org/officeDocument/2006/relationships/image" Target="../media/image159.jpg"/><Relationship Id="rId11" Type="http://schemas.openxmlformats.org/officeDocument/2006/relationships/image" Target="../media/image164.jpg"/><Relationship Id="rId5" Type="http://schemas.openxmlformats.org/officeDocument/2006/relationships/image" Target="../media/image158.jpg"/><Relationship Id="rId10"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jpg"/><Relationship Id="rId14" Type="http://schemas.openxmlformats.org/officeDocument/2006/relationships/image" Target="../media/image167.png"/></Relationships>
</file>

<file path=ppt/slides/_rels/slide27.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179.png"/><Relationship Id="rId18" Type="http://schemas.openxmlformats.org/officeDocument/2006/relationships/image" Target="../media/image184.png"/><Relationship Id="rId3" Type="http://schemas.openxmlformats.org/officeDocument/2006/relationships/image" Target="../media/image169.png"/><Relationship Id="rId21" Type="http://schemas.openxmlformats.org/officeDocument/2006/relationships/image" Target="../media/image187.png"/><Relationship Id="rId7" Type="http://schemas.openxmlformats.org/officeDocument/2006/relationships/image" Target="../media/image173.png"/><Relationship Id="rId12" Type="http://schemas.openxmlformats.org/officeDocument/2006/relationships/image" Target="../media/image178.png"/><Relationship Id="rId17" Type="http://schemas.openxmlformats.org/officeDocument/2006/relationships/image" Target="../media/image183.png"/><Relationship Id="rId2" Type="http://schemas.openxmlformats.org/officeDocument/2006/relationships/image" Target="../media/image168.png"/><Relationship Id="rId16" Type="http://schemas.openxmlformats.org/officeDocument/2006/relationships/image" Target="../media/image182.jpg"/><Relationship Id="rId20" Type="http://schemas.openxmlformats.org/officeDocument/2006/relationships/image" Target="../media/image186.png"/><Relationship Id="rId1" Type="http://schemas.openxmlformats.org/officeDocument/2006/relationships/slideLayout" Target="../slideLayouts/slideLayout4.xml"/><Relationship Id="rId6" Type="http://schemas.openxmlformats.org/officeDocument/2006/relationships/image" Target="../media/image172.png"/><Relationship Id="rId11" Type="http://schemas.openxmlformats.org/officeDocument/2006/relationships/image" Target="../media/image177.png"/><Relationship Id="rId5" Type="http://schemas.openxmlformats.org/officeDocument/2006/relationships/image" Target="../media/image171.png"/><Relationship Id="rId15" Type="http://schemas.openxmlformats.org/officeDocument/2006/relationships/image" Target="../media/image181.png"/><Relationship Id="rId10" Type="http://schemas.openxmlformats.org/officeDocument/2006/relationships/image" Target="../media/image176.png"/><Relationship Id="rId19" Type="http://schemas.openxmlformats.org/officeDocument/2006/relationships/image" Target="../media/image185.png"/><Relationship Id="rId4" Type="http://schemas.openxmlformats.org/officeDocument/2006/relationships/image" Target="../media/image170.png"/><Relationship Id="rId9" Type="http://schemas.openxmlformats.org/officeDocument/2006/relationships/image" Target="../media/image175.png"/><Relationship Id="rId14" Type="http://schemas.openxmlformats.org/officeDocument/2006/relationships/image" Target="../media/image180.png"/><Relationship Id="rId22" Type="http://schemas.openxmlformats.org/officeDocument/2006/relationships/image" Target="../media/image188.png"/></Relationships>
</file>

<file path=ppt/slides/_rels/slide28.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8" Type="http://schemas.openxmlformats.org/officeDocument/2006/relationships/image" Target="../media/image196.jpg"/><Relationship Id="rId13" Type="http://schemas.openxmlformats.org/officeDocument/2006/relationships/image" Target="../media/image201.png"/><Relationship Id="rId18" Type="http://schemas.openxmlformats.org/officeDocument/2006/relationships/image" Target="../media/image206.jpg"/><Relationship Id="rId26" Type="http://schemas.openxmlformats.org/officeDocument/2006/relationships/image" Target="../media/image181.png"/><Relationship Id="rId3" Type="http://schemas.openxmlformats.org/officeDocument/2006/relationships/image" Target="../media/image191.png"/><Relationship Id="rId21" Type="http://schemas.openxmlformats.org/officeDocument/2006/relationships/image" Target="../media/image209.png"/><Relationship Id="rId7" Type="http://schemas.openxmlformats.org/officeDocument/2006/relationships/image" Target="../media/image195.png"/><Relationship Id="rId12" Type="http://schemas.openxmlformats.org/officeDocument/2006/relationships/image" Target="../media/image200.png"/><Relationship Id="rId17" Type="http://schemas.openxmlformats.org/officeDocument/2006/relationships/image" Target="../media/image205.jpg"/><Relationship Id="rId25" Type="http://schemas.openxmlformats.org/officeDocument/2006/relationships/image" Target="../media/image213.png"/><Relationship Id="rId2" Type="http://schemas.openxmlformats.org/officeDocument/2006/relationships/image" Target="../media/image190.png"/><Relationship Id="rId16" Type="http://schemas.openxmlformats.org/officeDocument/2006/relationships/image" Target="../media/image204.jpg"/><Relationship Id="rId20" Type="http://schemas.openxmlformats.org/officeDocument/2006/relationships/image" Target="../media/image208.png"/><Relationship Id="rId1" Type="http://schemas.openxmlformats.org/officeDocument/2006/relationships/slideLayout" Target="../slideLayouts/slideLayout4.xml"/><Relationship Id="rId6" Type="http://schemas.openxmlformats.org/officeDocument/2006/relationships/image" Target="../media/image194.png"/><Relationship Id="rId11" Type="http://schemas.openxmlformats.org/officeDocument/2006/relationships/image" Target="../media/image199.png"/><Relationship Id="rId24" Type="http://schemas.openxmlformats.org/officeDocument/2006/relationships/image" Target="../media/image212.png"/><Relationship Id="rId5" Type="http://schemas.openxmlformats.org/officeDocument/2006/relationships/image" Target="../media/image193.png"/><Relationship Id="rId15" Type="http://schemas.openxmlformats.org/officeDocument/2006/relationships/image" Target="../media/image203.jpg"/><Relationship Id="rId23" Type="http://schemas.openxmlformats.org/officeDocument/2006/relationships/image" Target="../media/image211.png"/><Relationship Id="rId28" Type="http://schemas.openxmlformats.org/officeDocument/2006/relationships/image" Target="../media/image215.png"/><Relationship Id="rId10" Type="http://schemas.openxmlformats.org/officeDocument/2006/relationships/image" Target="../media/image198.png"/><Relationship Id="rId19" Type="http://schemas.openxmlformats.org/officeDocument/2006/relationships/image" Target="../media/image207.png"/><Relationship Id="rId4" Type="http://schemas.openxmlformats.org/officeDocument/2006/relationships/image" Target="../media/image192.png"/><Relationship Id="rId9" Type="http://schemas.openxmlformats.org/officeDocument/2006/relationships/image" Target="../media/image197.png"/><Relationship Id="rId14" Type="http://schemas.openxmlformats.org/officeDocument/2006/relationships/image" Target="../media/image202.jpg"/><Relationship Id="rId22" Type="http://schemas.openxmlformats.org/officeDocument/2006/relationships/image" Target="../media/image210.png"/><Relationship Id="rId27" Type="http://schemas.openxmlformats.org/officeDocument/2006/relationships/image" Target="../media/image214.png"/></Relationships>
</file>

<file path=ppt/slides/_rels/slide30.xml.rels><?xml version="1.0" encoding="UTF-8" standalone="yes"?>
<Relationships xmlns="http://schemas.openxmlformats.org/package/2006/relationships"><Relationship Id="rId8" Type="http://schemas.openxmlformats.org/officeDocument/2006/relationships/image" Target="../media/image222.png"/><Relationship Id="rId13" Type="http://schemas.openxmlformats.org/officeDocument/2006/relationships/image" Target="../media/image227.png"/><Relationship Id="rId18" Type="http://schemas.openxmlformats.org/officeDocument/2006/relationships/image" Target="../media/image232.png"/><Relationship Id="rId3" Type="http://schemas.openxmlformats.org/officeDocument/2006/relationships/image" Target="../media/image217.png"/><Relationship Id="rId7" Type="http://schemas.openxmlformats.org/officeDocument/2006/relationships/image" Target="../media/image221.png"/><Relationship Id="rId12" Type="http://schemas.openxmlformats.org/officeDocument/2006/relationships/image" Target="../media/image226.png"/><Relationship Id="rId17" Type="http://schemas.openxmlformats.org/officeDocument/2006/relationships/image" Target="../media/image231.png"/><Relationship Id="rId2" Type="http://schemas.openxmlformats.org/officeDocument/2006/relationships/image" Target="../media/image216.png"/><Relationship Id="rId16" Type="http://schemas.openxmlformats.org/officeDocument/2006/relationships/image" Target="../media/image230.png"/><Relationship Id="rId1" Type="http://schemas.openxmlformats.org/officeDocument/2006/relationships/slideLayout" Target="../slideLayouts/slideLayout7.xml"/><Relationship Id="rId6" Type="http://schemas.openxmlformats.org/officeDocument/2006/relationships/image" Target="../media/image220.png"/><Relationship Id="rId11" Type="http://schemas.openxmlformats.org/officeDocument/2006/relationships/image" Target="../media/image225.png"/><Relationship Id="rId5" Type="http://schemas.openxmlformats.org/officeDocument/2006/relationships/image" Target="../media/image219.png"/><Relationship Id="rId15" Type="http://schemas.openxmlformats.org/officeDocument/2006/relationships/image" Target="../media/image229.png"/><Relationship Id="rId10" Type="http://schemas.openxmlformats.org/officeDocument/2006/relationships/image" Target="../media/image224.png"/><Relationship Id="rId4" Type="http://schemas.openxmlformats.org/officeDocument/2006/relationships/image" Target="../media/image218.png"/><Relationship Id="rId9" Type="http://schemas.openxmlformats.org/officeDocument/2006/relationships/image" Target="../media/image223.png"/><Relationship Id="rId14" Type="http://schemas.openxmlformats.org/officeDocument/2006/relationships/image" Target="../media/image228.png"/></Relationships>
</file>

<file path=ppt/slides/_rels/slide31.xml.rels><?xml version="1.0" encoding="UTF-8" standalone="yes"?>
<Relationships xmlns="http://schemas.openxmlformats.org/package/2006/relationships"><Relationship Id="rId13" Type="http://schemas.openxmlformats.org/officeDocument/2006/relationships/image" Target="../media/image238.jpg"/><Relationship Id="rId18" Type="http://schemas.openxmlformats.org/officeDocument/2006/relationships/image" Target="../media/image243.png"/><Relationship Id="rId26" Type="http://schemas.openxmlformats.org/officeDocument/2006/relationships/image" Target="../media/image251.png"/><Relationship Id="rId39" Type="http://schemas.openxmlformats.org/officeDocument/2006/relationships/image" Target="../media/image264.png"/><Relationship Id="rId21" Type="http://schemas.openxmlformats.org/officeDocument/2006/relationships/image" Target="../media/image246.png"/><Relationship Id="rId34" Type="http://schemas.openxmlformats.org/officeDocument/2006/relationships/image" Target="../media/image259.png"/><Relationship Id="rId42" Type="http://schemas.openxmlformats.org/officeDocument/2006/relationships/image" Target="../media/image267.png"/><Relationship Id="rId47" Type="http://schemas.openxmlformats.org/officeDocument/2006/relationships/image" Target="../media/image272.png"/><Relationship Id="rId50" Type="http://schemas.openxmlformats.org/officeDocument/2006/relationships/image" Target="../media/image275.png"/><Relationship Id="rId7" Type="http://schemas.openxmlformats.org/officeDocument/2006/relationships/image" Target="../media/image209.png"/><Relationship Id="rId2" Type="http://schemas.openxmlformats.org/officeDocument/2006/relationships/image" Target="../media/image211.png"/><Relationship Id="rId16" Type="http://schemas.openxmlformats.org/officeDocument/2006/relationships/image" Target="../media/image241.png"/><Relationship Id="rId29" Type="http://schemas.openxmlformats.org/officeDocument/2006/relationships/image" Target="../media/image254.jpg"/><Relationship Id="rId11" Type="http://schemas.openxmlformats.org/officeDocument/2006/relationships/image" Target="../media/image193.png"/><Relationship Id="rId24" Type="http://schemas.openxmlformats.org/officeDocument/2006/relationships/image" Target="../media/image249.png"/><Relationship Id="rId32" Type="http://schemas.openxmlformats.org/officeDocument/2006/relationships/image" Target="../media/image257.jpg"/><Relationship Id="rId37" Type="http://schemas.openxmlformats.org/officeDocument/2006/relationships/image" Target="../media/image262.png"/><Relationship Id="rId40" Type="http://schemas.openxmlformats.org/officeDocument/2006/relationships/image" Target="../media/image265.png"/><Relationship Id="rId45" Type="http://schemas.openxmlformats.org/officeDocument/2006/relationships/image" Target="../media/image270.png"/><Relationship Id="rId5" Type="http://schemas.openxmlformats.org/officeDocument/2006/relationships/image" Target="../media/image194.png"/><Relationship Id="rId15" Type="http://schemas.openxmlformats.org/officeDocument/2006/relationships/image" Target="../media/image240.png"/><Relationship Id="rId23" Type="http://schemas.openxmlformats.org/officeDocument/2006/relationships/image" Target="../media/image248.png"/><Relationship Id="rId28" Type="http://schemas.openxmlformats.org/officeDocument/2006/relationships/image" Target="../media/image253.jpg"/><Relationship Id="rId36" Type="http://schemas.openxmlformats.org/officeDocument/2006/relationships/image" Target="../media/image261.png"/><Relationship Id="rId49" Type="http://schemas.openxmlformats.org/officeDocument/2006/relationships/image" Target="../media/image274.png"/><Relationship Id="rId10" Type="http://schemas.openxmlformats.org/officeDocument/2006/relationships/image" Target="../media/image236.png"/><Relationship Id="rId19" Type="http://schemas.openxmlformats.org/officeDocument/2006/relationships/image" Target="../media/image244.png"/><Relationship Id="rId31" Type="http://schemas.openxmlformats.org/officeDocument/2006/relationships/image" Target="../media/image256.jpg"/><Relationship Id="rId44" Type="http://schemas.openxmlformats.org/officeDocument/2006/relationships/image" Target="../media/image269.png"/><Relationship Id="rId4" Type="http://schemas.openxmlformats.org/officeDocument/2006/relationships/image" Target="../media/image234.png"/><Relationship Id="rId9" Type="http://schemas.openxmlformats.org/officeDocument/2006/relationships/image" Target="../media/image235.png"/><Relationship Id="rId14" Type="http://schemas.openxmlformats.org/officeDocument/2006/relationships/image" Target="../media/image239.png"/><Relationship Id="rId22" Type="http://schemas.openxmlformats.org/officeDocument/2006/relationships/image" Target="../media/image247.png"/><Relationship Id="rId27" Type="http://schemas.openxmlformats.org/officeDocument/2006/relationships/image" Target="../media/image252.png"/><Relationship Id="rId30" Type="http://schemas.openxmlformats.org/officeDocument/2006/relationships/image" Target="../media/image255.png"/><Relationship Id="rId35" Type="http://schemas.openxmlformats.org/officeDocument/2006/relationships/image" Target="../media/image260.png"/><Relationship Id="rId43" Type="http://schemas.openxmlformats.org/officeDocument/2006/relationships/image" Target="../media/image268.png"/><Relationship Id="rId48" Type="http://schemas.openxmlformats.org/officeDocument/2006/relationships/image" Target="../media/image273.png"/><Relationship Id="rId8" Type="http://schemas.openxmlformats.org/officeDocument/2006/relationships/image" Target="../media/image197.png"/><Relationship Id="rId3" Type="http://schemas.openxmlformats.org/officeDocument/2006/relationships/image" Target="../media/image233.jpg"/><Relationship Id="rId12" Type="http://schemas.openxmlformats.org/officeDocument/2006/relationships/image" Target="../media/image237.png"/><Relationship Id="rId17" Type="http://schemas.openxmlformats.org/officeDocument/2006/relationships/image" Target="../media/image242.png"/><Relationship Id="rId25" Type="http://schemas.openxmlformats.org/officeDocument/2006/relationships/image" Target="../media/image250.png"/><Relationship Id="rId33" Type="http://schemas.openxmlformats.org/officeDocument/2006/relationships/image" Target="../media/image258.png"/><Relationship Id="rId38" Type="http://schemas.openxmlformats.org/officeDocument/2006/relationships/image" Target="../media/image263.jpg"/><Relationship Id="rId46" Type="http://schemas.openxmlformats.org/officeDocument/2006/relationships/image" Target="../media/image271.png"/><Relationship Id="rId20" Type="http://schemas.openxmlformats.org/officeDocument/2006/relationships/image" Target="../media/image245.png"/><Relationship Id="rId41" Type="http://schemas.openxmlformats.org/officeDocument/2006/relationships/image" Target="../media/image266.png"/><Relationship Id="rId1" Type="http://schemas.openxmlformats.org/officeDocument/2006/relationships/slideLayout" Target="../slideLayouts/slideLayout8.xml"/><Relationship Id="rId6" Type="http://schemas.openxmlformats.org/officeDocument/2006/relationships/image" Target="../media/image196.jp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4.xml"/><Relationship Id="rId5" Type="http://schemas.openxmlformats.org/officeDocument/2006/relationships/image" Target="../media/image277.png"/><Relationship Id="rId4" Type="http://schemas.openxmlformats.org/officeDocument/2006/relationships/image" Target="../media/image276.png"/></Relationships>
</file>

<file path=ppt/slides/_rels/slide3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4.xml"/><Relationship Id="rId5" Type="http://schemas.openxmlformats.org/officeDocument/2006/relationships/image" Target="../media/image277.png"/><Relationship Id="rId4" Type="http://schemas.openxmlformats.org/officeDocument/2006/relationships/image" Target="../media/image276.png"/></Relationships>
</file>

<file path=ppt/slides/_rels/slide3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4.xml"/><Relationship Id="rId5" Type="http://schemas.openxmlformats.org/officeDocument/2006/relationships/image" Target="../media/image277.png"/><Relationship Id="rId4" Type="http://schemas.openxmlformats.org/officeDocument/2006/relationships/image" Target="../media/image276.png"/></Relationships>
</file>

<file path=ppt/slides/_rels/slide3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277.png"/><Relationship Id="rId5" Type="http://schemas.openxmlformats.org/officeDocument/2006/relationships/image" Target="../media/image276.png"/><Relationship Id="rId4" Type="http://schemas.openxmlformats.org/officeDocument/2006/relationships/chart" Target="../charts/chart11.xml"/></Relationships>
</file>

<file path=ppt/slides/_rels/slide38.xml.rels><?xml version="1.0" encoding="UTF-8" standalone="yes"?>
<Relationships xmlns="http://schemas.openxmlformats.org/package/2006/relationships"><Relationship Id="rId8" Type="http://schemas.openxmlformats.org/officeDocument/2006/relationships/chart" Target="../charts/chart16.xml"/><Relationship Id="rId13" Type="http://schemas.openxmlformats.org/officeDocument/2006/relationships/chart" Target="../charts/chart21.xml"/><Relationship Id="rId3" Type="http://schemas.openxmlformats.org/officeDocument/2006/relationships/chart" Target="../charts/chart12.xml"/><Relationship Id="rId7" Type="http://schemas.openxmlformats.org/officeDocument/2006/relationships/image" Target="../media/image276.png"/><Relationship Id="rId12" Type="http://schemas.openxmlformats.org/officeDocument/2006/relationships/chart" Target="../charts/chart20.xml"/><Relationship Id="rId2" Type="http://schemas.openxmlformats.org/officeDocument/2006/relationships/image" Target="../media/image277.png"/><Relationship Id="rId1" Type="http://schemas.openxmlformats.org/officeDocument/2006/relationships/slideLayout" Target="../slideLayouts/slideLayout4.xml"/><Relationship Id="rId6" Type="http://schemas.openxmlformats.org/officeDocument/2006/relationships/chart" Target="../charts/chart15.xml"/><Relationship Id="rId11" Type="http://schemas.openxmlformats.org/officeDocument/2006/relationships/chart" Target="../charts/chart19.xml"/><Relationship Id="rId5" Type="http://schemas.openxmlformats.org/officeDocument/2006/relationships/chart" Target="../charts/chart14.xml"/><Relationship Id="rId10" Type="http://schemas.openxmlformats.org/officeDocument/2006/relationships/chart" Target="../charts/chart18.xml"/><Relationship Id="rId4" Type="http://schemas.openxmlformats.org/officeDocument/2006/relationships/chart" Target="../charts/chart13.xml"/><Relationship Id="rId9" Type="http://schemas.openxmlformats.org/officeDocument/2006/relationships/chart" Target="../charts/chart17.xml"/></Relationships>
</file>

<file path=ppt/slides/_rels/slide39.xml.rels><?xml version="1.0" encoding="UTF-8" standalone="yes"?>
<Relationships xmlns="http://schemas.openxmlformats.org/package/2006/relationships"><Relationship Id="rId3" Type="http://schemas.openxmlformats.org/officeDocument/2006/relationships/chart" Target="../charts/chart22.xml"/><Relationship Id="rId7" Type="http://schemas.openxmlformats.org/officeDocument/2006/relationships/image" Target="../media/image182.jp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284.png"/><Relationship Id="rId3" Type="http://schemas.openxmlformats.org/officeDocument/2006/relationships/image" Target="../media/image279.png"/><Relationship Id="rId7" Type="http://schemas.openxmlformats.org/officeDocument/2006/relationships/image" Target="../media/image283.png"/><Relationship Id="rId2" Type="http://schemas.openxmlformats.org/officeDocument/2006/relationships/image" Target="../media/image278.png"/><Relationship Id="rId1" Type="http://schemas.openxmlformats.org/officeDocument/2006/relationships/slideLayout" Target="../slideLayouts/slideLayout4.xml"/><Relationship Id="rId6" Type="http://schemas.openxmlformats.org/officeDocument/2006/relationships/image" Target="../media/image282.png"/><Relationship Id="rId11" Type="http://schemas.openxmlformats.org/officeDocument/2006/relationships/image" Target="../media/image287.png"/><Relationship Id="rId5" Type="http://schemas.openxmlformats.org/officeDocument/2006/relationships/image" Target="../media/image281.png"/><Relationship Id="rId10" Type="http://schemas.openxmlformats.org/officeDocument/2006/relationships/image" Target="../media/image286.png"/><Relationship Id="rId4" Type="http://schemas.openxmlformats.org/officeDocument/2006/relationships/image" Target="../media/image280.png"/><Relationship Id="rId9" Type="http://schemas.openxmlformats.org/officeDocument/2006/relationships/image" Target="../media/image28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283.png"/><Relationship Id="rId13" Type="http://schemas.openxmlformats.org/officeDocument/2006/relationships/image" Target="../media/image7.png"/><Relationship Id="rId3" Type="http://schemas.openxmlformats.org/officeDocument/2006/relationships/image" Target="../media/image278.png"/><Relationship Id="rId7" Type="http://schemas.openxmlformats.org/officeDocument/2006/relationships/image" Target="../media/image282.png"/><Relationship Id="rId12" Type="http://schemas.openxmlformats.org/officeDocument/2006/relationships/image" Target="../media/image290.png"/><Relationship Id="rId2" Type="http://schemas.openxmlformats.org/officeDocument/2006/relationships/image" Target="../media/image19.jpeg"/><Relationship Id="rId1" Type="http://schemas.openxmlformats.org/officeDocument/2006/relationships/slideLayout" Target="../slideLayouts/slideLayout4.xml"/><Relationship Id="rId6" Type="http://schemas.openxmlformats.org/officeDocument/2006/relationships/image" Target="../media/image281.png"/><Relationship Id="rId11" Type="http://schemas.openxmlformats.org/officeDocument/2006/relationships/image" Target="../media/image289.png"/><Relationship Id="rId5" Type="http://schemas.openxmlformats.org/officeDocument/2006/relationships/image" Target="../media/image288.png"/><Relationship Id="rId10" Type="http://schemas.openxmlformats.org/officeDocument/2006/relationships/image" Target="../media/image285.png"/><Relationship Id="rId4" Type="http://schemas.openxmlformats.org/officeDocument/2006/relationships/image" Target="../media/image279.png"/><Relationship Id="rId9" Type="http://schemas.openxmlformats.org/officeDocument/2006/relationships/image" Target="../media/image284.png"/></Relationships>
</file>

<file path=ppt/slides/_rels/slide44.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image" Target="../media/image291.png"/><Relationship Id="rId1" Type="http://schemas.openxmlformats.org/officeDocument/2006/relationships/slideLayout" Target="../slideLayouts/slideLayout4.xml"/><Relationship Id="rId4" Type="http://schemas.openxmlformats.org/officeDocument/2006/relationships/image" Target="../media/image29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image" Target="../media/image291.png"/><Relationship Id="rId1" Type="http://schemas.openxmlformats.org/officeDocument/2006/relationships/slideLayout" Target="../slideLayouts/slideLayout4.xml"/><Relationship Id="rId6" Type="http://schemas.openxmlformats.org/officeDocument/2006/relationships/image" Target="../media/image19.jpeg"/><Relationship Id="rId5" Type="http://schemas.openxmlformats.org/officeDocument/2006/relationships/image" Target="../media/image294.png"/><Relationship Id="rId4" Type="http://schemas.openxmlformats.org/officeDocument/2006/relationships/image" Target="../media/image29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chart" Target="../charts/chart2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5.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media/image297.png"/><Relationship Id="rId4" Type="http://schemas.openxmlformats.org/officeDocument/2006/relationships/tags" Target="../tags/tag24.xml"/><Relationship Id="rId9" Type="http://schemas.openxmlformats.org/officeDocument/2006/relationships/image" Target="../media/image29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303.svg"/><Relationship Id="rId3" Type="http://schemas.openxmlformats.org/officeDocument/2006/relationships/image" Target="../media/image298.png"/><Relationship Id="rId7" Type="http://schemas.openxmlformats.org/officeDocument/2006/relationships/image" Target="../media/image302.sv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301.svg"/><Relationship Id="rId5" Type="http://schemas.openxmlformats.org/officeDocument/2006/relationships/image" Target="../media/image300.png"/><Relationship Id="rId10" Type="http://schemas.openxmlformats.org/officeDocument/2006/relationships/image" Target="../media/image7.png"/><Relationship Id="rId4" Type="http://schemas.openxmlformats.org/officeDocument/2006/relationships/image" Target="../media/image299.png"/><Relationship Id="rId9" Type="http://schemas.openxmlformats.org/officeDocument/2006/relationships/image" Target="../media/image304.png"/></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305.jpe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308.png"/><Relationship Id="rId5" Type="http://schemas.openxmlformats.org/officeDocument/2006/relationships/image" Target="../media/image307.png"/><Relationship Id="rId4" Type="http://schemas.openxmlformats.org/officeDocument/2006/relationships/image" Target="../media/image306.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09.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311.png"/><Relationship Id="rId4" Type="http://schemas.openxmlformats.org/officeDocument/2006/relationships/image" Target="../media/image310.png"/></Relationships>
</file>

<file path=ppt/slides/_rels/slide64.xml.rels><?xml version="1.0" encoding="UTF-8" standalone="yes"?>
<Relationships xmlns="http://schemas.openxmlformats.org/package/2006/relationships"><Relationship Id="rId3" Type="http://schemas.openxmlformats.org/officeDocument/2006/relationships/image" Target="../media/image312.jpe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314.png"/><Relationship Id="rId4" Type="http://schemas.openxmlformats.org/officeDocument/2006/relationships/image" Target="../media/image313.png"/></Relationships>
</file>

<file path=ppt/slides/_rels/slide65.xml.rels><?xml version="1.0" encoding="UTF-8" standalone="yes"?>
<Relationships xmlns="http://schemas.openxmlformats.org/package/2006/relationships"><Relationship Id="rId3" Type="http://schemas.openxmlformats.org/officeDocument/2006/relationships/image" Target="../media/image315.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317.jpeg"/><Relationship Id="rId4" Type="http://schemas.openxmlformats.org/officeDocument/2006/relationships/image" Target="../media/image316.png"/></Relationships>
</file>

<file path=ppt/slides/_rels/slide66.xml.rels><?xml version="1.0" encoding="UTF-8" standalone="yes"?>
<Relationships xmlns="http://schemas.openxmlformats.org/package/2006/relationships"><Relationship Id="rId3" Type="http://schemas.openxmlformats.org/officeDocument/2006/relationships/image" Target="../media/image318.png"/><Relationship Id="rId2" Type="http://schemas.openxmlformats.org/officeDocument/2006/relationships/notesSlide" Target="../notesSlides/notesSlide40.xml"/><Relationship Id="rId1" Type="http://schemas.openxmlformats.org/officeDocument/2006/relationships/slideLayout" Target="../slideLayouts/slideLayout4.xml"/><Relationship Id="rId5" Type="http://schemas.openxmlformats.org/officeDocument/2006/relationships/image" Target="../media/image320.png"/><Relationship Id="rId4" Type="http://schemas.openxmlformats.org/officeDocument/2006/relationships/image" Target="../media/image319.jpeg"/></Relationships>
</file>

<file path=ppt/slides/_rels/slide67.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notesSlide" Target="../notesSlides/notesSlide41.xml"/><Relationship Id="rId1" Type="http://schemas.openxmlformats.org/officeDocument/2006/relationships/slideLayout" Target="../slideLayouts/slideLayout4.xml"/><Relationship Id="rId5" Type="http://schemas.openxmlformats.org/officeDocument/2006/relationships/image" Target="../media/image323.png"/><Relationship Id="rId4" Type="http://schemas.openxmlformats.org/officeDocument/2006/relationships/image" Target="../media/image322.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24.sv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70.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8.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AB22858-1124-E46F-72DC-EC4AC4F32CB6}"/>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graphicFrame>
        <p:nvGraphicFramePr>
          <p:cNvPr id="8" name="Object 7" hidden="1">
            <a:extLst>
              <a:ext uri="{FF2B5EF4-FFF2-40B4-BE49-F238E27FC236}">
                <a16:creationId xmlns:a16="http://schemas.microsoft.com/office/drawing/2014/main" id="{E9507578-C288-40E5-9D38-47D6FF0128A2}"/>
              </a:ext>
            </a:extLst>
          </p:cNvPr>
          <p:cNvGraphicFramePr>
            <a:graphicFrameLocks noChangeAspect="1"/>
          </p:cNvGraphicFramePr>
          <p:nvPr>
            <p:custDataLst>
              <p:tags r:id="rId1"/>
            </p:custDataLst>
            <p:extLst>
              <p:ext uri="{D42A27DB-BD31-4B8C-83A1-F6EECF244321}">
                <p14:modId xmlns:p14="http://schemas.microsoft.com/office/powerpoint/2010/main" val="15627117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8" name="Object 7" hidden="1">
                        <a:extLst>
                          <a:ext uri="{FF2B5EF4-FFF2-40B4-BE49-F238E27FC236}">
                            <a16:creationId xmlns:a16="http://schemas.microsoft.com/office/drawing/2014/main" id="{E9507578-C288-40E5-9D38-47D6FF0128A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8C0609A-0EF8-44F8-D894-502A362EDD2D}"/>
              </a:ext>
            </a:extLst>
          </p:cNvPr>
          <p:cNvSpPr>
            <a:spLocks noGrp="1"/>
          </p:cNvSpPr>
          <p:nvPr>
            <p:ph type="ctrTitle"/>
          </p:nvPr>
        </p:nvSpPr>
        <p:spPr>
          <a:xfrm>
            <a:off x="1438939" y="2446652"/>
            <a:ext cx="7200000" cy="432000"/>
          </a:xfrm>
        </p:spPr>
        <p:txBody>
          <a:bodyPr/>
          <a:lstStyle/>
          <a:p>
            <a:r>
              <a:rPr lang="en-US" dirty="0"/>
              <a:t>Discussion Materials</a:t>
            </a:r>
          </a:p>
        </p:txBody>
      </p:sp>
      <p:sp>
        <p:nvSpPr>
          <p:cNvPr id="10" name="Subtitle 9">
            <a:extLst>
              <a:ext uri="{FF2B5EF4-FFF2-40B4-BE49-F238E27FC236}">
                <a16:creationId xmlns:a16="http://schemas.microsoft.com/office/drawing/2014/main" id="{4A0C2DFE-56FF-6122-167D-7D55D2374A44}"/>
              </a:ext>
            </a:extLst>
          </p:cNvPr>
          <p:cNvSpPr>
            <a:spLocks noGrp="1"/>
          </p:cNvSpPr>
          <p:nvPr>
            <p:ph type="subTitle" idx="1"/>
          </p:nvPr>
        </p:nvSpPr>
        <p:spPr>
          <a:xfrm>
            <a:off x="1438939" y="2887692"/>
            <a:ext cx="7200000" cy="360000"/>
          </a:xfrm>
        </p:spPr>
        <p:txBody>
          <a:bodyPr/>
          <a:lstStyle/>
          <a:p>
            <a:r>
              <a:rPr lang="en-US" dirty="0"/>
              <a:t>May 2026</a:t>
            </a:r>
          </a:p>
        </p:txBody>
      </p:sp>
      <p:sp>
        <p:nvSpPr>
          <p:cNvPr id="2" name="TextBox 1">
            <a:extLst>
              <a:ext uri="{FF2B5EF4-FFF2-40B4-BE49-F238E27FC236}">
                <a16:creationId xmlns:a16="http://schemas.microsoft.com/office/drawing/2014/main" id="{2C52C737-EDBD-BF53-51D2-5166DA8BCB0F}"/>
              </a:ext>
            </a:extLst>
          </p:cNvPr>
          <p:cNvSpPr txBox="1"/>
          <p:nvPr/>
        </p:nvSpPr>
        <p:spPr>
          <a:xfrm>
            <a:off x="8390466" y="-16933"/>
            <a:ext cx="1270568" cy="360000"/>
          </a:xfrm>
          <a:prstGeom prst="rect">
            <a:avLst/>
          </a:prstGeom>
          <a:noFill/>
        </p:spPr>
        <p:txBody>
          <a:bodyPr wrap="none" lIns="0" tIns="0" rIns="0" bIns="0" rtlCol="0" anchor="ctr">
            <a:noAutofit/>
          </a:bodyPr>
          <a:lstStyle/>
          <a:p>
            <a:pPr algn="ctr"/>
            <a:r>
              <a:rPr lang="en-US" sz="1400" i="1">
                <a:solidFill>
                  <a:srgbClr val="FF0000"/>
                </a:solidFill>
              </a:rPr>
              <a:t>H</a:t>
            </a:r>
            <a:r>
              <a:rPr lang="en-US" altLang="zh-CN" sz="1400" i="1">
                <a:solidFill>
                  <a:srgbClr val="FF0000"/>
                </a:solidFill>
              </a:rPr>
              <a:t>ighly Confidential</a:t>
            </a:r>
            <a:endParaRPr lang="en-US" sz="1400" i="1">
              <a:solidFill>
                <a:srgbClr val="FF0000"/>
              </a:solidFill>
            </a:endParaRPr>
          </a:p>
        </p:txBody>
      </p:sp>
      <p:pic>
        <p:nvPicPr>
          <p:cNvPr id="3" name="Picture 2" descr="About Us - Singapore Medical Group">
            <a:extLst>
              <a:ext uri="{FF2B5EF4-FFF2-40B4-BE49-F238E27FC236}">
                <a16:creationId xmlns:a16="http://schemas.microsoft.com/office/drawing/2014/main" id="{9B3F7889-B185-DD3D-C249-4171405AE6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2406" y="1704849"/>
            <a:ext cx="1801188" cy="622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426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D8151-7004-9D90-9B09-7CAFC9CCD70A}"/>
            </a:ext>
          </a:extLst>
        </p:cNvPr>
        <p:cNvGrpSpPr/>
        <p:nvPr/>
      </p:nvGrpSpPr>
      <p:grpSpPr>
        <a:xfrm>
          <a:off x="0" y="0"/>
          <a:ext cx="0" cy="0"/>
          <a:chOff x="0" y="0"/>
          <a:chExt cx="0" cy="0"/>
        </a:xfrm>
      </p:grpSpPr>
      <p:graphicFrame>
        <p:nvGraphicFramePr>
          <p:cNvPr id="5" name="Table 6">
            <a:extLst>
              <a:ext uri="{FF2B5EF4-FFF2-40B4-BE49-F238E27FC236}">
                <a16:creationId xmlns:a16="http://schemas.microsoft.com/office/drawing/2014/main" id="{BA64609B-533C-41C9-09F3-6D9481441BD0}"/>
              </a:ext>
            </a:extLst>
          </p:cNvPr>
          <p:cNvGraphicFramePr>
            <a:graphicFrameLocks noGrp="1"/>
          </p:cNvGraphicFramePr>
          <p:nvPr>
            <p:extLst>
              <p:ext uri="{D42A27DB-BD31-4B8C-83A1-F6EECF244321}">
                <p14:modId xmlns:p14="http://schemas.microsoft.com/office/powerpoint/2010/main" val="473628310"/>
              </p:ext>
            </p:extLst>
          </p:nvPr>
        </p:nvGraphicFramePr>
        <p:xfrm>
          <a:off x="705974" y="1040824"/>
          <a:ext cx="8494051" cy="4724400"/>
        </p:xfrm>
        <a:graphic>
          <a:graphicData uri="http://schemas.openxmlformats.org/drawingml/2006/table">
            <a:tbl>
              <a:tblPr firstRow="1" bandRow="1">
                <a:tableStyleId>{2D5ABB26-0587-4C30-8999-92F81FD0307C}</a:tableStyleId>
              </a:tblPr>
              <a:tblGrid>
                <a:gridCol w="530582">
                  <a:extLst>
                    <a:ext uri="{9D8B030D-6E8A-4147-A177-3AD203B41FA5}">
                      <a16:colId xmlns:a16="http://schemas.microsoft.com/office/drawing/2014/main" val="363273670"/>
                    </a:ext>
                  </a:extLst>
                </a:gridCol>
                <a:gridCol w="208280">
                  <a:extLst>
                    <a:ext uri="{9D8B030D-6E8A-4147-A177-3AD203B41FA5}">
                      <a16:colId xmlns:a16="http://schemas.microsoft.com/office/drawing/2014/main" val="3591009133"/>
                    </a:ext>
                  </a:extLst>
                </a:gridCol>
                <a:gridCol w="6974546">
                  <a:extLst>
                    <a:ext uri="{9D8B030D-6E8A-4147-A177-3AD203B41FA5}">
                      <a16:colId xmlns:a16="http://schemas.microsoft.com/office/drawing/2014/main" val="2166927923"/>
                    </a:ext>
                  </a:extLst>
                </a:gridCol>
                <a:gridCol w="780643">
                  <a:extLst>
                    <a:ext uri="{9D8B030D-6E8A-4147-A177-3AD203B41FA5}">
                      <a16:colId xmlns:a16="http://schemas.microsoft.com/office/drawing/2014/main" val="3753317032"/>
                    </a:ext>
                  </a:extLst>
                </a:gridCol>
              </a:tblGrid>
              <a:tr h="313502">
                <a:tc gridSpan="3">
                  <a:txBody>
                    <a:bodyPr/>
                    <a:lstStyle/>
                    <a:p>
                      <a:pPr algn="l">
                        <a:lnSpc>
                          <a:spcPct val="100000"/>
                        </a:lnSpc>
                      </a:pPr>
                      <a:r>
                        <a:rPr lang="en-US" sz="1200" b="1" dirty="0">
                          <a:solidFill>
                            <a:schemeClr val="bg1"/>
                          </a:solidFill>
                          <a:latin typeface="+mn-lt"/>
                          <a:ea typeface="KaiTi" panose="02010609060101010101" pitchFamily="49" charset="-122"/>
                        </a:rPr>
                        <a:t>Section</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0000"/>
                    </a:solidFill>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mn-lt"/>
                          <a:ea typeface="KaiTi" panose="02010609060101010101" pitchFamily="49" charset="-122"/>
                        </a:rPr>
                        <a:t>Page</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62626"/>
                    </a:solidFill>
                  </a:tcPr>
                </a:tc>
                <a:extLst>
                  <a:ext uri="{0D108BD9-81ED-4DB2-BD59-A6C34878D82A}">
                    <a16:rowId xmlns:a16="http://schemas.microsoft.com/office/drawing/2014/main" val="2926521515"/>
                  </a:ext>
                </a:extLst>
              </a:tr>
              <a:tr h="313502">
                <a:tc gridSpan="2">
                  <a:txBody>
                    <a:bodyPr/>
                    <a:lstStyle/>
                    <a:p>
                      <a:pPr marL="0" marR="0" algn="ctr">
                        <a:lnSpc>
                          <a:spcPct val="100000"/>
                        </a:lnSpc>
                        <a:spcBef>
                          <a:spcPts val="0"/>
                        </a:spcBef>
                        <a:spcAft>
                          <a:spcPts val="0"/>
                        </a:spcAft>
                      </a:pPr>
                      <a:r>
                        <a:rPr lang="en-US" sz="1000" b="1" kern="1200" spc="0" baseline="0" dirty="0">
                          <a:solidFill>
                            <a:schemeClr val="tx1"/>
                          </a:solidFill>
                          <a:effectLst/>
                          <a:latin typeface="+mn-lt"/>
                          <a:ea typeface="KaiTi" panose="02010609060101010101" pitchFamily="49" charset="-122"/>
                          <a:cs typeface="Arial" panose="020B0604020202020204" pitchFamily="34" charset="0"/>
                        </a:rPr>
                        <a:t>I</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gn="ctr">
                        <a:lnSpc>
                          <a:spcPct val="100000"/>
                        </a:lnSpc>
                        <a:spcBef>
                          <a:spcPts val="0"/>
                        </a:spcBef>
                        <a:spcAft>
                          <a:spcPts val="0"/>
                        </a:spcAft>
                      </a:pPr>
                      <a:endParaRPr lang="en-US" sz="1400" b="1" kern="1200" spc="0" baseline="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857250" rtl="0" eaLnBrk="1" fontAlgn="auto" latinLnBrk="0" hangingPunct="1">
                        <a:lnSpc>
                          <a:spcPct val="100000"/>
                        </a:lnSpc>
                        <a:spcBef>
                          <a:spcPts val="0"/>
                        </a:spcBef>
                        <a:spcAft>
                          <a:spcPts val="0"/>
                        </a:spcAft>
                        <a:buClrTx/>
                        <a:buSzTx/>
                        <a:buFontTx/>
                        <a:buNone/>
                        <a:defRPr/>
                      </a:pPr>
                      <a:r>
                        <a:rPr lang="en-US" sz="1000" b="1" i="0" spc="0" baseline="0" dirty="0">
                          <a:latin typeface="+mn-lt"/>
                        </a:rPr>
                        <a:t>DBS: The World’s Best</a:t>
                      </a:r>
                      <a:endParaRPr lang="zh-CN" altLang="en-US" sz="1000" b="1" i="0"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3</a:t>
                      </a:r>
                      <a:endParaRPr kumimoji="0" lang="zh-CN" altLang="en-US" sz="1000" b="1" i="0"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endParaRP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19507"/>
                  </a:ext>
                </a:extLst>
              </a:tr>
              <a:tr h="313502">
                <a:tc>
                  <a:txBody>
                    <a:bodyPr/>
                    <a:lstStyle/>
                    <a:p>
                      <a:pPr marL="0" marR="0" algn="ctr">
                        <a:lnSpc>
                          <a:spcPct val="100000"/>
                        </a:lnSpc>
                        <a:spcBef>
                          <a:spcPts val="0"/>
                        </a:spcBef>
                        <a:spcAft>
                          <a:spcPts val="0"/>
                        </a:spcAft>
                      </a:pPr>
                      <a:endParaRPr lang="en-US" sz="1000" b="1" kern="1200" spc="0" baseline="0" dirty="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0000"/>
                        </a:lnSpc>
                        <a:spcBef>
                          <a:spcPts val="0"/>
                        </a:spcBef>
                        <a:spcAft>
                          <a:spcPts val="0"/>
                        </a:spcAft>
                      </a:pPr>
                      <a:endParaRPr lang="en-US" sz="1000" b="1" kern="1200" spc="0" baseline="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1. DBS Overview and Credentials</a:t>
                      </a:r>
                      <a:endParaRPr lang="zh-CN" altLang="en-US"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3</a:t>
                      </a:r>
                      <a:endParaRPr kumimoji="0" lang="zh-CN" altLang="en-US"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endParaRP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6664330"/>
                  </a:ext>
                </a:extLst>
              </a:tr>
              <a:tr h="313502">
                <a:tc>
                  <a:txBody>
                    <a:bodyPr/>
                    <a:lstStyle/>
                    <a:p>
                      <a:pPr marL="0" marR="0" algn="ctr">
                        <a:lnSpc>
                          <a:spcPct val="100000"/>
                        </a:lnSpc>
                        <a:spcBef>
                          <a:spcPts val="0"/>
                        </a:spcBef>
                        <a:spcAft>
                          <a:spcPts val="0"/>
                        </a:spcAft>
                      </a:pPr>
                      <a:endParaRPr lang="en-US" sz="1000" b="1" kern="1200" spc="0" baseline="0" dirty="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0000"/>
                        </a:lnSpc>
                        <a:spcBef>
                          <a:spcPts val="0"/>
                        </a:spcBef>
                        <a:spcAft>
                          <a:spcPts val="0"/>
                        </a:spcAft>
                      </a:pPr>
                      <a:endParaRPr lang="en-US" sz="1000" b="1" kern="1200" spc="0" baseline="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2. Proven Track Record in Equity Capital Markets</a:t>
                      </a:r>
                      <a:endParaRPr lang="zh-CN" altLang="en-US"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9</a:t>
                      </a:r>
                      <a:endParaRPr kumimoji="0" lang="zh-CN" altLang="en-US"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endParaRP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6540881"/>
                  </a:ext>
                </a:extLst>
              </a:tr>
              <a:tr h="313502">
                <a:tc>
                  <a:txBody>
                    <a:bodyPr/>
                    <a:lstStyle/>
                    <a:p>
                      <a:pPr marL="0" marR="0" algn="ctr">
                        <a:lnSpc>
                          <a:spcPct val="100000"/>
                        </a:lnSpc>
                        <a:spcBef>
                          <a:spcPts val="0"/>
                        </a:spcBef>
                        <a:spcAft>
                          <a:spcPts val="0"/>
                        </a:spcAft>
                      </a:pPr>
                      <a:endParaRPr lang="en-US" sz="1000" b="1" kern="1200" spc="0" baseline="0" dirty="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0000"/>
                        </a:lnSpc>
                        <a:spcBef>
                          <a:spcPts val="0"/>
                        </a:spcBef>
                        <a:spcAft>
                          <a:spcPts val="0"/>
                        </a:spcAft>
                      </a:pPr>
                      <a:endParaRPr lang="en-US" sz="1000" b="1" kern="1200" spc="0" baseline="0" dirty="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3. DBS Research Capabilities</a:t>
                      </a:r>
                      <a:endParaRPr lang="zh-CN" altLang="en-US"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20</a:t>
                      </a:r>
                      <a:endParaRPr kumimoji="0" lang="zh-CN" altLang="en-US"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endParaRP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8327443"/>
                  </a:ext>
                </a:extLst>
              </a:tr>
              <a:tr h="313502">
                <a:tc gridSpan="2">
                  <a:txBody>
                    <a:bodyPr/>
                    <a:lstStyle/>
                    <a:p>
                      <a:pPr marL="0" marR="0" algn="ctr">
                        <a:lnSpc>
                          <a:spcPct val="100000"/>
                        </a:lnSpc>
                        <a:spcBef>
                          <a:spcPts val="0"/>
                        </a:spcBef>
                        <a:spcAft>
                          <a:spcPts val="0"/>
                        </a:spcAft>
                      </a:pPr>
                      <a:r>
                        <a:rPr lang="en-US" sz="1000" b="1" kern="1200" spc="0" baseline="0" dirty="0">
                          <a:solidFill>
                            <a:schemeClr val="tx1"/>
                          </a:solidFill>
                          <a:effectLst/>
                          <a:latin typeface="+mn-lt"/>
                          <a:ea typeface="KaiTi" panose="02010609060101010101" pitchFamily="49" charset="-122"/>
                          <a:cs typeface="Arial" panose="020B0604020202020204" pitchFamily="34" charset="0"/>
                        </a:rPr>
                        <a:t>II</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1" i="0"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Hong Kong Equity Market Update</a:t>
                      </a:r>
                      <a:endParaRPr lang="zh-CN" altLang="en-US" sz="1000" b="1" i="0"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24</a:t>
                      </a:r>
                      <a:endParaRPr kumimoji="0" lang="zh-CN" altLang="en-US" sz="1000" b="1" i="0"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endParaRP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5273566"/>
                  </a:ext>
                </a:extLst>
              </a:tr>
              <a:tr h="313502">
                <a:tc gridSpan="2">
                  <a:txBody>
                    <a:bodyPr/>
                    <a:lstStyle/>
                    <a:p>
                      <a:pPr marL="0" marR="0" algn="ctr">
                        <a:lnSpc>
                          <a:spcPct val="100000"/>
                        </a:lnSpc>
                        <a:spcBef>
                          <a:spcPts val="0"/>
                        </a:spcBef>
                        <a:spcAft>
                          <a:spcPts val="0"/>
                        </a:spcAft>
                      </a:pPr>
                      <a:r>
                        <a:rPr lang="en-US" sz="1000" b="1" kern="1200" spc="0" baseline="0" dirty="0">
                          <a:solidFill>
                            <a:schemeClr val="tx1"/>
                          </a:solidFill>
                          <a:effectLst/>
                          <a:latin typeface="+mn-lt"/>
                          <a:ea typeface="KaiTi" panose="02010609060101010101" pitchFamily="49" charset="-122"/>
                          <a:cs typeface="Arial" panose="020B0604020202020204" pitchFamily="34" charset="0"/>
                        </a:rPr>
                        <a:t>III</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1" i="0"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SMG’s Hong Kong Listing</a:t>
                      </a:r>
                      <a:endParaRPr lang="zh-CN" altLang="en-US" sz="1000" b="1" i="0"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32</a:t>
                      </a:r>
                      <a:endParaRPr kumimoji="0" lang="zh-CN" altLang="en-US" sz="1000" b="1" i="0"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endParaRP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770134"/>
                  </a:ext>
                </a:extLst>
              </a:tr>
              <a:tr h="313502">
                <a:tc gridSpan="2">
                  <a:txBody>
                    <a:bodyPr/>
                    <a:lstStyle/>
                    <a:p>
                      <a:pPr marL="0" marR="0" algn="ctr">
                        <a:lnSpc>
                          <a:spcPct val="100000"/>
                        </a:lnSpc>
                        <a:spcBef>
                          <a:spcPts val="0"/>
                        </a:spcBef>
                        <a:spcAft>
                          <a:spcPts val="0"/>
                        </a:spcAft>
                      </a:pPr>
                      <a:endParaRPr lang="en-US" sz="1000" b="1" kern="1200" spc="0" baseline="0" dirty="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0" i="1" kern="1200"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1. Listing venue considerations</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32</a:t>
                      </a:r>
                      <a:endParaRPr kumimoji="0" lang="zh-CN" altLang="en-US"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endParaRP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6206042"/>
                  </a:ext>
                </a:extLst>
              </a:tr>
              <a:tr h="313502">
                <a:tc gridSpan="2">
                  <a:txBody>
                    <a:bodyPr/>
                    <a:lstStyle/>
                    <a:p>
                      <a:pPr marL="0" marR="0" algn="ctr">
                        <a:lnSpc>
                          <a:spcPct val="100000"/>
                        </a:lnSpc>
                        <a:spcBef>
                          <a:spcPts val="0"/>
                        </a:spcBef>
                        <a:spcAft>
                          <a:spcPts val="0"/>
                        </a:spcAft>
                      </a:pPr>
                      <a:endParaRPr lang="en-US" sz="1000" b="1" kern="1200" spc="0" baseline="0" dirty="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0" i="1" kern="1200"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2. Comparable Analysis and Indicative Valuation</a:t>
                      </a:r>
                      <a:endParaRPr lang="zh-CN" altLang="en-US" sz="1000" b="0" i="1" kern="1200"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40</a:t>
                      </a:r>
                      <a:endParaRPr kumimoji="0" lang="zh-CN" altLang="en-US"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endParaRP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601885"/>
                  </a:ext>
                </a:extLst>
              </a:tr>
              <a:tr h="313502">
                <a:tc gridSpan="2">
                  <a:txBody>
                    <a:bodyPr/>
                    <a:lstStyle/>
                    <a:p>
                      <a:pPr marL="0" marR="0" algn="ctr">
                        <a:lnSpc>
                          <a:spcPct val="100000"/>
                        </a:lnSpc>
                        <a:spcBef>
                          <a:spcPts val="0"/>
                        </a:spcBef>
                        <a:spcAft>
                          <a:spcPts val="0"/>
                        </a:spcAft>
                      </a:pPr>
                      <a:endParaRPr lang="en-US" sz="1000" b="1" kern="1200" spc="0" baseline="0" dirty="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0" i="1" kern="1200"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3. IPO Execution Plan and Consideration</a:t>
                      </a:r>
                      <a:endParaRPr lang="zh-CN" altLang="en-US" sz="1000" b="0" i="1" kern="1200"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49</a:t>
                      </a:r>
                      <a:endParaRPr kumimoji="0" lang="zh-CN" altLang="en-US"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endParaRP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0130230"/>
                  </a:ext>
                </a:extLst>
              </a:tr>
              <a:tr h="0">
                <a:tc gridSpan="2">
                  <a:txBody>
                    <a:bodyPr/>
                    <a:lstStyle/>
                    <a:p>
                      <a:pPr marL="0" marR="0" algn="ctr">
                        <a:lnSpc>
                          <a:spcPct val="100000"/>
                        </a:lnSpc>
                        <a:spcBef>
                          <a:spcPts val="0"/>
                        </a:spcBef>
                        <a:spcAft>
                          <a:spcPts val="0"/>
                        </a:spcAft>
                      </a:pPr>
                      <a:endParaRPr lang="en-US" sz="1000" b="1" kern="1200" spc="0" baseline="0" dirty="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4. </a:t>
                      </a:r>
                      <a:r>
                        <a:rPr lang="en-US" altLang="zh-CN" sz="1000" b="0" i="1" kern="1200" spc="0" baseline="0" dirty="0">
                          <a:solidFill>
                            <a:schemeClr val="tx1"/>
                          </a:solidFill>
                          <a:latin typeface="+mn-lt"/>
                          <a:ea typeface="KaiTi" panose="02010609060101010101" pitchFamily="49" charset="-122"/>
                          <a:cs typeface="Arial" panose="020B0604020202020204" pitchFamily="34" charset="0"/>
                        </a:rPr>
                        <a:t>Key Investors Selection and Recommendation </a:t>
                      </a:r>
                      <a:endParaRPr lang="zh-CN" altLang="en-US" sz="1000" b="0" i="1" kern="1200" spc="0" baseline="0" dirty="0">
                        <a:solidFill>
                          <a:schemeClr val="tx1"/>
                        </a:solidFill>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54</a:t>
                      </a: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5487609"/>
                  </a:ext>
                </a:extLst>
              </a:tr>
              <a:tr h="0">
                <a:tc gridSpan="2">
                  <a:txBody>
                    <a:bodyPr/>
                    <a:lstStyle/>
                    <a:p>
                      <a:pPr marL="0" marR="0" algn="ctr">
                        <a:lnSpc>
                          <a:spcPct val="100000"/>
                        </a:lnSpc>
                        <a:spcBef>
                          <a:spcPts val="0"/>
                        </a:spcBef>
                        <a:spcAft>
                          <a:spcPts val="0"/>
                        </a:spcAft>
                      </a:pPr>
                      <a:endParaRPr lang="en-US" sz="1000" b="1" kern="1200" spc="0" baseline="0" dirty="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5. Corporate and Strategic Investors Profile</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62</a:t>
                      </a: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5230674"/>
                  </a:ext>
                </a:extLst>
              </a:tr>
              <a:tr h="0">
                <a:tc gridSpan="2">
                  <a:txBody>
                    <a:bodyPr/>
                    <a:lstStyle/>
                    <a:p>
                      <a:pPr marL="0" marR="0" algn="ctr">
                        <a:lnSpc>
                          <a:spcPct val="100000"/>
                        </a:lnSpc>
                        <a:spcBef>
                          <a:spcPts val="0"/>
                        </a:spcBef>
                        <a:spcAft>
                          <a:spcPts val="0"/>
                        </a:spcAft>
                      </a:pPr>
                      <a:endParaRPr lang="en-US" sz="1000" b="1" kern="1200" spc="0" baseline="0" dirty="0">
                        <a:solidFill>
                          <a:schemeClr val="tx1"/>
                        </a:solidFill>
                        <a:effectLst/>
                        <a:latin typeface="+mn-lt"/>
                        <a:ea typeface="KaiTi" panose="02010609060101010101" pitchFamily="49" charset="-122"/>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CN"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rPr>
                        <a:t>6. Post-listing Market Support</a:t>
                      </a:r>
                      <a:endParaRPr lang="zh-CN" altLang="en-US"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68</a:t>
                      </a: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2179725"/>
                  </a:ext>
                </a:extLst>
              </a:tr>
              <a:tr h="0">
                <a:tc gridSpan="2">
                  <a:txBody>
                    <a:bodyPr/>
                    <a:lstStyle/>
                    <a:p>
                      <a:pPr marL="0" marR="0" algn="ctr">
                        <a:lnSpc>
                          <a:spcPct val="100000"/>
                        </a:lnSpc>
                        <a:spcBef>
                          <a:spcPts val="0"/>
                        </a:spcBef>
                        <a:spcAft>
                          <a:spcPts val="0"/>
                        </a:spcAft>
                      </a:pPr>
                      <a:r>
                        <a:rPr lang="en-US" sz="1000" b="1" kern="1200" spc="0" baseline="0" dirty="0">
                          <a:solidFill>
                            <a:schemeClr val="tx1"/>
                          </a:solidFill>
                          <a:effectLst/>
                          <a:latin typeface="+mn-lt"/>
                          <a:ea typeface="KaiTi" panose="02010609060101010101" pitchFamily="49" charset="-122"/>
                          <a:cs typeface="Arial" panose="020B0604020202020204" pitchFamily="34" charset="0"/>
                        </a:rPr>
                        <a:t>IV</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just" defTabSz="857250" rtl="0" eaLnBrk="1" fontAlgn="auto" latinLnBrk="0" hangingPunct="1">
                        <a:lnSpc>
                          <a:spcPct val="100000"/>
                        </a:lnSpc>
                        <a:spcBef>
                          <a:spcPts val="0"/>
                        </a:spcBef>
                        <a:spcAft>
                          <a:spcPts val="0"/>
                        </a:spcAft>
                        <a:buClrTx/>
                        <a:buSzTx/>
                        <a:buFontTx/>
                        <a:buNone/>
                        <a:tabLst/>
                        <a:defRPr/>
                      </a:pPr>
                      <a:r>
                        <a:rPr lang="en-US" altLang="zh-TW" sz="1000" b="1" dirty="0"/>
                        <a:t>Appendix</a:t>
                      </a:r>
                      <a:endParaRPr lang="zh-CN" altLang="en-US" sz="1000" b="0" i="1" spc="0" baseline="0" dirty="0">
                        <a:solidFill>
                          <a:schemeClr val="tx1"/>
                        </a:solidFill>
                        <a:latin typeface="+mn-lt"/>
                        <a:ea typeface="KaiTi" panose="02010609060101010101" pitchFamily="49" charset="-122"/>
                        <a:cs typeface="Arial" panose="020B0604020202020204" pitchFamily="34" charset="0"/>
                        <a:sym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1" u="none" strike="noStrike" kern="1200" cap="none" spc="0" normalizeH="0" baseline="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rPr>
                        <a:t>71</a:t>
                      </a:r>
                      <a:endParaRPr kumimoji="0" lang="en-US" altLang="zh-CN" sz="1000" b="0" i="1" u="none" strike="noStrike" kern="1200" cap="none" spc="0" normalizeH="0" baseline="0" dirty="0">
                        <a:ln>
                          <a:noFill/>
                        </a:ln>
                        <a:solidFill>
                          <a:srgbClr val="000000"/>
                        </a:solidFill>
                        <a:effectLst/>
                        <a:uLnTx/>
                        <a:uFillTx/>
                        <a:latin typeface="+mn-lt"/>
                        <a:ea typeface="KaiTi" panose="02010609060101010101" pitchFamily="49" charset="-122"/>
                        <a:cs typeface="Arial" panose="020B0604020202020204" pitchFamily="34" charset="0"/>
                        <a:sym typeface="Arial" panose="020B0604020202020204" pitchFamily="34" charset="0"/>
                      </a:endParaRPr>
                    </a:p>
                  </a:txBody>
                  <a:tcPr marL="78230" marR="78230" marT="15646" marB="1564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0145825"/>
                  </a:ext>
                </a:extLst>
              </a:tr>
            </a:tbl>
          </a:graphicData>
        </a:graphic>
      </p:graphicFrame>
      <p:graphicFrame>
        <p:nvGraphicFramePr>
          <p:cNvPr id="2" name="Object 1" hidden="1">
            <a:extLst>
              <a:ext uri="{FF2B5EF4-FFF2-40B4-BE49-F238E27FC236}">
                <a16:creationId xmlns:a16="http://schemas.microsoft.com/office/drawing/2014/main" id="{32CA90B9-5D00-25B5-724F-566F56090D8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2" name="Object 1" hidden="1">
                        <a:extLst>
                          <a:ext uri="{FF2B5EF4-FFF2-40B4-BE49-F238E27FC236}">
                            <a16:creationId xmlns:a16="http://schemas.microsoft.com/office/drawing/2014/main" id="{32CA90B9-5D00-25B5-724F-566F56090D8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16DD6114-66AF-95D4-4E00-A82247CB6D2B}"/>
              </a:ext>
            </a:extLst>
          </p:cNvPr>
          <p:cNvSpPr>
            <a:spLocks noGrp="1"/>
          </p:cNvSpPr>
          <p:nvPr>
            <p:ph type="title"/>
          </p:nvPr>
        </p:nvSpPr>
        <p:spPr/>
        <p:txBody>
          <a:bodyPr/>
          <a:lstStyle/>
          <a:p>
            <a:r>
              <a:rPr lang="en-US" sz="2000" dirty="0"/>
              <a:t>Table of Contents</a:t>
            </a:r>
          </a:p>
        </p:txBody>
      </p:sp>
      <p:sp>
        <p:nvSpPr>
          <p:cNvPr id="4" name="Slide Number Placeholder 3">
            <a:extLst>
              <a:ext uri="{FF2B5EF4-FFF2-40B4-BE49-F238E27FC236}">
                <a16:creationId xmlns:a16="http://schemas.microsoft.com/office/drawing/2014/main" id="{88CB3076-F3F4-7523-55BF-DBE9CB73B70E}"/>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2</a:t>
            </a:fld>
            <a:endParaRPr lang="en-US" altLang="en-US" b="0">
              <a:solidFill>
                <a:srgbClr val="000000"/>
              </a:solidFill>
            </a:endParaRPr>
          </a:p>
        </p:txBody>
      </p:sp>
    </p:spTree>
    <p:extLst>
      <p:ext uri="{BB962C8B-B14F-4D97-AF65-F5344CB8AC3E}">
        <p14:creationId xmlns:p14="http://schemas.microsoft.com/office/powerpoint/2010/main" val="3098401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7E961A0-06F8-1BDF-DE7F-E3A1BE8DE3C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5" name="Subtitle 4">
            <a:extLst>
              <a:ext uri="{FF2B5EF4-FFF2-40B4-BE49-F238E27FC236}">
                <a16:creationId xmlns:a16="http://schemas.microsoft.com/office/drawing/2014/main" id="{2E964C94-B79E-EB64-5DFB-BD8C6CAF177C}"/>
              </a:ext>
            </a:extLst>
          </p:cNvPr>
          <p:cNvSpPr>
            <a:spLocks noGrp="1"/>
          </p:cNvSpPr>
          <p:nvPr>
            <p:ph type="subTitle" idx="1"/>
          </p:nvPr>
        </p:nvSpPr>
        <p:spPr/>
        <p:txBody>
          <a:bodyPr/>
          <a:lstStyle/>
          <a:p>
            <a:r>
              <a:rPr lang="en-US" dirty="0"/>
              <a:t>Section I – DBS: The World’s Best</a:t>
            </a:r>
          </a:p>
        </p:txBody>
      </p:sp>
      <p:sp>
        <p:nvSpPr>
          <p:cNvPr id="6" name="Title 5">
            <a:extLst>
              <a:ext uri="{FF2B5EF4-FFF2-40B4-BE49-F238E27FC236}">
                <a16:creationId xmlns:a16="http://schemas.microsoft.com/office/drawing/2014/main" id="{036D4EAA-B237-759A-0E63-98A0BAE3D227}"/>
              </a:ext>
            </a:extLst>
          </p:cNvPr>
          <p:cNvSpPr>
            <a:spLocks noGrp="1"/>
          </p:cNvSpPr>
          <p:nvPr>
            <p:ph type="ctrTitle"/>
          </p:nvPr>
        </p:nvSpPr>
        <p:spPr>
          <a:xfrm>
            <a:off x="2242944" y="4131897"/>
            <a:ext cx="7200000" cy="492443"/>
          </a:xfrm>
        </p:spPr>
        <p:txBody>
          <a:bodyPr/>
          <a:lstStyle/>
          <a:p>
            <a:r>
              <a:rPr lang="en-US"/>
              <a:t>1. DBS Overview and Credentials</a:t>
            </a:r>
          </a:p>
        </p:txBody>
      </p:sp>
      <p:sp>
        <p:nvSpPr>
          <p:cNvPr id="3" name="Slide Number Placeholder 2">
            <a:extLst>
              <a:ext uri="{FF2B5EF4-FFF2-40B4-BE49-F238E27FC236}">
                <a16:creationId xmlns:a16="http://schemas.microsoft.com/office/drawing/2014/main" id="{05D77415-0046-CDE6-B27A-47422966BCEA}"/>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3</a:t>
            </a:fld>
            <a:endParaRPr lang="en-US" altLang="en-US" b="0">
              <a:solidFill>
                <a:srgbClr val="000000"/>
              </a:solidFill>
            </a:endParaRPr>
          </a:p>
        </p:txBody>
      </p:sp>
    </p:spTree>
    <p:extLst>
      <p:ext uri="{BB962C8B-B14F-4D97-AF65-F5344CB8AC3E}">
        <p14:creationId xmlns:p14="http://schemas.microsoft.com/office/powerpoint/2010/main" val="3896016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DC5BFC0D-74F2-6142-9758-A4C505F01184}"/>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3" name="Text Box 2589">
            <a:extLst>
              <a:ext uri="{FF2B5EF4-FFF2-40B4-BE49-F238E27FC236}">
                <a16:creationId xmlns:a16="http://schemas.microsoft.com/office/drawing/2014/main" id="{1127959C-3A16-E3C2-3D3E-0664856E4E3A}"/>
              </a:ext>
            </a:extLst>
          </p:cNvPr>
          <p:cNvSpPr txBox="1">
            <a:spLocks noChangeArrowheads="1"/>
          </p:cNvSpPr>
          <p:nvPr/>
        </p:nvSpPr>
        <p:spPr bwMode="gray">
          <a:xfrm>
            <a:off x="740438" y="1176412"/>
            <a:ext cx="8494776" cy="820738"/>
          </a:xfrm>
          <a:prstGeom prst="rect">
            <a:avLst/>
          </a:prstGeom>
          <a:solidFill>
            <a:srgbClr val="FEBFB3"/>
          </a:solidFill>
          <a:ln w="9525" cap="flat" cmpd="sng" algn="ctr">
            <a:noFill/>
            <a:prstDash val="solid"/>
            <a:headEnd/>
            <a:tailEnd/>
          </a:ln>
          <a:effectLst>
            <a:outerShdw blurRad="40000" dist="23000" dir="5400000" rotWithShape="0">
              <a:srgbClr val="000000">
                <a:alpha val="35000"/>
              </a:srgbClr>
            </a:outerShdw>
          </a:effectLst>
        </p:spPr>
        <p:txBody>
          <a:bodyPr wrap="square" tIns="45720" bIns="45720">
            <a:spAutoFit/>
          </a:bodyPr>
          <a:lstStyle/>
          <a:p>
            <a:pPr marL="209556" indent="-209556" fontAlgn="auto">
              <a:spcBef>
                <a:spcPts val="100"/>
              </a:spcBef>
              <a:spcAft>
                <a:spcPts val="100"/>
              </a:spcAft>
              <a:buClr>
                <a:srgbClr val="BE050A"/>
              </a:buClr>
              <a:buFont typeface="Wingdings 2" panose="05020102010507070707" pitchFamily="18" charset="2"/>
              <a:buChar char="¡"/>
              <a:tabLst>
                <a:tab pos="1266124" algn="l"/>
              </a:tabLst>
              <a:defRPr/>
            </a:pPr>
            <a:r>
              <a:rPr lang="en-US" sz="1100" b="0" kern="0">
                <a:solidFill>
                  <a:sysClr val="windowText" lastClr="000000"/>
                </a:solidFill>
                <a:latin typeface="+mn-lt"/>
                <a:ea typeface="DFKaiShu-GB5"/>
              </a:rPr>
              <a:t>DBS has garnered a slew of global accolades, underscoring our growing presence among banking leaders worldwide</a:t>
            </a:r>
          </a:p>
          <a:p>
            <a:pPr marL="209556" indent="-209556" fontAlgn="auto">
              <a:spcBef>
                <a:spcPts val="100"/>
              </a:spcBef>
              <a:spcAft>
                <a:spcPts val="100"/>
              </a:spcAft>
              <a:buClr>
                <a:srgbClr val="BE050A"/>
              </a:buClr>
              <a:buFont typeface="Wingdings 2" panose="05020102010507070707" pitchFamily="18" charset="2"/>
              <a:buChar char="¡"/>
              <a:tabLst>
                <a:tab pos="1266124" algn="l"/>
              </a:tabLst>
              <a:defRPr/>
            </a:pPr>
            <a:r>
              <a:rPr lang="en-US" sz="1100" b="0" kern="0" err="1">
                <a:solidFill>
                  <a:sysClr val="windowText" lastClr="000000"/>
                </a:solidFill>
                <a:latin typeface="+mn-lt"/>
                <a:ea typeface="DFKaiShu-GB5"/>
              </a:rPr>
              <a:t>Recognised</a:t>
            </a:r>
            <a:r>
              <a:rPr lang="en-US" sz="1100" b="0" kern="0">
                <a:solidFill>
                  <a:sysClr val="windowText" lastClr="000000"/>
                </a:solidFill>
                <a:latin typeface="+mn-lt"/>
                <a:ea typeface="DFKaiShu-GB5"/>
              </a:rPr>
              <a:t> for our global leadership, DBS has been named </a:t>
            </a:r>
            <a:r>
              <a:rPr lang="en-US" sz="1100" kern="0">
                <a:solidFill>
                  <a:srgbClr val="C00000"/>
                </a:solidFill>
                <a:latin typeface="+mn-lt"/>
                <a:ea typeface="DFKaiShu-GB5"/>
              </a:rPr>
              <a:t>“World’s Best Bank” by Global Finance</a:t>
            </a:r>
            <a:r>
              <a:rPr lang="en-US" sz="1100" b="0" kern="0">
                <a:solidFill>
                  <a:sysClr val="windowText" lastClr="000000"/>
                </a:solidFill>
                <a:latin typeface="+mn-lt"/>
                <a:ea typeface="DFKaiShu-GB5"/>
              </a:rPr>
              <a:t>, </a:t>
            </a:r>
            <a:r>
              <a:rPr lang="en-US" sz="1100" kern="0">
                <a:solidFill>
                  <a:srgbClr val="C00000"/>
                </a:solidFill>
                <a:latin typeface="+mn-lt"/>
                <a:ea typeface="DFKaiShu-GB5"/>
              </a:rPr>
              <a:t>“World’s Best Bank” by Euromoney </a:t>
            </a:r>
            <a:r>
              <a:rPr lang="en-US" sz="1100" b="0" kern="0">
                <a:solidFill>
                  <a:sysClr val="windowText" lastClr="000000"/>
                </a:solidFill>
                <a:latin typeface="+mn-lt"/>
                <a:ea typeface="DFKaiShu-GB5"/>
              </a:rPr>
              <a:t>and </a:t>
            </a:r>
            <a:r>
              <a:rPr lang="en-US" sz="1100" kern="0">
                <a:solidFill>
                  <a:srgbClr val="C00000"/>
                </a:solidFill>
                <a:latin typeface="+mn-lt"/>
                <a:ea typeface="DFKaiShu-GB5"/>
              </a:rPr>
              <a:t>“Global Bank of the Year” by The Banker </a:t>
            </a:r>
          </a:p>
          <a:p>
            <a:pPr marL="209556" indent="-209556" fontAlgn="auto">
              <a:spcBef>
                <a:spcPts val="100"/>
              </a:spcBef>
              <a:spcAft>
                <a:spcPts val="100"/>
              </a:spcAft>
              <a:buClr>
                <a:srgbClr val="BE050A"/>
              </a:buClr>
              <a:buFont typeface="Wingdings 2" panose="05020102010507070707" pitchFamily="18" charset="2"/>
              <a:buChar char="¡"/>
              <a:tabLst>
                <a:tab pos="1266124" algn="l"/>
              </a:tabLst>
              <a:defRPr/>
            </a:pPr>
            <a:r>
              <a:rPr lang="en-US" sz="1100" b="0" kern="0">
                <a:solidFill>
                  <a:sysClr val="windowText" lastClr="000000"/>
                </a:solidFill>
                <a:latin typeface="+mn-lt"/>
                <a:ea typeface="DFKaiShu-GB5"/>
              </a:rPr>
              <a:t>Most recently, DBS was awarded the </a:t>
            </a:r>
            <a:r>
              <a:rPr lang="en-US" sz="1100" kern="0">
                <a:solidFill>
                  <a:srgbClr val="C00000"/>
                </a:solidFill>
                <a:latin typeface="+mn-lt"/>
                <a:ea typeface="DFKaiShu-GB5"/>
              </a:rPr>
              <a:t>“World’s</a:t>
            </a:r>
            <a:r>
              <a:rPr lang="zh-TW" altLang="en-US" sz="1100" kern="0">
                <a:solidFill>
                  <a:srgbClr val="C00000"/>
                </a:solidFill>
                <a:latin typeface="+mn-lt"/>
                <a:ea typeface="DFKaiShu-GB5"/>
              </a:rPr>
              <a:t> </a:t>
            </a:r>
            <a:r>
              <a:rPr lang="en-US" altLang="zh-TW" sz="1100" kern="0">
                <a:solidFill>
                  <a:srgbClr val="C00000"/>
                </a:solidFill>
                <a:latin typeface="+mn-lt"/>
                <a:ea typeface="DFKaiShu-GB5"/>
              </a:rPr>
              <a:t>Best Bank” at the Euromoney Awards 2025</a:t>
            </a:r>
            <a:endParaRPr lang="en-US" sz="1100" kern="0">
              <a:solidFill>
                <a:srgbClr val="C00000"/>
              </a:solidFill>
              <a:latin typeface="+mn-lt"/>
              <a:ea typeface="DFKaiShu-GB5"/>
            </a:endParaRPr>
          </a:p>
        </p:txBody>
      </p:sp>
      <p:sp>
        <p:nvSpPr>
          <p:cNvPr id="14" name="Title 13">
            <a:extLst>
              <a:ext uri="{FF2B5EF4-FFF2-40B4-BE49-F238E27FC236}">
                <a16:creationId xmlns:a16="http://schemas.microsoft.com/office/drawing/2014/main" id="{5BABA800-11B2-1A31-DCE2-E11555B71529}"/>
              </a:ext>
            </a:extLst>
          </p:cNvPr>
          <p:cNvSpPr>
            <a:spLocks noGrp="1"/>
          </p:cNvSpPr>
          <p:nvPr>
            <p:ph type="title"/>
          </p:nvPr>
        </p:nvSpPr>
        <p:spPr/>
        <p:txBody>
          <a:bodyPr/>
          <a:lstStyle/>
          <a:p>
            <a:r>
              <a:rPr lang="en-US" sz="2000" dirty="0"/>
              <a:t>DBS –  the World’s Best Bank</a:t>
            </a:r>
          </a:p>
        </p:txBody>
      </p:sp>
      <p:grpSp>
        <p:nvGrpSpPr>
          <p:cNvPr id="4" name="Group 3">
            <a:extLst>
              <a:ext uri="{FF2B5EF4-FFF2-40B4-BE49-F238E27FC236}">
                <a16:creationId xmlns:a16="http://schemas.microsoft.com/office/drawing/2014/main" id="{9924520E-2F23-D16A-D068-2C2A3654D24D}"/>
              </a:ext>
            </a:extLst>
          </p:cNvPr>
          <p:cNvGrpSpPr/>
          <p:nvPr/>
        </p:nvGrpSpPr>
        <p:grpSpPr>
          <a:xfrm>
            <a:off x="834432" y="2752991"/>
            <a:ext cx="5847722" cy="2553780"/>
            <a:chOff x="1341662" y="2283664"/>
            <a:chExt cx="8318758" cy="3536298"/>
          </a:xfrm>
        </p:grpSpPr>
        <p:pic>
          <p:nvPicPr>
            <p:cNvPr id="5" name="Picture 4">
              <a:extLst>
                <a:ext uri="{FF2B5EF4-FFF2-40B4-BE49-F238E27FC236}">
                  <a16:creationId xmlns:a16="http://schemas.microsoft.com/office/drawing/2014/main" id="{B73F4BA3-BBF2-142E-563C-E19900FA16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2666"/>
            <a:stretch/>
          </p:blipFill>
          <p:spPr bwMode="auto">
            <a:xfrm>
              <a:off x="3334036" y="2426524"/>
              <a:ext cx="1810862" cy="13464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040B117C-3B21-4BF0-A468-79F52B46CB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2669" y="2310169"/>
              <a:ext cx="1647751" cy="15843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a:extLst>
                <a:ext uri="{FF2B5EF4-FFF2-40B4-BE49-F238E27FC236}">
                  <a16:creationId xmlns:a16="http://schemas.microsoft.com/office/drawing/2014/main" id="{0F79A1DC-2882-164B-6236-D56A4B3C08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8419" y="4187044"/>
              <a:ext cx="1622371" cy="155990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a:extLst>
                <a:ext uri="{FF2B5EF4-FFF2-40B4-BE49-F238E27FC236}">
                  <a16:creationId xmlns:a16="http://schemas.microsoft.com/office/drawing/2014/main" id="{68963446-0FEC-0DB6-4DB1-CD059ECC2DC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9731" b="12611"/>
            <a:stretch/>
          </p:blipFill>
          <p:spPr bwMode="auto">
            <a:xfrm>
              <a:off x="2531652" y="4266522"/>
              <a:ext cx="2080494" cy="15534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a:extLst>
                <a:ext uri="{FF2B5EF4-FFF2-40B4-BE49-F238E27FC236}">
                  <a16:creationId xmlns:a16="http://schemas.microsoft.com/office/drawing/2014/main" id="{D0F3A145-48BE-D4A2-431C-206515E17A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96541" y="4174842"/>
              <a:ext cx="1647751" cy="158430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FEA46CA-EEA2-8C51-1571-AE1137BE9DEC}"/>
                </a:ext>
              </a:extLst>
            </p:cNvPr>
            <p:cNvPicPr>
              <a:picLocks noChangeAspect="1"/>
            </p:cNvPicPr>
            <p:nvPr/>
          </p:nvPicPr>
          <p:blipFill rotWithShape="1">
            <a:blip r:embed="rId8"/>
            <a:srcRect l="17282" t="-1245" r="17211" b="1245"/>
            <a:stretch/>
          </p:blipFill>
          <p:spPr>
            <a:xfrm>
              <a:off x="5719533" y="2359842"/>
              <a:ext cx="1654767" cy="1364678"/>
            </a:xfrm>
            <a:prstGeom prst="rect">
              <a:avLst/>
            </a:prstGeom>
          </p:spPr>
        </p:pic>
        <p:pic>
          <p:nvPicPr>
            <p:cNvPr id="11" name="Picture 10">
              <a:extLst>
                <a:ext uri="{FF2B5EF4-FFF2-40B4-BE49-F238E27FC236}">
                  <a16:creationId xmlns:a16="http://schemas.microsoft.com/office/drawing/2014/main" id="{524689D9-9C61-AAA4-6CCA-26402FD48508}"/>
                </a:ext>
              </a:extLst>
            </p:cNvPr>
            <p:cNvPicPr>
              <a:picLocks noChangeAspect="1"/>
            </p:cNvPicPr>
            <p:nvPr/>
          </p:nvPicPr>
          <p:blipFill>
            <a:blip r:embed="rId9"/>
            <a:stretch>
              <a:fillRect/>
            </a:stretch>
          </p:blipFill>
          <p:spPr>
            <a:xfrm>
              <a:off x="1341662" y="2283664"/>
              <a:ext cx="1472151" cy="1610811"/>
            </a:xfrm>
            <a:prstGeom prst="rect">
              <a:avLst/>
            </a:prstGeom>
          </p:spPr>
        </p:pic>
      </p:grpSp>
      <p:pic>
        <p:nvPicPr>
          <p:cNvPr id="13" name="Picture 12">
            <a:extLst>
              <a:ext uri="{FF2B5EF4-FFF2-40B4-BE49-F238E27FC236}">
                <a16:creationId xmlns:a16="http://schemas.microsoft.com/office/drawing/2014/main" id="{8162AEAD-9DBF-74D8-BEC7-F36443B8C5E4}"/>
              </a:ext>
            </a:extLst>
          </p:cNvPr>
          <p:cNvPicPr>
            <a:picLocks noChangeAspect="1"/>
          </p:cNvPicPr>
          <p:nvPr/>
        </p:nvPicPr>
        <p:blipFill>
          <a:blip r:embed="rId10"/>
          <a:srcRect t="1" r="5105" b="1294"/>
          <a:stretch>
            <a:fillRect/>
          </a:stretch>
        </p:blipFill>
        <p:spPr>
          <a:xfrm>
            <a:off x="6833373" y="2162757"/>
            <a:ext cx="2386827" cy="3548433"/>
          </a:xfrm>
          <a:prstGeom prst="rect">
            <a:avLst/>
          </a:prstGeom>
        </p:spPr>
      </p:pic>
      <p:sp>
        <p:nvSpPr>
          <p:cNvPr id="16" name="Slide Number Placeholder 15">
            <a:extLst>
              <a:ext uri="{FF2B5EF4-FFF2-40B4-BE49-F238E27FC236}">
                <a16:creationId xmlns:a16="http://schemas.microsoft.com/office/drawing/2014/main" id="{03CF59A2-85C3-1142-4127-D52B9989B5BC}"/>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4</a:t>
            </a:fld>
            <a:endParaRPr lang="en-US" altLang="en-US" b="0">
              <a:solidFill>
                <a:srgbClr val="000000"/>
              </a:solidFill>
            </a:endParaRPr>
          </a:p>
        </p:txBody>
      </p:sp>
    </p:spTree>
    <p:extLst>
      <p:ext uri="{BB962C8B-B14F-4D97-AF65-F5344CB8AC3E}">
        <p14:creationId xmlns:p14="http://schemas.microsoft.com/office/powerpoint/2010/main" val="1148995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5288D36-9C35-475B-0C62-63E08DF745D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384A3C9B-7DF6-F72A-F434-0F47C82A8088}"/>
              </a:ext>
            </a:extLst>
          </p:cNvPr>
          <p:cNvSpPr>
            <a:spLocks noGrp="1"/>
          </p:cNvSpPr>
          <p:nvPr>
            <p:ph type="title"/>
          </p:nvPr>
        </p:nvSpPr>
        <p:spPr/>
        <p:txBody>
          <a:bodyPr/>
          <a:lstStyle/>
          <a:p>
            <a:r>
              <a:rPr lang="en-US" sz="2000" dirty="0"/>
              <a:t>DBS Group Overview</a:t>
            </a:r>
          </a:p>
        </p:txBody>
      </p:sp>
      <p:sp>
        <p:nvSpPr>
          <p:cNvPr id="31" name="Text Box 2589">
            <a:extLst>
              <a:ext uri="{FF2B5EF4-FFF2-40B4-BE49-F238E27FC236}">
                <a16:creationId xmlns:a16="http://schemas.microsoft.com/office/drawing/2014/main" id="{7E15D94C-03F3-4C4A-9786-60E689255883}"/>
              </a:ext>
            </a:extLst>
          </p:cNvPr>
          <p:cNvSpPr txBox="1">
            <a:spLocks noChangeArrowheads="1"/>
          </p:cNvSpPr>
          <p:nvPr/>
        </p:nvSpPr>
        <p:spPr bwMode="gray">
          <a:xfrm>
            <a:off x="723900" y="1181100"/>
            <a:ext cx="8494776" cy="861774"/>
          </a:xfrm>
          <a:prstGeom prst="rect">
            <a:avLst/>
          </a:prstGeom>
          <a:solidFill>
            <a:srgbClr val="FEBFB3"/>
          </a:solidFill>
          <a:ln w="9525" cap="flat" cmpd="sng" algn="ctr">
            <a:noFill/>
            <a:prstDash val="solid"/>
            <a:headEnd/>
            <a:tailEnd/>
          </a:ln>
          <a:effectLst>
            <a:outerShdw blurRad="40000" dist="23000" dir="5400000" rotWithShape="0">
              <a:srgbClr val="000000">
                <a:alpha val="35000"/>
              </a:srgbClr>
            </a:outerShdw>
          </a:effectLst>
        </p:spPr>
        <p:txBody>
          <a:bodyPr wrap="square" tIns="91440" bIns="91440">
            <a:spAutoFit/>
          </a:bodyPr>
          <a:lstStyle/>
          <a:p>
            <a:pPr marL="209556" indent="-209556" fontAlgn="auto">
              <a:spcBef>
                <a:spcPts val="0"/>
              </a:spcBef>
              <a:spcAft>
                <a:spcPts val="0"/>
              </a:spcAft>
              <a:buClr>
                <a:srgbClr val="BE050A"/>
              </a:buClr>
              <a:buFont typeface="Wingdings 2" panose="05020102010507070707" pitchFamily="18" charset="2"/>
              <a:buChar char="¡"/>
              <a:tabLst>
                <a:tab pos="1266124" algn="l"/>
              </a:tabLst>
              <a:defRPr/>
            </a:pPr>
            <a:r>
              <a:rPr lang="en-US" altLang="zh-CN" sz="1100" b="0" kern="0" dirty="0">
                <a:solidFill>
                  <a:sysClr val="windowText" lastClr="000000"/>
                </a:solidFill>
                <a:latin typeface="Arial" panose="020B0604020202020204" pitchFamily="34" charset="0"/>
                <a:ea typeface="DFKaiShu-GB5"/>
              </a:rPr>
              <a:t>DBS is one of the largest financial services groups in Asia, with presence across major Asian markets, providing a comprehensive suite of banking services </a:t>
            </a:r>
          </a:p>
          <a:p>
            <a:pPr marL="209556" indent="-209556" eaLnBrk="0" fontAlgn="auto" hangingPunct="0">
              <a:spcBef>
                <a:spcPts val="0"/>
              </a:spcBef>
              <a:spcAft>
                <a:spcPts val="0"/>
              </a:spcAft>
              <a:buClr>
                <a:srgbClr val="BE050A"/>
              </a:buClr>
              <a:buFont typeface="Wingdings 2" panose="05020102010507070707" pitchFamily="18" charset="2"/>
              <a:buChar char="¡"/>
              <a:tabLst>
                <a:tab pos="1266124" algn="l"/>
              </a:tabLst>
              <a:defRPr/>
            </a:pPr>
            <a:r>
              <a:rPr lang="en-US" altLang="zh-TW" sz="1100" b="0" kern="0" dirty="0">
                <a:solidFill>
                  <a:sysClr val="windowText" lastClr="000000"/>
                </a:solidFill>
                <a:latin typeface="Arial" panose="020B0604020202020204" pitchFamily="34" charset="0"/>
                <a:ea typeface="DFKaiShu-GB5"/>
                <a:cs typeface="+mn-cs"/>
              </a:rPr>
              <a:t>With </a:t>
            </a:r>
            <a:r>
              <a:rPr lang="en-US" altLang="zh-TW" sz="1100" kern="0" dirty="0">
                <a:solidFill>
                  <a:sysClr val="windowText" lastClr="000000"/>
                </a:solidFill>
                <a:latin typeface="Arial" panose="020B0604020202020204" pitchFamily="34" charset="0"/>
                <a:ea typeface="DFKaiShu-GB5"/>
              </a:rPr>
              <a:t>more than 50 years of establishment and </a:t>
            </a:r>
            <a:r>
              <a:rPr lang="en-US" altLang="zh-TW" sz="1100" b="0" kern="0" dirty="0">
                <a:solidFill>
                  <a:sysClr val="windowText" lastClr="000000"/>
                </a:solidFill>
                <a:latin typeface="Arial" panose="020B0604020202020204" pitchFamily="34" charset="0"/>
                <a:ea typeface="DFKaiShu-GB5"/>
                <a:cs typeface="+mn-cs"/>
              </a:rPr>
              <a:t>over USD600bn of assets, employing around 40,000 staffs, the bank has a highly robust financial track record and is one of the highest credit rated corporates in Asia</a:t>
            </a:r>
            <a:endParaRPr lang="en-GB" altLang="zh-TW" sz="1100" b="0" kern="0" dirty="0">
              <a:solidFill>
                <a:sysClr val="windowText" lastClr="000000"/>
              </a:solidFill>
              <a:latin typeface="Arial" panose="020B0604020202020204" pitchFamily="34" charset="0"/>
              <a:ea typeface="DFKaiShu-GB5"/>
              <a:cs typeface="+mn-cs"/>
            </a:endParaRPr>
          </a:p>
        </p:txBody>
      </p:sp>
      <p:sp>
        <p:nvSpPr>
          <p:cNvPr id="32" name="Rectangle 129">
            <a:extLst>
              <a:ext uri="{FF2B5EF4-FFF2-40B4-BE49-F238E27FC236}">
                <a16:creationId xmlns:a16="http://schemas.microsoft.com/office/drawing/2014/main" id="{91C9A8A7-0A44-446B-87CD-D6B0FD3CDBBE}"/>
              </a:ext>
            </a:extLst>
          </p:cNvPr>
          <p:cNvSpPr>
            <a:spLocks noChangeArrowheads="1"/>
          </p:cNvSpPr>
          <p:nvPr/>
        </p:nvSpPr>
        <p:spPr bwMode="gray">
          <a:xfrm>
            <a:off x="723900" y="2121603"/>
            <a:ext cx="3817620" cy="235927"/>
          </a:xfrm>
          <a:prstGeom prst="rect">
            <a:avLst/>
          </a:prstGeom>
          <a:gradFill>
            <a:gsLst>
              <a:gs pos="0">
                <a:srgbClr val="760000"/>
              </a:gs>
              <a:gs pos="45000">
                <a:srgbClr val="AB0000"/>
              </a:gs>
              <a:gs pos="100000">
                <a:srgbClr val="CC0000"/>
              </a:gs>
            </a:gsLst>
          </a:gradFill>
          <a:ln>
            <a:headEnd/>
            <a:tailEnd/>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50000"/>
              </a:spcBef>
              <a:defRPr/>
            </a:pPr>
            <a:r>
              <a:rPr lang="en-US" altLang="zh-TW" sz="969">
                <a:solidFill>
                  <a:srgbClr val="FFFFFF"/>
                </a:solidFill>
                <a:latin typeface="Arial" panose="020B0604020202020204" pitchFamily="34" charset="0"/>
                <a:ea typeface="DFKaiShu-GB5"/>
              </a:rPr>
              <a:t>DBS Group at a </a:t>
            </a:r>
            <a:r>
              <a:rPr lang="en-US" altLang="zh-CN" sz="969">
                <a:solidFill>
                  <a:srgbClr val="FFFFFF"/>
                </a:solidFill>
                <a:latin typeface="Arial" panose="020B0604020202020204" pitchFamily="34" charset="0"/>
                <a:ea typeface="DFKaiShu-GB5"/>
              </a:rPr>
              <a:t>G</a:t>
            </a:r>
            <a:r>
              <a:rPr lang="en-US" altLang="zh-TW" sz="969">
                <a:solidFill>
                  <a:srgbClr val="FFFFFF"/>
                </a:solidFill>
                <a:latin typeface="Arial" panose="020B0604020202020204" pitchFamily="34" charset="0"/>
                <a:ea typeface="DFKaiShu-GB5"/>
              </a:rPr>
              <a:t>lance</a:t>
            </a:r>
          </a:p>
        </p:txBody>
      </p:sp>
      <p:grpSp>
        <p:nvGrpSpPr>
          <p:cNvPr id="12" name="Group 11">
            <a:extLst>
              <a:ext uri="{FF2B5EF4-FFF2-40B4-BE49-F238E27FC236}">
                <a16:creationId xmlns:a16="http://schemas.microsoft.com/office/drawing/2014/main" id="{C1B59063-ACA9-3F91-E980-AC850904443E}"/>
              </a:ext>
            </a:extLst>
          </p:cNvPr>
          <p:cNvGrpSpPr/>
          <p:nvPr/>
        </p:nvGrpSpPr>
        <p:grpSpPr>
          <a:xfrm>
            <a:off x="4747259" y="2118912"/>
            <a:ext cx="4472941" cy="4055148"/>
            <a:chOff x="4653281" y="2118912"/>
            <a:chExt cx="4566920" cy="4055148"/>
          </a:xfrm>
        </p:grpSpPr>
        <p:sp>
          <p:nvSpPr>
            <p:cNvPr id="35" name="Freeform 41">
              <a:extLst>
                <a:ext uri="{FF2B5EF4-FFF2-40B4-BE49-F238E27FC236}">
                  <a16:creationId xmlns:a16="http://schemas.microsoft.com/office/drawing/2014/main" id="{9A62A41B-F44B-40B0-A334-4446FECC83F1}"/>
                </a:ext>
              </a:extLst>
            </p:cNvPr>
            <p:cNvSpPr>
              <a:spLocks/>
            </p:cNvSpPr>
            <p:nvPr/>
          </p:nvSpPr>
          <p:spPr bwMode="auto">
            <a:xfrm>
              <a:off x="6717899" y="2118912"/>
              <a:ext cx="2502298" cy="1939439"/>
            </a:xfrm>
            <a:custGeom>
              <a:avLst/>
              <a:gdLst/>
              <a:ahLst/>
              <a:cxnLst>
                <a:cxn ang="0">
                  <a:pos x="88" y="523"/>
                </a:cxn>
                <a:cxn ang="0">
                  <a:pos x="63" y="506"/>
                </a:cxn>
                <a:cxn ang="0">
                  <a:pos x="40" y="487"/>
                </a:cxn>
                <a:cxn ang="0">
                  <a:pos x="23" y="462"/>
                </a:cxn>
                <a:cxn ang="0">
                  <a:pos x="9" y="435"/>
                </a:cxn>
                <a:cxn ang="0">
                  <a:pos x="2" y="406"/>
                </a:cxn>
                <a:cxn ang="0">
                  <a:pos x="2" y="374"/>
                </a:cxn>
                <a:cxn ang="0">
                  <a:pos x="7" y="345"/>
                </a:cxn>
                <a:cxn ang="0">
                  <a:pos x="19" y="316"/>
                </a:cxn>
                <a:cxn ang="0">
                  <a:pos x="36" y="293"/>
                </a:cxn>
                <a:cxn ang="0">
                  <a:pos x="57" y="272"/>
                </a:cxn>
                <a:cxn ang="0">
                  <a:pos x="82" y="257"/>
                </a:cxn>
                <a:cxn ang="0">
                  <a:pos x="111" y="245"/>
                </a:cxn>
                <a:cxn ang="0">
                  <a:pos x="121" y="243"/>
                </a:cxn>
                <a:cxn ang="0">
                  <a:pos x="130" y="239"/>
                </a:cxn>
                <a:cxn ang="0">
                  <a:pos x="138" y="232"/>
                </a:cxn>
                <a:cxn ang="0">
                  <a:pos x="144" y="222"/>
                </a:cxn>
                <a:cxn ang="0">
                  <a:pos x="148" y="214"/>
                </a:cxn>
                <a:cxn ang="0">
                  <a:pos x="148" y="201"/>
                </a:cxn>
                <a:cxn ang="0">
                  <a:pos x="1698" y="0"/>
                </a:cxn>
                <a:cxn ang="0">
                  <a:pos x="1111" y="777"/>
                </a:cxn>
                <a:cxn ang="0">
                  <a:pos x="1100" y="777"/>
                </a:cxn>
                <a:cxn ang="0">
                  <a:pos x="1090" y="773"/>
                </a:cxn>
                <a:cxn ang="0">
                  <a:pos x="1080" y="767"/>
                </a:cxn>
                <a:cxn ang="0">
                  <a:pos x="1075" y="761"/>
                </a:cxn>
                <a:cxn ang="0">
                  <a:pos x="1069" y="750"/>
                </a:cxn>
                <a:cxn ang="0">
                  <a:pos x="1067" y="740"/>
                </a:cxn>
                <a:cxn ang="0">
                  <a:pos x="1055" y="713"/>
                </a:cxn>
                <a:cxn ang="0">
                  <a:pos x="1040" y="688"/>
                </a:cxn>
                <a:cxn ang="0">
                  <a:pos x="1019" y="667"/>
                </a:cxn>
                <a:cxn ang="0">
                  <a:pos x="996" y="648"/>
                </a:cxn>
                <a:cxn ang="0">
                  <a:pos x="967" y="638"/>
                </a:cxn>
                <a:cxn ang="0">
                  <a:pos x="938" y="631"/>
                </a:cxn>
                <a:cxn ang="0">
                  <a:pos x="906" y="631"/>
                </a:cxn>
                <a:cxn ang="0">
                  <a:pos x="877" y="640"/>
                </a:cxn>
                <a:cxn ang="0">
                  <a:pos x="850" y="652"/>
                </a:cxn>
                <a:cxn ang="0">
                  <a:pos x="825" y="669"/>
                </a:cxn>
                <a:cxn ang="0">
                  <a:pos x="806" y="692"/>
                </a:cxn>
                <a:cxn ang="0">
                  <a:pos x="791" y="717"/>
                </a:cxn>
                <a:cxn ang="0">
                  <a:pos x="783" y="742"/>
                </a:cxn>
                <a:cxn ang="0">
                  <a:pos x="781" y="752"/>
                </a:cxn>
                <a:cxn ang="0">
                  <a:pos x="775" y="763"/>
                </a:cxn>
                <a:cxn ang="0">
                  <a:pos x="768" y="767"/>
                </a:cxn>
                <a:cxn ang="0">
                  <a:pos x="758" y="773"/>
                </a:cxn>
                <a:cxn ang="0">
                  <a:pos x="748" y="777"/>
                </a:cxn>
                <a:cxn ang="0">
                  <a:pos x="735" y="777"/>
                </a:cxn>
                <a:cxn ang="0">
                  <a:pos x="148" y="573"/>
                </a:cxn>
                <a:cxn ang="0">
                  <a:pos x="146" y="560"/>
                </a:cxn>
                <a:cxn ang="0">
                  <a:pos x="142" y="550"/>
                </a:cxn>
                <a:cxn ang="0">
                  <a:pos x="136" y="541"/>
                </a:cxn>
                <a:cxn ang="0">
                  <a:pos x="128" y="535"/>
                </a:cxn>
                <a:cxn ang="0">
                  <a:pos x="119" y="531"/>
                </a:cxn>
              </a:cxnLst>
              <a:rect l="0" t="0" r="r" b="b"/>
              <a:pathLst>
                <a:path w="1698" h="780">
                  <a:moveTo>
                    <a:pt x="111" y="529"/>
                  </a:moveTo>
                  <a:lnTo>
                    <a:pt x="105" y="527"/>
                  </a:lnTo>
                  <a:lnTo>
                    <a:pt x="100" y="525"/>
                  </a:lnTo>
                  <a:lnTo>
                    <a:pt x="94" y="525"/>
                  </a:lnTo>
                  <a:lnTo>
                    <a:pt x="88" y="523"/>
                  </a:lnTo>
                  <a:lnTo>
                    <a:pt x="82" y="518"/>
                  </a:lnTo>
                  <a:lnTo>
                    <a:pt x="77" y="516"/>
                  </a:lnTo>
                  <a:lnTo>
                    <a:pt x="73" y="512"/>
                  </a:lnTo>
                  <a:lnTo>
                    <a:pt x="67" y="510"/>
                  </a:lnTo>
                  <a:lnTo>
                    <a:pt x="63" y="506"/>
                  </a:lnTo>
                  <a:lnTo>
                    <a:pt x="57" y="502"/>
                  </a:lnTo>
                  <a:lnTo>
                    <a:pt x="53" y="500"/>
                  </a:lnTo>
                  <a:lnTo>
                    <a:pt x="48" y="497"/>
                  </a:lnTo>
                  <a:lnTo>
                    <a:pt x="44" y="491"/>
                  </a:lnTo>
                  <a:lnTo>
                    <a:pt x="40" y="487"/>
                  </a:lnTo>
                  <a:lnTo>
                    <a:pt x="36" y="481"/>
                  </a:lnTo>
                  <a:lnTo>
                    <a:pt x="32" y="477"/>
                  </a:lnTo>
                  <a:lnTo>
                    <a:pt x="29" y="475"/>
                  </a:lnTo>
                  <a:lnTo>
                    <a:pt x="25" y="468"/>
                  </a:lnTo>
                  <a:lnTo>
                    <a:pt x="23" y="462"/>
                  </a:lnTo>
                  <a:lnTo>
                    <a:pt x="19" y="458"/>
                  </a:lnTo>
                  <a:lnTo>
                    <a:pt x="17" y="452"/>
                  </a:lnTo>
                  <a:lnTo>
                    <a:pt x="13" y="447"/>
                  </a:lnTo>
                  <a:lnTo>
                    <a:pt x="11" y="441"/>
                  </a:lnTo>
                  <a:lnTo>
                    <a:pt x="9" y="435"/>
                  </a:lnTo>
                  <a:lnTo>
                    <a:pt x="7" y="429"/>
                  </a:lnTo>
                  <a:lnTo>
                    <a:pt x="6" y="426"/>
                  </a:lnTo>
                  <a:lnTo>
                    <a:pt x="4" y="418"/>
                  </a:lnTo>
                  <a:lnTo>
                    <a:pt x="4" y="412"/>
                  </a:lnTo>
                  <a:lnTo>
                    <a:pt x="2" y="406"/>
                  </a:lnTo>
                  <a:lnTo>
                    <a:pt x="2" y="402"/>
                  </a:lnTo>
                  <a:lnTo>
                    <a:pt x="2" y="393"/>
                  </a:lnTo>
                  <a:lnTo>
                    <a:pt x="0" y="387"/>
                  </a:lnTo>
                  <a:lnTo>
                    <a:pt x="2" y="381"/>
                  </a:lnTo>
                  <a:lnTo>
                    <a:pt x="2" y="374"/>
                  </a:lnTo>
                  <a:lnTo>
                    <a:pt x="2" y="368"/>
                  </a:lnTo>
                  <a:lnTo>
                    <a:pt x="4" y="362"/>
                  </a:lnTo>
                  <a:lnTo>
                    <a:pt x="4" y="358"/>
                  </a:lnTo>
                  <a:lnTo>
                    <a:pt x="6" y="351"/>
                  </a:lnTo>
                  <a:lnTo>
                    <a:pt x="7" y="345"/>
                  </a:lnTo>
                  <a:lnTo>
                    <a:pt x="9" y="339"/>
                  </a:lnTo>
                  <a:lnTo>
                    <a:pt x="11" y="333"/>
                  </a:lnTo>
                  <a:lnTo>
                    <a:pt x="13" y="328"/>
                  </a:lnTo>
                  <a:lnTo>
                    <a:pt x="17" y="322"/>
                  </a:lnTo>
                  <a:lnTo>
                    <a:pt x="19" y="316"/>
                  </a:lnTo>
                  <a:lnTo>
                    <a:pt x="23" y="312"/>
                  </a:lnTo>
                  <a:lnTo>
                    <a:pt x="25" y="308"/>
                  </a:lnTo>
                  <a:lnTo>
                    <a:pt x="29" y="301"/>
                  </a:lnTo>
                  <a:lnTo>
                    <a:pt x="32" y="297"/>
                  </a:lnTo>
                  <a:lnTo>
                    <a:pt x="36" y="293"/>
                  </a:lnTo>
                  <a:lnTo>
                    <a:pt x="40" y="287"/>
                  </a:lnTo>
                  <a:lnTo>
                    <a:pt x="44" y="285"/>
                  </a:lnTo>
                  <a:lnTo>
                    <a:pt x="48" y="280"/>
                  </a:lnTo>
                  <a:lnTo>
                    <a:pt x="53" y="276"/>
                  </a:lnTo>
                  <a:lnTo>
                    <a:pt x="57" y="272"/>
                  </a:lnTo>
                  <a:lnTo>
                    <a:pt x="63" y="268"/>
                  </a:lnTo>
                  <a:lnTo>
                    <a:pt x="67" y="264"/>
                  </a:lnTo>
                  <a:lnTo>
                    <a:pt x="73" y="262"/>
                  </a:lnTo>
                  <a:lnTo>
                    <a:pt x="78" y="261"/>
                  </a:lnTo>
                  <a:lnTo>
                    <a:pt x="82" y="257"/>
                  </a:lnTo>
                  <a:lnTo>
                    <a:pt x="88" y="253"/>
                  </a:lnTo>
                  <a:lnTo>
                    <a:pt x="94" y="251"/>
                  </a:lnTo>
                  <a:lnTo>
                    <a:pt x="100" y="249"/>
                  </a:lnTo>
                  <a:lnTo>
                    <a:pt x="105" y="247"/>
                  </a:lnTo>
                  <a:lnTo>
                    <a:pt x="111" y="245"/>
                  </a:lnTo>
                  <a:lnTo>
                    <a:pt x="113" y="245"/>
                  </a:lnTo>
                  <a:lnTo>
                    <a:pt x="115" y="245"/>
                  </a:lnTo>
                  <a:lnTo>
                    <a:pt x="117" y="245"/>
                  </a:lnTo>
                  <a:lnTo>
                    <a:pt x="119" y="243"/>
                  </a:lnTo>
                  <a:lnTo>
                    <a:pt x="121" y="243"/>
                  </a:lnTo>
                  <a:lnTo>
                    <a:pt x="123" y="243"/>
                  </a:lnTo>
                  <a:lnTo>
                    <a:pt x="125" y="241"/>
                  </a:lnTo>
                  <a:lnTo>
                    <a:pt x="126" y="241"/>
                  </a:lnTo>
                  <a:lnTo>
                    <a:pt x="128" y="239"/>
                  </a:lnTo>
                  <a:lnTo>
                    <a:pt x="130" y="239"/>
                  </a:lnTo>
                  <a:lnTo>
                    <a:pt x="132" y="239"/>
                  </a:lnTo>
                  <a:lnTo>
                    <a:pt x="134" y="237"/>
                  </a:lnTo>
                  <a:lnTo>
                    <a:pt x="134" y="234"/>
                  </a:lnTo>
                  <a:lnTo>
                    <a:pt x="136" y="234"/>
                  </a:lnTo>
                  <a:lnTo>
                    <a:pt x="138" y="232"/>
                  </a:lnTo>
                  <a:lnTo>
                    <a:pt x="138" y="230"/>
                  </a:lnTo>
                  <a:lnTo>
                    <a:pt x="140" y="228"/>
                  </a:lnTo>
                  <a:lnTo>
                    <a:pt x="142" y="226"/>
                  </a:lnTo>
                  <a:lnTo>
                    <a:pt x="142" y="224"/>
                  </a:lnTo>
                  <a:lnTo>
                    <a:pt x="144" y="222"/>
                  </a:lnTo>
                  <a:lnTo>
                    <a:pt x="144" y="220"/>
                  </a:lnTo>
                  <a:lnTo>
                    <a:pt x="146" y="218"/>
                  </a:lnTo>
                  <a:lnTo>
                    <a:pt x="146" y="216"/>
                  </a:lnTo>
                  <a:lnTo>
                    <a:pt x="146" y="214"/>
                  </a:lnTo>
                  <a:lnTo>
                    <a:pt x="148" y="214"/>
                  </a:lnTo>
                  <a:lnTo>
                    <a:pt x="148" y="213"/>
                  </a:lnTo>
                  <a:lnTo>
                    <a:pt x="148" y="209"/>
                  </a:lnTo>
                  <a:lnTo>
                    <a:pt x="148" y="205"/>
                  </a:lnTo>
                  <a:lnTo>
                    <a:pt x="148" y="203"/>
                  </a:lnTo>
                  <a:lnTo>
                    <a:pt x="148" y="201"/>
                  </a:lnTo>
                  <a:lnTo>
                    <a:pt x="148" y="199"/>
                  </a:lnTo>
                  <a:lnTo>
                    <a:pt x="148" y="0"/>
                  </a:lnTo>
                  <a:lnTo>
                    <a:pt x="149" y="0"/>
                  </a:lnTo>
                  <a:lnTo>
                    <a:pt x="355" y="0"/>
                  </a:lnTo>
                  <a:lnTo>
                    <a:pt x="1698" y="0"/>
                  </a:lnTo>
                  <a:lnTo>
                    <a:pt x="1698" y="780"/>
                  </a:lnTo>
                  <a:lnTo>
                    <a:pt x="1316" y="780"/>
                  </a:lnTo>
                  <a:lnTo>
                    <a:pt x="1316" y="777"/>
                  </a:lnTo>
                  <a:lnTo>
                    <a:pt x="1115" y="777"/>
                  </a:lnTo>
                  <a:lnTo>
                    <a:pt x="1111" y="777"/>
                  </a:lnTo>
                  <a:lnTo>
                    <a:pt x="1109" y="777"/>
                  </a:lnTo>
                  <a:lnTo>
                    <a:pt x="1107" y="777"/>
                  </a:lnTo>
                  <a:lnTo>
                    <a:pt x="1105" y="777"/>
                  </a:lnTo>
                  <a:lnTo>
                    <a:pt x="1101" y="777"/>
                  </a:lnTo>
                  <a:lnTo>
                    <a:pt x="1100" y="777"/>
                  </a:lnTo>
                  <a:lnTo>
                    <a:pt x="1098" y="775"/>
                  </a:lnTo>
                  <a:lnTo>
                    <a:pt x="1096" y="775"/>
                  </a:lnTo>
                  <a:lnTo>
                    <a:pt x="1094" y="775"/>
                  </a:lnTo>
                  <a:lnTo>
                    <a:pt x="1092" y="773"/>
                  </a:lnTo>
                  <a:lnTo>
                    <a:pt x="1090" y="773"/>
                  </a:lnTo>
                  <a:lnTo>
                    <a:pt x="1088" y="771"/>
                  </a:lnTo>
                  <a:lnTo>
                    <a:pt x="1086" y="771"/>
                  </a:lnTo>
                  <a:lnTo>
                    <a:pt x="1084" y="769"/>
                  </a:lnTo>
                  <a:lnTo>
                    <a:pt x="1082" y="767"/>
                  </a:lnTo>
                  <a:lnTo>
                    <a:pt x="1080" y="767"/>
                  </a:lnTo>
                  <a:lnTo>
                    <a:pt x="1080" y="765"/>
                  </a:lnTo>
                  <a:lnTo>
                    <a:pt x="1078" y="763"/>
                  </a:lnTo>
                  <a:lnTo>
                    <a:pt x="1077" y="763"/>
                  </a:lnTo>
                  <a:lnTo>
                    <a:pt x="1075" y="763"/>
                  </a:lnTo>
                  <a:lnTo>
                    <a:pt x="1075" y="761"/>
                  </a:lnTo>
                  <a:lnTo>
                    <a:pt x="1073" y="759"/>
                  </a:lnTo>
                  <a:lnTo>
                    <a:pt x="1071" y="757"/>
                  </a:lnTo>
                  <a:lnTo>
                    <a:pt x="1071" y="754"/>
                  </a:lnTo>
                  <a:lnTo>
                    <a:pt x="1069" y="752"/>
                  </a:lnTo>
                  <a:lnTo>
                    <a:pt x="1069" y="750"/>
                  </a:lnTo>
                  <a:lnTo>
                    <a:pt x="1069" y="748"/>
                  </a:lnTo>
                  <a:lnTo>
                    <a:pt x="1067" y="746"/>
                  </a:lnTo>
                  <a:lnTo>
                    <a:pt x="1067" y="744"/>
                  </a:lnTo>
                  <a:lnTo>
                    <a:pt x="1067" y="742"/>
                  </a:lnTo>
                  <a:lnTo>
                    <a:pt x="1067" y="740"/>
                  </a:lnTo>
                  <a:lnTo>
                    <a:pt x="1065" y="736"/>
                  </a:lnTo>
                  <a:lnTo>
                    <a:pt x="1063" y="729"/>
                  </a:lnTo>
                  <a:lnTo>
                    <a:pt x="1061" y="723"/>
                  </a:lnTo>
                  <a:lnTo>
                    <a:pt x="1059" y="717"/>
                  </a:lnTo>
                  <a:lnTo>
                    <a:pt x="1055" y="713"/>
                  </a:lnTo>
                  <a:lnTo>
                    <a:pt x="1053" y="706"/>
                  </a:lnTo>
                  <a:lnTo>
                    <a:pt x="1050" y="702"/>
                  </a:lnTo>
                  <a:lnTo>
                    <a:pt x="1048" y="696"/>
                  </a:lnTo>
                  <a:lnTo>
                    <a:pt x="1044" y="692"/>
                  </a:lnTo>
                  <a:lnTo>
                    <a:pt x="1040" y="688"/>
                  </a:lnTo>
                  <a:lnTo>
                    <a:pt x="1036" y="683"/>
                  </a:lnTo>
                  <a:lnTo>
                    <a:pt x="1032" y="677"/>
                  </a:lnTo>
                  <a:lnTo>
                    <a:pt x="1029" y="673"/>
                  </a:lnTo>
                  <a:lnTo>
                    <a:pt x="1025" y="669"/>
                  </a:lnTo>
                  <a:lnTo>
                    <a:pt x="1019" y="667"/>
                  </a:lnTo>
                  <a:lnTo>
                    <a:pt x="1015" y="663"/>
                  </a:lnTo>
                  <a:lnTo>
                    <a:pt x="1011" y="658"/>
                  </a:lnTo>
                  <a:lnTo>
                    <a:pt x="1006" y="654"/>
                  </a:lnTo>
                  <a:lnTo>
                    <a:pt x="1000" y="652"/>
                  </a:lnTo>
                  <a:lnTo>
                    <a:pt x="996" y="648"/>
                  </a:lnTo>
                  <a:lnTo>
                    <a:pt x="990" y="646"/>
                  </a:lnTo>
                  <a:lnTo>
                    <a:pt x="984" y="644"/>
                  </a:lnTo>
                  <a:lnTo>
                    <a:pt x="979" y="642"/>
                  </a:lnTo>
                  <a:lnTo>
                    <a:pt x="973" y="640"/>
                  </a:lnTo>
                  <a:lnTo>
                    <a:pt x="967" y="638"/>
                  </a:lnTo>
                  <a:lnTo>
                    <a:pt x="961" y="635"/>
                  </a:lnTo>
                  <a:lnTo>
                    <a:pt x="956" y="633"/>
                  </a:lnTo>
                  <a:lnTo>
                    <a:pt x="950" y="633"/>
                  </a:lnTo>
                  <a:lnTo>
                    <a:pt x="944" y="631"/>
                  </a:lnTo>
                  <a:lnTo>
                    <a:pt x="938" y="631"/>
                  </a:lnTo>
                  <a:lnTo>
                    <a:pt x="931" y="631"/>
                  </a:lnTo>
                  <a:lnTo>
                    <a:pt x="925" y="629"/>
                  </a:lnTo>
                  <a:lnTo>
                    <a:pt x="919" y="631"/>
                  </a:lnTo>
                  <a:lnTo>
                    <a:pt x="911" y="631"/>
                  </a:lnTo>
                  <a:lnTo>
                    <a:pt x="906" y="631"/>
                  </a:lnTo>
                  <a:lnTo>
                    <a:pt x="900" y="633"/>
                  </a:lnTo>
                  <a:lnTo>
                    <a:pt x="894" y="633"/>
                  </a:lnTo>
                  <a:lnTo>
                    <a:pt x="888" y="635"/>
                  </a:lnTo>
                  <a:lnTo>
                    <a:pt x="883" y="638"/>
                  </a:lnTo>
                  <a:lnTo>
                    <a:pt x="877" y="640"/>
                  </a:lnTo>
                  <a:lnTo>
                    <a:pt x="871" y="642"/>
                  </a:lnTo>
                  <a:lnTo>
                    <a:pt x="865" y="644"/>
                  </a:lnTo>
                  <a:lnTo>
                    <a:pt x="860" y="646"/>
                  </a:lnTo>
                  <a:lnTo>
                    <a:pt x="854" y="648"/>
                  </a:lnTo>
                  <a:lnTo>
                    <a:pt x="850" y="652"/>
                  </a:lnTo>
                  <a:lnTo>
                    <a:pt x="844" y="654"/>
                  </a:lnTo>
                  <a:lnTo>
                    <a:pt x="839" y="658"/>
                  </a:lnTo>
                  <a:lnTo>
                    <a:pt x="835" y="663"/>
                  </a:lnTo>
                  <a:lnTo>
                    <a:pt x="829" y="667"/>
                  </a:lnTo>
                  <a:lnTo>
                    <a:pt x="825" y="669"/>
                  </a:lnTo>
                  <a:lnTo>
                    <a:pt x="821" y="673"/>
                  </a:lnTo>
                  <a:lnTo>
                    <a:pt x="817" y="677"/>
                  </a:lnTo>
                  <a:lnTo>
                    <a:pt x="814" y="683"/>
                  </a:lnTo>
                  <a:lnTo>
                    <a:pt x="810" y="688"/>
                  </a:lnTo>
                  <a:lnTo>
                    <a:pt x="806" y="692"/>
                  </a:lnTo>
                  <a:lnTo>
                    <a:pt x="802" y="696"/>
                  </a:lnTo>
                  <a:lnTo>
                    <a:pt x="800" y="702"/>
                  </a:lnTo>
                  <a:lnTo>
                    <a:pt x="796" y="709"/>
                  </a:lnTo>
                  <a:lnTo>
                    <a:pt x="794" y="713"/>
                  </a:lnTo>
                  <a:lnTo>
                    <a:pt x="791" y="717"/>
                  </a:lnTo>
                  <a:lnTo>
                    <a:pt x="789" y="723"/>
                  </a:lnTo>
                  <a:lnTo>
                    <a:pt x="787" y="729"/>
                  </a:lnTo>
                  <a:lnTo>
                    <a:pt x="785" y="736"/>
                  </a:lnTo>
                  <a:lnTo>
                    <a:pt x="783" y="740"/>
                  </a:lnTo>
                  <a:lnTo>
                    <a:pt x="783" y="742"/>
                  </a:lnTo>
                  <a:lnTo>
                    <a:pt x="783" y="744"/>
                  </a:lnTo>
                  <a:lnTo>
                    <a:pt x="783" y="746"/>
                  </a:lnTo>
                  <a:lnTo>
                    <a:pt x="781" y="748"/>
                  </a:lnTo>
                  <a:lnTo>
                    <a:pt x="781" y="750"/>
                  </a:lnTo>
                  <a:lnTo>
                    <a:pt x="781" y="752"/>
                  </a:lnTo>
                  <a:lnTo>
                    <a:pt x="779" y="754"/>
                  </a:lnTo>
                  <a:lnTo>
                    <a:pt x="779" y="757"/>
                  </a:lnTo>
                  <a:lnTo>
                    <a:pt x="777" y="759"/>
                  </a:lnTo>
                  <a:lnTo>
                    <a:pt x="775" y="761"/>
                  </a:lnTo>
                  <a:lnTo>
                    <a:pt x="775" y="763"/>
                  </a:lnTo>
                  <a:lnTo>
                    <a:pt x="773" y="763"/>
                  </a:lnTo>
                  <a:lnTo>
                    <a:pt x="771" y="763"/>
                  </a:lnTo>
                  <a:lnTo>
                    <a:pt x="769" y="765"/>
                  </a:lnTo>
                  <a:lnTo>
                    <a:pt x="769" y="767"/>
                  </a:lnTo>
                  <a:lnTo>
                    <a:pt x="768" y="767"/>
                  </a:lnTo>
                  <a:lnTo>
                    <a:pt x="766" y="769"/>
                  </a:lnTo>
                  <a:lnTo>
                    <a:pt x="764" y="771"/>
                  </a:lnTo>
                  <a:lnTo>
                    <a:pt x="762" y="771"/>
                  </a:lnTo>
                  <a:lnTo>
                    <a:pt x="760" y="773"/>
                  </a:lnTo>
                  <a:lnTo>
                    <a:pt x="758" y="773"/>
                  </a:lnTo>
                  <a:lnTo>
                    <a:pt x="756" y="775"/>
                  </a:lnTo>
                  <a:lnTo>
                    <a:pt x="754" y="775"/>
                  </a:lnTo>
                  <a:lnTo>
                    <a:pt x="752" y="775"/>
                  </a:lnTo>
                  <a:lnTo>
                    <a:pt x="750" y="777"/>
                  </a:lnTo>
                  <a:lnTo>
                    <a:pt x="748" y="777"/>
                  </a:lnTo>
                  <a:lnTo>
                    <a:pt x="744" y="777"/>
                  </a:lnTo>
                  <a:lnTo>
                    <a:pt x="743" y="777"/>
                  </a:lnTo>
                  <a:lnTo>
                    <a:pt x="741" y="777"/>
                  </a:lnTo>
                  <a:lnTo>
                    <a:pt x="739" y="777"/>
                  </a:lnTo>
                  <a:lnTo>
                    <a:pt x="735" y="777"/>
                  </a:lnTo>
                  <a:lnTo>
                    <a:pt x="533" y="777"/>
                  </a:lnTo>
                  <a:lnTo>
                    <a:pt x="533" y="780"/>
                  </a:lnTo>
                  <a:lnTo>
                    <a:pt x="148" y="780"/>
                  </a:lnTo>
                  <a:lnTo>
                    <a:pt x="148" y="575"/>
                  </a:lnTo>
                  <a:lnTo>
                    <a:pt x="148" y="573"/>
                  </a:lnTo>
                  <a:lnTo>
                    <a:pt x="148" y="571"/>
                  </a:lnTo>
                  <a:lnTo>
                    <a:pt x="148" y="567"/>
                  </a:lnTo>
                  <a:lnTo>
                    <a:pt x="148" y="564"/>
                  </a:lnTo>
                  <a:lnTo>
                    <a:pt x="148" y="562"/>
                  </a:lnTo>
                  <a:lnTo>
                    <a:pt x="146" y="560"/>
                  </a:lnTo>
                  <a:lnTo>
                    <a:pt x="146" y="558"/>
                  </a:lnTo>
                  <a:lnTo>
                    <a:pt x="146" y="556"/>
                  </a:lnTo>
                  <a:lnTo>
                    <a:pt x="144" y="554"/>
                  </a:lnTo>
                  <a:lnTo>
                    <a:pt x="144" y="552"/>
                  </a:lnTo>
                  <a:lnTo>
                    <a:pt x="142" y="550"/>
                  </a:lnTo>
                  <a:lnTo>
                    <a:pt x="142" y="548"/>
                  </a:lnTo>
                  <a:lnTo>
                    <a:pt x="140" y="548"/>
                  </a:lnTo>
                  <a:lnTo>
                    <a:pt x="138" y="546"/>
                  </a:lnTo>
                  <a:lnTo>
                    <a:pt x="138" y="544"/>
                  </a:lnTo>
                  <a:lnTo>
                    <a:pt x="136" y="541"/>
                  </a:lnTo>
                  <a:lnTo>
                    <a:pt x="134" y="541"/>
                  </a:lnTo>
                  <a:lnTo>
                    <a:pt x="134" y="539"/>
                  </a:lnTo>
                  <a:lnTo>
                    <a:pt x="132" y="537"/>
                  </a:lnTo>
                  <a:lnTo>
                    <a:pt x="130" y="537"/>
                  </a:lnTo>
                  <a:lnTo>
                    <a:pt x="128" y="535"/>
                  </a:lnTo>
                  <a:lnTo>
                    <a:pt x="126" y="533"/>
                  </a:lnTo>
                  <a:lnTo>
                    <a:pt x="125" y="533"/>
                  </a:lnTo>
                  <a:lnTo>
                    <a:pt x="123" y="531"/>
                  </a:lnTo>
                  <a:lnTo>
                    <a:pt x="121" y="531"/>
                  </a:lnTo>
                  <a:lnTo>
                    <a:pt x="119" y="531"/>
                  </a:lnTo>
                  <a:lnTo>
                    <a:pt x="117" y="529"/>
                  </a:lnTo>
                  <a:lnTo>
                    <a:pt x="115" y="529"/>
                  </a:lnTo>
                  <a:lnTo>
                    <a:pt x="113" y="529"/>
                  </a:lnTo>
                  <a:lnTo>
                    <a:pt x="111" y="529"/>
                  </a:lnTo>
                  <a:close/>
                </a:path>
              </a:pathLst>
            </a:custGeom>
            <a:solidFill>
              <a:schemeClr val="tx1">
                <a:lumMod val="75000"/>
                <a:lumOff val="25000"/>
              </a:schemeClr>
            </a:solidFill>
            <a:ln w="9525" cap="flat" cmpd="sng" algn="ctr">
              <a:noFill/>
              <a:prstDash val="solid"/>
              <a:round/>
              <a:headEnd type="none" w="med" len="med"/>
              <a:tailEnd type="none" w="med" len="med"/>
            </a:ln>
            <a:effectLst>
              <a:outerShdw blurRad="50800" dist="12700" dir="5400000" algn="t" rotWithShape="0">
                <a:prstClr val="black">
                  <a:alpha val="40000"/>
                </a:prstClr>
              </a:outerShdw>
            </a:effectLst>
            <a:scene3d>
              <a:camera prst="orthographicFront"/>
              <a:lightRig rig="balanced" dir="t"/>
            </a:scene3d>
            <a:sp3d prstMaterial="plastic">
              <a:bevelT w="6350000" h="127000"/>
              <a:bevelB w="0" h="0"/>
            </a:sp3d>
          </p:spPr>
          <p:txBody>
            <a:bodyPr wrap="none" lIns="42203" rIns="42203" anchor="ctr"/>
            <a:lstStyle/>
            <a:p>
              <a:pPr marL="109907" indent="-109907" algn="ctr" eaLnBrk="0" hangingPunct="0">
                <a:defRPr/>
              </a:pPr>
              <a:endParaRPr lang="en-US" sz="1662">
                <a:solidFill>
                  <a:srgbClr val="FFFFFF"/>
                </a:solidFill>
                <a:latin typeface="Arial" panose="020B0604020202020204" pitchFamily="34" charset="0"/>
                <a:ea typeface="DFKaiShu-GB5"/>
                <a:cs typeface="DFKaiShuW5-B5" pitchFamily="65" charset="-128"/>
              </a:endParaRPr>
            </a:p>
          </p:txBody>
        </p:sp>
        <p:sp>
          <p:nvSpPr>
            <p:cNvPr id="36" name="Freeform 42">
              <a:extLst>
                <a:ext uri="{FF2B5EF4-FFF2-40B4-BE49-F238E27FC236}">
                  <a16:creationId xmlns:a16="http://schemas.microsoft.com/office/drawing/2014/main" id="{B07FFAE4-D28B-4020-A560-65C14EF0E748}"/>
                </a:ext>
              </a:extLst>
            </p:cNvPr>
            <p:cNvSpPr>
              <a:spLocks/>
            </p:cNvSpPr>
            <p:nvPr/>
          </p:nvSpPr>
          <p:spPr bwMode="auto">
            <a:xfrm>
              <a:off x="6937480" y="3692431"/>
              <a:ext cx="2282721" cy="2312409"/>
            </a:xfrm>
            <a:custGeom>
              <a:avLst/>
              <a:gdLst/>
              <a:ahLst/>
              <a:cxnLst>
                <a:cxn ang="0">
                  <a:pos x="60" y="675"/>
                </a:cxn>
                <a:cxn ang="0">
                  <a:pos x="85" y="658"/>
                </a:cxn>
                <a:cxn ang="0">
                  <a:pos x="108" y="639"/>
                </a:cxn>
                <a:cxn ang="0">
                  <a:pos x="125" y="614"/>
                </a:cxn>
                <a:cxn ang="0">
                  <a:pos x="139" y="587"/>
                </a:cxn>
                <a:cxn ang="0">
                  <a:pos x="146" y="560"/>
                </a:cxn>
                <a:cxn ang="0">
                  <a:pos x="146" y="526"/>
                </a:cxn>
                <a:cxn ang="0">
                  <a:pos x="141" y="497"/>
                </a:cxn>
                <a:cxn ang="0">
                  <a:pos x="129" y="468"/>
                </a:cxn>
                <a:cxn ang="0">
                  <a:pos x="112" y="445"/>
                </a:cxn>
                <a:cxn ang="0">
                  <a:pos x="91" y="424"/>
                </a:cxn>
                <a:cxn ang="0">
                  <a:pos x="66" y="409"/>
                </a:cxn>
                <a:cxn ang="0">
                  <a:pos x="37" y="397"/>
                </a:cxn>
                <a:cxn ang="0">
                  <a:pos x="27" y="395"/>
                </a:cxn>
                <a:cxn ang="0">
                  <a:pos x="18" y="391"/>
                </a:cxn>
                <a:cxn ang="0">
                  <a:pos x="10" y="384"/>
                </a:cxn>
                <a:cxn ang="0">
                  <a:pos x="4" y="374"/>
                </a:cxn>
                <a:cxn ang="0">
                  <a:pos x="0" y="366"/>
                </a:cxn>
                <a:cxn ang="0">
                  <a:pos x="0" y="353"/>
                </a:cxn>
                <a:cxn ang="0">
                  <a:pos x="590" y="148"/>
                </a:cxn>
                <a:cxn ang="0">
                  <a:pos x="601" y="148"/>
                </a:cxn>
                <a:cxn ang="0">
                  <a:pos x="611" y="144"/>
                </a:cxn>
                <a:cxn ang="0">
                  <a:pos x="620" y="138"/>
                </a:cxn>
                <a:cxn ang="0">
                  <a:pos x="626" y="132"/>
                </a:cxn>
                <a:cxn ang="0">
                  <a:pos x="632" y="121"/>
                </a:cxn>
                <a:cxn ang="0">
                  <a:pos x="634" y="111"/>
                </a:cxn>
                <a:cxn ang="0">
                  <a:pos x="645" y="84"/>
                </a:cxn>
                <a:cxn ang="0">
                  <a:pos x="661" y="59"/>
                </a:cxn>
                <a:cxn ang="0">
                  <a:pos x="680" y="38"/>
                </a:cxn>
                <a:cxn ang="0">
                  <a:pos x="705" y="19"/>
                </a:cxn>
                <a:cxn ang="0">
                  <a:pos x="734" y="9"/>
                </a:cxn>
                <a:cxn ang="0">
                  <a:pos x="762" y="2"/>
                </a:cxn>
                <a:cxn ang="0">
                  <a:pos x="795" y="2"/>
                </a:cxn>
                <a:cxn ang="0">
                  <a:pos x="824" y="11"/>
                </a:cxn>
                <a:cxn ang="0">
                  <a:pos x="851" y="23"/>
                </a:cxn>
                <a:cxn ang="0">
                  <a:pos x="876" y="40"/>
                </a:cxn>
                <a:cxn ang="0">
                  <a:pos x="895" y="63"/>
                </a:cxn>
                <a:cxn ang="0">
                  <a:pos x="910" y="88"/>
                </a:cxn>
                <a:cxn ang="0">
                  <a:pos x="918" y="113"/>
                </a:cxn>
                <a:cxn ang="0">
                  <a:pos x="920" y="123"/>
                </a:cxn>
                <a:cxn ang="0">
                  <a:pos x="926" y="134"/>
                </a:cxn>
                <a:cxn ang="0">
                  <a:pos x="933" y="138"/>
                </a:cxn>
                <a:cxn ang="0">
                  <a:pos x="943" y="144"/>
                </a:cxn>
                <a:cxn ang="0">
                  <a:pos x="952" y="148"/>
                </a:cxn>
                <a:cxn ang="0">
                  <a:pos x="966" y="151"/>
                </a:cxn>
                <a:cxn ang="0">
                  <a:pos x="1444" y="930"/>
                </a:cxn>
                <a:cxn ang="0">
                  <a:pos x="1221" y="930"/>
                </a:cxn>
                <a:cxn ang="0">
                  <a:pos x="1041" y="930"/>
                </a:cxn>
                <a:cxn ang="0">
                  <a:pos x="885" y="930"/>
                </a:cxn>
                <a:cxn ang="0">
                  <a:pos x="736" y="930"/>
                </a:cxn>
                <a:cxn ang="0">
                  <a:pos x="576" y="930"/>
                </a:cxn>
                <a:cxn ang="0">
                  <a:pos x="384" y="930"/>
                </a:cxn>
                <a:cxn ang="0">
                  <a:pos x="0" y="723"/>
                </a:cxn>
                <a:cxn ang="0">
                  <a:pos x="2" y="710"/>
                </a:cxn>
                <a:cxn ang="0">
                  <a:pos x="6" y="702"/>
                </a:cxn>
                <a:cxn ang="0">
                  <a:pos x="14" y="693"/>
                </a:cxn>
                <a:cxn ang="0">
                  <a:pos x="22" y="685"/>
                </a:cxn>
                <a:cxn ang="0">
                  <a:pos x="31" y="681"/>
                </a:cxn>
              </a:cxnLst>
              <a:rect l="0" t="0" r="r" b="b"/>
              <a:pathLst>
                <a:path w="1549" h="930">
                  <a:moveTo>
                    <a:pt x="37" y="681"/>
                  </a:moveTo>
                  <a:lnTo>
                    <a:pt x="43" y="681"/>
                  </a:lnTo>
                  <a:lnTo>
                    <a:pt x="48" y="679"/>
                  </a:lnTo>
                  <a:lnTo>
                    <a:pt x="54" y="677"/>
                  </a:lnTo>
                  <a:lnTo>
                    <a:pt x="60" y="675"/>
                  </a:lnTo>
                  <a:lnTo>
                    <a:pt x="66" y="669"/>
                  </a:lnTo>
                  <a:lnTo>
                    <a:pt x="71" y="668"/>
                  </a:lnTo>
                  <a:lnTo>
                    <a:pt x="75" y="664"/>
                  </a:lnTo>
                  <a:lnTo>
                    <a:pt x="81" y="662"/>
                  </a:lnTo>
                  <a:lnTo>
                    <a:pt x="85" y="658"/>
                  </a:lnTo>
                  <a:lnTo>
                    <a:pt x="91" y="656"/>
                  </a:lnTo>
                  <a:lnTo>
                    <a:pt x="95" y="652"/>
                  </a:lnTo>
                  <a:lnTo>
                    <a:pt x="100" y="646"/>
                  </a:lnTo>
                  <a:lnTo>
                    <a:pt x="104" y="643"/>
                  </a:lnTo>
                  <a:lnTo>
                    <a:pt x="108" y="639"/>
                  </a:lnTo>
                  <a:lnTo>
                    <a:pt x="112" y="633"/>
                  </a:lnTo>
                  <a:lnTo>
                    <a:pt x="116" y="631"/>
                  </a:lnTo>
                  <a:lnTo>
                    <a:pt x="119" y="627"/>
                  </a:lnTo>
                  <a:lnTo>
                    <a:pt x="123" y="620"/>
                  </a:lnTo>
                  <a:lnTo>
                    <a:pt x="125" y="614"/>
                  </a:lnTo>
                  <a:lnTo>
                    <a:pt x="129" y="610"/>
                  </a:lnTo>
                  <a:lnTo>
                    <a:pt x="131" y="606"/>
                  </a:lnTo>
                  <a:lnTo>
                    <a:pt x="135" y="598"/>
                  </a:lnTo>
                  <a:lnTo>
                    <a:pt x="137" y="593"/>
                  </a:lnTo>
                  <a:lnTo>
                    <a:pt x="139" y="587"/>
                  </a:lnTo>
                  <a:lnTo>
                    <a:pt x="141" y="583"/>
                  </a:lnTo>
                  <a:lnTo>
                    <a:pt x="142" y="575"/>
                  </a:lnTo>
                  <a:lnTo>
                    <a:pt x="144" y="570"/>
                  </a:lnTo>
                  <a:lnTo>
                    <a:pt x="144" y="564"/>
                  </a:lnTo>
                  <a:lnTo>
                    <a:pt x="146" y="560"/>
                  </a:lnTo>
                  <a:lnTo>
                    <a:pt x="146" y="554"/>
                  </a:lnTo>
                  <a:lnTo>
                    <a:pt x="146" y="545"/>
                  </a:lnTo>
                  <a:lnTo>
                    <a:pt x="148" y="539"/>
                  </a:lnTo>
                  <a:lnTo>
                    <a:pt x="146" y="535"/>
                  </a:lnTo>
                  <a:lnTo>
                    <a:pt x="146" y="526"/>
                  </a:lnTo>
                  <a:lnTo>
                    <a:pt x="146" y="520"/>
                  </a:lnTo>
                  <a:lnTo>
                    <a:pt x="144" y="514"/>
                  </a:lnTo>
                  <a:lnTo>
                    <a:pt x="144" y="510"/>
                  </a:lnTo>
                  <a:lnTo>
                    <a:pt x="142" y="503"/>
                  </a:lnTo>
                  <a:lnTo>
                    <a:pt x="141" y="497"/>
                  </a:lnTo>
                  <a:lnTo>
                    <a:pt x="139" y="491"/>
                  </a:lnTo>
                  <a:lnTo>
                    <a:pt x="137" y="487"/>
                  </a:lnTo>
                  <a:lnTo>
                    <a:pt x="135" y="480"/>
                  </a:lnTo>
                  <a:lnTo>
                    <a:pt x="131" y="474"/>
                  </a:lnTo>
                  <a:lnTo>
                    <a:pt x="129" y="468"/>
                  </a:lnTo>
                  <a:lnTo>
                    <a:pt x="125" y="466"/>
                  </a:lnTo>
                  <a:lnTo>
                    <a:pt x="123" y="460"/>
                  </a:lnTo>
                  <a:lnTo>
                    <a:pt x="119" y="453"/>
                  </a:lnTo>
                  <a:lnTo>
                    <a:pt x="116" y="449"/>
                  </a:lnTo>
                  <a:lnTo>
                    <a:pt x="112" y="445"/>
                  </a:lnTo>
                  <a:lnTo>
                    <a:pt x="108" y="441"/>
                  </a:lnTo>
                  <a:lnTo>
                    <a:pt x="104" y="437"/>
                  </a:lnTo>
                  <a:lnTo>
                    <a:pt x="100" y="432"/>
                  </a:lnTo>
                  <a:lnTo>
                    <a:pt x="95" y="428"/>
                  </a:lnTo>
                  <a:lnTo>
                    <a:pt x="91" y="424"/>
                  </a:lnTo>
                  <a:lnTo>
                    <a:pt x="85" y="420"/>
                  </a:lnTo>
                  <a:lnTo>
                    <a:pt x="81" y="418"/>
                  </a:lnTo>
                  <a:lnTo>
                    <a:pt x="75" y="416"/>
                  </a:lnTo>
                  <a:lnTo>
                    <a:pt x="70" y="412"/>
                  </a:lnTo>
                  <a:lnTo>
                    <a:pt x="66" y="409"/>
                  </a:lnTo>
                  <a:lnTo>
                    <a:pt x="60" y="405"/>
                  </a:lnTo>
                  <a:lnTo>
                    <a:pt x="54" y="403"/>
                  </a:lnTo>
                  <a:lnTo>
                    <a:pt x="48" y="401"/>
                  </a:lnTo>
                  <a:lnTo>
                    <a:pt x="43" y="399"/>
                  </a:lnTo>
                  <a:lnTo>
                    <a:pt x="37" y="397"/>
                  </a:lnTo>
                  <a:lnTo>
                    <a:pt x="35" y="397"/>
                  </a:lnTo>
                  <a:lnTo>
                    <a:pt x="33" y="397"/>
                  </a:lnTo>
                  <a:lnTo>
                    <a:pt x="31" y="397"/>
                  </a:lnTo>
                  <a:lnTo>
                    <a:pt x="29" y="395"/>
                  </a:lnTo>
                  <a:lnTo>
                    <a:pt x="27" y="395"/>
                  </a:lnTo>
                  <a:lnTo>
                    <a:pt x="25" y="395"/>
                  </a:lnTo>
                  <a:lnTo>
                    <a:pt x="23" y="395"/>
                  </a:lnTo>
                  <a:lnTo>
                    <a:pt x="22" y="395"/>
                  </a:lnTo>
                  <a:lnTo>
                    <a:pt x="20" y="393"/>
                  </a:lnTo>
                  <a:lnTo>
                    <a:pt x="18" y="391"/>
                  </a:lnTo>
                  <a:lnTo>
                    <a:pt x="16" y="391"/>
                  </a:lnTo>
                  <a:lnTo>
                    <a:pt x="14" y="389"/>
                  </a:lnTo>
                  <a:lnTo>
                    <a:pt x="14" y="386"/>
                  </a:lnTo>
                  <a:lnTo>
                    <a:pt x="12" y="384"/>
                  </a:lnTo>
                  <a:lnTo>
                    <a:pt x="10" y="384"/>
                  </a:lnTo>
                  <a:lnTo>
                    <a:pt x="10" y="382"/>
                  </a:lnTo>
                  <a:lnTo>
                    <a:pt x="8" y="380"/>
                  </a:lnTo>
                  <a:lnTo>
                    <a:pt x="6" y="378"/>
                  </a:lnTo>
                  <a:lnTo>
                    <a:pt x="6" y="376"/>
                  </a:lnTo>
                  <a:lnTo>
                    <a:pt x="4" y="374"/>
                  </a:lnTo>
                  <a:lnTo>
                    <a:pt x="4" y="372"/>
                  </a:lnTo>
                  <a:lnTo>
                    <a:pt x="2" y="372"/>
                  </a:lnTo>
                  <a:lnTo>
                    <a:pt x="2" y="370"/>
                  </a:lnTo>
                  <a:lnTo>
                    <a:pt x="2" y="368"/>
                  </a:lnTo>
                  <a:lnTo>
                    <a:pt x="0" y="366"/>
                  </a:lnTo>
                  <a:lnTo>
                    <a:pt x="0" y="363"/>
                  </a:lnTo>
                  <a:lnTo>
                    <a:pt x="0" y="359"/>
                  </a:lnTo>
                  <a:lnTo>
                    <a:pt x="0" y="357"/>
                  </a:lnTo>
                  <a:lnTo>
                    <a:pt x="0" y="355"/>
                  </a:lnTo>
                  <a:lnTo>
                    <a:pt x="0" y="353"/>
                  </a:lnTo>
                  <a:lnTo>
                    <a:pt x="0" y="351"/>
                  </a:lnTo>
                  <a:lnTo>
                    <a:pt x="0" y="151"/>
                  </a:lnTo>
                  <a:lnTo>
                    <a:pt x="384" y="151"/>
                  </a:lnTo>
                  <a:lnTo>
                    <a:pt x="586" y="151"/>
                  </a:lnTo>
                  <a:lnTo>
                    <a:pt x="590" y="148"/>
                  </a:lnTo>
                  <a:lnTo>
                    <a:pt x="592" y="148"/>
                  </a:lnTo>
                  <a:lnTo>
                    <a:pt x="594" y="148"/>
                  </a:lnTo>
                  <a:lnTo>
                    <a:pt x="595" y="148"/>
                  </a:lnTo>
                  <a:lnTo>
                    <a:pt x="599" y="148"/>
                  </a:lnTo>
                  <a:lnTo>
                    <a:pt x="601" y="148"/>
                  </a:lnTo>
                  <a:lnTo>
                    <a:pt x="603" y="146"/>
                  </a:lnTo>
                  <a:lnTo>
                    <a:pt x="605" y="146"/>
                  </a:lnTo>
                  <a:lnTo>
                    <a:pt x="607" y="146"/>
                  </a:lnTo>
                  <a:lnTo>
                    <a:pt x="609" y="144"/>
                  </a:lnTo>
                  <a:lnTo>
                    <a:pt x="611" y="144"/>
                  </a:lnTo>
                  <a:lnTo>
                    <a:pt x="613" y="142"/>
                  </a:lnTo>
                  <a:lnTo>
                    <a:pt x="615" y="142"/>
                  </a:lnTo>
                  <a:lnTo>
                    <a:pt x="617" y="140"/>
                  </a:lnTo>
                  <a:lnTo>
                    <a:pt x="619" y="138"/>
                  </a:lnTo>
                  <a:lnTo>
                    <a:pt x="620" y="138"/>
                  </a:lnTo>
                  <a:lnTo>
                    <a:pt x="620" y="136"/>
                  </a:lnTo>
                  <a:lnTo>
                    <a:pt x="622" y="134"/>
                  </a:lnTo>
                  <a:lnTo>
                    <a:pt x="624" y="134"/>
                  </a:lnTo>
                  <a:lnTo>
                    <a:pt x="626" y="134"/>
                  </a:lnTo>
                  <a:lnTo>
                    <a:pt x="626" y="132"/>
                  </a:lnTo>
                  <a:lnTo>
                    <a:pt x="628" y="130"/>
                  </a:lnTo>
                  <a:lnTo>
                    <a:pt x="630" y="128"/>
                  </a:lnTo>
                  <a:lnTo>
                    <a:pt x="630" y="125"/>
                  </a:lnTo>
                  <a:lnTo>
                    <a:pt x="632" y="123"/>
                  </a:lnTo>
                  <a:lnTo>
                    <a:pt x="632" y="121"/>
                  </a:lnTo>
                  <a:lnTo>
                    <a:pt x="632" y="119"/>
                  </a:lnTo>
                  <a:lnTo>
                    <a:pt x="634" y="117"/>
                  </a:lnTo>
                  <a:lnTo>
                    <a:pt x="634" y="115"/>
                  </a:lnTo>
                  <a:lnTo>
                    <a:pt x="634" y="113"/>
                  </a:lnTo>
                  <a:lnTo>
                    <a:pt x="634" y="111"/>
                  </a:lnTo>
                  <a:lnTo>
                    <a:pt x="636" y="107"/>
                  </a:lnTo>
                  <a:lnTo>
                    <a:pt x="638" y="100"/>
                  </a:lnTo>
                  <a:lnTo>
                    <a:pt x="640" y="94"/>
                  </a:lnTo>
                  <a:lnTo>
                    <a:pt x="642" y="88"/>
                  </a:lnTo>
                  <a:lnTo>
                    <a:pt x="645" y="84"/>
                  </a:lnTo>
                  <a:lnTo>
                    <a:pt x="647" y="80"/>
                  </a:lnTo>
                  <a:lnTo>
                    <a:pt x="651" y="73"/>
                  </a:lnTo>
                  <a:lnTo>
                    <a:pt x="653" y="67"/>
                  </a:lnTo>
                  <a:lnTo>
                    <a:pt x="657" y="63"/>
                  </a:lnTo>
                  <a:lnTo>
                    <a:pt x="661" y="59"/>
                  </a:lnTo>
                  <a:lnTo>
                    <a:pt x="665" y="54"/>
                  </a:lnTo>
                  <a:lnTo>
                    <a:pt x="668" y="48"/>
                  </a:lnTo>
                  <a:lnTo>
                    <a:pt x="672" y="44"/>
                  </a:lnTo>
                  <a:lnTo>
                    <a:pt x="676" y="40"/>
                  </a:lnTo>
                  <a:lnTo>
                    <a:pt x="680" y="38"/>
                  </a:lnTo>
                  <a:lnTo>
                    <a:pt x="686" y="34"/>
                  </a:lnTo>
                  <a:lnTo>
                    <a:pt x="690" y="29"/>
                  </a:lnTo>
                  <a:lnTo>
                    <a:pt x="695" y="25"/>
                  </a:lnTo>
                  <a:lnTo>
                    <a:pt x="701" y="23"/>
                  </a:lnTo>
                  <a:lnTo>
                    <a:pt x="705" y="19"/>
                  </a:lnTo>
                  <a:lnTo>
                    <a:pt x="711" y="17"/>
                  </a:lnTo>
                  <a:lnTo>
                    <a:pt x="716" y="15"/>
                  </a:lnTo>
                  <a:lnTo>
                    <a:pt x="722" y="13"/>
                  </a:lnTo>
                  <a:lnTo>
                    <a:pt x="728" y="11"/>
                  </a:lnTo>
                  <a:lnTo>
                    <a:pt x="734" y="9"/>
                  </a:lnTo>
                  <a:lnTo>
                    <a:pt x="739" y="6"/>
                  </a:lnTo>
                  <a:lnTo>
                    <a:pt x="745" y="4"/>
                  </a:lnTo>
                  <a:lnTo>
                    <a:pt x="751" y="4"/>
                  </a:lnTo>
                  <a:lnTo>
                    <a:pt x="757" y="2"/>
                  </a:lnTo>
                  <a:lnTo>
                    <a:pt x="762" y="2"/>
                  </a:lnTo>
                  <a:lnTo>
                    <a:pt x="770" y="2"/>
                  </a:lnTo>
                  <a:lnTo>
                    <a:pt x="776" y="0"/>
                  </a:lnTo>
                  <a:lnTo>
                    <a:pt x="782" y="2"/>
                  </a:lnTo>
                  <a:lnTo>
                    <a:pt x="789" y="2"/>
                  </a:lnTo>
                  <a:lnTo>
                    <a:pt x="795" y="2"/>
                  </a:lnTo>
                  <a:lnTo>
                    <a:pt x="801" y="4"/>
                  </a:lnTo>
                  <a:lnTo>
                    <a:pt x="807" y="4"/>
                  </a:lnTo>
                  <a:lnTo>
                    <a:pt x="812" y="6"/>
                  </a:lnTo>
                  <a:lnTo>
                    <a:pt x="818" y="9"/>
                  </a:lnTo>
                  <a:lnTo>
                    <a:pt x="824" y="11"/>
                  </a:lnTo>
                  <a:lnTo>
                    <a:pt x="830" y="13"/>
                  </a:lnTo>
                  <a:lnTo>
                    <a:pt x="835" y="15"/>
                  </a:lnTo>
                  <a:lnTo>
                    <a:pt x="841" y="17"/>
                  </a:lnTo>
                  <a:lnTo>
                    <a:pt x="847" y="19"/>
                  </a:lnTo>
                  <a:lnTo>
                    <a:pt x="851" y="23"/>
                  </a:lnTo>
                  <a:lnTo>
                    <a:pt x="857" y="25"/>
                  </a:lnTo>
                  <a:lnTo>
                    <a:pt x="862" y="29"/>
                  </a:lnTo>
                  <a:lnTo>
                    <a:pt x="866" y="34"/>
                  </a:lnTo>
                  <a:lnTo>
                    <a:pt x="870" y="38"/>
                  </a:lnTo>
                  <a:lnTo>
                    <a:pt x="876" y="40"/>
                  </a:lnTo>
                  <a:lnTo>
                    <a:pt x="880" y="44"/>
                  </a:lnTo>
                  <a:lnTo>
                    <a:pt x="883" y="48"/>
                  </a:lnTo>
                  <a:lnTo>
                    <a:pt x="887" y="54"/>
                  </a:lnTo>
                  <a:lnTo>
                    <a:pt x="891" y="59"/>
                  </a:lnTo>
                  <a:lnTo>
                    <a:pt x="895" y="63"/>
                  </a:lnTo>
                  <a:lnTo>
                    <a:pt x="899" y="67"/>
                  </a:lnTo>
                  <a:lnTo>
                    <a:pt x="901" y="73"/>
                  </a:lnTo>
                  <a:lnTo>
                    <a:pt x="904" y="77"/>
                  </a:lnTo>
                  <a:lnTo>
                    <a:pt x="906" y="84"/>
                  </a:lnTo>
                  <a:lnTo>
                    <a:pt x="910" y="88"/>
                  </a:lnTo>
                  <a:lnTo>
                    <a:pt x="912" y="94"/>
                  </a:lnTo>
                  <a:lnTo>
                    <a:pt x="914" y="100"/>
                  </a:lnTo>
                  <a:lnTo>
                    <a:pt x="916" y="107"/>
                  </a:lnTo>
                  <a:lnTo>
                    <a:pt x="918" y="111"/>
                  </a:lnTo>
                  <a:lnTo>
                    <a:pt x="918" y="113"/>
                  </a:lnTo>
                  <a:lnTo>
                    <a:pt x="918" y="115"/>
                  </a:lnTo>
                  <a:lnTo>
                    <a:pt x="918" y="117"/>
                  </a:lnTo>
                  <a:lnTo>
                    <a:pt x="920" y="119"/>
                  </a:lnTo>
                  <a:lnTo>
                    <a:pt x="920" y="121"/>
                  </a:lnTo>
                  <a:lnTo>
                    <a:pt x="920" y="123"/>
                  </a:lnTo>
                  <a:lnTo>
                    <a:pt x="922" y="125"/>
                  </a:lnTo>
                  <a:lnTo>
                    <a:pt x="922" y="128"/>
                  </a:lnTo>
                  <a:lnTo>
                    <a:pt x="924" y="130"/>
                  </a:lnTo>
                  <a:lnTo>
                    <a:pt x="926" y="132"/>
                  </a:lnTo>
                  <a:lnTo>
                    <a:pt x="926" y="134"/>
                  </a:lnTo>
                  <a:lnTo>
                    <a:pt x="928" y="134"/>
                  </a:lnTo>
                  <a:lnTo>
                    <a:pt x="929" y="134"/>
                  </a:lnTo>
                  <a:lnTo>
                    <a:pt x="931" y="136"/>
                  </a:lnTo>
                  <a:lnTo>
                    <a:pt x="931" y="138"/>
                  </a:lnTo>
                  <a:lnTo>
                    <a:pt x="933" y="138"/>
                  </a:lnTo>
                  <a:lnTo>
                    <a:pt x="935" y="140"/>
                  </a:lnTo>
                  <a:lnTo>
                    <a:pt x="937" y="142"/>
                  </a:lnTo>
                  <a:lnTo>
                    <a:pt x="939" y="142"/>
                  </a:lnTo>
                  <a:lnTo>
                    <a:pt x="941" y="144"/>
                  </a:lnTo>
                  <a:lnTo>
                    <a:pt x="943" y="144"/>
                  </a:lnTo>
                  <a:lnTo>
                    <a:pt x="945" y="146"/>
                  </a:lnTo>
                  <a:lnTo>
                    <a:pt x="947" y="146"/>
                  </a:lnTo>
                  <a:lnTo>
                    <a:pt x="949" y="146"/>
                  </a:lnTo>
                  <a:lnTo>
                    <a:pt x="951" y="148"/>
                  </a:lnTo>
                  <a:lnTo>
                    <a:pt x="952" y="148"/>
                  </a:lnTo>
                  <a:lnTo>
                    <a:pt x="956" y="148"/>
                  </a:lnTo>
                  <a:lnTo>
                    <a:pt x="958" y="148"/>
                  </a:lnTo>
                  <a:lnTo>
                    <a:pt x="960" y="148"/>
                  </a:lnTo>
                  <a:lnTo>
                    <a:pt x="962" y="148"/>
                  </a:lnTo>
                  <a:lnTo>
                    <a:pt x="966" y="151"/>
                  </a:lnTo>
                  <a:lnTo>
                    <a:pt x="1167" y="151"/>
                  </a:lnTo>
                  <a:lnTo>
                    <a:pt x="1549" y="151"/>
                  </a:lnTo>
                  <a:lnTo>
                    <a:pt x="1549" y="930"/>
                  </a:lnTo>
                  <a:lnTo>
                    <a:pt x="1496" y="930"/>
                  </a:lnTo>
                  <a:lnTo>
                    <a:pt x="1444" y="930"/>
                  </a:lnTo>
                  <a:lnTo>
                    <a:pt x="1396" y="930"/>
                  </a:lnTo>
                  <a:lnTo>
                    <a:pt x="1348" y="930"/>
                  </a:lnTo>
                  <a:lnTo>
                    <a:pt x="1304" y="930"/>
                  </a:lnTo>
                  <a:lnTo>
                    <a:pt x="1261" y="930"/>
                  </a:lnTo>
                  <a:lnTo>
                    <a:pt x="1221" y="930"/>
                  </a:lnTo>
                  <a:lnTo>
                    <a:pt x="1183" y="930"/>
                  </a:lnTo>
                  <a:lnTo>
                    <a:pt x="1144" y="930"/>
                  </a:lnTo>
                  <a:lnTo>
                    <a:pt x="1108" y="930"/>
                  </a:lnTo>
                  <a:lnTo>
                    <a:pt x="1073" y="930"/>
                  </a:lnTo>
                  <a:lnTo>
                    <a:pt x="1041" y="930"/>
                  </a:lnTo>
                  <a:lnTo>
                    <a:pt x="1008" y="930"/>
                  </a:lnTo>
                  <a:lnTo>
                    <a:pt x="976" y="930"/>
                  </a:lnTo>
                  <a:lnTo>
                    <a:pt x="945" y="930"/>
                  </a:lnTo>
                  <a:lnTo>
                    <a:pt x="916" y="930"/>
                  </a:lnTo>
                  <a:lnTo>
                    <a:pt x="885" y="930"/>
                  </a:lnTo>
                  <a:lnTo>
                    <a:pt x="855" y="930"/>
                  </a:lnTo>
                  <a:lnTo>
                    <a:pt x="826" y="930"/>
                  </a:lnTo>
                  <a:lnTo>
                    <a:pt x="797" y="930"/>
                  </a:lnTo>
                  <a:lnTo>
                    <a:pt x="766" y="930"/>
                  </a:lnTo>
                  <a:lnTo>
                    <a:pt x="736" y="930"/>
                  </a:lnTo>
                  <a:lnTo>
                    <a:pt x="705" y="930"/>
                  </a:lnTo>
                  <a:lnTo>
                    <a:pt x="674" y="930"/>
                  </a:lnTo>
                  <a:lnTo>
                    <a:pt x="642" y="930"/>
                  </a:lnTo>
                  <a:lnTo>
                    <a:pt x="609" y="930"/>
                  </a:lnTo>
                  <a:lnTo>
                    <a:pt x="576" y="930"/>
                  </a:lnTo>
                  <a:lnTo>
                    <a:pt x="540" y="930"/>
                  </a:lnTo>
                  <a:lnTo>
                    <a:pt x="503" y="930"/>
                  </a:lnTo>
                  <a:lnTo>
                    <a:pt x="465" y="930"/>
                  </a:lnTo>
                  <a:lnTo>
                    <a:pt x="427" y="930"/>
                  </a:lnTo>
                  <a:lnTo>
                    <a:pt x="384" y="930"/>
                  </a:lnTo>
                  <a:lnTo>
                    <a:pt x="0" y="930"/>
                  </a:lnTo>
                  <a:lnTo>
                    <a:pt x="0" y="729"/>
                  </a:lnTo>
                  <a:lnTo>
                    <a:pt x="0" y="727"/>
                  </a:lnTo>
                  <a:lnTo>
                    <a:pt x="0" y="725"/>
                  </a:lnTo>
                  <a:lnTo>
                    <a:pt x="0" y="723"/>
                  </a:lnTo>
                  <a:lnTo>
                    <a:pt x="0" y="721"/>
                  </a:lnTo>
                  <a:lnTo>
                    <a:pt x="0" y="716"/>
                  </a:lnTo>
                  <a:lnTo>
                    <a:pt x="0" y="714"/>
                  </a:lnTo>
                  <a:lnTo>
                    <a:pt x="2" y="712"/>
                  </a:lnTo>
                  <a:lnTo>
                    <a:pt x="2" y="710"/>
                  </a:lnTo>
                  <a:lnTo>
                    <a:pt x="2" y="708"/>
                  </a:lnTo>
                  <a:lnTo>
                    <a:pt x="4" y="706"/>
                  </a:lnTo>
                  <a:lnTo>
                    <a:pt x="4" y="704"/>
                  </a:lnTo>
                  <a:lnTo>
                    <a:pt x="6" y="704"/>
                  </a:lnTo>
                  <a:lnTo>
                    <a:pt x="6" y="702"/>
                  </a:lnTo>
                  <a:lnTo>
                    <a:pt x="8" y="700"/>
                  </a:lnTo>
                  <a:lnTo>
                    <a:pt x="10" y="698"/>
                  </a:lnTo>
                  <a:lnTo>
                    <a:pt x="10" y="696"/>
                  </a:lnTo>
                  <a:lnTo>
                    <a:pt x="12" y="696"/>
                  </a:lnTo>
                  <a:lnTo>
                    <a:pt x="14" y="693"/>
                  </a:lnTo>
                  <a:lnTo>
                    <a:pt x="14" y="691"/>
                  </a:lnTo>
                  <a:lnTo>
                    <a:pt x="16" y="689"/>
                  </a:lnTo>
                  <a:lnTo>
                    <a:pt x="18" y="689"/>
                  </a:lnTo>
                  <a:lnTo>
                    <a:pt x="20" y="687"/>
                  </a:lnTo>
                  <a:lnTo>
                    <a:pt x="22" y="685"/>
                  </a:lnTo>
                  <a:lnTo>
                    <a:pt x="23" y="685"/>
                  </a:lnTo>
                  <a:lnTo>
                    <a:pt x="25" y="683"/>
                  </a:lnTo>
                  <a:lnTo>
                    <a:pt x="27" y="683"/>
                  </a:lnTo>
                  <a:lnTo>
                    <a:pt x="29" y="683"/>
                  </a:lnTo>
                  <a:lnTo>
                    <a:pt x="31" y="681"/>
                  </a:lnTo>
                  <a:lnTo>
                    <a:pt x="33" y="681"/>
                  </a:lnTo>
                  <a:lnTo>
                    <a:pt x="35" y="681"/>
                  </a:lnTo>
                  <a:lnTo>
                    <a:pt x="37" y="681"/>
                  </a:lnTo>
                  <a:close/>
                </a:path>
              </a:pathLst>
            </a:custGeom>
            <a:solidFill>
              <a:srgbClr val="800000"/>
            </a:solidFill>
            <a:ln w="9525" cap="flat" cmpd="sng" algn="ctr">
              <a:noFill/>
              <a:prstDash val="solid"/>
              <a:round/>
              <a:headEnd type="none" w="med" len="med"/>
              <a:tailEnd type="none" w="med" len="med"/>
            </a:ln>
            <a:effectLst>
              <a:outerShdw blurRad="50800" dist="12700" dir="5400000" algn="t" rotWithShape="0">
                <a:prstClr val="black">
                  <a:alpha val="40000"/>
                </a:prstClr>
              </a:outerShdw>
            </a:effectLst>
            <a:scene3d>
              <a:camera prst="orthographicFront"/>
              <a:lightRig rig="balanced" dir="t"/>
            </a:scene3d>
            <a:sp3d prstMaterial="plastic">
              <a:bevelT w="6350000" h="127000"/>
              <a:bevelB w="0" h="0"/>
            </a:sp3d>
          </p:spPr>
          <p:txBody>
            <a:bodyPr wrap="none" lIns="42203" rIns="42203" anchor="ctr"/>
            <a:lstStyle/>
            <a:p>
              <a:pPr marL="109907" indent="-109907" algn="ctr" eaLnBrk="0" hangingPunct="0">
                <a:defRPr/>
              </a:pPr>
              <a:endParaRPr lang="en-US" sz="1662">
                <a:solidFill>
                  <a:srgbClr val="FFFFFF"/>
                </a:solidFill>
                <a:latin typeface="Arial" panose="020B0604020202020204" pitchFamily="34" charset="0"/>
                <a:ea typeface="DFKaiShu-GB5"/>
                <a:cs typeface="DFKaiShuW5-B5" pitchFamily="65" charset="-128"/>
              </a:endParaRPr>
            </a:p>
          </p:txBody>
        </p:sp>
        <p:sp>
          <p:nvSpPr>
            <p:cNvPr id="41" name="Rectangle 127">
              <a:extLst>
                <a:ext uri="{FF2B5EF4-FFF2-40B4-BE49-F238E27FC236}">
                  <a16:creationId xmlns:a16="http://schemas.microsoft.com/office/drawing/2014/main" id="{49AB2766-A53F-45E6-951D-32582260EFA4}"/>
                </a:ext>
              </a:extLst>
            </p:cNvPr>
            <p:cNvSpPr>
              <a:spLocks noChangeArrowheads="1"/>
            </p:cNvSpPr>
            <p:nvPr/>
          </p:nvSpPr>
          <p:spPr bwMode="gray">
            <a:xfrm>
              <a:off x="7155580" y="4576855"/>
              <a:ext cx="206461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42203">
              <a:spAutoFit/>
            </a:bodyPr>
            <a:lstStyle>
              <a:lvl1pPr marL="114300" indent="-114300">
                <a:tabLst>
                  <a:tab pos="3543300" algn="r"/>
                </a:tabLst>
                <a:defRPr sz="2000">
                  <a:solidFill>
                    <a:schemeClr val="tx1"/>
                  </a:solidFill>
                  <a:latin typeface="Arial" panose="020B0604020202020204" pitchFamily="34" charset="0"/>
                </a:defRPr>
              </a:lvl1pPr>
              <a:lvl2pPr marL="742950" indent="-285750">
                <a:tabLst>
                  <a:tab pos="3543300" algn="r"/>
                </a:tabLst>
                <a:defRPr sz="2000">
                  <a:solidFill>
                    <a:schemeClr val="tx1"/>
                  </a:solidFill>
                  <a:latin typeface="Arial" panose="020B0604020202020204" pitchFamily="34" charset="0"/>
                </a:defRPr>
              </a:lvl2pPr>
              <a:lvl3pPr marL="1143000" indent="-228600">
                <a:tabLst>
                  <a:tab pos="3543300" algn="r"/>
                </a:tabLst>
                <a:defRPr sz="2000">
                  <a:solidFill>
                    <a:schemeClr val="tx1"/>
                  </a:solidFill>
                  <a:latin typeface="Arial" panose="020B0604020202020204" pitchFamily="34" charset="0"/>
                </a:defRPr>
              </a:lvl3pPr>
              <a:lvl4pPr marL="1600200" indent="-228600">
                <a:tabLst>
                  <a:tab pos="3543300" algn="r"/>
                </a:tabLst>
                <a:defRPr sz="2000">
                  <a:solidFill>
                    <a:schemeClr val="tx1"/>
                  </a:solidFill>
                  <a:latin typeface="Arial" panose="020B0604020202020204" pitchFamily="34" charset="0"/>
                </a:defRPr>
              </a:lvl4pPr>
              <a:lvl5pPr marL="2057400" indent="-228600">
                <a:tabLst>
                  <a:tab pos="3543300" algn="r"/>
                </a:tabLst>
                <a:defRPr sz="2000">
                  <a:solidFill>
                    <a:schemeClr val="tx1"/>
                  </a:solidFill>
                  <a:latin typeface="Arial" panose="020B0604020202020204" pitchFamily="34" charset="0"/>
                </a:defRPr>
              </a:lvl5pPr>
              <a:lvl6pPr marL="25146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6pPr>
              <a:lvl7pPr marL="29718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7pPr>
              <a:lvl8pPr marL="34290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8pPr>
              <a:lvl9pPr marL="38862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9pPr>
            </a:lstStyle>
            <a:p>
              <a:pPr>
                <a:spcBef>
                  <a:spcPts val="0"/>
                </a:spcBef>
                <a:spcAft>
                  <a:spcPts val="0"/>
                </a:spcAft>
                <a:buFont typeface="Wingdings" panose="05000000000000000000" pitchFamily="2" charset="2"/>
                <a:buChar char="n"/>
                <a:defRPr/>
              </a:pPr>
              <a:r>
                <a:rPr lang="en-US" altLang="zh-CN" sz="800" b="0" dirty="0">
                  <a:solidFill>
                    <a:srgbClr val="FFFFFF"/>
                  </a:solidFill>
                  <a:ea typeface="DFKaiShu-GB5"/>
                  <a:cs typeface="DFKaiShu-GB5" panose="03000509000000000000" pitchFamily="65" charset="-128"/>
                </a:rPr>
                <a:t>DBS Consumer Banking franchise has over 5 million retail clients and more than</a:t>
              </a:r>
              <a:r>
                <a:rPr lang="en-US" altLang="en-US" sz="800" b="0" dirty="0">
                  <a:solidFill>
                    <a:srgbClr val="FFFFFF"/>
                  </a:solidFill>
                  <a:ea typeface="DFKaiShu-GB5"/>
                  <a:cs typeface="DFKaiShu-GB5" panose="03000509000000000000" pitchFamily="65" charset="-128"/>
                </a:rPr>
                <a:t> 280 branches across 19 markets</a:t>
              </a:r>
            </a:p>
            <a:p>
              <a:pPr>
                <a:spcBef>
                  <a:spcPts val="0"/>
                </a:spcBef>
                <a:spcAft>
                  <a:spcPts val="0"/>
                </a:spcAft>
                <a:buFont typeface="Wingdings" panose="05000000000000000000" pitchFamily="2" charset="2"/>
                <a:buChar char="n"/>
                <a:defRPr/>
              </a:pPr>
              <a:r>
                <a:rPr lang="en-US" altLang="zh-CN" sz="800" b="0" dirty="0">
                  <a:solidFill>
                    <a:srgbClr val="FFFFFF"/>
                  </a:solidFill>
                  <a:ea typeface="DFKaiShu-GB5"/>
                  <a:cs typeface="DFKaiShu-GB5" panose="03000509000000000000" pitchFamily="65" charset="-128"/>
                </a:rPr>
                <a:t>DBS completed its acquisition of Citi Taiwan’s consumer banking business in August 2023 and became Taiwan’s largest foreign bank by assets  </a:t>
              </a:r>
            </a:p>
            <a:p>
              <a:pPr>
                <a:spcBef>
                  <a:spcPts val="0"/>
                </a:spcBef>
                <a:spcAft>
                  <a:spcPts val="0"/>
                </a:spcAft>
                <a:buFont typeface="Wingdings" panose="05000000000000000000" pitchFamily="2" charset="2"/>
                <a:buChar char="n"/>
                <a:defRPr/>
              </a:pPr>
              <a:r>
                <a:rPr lang="en-US" altLang="zh-CN" sz="800" b="0" dirty="0">
                  <a:solidFill>
                    <a:srgbClr val="FFFFFF"/>
                  </a:solidFill>
                  <a:ea typeface="DFKaiShu-GB5"/>
                  <a:cs typeface="DFKaiShu-GB5" panose="03000509000000000000" pitchFamily="65" charset="-128"/>
                </a:rPr>
                <a:t>DBS has consistently been at the forefront of digital banking and internet services </a:t>
              </a:r>
            </a:p>
          </p:txBody>
        </p:sp>
        <p:sp>
          <p:nvSpPr>
            <p:cNvPr id="33" name="Freeform 39">
              <a:extLst>
                <a:ext uri="{FF2B5EF4-FFF2-40B4-BE49-F238E27FC236}">
                  <a16:creationId xmlns:a16="http://schemas.microsoft.com/office/drawing/2014/main" id="{EE3A6337-ADF7-458B-8BE5-2D1E6F0922E2}"/>
                </a:ext>
              </a:extLst>
            </p:cNvPr>
            <p:cNvSpPr>
              <a:spLocks/>
            </p:cNvSpPr>
            <p:nvPr/>
          </p:nvSpPr>
          <p:spPr bwMode="auto">
            <a:xfrm>
              <a:off x="4653285" y="2128436"/>
              <a:ext cx="2282721" cy="2307436"/>
            </a:xfrm>
            <a:custGeom>
              <a:avLst/>
              <a:gdLst/>
              <a:ahLst/>
              <a:cxnLst>
                <a:cxn ang="0">
                  <a:pos x="907" y="838"/>
                </a:cxn>
                <a:cxn ang="0">
                  <a:pos x="892" y="863"/>
                </a:cxn>
                <a:cxn ang="0">
                  <a:pos x="873" y="886"/>
                </a:cxn>
                <a:cxn ang="0">
                  <a:pos x="848" y="905"/>
                </a:cxn>
                <a:cxn ang="0">
                  <a:pos x="821" y="917"/>
                </a:cxn>
                <a:cxn ang="0">
                  <a:pos x="792" y="926"/>
                </a:cxn>
                <a:cxn ang="0">
                  <a:pos x="760" y="926"/>
                </a:cxn>
                <a:cxn ang="0">
                  <a:pos x="731" y="919"/>
                </a:cxn>
                <a:cxn ang="0">
                  <a:pos x="702" y="907"/>
                </a:cxn>
                <a:cxn ang="0">
                  <a:pos x="677" y="890"/>
                </a:cxn>
                <a:cxn ang="0">
                  <a:pos x="658" y="869"/>
                </a:cxn>
                <a:cxn ang="0">
                  <a:pos x="643" y="844"/>
                </a:cxn>
                <a:cxn ang="0">
                  <a:pos x="631" y="815"/>
                </a:cxn>
                <a:cxn ang="0">
                  <a:pos x="629" y="807"/>
                </a:cxn>
                <a:cxn ang="0">
                  <a:pos x="623" y="796"/>
                </a:cxn>
                <a:cxn ang="0">
                  <a:pos x="618" y="788"/>
                </a:cxn>
                <a:cxn ang="0">
                  <a:pos x="608" y="784"/>
                </a:cxn>
                <a:cxn ang="0">
                  <a:pos x="598" y="780"/>
                </a:cxn>
                <a:cxn ang="0">
                  <a:pos x="587" y="780"/>
                </a:cxn>
                <a:cxn ang="0">
                  <a:pos x="1549" y="0"/>
                </a:cxn>
                <a:cxn ang="0">
                  <a:pos x="1549" y="209"/>
                </a:cxn>
                <a:cxn ang="0">
                  <a:pos x="1547" y="218"/>
                </a:cxn>
                <a:cxn ang="0">
                  <a:pos x="1541" y="228"/>
                </a:cxn>
                <a:cxn ang="0">
                  <a:pos x="1535" y="237"/>
                </a:cxn>
                <a:cxn ang="0">
                  <a:pos x="1526" y="241"/>
                </a:cxn>
                <a:cxn ang="0">
                  <a:pos x="1516" y="245"/>
                </a:cxn>
                <a:cxn ang="0">
                  <a:pos x="1495" y="251"/>
                </a:cxn>
                <a:cxn ang="0">
                  <a:pos x="1468" y="264"/>
                </a:cxn>
                <a:cxn ang="0">
                  <a:pos x="1445" y="285"/>
                </a:cxn>
                <a:cxn ang="0">
                  <a:pos x="1426" y="308"/>
                </a:cxn>
                <a:cxn ang="0">
                  <a:pos x="1412" y="333"/>
                </a:cxn>
                <a:cxn ang="0">
                  <a:pos x="1405" y="362"/>
                </a:cxn>
                <a:cxn ang="0">
                  <a:pos x="1403" y="393"/>
                </a:cxn>
                <a:cxn ang="0">
                  <a:pos x="1407" y="426"/>
                </a:cxn>
                <a:cxn ang="0">
                  <a:pos x="1418" y="452"/>
                </a:cxn>
                <a:cxn ang="0">
                  <a:pos x="1433" y="477"/>
                </a:cxn>
                <a:cxn ang="0">
                  <a:pos x="1454" y="500"/>
                </a:cxn>
                <a:cxn ang="0">
                  <a:pos x="1478" y="516"/>
                </a:cxn>
                <a:cxn ang="0">
                  <a:pos x="1506" y="527"/>
                </a:cxn>
                <a:cxn ang="0">
                  <a:pos x="1520" y="531"/>
                </a:cxn>
                <a:cxn ang="0">
                  <a:pos x="1529" y="535"/>
                </a:cxn>
                <a:cxn ang="0">
                  <a:pos x="1537" y="541"/>
                </a:cxn>
                <a:cxn ang="0">
                  <a:pos x="1543" y="550"/>
                </a:cxn>
                <a:cxn ang="0">
                  <a:pos x="1547" y="560"/>
                </a:cxn>
                <a:cxn ang="0">
                  <a:pos x="1549" y="573"/>
                </a:cxn>
                <a:cxn ang="0">
                  <a:pos x="959" y="780"/>
                </a:cxn>
                <a:cxn ang="0">
                  <a:pos x="948" y="780"/>
                </a:cxn>
                <a:cxn ang="0">
                  <a:pos x="938" y="784"/>
                </a:cxn>
                <a:cxn ang="0">
                  <a:pos x="929" y="788"/>
                </a:cxn>
                <a:cxn ang="0">
                  <a:pos x="923" y="796"/>
                </a:cxn>
                <a:cxn ang="0">
                  <a:pos x="917" y="807"/>
                </a:cxn>
                <a:cxn ang="0">
                  <a:pos x="915" y="815"/>
                </a:cxn>
              </a:cxnLst>
              <a:rect l="0" t="0" r="r" b="b"/>
              <a:pathLst>
                <a:path w="1549" h="928">
                  <a:moveTo>
                    <a:pt x="915" y="815"/>
                  </a:moveTo>
                  <a:lnTo>
                    <a:pt x="913" y="821"/>
                  </a:lnTo>
                  <a:lnTo>
                    <a:pt x="911" y="828"/>
                  </a:lnTo>
                  <a:lnTo>
                    <a:pt x="909" y="834"/>
                  </a:lnTo>
                  <a:lnTo>
                    <a:pt x="907" y="838"/>
                  </a:lnTo>
                  <a:lnTo>
                    <a:pt x="904" y="844"/>
                  </a:lnTo>
                  <a:lnTo>
                    <a:pt x="902" y="851"/>
                  </a:lnTo>
                  <a:lnTo>
                    <a:pt x="898" y="855"/>
                  </a:lnTo>
                  <a:lnTo>
                    <a:pt x="896" y="859"/>
                  </a:lnTo>
                  <a:lnTo>
                    <a:pt x="892" y="863"/>
                  </a:lnTo>
                  <a:lnTo>
                    <a:pt x="888" y="869"/>
                  </a:lnTo>
                  <a:lnTo>
                    <a:pt x="884" y="873"/>
                  </a:lnTo>
                  <a:lnTo>
                    <a:pt x="881" y="880"/>
                  </a:lnTo>
                  <a:lnTo>
                    <a:pt x="877" y="882"/>
                  </a:lnTo>
                  <a:lnTo>
                    <a:pt x="873" y="886"/>
                  </a:lnTo>
                  <a:lnTo>
                    <a:pt x="867" y="890"/>
                  </a:lnTo>
                  <a:lnTo>
                    <a:pt x="863" y="894"/>
                  </a:lnTo>
                  <a:lnTo>
                    <a:pt x="859" y="899"/>
                  </a:lnTo>
                  <a:lnTo>
                    <a:pt x="854" y="903"/>
                  </a:lnTo>
                  <a:lnTo>
                    <a:pt x="848" y="905"/>
                  </a:lnTo>
                  <a:lnTo>
                    <a:pt x="844" y="907"/>
                  </a:lnTo>
                  <a:lnTo>
                    <a:pt x="838" y="909"/>
                  </a:lnTo>
                  <a:lnTo>
                    <a:pt x="833" y="913"/>
                  </a:lnTo>
                  <a:lnTo>
                    <a:pt x="827" y="915"/>
                  </a:lnTo>
                  <a:lnTo>
                    <a:pt x="821" y="917"/>
                  </a:lnTo>
                  <a:lnTo>
                    <a:pt x="815" y="919"/>
                  </a:lnTo>
                  <a:lnTo>
                    <a:pt x="810" y="921"/>
                  </a:lnTo>
                  <a:lnTo>
                    <a:pt x="804" y="924"/>
                  </a:lnTo>
                  <a:lnTo>
                    <a:pt x="798" y="924"/>
                  </a:lnTo>
                  <a:lnTo>
                    <a:pt x="792" y="926"/>
                  </a:lnTo>
                  <a:lnTo>
                    <a:pt x="787" y="926"/>
                  </a:lnTo>
                  <a:lnTo>
                    <a:pt x="779" y="926"/>
                  </a:lnTo>
                  <a:lnTo>
                    <a:pt x="773" y="928"/>
                  </a:lnTo>
                  <a:lnTo>
                    <a:pt x="767" y="926"/>
                  </a:lnTo>
                  <a:lnTo>
                    <a:pt x="760" y="926"/>
                  </a:lnTo>
                  <a:lnTo>
                    <a:pt x="754" y="926"/>
                  </a:lnTo>
                  <a:lnTo>
                    <a:pt x="748" y="924"/>
                  </a:lnTo>
                  <a:lnTo>
                    <a:pt x="742" y="924"/>
                  </a:lnTo>
                  <a:lnTo>
                    <a:pt x="737" y="921"/>
                  </a:lnTo>
                  <a:lnTo>
                    <a:pt x="731" y="919"/>
                  </a:lnTo>
                  <a:lnTo>
                    <a:pt x="725" y="917"/>
                  </a:lnTo>
                  <a:lnTo>
                    <a:pt x="719" y="915"/>
                  </a:lnTo>
                  <a:lnTo>
                    <a:pt x="714" y="913"/>
                  </a:lnTo>
                  <a:lnTo>
                    <a:pt x="708" y="909"/>
                  </a:lnTo>
                  <a:lnTo>
                    <a:pt x="702" y="907"/>
                  </a:lnTo>
                  <a:lnTo>
                    <a:pt x="698" y="905"/>
                  </a:lnTo>
                  <a:lnTo>
                    <a:pt x="692" y="903"/>
                  </a:lnTo>
                  <a:lnTo>
                    <a:pt x="687" y="899"/>
                  </a:lnTo>
                  <a:lnTo>
                    <a:pt x="683" y="894"/>
                  </a:lnTo>
                  <a:lnTo>
                    <a:pt x="677" y="890"/>
                  </a:lnTo>
                  <a:lnTo>
                    <a:pt x="673" y="886"/>
                  </a:lnTo>
                  <a:lnTo>
                    <a:pt x="669" y="882"/>
                  </a:lnTo>
                  <a:lnTo>
                    <a:pt x="666" y="880"/>
                  </a:lnTo>
                  <a:lnTo>
                    <a:pt x="662" y="873"/>
                  </a:lnTo>
                  <a:lnTo>
                    <a:pt x="658" y="869"/>
                  </a:lnTo>
                  <a:lnTo>
                    <a:pt x="654" y="863"/>
                  </a:lnTo>
                  <a:lnTo>
                    <a:pt x="650" y="859"/>
                  </a:lnTo>
                  <a:lnTo>
                    <a:pt x="648" y="855"/>
                  </a:lnTo>
                  <a:lnTo>
                    <a:pt x="645" y="848"/>
                  </a:lnTo>
                  <a:lnTo>
                    <a:pt x="643" y="844"/>
                  </a:lnTo>
                  <a:lnTo>
                    <a:pt x="639" y="838"/>
                  </a:lnTo>
                  <a:lnTo>
                    <a:pt x="637" y="834"/>
                  </a:lnTo>
                  <a:lnTo>
                    <a:pt x="635" y="828"/>
                  </a:lnTo>
                  <a:lnTo>
                    <a:pt x="633" y="821"/>
                  </a:lnTo>
                  <a:lnTo>
                    <a:pt x="631" y="815"/>
                  </a:lnTo>
                  <a:lnTo>
                    <a:pt x="631" y="813"/>
                  </a:lnTo>
                  <a:lnTo>
                    <a:pt x="631" y="811"/>
                  </a:lnTo>
                  <a:lnTo>
                    <a:pt x="631" y="809"/>
                  </a:lnTo>
                  <a:lnTo>
                    <a:pt x="629" y="809"/>
                  </a:lnTo>
                  <a:lnTo>
                    <a:pt x="629" y="807"/>
                  </a:lnTo>
                  <a:lnTo>
                    <a:pt x="629" y="805"/>
                  </a:lnTo>
                  <a:lnTo>
                    <a:pt x="627" y="802"/>
                  </a:lnTo>
                  <a:lnTo>
                    <a:pt x="627" y="800"/>
                  </a:lnTo>
                  <a:lnTo>
                    <a:pt x="625" y="798"/>
                  </a:lnTo>
                  <a:lnTo>
                    <a:pt x="623" y="796"/>
                  </a:lnTo>
                  <a:lnTo>
                    <a:pt x="623" y="794"/>
                  </a:lnTo>
                  <a:lnTo>
                    <a:pt x="621" y="792"/>
                  </a:lnTo>
                  <a:lnTo>
                    <a:pt x="620" y="792"/>
                  </a:lnTo>
                  <a:lnTo>
                    <a:pt x="618" y="790"/>
                  </a:lnTo>
                  <a:lnTo>
                    <a:pt x="618" y="788"/>
                  </a:lnTo>
                  <a:lnTo>
                    <a:pt x="616" y="788"/>
                  </a:lnTo>
                  <a:lnTo>
                    <a:pt x="614" y="786"/>
                  </a:lnTo>
                  <a:lnTo>
                    <a:pt x="612" y="786"/>
                  </a:lnTo>
                  <a:lnTo>
                    <a:pt x="610" y="786"/>
                  </a:lnTo>
                  <a:lnTo>
                    <a:pt x="608" y="784"/>
                  </a:lnTo>
                  <a:lnTo>
                    <a:pt x="606" y="784"/>
                  </a:lnTo>
                  <a:lnTo>
                    <a:pt x="604" y="782"/>
                  </a:lnTo>
                  <a:lnTo>
                    <a:pt x="602" y="782"/>
                  </a:lnTo>
                  <a:lnTo>
                    <a:pt x="600" y="782"/>
                  </a:lnTo>
                  <a:lnTo>
                    <a:pt x="598" y="780"/>
                  </a:lnTo>
                  <a:lnTo>
                    <a:pt x="597" y="780"/>
                  </a:lnTo>
                  <a:lnTo>
                    <a:pt x="593" y="780"/>
                  </a:lnTo>
                  <a:lnTo>
                    <a:pt x="591" y="780"/>
                  </a:lnTo>
                  <a:lnTo>
                    <a:pt x="589" y="780"/>
                  </a:lnTo>
                  <a:lnTo>
                    <a:pt x="587" y="780"/>
                  </a:lnTo>
                  <a:lnTo>
                    <a:pt x="583" y="780"/>
                  </a:lnTo>
                  <a:lnTo>
                    <a:pt x="382" y="780"/>
                  </a:lnTo>
                  <a:lnTo>
                    <a:pt x="0" y="780"/>
                  </a:lnTo>
                  <a:lnTo>
                    <a:pt x="0" y="0"/>
                  </a:lnTo>
                  <a:lnTo>
                    <a:pt x="1549" y="0"/>
                  </a:lnTo>
                  <a:lnTo>
                    <a:pt x="1549" y="199"/>
                  </a:lnTo>
                  <a:lnTo>
                    <a:pt x="1549" y="201"/>
                  </a:lnTo>
                  <a:lnTo>
                    <a:pt x="1549" y="203"/>
                  </a:lnTo>
                  <a:lnTo>
                    <a:pt x="1549" y="205"/>
                  </a:lnTo>
                  <a:lnTo>
                    <a:pt x="1549" y="209"/>
                  </a:lnTo>
                  <a:lnTo>
                    <a:pt x="1549" y="213"/>
                  </a:lnTo>
                  <a:lnTo>
                    <a:pt x="1549" y="214"/>
                  </a:lnTo>
                  <a:lnTo>
                    <a:pt x="1547" y="214"/>
                  </a:lnTo>
                  <a:lnTo>
                    <a:pt x="1547" y="216"/>
                  </a:lnTo>
                  <a:lnTo>
                    <a:pt x="1547" y="218"/>
                  </a:lnTo>
                  <a:lnTo>
                    <a:pt x="1545" y="220"/>
                  </a:lnTo>
                  <a:lnTo>
                    <a:pt x="1545" y="222"/>
                  </a:lnTo>
                  <a:lnTo>
                    <a:pt x="1543" y="224"/>
                  </a:lnTo>
                  <a:lnTo>
                    <a:pt x="1543" y="226"/>
                  </a:lnTo>
                  <a:lnTo>
                    <a:pt x="1541" y="228"/>
                  </a:lnTo>
                  <a:lnTo>
                    <a:pt x="1539" y="230"/>
                  </a:lnTo>
                  <a:lnTo>
                    <a:pt x="1539" y="232"/>
                  </a:lnTo>
                  <a:lnTo>
                    <a:pt x="1537" y="234"/>
                  </a:lnTo>
                  <a:lnTo>
                    <a:pt x="1535" y="234"/>
                  </a:lnTo>
                  <a:lnTo>
                    <a:pt x="1535" y="237"/>
                  </a:lnTo>
                  <a:lnTo>
                    <a:pt x="1533" y="239"/>
                  </a:lnTo>
                  <a:lnTo>
                    <a:pt x="1531" y="239"/>
                  </a:lnTo>
                  <a:lnTo>
                    <a:pt x="1529" y="239"/>
                  </a:lnTo>
                  <a:lnTo>
                    <a:pt x="1527" y="241"/>
                  </a:lnTo>
                  <a:lnTo>
                    <a:pt x="1526" y="241"/>
                  </a:lnTo>
                  <a:lnTo>
                    <a:pt x="1524" y="243"/>
                  </a:lnTo>
                  <a:lnTo>
                    <a:pt x="1522" y="243"/>
                  </a:lnTo>
                  <a:lnTo>
                    <a:pt x="1520" y="243"/>
                  </a:lnTo>
                  <a:lnTo>
                    <a:pt x="1518" y="245"/>
                  </a:lnTo>
                  <a:lnTo>
                    <a:pt x="1516" y="245"/>
                  </a:lnTo>
                  <a:lnTo>
                    <a:pt x="1514" y="245"/>
                  </a:lnTo>
                  <a:lnTo>
                    <a:pt x="1512" y="245"/>
                  </a:lnTo>
                  <a:lnTo>
                    <a:pt x="1506" y="247"/>
                  </a:lnTo>
                  <a:lnTo>
                    <a:pt x="1501" y="249"/>
                  </a:lnTo>
                  <a:lnTo>
                    <a:pt x="1495" y="251"/>
                  </a:lnTo>
                  <a:lnTo>
                    <a:pt x="1489" y="253"/>
                  </a:lnTo>
                  <a:lnTo>
                    <a:pt x="1483" y="257"/>
                  </a:lnTo>
                  <a:lnTo>
                    <a:pt x="1479" y="261"/>
                  </a:lnTo>
                  <a:lnTo>
                    <a:pt x="1474" y="262"/>
                  </a:lnTo>
                  <a:lnTo>
                    <a:pt x="1468" y="264"/>
                  </a:lnTo>
                  <a:lnTo>
                    <a:pt x="1464" y="268"/>
                  </a:lnTo>
                  <a:lnTo>
                    <a:pt x="1458" y="272"/>
                  </a:lnTo>
                  <a:lnTo>
                    <a:pt x="1454" y="276"/>
                  </a:lnTo>
                  <a:lnTo>
                    <a:pt x="1449" y="280"/>
                  </a:lnTo>
                  <a:lnTo>
                    <a:pt x="1445" y="285"/>
                  </a:lnTo>
                  <a:lnTo>
                    <a:pt x="1441" y="287"/>
                  </a:lnTo>
                  <a:lnTo>
                    <a:pt x="1437" y="293"/>
                  </a:lnTo>
                  <a:lnTo>
                    <a:pt x="1433" y="297"/>
                  </a:lnTo>
                  <a:lnTo>
                    <a:pt x="1430" y="301"/>
                  </a:lnTo>
                  <a:lnTo>
                    <a:pt x="1426" y="308"/>
                  </a:lnTo>
                  <a:lnTo>
                    <a:pt x="1424" y="312"/>
                  </a:lnTo>
                  <a:lnTo>
                    <a:pt x="1420" y="316"/>
                  </a:lnTo>
                  <a:lnTo>
                    <a:pt x="1418" y="322"/>
                  </a:lnTo>
                  <a:lnTo>
                    <a:pt x="1414" y="328"/>
                  </a:lnTo>
                  <a:lnTo>
                    <a:pt x="1412" y="333"/>
                  </a:lnTo>
                  <a:lnTo>
                    <a:pt x="1410" y="339"/>
                  </a:lnTo>
                  <a:lnTo>
                    <a:pt x="1408" y="345"/>
                  </a:lnTo>
                  <a:lnTo>
                    <a:pt x="1407" y="351"/>
                  </a:lnTo>
                  <a:lnTo>
                    <a:pt x="1405" y="358"/>
                  </a:lnTo>
                  <a:lnTo>
                    <a:pt x="1405" y="362"/>
                  </a:lnTo>
                  <a:lnTo>
                    <a:pt x="1403" y="368"/>
                  </a:lnTo>
                  <a:lnTo>
                    <a:pt x="1403" y="374"/>
                  </a:lnTo>
                  <a:lnTo>
                    <a:pt x="1403" y="381"/>
                  </a:lnTo>
                  <a:lnTo>
                    <a:pt x="1401" y="387"/>
                  </a:lnTo>
                  <a:lnTo>
                    <a:pt x="1403" y="393"/>
                  </a:lnTo>
                  <a:lnTo>
                    <a:pt x="1403" y="402"/>
                  </a:lnTo>
                  <a:lnTo>
                    <a:pt x="1403" y="406"/>
                  </a:lnTo>
                  <a:lnTo>
                    <a:pt x="1405" y="412"/>
                  </a:lnTo>
                  <a:lnTo>
                    <a:pt x="1405" y="418"/>
                  </a:lnTo>
                  <a:lnTo>
                    <a:pt x="1407" y="426"/>
                  </a:lnTo>
                  <a:lnTo>
                    <a:pt x="1408" y="429"/>
                  </a:lnTo>
                  <a:lnTo>
                    <a:pt x="1410" y="435"/>
                  </a:lnTo>
                  <a:lnTo>
                    <a:pt x="1412" y="441"/>
                  </a:lnTo>
                  <a:lnTo>
                    <a:pt x="1414" y="447"/>
                  </a:lnTo>
                  <a:lnTo>
                    <a:pt x="1418" y="452"/>
                  </a:lnTo>
                  <a:lnTo>
                    <a:pt x="1420" y="458"/>
                  </a:lnTo>
                  <a:lnTo>
                    <a:pt x="1424" y="462"/>
                  </a:lnTo>
                  <a:lnTo>
                    <a:pt x="1426" y="468"/>
                  </a:lnTo>
                  <a:lnTo>
                    <a:pt x="1430" y="475"/>
                  </a:lnTo>
                  <a:lnTo>
                    <a:pt x="1433" y="477"/>
                  </a:lnTo>
                  <a:lnTo>
                    <a:pt x="1437" y="481"/>
                  </a:lnTo>
                  <a:lnTo>
                    <a:pt x="1441" y="487"/>
                  </a:lnTo>
                  <a:lnTo>
                    <a:pt x="1445" y="491"/>
                  </a:lnTo>
                  <a:lnTo>
                    <a:pt x="1449" y="497"/>
                  </a:lnTo>
                  <a:lnTo>
                    <a:pt x="1454" y="500"/>
                  </a:lnTo>
                  <a:lnTo>
                    <a:pt x="1458" y="502"/>
                  </a:lnTo>
                  <a:lnTo>
                    <a:pt x="1464" y="506"/>
                  </a:lnTo>
                  <a:lnTo>
                    <a:pt x="1468" y="510"/>
                  </a:lnTo>
                  <a:lnTo>
                    <a:pt x="1474" y="512"/>
                  </a:lnTo>
                  <a:lnTo>
                    <a:pt x="1478" y="516"/>
                  </a:lnTo>
                  <a:lnTo>
                    <a:pt x="1483" y="518"/>
                  </a:lnTo>
                  <a:lnTo>
                    <a:pt x="1489" y="523"/>
                  </a:lnTo>
                  <a:lnTo>
                    <a:pt x="1495" y="525"/>
                  </a:lnTo>
                  <a:lnTo>
                    <a:pt x="1501" y="525"/>
                  </a:lnTo>
                  <a:lnTo>
                    <a:pt x="1506" y="527"/>
                  </a:lnTo>
                  <a:lnTo>
                    <a:pt x="1512" y="529"/>
                  </a:lnTo>
                  <a:lnTo>
                    <a:pt x="1514" y="529"/>
                  </a:lnTo>
                  <a:lnTo>
                    <a:pt x="1516" y="529"/>
                  </a:lnTo>
                  <a:lnTo>
                    <a:pt x="1518" y="529"/>
                  </a:lnTo>
                  <a:lnTo>
                    <a:pt x="1520" y="531"/>
                  </a:lnTo>
                  <a:lnTo>
                    <a:pt x="1522" y="531"/>
                  </a:lnTo>
                  <a:lnTo>
                    <a:pt x="1524" y="531"/>
                  </a:lnTo>
                  <a:lnTo>
                    <a:pt x="1526" y="533"/>
                  </a:lnTo>
                  <a:lnTo>
                    <a:pt x="1527" y="533"/>
                  </a:lnTo>
                  <a:lnTo>
                    <a:pt x="1529" y="535"/>
                  </a:lnTo>
                  <a:lnTo>
                    <a:pt x="1531" y="537"/>
                  </a:lnTo>
                  <a:lnTo>
                    <a:pt x="1533" y="537"/>
                  </a:lnTo>
                  <a:lnTo>
                    <a:pt x="1535" y="539"/>
                  </a:lnTo>
                  <a:lnTo>
                    <a:pt x="1535" y="541"/>
                  </a:lnTo>
                  <a:lnTo>
                    <a:pt x="1537" y="541"/>
                  </a:lnTo>
                  <a:lnTo>
                    <a:pt x="1539" y="544"/>
                  </a:lnTo>
                  <a:lnTo>
                    <a:pt x="1539" y="546"/>
                  </a:lnTo>
                  <a:lnTo>
                    <a:pt x="1541" y="548"/>
                  </a:lnTo>
                  <a:lnTo>
                    <a:pt x="1543" y="548"/>
                  </a:lnTo>
                  <a:lnTo>
                    <a:pt x="1543" y="550"/>
                  </a:lnTo>
                  <a:lnTo>
                    <a:pt x="1545" y="552"/>
                  </a:lnTo>
                  <a:lnTo>
                    <a:pt x="1545" y="554"/>
                  </a:lnTo>
                  <a:lnTo>
                    <a:pt x="1547" y="556"/>
                  </a:lnTo>
                  <a:lnTo>
                    <a:pt x="1547" y="558"/>
                  </a:lnTo>
                  <a:lnTo>
                    <a:pt x="1547" y="560"/>
                  </a:lnTo>
                  <a:lnTo>
                    <a:pt x="1549" y="562"/>
                  </a:lnTo>
                  <a:lnTo>
                    <a:pt x="1549" y="564"/>
                  </a:lnTo>
                  <a:lnTo>
                    <a:pt x="1549" y="567"/>
                  </a:lnTo>
                  <a:lnTo>
                    <a:pt x="1549" y="571"/>
                  </a:lnTo>
                  <a:lnTo>
                    <a:pt x="1549" y="573"/>
                  </a:lnTo>
                  <a:lnTo>
                    <a:pt x="1549" y="575"/>
                  </a:lnTo>
                  <a:lnTo>
                    <a:pt x="1549" y="780"/>
                  </a:lnTo>
                  <a:lnTo>
                    <a:pt x="1165" y="780"/>
                  </a:lnTo>
                  <a:lnTo>
                    <a:pt x="963" y="780"/>
                  </a:lnTo>
                  <a:lnTo>
                    <a:pt x="959" y="780"/>
                  </a:lnTo>
                  <a:lnTo>
                    <a:pt x="957" y="780"/>
                  </a:lnTo>
                  <a:lnTo>
                    <a:pt x="955" y="780"/>
                  </a:lnTo>
                  <a:lnTo>
                    <a:pt x="954" y="780"/>
                  </a:lnTo>
                  <a:lnTo>
                    <a:pt x="950" y="780"/>
                  </a:lnTo>
                  <a:lnTo>
                    <a:pt x="948" y="780"/>
                  </a:lnTo>
                  <a:lnTo>
                    <a:pt x="946" y="782"/>
                  </a:lnTo>
                  <a:lnTo>
                    <a:pt x="944" y="782"/>
                  </a:lnTo>
                  <a:lnTo>
                    <a:pt x="942" y="782"/>
                  </a:lnTo>
                  <a:lnTo>
                    <a:pt x="940" y="784"/>
                  </a:lnTo>
                  <a:lnTo>
                    <a:pt x="938" y="784"/>
                  </a:lnTo>
                  <a:lnTo>
                    <a:pt x="936" y="786"/>
                  </a:lnTo>
                  <a:lnTo>
                    <a:pt x="934" y="786"/>
                  </a:lnTo>
                  <a:lnTo>
                    <a:pt x="932" y="786"/>
                  </a:lnTo>
                  <a:lnTo>
                    <a:pt x="930" y="788"/>
                  </a:lnTo>
                  <a:lnTo>
                    <a:pt x="929" y="788"/>
                  </a:lnTo>
                  <a:lnTo>
                    <a:pt x="929" y="790"/>
                  </a:lnTo>
                  <a:lnTo>
                    <a:pt x="927" y="792"/>
                  </a:lnTo>
                  <a:lnTo>
                    <a:pt x="925" y="792"/>
                  </a:lnTo>
                  <a:lnTo>
                    <a:pt x="923" y="794"/>
                  </a:lnTo>
                  <a:lnTo>
                    <a:pt x="923" y="796"/>
                  </a:lnTo>
                  <a:lnTo>
                    <a:pt x="921" y="798"/>
                  </a:lnTo>
                  <a:lnTo>
                    <a:pt x="919" y="800"/>
                  </a:lnTo>
                  <a:lnTo>
                    <a:pt x="919" y="802"/>
                  </a:lnTo>
                  <a:lnTo>
                    <a:pt x="917" y="805"/>
                  </a:lnTo>
                  <a:lnTo>
                    <a:pt x="917" y="807"/>
                  </a:lnTo>
                  <a:lnTo>
                    <a:pt x="917" y="809"/>
                  </a:lnTo>
                  <a:lnTo>
                    <a:pt x="915" y="809"/>
                  </a:lnTo>
                  <a:lnTo>
                    <a:pt x="915" y="811"/>
                  </a:lnTo>
                  <a:lnTo>
                    <a:pt x="915" y="813"/>
                  </a:lnTo>
                  <a:lnTo>
                    <a:pt x="915" y="815"/>
                  </a:lnTo>
                  <a:close/>
                </a:path>
              </a:pathLst>
            </a:custGeom>
            <a:solidFill>
              <a:srgbClr val="800000"/>
            </a:solidFill>
            <a:ln w="9525" cap="flat" cmpd="sng" algn="ctr">
              <a:noFill/>
              <a:prstDash val="solid"/>
              <a:round/>
              <a:headEnd type="none" w="med" len="med"/>
              <a:tailEnd type="none" w="med" len="med"/>
            </a:ln>
            <a:effectLst>
              <a:outerShdw blurRad="50800" dist="12700" dir="5400000" algn="t" rotWithShape="0">
                <a:prstClr val="black">
                  <a:alpha val="40000"/>
                </a:prstClr>
              </a:outerShdw>
            </a:effectLst>
            <a:scene3d>
              <a:camera prst="orthographicFront"/>
              <a:lightRig rig="balanced" dir="t"/>
            </a:scene3d>
            <a:sp3d prstMaterial="plastic">
              <a:bevelT w="6350000" h="127000"/>
              <a:bevelB w="0" h="0"/>
            </a:sp3d>
          </p:spPr>
          <p:txBody>
            <a:bodyPr wrap="none" lIns="42203" rIns="42203" anchor="ctr"/>
            <a:lstStyle/>
            <a:p>
              <a:pPr marL="109907" indent="-109907" algn="ctr" eaLnBrk="0" hangingPunct="0">
                <a:defRPr/>
              </a:pPr>
              <a:endParaRPr lang="en-US" altLang="en-US" sz="1662">
                <a:solidFill>
                  <a:srgbClr val="FFFFFF"/>
                </a:solidFill>
                <a:latin typeface="Arial" panose="020B0604020202020204" pitchFamily="34" charset="0"/>
                <a:ea typeface="DFKaiShu-GB5"/>
                <a:cs typeface="DFKaiShuW5-B5" pitchFamily="65" charset="-128"/>
              </a:endParaRPr>
            </a:p>
          </p:txBody>
        </p:sp>
        <p:sp>
          <p:nvSpPr>
            <p:cNvPr id="34" name="Freeform 40">
              <a:extLst>
                <a:ext uri="{FF2B5EF4-FFF2-40B4-BE49-F238E27FC236}">
                  <a16:creationId xmlns:a16="http://schemas.microsoft.com/office/drawing/2014/main" id="{78F07DF4-C0B4-4FE4-9A4A-19785398637D}"/>
                </a:ext>
              </a:extLst>
            </p:cNvPr>
            <p:cNvSpPr>
              <a:spLocks/>
            </p:cNvSpPr>
            <p:nvPr/>
          </p:nvSpPr>
          <p:spPr bwMode="auto">
            <a:xfrm>
              <a:off x="4653281" y="4067884"/>
              <a:ext cx="2502298" cy="1936953"/>
            </a:xfrm>
            <a:custGeom>
              <a:avLst/>
              <a:gdLst/>
              <a:ahLst/>
              <a:cxnLst>
                <a:cxn ang="0">
                  <a:pos x="1610" y="524"/>
                </a:cxn>
                <a:cxn ang="0">
                  <a:pos x="1635" y="507"/>
                </a:cxn>
                <a:cxn ang="0">
                  <a:pos x="1658" y="488"/>
                </a:cxn>
                <a:cxn ang="0">
                  <a:pos x="1675" y="463"/>
                </a:cxn>
                <a:cxn ang="0">
                  <a:pos x="1689" y="436"/>
                </a:cxn>
                <a:cxn ang="0">
                  <a:pos x="1696" y="409"/>
                </a:cxn>
                <a:cxn ang="0">
                  <a:pos x="1696" y="375"/>
                </a:cxn>
                <a:cxn ang="0">
                  <a:pos x="1691" y="346"/>
                </a:cxn>
                <a:cxn ang="0">
                  <a:pos x="1679" y="317"/>
                </a:cxn>
                <a:cxn ang="0">
                  <a:pos x="1662" y="294"/>
                </a:cxn>
                <a:cxn ang="0">
                  <a:pos x="1641" y="273"/>
                </a:cxn>
                <a:cxn ang="0">
                  <a:pos x="1616" y="258"/>
                </a:cxn>
                <a:cxn ang="0">
                  <a:pos x="1587" y="246"/>
                </a:cxn>
                <a:cxn ang="0">
                  <a:pos x="1577" y="244"/>
                </a:cxn>
                <a:cxn ang="0">
                  <a:pos x="1568" y="240"/>
                </a:cxn>
                <a:cxn ang="0">
                  <a:pos x="1560" y="233"/>
                </a:cxn>
                <a:cxn ang="0">
                  <a:pos x="1554" y="223"/>
                </a:cxn>
                <a:cxn ang="0">
                  <a:pos x="1550" y="215"/>
                </a:cxn>
                <a:cxn ang="0">
                  <a:pos x="1550" y="202"/>
                </a:cxn>
                <a:cxn ang="0">
                  <a:pos x="963" y="0"/>
                </a:cxn>
                <a:cxn ang="0">
                  <a:pos x="950" y="0"/>
                </a:cxn>
                <a:cxn ang="0">
                  <a:pos x="940" y="4"/>
                </a:cxn>
                <a:cxn ang="0">
                  <a:pos x="930" y="8"/>
                </a:cxn>
                <a:cxn ang="0">
                  <a:pos x="923" y="14"/>
                </a:cxn>
                <a:cxn ang="0">
                  <a:pos x="917" y="25"/>
                </a:cxn>
                <a:cxn ang="0">
                  <a:pos x="915" y="33"/>
                </a:cxn>
                <a:cxn ang="0">
                  <a:pos x="907" y="58"/>
                </a:cxn>
                <a:cxn ang="0">
                  <a:pos x="892" y="83"/>
                </a:cxn>
                <a:cxn ang="0">
                  <a:pos x="873" y="106"/>
                </a:cxn>
                <a:cxn ang="0">
                  <a:pos x="848" y="125"/>
                </a:cxn>
                <a:cxn ang="0">
                  <a:pos x="821" y="137"/>
                </a:cxn>
                <a:cxn ang="0">
                  <a:pos x="792" y="146"/>
                </a:cxn>
                <a:cxn ang="0">
                  <a:pos x="760" y="146"/>
                </a:cxn>
                <a:cxn ang="0">
                  <a:pos x="731" y="139"/>
                </a:cxn>
                <a:cxn ang="0">
                  <a:pos x="702" y="127"/>
                </a:cxn>
                <a:cxn ang="0">
                  <a:pos x="677" y="110"/>
                </a:cxn>
                <a:cxn ang="0">
                  <a:pos x="658" y="89"/>
                </a:cxn>
                <a:cxn ang="0">
                  <a:pos x="643" y="64"/>
                </a:cxn>
                <a:cxn ang="0">
                  <a:pos x="631" y="35"/>
                </a:cxn>
                <a:cxn ang="0">
                  <a:pos x="629" y="27"/>
                </a:cxn>
                <a:cxn ang="0">
                  <a:pos x="623" y="16"/>
                </a:cxn>
                <a:cxn ang="0">
                  <a:pos x="618" y="8"/>
                </a:cxn>
                <a:cxn ang="0">
                  <a:pos x="608" y="4"/>
                </a:cxn>
                <a:cxn ang="0">
                  <a:pos x="598" y="0"/>
                </a:cxn>
                <a:cxn ang="0">
                  <a:pos x="587" y="0"/>
                </a:cxn>
                <a:cxn ang="0">
                  <a:pos x="382" y="777"/>
                </a:cxn>
                <a:cxn ang="0">
                  <a:pos x="573" y="779"/>
                </a:cxn>
                <a:cxn ang="0">
                  <a:pos x="735" y="779"/>
                </a:cxn>
                <a:cxn ang="0">
                  <a:pos x="884" y="779"/>
                </a:cxn>
                <a:cxn ang="0">
                  <a:pos x="1040" y="779"/>
                </a:cxn>
                <a:cxn ang="0">
                  <a:pos x="1220" y="779"/>
                </a:cxn>
                <a:cxn ang="0">
                  <a:pos x="1443" y="779"/>
                </a:cxn>
                <a:cxn ang="0">
                  <a:pos x="1550" y="576"/>
                </a:cxn>
                <a:cxn ang="0">
                  <a:pos x="1550" y="563"/>
                </a:cxn>
                <a:cxn ang="0">
                  <a:pos x="1554" y="553"/>
                </a:cxn>
                <a:cxn ang="0">
                  <a:pos x="1560" y="545"/>
                </a:cxn>
                <a:cxn ang="0">
                  <a:pos x="1568" y="538"/>
                </a:cxn>
                <a:cxn ang="0">
                  <a:pos x="1577" y="532"/>
                </a:cxn>
                <a:cxn ang="0">
                  <a:pos x="1587" y="530"/>
                </a:cxn>
              </a:cxnLst>
              <a:rect l="0" t="0" r="r" b="b"/>
              <a:pathLst>
                <a:path w="1698" h="779">
                  <a:moveTo>
                    <a:pt x="1587" y="530"/>
                  </a:moveTo>
                  <a:lnTo>
                    <a:pt x="1593" y="530"/>
                  </a:lnTo>
                  <a:lnTo>
                    <a:pt x="1598" y="528"/>
                  </a:lnTo>
                  <a:lnTo>
                    <a:pt x="1604" y="526"/>
                  </a:lnTo>
                  <a:lnTo>
                    <a:pt x="1610" y="524"/>
                  </a:lnTo>
                  <a:lnTo>
                    <a:pt x="1616" y="518"/>
                  </a:lnTo>
                  <a:lnTo>
                    <a:pt x="1621" y="517"/>
                  </a:lnTo>
                  <a:lnTo>
                    <a:pt x="1625" y="513"/>
                  </a:lnTo>
                  <a:lnTo>
                    <a:pt x="1631" y="511"/>
                  </a:lnTo>
                  <a:lnTo>
                    <a:pt x="1635" y="507"/>
                  </a:lnTo>
                  <a:lnTo>
                    <a:pt x="1641" y="505"/>
                  </a:lnTo>
                  <a:lnTo>
                    <a:pt x="1645" y="501"/>
                  </a:lnTo>
                  <a:lnTo>
                    <a:pt x="1650" y="495"/>
                  </a:lnTo>
                  <a:lnTo>
                    <a:pt x="1654" y="492"/>
                  </a:lnTo>
                  <a:lnTo>
                    <a:pt x="1658" y="488"/>
                  </a:lnTo>
                  <a:lnTo>
                    <a:pt x="1662" y="482"/>
                  </a:lnTo>
                  <a:lnTo>
                    <a:pt x="1666" y="480"/>
                  </a:lnTo>
                  <a:lnTo>
                    <a:pt x="1669" y="476"/>
                  </a:lnTo>
                  <a:lnTo>
                    <a:pt x="1673" y="469"/>
                  </a:lnTo>
                  <a:lnTo>
                    <a:pt x="1675" y="463"/>
                  </a:lnTo>
                  <a:lnTo>
                    <a:pt x="1679" y="459"/>
                  </a:lnTo>
                  <a:lnTo>
                    <a:pt x="1681" y="455"/>
                  </a:lnTo>
                  <a:lnTo>
                    <a:pt x="1685" y="447"/>
                  </a:lnTo>
                  <a:lnTo>
                    <a:pt x="1687" y="442"/>
                  </a:lnTo>
                  <a:lnTo>
                    <a:pt x="1689" y="436"/>
                  </a:lnTo>
                  <a:lnTo>
                    <a:pt x="1691" y="432"/>
                  </a:lnTo>
                  <a:lnTo>
                    <a:pt x="1692" y="424"/>
                  </a:lnTo>
                  <a:lnTo>
                    <a:pt x="1694" y="419"/>
                  </a:lnTo>
                  <a:lnTo>
                    <a:pt x="1694" y="413"/>
                  </a:lnTo>
                  <a:lnTo>
                    <a:pt x="1696" y="409"/>
                  </a:lnTo>
                  <a:lnTo>
                    <a:pt x="1696" y="403"/>
                  </a:lnTo>
                  <a:lnTo>
                    <a:pt x="1696" y="394"/>
                  </a:lnTo>
                  <a:lnTo>
                    <a:pt x="1698" y="388"/>
                  </a:lnTo>
                  <a:lnTo>
                    <a:pt x="1696" y="384"/>
                  </a:lnTo>
                  <a:lnTo>
                    <a:pt x="1696" y="375"/>
                  </a:lnTo>
                  <a:lnTo>
                    <a:pt x="1696" y="369"/>
                  </a:lnTo>
                  <a:lnTo>
                    <a:pt x="1694" y="363"/>
                  </a:lnTo>
                  <a:lnTo>
                    <a:pt x="1694" y="359"/>
                  </a:lnTo>
                  <a:lnTo>
                    <a:pt x="1692" y="352"/>
                  </a:lnTo>
                  <a:lnTo>
                    <a:pt x="1691" y="346"/>
                  </a:lnTo>
                  <a:lnTo>
                    <a:pt x="1689" y="340"/>
                  </a:lnTo>
                  <a:lnTo>
                    <a:pt x="1687" y="336"/>
                  </a:lnTo>
                  <a:lnTo>
                    <a:pt x="1685" y="329"/>
                  </a:lnTo>
                  <a:lnTo>
                    <a:pt x="1681" y="323"/>
                  </a:lnTo>
                  <a:lnTo>
                    <a:pt x="1679" y="317"/>
                  </a:lnTo>
                  <a:lnTo>
                    <a:pt x="1675" y="315"/>
                  </a:lnTo>
                  <a:lnTo>
                    <a:pt x="1673" y="309"/>
                  </a:lnTo>
                  <a:lnTo>
                    <a:pt x="1669" y="302"/>
                  </a:lnTo>
                  <a:lnTo>
                    <a:pt x="1666" y="298"/>
                  </a:lnTo>
                  <a:lnTo>
                    <a:pt x="1662" y="294"/>
                  </a:lnTo>
                  <a:lnTo>
                    <a:pt x="1658" y="290"/>
                  </a:lnTo>
                  <a:lnTo>
                    <a:pt x="1654" y="286"/>
                  </a:lnTo>
                  <a:lnTo>
                    <a:pt x="1650" y="281"/>
                  </a:lnTo>
                  <a:lnTo>
                    <a:pt x="1645" y="277"/>
                  </a:lnTo>
                  <a:lnTo>
                    <a:pt x="1641" y="273"/>
                  </a:lnTo>
                  <a:lnTo>
                    <a:pt x="1635" y="269"/>
                  </a:lnTo>
                  <a:lnTo>
                    <a:pt x="1631" y="267"/>
                  </a:lnTo>
                  <a:lnTo>
                    <a:pt x="1625" y="265"/>
                  </a:lnTo>
                  <a:lnTo>
                    <a:pt x="1620" y="261"/>
                  </a:lnTo>
                  <a:lnTo>
                    <a:pt x="1616" y="258"/>
                  </a:lnTo>
                  <a:lnTo>
                    <a:pt x="1610" y="254"/>
                  </a:lnTo>
                  <a:lnTo>
                    <a:pt x="1604" y="252"/>
                  </a:lnTo>
                  <a:lnTo>
                    <a:pt x="1598" y="250"/>
                  </a:lnTo>
                  <a:lnTo>
                    <a:pt x="1593" y="248"/>
                  </a:lnTo>
                  <a:lnTo>
                    <a:pt x="1587" y="246"/>
                  </a:lnTo>
                  <a:lnTo>
                    <a:pt x="1585" y="246"/>
                  </a:lnTo>
                  <a:lnTo>
                    <a:pt x="1583" y="246"/>
                  </a:lnTo>
                  <a:lnTo>
                    <a:pt x="1581" y="246"/>
                  </a:lnTo>
                  <a:lnTo>
                    <a:pt x="1579" y="244"/>
                  </a:lnTo>
                  <a:lnTo>
                    <a:pt x="1577" y="244"/>
                  </a:lnTo>
                  <a:lnTo>
                    <a:pt x="1575" y="244"/>
                  </a:lnTo>
                  <a:lnTo>
                    <a:pt x="1573" y="244"/>
                  </a:lnTo>
                  <a:lnTo>
                    <a:pt x="1572" y="244"/>
                  </a:lnTo>
                  <a:lnTo>
                    <a:pt x="1570" y="242"/>
                  </a:lnTo>
                  <a:lnTo>
                    <a:pt x="1568" y="240"/>
                  </a:lnTo>
                  <a:lnTo>
                    <a:pt x="1566" y="240"/>
                  </a:lnTo>
                  <a:lnTo>
                    <a:pt x="1564" y="238"/>
                  </a:lnTo>
                  <a:lnTo>
                    <a:pt x="1564" y="235"/>
                  </a:lnTo>
                  <a:lnTo>
                    <a:pt x="1562" y="233"/>
                  </a:lnTo>
                  <a:lnTo>
                    <a:pt x="1560" y="233"/>
                  </a:lnTo>
                  <a:lnTo>
                    <a:pt x="1560" y="231"/>
                  </a:lnTo>
                  <a:lnTo>
                    <a:pt x="1558" y="229"/>
                  </a:lnTo>
                  <a:lnTo>
                    <a:pt x="1556" y="227"/>
                  </a:lnTo>
                  <a:lnTo>
                    <a:pt x="1556" y="225"/>
                  </a:lnTo>
                  <a:lnTo>
                    <a:pt x="1554" y="223"/>
                  </a:lnTo>
                  <a:lnTo>
                    <a:pt x="1554" y="221"/>
                  </a:lnTo>
                  <a:lnTo>
                    <a:pt x="1552" y="221"/>
                  </a:lnTo>
                  <a:lnTo>
                    <a:pt x="1552" y="219"/>
                  </a:lnTo>
                  <a:lnTo>
                    <a:pt x="1552" y="217"/>
                  </a:lnTo>
                  <a:lnTo>
                    <a:pt x="1550" y="215"/>
                  </a:lnTo>
                  <a:lnTo>
                    <a:pt x="1550" y="212"/>
                  </a:lnTo>
                  <a:lnTo>
                    <a:pt x="1550" y="208"/>
                  </a:lnTo>
                  <a:lnTo>
                    <a:pt x="1550" y="206"/>
                  </a:lnTo>
                  <a:lnTo>
                    <a:pt x="1550" y="204"/>
                  </a:lnTo>
                  <a:lnTo>
                    <a:pt x="1550" y="202"/>
                  </a:lnTo>
                  <a:lnTo>
                    <a:pt x="1549" y="200"/>
                  </a:lnTo>
                  <a:lnTo>
                    <a:pt x="1549" y="0"/>
                  </a:lnTo>
                  <a:lnTo>
                    <a:pt x="1343" y="0"/>
                  </a:lnTo>
                  <a:lnTo>
                    <a:pt x="1165" y="0"/>
                  </a:lnTo>
                  <a:lnTo>
                    <a:pt x="963" y="0"/>
                  </a:lnTo>
                  <a:lnTo>
                    <a:pt x="959" y="0"/>
                  </a:lnTo>
                  <a:lnTo>
                    <a:pt x="957" y="0"/>
                  </a:lnTo>
                  <a:lnTo>
                    <a:pt x="955" y="0"/>
                  </a:lnTo>
                  <a:lnTo>
                    <a:pt x="954" y="0"/>
                  </a:lnTo>
                  <a:lnTo>
                    <a:pt x="950" y="0"/>
                  </a:lnTo>
                  <a:lnTo>
                    <a:pt x="948" y="0"/>
                  </a:lnTo>
                  <a:lnTo>
                    <a:pt x="946" y="2"/>
                  </a:lnTo>
                  <a:lnTo>
                    <a:pt x="944" y="2"/>
                  </a:lnTo>
                  <a:lnTo>
                    <a:pt x="942" y="2"/>
                  </a:lnTo>
                  <a:lnTo>
                    <a:pt x="940" y="4"/>
                  </a:lnTo>
                  <a:lnTo>
                    <a:pt x="938" y="4"/>
                  </a:lnTo>
                  <a:lnTo>
                    <a:pt x="936" y="6"/>
                  </a:lnTo>
                  <a:lnTo>
                    <a:pt x="934" y="6"/>
                  </a:lnTo>
                  <a:lnTo>
                    <a:pt x="932" y="6"/>
                  </a:lnTo>
                  <a:lnTo>
                    <a:pt x="930" y="8"/>
                  </a:lnTo>
                  <a:lnTo>
                    <a:pt x="929" y="8"/>
                  </a:lnTo>
                  <a:lnTo>
                    <a:pt x="929" y="10"/>
                  </a:lnTo>
                  <a:lnTo>
                    <a:pt x="927" y="12"/>
                  </a:lnTo>
                  <a:lnTo>
                    <a:pt x="925" y="12"/>
                  </a:lnTo>
                  <a:lnTo>
                    <a:pt x="923" y="14"/>
                  </a:lnTo>
                  <a:lnTo>
                    <a:pt x="923" y="16"/>
                  </a:lnTo>
                  <a:lnTo>
                    <a:pt x="921" y="18"/>
                  </a:lnTo>
                  <a:lnTo>
                    <a:pt x="919" y="20"/>
                  </a:lnTo>
                  <a:lnTo>
                    <a:pt x="919" y="22"/>
                  </a:lnTo>
                  <a:lnTo>
                    <a:pt x="917" y="25"/>
                  </a:lnTo>
                  <a:lnTo>
                    <a:pt x="917" y="27"/>
                  </a:lnTo>
                  <a:lnTo>
                    <a:pt x="917" y="29"/>
                  </a:lnTo>
                  <a:lnTo>
                    <a:pt x="915" y="29"/>
                  </a:lnTo>
                  <a:lnTo>
                    <a:pt x="915" y="31"/>
                  </a:lnTo>
                  <a:lnTo>
                    <a:pt x="915" y="33"/>
                  </a:lnTo>
                  <a:lnTo>
                    <a:pt x="915" y="35"/>
                  </a:lnTo>
                  <a:lnTo>
                    <a:pt x="913" y="41"/>
                  </a:lnTo>
                  <a:lnTo>
                    <a:pt x="911" y="48"/>
                  </a:lnTo>
                  <a:lnTo>
                    <a:pt x="909" y="54"/>
                  </a:lnTo>
                  <a:lnTo>
                    <a:pt x="907" y="58"/>
                  </a:lnTo>
                  <a:lnTo>
                    <a:pt x="904" y="64"/>
                  </a:lnTo>
                  <a:lnTo>
                    <a:pt x="902" y="71"/>
                  </a:lnTo>
                  <a:lnTo>
                    <a:pt x="898" y="75"/>
                  </a:lnTo>
                  <a:lnTo>
                    <a:pt x="896" y="79"/>
                  </a:lnTo>
                  <a:lnTo>
                    <a:pt x="892" y="83"/>
                  </a:lnTo>
                  <a:lnTo>
                    <a:pt x="888" y="89"/>
                  </a:lnTo>
                  <a:lnTo>
                    <a:pt x="884" y="93"/>
                  </a:lnTo>
                  <a:lnTo>
                    <a:pt x="881" y="100"/>
                  </a:lnTo>
                  <a:lnTo>
                    <a:pt x="877" y="102"/>
                  </a:lnTo>
                  <a:lnTo>
                    <a:pt x="873" y="106"/>
                  </a:lnTo>
                  <a:lnTo>
                    <a:pt x="867" y="110"/>
                  </a:lnTo>
                  <a:lnTo>
                    <a:pt x="863" y="114"/>
                  </a:lnTo>
                  <a:lnTo>
                    <a:pt x="859" y="119"/>
                  </a:lnTo>
                  <a:lnTo>
                    <a:pt x="854" y="123"/>
                  </a:lnTo>
                  <a:lnTo>
                    <a:pt x="848" y="125"/>
                  </a:lnTo>
                  <a:lnTo>
                    <a:pt x="844" y="127"/>
                  </a:lnTo>
                  <a:lnTo>
                    <a:pt x="838" y="129"/>
                  </a:lnTo>
                  <a:lnTo>
                    <a:pt x="833" y="133"/>
                  </a:lnTo>
                  <a:lnTo>
                    <a:pt x="827" y="135"/>
                  </a:lnTo>
                  <a:lnTo>
                    <a:pt x="821" y="137"/>
                  </a:lnTo>
                  <a:lnTo>
                    <a:pt x="815" y="139"/>
                  </a:lnTo>
                  <a:lnTo>
                    <a:pt x="810" y="141"/>
                  </a:lnTo>
                  <a:lnTo>
                    <a:pt x="804" y="144"/>
                  </a:lnTo>
                  <a:lnTo>
                    <a:pt x="798" y="144"/>
                  </a:lnTo>
                  <a:lnTo>
                    <a:pt x="792" y="146"/>
                  </a:lnTo>
                  <a:lnTo>
                    <a:pt x="787" y="146"/>
                  </a:lnTo>
                  <a:lnTo>
                    <a:pt x="779" y="146"/>
                  </a:lnTo>
                  <a:lnTo>
                    <a:pt x="773" y="148"/>
                  </a:lnTo>
                  <a:lnTo>
                    <a:pt x="767" y="146"/>
                  </a:lnTo>
                  <a:lnTo>
                    <a:pt x="760" y="146"/>
                  </a:lnTo>
                  <a:lnTo>
                    <a:pt x="754" y="146"/>
                  </a:lnTo>
                  <a:lnTo>
                    <a:pt x="748" y="144"/>
                  </a:lnTo>
                  <a:lnTo>
                    <a:pt x="742" y="144"/>
                  </a:lnTo>
                  <a:lnTo>
                    <a:pt x="737" y="141"/>
                  </a:lnTo>
                  <a:lnTo>
                    <a:pt x="731" y="139"/>
                  </a:lnTo>
                  <a:lnTo>
                    <a:pt x="725" y="137"/>
                  </a:lnTo>
                  <a:lnTo>
                    <a:pt x="719" y="135"/>
                  </a:lnTo>
                  <a:lnTo>
                    <a:pt x="714" y="133"/>
                  </a:lnTo>
                  <a:lnTo>
                    <a:pt x="708" y="129"/>
                  </a:lnTo>
                  <a:lnTo>
                    <a:pt x="702" y="127"/>
                  </a:lnTo>
                  <a:lnTo>
                    <a:pt x="698" y="125"/>
                  </a:lnTo>
                  <a:lnTo>
                    <a:pt x="692" y="123"/>
                  </a:lnTo>
                  <a:lnTo>
                    <a:pt x="687" y="119"/>
                  </a:lnTo>
                  <a:lnTo>
                    <a:pt x="683" y="114"/>
                  </a:lnTo>
                  <a:lnTo>
                    <a:pt x="677" y="110"/>
                  </a:lnTo>
                  <a:lnTo>
                    <a:pt x="673" y="106"/>
                  </a:lnTo>
                  <a:lnTo>
                    <a:pt x="669" y="102"/>
                  </a:lnTo>
                  <a:lnTo>
                    <a:pt x="666" y="100"/>
                  </a:lnTo>
                  <a:lnTo>
                    <a:pt x="662" y="93"/>
                  </a:lnTo>
                  <a:lnTo>
                    <a:pt x="658" y="89"/>
                  </a:lnTo>
                  <a:lnTo>
                    <a:pt x="654" y="83"/>
                  </a:lnTo>
                  <a:lnTo>
                    <a:pt x="650" y="79"/>
                  </a:lnTo>
                  <a:lnTo>
                    <a:pt x="648" y="75"/>
                  </a:lnTo>
                  <a:lnTo>
                    <a:pt x="645" y="68"/>
                  </a:lnTo>
                  <a:lnTo>
                    <a:pt x="643" y="64"/>
                  </a:lnTo>
                  <a:lnTo>
                    <a:pt x="639" y="58"/>
                  </a:lnTo>
                  <a:lnTo>
                    <a:pt x="637" y="54"/>
                  </a:lnTo>
                  <a:lnTo>
                    <a:pt x="635" y="48"/>
                  </a:lnTo>
                  <a:lnTo>
                    <a:pt x="633" y="41"/>
                  </a:lnTo>
                  <a:lnTo>
                    <a:pt x="631" y="35"/>
                  </a:lnTo>
                  <a:lnTo>
                    <a:pt x="631" y="33"/>
                  </a:lnTo>
                  <a:lnTo>
                    <a:pt x="631" y="31"/>
                  </a:lnTo>
                  <a:lnTo>
                    <a:pt x="631" y="29"/>
                  </a:lnTo>
                  <a:lnTo>
                    <a:pt x="629" y="29"/>
                  </a:lnTo>
                  <a:lnTo>
                    <a:pt x="629" y="27"/>
                  </a:lnTo>
                  <a:lnTo>
                    <a:pt x="629" y="25"/>
                  </a:lnTo>
                  <a:lnTo>
                    <a:pt x="627" y="22"/>
                  </a:lnTo>
                  <a:lnTo>
                    <a:pt x="627" y="20"/>
                  </a:lnTo>
                  <a:lnTo>
                    <a:pt x="625" y="18"/>
                  </a:lnTo>
                  <a:lnTo>
                    <a:pt x="623" y="16"/>
                  </a:lnTo>
                  <a:lnTo>
                    <a:pt x="623" y="14"/>
                  </a:lnTo>
                  <a:lnTo>
                    <a:pt x="621" y="12"/>
                  </a:lnTo>
                  <a:lnTo>
                    <a:pt x="620" y="12"/>
                  </a:lnTo>
                  <a:lnTo>
                    <a:pt x="618" y="10"/>
                  </a:lnTo>
                  <a:lnTo>
                    <a:pt x="618" y="8"/>
                  </a:lnTo>
                  <a:lnTo>
                    <a:pt x="616" y="8"/>
                  </a:lnTo>
                  <a:lnTo>
                    <a:pt x="614" y="6"/>
                  </a:lnTo>
                  <a:lnTo>
                    <a:pt x="612" y="6"/>
                  </a:lnTo>
                  <a:lnTo>
                    <a:pt x="610" y="6"/>
                  </a:lnTo>
                  <a:lnTo>
                    <a:pt x="608" y="4"/>
                  </a:lnTo>
                  <a:lnTo>
                    <a:pt x="606" y="4"/>
                  </a:lnTo>
                  <a:lnTo>
                    <a:pt x="604" y="2"/>
                  </a:lnTo>
                  <a:lnTo>
                    <a:pt x="602" y="2"/>
                  </a:lnTo>
                  <a:lnTo>
                    <a:pt x="600" y="2"/>
                  </a:lnTo>
                  <a:lnTo>
                    <a:pt x="598" y="0"/>
                  </a:lnTo>
                  <a:lnTo>
                    <a:pt x="597" y="0"/>
                  </a:lnTo>
                  <a:lnTo>
                    <a:pt x="593" y="0"/>
                  </a:lnTo>
                  <a:lnTo>
                    <a:pt x="591" y="0"/>
                  </a:lnTo>
                  <a:lnTo>
                    <a:pt x="589" y="0"/>
                  </a:lnTo>
                  <a:lnTo>
                    <a:pt x="587" y="0"/>
                  </a:lnTo>
                  <a:lnTo>
                    <a:pt x="583" y="0"/>
                  </a:lnTo>
                  <a:lnTo>
                    <a:pt x="382" y="0"/>
                  </a:lnTo>
                  <a:lnTo>
                    <a:pt x="0" y="0"/>
                  </a:lnTo>
                  <a:lnTo>
                    <a:pt x="0" y="779"/>
                  </a:lnTo>
                  <a:lnTo>
                    <a:pt x="382" y="777"/>
                  </a:lnTo>
                  <a:lnTo>
                    <a:pt x="424" y="777"/>
                  </a:lnTo>
                  <a:lnTo>
                    <a:pt x="462" y="777"/>
                  </a:lnTo>
                  <a:lnTo>
                    <a:pt x="501" y="777"/>
                  </a:lnTo>
                  <a:lnTo>
                    <a:pt x="537" y="777"/>
                  </a:lnTo>
                  <a:lnTo>
                    <a:pt x="573" y="779"/>
                  </a:lnTo>
                  <a:lnTo>
                    <a:pt x="606" y="779"/>
                  </a:lnTo>
                  <a:lnTo>
                    <a:pt x="641" y="779"/>
                  </a:lnTo>
                  <a:lnTo>
                    <a:pt x="671" y="779"/>
                  </a:lnTo>
                  <a:lnTo>
                    <a:pt x="704" y="779"/>
                  </a:lnTo>
                  <a:lnTo>
                    <a:pt x="735" y="779"/>
                  </a:lnTo>
                  <a:lnTo>
                    <a:pt x="765" y="779"/>
                  </a:lnTo>
                  <a:lnTo>
                    <a:pt x="794" y="779"/>
                  </a:lnTo>
                  <a:lnTo>
                    <a:pt x="825" y="779"/>
                  </a:lnTo>
                  <a:lnTo>
                    <a:pt x="854" y="779"/>
                  </a:lnTo>
                  <a:lnTo>
                    <a:pt x="884" y="779"/>
                  </a:lnTo>
                  <a:lnTo>
                    <a:pt x="915" y="779"/>
                  </a:lnTo>
                  <a:lnTo>
                    <a:pt x="946" y="779"/>
                  </a:lnTo>
                  <a:lnTo>
                    <a:pt x="977" y="779"/>
                  </a:lnTo>
                  <a:lnTo>
                    <a:pt x="1007" y="779"/>
                  </a:lnTo>
                  <a:lnTo>
                    <a:pt x="1040" y="779"/>
                  </a:lnTo>
                  <a:lnTo>
                    <a:pt x="1074" y="779"/>
                  </a:lnTo>
                  <a:lnTo>
                    <a:pt x="1109" y="779"/>
                  </a:lnTo>
                  <a:lnTo>
                    <a:pt x="1145" y="779"/>
                  </a:lnTo>
                  <a:lnTo>
                    <a:pt x="1182" y="779"/>
                  </a:lnTo>
                  <a:lnTo>
                    <a:pt x="1220" y="779"/>
                  </a:lnTo>
                  <a:lnTo>
                    <a:pt x="1263" y="779"/>
                  </a:lnTo>
                  <a:lnTo>
                    <a:pt x="1305" y="779"/>
                  </a:lnTo>
                  <a:lnTo>
                    <a:pt x="1349" y="779"/>
                  </a:lnTo>
                  <a:lnTo>
                    <a:pt x="1395" y="779"/>
                  </a:lnTo>
                  <a:lnTo>
                    <a:pt x="1443" y="779"/>
                  </a:lnTo>
                  <a:lnTo>
                    <a:pt x="1495" y="779"/>
                  </a:lnTo>
                  <a:lnTo>
                    <a:pt x="1549" y="779"/>
                  </a:lnTo>
                  <a:lnTo>
                    <a:pt x="1549" y="777"/>
                  </a:lnTo>
                  <a:lnTo>
                    <a:pt x="1549" y="578"/>
                  </a:lnTo>
                  <a:lnTo>
                    <a:pt x="1550" y="576"/>
                  </a:lnTo>
                  <a:lnTo>
                    <a:pt x="1550" y="574"/>
                  </a:lnTo>
                  <a:lnTo>
                    <a:pt x="1550" y="572"/>
                  </a:lnTo>
                  <a:lnTo>
                    <a:pt x="1550" y="570"/>
                  </a:lnTo>
                  <a:lnTo>
                    <a:pt x="1550" y="565"/>
                  </a:lnTo>
                  <a:lnTo>
                    <a:pt x="1550" y="563"/>
                  </a:lnTo>
                  <a:lnTo>
                    <a:pt x="1552" y="561"/>
                  </a:lnTo>
                  <a:lnTo>
                    <a:pt x="1552" y="559"/>
                  </a:lnTo>
                  <a:lnTo>
                    <a:pt x="1552" y="557"/>
                  </a:lnTo>
                  <a:lnTo>
                    <a:pt x="1554" y="555"/>
                  </a:lnTo>
                  <a:lnTo>
                    <a:pt x="1554" y="553"/>
                  </a:lnTo>
                  <a:lnTo>
                    <a:pt x="1556" y="553"/>
                  </a:lnTo>
                  <a:lnTo>
                    <a:pt x="1556" y="551"/>
                  </a:lnTo>
                  <a:lnTo>
                    <a:pt x="1558" y="549"/>
                  </a:lnTo>
                  <a:lnTo>
                    <a:pt x="1560" y="547"/>
                  </a:lnTo>
                  <a:lnTo>
                    <a:pt x="1560" y="545"/>
                  </a:lnTo>
                  <a:lnTo>
                    <a:pt x="1562" y="545"/>
                  </a:lnTo>
                  <a:lnTo>
                    <a:pt x="1564" y="542"/>
                  </a:lnTo>
                  <a:lnTo>
                    <a:pt x="1564" y="540"/>
                  </a:lnTo>
                  <a:lnTo>
                    <a:pt x="1566" y="538"/>
                  </a:lnTo>
                  <a:lnTo>
                    <a:pt x="1568" y="538"/>
                  </a:lnTo>
                  <a:lnTo>
                    <a:pt x="1570" y="536"/>
                  </a:lnTo>
                  <a:lnTo>
                    <a:pt x="1572" y="534"/>
                  </a:lnTo>
                  <a:lnTo>
                    <a:pt x="1573" y="534"/>
                  </a:lnTo>
                  <a:lnTo>
                    <a:pt x="1575" y="532"/>
                  </a:lnTo>
                  <a:lnTo>
                    <a:pt x="1577" y="532"/>
                  </a:lnTo>
                  <a:lnTo>
                    <a:pt x="1579" y="532"/>
                  </a:lnTo>
                  <a:lnTo>
                    <a:pt x="1581" y="530"/>
                  </a:lnTo>
                  <a:lnTo>
                    <a:pt x="1583" y="530"/>
                  </a:lnTo>
                  <a:lnTo>
                    <a:pt x="1585" y="530"/>
                  </a:lnTo>
                  <a:lnTo>
                    <a:pt x="1587" y="530"/>
                  </a:lnTo>
                  <a:close/>
                </a:path>
              </a:pathLst>
            </a:custGeom>
            <a:solidFill>
              <a:schemeClr val="tx1">
                <a:lumMod val="75000"/>
                <a:lumOff val="25000"/>
              </a:schemeClr>
            </a:solidFill>
            <a:ln w="9525" cap="flat" cmpd="sng" algn="ctr">
              <a:noFill/>
              <a:prstDash val="solid"/>
              <a:round/>
              <a:headEnd type="none" w="med" len="med"/>
              <a:tailEnd type="none" w="med" len="med"/>
            </a:ln>
            <a:effectLst>
              <a:outerShdw blurRad="50800" dist="12700" dir="5400000" algn="t" rotWithShape="0">
                <a:prstClr val="black">
                  <a:alpha val="40000"/>
                </a:prstClr>
              </a:outerShdw>
            </a:effectLst>
            <a:scene3d>
              <a:camera prst="orthographicFront"/>
              <a:lightRig rig="balanced" dir="t"/>
            </a:scene3d>
            <a:sp3d prstMaterial="plastic">
              <a:bevelT w="6350000" h="127000"/>
              <a:bevelB w="0" h="0"/>
            </a:sp3d>
          </p:spPr>
          <p:txBody>
            <a:bodyPr wrap="none" lIns="42203" rIns="42203" anchor="ctr"/>
            <a:lstStyle/>
            <a:p>
              <a:pPr marL="109907" indent="-109907" algn="ctr" eaLnBrk="0" hangingPunct="0">
                <a:defRPr/>
              </a:pPr>
              <a:endParaRPr lang="en-US" sz="1662">
                <a:solidFill>
                  <a:srgbClr val="FFFFFF"/>
                </a:solidFill>
                <a:latin typeface="Arial" panose="020B0604020202020204" pitchFamily="34" charset="0"/>
                <a:ea typeface="DFKaiShu-GB5"/>
                <a:cs typeface="DFKaiShuW5-B5" pitchFamily="65" charset="-128"/>
              </a:endParaRPr>
            </a:p>
          </p:txBody>
        </p:sp>
        <p:sp>
          <p:nvSpPr>
            <p:cNvPr id="37" name="Rectangle 127">
              <a:extLst>
                <a:ext uri="{FF2B5EF4-FFF2-40B4-BE49-F238E27FC236}">
                  <a16:creationId xmlns:a16="http://schemas.microsoft.com/office/drawing/2014/main" id="{4CCA7326-D19F-464D-B682-7D57DBF7914E}"/>
                </a:ext>
              </a:extLst>
            </p:cNvPr>
            <p:cNvSpPr>
              <a:spLocks noChangeArrowheads="1"/>
            </p:cNvSpPr>
            <p:nvPr/>
          </p:nvSpPr>
          <p:spPr bwMode="gray">
            <a:xfrm>
              <a:off x="7115762" y="2460916"/>
              <a:ext cx="1954240"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4300" indent="-114300">
                <a:tabLst>
                  <a:tab pos="3543300" algn="r"/>
                </a:tabLst>
                <a:defRPr sz="2000">
                  <a:solidFill>
                    <a:schemeClr val="tx1"/>
                  </a:solidFill>
                  <a:latin typeface="Arial" panose="020B0604020202020204" pitchFamily="34" charset="0"/>
                </a:defRPr>
              </a:lvl1pPr>
              <a:lvl2pPr marL="742950" indent="-285750">
                <a:tabLst>
                  <a:tab pos="3543300" algn="r"/>
                </a:tabLst>
                <a:defRPr sz="2000">
                  <a:solidFill>
                    <a:schemeClr val="tx1"/>
                  </a:solidFill>
                  <a:latin typeface="Arial" panose="020B0604020202020204" pitchFamily="34" charset="0"/>
                </a:defRPr>
              </a:lvl2pPr>
              <a:lvl3pPr marL="1143000" indent="-228600">
                <a:tabLst>
                  <a:tab pos="3543300" algn="r"/>
                </a:tabLst>
                <a:defRPr sz="2000">
                  <a:solidFill>
                    <a:schemeClr val="tx1"/>
                  </a:solidFill>
                  <a:latin typeface="Arial" panose="020B0604020202020204" pitchFamily="34" charset="0"/>
                </a:defRPr>
              </a:lvl3pPr>
              <a:lvl4pPr marL="1600200" indent="-228600">
                <a:tabLst>
                  <a:tab pos="3543300" algn="r"/>
                </a:tabLst>
                <a:defRPr sz="2000">
                  <a:solidFill>
                    <a:schemeClr val="tx1"/>
                  </a:solidFill>
                  <a:latin typeface="Arial" panose="020B0604020202020204" pitchFamily="34" charset="0"/>
                </a:defRPr>
              </a:lvl4pPr>
              <a:lvl5pPr marL="2057400" indent="-228600">
                <a:tabLst>
                  <a:tab pos="3543300" algn="r"/>
                </a:tabLst>
                <a:defRPr sz="2000">
                  <a:solidFill>
                    <a:schemeClr val="tx1"/>
                  </a:solidFill>
                  <a:latin typeface="Arial" panose="020B0604020202020204" pitchFamily="34" charset="0"/>
                </a:defRPr>
              </a:lvl5pPr>
              <a:lvl6pPr marL="25146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6pPr>
              <a:lvl7pPr marL="29718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7pPr>
              <a:lvl8pPr marL="34290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8pPr>
              <a:lvl9pPr marL="38862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9pPr>
            </a:lstStyle>
            <a:p>
              <a:pPr>
                <a:spcBef>
                  <a:spcPts val="0"/>
                </a:spcBef>
                <a:spcAft>
                  <a:spcPts val="0"/>
                </a:spcAft>
                <a:buClr>
                  <a:srgbClr val="FFFFFF"/>
                </a:buClr>
                <a:buFont typeface="Wingdings" panose="05000000000000000000" pitchFamily="2" charset="2"/>
                <a:buChar char="n"/>
                <a:defRPr/>
              </a:pPr>
              <a:r>
                <a:rPr lang="en-US" altLang="zh-CN" sz="800" b="0">
                  <a:solidFill>
                    <a:srgbClr val="FFFFFF"/>
                  </a:solidFill>
                  <a:ea typeface="DFKaiShu-GB5"/>
                  <a:cs typeface="DFKaiShu-GB5" panose="03000509000000000000" pitchFamily="65" charset="-128"/>
                </a:rPr>
                <a:t>DBS offers full suite of institutional banking products to a wide array of corporate clients across sectors, sizes, countries and natures</a:t>
              </a:r>
            </a:p>
            <a:p>
              <a:pPr>
                <a:spcBef>
                  <a:spcPts val="0"/>
                </a:spcBef>
                <a:spcAft>
                  <a:spcPts val="0"/>
                </a:spcAft>
                <a:buClr>
                  <a:srgbClr val="FFFFFF"/>
                </a:buClr>
                <a:buFont typeface="Wingdings" panose="05000000000000000000" pitchFamily="2" charset="2"/>
                <a:buChar char="n"/>
                <a:defRPr/>
              </a:pPr>
              <a:r>
                <a:rPr lang="en-US" altLang="zh-CN" sz="800" b="0">
                  <a:solidFill>
                    <a:srgbClr val="FFFFFF"/>
                  </a:solidFill>
                  <a:ea typeface="DFKaiShu-GB5"/>
                  <a:cs typeface="DFKaiShu-GB5" panose="03000509000000000000" pitchFamily="65" charset="-128"/>
                </a:rPr>
                <a:t>The bank has built a vast Asian centric client base with over 280,000 corporate customers across Singapore, Hong Kong, PRC, Southeast Asian markets and other key parts of the world </a:t>
              </a:r>
            </a:p>
          </p:txBody>
        </p:sp>
        <p:sp>
          <p:nvSpPr>
            <p:cNvPr id="38" name="TextBox 53">
              <a:extLst>
                <a:ext uri="{FF2B5EF4-FFF2-40B4-BE49-F238E27FC236}">
                  <a16:creationId xmlns:a16="http://schemas.microsoft.com/office/drawing/2014/main" id="{80BE0AB5-947A-47F3-A7A4-0A3C8B1608D8}"/>
                </a:ext>
              </a:extLst>
            </p:cNvPr>
            <p:cNvSpPr txBox="1">
              <a:spLocks noChangeArrowheads="1"/>
            </p:cNvSpPr>
            <p:nvPr/>
          </p:nvSpPr>
          <p:spPr bwMode="auto">
            <a:xfrm>
              <a:off x="4792080" y="4408706"/>
              <a:ext cx="2050916" cy="127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defRPr/>
              </a:pPr>
              <a:r>
                <a:rPr lang="en-US" altLang="zh-CN" sz="831">
                  <a:solidFill>
                    <a:srgbClr val="FFFFFF"/>
                  </a:solidFill>
                  <a:ea typeface="DFKaiShu-GB5"/>
                  <a:cs typeface="DFKaiShu-GB5" panose="03000509000000000000" pitchFamily="65" charset="-128"/>
                </a:rPr>
                <a:t>Private Banking</a:t>
              </a:r>
              <a:endParaRPr lang="en-US" altLang="en-US" sz="831">
                <a:solidFill>
                  <a:srgbClr val="FFFFFF"/>
                </a:solidFill>
                <a:ea typeface="DFKaiShu-GB5"/>
                <a:cs typeface="DFKaiShu-GB5" panose="03000509000000000000" pitchFamily="65" charset="-128"/>
              </a:endParaRPr>
            </a:p>
          </p:txBody>
        </p:sp>
        <p:sp>
          <p:nvSpPr>
            <p:cNvPr id="39" name="Rectangle 127">
              <a:extLst>
                <a:ext uri="{FF2B5EF4-FFF2-40B4-BE49-F238E27FC236}">
                  <a16:creationId xmlns:a16="http://schemas.microsoft.com/office/drawing/2014/main" id="{95CF10F9-A7E0-4140-A008-06C7C4DE0E3C}"/>
                </a:ext>
              </a:extLst>
            </p:cNvPr>
            <p:cNvSpPr>
              <a:spLocks noChangeArrowheads="1"/>
            </p:cNvSpPr>
            <p:nvPr/>
          </p:nvSpPr>
          <p:spPr bwMode="gray">
            <a:xfrm>
              <a:off x="4792080" y="4604400"/>
              <a:ext cx="204919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42203">
              <a:spAutoFit/>
            </a:bodyPr>
            <a:lstStyle>
              <a:lvl1pPr marL="114300" indent="-114300">
                <a:tabLst>
                  <a:tab pos="3543300" algn="r"/>
                </a:tabLst>
                <a:defRPr sz="2000">
                  <a:solidFill>
                    <a:schemeClr val="tx1"/>
                  </a:solidFill>
                  <a:latin typeface="Arial" panose="020B0604020202020204" pitchFamily="34" charset="0"/>
                </a:defRPr>
              </a:lvl1pPr>
              <a:lvl2pPr marL="742950" indent="-285750">
                <a:tabLst>
                  <a:tab pos="3543300" algn="r"/>
                </a:tabLst>
                <a:defRPr sz="2000">
                  <a:solidFill>
                    <a:schemeClr val="tx1"/>
                  </a:solidFill>
                  <a:latin typeface="Arial" panose="020B0604020202020204" pitchFamily="34" charset="0"/>
                </a:defRPr>
              </a:lvl2pPr>
              <a:lvl3pPr marL="1143000" indent="-228600">
                <a:tabLst>
                  <a:tab pos="3543300" algn="r"/>
                </a:tabLst>
                <a:defRPr sz="2000">
                  <a:solidFill>
                    <a:schemeClr val="tx1"/>
                  </a:solidFill>
                  <a:latin typeface="Arial" panose="020B0604020202020204" pitchFamily="34" charset="0"/>
                </a:defRPr>
              </a:lvl3pPr>
              <a:lvl4pPr marL="1600200" indent="-228600">
                <a:tabLst>
                  <a:tab pos="3543300" algn="r"/>
                </a:tabLst>
                <a:defRPr sz="2000">
                  <a:solidFill>
                    <a:schemeClr val="tx1"/>
                  </a:solidFill>
                  <a:latin typeface="Arial" panose="020B0604020202020204" pitchFamily="34" charset="0"/>
                </a:defRPr>
              </a:lvl4pPr>
              <a:lvl5pPr marL="2057400" indent="-228600">
                <a:tabLst>
                  <a:tab pos="3543300" algn="r"/>
                </a:tabLst>
                <a:defRPr sz="2000">
                  <a:solidFill>
                    <a:schemeClr val="tx1"/>
                  </a:solidFill>
                  <a:latin typeface="Arial" panose="020B0604020202020204" pitchFamily="34" charset="0"/>
                </a:defRPr>
              </a:lvl5pPr>
              <a:lvl6pPr marL="25146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6pPr>
              <a:lvl7pPr marL="29718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7pPr>
              <a:lvl8pPr marL="34290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8pPr>
              <a:lvl9pPr marL="38862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9pPr>
            </a:lstStyle>
            <a:p>
              <a:pPr>
                <a:spcBef>
                  <a:spcPts val="0"/>
                </a:spcBef>
                <a:spcAft>
                  <a:spcPts val="0"/>
                </a:spcAft>
                <a:buFont typeface="Wingdings" panose="05000000000000000000" pitchFamily="2" charset="2"/>
                <a:buChar char="n"/>
                <a:defRPr/>
              </a:pPr>
              <a:r>
                <a:rPr lang="en-US" altLang="zh-CN" sz="800" b="0" dirty="0">
                  <a:solidFill>
                    <a:srgbClr val="FFFFFF"/>
                  </a:solidFill>
                  <a:ea typeface="DFKaiShu-GB5"/>
                  <a:cs typeface="DFKaiShu-GB5" panose="03000509000000000000" pitchFamily="65" charset="-128"/>
                </a:rPr>
                <a:t>DBS successfully acquired private banking business of Societe Generale in Singapore and Hong Kong in 2014 , followed by ANZ’s Asian retail and private banking business in 2016</a:t>
              </a:r>
            </a:p>
            <a:p>
              <a:pPr>
                <a:spcBef>
                  <a:spcPts val="0"/>
                </a:spcBef>
                <a:spcAft>
                  <a:spcPts val="0"/>
                </a:spcAft>
                <a:buFont typeface="Wingdings" panose="05000000000000000000" pitchFamily="2" charset="2"/>
                <a:buChar char="n"/>
                <a:defRPr/>
              </a:pPr>
              <a:r>
                <a:rPr lang="en-US" altLang="zh-CN" sz="800" b="0" dirty="0">
                  <a:solidFill>
                    <a:srgbClr val="FFFFFF"/>
                  </a:solidFill>
                  <a:ea typeface="DFKaiShu-GB5"/>
                  <a:cs typeface="DFKaiShu-GB5" panose="03000509000000000000" pitchFamily="65" charset="-128"/>
                </a:rPr>
                <a:t>Total assets under management to exceed approximately US$</a:t>
              </a:r>
              <a:r>
                <a:rPr lang="en-US" altLang="zh-TW" sz="800" b="0" dirty="0">
                  <a:solidFill>
                    <a:srgbClr val="FFFFFF"/>
                  </a:solidFill>
                  <a:ea typeface="DFKaiShu-GB5"/>
                  <a:cs typeface="DFKaiShu-GB5" panose="03000509000000000000" pitchFamily="65" charset="-128"/>
                </a:rPr>
                <a:t>236.6</a:t>
              </a:r>
              <a:r>
                <a:rPr lang="en-US" altLang="zh-CN" sz="800" b="0" dirty="0">
                  <a:solidFill>
                    <a:srgbClr val="FFFFFF"/>
                  </a:solidFill>
                  <a:ea typeface="DFKaiShu-GB5"/>
                  <a:cs typeface="DFKaiShu-GB5" panose="03000509000000000000" pitchFamily="65" charset="-128"/>
                </a:rPr>
                <a:t> billion in 2024</a:t>
              </a:r>
            </a:p>
            <a:p>
              <a:pPr>
                <a:spcBef>
                  <a:spcPts val="0"/>
                </a:spcBef>
                <a:spcAft>
                  <a:spcPts val="0"/>
                </a:spcAft>
                <a:buFont typeface="Wingdings" panose="05000000000000000000" pitchFamily="2" charset="2"/>
                <a:buChar char="n"/>
                <a:defRPr/>
              </a:pPr>
              <a:r>
                <a:rPr lang="en-US" altLang="zh-CN" sz="800" b="0" dirty="0">
                  <a:solidFill>
                    <a:srgbClr val="FFFFFF"/>
                  </a:solidFill>
                  <a:ea typeface="DFKaiShu-GB5"/>
                  <a:cs typeface="DFKaiShu-GB5" panose="03000509000000000000" pitchFamily="65" charset="-128"/>
                </a:rPr>
                <a:t>Have more than 651 professional account managers and investment experts in 2022</a:t>
              </a:r>
            </a:p>
          </p:txBody>
        </p:sp>
        <p:sp>
          <p:nvSpPr>
            <p:cNvPr id="40" name="TextBox 57">
              <a:extLst>
                <a:ext uri="{FF2B5EF4-FFF2-40B4-BE49-F238E27FC236}">
                  <a16:creationId xmlns:a16="http://schemas.microsoft.com/office/drawing/2014/main" id="{95997FEA-BB6D-4BFD-9282-1F6D2FE9896D}"/>
                </a:ext>
              </a:extLst>
            </p:cNvPr>
            <p:cNvSpPr txBox="1">
              <a:spLocks noChangeArrowheads="1"/>
            </p:cNvSpPr>
            <p:nvPr/>
          </p:nvSpPr>
          <p:spPr bwMode="auto">
            <a:xfrm>
              <a:off x="7638849" y="4408704"/>
              <a:ext cx="1079707" cy="127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nchor="ct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defRPr/>
              </a:pPr>
              <a:r>
                <a:rPr lang="en-US" altLang="zh-CN" sz="831">
                  <a:solidFill>
                    <a:srgbClr val="FFFFFF"/>
                  </a:solidFill>
                  <a:ea typeface="DFKaiShu-GB5"/>
                  <a:cs typeface="DFKaiShu-GB5" panose="03000509000000000000" pitchFamily="65" charset="-128"/>
                </a:rPr>
                <a:t>Consumer Banking</a:t>
              </a:r>
              <a:endParaRPr lang="en-US" altLang="en-US" sz="831">
                <a:solidFill>
                  <a:srgbClr val="FFFFFF"/>
                </a:solidFill>
                <a:ea typeface="DFKaiShu-GB5"/>
                <a:cs typeface="DFKaiShu-GB5" panose="03000509000000000000" pitchFamily="65" charset="-128"/>
              </a:endParaRPr>
            </a:p>
          </p:txBody>
        </p:sp>
        <p:sp>
          <p:nvSpPr>
            <p:cNvPr id="45" name="TextBox 59">
              <a:extLst>
                <a:ext uri="{FF2B5EF4-FFF2-40B4-BE49-F238E27FC236}">
                  <a16:creationId xmlns:a16="http://schemas.microsoft.com/office/drawing/2014/main" id="{9096CF32-7839-4942-9617-F25F5CBA9154}"/>
                </a:ext>
              </a:extLst>
            </p:cNvPr>
            <p:cNvSpPr txBox="1">
              <a:spLocks noChangeArrowheads="1"/>
            </p:cNvSpPr>
            <p:nvPr/>
          </p:nvSpPr>
          <p:spPr bwMode="auto">
            <a:xfrm>
              <a:off x="7535268" y="2287923"/>
              <a:ext cx="1232507" cy="127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nchor="ct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defRPr/>
              </a:pPr>
              <a:r>
                <a:rPr lang="en-US" altLang="en-US" sz="831">
                  <a:solidFill>
                    <a:srgbClr val="FFFFFF"/>
                  </a:solidFill>
                  <a:ea typeface="DFKaiShu-GB5"/>
                  <a:cs typeface="DFKaiShu-GB5" panose="03000509000000000000" pitchFamily="65" charset="-128"/>
                </a:rPr>
                <a:t>Institutional Banking</a:t>
              </a:r>
            </a:p>
          </p:txBody>
        </p:sp>
        <p:cxnSp>
          <p:nvCxnSpPr>
            <p:cNvPr id="46" name="Straight Connector 45">
              <a:extLst>
                <a:ext uri="{FF2B5EF4-FFF2-40B4-BE49-F238E27FC236}">
                  <a16:creationId xmlns:a16="http://schemas.microsoft.com/office/drawing/2014/main" id="{678C6DF0-1743-4246-821F-723D3B7BE7C5}"/>
                </a:ext>
              </a:extLst>
            </p:cNvPr>
            <p:cNvCxnSpPr/>
            <p:nvPr/>
          </p:nvCxnSpPr>
          <p:spPr>
            <a:xfrm>
              <a:off x="7107130" y="2434674"/>
              <a:ext cx="190762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Rectangle 127">
              <a:extLst>
                <a:ext uri="{FF2B5EF4-FFF2-40B4-BE49-F238E27FC236}">
                  <a16:creationId xmlns:a16="http://schemas.microsoft.com/office/drawing/2014/main" id="{EA2F4AC9-D3D1-42CD-A1B3-0C873C1BA696}"/>
                </a:ext>
              </a:extLst>
            </p:cNvPr>
            <p:cNvSpPr>
              <a:spLocks noChangeArrowheads="1"/>
            </p:cNvSpPr>
            <p:nvPr/>
          </p:nvSpPr>
          <p:spPr bwMode="gray">
            <a:xfrm>
              <a:off x="4759281" y="2454357"/>
              <a:ext cx="194388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4300" indent="-114300">
                <a:tabLst>
                  <a:tab pos="3543300" algn="r"/>
                </a:tabLst>
                <a:defRPr sz="2000">
                  <a:solidFill>
                    <a:schemeClr val="tx1"/>
                  </a:solidFill>
                  <a:latin typeface="Arial" panose="020B0604020202020204" pitchFamily="34" charset="0"/>
                </a:defRPr>
              </a:lvl1pPr>
              <a:lvl2pPr marL="742950" indent="-285750">
                <a:tabLst>
                  <a:tab pos="3543300" algn="r"/>
                </a:tabLst>
                <a:defRPr sz="2000">
                  <a:solidFill>
                    <a:schemeClr val="tx1"/>
                  </a:solidFill>
                  <a:latin typeface="Arial" panose="020B0604020202020204" pitchFamily="34" charset="0"/>
                </a:defRPr>
              </a:lvl2pPr>
              <a:lvl3pPr marL="1143000" indent="-228600">
                <a:tabLst>
                  <a:tab pos="3543300" algn="r"/>
                </a:tabLst>
                <a:defRPr sz="2000">
                  <a:solidFill>
                    <a:schemeClr val="tx1"/>
                  </a:solidFill>
                  <a:latin typeface="Arial" panose="020B0604020202020204" pitchFamily="34" charset="0"/>
                </a:defRPr>
              </a:lvl3pPr>
              <a:lvl4pPr marL="1600200" indent="-228600">
                <a:tabLst>
                  <a:tab pos="3543300" algn="r"/>
                </a:tabLst>
                <a:defRPr sz="2000">
                  <a:solidFill>
                    <a:schemeClr val="tx1"/>
                  </a:solidFill>
                  <a:latin typeface="Arial" panose="020B0604020202020204" pitchFamily="34" charset="0"/>
                </a:defRPr>
              </a:lvl4pPr>
              <a:lvl5pPr marL="2057400" indent="-228600">
                <a:tabLst>
                  <a:tab pos="3543300" algn="r"/>
                </a:tabLst>
                <a:defRPr sz="2000">
                  <a:solidFill>
                    <a:schemeClr val="tx1"/>
                  </a:solidFill>
                  <a:latin typeface="Arial" panose="020B0604020202020204" pitchFamily="34" charset="0"/>
                </a:defRPr>
              </a:lvl5pPr>
              <a:lvl6pPr marL="25146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6pPr>
              <a:lvl7pPr marL="29718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7pPr>
              <a:lvl8pPr marL="34290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8pPr>
              <a:lvl9pPr marL="38862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9pPr>
            </a:lstStyle>
            <a:p>
              <a:pPr>
                <a:spcBef>
                  <a:spcPts val="0"/>
                </a:spcBef>
                <a:spcAft>
                  <a:spcPts val="0"/>
                </a:spcAft>
                <a:buFont typeface="Wingdings" panose="05000000000000000000" pitchFamily="2" charset="2"/>
                <a:buChar char="n"/>
                <a:defRPr/>
              </a:pPr>
              <a:r>
                <a:rPr lang="en-US" altLang="zh-CN" sz="800" b="0">
                  <a:solidFill>
                    <a:srgbClr val="FFFFFF"/>
                  </a:solidFill>
                  <a:ea typeface="DFKaiShu-GB5"/>
                  <a:cs typeface="DFKaiShu-GB5" panose="03000509000000000000" pitchFamily="65" charset="-128"/>
                </a:rPr>
                <a:t>DBS offers full range of equity market services including IPO sponsorship, underwriting, pre-IPO financing, secondary market share placement, rights issues, research and brokerage</a:t>
              </a:r>
            </a:p>
            <a:p>
              <a:pPr>
                <a:spcBef>
                  <a:spcPts val="0"/>
                </a:spcBef>
                <a:spcAft>
                  <a:spcPts val="0"/>
                </a:spcAft>
                <a:buFont typeface="Wingdings" panose="05000000000000000000" pitchFamily="2" charset="2"/>
                <a:buChar char="n"/>
                <a:defRPr/>
              </a:pPr>
              <a:r>
                <a:rPr lang="en-US" altLang="zh-CN" sz="800" b="0">
                  <a:solidFill>
                    <a:srgbClr val="FFFFFF"/>
                  </a:solidFill>
                  <a:ea typeface="DFKaiShu-GB5"/>
                  <a:cs typeface="DFKaiShu-GB5" panose="03000509000000000000" pitchFamily="65" charset="-128"/>
                </a:rPr>
                <a:t>Consistently ranked as the #1 Asian Investment Bank by various reputable publications </a:t>
              </a:r>
            </a:p>
            <a:p>
              <a:pPr>
                <a:spcBef>
                  <a:spcPts val="0"/>
                </a:spcBef>
                <a:spcAft>
                  <a:spcPts val="0"/>
                </a:spcAft>
                <a:buFont typeface="Wingdings" panose="05000000000000000000" pitchFamily="2" charset="2"/>
                <a:buChar char="n"/>
                <a:defRPr/>
              </a:pPr>
              <a:r>
                <a:rPr lang="en-US" altLang="zh-TW" sz="800" b="0">
                  <a:solidFill>
                    <a:srgbClr val="FFFFFF"/>
                  </a:solidFill>
                  <a:ea typeface="DFKaiShu-GB5"/>
                  <a:cs typeface="DFKaiShu-GB5" panose="03000509000000000000" pitchFamily="65" charset="-128"/>
                </a:rPr>
                <a:t>DBS is also consistently the dominant leader in Singapore capital markets</a:t>
              </a:r>
              <a:endParaRPr lang="zh-CN" altLang="zh-CN" sz="800" b="0">
                <a:solidFill>
                  <a:srgbClr val="FFFFFF"/>
                </a:solidFill>
                <a:ea typeface="DFKaiShu-GB5"/>
                <a:cs typeface="DFKaiShu-GB5" panose="03000509000000000000" pitchFamily="65" charset="-128"/>
              </a:endParaRPr>
            </a:p>
          </p:txBody>
        </p:sp>
        <p:sp>
          <p:nvSpPr>
            <p:cNvPr id="51" name="TextBox 62">
              <a:extLst>
                <a:ext uri="{FF2B5EF4-FFF2-40B4-BE49-F238E27FC236}">
                  <a16:creationId xmlns:a16="http://schemas.microsoft.com/office/drawing/2014/main" id="{D632710C-0E7E-4818-84C8-AA532C50E88D}"/>
                </a:ext>
              </a:extLst>
            </p:cNvPr>
            <p:cNvSpPr txBox="1">
              <a:spLocks noChangeArrowheads="1"/>
            </p:cNvSpPr>
            <p:nvPr/>
          </p:nvSpPr>
          <p:spPr bwMode="auto">
            <a:xfrm>
              <a:off x="5209860" y="2264961"/>
              <a:ext cx="1116816" cy="127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nchor="ct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defRPr/>
              </a:pPr>
              <a:r>
                <a:rPr lang="en-US" altLang="en-US" sz="831">
                  <a:solidFill>
                    <a:srgbClr val="FFFFFF"/>
                  </a:solidFill>
                  <a:ea typeface="DFKaiShu-GB5"/>
                  <a:cs typeface="DFKaiShu-GB5" panose="03000509000000000000" pitchFamily="65" charset="-128"/>
                </a:rPr>
                <a:t>Investment Banking</a:t>
              </a:r>
            </a:p>
          </p:txBody>
        </p:sp>
        <p:cxnSp>
          <p:nvCxnSpPr>
            <p:cNvPr id="52" name="Straight Connector 51">
              <a:extLst>
                <a:ext uri="{FF2B5EF4-FFF2-40B4-BE49-F238E27FC236}">
                  <a16:creationId xmlns:a16="http://schemas.microsoft.com/office/drawing/2014/main" id="{5C787C6B-F505-411E-A5F1-108EE3A01A2E}"/>
                </a:ext>
              </a:extLst>
            </p:cNvPr>
            <p:cNvCxnSpPr/>
            <p:nvPr/>
          </p:nvCxnSpPr>
          <p:spPr>
            <a:xfrm>
              <a:off x="4759280" y="2428114"/>
              <a:ext cx="194560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DBB66D8-40C5-4C80-8AB9-A5413312BD8A}"/>
                </a:ext>
              </a:extLst>
            </p:cNvPr>
            <p:cNvCxnSpPr/>
            <p:nvPr/>
          </p:nvCxnSpPr>
          <p:spPr>
            <a:xfrm>
              <a:off x="4792080" y="4584979"/>
              <a:ext cx="205091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A85FF83-8A78-49E4-B7DC-18B50A5CF0E5}"/>
                </a:ext>
              </a:extLst>
            </p:cNvPr>
            <p:cNvCxnSpPr/>
            <p:nvPr/>
          </p:nvCxnSpPr>
          <p:spPr>
            <a:xfrm>
              <a:off x="7222796" y="4584979"/>
              <a:ext cx="194561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5" name="Rectangle 127">
            <a:extLst>
              <a:ext uri="{FF2B5EF4-FFF2-40B4-BE49-F238E27FC236}">
                <a16:creationId xmlns:a16="http://schemas.microsoft.com/office/drawing/2014/main" id="{9F994B62-5C07-41CC-9619-BFB69E3416F2}"/>
              </a:ext>
            </a:extLst>
          </p:cNvPr>
          <p:cNvSpPr>
            <a:spLocks noChangeArrowheads="1"/>
          </p:cNvSpPr>
          <p:nvPr/>
        </p:nvSpPr>
        <p:spPr bwMode="gray">
          <a:xfrm>
            <a:off x="723900" y="2364858"/>
            <a:ext cx="381762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45720" rIns="0" bIns="45720" anchor="t">
            <a:spAutoFit/>
          </a:bodyPr>
          <a:lstStyle>
            <a:lvl1pPr marL="174625" indent="-174625">
              <a:tabLst>
                <a:tab pos="3543300" algn="r"/>
              </a:tabLst>
              <a:defRPr sz="2000">
                <a:solidFill>
                  <a:schemeClr val="tx1"/>
                </a:solidFill>
                <a:latin typeface="Arial" panose="020B0604020202020204" pitchFamily="34" charset="0"/>
              </a:defRPr>
            </a:lvl1pPr>
            <a:lvl2pPr marL="742950" indent="-285750">
              <a:tabLst>
                <a:tab pos="3543300" algn="r"/>
              </a:tabLst>
              <a:defRPr sz="2000">
                <a:solidFill>
                  <a:schemeClr val="tx1"/>
                </a:solidFill>
                <a:latin typeface="Arial" panose="020B0604020202020204" pitchFamily="34" charset="0"/>
              </a:defRPr>
            </a:lvl2pPr>
            <a:lvl3pPr marL="1143000" indent="-228600">
              <a:tabLst>
                <a:tab pos="3543300" algn="r"/>
              </a:tabLst>
              <a:defRPr sz="2000">
                <a:solidFill>
                  <a:schemeClr val="tx1"/>
                </a:solidFill>
                <a:latin typeface="Arial" panose="020B0604020202020204" pitchFamily="34" charset="0"/>
              </a:defRPr>
            </a:lvl3pPr>
            <a:lvl4pPr marL="1600200" indent="-228600">
              <a:tabLst>
                <a:tab pos="3543300" algn="r"/>
              </a:tabLst>
              <a:defRPr sz="2000">
                <a:solidFill>
                  <a:schemeClr val="tx1"/>
                </a:solidFill>
                <a:latin typeface="Arial" panose="020B0604020202020204" pitchFamily="34" charset="0"/>
              </a:defRPr>
            </a:lvl4pPr>
            <a:lvl5pPr marL="2057400" indent="-228600">
              <a:tabLst>
                <a:tab pos="3543300" algn="r"/>
              </a:tabLst>
              <a:defRPr sz="2000">
                <a:solidFill>
                  <a:schemeClr val="tx1"/>
                </a:solidFill>
                <a:latin typeface="Arial" panose="020B0604020202020204" pitchFamily="34" charset="0"/>
              </a:defRPr>
            </a:lvl5pPr>
            <a:lvl6pPr marL="25146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6pPr>
            <a:lvl7pPr marL="29718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7pPr>
            <a:lvl8pPr marL="34290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8pPr>
            <a:lvl9pPr marL="3886200" indent="-228600" eaLnBrk="0" fontAlgn="base" hangingPunct="0">
              <a:spcBef>
                <a:spcPct val="0"/>
              </a:spcBef>
              <a:spcAft>
                <a:spcPct val="0"/>
              </a:spcAft>
              <a:tabLst>
                <a:tab pos="3543300" algn="r"/>
              </a:tabLst>
              <a:defRPr sz="2000">
                <a:solidFill>
                  <a:schemeClr val="tx1"/>
                </a:solidFill>
                <a:latin typeface="Arial" panose="020B0604020202020204" pitchFamily="34" charset="0"/>
              </a:defRPr>
            </a:lvl9pPr>
          </a:lstStyle>
          <a:p>
            <a:pPr>
              <a:spcBef>
                <a:spcPts val="46"/>
              </a:spcBef>
              <a:spcAft>
                <a:spcPts val="46"/>
              </a:spcAft>
              <a:buClr>
                <a:srgbClr val="C00000"/>
              </a:buClr>
              <a:buFont typeface="Wingdings" panose="05000000000000000000" pitchFamily="2" charset="2"/>
              <a:buChar char="n"/>
              <a:tabLst>
                <a:tab pos="3603625" algn="r"/>
              </a:tabLst>
              <a:defRPr/>
            </a:pPr>
            <a:r>
              <a:rPr lang="en-US" altLang="zh-TW" sz="900" b="0" dirty="0">
                <a:solidFill>
                  <a:srgbClr val="000000"/>
                </a:solidFill>
                <a:latin typeface="Arial"/>
                <a:ea typeface="DFKaiShu-GB5"/>
                <a:cs typeface="DFKaiShu-GB5" panose="03000509000000000000" pitchFamily="65" charset="-128"/>
              </a:rPr>
              <a:t>Total assets</a:t>
            </a:r>
            <a:r>
              <a:rPr lang="en-US" altLang="zh-TW" sz="900" b="0" baseline="30000" dirty="0">
                <a:solidFill>
                  <a:srgbClr val="000000"/>
                </a:solidFill>
                <a:latin typeface="Arial"/>
                <a:ea typeface="DFKaiShu-GB5"/>
                <a:cs typeface="DFKaiShu-GB5" panose="03000509000000000000" pitchFamily="65" charset="-128"/>
              </a:rPr>
              <a:t>#</a:t>
            </a:r>
            <a:r>
              <a:rPr lang="en-US" altLang="zh-TW" sz="900" b="0" dirty="0">
                <a:solidFill>
                  <a:srgbClr val="000000"/>
                </a:solidFill>
                <a:latin typeface="Arial"/>
                <a:ea typeface="DFKaiShu-GB5"/>
                <a:cs typeface="DFKaiShu-GB5" panose="03000509000000000000" pitchFamily="65" charset="-128"/>
              </a:rPr>
              <a:t>: 	USD697.6bn</a:t>
            </a:r>
            <a:endParaRPr lang="en-US" altLang="zh-TW" sz="900" b="0" dirty="0">
              <a:solidFill>
                <a:srgbClr val="000000"/>
              </a:solidFill>
              <a:ea typeface="DFKaiShu-GB5"/>
              <a:cs typeface="DFKaiShu-GB5" panose="03000509000000000000" pitchFamily="65" charset="-128"/>
            </a:endParaRPr>
          </a:p>
          <a:p>
            <a:pPr>
              <a:spcBef>
                <a:spcPts val="46"/>
              </a:spcBef>
              <a:spcAft>
                <a:spcPts val="46"/>
              </a:spcAft>
              <a:buClr>
                <a:srgbClr val="C00000"/>
              </a:buClr>
              <a:buFont typeface="Wingdings" panose="05000000000000000000" pitchFamily="2" charset="2"/>
              <a:buChar char="n"/>
              <a:tabLst>
                <a:tab pos="3603625" algn="r"/>
              </a:tabLst>
              <a:defRPr/>
            </a:pPr>
            <a:r>
              <a:rPr lang="en-US" altLang="zh-TW" sz="900" b="0" dirty="0">
                <a:solidFill>
                  <a:srgbClr val="000000"/>
                </a:solidFill>
                <a:latin typeface="Arial"/>
                <a:ea typeface="DFKaiShu-GB5"/>
                <a:cs typeface="DFKaiShu-GB5" panose="03000509000000000000" pitchFamily="65" charset="-128"/>
              </a:rPr>
              <a:t>Net assets</a:t>
            </a:r>
            <a:r>
              <a:rPr lang="en-US" altLang="zh-TW" sz="900" b="0" baseline="30000" dirty="0">
                <a:solidFill>
                  <a:srgbClr val="000000"/>
                </a:solidFill>
                <a:latin typeface="Arial"/>
                <a:ea typeface="DFKaiShu-GB5"/>
                <a:cs typeface="DFKaiShu-GB5" panose="03000509000000000000" pitchFamily="65" charset="-128"/>
              </a:rPr>
              <a:t>#</a:t>
            </a:r>
            <a:r>
              <a:rPr lang="en-US" altLang="zh-TW" sz="900" b="0" dirty="0">
                <a:solidFill>
                  <a:srgbClr val="000000"/>
                </a:solidFill>
                <a:latin typeface="Arial"/>
                <a:ea typeface="DFKaiShu-GB5"/>
                <a:cs typeface="DFKaiShu-GB5" panose="03000509000000000000" pitchFamily="65" charset="-128"/>
              </a:rPr>
              <a:t>: 	 USD53.6bn</a:t>
            </a:r>
            <a:endParaRPr lang="en-US" altLang="zh-TW" sz="900" b="0" dirty="0">
              <a:solidFill>
                <a:srgbClr val="000000"/>
              </a:solidFill>
              <a:ea typeface="DFKaiShu-GB5"/>
              <a:cs typeface="DFKaiShu-GB5" panose="03000509000000000000" pitchFamily="65" charset="-128"/>
            </a:endParaRPr>
          </a:p>
          <a:p>
            <a:pPr>
              <a:spcBef>
                <a:spcPts val="46"/>
              </a:spcBef>
              <a:spcAft>
                <a:spcPts val="46"/>
              </a:spcAft>
              <a:buClr>
                <a:srgbClr val="C00000"/>
              </a:buClr>
              <a:buFont typeface="Wingdings" panose="05000000000000000000" pitchFamily="2" charset="2"/>
              <a:buChar char="n"/>
              <a:tabLst>
                <a:tab pos="3603625" algn="r"/>
              </a:tabLst>
              <a:defRPr/>
            </a:pPr>
            <a:r>
              <a:rPr lang="en-US" altLang="zh-TW" sz="900" b="0" dirty="0">
                <a:solidFill>
                  <a:srgbClr val="000000"/>
                </a:solidFill>
                <a:latin typeface="Arial"/>
                <a:ea typeface="DFKaiShu-GB5"/>
                <a:cs typeface="DFKaiShu-GB5" panose="03000509000000000000" pitchFamily="65" charset="-128"/>
              </a:rPr>
              <a:t>Revenue</a:t>
            </a:r>
            <a:r>
              <a:rPr lang="en-US" altLang="zh-TW" sz="900" b="0" baseline="30000" dirty="0">
                <a:solidFill>
                  <a:srgbClr val="000000"/>
                </a:solidFill>
                <a:latin typeface="Arial"/>
                <a:ea typeface="DFKaiShu-GB5"/>
                <a:cs typeface="DFKaiShu-GB5" panose="03000509000000000000" pitchFamily="65" charset="-128"/>
              </a:rPr>
              <a:t>*</a:t>
            </a:r>
            <a:r>
              <a:rPr lang="en-US" altLang="zh-TW" sz="900" b="0" dirty="0">
                <a:solidFill>
                  <a:srgbClr val="000000"/>
                </a:solidFill>
                <a:latin typeface="Arial"/>
                <a:ea typeface="DFKaiShu-GB5"/>
                <a:cs typeface="DFKaiShu-GB5" panose="03000509000000000000" pitchFamily="65" charset="-128"/>
              </a:rPr>
              <a:t>: 	 USD18.3bn</a:t>
            </a:r>
            <a:endParaRPr lang="en-US" altLang="zh-TW" sz="900" b="0" dirty="0">
              <a:solidFill>
                <a:srgbClr val="000000"/>
              </a:solidFill>
              <a:ea typeface="DFKaiShu-GB5"/>
              <a:cs typeface="DFKaiShu-GB5" panose="03000509000000000000" pitchFamily="65" charset="-128"/>
            </a:endParaRPr>
          </a:p>
          <a:p>
            <a:pPr>
              <a:spcBef>
                <a:spcPts val="46"/>
              </a:spcBef>
              <a:spcAft>
                <a:spcPts val="46"/>
              </a:spcAft>
              <a:buClr>
                <a:srgbClr val="C00000"/>
              </a:buClr>
              <a:buFont typeface="Wingdings" panose="05000000000000000000" pitchFamily="2" charset="2"/>
              <a:buChar char="n"/>
              <a:tabLst>
                <a:tab pos="3603625" algn="r"/>
              </a:tabLst>
              <a:defRPr/>
            </a:pPr>
            <a:r>
              <a:rPr lang="en-US" altLang="zh-TW" sz="900" b="0" dirty="0">
                <a:solidFill>
                  <a:srgbClr val="000000"/>
                </a:solidFill>
                <a:latin typeface="Arial"/>
                <a:ea typeface="DFKaiShu-GB5"/>
                <a:cs typeface="DFKaiShu-GB5" panose="03000509000000000000" pitchFamily="65" charset="-128"/>
              </a:rPr>
              <a:t>Net profit</a:t>
            </a:r>
            <a:r>
              <a:rPr lang="en-US" altLang="zh-TW" sz="900" b="0" baseline="30000" dirty="0">
                <a:solidFill>
                  <a:srgbClr val="000000"/>
                </a:solidFill>
                <a:latin typeface="Arial"/>
                <a:ea typeface="DFKaiShu-GB5"/>
                <a:cs typeface="DFKaiShu-GB5" panose="03000509000000000000" pitchFamily="65" charset="-128"/>
              </a:rPr>
              <a:t>*</a:t>
            </a:r>
            <a:r>
              <a:rPr lang="en-US" altLang="zh-TW" sz="900" b="0" dirty="0">
                <a:solidFill>
                  <a:srgbClr val="000000"/>
                </a:solidFill>
                <a:latin typeface="Arial"/>
                <a:ea typeface="DFKaiShu-GB5"/>
                <a:cs typeface="DFKaiShu-GB5" panose="03000509000000000000" pitchFamily="65" charset="-128"/>
              </a:rPr>
              <a:t>:	 USD8.4bn</a:t>
            </a:r>
            <a:endParaRPr lang="en-US" altLang="zh-TW" sz="900" b="0" dirty="0">
              <a:solidFill>
                <a:srgbClr val="000000"/>
              </a:solidFill>
              <a:ea typeface="DFKaiShu-GB5"/>
              <a:cs typeface="DFKaiShu-GB5" panose="03000509000000000000" pitchFamily="65" charset="-128"/>
            </a:endParaRPr>
          </a:p>
          <a:p>
            <a:pPr>
              <a:spcBef>
                <a:spcPts val="46"/>
              </a:spcBef>
              <a:spcAft>
                <a:spcPts val="46"/>
              </a:spcAft>
              <a:buClr>
                <a:srgbClr val="C00000"/>
              </a:buClr>
              <a:buFont typeface="Wingdings" panose="05000000000000000000" pitchFamily="2" charset="2"/>
              <a:buChar char="n"/>
              <a:tabLst>
                <a:tab pos="3603625" algn="r"/>
              </a:tabLst>
              <a:defRPr/>
            </a:pPr>
            <a:r>
              <a:rPr lang="en-US" altLang="zh-TW" sz="900" b="0" dirty="0">
                <a:solidFill>
                  <a:srgbClr val="000000"/>
                </a:solidFill>
                <a:latin typeface="Arial"/>
                <a:ea typeface="DFKaiShu-GB5"/>
                <a:cs typeface="DFKaiShu-GB5" panose="03000509000000000000" pitchFamily="65" charset="-128"/>
              </a:rPr>
              <a:t>Market capitalization</a:t>
            </a:r>
            <a:r>
              <a:rPr lang="en-US" altLang="zh-TW" sz="900" b="0" baseline="30000" dirty="0">
                <a:solidFill>
                  <a:srgbClr val="000000"/>
                </a:solidFill>
                <a:latin typeface="Arial"/>
                <a:ea typeface="DFKaiShu-GB5"/>
                <a:cs typeface="DFKaiShu-GB5" panose="03000509000000000000" pitchFamily="65" charset="-128"/>
              </a:rPr>
              <a:t>^</a:t>
            </a:r>
            <a:r>
              <a:rPr lang="en-US" altLang="zh-TW" sz="900" b="0" dirty="0">
                <a:solidFill>
                  <a:srgbClr val="000000"/>
                </a:solidFill>
                <a:latin typeface="Arial"/>
                <a:ea typeface="DFKaiShu-GB5"/>
                <a:cs typeface="DFKaiShu-GB5" panose="03000509000000000000" pitchFamily="65" charset="-128"/>
              </a:rPr>
              <a:t>: 	 USD134.0bn</a:t>
            </a:r>
            <a:endParaRPr lang="en-US" altLang="zh-TW" sz="900" b="0" dirty="0">
              <a:solidFill>
                <a:srgbClr val="000000"/>
              </a:solidFill>
              <a:ea typeface="DFKaiShu-GB5"/>
              <a:cs typeface="DFKaiShu-GB5" panose="03000509000000000000" pitchFamily="65" charset="-128"/>
            </a:endParaRPr>
          </a:p>
          <a:p>
            <a:pPr marL="0" indent="0">
              <a:spcBef>
                <a:spcPts val="46"/>
              </a:spcBef>
              <a:spcAft>
                <a:spcPts val="46"/>
              </a:spcAft>
              <a:buClr>
                <a:srgbClr val="C00000"/>
              </a:buClr>
              <a:tabLst>
                <a:tab pos="3603625" algn="r"/>
              </a:tabLst>
              <a:defRPr/>
            </a:pPr>
            <a:r>
              <a:rPr lang="en-US" altLang="zh-TW" sz="900" b="0" dirty="0">
                <a:solidFill>
                  <a:srgbClr val="000000"/>
                </a:solidFill>
                <a:ea typeface="DFKaiShu-GB5"/>
                <a:cs typeface="DFKaiShu-GB5" panose="03000509000000000000" pitchFamily="65" charset="-128"/>
              </a:rPr>
              <a:t>Credit ratings Aa1/AA-/ AA-(Moody’s/S&amp;P/Fitch), one of the highest in Asia</a:t>
            </a:r>
          </a:p>
        </p:txBody>
      </p:sp>
      <p:sp>
        <p:nvSpPr>
          <p:cNvPr id="56" name="Rectangle 139">
            <a:extLst>
              <a:ext uri="{FF2B5EF4-FFF2-40B4-BE49-F238E27FC236}">
                <a16:creationId xmlns:a16="http://schemas.microsoft.com/office/drawing/2014/main" id="{E027888C-7BB5-433A-9DA1-8C0F98F022E4}"/>
              </a:ext>
            </a:extLst>
          </p:cNvPr>
          <p:cNvSpPr>
            <a:spLocks noChangeArrowheads="1"/>
          </p:cNvSpPr>
          <p:nvPr/>
        </p:nvSpPr>
        <p:spPr bwMode="gray">
          <a:xfrm>
            <a:off x="723900" y="3263871"/>
            <a:ext cx="3585803" cy="468718"/>
          </a:xfrm>
          <a:prstGeom prst="rect">
            <a:avLst/>
          </a:prstGeom>
          <a:noFill/>
          <a:ln w="9525">
            <a:noFill/>
            <a:miter lim="800000"/>
            <a:headEnd/>
            <a:tailEnd/>
          </a:ln>
        </p:spPr>
        <p:txBody>
          <a:bodyPr wrap="square" lIns="42203" tIns="45720" rIns="42203" bIns="45720" anchor="b">
            <a:spAutoFit/>
          </a:bodyPr>
          <a:lstStyle/>
          <a:p>
            <a:pPr fontAlgn="auto">
              <a:spcBef>
                <a:spcPts val="0"/>
              </a:spcBef>
              <a:spcAft>
                <a:spcPts val="0"/>
              </a:spcAft>
              <a:tabLst>
                <a:tab pos="211021" algn="l"/>
              </a:tabLst>
              <a:defRPr/>
            </a:pPr>
            <a:r>
              <a:rPr lang="en-US" altLang="zh-CN" sz="600" b="0" i="1" dirty="0">
                <a:solidFill>
                  <a:srgbClr val="000000"/>
                </a:solidFill>
                <a:latin typeface="Arial"/>
                <a:ea typeface="DFKaiShu-GB5"/>
                <a:cs typeface="Arial"/>
              </a:rPr>
              <a:t># As of 31 December 2025</a:t>
            </a:r>
          </a:p>
          <a:p>
            <a:pPr fontAlgn="auto">
              <a:spcBef>
                <a:spcPts val="0"/>
              </a:spcBef>
              <a:spcAft>
                <a:spcPts val="0"/>
              </a:spcAft>
              <a:tabLst>
                <a:tab pos="211021" algn="l"/>
              </a:tabLst>
              <a:defRPr/>
            </a:pPr>
            <a:r>
              <a:rPr lang="en-US" altLang="zh-CN" sz="600" b="0" i="1" dirty="0">
                <a:solidFill>
                  <a:srgbClr val="000000"/>
                </a:solidFill>
                <a:latin typeface="Arial"/>
                <a:ea typeface="DFKaiShu-GB5"/>
                <a:cs typeface="Arial"/>
              </a:rPr>
              <a:t>*As of 31 December 2025</a:t>
            </a:r>
            <a:endParaRPr lang="en-US" altLang="zh-CN" sz="646" i="1" dirty="0">
              <a:solidFill>
                <a:srgbClr val="000000"/>
              </a:solidFill>
              <a:latin typeface="Arial" panose="020B0604020202020204" pitchFamily="34" charset="0"/>
              <a:ea typeface="DFKaiShu-GB5"/>
            </a:endParaRPr>
          </a:p>
          <a:p>
            <a:pPr fontAlgn="auto">
              <a:spcBef>
                <a:spcPts val="0"/>
              </a:spcBef>
              <a:spcAft>
                <a:spcPts val="0"/>
              </a:spcAft>
              <a:tabLst>
                <a:tab pos="211021" algn="l"/>
              </a:tabLst>
              <a:defRPr/>
            </a:pPr>
            <a:r>
              <a:rPr lang="en-US" altLang="zh-CN" sz="600" i="1" dirty="0">
                <a:solidFill>
                  <a:srgbClr val="000000"/>
                </a:solidFill>
                <a:latin typeface="Arial"/>
                <a:ea typeface="DFKaiShu-GB5"/>
                <a:cs typeface="Arial"/>
              </a:rPr>
              <a:t>^</a:t>
            </a:r>
            <a:r>
              <a:rPr lang="en-US" altLang="zh-CN" sz="600" b="0" i="1" dirty="0">
                <a:solidFill>
                  <a:srgbClr val="000000"/>
                </a:solidFill>
                <a:latin typeface="Arial"/>
                <a:ea typeface="DFKaiShu-GB5"/>
                <a:cs typeface="Arial"/>
              </a:rPr>
              <a:t>As of 14 May 2026</a:t>
            </a:r>
            <a:endParaRPr lang="en-US" altLang="zh-CN" sz="600" i="1" dirty="0">
              <a:solidFill>
                <a:srgbClr val="000000"/>
              </a:solidFill>
              <a:latin typeface="Arial"/>
              <a:ea typeface="DFKaiShu-GB5"/>
              <a:cs typeface="Arial"/>
            </a:endParaRPr>
          </a:p>
          <a:p>
            <a:pPr fontAlgn="auto">
              <a:spcBef>
                <a:spcPts val="0"/>
              </a:spcBef>
              <a:spcAft>
                <a:spcPts val="0"/>
              </a:spcAft>
              <a:tabLst>
                <a:tab pos="211021" algn="l"/>
              </a:tabLst>
              <a:defRPr/>
            </a:pPr>
            <a:r>
              <a:rPr lang="en-US" altLang="zh-CN" sz="646" b="0" i="1" dirty="0">
                <a:solidFill>
                  <a:srgbClr val="000000"/>
                </a:solidFill>
                <a:latin typeface="Arial" panose="020B0604020202020204" pitchFamily="34" charset="0"/>
                <a:ea typeface="DFKaiShu-GB5"/>
                <a:cs typeface="+mn-cs"/>
              </a:rPr>
              <a:t>1 Singapore Dollar (S$) = 0.79 US Dollars (USD)</a:t>
            </a:r>
          </a:p>
        </p:txBody>
      </p:sp>
      <p:sp>
        <p:nvSpPr>
          <p:cNvPr id="62" name="Rectangle 129">
            <a:extLst>
              <a:ext uri="{FF2B5EF4-FFF2-40B4-BE49-F238E27FC236}">
                <a16:creationId xmlns:a16="http://schemas.microsoft.com/office/drawing/2014/main" id="{42ECC3A6-7311-46B5-A4F4-4D4552B96C8B}"/>
              </a:ext>
            </a:extLst>
          </p:cNvPr>
          <p:cNvSpPr>
            <a:spLocks noChangeArrowheads="1"/>
          </p:cNvSpPr>
          <p:nvPr/>
        </p:nvSpPr>
        <p:spPr bwMode="gray">
          <a:xfrm>
            <a:off x="723899" y="3760310"/>
            <a:ext cx="3817620" cy="235926"/>
          </a:xfrm>
          <a:prstGeom prst="rect">
            <a:avLst/>
          </a:prstGeom>
          <a:gradFill>
            <a:gsLst>
              <a:gs pos="0">
                <a:srgbClr val="760000"/>
              </a:gs>
              <a:gs pos="45000">
                <a:srgbClr val="AB0000"/>
              </a:gs>
              <a:gs pos="100000">
                <a:srgbClr val="CC0000"/>
              </a:gs>
            </a:gsLst>
          </a:gradFill>
          <a:ln>
            <a:headEnd/>
            <a:tailEnd/>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50000"/>
              </a:spcBef>
              <a:defRPr/>
            </a:pPr>
            <a:r>
              <a:rPr lang="en-US" altLang="zh-TW" sz="969">
                <a:solidFill>
                  <a:srgbClr val="FFFFFF"/>
                </a:solidFill>
                <a:latin typeface="Arial" panose="020B0604020202020204" pitchFamily="34" charset="0"/>
                <a:ea typeface="DFKaiShu-GB5"/>
              </a:rPr>
              <a:t>D</a:t>
            </a:r>
            <a:r>
              <a:rPr lang="en-US" altLang="zh-CN" sz="969">
                <a:solidFill>
                  <a:srgbClr val="FFFFFF"/>
                </a:solidFill>
                <a:latin typeface="Arial" panose="020B0604020202020204" pitchFamily="34" charset="0"/>
                <a:ea typeface="DFKaiShu-GB5"/>
              </a:rPr>
              <a:t>BS Awards </a:t>
            </a:r>
            <a:endParaRPr lang="en-US" altLang="zh-TW" sz="969">
              <a:solidFill>
                <a:srgbClr val="FFFFFF"/>
              </a:solidFill>
              <a:latin typeface="Arial" panose="020B0604020202020204" pitchFamily="34" charset="0"/>
              <a:ea typeface="DFKaiShu-GB5"/>
            </a:endParaRPr>
          </a:p>
        </p:txBody>
      </p:sp>
      <p:sp>
        <p:nvSpPr>
          <p:cNvPr id="48" name="Rectangle 127">
            <a:extLst>
              <a:ext uri="{FF2B5EF4-FFF2-40B4-BE49-F238E27FC236}">
                <a16:creationId xmlns:a16="http://schemas.microsoft.com/office/drawing/2014/main" id="{1BAACAC1-46B7-4352-B265-2D14356E3CA7}"/>
              </a:ext>
            </a:extLst>
          </p:cNvPr>
          <p:cNvSpPr>
            <a:spLocks noChangeArrowheads="1"/>
          </p:cNvSpPr>
          <p:nvPr/>
        </p:nvSpPr>
        <p:spPr bwMode="gray">
          <a:xfrm>
            <a:off x="1391922" y="4091443"/>
            <a:ext cx="3149597" cy="692497"/>
          </a:xfrm>
          <a:prstGeom prst="rect">
            <a:avLst/>
          </a:prstGeom>
          <a:noFill/>
          <a:ln w="9525">
            <a:noFill/>
            <a:miter lim="800000"/>
            <a:headEnd/>
            <a:tailEnd/>
          </a:ln>
        </p:spPr>
        <p:txBody>
          <a:bodyPr wrap="square" lIns="0" tIns="0" rIns="0" bIns="0">
            <a:spAutoFit/>
          </a:bodyPr>
          <a:lstStyle/>
          <a:p>
            <a:pPr marL="158265" indent="-158265" fontAlgn="auto">
              <a:spcBef>
                <a:spcPts val="0"/>
              </a:spcBef>
              <a:spcAft>
                <a:spcPts val="0"/>
              </a:spcAft>
              <a:buClr>
                <a:srgbClr val="C00000"/>
              </a:buClr>
              <a:buFont typeface="Wingdings" pitchFamily="2" charset="2"/>
              <a:buChar char="n"/>
              <a:tabLst>
                <a:tab pos="3270820" algn="r"/>
              </a:tabLst>
              <a:defRPr/>
            </a:pPr>
            <a:r>
              <a:rPr lang="en-US" altLang="zh-TW" sz="900" kern="0">
                <a:solidFill>
                  <a:srgbClr val="C00000"/>
                </a:solidFill>
                <a:latin typeface="Arial" panose="020B0604020202020204" pitchFamily="34" charset="0"/>
                <a:ea typeface="DFKaiShu-GB5"/>
                <a:cs typeface="DFKaiShu-GB5" pitchFamily="65" charset="-128"/>
              </a:rPr>
              <a:t>Best Corporate/Institutional Digital Banks </a:t>
            </a:r>
            <a:r>
              <a:rPr lang="en-US" altLang="zh-TW" sz="900" kern="0">
                <a:solidFill>
                  <a:schemeClr val="tx1"/>
                </a:solidFill>
                <a:latin typeface="Arial" panose="020B0604020202020204" pitchFamily="34" charset="0"/>
                <a:ea typeface="DFKaiShu-GB5"/>
                <a:cs typeface="DFKaiShu-GB5" pitchFamily="65" charset="-128"/>
              </a:rPr>
              <a:t>2023</a:t>
            </a:r>
          </a:p>
          <a:p>
            <a:pPr marL="158265" indent="-158265" fontAlgn="auto">
              <a:spcBef>
                <a:spcPts val="0"/>
              </a:spcBef>
              <a:spcAft>
                <a:spcPts val="0"/>
              </a:spcAft>
              <a:buClr>
                <a:srgbClr val="C00000"/>
              </a:buClr>
              <a:buFont typeface="Wingdings" pitchFamily="2" charset="2"/>
              <a:buChar char="n"/>
              <a:tabLst>
                <a:tab pos="3270820" algn="r"/>
              </a:tabLst>
              <a:defRPr/>
            </a:pPr>
            <a:r>
              <a:rPr lang="en-US" altLang="zh-TW" sz="900" kern="0">
                <a:solidFill>
                  <a:srgbClr val="C00000"/>
                </a:solidFill>
                <a:latin typeface="Arial" panose="020B0604020202020204" pitchFamily="34" charset="0"/>
                <a:ea typeface="DFKaiShu-GB5"/>
                <a:cs typeface="DFKaiShu-GB5" pitchFamily="65" charset="-128"/>
              </a:rPr>
              <a:t>Best Bank in Emerging Markets, Global </a:t>
            </a:r>
            <a:r>
              <a:rPr lang="en-US" altLang="zh-TW" sz="900" kern="0">
                <a:solidFill>
                  <a:srgbClr val="000000"/>
                </a:solidFill>
                <a:latin typeface="Arial" panose="020B0604020202020204" pitchFamily="34" charset="0"/>
                <a:ea typeface="DFKaiShu-GB5"/>
                <a:cs typeface="DFKaiShu-GB5" pitchFamily="65" charset="-128"/>
              </a:rPr>
              <a:t>2022</a:t>
            </a:r>
            <a:endParaRPr lang="en-US" altLang="zh-TW" sz="900" kern="0">
              <a:solidFill>
                <a:srgbClr val="C00000"/>
              </a:solidFill>
              <a:latin typeface="Arial" panose="020B0604020202020204" pitchFamily="34" charset="0"/>
              <a:ea typeface="DFKaiShu-GB5"/>
              <a:cs typeface="DFKaiShu-GB5" pitchFamily="65" charset="-128"/>
            </a:endParaRPr>
          </a:p>
          <a:p>
            <a:pPr marL="158265" indent="-158265" fontAlgn="auto">
              <a:spcBef>
                <a:spcPts val="0"/>
              </a:spcBef>
              <a:spcAft>
                <a:spcPts val="0"/>
              </a:spcAft>
              <a:buClr>
                <a:srgbClr val="C00000"/>
              </a:buClr>
              <a:buFont typeface="Wingdings" pitchFamily="2" charset="2"/>
              <a:buChar char="n"/>
              <a:tabLst>
                <a:tab pos="3270820" algn="r"/>
              </a:tabLst>
              <a:defRPr/>
            </a:pPr>
            <a:r>
              <a:rPr lang="en-US" altLang="zh-TW" sz="900" kern="0">
                <a:solidFill>
                  <a:srgbClr val="C00000"/>
                </a:solidFill>
                <a:latin typeface="Arial" panose="020B0604020202020204" pitchFamily="34" charset="0"/>
                <a:ea typeface="DFKaiShu-GB5"/>
                <a:cs typeface="DFKaiShu-GB5" pitchFamily="65" charset="-128"/>
              </a:rPr>
              <a:t>Best Bank in the world </a:t>
            </a:r>
            <a:r>
              <a:rPr lang="en-US" altLang="zh-TW" sz="900" kern="0">
                <a:solidFill>
                  <a:srgbClr val="000000"/>
                </a:solidFill>
                <a:latin typeface="Arial" panose="020B0604020202020204" pitchFamily="34" charset="0"/>
                <a:ea typeface="DFKaiShu-GB5"/>
                <a:cs typeface="DFKaiShu-GB5" pitchFamily="65" charset="-128"/>
              </a:rPr>
              <a:t>2018 and 2020</a:t>
            </a:r>
            <a:endParaRPr lang="zh-CN" altLang="en-US" sz="900" kern="0">
              <a:solidFill>
                <a:srgbClr val="BE050A"/>
              </a:solidFill>
              <a:latin typeface="Arial" panose="020B0604020202020204" pitchFamily="34" charset="0"/>
              <a:ea typeface="DFKaiShu-GB5"/>
              <a:cs typeface="DFKaiShu-GB5" pitchFamily="65" charset="-128"/>
            </a:endParaRPr>
          </a:p>
          <a:p>
            <a:pPr marL="158265" indent="-158265">
              <a:spcBef>
                <a:spcPts val="0"/>
              </a:spcBef>
              <a:spcAft>
                <a:spcPts val="0"/>
              </a:spcAft>
              <a:buClr>
                <a:srgbClr val="C00000"/>
              </a:buClr>
              <a:buFont typeface="Wingdings" pitchFamily="2" charset="2"/>
              <a:buChar char="n"/>
              <a:tabLst>
                <a:tab pos="3270820" algn="r"/>
              </a:tabLst>
              <a:defRPr/>
            </a:pPr>
            <a:r>
              <a:rPr lang="en-US" altLang="zh-CN" sz="900" kern="0">
                <a:solidFill>
                  <a:srgbClr val="000000"/>
                </a:solidFill>
                <a:latin typeface="Arial" panose="020B0604020202020204" pitchFamily="34" charset="0"/>
                <a:ea typeface="DFKaiShu-GB5"/>
                <a:cs typeface="DFKaiShu-GB5" pitchFamily="65" charset="-128"/>
              </a:rPr>
              <a:t>From 2009-2023, DBS was titled </a:t>
            </a:r>
            <a:r>
              <a:rPr lang="en-US" altLang="zh-CN" sz="900" kern="0">
                <a:solidFill>
                  <a:srgbClr val="C00000"/>
                </a:solidFill>
                <a:latin typeface="Arial" panose="020B0604020202020204" pitchFamily="34" charset="0"/>
                <a:ea typeface="DFKaiShu-GB5"/>
                <a:cs typeface="DFKaiShu-GB5" pitchFamily="65" charset="-128"/>
              </a:rPr>
              <a:t>the Safest Bank in Asia</a:t>
            </a:r>
            <a:r>
              <a:rPr lang="en-US" altLang="zh-CN" sz="900" kern="0">
                <a:solidFill>
                  <a:srgbClr val="000000"/>
                </a:solidFill>
                <a:latin typeface="Arial" panose="020B0604020202020204" pitchFamily="34" charset="0"/>
                <a:ea typeface="DFKaiShu-GB5"/>
                <a:cs typeface="DFKaiShu-GB5" pitchFamily="65" charset="-128"/>
              </a:rPr>
              <a:t> – Ranked No.1 in Asia</a:t>
            </a:r>
            <a:endParaRPr lang="en-US" altLang="zh-CN" sz="900" b="0" kern="0">
              <a:solidFill>
                <a:srgbClr val="000000"/>
              </a:solidFill>
              <a:latin typeface="Arial" panose="020B0604020202020204" pitchFamily="34" charset="0"/>
              <a:ea typeface="DFKaiShu-GB5"/>
              <a:cs typeface="DFKaiShu-GB5" pitchFamily="65" charset="-128"/>
            </a:endParaRPr>
          </a:p>
        </p:txBody>
      </p:sp>
      <p:sp>
        <p:nvSpPr>
          <p:cNvPr id="49" name="Rectangle 127">
            <a:extLst>
              <a:ext uri="{FF2B5EF4-FFF2-40B4-BE49-F238E27FC236}">
                <a16:creationId xmlns:a16="http://schemas.microsoft.com/office/drawing/2014/main" id="{69170CD4-6FDF-4C1E-BAAC-1D3FDF350FBD}"/>
              </a:ext>
            </a:extLst>
          </p:cNvPr>
          <p:cNvSpPr>
            <a:spLocks noChangeArrowheads="1"/>
          </p:cNvSpPr>
          <p:nvPr/>
        </p:nvSpPr>
        <p:spPr bwMode="gray">
          <a:xfrm>
            <a:off x="1391922" y="4854206"/>
            <a:ext cx="3149597" cy="692497"/>
          </a:xfrm>
          <a:prstGeom prst="rect">
            <a:avLst/>
          </a:prstGeom>
          <a:noFill/>
          <a:ln w="9525">
            <a:noFill/>
            <a:miter lim="800000"/>
            <a:headEnd/>
            <a:tailEnd/>
          </a:ln>
        </p:spPr>
        <p:txBody>
          <a:bodyPr wrap="square" lIns="0" tIns="0" rIns="0" bIns="0">
            <a:spAutoFit/>
          </a:bodyPr>
          <a:lstStyle/>
          <a:p>
            <a:pPr marL="158265" indent="-158265" eaLnBrk="0" hangingPunct="0">
              <a:spcBef>
                <a:spcPts val="0"/>
              </a:spcBef>
              <a:buClr>
                <a:srgbClr val="C00000"/>
              </a:buClr>
              <a:buFont typeface="Wingdings" pitchFamily="2" charset="2"/>
              <a:buChar char="n"/>
              <a:tabLst>
                <a:tab pos="3270820" algn="r"/>
              </a:tabLst>
              <a:defRPr/>
            </a:pPr>
            <a:r>
              <a:rPr lang="en-US" altLang="zh-CN" sz="900" kern="0">
                <a:solidFill>
                  <a:srgbClr val="C00000"/>
                </a:solidFill>
                <a:latin typeface="Arial" panose="020B0604020202020204" pitchFamily="34" charset="0"/>
                <a:ea typeface="DFKaiShu-GB5"/>
                <a:cs typeface="DFKaiShu-GB5" pitchFamily="65" charset="-128"/>
              </a:rPr>
              <a:t>Best Bank for Wealth Management, Asia </a:t>
            </a:r>
            <a:r>
              <a:rPr lang="en-US" altLang="zh-CN" sz="900" kern="0">
                <a:solidFill>
                  <a:srgbClr val="000000"/>
                </a:solidFill>
                <a:latin typeface="Arial" panose="020B0604020202020204" pitchFamily="34" charset="0"/>
                <a:ea typeface="DFKaiShu-GB5"/>
                <a:cs typeface="DFKaiShu-GB5" pitchFamily="65" charset="-128"/>
              </a:rPr>
              <a:t>2022-2024</a:t>
            </a:r>
          </a:p>
          <a:p>
            <a:pPr marL="158265" indent="-158265" eaLnBrk="0" hangingPunct="0">
              <a:spcBef>
                <a:spcPts val="0"/>
              </a:spcBef>
              <a:buClr>
                <a:srgbClr val="C00000"/>
              </a:buClr>
              <a:buFont typeface="Wingdings" pitchFamily="2" charset="2"/>
              <a:buChar char="n"/>
              <a:tabLst>
                <a:tab pos="3270820" algn="r"/>
              </a:tabLst>
              <a:defRPr/>
            </a:pPr>
            <a:r>
              <a:rPr lang="en-US" altLang="zh-CN" sz="900" kern="0">
                <a:solidFill>
                  <a:srgbClr val="C00000"/>
                </a:solidFill>
                <a:latin typeface="Arial" panose="020B0604020202020204" pitchFamily="34" charset="0"/>
                <a:ea typeface="DFKaiShu-GB5"/>
                <a:cs typeface="DFKaiShu-GB5" pitchFamily="65" charset="-128"/>
              </a:rPr>
              <a:t>World’s Best Bank for Corporate Responsibility </a:t>
            </a:r>
            <a:r>
              <a:rPr lang="en-US" altLang="zh-CN" sz="900" kern="0">
                <a:solidFill>
                  <a:schemeClr val="tx1"/>
                </a:solidFill>
                <a:latin typeface="Arial" panose="020B0604020202020204" pitchFamily="34" charset="0"/>
                <a:ea typeface="DFKaiShu-GB5"/>
                <a:cs typeface="DFKaiShu-GB5" pitchFamily="65" charset="-128"/>
              </a:rPr>
              <a:t>2023</a:t>
            </a:r>
          </a:p>
          <a:p>
            <a:pPr marL="158265" indent="-158265" eaLnBrk="0" hangingPunct="0">
              <a:spcBef>
                <a:spcPts val="0"/>
              </a:spcBef>
              <a:buClr>
                <a:srgbClr val="C00000"/>
              </a:buClr>
              <a:buFont typeface="Wingdings" pitchFamily="2" charset="2"/>
              <a:buChar char="n"/>
              <a:tabLst>
                <a:tab pos="3270820" algn="r"/>
              </a:tabLst>
              <a:defRPr/>
            </a:pPr>
            <a:r>
              <a:rPr lang="en-US" altLang="zh-CN" sz="900" kern="0">
                <a:solidFill>
                  <a:srgbClr val="C00000"/>
                </a:solidFill>
                <a:latin typeface="Arial" panose="020B0604020202020204" pitchFamily="34" charset="0"/>
                <a:ea typeface="DFKaiShu-GB5"/>
                <a:cs typeface="DFKaiShu-GB5" pitchFamily="65" charset="-128"/>
              </a:rPr>
              <a:t>Best Bank for SMEs, Global </a:t>
            </a:r>
            <a:r>
              <a:rPr lang="en-US" altLang="zh-CN" sz="900" kern="0">
                <a:solidFill>
                  <a:srgbClr val="000000"/>
                </a:solidFill>
                <a:latin typeface="Arial" panose="020B0604020202020204" pitchFamily="34" charset="0"/>
                <a:ea typeface="DFKaiShu-GB5"/>
                <a:cs typeface="DFKaiShu-GB5" pitchFamily="65" charset="-128"/>
              </a:rPr>
              <a:t>2022</a:t>
            </a:r>
          </a:p>
          <a:p>
            <a:pPr marL="158265" indent="-158265" eaLnBrk="0" hangingPunct="0">
              <a:spcBef>
                <a:spcPts val="0"/>
              </a:spcBef>
              <a:buClr>
                <a:srgbClr val="C00000"/>
              </a:buClr>
              <a:buFont typeface="Wingdings" pitchFamily="2" charset="2"/>
              <a:buChar char="n"/>
              <a:tabLst>
                <a:tab pos="3270820" algn="r"/>
              </a:tabLst>
              <a:defRPr/>
            </a:pPr>
            <a:r>
              <a:rPr lang="en-US" altLang="zh-CN" sz="900" kern="0">
                <a:solidFill>
                  <a:srgbClr val="C00000"/>
                </a:solidFill>
                <a:latin typeface="Arial" panose="020B0604020202020204" pitchFamily="34" charset="0"/>
                <a:ea typeface="DFKaiShu-GB5"/>
                <a:cs typeface="DFKaiShu-GB5" pitchFamily="65" charset="-128"/>
              </a:rPr>
              <a:t>World’s Best Bank </a:t>
            </a:r>
            <a:r>
              <a:rPr lang="en-US" altLang="zh-CN" sz="900" kern="0">
                <a:solidFill>
                  <a:srgbClr val="000000"/>
                </a:solidFill>
                <a:latin typeface="Arial" panose="020B0604020202020204" pitchFamily="34" charset="0"/>
                <a:ea typeface="DFKaiShu-GB5"/>
                <a:cs typeface="DFKaiShu-GB5" pitchFamily="65" charset="-128"/>
              </a:rPr>
              <a:t>2019 and 2021</a:t>
            </a:r>
            <a:endParaRPr lang="en-US" altLang="zh-CN" sz="900" kern="0">
              <a:solidFill>
                <a:srgbClr val="C00000"/>
              </a:solidFill>
              <a:latin typeface="Arial" panose="020B0604020202020204" pitchFamily="34" charset="0"/>
              <a:ea typeface="DFKaiShu-GB5"/>
              <a:cs typeface="DFKaiShu-GB5" pitchFamily="65" charset="-128"/>
            </a:endParaRPr>
          </a:p>
          <a:p>
            <a:pPr marL="158265" indent="-158265" eaLnBrk="0" hangingPunct="0">
              <a:spcBef>
                <a:spcPts val="0"/>
              </a:spcBef>
              <a:buClr>
                <a:srgbClr val="C00000"/>
              </a:buClr>
              <a:buFont typeface="Wingdings" pitchFamily="2" charset="2"/>
              <a:buChar char="n"/>
              <a:tabLst>
                <a:tab pos="3270820" algn="r"/>
              </a:tabLst>
              <a:defRPr/>
            </a:pPr>
            <a:r>
              <a:rPr lang="en-US" altLang="zh-CN" sz="900" kern="0">
                <a:solidFill>
                  <a:srgbClr val="C00000"/>
                </a:solidFill>
                <a:latin typeface="Arial" panose="020B0604020202020204" pitchFamily="34" charset="0"/>
                <a:ea typeface="DFKaiShu-GB5"/>
                <a:cs typeface="DFKaiShu-GB5" pitchFamily="65" charset="-128"/>
              </a:rPr>
              <a:t>World’s Best Digital Bank </a:t>
            </a:r>
            <a:r>
              <a:rPr lang="en-US" altLang="zh-CN" sz="900" kern="0">
                <a:solidFill>
                  <a:schemeClr val="tx1"/>
                </a:solidFill>
                <a:latin typeface="Arial" panose="020B0604020202020204" pitchFamily="34" charset="0"/>
                <a:ea typeface="DFKaiShu-GB5"/>
                <a:cs typeface="DFKaiShu-GB5" pitchFamily="65" charset="-128"/>
              </a:rPr>
              <a:t>2021</a:t>
            </a:r>
            <a:endParaRPr lang="zh-CN" altLang="zh-CN" sz="900" kern="0">
              <a:solidFill>
                <a:schemeClr val="tx1"/>
              </a:solidFill>
              <a:latin typeface="Arial" panose="020B0604020202020204" pitchFamily="34" charset="0"/>
              <a:ea typeface="DFKaiShu-GB5"/>
              <a:cs typeface="DFKaiShu-GB5" pitchFamily="65" charset="-128"/>
            </a:endParaRPr>
          </a:p>
        </p:txBody>
      </p:sp>
      <p:pic>
        <p:nvPicPr>
          <p:cNvPr id="50" name="Picture 2">
            <a:extLst>
              <a:ext uri="{FF2B5EF4-FFF2-40B4-BE49-F238E27FC236}">
                <a16:creationId xmlns:a16="http://schemas.microsoft.com/office/drawing/2014/main" id="{B0AD221D-9F49-4197-8442-519F81B4334B}"/>
              </a:ext>
            </a:extLst>
          </p:cNvPr>
          <p:cNvPicPr>
            <a:picLocks noChangeAspect="1" noChangeArrowheads="1"/>
          </p:cNvPicPr>
          <p:nvPr/>
        </p:nvPicPr>
        <p:blipFill>
          <a:blip r:embed="rId3">
            <a:extLst>
              <a:ext uri="{28A0092B-C50C-407E-A947-70E740481C1C}">
                <a14:useLocalDpi xmlns:a14="http://schemas.microsoft.com/office/drawing/2010/main"/>
              </a:ext>
            </a:extLst>
          </a:blip>
          <a:stretch>
            <a:fillRect/>
          </a:stretch>
        </p:blipFill>
        <p:spPr bwMode="auto">
          <a:xfrm>
            <a:off x="757997" y="4075045"/>
            <a:ext cx="598362" cy="5983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5DBC943-E99A-78B2-0480-62ED6AC82952}"/>
              </a:ext>
            </a:extLst>
          </p:cNvPr>
          <p:cNvPicPr preferRelativeResize="0">
            <a:picLocks/>
          </p:cNvPicPr>
          <p:nvPr/>
        </p:nvPicPr>
        <p:blipFill>
          <a:blip r:embed="rId4"/>
          <a:stretch>
            <a:fillRect/>
          </a:stretch>
        </p:blipFill>
        <p:spPr>
          <a:xfrm>
            <a:off x="735209" y="5483448"/>
            <a:ext cx="528440" cy="539541"/>
          </a:xfrm>
          <a:prstGeom prst="rect">
            <a:avLst/>
          </a:prstGeom>
        </p:spPr>
      </p:pic>
      <p:sp>
        <p:nvSpPr>
          <p:cNvPr id="4" name="Rectangle 127">
            <a:extLst>
              <a:ext uri="{FF2B5EF4-FFF2-40B4-BE49-F238E27FC236}">
                <a16:creationId xmlns:a16="http://schemas.microsoft.com/office/drawing/2014/main" id="{0CA90C5E-E10E-B6C0-93FB-B57AC74901A3}"/>
              </a:ext>
            </a:extLst>
          </p:cNvPr>
          <p:cNvSpPr>
            <a:spLocks noChangeArrowheads="1"/>
          </p:cNvSpPr>
          <p:nvPr/>
        </p:nvSpPr>
        <p:spPr bwMode="gray">
          <a:xfrm>
            <a:off x="1391922" y="5670861"/>
            <a:ext cx="3149597" cy="138499"/>
          </a:xfrm>
          <a:prstGeom prst="rect">
            <a:avLst/>
          </a:prstGeom>
          <a:noFill/>
          <a:ln w="9525">
            <a:noFill/>
            <a:miter lim="800000"/>
            <a:headEnd/>
            <a:tailEnd/>
          </a:ln>
        </p:spPr>
        <p:txBody>
          <a:bodyPr wrap="square" lIns="0" tIns="0" rIns="0" bIns="0">
            <a:spAutoFit/>
          </a:bodyPr>
          <a:lstStyle/>
          <a:p>
            <a:pPr marL="158265" indent="-158265" eaLnBrk="0" hangingPunct="0">
              <a:spcBef>
                <a:spcPts val="0"/>
              </a:spcBef>
              <a:buClr>
                <a:srgbClr val="C00000"/>
              </a:buClr>
              <a:buFont typeface="Wingdings" pitchFamily="2" charset="2"/>
              <a:buChar char="n"/>
              <a:tabLst>
                <a:tab pos="3270820" algn="r"/>
              </a:tabLst>
              <a:defRPr/>
            </a:pPr>
            <a:r>
              <a:rPr lang="en-US" altLang="zh-CN" sz="900" kern="0">
                <a:solidFill>
                  <a:srgbClr val="BE050A"/>
                </a:solidFill>
                <a:latin typeface="Arial" panose="020B0604020202020204" pitchFamily="34" charset="0"/>
                <a:ea typeface="DFKaiShu-GB5"/>
                <a:cs typeface="DFKaiShu-GB5" pitchFamily="65" charset="-128"/>
              </a:rPr>
              <a:t>Model Bank Award</a:t>
            </a:r>
            <a:r>
              <a:rPr lang="en-US" altLang="zh-CN" sz="900" kern="0">
                <a:solidFill>
                  <a:srgbClr val="000000"/>
                </a:solidFill>
                <a:latin typeface="Arial" panose="020B0604020202020204" pitchFamily="34" charset="0"/>
                <a:ea typeface="DFKaiShu-GB5"/>
                <a:cs typeface="DFKaiShu-GB5" pitchFamily="65" charset="-128"/>
              </a:rPr>
              <a:t> 2024</a:t>
            </a:r>
            <a:endParaRPr lang="zh-CN" altLang="zh-CN" sz="900" kern="0">
              <a:solidFill>
                <a:srgbClr val="000000"/>
              </a:solidFill>
              <a:latin typeface="Arial" panose="020B0604020202020204" pitchFamily="34" charset="0"/>
              <a:ea typeface="DFKaiShu-GB5"/>
              <a:cs typeface="DFKaiShu-GB5" pitchFamily="65" charset="-128"/>
            </a:endParaRPr>
          </a:p>
        </p:txBody>
      </p:sp>
      <p:pic>
        <p:nvPicPr>
          <p:cNvPr id="5" name="Picture 4">
            <a:extLst>
              <a:ext uri="{FF2B5EF4-FFF2-40B4-BE49-F238E27FC236}">
                <a16:creationId xmlns:a16="http://schemas.microsoft.com/office/drawing/2014/main" id="{A9FB9F6C-A7EB-CE9C-5676-AB8B3BA94BA2}"/>
              </a:ext>
            </a:extLst>
          </p:cNvPr>
          <p:cNvPicPr preferRelativeResize="0">
            <a:picLocks/>
          </p:cNvPicPr>
          <p:nvPr/>
        </p:nvPicPr>
        <p:blipFill>
          <a:blip r:embed="rId5"/>
          <a:stretch>
            <a:fillRect/>
          </a:stretch>
        </p:blipFill>
        <p:spPr>
          <a:xfrm>
            <a:off x="738136" y="4944214"/>
            <a:ext cx="603381" cy="256437"/>
          </a:xfrm>
          <a:prstGeom prst="rect">
            <a:avLst/>
          </a:prstGeom>
        </p:spPr>
      </p:pic>
      <p:sp>
        <p:nvSpPr>
          <p:cNvPr id="7" name="Slide Number Placeholder 6">
            <a:extLst>
              <a:ext uri="{FF2B5EF4-FFF2-40B4-BE49-F238E27FC236}">
                <a16:creationId xmlns:a16="http://schemas.microsoft.com/office/drawing/2014/main" id="{AEABF36C-0228-58E0-4102-722E94B60DE2}"/>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a:t>
            </a:fld>
            <a:endParaRPr lang="en-US" altLang="en-US" b="0">
              <a:solidFill>
                <a:srgbClr val="000000"/>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8BD2418-033C-EAAC-80D9-6D128E6400F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749F690F-8E02-6C4C-36B8-8138A8B8116B}"/>
              </a:ext>
            </a:extLst>
          </p:cNvPr>
          <p:cNvGrpSpPr/>
          <p:nvPr/>
        </p:nvGrpSpPr>
        <p:grpSpPr>
          <a:xfrm>
            <a:off x="2822410" y="2939114"/>
            <a:ext cx="3834449" cy="2477139"/>
            <a:chOff x="2822410" y="2939114"/>
            <a:chExt cx="3834449" cy="2477139"/>
          </a:xfrm>
        </p:grpSpPr>
        <p:sp>
          <p:nvSpPr>
            <p:cNvPr id="46" name="Freeform 171">
              <a:extLst>
                <a:ext uri="{FF2B5EF4-FFF2-40B4-BE49-F238E27FC236}">
                  <a16:creationId xmlns:a16="http://schemas.microsoft.com/office/drawing/2014/main" id="{D35827AC-E05E-CC82-3DEF-7A792E785E02}"/>
                </a:ext>
              </a:extLst>
            </p:cNvPr>
            <p:cNvSpPr>
              <a:spLocks/>
            </p:cNvSpPr>
            <p:nvPr/>
          </p:nvSpPr>
          <p:spPr bwMode="auto">
            <a:xfrm>
              <a:off x="5484288" y="4164834"/>
              <a:ext cx="14711" cy="24518"/>
            </a:xfrm>
            <a:custGeom>
              <a:avLst/>
              <a:gdLst/>
              <a:ahLst/>
              <a:cxnLst>
                <a:cxn ang="0">
                  <a:pos x="0" y="28"/>
                </a:cxn>
                <a:cxn ang="0">
                  <a:pos x="0" y="5"/>
                </a:cxn>
                <a:cxn ang="0">
                  <a:pos x="16" y="0"/>
                </a:cxn>
                <a:cxn ang="0">
                  <a:pos x="0" y="28"/>
                </a:cxn>
              </a:cxnLst>
              <a:rect l="0" t="0" r="r" b="b"/>
              <a:pathLst>
                <a:path w="16" h="28">
                  <a:moveTo>
                    <a:pt x="0" y="28"/>
                  </a:moveTo>
                  <a:lnTo>
                    <a:pt x="0" y="5"/>
                  </a:lnTo>
                  <a:lnTo>
                    <a:pt x="16" y="0"/>
                  </a:lnTo>
                  <a:lnTo>
                    <a:pt x="0" y="28"/>
                  </a:lnTo>
                  <a:close/>
                </a:path>
              </a:pathLst>
            </a:custGeom>
            <a:solidFill>
              <a:srgbClr val="E2E3DF"/>
            </a:solidFill>
            <a:ln w="635" cmpd="sng">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47" name="Freeform 8">
              <a:extLst>
                <a:ext uri="{FF2B5EF4-FFF2-40B4-BE49-F238E27FC236}">
                  <a16:creationId xmlns:a16="http://schemas.microsoft.com/office/drawing/2014/main" id="{80ECBB5D-BD76-9634-0BDC-9B85C03C07D6}"/>
                </a:ext>
              </a:extLst>
            </p:cNvPr>
            <p:cNvSpPr>
              <a:spLocks/>
            </p:cNvSpPr>
            <p:nvPr/>
          </p:nvSpPr>
          <p:spPr bwMode="auto">
            <a:xfrm>
              <a:off x="4656210" y="4063133"/>
              <a:ext cx="155509" cy="201095"/>
            </a:xfrm>
            <a:custGeom>
              <a:avLst/>
              <a:gdLst/>
              <a:ahLst/>
              <a:cxnLst>
                <a:cxn ang="0">
                  <a:pos x="0" y="58"/>
                </a:cxn>
                <a:cxn ang="0">
                  <a:pos x="18" y="77"/>
                </a:cxn>
                <a:cxn ang="0">
                  <a:pos x="29" y="167"/>
                </a:cxn>
                <a:cxn ang="0">
                  <a:pos x="62" y="161"/>
                </a:cxn>
                <a:cxn ang="0">
                  <a:pos x="81" y="121"/>
                </a:cxn>
                <a:cxn ang="0">
                  <a:pos x="110" y="130"/>
                </a:cxn>
                <a:cxn ang="0">
                  <a:pos x="123" y="192"/>
                </a:cxn>
                <a:cxn ang="0">
                  <a:pos x="135" y="155"/>
                </a:cxn>
                <a:cxn ang="0">
                  <a:pos x="120" y="95"/>
                </a:cxn>
                <a:cxn ang="0">
                  <a:pos x="110" y="118"/>
                </a:cxn>
                <a:cxn ang="0">
                  <a:pos x="90" y="88"/>
                </a:cxn>
                <a:cxn ang="0">
                  <a:pos x="123" y="49"/>
                </a:cxn>
                <a:cxn ang="0">
                  <a:pos x="59" y="45"/>
                </a:cxn>
                <a:cxn ang="0">
                  <a:pos x="17" y="0"/>
                </a:cxn>
                <a:cxn ang="0">
                  <a:pos x="6" y="23"/>
                </a:cxn>
                <a:cxn ang="0">
                  <a:pos x="20" y="45"/>
                </a:cxn>
                <a:cxn ang="0">
                  <a:pos x="0" y="58"/>
                </a:cxn>
              </a:cxnLst>
              <a:rect l="0" t="0" r="r" b="b"/>
              <a:pathLst>
                <a:path w="135" h="192">
                  <a:moveTo>
                    <a:pt x="0" y="58"/>
                  </a:moveTo>
                  <a:lnTo>
                    <a:pt x="18" y="77"/>
                  </a:lnTo>
                  <a:lnTo>
                    <a:pt x="29" y="167"/>
                  </a:lnTo>
                  <a:lnTo>
                    <a:pt x="62" y="161"/>
                  </a:lnTo>
                  <a:lnTo>
                    <a:pt x="81" y="121"/>
                  </a:lnTo>
                  <a:lnTo>
                    <a:pt x="110" y="130"/>
                  </a:lnTo>
                  <a:lnTo>
                    <a:pt x="123" y="192"/>
                  </a:lnTo>
                  <a:lnTo>
                    <a:pt x="135" y="155"/>
                  </a:lnTo>
                  <a:lnTo>
                    <a:pt x="120" y="95"/>
                  </a:lnTo>
                  <a:lnTo>
                    <a:pt x="110" y="118"/>
                  </a:lnTo>
                  <a:lnTo>
                    <a:pt x="90" y="88"/>
                  </a:lnTo>
                  <a:lnTo>
                    <a:pt x="123" y="49"/>
                  </a:lnTo>
                  <a:lnTo>
                    <a:pt x="59" y="45"/>
                  </a:lnTo>
                  <a:lnTo>
                    <a:pt x="17" y="0"/>
                  </a:lnTo>
                  <a:lnTo>
                    <a:pt x="6" y="23"/>
                  </a:lnTo>
                  <a:lnTo>
                    <a:pt x="20" y="45"/>
                  </a:lnTo>
                  <a:lnTo>
                    <a:pt x="0" y="58"/>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48" name="Freeform 9">
              <a:extLst>
                <a:ext uri="{FF2B5EF4-FFF2-40B4-BE49-F238E27FC236}">
                  <a16:creationId xmlns:a16="http://schemas.microsoft.com/office/drawing/2014/main" id="{A91FACFA-251F-9CE9-0020-D49E5D296B01}"/>
                </a:ext>
              </a:extLst>
            </p:cNvPr>
            <p:cNvSpPr>
              <a:spLocks/>
            </p:cNvSpPr>
            <p:nvPr/>
          </p:nvSpPr>
          <p:spPr bwMode="auto">
            <a:xfrm>
              <a:off x="4688703" y="3999621"/>
              <a:ext cx="99804" cy="57152"/>
            </a:xfrm>
            <a:custGeom>
              <a:avLst/>
              <a:gdLst/>
              <a:ahLst/>
              <a:cxnLst>
                <a:cxn ang="0">
                  <a:pos x="0" y="33"/>
                </a:cxn>
                <a:cxn ang="0">
                  <a:pos x="13" y="53"/>
                </a:cxn>
                <a:cxn ang="0">
                  <a:pos x="87" y="44"/>
                </a:cxn>
                <a:cxn ang="0">
                  <a:pos x="82" y="15"/>
                </a:cxn>
                <a:cxn ang="0">
                  <a:pos x="30" y="0"/>
                </a:cxn>
                <a:cxn ang="0">
                  <a:pos x="0" y="33"/>
                </a:cxn>
              </a:cxnLst>
              <a:rect l="0" t="0" r="r" b="b"/>
              <a:pathLst>
                <a:path w="87" h="53">
                  <a:moveTo>
                    <a:pt x="0" y="33"/>
                  </a:moveTo>
                  <a:lnTo>
                    <a:pt x="13" y="53"/>
                  </a:lnTo>
                  <a:lnTo>
                    <a:pt x="87" y="44"/>
                  </a:lnTo>
                  <a:lnTo>
                    <a:pt x="82" y="15"/>
                  </a:lnTo>
                  <a:lnTo>
                    <a:pt x="30" y="0"/>
                  </a:lnTo>
                  <a:lnTo>
                    <a:pt x="0" y="33"/>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49" name="Freeform 10">
              <a:extLst>
                <a:ext uri="{FF2B5EF4-FFF2-40B4-BE49-F238E27FC236}">
                  <a16:creationId xmlns:a16="http://schemas.microsoft.com/office/drawing/2014/main" id="{0A6D62CF-6C66-DA38-1998-5CE499E3CE80}"/>
                </a:ext>
              </a:extLst>
            </p:cNvPr>
            <p:cNvSpPr>
              <a:spLocks/>
            </p:cNvSpPr>
            <p:nvPr/>
          </p:nvSpPr>
          <p:spPr bwMode="auto">
            <a:xfrm>
              <a:off x="5505705" y="4810348"/>
              <a:ext cx="37138" cy="33868"/>
            </a:xfrm>
            <a:custGeom>
              <a:avLst/>
              <a:gdLst/>
              <a:ahLst/>
              <a:cxnLst>
                <a:cxn ang="0">
                  <a:pos x="0" y="14"/>
                </a:cxn>
                <a:cxn ang="0">
                  <a:pos x="18" y="34"/>
                </a:cxn>
                <a:cxn ang="0">
                  <a:pos x="33" y="0"/>
                </a:cxn>
                <a:cxn ang="0">
                  <a:pos x="0" y="14"/>
                </a:cxn>
              </a:cxnLst>
              <a:rect l="0" t="0" r="r" b="b"/>
              <a:pathLst>
                <a:path w="33" h="34">
                  <a:moveTo>
                    <a:pt x="0" y="14"/>
                  </a:moveTo>
                  <a:lnTo>
                    <a:pt x="18" y="34"/>
                  </a:lnTo>
                  <a:lnTo>
                    <a:pt x="33" y="0"/>
                  </a:lnTo>
                  <a:lnTo>
                    <a:pt x="0" y="14"/>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50" name="Freeform 11">
              <a:extLst>
                <a:ext uri="{FF2B5EF4-FFF2-40B4-BE49-F238E27FC236}">
                  <a16:creationId xmlns:a16="http://schemas.microsoft.com/office/drawing/2014/main" id="{C896A734-CCC0-BF66-7712-2CDF58AF453E}"/>
                </a:ext>
              </a:extLst>
            </p:cNvPr>
            <p:cNvSpPr>
              <a:spLocks/>
            </p:cNvSpPr>
            <p:nvPr/>
          </p:nvSpPr>
          <p:spPr bwMode="auto">
            <a:xfrm>
              <a:off x="4797789" y="4008096"/>
              <a:ext cx="290130" cy="626567"/>
            </a:xfrm>
            <a:custGeom>
              <a:avLst/>
              <a:gdLst/>
              <a:ahLst/>
              <a:cxnLst>
                <a:cxn ang="0">
                  <a:pos x="0" y="244"/>
                </a:cxn>
                <a:cxn ang="0">
                  <a:pos x="12" y="207"/>
                </a:cxn>
                <a:cxn ang="0">
                  <a:pos x="84" y="54"/>
                </a:cxn>
                <a:cxn ang="0">
                  <a:pos x="134" y="32"/>
                </a:cxn>
                <a:cxn ang="0">
                  <a:pos x="145" y="0"/>
                </a:cxn>
                <a:cxn ang="0">
                  <a:pos x="179" y="17"/>
                </a:cxn>
                <a:cxn ang="0">
                  <a:pos x="181" y="49"/>
                </a:cxn>
                <a:cxn ang="0">
                  <a:pos x="151" y="146"/>
                </a:cxn>
                <a:cxn ang="0">
                  <a:pos x="182" y="135"/>
                </a:cxn>
                <a:cxn ang="0">
                  <a:pos x="199" y="201"/>
                </a:cxn>
                <a:cxn ang="0">
                  <a:pos x="251" y="219"/>
                </a:cxn>
                <a:cxn ang="0">
                  <a:pos x="226" y="247"/>
                </a:cxn>
                <a:cxn ang="0">
                  <a:pos x="164" y="287"/>
                </a:cxn>
                <a:cxn ang="0">
                  <a:pos x="151" y="325"/>
                </a:cxn>
                <a:cxn ang="0">
                  <a:pos x="182" y="397"/>
                </a:cxn>
                <a:cxn ang="0">
                  <a:pos x="170" y="441"/>
                </a:cxn>
                <a:cxn ang="0">
                  <a:pos x="209" y="536"/>
                </a:cxn>
                <a:cxn ang="0">
                  <a:pos x="181" y="593"/>
                </a:cxn>
                <a:cxn ang="0">
                  <a:pos x="152" y="391"/>
                </a:cxn>
                <a:cxn ang="0">
                  <a:pos x="128" y="358"/>
                </a:cxn>
                <a:cxn ang="0">
                  <a:pos x="88" y="414"/>
                </a:cxn>
                <a:cxn ang="0">
                  <a:pos x="55" y="403"/>
                </a:cxn>
                <a:cxn ang="0">
                  <a:pos x="63" y="329"/>
                </a:cxn>
                <a:cxn ang="0">
                  <a:pos x="0" y="244"/>
                </a:cxn>
              </a:cxnLst>
              <a:rect l="0" t="0" r="r" b="b"/>
              <a:pathLst>
                <a:path w="251" h="593">
                  <a:moveTo>
                    <a:pt x="0" y="244"/>
                  </a:moveTo>
                  <a:lnTo>
                    <a:pt x="12" y="207"/>
                  </a:lnTo>
                  <a:lnTo>
                    <a:pt x="84" y="54"/>
                  </a:lnTo>
                  <a:lnTo>
                    <a:pt x="134" y="32"/>
                  </a:lnTo>
                  <a:lnTo>
                    <a:pt x="145" y="0"/>
                  </a:lnTo>
                  <a:lnTo>
                    <a:pt x="179" y="17"/>
                  </a:lnTo>
                  <a:lnTo>
                    <a:pt x="181" y="49"/>
                  </a:lnTo>
                  <a:lnTo>
                    <a:pt x="151" y="146"/>
                  </a:lnTo>
                  <a:lnTo>
                    <a:pt x="182" y="135"/>
                  </a:lnTo>
                  <a:lnTo>
                    <a:pt x="199" y="201"/>
                  </a:lnTo>
                  <a:lnTo>
                    <a:pt x="251" y="219"/>
                  </a:lnTo>
                  <a:lnTo>
                    <a:pt x="226" y="247"/>
                  </a:lnTo>
                  <a:lnTo>
                    <a:pt x="164" y="287"/>
                  </a:lnTo>
                  <a:lnTo>
                    <a:pt x="151" y="325"/>
                  </a:lnTo>
                  <a:lnTo>
                    <a:pt x="182" y="397"/>
                  </a:lnTo>
                  <a:lnTo>
                    <a:pt x="170" y="441"/>
                  </a:lnTo>
                  <a:lnTo>
                    <a:pt x="209" y="536"/>
                  </a:lnTo>
                  <a:lnTo>
                    <a:pt x="181" y="593"/>
                  </a:lnTo>
                  <a:lnTo>
                    <a:pt x="152" y="391"/>
                  </a:lnTo>
                  <a:lnTo>
                    <a:pt x="128" y="358"/>
                  </a:lnTo>
                  <a:lnTo>
                    <a:pt x="88" y="414"/>
                  </a:lnTo>
                  <a:lnTo>
                    <a:pt x="55" y="403"/>
                  </a:lnTo>
                  <a:lnTo>
                    <a:pt x="63" y="329"/>
                  </a:lnTo>
                  <a:lnTo>
                    <a:pt x="0" y="244"/>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51" name="Freeform 12">
              <a:extLst>
                <a:ext uri="{FF2B5EF4-FFF2-40B4-BE49-F238E27FC236}">
                  <a16:creationId xmlns:a16="http://schemas.microsoft.com/office/drawing/2014/main" id="{671BCCCD-15BE-A2EF-3A6E-958495C4F7E1}"/>
                </a:ext>
              </a:extLst>
            </p:cNvPr>
            <p:cNvSpPr>
              <a:spLocks/>
            </p:cNvSpPr>
            <p:nvPr/>
          </p:nvSpPr>
          <p:spPr bwMode="auto">
            <a:xfrm>
              <a:off x="5134340" y="4480132"/>
              <a:ext cx="160152" cy="143942"/>
            </a:xfrm>
            <a:custGeom>
              <a:avLst/>
              <a:gdLst/>
              <a:ahLst/>
              <a:cxnLst>
                <a:cxn ang="0">
                  <a:pos x="0" y="28"/>
                </a:cxn>
                <a:cxn ang="0">
                  <a:pos x="9" y="97"/>
                </a:cxn>
                <a:cxn ang="0">
                  <a:pos x="28" y="132"/>
                </a:cxn>
                <a:cxn ang="0">
                  <a:pos x="55" y="137"/>
                </a:cxn>
                <a:cxn ang="0">
                  <a:pos x="137" y="74"/>
                </a:cxn>
                <a:cxn ang="0">
                  <a:pos x="136" y="0"/>
                </a:cxn>
                <a:cxn ang="0">
                  <a:pos x="73" y="11"/>
                </a:cxn>
                <a:cxn ang="0">
                  <a:pos x="19" y="8"/>
                </a:cxn>
                <a:cxn ang="0">
                  <a:pos x="0" y="28"/>
                </a:cxn>
              </a:cxnLst>
              <a:rect l="0" t="0" r="r" b="b"/>
              <a:pathLst>
                <a:path w="137" h="137">
                  <a:moveTo>
                    <a:pt x="0" y="28"/>
                  </a:moveTo>
                  <a:lnTo>
                    <a:pt x="9" y="97"/>
                  </a:lnTo>
                  <a:lnTo>
                    <a:pt x="28" y="132"/>
                  </a:lnTo>
                  <a:lnTo>
                    <a:pt x="55" y="137"/>
                  </a:lnTo>
                  <a:lnTo>
                    <a:pt x="137" y="74"/>
                  </a:lnTo>
                  <a:lnTo>
                    <a:pt x="136" y="0"/>
                  </a:lnTo>
                  <a:lnTo>
                    <a:pt x="73" y="11"/>
                  </a:lnTo>
                  <a:lnTo>
                    <a:pt x="19" y="8"/>
                  </a:lnTo>
                  <a:lnTo>
                    <a:pt x="0" y="28"/>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52" name="Freeform 13">
              <a:extLst>
                <a:ext uri="{FF2B5EF4-FFF2-40B4-BE49-F238E27FC236}">
                  <a16:creationId xmlns:a16="http://schemas.microsoft.com/office/drawing/2014/main" id="{3AF7C09E-53F2-F0D7-2608-20B4DA862BB3}"/>
                </a:ext>
              </a:extLst>
            </p:cNvPr>
            <p:cNvSpPr>
              <a:spLocks/>
            </p:cNvSpPr>
            <p:nvPr/>
          </p:nvSpPr>
          <p:spPr bwMode="auto">
            <a:xfrm>
              <a:off x="4398571" y="4647358"/>
              <a:ext cx="60346" cy="127008"/>
            </a:xfrm>
            <a:custGeom>
              <a:avLst/>
              <a:gdLst/>
              <a:ahLst/>
              <a:cxnLst>
                <a:cxn ang="0">
                  <a:pos x="0" y="0"/>
                </a:cxn>
                <a:cxn ang="0">
                  <a:pos x="8" y="119"/>
                </a:cxn>
                <a:cxn ang="0">
                  <a:pos x="51" y="98"/>
                </a:cxn>
                <a:cxn ang="0">
                  <a:pos x="32" y="29"/>
                </a:cxn>
                <a:cxn ang="0">
                  <a:pos x="0" y="0"/>
                </a:cxn>
              </a:cxnLst>
              <a:rect l="0" t="0" r="r" b="b"/>
              <a:pathLst>
                <a:path w="51" h="119">
                  <a:moveTo>
                    <a:pt x="0" y="0"/>
                  </a:moveTo>
                  <a:lnTo>
                    <a:pt x="8" y="119"/>
                  </a:lnTo>
                  <a:lnTo>
                    <a:pt x="51" y="98"/>
                  </a:lnTo>
                  <a:lnTo>
                    <a:pt x="32" y="29"/>
                  </a:lnTo>
                  <a:lnTo>
                    <a:pt x="0" y="0"/>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53" name="Freeform 14">
              <a:extLst>
                <a:ext uri="{FF2B5EF4-FFF2-40B4-BE49-F238E27FC236}">
                  <a16:creationId xmlns:a16="http://schemas.microsoft.com/office/drawing/2014/main" id="{17A63748-74E5-5726-C7A3-8ED3CBF4550F}"/>
                </a:ext>
              </a:extLst>
            </p:cNvPr>
            <p:cNvSpPr>
              <a:spLocks/>
            </p:cNvSpPr>
            <p:nvPr/>
          </p:nvSpPr>
          <p:spPr bwMode="auto">
            <a:xfrm>
              <a:off x="4196644" y="2979333"/>
              <a:ext cx="1986809" cy="1306056"/>
            </a:xfrm>
            <a:custGeom>
              <a:avLst/>
              <a:gdLst/>
              <a:ahLst/>
              <a:cxnLst>
                <a:cxn ang="0">
                  <a:pos x="12" y="541"/>
                </a:cxn>
                <a:cxn ang="0">
                  <a:pos x="180" y="464"/>
                </a:cxn>
                <a:cxn ang="0">
                  <a:pos x="176" y="357"/>
                </a:cxn>
                <a:cxn ang="0">
                  <a:pos x="261" y="262"/>
                </a:cxn>
                <a:cxn ang="0">
                  <a:pos x="340" y="218"/>
                </a:cxn>
                <a:cxn ang="0">
                  <a:pos x="422" y="234"/>
                </a:cxn>
                <a:cxn ang="0">
                  <a:pos x="478" y="342"/>
                </a:cxn>
                <a:cxn ang="0">
                  <a:pos x="654" y="440"/>
                </a:cxn>
                <a:cxn ang="0">
                  <a:pos x="869" y="482"/>
                </a:cxn>
                <a:cxn ang="0">
                  <a:pos x="1071" y="404"/>
                </a:cxn>
                <a:cxn ang="0">
                  <a:pos x="1113" y="358"/>
                </a:cxn>
                <a:cxn ang="0">
                  <a:pos x="1281" y="285"/>
                </a:cxn>
                <a:cxn ang="0">
                  <a:pos x="1175" y="244"/>
                </a:cxn>
                <a:cxn ang="0">
                  <a:pos x="1192" y="150"/>
                </a:cxn>
                <a:cxn ang="0">
                  <a:pos x="1274" y="147"/>
                </a:cxn>
                <a:cxn ang="0">
                  <a:pos x="1296" y="37"/>
                </a:cxn>
                <a:cxn ang="0">
                  <a:pos x="1453" y="26"/>
                </a:cxn>
                <a:cxn ang="0">
                  <a:pos x="1591" y="193"/>
                </a:cxn>
                <a:cxn ang="0">
                  <a:pos x="1712" y="211"/>
                </a:cxn>
                <a:cxn ang="0">
                  <a:pos x="1601" y="364"/>
                </a:cxn>
                <a:cxn ang="0">
                  <a:pos x="1591" y="444"/>
                </a:cxn>
                <a:cxn ang="0">
                  <a:pos x="1526" y="473"/>
                </a:cxn>
                <a:cxn ang="0">
                  <a:pos x="1487" y="485"/>
                </a:cxn>
                <a:cxn ang="0">
                  <a:pos x="1335" y="596"/>
                </a:cxn>
                <a:cxn ang="0">
                  <a:pos x="1347" y="507"/>
                </a:cxn>
                <a:cxn ang="0">
                  <a:pos x="1231" y="599"/>
                </a:cxn>
                <a:cxn ang="0">
                  <a:pos x="1317" y="628"/>
                </a:cxn>
                <a:cxn ang="0">
                  <a:pos x="1301" y="683"/>
                </a:cxn>
                <a:cxn ang="0">
                  <a:pos x="1349" y="845"/>
                </a:cxn>
                <a:cxn ang="0">
                  <a:pos x="1349" y="876"/>
                </a:cxn>
                <a:cxn ang="0">
                  <a:pos x="1353" y="911"/>
                </a:cxn>
                <a:cxn ang="0">
                  <a:pos x="1193" y="1142"/>
                </a:cxn>
                <a:cxn ang="0">
                  <a:pos x="1127" y="1161"/>
                </a:cxn>
                <a:cxn ang="0">
                  <a:pos x="1096" y="1179"/>
                </a:cxn>
                <a:cxn ang="0">
                  <a:pos x="1017" y="1236"/>
                </a:cxn>
                <a:cxn ang="0">
                  <a:pos x="959" y="1194"/>
                </a:cxn>
                <a:cxn ang="0">
                  <a:pos x="797" y="1162"/>
                </a:cxn>
                <a:cxn ang="0">
                  <a:pos x="781" y="1197"/>
                </a:cxn>
                <a:cxn ang="0">
                  <a:pos x="717" y="1173"/>
                </a:cxn>
                <a:cxn ang="0">
                  <a:pos x="669" y="1118"/>
                </a:cxn>
                <a:cxn ang="0">
                  <a:pos x="697" y="989"/>
                </a:cxn>
                <a:cxn ang="0">
                  <a:pos x="635" y="955"/>
                </a:cxn>
                <a:cxn ang="0">
                  <a:pos x="506" y="980"/>
                </a:cxn>
                <a:cxn ang="0">
                  <a:pos x="424" y="998"/>
                </a:cxn>
                <a:cxn ang="0">
                  <a:pos x="403" y="978"/>
                </a:cxn>
                <a:cxn ang="0">
                  <a:pos x="295" y="929"/>
                </a:cxn>
                <a:cxn ang="0">
                  <a:pos x="148" y="874"/>
                </a:cxn>
                <a:cxn ang="0">
                  <a:pos x="164" y="810"/>
                </a:cxn>
                <a:cxn ang="0">
                  <a:pos x="185" y="710"/>
                </a:cxn>
                <a:cxn ang="0">
                  <a:pos x="112" y="712"/>
                </a:cxn>
                <a:cxn ang="0">
                  <a:pos x="28" y="646"/>
                </a:cxn>
                <a:cxn ang="0">
                  <a:pos x="0" y="590"/>
                </a:cxn>
              </a:cxnLst>
              <a:rect l="0" t="0" r="r" b="b"/>
              <a:pathLst>
                <a:path w="1712" h="1236">
                  <a:moveTo>
                    <a:pt x="0" y="590"/>
                  </a:moveTo>
                  <a:lnTo>
                    <a:pt x="12" y="541"/>
                  </a:lnTo>
                  <a:lnTo>
                    <a:pt x="74" y="530"/>
                  </a:lnTo>
                  <a:lnTo>
                    <a:pt x="180" y="464"/>
                  </a:lnTo>
                  <a:lnTo>
                    <a:pt x="197" y="415"/>
                  </a:lnTo>
                  <a:lnTo>
                    <a:pt x="176" y="357"/>
                  </a:lnTo>
                  <a:lnTo>
                    <a:pt x="242" y="342"/>
                  </a:lnTo>
                  <a:lnTo>
                    <a:pt x="261" y="262"/>
                  </a:lnTo>
                  <a:lnTo>
                    <a:pt x="331" y="268"/>
                  </a:lnTo>
                  <a:lnTo>
                    <a:pt x="340" y="218"/>
                  </a:lnTo>
                  <a:lnTo>
                    <a:pt x="394" y="190"/>
                  </a:lnTo>
                  <a:lnTo>
                    <a:pt x="422" y="234"/>
                  </a:lnTo>
                  <a:lnTo>
                    <a:pt x="463" y="250"/>
                  </a:lnTo>
                  <a:lnTo>
                    <a:pt x="478" y="342"/>
                  </a:lnTo>
                  <a:lnTo>
                    <a:pt x="602" y="377"/>
                  </a:lnTo>
                  <a:lnTo>
                    <a:pt x="654" y="440"/>
                  </a:lnTo>
                  <a:lnTo>
                    <a:pt x="756" y="433"/>
                  </a:lnTo>
                  <a:lnTo>
                    <a:pt x="869" y="482"/>
                  </a:lnTo>
                  <a:lnTo>
                    <a:pt x="1024" y="440"/>
                  </a:lnTo>
                  <a:lnTo>
                    <a:pt x="1071" y="404"/>
                  </a:lnTo>
                  <a:lnTo>
                    <a:pt x="1071" y="354"/>
                  </a:lnTo>
                  <a:lnTo>
                    <a:pt x="1113" y="358"/>
                  </a:lnTo>
                  <a:lnTo>
                    <a:pt x="1208" y="288"/>
                  </a:lnTo>
                  <a:lnTo>
                    <a:pt x="1281" y="285"/>
                  </a:lnTo>
                  <a:lnTo>
                    <a:pt x="1244" y="231"/>
                  </a:lnTo>
                  <a:lnTo>
                    <a:pt x="1175" y="244"/>
                  </a:lnTo>
                  <a:lnTo>
                    <a:pt x="1174" y="184"/>
                  </a:lnTo>
                  <a:lnTo>
                    <a:pt x="1192" y="150"/>
                  </a:lnTo>
                  <a:lnTo>
                    <a:pt x="1234" y="170"/>
                  </a:lnTo>
                  <a:lnTo>
                    <a:pt x="1274" y="147"/>
                  </a:lnTo>
                  <a:lnTo>
                    <a:pt x="1316" y="66"/>
                  </a:lnTo>
                  <a:lnTo>
                    <a:pt x="1296" y="37"/>
                  </a:lnTo>
                  <a:lnTo>
                    <a:pt x="1398" y="0"/>
                  </a:lnTo>
                  <a:lnTo>
                    <a:pt x="1453" y="26"/>
                  </a:lnTo>
                  <a:lnTo>
                    <a:pt x="1505" y="162"/>
                  </a:lnTo>
                  <a:lnTo>
                    <a:pt x="1591" y="193"/>
                  </a:lnTo>
                  <a:lnTo>
                    <a:pt x="1605" y="244"/>
                  </a:lnTo>
                  <a:lnTo>
                    <a:pt x="1712" y="211"/>
                  </a:lnTo>
                  <a:lnTo>
                    <a:pt x="1664" y="345"/>
                  </a:lnTo>
                  <a:lnTo>
                    <a:pt x="1601" y="364"/>
                  </a:lnTo>
                  <a:lnTo>
                    <a:pt x="1610" y="415"/>
                  </a:lnTo>
                  <a:lnTo>
                    <a:pt x="1591" y="444"/>
                  </a:lnTo>
                  <a:lnTo>
                    <a:pt x="1580" y="433"/>
                  </a:lnTo>
                  <a:lnTo>
                    <a:pt x="1526" y="473"/>
                  </a:lnTo>
                  <a:lnTo>
                    <a:pt x="1526" y="493"/>
                  </a:lnTo>
                  <a:lnTo>
                    <a:pt x="1487" y="485"/>
                  </a:lnTo>
                  <a:lnTo>
                    <a:pt x="1417" y="547"/>
                  </a:lnTo>
                  <a:lnTo>
                    <a:pt x="1335" y="596"/>
                  </a:lnTo>
                  <a:lnTo>
                    <a:pt x="1359" y="530"/>
                  </a:lnTo>
                  <a:lnTo>
                    <a:pt x="1347" y="507"/>
                  </a:lnTo>
                  <a:lnTo>
                    <a:pt x="1234" y="579"/>
                  </a:lnTo>
                  <a:lnTo>
                    <a:pt x="1231" y="599"/>
                  </a:lnTo>
                  <a:lnTo>
                    <a:pt x="1269" y="648"/>
                  </a:lnTo>
                  <a:lnTo>
                    <a:pt x="1317" y="628"/>
                  </a:lnTo>
                  <a:lnTo>
                    <a:pt x="1369" y="646"/>
                  </a:lnTo>
                  <a:lnTo>
                    <a:pt x="1301" y="683"/>
                  </a:lnTo>
                  <a:lnTo>
                    <a:pt x="1275" y="733"/>
                  </a:lnTo>
                  <a:lnTo>
                    <a:pt x="1349" y="845"/>
                  </a:lnTo>
                  <a:lnTo>
                    <a:pt x="1298" y="834"/>
                  </a:lnTo>
                  <a:lnTo>
                    <a:pt x="1349" y="876"/>
                  </a:lnTo>
                  <a:lnTo>
                    <a:pt x="1299" y="899"/>
                  </a:lnTo>
                  <a:lnTo>
                    <a:pt x="1353" y="911"/>
                  </a:lnTo>
                  <a:lnTo>
                    <a:pt x="1257" y="1089"/>
                  </a:lnTo>
                  <a:lnTo>
                    <a:pt x="1193" y="1142"/>
                  </a:lnTo>
                  <a:lnTo>
                    <a:pt x="1132" y="1161"/>
                  </a:lnTo>
                  <a:lnTo>
                    <a:pt x="1127" y="1161"/>
                  </a:lnTo>
                  <a:lnTo>
                    <a:pt x="1113" y="1150"/>
                  </a:lnTo>
                  <a:lnTo>
                    <a:pt x="1096" y="1179"/>
                  </a:lnTo>
                  <a:lnTo>
                    <a:pt x="1026" y="1197"/>
                  </a:lnTo>
                  <a:lnTo>
                    <a:pt x="1017" y="1236"/>
                  </a:lnTo>
                  <a:lnTo>
                    <a:pt x="1006" y="1191"/>
                  </a:lnTo>
                  <a:lnTo>
                    <a:pt x="959" y="1194"/>
                  </a:lnTo>
                  <a:lnTo>
                    <a:pt x="881" y="1139"/>
                  </a:lnTo>
                  <a:lnTo>
                    <a:pt x="797" y="1162"/>
                  </a:lnTo>
                  <a:lnTo>
                    <a:pt x="781" y="1162"/>
                  </a:lnTo>
                  <a:lnTo>
                    <a:pt x="781" y="1197"/>
                  </a:lnTo>
                  <a:lnTo>
                    <a:pt x="769" y="1191"/>
                  </a:lnTo>
                  <a:lnTo>
                    <a:pt x="717" y="1173"/>
                  </a:lnTo>
                  <a:lnTo>
                    <a:pt x="700" y="1107"/>
                  </a:lnTo>
                  <a:lnTo>
                    <a:pt x="669" y="1118"/>
                  </a:lnTo>
                  <a:lnTo>
                    <a:pt x="699" y="1021"/>
                  </a:lnTo>
                  <a:lnTo>
                    <a:pt x="697" y="989"/>
                  </a:lnTo>
                  <a:lnTo>
                    <a:pt x="663" y="972"/>
                  </a:lnTo>
                  <a:lnTo>
                    <a:pt x="635" y="955"/>
                  </a:lnTo>
                  <a:lnTo>
                    <a:pt x="624" y="923"/>
                  </a:lnTo>
                  <a:lnTo>
                    <a:pt x="506" y="980"/>
                  </a:lnTo>
                  <a:lnTo>
                    <a:pt x="454" y="965"/>
                  </a:lnTo>
                  <a:lnTo>
                    <a:pt x="424" y="998"/>
                  </a:lnTo>
                  <a:lnTo>
                    <a:pt x="421" y="974"/>
                  </a:lnTo>
                  <a:lnTo>
                    <a:pt x="403" y="978"/>
                  </a:lnTo>
                  <a:lnTo>
                    <a:pt x="342" y="978"/>
                  </a:lnTo>
                  <a:lnTo>
                    <a:pt x="295" y="929"/>
                  </a:lnTo>
                  <a:lnTo>
                    <a:pt x="207" y="896"/>
                  </a:lnTo>
                  <a:lnTo>
                    <a:pt x="148" y="874"/>
                  </a:lnTo>
                  <a:lnTo>
                    <a:pt x="136" y="818"/>
                  </a:lnTo>
                  <a:lnTo>
                    <a:pt x="164" y="810"/>
                  </a:lnTo>
                  <a:lnTo>
                    <a:pt x="146" y="766"/>
                  </a:lnTo>
                  <a:lnTo>
                    <a:pt x="185" y="710"/>
                  </a:lnTo>
                  <a:lnTo>
                    <a:pt x="156" y="692"/>
                  </a:lnTo>
                  <a:lnTo>
                    <a:pt x="112" y="712"/>
                  </a:lnTo>
                  <a:lnTo>
                    <a:pt x="28" y="651"/>
                  </a:lnTo>
                  <a:lnTo>
                    <a:pt x="28" y="646"/>
                  </a:lnTo>
                  <a:lnTo>
                    <a:pt x="29" y="600"/>
                  </a:lnTo>
                  <a:lnTo>
                    <a:pt x="0" y="590"/>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54" name="Freeform 15">
              <a:extLst>
                <a:ext uri="{FF2B5EF4-FFF2-40B4-BE49-F238E27FC236}">
                  <a16:creationId xmlns:a16="http://schemas.microsoft.com/office/drawing/2014/main" id="{911170D3-4731-34A3-022E-93628FDFAE50}"/>
                </a:ext>
              </a:extLst>
            </p:cNvPr>
            <p:cNvSpPr>
              <a:spLocks/>
            </p:cNvSpPr>
            <p:nvPr/>
          </p:nvSpPr>
          <p:spPr bwMode="auto">
            <a:xfrm>
              <a:off x="5336270" y="4293855"/>
              <a:ext cx="71952" cy="65620"/>
            </a:xfrm>
            <a:custGeom>
              <a:avLst/>
              <a:gdLst/>
              <a:ahLst/>
              <a:cxnLst>
                <a:cxn ang="0">
                  <a:pos x="0" y="48"/>
                </a:cxn>
                <a:cxn ang="0">
                  <a:pos x="19" y="0"/>
                </a:cxn>
                <a:cxn ang="0">
                  <a:pos x="63" y="12"/>
                </a:cxn>
                <a:cxn ang="0">
                  <a:pos x="27" y="61"/>
                </a:cxn>
                <a:cxn ang="0">
                  <a:pos x="0" y="48"/>
                </a:cxn>
              </a:cxnLst>
              <a:rect l="0" t="0" r="r" b="b"/>
              <a:pathLst>
                <a:path w="63" h="61">
                  <a:moveTo>
                    <a:pt x="0" y="48"/>
                  </a:moveTo>
                  <a:lnTo>
                    <a:pt x="19" y="0"/>
                  </a:lnTo>
                  <a:lnTo>
                    <a:pt x="63" y="12"/>
                  </a:lnTo>
                  <a:lnTo>
                    <a:pt x="27" y="61"/>
                  </a:lnTo>
                  <a:lnTo>
                    <a:pt x="0" y="48"/>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55" name="Freeform 16">
              <a:extLst>
                <a:ext uri="{FF2B5EF4-FFF2-40B4-BE49-F238E27FC236}">
                  <a16:creationId xmlns:a16="http://schemas.microsoft.com/office/drawing/2014/main" id="{F599F8ED-AE41-90FF-6421-9F6AD1B2D9A5}"/>
                </a:ext>
              </a:extLst>
            </p:cNvPr>
            <p:cNvSpPr>
              <a:spLocks/>
            </p:cNvSpPr>
            <p:nvPr/>
          </p:nvSpPr>
          <p:spPr bwMode="auto">
            <a:xfrm>
              <a:off x="5700676" y="4116044"/>
              <a:ext cx="60346" cy="110074"/>
            </a:xfrm>
            <a:custGeom>
              <a:avLst/>
              <a:gdLst/>
              <a:ahLst/>
              <a:cxnLst>
                <a:cxn ang="0">
                  <a:pos x="0" y="44"/>
                </a:cxn>
                <a:cxn ang="0">
                  <a:pos x="20" y="104"/>
                </a:cxn>
                <a:cxn ang="0">
                  <a:pos x="51" y="0"/>
                </a:cxn>
                <a:cxn ang="0">
                  <a:pos x="24" y="1"/>
                </a:cxn>
                <a:cxn ang="0">
                  <a:pos x="0" y="44"/>
                </a:cxn>
              </a:cxnLst>
              <a:rect l="0" t="0" r="r" b="b"/>
              <a:pathLst>
                <a:path w="51" h="104">
                  <a:moveTo>
                    <a:pt x="0" y="44"/>
                  </a:moveTo>
                  <a:lnTo>
                    <a:pt x="20" y="104"/>
                  </a:lnTo>
                  <a:lnTo>
                    <a:pt x="51" y="0"/>
                  </a:lnTo>
                  <a:lnTo>
                    <a:pt x="24" y="1"/>
                  </a:lnTo>
                  <a:lnTo>
                    <a:pt x="0" y="44"/>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56" name="Freeform 17">
              <a:extLst>
                <a:ext uri="{FF2B5EF4-FFF2-40B4-BE49-F238E27FC236}">
                  <a16:creationId xmlns:a16="http://schemas.microsoft.com/office/drawing/2014/main" id="{57E95179-4473-3D94-737E-F1CAAC502FB2}"/>
                </a:ext>
              </a:extLst>
            </p:cNvPr>
            <p:cNvSpPr>
              <a:spLocks/>
            </p:cNvSpPr>
            <p:nvPr/>
          </p:nvSpPr>
          <p:spPr bwMode="auto">
            <a:xfrm>
              <a:off x="4015601" y="3711748"/>
              <a:ext cx="949304" cy="992771"/>
            </a:xfrm>
            <a:custGeom>
              <a:avLst/>
              <a:gdLst/>
              <a:ahLst/>
              <a:cxnLst>
                <a:cxn ang="0">
                  <a:pos x="0" y="429"/>
                </a:cxn>
                <a:cxn ang="0">
                  <a:pos x="21" y="407"/>
                </a:cxn>
                <a:cxn ang="0">
                  <a:pos x="85" y="407"/>
                </a:cxn>
                <a:cxn ang="0">
                  <a:pos x="41" y="309"/>
                </a:cxn>
                <a:cxn ang="0">
                  <a:pos x="67" y="282"/>
                </a:cxn>
                <a:cxn ang="0">
                  <a:pos x="103" y="285"/>
                </a:cxn>
                <a:cxn ang="0">
                  <a:pos x="185" y="176"/>
                </a:cxn>
                <a:cxn ang="0">
                  <a:pos x="181" y="149"/>
                </a:cxn>
                <a:cxn ang="0">
                  <a:pos x="202" y="133"/>
                </a:cxn>
                <a:cxn ang="0">
                  <a:pos x="166" y="98"/>
                </a:cxn>
                <a:cxn ang="0">
                  <a:pos x="165" y="44"/>
                </a:cxn>
                <a:cxn ang="0">
                  <a:pos x="245" y="44"/>
                </a:cxn>
                <a:cxn ang="0">
                  <a:pos x="268" y="20"/>
                </a:cxn>
                <a:cxn ang="0">
                  <a:pos x="312" y="0"/>
                </a:cxn>
                <a:cxn ang="0">
                  <a:pos x="341" y="18"/>
                </a:cxn>
                <a:cxn ang="0">
                  <a:pos x="302" y="74"/>
                </a:cxn>
                <a:cxn ang="0">
                  <a:pos x="320" y="118"/>
                </a:cxn>
                <a:cxn ang="0">
                  <a:pos x="292" y="126"/>
                </a:cxn>
                <a:cxn ang="0">
                  <a:pos x="304" y="182"/>
                </a:cxn>
                <a:cxn ang="0">
                  <a:pos x="363" y="204"/>
                </a:cxn>
                <a:cxn ang="0">
                  <a:pos x="333" y="257"/>
                </a:cxn>
                <a:cxn ang="0">
                  <a:pos x="410" y="305"/>
                </a:cxn>
                <a:cxn ang="0">
                  <a:pos x="556" y="335"/>
                </a:cxn>
                <a:cxn ang="0">
                  <a:pos x="559" y="286"/>
                </a:cxn>
                <a:cxn ang="0">
                  <a:pos x="577" y="282"/>
                </a:cxn>
                <a:cxn ang="0">
                  <a:pos x="580" y="306"/>
                </a:cxn>
                <a:cxn ang="0">
                  <a:pos x="593" y="326"/>
                </a:cxn>
                <a:cxn ang="0">
                  <a:pos x="667" y="317"/>
                </a:cxn>
                <a:cxn ang="0">
                  <a:pos x="662" y="288"/>
                </a:cxn>
                <a:cxn ang="0">
                  <a:pos x="780" y="231"/>
                </a:cxn>
                <a:cxn ang="0">
                  <a:pos x="791" y="263"/>
                </a:cxn>
                <a:cxn ang="0">
                  <a:pos x="819" y="280"/>
                </a:cxn>
                <a:cxn ang="0">
                  <a:pos x="808" y="312"/>
                </a:cxn>
                <a:cxn ang="0">
                  <a:pos x="758" y="334"/>
                </a:cxn>
                <a:cxn ang="0">
                  <a:pos x="686" y="487"/>
                </a:cxn>
                <a:cxn ang="0">
                  <a:pos x="671" y="427"/>
                </a:cxn>
                <a:cxn ang="0">
                  <a:pos x="661" y="450"/>
                </a:cxn>
                <a:cxn ang="0">
                  <a:pos x="641" y="420"/>
                </a:cxn>
                <a:cxn ang="0">
                  <a:pos x="674" y="381"/>
                </a:cxn>
                <a:cxn ang="0">
                  <a:pos x="610" y="377"/>
                </a:cxn>
                <a:cxn ang="0">
                  <a:pos x="568" y="332"/>
                </a:cxn>
                <a:cxn ang="0">
                  <a:pos x="557" y="355"/>
                </a:cxn>
                <a:cxn ang="0">
                  <a:pos x="571" y="377"/>
                </a:cxn>
                <a:cxn ang="0">
                  <a:pos x="551" y="390"/>
                </a:cxn>
                <a:cxn ang="0">
                  <a:pos x="569" y="409"/>
                </a:cxn>
                <a:cxn ang="0">
                  <a:pos x="580" y="499"/>
                </a:cxn>
                <a:cxn ang="0">
                  <a:pos x="557" y="482"/>
                </a:cxn>
                <a:cxn ang="0">
                  <a:pos x="510" y="553"/>
                </a:cxn>
                <a:cxn ang="0">
                  <a:pos x="339" y="695"/>
                </a:cxn>
                <a:cxn ang="0">
                  <a:pos x="329" y="868"/>
                </a:cxn>
                <a:cxn ang="0">
                  <a:pos x="257" y="939"/>
                </a:cxn>
                <a:cxn ang="0">
                  <a:pos x="193" y="805"/>
                </a:cxn>
                <a:cxn ang="0">
                  <a:pos x="169" y="697"/>
                </a:cxn>
                <a:cxn ang="0">
                  <a:pos x="147" y="672"/>
                </a:cxn>
                <a:cxn ang="0">
                  <a:pos x="129" y="478"/>
                </a:cxn>
                <a:cxn ang="0">
                  <a:pos x="114" y="470"/>
                </a:cxn>
                <a:cxn ang="0">
                  <a:pos x="103" y="514"/>
                </a:cxn>
                <a:cxn ang="0">
                  <a:pos x="66" y="525"/>
                </a:cxn>
                <a:cxn ang="0">
                  <a:pos x="24" y="475"/>
                </a:cxn>
                <a:cxn ang="0">
                  <a:pos x="64" y="447"/>
                </a:cxn>
                <a:cxn ang="0">
                  <a:pos x="24" y="456"/>
                </a:cxn>
                <a:cxn ang="0">
                  <a:pos x="0" y="429"/>
                </a:cxn>
              </a:cxnLst>
              <a:rect l="0" t="0" r="r" b="b"/>
              <a:pathLst>
                <a:path w="819" h="939">
                  <a:moveTo>
                    <a:pt x="0" y="429"/>
                  </a:moveTo>
                  <a:lnTo>
                    <a:pt x="21" y="407"/>
                  </a:lnTo>
                  <a:lnTo>
                    <a:pt x="85" y="407"/>
                  </a:lnTo>
                  <a:lnTo>
                    <a:pt x="41" y="309"/>
                  </a:lnTo>
                  <a:lnTo>
                    <a:pt x="67" y="282"/>
                  </a:lnTo>
                  <a:lnTo>
                    <a:pt x="103" y="285"/>
                  </a:lnTo>
                  <a:lnTo>
                    <a:pt x="185" y="176"/>
                  </a:lnTo>
                  <a:lnTo>
                    <a:pt x="181" y="149"/>
                  </a:lnTo>
                  <a:lnTo>
                    <a:pt x="202" y="133"/>
                  </a:lnTo>
                  <a:lnTo>
                    <a:pt x="166" y="98"/>
                  </a:lnTo>
                  <a:lnTo>
                    <a:pt x="165" y="44"/>
                  </a:lnTo>
                  <a:lnTo>
                    <a:pt x="245" y="44"/>
                  </a:lnTo>
                  <a:lnTo>
                    <a:pt x="268" y="20"/>
                  </a:lnTo>
                  <a:lnTo>
                    <a:pt x="312" y="0"/>
                  </a:lnTo>
                  <a:lnTo>
                    <a:pt x="341" y="18"/>
                  </a:lnTo>
                  <a:lnTo>
                    <a:pt x="302" y="74"/>
                  </a:lnTo>
                  <a:lnTo>
                    <a:pt x="320" y="118"/>
                  </a:lnTo>
                  <a:lnTo>
                    <a:pt x="292" y="126"/>
                  </a:lnTo>
                  <a:lnTo>
                    <a:pt x="304" y="182"/>
                  </a:lnTo>
                  <a:lnTo>
                    <a:pt x="363" y="204"/>
                  </a:lnTo>
                  <a:lnTo>
                    <a:pt x="333" y="257"/>
                  </a:lnTo>
                  <a:lnTo>
                    <a:pt x="410" y="305"/>
                  </a:lnTo>
                  <a:lnTo>
                    <a:pt x="556" y="335"/>
                  </a:lnTo>
                  <a:lnTo>
                    <a:pt x="559" y="286"/>
                  </a:lnTo>
                  <a:lnTo>
                    <a:pt x="577" y="282"/>
                  </a:lnTo>
                  <a:lnTo>
                    <a:pt x="580" y="306"/>
                  </a:lnTo>
                  <a:lnTo>
                    <a:pt x="593" y="326"/>
                  </a:lnTo>
                  <a:lnTo>
                    <a:pt x="667" y="317"/>
                  </a:lnTo>
                  <a:lnTo>
                    <a:pt x="662" y="288"/>
                  </a:lnTo>
                  <a:lnTo>
                    <a:pt x="780" y="231"/>
                  </a:lnTo>
                  <a:lnTo>
                    <a:pt x="791" y="263"/>
                  </a:lnTo>
                  <a:lnTo>
                    <a:pt x="819" y="280"/>
                  </a:lnTo>
                  <a:lnTo>
                    <a:pt x="808" y="312"/>
                  </a:lnTo>
                  <a:lnTo>
                    <a:pt x="758" y="334"/>
                  </a:lnTo>
                  <a:lnTo>
                    <a:pt x="686" y="487"/>
                  </a:lnTo>
                  <a:lnTo>
                    <a:pt x="671" y="427"/>
                  </a:lnTo>
                  <a:lnTo>
                    <a:pt x="661" y="450"/>
                  </a:lnTo>
                  <a:lnTo>
                    <a:pt x="641" y="420"/>
                  </a:lnTo>
                  <a:lnTo>
                    <a:pt x="674" y="381"/>
                  </a:lnTo>
                  <a:lnTo>
                    <a:pt x="610" y="377"/>
                  </a:lnTo>
                  <a:lnTo>
                    <a:pt x="568" y="332"/>
                  </a:lnTo>
                  <a:lnTo>
                    <a:pt x="557" y="355"/>
                  </a:lnTo>
                  <a:lnTo>
                    <a:pt x="571" y="377"/>
                  </a:lnTo>
                  <a:lnTo>
                    <a:pt x="551" y="390"/>
                  </a:lnTo>
                  <a:lnTo>
                    <a:pt x="569" y="409"/>
                  </a:lnTo>
                  <a:lnTo>
                    <a:pt x="580" y="499"/>
                  </a:lnTo>
                  <a:lnTo>
                    <a:pt x="557" y="482"/>
                  </a:lnTo>
                  <a:lnTo>
                    <a:pt x="510" y="553"/>
                  </a:lnTo>
                  <a:lnTo>
                    <a:pt x="339" y="695"/>
                  </a:lnTo>
                  <a:lnTo>
                    <a:pt x="329" y="868"/>
                  </a:lnTo>
                  <a:lnTo>
                    <a:pt x="257" y="939"/>
                  </a:lnTo>
                  <a:lnTo>
                    <a:pt x="193" y="805"/>
                  </a:lnTo>
                  <a:lnTo>
                    <a:pt x="169" y="697"/>
                  </a:lnTo>
                  <a:lnTo>
                    <a:pt x="147" y="672"/>
                  </a:lnTo>
                  <a:lnTo>
                    <a:pt x="129" y="478"/>
                  </a:lnTo>
                  <a:lnTo>
                    <a:pt x="114" y="470"/>
                  </a:lnTo>
                  <a:lnTo>
                    <a:pt x="103" y="514"/>
                  </a:lnTo>
                  <a:lnTo>
                    <a:pt x="66" y="525"/>
                  </a:lnTo>
                  <a:lnTo>
                    <a:pt x="24" y="475"/>
                  </a:lnTo>
                  <a:lnTo>
                    <a:pt x="64" y="447"/>
                  </a:lnTo>
                  <a:lnTo>
                    <a:pt x="24" y="456"/>
                  </a:lnTo>
                  <a:lnTo>
                    <a:pt x="0" y="429"/>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57" name="Freeform 18">
              <a:extLst>
                <a:ext uri="{FF2B5EF4-FFF2-40B4-BE49-F238E27FC236}">
                  <a16:creationId xmlns:a16="http://schemas.microsoft.com/office/drawing/2014/main" id="{FAAB03C2-C305-A5CB-EBE1-CE2982FF9181}"/>
                </a:ext>
              </a:extLst>
            </p:cNvPr>
            <p:cNvSpPr>
              <a:spLocks/>
            </p:cNvSpPr>
            <p:nvPr/>
          </p:nvSpPr>
          <p:spPr bwMode="auto">
            <a:xfrm>
              <a:off x="4895276" y="4789181"/>
              <a:ext cx="355119" cy="385254"/>
            </a:xfrm>
            <a:custGeom>
              <a:avLst/>
              <a:gdLst/>
              <a:ahLst/>
              <a:cxnLst>
                <a:cxn ang="0">
                  <a:pos x="0" y="0"/>
                </a:cxn>
                <a:cxn ang="0">
                  <a:pos x="68" y="13"/>
                </a:cxn>
                <a:cxn ang="0">
                  <a:pos x="154" y="108"/>
                </a:cxn>
                <a:cxn ang="0">
                  <a:pos x="222" y="145"/>
                </a:cxn>
                <a:cxn ang="0">
                  <a:pos x="215" y="170"/>
                </a:cxn>
                <a:cxn ang="0">
                  <a:pos x="239" y="167"/>
                </a:cxn>
                <a:cxn ang="0">
                  <a:pos x="236" y="202"/>
                </a:cxn>
                <a:cxn ang="0">
                  <a:pos x="306" y="271"/>
                </a:cxn>
                <a:cxn ang="0">
                  <a:pos x="297" y="362"/>
                </a:cxn>
                <a:cxn ang="0">
                  <a:pos x="266" y="362"/>
                </a:cxn>
                <a:cxn ang="0">
                  <a:pos x="206" y="312"/>
                </a:cxn>
                <a:cxn ang="0">
                  <a:pos x="104" y="127"/>
                </a:cxn>
                <a:cxn ang="0">
                  <a:pos x="0" y="0"/>
                </a:cxn>
              </a:cxnLst>
              <a:rect l="0" t="0" r="r" b="b"/>
              <a:pathLst>
                <a:path w="306" h="362">
                  <a:moveTo>
                    <a:pt x="0" y="0"/>
                  </a:moveTo>
                  <a:lnTo>
                    <a:pt x="68" y="13"/>
                  </a:lnTo>
                  <a:lnTo>
                    <a:pt x="154" y="108"/>
                  </a:lnTo>
                  <a:lnTo>
                    <a:pt x="222" y="145"/>
                  </a:lnTo>
                  <a:lnTo>
                    <a:pt x="215" y="170"/>
                  </a:lnTo>
                  <a:lnTo>
                    <a:pt x="239" y="167"/>
                  </a:lnTo>
                  <a:lnTo>
                    <a:pt x="236" y="202"/>
                  </a:lnTo>
                  <a:lnTo>
                    <a:pt x="306" y="271"/>
                  </a:lnTo>
                  <a:lnTo>
                    <a:pt x="297" y="362"/>
                  </a:lnTo>
                  <a:lnTo>
                    <a:pt x="266" y="362"/>
                  </a:lnTo>
                  <a:lnTo>
                    <a:pt x="206" y="312"/>
                  </a:lnTo>
                  <a:lnTo>
                    <a:pt x="104" y="127"/>
                  </a:lnTo>
                  <a:lnTo>
                    <a:pt x="0" y="0"/>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58" name="Freeform 19">
              <a:extLst>
                <a:ext uri="{FF2B5EF4-FFF2-40B4-BE49-F238E27FC236}">
                  <a16:creationId xmlns:a16="http://schemas.microsoft.com/office/drawing/2014/main" id="{66DED724-9D8E-9B46-6FFB-67D319ACD5C4}"/>
                </a:ext>
              </a:extLst>
            </p:cNvPr>
            <p:cNvSpPr>
              <a:spLocks/>
            </p:cNvSpPr>
            <p:nvPr/>
          </p:nvSpPr>
          <p:spPr bwMode="auto">
            <a:xfrm>
              <a:off x="5227186" y="5180794"/>
              <a:ext cx="292451" cy="95255"/>
            </a:xfrm>
            <a:custGeom>
              <a:avLst/>
              <a:gdLst/>
              <a:ahLst/>
              <a:cxnLst>
                <a:cxn ang="0">
                  <a:pos x="0" y="24"/>
                </a:cxn>
                <a:cxn ang="0">
                  <a:pos x="18" y="0"/>
                </a:cxn>
                <a:cxn ang="0">
                  <a:pos x="196" y="27"/>
                </a:cxn>
                <a:cxn ang="0">
                  <a:pos x="216" y="50"/>
                </a:cxn>
                <a:cxn ang="0">
                  <a:pos x="250" y="61"/>
                </a:cxn>
                <a:cxn ang="0">
                  <a:pos x="253" y="90"/>
                </a:cxn>
                <a:cxn ang="0">
                  <a:pos x="44" y="47"/>
                </a:cxn>
                <a:cxn ang="0">
                  <a:pos x="0" y="24"/>
                </a:cxn>
              </a:cxnLst>
              <a:rect l="0" t="0" r="r" b="b"/>
              <a:pathLst>
                <a:path w="253" h="90">
                  <a:moveTo>
                    <a:pt x="0" y="24"/>
                  </a:moveTo>
                  <a:lnTo>
                    <a:pt x="18" y="0"/>
                  </a:lnTo>
                  <a:lnTo>
                    <a:pt x="196" y="27"/>
                  </a:lnTo>
                  <a:lnTo>
                    <a:pt x="216" y="50"/>
                  </a:lnTo>
                  <a:lnTo>
                    <a:pt x="250" y="61"/>
                  </a:lnTo>
                  <a:lnTo>
                    <a:pt x="253" y="90"/>
                  </a:lnTo>
                  <a:lnTo>
                    <a:pt x="44" y="47"/>
                  </a:lnTo>
                  <a:lnTo>
                    <a:pt x="0" y="24"/>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59" name="Freeform 20">
              <a:extLst>
                <a:ext uri="{FF2B5EF4-FFF2-40B4-BE49-F238E27FC236}">
                  <a16:creationId xmlns:a16="http://schemas.microsoft.com/office/drawing/2014/main" id="{94723D1C-F506-C176-EC30-E1D3DA1A5CE8}"/>
                </a:ext>
              </a:extLst>
            </p:cNvPr>
            <p:cNvSpPr>
              <a:spLocks/>
            </p:cNvSpPr>
            <p:nvPr/>
          </p:nvSpPr>
          <p:spPr bwMode="auto">
            <a:xfrm>
              <a:off x="5345555" y="4835751"/>
              <a:ext cx="317982" cy="283648"/>
            </a:xfrm>
            <a:custGeom>
              <a:avLst/>
              <a:gdLst/>
              <a:ahLst/>
              <a:cxnLst>
                <a:cxn ang="0">
                  <a:pos x="0" y="120"/>
                </a:cxn>
                <a:cxn ang="0">
                  <a:pos x="18" y="84"/>
                </a:cxn>
                <a:cxn ang="0">
                  <a:pos x="42" y="107"/>
                </a:cxn>
                <a:cxn ang="0">
                  <a:pos x="126" y="99"/>
                </a:cxn>
                <a:cxn ang="0">
                  <a:pos x="151" y="85"/>
                </a:cxn>
                <a:cxn ang="0">
                  <a:pos x="190" y="0"/>
                </a:cxn>
                <a:cxn ang="0">
                  <a:pos x="238" y="3"/>
                </a:cxn>
                <a:cxn ang="0">
                  <a:pos x="227" y="26"/>
                </a:cxn>
                <a:cxn ang="0">
                  <a:pos x="275" y="107"/>
                </a:cxn>
                <a:cxn ang="0">
                  <a:pos x="248" y="101"/>
                </a:cxn>
                <a:cxn ang="0">
                  <a:pos x="202" y="194"/>
                </a:cxn>
                <a:cxn ang="0">
                  <a:pos x="194" y="252"/>
                </a:cxn>
                <a:cxn ang="0">
                  <a:pos x="164" y="269"/>
                </a:cxn>
                <a:cxn ang="0">
                  <a:pos x="114" y="234"/>
                </a:cxn>
                <a:cxn ang="0">
                  <a:pos x="81" y="251"/>
                </a:cxn>
                <a:cxn ang="0">
                  <a:pos x="76" y="221"/>
                </a:cxn>
                <a:cxn ang="0">
                  <a:pos x="34" y="228"/>
                </a:cxn>
                <a:cxn ang="0">
                  <a:pos x="0" y="120"/>
                </a:cxn>
              </a:cxnLst>
              <a:rect l="0" t="0" r="r" b="b"/>
              <a:pathLst>
                <a:path w="275" h="269">
                  <a:moveTo>
                    <a:pt x="0" y="120"/>
                  </a:moveTo>
                  <a:lnTo>
                    <a:pt x="18" y="84"/>
                  </a:lnTo>
                  <a:lnTo>
                    <a:pt x="42" y="107"/>
                  </a:lnTo>
                  <a:lnTo>
                    <a:pt x="126" y="99"/>
                  </a:lnTo>
                  <a:lnTo>
                    <a:pt x="151" y="85"/>
                  </a:lnTo>
                  <a:lnTo>
                    <a:pt x="190" y="0"/>
                  </a:lnTo>
                  <a:lnTo>
                    <a:pt x="238" y="3"/>
                  </a:lnTo>
                  <a:lnTo>
                    <a:pt x="227" y="26"/>
                  </a:lnTo>
                  <a:lnTo>
                    <a:pt x="275" y="107"/>
                  </a:lnTo>
                  <a:lnTo>
                    <a:pt x="248" y="101"/>
                  </a:lnTo>
                  <a:lnTo>
                    <a:pt x="202" y="194"/>
                  </a:lnTo>
                  <a:lnTo>
                    <a:pt x="194" y="252"/>
                  </a:lnTo>
                  <a:lnTo>
                    <a:pt x="164" y="269"/>
                  </a:lnTo>
                  <a:lnTo>
                    <a:pt x="114" y="234"/>
                  </a:lnTo>
                  <a:lnTo>
                    <a:pt x="81" y="251"/>
                  </a:lnTo>
                  <a:lnTo>
                    <a:pt x="76" y="221"/>
                  </a:lnTo>
                  <a:lnTo>
                    <a:pt x="34" y="228"/>
                  </a:lnTo>
                  <a:lnTo>
                    <a:pt x="0" y="120"/>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60" name="Freeform 21">
              <a:extLst>
                <a:ext uri="{FF2B5EF4-FFF2-40B4-BE49-F238E27FC236}">
                  <a16:creationId xmlns:a16="http://schemas.microsoft.com/office/drawing/2014/main" id="{32CD8BCD-8FDD-8411-46B4-420C40938A17}"/>
                </a:ext>
              </a:extLst>
            </p:cNvPr>
            <p:cNvSpPr>
              <a:spLocks/>
            </p:cNvSpPr>
            <p:nvPr/>
          </p:nvSpPr>
          <p:spPr bwMode="auto">
            <a:xfrm>
              <a:off x="5598550" y="5265466"/>
              <a:ext cx="76595" cy="19051"/>
            </a:xfrm>
            <a:custGeom>
              <a:avLst/>
              <a:gdLst/>
              <a:ahLst/>
              <a:cxnLst>
                <a:cxn ang="0">
                  <a:pos x="0" y="5"/>
                </a:cxn>
                <a:cxn ang="0">
                  <a:pos x="6" y="19"/>
                </a:cxn>
                <a:cxn ang="0">
                  <a:pos x="66" y="6"/>
                </a:cxn>
                <a:cxn ang="0">
                  <a:pos x="20" y="0"/>
                </a:cxn>
                <a:cxn ang="0">
                  <a:pos x="0" y="5"/>
                </a:cxn>
              </a:cxnLst>
              <a:rect l="0" t="0" r="r" b="b"/>
              <a:pathLst>
                <a:path w="66" h="19">
                  <a:moveTo>
                    <a:pt x="0" y="5"/>
                  </a:moveTo>
                  <a:lnTo>
                    <a:pt x="6" y="19"/>
                  </a:lnTo>
                  <a:lnTo>
                    <a:pt x="66" y="6"/>
                  </a:lnTo>
                  <a:lnTo>
                    <a:pt x="20" y="0"/>
                  </a:lnTo>
                  <a:lnTo>
                    <a:pt x="0" y="5"/>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61" name="Freeform 22">
              <a:extLst>
                <a:ext uri="{FF2B5EF4-FFF2-40B4-BE49-F238E27FC236}">
                  <a16:creationId xmlns:a16="http://schemas.microsoft.com/office/drawing/2014/main" id="{DEB84C98-F0D5-3B2F-545C-6D3A791D7339}"/>
                </a:ext>
              </a:extLst>
            </p:cNvPr>
            <p:cNvSpPr>
              <a:spLocks/>
            </p:cNvSpPr>
            <p:nvPr/>
          </p:nvSpPr>
          <p:spPr bwMode="auto">
            <a:xfrm>
              <a:off x="5663539" y="4918306"/>
              <a:ext cx="201931" cy="249780"/>
            </a:xfrm>
            <a:custGeom>
              <a:avLst/>
              <a:gdLst/>
              <a:ahLst/>
              <a:cxnLst>
                <a:cxn ang="0">
                  <a:pos x="0" y="140"/>
                </a:cxn>
                <a:cxn ang="0">
                  <a:pos x="21" y="185"/>
                </a:cxn>
                <a:cxn ang="0">
                  <a:pos x="15" y="226"/>
                </a:cxn>
                <a:cxn ang="0">
                  <a:pos x="40" y="235"/>
                </a:cxn>
                <a:cxn ang="0">
                  <a:pos x="40" y="150"/>
                </a:cxn>
                <a:cxn ang="0">
                  <a:pos x="58" y="140"/>
                </a:cxn>
                <a:cxn ang="0">
                  <a:pos x="61" y="174"/>
                </a:cxn>
                <a:cxn ang="0">
                  <a:pos x="76" y="214"/>
                </a:cxn>
                <a:cxn ang="0">
                  <a:pos x="107" y="194"/>
                </a:cxn>
                <a:cxn ang="0">
                  <a:pos x="72" y="116"/>
                </a:cxn>
                <a:cxn ang="0">
                  <a:pos x="125" y="79"/>
                </a:cxn>
                <a:cxn ang="0">
                  <a:pos x="51" y="101"/>
                </a:cxn>
                <a:cxn ang="0">
                  <a:pos x="39" y="49"/>
                </a:cxn>
                <a:cxn ang="0">
                  <a:pos x="152" y="44"/>
                </a:cxn>
                <a:cxn ang="0">
                  <a:pos x="173" y="0"/>
                </a:cxn>
                <a:cxn ang="0">
                  <a:pos x="140" y="29"/>
                </a:cxn>
                <a:cxn ang="0">
                  <a:pos x="58" y="12"/>
                </a:cxn>
                <a:cxn ang="0">
                  <a:pos x="31" y="33"/>
                </a:cxn>
                <a:cxn ang="0">
                  <a:pos x="0" y="140"/>
                </a:cxn>
              </a:cxnLst>
              <a:rect l="0" t="0" r="r" b="b"/>
              <a:pathLst>
                <a:path w="173" h="235">
                  <a:moveTo>
                    <a:pt x="0" y="140"/>
                  </a:moveTo>
                  <a:lnTo>
                    <a:pt x="21" y="185"/>
                  </a:lnTo>
                  <a:lnTo>
                    <a:pt x="15" y="226"/>
                  </a:lnTo>
                  <a:lnTo>
                    <a:pt x="40" y="235"/>
                  </a:lnTo>
                  <a:lnTo>
                    <a:pt x="40" y="150"/>
                  </a:lnTo>
                  <a:lnTo>
                    <a:pt x="58" y="140"/>
                  </a:lnTo>
                  <a:lnTo>
                    <a:pt x="61" y="174"/>
                  </a:lnTo>
                  <a:lnTo>
                    <a:pt x="76" y="214"/>
                  </a:lnTo>
                  <a:lnTo>
                    <a:pt x="107" y="194"/>
                  </a:lnTo>
                  <a:lnTo>
                    <a:pt x="72" y="116"/>
                  </a:lnTo>
                  <a:lnTo>
                    <a:pt x="125" y="79"/>
                  </a:lnTo>
                  <a:lnTo>
                    <a:pt x="51" y="101"/>
                  </a:lnTo>
                  <a:lnTo>
                    <a:pt x="39" y="49"/>
                  </a:lnTo>
                  <a:lnTo>
                    <a:pt x="152" y="44"/>
                  </a:lnTo>
                  <a:lnTo>
                    <a:pt x="173" y="0"/>
                  </a:lnTo>
                  <a:lnTo>
                    <a:pt x="140" y="29"/>
                  </a:lnTo>
                  <a:lnTo>
                    <a:pt x="58" y="12"/>
                  </a:lnTo>
                  <a:lnTo>
                    <a:pt x="31" y="33"/>
                  </a:lnTo>
                  <a:lnTo>
                    <a:pt x="0" y="140"/>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62" name="Freeform 28">
              <a:extLst>
                <a:ext uri="{FF2B5EF4-FFF2-40B4-BE49-F238E27FC236}">
                  <a16:creationId xmlns:a16="http://schemas.microsoft.com/office/drawing/2014/main" id="{66AD9A5B-8E69-A763-A37A-36A7028BA893}"/>
                </a:ext>
              </a:extLst>
            </p:cNvPr>
            <p:cNvSpPr>
              <a:spLocks/>
            </p:cNvSpPr>
            <p:nvPr/>
          </p:nvSpPr>
          <p:spPr bwMode="auto">
            <a:xfrm>
              <a:off x="6014015" y="3794294"/>
              <a:ext cx="76595" cy="91020"/>
            </a:xfrm>
            <a:custGeom>
              <a:avLst/>
              <a:gdLst/>
              <a:ahLst/>
              <a:cxnLst>
                <a:cxn ang="0">
                  <a:pos x="0" y="25"/>
                </a:cxn>
                <a:cxn ang="0">
                  <a:pos x="1" y="48"/>
                </a:cxn>
                <a:cxn ang="0">
                  <a:pos x="18" y="25"/>
                </a:cxn>
                <a:cxn ang="0">
                  <a:pos x="24" y="37"/>
                </a:cxn>
                <a:cxn ang="0">
                  <a:pos x="16" y="87"/>
                </a:cxn>
                <a:cxn ang="0">
                  <a:pos x="46" y="87"/>
                </a:cxn>
                <a:cxn ang="0">
                  <a:pos x="65" y="35"/>
                </a:cxn>
                <a:cxn ang="0">
                  <a:pos x="52" y="3"/>
                </a:cxn>
                <a:cxn ang="0">
                  <a:pos x="24" y="0"/>
                </a:cxn>
                <a:cxn ang="0">
                  <a:pos x="0" y="25"/>
                </a:cxn>
              </a:cxnLst>
              <a:rect l="0" t="0" r="r" b="b"/>
              <a:pathLst>
                <a:path w="65" h="87">
                  <a:moveTo>
                    <a:pt x="0" y="25"/>
                  </a:moveTo>
                  <a:lnTo>
                    <a:pt x="1" y="48"/>
                  </a:lnTo>
                  <a:lnTo>
                    <a:pt x="18" y="25"/>
                  </a:lnTo>
                  <a:lnTo>
                    <a:pt x="24" y="37"/>
                  </a:lnTo>
                  <a:lnTo>
                    <a:pt x="16" y="87"/>
                  </a:lnTo>
                  <a:lnTo>
                    <a:pt x="46" y="87"/>
                  </a:lnTo>
                  <a:lnTo>
                    <a:pt x="65" y="35"/>
                  </a:lnTo>
                  <a:lnTo>
                    <a:pt x="52" y="3"/>
                  </a:lnTo>
                  <a:lnTo>
                    <a:pt x="24" y="0"/>
                  </a:lnTo>
                  <a:lnTo>
                    <a:pt x="0" y="25"/>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63" name="Freeform 29">
              <a:extLst>
                <a:ext uri="{FF2B5EF4-FFF2-40B4-BE49-F238E27FC236}">
                  <a16:creationId xmlns:a16="http://schemas.microsoft.com/office/drawing/2014/main" id="{A179BE4D-8E2E-0A67-0820-76B3CED4D337}"/>
                </a:ext>
              </a:extLst>
            </p:cNvPr>
            <p:cNvSpPr>
              <a:spLocks/>
            </p:cNvSpPr>
            <p:nvPr/>
          </p:nvSpPr>
          <p:spPr bwMode="auto">
            <a:xfrm>
              <a:off x="6055790" y="3497953"/>
              <a:ext cx="362082" cy="309051"/>
            </a:xfrm>
            <a:custGeom>
              <a:avLst/>
              <a:gdLst/>
              <a:ahLst/>
              <a:cxnLst>
                <a:cxn ang="0">
                  <a:pos x="0" y="274"/>
                </a:cxn>
                <a:cxn ang="0">
                  <a:pos x="55" y="218"/>
                </a:cxn>
                <a:cxn ang="0">
                  <a:pos x="134" y="218"/>
                </a:cxn>
                <a:cxn ang="0">
                  <a:pos x="166" y="154"/>
                </a:cxn>
                <a:cxn ang="0">
                  <a:pos x="181" y="148"/>
                </a:cxn>
                <a:cxn ang="0">
                  <a:pos x="181" y="173"/>
                </a:cxn>
                <a:cxn ang="0">
                  <a:pos x="217" y="148"/>
                </a:cxn>
                <a:cxn ang="0">
                  <a:pos x="249" y="98"/>
                </a:cxn>
                <a:cxn ang="0">
                  <a:pos x="263" y="13"/>
                </a:cxn>
                <a:cxn ang="0">
                  <a:pos x="285" y="18"/>
                </a:cxn>
                <a:cxn ang="0">
                  <a:pos x="279" y="0"/>
                </a:cxn>
                <a:cxn ang="0">
                  <a:pos x="296" y="1"/>
                </a:cxn>
                <a:cxn ang="0">
                  <a:pos x="314" y="68"/>
                </a:cxn>
                <a:cxn ang="0">
                  <a:pos x="285" y="120"/>
                </a:cxn>
                <a:cxn ang="0">
                  <a:pos x="285" y="163"/>
                </a:cxn>
                <a:cxn ang="0">
                  <a:pos x="266" y="229"/>
                </a:cxn>
                <a:cxn ang="0">
                  <a:pos x="254" y="240"/>
                </a:cxn>
                <a:cxn ang="0">
                  <a:pos x="252" y="215"/>
                </a:cxn>
                <a:cxn ang="0">
                  <a:pos x="205" y="252"/>
                </a:cxn>
                <a:cxn ang="0">
                  <a:pos x="166" y="232"/>
                </a:cxn>
                <a:cxn ang="0">
                  <a:pos x="170" y="266"/>
                </a:cxn>
                <a:cxn ang="0">
                  <a:pos x="134" y="290"/>
                </a:cxn>
                <a:cxn ang="0">
                  <a:pos x="127" y="249"/>
                </a:cxn>
                <a:cxn ang="0">
                  <a:pos x="0" y="274"/>
                </a:cxn>
              </a:cxnLst>
              <a:rect l="0" t="0" r="r" b="b"/>
              <a:pathLst>
                <a:path w="314" h="290">
                  <a:moveTo>
                    <a:pt x="0" y="274"/>
                  </a:moveTo>
                  <a:lnTo>
                    <a:pt x="55" y="218"/>
                  </a:lnTo>
                  <a:lnTo>
                    <a:pt x="134" y="218"/>
                  </a:lnTo>
                  <a:lnTo>
                    <a:pt x="166" y="154"/>
                  </a:lnTo>
                  <a:lnTo>
                    <a:pt x="181" y="148"/>
                  </a:lnTo>
                  <a:lnTo>
                    <a:pt x="181" y="173"/>
                  </a:lnTo>
                  <a:lnTo>
                    <a:pt x="217" y="148"/>
                  </a:lnTo>
                  <a:lnTo>
                    <a:pt x="249" y="98"/>
                  </a:lnTo>
                  <a:lnTo>
                    <a:pt x="263" y="13"/>
                  </a:lnTo>
                  <a:lnTo>
                    <a:pt x="285" y="18"/>
                  </a:lnTo>
                  <a:lnTo>
                    <a:pt x="279" y="0"/>
                  </a:lnTo>
                  <a:lnTo>
                    <a:pt x="296" y="1"/>
                  </a:lnTo>
                  <a:lnTo>
                    <a:pt x="314" y="68"/>
                  </a:lnTo>
                  <a:lnTo>
                    <a:pt x="285" y="120"/>
                  </a:lnTo>
                  <a:lnTo>
                    <a:pt x="285" y="163"/>
                  </a:lnTo>
                  <a:lnTo>
                    <a:pt x="266" y="229"/>
                  </a:lnTo>
                  <a:lnTo>
                    <a:pt x="254" y="240"/>
                  </a:lnTo>
                  <a:lnTo>
                    <a:pt x="252" y="215"/>
                  </a:lnTo>
                  <a:lnTo>
                    <a:pt x="205" y="252"/>
                  </a:lnTo>
                  <a:lnTo>
                    <a:pt x="166" y="232"/>
                  </a:lnTo>
                  <a:lnTo>
                    <a:pt x="170" y="266"/>
                  </a:lnTo>
                  <a:lnTo>
                    <a:pt x="134" y="290"/>
                  </a:lnTo>
                  <a:lnTo>
                    <a:pt x="127" y="249"/>
                  </a:lnTo>
                  <a:lnTo>
                    <a:pt x="0" y="274"/>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64" name="Freeform 30">
              <a:extLst>
                <a:ext uri="{FF2B5EF4-FFF2-40B4-BE49-F238E27FC236}">
                  <a16:creationId xmlns:a16="http://schemas.microsoft.com/office/drawing/2014/main" id="{5DEE4950-3989-F6A8-B7BA-B783AAC3C548}"/>
                </a:ext>
              </a:extLst>
            </p:cNvPr>
            <p:cNvSpPr>
              <a:spLocks/>
            </p:cNvSpPr>
            <p:nvPr/>
          </p:nvSpPr>
          <p:spPr bwMode="auto">
            <a:xfrm>
              <a:off x="6095252" y="3779476"/>
              <a:ext cx="76595" cy="55036"/>
            </a:xfrm>
            <a:custGeom>
              <a:avLst/>
              <a:gdLst/>
              <a:ahLst/>
              <a:cxnLst>
                <a:cxn ang="0">
                  <a:pos x="0" y="26"/>
                </a:cxn>
                <a:cxn ang="0">
                  <a:pos x="22" y="52"/>
                </a:cxn>
                <a:cxn ang="0">
                  <a:pos x="60" y="32"/>
                </a:cxn>
                <a:cxn ang="0">
                  <a:pos x="64" y="0"/>
                </a:cxn>
                <a:cxn ang="0">
                  <a:pos x="0" y="26"/>
                </a:cxn>
              </a:cxnLst>
              <a:rect l="0" t="0" r="r" b="b"/>
              <a:pathLst>
                <a:path w="64" h="52">
                  <a:moveTo>
                    <a:pt x="0" y="26"/>
                  </a:moveTo>
                  <a:lnTo>
                    <a:pt x="22" y="52"/>
                  </a:lnTo>
                  <a:lnTo>
                    <a:pt x="60" y="32"/>
                  </a:lnTo>
                  <a:lnTo>
                    <a:pt x="64" y="0"/>
                  </a:lnTo>
                  <a:lnTo>
                    <a:pt x="0" y="26"/>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65" name="Freeform 31">
              <a:extLst>
                <a:ext uri="{FF2B5EF4-FFF2-40B4-BE49-F238E27FC236}">
                  <a16:creationId xmlns:a16="http://schemas.microsoft.com/office/drawing/2014/main" id="{856898F2-1302-9E37-4110-6229C79E91EE}"/>
                </a:ext>
              </a:extLst>
            </p:cNvPr>
            <p:cNvSpPr>
              <a:spLocks/>
            </p:cNvSpPr>
            <p:nvPr/>
          </p:nvSpPr>
          <p:spPr bwMode="auto">
            <a:xfrm>
              <a:off x="6348243" y="3332837"/>
              <a:ext cx="188004" cy="165110"/>
            </a:xfrm>
            <a:custGeom>
              <a:avLst/>
              <a:gdLst/>
              <a:ahLst/>
              <a:cxnLst>
                <a:cxn ang="0">
                  <a:pos x="0" y="111"/>
                </a:cxn>
                <a:cxn ang="0">
                  <a:pos x="8" y="157"/>
                </a:cxn>
                <a:cxn ang="0">
                  <a:pos x="35" y="140"/>
                </a:cxn>
                <a:cxn ang="0">
                  <a:pos x="15" y="114"/>
                </a:cxn>
                <a:cxn ang="0">
                  <a:pos x="93" y="138"/>
                </a:cxn>
                <a:cxn ang="0">
                  <a:pos x="113" y="98"/>
                </a:cxn>
                <a:cxn ang="0">
                  <a:pos x="163" y="89"/>
                </a:cxn>
                <a:cxn ang="0">
                  <a:pos x="147" y="65"/>
                </a:cxn>
                <a:cxn ang="0">
                  <a:pos x="153" y="43"/>
                </a:cxn>
                <a:cxn ang="0">
                  <a:pos x="108" y="46"/>
                </a:cxn>
                <a:cxn ang="0">
                  <a:pos x="56" y="0"/>
                </a:cxn>
                <a:cxn ang="0">
                  <a:pos x="39" y="91"/>
                </a:cxn>
                <a:cxn ang="0">
                  <a:pos x="14" y="85"/>
                </a:cxn>
                <a:cxn ang="0">
                  <a:pos x="0" y="111"/>
                </a:cxn>
              </a:cxnLst>
              <a:rect l="0" t="0" r="r" b="b"/>
              <a:pathLst>
                <a:path w="163" h="157">
                  <a:moveTo>
                    <a:pt x="0" y="111"/>
                  </a:moveTo>
                  <a:lnTo>
                    <a:pt x="8" y="157"/>
                  </a:lnTo>
                  <a:lnTo>
                    <a:pt x="35" y="140"/>
                  </a:lnTo>
                  <a:lnTo>
                    <a:pt x="15" y="114"/>
                  </a:lnTo>
                  <a:lnTo>
                    <a:pt x="93" y="138"/>
                  </a:lnTo>
                  <a:lnTo>
                    <a:pt x="113" y="98"/>
                  </a:lnTo>
                  <a:lnTo>
                    <a:pt x="163" y="89"/>
                  </a:lnTo>
                  <a:lnTo>
                    <a:pt x="147" y="65"/>
                  </a:lnTo>
                  <a:lnTo>
                    <a:pt x="153" y="43"/>
                  </a:lnTo>
                  <a:lnTo>
                    <a:pt x="108" y="46"/>
                  </a:lnTo>
                  <a:lnTo>
                    <a:pt x="56" y="0"/>
                  </a:lnTo>
                  <a:lnTo>
                    <a:pt x="39" y="91"/>
                  </a:lnTo>
                  <a:lnTo>
                    <a:pt x="14" y="85"/>
                  </a:lnTo>
                  <a:lnTo>
                    <a:pt x="0" y="111"/>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66" name="Freeform 32">
              <a:extLst>
                <a:ext uri="{FF2B5EF4-FFF2-40B4-BE49-F238E27FC236}">
                  <a16:creationId xmlns:a16="http://schemas.microsoft.com/office/drawing/2014/main" id="{244CDAB1-4F09-EFA8-6137-03E8C3B22A37}"/>
                </a:ext>
              </a:extLst>
            </p:cNvPr>
            <p:cNvSpPr>
              <a:spLocks/>
            </p:cNvSpPr>
            <p:nvPr/>
          </p:nvSpPr>
          <p:spPr bwMode="auto">
            <a:xfrm>
              <a:off x="5842261" y="3436565"/>
              <a:ext cx="204252" cy="209561"/>
            </a:xfrm>
            <a:custGeom>
              <a:avLst/>
              <a:gdLst/>
              <a:ahLst/>
              <a:cxnLst>
                <a:cxn ang="0">
                  <a:pos x="0" y="114"/>
                </a:cxn>
                <a:cxn ang="0">
                  <a:pos x="32" y="127"/>
                </a:cxn>
                <a:cxn ang="0">
                  <a:pos x="11" y="186"/>
                </a:cxn>
                <a:cxn ang="0">
                  <a:pos x="63" y="198"/>
                </a:cxn>
                <a:cxn ang="0">
                  <a:pos x="114" y="164"/>
                </a:cxn>
                <a:cxn ang="0">
                  <a:pos x="88" y="118"/>
                </a:cxn>
                <a:cxn ang="0">
                  <a:pos x="150" y="77"/>
                </a:cxn>
                <a:cxn ang="0">
                  <a:pos x="177" y="20"/>
                </a:cxn>
                <a:cxn ang="0">
                  <a:pos x="174" y="11"/>
                </a:cxn>
                <a:cxn ang="0">
                  <a:pos x="163" y="0"/>
                </a:cxn>
                <a:cxn ang="0">
                  <a:pos x="109" y="40"/>
                </a:cxn>
                <a:cxn ang="0">
                  <a:pos x="109" y="60"/>
                </a:cxn>
                <a:cxn ang="0">
                  <a:pos x="70" y="52"/>
                </a:cxn>
                <a:cxn ang="0">
                  <a:pos x="0" y="114"/>
                </a:cxn>
              </a:cxnLst>
              <a:rect l="0" t="0" r="r" b="b"/>
              <a:pathLst>
                <a:path w="177" h="198">
                  <a:moveTo>
                    <a:pt x="0" y="114"/>
                  </a:moveTo>
                  <a:lnTo>
                    <a:pt x="32" y="127"/>
                  </a:lnTo>
                  <a:lnTo>
                    <a:pt x="11" y="186"/>
                  </a:lnTo>
                  <a:lnTo>
                    <a:pt x="63" y="198"/>
                  </a:lnTo>
                  <a:lnTo>
                    <a:pt x="114" y="164"/>
                  </a:lnTo>
                  <a:lnTo>
                    <a:pt x="88" y="118"/>
                  </a:lnTo>
                  <a:lnTo>
                    <a:pt x="150" y="77"/>
                  </a:lnTo>
                  <a:lnTo>
                    <a:pt x="177" y="20"/>
                  </a:lnTo>
                  <a:lnTo>
                    <a:pt x="174" y="11"/>
                  </a:lnTo>
                  <a:lnTo>
                    <a:pt x="163" y="0"/>
                  </a:lnTo>
                  <a:lnTo>
                    <a:pt x="109" y="40"/>
                  </a:lnTo>
                  <a:lnTo>
                    <a:pt x="109" y="60"/>
                  </a:lnTo>
                  <a:lnTo>
                    <a:pt x="70" y="52"/>
                  </a:lnTo>
                  <a:lnTo>
                    <a:pt x="0" y="114"/>
                  </a:lnTo>
                  <a:close/>
                </a:path>
              </a:pathLst>
            </a:custGeom>
            <a:solidFill>
              <a:srgbClr val="E2E3DF"/>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67" name="Freeform 33">
              <a:extLst>
                <a:ext uri="{FF2B5EF4-FFF2-40B4-BE49-F238E27FC236}">
                  <a16:creationId xmlns:a16="http://schemas.microsoft.com/office/drawing/2014/main" id="{C48649A5-204E-9CA4-C5DC-B23B5CA53BC0}"/>
                </a:ext>
              </a:extLst>
            </p:cNvPr>
            <p:cNvSpPr>
              <a:spLocks/>
            </p:cNvSpPr>
            <p:nvPr/>
          </p:nvSpPr>
          <p:spPr bwMode="auto">
            <a:xfrm>
              <a:off x="5900287" y="3610133"/>
              <a:ext cx="113729" cy="160876"/>
            </a:xfrm>
            <a:custGeom>
              <a:avLst/>
              <a:gdLst/>
              <a:ahLst/>
              <a:cxnLst>
                <a:cxn ang="0">
                  <a:pos x="0" y="152"/>
                </a:cxn>
                <a:cxn ang="0">
                  <a:pos x="12" y="34"/>
                </a:cxn>
                <a:cxn ang="0">
                  <a:pos x="63" y="0"/>
                </a:cxn>
                <a:cxn ang="0">
                  <a:pos x="99" y="95"/>
                </a:cxn>
                <a:cxn ang="0">
                  <a:pos x="61" y="138"/>
                </a:cxn>
                <a:cxn ang="0">
                  <a:pos x="0" y="152"/>
                </a:cxn>
              </a:cxnLst>
              <a:rect l="0" t="0" r="r" b="b"/>
              <a:pathLst>
                <a:path w="99" h="152">
                  <a:moveTo>
                    <a:pt x="0" y="152"/>
                  </a:moveTo>
                  <a:lnTo>
                    <a:pt x="12" y="34"/>
                  </a:lnTo>
                  <a:lnTo>
                    <a:pt x="63" y="0"/>
                  </a:lnTo>
                  <a:lnTo>
                    <a:pt x="99" y="95"/>
                  </a:lnTo>
                  <a:lnTo>
                    <a:pt x="61" y="138"/>
                  </a:lnTo>
                  <a:lnTo>
                    <a:pt x="0" y="152"/>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68" name="Freeform 34">
              <a:extLst>
                <a:ext uri="{FF2B5EF4-FFF2-40B4-BE49-F238E27FC236}">
                  <a16:creationId xmlns:a16="http://schemas.microsoft.com/office/drawing/2014/main" id="{26B274C6-5879-8031-83C0-80E534B26519}"/>
                </a:ext>
              </a:extLst>
            </p:cNvPr>
            <p:cNvSpPr>
              <a:spLocks/>
            </p:cNvSpPr>
            <p:nvPr/>
          </p:nvSpPr>
          <p:spPr bwMode="auto">
            <a:xfrm>
              <a:off x="5060065" y="4209190"/>
              <a:ext cx="232106" cy="281531"/>
            </a:xfrm>
            <a:custGeom>
              <a:avLst/>
              <a:gdLst/>
              <a:ahLst/>
              <a:cxnLst>
                <a:cxn ang="0">
                  <a:pos x="0" y="57"/>
                </a:cxn>
                <a:cxn ang="0">
                  <a:pos x="25" y="97"/>
                </a:cxn>
                <a:cxn ang="0">
                  <a:pos x="19" y="164"/>
                </a:cxn>
                <a:cxn ang="0">
                  <a:pos x="88" y="132"/>
                </a:cxn>
                <a:cxn ang="0">
                  <a:pos x="119" y="164"/>
                </a:cxn>
                <a:cxn ang="0">
                  <a:pos x="146" y="227"/>
                </a:cxn>
                <a:cxn ang="0">
                  <a:pos x="137" y="268"/>
                </a:cxn>
                <a:cxn ang="0">
                  <a:pos x="200" y="257"/>
                </a:cxn>
                <a:cxn ang="0">
                  <a:pos x="168" y="170"/>
                </a:cxn>
                <a:cxn ang="0">
                  <a:pos x="103" y="107"/>
                </a:cxn>
                <a:cxn ang="0">
                  <a:pos x="119" y="70"/>
                </a:cxn>
                <a:cxn ang="0">
                  <a:pos x="83" y="51"/>
                </a:cxn>
                <a:cxn ang="0">
                  <a:pos x="53" y="0"/>
                </a:cxn>
                <a:cxn ang="0">
                  <a:pos x="37" y="0"/>
                </a:cxn>
                <a:cxn ang="0">
                  <a:pos x="37" y="35"/>
                </a:cxn>
                <a:cxn ang="0">
                  <a:pos x="25" y="29"/>
                </a:cxn>
                <a:cxn ang="0">
                  <a:pos x="0" y="57"/>
                </a:cxn>
              </a:cxnLst>
              <a:rect l="0" t="0" r="r" b="b"/>
              <a:pathLst>
                <a:path w="200" h="268">
                  <a:moveTo>
                    <a:pt x="0" y="57"/>
                  </a:moveTo>
                  <a:lnTo>
                    <a:pt x="25" y="97"/>
                  </a:lnTo>
                  <a:lnTo>
                    <a:pt x="19" y="164"/>
                  </a:lnTo>
                  <a:lnTo>
                    <a:pt x="88" y="132"/>
                  </a:lnTo>
                  <a:lnTo>
                    <a:pt x="119" y="164"/>
                  </a:lnTo>
                  <a:lnTo>
                    <a:pt x="146" y="227"/>
                  </a:lnTo>
                  <a:lnTo>
                    <a:pt x="137" y="268"/>
                  </a:lnTo>
                  <a:lnTo>
                    <a:pt x="200" y="257"/>
                  </a:lnTo>
                  <a:lnTo>
                    <a:pt x="168" y="170"/>
                  </a:lnTo>
                  <a:lnTo>
                    <a:pt x="103" y="107"/>
                  </a:lnTo>
                  <a:lnTo>
                    <a:pt x="119" y="70"/>
                  </a:lnTo>
                  <a:lnTo>
                    <a:pt x="83" y="51"/>
                  </a:lnTo>
                  <a:lnTo>
                    <a:pt x="53" y="0"/>
                  </a:lnTo>
                  <a:lnTo>
                    <a:pt x="37" y="0"/>
                  </a:lnTo>
                  <a:lnTo>
                    <a:pt x="37" y="35"/>
                  </a:lnTo>
                  <a:lnTo>
                    <a:pt x="25" y="29"/>
                  </a:lnTo>
                  <a:lnTo>
                    <a:pt x="0" y="57"/>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69" name="Freeform 35">
              <a:extLst>
                <a:ext uri="{FF2B5EF4-FFF2-40B4-BE49-F238E27FC236}">
                  <a16:creationId xmlns:a16="http://schemas.microsoft.com/office/drawing/2014/main" id="{DF7CE882-D482-8EB5-2D04-3DE911CA5930}"/>
                </a:ext>
              </a:extLst>
            </p:cNvPr>
            <p:cNvSpPr>
              <a:spLocks/>
            </p:cNvSpPr>
            <p:nvPr/>
          </p:nvSpPr>
          <p:spPr bwMode="auto">
            <a:xfrm>
              <a:off x="5062391" y="4759546"/>
              <a:ext cx="118373" cy="167226"/>
            </a:xfrm>
            <a:custGeom>
              <a:avLst/>
              <a:gdLst/>
              <a:ahLst/>
              <a:cxnLst>
                <a:cxn ang="0">
                  <a:pos x="0" y="0"/>
                </a:cxn>
                <a:cxn ang="0">
                  <a:pos x="19" y="0"/>
                </a:cxn>
                <a:cxn ang="0">
                  <a:pos x="27" y="27"/>
                </a:cxn>
                <a:cxn ang="0">
                  <a:pos x="52" y="9"/>
                </a:cxn>
                <a:cxn ang="0">
                  <a:pos x="87" y="47"/>
                </a:cxn>
                <a:cxn ang="0">
                  <a:pos x="103" y="157"/>
                </a:cxn>
                <a:cxn ang="0">
                  <a:pos x="102" y="157"/>
                </a:cxn>
                <a:cxn ang="0">
                  <a:pos x="33" y="110"/>
                </a:cxn>
                <a:cxn ang="0">
                  <a:pos x="0" y="0"/>
                </a:cxn>
              </a:cxnLst>
              <a:rect l="0" t="0" r="r" b="b"/>
              <a:pathLst>
                <a:path w="103" h="157">
                  <a:moveTo>
                    <a:pt x="0" y="0"/>
                  </a:moveTo>
                  <a:lnTo>
                    <a:pt x="19" y="0"/>
                  </a:lnTo>
                  <a:lnTo>
                    <a:pt x="27" y="27"/>
                  </a:lnTo>
                  <a:lnTo>
                    <a:pt x="52" y="9"/>
                  </a:lnTo>
                  <a:lnTo>
                    <a:pt x="87" y="47"/>
                  </a:lnTo>
                  <a:lnTo>
                    <a:pt x="103" y="157"/>
                  </a:lnTo>
                  <a:lnTo>
                    <a:pt x="102" y="157"/>
                  </a:lnTo>
                  <a:lnTo>
                    <a:pt x="33" y="110"/>
                  </a:lnTo>
                  <a:lnTo>
                    <a:pt x="0" y="0"/>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70" name="Freeform 36">
              <a:extLst>
                <a:ext uri="{FF2B5EF4-FFF2-40B4-BE49-F238E27FC236}">
                  <a16:creationId xmlns:a16="http://schemas.microsoft.com/office/drawing/2014/main" id="{9A4DE679-D4F6-B5E8-32B1-E5FA986A3A62}"/>
                </a:ext>
              </a:extLst>
            </p:cNvPr>
            <p:cNvSpPr>
              <a:spLocks/>
            </p:cNvSpPr>
            <p:nvPr/>
          </p:nvSpPr>
          <p:spPr bwMode="auto">
            <a:xfrm>
              <a:off x="5366442" y="4744730"/>
              <a:ext cx="311018" cy="203212"/>
            </a:xfrm>
            <a:custGeom>
              <a:avLst/>
              <a:gdLst/>
              <a:ahLst/>
              <a:cxnLst>
                <a:cxn ang="0">
                  <a:pos x="0" y="170"/>
                </a:cxn>
                <a:cxn ang="0">
                  <a:pos x="24" y="193"/>
                </a:cxn>
                <a:cxn ang="0">
                  <a:pos x="108" y="185"/>
                </a:cxn>
                <a:cxn ang="0">
                  <a:pos x="133" y="171"/>
                </a:cxn>
                <a:cxn ang="0">
                  <a:pos x="172" y="86"/>
                </a:cxn>
                <a:cxn ang="0">
                  <a:pos x="220" y="89"/>
                </a:cxn>
                <a:cxn ang="0">
                  <a:pos x="267" y="56"/>
                </a:cxn>
                <a:cxn ang="0">
                  <a:pos x="223" y="33"/>
                </a:cxn>
                <a:cxn ang="0">
                  <a:pos x="209" y="0"/>
                </a:cxn>
                <a:cxn ang="0">
                  <a:pos x="152" y="61"/>
                </a:cxn>
                <a:cxn ang="0">
                  <a:pos x="137" y="95"/>
                </a:cxn>
                <a:cxn ang="0">
                  <a:pos x="119" y="75"/>
                </a:cxn>
                <a:cxn ang="0">
                  <a:pos x="87" y="122"/>
                </a:cxn>
                <a:cxn ang="0">
                  <a:pos x="54" y="130"/>
                </a:cxn>
                <a:cxn ang="0">
                  <a:pos x="40" y="171"/>
                </a:cxn>
                <a:cxn ang="0">
                  <a:pos x="0" y="170"/>
                </a:cxn>
              </a:cxnLst>
              <a:rect l="0" t="0" r="r" b="b"/>
              <a:pathLst>
                <a:path w="267" h="193">
                  <a:moveTo>
                    <a:pt x="0" y="170"/>
                  </a:moveTo>
                  <a:lnTo>
                    <a:pt x="24" y="193"/>
                  </a:lnTo>
                  <a:lnTo>
                    <a:pt x="108" y="185"/>
                  </a:lnTo>
                  <a:lnTo>
                    <a:pt x="133" y="171"/>
                  </a:lnTo>
                  <a:lnTo>
                    <a:pt x="172" y="86"/>
                  </a:lnTo>
                  <a:lnTo>
                    <a:pt x="220" y="89"/>
                  </a:lnTo>
                  <a:lnTo>
                    <a:pt x="267" y="56"/>
                  </a:lnTo>
                  <a:lnTo>
                    <a:pt x="223" y="33"/>
                  </a:lnTo>
                  <a:lnTo>
                    <a:pt x="209" y="0"/>
                  </a:lnTo>
                  <a:lnTo>
                    <a:pt x="152" y="61"/>
                  </a:lnTo>
                  <a:lnTo>
                    <a:pt x="137" y="95"/>
                  </a:lnTo>
                  <a:lnTo>
                    <a:pt x="119" y="75"/>
                  </a:lnTo>
                  <a:lnTo>
                    <a:pt x="87" y="122"/>
                  </a:lnTo>
                  <a:lnTo>
                    <a:pt x="54" y="130"/>
                  </a:lnTo>
                  <a:lnTo>
                    <a:pt x="40" y="171"/>
                  </a:lnTo>
                  <a:lnTo>
                    <a:pt x="0" y="170"/>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71" name="Freeform 37">
              <a:extLst>
                <a:ext uri="{FF2B5EF4-FFF2-40B4-BE49-F238E27FC236}">
                  <a16:creationId xmlns:a16="http://schemas.microsoft.com/office/drawing/2014/main" id="{AE62492D-B000-A30F-61F5-EE952970D3D1}"/>
                </a:ext>
              </a:extLst>
            </p:cNvPr>
            <p:cNvSpPr>
              <a:spLocks/>
            </p:cNvSpPr>
            <p:nvPr/>
          </p:nvSpPr>
          <p:spPr bwMode="auto">
            <a:xfrm>
              <a:off x="4653885" y="3036489"/>
              <a:ext cx="1030542" cy="452991"/>
            </a:xfrm>
            <a:custGeom>
              <a:avLst/>
              <a:gdLst/>
              <a:ahLst/>
              <a:cxnLst>
                <a:cxn ang="0">
                  <a:pos x="0" y="135"/>
                </a:cxn>
                <a:cxn ang="0">
                  <a:pos x="28" y="179"/>
                </a:cxn>
                <a:cxn ang="0">
                  <a:pos x="69" y="195"/>
                </a:cxn>
                <a:cxn ang="0">
                  <a:pos x="84" y="287"/>
                </a:cxn>
                <a:cxn ang="0">
                  <a:pos x="208" y="322"/>
                </a:cxn>
                <a:cxn ang="0">
                  <a:pos x="260" y="385"/>
                </a:cxn>
                <a:cxn ang="0">
                  <a:pos x="362" y="378"/>
                </a:cxn>
                <a:cxn ang="0">
                  <a:pos x="475" y="427"/>
                </a:cxn>
                <a:cxn ang="0">
                  <a:pos x="630" y="385"/>
                </a:cxn>
                <a:cxn ang="0">
                  <a:pos x="677" y="349"/>
                </a:cxn>
                <a:cxn ang="0">
                  <a:pos x="677" y="299"/>
                </a:cxn>
                <a:cxn ang="0">
                  <a:pos x="719" y="303"/>
                </a:cxn>
                <a:cxn ang="0">
                  <a:pos x="814" y="233"/>
                </a:cxn>
                <a:cxn ang="0">
                  <a:pos x="887" y="230"/>
                </a:cxn>
                <a:cxn ang="0">
                  <a:pos x="850" y="176"/>
                </a:cxn>
                <a:cxn ang="0">
                  <a:pos x="781" y="189"/>
                </a:cxn>
                <a:cxn ang="0">
                  <a:pos x="780" y="129"/>
                </a:cxn>
                <a:cxn ang="0">
                  <a:pos x="798" y="95"/>
                </a:cxn>
                <a:cxn ang="0">
                  <a:pos x="747" y="86"/>
                </a:cxn>
                <a:cxn ang="0">
                  <a:pos x="614" y="123"/>
                </a:cxn>
                <a:cxn ang="0">
                  <a:pos x="499" y="68"/>
                </a:cxn>
                <a:cxn ang="0">
                  <a:pos x="423" y="75"/>
                </a:cxn>
                <a:cxn ang="0">
                  <a:pos x="394" y="32"/>
                </a:cxn>
                <a:cxn ang="0">
                  <a:pos x="321" y="0"/>
                </a:cxn>
                <a:cxn ang="0">
                  <a:pos x="284" y="34"/>
                </a:cxn>
                <a:cxn ang="0">
                  <a:pos x="281" y="94"/>
                </a:cxn>
                <a:cxn ang="0">
                  <a:pos x="114" y="68"/>
                </a:cxn>
                <a:cxn ang="0">
                  <a:pos x="0" y="135"/>
                </a:cxn>
              </a:cxnLst>
              <a:rect l="0" t="0" r="r" b="b"/>
              <a:pathLst>
                <a:path w="887" h="427">
                  <a:moveTo>
                    <a:pt x="0" y="135"/>
                  </a:moveTo>
                  <a:lnTo>
                    <a:pt x="28" y="179"/>
                  </a:lnTo>
                  <a:lnTo>
                    <a:pt x="69" y="195"/>
                  </a:lnTo>
                  <a:lnTo>
                    <a:pt x="84" y="287"/>
                  </a:lnTo>
                  <a:lnTo>
                    <a:pt x="208" y="322"/>
                  </a:lnTo>
                  <a:lnTo>
                    <a:pt x="260" y="385"/>
                  </a:lnTo>
                  <a:lnTo>
                    <a:pt x="362" y="378"/>
                  </a:lnTo>
                  <a:lnTo>
                    <a:pt x="475" y="427"/>
                  </a:lnTo>
                  <a:lnTo>
                    <a:pt x="630" y="385"/>
                  </a:lnTo>
                  <a:lnTo>
                    <a:pt x="677" y="349"/>
                  </a:lnTo>
                  <a:lnTo>
                    <a:pt x="677" y="299"/>
                  </a:lnTo>
                  <a:lnTo>
                    <a:pt x="719" y="303"/>
                  </a:lnTo>
                  <a:lnTo>
                    <a:pt x="814" y="233"/>
                  </a:lnTo>
                  <a:lnTo>
                    <a:pt x="887" y="230"/>
                  </a:lnTo>
                  <a:lnTo>
                    <a:pt x="850" y="176"/>
                  </a:lnTo>
                  <a:lnTo>
                    <a:pt x="781" y="189"/>
                  </a:lnTo>
                  <a:lnTo>
                    <a:pt x="780" y="129"/>
                  </a:lnTo>
                  <a:lnTo>
                    <a:pt x="798" y="95"/>
                  </a:lnTo>
                  <a:lnTo>
                    <a:pt x="747" y="86"/>
                  </a:lnTo>
                  <a:lnTo>
                    <a:pt x="614" y="123"/>
                  </a:lnTo>
                  <a:lnTo>
                    <a:pt x="499" y="68"/>
                  </a:lnTo>
                  <a:lnTo>
                    <a:pt x="423" y="75"/>
                  </a:lnTo>
                  <a:lnTo>
                    <a:pt x="394" y="32"/>
                  </a:lnTo>
                  <a:lnTo>
                    <a:pt x="321" y="0"/>
                  </a:lnTo>
                  <a:lnTo>
                    <a:pt x="284" y="34"/>
                  </a:lnTo>
                  <a:lnTo>
                    <a:pt x="281" y="94"/>
                  </a:lnTo>
                  <a:lnTo>
                    <a:pt x="114" y="68"/>
                  </a:lnTo>
                  <a:lnTo>
                    <a:pt x="0" y="135"/>
                  </a:lnTo>
                  <a:close/>
                </a:path>
              </a:pathLst>
            </a:custGeom>
            <a:solidFill>
              <a:srgbClr val="E2E3DF"/>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72" name="Freeform 38">
              <a:extLst>
                <a:ext uri="{FF2B5EF4-FFF2-40B4-BE49-F238E27FC236}">
                  <a16:creationId xmlns:a16="http://schemas.microsoft.com/office/drawing/2014/main" id="{92416C9F-7BB5-F9A8-B852-969FF57DC343}"/>
                </a:ext>
              </a:extLst>
            </p:cNvPr>
            <p:cNvSpPr>
              <a:spLocks/>
            </p:cNvSpPr>
            <p:nvPr/>
          </p:nvSpPr>
          <p:spPr bwMode="auto">
            <a:xfrm>
              <a:off x="4403213" y="3925543"/>
              <a:ext cx="259956" cy="139709"/>
            </a:xfrm>
            <a:custGeom>
              <a:avLst/>
              <a:gdLst/>
              <a:ahLst/>
              <a:cxnLst>
                <a:cxn ang="0">
                  <a:pos x="0" y="53"/>
                </a:cxn>
                <a:cxn ang="0">
                  <a:pos x="30" y="0"/>
                </a:cxn>
                <a:cxn ang="0">
                  <a:pos x="118" y="33"/>
                </a:cxn>
                <a:cxn ang="0">
                  <a:pos x="165" y="82"/>
                </a:cxn>
                <a:cxn ang="0">
                  <a:pos x="226" y="82"/>
                </a:cxn>
                <a:cxn ang="0">
                  <a:pos x="223" y="131"/>
                </a:cxn>
                <a:cxn ang="0">
                  <a:pos x="77" y="101"/>
                </a:cxn>
                <a:cxn ang="0">
                  <a:pos x="0" y="53"/>
                </a:cxn>
              </a:cxnLst>
              <a:rect l="0" t="0" r="r" b="b"/>
              <a:pathLst>
                <a:path w="226" h="131">
                  <a:moveTo>
                    <a:pt x="0" y="53"/>
                  </a:moveTo>
                  <a:lnTo>
                    <a:pt x="30" y="0"/>
                  </a:lnTo>
                  <a:lnTo>
                    <a:pt x="118" y="33"/>
                  </a:lnTo>
                  <a:lnTo>
                    <a:pt x="165" y="82"/>
                  </a:lnTo>
                  <a:lnTo>
                    <a:pt x="226" y="82"/>
                  </a:lnTo>
                  <a:lnTo>
                    <a:pt x="223" y="131"/>
                  </a:lnTo>
                  <a:lnTo>
                    <a:pt x="77" y="101"/>
                  </a:lnTo>
                  <a:lnTo>
                    <a:pt x="0" y="53"/>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73" name="Freeform 43">
              <a:extLst>
                <a:ext uri="{FF2B5EF4-FFF2-40B4-BE49-F238E27FC236}">
                  <a16:creationId xmlns:a16="http://schemas.microsoft.com/office/drawing/2014/main" id="{BB40494B-8D2B-83B5-6F2D-8D57493C7989}"/>
                </a:ext>
              </a:extLst>
            </p:cNvPr>
            <p:cNvSpPr>
              <a:spLocks/>
            </p:cNvSpPr>
            <p:nvPr/>
          </p:nvSpPr>
          <p:spPr bwMode="auto">
            <a:xfrm>
              <a:off x="5610151" y="4594444"/>
              <a:ext cx="74276" cy="97371"/>
            </a:xfrm>
            <a:custGeom>
              <a:avLst/>
              <a:gdLst/>
              <a:ahLst/>
              <a:cxnLst>
                <a:cxn ang="0">
                  <a:pos x="0" y="94"/>
                </a:cxn>
                <a:cxn ang="0">
                  <a:pos x="45" y="48"/>
                </a:cxn>
                <a:cxn ang="0">
                  <a:pos x="64" y="0"/>
                </a:cxn>
                <a:cxn ang="0">
                  <a:pos x="0" y="94"/>
                </a:cxn>
              </a:cxnLst>
              <a:rect l="0" t="0" r="r" b="b"/>
              <a:pathLst>
                <a:path w="64" h="94">
                  <a:moveTo>
                    <a:pt x="0" y="94"/>
                  </a:moveTo>
                  <a:lnTo>
                    <a:pt x="45" y="48"/>
                  </a:lnTo>
                  <a:lnTo>
                    <a:pt x="64" y="0"/>
                  </a:lnTo>
                  <a:lnTo>
                    <a:pt x="0" y="94"/>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74" name="Freeform 44">
              <a:extLst>
                <a:ext uri="{FF2B5EF4-FFF2-40B4-BE49-F238E27FC236}">
                  <a16:creationId xmlns:a16="http://schemas.microsoft.com/office/drawing/2014/main" id="{273E274D-A483-1A0F-8E2C-32E7FA4F2BDE}"/>
                </a:ext>
              </a:extLst>
            </p:cNvPr>
            <p:cNvSpPr>
              <a:spLocks/>
            </p:cNvSpPr>
            <p:nvPr/>
          </p:nvSpPr>
          <p:spPr bwMode="auto">
            <a:xfrm>
              <a:off x="5698351" y="4346782"/>
              <a:ext cx="129980" cy="205329"/>
            </a:xfrm>
            <a:custGeom>
              <a:avLst/>
              <a:gdLst/>
              <a:ahLst/>
              <a:cxnLst>
                <a:cxn ang="0">
                  <a:pos x="0" y="75"/>
                </a:cxn>
                <a:cxn ang="0">
                  <a:pos x="23" y="0"/>
                </a:cxn>
                <a:cxn ang="0">
                  <a:pos x="63" y="0"/>
                </a:cxn>
                <a:cxn ang="0">
                  <a:pos x="73" y="52"/>
                </a:cxn>
                <a:cxn ang="0">
                  <a:pos x="44" y="107"/>
                </a:cxn>
                <a:cxn ang="0">
                  <a:pos x="48" y="135"/>
                </a:cxn>
                <a:cxn ang="0">
                  <a:pos x="111" y="155"/>
                </a:cxn>
                <a:cxn ang="0">
                  <a:pos x="114" y="195"/>
                </a:cxn>
                <a:cxn ang="0">
                  <a:pos x="79" y="155"/>
                </a:cxn>
                <a:cxn ang="0">
                  <a:pos x="79" y="173"/>
                </a:cxn>
                <a:cxn ang="0">
                  <a:pos x="23" y="155"/>
                </a:cxn>
                <a:cxn ang="0">
                  <a:pos x="0" y="75"/>
                </a:cxn>
              </a:cxnLst>
              <a:rect l="0" t="0" r="r" b="b"/>
              <a:pathLst>
                <a:path w="114" h="195">
                  <a:moveTo>
                    <a:pt x="0" y="75"/>
                  </a:moveTo>
                  <a:lnTo>
                    <a:pt x="23" y="0"/>
                  </a:lnTo>
                  <a:lnTo>
                    <a:pt x="63" y="0"/>
                  </a:lnTo>
                  <a:lnTo>
                    <a:pt x="73" y="52"/>
                  </a:lnTo>
                  <a:lnTo>
                    <a:pt x="44" y="107"/>
                  </a:lnTo>
                  <a:lnTo>
                    <a:pt x="48" y="135"/>
                  </a:lnTo>
                  <a:lnTo>
                    <a:pt x="111" y="155"/>
                  </a:lnTo>
                  <a:lnTo>
                    <a:pt x="114" y="195"/>
                  </a:lnTo>
                  <a:lnTo>
                    <a:pt x="79" y="155"/>
                  </a:lnTo>
                  <a:lnTo>
                    <a:pt x="79" y="173"/>
                  </a:lnTo>
                  <a:lnTo>
                    <a:pt x="23" y="155"/>
                  </a:lnTo>
                  <a:lnTo>
                    <a:pt x="0" y="75"/>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75" name="Freeform 45">
              <a:extLst>
                <a:ext uri="{FF2B5EF4-FFF2-40B4-BE49-F238E27FC236}">
                  <a16:creationId xmlns:a16="http://schemas.microsoft.com/office/drawing/2014/main" id="{26DD5E46-8C12-F970-C545-22A697FF6591}"/>
                </a:ext>
              </a:extLst>
            </p:cNvPr>
            <p:cNvSpPr>
              <a:spLocks/>
            </p:cNvSpPr>
            <p:nvPr/>
          </p:nvSpPr>
          <p:spPr bwMode="auto">
            <a:xfrm>
              <a:off x="5709961" y="4522476"/>
              <a:ext cx="39457" cy="42335"/>
            </a:xfrm>
            <a:custGeom>
              <a:avLst/>
              <a:gdLst/>
              <a:ahLst/>
              <a:cxnLst>
                <a:cxn ang="0">
                  <a:pos x="0" y="0"/>
                </a:cxn>
                <a:cxn ang="0">
                  <a:pos x="16" y="0"/>
                </a:cxn>
                <a:cxn ang="0">
                  <a:pos x="34" y="6"/>
                </a:cxn>
                <a:cxn ang="0">
                  <a:pos x="24" y="40"/>
                </a:cxn>
                <a:cxn ang="0">
                  <a:pos x="0" y="0"/>
                </a:cxn>
              </a:cxnLst>
              <a:rect l="0" t="0" r="r" b="b"/>
              <a:pathLst>
                <a:path w="34" h="40">
                  <a:moveTo>
                    <a:pt x="0" y="0"/>
                  </a:moveTo>
                  <a:lnTo>
                    <a:pt x="16" y="0"/>
                  </a:lnTo>
                  <a:lnTo>
                    <a:pt x="34" y="6"/>
                  </a:lnTo>
                  <a:lnTo>
                    <a:pt x="24" y="40"/>
                  </a:lnTo>
                  <a:lnTo>
                    <a:pt x="0" y="0"/>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76" name="Freeform 46">
              <a:extLst>
                <a:ext uri="{FF2B5EF4-FFF2-40B4-BE49-F238E27FC236}">
                  <a16:creationId xmlns:a16="http://schemas.microsoft.com/office/drawing/2014/main" id="{1925458B-2F8D-6824-0888-55A4972CFB95}"/>
                </a:ext>
              </a:extLst>
            </p:cNvPr>
            <p:cNvSpPr>
              <a:spLocks/>
            </p:cNvSpPr>
            <p:nvPr/>
          </p:nvSpPr>
          <p:spPr bwMode="auto">
            <a:xfrm>
              <a:off x="5761021" y="4575395"/>
              <a:ext cx="34816" cy="50801"/>
            </a:xfrm>
            <a:custGeom>
              <a:avLst/>
              <a:gdLst/>
              <a:ahLst/>
              <a:cxnLst>
                <a:cxn ang="0">
                  <a:pos x="0" y="0"/>
                </a:cxn>
                <a:cxn ang="0">
                  <a:pos x="4" y="49"/>
                </a:cxn>
                <a:cxn ang="0">
                  <a:pos x="29" y="28"/>
                </a:cxn>
                <a:cxn ang="0">
                  <a:pos x="0" y="0"/>
                </a:cxn>
              </a:cxnLst>
              <a:rect l="0" t="0" r="r" b="b"/>
              <a:pathLst>
                <a:path w="29" h="49">
                  <a:moveTo>
                    <a:pt x="0" y="0"/>
                  </a:moveTo>
                  <a:lnTo>
                    <a:pt x="4" y="49"/>
                  </a:lnTo>
                  <a:lnTo>
                    <a:pt x="29" y="28"/>
                  </a:lnTo>
                  <a:lnTo>
                    <a:pt x="0" y="0"/>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77" name="Freeform 47">
              <a:extLst>
                <a:ext uri="{FF2B5EF4-FFF2-40B4-BE49-F238E27FC236}">
                  <a16:creationId xmlns:a16="http://schemas.microsoft.com/office/drawing/2014/main" id="{B741ECCE-6811-4C49-BE26-3174A2611395}"/>
                </a:ext>
              </a:extLst>
            </p:cNvPr>
            <p:cNvSpPr>
              <a:spLocks/>
            </p:cNvSpPr>
            <p:nvPr/>
          </p:nvSpPr>
          <p:spPr bwMode="auto">
            <a:xfrm>
              <a:off x="5767985" y="4647358"/>
              <a:ext cx="136942" cy="141826"/>
            </a:xfrm>
            <a:custGeom>
              <a:avLst/>
              <a:gdLst/>
              <a:ahLst/>
              <a:cxnLst>
                <a:cxn ang="0">
                  <a:pos x="0" y="92"/>
                </a:cxn>
                <a:cxn ang="0">
                  <a:pos x="24" y="44"/>
                </a:cxn>
                <a:cxn ang="0">
                  <a:pos x="55" y="54"/>
                </a:cxn>
                <a:cxn ang="0">
                  <a:pos x="99" y="0"/>
                </a:cxn>
                <a:cxn ang="0">
                  <a:pos x="120" y="34"/>
                </a:cxn>
                <a:cxn ang="0">
                  <a:pos x="117" y="110"/>
                </a:cxn>
                <a:cxn ang="0">
                  <a:pos x="106" y="78"/>
                </a:cxn>
                <a:cxn ang="0">
                  <a:pos x="94" y="135"/>
                </a:cxn>
                <a:cxn ang="0">
                  <a:pos x="64" y="118"/>
                </a:cxn>
                <a:cxn ang="0">
                  <a:pos x="46" y="61"/>
                </a:cxn>
                <a:cxn ang="0">
                  <a:pos x="0" y="92"/>
                </a:cxn>
              </a:cxnLst>
              <a:rect l="0" t="0" r="r" b="b"/>
              <a:pathLst>
                <a:path w="120" h="135">
                  <a:moveTo>
                    <a:pt x="0" y="92"/>
                  </a:moveTo>
                  <a:lnTo>
                    <a:pt x="24" y="44"/>
                  </a:lnTo>
                  <a:lnTo>
                    <a:pt x="55" y="54"/>
                  </a:lnTo>
                  <a:lnTo>
                    <a:pt x="99" y="0"/>
                  </a:lnTo>
                  <a:lnTo>
                    <a:pt x="120" y="34"/>
                  </a:lnTo>
                  <a:lnTo>
                    <a:pt x="117" y="110"/>
                  </a:lnTo>
                  <a:lnTo>
                    <a:pt x="106" y="78"/>
                  </a:lnTo>
                  <a:lnTo>
                    <a:pt x="94" y="135"/>
                  </a:lnTo>
                  <a:lnTo>
                    <a:pt x="64" y="118"/>
                  </a:lnTo>
                  <a:lnTo>
                    <a:pt x="46" y="61"/>
                  </a:lnTo>
                  <a:lnTo>
                    <a:pt x="0" y="92"/>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78" name="Freeform 48">
              <a:extLst>
                <a:ext uri="{FF2B5EF4-FFF2-40B4-BE49-F238E27FC236}">
                  <a16:creationId xmlns:a16="http://schemas.microsoft.com/office/drawing/2014/main" id="{2BD05338-F789-46F0-4FA7-4508A7928ECC}"/>
                </a:ext>
              </a:extLst>
            </p:cNvPr>
            <p:cNvSpPr>
              <a:spLocks/>
            </p:cNvSpPr>
            <p:nvPr/>
          </p:nvSpPr>
          <p:spPr bwMode="auto">
            <a:xfrm>
              <a:off x="5779590" y="4615604"/>
              <a:ext cx="30174" cy="55036"/>
            </a:xfrm>
            <a:custGeom>
              <a:avLst/>
              <a:gdLst/>
              <a:ahLst/>
              <a:cxnLst>
                <a:cxn ang="0">
                  <a:pos x="0" y="34"/>
                </a:cxn>
                <a:cxn ang="0">
                  <a:pos x="7" y="25"/>
                </a:cxn>
                <a:cxn ang="0">
                  <a:pos x="25" y="0"/>
                </a:cxn>
                <a:cxn ang="0">
                  <a:pos x="18" y="52"/>
                </a:cxn>
                <a:cxn ang="0">
                  <a:pos x="0" y="34"/>
                </a:cxn>
              </a:cxnLst>
              <a:rect l="0" t="0" r="r" b="b"/>
              <a:pathLst>
                <a:path w="25" h="52">
                  <a:moveTo>
                    <a:pt x="0" y="34"/>
                  </a:moveTo>
                  <a:lnTo>
                    <a:pt x="7" y="25"/>
                  </a:lnTo>
                  <a:lnTo>
                    <a:pt x="25" y="0"/>
                  </a:lnTo>
                  <a:lnTo>
                    <a:pt x="18" y="52"/>
                  </a:lnTo>
                  <a:lnTo>
                    <a:pt x="0" y="34"/>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79" name="Freeform 49">
              <a:extLst>
                <a:ext uri="{FF2B5EF4-FFF2-40B4-BE49-F238E27FC236}">
                  <a16:creationId xmlns:a16="http://schemas.microsoft.com/office/drawing/2014/main" id="{57EB7CB2-4672-2FDB-20B6-E119DBCC2839}"/>
                </a:ext>
              </a:extLst>
            </p:cNvPr>
            <p:cNvSpPr>
              <a:spLocks/>
            </p:cNvSpPr>
            <p:nvPr/>
          </p:nvSpPr>
          <p:spPr bwMode="auto">
            <a:xfrm>
              <a:off x="6403947" y="2939114"/>
              <a:ext cx="99804" cy="368322"/>
            </a:xfrm>
            <a:custGeom>
              <a:avLst/>
              <a:gdLst/>
              <a:ahLst/>
              <a:cxnLst>
                <a:cxn ang="0">
                  <a:pos x="0" y="89"/>
                </a:cxn>
                <a:cxn ang="0">
                  <a:pos x="15" y="134"/>
                </a:cxn>
                <a:cxn ang="0">
                  <a:pos x="15" y="348"/>
                </a:cxn>
                <a:cxn ang="0">
                  <a:pos x="30" y="323"/>
                </a:cxn>
                <a:cxn ang="0">
                  <a:pos x="54" y="342"/>
                </a:cxn>
                <a:cxn ang="0">
                  <a:pos x="29" y="281"/>
                </a:cxn>
                <a:cxn ang="0">
                  <a:pos x="42" y="221"/>
                </a:cxn>
                <a:cxn ang="0">
                  <a:pos x="87" y="238"/>
                </a:cxn>
                <a:cxn ang="0">
                  <a:pos x="45" y="124"/>
                </a:cxn>
                <a:cxn ang="0">
                  <a:pos x="30" y="0"/>
                </a:cxn>
                <a:cxn ang="0">
                  <a:pos x="0" y="89"/>
                </a:cxn>
              </a:cxnLst>
              <a:rect l="0" t="0" r="r" b="b"/>
              <a:pathLst>
                <a:path w="87" h="348">
                  <a:moveTo>
                    <a:pt x="0" y="89"/>
                  </a:moveTo>
                  <a:lnTo>
                    <a:pt x="15" y="134"/>
                  </a:lnTo>
                  <a:lnTo>
                    <a:pt x="15" y="348"/>
                  </a:lnTo>
                  <a:lnTo>
                    <a:pt x="30" y="323"/>
                  </a:lnTo>
                  <a:lnTo>
                    <a:pt x="54" y="342"/>
                  </a:lnTo>
                  <a:lnTo>
                    <a:pt x="29" y="281"/>
                  </a:lnTo>
                  <a:lnTo>
                    <a:pt x="42" y="221"/>
                  </a:lnTo>
                  <a:lnTo>
                    <a:pt x="87" y="238"/>
                  </a:lnTo>
                  <a:lnTo>
                    <a:pt x="45" y="124"/>
                  </a:lnTo>
                  <a:lnTo>
                    <a:pt x="30" y="0"/>
                  </a:lnTo>
                  <a:lnTo>
                    <a:pt x="0" y="89"/>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80" name="Freeform 50">
              <a:extLst>
                <a:ext uri="{FF2B5EF4-FFF2-40B4-BE49-F238E27FC236}">
                  <a16:creationId xmlns:a16="http://schemas.microsoft.com/office/drawing/2014/main" id="{B892D80A-161D-4942-0AB9-D6D425C4677F}"/>
                </a:ext>
              </a:extLst>
            </p:cNvPr>
            <p:cNvSpPr>
              <a:spLocks/>
            </p:cNvSpPr>
            <p:nvPr/>
          </p:nvSpPr>
          <p:spPr bwMode="auto">
            <a:xfrm>
              <a:off x="4971871" y="4268462"/>
              <a:ext cx="257633" cy="520729"/>
            </a:xfrm>
            <a:custGeom>
              <a:avLst/>
              <a:gdLst/>
              <a:ahLst/>
              <a:cxnLst>
                <a:cxn ang="0">
                  <a:pos x="0" y="78"/>
                </a:cxn>
                <a:cxn ang="0">
                  <a:pos x="13" y="40"/>
                </a:cxn>
                <a:cxn ang="0">
                  <a:pos x="75" y="0"/>
                </a:cxn>
                <a:cxn ang="0">
                  <a:pos x="100" y="40"/>
                </a:cxn>
                <a:cxn ang="0">
                  <a:pos x="94" y="107"/>
                </a:cxn>
                <a:cxn ang="0">
                  <a:pos x="163" y="75"/>
                </a:cxn>
                <a:cxn ang="0">
                  <a:pos x="194" y="107"/>
                </a:cxn>
                <a:cxn ang="0">
                  <a:pos x="221" y="170"/>
                </a:cxn>
                <a:cxn ang="0">
                  <a:pos x="212" y="211"/>
                </a:cxn>
                <a:cxn ang="0">
                  <a:pos x="158" y="208"/>
                </a:cxn>
                <a:cxn ang="0">
                  <a:pos x="139" y="228"/>
                </a:cxn>
                <a:cxn ang="0">
                  <a:pos x="148" y="297"/>
                </a:cxn>
                <a:cxn ang="0">
                  <a:pos x="76" y="235"/>
                </a:cxn>
                <a:cxn ang="0">
                  <a:pos x="46" y="341"/>
                </a:cxn>
                <a:cxn ang="0">
                  <a:pos x="79" y="439"/>
                </a:cxn>
                <a:cxn ang="0">
                  <a:pos x="128" y="473"/>
                </a:cxn>
                <a:cxn ang="0">
                  <a:pos x="103" y="491"/>
                </a:cxn>
                <a:cxn ang="0">
                  <a:pos x="95" y="464"/>
                </a:cxn>
                <a:cxn ang="0">
                  <a:pos x="76" y="464"/>
                </a:cxn>
                <a:cxn ang="0">
                  <a:pos x="21" y="407"/>
                </a:cxn>
                <a:cxn ang="0">
                  <a:pos x="30" y="346"/>
                </a:cxn>
                <a:cxn ang="0">
                  <a:pos x="58" y="289"/>
                </a:cxn>
                <a:cxn ang="0">
                  <a:pos x="19" y="194"/>
                </a:cxn>
                <a:cxn ang="0">
                  <a:pos x="31" y="150"/>
                </a:cxn>
                <a:cxn ang="0">
                  <a:pos x="0" y="78"/>
                </a:cxn>
              </a:cxnLst>
              <a:rect l="0" t="0" r="r" b="b"/>
              <a:pathLst>
                <a:path w="221" h="491">
                  <a:moveTo>
                    <a:pt x="0" y="78"/>
                  </a:moveTo>
                  <a:lnTo>
                    <a:pt x="13" y="40"/>
                  </a:lnTo>
                  <a:lnTo>
                    <a:pt x="75" y="0"/>
                  </a:lnTo>
                  <a:lnTo>
                    <a:pt x="100" y="40"/>
                  </a:lnTo>
                  <a:lnTo>
                    <a:pt x="94" y="107"/>
                  </a:lnTo>
                  <a:lnTo>
                    <a:pt x="163" y="75"/>
                  </a:lnTo>
                  <a:lnTo>
                    <a:pt x="194" y="107"/>
                  </a:lnTo>
                  <a:lnTo>
                    <a:pt x="221" y="170"/>
                  </a:lnTo>
                  <a:lnTo>
                    <a:pt x="212" y="211"/>
                  </a:lnTo>
                  <a:lnTo>
                    <a:pt x="158" y="208"/>
                  </a:lnTo>
                  <a:lnTo>
                    <a:pt x="139" y="228"/>
                  </a:lnTo>
                  <a:lnTo>
                    <a:pt x="148" y="297"/>
                  </a:lnTo>
                  <a:lnTo>
                    <a:pt x="76" y="235"/>
                  </a:lnTo>
                  <a:lnTo>
                    <a:pt x="46" y="341"/>
                  </a:lnTo>
                  <a:lnTo>
                    <a:pt x="79" y="439"/>
                  </a:lnTo>
                  <a:lnTo>
                    <a:pt x="128" y="473"/>
                  </a:lnTo>
                  <a:lnTo>
                    <a:pt x="103" y="491"/>
                  </a:lnTo>
                  <a:lnTo>
                    <a:pt x="95" y="464"/>
                  </a:lnTo>
                  <a:lnTo>
                    <a:pt x="76" y="464"/>
                  </a:lnTo>
                  <a:lnTo>
                    <a:pt x="21" y="407"/>
                  </a:lnTo>
                  <a:lnTo>
                    <a:pt x="30" y="346"/>
                  </a:lnTo>
                  <a:lnTo>
                    <a:pt x="58" y="289"/>
                  </a:lnTo>
                  <a:lnTo>
                    <a:pt x="19" y="194"/>
                  </a:lnTo>
                  <a:lnTo>
                    <a:pt x="31" y="150"/>
                  </a:lnTo>
                  <a:lnTo>
                    <a:pt x="0" y="78"/>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81" name="Freeform 51">
              <a:extLst>
                <a:ext uri="{FF2B5EF4-FFF2-40B4-BE49-F238E27FC236}">
                  <a16:creationId xmlns:a16="http://schemas.microsoft.com/office/drawing/2014/main" id="{9D3E9885-7B69-AAB1-AF08-3959D7ABD8F9}"/>
                </a:ext>
              </a:extLst>
            </p:cNvPr>
            <p:cNvSpPr>
              <a:spLocks/>
            </p:cNvSpPr>
            <p:nvPr/>
          </p:nvSpPr>
          <p:spPr bwMode="auto">
            <a:xfrm>
              <a:off x="5122734" y="4183790"/>
              <a:ext cx="225142" cy="501679"/>
            </a:xfrm>
            <a:custGeom>
              <a:avLst/>
              <a:gdLst/>
              <a:ahLst/>
              <a:cxnLst>
                <a:cxn ang="0">
                  <a:pos x="0" y="23"/>
                </a:cxn>
                <a:cxn ang="0">
                  <a:pos x="30" y="74"/>
                </a:cxn>
                <a:cxn ang="0">
                  <a:pos x="66" y="93"/>
                </a:cxn>
                <a:cxn ang="0">
                  <a:pos x="50" y="130"/>
                </a:cxn>
                <a:cxn ang="0">
                  <a:pos x="115" y="193"/>
                </a:cxn>
                <a:cxn ang="0">
                  <a:pos x="147" y="280"/>
                </a:cxn>
                <a:cxn ang="0">
                  <a:pos x="148" y="354"/>
                </a:cxn>
                <a:cxn ang="0">
                  <a:pos x="66" y="417"/>
                </a:cxn>
                <a:cxn ang="0">
                  <a:pos x="82" y="475"/>
                </a:cxn>
                <a:cxn ang="0">
                  <a:pos x="106" y="435"/>
                </a:cxn>
                <a:cxn ang="0">
                  <a:pos x="121" y="446"/>
                </a:cxn>
                <a:cxn ang="0">
                  <a:pos x="129" y="418"/>
                </a:cxn>
                <a:cxn ang="0">
                  <a:pos x="195" y="377"/>
                </a:cxn>
                <a:cxn ang="0">
                  <a:pos x="186" y="254"/>
                </a:cxn>
                <a:cxn ang="0">
                  <a:pos x="96" y="144"/>
                </a:cxn>
                <a:cxn ang="0">
                  <a:pos x="105" y="109"/>
                </a:cxn>
                <a:cxn ang="0">
                  <a:pos x="162" y="55"/>
                </a:cxn>
                <a:cxn ang="0">
                  <a:pos x="84" y="0"/>
                </a:cxn>
                <a:cxn ang="0">
                  <a:pos x="0" y="23"/>
                </a:cxn>
              </a:cxnLst>
              <a:rect l="0" t="0" r="r" b="b"/>
              <a:pathLst>
                <a:path w="195" h="475">
                  <a:moveTo>
                    <a:pt x="0" y="23"/>
                  </a:moveTo>
                  <a:lnTo>
                    <a:pt x="30" y="74"/>
                  </a:lnTo>
                  <a:lnTo>
                    <a:pt x="66" y="93"/>
                  </a:lnTo>
                  <a:lnTo>
                    <a:pt x="50" y="130"/>
                  </a:lnTo>
                  <a:lnTo>
                    <a:pt x="115" y="193"/>
                  </a:lnTo>
                  <a:lnTo>
                    <a:pt x="147" y="280"/>
                  </a:lnTo>
                  <a:lnTo>
                    <a:pt x="148" y="354"/>
                  </a:lnTo>
                  <a:lnTo>
                    <a:pt x="66" y="417"/>
                  </a:lnTo>
                  <a:lnTo>
                    <a:pt x="82" y="475"/>
                  </a:lnTo>
                  <a:lnTo>
                    <a:pt x="106" y="435"/>
                  </a:lnTo>
                  <a:lnTo>
                    <a:pt x="121" y="446"/>
                  </a:lnTo>
                  <a:lnTo>
                    <a:pt x="129" y="418"/>
                  </a:lnTo>
                  <a:lnTo>
                    <a:pt x="195" y="377"/>
                  </a:lnTo>
                  <a:lnTo>
                    <a:pt x="186" y="254"/>
                  </a:lnTo>
                  <a:lnTo>
                    <a:pt x="96" y="144"/>
                  </a:lnTo>
                  <a:lnTo>
                    <a:pt x="105" y="109"/>
                  </a:lnTo>
                  <a:lnTo>
                    <a:pt x="162" y="55"/>
                  </a:lnTo>
                  <a:lnTo>
                    <a:pt x="84" y="0"/>
                  </a:lnTo>
                  <a:lnTo>
                    <a:pt x="0" y="23"/>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82" name="Freeform 132">
              <a:extLst>
                <a:ext uri="{FF2B5EF4-FFF2-40B4-BE49-F238E27FC236}">
                  <a16:creationId xmlns:a16="http://schemas.microsoft.com/office/drawing/2014/main" id="{2BCA701D-B518-19A3-FFDF-A4EEBABA58F8}"/>
                </a:ext>
              </a:extLst>
            </p:cNvPr>
            <p:cNvSpPr>
              <a:spLocks/>
            </p:cNvSpPr>
            <p:nvPr/>
          </p:nvSpPr>
          <p:spPr bwMode="auto">
            <a:xfrm>
              <a:off x="3704130" y="4122244"/>
              <a:ext cx="248618" cy="295043"/>
            </a:xfrm>
            <a:custGeom>
              <a:avLst/>
              <a:gdLst/>
              <a:ahLst/>
              <a:cxnLst>
                <a:cxn ang="0">
                  <a:pos x="0" y="194"/>
                </a:cxn>
                <a:cxn ang="0">
                  <a:pos x="29" y="275"/>
                </a:cxn>
                <a:cxn ang="0">
                  <a:pos x="79" y="263"/>
                </a:cxn>
                <a:cxn ang="0">
                  <a:pos x="159" y="194"/>
                </a:cxn>
                <a:cxn ang="0">
                  <a:pos x="158" y="161"/>
                </a:cxn>
                <a:cxn ang="0">
                  <a:pos x="210" y="101"/>
                </a:cxn>
                <a:cxn ang="0">
                  <a:pos x="213" y="81"/>
                </a:cxn>
                <a:cxn ang="0">
                  <a:pos x="185" y="44"/>
                </a:cxn>
                <a:cxn ang="0">
                  <a:pos x="119" y="0"/>
                </a:cxn>
                <a:cxn ang="0">
                  <a:pos x="103" y="1"/>
                </a:cxn>
                <a:cxn ang="0">
                  <a:pos x="112" y="24"/>
                </a:cxn>
                <a:cxn ang="0">
                  <a:pos x="91" y="73"/>
                </a:cxn>
                <a:cxn ang="0">
                  <a:pos x="103" y="98"/>
                </a:cxn>
                <a:cxn ang="0">
                  <a:pos x="82" y="162"/>
                </a:cxn>
                <a:cxn ang="0">
                  <a:pos x="0" y="194"/>
                </a:cxn>
              </a:cxnLst>
              <a:rect l="0" t="0" r="r" b="b"/>
              <a:pathLst>
                <a:path w="213" h="275">
                  <a:moveTo>
                    <a:pt x="0" y="194"/>
                  </a:moveTo>
                  <a:lnTo>
                    <a:pt x="29" y="275"/>
                  </a:lnTo>
                  <a:lnTo>
                    <a:pt x="79" y="263"/>
                  </a:lnTo>
                  <a:lnTo>
                    <a:pt x="159" y="194"/>
                  </a:lnTo>
                  <a:lnTo>
                    <a:pt x="158" y="161"/>
                  </a:lnTo>
                  <a:lnTo>
                    <a:pt x="210" y="101"/>
                  </a:lnTo>
                  <a:lnTo>
                    <a:pt x="213" y="81"/>
                  </a:lnTo>
                  <a:lnTo>
                    <a:pt x="185" y="44"/>
                  </a:lnTo>
                  <a:lnTo>
                    <a:pt x="119" y="0"/>
                  </a:lnTo>
                  <a:lnTo>
                    <a:pt x="103" y="1"/>
                  </a:lnTo>
                  <a:lnTo>
                    <a:pt x="112" y="24"/>
                  </a:lnTo>
                  <a:lnTo>
                    <a:pt x="91" y="73"/>
                  </a:lnTo>
                  <a:lnTo>
                    <a:pt x="103" y="98"/>
                  </a:lnTo>
                  <a:lnTo>
                    <a:pt x="82" y="162"/>
                  </a:lnTo>
                  <a:lnTo>
                    <a:pt x="0" y="194"/>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83" name="Freeform 142">
              <a:extLst>
                <a:ext uri="{FF2B5EF4-FFF2-40B4-BE49-F238E27FC236}">
                  <a16:creationId xmlns:a16="http://schemas.microsoft.com/office/drawing/2014/main" id="{4913F154-4066-DA6C-A0A7-3526FECBA03D}"/>
                </a:ext>
              </a:extLst>
            </p:cNvPr>
            <p:cNvSpPr>
              <a:spLocks/>
            </p:cNvSpPr>
            <p:nvPr/>
          </p:nvSpPr>
          <p:spPr bwMode="auto">
            <a:xfrm>
              <a:off x="3142440" y="3856697"/>
              <a:ext cx="681403" cy="593038"/>
            </a:xfrm>
            <a:custGeom>
              <a:avLst/>
              <a:gdLst/>
              <a:ahLst/>
              <a:cxnLst>
                <a:cxn ang="0">
                  <a:pos x="0" y="146"/>
                </a:cxn>
                <a:cxn ang="0">
                  <a:pos x="6" y="98"/>
                </a:cxn>
                <a:cxn ang="0">
                  <a:pos x="38" y="108"/>
                </a:cxn>
                <a:cxn ang="0">
                  <a:pos x="74" y="77"/>
                </a:cxn>
                <a:cxn ang="0">
                  <a:pos x="91" y="55"/>
                </a:cxn>
                <a:cxn ang="0">
                  <a:pos x="61" y="25"/>
                </a:cxn>
                <a:cxn ang="0">
                  <a:pos x="124" y="0"/>
                </a:cxn>
                <a:cxn ang="0">
                  <a:pos x="249" y="65"/>
                </a:cxn>
                <a:cxn ang="0">
                  <a:pos x="251" y="86"/>
                </a:cxn>
                <a:cxn ang="0">
                  <a:pos x="280" y="104"/>
                </a:cxn>
                <a:cxn ang="0">
                  <a:pos x="307" y="121"/>
                </a:cxn>
                <a:cxn ang="0">
                  <a:pos x="331" y="108"/>
                </a:cxn>
                <a:cxn ang="0">
                  <a:pos x="381" y="126"/>
                </a:cxn>
                <a:cxn ang="0">
                  <a:pos x="448" y="254"/>
                </a:cxn>
                <a:cxn ang="0">
                  <a:pos x="458" y="265"/>
                </a:cxn>
                <a:cxn ang="0">
                  <a:pos x="484" y="314"/>
                </a:cxn>
                <a:cxn ang="0">
                  <a:pos x="575" y="326"/>
                </a:cxn>
                <a:cxn ang="0">
                  <a:pos x="587" y="351"/>
                </a:cxn>
                <a:cxn ang="0">
                  <a:pos x="566" y="415"/>
                </a:cxn>
                <a:cxn ang="0">
                  <a:pos x="484" y="447"/>
                </a:cxn>
                <a:cxn ang="0">
                  <a:pos x="395" y="473"/>
                </a:cxn>
                <a:cxn ang="0">
                  <a:pos x="324" y="561"/>
                </a:cxn>
                <a:cxn ang="0">
                  <a:pos x="324" y="527"/>
                </a:cxn>
                <a:cxn ang="0">
                  <a:pos x="273" y="504"/>
                </a:cxn>
                <a:cxn ang="0">
                  <a:pos x="222" y="535"/>
                </a:cxn>
                <a:cxn ang="0">
                  <a:pos x="171" y="432"/>
                </a:cxn>
                <a:cxn ang="0">
                  <a:pos x="130" y="392"/>
                </a:cxn>
                <a:cxn ang="0">
                  <a:pos x="104" y="290"/>
                </a:cxn>
                <a:cxn ang="0">
                  <a:pos x="0" y="146"/>
                </a:cxn>
              </a:cxnLst>
              <a:rect l="0" t="0" r="r" b="b"/>
              <a:pathLst>
                <a:path w="587" h="561">
                  <a:moveTo>
                    <a:pt x="0" y="146"/>
                  </a:moveTo>
                  <a:lnTo>
                    <a:pt x="6" y="98"/>
                  </a:lnTo>
                  <a:lnTo>
                    <a:pt x="38" y="108"/>
                  </a:lnTo>
                  <a:lnTo>
                    <a:pt x="74" y="77"/>
                  </a:lnTo>
                  <a:lnTo>
                    <a:pt x="91" y="55"/>
                  </a:lnTo>
                  <a:lnTo>
                    <a:pt x="61" y="25"/>
                  </a:lnTo>
                  <a:lnTo>
                    <a:pt x="124" y="0"/>
                  </a:lnTo>
                  <a:lnTo>
                    <a:pt x="249" y="65"/>
                  </a:lnTo>
                  <a:lnTo>
                    <a:pt x="251" y="86"/>
                  </a:lnTo>
                  <a:lnTo>
                    <a:pt x="280" y="104"/>
                  </a:lnTo>
                  <a:lnTo>
                    <a:pt x="307" y="121"/>
                  </a:lnTo>
                  <a:lnTo>
                    <a:pt x="331" y="108"/>
                  </a:lnTo>
                  <a:lnTo>
                    <a:pt x="381" y="126"/>
                  </a:lnTo>
                  <a:lnTo>
                    <a:pt x="448" y="254"/>
                  </a:lnTo>
                  <a:lnTo>
                    <a:pt x="458" y="265"/>
                  </a:lnTo>
                  <a:lnTo>
                    <a:pt x="484" y="314"/>
                  </a:lnTo>
                  <a:lnTo>
                    <a:pt x="575" y="326"/>
                  </a:lnTo>
                  <a:lnTo>
                    <a:pt x="587" y="351"/>
                  </a:lnTo>
                  <a:lnTo>
                    <a:pt x="566" y="415"/>
                  </a:lnTo>
                  <a:lnTo>
                    <a:pt x="484" y="447"/>
                  </a:lnTo>
                  <a:lnTo>
                    <a:pt x="395" y="473"/>
                  </a:lnTo>
                  <a:lnTo>
                    <a:pt x="324" y="561"/>
                  </a:lnTo>
                  <a:lnTo>
                    <a:pt x="324" y="527"/>
                  </a:lnTo>
                  <a:lnTo>
                    <a:pt x="273" y="504"/>
                  </a:lnTo>
                  <a:lnTo>
                    <a:pt x="222" y="535"/>
                  </a:lnTo>
                  <a:lnTo>
                    <a:pt x="171" y="432"/>
                  </a:lnTo>
                  <a:lnTo>
                    <a:pt x="130" y="392"/>
                  </a:lnTo>
                  <a:lnTo>
                    <a:pt x="104" y="290"/>
                  </a:lnTo>
                  <a:lnTo>
                    <a:pt x="0" y="146"/>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84" name="Freeform 165">
              <a:extLst>
                <a:ext uri="{FF2B5EF4-FFF2-40B4-BE49-F238E27FC236}">
                  <a16:creationId xmlns:a16="http://schemas.microsoft.com/office/drawing/2014/main" id="{CD9640F6-BEAF-C551-2365-51B2A6E41483}"/>
                </a:ext>
              </a:extLst>
            </p:cNvPr>
            <p:cNvSpPr>
              <a:spLocks/>
            </p:cNvSpPr>
            <p:nvPr/>
          </p:nvSpPr>
          <p:spPr bwMode="auto">
            <a:xfrm>
              <a:off x="3607502" y="4077988"/>
              <a:ext cx="165745" cy="123919"/>
            </a:xfrm>
            <a:custGeom>
              <a:avLst/>
              <a:gdLst/>
              <a:ahLst/>
              <a:cxnLst>
                <a:cxn ang="0">
                  <a:pos x="0" y="53"/>
                </a:cxn>
                <a:cxn ang="0">
                  <a:pos x="6" y="49"/>
                </a:cxn>
                <a:cxn ang="0">
                  <a:pos x="20" y="67"/>
                </a:cxn>
                <a:cxn ang="0">
                  <a:pos x="81" y="65"/>
                </a:cxn>
                <a:cxn ang="0">
                  <a:pos x="138" y="0"/>
                </a:cxn>
                <a:cxn ang="0">
                  <a:pos x="145" y="41"/>
                </a:cxn>
                <a:cxn ang="0">
                  <a:pos x="129" y="42"/>
                </a:cxn>
                <a:cxn ang="0">
                  <a:pos x="138" y="65"/>
                </a:cxn>
                <a:cxn ang="0">
                  <a:pos x="117" y="114"/>
                </a:cxn>
                <a:cxn ang="0">
                  <a:pos x="26" y="102"/>
                </a:cxn>
                <a:cxn ang="0">
                  <a:pos x="0" y="53"/>
                </a:cxn>
              </a:cxnLst>
              <a:rect l="0" t="0" r="r" b="b"/>
              <a:pathLst>
                <a:path w="145" h="114">
                  <a:moveTo>
                    <a:pt x="0" y="53"/>
                  </a:moveTo>
                  <a:lnTo>
                    <a:pt x="6" y="49"/>
                  </a:lnTo>
                  <a:lnTo>
                    <a:pt x="20" y="67"/>
                  </a:lnTo>
                  <a:lnTo>
                    <a:pt x="81" y="65"/>
                  </a:lnTo>
                  <a:lnTo>
                    <a:pt x="138" y="0"/>
                  </a:lnTo>
                  <a:lnTo>
                    <a:pt x="145" y="41"/>
                  </a:lnTo>
                  <a:lnTo>
                    <a:pt x="129" y="42"/>
                  </a:lnTo>
                  <a:lnTo>
                    <a:pt x="138" y="65"/>
                  </a:lnTo>
                  <a:lnTo>
                    <a:pt x="117" y="114"/>
                  </a:lnTo>
                  <a:lnTo>
                    <a:pt x="26" y="102"/>
                  </a:lnTo>
                  <a:lnTo>
                    <a:pt x="0" y="53"/>
                  </a:lnTo>
                  <a:close/>
                </a:path>
              </a:pathLst>
            </a:custGeom>
            <a:solidFill>
              <a:srgbClr val="E59B9D"/>
            </a:solidFill>
            <a:ln w="635">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85" name="Freeform 188">
              <a:extLst>
                <a:ext uri="{FF2B5EF4-FFF2-40B4-BE49-F238E27FC236}">
                  <a16:creationId xmlns:a16="http://schemas.microsoft.com/office/drawing/2014/main" id="{66401D43-9170-2229-B55C-4186F3655B30}"/>
                </a:ext>
              </a:extLst>
            </p:cNvPr>
            <p:cNvSpPr>
              <a:spLocks/>
            </p:cNvSpPr>
            <p:nvPr/>
          </p:nvSpPr>
          <p:spPr bwMode="auto">
            <a:xfrm>
              <a:off x="3424820" y="4328775"/>
              <a:ext cx="313078" cy="221281"/>
            </a:xfrm>
            <a:custGeom>
              <a:avLst/>
              <a:gdLst/>
              <a:ahLst/>
              <a:cxnLst>
                <a:cxn ang="0">
                  <a:pos x="0" y="209"/>
                </a:cxn>
                <a:cxn ang="0">
                  <a:pos x="70" y="163"/>
                </a:cxn>
                <a:cxn ang="0">
                  <a:pos x="58" y="140"/>
                </a:cxn>
                <a:cxn ang="0">
                  <a:pos x="81" y="114"/>
                </a:cxn>
                <a:cxn ang="0">
                  <a:pos x="152" y="26"/>
                </a:cxn>
                <a:cxn ang="0">
                  <a:pos x="241" y="0"/>
                </a:cxn>
                <a:cxn ang="0">
                  <a:pos x="270" y="81"/>
                </a:cxn>
                <a:cxn ang="0">
                  <a:pos x="247" y="114"/>
                </a:cxn>
                <a:cxn ang="0">
                  <a:pos x="145" y="169"/>
                </a:cxn>
                <a:cxn ang="0">
                  <a:pos x="0" y="209"/>
                </a:cxn>
              </a:cxnLst>
              <a:rect l="0" t="0" r="r" b="b"/>
              <a:pathLst>
                <a:path w="270" h="209">
                  <a:moveTo>
                    <a:pt x="0" y="209"/>
                  </a:moveTo>
                  <a:lnTo>
                    <a:pt x="70" y="163"/>
                  </a:lnTo>
                  <a:lnTo>
                    <a:pt x="58" y="140"/>
                  </a:lnTo>
                  <a:lnTo>
                    <a:pt x="81" y="114"/>
                  </a:lnTo>
                  <a:lnTo>
                    <a:pt x="152" y="26"/>
                  </a:lnTo>
                  <a:lnTo>
                    <a:pt x="241" y="0"/>
                  </a:lnTo>
                  <a:lnTo>
                    <a:pt x="270" y="81"/>
                  </a:lnTo>
                  <a:lnTo>
                    <a:pt x="247" y="114"/>
                  </a:lnTo>
                  <a:lnTo>
                    <a:pt x="145" y="169"/>
                  </a:lnTo>
                  <a:lnTo>
                    <a:pt x="0" y="209"/>
                  </a:lnTo>
                  <a:close/>
                </a:path>
              </a:pathLst>
            </a:custGeom>
            <a:solidFill>
              <a:srgbClr val="E2E3DF"/>
            </a:solidFill>
            <a:ln w="635" cmpd="sng">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86" name="Freeform 189">
              <a:extLst>
                <a:ext uri="{FF2B5EF4-FFF2-40B4-BE49-F238E27FC236}">
                  <a16:creationId xmlns:a16="http://schemas.microsoft.com/office/drawing/2014/main" id="{DE8F7A3F-C1A4-3451-2CD4-BFE8B271198C}"/>
                </a:ext>
              </a:extLst>
            </p:cNvPr>
            <p:cNvSpPr>
              <a:spLocks/>
            </p:cNvSpPr>
            <p:nvPr/>
          </p:nvSpPr>
          <p:spPr bwMode="auto">
            <a:xfrm>
              <a:off x="3400267" y="4387773"/>
              <a:ext cx="116637" cy="162274"/>
            </a:xfrm>
            <a:custGeom>
              <a:avLst/>
              <a:gdLst/>
              <a:ahLst/>
              <a:cxnLst>
                <a:cxn ang="0">
                  <a:pos x="0" y="31"/>
                </a:cxn>
                <a:cxn ang="0">
                  <a:pos x="21" y="152"/>
                </a:cxn>
                <a:cxn ang="0">
                  <a:pos x="91" y="106"/>
                </a:cxn>
                <a:cxn ang="0">
                  <a:pos x="79" y="83"/>
                </a:cxn>
                <a:cxn ang="0">
                  <a:pos x="102" y="57"/>
                </a:cxn>
                <a:cxn ang="0">
                  <a:pos x="102" y="23"/>
                </a:cxn>
                <a:cxn ang="0">
                  <a:pos x="51" y="0"/>
                </a:cxn>
                <a:cxn ang="0">
                  <a:pos x="0" y="31"/>
                </a:cxn>
              </a:cxnLst>
              <a:rect l="0" t="0" r="r" b="b"/>
              <a:pathLst>
                <a:path w="102" h="152">
                  <a:moveTo>
                    <a:pt x="0" y="31"/>
                  </a:moveTo>
                  <a:lnTo>
                    <a:pt x="21" y="152"/>
                  </a:lnTo>
                  <a:lnTo>
                    <a:pt x="91" y="106"/>
                  </a:lnTo>
                  <a:lnTo>
                    <a:pt x="79" y="83"/>
                  </a:lnTo>
                  <a:lnTo>
                    <a:pt x="102" y="57"/>
                  </a:lnTo>
                  <a:lnTo>
                    <a:pt x="102" y="23"/>
                  </a:lnTo>
                  <a:lnTo>
                    <a:pt x="51" y="0"/>
                  </a:lnTo>
                  <a:lnTo>
                    <a:pt x="0" y="31"/>
                  </a:lnTo>
                  <a:close/>
                </a:path>
              </a:pathLst>
            </a:custGeom>
            <a:solidFill>
              <a:srgbClr val="E2E3DF"/>
            </a:solidFill>
            <a:ln w="635" cmpd="sng">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87" name="Freeform 210">
              <a:extLst>
                <a:ext uri="{FF2B5EF4-FFF2-40B4-BE49-F238E27FC236}">
                  <a16:creationId xmlns:a16="http://schemas.microsoft.com/office/drawing/2014/main" id="{A6864250-127C-B8DB-E96C-301DDA9E5D68}"/>
                </a:ext>
              </a:extLst>
            </p:cNvPr>
            <p:cNvSpPr>
              <a:spLocks/>
            </p:cNvSpPr>
            <p:nvPr/>
          </p:nvSpPr>
          <p:spPr bwMode="auto">
            <a:xfrm>
              <a:off x="3051945" y="3815394"/>
              <a:ext cx="49109" cy="144572"/>
            </a:xfrm>
            <a:custGeom>
              <a:avLst/>
              <a:gdLst/>
              <a:ahLst/>
              <a:cxnLst>
                <a:cxn ang="0">
                  <a:pos x="0" y="65"/>
                </a:cxn>
                <a:cxn ang="0">
                  <a:pos x="23" y="136"/>
                </a:cxn>
                <a:cxn ang="0">
                  <a:pos x="26" y="134"/>
                </a:cxn>
                <a:cxn ang="0">
                  <a:pos x="38" y="61"/>
                </a:cxn>
                <a:cxn ang="0">
                  <a:pos x="23" y="65"/>
                </a:cxn>
                <a:cxn ang="0">
                  <a:pos x="26" y="35"/>
                </a:cxn>
                <a:cxn ang="0">
                  <a:pos x="39" y="18"/>
                </a:cxn>
                <a:cxn ang="0">
                  <a:pos x="44" y="0"/>
                </a:cxn>
                <a:cxn ang="0">
                  <a:pos x="27" y="3"/>
                </a:cxn>
                <a:cxn ang="0">
                  <a:pos x="0" y="65"/>
                </a:cxn>
              </a:cxnLst>
              <a:rect l="0" t="0" r="r" b="b"/>
              <a:pathLst>
                <a:path w="44" h="136">
                  <a:moveTo>
                    <a:pt x="0" y="65"/>
                  </a:moveTo>
                  <a:lnTo>
                    <a:pt x="23" y="136"/>
                  </a:lnTo>
                  <a:lnTo>
                    <a:pt x="26" y="134"/>
                  </a:lnTo>
                  <a:lnTo>
                    <a:pt x="38" y="61"/>
                  </a:lnTo>
                  <a:lnTo>
                    <a:pt x="23" y="65"/>
                  </a:lnTo>
                  <a:lnTo>
                    <a:pt x="26" y="35"/>
                  </a:lnTo>
                  <a:lnTo>
                    <a:pt x="39" y="18"/>
                  </a:lnTo>
                  <a:lnTo>
                    <a:pt x="44" y="0"/>
                  </a:lnTo>
                  <a:lnTo>
                    <a:pt x="27" y="3"/>
                  </a:lnTo>
                  <a:lnTo>
                    <a:pt x="0" y="65"/>
                  </a:lnTo>
                  <a:close/>
                </a:path>
              </a:pathLst>
            </a:custGeom>
            <a:solidFill>
              <a:srgbClr val="E2E3DF"/>
            </a:solidFill>
            <a:ln w="635" cmpd="sng">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88" name="Freeform 212">
              <a:extLst>
                <a:ext uri="{FF2B5EF4-FFF2-40B4-BE49-F238E27FC236}">
                  <a16:creationId xmlns:a16="http://schemas.microsoft.com/office/drawing/2014/main" id="{00B4CF44-89F8-4A61-285C-62DBC50BADEC}"/>
                </a:ext>
              </a:extLst>
            </p:cNvPr>
            <p:cNvSpPr>
              <a:spLocks/>
            </p:cNvSpPr>
            <p:nvPr/>
          </p:nvSpPr>
          <p:spPr bwMode="auto">
            <a:xfrm>
              <a:off x="3145501" y="3809491"/>
              <a:ext cx="138122" cy="159322"/>
            </a:xfrm>
            <a:custGeom>
              <a:avLst/>
              <a:gdLst/>
              <a:ahLst/>
              <a:cxnLst>
                <a:cxn ang="0">
                  <a:pos x="0" y="72"/>
                </a:cxn>
                <a:cxn ang="0">
                  <a:pos x="3" y="42"/>
                </a:cxn>
                <a:cxn ang="0">
                  <a:pos x="16" y="25"/>
                </a:cxn>
                <a:cxn ang="0">
                  <a:pos x="47" y="40"/>
                </a:cxn>
                <a:cxn ang="0">
                  <a:pos x="107" y="0"/>
                </a:cxn>
                <a:cxn ang="0">
                  <a:pos x="121" y="43"/>
                </a:cxn>
                <a:cxn ang="0">
                  <a:pos x="58" y="68"/>
                </a:cxn>
                <a:cxn ang="0">
                  <a:pos x="88" y="98"/>
                </a:cxn>
                <a:cxn ang="0">
                  <a:pos x="71" y="120"/>
                </a:cxn>
                <a:cxn ang="0">
                  <a:pos x="35" y="151"/>
                </a:cxn>
                <a:cxn ang="0">
                  <a:pos x="3" y="141"/>
                </a:cxn>
                <a:cxn ang="0">
                  <a:pos x="15" y="68"/>
                </a:cxn>
                <a:cxn ang="0">
                  <a:pos x="0" y="72"/>
                </a:cxn>
              </a:cxnLst>
              <a:rect l="0" t="0" r="r" b="b"/>
              <a:pathLst>
                <a:path w="121" h="151">
                  <a:moveTo>
                    <a:pt x="0" y="72"/>
                  </a:moveTo>
                  <a:lnTo>
                    <a:pt x="3" y="42"/>
                  </a:lnTo>
                  <a:lnTo>
                    <a:pt x="16" y="25"/>
                  </a:lnTo>
                  <a:lnTo>
                    <a:pt x="47" y="40"/>
                  </a:lnTo>
                  <a:lnTo>
                    <a:pt x="107" y="0"/>
                  </a:lnTo>
                  <a:lnTo>
                    <a:pt x="121" y="43"/>
                  </a:lnTo>
                  <a:lnTo>
                    <a:pt x="58" y="68"/>
                  </a:lnTo>
                  <a:lnTo>
                    <a:pt x="88" y="98"/>
                  </a:lnTo>
                  <a:lnTo>
                    <a:pt x="71" y="120"/>
                  </a:lnTo>
                  <a:lnTo>
                    <a:pt x="35" y="151"/>
                  </a:lnTo>
                  <a:lnTo>
                    <a:pt x="3" y="141"/>
                  </a:lnTo>
                  <a:lnTo>
                    <a:pt x="15" y="68"/>
                  </a:lnTo>
                  <a:lnTo>
                    <a:pt x="0" y="72"/>
                  </a:lnTo>
                  <a:close/>
                </a:path>
              </a:pathLst>
            </a:custGeom>
            <a:solidFill>
              <a:srgbClr val="E2E3DF"/>
            </a:solidFill>
            <a:ln w="635" cmpd="sng">
              <a:solidFill>
                <a:schemeClr val="bg1"/>
              </a:solidFill>
              <a:prstDash val="solid"/>
              <a:round/>
              <a:headEnd/>
              <a:tailEnd/>
            </a:ln>
          </p:spPr>
          <p:txBody>
            <a:bodyPr/>
            <a:lstStyle/>
            <a:p>
              <a:pPr fontAlgn="auto">
                <a:spcBef>
                  <a:spcPts val="0"/>
                </a:spcBef>
                <a:spcAft>
                  <a:spcPts val="0"/>
                </a:spcAft>
                <a:defRPr/>
              </a:pPr>
              <a:endParaRPr lang="en-US" sz="1800" b="0">
                <a:solidFill>
                  <a:srgbClr val="000000"/>
                </a:solidFill>
                <a:latin typeface="Arial" panose="020B0604020202020204" pitchFamily="34" charset="0"/>
                <a:ea typeface="DFKaiShu-GB5"/>
                <a:cs typeface="+mn-cs"/>
              </a:endParaRPr>
            </a:p>
          </p:txBody>
        </p:sp>
        <p:sp>
          <p:nvSpPr>
            <p:cNvPr id="89" name="Rectangle 217">
              <a:extLst>
                <a:ext uri="{FF2B5EF4-FFF2-40B4-BE49-F238E27FC236}">
                  <a16:creationId xmlns:a16="http://schemas.microsoft.com/office/drawing/2014/main" id="{24837522-F645-60B5-4B50-E776525120A2}"/>
                </a:ext>
              </a:extLst>
            </p:cNvPr>
            <p:cNvSpPr>
              <a:spLocks noChangeArrowheads="1"/>
            </p:cNvSpPr>
            <p:nvPr/>
          </p:nvSpPr>
          <p:spPr bwMode="auto">
            <a:xfrm>
              <a:off x="5858017" y="3505118"/>
              <a:ext cx="238848"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Korea</a:t>
              </a:r>
              <a:endParaRPr lang="en-US" altLang="en-US" sz="700" b="0" kern="0">
                <a:solidFill>
                  <a:srgbClr val="000000"/>
                </a:solidFill>
                <a:latin typeface="Arial" panose="020B0604020202020204" pitchFamily="34" charset="0"/>
                <a:ea typeface="DFKaiShu-GB5"/>
                <a:cs typeface="Arial" pitchFamily="34" charset="0"/>
              </a:endParaRPr>
            </a:p>
          </p:txBody>
        </p:sp>
        <p:sp>
          <p:nvSpPr>
            <p:cNvPr id="90" name="Rectangle 1059">
              <a:extLst>
                <a:ext uri="{FF2B5EF4-FFF2-40B4-BE49-F238E27FC236}">
                  <a16:creationId xmlns:a16="http://schemas.microsoft.com/office/drawing/2014/main" id="{13D42247-C90E-5C67-836E-32191692B8D4}"/>
                </a:ext>
              </a:extLst>
            </p:cNvPr>
            <p:cNvSpPr>
              <a:spLocks noChangeArrowheads="1"/>
            </p:cNvSpPr>
            <p:nvPr/>
          </p:nvSpPr>
          <p:spPr bwMode="auto">
            <a:xfrm>
              <a:off x="6413203" y="3581175"/>
              <a:ext cx="243656"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Japan</a:t>
              </a:r>
              <a:endParaRPr lang="en-US" altLang="en-US" sz="700" b="0" kern="0">
                <a:solidFill>
                  <a:srgbClr val="000000"/>
                </a:solidFill>
                <a:latin typeface="Arial" panose="020B0604020202020204" pitchFamily="34" charset="0"/>
                <a:ea typeface="DFKaiShu-GB5"/>
                <a:cs typeface="Arial" pitchFamily="34" charset="0"/>
              </a:endParaRPr>
            </a:p>
          </p:txBody>
        </p:sp>
        <p:grpSp>
          <p:nvGrpSpPr>
            <p:cNvPr id="91" name="Group 1073">
              <a:extLst>
                <a:ext uri="{FF2B5EF4-FFF2-40B4-BE49-F238E27FC236}">
                  <a16:creationId xmlns:a16="http://schemas.microsoft.com/office/drawing/2014/main" id="{AB39E529-A9C0-9580-D025-A708B5E5C05F}"/>
                </a:ext>
              </a:extLst>
            </p:cNvPr>
            <p:cNvGrpSpPr>
              <a:grpSpLocks/>
            </p:cNvGrpSpPr>
            <p:nvPr/>
          </p:nvGrpSpPr>
          <p:grpSpPr bwMode="auto">
            <a:xfrm>
              <a:off x="6305078" y="3578854"/>
              <a:ext cx="93836" cy="96021"/>
              <a:chOff x="3654" y="2235"/>
              <a:chExt cx="31" cy="33"/>
            </a:xfrm>
          </p:grpSpPr>
          <p:sp>
            <p:nvSpPr>
              <p:cNvPr id="268" name="Oval 1071">
                <a:extLst>
                  <a:ext uri="{FF2B5EF4-FFF2-40B4-BE49-F238E27FC236}">
                    <a16:creationId xmlns:a16="http://schemas.microsoft.com/office/drawing/2014/main" id="{B3F80CEF-F536-2D19-D04C-0A4CEE3BBB84}"/>
                  </a:ext>
                </a:extLst>
              </p:cNvPr>
              <p:cNvSpPr>
                <a:spLocks noChangeArrowheads="1"/>
              </p:cNvSpPr>
              <p:nvPr/>
            </p:nvSpPr>
            <p:spPr bwMode="auto">
              <a:xfrm>
                <a:off x="3654" y="2235"/>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69" name="Oval 1072">
                <a:extLst>
                  <a:ext uri="{FF2B5EF4-FFF2-40B4-BE49-F238E27FC236}">
                    <a16:creationId xmlns:a16="http://schemas.microsoft.com/office/drawing/2014/main" id="{275381C3-12A8-14D3-FCD9-DFBBDE9355AC}"/>
                  </a:ext>
                </a:extLst>
              </p:cNvPr>
              <p:cNvSpPr>
                <a:spLocks noChangeArrowheads="1"/>
              </p:cNvSpPr>
              <p:nvPr/>
            </p:nvSpPr>
            <p:spPr bwMode="auto">
              <a:xfrm>
                <a:off x="3654" y="2235"/>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sp>
          <p:nvSpPr>
            <p:cNvPr id="92" name="Rectangle 1060">
              <a:extLst>
                <a:ext uri="{FF2B5EF4-FFF2-40B4-BE49-F238E27FC236}">
                  <a16:creationId xmlns:a16="http://schemas.microsoft.com/office/drawing/2014/main" id="{DF2D7B50-2644-B5F3-127E-BDA829366F16}"/>
                </a:ext>
              </a:extLst>
            </p:cNvPr>
            <p:cNvSpPr>
              <a:spLocks noChangeArrowheads="1"/>
            </p:cNvSpPr>
            <p:nvPr/>
          </p:nvSpPr>
          <p:spPr bwMode="auto">
            <a:xfrm>
              <a:off x="4905220" y="3700945"/>
              <a:ext cx="232436"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China</a:t>
              </a:r>
              <a:endParaRPr lang="en-US" altLang="en-US" sz="700" b="0" kern="0">
                <a:solidFill>
                  <a:srgbClr val="000000"/>
                </a:solidFill>
                <a:latin typeface="Arial" panose="020B0604020202020204" pitchFamily="34" charset="0"/>
                <a:ea typeface="DFKaiShu-GB5"/>
                <a:cs typeface="Arial" pitchFamily="34" charset="0"/>
              </a:endParaRPr>
            </a:p>
          </p:txBody>
        </p:sp>
        <p:grpSp>
          <p:nvGrpSpPr>
            <p:cNvPr id="93" name="Group 1089">
              <a:extLst>
                <a:ext uri="{FF2B5EF4-FFF2-40B4-BE49-F238E27FC236}">
                  <a16:creationId xmlns:a16="http://schemas.microsoft.com/office/drawing/2014/main" id="{461DD601-E4EC-999D-769E-7441CCCBA904}"/>
                </a:ext>
              </a:extLst>
            </p:cNvPr>
            <p:cNvGrpSpPr>
              <a:grpSpLocks/>
            </p:cNvGrpSpPr>
            <p:nvPr/>
          </p:nvGrpSpPr>
          <p:grpSpPr bwMode="auto">
            <a:xfrm>
              <a:off x="5131420" y="3704565"/>
              <a:ext cx="93836" cy="96021"/>
              <a:chOff x="3224" y="2133"/>
              <a:chExt cx="31" cy="33"/>
            </a:xfrm>
          </p:grpSpPr>
          <p:sp>
            <p:nvSpPr>
              <p:cNvPr id="266" name="Oval 1087">
                <a:extLst>
                  <a:ext uri="{FF2B5EF4-FFF2-40B4-BE49-F238E27FC236}">
                    <a16:creationId xmlns:a16="http://schemas.microsoft.com/office/drawing/2014/main" id="{CD6C3952-8210-6618-08EA-348864096D87}"/>
                  </a:ext>
                </a:extLst>
              </p:cNvPr>
              <p:cNvSpPr>
                <a:spLocks noChangeArrowheads="1"/>
              </p:cNvSpPr>
              <p:nvPr/>
            </p:nvSpPr>
            <p:spPr bwMode="auto">
              <a:xfrm>
                <a:off x="3224" y="2133"/>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67" name="Oval 1088">
                <a:extLst>
                  <a:ext uri="{FF2B5EF4-FFF2-40B4-BE49-F238E27FC236}">
                    <a16:creationId xmlns:a16="http://schemas.microsoft.com/office/drawing/2014/main" id="{F5104615-6EA9-CD24-2DE8-8742B0C6469E}"/>
                  </a:ext>
                </a:extLst>
              </p:cNvPr>
              <p:cNvSpPr>
                <a:spLocks noChangeArrowheads="1"/>
              </p:cNvSpPr>
              <p:nvPr/>
            </p:nvSpPr>
            <p:spPr bwMode="auto">
              <a:xfrm>
                <a:off x="3224" y="2133"/>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grpSp>
          <p:nvGrpSpPr>
            <p:cNvPr id="94" name="Group 1076">
              <a:extLst>
                <a:ext uri="{FF2B5EF4-FFF2-40B4-BE49-F238E27FC236}">
                  <a16:creationId xmlns:a16="http://schemas.microsoft.com/office/drawing/2014/main" id="{5CF1A56A-2D08-1B35-A6A6-60DAE7283CCB}"/>
                </a:ext>
              </a:extLst>
            </p:cNvPr>
            <p:cNvGrpSpPr>
              <a:grpSpLocks/>
            </p:cNvGrpSpPr>
            <p:nvPr/>
          </p:nvGrpSpPr>
          <p:grpSpPr bwMode="auto">
            <a:xfrm>
              <a:off x="5888014" y="3645335"/>
              <a:ext cx="90811" cy="96021"/>
              <a:chOff x="3475" y="2247"/>
              <a:chExt cx="30" cy="33"/>
            </a:xfrm>
          </p:grpSpPr>
          <p:sp>
            <p:nvSpPr>
              <p:cNvPr id="264" name="Oval 1074">
                <a:extLst>
                  <a:ext uri="{FF2B5EF4-FFF2-40B4-BE49-F238E27FC236}">
                    <a16:creationId xmlns:a16="http://schemas.microsoft.com/office/drawing/2014/main" id="{C89E80B3-EB6A-7EE2-0E93-2F005FE017B8}"/>
                  </a:ext>
                </a:extLst>
              </p:cNvPr>
              <p:cNvSpPr>
                <a:spLocks noChangeArrowheads="1"/>
              </p:cNvSpPr>
              <p:nvPr/>
            </p:nvSpPr>
            <p:spPr bwMode="auto">
              <a:xfrm>
                <a:off x="3475" y="2247"/>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65" name="Oval 1075">
                <a:extLst>
                  <a:ext uri="{FF2B5EF4-FFF2-40B4-BE49-F238E27FC236}">
                    <a16:creationId xmlns:a16="http://schemas.microsoft.com/office/drawing/2014/main" id="{97BBA028-2CD1-9423-2381-8CA9475C2064}"/>
                  </a:ext>
                </a:extLst>
              </p:cNvPr>
              <p:cNvSpPr>
                <a:spLocks noChangeArrowheads="1"/>
              </p:cNvSpPr>
              <p:nvPr/>
            </p:nvSpPr>
            <p:spPr bwMode="auto">
              <a:xfrm>
                <a:off x="3475" y="2247"/>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sp>
          <p:nvSpPr>
            <p:cNvPr id="95" name="Rectangle 1062">
              <a:extLst>
                <a:ext uri="{FF2B5EF4-FFF2-40B4-BE49-F238E27FC236}">
                  <a16:creationId xmlns:a16="http://schemas.microsoft.com/office/drawing/2014/main" id="{20667004-3185-1245-C87C-B29C45F9E882}"/>
                </a:ext>
              </a:extLst>
            </p:cNvPr>
            <p:cNvSpPr>
              <a:spLocks noChangeArrowheads="1"/>
            </p:cNvSpPr>
            <p:nvPr/>
          </p:nvSpPr>
          <p:spPr bwMode="auto">
            <a:xfrm>
              <a:off x="4101624" y="4120512"/>
              <a:ext cx="193964"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India</a:t>
              </a:r>
              <a:endParaRPr lang="en-US" altLang="en-US" sz="700" b="0" kern="0">
                <a:solidFill>
                  <a:srgbClr val="000000"/>
                </a:solidFill>
                <a:latin typeface="Arial" panose="020B0604020202020204" pitchFamily="34" charset="0"/>
                <a:ea typeface="DFKaiShu-GB5"/>
                <a:cs typeface="Arial" pitchFamily="34" charset="0"/>
              </a:endParaRPr>
            </a:p>
          </p:txBody>
        </p:sp>
        <p:grpSp>
          <p:nvGrpSpPr>
            <p:cNvPr id="96" name="Group 1070">
              <a:extLst>
                <a:ext uri="{FF2B5EF4-FFF2-40B4-BE49-F238E27FC236}">
                  <a16:creationId xmlns:a16="http://schemas.microsoft.com/office/drawing/2014/main" id="{E4A802A9-6FB0-30FB-BD48-9124888647A0}"/>
                </a:ext>
              </a:extLst>
            </p:cNvPr>
            <p:cNvGrpSpPr>
              <a:grpSpLocks/>
            </p:cNvGrpSpPr>
            <p:nvPr/>
          </p:nvGrpSpPr>
          <p:grpSpPr bwMode="auto">
            <a:xfrm>
              <a:off x="5680944" y="4110707"/>
              <a:ext cx="93836" cy="96021"/>
              <a:chOff x="3436" y="2475"/>
              <a:chExt cx="31" cy="33"/>
            </a:xfrm>
          </p:grpSpPr>
          <p:sp>
            <p:nvSpPr>
              <p:cNvPr id="262" name="Oval 1068">
                <a:extLst>
                  <a:ext uri="{FF2B5EF4-FFF2-40B4-BE49-F238E27FC236}">
                    <a16:creationId xmlns:a16="http://schemas.microsoft.com/office/drawing/2014/main" id="{0CAFC4E0-D4CE-72DE-DB8F-4D8F699AF529}"/>
                  </a:ext>
                </a:extLst>
              </p:cNvPr>
              <p:cNvSpPr>
                <a:spLocks noChangeArrowheads="1"/>
              </p:cNvSpPr>
              <p:nvPr/>
            </p:nvSpPr>
            <p:spPr bwMode="auto">
              <a:xfrm>
                <a:off x="3436" y="2475"/>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63" name="Oval 1069">
                <a:extLst>
                  <a:ext uri="{FF2B5EF4-FFF2-40B4-BE49-F238E27FC236}">
                    <a16:creationId xmlns:a16="http://schemas.microsoft.com/office/drawing/2014/main" id="{21D39705-30AE-6D7D-1A9F-6BE1C3BD455D}"/>
                  </a:ext>
                </a:extLst>
              </p:cNvPr>
              <p:cNvSpPr>
                <a:spLocks noChangeArrowheads="1"/>
              </p:cNvSpPr>
              <p:nvPr/>
            </p:nvSpPr>
            <p:spPr bwMode="auto">
              <a:xfrm>
                <a:off x="3436" y="2475"/>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grpSp>
          <p:nvGrpSpPr>
            <p:cNvPr id="97" name="Group 1083">
              <a:extLst>
                <a:ext uri="{FF2B5EF4-FFF2-40B4-BE49-F238E27FC236}">
                  <a16:creationId xmlns:a16="http://schemas.microsoft.com/office/drawing/2014/main" id="{9CEE71E7-AA21-C3F3-A54D-59303CF0B631}"/>
                </a:ext>
              </a:extLst>
            </p:cNvPr>
            <p:cNvGrpSpPr>
              <a:grpSpLocks/>
            </p:cNvGrpSpPr>
            <p:nvPr/>
          </p:nvGrpSpPr>
          <p:grpSpPr bwMode="auto">
            <a:xfrm>
              <a:off x="5261785" y="5139488"/>
              <a:ext cx="90811" cy="96021"/>
              <a:chOff x="3235" y="3155"/>
              <a:chExt cx="30" cy="33"/>
            </a:xfrm>
          </p:grpSpPr>
          <p:sp>
            <p:nvSpPr>
              <p:cNvPr id="260" name="Oval 1081">
                <a:extLst>
                  <a:ext uri="{FF2B5EF4-FFF2-40B4-BE49-F238E27FC236}">
                    <a16:creationId xmlns:a16="http://schemas.microsoft.com/office/drawing/2014/main" id="{CB324D82-C752-2FE5-D45E-8E21D8227453}"/>
                  </a:ext>
                </a:extLst>
              </p:cNvPr>
              <p:cNvSpPr>
                <a:spLocks noChangeArrowheads="1"/>
              </p:cNvSpPr>
              <p:nvPr/>
            </p:nvSpPr>
            <p:spPr bwMode="auto">
              <a:xfrm>
                <a:off x="3235" y="3155"/>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61" name="Oval 1082">
                <a:extLst>
                  <a:ext uri="{FF2B5EF4-FFF2-40B4-BE49-F238E27FC236}">
                    <a16:creationId xmlns:a16="http://schemas.microsoft.com/office/drawing/2014/main" id="{D36B32E9-4B6B-85F0-03D3-B16C55DE7C4E}"/>
                  </a:ext>
                </a:extLst>
              </p:cNvPr>
              <p:cNvSpPr>
                <a:spLocks noChangeArrowheads="1"/>
              </p:cNvSpPr>
              <p:nvPr/>
            </p:nvSpPr>
            <p:spPr bwMode="auto">
              <a:xfrm>
                <a:off x="3235" y="3155"/>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grpSp>
          <p:nvGrpSpPr>
            <p:cNvPr id="98" name="Group 1086">
              <a:extLst>
                <a:ext uri="{FF2B5EF4-FFF2-40B4-BE49-F238E27FC236}">
                  <a16:creationId xmlns:a16="http://schemas.microsoft.com/office/drawing/2014/main" id="{A0F83097-6519-0024-4BC5-C08217829F25}"/>
                </a:ext>
              </a:extLst>
            </p:cNvPr>
            <p:cNvGrpSpPr>
              <a:grpSpLocks/>
            </p:cNvGrpSpPr>
            <p:nvPr/>
          </p:nvGrpSpPr>
          <p:grpSpPr bwMode="auto">
            <a:xfrm>
              <a:off x="4306089" y="4126822"/>
              <a:ext cx="93836" cy="96021"/>
              <a:chOff x="2725" y="2552"/>
              <a:chExt cx="31" cy="33"/>
            </a:xfrm>
          </p:grpSpPr>
          <p:sp>
            <p:nvSpPr>
              <p:cNvPr id="258" name="Oval 1084">
                <a:extLst>
                  <a:ext uri="{FF2B5EF4-FFF2-40B4-BE49-F238E27FC236}">
                    <a16:creationId xmlns:a16="http://schemas.microsoft.com/office/drawing/2014/main" id="{EC7ACCFB-22A0-D1CD-F605-64326063CFC3}"/>
                  </a:ext>
                </a:extLst>
              </p:cNvPr>
              <p:cNvSpPr>
                <a:spLocks noChangeArrowheads="1"/>
              </p:cNvSpPr>
              <p:nvPr/>
            </p:nvSpPr>
            <p:spPr bwMode="auto">
              <a:xfrm>
                <a:off x="2725" y="2552"/>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59" name="Oval 1085">
                <a:extLst>
                  <a:ext uri="{FF2B5EF4-FFF2-40B4-BE49-F238E27FC236}">
                    <a16:creationId xmlns:a16="http://schemas.microsoft.com/office/drawing/2014/main" id="{7FC770AF-BA0A-A0EA-2249-C1A10A75D108}"/>
                  </a:ext>
                </a:extLst>
              </p:cNvPr>
              <p:cNvSpPr>
                <a:spLocks noChangeArrowheads="1"/>
              </p:cNvSpPr>
              <p:nvPr/>
            </p:nvSpPr>
            <p:spPr bwMode="auto">
              <a:xfrm>
                <a:off x="2725" y="2552"/>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sp>
          <p:nvSpPr>
            <p:cNvPr id="99" name="Rectangle 1097">
              <a:extLst>
                <a:ext uri="{FF2B5EF4-FFF2-40B4-BE49-F238E27FC236}">
                  <a16:creationId xmlns:a16="http://schemas.microsoft.com/office/drawing/2014/main" id="{6F6AAB11-76F5-F208-9185-C73450EF380A}"/>
                </a:ext>
              </a:extLst>
            </p:cNvPr>
            <p:cNvSpPr>
              <a:spLocks noChangeArrowheads="1"/>
            </p:cNvSpPr>
            <p:nvPr/>
          </p:nvSpPr>
          <p:spPr bwMode="auto">
            <a:xfrm>
              <a:off x="5784508" y="4096075"/>
              <a:ext cx="286938"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Taiwan</a:t>
              </a:r>
              <a:endParaRPr lang="en-US" altLang="en-US" sz="700" b="0" kern="0">
                <a:solidFill>
                  <a:srgbClr val="000000"/>
                </a:solidFill>
                <a:latin typeface="Arial" panose="020B0604020202020204" pitchFamily="34" charset="0"/>
                <a:ea typeface="DFKaiShu-GB5"/>
                <a:cs typeface="Arial" pitchFamily="34" charset="0"/>
              </a:endParaRPr>
            </a:p>
          </p:txBody>
        </p:sp>
        <p:grpSp>
          <p:nvGrpSpPr>
            <p:cNvPr id="100" name="Group 1100">
              <a:extLst>
                <a:ext uri="{FF2B5EF4-FFF2-40B4-BE49-F238E27FC236}">
                  <a16:creationId xmlns:a16="http://schemas.microsoft.com/office/drawing/2014/main" id="{E4D78905-81C4-B910-8990-32FAE1ABC50D}"/>
                </a:ext>
              </a:extLst>
            </p:cNvPr>
            <p:cNvGrpSpPr>
              <a:grpSpLocks/>
            </p:cNvGrpSpPr>
            <p:nvPr/>
          </p:nvGrpSpPr>
          <p:grpSpPr bwMode="auto">
            <a:xfrm>
              <a:off x="4976587" y="4697757"/>
              <a:ext cx="93836" cy="96021"/>
              <a:chOff x="3127" y="2936"/>
              <a:chExt cx="31" cy="33"/>
            </a:xfrm>
          </p:grpSpPr>
          <p:sp>
            <p:nvSpPr>
              <p:cNvPr id="256" name="Oval 1098">
                <a:extLst>
                  <a:ext uri="{FF2B5EF4-FFF2-40B4-BE49-F238E27FC236}">
                    <a16:creationId xmlns:a16="http://schemas.microsoft.com/office/drawing/2014/main" id="{E7DE1CCD-8B8E-9BF7-EF6F-18732B8B8D6F}"/>
                  </a:ext>
                </a:extLst>
              </p:cNvPr>
              <p:cNvSpPr>
                <a:spLocks noChangeArrowheads="1"/>
              </p:cNvSpPr>
              <p:nvPr/>
            </p:nvSpPr>
            <p:spPr bwMode="auto">
              <a:xfrm>
                <a:off x="3127" y="2936"/>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57" name="Oval 1099">
                <a:extLst>
                  <a:ext uri="{FF2B5EF4-FFF2-40B4-BE49-F238E27FC236}">
                    <a16:creationId xmlns:a16="http://schemas.microsoft.com/office/drawing/2014/main" id="{D327DADB-49F0-7C51-B047-F9D97A072FF6}"/>
                  </a:ext>
                </a:extLst>
              </p:cNvPr>
              <p:cNvSpPr>
                <a:spLocks noChangeArrowheads="1"/>
              </p:cNvSpPr>
              <p:nvPr/>
            </p:nvSpPr>
            <p:spPr bwMode="auto">
              <a:xfrm>
                <a:off x="3127" y="2936"/>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grpSp>
          <p:nvGrpSpPr>
            <p:cNvPr id="101" name="Group 1104">
              <a:extLst>
                <a:ext uri="{FF2B5EF4-FFF2-40B4-BE49-F238E27FC236}">
                  <a16:creationId xmlns:a16="http://schemas.microsoft.com/office/drawing/2014/main" id="{E37CCEDB-25F1-E53B-4CEB-12E796626849}"/>
                </a:ext>
              </a:extLst>
            </p:cNvPr>
            <p:cNvGrpSpPr>
              <a:grpSpLocks/>
            </p:cNvGrpSpPr>
            <p:nvPr/>
          </p:nvGrpSpPr>
          <p:grpSpPr bwMode="auto">
            <a:xfrm>
              <a:off x="5115079" y="4453186"/>
              <a:ext cx="90811" cy="96021"/>
              <a:chOff x="3083" y="2704"/>
              <a:chExt cx="30" cy="33"/>
            </a:xfrm>
          </p:grpSpPr>
          <p:sp>
            <p:nvSpPr>
              <p:cNvPr id="254" name="Oval 1102">
                <a:extLst>
                  <a:ext uri="{FF2B5EF4-FFF2-40B4-BE49-F238E27FC236}">
                    <a16:creationId xmlns:a16="http://schemas.microsoft.com/office/drawing/2014/main" id="{78BAEB18-D068-52C8-1FE2-56FF2F3D4439}"/>
                  </a:ext>
                </a:extLst>
              </p:cNvPr>
              <p:cNvSpPr>
                <a:spLocks noChangeArrowheads="1"/>
              </p:cNvSpPr>
              <p:nvPr/>
            </p:nvSpPr>
            <p:spPr bwMode="auto">
              <a:xfrm>
                <a:off x="3083" y="2704"/>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55" name="Oval 1103">
                <a:extLst>
                  <a:ext uri="{FF2B5EF4-FFF2-40B4-BE49-F238E27FC236}">
                    <a16:creationId xmlns:a16="http://schemas.microsoft.com/office/drawing/2014/main" id="{32F6C705-456C-EC51-1C9A-8B3CD3898225}"/>
                  </a:ext>
                </a:extLst>
              </p:cNvPr>
              <p:cNvSpPr>
                <a:spLocks noChangeArrowheads="1"/>
              </p:cNvSpPr>
              <p:nvPr/>
            </p:nvSpPr>
            <p:spPr bwMode="auto">
              <a:xfrm>
                <a:off x="3083" y="2704"/>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grpSp>
          <p:nvGrpSpPr>
            <p:cNvPr id="102" name="Group 1108">
              <a:extLst>
                <a:ext uri="{FF2B5EF4-FFF2-40B4-BE49-F238E27FC236}">
                  <a16:creationId xmlns:a16="http://schemas.microsoft.com/office/drawing/2014/main" id="{D811CD56-26F6-BCB4-A7A4-266B176209A0}"/>
                </a:ext>
              </a:extLst>
            </p:cNvPr>
            <p:cNvGrpSpPr>
              <a:grpSpLocks/>
            </p:cNvGrpSpPr>
            <p:nvPr/>
          </p:nvGrpSpPr>
          <p:grpSpPr bwMode="auto">
            <a:xfrm>
              <a:off x="5117175" y="4167114"/>
              <a:ext cx="90811" cy="96021"/>
              <a:chOff x="3160" y="2570"/>
              <a:chExt cx="30" cy="33"/>
            </a:xfrm>
          </p:grpSpPr>
          <p:sp>
            <p:nvSpPr>
              <p:cNvPr id="252" name="Oval 1106">
                <a:extLst>
                  <a:ext uri="{FF2B5EF4-FFF2-40B4-BE49-F238E27FC236}">
                    <a16:creationId xmlns:a16="http://schemas.microsoft.com/office/drawing/2014/main" id="{3FFE1721-96F9-09EF-2054-522660451C56}"/>
                  </a:ext>
                </a:extLst>
              </p:cNvPr>
              <p:cNvSpPr>
                <a:spLocks noChangeArrowheads="1"/>
              </p:cNvSpPr>
              <p:nvPr/>
            </p:nvSpPr>
            <p:spPr bwMode="auto">
              <a:xfrm>
                <a:off x="3160" y="2570"/>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53" name="Oval 1107">
                <a:extLst>
                  <a:ext uri="{FF2B5EF4-FFF2-40B4-BE49-F238E27FC236}">
                    <a16:creationId xmlns:a16="http://schemas.microsoft.com/office/drawing/2014/main" id="{089EF56D-00E3-6F93-D7F1-8474F3B4DCF7}"/>
                  </a:ext>
                </a:extLst>
              </p:cNvPr>
              <p:cNvSpPr>
                <a:spLocks noChangeArrowheads="1"/>
              </p:cNvSpPr>
              <p:nvPr/>
            </p:nvSpPr>
            <p:spPr bwMode="auto">
              <a:xfrm>
                <a:off x="3160" y="2570"/>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sp>
          <p:nvSpPr>
            <p:cNvPr id="103" name="Rectangle 1109">
              <a:extLst>
                <a:ext uri="{FF2B5EF4-FFF2-40B4-BE49-F238E27FC236}">
                  <a16:creationId xmlns:a16="http://schemas.microsoft.com/office/drawing/2014/main" id="{6892E27D-8D79-C133-A5E5-B508E6A37C77}"/>
                </a:ext>
              </a:extLst>
            </p:cNvPr>
            <p:cNvSpPr>
              <a:spLocks noChangeArrowheads="1"/>
            </p:cNvSpPr>
            <p:nvPr/>
          </p:nvSpPr>
          <p:spPr bwMode="auto">
            <a:xfrm>
              <a:off x="4977097" y="4029214"/>
              <a:ext cx="328616"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dirty="0">
                  <a:solidFill>
                    <a:srgbClr val="000000"/>
                  </a:solidFill>
                  <a:latin typeface="Arial" panose="020B0604020202020204" pitchFamily="34" charset="0"/>
                  <a:ea typeface="DFKaiShu-GB5"/>
                  <a:cs typeface="Arial" pitchFamily="34" charset="0"/>
                </a:rPr>
                <a:t>Vietnam</a:t>
              </a:r>
              <a:endParaRPr lang="en-US" altLang="en-US" sz="700" b="0" kern="0" dirty="0">
                <a:solidFill>
                  <a:srgbClr val="000000"/>
                </a:solidFill>
                <a:latin typeface="Arial" panose="020B0604020202020204" pitchFamily="34" charset="0"/>
                <a:ea typeface="DFKaiShu-GB5"/>
                <a:cs typeface="Arial" pitchFamily="34" charset="0"/>
              </a:endParaRPr>
            </a:p>
          </p:txBody>
        </p:sp>
        <p:grpSp>
          <p:nvGrpSpPr>
            <p:cNvPr id="104" name="Group 1112">
              <a:extLst>
                <a:ext uri="{FF2B5EF4-FFF2-40B4-BE49-F238E27FC236}">
                  <a16:creationId xmlns:a16="http://schemas.microsoft.com/office/drawing/2014/main" id="{DF1D35F1-7C4A-4F7B-E8DA-689246445365}"/>
                </a:ext>
              </a:extLst>
            </p:cNvPr>
            <p:cNvGrpSpPr>
              <a:grpSpLocks/>
            </p:cNvGrpSpPr>
            <p:nvPr/>
          </p:nvGrpSpPr>
          <p:grpSpPr bwMode="auto">
            <a:xfrm>
              <a:off x="4846809" y="4322238"/>
              <a:ext cx="93836" cy="96021"/>
              <a:chOff x="2992" y="2625"/>
              <a:chExt cx="31" cy="33"/>
            </a:xfrm>
          </p:grpSpPr>
          <p:sp>
            <p:nvSpPr>
              <p:cNvPr id="250" name="Oval 1110">
                <a:extLst>
                  <a:ext uri="{FF2B5EF4-FFF2-40B4-BE49-F238E27FC236}">
                    <a16:creationId xmlns:a16="http://schemas.microsoft.com/office/drawing/2014/main" id="{5FBE6075-9340-CA50-412A-342C4386B80F}"/>
                  </a:ext>
                </a:extLst>
              </p:cNvPr>
              <p:cNvSpPr>
                <a:spLocks noChangeArrowheads="1"/>
              </p:cNvSpPr>
              <p:nvPr/>
            </p:nvSpPr>
            <p:spPr bwMode="auto">
              <a:xfrm>
                <a:off x="2992" y="2625"/>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51" name="Oval 1111">
                <a:extLst>
                  <a:ext uri="{FF2B5EF4-FFF2-40B4-BE49-F238E27FC236}">
                    <a16:creationId xmlns:a16="http://schemas.microsoft.com/office/drawing/2014/main" id="{CC2C0B43-8D17-6D7F-7DEB-FB6DA23E0D49}"/>
                  </a:ext>
                </a:extLst>
              </p:cNvPr>
              <p:cNvSpPr>
                <a:spLocks noChangeArrowheads="1"/>
              </p:cNvSpPr>
              <p:nvPr/>
            </p:nvSpPr>
            <p:spPr bwMode="auto">
              <a:xfrm>
                <a:off x="2992" y="2625"/>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grpSp>
          <p:nvGrpSpPr>
            <p:cNvPr id="105" name="Group 1116">
              <a:extLst>
                <a:ext uri="{FF2B5EF4-FFF2-40B4-BE49-F238E27FC236}">
                  <a16:creationId xmlns:a16="http://schemas.microsoft.com/office/drawing/2014/main" id="{B1170BA5-3EA2-004C-56C2-7ED40EC42710}"/>
                </a:ext>
              </a:extLst>
            </p:cNvPr>
            <p:cNvGrpSpPr>
              <a:grpSpLocks/>
            </p:cNvGrpSpPr>
            <p:nvPr/>
          </p:nvGrpSpPr>
          <p:grpSpPr bwMode="auto">
            <a:xfrm>
              <a:off x="5710285" y="4457219"/>
              <a:ext cx="93836" cy="96021"/>
              <a:chOff x="3450" y="2683"/>
              <a:chExt cx="31" cy="33"/>
            </a:xfrm>
          </p:grpSpPr>
          <p:sp>
            <p:nvSpPr>
              <p:cNvPr id="248" name="Oval 1114">
                <a:extLst>
                  <a:ext uri="{FF2B5EF4-FFF2-40B4-BE49-F238E27FC236}">
                    <a16:creationId xmlns:a16="http://schemas.microsoft.com/office/drawing/2014/main" id="{7FD065FF-D84E-94F1-3AB5-3C9DB06C4416}"/>
                  </a:ext>
                </a:extLst>
              </p:cNvPr>
              <p:cNvSpPr>
                <a:spLocks noChangeArrowheads="1"/>
              </p:cNvSpPr>
              <p:nvPr/>
            </p:nvSpPr>
            <p:spPr bwMode="auto">
              <a:xfrm>
                <a:off x="3450" y="2683"/>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49" name="Oval 1115">
                <a:extLst>
                  <a:ext uri="{FF2B5EF4-FFF2-40B4-BE49-F238E27FC236}">
                    <a16:creationId xmlns:a16="http://schemas.microsoft.com/office/drawing/2014/main" id="{C60262E5-58F3-9250-5E85-75011B05C62B}"/>
                  </a:ext>
                </a:extLst>
              </p:cNvPr>
              <p:cNvSpPr>
                <a:spLocks noChangeArrowheads="1"/>
              </p:cNvSpPr>
              <p:nvPr/>
            </p:nvSpPr>
            <p:spPr bwMode="auto">
              <a:xfrm>
                <a:off x="3450" y="2683"/>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sp>
          <p:nvSpPr>
            <p:cNvPr id="106" name="Rectangle 1057">
              <a:extLst>
                <a:ext uri="{FF2B5EF4-FFF2-40B4-BE49-F238E27FC236}">
                  <a16:creationId xmlns:a16="http://schemas.microsoft.com/office/drawing/2014/main" id="{65B685E4-D703-A14E-5890-E2727175B784}"/>
                </a:ext>
              </a:extLst>
            </p:cNvPr>
            <p:cNvSpPr>
              <a:spLocks noChangeArrowheads="1"/>
            </p:cNvSpPr>
            <p:nvPr/>
          </p:nvSpPr>
          <p:spPr bwMode="auto">
            <a:xfrm>
              <a:off x="3239909" y="4124134"/>
              <a:ext cx="468077"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Middle East</a:t>
              </a:r>
              <a:endParaRPr lang="en-US" altLang="en-US" sz="700" b="0" kern="0">
                <a:solidFill>
                  <a:srgbClr val="000000"/>
                </a:solidFill>
                <a:latin typeface="Arial" panose="020B0604020202020204" pitchFamily="34" charset="0"/>
                <a:ea typeface="DFKaiShu-GB5"/>
                <a:cs typeface="Arial" pitchFamily="34" charset="0"/>
              </a:endParaRPr>
            </a:p>
          </p:txBody>
        </p:sp>
        <p:sp>
          <p:nvSpPr>
            <p:cNvPr id="107" name="Rectangle 1113">
              <a:extLst>
                <a:ext uri="{FF2B5EF4-FFF2-40B4-BE49-F238E27FC236}">
                  <a16:creationId xmlns:a16="http://schemas.microsoft.com/office/drawing/2014/main" id="{8BEA7D0B-F293-AED2-BAF2-7CF5E31FD93F}"/>
                </a:ext>
              </a:extLst>
            </p:cNvPr>
            <p:cNvSpPr>
              <a:spLocks noChangeArrowheads="1"/>
            </p:cNvSpPr>
            <p:nvPr/>
          </p:nvSpPr>
          <p:spPr bwMode="auto">
            <a:xfrm>
              <a:off x="4473467" y="4320615"/>
              <a:ext cx="375103"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Myanmar</a:t>
              </a:r>
              <a:endParaRPr lang="en-US" altLang="en-US" sz="700" b="0" kern="0">
                <a:solidFill>
                  <a:srgbClr val="000000"/>
                </a:solidFill>
                <a:latin typeface="Arial" panose="020B0604020202020204" pitchFamily="34" charset="0"/>
                <a:ea typeface="DFKaiShu-GB5"/>
                <a:cs typeface="Arial" pitchFamily="34" charset="0"/>
              </a:endParaRPr>
            </a:p>
          </p:txBody>
        </p:sp>
        <p:sp>
          <p:nvSpPr>
            <p:cNvPr id="108" name="Rectangle 245">
              <a:extLst>
                <a:ext uri="{FF2B5EF4-FFF2-40B4-BE49-F238E27FC236}">
                  <a16:creationId xmlns:a16="http://schemas.microsoft.com/office/drawing/2014/main" id="{C812EF60-04EB-D8F4-FCCC-7AAC41CCBED6}"/>
                </a:ext>
              </a:extLst>
            </p:cNvPr>
            <p:cNvSpPr>
              <a:spLocks noChangeArrowheads="1"/>
            </p:cNvSpPr>
            <p:nvPr/>
          </p:nvSpPr>
          <p:spPr bwMode="auto">
            <a:xfrm>
              <a:off x="5244300" y="4450376"/>
              <a:ext cx="341440"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Thailand</a:t>
              </a:r>
              <a:endParaRPr lang="en-US" altLang="en-US" sz="700" b="0" kern="0">
                <a:solidFill>
                  <a:srgbClr val="000000"/>
                </a:solidFill>
                <a:latin typeface="Arial" panose="020B0604020202020204" pitchFamily="34" charset="0"/>
                <a:ea typeface="DFKaiShu-GB5"/>
                <a:cs typeface="Arial" pitchFamily="34" charset="0"/>
              </a:endParaRPr>
            </a:p>
          </p:txBody>
        </p:sp>
        <p:sp>
          <p:nvSpPr>
            <p:cNvPr id="109" name="Rectangle 245">
              <a:extLst>
                <a:ext uri="{FF2B5EF4-FFF2-40B4-BE49-F238E27FC236}">
                  <a16:creationId xmlns:a16="http://schemas.microsoft.com/office/drawing/2014/main" id="{89EAB10C-89D9-CD38-CBAC-1EBEE5F30C73}"/>
                </a:ext>
              </a:extLst>
            </p:cNvPr>
            <p:cNvSpPr>
              <a:spLocks noChangeArrowheads="1"/>
            </p:cNvSpPr>
            <p:nvPr/>
          </p:nvSpPr>
          <p:spPr bwMode="auto">
            <a:xfrm>
              <a:off x="4620191" y="4685469"/>
              <a:ext cx="352661"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Malaysia</a:t>
              </a:r>
              <a:endParaRPr lang="en-US" altLang="en-US" sz="700" b="0" kern="0">
                <a:solidFill>
                  <a:srgbClr val="000000"/>
                </a:solidFill>
                <a:latin typeface="Arial" panose="020B0604020202020204" pitchFamily="34" charset="0"/>
                <a:ea typeface="DFKaiShu-GB5"/>
                <a:cs typeface="Arial" pitchFamily="34" charset="0"/>
              </a:endParaRPr>
            </a:p>
          </p:txBody>
        </p:sp>
        <p:sp>
          <p:nvSpPr>
            <p:cNvPr id="110" name="Rectangle 245">
              <a:extLst>
                <a:ext uri="{FF2B5EF4-FFF2-40B4-BE49-F238E27FC236}">
                  <a16:creationId xmlns:a16="http://schemas.microsoft.com/office/drawing/2014/main" id="{21C17F53-F77B-A9B0-43A9-F0CC4252726C}"/>
                </a:ext>
              </a:extLst>
            </p:cNvPr>
            <p:cNvSpPr>
              <a:spLocks noChangeArrowheads="1"/>
            </p:cNvSpPr>
            <p:nvPr/>
          </p:nvSpPr>
          <p:spPr bwMode="auto">
            <a:xfrm>
              <a:off x="5391762" y="4789632"/>
              <a:ext cx="525785" cy="138499"/>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900" b="0" kern="0">
                  <a:solidFill>
                    <a:srgbClr val="000000"/>
                  </a:solidFill>
                  <a:latin typeface="Arial" panose="020B0604020202020204" pitchFamily="34" charset="0"/>
                  <a:ea typeface="DFKaiShu-GB5"/>
                  <a:cs typeface="Arial" pitchFamily="34" charset="0"/>
                </a:rPr>
                <a:t>Singapore</a:t>
              </a:r>
              <a:endParaRPr lang="en-US" altLang="en-US" sz="900" b="0" kern="0">
                <a:solidFill>
                  <a:srgbClr val="000000"/>
                </a:solidFill>
                <a:latin typeface="Arial" panose="020B0604020202020204" pitchFamily="34" charset="0"/>
                <a:ea typeface="DFKaiShu-GB5"/>
                <a:cs typeface="Arial" pitchFamily="34" charset="0"/>
              </a:endParaRPr>
            </a:p>
          </p:txBody>
        </p:sp>
        <p:sp>
          <p:nvSpPr>
            <p:cNvPr id="111" name="Rectangle 245">
              <a:extLst>
                <a:ext uri="{FF2B5EF4-FFF2-40B4-BE49-F238E27FC236}">
                  <a16:creationId xmlns:a16="http://schemas.microsoft.com/office/drawing/2014/main" id="{6134A78F-CAE6-4EB8-CCB0-17ECAA586BF4}"/>
                </a:ext>
              </a:extLst>
            </p:cNvPr>
            <p:cNvSpPr>
              <a:spLocks noChangeArrowheads="1"/>
            </p:cNvSpPr>
            <p:nvPr/>
          </p:nvSpPr>
          <p:spPr bwMode="auto">
            <a:xfrm>
              <a:off x="4861374" y="5142910"/>
              <a:ext cx="387927"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Indonesia</a:t>
              </a:r>
              <a:endParaRPr lang="en-US" altLang="en-US" sz="700" b="0" kern="0">
                <a:solidFill>
                  <a:srgbClr val="000000"/>
                </a:solidFill>
                <a:latin typeface="Arial" panose="020B0604020202020204" pitchFamily="34" charset="0"/>
                <a:ea typeface="DFKaiShu-GB5"/>
                <a:cs typeface="Arial" pitchFamily="34" charset="0"/>
              </a:endParaRPr>
            </a:p>
          </p:txBody>
        </p:sp>
        <p:sp>
          <p:nvSpPr>
            <p:cNvPr id="112" name="Rectangle 245">
              <a:extLst>
                <a:ext uri="{FF2B5EF4-FFF2-40B4-BE49-F238E27FC236}">
                  <a16:creationId xmlns:a16="http://schemas.microsoft.com/office/drawing/2014/main" id="{F02CDCE1-AFE6-88D5-9C34-77BFC124BBFA}"/>
                </a:ext>
              </a:extLst>
            </p:cNvPr>
            <p:cNvSpPr>
              <a:spLocks noChangeArrowheads="1"/>
            </p:cNvSpPr>
            <p:nvPr/>
          </p:nvSpPr>
          <p:spPr bwMode="auto">
            <a:xfrm>
              <a:off x="5842261" y="4456802"/>
              <a:ext cx="384721"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Philippine</a:t>
              </a:r>
              <a:endParaRPr lang="en-US" altLang="en-US" sz="700" b="0" kern="0">
                <a:solidFill>
                  <a:srgbClr val="000000"/>
                </a:solidFill>
                <a:latin typeface="Arial" panose="020B0604020202020204" pitchFamily="34" charset="0"/>
                <a:ea typeface="DFKaiShu-GB5"/>
                <a:cs typeface="Arial" pitchFamily="34" charset="0"/>
              </a:endParaRPr>
            </a:p>
          </p:txBody>
        </p:sp>
        <p:grpSp>
          <p:nvGrpSpPr>
            <p:cNvPr id="113" name="Group 1080">
              <a:extLst>
                <a:ext uri="{FF2B5EF4-FFF2-40B4-BE49-F238E27FC236}">
                  <a16:creationId xmlns:a16="http://schemas.microsoft.com/office/drawing/2014/main" id="{58837325-B1A6-919E-1FBD-3E266D3B11E4}"/>
                </a:ext>
              </a:extLst>
            </p:cNvPr>
            <p:cNvGrpSpPr>
              <a:grpSpLocks/>
            </p:cNvGrpSpPr>
            <p:nvPr/>
          </p:nvGrpSpPr>
          <p:grpSpPr bwMode="auto">
            <a:xfrm>
              <a:off x="5467173" y="4096605"/>
              <a:ext cx="90811" cy="96021"/>
              <a:chOff x="3299" y="2527"/>
              <a:chExt cx="30" cy="33"/>
            </a:xfrm>
          </p:grpSpPr>
          <p:sp>
            <p:nvSpPr>
              <p:cNvPr id="246" name="Oval 1078">
                <a:extLst>
                  <a:ext uri="{FF2B5EF4-FFF2-40B4-BE49-F238E27FC236}">
                    <a16:creationId xmlns:a16="http://schemas.microsoft.com/office/drawing/2014/main" id="{CC3636A5-E5FE-1F52-6295-99D54683D8B0}"/>
                  </a:ext>
                </a:extLst>
              </p:cNvPr>
              <p:cNvSpPr>
                <a:spLocks noChangeArrowheads="1"/>
              </p:cNvSpPr>
              <p:nvPr/>
            </p:nvSpPr>
            <p:spPr bwMode="auto">
              <a:xfrm>
                <a:off x="3299" y="2527"/>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47" name="Oval 1079">
                <a:extLst>
                  <a:ext uri="{FF2B5EF4-FFF2-40B4-BE49-F238E27FC236}">
                    <a16:creationId xmlns:a16="http://schemas.microsoft.com/office/drawing/2014/main" id="{B618DFD2-14D3-524A-20D6-37E0DCB81AEC}"/>
                  </a:ext>
                </a:extLst>
              </p:cNvPr>
              <p:cNvSpPr>
                <a:spLocks noChangeArrowheads="1"/>
              </p:cNvSpPr>
              <p:nvPr/>
            </p:nvSpPr>
            <p:spPr bwMode="auto">
              <a:xfrm>
                <a:off x="3299" y="2527"/>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sp>
          <p:nvSpPr>
            <p:cNvPr id="114" name="Rectangle 1095">
              <a:extLst>
                <a:ext uri="{FF2B5EF4-FFF2-40B4-BE49-F238E27FC236}">
                  <a16:creationId xmlns:a16="http://schemas.microsoft.com/office/drawing/2014/main" id="{53FA1618-F430-BE62-6073-93A79F80D83A}"/>
                </a:ext>
              </a:extLst>
            </p:cNvPr>
            <p:cNvSpPr>
              <a:spLocks noChangeArrowheads="1"/>
            </p:cNvSpPr>
            <p:nvPr/>
          </p:nvSpPr>
          <p:spPr bwMode="auto">
            <a:xfrm>
              <a:off x="5362425" y="3972316"/>
              <a:ext cx="447238"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Hong Kong</a:t>
              </a:r>
              <a:endParaRPr lang="en-US" altLang="en-US" sz="700" b="0" kern="0">
                <a:solidFill>
                  <a:srgbClr val="000000"/>
                </a:solidFill>
                <a:latin typeface="Arial" panose="020B0604020202020204" pitchFamily="34" charset="0"/>
                <a:ea typeface="DFKaiShu-GB5"/>
                <a:cs typeface="Arial" pitchFamily="34" charset="0"/>
              </a:endParaRPr>
            </a:p>
          </p:txBody>
        </p:sp>
        <p:grpSp>
          <p:nvGrpSpPr>
            <p:cNvPr id="115" name="Group 1080">
              <a:extLst>
                <a:ext uri="{FF2B5EF4-FFF2-40B4-BE49-F238E27FC236}">
                  <a16:creationId xmlns:a16="http://schemas.microsoft.com/office/drawing/2014/main" id="{EF1FB303-CB27-9E61-22A1-68B6CAA4FF2C}"/>
                </a:ext>
              </a:extLst>
            </p:cNvPr>
            <p:cNvGrpSpPr>
              <a:grpSpLocks/>
            </p:cNvGrpSpPr>
            <p:nvPr/>
          </p:nvGrpSpPr>
          <p:grpSpPr bwMode="auto">
            <a:xfrm>
              <a:off x="5324656" y="4161073"/>
              <a:ext cx="90811" cy="96021"/>
              <a:chOff x="3299" y="2527"/>
              <a:chExt cx="30" cy="33"/>
            </a:xfrm>
          </p:grpSpPr>
          <p:sp>
            <p:nvSpPr>
              <p:cNvPr id="244" name="Oval 1078">
                <a:extLst>
                  <a:ext uri="{FF2B5EF4-FFF2-40B4-BE49-F238E27FC236}">
                    <a16:creationId xmlns:a16="http://schemas.microsoft.com/office/drawing/2014/main" id="{BFE49DD3-CF7C-17C9-A6CA-61B503AF31FF}"/>
                  </a:ext>
                </a:extLst>
              </p:cNvPr>
              <p:cNvSpPr>
                <a:spLocks noChangeArrowheads="1"/>
              </p:cNvSpPr>
              <p:nvPr/>
            </p:nvSpPr>
            <p:spPr bwMode="auto">
              <a:xfrm>
                <a:off x="3299" y="2527"/>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45" name="Oval 1079">
                <a:extLst>
                  <a:ext uri="{FF2B5EF4-FFF2-40B4-BE49-F238E27FC236}">
                    <a16:creationId xmlns:a16="http://schemas.microsoft.com/office/drawing/2014/main" id="{19EA1613-850D-2AA1-18DB-A54ECB5AFBCD}"/>
                  </a:ext>
                </a:extLst>
              </p:cNvPr>
              <p:cNvSpPr>
                <a:spLocks noChangeArrowheads="1"/>
              </p:cNvSpPr>
              <p:nvPr/>
            </p:nvSpPr>
            <p:spPr bwMode="auto">
              <a:xfrm>
                <a:off x="3299" y="2527"/>
                <a:ext cx="30"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sp>
          <p:nvSpPr>
            <p:cNvPr id="116" name="Rectangle 1095">
              <a:extLst>
                <a:ext uri="{FF2B5EF4-FFF2-40B4-BE49-F238E27FC236}">
                  <a16:creationId xmlns:a16="http://schemas.microsoft.com/office/drawing/2014/main" id="{CC925715-F38F-D2BD-3E9E-9EE9F0FF71E7}"/>
                </a:ext>
              </a:extLst>
            </p:cNvPr>
            <p:cNvSpPr>
              <a:spLocks noChangeArrowheads="1"/>
            </p:cNvSpPr>
            <p:nvPr/>
          </p:nvSpPr>
          <p:spPr bwMode="auto">
            <a:xfrm>
              <a:off x="5309979" y="4273756"/>
              <a:ext cx="269304"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Macau</a:t>
              </a:r>
              <a:endParaRPr lang="en-US" altLang="en-US" sz="700" b="0" kern="0">
                <a:solidFill>
                  <a:srgbClr val="000000"/>
                </a:solidFill>
                <a:latin typeface="Arial" panose="020B0604020202020204" pitchFamily="34" charset="0"/>
                <a:ea typeface="DFKaiShu-GB5"/>
                <a:cs typeface="Arial" pitchFamily="34" charset="0"/>
              </a:endParaRPr>
            </a:p>
          </p:txBody>
        </p:sp>
        <p:sp>
          <p:nvSpPr>
            <p:cNvPr id="118" name="Oval 1054">
              <a:extLst>
                <a:ext uri="{FF2B5EF4-FFF2-40B4-BE49-F238E27FC236}">
                  <a16:creationId xmlns:a16="http://schemas.microsoft.com/office/drawing/2014/main" id="{DDEEFC82-B899-7CD2-1F67-0DA944C651E1}"/>
                </a:ext>
              </a:extLst>
            </p:cNvPr>
            <p:cNvSpPr>
              <a:spLocks noChangeArrowheads="1"/>
            </p:cNvSpPr>
            <p:nvPr/>
          </p:nvSpPr>
          <p:spPr bwMode="auto">
            <a:xfrm>
              <a:off x="3691902" y="4126823"/>
              <a:ext cx="90809" cy="96021"/>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pic>
          <p:nvPicPr>
            <p:cNvPr id="119" name="Picture 9">
              <a:extLst>
                <a:ext uri="{FF2B5EF4-FFF2-40B4-BE49-F238E27FC236}">
                  <a16:creationId xmlns:a16="http://schemas.microsoft.com/office/drawing/2014/main" id="{6D945E20-D603-9F30-4864-358912531B4F}"/>
                </a:ext>
              </a:extLst>
            </p:cNvPr>
            <p:cNvPicPr preferRelativeResize="0">
              <a:picLocks noChangeAspect="1" noChangeArrowheads="1"/>
            </p:cNvPicPr>
            <p:nvPr/>
          </p:nvPicPr>
          <p:blipFill>
            <a:blip r:embed="rId3" cstate="print"/>
            <a:srcRect r="69825"/>
            <a:stretch>
              <a:fillRect/>
            </a:stretch>
          </p:blipFill>
          <p:spPr bwMode="auto">
            <a:xfrm>
              <a:off x="5133898" y="4742972"/>
              <a:ext cx="245251" cy="227774"/>
            </a:xfrm>
            <a:prstGeom prst="rect">
              <a:avLst/>
            </a:prstGeom>
            <a:noFill/>
            <a:ln w="9525">
              <a:noFill/>
              <a:miter lim="800000"/>
              <a:headEnd/>
              <a:tailEnd/>
            </a:ln>
          </p:spPr>
        </p:pic>
        <p:sp>
          <p:nvSpPr>
            <p:cNvPr id="127" name="Rectangle 1060">
              <a:extLst>
                <a:ext uri="{FF2B5EF4-FFF2-40B4-BE49-F238E27FC236}">
                  <a16:creationId xmlns:a16="http://schemas.microsoft.com/office/drawing/2014/main" id="{433FD85D-C2C1-609F-0775-7CC0B64A0B99}"/>
                </a:ext>
              </a:extLst>
            </p:cNvPr>
            <p:cNvSpPr>
              <a:spLocks noChangeArrowheads="1"/>
            </p:cNvSpPr>
            <p:nvPr/>
          </p:nvSpPr>
          <p:spPr bwMode="auto">
            <a:xfrm>
              <a:off x="3227362" y="3321278"/>
              <a:ext cx="288541"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CN" sz="700" b="0" kern="0">
                  <a:solidFill>
                    <a:srgbClr val="000000"/>
                  </a:solidFill>
                  <a:latin typeface="Arial" panose="020B0604020202020204" pitchFamily="34" charset="0"/>
                  <a:ea typeface="DFKaiShu-GB5"/>
                  <a:cs typeface="Arial" pitchFamily="34" charset="0"/>
                </a:rPr>
                <a:t>Europe</a:t>
              </a:r>
              <a:endParaRPr lang="en-US" altLang="en-US" sz="700" b="0" kern="0">
                <a:solidFill>
                  <a:srgbClr val="000000"/>
                </a:solidFill>
                <a:latin typeface="Arial" panose="020B0604020202020204" pitchFamily="34" charset="0"/>
                <a:ea typeface="DFKaiShu-GB5"/>
                <a:cs typeface="Arial" pitchFamily="34" charset="0"/>
              </a:endParaRPr>
            </a:p>
          </p:txBody>
        </p:sp>
        <p:sp>
          <p:nvSpPr>
            <p:cNvPr id="128" name="Oval 1088">
              <a:extLst>
                <a:ext uri="{FF2B5EF4-FFF2-40B4-BE49-F238E27FC236}">
                  <a16:creationId xmlns:a16="http://schemas.microsoft.com/office/drawing/2014/main" id="{7E5D6993-BFFB-480F-8E2F-0921A33367BE}"/>
                </a:ext>
              </a:extLst>
            </p:cNvPr>
            <p:cNvSpPr>
              <a:spLocks noChangeArrowheads="1"/>
            </p:cNvSpPr>
            <p:nvPr/>
          </p:nvSpPr>
          <p:spPr bwMode="auto">
            <a:xfrm>
              <a:off x="3287527" y="3223313"/>
              <a:ext cx="93836" cy="96021"/>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129" name="Rectangle 1060">
              <a:extLst>
                <a:ext uri="{FF2B5EF4-FFF2-40B4-BE49-F238E27FC236}">
                  <a16:creationId xmlns:a16="http://schemas.microsoft.com/office/drawing/2014/main" id="{0C584BFB-DEC2-D09A-1D91-CA556045B208}"/>
                </a:ext>
              </a:extLst>
            </p:cNvPr>
            <p:cNvSpPr>
              <a:spLocks noChangeArrowheads="1"/>
            </p:cNvSpPr>
            <p:nvPr/>
          </p:nvSpPr>
          <p:spPr bwMode="auto">
            <a:xfrm>
              <a:off x="2926033" y="3512282"/>
              <a:ext cx="182742"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CN" sz="700" b="0" kern="0">
                  <a:solidFill>
                    <a:srgbClr val="000000"/>
                  </a:solidFill>
                  <a:latin typeface="Arial" panose="020B0604020202020204" pitchFamily="34" charset="0"/>
                  <a:ea typeface="DFKaiShu-GB5"/>
                  <a:cs typeface="Arial" pitchFamily="34" charset="0"/>
                </a:rPr>
                <a:t>USA</a:t>
              </a:r>
              <a:endParaRPr lang="en-US" altLang="en-US" sz="700" b="0" kern="0">
                <a:solidFill>
                  <a:srgbClr val="000000"/>
                </a:solidFill>
                <a:latin typeface="Arial" panose="020B0604020202020204" pitchFamily="34" charset="0"/>
                <a:ea typeface="DFKaiShu-GB5"/>
                <a:cs typeface="Arial" pitchFamily="34" charset="0"/>
              </a:endParaRPr>
            </a:p>
          </p:txBody>
        </p:sp>
        <p:sp>
          <p:nvSpPr>
            <p:cNvPr id="147" name="Oval 1088">
              <a:extLst>
                <a:ext uri="{FF2B5EF4-FFF2-40B4-BE49-F238E27FC236}">
                  <a16:creationId xmlns:a16="http://schemas.microsoft.com/office/drawing/2014/main" id="{52FBFF47-25D2-DE9A-D47F-5FBC9C1B699B}"/>
                </a:ext>
              </a:extLst>
            </p:cNvPr>
            <p:cNvSpPr>
              <a:spLocks noChangeArrowheads="1"/>
            </p:cNvSpPr>
            <p:nvPr/>
          </p:nvSpPr>
          <p:spPr bwMode="auto">
            <a:xfrm>
              <a:off x="2822410" y="3435095"/>
              <a:ext cx="93836" cy="96021"/>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en-US" sz="2000" b="0" kern="0">
                <a:solidFill>
                  <a:sysClr val="windowText" lastClr="000000"/>
                </a:solidFill>
                <a:latin typeface="Arial" panose="020B0604020202020204" pitchFamily="34" charset="0"/>
                <a:ea typeface="DFKaiShu-GB5"/>
                <a:cs typeface="+mn-cs"/>
              </a:endParaRPr>
            </a:p>
          </p:txBody>
        </p:sp>
        <p:sp>
          <p:nvSpPr>
            <p:cNvPr id="148" name="Rectangle 1059">
              <a:extLst>
                <a:ext uri="{FF2B5EF4-FFF2-40B4-BE49-F238E27FC236}">
                  <a16:creationId xmlns:a16="http://schemas.microsoft.com/office/drawing/2014/main" id="{2795E317-F45D-C704-328B-47A4AAC15896}"/>
                </a:ext>
              </a:extLst>
            </p:cNvPr>
            <p:cNvSpPr>
              <a:spLocks noChangeArrowheads="1"/>
            </p:cNvSpPr>
            <p:nvPr/>
          </p:nvSpPr>
          <p:spPr bwMode="auto">
            <a:xfrm>
              <a:off x="5721755" y="5308531"/>
              <a:ext cx="347852"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en-US" sz="700" b="0" kern="0">
                  <a:solidFill>
                    <a:srgbClr val="000000"/>
                  </a:solidFill>
                  <a:latin typeface="Arial" panose="020B0604020202020204" pitchFamily="34" charset="0"/>
                  <a:ea typeface="DFKaiShu-GB5"/>
                  <a:cs typeface="Arial" pitchFamily="34" charset="0"/>
                </a:rPr>
                <a:t>Australia</a:t>
              </a:r>
            </a:p>
          </p:txBody>
        </p:sp>
        <p:grpSp>
          <p:nvGrpSpPr>
            <p:cNvPr id="149" name="Group 1116">
              <a:extLst>
                <a:ext uri="{FF2B5EF4-FFF2-40B4-BE49-F238E27FC236}">
                  <a16:creationId xmlns:a16="http://schemas.microsoft.com/office/drawing/2014/main" id="{EAC56FC1-B918-1B9B-643F-38113E6EA47C}"/>
                </a:ext>
              </a:extLst>
            </p:cNvPr>
            <p:cNvGrpSpPr>
              <a:grpSpLocks/>
            </p:cNvGrpSpPr>
            <p:nvPr/>
          </p:nvGrpSpPr>
          <p:grpSpPr bwMode="auto">
            <a:xfrm>
              <a:off x="6085727" y="5319968"/>
              <a:ext cx="93836" cy="96021"/>
              <a:chOff x="3450" y="2683"/>
              <a:chExt cx="31" cy="33"/>
            </a:xfrm>
          </p:grpSpPr>
          <p:sp>
            <p:nvSpPr>
              <p:cNvPr id="242" name="Oval 1114">
                <a:extLst>
                  <a:ext uri="{FF2B5EF4-FFF2-40B4-BE49-F238E27FC236}">
                    <a16:creationId xmlns:a16="http://schemas.microsoft.com/office/drawing/2014/main" id="{766F47F0-99F4-0103-BB44-73506BD96227}"/>
                  </a:ext>
                </a:extLst>
              </p:cNvPr>
              <p:cNvSpPr>
                <a:spLocks noChangeArrowheads="1"/>
              </p:cNvSpPr>
              <p:nvPr/>
            </p:nvSpPr>
            <p:spPr bwMode="auto">
              <a:xfrm>
                <a:off x="3450" y="2683"/>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43" name="Oval 1115">
                <a:extLst>
                  <a:ext uri="{FF2B5EF4-FFF2-40B4-BE49-F238E27FC236}">
                    <a16:creationId xmlns:a16="http://schemas.microsoft.com/office/drawing/2014/main" id="{44D32C17-2BF2-3A58-05FA-75C97D33E902}"/>
                  </a:ext>
                </a:extLst>
              </p:cNvPr>
              <p:cNvSpPr>
                <a:spLocks noChangeArrowheads="1"/>
              </p:cNvSpPr>
              <p:nvPr/>
            </p:nvSpPr>
            <p:spPr bwMode="auto">
              <a:xfrm>
                <a:off x="3450" y="2683"/>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grpSp>
          <p:nvGrpSpPr>
            <p:cNvPr id="150" name="Group 1086">
              <a:extLst>
                <a:ext uri="{FF2B5EF4-FFF2-40B4-BE49-F238E27FC236}">
                  <a16:creationId xmlns:a16="http://schemas.microsoft.com/office/drawing/2014/main" id="{2FF7C8F0-EF95-B79D-301D-6DF8AACB588C}"/>
                </a:ext>
              </a:extLst>
            </p:cNvPr>
            <p:cNvGrpSpPr>
              <a:grpSpLocks/>
            </p:cNvGrpSpPr>
            <p:nvPr/>
          </p:nvGrpSpPr>
          <p:grpSpPr bwMode="auto">
            <a:xfrm>
              <a:off x="4675760" y="4125874"/>
              <a:ext cx="93836" cy="96021"/>
              <a:chOff x="2725" y="2552"/>
              <a:chExt cx="31" cy="33"/>
            </a:xfrm>
          </p:grpSpPr>
          <p:sp>
            <p:nvSpPr>
              <p:cNvPr id="240" name="Oval 1084">
                <a:extLst>
                  <a:ext uri="{FF2B5EF4-FFF2-40B4-BE49-F238E27FC236}">
                    <a16:creationId xmlns:a16="http://schemas.microsoft.com/office/drawing/2014/main" id="{5A5C126C-C67A-7375-F4C1-348D84ACC9C0}"/>
                  </a:ext>
                </a:extLst>
              </p:cNvPr>
              <p:cNvSpPr>
                <a:spLocks noChangeArrowheads="1"/>
              </p:cNvSpPr>
              <p:nvPr/>
            </p:nvSpPr>
            <p:spPr bwMode="auto">
              <a:xfrm>
                <a:off x="2725" y="2552"/>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sp>
            <p:nvSpPr>
              <p:cNvPr id="241" name="Oval 1085">
                <a:extLst>
                  <a:ext uri="{FF2B5EF4-FFF2-40B4-BE49-F238E27FC236}">
                    <a16:creationId xmlns:a16="http://schemas.microsoft.com/office/drawing/2014/main" id="{E62FC89B-A88A-71EE-D2F7-8013BD4FB08F}"/>
                  </a:ext>
                </a:extLst>
              </p:cNvPr>
              <p:cNvSpPr>
                <a:spLocks noChangeArrowheads="1"/>
              </p:cNvSpPr>
              <p:nvPr/>
            </p:nvSpPr>
            <p:spPr bwMode="auto">
              <a:xfrm>
                <a:off x="2725" y="2552"/>
                <a:ext cx="31" cy="33"/>
              </a:xfrm>
              <a:prstGeom prst="ellipse">
                <a:avLst/>
              </a:prstGeom>
              <a:solidFill>
                <a:schemeClr val="tx2"/>
              </a:solidFill>
              <a:ln w="7938" cap="rnd">
                <a:no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2000" b="0" kern="0">
                  <a:solidFill>
                    <a:sysClr val="windowText" lastClr="000000"/>
                  </a:solidFill>
                  <a:latin typeface="Arial" panose="020B0604020202020204" pitchFamily="34" charset="0"/>
                  <a:ea typeface="DFKaiShu-GB5"/>
                  <a:cs typeface="+mn-cs"/>
                </a:endParaRPr>
              </a:p>
            </p:txBody>
          </p:sp>
        </p:grpSp>
        <p:sp>
          <p:nvSpPr>
            <p:cNvPr id="239" name="Rectangle 1113">
              <a:extLst>
                <a:ext uri="{FF2B5EF4-FFF2-40B4-BE49-F238E27FC236}">
                  <a16:creationId xmlns:a16="http://schemas.microsoft.com/office/drawing/2014/main" id="{45E9F7C2-721A-3B70-0885-B87658601995}"/>
                </a:ext>
              </a:extLst>
            </p:cNvPr>
            <p:cNvSpPr>
              <a:spLocks noChangeArrowheads="1"/>
            </p:cNvSpPr>
            <p:nvPr/>
          </p:nvSpPr>
          <p:spPr bwMode="auto">
            <a:xfrm>
              <a:off x="4456943" y="4003125"/>
              <a:ext cx="471283" cy="10772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auto">
                <a:spcAft>
                  <a:spcPts val="0"/>
                </a:spcAft>
                <a:defRPr/>
              </a:pPr>
              <a:r>
                <a:rPr lang="en-US" altLang="zh-TW" sz="700" b="0" kern="0">
                  <a:solidFill>
                    <a:srgbClr val="000000"/>
                  </a:solidFill>
                  <a:latin typeface="Arial" panose="020B0604020202020204" pitchFamily="34" charset="0"/>
                  <a:ea typeface="DFKaiShu-GB5"/>
                  <a:cs typeface="Arial" pitchFamily="34" charset="0"/>
                </a:rPr>
                <a:t>Bangladesh</a:t>
              </a:r>
              <a:endParaRPr lang="en-US" altLang="en-US" sz="700" b="0" kern="0">
                <a:solidFill>
                  <a:srgbClr val="000000"/>
                </a:solidFill>
                <a:latin typeface="Arial" panose="020B0604020202020204" pitchFamily="34" charset="0"/>
                <a:ea typeface="DFKaiShu-GB5"/>
                <a:cs typeface="Arial" pitchFamily="34" charset="0"/>
              </a:endParaRPr>
            </a:p>
          </p:txBody>
        </p:sp>
      </p:grpSp>
      <p:sp>
        <p:nvSpPr>
          <p:cNvPr id="2" name="Title 1">
            <a:extLst>
              <a:ext uri="{FF2B5EF4-FFF2-40B4-BE49-F238E27FC236}">
                <a16:creationId xmlns:a16="http://schemas.microsoft.com/office/drawing/2014/main" id="{D643DFD8-CE70-475F-991B-BF2AD9377796}"/>
              </a:ext>
            </a:extLst>
          </p:cNvPr>
          <p:cNvSpPr>
            <a:spLocks noGrp="1"/>
          </p:cNvSpPr>
          <p:nvPr>
            <p:ph type="title"/>
          </p:nvPr>
        </p:nvSpPr>
        <p:spPr/>
        <p:txBody>
          <a:bodyPr/>
          <a:lstStyle/>
          <a:p>
            <a:r>
              <a:rPr lang="en-US" altLang="zh-CN" sz="2000" b="1" dirty="0">
                <a:latin typeface="+mn-lt"/>
                <a:ea typeface="+mn-ea"/>
                <a:cs typeface="Arial" panose="020B0604020202020204" pitchFamily="34" charset="0"/>
              </a:rPr>
              <a:t>Unparalleled Asian Presence </a:t>
            </a:r>
            <a:endParaRPr lang="en-US" sz="2000" b="1" dirty="0">
              <a:latin typeface="+mn-lt"/>
              <a:ea typeface="+mn-ea"/>
              <a:cs typeface="Arial" panose="020B0604020202020204" pitchFamily="34" charset="0"/>
            </a:endParaRPr>
          </a:p>
        </p:txBody>
      </p:sp>
      <p:sp>
        <p:nvSpPr>
          <p:cNvPr id="238" name="Text Box 2589"/>
          <p:cNvSpPr txBox="1">
            <a:spLocks noChangeArrowheads="1"/>
          </p:cNvSpPr>
          <p:nvPr/>
        </p:nvSpPr>
        <p:spPr bwMode="gray">
          <a:xfrm>
            <a:off x="723899" y="1093320"/>
            <a:ext cx="8494776" cy="523220"/>
          </a:xfrm>
          <a:prstGeom prst="rect">
            <a:avLst/>
          </a:prstGeom>
          <a:solidFill>
            <a:srgbClr val="FEBFB3"/>
          </a:solidFill>
          <a:ln w="9525" cap="flat" cmpd="sng" algn="ctr">
            <a:noFill/>
            <a:prstDash val="solid"/>
            <a:headEnd/>
            <a:tailEnd/>
          </a:ln>
          <a:effectLst>
            <a:outerShdw blurRad="40000" dist="23000" dir="5400000" rotWithShape="0">
              <a:srgbClr val="000000">
                <a:alpha val="35000"/>
              </a:srgbClr>
            </a:outerShdw>
          </a:effectLst>
        </p:spPr>
        <p:txBody>
          <a:bodyPr wrap="square" tIns="91440" bIns="91440">
            <a:spAutoFit/>
          </a:bodyPr>
          <a:lstStyle>
            <a:defPPr>
              <a:defRPr lang="en-US"/>
            </a:defPPr>
            <a:lvl1pPr marL="209556" indent="-209556" fontAlgn="auto">
              <a:spcBef>
                <a:spcPts val="0"/>
              </a:spcBef>
              <a:spcAft>
                <a:spcPts val="0"/>
              </a:spcAft>
              <a:buClr>
                <a:srgbClr val="BE050A"/>
              </a:buClr>
              <a:buFont typeface="Wingdings 2" panose="05020102010507070707" pitchFamily="18" charset="2"/>
              <a:buChar char="¡"/>
              <a:tabLst>
                <a:tab pos="1266124" algn="l"/>
              </a:tabLst>
              <a:defRPr sz="1100" b="0" kern="0">
                <a:solidFill>
                  <a:sysClr val="windowText" lastClr="000000"/>
                </a:solidFill>
                <a:latin typeface="Arial" panose="020B0604020202020204" pitchFamily="34" charset="0"/>
                <a:ea typeface="DFKaiShu-GB5"/>
              </a:defRPr>
            </a:lvl1pPr>
          </a:lstStyle>
          <a:p>
            <a:r>
              <a:rPr lang="en-US" altLang="zh-CN"/>
              <a:t>Headquartered in Singapore and as one of the largest financial conglomerates in Asia, DBS has an extensive geographical coverage in 19 major markets</a:t>
            </a:r>
          </a:p>
        </p:txBody>
      </p:sp>
      <p:sp>
        <p:nvSpPr>
          <p:cNvPr id="117" name="Rectangle 2599"/>
          <p:cNvSpPr>
            <a:spLocks noChangeArrowheads="1"/>
          </p:cNvSpPr>
          <p:nvPr/>
        </p:nvSpPr>
        <p:spPr bwMode="gray">
          <a:xfrm>
            <a:off x="970825" y="1877992"/>
            <a:ext cx="2892515" cy="1384995"/>
          </a:xfrm>
          <a:prstGeom prst="rect">
            <a:avLst/>
          </a:prstGeom>
          <a:noFill/>
          <a:ln w="12700">
            <a:noFill/>
            <a:prstDash val="dash"/>
            <a:miter lim="800000"/>
            <a:headEnd/>
            <a:tailEnd/>
          </a:ln>
        </p:spPr>
        <p:txBody>
          <a:bodyPr wrap="square" lIns="0" tIns="0" rIns="0" bIns="0">
            <a:spAutoFit/>
          </a:bodyPr>
          <a:lstStyle/>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As the largest bank in Singapore, it holds a leading market share and has an absolute advantage</a:t>
            </a:r>
          </a:p>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In Singapore, it has the widest, highest quality, and closest-knit investor and customer base</a:t>
            </a:r>
          </a:p>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Since 2010, it has consistently been named the best bank in Singapore</a:t>
            </a:r>
          </a:p>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It is a pioneer in Singapore's capital markets, having launched the first real estate investment trust (REIT) in Singapore in 2002, effectively meeting the growing demand for this type of investment in the region</a:t>
            </a:r>
          </a:p>
        </p:txBody>
      </p:sp>
      <p:pic>
        <p:nvPicPr>
          <p:cNvPr id="122" name="Picture 2" descr="http://www.differencebetween.info/sites/default/files/images/2/award.jpg"/>
          <p:cNvPicPr>
            <a:picLocks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23900" y="1694593"/>
            <a:ext cx="209295" cy="285403"/>
          </a:xfrm>
          <a:prstGeom prst="rect">
            <a:avLst/>
          </a:prstGeom>
          <a:noFill/>
        </p:spPr>
      </p:pic>
      <p:sp>
        <p:nvSpPr>
          <p:cNvPr id="235" name="TextBox 234"/>
          <p:cNvSpPr txBox="1"/>
          <p:nvPr/>
        </p:nvSpPr>
        <p:spPr>
          <a:xfrm>
            <a:off x="970826" y="1738767"/>
            <a:ext cx="2580094" cy="138499"/>
          </a:xfrm>
          <a:prstGeom prst="rect">
            <a:avLst/>
          </a:prstGeom>
          <a:noFill/>
        </p:spPr>
        <p:txBody>
          <a:bodyPr wrap="square" lIns="0" tIns="0" rIns="0" bIns="0" rtlCol="0" anchor="ctr" anchorCtr="0">
            <a:spAutoFit/>
          </a:bodyPr>
          <a:lstStyle/>
          <a:p>
            <a:pPr algn="l"/>
            <a:r>
              <a:rPr lang="en-US" altLang="zh-TW" sz="900">
                <a:solidFill>
                  <a:srgbClr val="FF0000"/>
                </a:solidFill>
                <a:cs typeface="Arial" panose="020B0604020202020204" pitchFamily="34" charset="0"/>
              </a:rPr>
              <a:t>The largest bank in Singapore is DBS Bank</a:t>
            </a:r>
          </a:p>
        </p:txBody>
      </p:sp>
      <p:sp>
        <p:nvSpPr>
          <p:cNvPr id="120" name="Rectangle 2595"/>
          <p:cNvSpPr>
            <a:spLocks noChangeArrowheads="1"/>
          </p:cNvSpPr>
          <p:nvPr/>
        </p:nvSpPr>
        <p:spPr bwMode="gray">
          <a:xfrm>
            <a:off x="7003848" y="1918473"/>
            <a:ext cx="2192218" cy="1800493"/>
          </a:xfrm>
          <a:prstGeom prst="rect">
            <a:avLst/>
          </a:prstGeom>
          <a:noFill/>
          <a:ln w="12700" algn="ctr">
            <a:noFill/>
            <a:prstDash val="dash"/>
            <a:miter lim="800000"/>
            <a:headEnd/>
            <a:tailEnd/>
          </a:ln>
        </p:spPr>
        <p:txBody>
          <a:bodyPr wrap="square" lIns="0" tIns="0" rIns="0" bIns="0">
            <a:spAutoFit/>
          </a:bodyPr>
          <a:lstStyle/>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As one of the top 4 foreign banks in China, DBS Bank has branches in Shanghai, Beijing, Tianjin, Guangzhou, Shenzhen, Suzhou, Nanning, Dongguan, Hangzhou, Xi'an, Chongqing and Qingdao</a:t>
            </a:r>
          </a:p>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It has a wide network of customers and investors</a:t>
            </a:r>
          </a:p>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DBS China's products and services are widely recognized, and it has been awarded the titles of Best Foreign Retail Bank and Best Foreign SME Bank</a:t>
            </a:r>
          </a:p>
        </p:txBody>
      </p:sp>
      <p:pic>
        <p:nvPicPr>
          <p:cNvPr id="124" name="Picture 2" descr="http://www.differencebetween.info/sites/default/files/images/2/award.jpg"/>
          <p:cNvPicPr>
            <a:picLocks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755505" y="1739853"/>
            <a:ext cx="209295" cy="285403"/>
          </a:xfrm>
          <a:prstGeom prst="rect">
            <a:avLst/>
          </a:prstGeom>
          <a:noFill/>
        </p:spPr>
      </p:pic>
      <p:sp>
        <p:nvSpPr>
          <p:cNvPr id="236" name="TextBox 235"/>
          <p:cNvSpPr txBox="1"/>
          <p:nvPr/>
        </p:nvSpPr>
        <p:spPr>
          <a:xfrm>
            <a:off x="6996713" y="1760699"/>
            <a:ext cx="2187886" cy="138499"/>
          </a:xfrm>
          <a:prstGeom prst="rect">
            <a:avLst/>
          </a:prstGeom>
          <a:noFill/>
        </p:spPr>
        <p:txBody>
          <a:bodyPr wrap="square" lIns="0" tIns="0" rIns="0" bIns="0" rtlCol="0" anchor="ctr" anchorCtr="0">
            <a:spAutoFit/>
          </a:bodyPr>
          <a:lstStyle/>
          <a:p>
            <a:pPr algn="l"/>
            <a:r>
              <a:rPr lang="en-US" altLang="zh-TW" sz="900">
                <a:solidFill>
                  <a:srgbClr val="FF0000"/>
                </a:solidFill>
                <a:cs typeface="Arial" panose="020B0604020202020204" pitchFamily="34" charset="0"/>
              </a:rPr>
              <a:t>One of the top 4 foreign banks in China</a:t>
            </a:r>
          </a:p>
        </p:txBody>
      </p:sp>
      <p:sp>
        <p:nvSpPr>
          <p:cNvPr id="121" name="Rectangle 2597"/>
          <p:cNvSpPr>
            <a:spLocks noChangeArrowheads="1"/>
          </p:cNvSpPr>
          <p:nvPr/>
        </p:nvSpPr>
        <p:spPr bwMode="gray">
          <a:xfrm>
            <a:off x="4160088" y="1877992"/>
            <a:ext cx="2593899" cy="1246495"/>
          </a:xfrm>
          <a:prstGeom prst="rect">
            <a:avLst/>
          </a:prstGeom>
          <a:noFill/>
          <a:ln w="12700" algn="ctr">
            <a:noFill/>
            <a:prstDash val="dash"/>
            <a:miter lim="800000"/>
            <a:headEnd/>
            <a:tailEnd/>
          </a:ln>
        </p:spPr>
        <p:txBody>
          <a:bodyPr wrap="square" lIns="0" tIns="0" rIns="0" bIns="0">
            <a:spAutoFit/>
          </a:bodyPr>
          <a:lstStyle/>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One of the top 3 largest banks in Hong Kong</a:t>
            </a:r>
          </a:p>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Has leading market share in SME banking business, was named as the Best SME Bank in Hong Kong</a:t>
            </a:r>
          </a:p>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DBS provides one-stop financial solutions for clients</a:t>
            </a:r>
          </a:p>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cs typeface="Arial" panose="020B0604020202020204" pitchFamily="34" charset="0"/>
              </a:rPr>
              <a:t>DBS has a strong corporate customer base, and close relationships with well-known enterprises in Hong Kong</a:t>
            </a:r>
          </a:p>
        </p:txBody>
      </p:sp>
      <p:pic>
        <p:nvPicPr>
          <p:cNvPr id="123" name="Picture 2" descr="http://www.differencebetween.info/sites/default/files/images/2/award.jpg"/>
          <p:cNvPicPr>
            <a:picLocks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888822" y="1694593"/>
            <a:ext cx="209295" cy="285403"/>
          </a:xfrm>
          <a:prstGeom prst="rect">
            <a:avLst/>
          </a:prstGeom>
          <a:noFill/>
        </p:spPr>
      </p:pic>
      <p:sp>
        <p:nvSpPr>
          <p:cNvPr id="237" name="TextBox 236"/>
          <p:cNvSpPr txBox="1"/>
          <p:nvPr/>
        </p:nvSpPr>
        <p:spPr>
          <a:xfrm>
            <a:off x="4160087" y="1738767"/>
            <a:ext cx="2530500" cy="138499"/>
          </a:xfrm>
          <a:prstGeom prst="rect">
            <a:avLst/>
          </a:prstGeom>
          <a:noFill/>
        </p:spPr>
        <p:txBody>
          <a:bodyPr wrap="square" lIns="0" tIns="0" rIns="0" bIns="0" rtlCol="0" anchor="ctr" anchorCtr="0">
            <a:spAutoFit/>
          </a:bodyPr>
          <a:lstStyle/>
          <a:p>
            <a:pPr algn="l"/>
            <a:r>
              <a:rPr lang="en-US" altLang="zh-TW" sz="900">
                <a:solidFill>
                  <a:srgbClr val="FF0000"/>
                </a:solidFill>
                <a:cs typeface="Arial" panose="020B0604020202020204" pitchFamily="34" charset="0"/>
              </a:rPr>
              <a:t>One of the top 3 banks in Hong Kong</a:t>
            </a:r>
          </a:p>
        </p:txBody>
      </p:sp>
      <p:sp>
        <p:nvSpPr>
          <p:cNvPr id="15" name="Rectangle 2597">
            <a:extLst>
              <a:ext uri="{FF2B5EF4-FFF2-40B4-BE49-F238E27FC236}">
                <a16:creationId xmlns:a16="http://schemas.microsoft.com/office/drawing/2014/main" id="{D3DDF876-6463-446A-E6AB-14A23E7D89E0}"/>
              </a:ext>
            </a:extLst>
          </p:cNvPr>
          <p:cNvSpPr>
            <a:spLocks noChangeArrowheads="1"/>
          </p:cNvSpPr>
          <p:nvPr/>
        </p:nvSpPr>
        <p:spPr bwMode="gray">
          <a:xfrm>
            <a:off x="970825" y="3976512"/>
            <a:ext cx="2061935" cy="2077492"/>
          </a:xfrm>
          <a:prstGeom prst="rect">
            <a:avLst/>
          </a:prstGeom>
          <a:noFill/>
          <a:ln w="12700" algn="ctr">
            <a:noFill/>
            <a:prstDash val="dash"/>
            <a:miter lim="800000"/>
            <a:headEnd/>
            <a:tailEnd/>
          </a:ln>
        </p:spPr>
        <p:txBody>
          <a:bodyPr wrap="square" lIns="0" tIns="0" rIns="0" bIns="0">
            <a:spAutoFit/>
          </a:bodyPr>
          <a:lstStyle/>
          <a:p>
            <a:pPr marL="179388" indent="-179388">
              <a:buClr>
                <a:srgbClr val="BE050A"/>
              </a:buClr>
              <a:buSzPct val="100000"/>
              <a:buFont typeface="Wingdings 2" panose="05020102010507070707" pitchFamily="18" charset="2"/>
              <a:buChar char="¡"/>
              <a:tabLst>
                <a:tab pos="285750" algn="l"/>
              </a:tabLst>
              <a:defRPr/>
            </a:pPr>
            <a:r>
              <a:rPr lang="en-US" altLang="zh-CN" sz="900" b="0" kern="0">
                <a:solidFill>
                  <a:srgbClr val="000000"/>
                </a:solidFill>
                <a:cs typeface="Arial" panose="020B0604020202020204" pitchFamily="34" charset="0"/>
              </a:rPr>
              <a:t>In 2023, DBS Bank is the 4th largest investment bank in the Indonesian equity capital markets</a:t>
            </a:r>
          </a:p>
          <a:p>
            <a:pPr marL="179388" indent="-179388">
              <a:buClr>
                <a:srgbClr val="BE050A"/>
              </a:buClr>
              <a:buSzPct val="100000"/>
              <a:buFont typeface="Wingdings 2" panose="05020102010507070707" pitchFamily="18" charset="2"/>
              <a:buChar char="¡"/>
              <a:tabLst>
                <a:tab pos="285750" algn="l"/>
              </a:tabLst>
              <a:defRPr/>
            </a:pPr>
            <a:r>
              <a:rPr lang="en-US" altLang="zh-CN" sz="900" b="0" kern="0">
                <a:solidFill>
                  <a:srgbClr val="000000"/>
                </a:solidFill>
                <a:cs typeface="Arial" panose="020B0604020202020204" pitchFamily="34" charset="0"/>
              </a:rPr>
              <a:t>Since the 1990s, DBS Bank has established a footprint in Indonesia and has been driving its influence in the country through its strategies of developing sustainable financing and a digital ecosystem</a:t>
            </a:r>
          </a:p>
          <a:p>
            <a:pPr marL="179388" indent="-179388">
              <a:buClr>
                <a:srgbClr val="BE050A"/>
              </a:buClr>
              <a:buSzPct val="100000"/>
              <a:buFont typeface="Wingdings 2" panose="05020102010507070707" pitchFamily="18" charset="2"/>
              <a:buChar char="¡"/>
              <a:tabLst>
                <a:tab pos="285750" algn="l"/>
              </a:tabLst>
              <a:defRPr/>
            </a:pPr>
            <a:r>
              <a:rPr lang="en-US" altLang="zh-CN" sz="900" b="0" kern="0">
                <a:solidFill>
                  <a:srgbClr val="000000"/>
                </a:solidFill>
                <a:cs typeface="Arial" panose="020B0604020202020204" pitchFamily="34" charset="0"/>
              </a:rPr>
              <a:t>DBS Bank has been awarded the title of Best Investment Bank in Indonesia by Global Finance in 2023</a:t>
            </a:r>
          </a:p>
          <a:p>
            <a:pPr marL="179388" indent="-179388">
              <a:buClr>
                <a:srgbClr val="BE050A"/>
              </a:buClr>
              <a:buSzPct val="100000"/>
              <a:buFont typeface="Wingdings 2" panose="05020102010507070707" pitchFamily="18" charset="2"/>
              <a:buChar char="¡"/>
              <a:tabLst>
                <a:tab pos="285750" algn="l"/>
              </a:tabLst>
              <a:defRPr/>
            </a:pPr>
            <a:r>
              <a:rPr lang="en-US" altLang="zh-CN" sz="900" b="0" kern="0">
                <a:solidFill>
                  <a:srgbClr val="000000"/>
                </a:solidFill>
                <a:cs typeface="Arial" panose="020B0604020202020204" pitchFamily="34" charset="0"/>
              </a:rPr>
              <a:t>DBS Bank has been ranked #1 in the Indonesia region in Forbes' 2021 list of World's Best Banks</a:t>
            </a:r>
          </a:p>
        </p:txBody>
      </p:sp>
      <p:pic>
        <p:nvPicPr>
          <p:cNvPr id="16" name="Picture 2" descr="http://www.differencebetween.info/sites/default/files/images/2/award.jpg">
            <a:extLst>
              <a:ext uri="{FF2B5EF4-FFF2-40B4-BE49-F238E27FC236}">
                <a16:creationId xmlns:a16="http://schemas.microsoft.com/office/drawing/2014/main" id="{F3F1DE5A-311E-1955-325C-125F16B28EC0}"/>
              </a:ext>
            </a:extLst>
          </p:cNvPr>
          <p:cNvPicPr>
            <a:picLocks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23900" y="3763562"/>
            <a:ext cx="209295" cy="285403"/>
          </a:xfrm>
          <a:prstGeom prst="rect">
            <a:avLst/>
          </a:prstGeom>
          <a:noFill/>
        </p:spPr>
      </p:pic>
      <p:sp>
        <p:nvSpPr>
          <p:cNvPr id="17" name="TextBox 16">
            <a:extLst>
              <a:ext uri="{FF2B5EF4-FFF2-40B4-BE49-F238E27FC236}">
                <a16:creationId xmlns:a16="http://schemas.microsoft.com/office/drawing/2014/main" id="{07D86385-FDD1-898F-3F2F-DD0B71BFE53D}"/>
              </a:ext>
            </a:extLst>
          </p:cNvPr>
          <p:cNvSpPr txBox="1"/>
          <p:nvPr/>
        </p:nvSpPr>
        <p:spPr>
          <a:xfrm>
            <a:off x="970824" y="3787350"/>
            <a:ext cx="2717256" cy="138499"/>
          </a:xfrm>
          <a:prstGeom prst="rect">
            <a:avLst/>
          </a:prstGeom>
          <a:noFill/>
        </p:spPr>
        <p:txBody>
          <a:bodyPr wrap="square" lIns="0" tIns="0" rIns="0" bIns="0" rtlCol="0" anchor="ctr" anchorCtr="0">
            <a:spAutoFit/>
          </a:bodyPr>
          <a:lstStyle/>
          <a:p>
            <a:pPr algn="l"/>
            <a:r>
              <a:rPr lang="en-US" altLang="zh-TW" sz="900">
                <a:solidFill>
                  <a:srgbClr val="FF0000"/>
                </a:solidFill>
                <a:cs typeface="Arial" panose="020B0604020202020204" pitchFamily="34" charset="0"/>
              </a:rPr>
              <a:t>One of the top 4 investment banks in Indonesia</a:t>
            </a:r>
          </a:p>
        </p:txBody>
      </p:sp>
      <p:sp>
        <p:nvSpPr>
          <p:cNvPr id="18" name="Rectangle 2597">
            <a:extLst>
              <a:ext uri="{FF2B5EF4-FFF2-40B4-BE49-F238E27FC236}">
                <a16:creationId xmlns:a16="http://schemas.microsoft.com/office/drawing/2014/main" id="{582F6C99-24A7-A56D-7721-1D11A2BEEEBB}"/>
              </a:ext>
            </a:extLst>
          </p:cNvPr>
          <p:cNvSpPr>
            <a:spLocks noChangeArrowheads="1"/>
          </p:cNvSpPr>
          <p:nvPr/>
        </p:nvSpPr>
        <p:spPr bwMode="gray">
          <a:xfrm>
            <a:off x="3386492" y="5456162"/>
            <a:ext cx="3410547" cy="692497"/>
          </a:xfrm>
          <a:prstGeom prst="rect">
            <a:avLst/>
          </a:prstGeom>
          <a:noFill/>
          <a:ln w="12700" algn="ctr">
            <a:noFill/>
            <a:prstDash val="dash"/>
            <a:miter lim="800000"/>
            <a:headEnd/>
            <a:tailEnd/>
          </a:ln>
        </p:spPr>
        <p:txBody>
          <a:bodyPr wrap="square" lIns="0" tIns="0" rIns="0" bIns="0">
            <a:spAutoFit/>
          </a:bodyPr>
          <a:lstStyle/>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latin typeface="+mj-lt"/>
                <a:cs typeface="Arial" panose="020B0604020202020204" pitchFamily="34" charset="0"/>
              </a:rPr>
              <a:t>DBS Bank entered the Indian market in 1994. In 2017, it launched </a:t>
            </a:r>
            <a:r>
              <a:rPr lang="en-US" altLang="zh-TW" sz="900" b="0" kern="0" err="1">
                <a:solidFill>
                  <a:srgbClr val="000000"/>
                </a:solidFill>
                <a:latin typeface="+mj-lt"/>
                <a:cs typeface="Arial" panose="020B0604020202020204" pitchFamily="34" charset="0"/>
              </a:rPr>
              <a:t>digibank</a:t>
            </a:r>
            <a:r>
              <a:rPr lang="en-US" altLang="zh-TW" sz="900" b="0" kern="0">
                <a:solidFill>
                  <a:srgbClr val="000000"/>
                </a:solidFill>
                <a:latin typeface="+mj-lt"/>
                <a:cs typeface="Arial" panose="020B0604020202020204" pitchFamily="34" charset="0"/>
              </a:rPr>
              <a:t>, which was India's first mobile-only bank</a:t>
            </a:r>
          </a:p>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latin typeface="+mj-lt"/>
                <a:cs typeface="Arial" panose="020B0604020202020204" pitchFamily="34" charset="0"/>
              </a:rPr>
              <a:t>In 2020, DBS India merged with Lakshmi Vilas Bank</a:t>
            </a:r>
          </a:p>
          <a:p>
            <a:pPr marL="179388" indent="-179388" fontAlgn="auto">
              <a:buClr>
                <a:srgbClr val="BE050A"/>
              </a:buClr>
              <a:buSzPct val="100000"/>
              <a:buFont typeface="Wingdings 2" panose="05020102010507070707" pitchFamily="18" charset="2"/>
              <a:buChar char="¡"/>
              <a:tabLst>
                <a:tab pos="285750" algn="l"/>
              </a:tabLst>
              <a:defRPr/>
            </a:pPr>
            <a:r>
              <a:rPr lang="en-US" altLang="zh-TW" sz="900" b="0" kern="0">
                <a:solidFill>
                  <a:srgbClr val="000000"/>
                </a:solidFill>
                <a:latin typeface="+mj-lt"/>
                <a:cs typeface="Arial" panose="020B0604020202020204" pitchFamily="34" charset="0"/>
              </a:rPr>
              <a:t>DBS Bank has been ranked #1 in the India region in Forbes' 2021 list of World's Best Banks</a:t>
            </a:r>
          </a:p>
        </p:txBody>
      </p:sp>
      <p:pic>
        <p:nvPicPr>
          <p:cNvPr id="19" name="Picture 2" descr="http://www.differencebetween.info/sites/default/files/images/2/award.jpg">
            <a:extLst>
              <a:ext uri="{FF2B5EF4-FFF2-40B4-BE49-F238E27FC236}">
                <a16:creationId xmlns:a16="http://schemas.microsoft.com/office/drawing/2014/main" id="{071CE606-550B-3652-8303-943EEDB69542}"/>
              </a:ext>
            </a:extLst>
          </p:cNvPr>
          <p:cNvPicPr>
            <a:picLocks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168613" y="5193545"/>
            <a:ext cx="209295" cy="285403"/>
          </a:xfrm>
          <a:prstGeom prst="rect">
            <a:avLst/>
          </a:prstGeom>
          <a:noFill/>
        </p:spPr>
      </p:pic>
      <p:sp>
        <p:nvSpPr>
          <p:cNvPr id="20" name="TextBox 19">
            <a:extLst>
              <a:ext uri="{FF2B5EF4-FFF2-40B4-BE49-F238E27FC236}">
                <a16:creationId xmlns:a16="http://schemas.microsoft.com/office/drawing/2014/main" id="{46CD7296-044E-7364-80C1-71F8194032ED}"/>
              </a:ext>
            </a:extLst>
          </p:cNvPr>
          <p:cNvSpPr txBox="1"/>
          <p:nvPr/>
        </p:nvSpPr>
        <p:spPr>
          <a:xfrm>
            <a:off x="3386494" y="5266998"/>
            <a:ext cx="2077046" cy="138499"/>
          </a:xfrm>
          <a:prstGeom prst="rect">
            <a:avLst/>
          </a:prstGeom>
          <a:noFill/>
        </p:spPr>
        <p:txBody>
          <a:bodyPr wrap="square" lIns="0" tIns="0" rIns="0" bIns="0" rtlCol="0" anchor="ctr" anchorCtr="0">
            <a:spAutoFit/>
          </a:bodyPr>
          <a:lstStyle/>
          <a:p>
            <a:pPr algn="l"/>
            <a:r>
              <a:rPr lang="en-US" altLang="zh-TW" sz="900">
                <a:solidFill>
                  <a:srgbClr val="FF0000"/>
                </a:solidFill>
                <a:cs typeface="Arial" panose="020B0604020202020204" pitchFamily="34" charset="0"/>
              </a:rPr>
              <a:t>The leading foreign bank in India</a:t>
            </a:r>
          </a:p>
        </p:txBody>
      </p:sp>
      <p:sp>
        <p:nvSpPr>
          <p:cNvPr id="7" name="Rectangle 2597">
            <a:extLst>
              <a:ext uri="{FF2B5EF4-FFF2-40B4-BE49-F238E27FC236}">
                <a16:creationId xmlns:a16="http://schemas.microsoft.com/office/drawing/2014/main" id="{C44A005D-E6E8-1C7B-DC27-D6BDFBA65A53}"/>
              </a:ext>
            </a:extLst>
          </p:cNvPr>
          <p:cNvSpPr>
            <a:spLocks noChangeArrowheads="1"/>
          </p:cNvSpPr>
          <p:nvPr/>
        </p:nvSpPr>
        <p:spPr bwMode="gray">
          <a:xfrm>
            <a:off x="7003848" y="3944869"/>
            <a:ext cx="2216352" cy="1661993"/>
          </a:xfrm>
          <a:prstGeom prst="rect">
            <a:avLst/>
          </a:prstGeom>
          <a:noFill/>
          <a:ln w="12700" algn="ctr">
            <a:noFill/>
            <a:prstDash val="dash"/>
            <a:miter lim="800000"/>
            <a:headEnd/>
            <a:tailEnd/>
          </a:ln>
        </p:spPr>
        <p:txBody>
          <a:bodyPr wrap="square" lIns="0" tIns="0" rIns="0" bIns="0">
            <a:spAutoFit/>
          </a:bodyPr>
          <a:lstStyle/>
          <a:p>
            <a:pPr marL="179388" indent="-179388">
              <a:buClr>
                <a:srgbClr val="BE050A"/>
              </a:buClr>
              <a:buSzPct val="100000"/>
              <a:buFont typeface="Wingdings 2" panose="05020102010507070707" pitchFamily="18" charset="2"/>
              <a:buChar char="¡"/>
              <a:tabLst>
                <a:tab pos="285750" algn="l"/>
              </a:tabLst>
            </a:pPr>
            <a:r>
              <a:rPr lang="en-US" altLang="zh-CN" sz="900" b="0" kern="0">
                <a:solidFill>
                  <a:srgbClr val="000000"/>
                </a:solidFill>
                <a:cs typeface="Arial" panose="020B0604020202020204" pitchFamily="34" charset="0"/>
              </a:rPr>
              <a:t>DBS Bank entered the Taiwan market in 1983 and has continued to deepen its presence in Taiwan</a:t>
            </a:r>
          </a:p>
          <a:p>
            <a:pPr marL="179388" indent="-179388">
              <a:buClr>
                <a:srgbClr val="BE050A"/>
              </a:buClr>
              <a:buSzPct val="100000"/>
              <a:buFont typeface="Wingdings 2" panose="05020102010507070707" pitchFamily="18" charset="2"/>
              <a:buChar char="¡"/>
              <a:tabLst>
                <a:tab pos="285750" algn="l"/>
              </a:tabLst>
            </a:pPr>
            <a:r>
              <a:rPr lang="en-US" altLang="zh-CN" sz="900" b="0" kern="0">
                <a:solidFill>
                  <a:srgbClr val="000000"/>
                </a:solidFill>
                <a:cs typeface="Arial" panose="020B0604020202020204" pitchFamily="34" charset="0"/>
              </a:rPr>
              <a:t>In 2008 and 2017, it acquired Bowa Bank and completed the transfer of Westpac Banking Corporation's personal financial and wealth management businesses in Taiwan</a:t>
            </a:r>
          </a:p>
          <a:p>
            <a:pPr marL="179388" indent="-179388">
              <a:buClr>
                <a:srgbClr val="BE050A"/>
              </a:buClr>
              <a:buSzPct val="100000"/>
              <a:buFont typeface="Wingdings 2" panose="05020102010507070707" pitchFamily="18" charset="2"/>
              <a:buChar char="¡"/>
              <a:tabLst>
                <a:tab pos="285750" algn="l"/>
              </a:tabLst>
            </a:pPr>
            <a:r>
              <a:rPr lang="en-US" altLang="zh-CN" sz="900" b="0" kern="0">
                <a:solidFill>
                  <a:srgbClr val="000000"/>
                </a:solidFill>
                <a:cs typeface="Arial" panose="020B0604020202020204" pitchFamily="34" charset="0"/>
              </a:rPr>
              <a:t>In August 2023, DBS Bank integrated Citibank Taiwan's consumer banking business, becoming the largest foreign bank in Taiwan</a:t>
            </a:r>
          </a:p>
        </p:txBody>
      </p:sp>
      <p:pic>
        <p:nvPicPr>
          <p:cNvPr id="10" name="Picture 2" descr="http://www.differencebetween.info/sites/default/files/images/2/award.jpg">
            <a:extLst>
              <a:ext uri="{FF2B5EF4-FFF2-40B4-BE49-F238E27FC236}">
                <a16:creationId xmlns:a16="http://schemas.microsoft.com/office/drawing/2014/main" id="{2FB3DE5E-DDA1-3D70-725A-4F3BD8B0F793}"/>
              </a:ext>
            </a:extLst>
          </p:cNvPr>
          <p:cNvPicPr>
            <a:picLocks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755505" y="3758145"/>
            <a:ext cx="209295" cy="285403"/>
          </a:xfrm>
          <a:prstGeom prst="rect">
            <a:avLst/>
          </a:prstGeom>
          <a:noFill/>
        </p:spPr>
      </p:pic>
      <p:sp>
        <p:nvSpPr>
          <p:cNvPr id="11" name="TextBox 10">
            <a:extLst>
              <a:ext uri="{FF2B5EF4-FFF2-40B4-BE49-F238E27FC236}">
                <a16:creationId xmlns:a16="http://schemas.microsoft.com/office/drawing/2014/main" id="{0E14368B-8104-AF27-8F49-10D589B92292}"/>
              </a:ext>
            </a:extLst>
          </p:cNvPr>
          <p:cNvSpPr txBox="1"/>
          <p:nvPr/>
        </p:nvSpPr>
        <p:spPr>
          <a:xfrm>
            <a:off x="7003849" y="3793632"/>
            <a:ext cx="2207457" cy="138499"/>
          </a:xfrm>
          <a:prstGeom prst="rect">
            <a:avLst/>
          </a:prstGeom>
          <a:noFill/>
        </p:spPr>
        <p:txBody>
          <a:bodyPr wrap="square" lIns="0" tIns="0" rIns="0" bIns="0" rtlCol="0" anchor="ctr" anchorCtr="0">
            <a:spAutoFit/>
          </a:bodyPr>
          <a:lstStyle/>
          <a:p>
            <a:pPr algn="l"/>
            <a:r>
              <a:rPr lang="en-US" altLang="zh-CN" sz="900">
                <a:solidFill>
                  <a:srgbClr val="FF0000"/>
                </a:solidFill>
                <a:cs typeface="Arial" panose="020B0604020202020204" pitchFamily="34" charset="0"/>
              </a:rPr>
              <a:t>The largest foreign bank in Taiwan</a:t>
            </a:r>
          </a:p>
        </p:txBody>
      </p:sp>
      <p:sp>
        <p:nvSpPr>
          <p:cNvPr id="8" name="Slide Number Placeholder 7">
            <a:extLst>
              <a:ext uri="{FF2B5EF4-FFF2-40B4-BE49-F238E27FC236}">
                <a16:creationId xmlns:a16="http://schemas.microsoft.com/office/drawing/2014/main" id="{22C5CC2F-9145-C76F-5B91-0383BFF160D4}"/>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a:t>
            </a:fld>
            <a:endParaRPr lang="en-US" altLang="en-US" b="0">
              <a:solidFill>
                <a:srgbClr val="000000"/>
              </a:solidFill>
            </a:endParaRPr>
          </a:p>
        </p:txBody>
      </p:sp>
    </p:spTree>
    <p:extLst>
      <p:ext uri="{BB962C8B-B14F-4D97-AF65-F5344CB8AC3E}">
        <p14:creationId xmlns:p14="http://schemas.microsoft.com/office/powerpoint/2010/main" val="402952492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0ED3AC4-E20B-9B2E-E475-0B3949D7B31D}"/>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6987DF69-1934-9C14-B009-C34F6311E582}"/>
              </a:ext>
            </a:extLst>
          </p:cNvPr>
          <p:cNvSpPr>
            <a:spLocks noGrp="1"/>
          </p:cNvSpPr>
          <p:nvPr>
            <p:ph type="title"/>
          </p:nvPr>
        </p:nvSpPr>
        <p:spPr/>
        <p:txBody>
          <a:bodyPr/>
          <a:lstStyle/>
          <a:p>
            <a:r>
              <a:rPr lang="en-US" sz="2000" b="1" dirty="0"/>
              <a:t>Comprehensive Product Platform</a:t>
            </a:r>
          </a:p>
        </p:txBody>
      </p:sp>
      <p:pic>
        <p:nvPicPr>
          <p:cNvPr id="25" name="Picture 8" descr="http://demilked.uuuploads.com/free-paper-textures/free-paper-texture-2.jpg"/>
          <p:cNvPicPr>
            <a:picLocks noChangeArrowheads="1"/>
          </p:cNvPicPr>
          <p:nvPr/>
        </p:nvPicPr>
        <p:blipFill>
          <a:blip r:embed="rId3" cstate="print"/>
          <a:srcRect/>
          <a:stretch>
            <a:fillRect/>
          </a:stretch>
        </p:blipFill>
        <p:spPr bwMode="auto">
          <a:xfrm>
            <a:off x="723900" y="5114398"/>
            <a:ext cx="8496300" cy="965700"/>
          </a:xfrm>
          <a:prstGeom prst="rect">
            <a:avLst/>
          </a:prstGeom>
          <a:noFill/>
        </p:spPr>
      </p:pic>
      <p:grpSp>
        <p:nvGrpSpPr>
          <p:cNvPr id="6" name="Group 5">
            <a:extLst>
              <a:ext uri="{FF2B5EF4-FFF2-40B4-BE49-F238E27FC236}">
                <a16:creationId xmlns:a16="http://schemas.microsoft.com/office/drawing/2014/main" id="{6D5DFE88-0103-4B36-1282-F7B4B8B63A71}"/>
              </a:ext>
            </a:extLst>
          </p:cNvPr>
          <p:cNvGrpSpPr/>
          <p:nvPr/>
        </p:nvGrpSpPr>
        <p:grpSpPr>
          <a:xfrm>
            <a:off x="723900" y="1070388"/>
            <a:ext cx="8496300" cy="3552836"/>
            <a:chOff x="1079602" y="1070388"/>
            <a:chExt cx="7880350" cy="3552836"/>
          </a:xfrm>
        </p:grpSpPr>
        <p:sp>
          <p:nvSpPr>
            <p:cNvPr id="26" name="Text Box 5"/>
            <p:cNvSpPr txBox="1">
              <a:spLocks noChangeArrowheads="1"/>
            </p:cNvSpPr>
            <p:nvPr/>
          </p:nvSpPr>
          <p:spPr bwMode="auto">
            <a:xfrm>
              <a:off x="2430371" y="3310929"/>
              <a:ext cx="2470150" cy="598897"/>
            </a:xfrm>
            <a:prstGeom prst="rect">
              <a:avLst/>
            </a:prstGeom>
            <a:solidFill>
              <a:srgbClr val="EAEAEA">
                <a:alpha val="90000"/>
              </a:srgbClr>
            </a:solidFill>
            <a:ln w="12700">
              <a:noFill/>
              <a:miter lim="800000"/>
              <a:headEnd/>
              <a:tailEnd/>
            </a:ln>
          </p:spPr>
          <p:txBody>
            <a:bodyPr anchor="ctr"/>
            <a:lstStyle/>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Strategic Advice</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Mergers &amp; Acquisitions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SimSun" pitchFamily="2" charset="-122"/>
                  <a:cs typeface="+mn-cs"/>
                </a:rPr>
                <a:t>Divestitures</a:t>
              </a:r>
              <a:endParaRPr lang="en-US" sz="1000" b="0">
                <a:solidFill>
                  <a:srgbClr val="000000"/>
                </a:solidFill>
                <a:latin typeface="Arial" panose="020B0604020202020204" pitchFamily="34" charset="0"/>
                <a:ea typeface="SimSun" pitchFamily="2" charset="-122"/>
                <a:cs typeface="+mn-cs"/>
              </a:endParaRPr>
            </a:p>
          </p:txBody>
        </p:sp>
        <p:sp>
          <p:nvSpPr>
            <p:cNvPr id="27" name="Text Box 5"/>
            <p:cNvSpPr txBox="1">
              <a:spLocks noChangeArrowheads="1"/>
            </p:cNvSpPr>
            <p:nvPr/>
          </p:nvSpPr>
          <p:spPr bwMode="auto">
            <a:xfrm>
              <a:off x="1087347" y="3310929"/>
              <a:ext cx="1439863" cy="59889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chemeClr val="bg1"/>
              </a:solidFill>
              <a:miter lim="800000"/>
              <a:headEnd/>
              <a:tailEnd/>
            </a:ln>
            <a:effectLst>
              <a:outerShdw blurRad="63500" sx="102000" sy="102000" algn="ctr" rotWithShape="0">
                <a:prstClr val="black">
                  <a:alpha val="40000"/>
                </a:prstClr>
              </a:outerShdw>
            </a:effectLst>
          </p:spPr>
          <p:txBody>
            <a:bodyPr anchor="ctr"/>
            <a:lstStyle/>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Corporate </a:t>
              </a:r>
            </a:p>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Finance</a:t>
              </a:r>
            </a:p>
          </p:txBody>
        </p:sp>
        <p:sp>
          <p:nvSpPr>
            <p:cNvPr id="28" name="Text Box 5"/>
            <p:cNvSpPr txBox="1">
              <a:spLocks noChangeArrowheads="1"/>
            </p:cNvSpPr>
            <p:nvPr/>
          </p:nvSpPr>
          <p:spPr bwMode="auto">
            <a:xfrm>
              <a:off x="2435327" y="1070388"/>
              <a:ext cx="2470150" cy="598897"/>
            </a:xfrm>
            <a:prstGeom prst="rect">
              <a:avLst/>
            </a:prstGeom>
            <a:solidFill>
              <a:srgbClr val="EAEAEA">
                <a:alpha val="90000"/>
              </a:srgbClr>
            </a:solidFill>
            <a:ln w="12700">
              <a:noFill/>
              <a:miter lim="800000"/>
              <a:headEnd/>
              <a:tailEnd/>
            </a:ln>
          </p:spPr>
          <p:txBody>
            <a:bodyPr anchor="ctr"/>
            <a:lstStyle/>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Corporate Loans &amp; Facilities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Syndicated Loans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Project Finance</a:t>
              </a:r>
            </a:p>
          </p:txBody>
        </p:sp>
        <p:sp>
          <p:nvSpPr>
            <p:cNvPr id="29" name="Text Box 5"/>
            <p:cNvSpPr txBox="1">
              <a:spLocks noChangeArrowheads="1"/>
            </p:cNvSpPr>
            <p:nvPr/>
          </p:nvSpPr>
          <p:spPr bwMode="auto">
            <a:xfrm>
              <a:off x="1079603" y="1070388"/>
              <a:ext cx="1439863" cy="59889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chemeClr val="bg1"/>
              </a:solidFill>
              <a:miter lim="800000"/>
              <a:headEnd/>
              <a:tailEnd/>
            </a:ln>
            <a:effectLst>
              <a:outerShdw blurRad="63500" sx="102000" sy="102000" algn="ctr" rotWithShape="0">
                <a:prstClr val="black">
                  <a:alpha val="40000"/>
                </a:prstClr>
              </a:outerShdw>
            </a:effectLst>
          </p:spPr>
          <p:txBody>
            <a:bodyPr anchor="ctr"/>
            <a:lstStyle/>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Corporate </a:t>
              </a:r>
            </a:p>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Banking</a:t>
              </a:r>
            </a:p>
          </p:txBody>
        </p:sp>
        <p:sp>
          <p:nvSpPr>
            <p:cNvPr id="30" name="Text Box 5"/>
            <p:cNvSpPr txBox="1">
              <a:spLocks noChangeArrowheads="1"/>
            </p:cNvSpPr>
            <p:nvPr/>
          </p:nvSpPr>
          <p:spPr bwMode="auto">
            <a:xfrm>
              <a:off x="2422626" y="1805515"/>
              <a:ext cx="2470150" cy="698713"/>
            </a:xfrm>
            <a:prstGeom prst="rect">
              <a:avLst/>
            </a:prstGeom>
            <a:solidFill>
              <a:srgbClr val="EAEAEA">
                <a:alpha val="90000"/>
              </a:srgbClr>
            </a:solidFill>
            <a:ln w="12700">
              <a:noFill/>
              <a:miter lim="800000"/>
              <a:headEnd/>
              <a:tailEnd/>
            </a:ln>
          </p:spPr>
          <p:txBody>
            <a:bodyPr anchor="ctr"/>
            <a:lstStyle/>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dirty="0">
                  <a:solidFill>
                    <a:srgbClr val="000000"/>
                  </a:solidFill>
                  <a:latin typeface="Arial" panose="020B0604020202020204" pitchFamily="34" charset="0"/>
                  <a:ea typeface="DFKaiShu-GB5"/>
                  <a:cs typeface="+mn-cs"/>
                </a:rPr>
                <a:t>Initial Public Offerings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dirty="0">
                  <a:solidFill>
                    <a:srgbClr val="000000"/>
                  </a:solidFill>
                  <a:latin typeface="Arial" panose="020B0604020202020204" pitchFamily="34" charset="0"/>
                  <a:ea typeface="DFKaiShu-GB5"/>
                  <a:cs typeface="+mn-cs"/>
                </a:rPr>
                <a:t>REITS and Business Trusts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dirty="0">
                  <a:solidFill>
                    <a:srgbClr val="000000"/>
                  </a:solidFill>
                  <a:latin typeface="Arial" panose="020B0604020202020204" pitchFamily="34" charset="0"/>
                  <a:ea typeface="DFKaiShu-GB5"/>
                  <a:cs typeface="+mn-cs"/>
                </a:rPr>
                <a:t>Follow-On Offerings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dirty="0">
                  <a:solidFill>
                    <a:srgbClr val="000000"/>
                  </a:solidFill>
                  <a:latin typeface="Arial" panose="020B0604020202020204" pitchFamily="34" charset="0"/>
                  <a:ea typeface="DFKaiShu-GB5"/>
                  <a:cs typeface="+mn-cs"/>
                </a:rPr>
                <a:t>Listing via Introduction</a:t>
              </a:r>
            </a:p>
          </p:txBody>
        </p:sp>
        <p:sp>
          <p:nvSpPr>
            <p:cNvPr id="31" name="Text Box 5"/>
            <p:cNvSpPr txBox="1">
              <a:spLocks noChangeArrowheads="1"/>
            </p:cNvSpPr>
            <p:nvPr/>
          </p:nvSpPr>
          <p:spPr bwMode="auto">
            <a:xfrm>
              <a:off x="1079602" y="1811688"/>
              <a:ext cx="1439863" cy="69871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chemeClr val="bg1"/>
              </a:solidFill>
              <a:miter lim="800000"/>
              <a:headEnd/>
              <a:tailEnd/>
            </a:ln>
            <a:effectLst>
              <a:outerShdw blurRad="63500" sx="102000" sy="102000" algn="ctr" rotWithShape="0">
                <a:prstClr val="black">
                  <a:alpha val="40000"/>
                </a:prstClr>
              </a:outerShdw>
            </a:effectLst>
          </p:spPr>
          <p:txBody>
            <a:bodyPr anchor="ctr"/>
            <a:lstStyle/>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Equity Capital Markets</a:t>
              </a:r>
            </a:p>
          </p:txBody>
        </p:sp>
        <p:sp>
          <p:nvSpPr>
            <p:cNvPr id="32" name="Text Box 5"/>
            <p:cNvSpPr txBox="1">
              <a:spLocks noChangeArrowheads="1"/>
            </p:cNvSpPr>
            <p:nvPr/>
          </p:nvSpPr>
          <p:spPr bwMode="auto">
            <a:xfrm>
              <a:off x="2422627" y="2612216"/>
              <a:ext cx="2477894" cy="598897"/>
            </a:xfrm>
            <a:prstGeom prst="rect">
              <a:avLst/>
            </a:prstGeom>
            <a:solidFill>
              <a:srgbClr val="EAEAEA">
                <a:alpha val="90000"/>
              </a:srgbClr>
            </a:solidFill>
            <a:ln w="12700">
              <a:noFill/>
              <a:miter lim="800000"/>
              <a:headEnd/>
              <a:tailEnd/>
            </a:ln>
          </p:spPr>
          <p:txBody>
            <a:bodyPr anchor="ctr"/>
            <a:lstStyle/>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Public and Private Corporate Bonds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SimSun" pitchFamily="2" charset="-122"/>
                  <a:cs typeface="+mn-cs"/>
                </a:rPr>
                <a:t>Perpetual and Preferred Securities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SimSun" pitchFamily="2" charset="-122"/>
                  <a:cs typeface="+mn-cs"/>
                </a:rPr>
                <a:t>Convertible Bonds</a:t>
              </a:r>
              <a:endParaRPr lang="en-US" sz="1000" b="0">
                <a:solidFill>
                  <a:srgbClr val="000000"/>
                </a:solidFill>
                <a:latin typeface="Arial" panose="020B0604020202020204" pitchFamily="34" charset="0"/>
                <a:ea typeface="SimSun" pitchFamily="2" charset="-122"/>
                <a:cs typeface="+mn-cs"/>
              </a:endParaRPr>
            </a:p>
          </p:txBody>
        </p:sp>
        <p:sp>
          <p:nvSpPr>
            <p:cNvPr id="34" name="Text Box 5"/>
            <p:cNvSpPr txBox="1">
              <a:spLocks noChangeArrowheads="1"/>
            </p:cNvSpPr>
            <p:nvPr/>
          </p:nvSpPr>
          <p:spPr bwMode="auto">
            <a:xfrm>
              <a:off x="1079603" y="2612216"/>
              <a:ext cx="1439863" cy="59889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chemeClr val="bg1"/>
              </a:solidFill>
              <a:miter lim="800000"/>
              <a:headEnd/>
              <a:tailEnd/>
            </a:ln>
            <a:effectLst>
              <a:outerShdw blurRad="63500" sx="102000" sy="102000" algn="ctr" rotWithShape="0">
                <a:prstClr val="black">
                  <a:alpha val="40000"/>
                </a:prstClr>
              </a:outerShdw>
            </a:effectLst>
          </p:spPr>
          <p:txBody>
            <a:bodyPr anchor="ctr"/>
            <a:lstStyle/>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Debt Capital Markets</a:t>
              </a:r>
            </a:p>
          </p:txBody>
        </p:sp>
        <p:sp>
          <p:nvSpPr>
            <p:cNvPr id="35" name="Text Box 5"/>
            <p:cNvSpPr txBox="1">
              <a:spLocks noChangeArrowheads="1"/>
            </p:cNvSpPr>
            <p:nvPr/>
          </p:nvSpPr>
          <p:spPr bwMode="auto">
            <a:xfrm>
              <a:off x="2422627" y="4024327"/>
              <a:ext cx="2470150" cy="598897"/>
            </a:xfrm>
            <a:prstGeom prst="rect">
              <a:avLst/>
            </a:prstGeom>
            <a:solidFill>
              <a:srgbClr val="EAEAEA">
                <a:alpha val="90000"/>
              </a:srgbClr>
            </a:solidFill>
            <a:ln w="12700">
              <a:noFill/>
              <a:miter lim="800000"/>
              <a:headEnd/>
              <a:tailEnd/>
            </a:ln>
          </p:spPr>
          <p:txBody>
            <a:bodyPr anchor="ctr"/>
            <a:lstStyle/>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High Yield Bonds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Mezzanine Financing</a:t>
              </a:r>
            </a:p>
          </p:txBody>
        </p:sp>
        <p:sp>
          <p:nvSpPr>
            <p:cNvPr id="36" name="Text Box 5"/>
            <p:cNvSpPr txBox="1">
              <a:spLocks noChangeArrowheads="1"/>
            </p:cNvSpPr>
            <p:nvPr/>
          </p:nvSpPr>
          <p:spPr bwMode="auto">
            <a:xfrm>
              <a:off x="1079603" y="4024327"/>
              <a:ext cx="1439863" cy="59889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chemeClr val="bg1"/>
              </a:solidFill>
              <a:miter lim="800000"/>
              <a:headEnd/>
              <a:tailEnd/>
            </a:ln>
            <a:effectLst>
              <a:outerShdw blurRad="63500" sx="102000" sy="102000" algn="ctr" rotWithShape="0">
                <a:prstClr val="black">
                  <a:alpha val="40000"/>
                </a:prstClr>
              </a:outerShdw>
            </a:effectLst>
          </p:spPr>
          <p:txBody>
            <a:bodyPr anchor="ctr"/>
            <a:lstStyle/>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Leveraged</a:t>
              </a:r>
            </a:p>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 Finance</a:t>
              </a:r>
            </a:p>
          </p:txBody>
        </p:sp>
        <p:sp>
          <p:nvSpPr>
            <p:cNvPr id="37" name="Text Box 5"/>
            <p:cNvSpPr txBox="1">
              <a:spLocks noChangeArrowheads="1"/>
            </p:cNvSpPr>
            <p:nvPr/>
          </p:nvSpPr>
          <p:spPr bwMode="auto">
            <a:xfrm>
              <a:off x="6489802" y="4024327"/>
              <a:ext cx="2470150" cy="598897"/>
            </a:xfrm>
            <a:prstGeom prst="rect">
              <a:avLst/>
            </a:prstGeom>
            <a:solidFill>
              <a:srgbClr val="EAEAEA">
                <a:alpha val="90000"/>
              </a:srgbClr>
            </a:solidFill>
            <a:ln w="12700">
              <a:noFill/>
              <a:miter lim="800000"/>
              <a:headEnd/>
              <a:tailEnd/>
            </a:ln>
          </p:spPr>
          <p:txBody>
            <a:bodyPr anchor="ctr"/>
            <a:lstStyle/>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Securitisation of Cash Flows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Sale &amp; Leaseback</a:t>
              </a:r>
            </a:p>
          </p:txBody>
        </p:sp>
        <p:sp>
          <p:nvSpPr>
            <p:cNvPr id="38" name="Text Box 5"/>
            <p:cNvSpPr txBox="1">
              <a:spLocks noChangeArrowheads="1"/>
            </p:cNvSpPr>
            <p:nvPr/>
          </p:nvSpPr>
          <p:spPr bwMode="auto">
            <a:xfrm>
              <a:off x="5134078" y="4024327"/>
              <a:ext cx="1439863" cy="59889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chemeClr val="bg1"/>
              </a:solidFill>
              <a:miter lim="800000"/>
              <a:headEnd/>
              <a:tailEnd/>
            </a:ln>
            <a:effectLst>
              <a:outerShdw blurRad="63500" sx="102000" sy="102000" algn="ctr" rotWithShape="0">
                <a:prstClr val="black">
                  <a:alpha val="40000"/>
                </a:prstClr>
              </a:outerShdw>
            </a:effectLst>
          </p:spPr>
          <p:txBody>
            <a:bodyPr anchor="ctr"/>
            <a:lstStyle/>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Structured </a:t>
              </a:r>
            </a:p>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Solutions</a:t>
              </a:r>
            </a:p>
          </p:txBody>
        </p:sp>
        <p:sp>
          <p:nvSpPr>
            <p:cNvPr id="39" name="Text Box 5"/>
            <p:cNvSpPr txBox="1">
              <a:spLocks noChangeArrowheads="1"/>
            </p:cNvSpPr>
            <p:nvPr/>
          </p:nvSpPr>
          <p:spPr bwMode="auto">
            <a:xfrm>
              <a:off x="6489802" y="1070388"/>
              <a:ext cx="2470150" cy="598897"/>
            </a:xfrm>
            <a:prstGeom prst="rect">
              <a:avLst/>
            </a:prstGeom>
            <a:solidFill>
              <a:srgbClr val="EAEAEA">
                <a:alpha val="90000"/>
              </a:srgbClr>
            </a:solidFill>
            <a:ln w="12700">
              <a:noFill/>
              <a:miter lim="800000"/>
              <a:headEnd/>
              <a:tailEnd/>
            </a:ln>
          </p:spPr>
          <p:txBody>
            <a:bodyPr anchor="ctr"/>
            <a:lstStyle/>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dirty="0">
                  <a:solidFill>
                    <a:srgbClr val="000000"/>
                  </a:solidFill>
                  <a:latin typeface="Arial" panose="020B0604020202020204" pitchFamily="34" charset="0"/>
                  <a:ea typeface="DFKaiShu-GB5"/>
                  <a:cs typeface="+mn-cs"/>
                </a:rPr>
                <a:t>Trade Finance</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dirty="0">
                  <a:solidFill>
                    <a:srgbClr val="000000"/>
                  </a:solidFill>
                  <a:latin typeface="Arial" panose="020B0604020202020204" pitchFamily="34" charset="0"/>
                  <a:ea typeface="SimSun" pitchFamily="2" charset="-122"/>
                  <a:cs typeface="+mn-cs"/>
                </a:rPr>
                <a:t>Supply Chain Finance</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dirty="0">
                  <a:solidFill>
                    <a:srgbClr val="000000"/>
                  </a:solidFill>
                  <a:latin typeface="Arial" panose="020B0604020202020204" pitchFamily="34" charset="0"/>
                  <a:ea typeface="SimSun" pitchFamily="2" charset="-122"/>
                  <a:cs typeface="+mn-cs"/>
                </a:rPr>
                <a:t>Cash Management</a:t>
              </a:r>
              <a:endParaRPr lang="en-US" sz="1000" b="0" dirty="0">
                <a:solidFill>
                  <a:srgbClr val="000000"/>
                </a:solidFill>
                <a:latin typeface="Arial" panose="020B0604020202020204" pitchFamily="34" charset="0"/>
                <a:ea typeface="SimSun" pitchFamily="2" charset="-122"/>
                <a:cs typeface="+mn-cs"/>
              </a:endParaRPr>
            </a:p>
          </p:txBody>
        </p:sp>
        <p:sp>
          <p:nvSpPr>
            <p:cNvPr id="40" name="Text Box 5"/>
            <p:cNvSpPr txBox="1">
              <a:spLocks noChangeArrowheads="1"/>
            </p:cNvSpPr>
            <p:nvPr/>
          </p:nvSpPr>
          <p:spPr bwMode="auto">
            <a:xfrm>
              <a:off x="5134078" y="1070388"/>
              <a:ext cx="1439863" cy="59889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chemeClr val="bg1"/>
              </a:solidFill>
              <a:miter lim="800000"/>
              <a:headEnd/>
              <a:tailEnd/>
            </a:ln>
            <a:effectLst>
              <a:outerShdw blurRad="63500" sx="102000" sy="102000" algn="ctr" rotWithShape="0">
                <a:prstClr val="black">
                  <a:alpha val="40000"/>
                </a:prstClr>
              </a:outerShdw>
            </a:effectLst>
          </p:spPr>
          <p:txBody>
            <a:bodyPr anchor="ctr"/>
            <a:lstStyle/>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Global Transaction Services</a:t>
              </a:r>
            </a:p>
          </p:txBody>
        </p:sp>
        <p:sp>
          <p:nvSpPr>
            <p:cNvPr id="41" name="Text Box 5"/>
            <p:cNvSpPr txBox="1">
              <a:spLocks noChangeArrowheads="1"/>
            </p:cNvSpPr>
            <p:nvPr/>
          </p:nvSpPr>
          <p:spPr bwMode="auto">
            <a:xfrm>
              <a:off x="6489802" y="1787817"/>
              <a:ext cx="2470150" cy="598897"/>
            </a:xfrm>
            <a:prstGeom prst="rect">
              <a:avLst/>
            </a:prstGeom>
            <a:solidFill>
              <a:srgbClr val="EAEAEA">
                <a:alpha val="90000"/>
              </a:srgbClr>
            </a:solidFill>
            <a:ln w="12700">
              <a:noFill/>
              <a:miter lim="800000"/>
              <a:headEnd/>
              <a:tailEnd/>
            </a:ln>
          </p:spPr>
          <p:txBody>
            <a:bodyPr anchor="ctr"/>
            <a:lstStyle/>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dirty="0">
                  <a:solidFill>
                    <a:srgbClr val="000000"/>
                  </a:solidFill>
                  <a:latin typeface="Arial" panose="020B0604020202020204" pitchFamily="34" charset="0"/>
                  <a:ea typeface="DFKaiShu-GB5"/>
                  <a:cs typeface="+mn-cs"/>
                </a:rPr>
                <a:t>Foreign Exchange</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dirty="0">
                  <a:solidFill>
                    <a:srgbClr val="000000"/>
                  </a:solidFill>
                  <a:latin typeface="Arial" panose="020B0604020202020204" pitchFamily="34" charset="0"/>
                  <a:ea typeface="DFKaiShu-GB5"/>
                  <a:cs typeface="+mn-cs"/>
                </a:rPr>
                <a:t>Currency Derivatives</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dirty="0">
                  <a:solidFill>
                    <a:srgbClr val="000000"/>
                  </a:solidFill>
                  <a:latin typeface="Arial" panose="020B0604020202020204" pitchFamily="34" charset="0"/>
                  <a:ea typeface="DFKaiShu-GB5"/>
                  <a:cs typeface="+mn-cs"/>
                </a:rPr>
                <a:t>Interest Rate Derivatives</a:t>
              </a:r>
            </a:p>
          </p:txBody>
        </p:sp>
        <p:sp>
          <p:nvSpPr>
            <p:cNvPr id="42" name="Text Box 5"/>
            <p:cNvSpPr txBox="1">
              <a:spLocks noChangeArrowheads="1"/>
            </p:cNvSpPr>
            <p:nvPr/>
          </p:nvSpPr>
          <p:spPr bwMode="auto">
            <a:xfrm>
              <a:off x="5134078" y="1787817"/>
              <a:ext cx="1439863" cy="59889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chemeClr val="bg1"/>
              </a:solidFill>
              <a:miter lim="800000"/>
              <a:headEnd/>
              <a:tailEnd/>
            </a:ln>
            <a:effectLst>
              <a:outerShdw blurRad="63500" sx="102000" sy="102000" algn="ctr" rotWithShape="0">
                <a:prstClr val="black">
                  <a:alpha val="40000"/>
                </a:prstClr>
              </a:outerShdw>
            </a:effectLst>
          </p:spPr>
          <p:txBody>
            <a:bodyPr anchor="ctr"/>
            <a:lstStyle/>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Treasury </a:t>
              </a:r>
            </a:p>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&amp; Markets</a:t>
              </a:r>
            </a:p>
          </p:txBody>
        </p:sp>
        <p:sp>
          <p:nvSpPr>
            <p:cNvPr id="43" name="Text Box 5"/>
            <p:cNvSpPr txBox="1">
              <a:spLocks noChangeArrowheads="1"/>
            </p:cNvSpPr>
            <p:nvPr/>
          </p:nvSpPr>
          <p:spPr bwMode="auto">
            <a:xfrm>
              <a:off x="6489802" y="2504226"/>
              <a:ext cx="2470150" cy="694944"/>
            </a:xfrm>
            <a:prstGeom prst="rect">
              <a:avLst/>
            </a:prstGeom>
            <a:solidFill>
              <a:srgbClr val="EAEAEA">
                <a:alpha val="90000"/>
              </a:srgbClr>
            </a:solidFill>
            <a:ln w="12700">
              <a:noFill/>
              <a:miter lim="800000"/>
              <a:headEnd/>
              <a:tailEnd/>
            </a:ln>
          </p:spPr>
          <p:txBody>
            <a:bodyPr anchor="ctr"/>
            <a:lstStyle/>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Risk Management</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Financial Solutions</a:t>
              </a:r>
            </a:p>
          </p:txBody>
        </p:sp>
        <p:sp>
          <p:nvSpPr>
            <p:cNvPr id="44" name="Text Box 5"/>
            <p:cNvSpPr txBox="1">
              <a:spLocks noChangeArrowheads="1"/>
            </p:cNvSpPr>
            <p:nvPr/>
          </p:nvSpPr>
          <p:spPr bwMode="auto">
            <a:xfrm>
              <a:off x="5134078" y="2504226"/>
              <a:ext cx="1439863" cy="694944"/>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chemeClr val="bg1"/>
              </a:solidFill>
              <a:miter lim="800000"/>
              <a:headEnd/>
              <a:tailEnd/>
            </a:ln>
            <a:effectLst>
              <a:outerShdw blurRad="63500" sx="102000" sy="102000" algn="ctr" rotWithShape="0">
                <a:prstClr val="black">
                  <a:alpha val="40000"/>
                </a:prstClr>
              </a:outerShdw>
            </a:effectLst>
          </p:spPr>
          <p:txBody>
            <a:bodyPr anchor="ctr"/>
            <a:lstStyle/>
            <a:p>
              <a:pPr eaLnBrk="0" fontAlgn="auto" hangingPunct="0">
                <a:spcBef>
                  <a:spcPts val="0"/>
                </a:spcBef>
                <a:spcAft>
                  <a:spcPts val="0"/>
                </a:spcAft>
                <a:defRPr/>
              </a:pPr>
              <a:r>
                <a:rPr lang="en-GB" sz="1200">
                  <a:solidFill>
                    <a:srgbClr val="FFFFFF"/>
                  </a:solidFill>
                  <a:latin typeface="Arial" panose="020B0604020202020204" pitchFamily="34" charset="0"/>
                  <a:ea typeface="SimSun" pitchFamily="2" charset="-122"/>
                  <a:cs typeface="+mn-cs"/>
                </a:rPr>
                <a:t>Commodities</a:t>
              </a:r>
              <a:endParaRPr lang="en-US" sz="1200">
                <a:solidFill>
                  <a:srgbClr val="FFFFFF"/>
                </a:solidFill>
                <a:latin typeface="Arial" panose="020B0604020202020204" pitchFamily="34" charset="0"/>
                <a:ea typeface="SimSun" pitchFamily="2" charset="-122"/>
                <a:cs typeface="+mn-cs"/>
              </a:endParaRPr>
            </a:p>
          </p:txBody>
        </p:sp>
        <p:sp>
          <p:nvSpPr>
            <p:cNvPr id="45" name="Text Box 5"/>
            <p:cNvSpPr txBox="1">
              <a:spLocks noChangeArrowheads="1"/>
            </p:cNvSpPr>
            <p:nvPr/>
          </p:nvSpPr>
          <p:spPr bwMode="auto">
            <a:xfrm>
              <a:off x="6489802" y="3310929"/>
              <a:ext cx="2470150" cy="598897"/>
            </a:xfrm>
            <a:prstGeom prst="rect">
              <a:avLst/>
            </a:prstGeom>
            <a:solidFill>
              <a:srgbClr val="EAEAEA">
                <a:alpha val="90000"/>
              </a:srgbClr>
            </a:solidFill>
            <a:ln w="12700">
              <a:noFill/>
              <a:miter lim="800000"/>
              <a:headEnd/>
              <a:tailEnd/>
            </a:ln>
          </p:spPr>
          <p:txBody>
            <a:bodyPr anchor="ctr"/>
            <a:lstStyle/>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Research</a:t>
              </a:r>
            </a:p>
            <a:p>
              <a:pPr marL="285750" indent="-171450" eaLnBrk="0" fontAlgn="auto" hangingPunct="0">
                <a:spcBef>
                  <a:spcPts val="0"/>
                </a:spcBef>
                <a:spcAft>
                  <a:spcPts val="0"/>
                </a:spcAft>
                <a:buClr>
                  <a:srgbClr val="BE050A"/>
                </a:buClr>
                <a:buFont typeface="Wingdings 2" panose="05020102010507070707" pitchFamily="18" charset="2"/>
                <a:buChar char="¡"/>
                <a:defRPr/>
              </a:pPr>
              <a:r>
                <a:rPr lang="en-SG" sz="1000" b="0">
                  <a:solidFill>
                    <a:srgbClr val="000000"/>
                  </a:solidFill>
                  <a:latin typeface="Arial" panose="020B0604020202020204" pitchFamily="34" charset="0"/>
                  <a:ea typeface="DFKaiShu-GB5"/>
                  <a:cs typeface="+mn-cs"/>
                </a:rPr>
                <a:t>Sales &amp; Trading</a:t>
              </a:r>
            </a:p>
          </p:txBody>
        </p:sp>
        <p:sp>
          <p:nvSpPr>
            <p:cNvPr id="46" name="Text Box 5"/>
            <p:cNvSpPr txBox="1">
              <a:spLocks noChangeArrowheads="1"/>
            </p:cNvSpPr>
            <p:nvPr/>
          </p:nvSpPr>
          <p:spPr bwMode="auto">
            <a:xfrm>
              <a:off x="5134078" y="3310929"/>
              <a:ext cx="1439863" cy="59889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a:solidFill>
                <a:schemeClr val="bg1"/>
              </a:solidFill>
              <a:miter lim="800000"/>
              <a:headEnd/>
              <a:tailEnd/>
            </a:ln>
            <a:effectLst>
              <a:outerShdw blurRad="63500" sx="102000" sy="102000" algn="ctr" rotWithShape="0">
                <a:prstClr val="black">
                  <a:alpha val="40000"/>
                </a:prstClr>
              </a:outerShdw>
            </a:effectLst>
          </p:spPr>
          <p:txBody>
            <a:bodyPr anchor="ctr"/>
            <a:lstStyle/>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Research</a:t>
              </a:r>
            </a:p>
            <a:p>
              <a:pPr eaLnBrk="0" fontAlgn="auto" hangingPunct="0">
                <a:spcBef>
                  <a:spcPts val="0"/>
                </a:spcBef>
                <a:spcAft>
                  <a:spcPts val="0"/>
                </a:spcAft>
                <a:defRPr/>
              </a:pPr>
              <a:r>
                <a:rPr lang="en-US" sz="1200">
                  <a:solidFill>
                    <a:srgbClr val="FFFFFF"/>
                  </a:solidFill>
                  <a:latin typeface="Arial" panose="020B0604020202020204" pitchFamily="34" charset="0"/>
                  <a:ea typeface="SimSun" pitchFamily="2" charset="-122"/>
                  <a:cs typeface="+mn-cs"/>
                </a:rPr>
                <a:t>&amp; Brokerage </a:t>
              </a:r>
            </a:p>
          </p:txBody>
        </p:sp>
      </p:grpSp>
      <p:sp>
        <p:nvSpPr>
          <p:cNvPr id="47" name="Isosceles Triangle 46"/>
          <p:cNvSpPr/>
          <p:nvPr/>
        </p:nvSpPr>
        <p:spPr bwMode="auto">
          <a:xfrm rot="10800000">
            <a:off x="2593463" y="4754879"/>
            <a:ext cx="4876801" cy="245202"/>
          </a:xfrm>
          <a:prstGeom prst="triangle">
            <a:avLst>
              <a:gd name="adj" fmla="val 50521"/>
            </a:avLst>
          </a:prstGeom>
          <a:solidFill>
            <a:srgbClr val="CECFDF">
              <a:alpha val="98824"/>
            </a:srgbClr>
          </a:solidFill>
          <a:ln w="9525" cap="flat" cmpd="sng" algn="ctr">
            <a:solidFill>
              <a:srgbClr val="CECFD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eaLnBrk="0" fontAlgn="auto" hangingPunct="0">
              <a:spcBef>
                <a:spcPts val="0"/>
              </a:spcBef>
              <a:spcAft>
                <a:spcPts val="0"/>
              </a:spcAft>
              <a:defRPr/>
            </a:pPr>
            <a:endParaRPr lang="en-US" sz="1200" b="0">
              <a:solidFill>
                <a:srgbClr val="0000FF"/>
              </a:solidFill>
              <a:latin typeface="Arial" panose="020B0604020202020204" pitchFamily="34" charset="0"/>
              <a:ea typeface="DFKaiShu-GB5"/>
              <a:cs typeface="+mn-cs"/>
            </a:endParaRPr>
          </a:p>
        </p:txBody>
      </p:sp>
      <p:pic>
        <p:nvPicPr>
          <p:cNvPr id="48" name="Picture 3" descr="C:\Users\sophiachia\Desktop\Picture1.tif"/>
          <p:cNvPicPr>
            <a:picLocks noChangeAspect="1" noChangeArrowheads="1"/>
          </p:cNvPicPr>
          <p:nvPr/>
        </p:nvPicPr>
        <p:blipFill>
          <a:blip r:embed="rId4" cstate="print"/>
          <a:stretch>
            <a:fillRect/>
          </a:stretch>
        </p:blipFill>
        <p:spPr bwMode="auto">
          <a:xfrm>
            <a:off x="7036902" y="5168846"/>
            <a:ext cx="1812478" cy="890575"/>
          </a:xfrm>
          <a:prstGeom prst="rect">
            <a:avLst/>
          </a:prstGeom>
          <a:noFill/>
        </p:spPr>
      </p:pic>
      <p:sp>
        <p:nvSpPr>
          <p:cNvPr id="49" name="Rectangle 48"/>
          <p:cNvSpPr/>
          <p:nvPr/>
        </p:nvSpPr>
        <p:spPr>
          <a:xfrm>
            <a:off x="1060423" y="5309757"/>
            <a:ext cx="6095092" cy="523220"/>
          </a:xfrm>
          <a:prstGeom prst="rect">
            <a:avLst/>
          </a:prstGeom>
        </p:spPr>
        <p:txBody>
          <a:bodyPr wrap="square">
            <a:spAutoFit/>
          </a:bodyPr>
          <a:lstStyle/>
          <a:p>
            <a:pPr fontAlgn="auto">
              <a:spcBef>
                <a:spcPts val="0"/>
              </a:spcBef>
              <a:spcAft>
                <a:spcPts val="0"/>
              </a:spcAft>
              <a:defRPr/>
            </a:pPr>
            <a:r>
              <a:rPr lang="en-SG" sz="1400">
                <a:solidFill>
                  <a:srgbClr val="000000"/>
                </a:solidFill>
                <a:latin typeface="Arial" panose="020B0604020202020204" pitchFamily="34" charset="0"/>
                <a:ea typeface="DFKaiShu-GB5"/>
                <a:cs typeface="+mn-cs"/>
              </a:rPr>
              <a:t>Our product capabilities and unique Asian insights have transformed DBS into a </a:t>
            </a:r>
            <a:r>
              <a:rPr lang="en-SG" sz="1400">
                <a:solidFill>
                  <a:srgbClr val="E3BC99">
                    <a:lumMod val="50000"/>
                  </a:srgbClr>
                </a:solidFill>
                <a:latin typeface="Arial" panose="020B0604020202020204" pitchFamily="34" charset="0"/>
                <a:ea typeface="DFKaiShu-GB5"/>
                <a:cs typeface="+mn-cs"/>
              </a:rPr>
              <a:t>Leading Asian Bank </a:t>
            </a:r>
            <a:r>
              <a:rPr lang="en-SG" sz="1400">
                <a:solidFill>
                  <a:srgbClr val="000000"/>
                </a:solidFill>
                <a:latin typeface="Arial" panose="020B0604020202020204" pitchFamily="34" charset="0"/>
                <a:ea typeface="DFKaiShu-GB5"/>
                <a:cs typeface="+mn-cs"/>
              </a:rPr>
              <a:t>with </a:t>
            </a:r>
            <a:r>
              <a:rPr lang="en-SG" sz="1400">
                <a:solidFill>
                  <a:srgbClr val="E3BC99">
                    <a:lumMod val="50000"/>
                  </a:srgbClr>
                </a:solidFill>
                <a:latin typeface="Arial" panose="020B0604020202020204" pitchFamily="34" charset="0"/>
                <a:ea typeface="DFKaiShu-GB5"/>
                <a:cs typeface="+mn-cs"/>
              </a:rPr>
              <a:t>Global Relationships</a:t>
            </a:r>
            <a:endParaRPr lang="en-US" sz="1400">
              <a:solidFill>
                <a:srgbClr val="C00000"/>
              </a:solidFill>
              <a:latin typeface="Arial" panose="020B0604020202020204" pitchFamily="34" charset="0"/>
              <a:ea typeface="DFKaiShu-GB5"/>
              <a:cs typeface="+mn-cs"/>
            </a:endParaRPr>
          </a:p>
        </p:txBody>
      </p:sp>
      <p:sp>
        <p:nvSpPr>
          <p:cNvPr id="7" name="Slide Number Placeholder 6">
            <a:extLst>
              <a:ext uri="{FF2B5EF4-FFF2-40B4-BE49-F238E27FC236}">
                <a16:creationId xmlns:a16="http://schemas.microsoft.com/office/drawing/2014/main" id="{D1253364-3910-83A8-CBDF-6FE4D8825727}"/>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7</a:t>
            </a:fld>
            <a:endParaRPr lang="en-US" altLang="en-US" b="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D276B3B-F1C4-1EF7-2836-72E75B1070E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17153" y="381000"/>
            <a:ext cx="8999603" cy="577850"/>
          </a:xfrm>
        </p:spPr>
        <p:txBody>
          <a:bodyPr/>
          <a:lstStyle/>
          <a:p>
            <a:r>
              <a:rPr lang="en-US" altLang="zh-CN" sz="2000" dirty="0">
                <a:latin typeface="Arial" panose="020B0604020202020204" pitchFamily="34" charset="0"/>
                <a:cs typeface="Arial" panose="020B0604020202020204" pitchFamily="34" charset="0"/>
              </a:rPr>
              <a:t>DBS Provides Comprehensive Support, Empowering Every Step</a:t>
            </a:r>
            <a:endParaRPr lang="en-US" sz="2000" dirty="0">
              <a:latin typeface="Arial" panose="020B0604020202020204" pitchFamily="34" charset="0"/>
              <a:ea typeface="+mj-ea"/>
              <a:cs typeface="Arial" panose="020B0604020202020204" pitchFamily="34" charset="0"/>
            </a:endParaRPr>
          </a:p>
        </p:txBody>
      </p:sp>
      <p:sp>
        <p:nvSpPr>
          <p:cNvPr id="8" name="Arc 7">
            <a:extLst>
              <a:ext uri="{FF2B5EF4-FFF2-40B4-BE49-F238E27FC236}">
                <a16:creationId xmlns:a16="http://schemas.microsoft.com/office/drawing/2014/main" id="{75C67A5D-4BB7-62F8-67BF-B5757EC765DA}"/>
              </a:ext>
            </a:extLst>
          </p:cNvPr>
          <p:cNvSpPr/>
          <p:nvPr/>
        </p:nvSpPr>
        <p:spPr>
          <a:xfrm rot="10800000">
            <a:off x="2893985" y="3722855"/>
            <a:ext cx="1193857" cy="1609730"/>
          </a:xfrm>
          <a:prstGeom prst="arc">
            <a:avLst>
              <a:gd name="adj1" fmla="val 16211550"/>
              <a:gd name="adj2" fmla="val 5391112"/>
            </a:avLst>
          </a:prstGeom>
          <a:ln w="635000">
            <a:solidFill>
              <a:schemeClr val="accent3"/>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sp>
        <p:nvSpPr>
          <p:cNvPr id="10" name="Arc 9">
            <a:extLst>
              <a:ext uri="{FF2B5EF4-FFF2-40B4-BE49-F238E27FC236}">
                <a16:creationId xmlns:a16="http://schemas.microsoft.com/office/drawing/2014/main" id="{ACE4EAAC-FBDF-09B1-B136-20D84723E7CC}"/>
              </a:ext>
            </a:extLst>
          </p:cNvPr>
          <p:cNvSpPr/>
          <p:nvPr/>
        </p:nvSpPr>
        <p:spPr>
          <a:xfrm>
            <a:off x="5567934" y="2113125"/>
            <a:ext cx="1193857" cy="1609730"/>
          </a:xfrm>
          <a:prstGeom prst="arc">
            <a:avLst>
              <a:gd name="adj1" fmla="val 16211550"/>
              <a:gd name="adj2" fmla="val 5391112"/>
            </a:avLst>
          </a:prstGeom>
          <a:ln w="635000">
            <a:solidFill>
              <a:srgbClr val="C00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cxnSp>
        <p:nvCxnSpPr>
          <p:cNvPr id="11" name="Straight Connector 10">
            <a:extLst>
              <a:ext uri="{FF2B5EF4-FFF2-40B4-BE49-F238E27FC236}">
                <a16:creationId xmlns:a16="http://schemas.microsoft.com/office/drawing/2014/main" id="{C9E63955-0CF4-CE5B-CEEC-EF1F7803FD8A}"/>
              </a:ext>
            </a:extLst>
          </p:cNvPr>
          <p:cNvCxnSpPr>
            <a:cxnSpLocks/>
          </p:cNvCxnSpPr>
          <p:nvPr/>
        </p:nvCxnSpPr>
        <p:spPr>
          <a:xfrm flipV="1">
            <a:off x="3461053" y="3722854"/>
            <a:ext cx="2733669" cy="5"/>
          </a:xfrm>
          <a:prstGeom prst="line">
            <a:avLst/>
          </a:prstGeom>
          <a:ln w="6350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856B3EA-82C2-D166-024A-0D2146F015C3}"/>
              </a:ext>
            </a:extLst>
          </p:cNvPr>
          <p:cNvCxnSpPr>
            <a:cxnSpLocks/>
          </p:cNvCxnSpPr>
          <p:nvPr/>
        </p:nvCxnSpPr>
        <p:spPr>
          <a:xfrm>
            <a:off x="3393992" y="5332580"/>
            <a:ext cx="3819324" cy="0"/>
          </a:xfrm>
          <a:prstGeom prst="line">
            <a:avLst/>
          </a:prstGeom>
          <a:ln w="6350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64D3895-D164-824F-7B0D-8B53F2EFAC98}"/>
              </a:ext>
            </a:extLst>
          </p:cNvPr>
          <p:cNvCxnSpPr/>
          <p:nvPr/>
        </p:nvCxnSpPr>
        <p:spPr>
          <a:xfrm>
            <a:off x="1245414" y="2101969"/>
            <a:ext cx="2155909" cy="5"/>
          </a:xfrm>
          <a:prstGeom prst="line">
            <a:avLst/>
          </a:prstGeom>
          <a:ln w="635000" cap="rnd">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Arc 16">
            <a:extLst>
              <a:ext uri="{FF2B5EF4-FFF2-40B4-BE49-F238E27FC236}">
                <a16:creationId xmlns:a16="http://schemas.microsoft.com/office/drawing/2014/main" id="{5803B750-3399-EA37-998D-15534348E0CC}"/>
              </a:ext>
            </a:extLst>
          </p:cNvPr>
          <p:cNvSpPr/>
          <p:nvPr/>
        </p:nvSpPr>
        <p:spPr>
          <a:xfrm rot="10800000">
            <a:off x="3384741" y="4117524"/>
            <a:ext cx="445367" cy="831664"/>
          </a:xfrm>
          <a:prstGeom prst="arc">
            <a:avLst>
              <a:gd name="adj1" fmla="val 16211550"/>
              <a:gd name="adj2" fmla="val 5391112"/>
            </a:avLst>
          </a:prstGeom>
          <a:ln w="22225">
            <a:solidFill>
              <a:schemeClr val="tx1">
                <a:lumMod val="50000"/>
                <a:lumOff val="50000"/>
              </a:schemeClr>
            </a:solidFill>
            <a:prstDash val="sysDash"/>
            <a:headEnd type="triangl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sp>
        <p:nvSpPr>
          <p:cNvPr id="18" name="Arc 17">
            <a:extLst>
              <a:ext uri="{FF2B5EF4-FFF2-40B4-BE49-F238E27FC236}">
                <a16:creationId xmlns:a16="http://schemas.microsoft.com/office/drawing/2014/main" id="{8B4FA76A-B547-B834-2C2F-FE3FA94A4BEC}"/>
              </a:ext>
            </a:extLst>
          </p:cNvPr>
          <p:cNvSpPr/>
          <p:nvPr/>
        </p:nvSpPr>
        <p:spPr>
          <a:xfrm>
            <a:off x="5849738" y="2523048"/>
            <a:ext cx="445367" cy="808955"/>
          </a:xfrm>
          <a:prstGeom prst="arc">
            <a:avLst>
              <a:gd name="adj1" fmla="val 16211550"/>
              <a:gd name="adj2" fmla="val 5310513"/>
            </a:avLst>
          </a:prstGeom>
          <a:ln w="22225">
            <a:solidFill>
              <a:schemeClr val="tx1">
                <a:lumMod val="50000"/>
                <a:lumOff val="50000"/>
              </a:schemeClr>
            </a:solidFill>
            <a:prstDash val="sysDash"/>
            <a:headEnd type="none"/>
            <a:tailEnd type="triangl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cxnSp>
        <p:nvCxnSpPr>
          <p:cNvPr id="19" name="Straight Arrow Connector 18">
            <a:extLst>
              <a:ext uri="{FF2B5EF4-FFF2-40B4-BE49-F238E27FC236}">
                <a16:creationId xmlns:a16="http://schemas.microsoft.com/office/drawing/2014/main" id="{F4CED54C-352C-3110-2C95-709A0F74DFBD}"/>
              </a:ext>
            </a:extLst>
          </p:cNvPr>
          <p:cNvCxnSpPr/>
          <p:nvPr/>
        </p:nvCxnSpPr>
        <p:spPr>
          <a:xfrm>
            <a:off x="4939628" y="5794062"/>
            <a:ext cx="1190951" cy="0"/>
          </a:xfrm>
          <a:prstGeom prst="straightConnector1">
            <a:avLst/>
          </a:prstGeom>
          <a:ln w="22225">
            <a:solidFill>
              <a:schemeClr val="tx1">
                <a:lumMod val="50000"/>
                <a:lumOff val="50000"/>
              </a:schemeClr>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F6559E8-BA22-3FFA-BDBE-B82E137C991D}"/>
              </a:ext>
            </a:extLst>
          </p:cNvPr>
          <p:cNvCxnSpPr/>
          <p:nvPr/>
        </p:nvCxnSpPr>
        <p:spPr>
          <a:xfrm>
            <a:off x="2792656" y="1233894"/>
            <a:ext cx="984257" cy="0"/>
          </a:xfrm>
          <a:prstGeom prst="straightConnector1">
            <a:avLst/>
          </a:prstGeom>
          <a:ln w="22225">
            <a:solidFill>
              <a:schemeClr val="tx1">
                <a:lumMod val="50000"/>
                <a:lumOff val="50000"/>
              </a:schemeClr>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7F5D2FE-C289-A02B-ED9E-24091F8926A3}"/>
              </a:ext>
            </a:extLst>
          </p:cNvPr>
          <p:cNvSpPr txBox="1"/>
          <p:nvPr/>
        </p:nvSpPr>
        <p:spPr>
          <a:xfrm>
            <a:off x="791175" y="1397215"/>
            <a:ext cx="1752540" cy="307777"/>
          </a:xfrm>
          <a:prstGeom prst="rect">
            <a:avLst/>
          </a:prstGeom>
          <a:noFill/>
        </p:spPr>
        <p:txBody>
          <a:bodyPr wrap="square" rtlCol="0">
            <a:spAutoFit/>
          </a:bodyPr>
          <a:lstStyle/>
          <a:p>
            <a:pPr fontAlgn="auto">
              <a:spcBef>
                <a:spcPts val="0"/>
              </a:spcBef>
              <a:spcAft>
                <a:spcPts val="0"/>
              </a:spcAft>
            </a:pPr>
            <a:r>
              <a:rPr lang="en-US" altLang="zh-CN" sz="1400" dirty="0">
                <a:solidFill>
                  <a:srgbClr val="000000"/>
                </a:solidFill>
                <a:latin typeface="Arial" panose="020B0604020202020204" pitchFamily="34" charset="0"/>
                <a:ea typeface="STKaiti"/>
                <a:cs typeface="Arial" panose="020B0604020202020204" pitchFamily="34" charset="0"/>
              </a:rPr>
              <a:t>Pre-IPO Financing</a:t>
            </a:r>
            <a:endParaRPr lang="en-US" sz="1400" dirty="0">
              <a:solidFill>
                <a:srgbClr val="000000"/>
              </a:solidFill>
              <a:latin typeface="Arial" panose="020B0604020202020204" pitchFamily="34" charset="0"/>
              <a:ea typeface="STKaiti"/>
              <a:cs typeface="Arial" panose="020B0604020202020204" pitchFamily="34" charset="0"/>
            </a:endParaRPr>
          </a:p>
        </p:txBody>
      </p:sp>
      <p:sp>
        <p:nvSpPr>
          <p:cNvPr id="23" name="TextBox 22">
            <a:extLst>
              <a:ext uri="{FF2B5EF4-FFF2-40B4-BE49-F238E27FC236}">
                <a16:creationId xmlns:a16="http://schemas.microsoft.com/office/drawing/2014/main" id="{6A8584A7-EE74-EC48-84E6-A88DFF839E69}"/>
              </a:ext>
            </a:extLst>
          </p:cNvPr>
          <p:cNvSpPr txBox="1"/>
          <p:nvPr/>
        </p:nvSpPr>
        <p:spPr>
          <a:xfrm>
            <a:off x="4278900" y="1397215"/>
            <a:ext cx="1566228" cy="307777"/>
          </a:xfrm>
          <a:prstGeom prst="rect">
            <a:avLst/>
          </a:prstGeom>
          <a:noFill/>
        </p:spPr>
        <p:txBody>
          <a:bodyPr wrap="square" rtlCol="0">
            <a:spAutoFit/>
          </a:bodyPr>
          <a:lstStyle/>
          <a:p>
            <a:pPr algn="ctr" fontAlgn="auto">
              <a:spcBef>
                <a:spcPts val="0"/>
              </a:spcBef>
              <a:spcAft>
                <a:spcPts val="0"/>
              </a:spcAft>
            </a:pPr>
            <a:r>
              <a:rPr lang="en-US" altLang="zh-CN" sz="1400" dirty="0">
                <a:solidFill>
                  <a:srgbClr val="000000"/>
                </a:solidFill>
                <a:latin typeface="Arial" panose="020B0604020202020204" pitchFamily="34" charset="0"/>
                <a:ea typeface="STKaiti"/>
                <a:cs typeface="Arial" panose="020B0604020202020204" pitchFamily="34" charset="0"/>
              </a:rPr>
              <a:t>IPO Sponsor</a:t>
            </a:r>
            <a:endParaRPr lang="en-US" sz="1400" dirty="0">
              <a:solidFill>
                <a:srgbClr val="000000"/>
              </a:solidFill>
              <a:latin typeface="Arial" panose="020B0604020202020204" pitchFamily="34" charset="0"/>
              <a:ea typeface="STKaiti"/>
              <a:cs typeface="Arial" panose="020B0604020202020204" pitchFamily="34" charset="0"/>
            </a:endParaRPr>
          </a:p>
        </p:txBody>
      </p:sp>
      <p:sp>
        <p:nvSpPr>
          <p:cNvPr id="24" name="TextBox 23">
            <a:extLst>
              <a:ext uri="{FF2B5EF4-FFF2-40B4-BE49-F238E27FC236}">
                <a16:creationId xmlns:a16="http://schemas.microsoft.com/office/drawing/2014/main" id="{2B83B184-15FD-9B4E-357E-E69451714AF7}"/>
              </a:ext>
            </a:extLst>
          </p:cNvPr>
          <p:cNvSpPr txBox="1"/>
          <p:nvPr/>
        </p:nvSpPr>
        <p:spPr>
          <a:xfrm>
            <a:off x="7043009" y="1446040"/>
            <a:ext cx="2473131" cy="1446550"/>
          </a:xfrm>
          <a:prstGeom prst="rect">
            <a:avLst/>
          </a:prstGeom>
          <a:noFill/>
        </p:spPr>
        <p:txBody>
          <a:bodyPr wrap="square" rtlCol="0">
            <a:spAutoFit/>
          </a:bodyPr>
          <a:lstStyle/>
          <a:p>
            <a:pPr fontAlgn="auto">
              <a:spcBef>
                <a:spcPts val="0"/>
              </a:spcBef>
              <a:spcAft>
                <a:spcPts val="0"/>
              </a:spcAft>
            </a:pPr>
            <a:r>
              <a:rPr lang="en-US" altLang="zh-CN" sz="1400" dirty="0">
                <a:solidFill>
                  <a:srgbClr val="000000"/>
                </a:solidFill>
                <a:latin typeface="Arial" panose="020B0604020202020204" pitchFamily="34" charset="0"/>
                <a:ea typeface="STKaiti"/>
                <a:cs typeface="Arial" panose="020B0604020202020204" pitchFamily="34" charset="0"/>
              </a:rPr>
              <a:t>Overall Coordinator/Global Coordinator/Bookrunner</a:t>
            </a:r>
            <a:br>
              <a:rPr lang="en-US" altLang="zh-CN" sz="1200" b="0" dirty="0">
                <a:solidFill>
                  <a:srgbClr val="000000"/>
                </a:solidFill>
                <a:latin typeface="Arial" panose="020B0604020202020204" pitchFamily="34" charset="0"/>
                <a:ea typeface="STKaiti"/>
                <a:cs typeface="Arial" panose="020B0604020202020204" pitchFamily="34" charset="0"/>
              </a:rPr>
            </a:br>
            <a:r>
              <a:rPr lang="en-US" altLang="zh-CN" sz="1200" b="0" dirty="0">
                <a:solidFill>
                  <a:srgbClr val="000000"/>
                </a:solidFill>
                <a:latin typeface="Arial" panose="020B0604020202020204" pitchFamily="34" charset="0"/>
                <a:ea typeface="STKaiti"/>
                <a:cs typeface="Arial" panose="020B0604020202020204" pitchFamily="34" charset="0"/>
              </a:rPr>
              <a:t>DBS has an outstanding track record in introducing cornerstone / anchor investors, with cases including CIG, </a:t>
            </a:r>
            <a:r>
              <a:rPr lang="en-US" altLang="zh-CN" sz="1200" b="0" dirty="0" err="1">
                <a:solidFill>
                  <a:srgbClr val="000000"/>
                </a:solidFill>
                <a:latin typeface="Arial" panose="020B0604020202020204" pitchFamily="34" charset="0"/>
                <a:ea typeface="STKaiti"/>
                <a:cs typeface="Arial" panose="020B0604020202020204" pitchFamily="34" charset="0"/>
              </a:rPr>
              <a:t>Hesai</a:t>
            </a:r>
            <a:r>
              <a:rPr lang="en-US" altLang="zh-CN" sz="1200" b="0" dirty="0">
                <a:solidFill>
                  <a:srgbClr val="000000"/>
                </a:solidFill>
                <a:latin typeface="Arial" panose="020B0604020202020204" pitchFamily="34" charset="0"/>
                <a:ea typeface="STKaiti"/>
                <a:cs typeface="Arial" panose="020B0604020202020204" pitchFamily="34" charset="0"/>
              </a:rPr>
              <a:t>, Geek+, Nanshan </a:t>
            </a:r>
            <a:r>
              <a:rPr lang="en-US" altLang="zh-CN" sz="1200" b="0" dirty="0" err="1">
                <a:solidFill>
                  <a:srgbClr val="000000"/>
                </a:solidFill>
                <a:latin typeface="Arial" panose="020B0604020202020204" pitchFamily="34" charset="0"/>
                <a:ea typeface="STKaiti"/>
                <a:cs typeface="Arial" panose="020B0604020202020204" pitchFamily="34" charset="0"/>
              </a:rPr>
              <a:t>Aluminium</a:t>
            </a:r>
            <a:r>
              <a:rPr lang="en-US" altLang="zh-CN" sz="1200" b="0" dirty="0">
                <a:solidFill>
                  <a:srgbClr val="000000"/>
                </a:solidFill>
                <a:latin typeface="Arial" panose="020B0604020202020204" pitchFamily="34" charset="0"/>
                <a:ea typeface="STKaiti"/>
                <a:cs typeface="Arial" panose="020B0604020202020204" pitchFamily="34" charset="0"/>
              </a:rPr>
              <a:t>,  JLMAG</a:t>
            </a:r>
            <a:endParaRPr lang="en-US" sz="1200" b="0" dirty="0">
              <a:solidFill>
                <a:srgbClr val="000000"/>
              </a:solidFill>
              <a:latin typeface="Arial" panose="020B0604020202020204" pitchFamily="34" charset="0"/>
              <a:ea typeface="STKaiti"/>
              <a:cs typeface="Arial" panose="020B0604020202020204" pitchFamily="34" charset="0"/>
            </a:endParaRPr>
          </a:p>
        </p:txBody>
      </p:sp>
      <p:grpSp>
        <p:nvGrpSpPr>
          <p:cNvPr id="25" name="Group 24">
            <a:extLst>
              <a:ext uri="{FF2B5EF4-FFF2-40B4-BE49-F238E27FC236}">
                <a16:creationId xmlns:a16="http://schemas.microsoft.com/office/drawing/2014/main" id="{D3CF342C-AC96-D9B4-5C8F-D44B052D9BD9}"/>
              </a:ext>
            </a:extLst>
          </p:cNvPr>
          <p:cNvGrpSpPr/>
          <p:nvPr/>
        </p:nvGrpSpPr>
        <p:grpSpPr>
          <a:xfrm>
            <a:off x="6163034" y="3225934"/>
            <a:ext cx="763571" cy="763571"/>
            <a:chOff x="3498243" y="2957711"/>
            <a:chExt cx="763571" cy="763571"/>
          </a:xfrm>
        </p:grpSpPr>
        <p:sp>
          <p:nvSpPr>
            <p:cNvPr id="45" name="Oval 44">
              <a:extLst>
                <a:ext uri="{FF2B5EF4-FFF2-40B4-BE49-F238E27FC236}">
                  <a16:creationId xmlns:a16="http://schemas.microsoft.com/office/drawing/2014/main" id="{CD183432-D31E-5AAE-D5C4-48B3DB5A02F0}"/>
                </a:ext>
              </a:extLst>
            </p:cNvPr>
            <p:cNvSpPr/>
            <p:nvPr/>
          </p:nvSpPr>
          <p:spPr>
            <a:xfrm>
              <a:off x="3498243" y="2957711"/>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pic>
          <p:nvPicPr>
            <p:cNvPr id="51" name="Picture 50">
              <a:extLst>
                <a:ext uri="{FF2B5EF4-FFF2-40B4-BE49-F238E27FC236}">
                  <a16:creationId xmlns:a16="http://schemas.microsoft.com/office/drawing/2014/main" id="{9AD6EFB1-89BE-8DB6-31CA-622AECDB4F9D}"/>
                </a:ext>
              </a:extLst>
            </p:cNvPr>
            <p:cNvPicPr>
              <a:picLocks noChangeAspect="1"/>
            </p:cNvPicPr>
            <p:nvPr/>
          </p:nvPicPr>
          <p:blipFill>
            <a:blip r:embed="rId3"/>
            <a:stretch>
              <a:fillRect/>
            </a:stretch>
          </p:blipFill>
          <p:spPr>
            <a:xfrm>
              <a:off x="3635827" y="3047223"/>
              <a:ext cx="548640" cy="548640"/>
            </a:xfrm>
            <a:prstGeom prst="rect">
              <a:avLst/>
            </a:prstGeom>
          </p:spPr>
        </p:pic>
      </p:grpSp>
      <p:sp>
        <p:nvSpPr>
          <p:cNvPr id="52" name="TextBox 51">
            <a:extLst>
              <a:ext uri="{FF2B5EF4-FFF2-40B4-BE49-F238E27FC236}">
                <a16:creationId xmlns:a16="http://schemas.microsoft.com/office/drawing/2014/main" id="{4ADA95AA-375F-6749-F47B-50F5D146D6A5}"/>
              </a:ext>
            </a:extLst>
          </p:cNvPr>
          <p:cNvSpPr txBox="1"/>
          <p:nvPr/>
        </p:nvSpPr>
        <p:spPr>
          <a:xfrm>
            <a:off x="7056352" y="3315331"/>
            <a:ext cx="2459788" cy="523220"/>
          </a:xfrm>
          <a:prstGeom prst="rect">
            <a:avLst/>
          </a:prstGeom>
          <a:noFill/>
        </p:spPr>
        <p:txBody>
          <a:bodyPr wrap="square" rtlCol="0">
            <a:spAutoFit/>
          </a:bodyPr>
          <a:lstStyle/>
          <a:p>
            <a:pPr fontAlgn="auto">
              <a:spcBef>
                <a:spcPts val="0"/>
              </a:spcBef>
              <a:spcAft>
                <a:spcPts val="0"/>
              </a:spcAft>
            </a:pPr>
            <a:r>
              <a:rPr lang="en-US" altLang="zh-CN" sz="1400" dirty="0">
                <a:solidFill>
                  <a:srgbClr val="000000"/>
                </a:solidFill>
                <a:latin typeface="Arial" panose="020B0604020202020204" pitchFamily="34" charset="0"/>
                <a:ea typeface="STKaiti"/>
                <a:cs typeface="Arial" panose="020B0604020202020204" pitchFamily="34" charset="0"/>
              </a:rPr>
              <a:t>Preparation of Pre-Listing</a:t>
            </a:r>
            <a:br>
              <a:rPr lang="en-US" altLang="zh-CN" sz="1400" dirty="0">
                <a:solidFill>
                  <a:srgbClr val="000000"/>
                </a:solidFill>
                <a:latin typeface="Arial" panose="020B0604020202020204" pitchFamily="34" charset="0"/>
                <a:ea typeface="STKaiti"/>
                <a:cs typeface="Arial" panose="020B0604020202020204" pitchFamily="34" charset="0"/>
              </a:rPr>
            </a:br>
            <a:r>
              <a:rPr lang="en-US" altLang="zh-CN" sz="1400" dirty="0">
                <a:solidFill>
                  <a:srgbClr val="000000"/>
                </a:solidFill>
                <a:latin typeface="Arial" panose="020B0604020202020204" pitchFamily="34" charset="0"/>
                <a:ea typeface="STKaiti"/>
                <a:cs typeface="Arial" panose="020B0604020202020204" pitchFamily="34" charset="0"/>
              </a:rPr>
              <a:t>Research Report</a:t>
            </a:r>
            <a:endParaRPr lang="en-US" sz="1400" dirty="0">
              <a:solidFill>
                <a:srgbClr val="000000"/>
              </a:solidFill>
              <a:latin typeface="Arial" panose="020B0604020202020204" pitchFamily="34" charset="0"/>
              <a:ea typeface="STKaiti"/>
              <a:cs typeface="Arial" panose="020B0604020202020204" pitchFamily="34" charset="0"/>
            </a:endParaRPr>
          </a:p>
        </p:txBody>
      </p:sp>
      <p:cxnSp>
        <p:nvCxnSpPr>
          <p:cNvPr id="53" name="Straight Connector 52">
            <a:extLst>
              <a:ext uri="{FF2B5EF4-FFF2-40B4-BE49-F238E27FC236}">
                <a16:creationId xmlns:a16="http://schemas.microsoft.com/office/drawing/2014/main" id="{933CBA17-3578-9D3B-44F0-32F573A5FC52}"/>
              </a:ext>
            </a:extLst>
          </p:cNvPr>
          <p:cNvCxnSpPr>
            <a:cxnSpLocks/>
          </p:cNvCxnSpPr>
          <p:nvPr/>
        </p:nvCxnSpPr>
        <p:spPr>
          <a:xfrm flipV="1">
            <a:off x="3431193" y="2107373"/>
            <a:ext cx="2733669" cy="5"/>
          </a:xfrm>
          <a:prstGeom prst="line">
            <a:avLst/>
          </a:prstGeom>
          <a:ln w="63500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396C0020-C912-2251-CCA6-7EA614FD4846}"/>
              </a:ext>
            </a:extLst>
          </p:cNvPr>
          <p:cNvGrpSpPr/>
          <p:nvPr/>
        </p:nvGrpSpPr>
        <p:grpSpPr>
          <a:xfrm>
            <a:off x="1670236" y="2134338"/>
            <a:ext cx="6529707" cy="3160745"/>
            <a:chOff x="1475820" y="2305589"/>
            <a:chExt cx="7751927" cy="2848396"/>
          </a:xfrm>
        </p:grpSpPr>
        <p:sp>
          <p:nvSpPr>
            <p:cNvPr id="55" name="Arc 54">
              <a:extLst>
                <a:ext uri="{FF2B5EF4-FFF2-40B4-BE49-F238E27FC236}">
                  <a16:creationId xmlns:a16="http://schemas.microsoft.com/office/drawing/2014/main" id="{816A4827-B066-B931-CF41-DD954372C868}"/>
                </a:ext>
              </a:extLst>
            </p:cNvPr>
            <p:cNvSpPr/>
            <p:nvPr/>
          </p:nvSpPr>
          <p:spPr>
            <a:xfrm>
              <a:off x="6186325" y="2305594"/>
              <a:ext cx="1417320" cy="1417320"/>
            </a:xfrm>
            <a:prstGeom prst="arc">
              <a:avLst>
                <a:gd name="adj1" fmla="val 16211550"/>
                <a:gd name="adj2" fmla="val 5391112"/>
              </a:avLst>
            </a:prstGeom>
            <a:ln w="47625">
              <a:solidFill>
                <a:schemeClr val="bg1"/>
              </a:solidFill>
              <a:prstDash val="dash"/>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sp>
          <p:nvSpPr>
            <p:cNvPr id="56" name="Arc 55">
              <a:extLst>
                <a:ext uri="{FF2B5EF4-FFF2-40B4-BE49-F238E27FC236}">
                  <a16:creationId xmlns:a16="http://schemas.microsoft.com/office/drawing/2014/main" id="{C7B025F9-B278-D60E-BDBF-5761CB6616B6}"/>
                </a:ext>
              </a:extLst>
            </p:cNvPr>
            <p:cNvSpPr/>
            <p:nvPr/>
          </p:nvSpPr>
          <p:spPr>
            <a:xfrm rot="10800000">
              <a:off x="2930098" y="3722914"/>
              <a:ext cx="1417320" cy="1417320"/>
            </a:xfrm>
            <a:prstGeom prst="arc">
              <a:avLst>
                <a:gd name="adj1" fmla="val 16211550"/>
                <a:gd name="adj2" fmla="val 5391112"/>
              </a:avLst>
            </a:prstGeom>
            <a:ln w="47625">
              <a:solidFill>
                <a:schemeClr val="bg1"/>
              </a:solidFill>
              <a:prstDash val="dash"/>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cxnSp>
          <p:nvCxnSpPr>
            <p:cNvPr id="57" name="Straight Connector 56">
              <a:extLst>
                <a:ext uri="{FF2B5EF4-FFF2-40B4-BE49-F238E27FC236}">
                  <a16:creationId xmlns:a16="http://schemas.microsoft.com/office/drawing/2014/main" id="{EEB15C73-C081-CBBA-82BB-0E1A6D492145}"/>
                </a:ext>
              </a:extLst>
            </p:cNvPr>
            <p:cNvCxnSpPr>
              <a:cxnSpLocks/>
              <a:endCxn id="55" idx="2"/>
            </p:cNvCxnSpPr>
            <p:nvPr/>
          </p:nvCxnSpPr>
          <p:spPr>
            <a:xfrm flipV="1">
              <a:off x="3685084" y="3722912"/>
              <a:ext cx="3211733" cy="7"/>
            </a:xfrm>
            <a:prstGeom prst="line">
              <a:avLst/>
            </a:prstGeom>
            <a:ln w="4762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D39CA2E-EE22-B476-A812-6F61FB16D296}"/>
                </a:ext>
              </a:extLst>
            </p:cNvPr>
            <p:cNvCxnSpPr>
              <a:cxnSpLocks/>
            </p:cNvCxnSpPr>
            <p:nvPr/>
          </p:nvCxnSpPr>
          <p:spPr>
            <a:xfrm>
              <a:off x="3780361" y="5140234"/>
              <a:ext cx="5447386" cy="13751"/>
            </a:xfrm>
            <a:prstGeom prst="line">
              <a:avLst/>
            </a:prstGeom>
            <a:ln w="4762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F7D05E2-C177-6F1F-BF19-F29A36E5B6BE}"/>
                </a:ext>
              </a:extLst>
            </p:cNvPr>
            <p:cNvCxnSpPr>
              <a:cxnSpLocks/>
            </p:cNvCxnSpPr>
            <p:nvPr/>
          </p:nvCxnSpPr>
          <p:spPr>
            <a:xfrm>
              <a:off x="1475820" y="2305589"/>
              <a:ext cx="5306914" cy="0"/>
            </a:xfrm>
            <a:prstGeom prst="line">
              <a:avLst/>
            </a:prstGeom>
            <a:ln w="47625">
              <a:solidFill>
                <a:schemeClr val="bg1"/>
              </a:solidFill>
              <a:prstDash val="dash"/>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F93C18E8-6A5F-5A34-C881-A21F93EB1E44}"/>
              </a:ext>
            </a:extLst>
          </p:cNvPr>
          <p:cNvGrpSpPr/>
          <p:nvPr/>
        </p:nvGrpSpPr>
        <p:grpSpPr>
          <a:xfrm>
            <a:off x="4662715" y="1721174"/>
            <a:ext cx="763571" cy="763571"/>
            <a:chOff x="4905704" y="1732746"/>
            <a:chExt cx="763571" cy="763571"/>
          </a:xfrm>
        </p:grpSpPr>
        <p:sp>
          <p:nvSpPr>
            <p:cNvPr id="61" name="Oval 60">
              <a:extLst>
                <a:ext uri="{FF2B5EF4-FFF2-40B4-BE49-F238E27FC236}">
                  <a16:creationId xmlns:a16="http://schemas.microsoft.com/office/drawing/2014/main" id="{F053C432-74A2-D36C-E9D1-76070EE3D744}"/>
                </a:ext>
              </a:extLst>
            </p:cNvPr>
            <p:cNvSpPr/>
            <p:nvPr/>
          </p:nvSpPr>
          <p:spPr>
            <a:xfrm>
              <a:off x="4905704" y="1732746"/>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pic>
          <p:nvPicPr>
            <p:cNvPr id="62" name="Graphic 61" descr="Handshake with solid fill">
              <a:extLst>
                <a:ext uri="{FF2B5EF4-FFF2-40B4-BE49-F238E27FC236}">
                  <a16:creationId xmlns:a16="http://schemas.microsoft.com/office/drawing/2014/main" id="{0DD3F551-D923-CB2F-F0CE-4FEB5D8606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67449" y="1794491"/>
              <a:ext cx="640080" cy="640080"/>
            </a:xfrm>
            <a:prstGeom prst="rect">
              <a:avLst/>
            </a:prstGeom>
          </p:spPr>
        </p:pic>
      </p:grpSp>
      <p:grpSp>
        <p:nvGrpSpPr>
          <p:cNvPr id="63" name="Group 62">
            <a:extLst>
              <a:ext uri="{FF2B5EF4-FFF2-40B4-BE49-F238E27FC236}">
                <a16:creationId xmlns:a16="http://schemas.microsoft.com/office/drawing/2014/main" id="{33D3E597-2898-B7D7-956E-951E9AD8AB1D}"/>
              </a:ext>
            </a:extLst>
          </p:cNvPr>
          <p:cNvGrpSpPr/>
          <p:nvPr/>
        </p:nvGrpSpPr>
        <p:grpSpPr>
          <a:xfrm>
            <a:off x="1259118" y="1721174"/>
            <a:ext cx="763571" cy="763571"/>
            <a:chOff x="2502262" y="1732746"/>
            <a:chExt cx="763571" cy="763571"/>
          </a:xfrm>
        </p:grpSpPr>
        <p:sp>
          <p:nvSpPr>
            <p:cNvPr id="64" name="Oval 63">
              <a:extLst>
                <a:ext uri="{FF2B5EF4-FFF2-40B4-BE49-F238E27FC236}">
                  <a16:creationId xmlns:a16="http://schemas.microsoft.com/office/drawing/2014/main" id="{CFFE2E18-AAEB-F975-26BA-05D360BC0CF6}"/>
                </a:ext>
              </a:extLst>
            </p:cNvPr>
            <p:cNvSpPr/>
            <p:nvPr/>
          </p:nvSpPr>
          <p:spPr>
            <a:xfrm>
              <a:off x="2502262" y="1732746"/>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pic>
          <p:nvPicPr>
            <p:cNvPr id="65" name="Picture 64">
              <a:extLst>
                <a:ext uri="{FF2B5EF4-FFF2-40B4-BE49-F238E27FC236}">
                  <a16:creationId xmlns:a16="http://schemas.microsoft.com/office/drawing/2014/main" id="{D9E33597-0D88-BB1B-F874-2D3717A6E69D}"/>
                </a:ext>
              </a:extLst>
            </p:cNvPr>
            <p:cNvPicPr>
              <a:picLocks noChangeAspect="1"/>
            </p:cNvPicPr>
            <p:nvPr/>
          </p:nvPicPr>
          <p:blipFill>
            <a:blip r:embed="rId5"/>
            <a:stretch>
              <a:fillRect/>
            </a:stretch>
          </p:blipFill>
          <p:spPr>
            <a:xfrm>
              <a:off x="2579247" y="1809731"/>
              <a:ext cx="609600" cy="609600"/>
            </a:xfrm>
            <a:prstGeom prst="rect">
              <a:avLst/>
            </a:prstGeom>
          </p:spPr>
        </p:pic>
      </p:grpSp>
      <p:grpSp>
        <p:nvGrpSpPr>
          <p:cNvPr id="66" name="Group 65">
            <a:extLst>
              <a:ext uri="{FF2B5EF4-FFF2-40B4-BE49-F238E27FC236}">
                <a16:creationId xmlns:a16="http://schemas.microsoft.com/office/drawing/2014/main" id="{6B94B158-9FD9-B1D2-CDE2-A519298FBF5E}"/>
              </a:ext>
            </a:extLst>
          </p:cNvPr>
          <p:cNvGrpSpPr/>
          <p:nvPr/>
        </p:nvGrpSpPr>
        <p:grpSpPr>
          <a:xfrm>
            <a:off x="6165504" y="1850708"/>
            <a:ext cx="763571" cy="763571"/>
            <a:chOff x="6450034" y="2509572"/>
            <a:chExt cx="763571" cy="763571"/>
          </a:xfrm>
        </p:grpSpPr>
        <p:sp>
          <p:nvSpPr>
            <p:cNvPr id="67" name="Oval 66">
              <a:extLst>
                <a:ext uri="{FF2B5EF4-FFF2-40B4-BE49-F238E27FC236}">
                  <a16:creationId xmlns:a16="http://schemas.microsoft.com/office/drawing/2014/main" id="{751853FC-8F35-8534-6F3A-952A0B7E154D}"/>
                </a:ext>
              </a:extLst>
            </p:cNvPr>
            <p:cNvSpPr/>
            <p:nvPr/>
          </p:nvSpPr>
          <p:spPr>
            <a:xfrm>
              <a:off x="6450034" y="2509572"/>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grpSp>
          <p:nvGrpSpPr>
            <p:cNvPr id="68" name="Graphic 14" descr="Customer review">
              <a:extLst>
                <a:ext uri="{FF2B5EF4-FFF2-40B4-BE49-F238E27FC236}">
                  <a16:creationId xmlns:a16="http://schemas.microsoft.com/office/drawing/2014/main" id="{4F63B557-351E-AE57-D2DD-4BD990990ACD}"/>
                </a:ext>
              </a:extLst>
            </p:cNvPr>
            <p:cNvGrpSpPr/>
            <p:nvPr/>
          </p:nvGrpSpPr>
          <p:grpSpPr>
            <a:xfrm>
              <a:off x="6627137" y="2662739"/>
              <a:ext cx="414049" cy="454225"/>
              <a:chOff x="4686460" y="3210584"/>
              <a:chExt cx="492068" cy="539814"/>
            </a:xfrm>
          </p:grpSpPr>
          <p:sp>
            <p:nvSpPr>
              <p:cNvPr id="69" name="Freeform: Shape 68">
                <a:extLst>
                  <a:ext uri="{FF2B5EF4-FFF2-40B4-BE49-F238E27FC236}">
                    <a16:creationId xmlns:a16="http://schemas.microsoft.com/office/drawing/2014/main" id="{5C8E9247-3E3B-6D23-E07F-13C773546D93}"/>
                  </a:ext>
                </a:extLst>
              </p:cNvPr>
              <p:cNvSpPr/>
              <p:nvPr/>
            </p:nvSpPr>
            <p:spPr>
              <a:xfrm>
                <a:off x="5021162" y="3487351"/>
                <a:ext cx="101878" cy="101878"/>
              </a:xfrm>
              <a:custGeom>
                <a:avLst/>
                <a:gdLst>
                  <a:gd name="connsiteX0" fmla="*/ 105681 w 101877"/>
                  <a:gd name="connsiteY0" fmla="*/ 52840 h 101877"/>
                  <a:gd name="connsiteX1" fmla="*/ 52840 w 101877"/>
                  <a:gd name="connsiteY1" fmla="*/ 105681 h 101877"/>
                  <a:gd name="connsiteX2" fmla="*/ 0 w 101877"/>
                  <a:gd name="connsiteY2" fmla="*/ 52840 h 101877"/>
                  <a:gd name="connsiteX3" fmla="*/ 52840 w 101877"/>
                  <a:gd name="connsiteY3" fmla="*/ 0 h 101877"/>
                  <a:gd name="connsiteX4" fmla="*/ 105681 w 101877"/>
                  <a:gd name="connsiteY4" fmla="*/ 52840 h 101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877" h="101877">
                    <a:moveTo>
                      <a:pt x="105681" y="52840"/>
                    </a:moveTo>
                    <a:cubicBezTo>
                      <a:pt x="105681" y="82023"/>
                      <a:pt x="82023" y="105681"/>
                      <a:pt x="52840" y="105681"/>
                    </a:cubicBezTo>
                    <a:cubicBezTo>
                      <a:pt x="23657" y="105681"/>
                      <a:pt x="0" y="82023"/>
                      <a:pt x="0" y="52840"/>
                    </a:cubicBezTo>
                    <a:cubicBezTo>
                      <a:pt x="0" y="23657"/>
                      <a:pt x="23657" y="0"/>
                      <a:pt x="52840" y="0"/>
                    </a:cubicBezTo>
                    <a:cubicBezTo>
                      <a:pt x="82023" y="0"/>
                      <a:pt x="105681" y="23657"/>
                      <a:pt x="105681" y="52840"/>
                    </a:cubicBezTo>
                    <a:close/>
                  </a:path>
                </a:pathLst>
              </a:custGeom>
              <a:solidFill>
                <a:srgbClr val="000000"/>
              </a:solidFill>
              <a:ln w="6747"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sp>
            <p:nvSpPr>
              <p:cNvPr id="70" name="Freeform: Shape 69">
                <a:extLst>
                  <a:ext uri="{FF2B5EF4-FFF2-40B4-BE49-F238E27FC236}">
                    <a16:creationId xmlns:a16="http://schemas.microsoft.com/office/drawing/2014/main" id="{DBDC85E2-09D8-EA4B-3041-422F7C97781A}"/>
                  </a:ext>
                </a:extLst>
              </p:cNvPr>
              <p:cNvSpPr/>
              <p:nvPr/>
            </p:nvSpPr>
            <p:spPr>
              <a:xfrm>
                <a:off x="4739369" y="3487351"/>
                <a:ext cx="101878" cy="101878"/>
              </a:xfrm>
              <a:custGeom>
                <a:avLst/>
                <a:gdLst>
                  <a:gd name="connsiteX0" fmla="*/ 105681 w 101877"/>
                  <a:gd name="connsiteY0" fmla="*/ 52840 h 101877"/>
                  <a:gd name="connsiteX1" fmla="*/ 52840 w 101877"/>
                  <a:gd name="connsiteY1" fmla="*/ 105681 h 101877"/>
                  <a:gd name="connsiteX2" fmla="*/ 0 w 101877"/>
                  <a:gd name="connsiteY2" fmla="*/ 52840 h 101877"/>
                  <a:gd name="connsiteX3" fmla="*/ 52840 w 101877"/>
                  <a:gd name="connsiteY3" fmla="*/ 0 h 101877"/>
                  <a:gd name="connsiteX4" fmla="*/ 105681 w 101877"/>
                  <a:gd name="connsiteY4" fmla="*/ 52840 h 101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877" h="101877">
                    <a:moveTo>
                      <a:pt x="105681" y="52840"/>
                    </a:moveTo>
                    <a:cubicBezTo>
                      <a:pt x="105681" y="82023"/>
                      <a:pt x="82023" y="105681"/>
                      <a:pt x="52840" y="105681"/>
                    </a:cubicBezTo>
                    <a:cubicBezTo>
                      <a:pt x="23657" y="105681"/>
                      <a:pt x="0" y="82023"/>
                      <a:pt x="0" y="52840"/>
                    </a:cubicBezTo>
                    <a:cubicBezTo>
                      <a:pt x="0" y="23657"/>
                      <a:pt x="23657" y="0"/>
                      <a:pt x="52840" y="0"/>
                    </a:cubicBezTo>
                    <a:cubicBezTo>
                      <a:pt x="82023" y="0"/>
                      <a:pt x="105681" y="23657"/>
                      <a:pt x="105681" y="52840"/>
                    </a:cubicBezTo>
                    <a:close/>
                  </a:path>
                </a:pathLst>
              </a:custGeom>
              <a:solidFill>
                <a:srgbClr val="000000"/>
              </a:solidFill>
              <a:ln w="6747"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sp>
            <p:nvSpPr>
              <p:cNvPr id="71" name="Freeform: Shape 70">
                <a:extLst>
                  <a:ext uri="{FF2B5EF4-FFF2-40B4-BE49-F238E27FC236}">
                    <a16:creationId xmlns:a16="http://schemas.microsoft.com/office/drawing/2014/main" id="{0A143CA7-0073-114A-4FB4-C77840F564E1}"/>
                  </a:ext>
                </a:extLst>
              </p:cNvPr>
              <p:cNvSpPr/>
              <p:nvPr/>
            </p:nvSpPr>
            <p:spPr>
              <a:xfrm>
                <a:off x="4988357" y="3607362"/>
                <a:ext cx="190171" cy="101878"/>
              </a:xfrm>
              <a:custGeom>
                <a:avLst/>
                <a:gdLst>
                  <a:gd name="connsiteX0" fmla="*/ 180799 w 190171"/>
                  <a:gd name="connsiteY0" fmla="*/ 31447 h 101877"/>
                  <a:gd name="connsiteX1" fmla="*/ 129113 w 190171"/>
                  <a:gd name="connsiteY1" fmla="*/ 6792 h 101877"/>
                  <a:gd name="connsiteX2" fmla="*/ 85645 w 190171"/>
                  <a:gd name="connsiteY2" fmla="*/ 0 h 101877"/>
                  <a:gd name="connsiteX3" fmla="*/ 42245 w 190171"/>
                  <a:gd name="connsiteY3" fmla="*/ 6792 h 101877"/>
                  <a:gd name="connsiteX4" fmla="*/ 2445 w 190171"/>
                  <a:gd name="connsiteY4" fmla="*/ 23908 h 101877"/>
                  <a:gd name="connsiteX5" fmla="*/ 0 w 190171"/>
                  <a:gd name="connsiteY5" fmla="*/ 26692 h 101877"/>
                  <a:gd name="connsiteX6" fmla="*/ 54335 w 190171"/>
                  <a:gd name="connsiteY6" fmla="*/ 53860 h 101877"/>
                  <a:gd name="connsiteX7" fmla="*/ 74167 w 190171"/>
                  <a:gd name="connsiteY7" fmla="*/ 93728 h 101877"/>
                  <a:gd name="connsiteX8" fmla="*/ 74167 w 190171"/>
                  <a:gd name="connsiteY8" fmla="*/ 105817 h 101877"/>
                  <a:gd name="connsiteX9" fmla="*/ 191326 w 190171"/>
                  <a:gd name="connsiteY9" fmla="*/ 105817 h 101877"/>
                  <a:gd name="connsiteX10" fmla="*/ 191326 w 190171"/>
                  <a:gd name="connsiteY10" fmla="*/ 52637 h 101877"/>
                  <a:gd name="connsiteX11" fmla="*/ 180799 w 190171"/>
                  <a:gd name="connsiteY11" fmla="*/ 31447 h 10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171" h="101877">
                    <a:moveTo>
                      <a:pt x="180799" y="31447"/>
                    </a:moveTo>
                    <a:cubicBezTo>
                      <a:pt x="165554" y="19591"/>
                      <a:pt x="147920" y="11180"/>
                      <a:pt x="129113" y="6792"/>
                    </a:cubicBezTo>
                    <a:cubicBezTo>
                      <a:pt x="114977" y="2663"/>
                      <a:pt x="100366" y="379"/>
                      <a:pt x="85645" y="0"/>
                    </a:cubicBezTo>
                    <a:cubicBezTo>
                      <a:pt x="70912" y="-33"/>
                      <a:pt x="56264" y="2259"/>
                      <a:pt x="42245" y="6792"/>
                    </a:cubicBezTo>
                    <a:cubicBezTo>
                      <a:pt x="28215" y="10528"/>
                      <a:pt x="14807" y="16294"/>
                      <a:pt x="2445" y="23908"/>
                    </a:cubicBezTo>
                    <a:lnTo>
                      <a:pt x="0" y="26692"/>
                    </a:lnTo>
                    <a:cubicBezTo>
                      <a:pt x="19747" y="32023"/>
                      <a:pt x="38222" y="41261"/>
                      <a:pt x="54335" y="53860"/>
                    </a:cubicBezTo>
                    <a:cubicBezTo>
                      <a:pt x="66999" y="63164"/>
                      <a:pt x="74386" y="78015"/>
                      <a:pt x="74167" y="93728"/>
                    </a:cubicBezTo>
                    <a:lnTo>
                      <a:pt x="74167" y="105817"/>
                    </a:lnTo>
                    <a:lnTo>
                      <a:pt x="191326" y="105817"/>
                    </a:lnTo>
                    <a:lnTo>
                      <a:pt x="191326" y="52637"/>
                    </a:lnTo>
                    <a:cubicBezTo>
                      <a:pt x="191558" y="44263"/>
                      <a:pt x="187612" y="36321"/>
                      <a:pt x="180799" y="31447"/>
                    </a:cubicBezTo>
                    <a:close/>
                  </a:path>
                </a:pathLst>
              </a:custGeom>
              <a:solidFill>
                <a:srgbClr val="000000"/>
              </a:solidFill>
              <a:ln w="6747"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sp>
            <p:nvSpPr>
              <p:cNvPr id="72" name="Freeform: Shape 71">
                <a:extLst>
                  <a:ext uri="{FF2B5EF4-FFF2-40B4-BE49-F238E27FC236}">
                    <a16:creationId xmlns:a16="http://schemas.microsoft.com/office/drawing/2014/main" id="{7128E7F9-9A83-3357-543A-2FE852C0E585}"/>
                  </a:ext>
                </a:extLst>
              </p:cNvPr>
              <p:cNvSpPr/>
              <p:nvPr/>
            </p:nvSpPr>
            <p:spPr>
              <a:xfrm>
                <a:off x="4686460" y="3607362"/>
                <a:ext cx="190171" cy="101878"/>
              </a:xfrm>
              <a:custGeom>
                <a:avLst/>
                <a:gdLst>
                  <a:gd name="connsiteX0" fmla="*/ 117431 w 190171"/>
                  <a:gd name="connsiteY0" fmla="*/ 93728 h 101877"/>
                  <a:gd name="connsiteX1" fmla="*/ 136516 w 190171"/>
                  <a:gd name="connsiteY1" fmla="*/ 54539 h 101877"/>
                  <a:gd name="connsiteX2" fmla="*/ 137263 w 190171"/>
                  <a:gd name="connsiteY2" fmla="*/ 53860 h 101877"/>
                  <a:gd name="connsiteX3" fmla="*/ 138146 w 190171"/>
                  <a:gd name="connsiteY3" fmla="*/ 53248 h 101877"/>
                  <a:gd name="connsiteX4" fmla="*/ 191598 w 190171"/>
                  <a:gd name="connsiteY4" fmla="*/ 26760 h 101877"/>
                  <a:gd name="connsiteX5" fmla="*/ 187726 w 190171"/>
                  <a:gd name="connsiteY5" fmla="*/ 22346 h 101877"/>
                  <a:gd name="connsiteX6" fmla="*/ 149149 w 190171"/>
                  <a:gd name="connsiteY6" fmla="*/ 6792 h 101877"/>
                  <a:gd name="connsiteX7" fmla="*/ 105749 w 190171"/>
                  <a:gd name="connsiteY7" fmla="*/ 0 h 101877"/>
                  <a:gd name="connsiteX8" fmla="*/ 62281 w 190171"/>
                  <a:gd name="connsiteY8" fmla="*/ 6792 h 101877"/>
                  <a:gd name="connsiteX9" fmla="*/ 10595 w 190171"/>
                  <a:gd name="connsiteY9" fmla="*/ 31447 h 101877"/>
                  <a:gd name="connsiteX10" fmla="*/ 0 w 190171"/>
                  <a:gd name="connsiteY10" fmla="*/ 52637 h 101877"/>
                  <a:gd name="connsiteX11" fmla="*/ 0 w 190171"/>
                  <a:gd name="connsiteY11" fmla="*/ 105817 h 101877"/>
                  <a:gd name="connsiteX12" fmla="*/ 117431 w 190171"/>
                  <a:gd name="connsiteY12" fmla="*/ 105817 h 10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171" h="101877">
                    <a:moveTo>
                      <a:pt x="117431" y="93728"/>
                    </a:moveTo>
                    <a:cubicBezTo>
                      <a:pt x="117442" y="78428"/>
                      <a:pt x="124478" y="63981"/>
                      <a:pt x="136516" y="54539"/>
                    </a:cubicBezTo>
                    <a:lnTo>
                      <a:pt x="137263" y="53860"/>
                    </a:lnTo>
                    <a:lnTo>
                      <a:pt x="138146" y="53248"/>
                    </a:lnTo>
                    <a:cubicBezTo>
                      <a:pt x="154449" y="41647"/>
                      <a:pt x="172491" y="32706"/>
                      <a:pt x="191598" y="26760"/>
                    </a:cubicBezTo>
                    <a:cubicBezTo>
                      <a:pt x="190239" y="25334"/>
                      <a:pt x="188949" y="23840"/>
                      <a:pt x="187726" y="22346"/>
                    </a:cubicBezTo>
                    <a:cubicBezTo>
                      <a:pt x="175676" y="15345"/>
                      <a:pt x="162685" y="10107"/>
                      <a:pt x="149149" y="6792"/>
                    </a:cubicBezTo>
                    <a:cubicBezTo>
                      <a:pt x="135035" y="2668"/>
                      <a:pt x="120448" y="386"/>
                      <a:pt x="105749" y="0"/>
                    </a:cubicBezTo>
                    <a:cubicBezTo>
                      <a:pt x="90992" y="-38"/>
                      <a:pt x="76323" y="2255"/>
                      <a:pt x="62281" y="6792"/>
                    </a:cubicBezTo>
                    <a:cubicBezTo>
                      <a:pt x="43737" y="11908"/>
                      <a:pt x="26241" y="20254"/>
                      <a:pt x="10595" y="31447"/>
                    </a:cubicBezTo>
                    <a:cubicBezTo>
                      <a:pt x="4007" y="36517"/>
                      <a:pt x="104" y="44325"/>
                      <a:pt x="0" y="52637"/>
                    </a:cubicBezTo>
                    <a:lnTo>
                      <a:pt x="0" y="105817"/>
                    </a:lnTo>
                    <a:lnTo>
                      <a:pt x="117431" y="105817"/>
                    </a:lnTo>
                    <a:close/>
                  </a:path>
                </a:pathLst>
              </a:custGeom>
              <a:solidFill>
                <a:srgbClr val="000000"/>
              </a:solidFill>
              <a:ln w="6747"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sp>
            <p:nvSpPr>
              <p:cNvPr id="73" name="Freeform: Shape 72">
                <a:extLst>
                  <a:ext uri="{FF2B5EF4-FFF2-40B4-BE49-F238E27FC236}">
                    <a16:creationId xmlns:a16="http://schemas.microsoft.com/office/drawing/2014/main" id="{A58B4F37-DD82-3C24-8886-C005667CE052}"/>
                  </a:ext>
                </a:extLst>
              </p:cNvPr>
              <p:cNvSpPr/>
              <p:nvPr/>
            </p:nvSpPr>
            <p:spPr>
              <a:xfrm>
                <a:off x="4827391" y="3648520"/>
                <a:ext cx="210547" cy="101878"/>
              </a:xfrm>
              <a:custGeom>
                <a:avLst/>
                <a:gdLst>
                  <a:gd name="connsiteX0" fmla="*/ 0 w 210546"/>
                  <a:gd name="connsiteY0" fmla="*/ 105411 h 101877"/>
                  <a:gd name="connsiteX1" fmla="*/ 0 w 210546"/>
                  <a:gd name="connsiteY1" fmla="*/ 52570 h 101877"/>
                  <a:gd name="connsiteX2" fmla="*/ 10595 w 210546"/>
                  <a:gd name="connsiteY2" fmla="*/ 31447 h 101877"/>
                  <a:gd name="connsiteX3" fmla="*/ 62281 w 210546"/>
                  <a:gd name="connsiteY3" fmla="*/ 6793 h 101877"/>
                  <a:gd name="connsiteX4" fmla="*/ 105681 w 210546"/>
                  <a:gd name="connsiteY4" fmla="*/ 1 h 101877"/>
                  <a:gd name="connsiteX5" fmla="*/ 149149 w 210546"/>
                  <a:gd name="connsiteY5" fmla="*/ 6793 h 101877"/>
                  <a:gd name="connsiteX6" fmla="*/ 200835 w 210546"/>
                  <a:gd name="connsiteY6" fmla="*/ 31447 h 101877"/>
                  <a:gd name="connsiteX7" fmla="*/ 211430 w 210546"/>
                  <a:gd name="connsiteY7" fmla="*/ 52570 h 101877"/>
                  <a:gd name="connsiteX8" fmla="*/ 211430 w 210546"/>
                  <a:gd name="connsiteY8" fmla="*/ 105411 h 10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546" h="101877">
                    <a:moveTo>
                      <a:pt x="0" y="105411"/>
                    </a:moveTo>
                    <a:lnTo>
                      <a:pt x="0" y="52570"/>
                    </a:lnTo>
                    <a:cubicBezTo>
                      <a:pt x="32" y="44259"/>
                      <a:pt x="3953" y="36442"/>
                      <a:pt x="10595" y="31447"/>
                    </a:cubicBezTo>
                    <a:cubicBezTo>
                      <a:pt x="26210" y="20202"/>
                      <a:pt x="43716" y="11852"/>
                      <a:pt x="62281" y="6793"/>
                    </a:cubicBezTo>
                    <a:cubicBezTo>
                      <a:pt x="76293" y="2230"/>
                      <a:pt x="90945" y="-63"/>
                      <a:pt x="105681" y="1"/>
                    </a:cubicBezTo>
                    <a:cubicBezTo>
                      <a:pt x="120406" y="347"/>
                      <a:pt x="135020" y="2631"/>
                      <a:pt x="149149" y="6793"/>
                    </a:cubicBezTo>
                    <a:cubicBezTo>
                      <a:pt x="167976" y="11123"/>
                      <a:pt x="185621" y="19539"/>
                      <a:pt x="200835" y="31447"/>
                    </a:cubicBezTo>
                    <a:cubicBezTo>
                      <a:pt x="207673" y="36277"/>
                      <a:pt x="211648" y="44202"/>
                      <a:pt x="211430" y="52570"/>
                    </a:cubicBezTo>
                    <a:lnTo>
                      <a:pt x="211430" y="105411"/>
                    </a:lnTo>
                    <a:close/>
                  </a:path>
                </a:pathLst>
              </a:custGeom>
              <a:solidFill>
                <a:srgbClr val="000000"/>
              </a:solidFill>
              <a:ln w="6747"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sp>
            <p:nvSpPr>
              <p:cNvPr id="74" name="Freeform: Shape 73">
                <a:extLst>
                  <a:ext uri="{FF2B5EF4-FFF2-40B4-BE49-F238E27FC236}">
                    <a16:creationId xmlns:a16="http://schemas.microsoft.com/office/drawing/2014/main" id="{73E6E54C-CD31-FC29-E610-0CD5B3759883}"/>
                  </a:ext>
                </a:extLst>
              </p:cNvPr>
              <p:cNvSpPr/>
              <p:nvPr/>
            </p:nvSpPr>
            <p:spPr>
              <a:xfrm>
                <a:off x="4880231" y="3528441"/>
                <a:ext cx="101878" cy="101878"/>
              </a:xfrm>
              <a:custGeom>
                <a:avLst/>
                <a:gdLst>
                  <a:gd name="connsiteX0" fmla="*/ 105681 w 101877"/>
                  <a:gd name="connsiteY0" fmla="*/ 52840 h 101877"/>
                  <a:gd name="connsiteX1" fmla="*/ 52840 w 101877"/>
                  <a:gd name="connsiteY1" fmla="*/ 105681 h 101877"/>
                  <a:gd name="connsiteX2" fmla="*/ 0 w 101877"/>
                  <a:gd name="connsiteY2" fmla="*/ 52840 h 101877"/>
                  <a:gd name="connsiteX3" fmla="*/ 52840 w 101877"/>
                  <a:gd name="connsiteY3" fmla="*/ 0 h 101877"/>
                  <a:gd name="connsiteX4" fmla="*/ 105681 w 101877"/>
                  <a:gd name="connsiteY4" fmla="*/ 52840 h 101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877" h="101877">
                    <a:moveTo>
                      <a:pt x="105681" y="52840"/>
                    </a:moveTo>
                    <a:cubicBezTo>
                      <a:pt x="105681" y="82023"/>
                      <a:pt x="82023" y="105681"/>
                      <a:pt x="52840" y="105681"/>
                    </a:cubicBezTo>
                    <a:cubicBezTo>
                      <a:pt x="23657" y="105681"/>
                      <a:pt x="0" y="82023"/>
                      <a:pt x="0" y="52840"/>
                    </a:cubicBezTo>
                    <a:cubicBezTo>
                      <a:pt x="0" y="23657"/>
                      <a:pt x="23657" y="0"/>
                      <a:pt x="52840" y="0"/>
                    </a:cubicBezTo>
                    <a:cubicBezTo>
                      <a:pt x="82023" y="0"/>
                      <a:pt x="105681" y="23657"/>
                      <a:pt x="105681" y="52840"/>
                    </a:cubicBezTo>
                    <a:close/>
                  </a:path>
                </a:pathLst>
              </a:custGeom>
              <a:solidFill>
                <a:srgbClr val="000000"/>
              </a:solidFill>
              <a:ln w="6747"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sp>
            <p:nvSpPr>
              <p:cNvPr id="75" name="Freeform: Shape 74">
                <a:extLst>
                  <a:ext uri="{FF2B5EF4-FFF2-40B4-BE49-F238E27FC236}">
                    <a16:creationId xmlns:a16="http://schemas.microsoft.com/office/drawing/2014/main" id="{A6B5EB69-1072-20C4-9552-9288AC303285}"/>
                  </a:ext>
                </a:extLst>
              </p:cNvPr>
              <p:cNvSpPr/>
              <p:nvPr/>
            </p:nvSpPr>
            <p:spPr>
              <a:xfrm>
                <a:off x="4686868" y="3210584"/>
                <a:ext cx="489012" cy="244506"/>
              </a:xfrm>
              <a:custGeom>
                <a:avLst/>
                <a:gdLst>
                  <a:gd name="connsiteX0" fmla="*/ 466939 w 489012"/>
                  <a:gd name="connsiteY0" fmla="*/ 0 h 244506"/>
                  <a:gd name="connsiteX1" fmla="*/ 27167 w 489012"/>
                  <a:gd name="connsiteY1" fmla="*/ 0 h 244506"/>
                  <a:gd name="connsiteX2" fmla="*/ 0 w 489012"/>
                  <a:gd name="connsiteY2" fmla="*/ 27167 h 244506"/>
                  <a:gd name="connsiteX3" fmla="*/ 0 w 489012"/>
                  <a:gd name="connsiteY3" fmla="*/ 176588 h 244506"/>
                  <a:gd name="connsiteX4" fmla="*/ 27167 w 489012"/>
                  <a:gd name="connsiteY4" fmla="*/ 203755 h 244506"/>
                  <a:gd name="connsiteX5" fmla="*/ 127347 w 489012"/>
                  <a:gd name="connsiteY5" fmla="*/ 203755 h 244506"/>
                  <a:gd name="connsiteX6" fmla="*/ 127347 w 489012"/>
                  <a:gd name="connsiteY6" fmla="*/ 244506 h 244506"/>
                  <a:gd name="connsiteX7" fmla="*/ 170135 w 489012"/>
                  <a:gd name="connsiteY7" fmla="*/ 203755 h 244506"/>
                  <a:gd name="connsiteX8" fmla="*/ 216320 w 489012"/>
                  <a:gd name="connsiteY8" fmla="*/ 203755 h 244506"/>
                  <a:gd name="connsiteX9" fmla="*/ 242808 w 489012"/>
                  <a:gd name="connsiteY9" fmla="*/ 244506 h 244506"/>
                  <a:gd name="connsiteX10" fmla="*/ 267259 w 489012"/>
                  <a:gd name="connsiteY10" fmla="*/ 203755 h 244506"/>
                  <a:gd name="connsiteX11" fmla="*/ 315481 w 489012"/>
                  <a:gd name="connsiteY11" fmla="*/ 203755 h 244506"/>
                  <a:gd name="connsiteX12" fmla="*/ 358269 w 489012"/>
                  <a:gd name="connsiteY12" fmla="*/ 244506 h 244506"/>
                  <a:gd name="connsiteX13" fmla="*/ 358269 w 489012"/>
                  <a:gd name="connsiteY13" fmla="*/ 203755 h 244506"/>
                  <a:gd name="connsiteX14" fmla="*/ 466939 w 489012"/>
                  <a:gd name="connsiteY14" fmla="*/ 203755 h 244506"/>
                  <a:gd name="connsiteX15" fmla="*/ 494106 w 489012"/>
                  <a:gd name="connsiteY15" fmla="*/ 176588 h 244506"/>
                  <a:gd name="connsiteX16" fmla="*/ 494106 w 489012"/>
                  <a:gd name="connsiteY16" fmla="*/ 27167 h 244506"/>
                  <a:gd name="connsiteX17" fmla="*/ 466939 w 489012"/>
                  <a:gd name="connsiteY17" fmla="*/ 0 h 244506"/>
                  <a:gd name="connsiteX18" fmla="*/ 67918 w 489012"/>
                  <a:gd name="connsiteY18" fmla="*/ 61127 h 244506"/>
                  <a:gd name="connsiteX19" fmla="*/ 385437 w 489012"/>
                  <a:gd name="connsiteY19" fmla="*/ 61127 h 244506"/>
                  <a:gd name="connsiteX20" fmla="*/ 385437 w 489012"/>
                  <a:gd name="connsiteY20" fmla="*/ 74710 h 244506"/>
                  <a:gd name="connsiteX21" fmla="*/ 67918 w 489012"/>
                  <a:gd name="connsiteY21" fmla="*/ 74710 h 244506"/>
                  <a:gd name="connsiteX22" fmla="*/ 317518 w 489012"/>
                  <a:gd name="connsiteY22" fmla="*/ 142629 h 244506"/>
                  <a:gd name="connsiteX23" fmla="*/ 67918 w 489012"/>
                  <a:gd name="connsiteY23" fmla="*/ 142629 h 244506"/>
                  <a:gd name="connsiteX24" fmla="*/ 67918 w 489012"/>
                  <a:gd name="connsiteY24" fmla="*/ 129045 h 244506"/>
                  <a:gd name="connsiteX25" fmla="*/ 317518 w 489012"/>
                  <a:gd name="connsiteY25" fmla="*/ 129045 h 244506"/>
                  <a:gd name="connsiteX26" fmla="*/ 426188 w 489012"/>
                  <a:gd name="connsiteY26" fmla="*/ 108669 h 244506"/>
                  <a:gd name="connsiteX27" fmla="*/ 67918 w 489012"/>
                  <a:gd name="connsiteY27" fmla="*/ 108669 h 244506"/>
                  <a:gd name="connsiteX28" fmla="*/ 67918 w 489012"/>
                  <a:gd name="connsiteY28" fmla="*/ 95086 h 244506"/>
                  <a:gd name="connsiteX29" fmla="*/ 426188 w 489012"/>
                  <a:gd name="connsiteY29" fmla="*/ 95086 h 24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9012" h="244506">
                    <a:moveTo>
                      <a:pt x="466939" y="0"/>
                    </a:moveTo>
                    <a:lnTo>
                      <a:pt x="27167" y="0"/>
                    </a:lnTo>
                    <a:cubicBezTo>
                      <a:pt x="12163" y="0"/>
                      <a:pt x="0" y="12163"/>
                      <a:pt x="0" y="27167"/>
                    </a:cubicBezTo>
                    <a:lnTo>
                      <a:pt x="0" y="176588"/>
                    </a:lnTo>
                    <a:cubicBezTo>
                      <a:pt x="0" y="191592"/>
                      <a:pt x="12163" y="203755"/>
                      <a:pt x="27167" y="203755"/>
                    </a:cubicBezTo>
                    <a:lnTo>
                      <a:pt x="127347" y="203755"/>
                    </a:lnTo>
                    <a:lnTo>
                      <a:pt x="127347" y="244506"/>
                    </a:lnTo>
                    <a:lnTo>
                      <a:pt x="170135" y="203755"/>
                    </a:lnTo>
                    <a:lnTo>
                      <a:pt x="216320" y="203755"/>
                    </a:lnTo>
                    <a:lnTo>
                      <a:pt x="242808" y="244506"/>
                    </a:lnTo>
                    <a:lnTo>
                      <a:pt x="267259" y="203755"/>
                    </a:lnTo>
                    <a:lnTo>
                      <a:pt x="315481" y="203755"/>
                    </a:lnTo>
                    <a:lnTo>
                      <a:pt x="358269" y="244506"/>
                    </a:lnTo>
                    <a:lnTo>
                      <a:pt x="358269" y="203755"/>
                    </a:lnTo>
                    <a:lnTo>
                      <a:pt x="466939" y="203755"/>
                    </a:lnTo>
                    <a:cubicBezTo>
                      <a:pt x="481942" y="203755"/>
                      <a:pt x="494106" y="191592"/>
                      <a:pt x="494106" y="176588"/>
                    </a:cubicBezTo>
                    <a:lnTo>
                      <a:pt x="494106" y="27167"/>
                    </a:lnTo>
                    <a:cubicBezTo>
                      <a:pt x="494106" y="12163"/>
                      <a:pt x="481942" y="0"/>
                      <a:pt x="466939" y="0"/>
                    </a:cubicBezTo>
                    <a:close/>
                    <a:moveTo>
                      <a:pt x="67918" y="61127"/>
                    </a:moveTo>
                    <a:lnTo>
                      <a:pt x="385437" y="61127"/>
                    </a:lnTo>
                    <a:lnTo>
                      <a:pt x="385437" y="74710"/>
                    </a:lnTo>
                    <a:lnTo>
                      <a:pt x="67918" y="74710"/>
                    </a:lnTo>
                    <a:close/>
                    <a:moveTo>
                      <a:pt x="317518" y="142629"/>
                    </a:moveTo>
                    <a:lnTo>
                      <a:pt x="67918" y="142629"/>
                    </a:lnTo>
                    <a:lnTo>
                      <a:pt x="67918" y="129045"/>
                    </a:lnTo>
                    <a:lnTo>
                      <a:pt x="317518" y="129045"/>
                    </a:lnTo>
                    <a:close/>
                    <a:moveTo>
                      <a:pt x="426188" y="108669"/>
                    </a:moveTo>
                    <a:lnTo>
                      <a:pt x="67918" y="108669"/>
                    </a:lnTo>
                    <a:lnTo>
                      <a:pt x="67918" y="95086"/>
                    </a:lnTo>
                    <a:lnTo>
                      <a:pt x="426188" y="95086"/>
                    </a:lnTo>
                    <a:close/>
                  </a:path>
                </a:pathLst>
              </a:custGeom>
              <a:solidFill>
                <a:srgbClr val="000000"/>
              </a:solidFill>
              <a:ln w="6747"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fontAlgn="auto">
                  <a:spcBef>
                    <a:spcPts val="0"/>
                  </a:spcBef>
                  <a:spcAft>
                    <a:spcPts val="0"/>
                  </a:spcAft>
                </a:pPr>
                <a:endParaRPr lang="en-US" sz="1200" b="0">
                  <a:solidFill>
                    <a:srgbClr val="000000"/>
                  </a:solidFill>
                  <a:latin typeface="Arial" panose="020B0604020202020204" pitchFamily="34" charset="0"/>
                  <a:ea typeface="STKaiti"/>
                  <a:cs typeface="Arial" panose="020B0604020202020204" pitchFamily="34" charset="0"/>
                </a:endParaRPr>
              </a:p>
            </p:txBody>
          </p:sp>
        </p:grpSp>
      </p:grpSp>
      <p:sp>
        <p:nvSpPr>
          <p:cNvPr id="76" name="TextBox 75">
            <a:extLst>
              <a:ext uri="{FF2B5EF4-FFF2-40B4-BE49-F238E27FC236}">
                <a16:creationId xmlns:a16="http://schemas.microsoft.com/office/drawing/2014/main" id="{07CCCBAD-E674-0725-1FB6-DA745C79FB9D}"/>
              </a:ext>
            </a:extLst>
          </p:cNvPr>
          <p:cNvSpPr txBox="1"/>
          <p:nvPr/>
        </p:nvSpPr>
        <p:spPr>
          <a:xfrm>
            <a:off x="4060893" y="2973589"/>
            <a:ext cx="2029354" cy="307777"/>
          </a:xfrm>
          <a:prstGeom prst="rect">
            <a:avLst/>
          </a:prstGeom>
          <a:noFill/>
        </p:spPr>
        <p:txBody>
          <a:bodyPr wrap="square" rtlCol="0">
            <a:spAutoFit/>
          </a:bodyPr>
          <a:lstStyle/>
          <a:p>
            <a:pPr fontAlgn="auto">
              <a:spcBef>
                <a:spcPts val="0"/>
              </a:spcBef>
              <a:spcAft>
                <a:spcPts val="0"/>
              </a:spcAft>
            </a:pPr>
            <a:r>
              <a:rPr lang="en-US" altLang="zh-CN" sz="1400" dirty="0">
                <a:solidFill>
                  <a:srgbClr val="000000"/>
                </a:solidFill>
                <a:latin typeface="Arial" panose="020B0604020202020204" pitchFamily="34" charset="0"/>
                <a:ea typeface="STKaiti"/>
                <a:cs typeface="Arial" panose="020B0604020202020204" pitchFamily="34" charset="0"/>
              </a:rPr>
              <a:t>Receiving Bank </a:t>
            </a:r>
          </a:p>
        </p:txBody>
      </p:sp>
      <p:grpSp>
        <p:nvGrpSpPr>
          <p:cNvPr id="77" name="Group 76">
            <a:extLst>
              <a:ext uri="{FF2B5EF4-FFF2-40B4-BE49-F238E27FC236}">
                <a16:creationId xmlns:a16="http://schemas.microsoft.com/office/drawing/2014/main" id="{096B740A-DD52-1544-C60C-B2E4CB1F5986}"/>
              </a:ext>
            </a:extLst>
          </p:cNvPr>
          <p:cNvGrpSpPr/>
          <p:nvPr/>
        </p:nvGrpSpPr>
        <p:grpSpPr>
          <a:xfrm>
            <a:off x="4428539" y="3328940"/>
            <a:ext cx="763571" cy="763571"/>
            <a:chOff x="6216354" y="1889812"/>
            <a:chExt cx="763571" cy="763571"/>
          </a:xfrm>
        </p:grpSpPr>
        <p:sp>
          <p:nvSpPr>
            <p:cNvPr id="78" name="Oval 77">
              <a:extLst>
                <a:ext uri="{FF2B5EF4-FFF2-40B4-BE49-F238E27FC236}">
                  <a16:creationId xmlns:a16="http://schemas.microsoft.com/office/drawing/2014/main" id="{EF13F32E-E009-D540-C3E4-3401E02A7179}"/>
                </a:ext>
              </a:extLst>
            </p:cNvPr>
            <p:cNvSpPr/>
            <p:nvPr/>
          </p:nvSpPr>
          <p:spPr>
            <a:xfrm>
              <a:off x="6216354" y="1889812"/>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pic>
          <p:nvPicPr>
            <p:cNvPr id="79" name="Picture 78">
              <a:extLst>
                <a:ext uri="{FF2B5EF4-FFF2-40B4-BE49-F238E27FC236}">
                  <a16:creationId xmlns:a16="http://schemas.microsoft.com/office/drawing/2014/main" id="{DD32C27A-4FAA-F2CD-A02C-7F623BABE59D}"/>
                </a:ext>
              </a:extLst>
            </p:cNvPr>
            <p:cNvPicPr>
              <a:picLocks noChangeAspect="1"/>
            </p:cNvPicPr>
            <p:nvPr/>
          </p:nvPicPr>
          <p:blipFill>
            <a:blip r:embed="rId6"/>
            <a:stretch>
              <a:fillRect/>
            </a:stretch>
          </p:blipFill>
          <p:spPr>
            <a:xfrm>
              <a:off x="6323819" y="1997277"/>
              <a:ext cx="548640" cy="548640"/>
            </a:xfrm>
            <a:prstGeom prst="rect">
              <a:avLst/>
            </a:prstGeom>
          </p:spPr>
        </p:pic>
      </p:grpSp>
      <p:pic>
        <p:nvPicPr>
          <p:cNvPr id="80" name="Picture 79">
            <a:extLst>
              <a:ext uri="{FF2B5EF4-FFF2-40B4-BE49-F238E27FC236}">
                <a16:creationId xmlns:a16="http://schemas.microsoft.com/office/drawing/2014/main" id="{DE2EBCE0-1934-9035-A577-BC1D9A14D841}"/>
              </a:ext>
            </a:extLst>
          </p:cNvPr>
          <p:cNvPicPr>
            <a:picLocks noChangeAspect="1"/>
          </p:cNvPicPr>
          <p:nvPr/>
        </p:nvPicPr>
        <p:blipFill>
          <a:blip r:embed="rId7"/>
          <a:stretch>
            <a:fillRect/>
          </a:stretch>
        </p:blipFill>
        <p:spPr>
          <a:xfrm>
            <a:off x="3213719" y="2807827"/>
            <a:ext cx="609600" cy="609600"/>
          </a:xfrm>
          <a:prstGeom prst="rect">
            <a:avLst/>
          </a:prstGeom>
        </p:spPr>
      </p:pic>
      <p:sp>
        <p:nvSpPr>
          <p:cNvPr id="81" name="TextBox 80">
            <a:extLst>
              <a:ext uri="{FF2B5EF4-FFF2-40B4-BE49-F238E27FC236}">
                <a16:creationId xmlns:a16="http://schemas.microsoft.com/office/drawing/2014/main" id="{C1784549-C461-C2C8-68B4-71F49C821E31}"/>
              </a:ext>
            </a:extLst>
          </p:cNvPr>
          <p:cNvSpPr txBox="1"/>
          <p:nvPr/>
        </p:nvSpPr>
        <p:spPr>
          <a:xfrm>
            <a:off x="791175" y="3804307"/>
            <a:ext cx="1893636" cy="523220"/>
          </a:xfrm>
          <a:prstGeom prst="rect">
            <a:avLst/>
          </a:prstGeom>
          <a:noFill/>
        </p:spPr>
        <p:txBody>
          <a:bodyPr wrap="square" rtlCol="0">
            <a:spAutoFit/>
          </a:bodyPr>
          <a:lstStyle/>
          <a:p>
            <a:pPr fontAlgn="auto">
              <a:spcBef>
                <a:spcPts val="0"/>
              </a:spcBef>
              <a:spcAft>
                <a:spcPts val="0"/>
              </a:spcAft>
            </a:pPr>
            <a:r>
              <a:rPr lang="en-US" altLang="zh-CN" sz="1400" dirty="0">
                <a:solidFill>
                  <a:srgbClr val="000000"/>
                </a:solidFill>
                <a:latin typeface="Arial" panose="020B0604020202020204" pitchFamily="34" charset="0"/>
                <a:ea typeface="STKaiti"/>
                <a:cs typeface="Arial" panose="020B0604020202020204" pitchFamily="34" charset="0"/>
              </a:rPr>
              <a:t>Post-Listing </a:t>
            </a:r>
            <a:br>
              <a:rPr lang="en-US" altLang="zh-CN" sz="1400" dirty="0">
                <a:solidFill>
                  <a:srgbClr val="000000"/>
                </a:solidFill>
                <a:latin typeface="Arial" panose="020B0604020202020204" pitchFamily="34" charset="0"/>
                <a:ea typeface="STKaiti"/>
                <a:cs typeface="Arial" panose="020B0604020202020204" pitchFamily="34" charset="0"/>
              </a:rPr>
            </a:br>
            <a:r>
              <a:rPr lang="en-US" altLang="zh-CN" sz="1400" dirty="0">
                <a:solidFill>
                  <a:srgbClr val="000000"/>
                </a:solidFill>
                <a:latin typeface="Arial" panose="020B0604020202020204" pitchFamily="34" charset="0"/>
                <a:ea typeface="STKaiti"/>
                <a:cs typeface="Arial" panose="020B0604020202020204" pitchFamily="34" charset="0"/>
              </a:rPr>
              <a:t>Research Coverage</a:t>
            </a:r>
            <a:endParaRPr lang="en-US" sz="1400" dirty="0">
              <a:solidFill>
                <a:srgbClr val="000000"/>
              </a:solidFill>
              <a:latin typeface="Arial" panose="020B0604020202020204" pitchFamily="34" charset="0"/>
              <a:ea typeface="STKaiti"/>
              <a:cs typeface="Arial" panose="020B0604020202020204" pitchFamily="34" charset="0"/>
            </a:endParaRPr>
          </a:p>
        </p:txBody>
      </p:sp>
      <p:grpSp>
        <p:nvGrpSpPr>
          <p:cNvPr id="82" name="Group 81">
            <a:extLst>
              <a:ext uri="{FF2B5EF4-FFF2-40B4-BE49-F238E27FC236}">
                <a16:creationId xmlns:a16="http://schemas.microsoft.com/office/drawing/2014/main" id="{CB823CCB-7BEC-34E3-2162-D7020C590551}"/>
              </a:ext>
            </a:extLst>
          </p:cNvPr>
          <p:cNvGrpSpPr/>
          <p:nvPr/>
        </p:nvGrpSpPr>
        <p:grpSpPr>
          <a:xfrm>
            <a:off x="2604738" y="3699834"/>
            <a:ext cx="763571" cy="763571"/>
            <a:chOff x="2695354" y="3711406"/>
            <a:chExt cx="763571" cy="763571"/>
          </a:xfrm>
        </p:grpSpPr>
        <p:sp>
          <p:nvSpPr>
            <p:cNvPr id="83" name="Oval 82">
              <a:extLst>
                <a:ext uri="{FF2B5EF4-FFF2-40B4-BE49-F238E27FC236}">
                  <a16:creationId xmlns:a16="http://schemas.microsoft.com/office/drawing/2014/main" id="{C9168376-2004-D728-5706-367912BDC429}"/>
                </a:ext>
              </a:extLst>
            </p:cNvPr>
            <p:cNvSpPr/>
            <p:nvPr/>
          </p:nvSpPr>
          <p:spPr>
            <a:xfrm>
              <a:off x="2695354" y="3711406"/>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pic>
          <p:nvPicPr>
            <p:cNvPr id="84" name="Picture 83">
              <a:extLst>
                <a:ext uri="{FF2B5EF4-FFF2-40B4-BE49-F238E27FC236}">
                  <a16:creationId xmlns:a16="http://schemas.microsoft.com/office/drawing/2014/main" id="{5E95006C-BE05-45C7-D12F-93F1BD71B828}"/>
                </a:ext>
              </a:extLst>
            </p:cNvPr>
            <p:cNvPicPr>
              <a:picLocks noChangeAspect="1"/>
            </p:cNvPicPr>
            <p:nvPr/>
          </p:nvPicPr>
          <p:blipFill>
            <a:blip r:embed="rId8"/>
            <a:stretch>
              <a:fillRect/>
            </a:stretch>
          </p:blipFill>
          <p:spPr>
            <a:xfrm>
              <a:off x="2757099" y="3773151"/>
              <a:ext cx="640080" cy="640080"/>
            </a:xfrm>
            <a:prstGeom prst="rect">
              <a:avLst/>
            </a:prstGeom>
          </p:spPr>
        </p:pic>
      </p:grpSp>
      <p:grpSp>
        <p:nvGrpSpPr>
          <p:cNvPr id="85" name="Group 84">
            <a:extLst>
              <a:ext uri="{FF2B5EF4-FFF2-40B4-BE49-F238E27FC236}">
                <a16:creationId xmlns:a16="http://schemas.microsoft.com/office/drawing/2014/main" id="{EE8F94DE-6A4E-76A7-7FDD-1D3F1C9EB196}"/>
              </a:ext>
            </a:extLst>
          </p:cNvPr>
          <p:cNvGrpSpPr/>
          <p:nvPr/>
        </p:nvGrpSpPr>
        <p:grpSpPr>
          <a:xfrm>
            <a:off x="4428539" y="4936657"/>
            <a:ext cx="763571" cy="763571"/>
            <a:chOff x="2985839" y="4962372"/>
            <a:chExt cx="763571" cy="763571"/>
          </a:xfrm>
        </p:grpSpPr>
        <p:sp>
          <p:nvSpPr>
            <p:cNvPr id="86" name="Oval 85">
              <a:extLst>
                <a:ext uri="{FF2B5EF4-FFF2-40B4-BE49-F238E27FC236}">
                  <a16:creationId xmlns:a16="http://schemas.microsoft.com/office/drawing/2014/main" id="{BBC61D1F-C1B7-0EEA-1885-D00393CF9A23}"/>
                </a:ext>
              </a:extLst>
            </p:cNvPr>
            <p:cNvSpPr/>
            <p:nvPr/>
          </p:nvSpPr>
          <p:spPr>
            <a:xfrm>
              <a:off x="2985839" y="4962372"/>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pic>
          <p:nvPicPr>
            <p:cNvPr id="87" name="Picture 86">
              <a:extLst>
                <a:ext uri="{FF2B5EF4-FFF2-40B4-BE49-F238E27FC236}">
                  <a16:creationId xmlns:a16="http://schemas.microsoft.com/office/drawing/2014/main" id="{B68336E8-12B5-2456-74A0-7DFF4BF836A0}"/>
                </a:ext>
              </a:extLst>
            </p:cNvPr>
            <p:cNvPicPr>
              <a:picLocks noChangeAspect="1"/>
            </p:cNvPicPr>
            <p:nvPr/>
          </p:nvPicPr>
          <p:blipFill>
            <a:blip r:embed="rId9"/>
            <a:stretch>
              <a:fillRect/>
            </a:stretch>
          </p:blipFill>
          <p:spPr>
            <a:xfrm>
              <a:off x="3062824" y="5039357"/>
              <a:ext cx="609600" cy="609600"/>
            </a:xfrm>
            <a:prstGeom prst="rect">
              <a:avLst/>
            </a:prstGeom>
          </p:spPr>
        </p:pic>
      </p:grpSp>
      <p:sp>
        <p:nvSpPr>
          <p:cNvPr id="88" name="TextBox 87">
            <a:extLst>
              <a:ext uri="{FF2B5EF4-FFF2-40B4-BE49-F238E27FC236}">
                <a16:creationId xmlns:a16="http://schemas.microsoft.com/office/drawing/2014/main" id="{419FF4AA-F76D-4C78-E599-5716F83BA0C3}"/>
              </a:ext>
            </a:extLst>
          </p:cNvPr>
          <p:cNvSpPr txBox="1"/>
          <p:nvPr/>
        </p:nvSpPr>
        <p:spPr>
          <a:xfrm>
            <a:off x="4104273" y="4617451"/>
            <a:ext cx="1592192" cy="307777"/>
          </a:xfrm>
          <a:prstGeom prst="rect">
            <a:avLst/>
          </a:prstGeom>
          <a:noFill/>
        </p:spPr>
        <p:txBody>
          <a:bodyPr wrap="square" rtlCol="0">
            <a:spAutoFit/>
          </a:bodyPr>
          <a:lstStyle/>
          <a:p>
            <a:pPr fontAlgn="auto">
              <a:spcBef>
                <a:spcPts val="0"/>
              </a:spcBef>
              <a:spcAft>
                <a:spcPts val="0"/>
              </a:spcAft>
            </a:pPr>
            <a:r>
              <a:rPr lang="en-US" altLang="zh-CN" sz="1400">
                <a:solidFill>
                  <a:srgbClr val="000000"/>
                </a:solidFill>
                <a:latin typeface="Arial" panose="020B0604020202020204" pitchFamily="34" charset="0"/>
                <a:ea typeface="STKaiti"/>
                <a:cs typeface="Arial" panose="020B0604020202020204" pitchFamily="34" charset="0"/>
              </a:rPr>
              <a:t>Bond Issuance</a:t>
            </a:r>
            <a:endParaRPr lang="en-US" sz="1400">
              <a:solidFill>
                <a:srgbClr val="000000"/>
              </a:solidFill>
              <a:latin typeface="Arial" panose="020B0604020202020204" pitchFamily="34" charset="0"/>
              <a:ea typeface="STKaiti"/>
              <a:cs typeface="Arial" panose="020B0604020202020204" pitchFamily="34" charset="0"/>
            </a:endParaRPr>
          </a:p>
        </p:txBody>
      </p:sp>
      <p:grpSp>
        <p:nvGrpSpPr>
          <p:cNvPr id="89" name="Group 88">
            <a:extLst>
              <a:ext uri="{FF2B5EF4-FFF2-40B4-BE49-F238E27FC236}">
                <a16:creationId xmlns:a16="http://schemas.microsoft.com/office/drawing/2014/main" id="{2F54F3F5-2379-14BF-DA8F-8EDDBD031DFD}"/>
              </a:ext>
            </a:extLst>
          </p:cNvPr>
          <p:cNvGrpSpPr/>
          <p:nvPr/>
        </p:nvGrpSpPr>
        <p:grpSpPr>
          <a:xfrm>
            <a:off x="5957728" y="4950800"/>
            <a:ext cx="763571" cy="763571"/>
            <a:chOff x="4878228" y="4962372"/>
            <a:chExt cx="763571" cy="763571"/>
          </a:xfrm>
        </p:grpSpPr>
        <p:sp>
          <p:nvSpPr>
            <p:cNvPr id="90" name="Oval 89">
              <a:extLst>
                <a:ext uri="{FF2B5EF4-FFF2-40B4-BE49-F238E27FC236}">
                  <a16:creationId xmlns:a16="http://schemas.microsoft.com/office/drawing/2014/main" id="{D2557063-D64A-8C89-0ABE-90EFE5E62E5F}"/>
                </a:ext>
              </a:extLst>
            </p:cNvPr>
            <p:cNvSpPr/>
            <p:nvPr/>
          </p:nvSpPr>
          <p:spPr>
            <a:xfrm>
              <a:off x="4878228" y="4962372"/>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pic>
          <p:nvPicPr>
            <p:cNvPr id="91" name="Picture 90">
              <a:extLst>
                <a:ext uri="{FF2B5EF4-FFF2-40B4-BE49-F238E27FC236}">
                  <a16:creationId xmlns:a16="http://schemas.microsoft.com/office/drawing/2014/main" id="{0ECC2E42-228D-BECE-134F-E4AEB5F3FB71}"/>
                </a:ext>
              </a:extLst>
            </p:cNvPr>
            <p:cNvPicPr>
              <a:picLocks noChangeAspect="1"/>
            </p:cNvPicPr>
            <p:nvPr/>
          </p:nvPicPr>
          <p:blipFill>
            <a:blip r:embed="rId10"/>
            <a:stretch>
              <a:fillRect/>
            </a:stretch>
          </p:blipFill>
          <p:spPr>
            <a:xfrm>
              <a:off x="4964059" y="5039357"/>
              <a:ext cx="609600" cy="609600"/>
            </a:xfrm>
            <a:prstGeom prst="rect">
              <a:avLst/>
            </a:prstGeom>
          </p:spPr>
        </p:pic>
      </p:grpSp>
      <p:sp>
        <p:nvSpPr>
          <p:cNvPr id="92" name="TextBox 91">
            <a:extLst>
              <a:ext uri="{FF2B5EF4-FFF2-40B4-BE49-F238E27FC236}">
                <a16:creationId xmlns:a16="http://schemas.microsoft.com/office/drawing/2014/main" id="{BD8E0F09-00E4-372E-3FF4-756C4AD01628}"/>
              </a:ext>
            </a:extLst>
          </p:cNvPr>
          <p:cNvSpPr txBox="1"/>
          <p:nvPr/>
        </p:nvSpPr>
        <p:spPr>
          <a:xfrm>
            <a:off x="5816923" y="4617451"/>
            <a:ext cx="1373982" cy="307777"/>
          </a:xfrm>
          <a:prstGeom prst="rect">
            <a:avLst/>
          </a:prstGeom>
          <a:noFill/>
        </p:spPr>
        <p:txBody>
          <a:bodyPr wrap="square" rtlCol="0">
            <a:spAutoFit/>
          </a:bodyPr>
          <a:lstStyle/>
          <a:p>
            <a:pPr fontAlgn="auto">
              <a:spcBef>
                <a:spcPts val="0"/>
              </a:spcBef>
              <a:spcAft>
                <a:spcPts val="0"/>
              </a:spcAft>
            </a:pPr>
            <a:r>
              <a:rPr lang="en-US" altLang="zh-CN" sz="1400">
                <a:solidFill>
                  <a:srgbClr val="000000"/>
                </a:solidFill>
                <a:latin typeface="Arial" panose="020B0604020202020204" pitchFamily="34" charset="0"/>
                <a:ea typeface="STKaiti"/>
                <a:cs typeface="Arial" panose="020B0604020202020204" pitchFamily="34" charset="0"/>
              </a:rPr>
              <a:t>Bank Loans</a:t>
            </a:r>
            <a:endParaRPr lang="en-US" sz="1400">
              <a:solidFill>
                <a:srgbClr val="000000"/>
              </a:solidFill>
              <a:latin typeface="Arial" panose="020B0604020202020204" pitchFamily="34" charset="0"/>
              <a:ea typeface="STKaiti"/>
              <a:cs typeface="Arial" panose="020B0604020202020204" pitchFamily="34" charset="0"/>
            </a:endParaRPr>
          </a:p>
        </p:txBody>
      </p:sp>
      <p:grpSp>
        <p:nvGrpSpPr>
          <p:cNvPr id="93" name="Group 92">
            <a:extLst>
              <a:ext uri="{FF2B5EF4-FFF2-40B4-BE49-F238E27FC236}">
                <a16:creationId xmlns:a16="http://schemas.microsoft.com/office/drawing/2014/main" id="{E3119BCD-019D-423D-775F-9CEC80B0058A}"/>
              </a:ext>
            </a:extLst>
          </p:cNvPr>
          <p:cNvGrpSpPr/>
          <p:nvPr/>
        </p:nvGrpSpPr>
        <p:grpSpPr>
          <a:xfrm>
            <a:off x="8157617" y="4952320"/>
            <a:ext cx="763571" cy="763571"/>
            <a:chOff x="7106746" y="4962372"/>
            <a:chExt cx="763571" cy="763571"/>
          </a:xfrm>
        </p:grpSpPr>
        <p:sp>
          <p:nvSpPr>
            <p:cNvPr id="94" name="Oval 93">
              <a:extLst>
                <a:ext uri="{FF2B5EF4-FFF2-40B4-BE49-F238E27FC236}">
                  <a16:creationId xmlns:a16="http://schemas.microsoft.com/office/drawing/2014/main" id="{15AE8CC4-6DC3-3B06-632C-F117C8A48C5F}"/>
                </a:ext>
              </a:extLst>
            </p:cNvPr>
            <p:cNvSpPr/>
            <p:nvPr/>
          </p:nvSpPr>
          <p:spPr>
            <a:xfrm>
              <a:off x="7106746" y="4962372"/>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pic>
          <p:nvPicPr>
            <p:cNvPr id="95" name="Picture 94">
              <a:extLst>
                <a:ext uri="{FF2B5EF4-FFF2-40B4-BE49-F238E27FC236}">
                  <a16:creationId xmlns:a16="http://schemas.microsoft.com/office/drawing/2014/main" id="{08A053CC-7DB6-A5F1-BB67-5CE7C7037138}"/>
                </a:ext>
              </a:extLst>
            </p:cNvPr>
            <p:cNvPicPr>
              <a:picLocks noChangeAspect="1"/>
            </p:cNvPicPr>
            <p:nvPr/>
          </p:nvPicPr>
          <p:blipFill>
            <a:blip r:embed="rId11"/>
            <a:stretch>
              <a:fillRect/>
            </a:stretch>
          </p:blipFill>
          <p:spPr>
            <a:xfrm>
              <a:off x="7214211" y="5069837"/>
              <a:ext cx="548640" cy="548640"/>
            </a:xfrm>
            <a:prstGeom prst="rect">
              <a:avLst/>
            </a:prstGeom>
          </p:spPr>
        </p:pic>
      </p:grpSp>
      <p:sp>
        <p:nvSpPr>
          <p:cNvPr id="96" name="TextBox 95">
            <a:extLst>
              <a:ext uri="{FF2B5EF4-FFF2-40B4-BE49-F238E27FC236}">
                <a16:creationId xmlns:a16="http://schemas.microsoft.com/office/drawing/2014/main" id="{F5071AD9-D610-0BD6-5397-AA2DD94CD869}"/>
              </a:ext>
            </a:extLst>
          </p:cNvPr>
          <p:cNvSpPr txBox="1"/>
          <p:nvPr/>
        </p:nvSpPr>
        <p:spPr>
          <a:xfrm>
            <a:off x="7775866" y="4194727"/>
            <a:ext cx="2063065" cy="738664"/>
          </a:xfrm>
          <a:prstGeom prst="rect">
            <a:avLst/>
          </a:prstGeom>
          <a:noFill/>
        </p:spPr>
        <p:txBody>
          <a:bodyPr wrap="square" rtlCol="0">
            <a:spAutoFit/>
          </a:bodyPr>
          <a:lstStyle/>
          <a:p>
            <a:pPr fontAlgn="auto">
              <a:spcBef>
                <a:spcPts val="0"/>
              </a:spcBef>
              <a:spcAft>
                <a:spcPts val="0"/>
              </a:spcAft>
            </a:pPr>
            <a:r>
              <a:rPr lang="en-US" altLang="zh-CN" sz="1400">
                <a:solidFill>
                  <a:srgbClr val="000000"/>
                </a:solidFill>
                <a:latin typeface="Arial" panose="020B0604020202020204" pitchFamily="34" charset="0"/>
                <a:ea typeface="STKaiti"/>
                <a:cs typeface="Arial" panose="020B0604020202020204" pitchFamily="34" charset="0"/>
              </a:rPr>
              <a:t>Other Services </a:t>
            </a:r>
            <a:br>
              <a:rPr lang="en-US" altLang="zh-CN" sz="1400" b="0">
                <a:solidFill>
                  <a:srgbClr val="000000"/>
                </a:solidFill>
                <a:latin typeface="Arial" panose="020B0604020202020204" pitchFamily="34" charset="0"/>
                <a:ea typeface="STKaiti"/>
                <a:cs typeface="Arial" panose="020B0604020202020204" pitchFamily="34" charset="0"/>
              </a:rPr>
            </a:br>
            <a:r>
              <a:rPr lang="en-US" altLang="zh-CN" sz="1400" b="0">
                <a:solidFill>
                  <a:srgbClr val="000000"/>
                </a:solidFill>
                <a:latin typeface="Arial" panose="020B0604020202020204" pitchFamily="34" charset="0"/>
                <a:ea typeface="STKaiti"/>
                <a:cs typeface="Arial" panose="020B0604020202020204" pitchFamily="34" charset="0"/>
              </a:rPr>
              <a:t>(Private Banking &amp; Wealth Management)</a:t>
            </a:r>
            <a:endParaRPr lang="en-US" sz="1400" b="0">
              <a:solidFill>
                <a:srgbClr val="000000"/>
              </a:solidFill>
              <a:latin typeface="Arial" panose="020B0604020202020204" pitchFamily="34" charset="0"/>
              <a:ea typeface="STKaiti"/>
              <a:cs typeface="Arial" panose="020B0604020202020204" pitchFamily="34" charset="0"/>
            </a:endParaRPr>
          </a:p>
        </p:txBody>
      </p:sp>
      <p:sp>
        <p:nvSpPr>
          <p:cNvPr id="97" name="Oval 96">
            <a:extLst>
              <a:ext uri="{FF2B5EF4-FFF2-40B4-BE49-F238E27FC236}">
                <a16:creationId xmlns:a16="http://schemas.microsoft.com/office/drawing/2014/main" id="{FF7ED638-DFD4-92F9-789C-C21A7956D841}"/>
              </a:ext>
            </a:extLst>
          </p:cNvPr>
          <p:cNvSpPr/>
          <p:nvPr/>
        </p:nvSpPr>
        <p:spPr>
          <a:xfrm>
            <a:off x="2818883" y="4944817"/>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sp>
        <p:nvSpPr>
          <p:cNvPr id="98" name="TextBox 97">
            <a:extLst>
              <a:ext uri="{FF2B5EF4-FFF2-40B4-BE49-F238E27FC236}">
                <a16:creationId xmlns:a16="http://schemas.microsoft.com/office/drawing/2014/main" id="{AB5C8C42-8CF6-2256-07F4-CDD849AE9543}"/>
              </a:ext>
            </a:extLst>
          </p:cNvPr>
          <p:cNvSpPr txBox="1"/>
          <p:nvPr/>
        </p:nvSpPr>
        <p:spPr>
          <a:xfrm>
            <a:off x="967975" y="5046261"/>
            <a:ext cx="2101231" cy="523220"/>
          </a:xfrm>
          <a:prstGeom prst="rect">
            <a:avLst/>
          </a:prstGeom>
          <a:noFill/>
        </p:spPr>
        <p:txBody>
          <a:bodyPr wrap="square" rtlCol="0">
            <a:spAutoFit/>
          </a:bodyPr>
          <a:lstStyle/>
          <a:p>
            <a:pPr fontAlgn="auto">
              <a:spcBef>
                <a:spcPts val="0"/>
              </a:spcBef>
              <a:spcAft>
                <a:spcPts val="0"/>
              </a:spcAft>
            </a:pPr>
            <a:r>
              <a:rPr lang="en-US" altLang="zh-CN" sz="1400" dirty="0">
                <a:solidFill>
                  <a:srgbClr val="000000"/>
                </a:solidFill>
                <a:latin typeface="Arial" panose="020B0604020202020204" pitchFamily="34" charset="0"/>
                <a:ea typeface="STKaiti"/>
                <a:cs typeface="Arial" panose="020B0604020202020204" pitchFamily="34" charset="0"/>
              </a:rPr>
              <a:t>Post-Listing </a:t>
            </a:r>
            <a:br>
              <a:rPr lang="en-US" altLang="zh-CN" sz="1400" dirty="0">
                <a:solidFill>
                  <a:srgbClr val="000000"/>
                </a:solidFill>
                <a:latin typeface="Arial" panose="020B0604020202020204" pitchFamily="34" charset="0"/>
                <a:ea typeface="STKaiti"/>
                <a:cs typeface="Arial" panose="020B0604020202020204" pitchFamily="34" charset="0"/>
              </a:rPr>
            </a:br>
            <a:r>
              <a:rPr lang="en-US" altLang="zh-CN" sz="1400" dirty="0">
                <a:solidFill>
                  <a:srgbClr val="000000"/>
                </a:solidFill>
                <a:latin typeface="Arial" panose="020B0604020202020204" pitchFamily="34" charset="0"/>
                <a:ea typeface="STKaiti"/>
                <a:cs typeface="Arial" panose="020B0604020202020204" pitchFamily="34" charset="0"/>
              </a:rPr>
              <a:t>Follow-on Offering</a:t>
            </a:r>
            <a:endParaRPr lang="en-US" sz="1400" dirty="0">
              <a:solidFill>
                <a:srgbClr val="000000"/>
              </a:solidFill>
              <a:latin typeface="Arial" panose="020B0604020202020204" pitchFamily="34" charset="0"/>
              <a:ea typeface="STKaiti"/>
              <a:cs typeface="Arial" panose="020B0604020202020204" pitchFamily="34" charset="0"/>
            </a:endParaRPr>
          </a:p>
        </p:txBody>
      </p:sp>
      <p:pic>
        <p:nvPicPr>
          <p:cNvPr id="99" name="Picture 98">
            <a:extLst>
              <a:ext uri="{FF2B5EF4-FFF2-40B4-BE49-F238E27FC236}">
                <a16:creationId xmlns:a16="http://schemas.microsoft.com/office/drawing/2014/main" id="{E0DBC2B0-3857-CB06-B8D0-24FCA205DE59}"/>
              </a:ext>
            </a:extLst>
          </p:cNvPr>
          <p:cNvPicPr>
            <a:picLocks noChangeAspect="1"/>
          </p:cNvPicPr>
          <p:nvPr/>
        </p:nvPicPr>
        <p:blipFill>
          <a:blip r:embed="rId12"/>
          <a:stretch>
            <a:fillRect/>
          </a:stretch>
        </p:blipFill>
        <p:spPr>
          <a:xfrm>
            <a:off x="2926347" y="5052281"/>
            <a:ext cx="548640" cy="548640"/>
          </a:xfrm>
          <a:prstGeom prst="rect">
            <a:avLst/>
          </a:prstGeom>
        </p:spPr>
      </p:pic>
      <p:pic>
        <p:nvPicPr>
          <p:cNvPr id="100" name="Graphic 99" descr="Add with solid fill">
            <a:extLst>
              <a:ext uri="{FF2B5EF4-FFF2-40B4-BE49-F238E27FC236}">
                <a16:creationId xmlns:a16="http://schemas.microsoft.com/office/drawing/2014/main" id="{541E1733-2BBE-C570-1B6E-92BEBCA432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582409" y="5066482"/>
            <a:ext cx="457200" cy="457200"/>
          </a:xfrm>
          <a:prstGeom prst="rect">
            <a:avLst/>
          </a:prstGeom>
        </p:spPr>
      </p:pic>
      <p:sp>
        <p:nvSpPr>
          <p:cNvPr id="101" name="Oval 100">
            <a:extLst>
              <a:ext uri="{FF2B5EF4-FFF2-40B4-BE49-F238E27FC236}">
                <a16:creationId xmlns:a16="http://schemas.microsoft.com/office/drawing/2014/main" id="{760B0F8B-1348-E032-42F0-614710F1ABFE}"/>
              </a:ext>
            </a:extLst>
          </p:cNvPr>
          <p:cNvSpPr/>
          <p:nvPr/>
        </p:nvSpPr>
        <p:spPr>
          <a:xfrm>
            <a:off x="2895796" y="1717692"/>
            <a:ext cx="763571" cy="763571"/>
          </a:xfrm>
          <a:prstGeom prst="ellipse">
            <a:avLst/>
          </a:prstGeom>
          <a:gradFill>
            <a:gsLst>
              <a:gs pos="0">
                <a:schemeClr val="bg1"/>
              </a:gs>
              <a:gs pos="50000">
                <a:schemeClr val="bg1">
                  <a:lumMod val="95000"/>
                </a:schemeClr>
              </a:gs>
              <a:gs pos="100000">
                <a:schemeClr val="bg1">
                  <a:lumMod val="85000"/>
                </a:schemeClr>
              </a:gs>
            </a:gsLst>
          </a:gradFill>
          <a:effectLst>
            <a:outerShdw blurRad="101600" dist="19050" dir="5400000" algn="ctr" rotWithShape="0">
              <a:srgbClr val="000000">
                <a:alpha val="63000"/>
              </a:srgbClr>
            </a:outerShdw>
          </a:effectLst>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fontAlgn="auto">
              <a:spcBef>
                <a:spcPts val="0"/>
              </a:spcBef>
              <a:spcAft>
                <a:spcPts val="0"/>
              </a:spcAft>
            </a:pPr>
            <a:endParaRPr lang="en-US" sz="1200" b="0">
              <a:solidFill>
                <a:srgbClr val="FFFFFF"/>
              </a:solidFill>
              <a:latin typeface="Arial" panose="020B0604020202020204" pitchFamily="34" charset="0"/>
              <a:ea typeface="STKaiti"/>
              <a:cs typeface="Arial" panose="020B0604020202020204" pitchFamily="34" charset="0"/>
            </a:endParaRPr>
          </a:p>
        </p:txBody>
      </p:sp>
      <p:sp>
        <p:nvSpPr>
          <p:cNvPr id="102" name="TextBox 101">
            <a:extLst>
              <a:ext uri="{FF2B5EF4-FFF2-40B4-BE49-F238E27FC236}">
                <a16:creationId xmlns:a16="http://schemas.microsoft.com/office/drawing/2014/main" id="{EC1B5D1A-2D03-4854-B97F-474C9BE5B224}"/>
              </a:ext>
            </a:extLst>
          </p:cNvPr>
          <p:cNvSpPr txBox="1"/>
          <p:nvPr/>
        </p:nvSpPr>
        <p:spPr>
          <a:xfrm>
            <a:off x="2661322" y="1397215"/>
            <a:ext cx="1283348" cy="307777"/>
          </a:xfrm>
          <a:prstGeom prst="rect">
            <a:avLst/>
          </a:prstGeom>
          <a:noFill/>
        </p:spPr>
        <p:txBody>
          <a:bodyPr wrap="square" rtlCol="0">
            <a:spAutoFit/>
          </a:bodyPr>
          <a:lstStyle/>
          <a:p>
            <a:pPr algn="ctr" fontAlgn="auto">
              <a:spcBef>
                <a:spcPts val="0"/>
              </a:spcBef>
              <a:spcAft>
                <a:spcPts val="0"/>
              </a:spcAft>
            </a:pPr>
            <a:r>
              <a:rPr lang="en-US" altLang="zh-CN" sz="1400">
                <a:solidFill>
                  <a:srgbClr val="000000"/>
                </a:solidFill>
                <a:latin typeface="Arial" panose="020B0604020202020204" pitchFamily="34" charset="0"/>
                <a:ea typeface="STKaiti"/>
                <a:cs typeface="Arial" panose="020B0604020202020204" pitchFamily="34" charset="0"/>
              </a:rPr>
              <a:t>Bridge Loan</a:t>
            </a:r>
            <a:endParaRPr lang="en-US" sz="1400">
              <a:solidFill>
                <a:srgbClr val="000000"/>
              </a:solidFill>
              <a:latin typeface="Arial" panose="020B0604020202020204" pitchFamily="34" charset="0"/>
              <a:ea typeface="STKaiti"/>
              <a:cs typeface="Arial" panose="020B0604020202020204" pitchFamily="34" charset="0"/>
            </a:endParaRPr>
          </a:p>
        </p:txBody>
      </p:sp>
      <p:pic>
        <p:nvPicPr>
          <p:cNvPr id="103" name="Picture 102">
            <a:extLst>
              <a:ext uri="{FF2B5EF4-FFF2-40B4-BE49-F238E27FC236}">
                <a16:creationId xmlns:a16="http://schemas.microsoft.com/office/drawing/2014/main" id="{A951DF50-3EAB-79DF-47BA-C819290177CC}"/>
              </a:ext>
            </a:extLst>
          </p:cNvPr>
          <p:cNvPicPr>
            <a:picLocks noChangeAspect="1"/>
          </p:cNvPicPr>
          <p:nvPr/>
        </p:nvPicPr>
        <p:blipFill>
          <a:blip r:embed="rId14"/>
          <a:stretch>
            <a:fillRect/>
          </a:stretch>
        </p:blipFill>
        <p:spPr>
          <a:xfrm>
            <a:off x="2957540" y="1779436"/>
            <a:ext cx="640080" cy="640080"/>
          </a:xfrm>
          <a:prstGeom prst="rect">
            <a:avLst/>
          </a:prstGeom>
        </p:spPr>
      </p:pic>
      <p:sp>
        <p:nvSpPr>
          <p:cNvPr id="6" name="Slide Number Placeholder 5">
            <a:extLst>
              <a:ext uri="{FF2B5EF4-FFF2-40B4-BE49-F238E27FC236}">
                <a16:creationId xmlns:a16="http://schemas.microsoft.com/office/drawing/2014/main" id="{FB6E768B-E489-2A24-44F3-CB86192343A3}"/>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8</a:t>
            </a:fld>
            <a:endParaRPr lang="en-US" altLang="en-US" b="0">
              <a:solidFill>
                <a:srgbClr val="000000"/>
              </a:solidFill>
            </a:endParaRPr>
          </a:p>
        </p:txBody>
      </p:sp>
    </p:spTree>
    <p:extLst>
      <p:ext uri="{BB962C8B-B14F-4D97-AF65-F5344CB8AC3E}">
        <p14:creationId xmlns:p14="http://schemas.microsoft.com/office/powerpoint/2010/main" val="2904459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B2776-5682-7AFB-8652-3D04D2E54CA3}"/>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708E8D8-FECA-BDA7-F1FF-AF4110062BE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Subtitle 1">
            <a:extLst>
              <a:ext uri="{FF2B5EF4-FFF2-40B4-BE49-F238E27FC236}">
                <a16:creationId xmlns:a16="http://schemas.microsoft.com/office/drawing/2014/main" id="{BF408289-9572-DD18-76DA-446E3D74856C}"/>
              </a:ext>
            </a:extLst>
          </p:cNvPr>
          <p:cNvSpPr>
            <a:spLocks noGrp="1"/>
          </p:cNvSpPr>
          <p:nvPr>
            <p:ph type="subTitle" idx="1"/>
          </p:nvPr>
        </p:nvSpPr>
        <p:spPr/>
        <p:txBody>
          <a:bodyPr/>
          <a:lstStyle/>
          <a:p>
            <a:r>
              <a:rPr lang="en-US" altLang="zh-TW" b="1" dirty="0"/>
              <a:t>Section I – DBS: The World’s Best </a:t>
            </a:r>
            <a:endParaRPr lang="en-US" b="1" dirty="0"/>
          </a:p>
        </p:txBody>
      </p:sp>
      <p:sp>
        <p:nvSpPr>
          <p:cNvPr id="3" name="Title 2">
            <a:extLst>
              <a:ext uri="{FF2B5EF4-FFF2-40B4-BE49-F238E27FC236}">
                <a16:creationId xmlns:a16="http://schemas.microsoft.com/office/drawing/2014/main" id="{E4C615EE-EEF7-E521-4D34-C93E9E41C66C}"/>
              </a:ext>
            </a:extLst>
          </p:cNvPr>
          <p:cNvSpPr>
            <a:spLocks noGrp="1"/>
          </p:cNvSpPr>
          <p:nvPr>
            <p:ph type="ctrTitle"/>
          </p:nvPr>
        </p:nvSpPr>
        <p:spPr>
          <a:xfrm>
            <a:off x="2242944" y="4131897"/>
            <a:ext cx="7200000" cy="492443"/>
          </a:xfrm>
        </p:spPr>
        <p:txBody>
          <a:bodyPr/>
          <a:lstStyle/>
          <a:p>
            <a:r>
              <a:rPr lang="en-US"/>
              <a:t>2. Proven Track Record in Equity Capital Markets </a:t>
            </a:r>
          </a:p>
        </p:txBody>
      </p:sp>
      <p:sp>
        <p:nvSpPr>
          <p:cNvPr id="7" name="Slide Number Placeholder 6">
            <a:extLst>
              <a:ext uri="{FF2B5EF4-FFF2-40B4-BE49-F238E27FC236}">
                <a16:creationId xmlns:a16="http://schemas.microsoft.com/office/drawing/2014/main" id="{F084C52B-0BF5-5743-8BCB-A810C6A813F9}"/>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9</a:t>
            </a:fld>
            <a:endParaRPr lang="en-US" altLang="en-US" b="0">
              <a:solidFill>
                <a:srgbClr val="000000"/>
              </a:solidFill>
            </a:endParaRPr>
          </a:p>
        </p:txBody>
      </p:sp>
    </p:spTree>
    <p:extLst>
      <p:ext uri="{BB962C8B-B14F-4D97-AF65-F5344CB8AC3E}">
        <p14:creationId xmlns:p14="http://schemas.microsoft.com/office/powerpoint/2010/main" val="2804673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3EE3BBA7-EDB4-E0DF-3AEB-F8AD3E1F0C9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graphicFrame>
        <p:nvGraphicFramePr>
          <p:cNvPr id="2" name="Object 1" hidden="1">
            <a:extLst>
              <a:ext uri="{FF2B5EF4-FFF2-40B4-BE49-F238E27FC236}">
                <a16:creationId xmlns:a16="http://schemas.microsoft.com/office/drawing/2014/main" id="{34795CA1-4797-4F35-A38F-0DB9D408884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44" imgH="344" progId="TCLayout.ActiveDocument.1">
                  <p:embed/>
                </p:oleObj>
              </mc:Choice>
              <mc:Fallback>
                <p:oleObj name="think-cell Slide" r:id="rId10" imgW="344" imgH="344" progId="TCLayout.ActiveDocument.1">
                  <p:embed/>
                  <p:pic>
                    <p:nvPicPr>
                      <p:cNvPr id="2" name="Object 1" hidden="1">
                        <a:extLst>
                          <a:ext uri="{FF2B5EF4-FFF2-40B4-BE49-F238E27FC236}">
                            <a16:creationId xmlns:a16="http://schemas.microsoft.com/office/drawing/2014/main" id="{34795CA1-4797-4F35-A38F-0DB9D408884E}"/>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E73CC5B2-83E0-8533-CFC1-906F34E2F387}"/>
              </a:ext>
            </a:extLst>
          </p:cNvPr>
          <p:cNvSpPr>
            <a:spLocks noGrp="1"/>
          </p:cNvSpPr>
          <p:nvPr>
            <p:ph type="title"/>
          </p:nvPr>
        </p:nvSpPr>
        <p:spPr>
          <a:xfrm>
            <a:off x="717153" y="381000"/>
            <a:ext cx="8494051" cy="577850"/>
          </a:xfrm>
        </p:spPr>
        <p:txBody>
          <a:bodyPr/>
          <a:lstStyle/>
          <a:p>
            <a:r>
              <a:rPr lang="en-SG" sz="2000" b="1" dirty="0"/>
              <a:t>Dominant Position in Equity Capital Markets</a:t>
            </a:r>
            <a:endParaRPr lang="en-US" sz="2000" b="1" dirty="0"/>
          </a:p>
        </p:txBody>
      </p:sp>
      <p:sp>
        <p:nvSpPr>
          <p:cNvPr id="3" name="Text Placeholder 2">
            <a:extLst>
              <a:ext uri="{FF2B5EF4-FFF2-40B4-BE49-F238E27FC236}">
                <a16:creationId xmlns:a16="http://schemas.microsoft.com/office/drawing/2014/main" id="{DE1DB94F-7E81-1EC6-5265-8382B71A2A35}"/>
              </a:ext>
            </a:extLst>
          </p:cNvPr>
          <p:cNvSpPr>
            <a:spLocks noGrp="1"/>
          </p:cNvSpPr>
          <p:nvPr>
            <p:ph idx="1"/>
          </p:nvPr>
        </p:nvSpPr>
        <p:spPr>
          <a:xfrm>
            <a:off x="717153" y="1109980"/>
            <a:ext cx="8494051" cy="246221"/>
          </a:xfrm>
        </p:spPr>
        <p:txBody>
          <a:bodyPr>
            <a:spAutoFit/>
          </a:bodyPr>
          <a:lstStyle/>
          <a:p>
            <a:r>
              <a:rPr lang="en-US" sz="1000" dirty="0"/>
              <a:t>DBS had led-managed ~90% of IPOs and equity fund raisings on SGX between 2022 to 2025</a:t>
            </a:r>
          </a:p>
        </p:txBody>
      </p:sp>
      <p:sp>
        <p:nvSpPr>
          <p:cNvPr id="5" name="Text Placeholder 4">
            <a:extLst>
              <a:ext uri="{FF2B5EF4-FFF2-40B4-BE49-F238E27FC236}">
                <a16:creationId xmlns:a16="http://schemas.microsoft.com/office/drawing/2014/main" id="{5C226694-E3FE-CE12-B861-983E57901489}"/>
              </a:ext>
            </a:extLst>
          </p:cNvPr>
          <p:cNvSpPr>
            <a:spLocks noGrp="1"/>
          </p:cNvSpPr>
          <p:nvPr>
            <p:ph type="body" sz="quarter" idx="4294967295"/>
          </p:nvPr>
        </p:nvSpPr>
        <p:spPr>
          <a:xfrm>
            <a:off x="734746" y="5983237"/>
            <a:ext cx="8494776" cy="184666"/>
          </a:xfrm>
        </p:spPr>
        <p:txBody>
          <a:bodyPr wrap="square" anchor="b" anchorCtr="0">
            <a:spAutoFit/>
          </a:bodyPr>
          <a:lstStyle/>
          <a:p>
            <a:pPr marL="0" indent="0">
              <a:spcBef>
                <a:spcPts val="0"/>
              </a:spcBef>
              <a:spcAft>
                <a:spcPts val="0"/>
              </a:spcAft>
              <a:buNone/>
            </a:pPr>
            <a:r>
              <a:rPr lang="en-US" sz="600" i="1" dirty="0"/>
              <a:t>Source: Bloomberg as at 31 Dec 2025</a:t>
            </a:r>
          </a:p>
        </p:txBody>
      </p:sp>
      <p:sp>
        <p:nvSpPr>
          <p:cNvPr id="19" name="Slide Number Placeholder 18">
            <a:extLst>
              <a:ext uri="{FF2B5EF4-FFF2-40B4-BE49-F238E27FC236}">
                <a16:creationId xmlns:a16="http://schemas.microsoft.com/office/drawing/2014/main" id="{0A3FCEF1-AE38-50F6-BE64-B79FB425962E}"/>
              </a:ext>
            </a:extLst>
          </p:cNvPr>
          <p:cNvSpPr>
            <a:spLocks noGrp="1"/>
          </p:cNvSpPr>
          <p:nvPr>
            <p:ph type="sldNum" sz="quarter" idx="10"/>
          </p:nvPr>
        </p:nvSpPr>
        <p:spPr/>
        <p:txBody>
          <a:bodyPr/>
          <a:lstStyle/>
          <a:p>
            <a:pPr>
              <a:defRPr/>
            </a:pPr>
            <a:fld id="{8795C5C0-7116-4AAA-B0BC-FF75AF793D81}" type="slidenum">
              <a:rPr lang="en-US" altLang="en-US" smtClean="0">
                <a:solidFill>
                  <a:srgbClr val="000000"/>
                </a:solidFill>
              </a:rPr>
              <a:pPr>
                <a:defRPr/>
              </a:pPr>
              <a:t>10</a:t>
            </a:fld>
            <a:endParaRPr lang="en-US" altLang="en-US">
              <a:solidFill>
                <a:srgbClr val="000000"/>
              </a:solidFill>
            </a:endParaRPr>
          </a:p>
        </p:txBody>
      </p:sp>
      <p:graphicFrame>
        <p:nvGraphicFramePr>
          <p:cNvPr id="79" name="Group 138">
            <a:extLst>
              <a:ext uri="{FF2B5EF4-FFF2-40B4-BE49-F238E27FC236}">
                <a16:creationId xmlns:a16="http://schemas.microsoft.com/office/drawing/2014/main" id="{92F65C84-8485-B270-4CC9-A88F38B00805}"/>
              </a:ext>
            </a:extLst>
          </p:cNvPr>
          <p:cNvGraphicFramePr>
            <a:graphicFrameLocks noGrp="1"/>
          </p:cNvGraphicFramePr>
          <p:nvPr>
            <p:extLst>
              <p:ext uri="{D42A27DB-BD31-4B8C-83A1-F6EECF244321}">
                <p14:modId xmlns:p14="http://schemas.microsoft.com/office/powerpoint/2010/main" val="814867474"/>
              </p:ext>
            </p:extLst>
          </p:nvPr>
        </p:nvGraphicFramePr>
        <p:xfrm>
          <a:off x="1369361" y="1507331"/>
          <a:ext cx="1741927" cy="1980000"/>
        </p:xfrm>
        <a:graphic>
          <a:graphicData uri="http://schemas.openxmlformats.org/drawingml/2006/table">
            <a:tbl>
              <a:tblPr/>
              <a:tblGrid>
                <a:gridCol w="157151">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dirty="0">
                          <a:ln>
                            <a:noFill/>
                          </a:ln>
                          <a:solidFill>
                            <a:schemeClr val="bg1"/>
                          </a:solidFill>
                          <a:effectLst/>
                          <a:latin typeface="Arial" panose="020B0604020202020204" pitchFamily="34" charset="0"/>
                          <a:ea typeface="+mn-ea"/>
                          <a:cs typeface="Arial" panose="020B0604020202020204" pitchFamily="34" charset="0"/>
                        </a:rPr>
                        <a:t>Singapore 2025</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dirty="0" err="1">
                          <a:ln>
                            <a:noFill/>
                          </a:ln>
                          <a:solidFill>
                            <a:schemeClr val="tx1"/>
                          </a:solidFill>
                          <a:effectLst/>
                          <a:latin typeface="Arial" panose="020B0604020202020204" pitchFamily="34" charset="0"/>
                          <a:ea typeface="+mn-ea"/>
                          <a:cs typeface="Arial" panose="020B0604020202020204" pitchFamily="34" charset="0"/>
                        </a:rPr>
                        <a:t>Undrwtn</a:t>
                      </a:r>
                      <a:r>
                        <a:rPr kumimoji="0" lang="en-US"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 </a:t>
                      </a:r>
                      <a:br>
                        <a:rPr kumimoji="0" lang="en-SG"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1</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1" i="0" u="none" strike="noStrike">
                          <a:solidFill>
                            <a:srgbClr val="000000"/>
                          </a:solidFill>
                          <a:effectLst/>
                          <a:latin typeface="Arial" panose="020B0604020202020204" pitchFamily="34" charset="0"/>
                        </a:rPr>
                        <a:t>DBS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dirty="0">
                          <a:solidFill>
                            <a:srgbClr val="000000"/>
                          </a:solidFill>
                          <a:effectLst/>
                          <a:latin typeface="Arial" panose="020B0604020202020204" pitchFamily="34" charset="0"/>
                        </a:rPr>
                        <a:t>24.9%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dirty="0">
                          <a:solidFill>
                            <a:srgbClr val="000000"/>
                          </a:solidFill>
                          <a:effectLst/>
                          <a:latin typeface="Arial" panose="020B0604020202020204" pitchFamily="34" charset="0"/>
                        </a:rPr>
                        <a:t>1,075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12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CITI</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18.0%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774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UBS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11.6%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500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UOB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9.9%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429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dirty="0">
                          <a:solidFill>
                            <a:srgbClr val="000000"/>
                          </a:solidFill>
                          <a:effectLst/>
                          <a:latin typeface="Arial" panose="020B0604020202020204" pitchFamily="34" charset="0"/>
                        </a:rPr>
                        <a:t>6</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OCBC</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8.3%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356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dirty="0">
                          <a:solidFill>
                            <a:srgbClr val="000000"/>
                          </a:solidFill>
                          <a:effectLst/>
                          <a:latin typeface="Arial" panose="020B0604020202020204" pitchFamily="34" charset="0"/>
                        </a:rPr>
                        <a:t>7</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6</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MAYBAN</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236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dirty="0">
                          <a:solidFill>
                            <a:srgbClr val="000000"/>
                          </a:solidFill>
                          <a:effectLst/>
                          <a:latin typeface="Arial" panose="020B0604020202020204" pitchFamily="34" charset="0"/>
                        </a:rPr>
                        <a:t>10</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JPM</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dirty="0">
                          <a:solidFill>
                            <a:srgbClr val="000000"/>
                          </a:solidFill>
                          <a:effectLst/>
                          <a:latin typeface="Arial" panose="020B0604020202020204" pitchFamily="34" charset="0"/>
                        </a:rPr>
                        <a:t>1</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8</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BofA</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dirty="0">
                          <a:solidFill>
                            <a:srgbClr val="000000"/>
                          </a:solidFill>
                          <a:effectLst/>
                          <a:latin typeface="Arial" panose="020B0604020202020204" pitchFamily="34" charset="0"/>
                        </a:rPr>
                        <a:t>1</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9</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MIZUHO</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dirty="0">
                          <a:solidFill>
                            <a:srgbClr val="000000"/>
                          </a:solidFill>
                          <a:effectLst/>
                          <a:latin typeface="Arial" panose="020B0604020202020204" pitchFamily="34" charset="0"/>
                        </a:rPr>
                        <a:t>1</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10</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MS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dirty="0">
                          <a:solidFill>
                            <a:srgbClr val="000000"/>
                          </a:solidFill>
                          <a:effectLst/>
                          <a:latin typeface="Arial" panose="020B0604020202020204" pitchFamily="34" charset="0"/>
                        </a:rPr>
                        <a:t>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80" name="Group 138">
            <a:extLst>
              <a:ext uri="{FF2B5EF4-FFF2-40B4-BE49-F238E27FC236}">
                <a16:creationId xmlns:a16="http://schemas.microsoft.com/office/drawing/2014/main" id="{0F719AC3-221C-60C1-1C19-378F677A7989}"/>
              </a:ext>
            </a:extLst>
          </p:cNvPr>
          <p:cNvGraphicFramePr>
            <a:graphicFrameLocks noGrp="1"/>
          </p:cNvGraphicFramePr>
          <p:nvPr>
            <p:custDataLst>
              <p:tags r:id="rId2"/>
            </p:custDataLst>
            <p:extLst>
              <p:ext uri="{D42A27DB-BD31-4B8C-83A1-F6EECF244321}">
                <p14:modId xmlns:p14="http://schemas.microsoft.com/office/powerpoint/2010/main" val="2479730098"/>
              </p:ext>
            </p:extLst>
          </p:nvPr>
        </p:nvGraphicFramePr>
        <p:xfrm>
          <a:off x="1369361" y="3634532"/>
          <a:ext cx="1741927" cy="1980000"/>
        </p:xfrm>
        <a:graphic>
          <a:graphicData uri="http://schemas.openxmlformats.org/drawingml/2006/table">
            <a:tbl>
              <a:tblPr/>
              <a:tblGrid>
                <a:gridCol w="157151">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dirty="0">
                          <a:ln>
                            <a:noFill/>
                          </a:ln>
                          <a:solidFill>
                            <a:schemeClr val="bg1"/>
                          </a:solidFill>
                          <a:effectLst/>
                          <a:latin typeface="Arial" panose="020B0604020202020204" pitchFamily="34" charset="0"/>
                          <a:ea typeface="+mn-ea"/>
                          <a:cs typeface="Arial" panose="020B0604020202020204" pitchFamily="34" charset="0"/>
                        </a:rPr>
                        <a:t>ASEAN 2025</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dirty="0" err="1">
                          <a:ln>
                            <a:noFill/>
                          </a:ln>
                          <a:solidFill>
                            <a:schemeClr val="tx1"/>
                          </a:solidFill>
                          <a:effectLst/>
                          <a:latin typeface="Arial" panose="020B0604020202020204" pitchFamily="34" charset="0"/>
                          <a:ea typeface="+mn-ea"/>
                          <a:cs typeface="Arial" panose="020B0604020202020204" pitchFamily="34" charset="0"/>
                        </a:rPr>
                        <a:t>Undrwtn</a:t>
                      </a:r>
                      <a:r>
                        <a:rPr kumimoji="0" lang="en-US"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 </a:t>
                      </a:r>
                      <a:br>
                        <a:rPr kumimoji="0" lang="en-SG"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UBS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12.6%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1,442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MAYBAN</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12.1%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1,338</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34</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74667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3</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CIMB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7.7%</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884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1" i="0" u="none" strike="noStrike">
                          <a:solidFill>
                            <a:srgbClr val="000000"/>
                          </a:solidFill>
                          <a:effectLst/>
                          <a:latin typeface="Arial" panose="020B0604020202020204" pitchFamily="34" charset="0"/>
                        </a:rPr>
                        <a:t>DBS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7.0%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802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10</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CITI</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519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6</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6</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JEFFERIES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490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RHB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399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8</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OCBC</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343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9</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9</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TRIMEGAH</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2.8%</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321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6</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10</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UOB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2.7%</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dirty="0">
                          <a:solidFill>
                            <a:srgbClr val="000000"/>
                          </a:solidFill>
                          <a:effectLst/>
                          <a:latin typeface="Arial" panose="020B0604020202020204" pitchFamily="34" charset="0"/>
                        </a:rPr>
                        <a:t>306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dirty="0">
                          <a:solidFill>
                            <a:srgbClr val="000000"/>
                          </a:solidFill>
                          <a:effectLst/>
                          <a:latin typeface="Arial" panose="020B0604020202020204" pitchFamily="34" charset="0"/>
                        </a:rPr>
                        <a:t>7</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83" name="Group 138">
            <a:extLst>
              <a:ext uri="{FF2B5EF4-FFF2-40B4-BE49-F238E27FC236}">
                <a16:creationId xmlns:a16="http://schemas.microsoft.com/office/drawing/2014/main" id="{B6B24A8D-283E-2D45-649A-32009FEB6432}"/>
              </a:ext>
            </a:extLst>
          </p:cNvPr>
          <p:cNvGraphicFramePr>
            <a:graphicFrameLocks noGrp="1"/>
          </p:cNvGraphicFramePr>
          <p:nvPr>
            <p:custDataLst>
              <p:tags r:id="rId3"/>
            </p:custDataLst>
            <p:extLst>
              <p:ext uri="{D42A27DB-BD31-4B8C-83A1-F6EECF244321}">
                <p14:modId xmlns:p14="http://schemas.microsoft.com/office/powerpoint/2010/main" val="3096577940"/>
              </p:ext>
            </p:extLst>
          </p:nvPr>
        </p:nvGraphicFramePr>
        <p:xfrm>
          <a:off x="6809257" y="1507331"/>
          <a:ext cx="1741973" cy="1980000"/>
        </p:xfrm>
        <a:graphic>
          <a:graphicData uri="http://schemas.openxmlformats.org/drawingml/2006/table">
            <a:tbl>
              <a:tblPr/>
              <a:tblGrid>
                <a:gridCol w="157197">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dirty="0">
                          <a:ln>
                            <a:noFill/>
                          </a:ln>
                          <a:solidFill>
                            <a:schemeClr val="bg1"/>
                          </a:solidFill>
                          <a:effectLst/>
                          <a:latin typeface="Arial" panose="020B0604020202020204" pitchFamily="34" charset="0"/>
                          <a:ea typeface="+mn-ea"/>
                          <a:cs typeface="Arial" panose="020B0604020202020204" pitchFamily="34" charset="0"/>
                        </a:rPr>
                        <a:t>Singapore 2022</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CC0000"/>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a:t>
                      </a: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US" sz="700" b="1" u="none" strike="noStrike" kern="1200" cap="none" normalizeH="0" baseline="0" dirty="0" err="1">
                          <a:ln>
                            <a:noFill/>
                          </a:ln>
                          <a:solidFill>
                            <a:schemeClr val="tx1"/>
                          </a:solidFill>
                          <a:effectLst/>
                          <a:latin typeface="Arial" panose="020B0604020202020204" pitchFamily="34" charset="0"/>
                          <a:ea typeface="+mn-ea"/>
                          <a:cs typeface="Arial" panose="020B0604020202020204" pitchFamily="34" charset="0"/>
                        </a:rPr>
                        <a:t>Undrwtn</a:t>
                      </a:r>
                      <a:r>
                        <a:rPr kumimoji="0" lang="en-US"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 </a:t>
                      </a:r>
                      <a:br>
                        <a:rPr kumimoji="0" lang="en-SG"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1</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DBS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18.2%</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219</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6</a:t>
                      </a:r>
                      <a:endPar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10002"/>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2</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UOB</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16.5%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199</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OCBC</a:t>
                      </a:r>
                      <a:endParaRPr lang="en-SG" sz="700" b="0" i="1"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11.5%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138</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CITI</a:t>
                      </a:r>
                      <a:endParaRPr lang="en-SG" sz="700" b="0" i="1"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11.5%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138</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5</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CS</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7.5%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90</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2</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6</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CIMB</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6.8%</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81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7</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KGI</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5.5%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66</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2</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8</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JPM</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5.1%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61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9</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MS</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42</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10</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UOB KH</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40</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84" name="Group 138">
            <a:extLst>
              <a:ext uri="{FF2B5EF4-FFF2-40B4-BE49-F238E27FC236}">
                <a16:creationId xmlns:a16="http://schemas.microsoft.com/office/drawing/2014/main" id="{A1D978A0-EC58-2E83-B8B6-8B0CB0BFCCAF}"/>
              </a:ext>
            </a:extLst>
          </p:cNvPr>
          <p:cNvGraphicFramePr>
            <a:graphicFrameLocks noGrp="1"/>
          </p:cNvGraphicFramePr>
          <p:nvPr>
            <p:extLst>
              <p:ext uri="{D42A27DB-BD31-4B8C-83A1-F6EECF244321}">
                <p14:modId xmlns:p14="http://schemas.microsoft.com/office/powerpoint/2010/main" val="3668969181"/>
              </p:ext>
            </p:extLst>
          </p:nvPr>
        </p:nvGraphicFramePr>
        <p:xfrm>
          <a:off x="6812541" y="3634532"/>
          <a:ext cx="1743423" cy="1980000"/>
        </p:xfrm>
        <a:graphic>
          <a:graphicData uri="http://schemas.openxmlformats.org/drawingml/2006/table">
            <a:tbl>
              <a:tblPr/>
              <a:tblGrid>
                <a:gridCol w="158647">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dirty="0">
                          <a:ln>
                            <a:noFill/>
                          </a:ln>
                          <a:solidFill>
                            <a:schemeClr val="bg1"/>
                          </a:solidFill>
                          <a:effectLst/>
                          <a:latin typeface="Arial" panose="020B0604020202020204" pitchFamily="34" charset="0"/>
                          <a:ea typeface="+mn-ea"/>
                          <a:cs typeface="Arial" panose="020B0604020202020204" pitchFamily="34" charset="0"/>
                        </a:rPr>
                        <a:t>ASEAN 2022</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dirty="0" err="1">
                          <a:ln>
                            <a:noFill/>
                          </a:ln>
                          <a:solidFill>
                            <a:schemeClr val="tx1"/>
                          </a:solidFill>
                          <a:effectLst/>
                          <a:latin typeface="Arial" panose="020B0604020202020204" pitchFamily="34" charset="0"/>
                          <a:ea typeface="+mn-ea"/>
                          <a:cs typeface="Arial" panose="020B0604020202020204" pitchFamily="34" charset="0"/>
                        </a:rPr>
                        <a:t>Undrwtn</a:t>
                      </a:r>
                      <a:r>
                        <a:rPr kumimoji="0" lang="en-US"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 </a:t>
                      </a:r>
                      <a:br>
                        <a:rPr kumimoji="0" lang="en-SG"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kern="1200">
                          <a:solidFill>
                            <a:srgbClr val="000000"/>
                          </a:solidFill>
                          <a:effectLst/>
                          <a:latin typeface="Arial" panose="020B0604020202020204" pitchFamily="34" charset="0"/>
                          <a:ea typeface="+mn-ea"/>
                          <a:cs typeface="Arial" panose="020B0604020202020204" pitchFamily="34" charset="0"/>
                        </a:rPr>
                        <a:t>1</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KIAPHA</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6.7%</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775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700" b="0" i="0" u="none" strike="noStrike" kern="1200">
                          <a:solidFill>
                            <a:srgbClr val="000000"/>
                          </a:solidFill>
                          <a:effectLst/>
                          <a:latin typeface="Arial" panose="020B0604020202020204" pitchFamily="34" charset="0"/>
                          <a:ea typeface="+mn-ea"/>
                          <a:cs typeface="Arial" panose="020B0604020202020204" pitchFamily="34" charset="0"/>
                        </a:rPr>
                        <a:t>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2</a:t>
                      </a:r>
                    </a:p>
                  </a:txBody>
                  <a:tcPr marL="7739" marR="7739"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CIMB</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5.5%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645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19</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3</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SYRUS</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5.4%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624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2</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4</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KBANK</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3.6%</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419</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5</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CITIC</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409</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6</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CS</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395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8</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7</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ING</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381</a:t>
                      </a:r>
                      <a:endParaRPr lang="en-US"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1" i="0" u="none" strike="noStrike">
                          <a:solidFill>
                            <a:srgbClr val="000000"/>
                          </a:solidFill>
                          <a:effectLst/>
                          <a:latin typeface="Arial" panose="020B0604020202020204" pitchFamily="34" charset="0"/>
                          <a:cs typeface="Arial" panose="020B0604020202020204" pitchFamily="34" charset="0"/>
                        </a:rPr>
                        <a:t>8</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DBS</a:t>
                      </a:r>
                      <a:endPar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1" i="0" u="none" strike="noStrike" kern="1200">
                          <a:solidFill>
                            <a:srgbClr val="000000"/>
                          </a:solidFill>
                          <a:effectLst/>
                          <a:latin typeface="Arial" panose="020B0604020202020204" pitchFamily="34" charset="0"/>
                          <a:ea typeface="+mn-ea"/>
                          <a:cs typeface="Arial" panose="020B0604020202020204" pitchFamily="34" charset="0"/>
                        </a:rPr>
                        <a:t>3.1%</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SG" sz="700" b="1" i="0" u="none" strike="noStrike" kern="1200">
                          <a:solidFill>
                            <a:srgbClr val="000000"/>
                          </a:solidFill>
                          <a:effectLst/>
                          <a:latin typeface="Arial" panose="020B0604020202020204" pitchFamily="34" charset="0"/>
                          <a:ea typeface="+mn-ea"/>
                          <a:cs typeface="Arial" panose="020B0604020202020204" pitchFamily="34" charset="0"/>
                        </a:rPr>
                        <a:t>362</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1" i="0" u="none" strike="noStrike" kern="1200">
                          <a:solidFill>
                            <a:srgbClr val="000000"/>
                          </a:solidFill>
                          <a:effectLst/>
                          <a:latin typeface="Arial" panose="020B0604020202020204" pitchFamily="34" charset="0"/>
                          <a:ea typeface="+mn-ea"/>
                          <a:cs typeface="Arial" panose="020B0604020202020204" pitchFamily="34" charset="0"/>
                        </a:rPr>
                        <a:t>10</a:t>
                      </a:r>
                      <a:endParaRPr lang="en-SG" sz="700" b="1"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9"/>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9</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TRIMEG</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3.1%</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SG" sz="700" b="0" i="0" u="none" strike="noStrike" kern="1200">
                          <a:solidFill>
                            <a:srgbClr val="000000"/>
                          </a:solidFill>
                          <a:effectLst/>
                          <a:latin typeface="Arial" panose="020B0604020202020204" pitchFamily="34" charset="0"/>
                          <a:ea typeface="+mn-ea"/>
                          <a:cs typeface="Arial" panose="020B0604020202020204" pitchFamily="34" charset="0"/>
                        </a:rPr>
                        <a:t>360</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10</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INDO</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2.9%</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SG" sz="700" b="0" i="0" u="none" strike="noStrike" kern="1200">
                          <a:solidFill>
                            <a:srgbClr val="000000"/>
                          </a:solidFill>
                          <a:effectLst/>
                          <a:latin typeface="Arial" panose="020B0604020202020204" pitchFamily="34" charset="0"/>
                          <a:ea typeface="+mn-ea"/>
                          <a:cs typeface="Arial" panose="020B0604020202020204" pitchFamily="34" charset="0"/>
                        </a:rPr>
                        <a:t>336</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2</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85" name="Group 138">
            <a:extLst>
              <a:ext uri="{FF2B5EF4-FFF2-40B4-BE49-F238E27FC236}">
                <a16:creationId xmlns:a16="http://schemas.microsoft.com/office/drawing/2014/main" id="{B44068B0-E278-B587-8A2B-AB4284A1F3C9}"/>
              </a:ext>
            </a:extLst>
          </p:cNvPr>
          <p:cNvGraphicFramePr>
            <a:graphicFrameLocks noGrp="1"/>
          </p:cNvGraphicFramePr>
          <p:nvPr>
            <p:custDataLst>
              <p:tags r:id="rId4"/>
            </p:custDataLst>
            <p:extLst>
              <p:ext uri="{D42A27DB-BD31-4B8C-83A1-F6EECF244321}">
                <p14:modId xmlns:p14="http://schemas.microsoft.com/office/powerpoint/2010/main" val="4120953115"/>
              </p:ext>
            </p:extLst>
          </p:nvPr>
        </p:nvGraphicFramePr>
        <p:xfrm>
          <a:off x="4998352" y="1507331"/>
          <a:ext cx="1734746" cy="1980000"/>
        </p:xfrm>
        <a:graphic>
          <a:graphicData uri="http://schemas.openxmlformats.org/drawingml/2006/table">
            <a:tbl>
              <a:tblPr/>
              <a:tblGrid>
                <a:gridCol w="14997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Singapore 2023</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CC0000"/>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a:t>
                      </a: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742950" rtl="0" eaLnBrk="1" fontAlgn="ctr" latinLnBrk="0" hangingPunct="1"/>
                      <a:r>
                        <a:rPr lang="en-SG" sz="700" b="1" i="0" u="none" strike="noStrike" kern="1200">
                          <a:solidFill>
                            <a:srgbClr val="000000"/>
                          </a:solidFill>
                          <a:effectLst/>
                          <a:latin typeface="Arial" panose="020B0604020202020204" pitchFamily="34" charset="0"/>
                          <a:ea typeface="+mn-ea"/>
                          <a:cs typeface="+mn-cs"/>
                        </a:rPr>
                        <a:t>1</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l" defTabSz="742950" rtl="0" eaLnBrk="1" fontAlgn="ctr" latinLnBrk="0" hangingPunct="1"/>
                      <a:r>
                        <a:rPr lang="en-SG" sz="700" b="1" i="0" u="none" strike="noStrike" kern="1200">
                          <a:solidFill>
                            <a:srgbClr val="000000"/>
                          </a:solidFill>
                          <a:effectLst/>
                          <a:latin typeface="Arial" panose="020B0604020202020204" pitchFamily="34" charset="0"/>
                          <a:ea typeface="+mn-ea"/>
                          <a:cs typeface="+mn-cs"/>
                        </a:rPr>
                        <a:t>DBS</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742950" rtl="0" eaLnBrk="1" fontAlgn="ctr" latinLnBrk="0" hangingPunct="1"/>
                      <a:r>
                        <a:rPr lang="en-SG" sz="700" b="1" i="0" u="none" strike="noStrike" kern="1200">
                          <a:solidFill>
                            <a:srgbClr val="000000"/>
                          </a:solidFill>
                          <a:effectLst/>
                          <a:latin typeface="Arial" panose="020B0604020202020204" pitchFamily="34" charset="0"/>
                          <a:ea typeface="+mn-ea"/>
                          <a:cs typeface="+mn-cs"/>
                        </a:rPr>
                        <a:t>30.9%</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742950" rtl="0" eaLnBrk="1" fontAlgn="ctr" latinLnBrk="0" hangingPunct="1"/>
                      <a:r>
                        <a:rPr lang="en-SG" sz="700" b="1" i="0" u="none" strike="noStrike" kern="1200">
                          <a:solidFill>
                            <a:srgbClr val="000000"/>
                          </a:solidFill>
                          <a:effectLst/>
                          <a:latin typeface="Arial" panose="020B0604020202020204" pitchFamily="34" charset="0"/>
                          <a:ea typeface="+mn-ea"/>
                          <a:cs typeface="+mn-cs"/>
                        </a:rPr>
                        <a:t>636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742950" rtl="0" eaLnBrk="1" fontAlgn="ctr" latinLnBrk="0" hangingPunct="1"/>
                      <a:r>
                        <a:rPr lang="en-SG" sz="700" b="1" i="0" u="none" strike="noStrike" kern="1200">
                          <a:solidFill>
                            <a:srgbClr val="000000"/>
                          </a:solidFill>
                          <a:effectLst/>
                          <a:latin typeface="Arial" panose="020B0604020202020204" pitchFamily="34" charset="0"/>
                          <a:ea typeface="+mn-ea"/>
                          <a:cs typeface="+mn-cs"/>
                        </a:rPr>
                        <a:t>12</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CITI</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23.6%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487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OCBC</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10.0%</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207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BOFA</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198</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UOB</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157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JPM</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6.1%</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124</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HSBC</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4.0%</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82</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UBS</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75</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MAYBAN</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1.2%</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25</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RHB</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1.2%</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25</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86" name="Group 138">
            <a:extLst>
              <a:ext uri="{FF2B5EF4-FFF2-40B4-BE49-F238E27FC236}">
                <a16:creationId xmlns:a16="http://schemas.microsoft.com/office/drawing/2014/main" id="{1B1CDC46-90C7-1DFC-40E9-7E9D3E2DAA17}"/>
              </a:ext>
            </a:extLst>
          </p:cNvPr>
          <p:cNvGraphicFramePr>
            <a:graphicFrameLocks noGrp="1"/>
          </p:cNvGraphicFramePr>
          <p:nvPr>
            <p:custDataLst>
              <p:tags r:id="rId5"/>
            </p:custDataLst>
            <p:extLst>
              <p:ext uri="{D42A27DB-BD31-4B8C-83A1-F6EECF244321}">
                <p14:modId xmlns:p14="http://schemas.microsoft.com/office/powerpoint/2010/main" val="2543330047"/>
              </p:ext>
            </p:extLst>
          </p:nvPr>
        </p:nvGraphicFramePr>
        <p:xfrm>
          <a:off x="4997649" y="3634532"/>
          <a:ext cx="1743423" cy="1980000"/>
        </p:xfrm>
        <a:graphic>
          <a:graphicData uri="http://schemas.openxmlformats.org/drawingml/2006/table">
            <a:tbl>
              <a:tblPr/>
              <a:tblGrid>
                <a:gridCol w="158647">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ASEAN 2023</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1" i="0" u="none" strike="noStrike">
                          <a:solidFill>
                            <a:srgbClr val="000000"/>
                          </a:solidFill>
                          <a:effectLst/>
                          <a:latin typeface="Arial" panose="020B0604020202020204" pitchFamily="34" charset="0"/>
                        </a:rPr>
                        <a:t>UBS</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7.8%</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925</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15</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MAYBAN</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916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39</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3</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1" i="0" u="none" strike="noStrike">
                          <a:solidFill>
                            <a:srgbClr val="000000"/>
                          </a:solidFill>
                          <a:effectLst/>
                          <a:latin typeface="Arial" panose="020B0604020202020204" pitchFamily="34" charset="0"/>
                        </a:rPr>
                        <a:t>DBS</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7.7%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910</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14</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CIMBGR</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6.3%</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748</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27</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CITI</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4.9%</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582</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MANDIR</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4.0%</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472</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CITIC</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437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HSBC</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425</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NEGIND</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3.4%</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404</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JPM</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3.3%</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393</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87" name="Group 138">
            <a:extLst>
              <a:ext uri="{FF2B5EF4-FFF2-40B4-BE49-F238E27FC236}">
                <a16:creationId xmlns:a16="http://schemas.microsoft.com/office/drawing/2014/main" id="{A1372583-B514-72C8-62CE-F010D7A6EC8F}"/>
              </a:ext>
            </a:extLst>
          </p:cNvPr>
          <p:cNvGraphicFramePr>
            <a:graphicFrameLocks noGrp="1"/>
          </p:cNvGraphicFramePr>
          <p:nvPr>
            <p:custDataLst>
              <p:tags r:id="rId6"/>
            </p:custDataLst>
            <p:extLst>
              <p:ext uri="{D42A27DB-BD31-4B8C-83A1-F6EECF244321}">
                <p14:modId xmlns:p14="http://schemas.microsoft.com/office/powerpoint/2010/main" val="3308774676"/>
              </p:ext>
            </p:extLst>
          </p:nvPr>
        </p:nvGraphicFramePr>
        <p:xfrm>
          <a:off x="3187447" y="1507331"/>
          <a:ext cx="1734746" cy="1980000"/>
        </p:xfrm>
        <a:graphic>
          <a:graphicData uri="http://schemas.openxmlformats.org/drawingml/2006/table">
            <a:tbl>
              <a:tblPr/>
              <a:tblGrid>
                <a:gridCol w="14997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dirty="0">
                          <a:ln>
                            <a:noFill/>
                          </a:ln>
                          <a:solidFill>
                            <a:schemeClr val="bg1"/>
                          </a:solidFill>
                          <a:effectLst/>
                          <a:latin typeface="Arial" panose="020B0604020202020204" pitchFamily="34" charset="0"/>
                          <a:ea typeface="+mn-ea"/>
                          <a:cs typeface="Arial" panose="020B0604020202020204" pitchFamily="34" charset="0"/>
                        </a:rPr>
                        <a:t>Singapore 2024</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CC0000"/>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a:t>
                      </a: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UOB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21.1%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505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JPM</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17.7%</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424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3</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1" i="0" u="none" strike="noStrike">
                          <a:solidFill>
                            <a:srgbClr val="000000"/>
                          </a:solidFill>
                          <a:effectLst/>
                          <a:latin typeface="Arial" panose="020B0604020202020204" pitchFamily="34" charset="0"/>
                        </a:rPr>
                        <a:t>DBS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10.2%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243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11</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OCBC</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9.7%</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232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HSBC</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182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RHB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158</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CITI</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126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GS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MS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dirty="0">
                          <a:solidFill>
                            <a:srgbClr val="000000"/>
                          </a:solidFill>
                          <a:effectLst/>
                          <a:latin typeface="Arial" panose="020B0604020202020204" pitchFamily="34" charset="0"/>
                        </a:rPr>
                        <a:t>1</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88" name="Group 138">
            <a:extLst>
              <a:ext uri="{FF2B5EF4-FFF2-40B4-BE49-F238E27FC236}">
                <a16:creationId xmlns:a16="http://schemas.microsoft.com/office/drawing/2014/main" id="{350DD6B3-981D-0288-FFCD-7D1CAF6DADCA}"/>
              </a:ext>
            </a:extLst>
          </p:cNvPr>
          <p:cNvGraphicFramePr>
            <a:graphicFrameLocks noGrp="1"/>
          </p:cNvGraphicFramePr>
          <p:nvPr>
            <p:custDataLst>
              <p:tags r:id="rId7"/>
            </p:custDataLst>
            <p:extLst>
              <p:ext uri="{D42A27DB-BD31-4B8C-83A1-F6EECF244321}">
                <p14:modId xmlns:p14="http://schemas.microsoft.com/office/powerpoint/2010/main" val="4037130412"/>
              </p:ext>
            </p:extLst>
          </p:nvPr>
        </p:nvGraphicFramePr>
        <p:xfrm>
          <a:off x="3182757" y="3634532"/>
          <a:ext cx="1743423" cy="1980000"/>
        </p:xfrm>
        <a:graphic>
          <a:graphicData uri="http://schemas.openxmlformats.org/drawingml/2006/table">
            <a:tbl>
              <a:tblPr/>
              <a:tblGrid>
                <a:gridCol w="158647">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ASEAN 2024</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CIMBGR</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15.0%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1,736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MAYBAN</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12.6%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1,461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983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17</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UOB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509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JPM</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473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NEGIND</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472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AMINVB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382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BofA</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346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9</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1" i="0" u="none" strike="noStrike">
                          <a:solidFill>
                            <a:srgbClr val="000000"/>
                          </a:solidFill>
                          <a:effectLst/>
                          <a:latin typeface="Arial" panose="020B0604020202020204" pitchFamily="34" charset="0"/>
                        </a:rPr>
                        <a:t>DBS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2.6%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304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18</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BKPH</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292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spTree>
    <p:extLst>
      <p:ext uri="{BB962C8B-B14F-4D97-AF65-F5344CB8AC3E}">
        <p14:creationId xmlns:p14="http://schemas.microsoft.com/office/powerpoint/2010/main" val="2876145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2" name="Straight Connector 331">
            <a:extLst>
              <a:ext uri="{FF2B5EF4-FFF2-40B4-BE49-F238E27FC236}">
                <a16:creationId xmlns:a16="http://schemas.microsoft.com/office/drawing/2014/main" id="{BB8554C7-1192-2347-26E2-5838F5411F9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374" name="Rectangle 373">
            <a:extLst>
              <a:ext uri="{FF2B5EF4-FFF2-40B4-BE49-F238E27FC236}">
                <a16:creationId xmlns:a16="http://schemas.microsoft.com/office/drawing/2014/main" id="{F276453A-B850-8AB7-3334-9B2CB58A8D95}"/>
              </a:ext>
            </a:extLst>
          </p:cNvPr>
          <p:cNvSpPr/>
          <p:nvPr/>
        </p:nvSpPr>
        <p:spPr bwMode="gray">
          <a:xfrm>
            <a:off x="1136377" y="5145007"/>
            <a:ext cx="4877027" cy="765200"/>
          </a:xfrm>
          <a:prstGeom prst="rect">
            <a:avLst/>
          </a:prstGeom>
          <a:gradFill flip="none" rotWithShape="1">
            <a:gsLst>
              <a:gs pos="0">
                <a:schemeClr val="bg1">
                  <a:alpha val="80000"/>
                </a:schemeClr>
              </a:gs>
              <a:gs pos="74000">
                <a:schemeClr val="bg1"/>
              </a:gs>
              <a:gs pos="83000">
                <a:schemeClr val="bg1"/>
              </a:gs>
              <a:gs pos="100000">
                <a:schemeClr val="bg1"/>
              </a:gs>
            </a:gsLst>
            <a:lin ang="10800000" scaled="1"/>
            <a:tileRect/>
          </a:gradFill>
          <a:ln w="6350">
            <a:noFill/>
            <a:round/>
            <a:headEnd/>
            <a:tailEnd/>
          </a:ln>
        </p:spPr>
        <p:style>
          <a:lnRef idx="2">
            <a:schemeClr val="accent1"/>
          </a:lnRef>
          <a:fillRef idx="1">
            <a:schemeClr val="lt1"/>
          </a:fillRef>
          <a:effectRef idx="0">
            <a:schemeClr val="accent1"/>
          </a:effectRef>
          <a:fontRef idx="minor">
            <a:schemeClr val="dk1"/>
          </a:fontRef>
        </p:style>
        <p:txBody>
          <a:bodyPr wrap="square" lIns="72000" tIns="36000" rIns="72000" bIns="36000" rtlCol="0" anchor="t">
            <a:spAutoFit/>
          </a:bodyPr>
          <a:lstStyle/>
          <a:p>
            <a:pPr defTabSz="742950" fontAlgn="auto">
              <a:spcBef>
                <a:spcPts val="0"/>
              </a:spcBef>
              <a:spcAft>
                <a:spcPts val="600"/>
              </a:spcAft>
              <a:buClr>
                <a:srgbClr val="000000"/>
              </a:buClr>
              <a:defRPr/>
            </a:pPr>
            <a:r>
              <a:rPr lang="en-SG" sz="1000" b="0" dirty="0">
                <a:solidFill>
                  <a:schemeClr val="tx1"/>
                </a:solidFill>
                <a:latin typeface="+mj-lt"/>
                <a:sym typeface="Wingdings"/>
              </a:rPr>
              <a:t>Strong Asian momentum is critical for Asian issuers. Early “books covered” </a:t>
            </a:r>
            <a:br>
              <a:rPr lang="en-SG" sz="1000" b="0" dirty="0">
                <a:solidFill>
                  <a:schemeClr val="tx1"/>
                </a:solidFill>
                <a:latin typeface="+mj-lt"/>
                <a:sym typeface="Wingdings"/>
              </a:rPr>
            </a:br>
            <a:r>
              <a:rPr lang="en-SG" sz="1000" b="0" dirty="0">
                <a:solidFill>
                  <a:schemeClr val="tx1"/>
                </a:solidFill>
                <a:latin typeface="+mj-lt"/>
                <a:sym typeface="Wingdings"/>
              </a:rPr>
              <a:t>message during book-building important to garner broader market buy-in</a:t>
            </a:r>
          </a:p>
          <a:p>
            <a:pPr defTabSz="742950" fontAlgn="auto">
              <a:spcBef>
                <a:spcPts val="0"/>
              </a:spcBef>
              <a:spcAft>
                <a:spcPts val="600"/>
              </a:spcAft>
              <a:buClr>
                <a:srgbClr val="000000"/>
              </a:buClr>
              <a:tabLst>
                <a:tab pos="307070" algn="l"/>
              </a:tabLst>
              <a:defRPr/>
            </a:pPr>
            <a:r>
              <a:rPr lang="en-US" sz="1000" b="0" dirty="0">
                <a:solidFill>
                  <a:schemeClr val="tx1"/>
                </a:solidFill>
                <a:latin typeface="+mj-lt"/>
              </a:rPr>
              <a:t>DBS' strong &amp; most comprehensive Asian investor access can help to generate multi-dimensional demand for price tension</a:t>
            </a:r>
            <a:endParaRPr lang="en-SG" sz="1000" b="0" dirty="0">
              <a:solidFill>
                <a:schemeClr val="tx1"/>
              </a:solidFill>
              <a:latin typeface="+mj-lt"/>
              <a:sym typeface="Wingdings"/>
            </a:endParaRPr>
          </a:p>
        </p:txBody>
      </p:sp>
      <p:sp>
        <p:nvSpPr>
          <p:cNvPr id="2" name="Title 1">
            <a:extLst>
              <a:ext uri="{FF2B5EF4-FFF2-40B4-BE49-F238E27FC236}">
                <a16:creationId xmlns:a16="http://schemas.microsoft.com/office/drawing/2014/main" id="{0661A43C-9234-D7CA-E286-1A0A3F437485}"/>
              </a:ext>
            </a:extLst>
          </p:cNvPr>
          <p:cNvSpPr>
            <a:spLocks noGrp="1"/>
          </p:cNvSpPr>
          <p:nvPr>
            <p:ph type="title"/>
          </p:nvPr>
        </p:nvSpPr>
        <p:spPr/>
        <p:txBody>
          <a:bodyPr/>
          <a:lstStyle/>
          <a:p>
            <a:r>
              <a:rPr lang="en-SG" sz="2000" b="1" dirty="0"/>
              <a:t>DBS’ Asian-focused Distribution offers Differentiated Access to Asian Liquidity</a:t>
            </a:r>
            <a:endParaRPr lang="en-US" sz="2000" b="1" dirty="0"/>
          </a:p>
        </p:txBody>
      </p:sp>
      <p:grpSp>
        <p:nvGrpSpPr>
          <p:cNvPr id="330" name="Group 329">
            <a:extLst>
              <a:ext uri="{FF2B5EF4-FFF2-40B4-BE49-F238E27FC236}">
                <a16:creationId xmlns:a16="http://schemas.microsoft.com/office/drawing/2014/main" id="{9E64D863-A3CE-A230-7B17-56D98CCF0D9F}"/>
              </a:ext>
            </a:extLst>
          </p:cNvPr>
          <p:cNvGrpSpPr/>
          <p:nvPr/>
        </p:nvGrpSpPr>
        <p:grpSpPr>
          <a:xfrm>
            <a:off x="3974408" y="1488611"/>
            <a:ext cx="2625644" cy="4536270"/>
            <a:chOff x="3974408" y="1488610"/>
            <a:chExt cx="2625644" cy="4836319"/>
          </a:xfrm>
        </p:grpSpPr>
        <p:cxnSp>
          <p:nvCxnSpPr>
            <p:cNvPr id="260" name="Straight Connector 259">
              <a:extLst>
                <a:ext uri="{FF2B5EF4-FFF2-40B4-BE49-F238E27FC236}">
                  <a16:creationId xmlns:a16="http://schemas.microsoft.com/office/drawing/2014/main" id="{C77C97EE-3AE5-0A2E-FA35-0F7134D19191}"/>
                </a:ext>
              </a:extLst>
            </p:cNvPr>
            <p:cNvCxnSpPr>
              <a:cxnSpLocks/>
            </p:cNvCxnSpPr>
            <p:nvPr/>
          </p:nvCxnSpPr>
          <p:spPr bwMode="auto">
            <a:xfrm>
              <a:off x="3974408" y="4478067"/>
              <a:ext cx="2401777" cy="1828317"/>
            </a:xfrm>
            <a:prstGeom prst="line">
              <a:avLst/>
            </a:prstGeom>
            <a:noFill/>
            <a:ln w="9525" cap="flat" cmpd="sng" algn="ctr">
              <a:solidFill>
                <a:schemeClr val="tx1"/>
              </a:solidFill>
              <a:prstDash val="dash"/>
              <a:round/>
              <a:headEnd type="none" w="med" len="med"/>
              <a:tailEnd type="none" w="med" len="med"/>
            </a:ln>
            <a:effectLst/>
          </p:spPr>
        </p:cxnSp>
        <p:grpSp>
          <p:nvGrpSpPr>
            <p:cNvPr id="354" name="Group 353">
              <a:extLst>
                <a:ext uri="{FF2B5EF4-FFF2-40B4-BE49-F238E27FC236}">
                  <a16:creationId xmlns:a16="http://schemas.microsoft.com/office/drawing/2014/main" id="{D9A4A6AC-8D1F-DD61-2075-B48D9EC7FE9E}"/>
                </a:ext>
              </a:extLst>
            </p:cNvPr>
            <p:cNvGrpSpPr/>
            <p:nvPr/>
          </p:nvGrpSpPr>
          <p:grpSpPr>
            <a:xfrm>
              <a:off x="6401290" y="1488610"/>
              <a:ext cx="198762" cy="4836319"/>
              <a:chOff x="6686908" y="1488610"/>
              <a:chExt cx="198762" cy="4836319"/>
            </a:xfrm>
          </p:grpSpPr>
          <p:grpSp>
            <p:nvGrpSpPr>
              <p:cNvPr id="265" name="Group 264">
                <a:extLst>
                  <a:ext uri="{FF2B5EF4-FFF2-40B4-BE49-F238E27FC236}">
                    <a16:creationId xmlns:a16="http://schemas.microsoft.com/office/drawing/2014/main" id="{02B7E385-C573-58BB-D048-29DAC6FC12FD}"/>
                  </a:ext>
                </a:extLst>
              </p:cNvPr>
              <p:cNvGrpSpPr/>
              <p:nvPr/>
            </p:nvGrpSpPr>
            <p:grpSpPr>
              <a:xfrm rot="16200000">
                <a:off x="4365462" y="3829826"/>
                <a:ext cx="4836319" cy="153888"/>
                <a:chOff x="620381" y="-483154"/>
                <a:chExt cx="8318499" cy="208727"/>
              </a:xfrm>
              <a:solidFill>
                <a:srgbClr val="C00000"/>
              </a:solidFill>
            </p:grpSpPr>
            <p:sp>
              <p:nvSpPr>
                <p:cNvPr id="266" name="AutoShape 250">
                  <a:extLst>
                    <a:ext uri="{FF2B5EF4-FFF2-40B4-BE49-F238E27FC236}">
                      <a16:creationId xmlns:a16="http://schemas.microsoft.com/office/drawing/2014/main" id="{9BA1C18E-DDB2-7668-C25C-2D9A05B933DF}"/>
                    </a:ext>
                  </a:extLst>
                </p:cNvPr>
                <p:cNvSpPr>
                  <a:spLocks noChangeArrowheads="1"/>
                </p:cNvSpPr>
                <p:nvPr/>
              </p:nvSpPr>
              <p:spPr bwMode="auto">
                <a:xfrm flipV="1">
                  <a:off x="620381" y="-483146"/>
                  <a:ext cx="250825" cy="208719"/>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grpSp>
              <p:nvGrpSpPr>
                <p:cNvPr id="267" name="Group 251">
                  <a:extLst>
                    <a:ext uri="{FF2B5EF4-FFF2-40B4-BE49-F238E27FC236}">
                      <a16:creationId xmlns:a16="http://schemas.microsoft.com/office/drawing/2014/main" id="{27E89777-8684-C3B1-6325-9A5E596DC50C}"/>
                    </a:ext>
                  </a:extLst>
                </p:cNvPr>
                <p:cNvGrpSpPr>
                  <a:grpSpLocks/>
                </p:cNvGrpSpPr>
                <p:nvPr/>
              </p:nvGrpSpPr>
              <p:grpSpPr bwMode="auto">
                <a:xfrm>
                  <a:off x="807704" y="-483147"/>
                  <a:ext cx="2689229" cy="208719"/>
                  <a:chOff x="325" y="2232"/>
                  <a:chExt cx="1694" cy="200"/>
                </a:xfrm>
                <a:grpFill/>
              </p:grpSpPr>
              <p:sp>
                <p:nvSpPr>
                  <p:cNvPr id="298" name="AutoShape 252">
                    <a:extLst>
                      <a:ext uri="{FF2B5EF4-FFF2-40B4-BE49-F238E27FC236}">
                        <a16:creationId xmlns:a16="http://schemas.microsoft.com/office/drawing/2014/main" id="{CB51A080-1BB3-11C8-ADFA-6FDA7F63C2A6}"/>
                      </a:ext>
                    </a:extLst>
                  </p:cNvPr>
                  <p:cNvSpPr>
                    <a:spLocks noChangeArrowheads="1"/>
                  </p:cNvSpPr>
                  <p:nvPr/>
                </p:nvSpPr>
                <p:spPr bwMode="auto">
                  <a:xfrm flipV="1">
                    <a:off x="325"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99" name="AutoShape 253">
                    <a:extLst>
                      <a:ext uri="{FF2B5EF4-FFF2-40B4-BE49-F238E27FC236}">
                        <a16:creationId xmlns:a16="http://schemas.microsoft.com/office/drawing/2014/main" id="{002A4A4D-AE79-3A02-4C5B-3CE0C8E6658D}"/>
                      </a:ext>
                    </a:extLst>
                  </p:cNvPr>
                  <p:cNvSpPr>
                    <a:spLocks noChangeArrowheads="1"/>
                  </p:cNvSpPr>
                  <p:nvPr/>
                </p:nvSpPr>
                <p:spPr bwMode="auto">
                  <a:xfrm flipV="1">
                    <a:off x="444"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00" name="AutoShape 254">
                    <a:extLst>
                      <a:ext uri="{FF2B5EF4-FFF2-40B4-BE49-F238E27FC236}">
                        <a16:creationId xmlns:a16="http://schemas.microsoft.com/office/drawing/2014/main" id="{63A298D2-FA0D-C39E-FDD6-66AB9B7711AD}"/>
                      </a:ext>
                    </a:extLst>
                  </p:cNvPr>
                  <p:cNvSpPr>
                    <a:spLocks noChangeArrowheads="1"/>
                  </p:cNvSpPr>
                  <p:nvPr/>
                </p:nvSpPr>
                <p:spPr bwMode="auto">
                  <a:xfrm flipV="1">
                    <a:off x="562"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01" name="AutoShape 255">
                    <a:extLst>
                      <a:ext uri="{FF2B5EF4-FFF2-40B4-BE49-F238E27FC236}">
                        <a16:creationId xmlns:a16="http://schemas.microsoft.com/office/drawing/2014/main" id="{0EF992AB-A182-7B78-0670-05EA1F377DD3}"/>
                      </a:ext>
                    </a:extLst>
                  </p:cNvPr>
                  <p:cNvSpPr>
                    <a:spLocks noChangeArrowheads="1"/>
                  </p:cNvSpPr>
                  <p:nvPr/>
                </p:nvSpPr>
                <p:spPr bwMode="auto">
                  <a:xfrm flipV="1">
                    <a:off x="681"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02" name="AutoShape 256">
                    <a:extLst>
                      <a:ext uri="{FF2B5EF4-FFF2-40B4-BE49-F238E27FC236}">
                        <a16:creationId xmlns:a16="http://schemas.microsoft.com/office/drawing/2014/main" id="{EDAC1790-73AC-C61E-352C-D60E8AF182E4}"/>
                      </a:ext>
                    </a:extLst>
                  </p:cNvPr>
                  <p:cNvSpPr>
                    <a:spLocks noChangeArrowheads="1"/>
                  </p:cNvSpPr>
                  <p:nvPr/>
                </p:nvSpPr>
                <p:spPr bwMode="auto">
                  <a:xfrm flipV="1">
                    <a:off x="798"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03" name="AutoShape 258">
                    <a:extLst>
                      <a:ext uri="{FF2B5EF4-FFF2-40B4-BE49-F238E27FC236}">
                        <a16:creationId xmlns:a16="http://schemas.microsoft.com/office/drawing/2014/main" id="{BAECDDA3-0747-638D-3ADC-32BEE8D37D9B}"/>
                      </a:ext>
                    </a:extLst>
                  </p:cNvPr>
                  <p:cNvSpPr>
                    <a:spLocks noChangeArrowheads="1"/>
                  </p:cNvSpPr>
                  <p:nvPr/>
                </p:nvSpPr>
                <p:spPr bwMode="auto">
                  <a:xfrm flipV="1">
                    <a:off x="1035"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04" name="AutoShape 259">
                    <a:extLst>
                      <a:ext uri="{FF2B5EF4-FFF2-40B4-BE49-F238E27FC236}">
                        <a16:creationId xmlns:a16="http://schemas.microsoft.com/office/drawing/2014/main" id="{E6428229-84B3-C0CC-BD99-0B7EED3F9545}"/>
                      </a:ext>
                    </a:extLst>
                  </p:cNvPr>
                  <p:cNvSpPr>
                    <a:spLocks noChangeArrowheads="1"/>
                  </p:cNvSpPr>
                  <p:nvPr/>
                </p:nvSpPr>
                <p:spPr bwMode="auto">
                  <a:xfrm flipV="1">
                    <a:off x="1154"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05" name="AutoShape 260">
                    <a:extLst>
                      <a:ext uri="{FF2B5EF4-FFF2-40B4-BE49-F238E27FC236}">
                        <a16:creationId xmlns:a16="http://schemas.microsoft.com/office/drawing/2014/main" id="{05321B90-89EC-53A9-19BC-2A6D920968ED}"/>
                      </a:ext>
                    </a:extLst>
                  </p:cNvPr>
                  <p:cNvSpPr>
                    <a:spLocks noChangeArrowheads="1"/>
                  </p:cNvSpPr>
                  <p:nvPr/>
                </p:nvSpPr>
                <p:spPr bwMode="auto">
                  <a:xfrm flipV="1">
                    <a:off x="1271"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06" name="AutoShape 261">
                    <a:extLst>
                      <a:ext uri="{FF2B5EF4-FFF2-40B4-BE49-F238E27FC236}">
                        <a16:creationId xmlns:a16="http://schemas.microsoft.com/office/drawing/2014/main" id="{811977CB-1967-6698-6DBA-DA1E25EF4A4A}"/>
                      </a:ext>
                    </a:extLst>
                  </p:cNvPr>
                  <p:cNvSpPr>
                    <a:spLocks noChangeArrowheads="1"/>
                  </p:cNvSpPr>
                  <p:nvPr/>
                </p:nvSpPr>
                <p:spPr bwMode="auto">
                  <a:xfrm flipV="1">
                    <a:off x="1390"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07" name="AutoShape 262">
                    <a:extLst>
                      <a:ext uri="{FF2B5EF4-FFF2-40B4-BE49-F238E27FC236}">
                        <a16:creationId xmlns:a16="http://schemas.microsoft.com/office/drawing/2014/main" id="{88A26094-8DDB-AC15-39E6-6E6E08D61D49}"/>
                      </a:ext>
                    </a:extLst>
                  </p:cNvPr>
                  <p:cNvSpPr>
                    <a:spLocks noChangeArrowheads="1"/>
                  </p:cNvSpPr>
                  <p:nvPr/>
                </p:nvSpPr>
                <p:spPr bwMode="auto">
                  <a:xfrm flipV="1">
                    <a:off x="1508"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08" name="AutoShape 263">
                    <a:extLst>
                      <a:ext uri="{FF2B5EF4-FFF2-40B4-BE49-F238E27FC236}">
                        <a16:creationId xmlns:a16="http://schemas.microsoft.com/office/drawing/2014/main" id="{69CD71BE-EE77-E0FE-E81A-A6CECC5A5966}"/>
                      </a:ext>
                    </a:extLst>
                  </p:cNvPr>
                  <p:cNvSpPr>
                    <a:spLocks noChangeArrowheads="1"/>
                  </p:cNvSpPr>
                  <p:nvPr/>
                </p:nvSpPr>
                <p:spPr bwMode="auto">
                  <a:xfrm flipV="1">
                    <a:off x="1627" y="2232"/>
                    <a:ext cx="156"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09" name="AutoShape 264">
                    <a:extLst>
                      <a:ext uri="{FF2B5EF4-FFF2-40B4-BE49-F238E27FC236}">
                        <a16:creationId xmlns:a16="http://schemas.microsoft.com/office/drawing/2014/main" id="{182CC7CF-140D-9EDD-8854-8DBFA3D14FF6}"/>
                      </a:ext>
                    </a:extLst>
                  </p:cNvPr>
                  <p:cNvSpPr>
                    <a:spLocks noChangeArrowheads="1"/>
                  </p:cNvSpPr>
                  <p:nvPr/>
                </p:nvSpPr>
                <p:spPr bwMode="auto">
                  <a:xfrm flipV="1">
                    <a:off x="1743"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10" name="AutoShape 265">
                    <a:extLst>
                      <a:ext uri="{FF2B5EF4-FFF2-40B4-BE49-F238E27FC236}">
                        <a16:creationId xmlns:a16="http://schemas.microsoft.com/office/drawing/2014/main" id="{04693BFD-D82A-0657-95B1-5A759955426C}"/>
                      </a:ext>
                    </a:extLst>
                  </p:cNvPr>
                  <p:cNvSpPr>
                    <a:spLocks noChangeArrowheads="1"/>
                  </p:cNvSpPr>
                  <p:nvPr/>
                </p:nvSpPr>
                <p:spPr bwMode="auto">
                  <a:xfrm flipV="1">
                    <a:off x="1862" y="2232"/>
                    <a:ext cx="157"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311" name="AutoShape 257">
                    <a:extLst>
                      <a:ext uri="{FF2B5EF4-FFF2-40B4-BE49-F238E27FC236}">
                        <a16:creationId xmlns:a16="http://schemas.microsoft.com/office/drawing/2014/main" id="{A6CDDC26-5FFB-5026-13EA-B7A07C303600}"/>
                      </a:ext>
                    </a:extLst>
                  </p:cNvPr>
                  <p:cNvSpPr>
                    <a:spLocks noChangeArrowheads="1"/>
                  </p:cNvSpPr>
                  <p:nvPr/>
                </p:nvSpPr>
                <p:spPr bwMode="auto">
                  <a:xfrm flipV="1">
                    <a:off x="917"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grpSp>
            <p:sp>
              <p:nvSpPr>
                <p:cNvPr id="268" name="AutoShape 266">
                  <a:extLst>
                    <a:ext uri="{FF2B5EF4-FFF2-40B4-BE49-F238E27FC236}">
                      <a16:creationId xmlns:a16="http://schemas.microsoft.com/office/drawing/2014/main" id="{1013BE44-F6D5-7190-CAB0-57D55A058760}"/>
                    </a:ext>
                  </a:extLst>
                </p:cNvPr>
                <p:cNvSpPr>
                  <a:spLocks noChangeArrowheads="1"/>
                </p:cNvSpPr>
                <p:nvPr/>
              </p:nvSpPr>
              <p:spPr bwMode="auto">
                <a:xfrm flipV="1">
                  <a:off x="3435022" y="-483147"/>
                  <a:ext cx="250825" cy="208719"/>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grpSp>
              <p:nvGrpSpPr>
                <p:cNvPr id="269" name="Group 267">
                  <a:extLst>
                    <a:ext uri="{FF2B5EF4-FFF2-40B4-BE49-F238E27FC236}">
                      <a16:creationId xmlns:a16="http://schemas.microsoft.com/office/drawing/2014/main" id="{3042DA2C-E1F9-9026-881E-E0FA54CCA0D2}"/>
                    </a:ext>
                  </a:extLst>
                </p:cNvPr>
                <p:cNvGrpSpPr>
                  <a:grpSpLocks/>
                </p:cNvGrpSpPr>
                <p:nvPr/>
              </p:nvGrpSpPr>
              <p:grpSpPr bwMode="auto">
                <a:xfrm>
                  <a:off x="3623932" y="-483147"/>
                  <a:ext cx="2686054" cy="208719"/>
                  <a:chOff x="2099" y="2232"/>
                  <a:chExt cx="1692" cy="200"/>
                </a:xfrm>
                <a:grpFill/>
              </p:grpSpPr>
              <p:sp>
                <p:nvSpPr>
                  <p:cNvPr id="284" name="AutoShape 268">
                    <a:extLst>
                      <a:ext uri="{FF2B5EF4-FFF2-40B4-BE49-F238E27FC236}">
                        <a16:creationId xmlns:a16="http://schemas.microsoft.com/office/drawing/2014/main" id="{3597A8E4-2843-6C7F-E272-59EA655E9CD2}"/>
                      </a:ext>
                    </a:extLst>
                  </p:cNvPr>
                  <p:cNvSpPr>
                    <a:spLocks noChangeArrowheads="1"/>
                  </p:cNvSpPr>
                  <p:nvPr/>
                </p:nvSpPr>
                <p:spPr bwMode="auto">
                  <a:xfrm flipV="1">
                    <a:off x="2099" y="2232"/>
                    <a:ext cx="157"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85" name="AutoShape 269">
                    <a:extLst>
                      <a:ext uri="{FF2B5EF4-FFF2-40B4-BE49-F238E27FC236}">
                        <a16:creationId xmlns:a16="http://schemas.microsoft.com/office/drawing/2014/main" id="{31069810-87C2-E1C0-607E-7CF0B8FD18D6}"/>
                      </a:ext>
                    </a:extLst>
                  </p:cNvPr>
                  <p:cNvSpPr>
                    <a:spLocks noChangeArrowheads="1"/>
                  </p:cNvSpPr>
                  <p:nvPr/>
                </p:nvSpPr>
                <p:spPr bwMode="auto">
                  <a:xfrm flipV="1">
                    <a:off x="2216" y="2232"/>
                    <a:ext cx="157"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86" name="AutoShape 270">
                    <a:extLst>
                      <a:ext uri="{FF2B5EF4-FFF2-40B4-BE49-F238E27FC236}">
                        <a16:creationId xmlns:a16="http://schemas.microsoft.com/office/drawing/2014/main" id="{95771656-AB69-A9B5-36FE-31EBE114FA25}"/>
                      </a:ext>
                    </a:extLst>
                  </p:cNvPr>
                  <p:cNvSpPr>
                    <a:spLocks noChangeArrowheads="1"/>
                  </p:cNvSpPr>
                  <p:nvPr/>
                </p:nvSpPr>
                <p:spPr bwMode="auto">
                  <a:xfrm flipV="1">
                    <a:off x="2334" y="2232"/>
                    <a:ext cx="157"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87" name="AutoShape 271">
                    <a:extLst>
                      <a:ext uri="{FF2B5EF4-FFF2-40B4-BE49-F238E27FC236}">
                        <a16:creationId xmlns:a16="http://schemas.microsoft.com/office/drawing/2014/main" id="{4FC8F908-BFB5-266D-80A9-944C4175DCF7}"/>
                      </a:ext>
                    </a:extLst>
                  </p:cNvPr>
                  <p:cNvSpPr>
                    <a:spLocks noChangeArrowheads="1"/>
                  </p:cNvSpPr>
                  <p:nvPr/>
                </p:nvSpPr>
                <p:spPr bwMode="auto">
                  <a:xfrm flipV="1">
                    <a:off x="2452" y="2232"/>
                    <a:ext cx="157"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88" name="AutoShape 272">
                    <a:extLst>
                      <a:ext uri="{FF2B5EF4-FFF2-40B4-BE49-F238E27FC236}">
                        <a16:creationId xmlns:a16="http://schemas.microsoft.com/office/drawing/2014/main" id="{C9E948BE-677E-DF0D-AD74-402860D158F4}"/>
                      </a:ext>
                    </a:extLst>
                  </p:cNvPr>
                  <p:cNvSpPr>
                    <a:spLocks noChangeArrowheads="1"/>
                  </p:cNvSpPr>
                  <p:nvPr/>
                </p:nvSpPr>
                <p:spPr bwMode="auto">
                  <a:xfrm flipV="1">
                    <a:off x="2570" y="2232"/>
                    <a:ext cx="157"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89" name="AutoShape 273">
                    <a:extLst>
                      <a:ext uri="{FF2B5EF4-FFF2-40B4-BE49-F238E27FC236}">
                        <a16:creationId xmlns:a16="http://schemas.microsoft.com/office/drawing/2014/main" id="{DF46782F-719C-CA48-AE33-7803299D955A}"/>
                      </a:ext>
                    </a:extLst>
                  </p:cNvPr>
                  <p:cNvSpPr>
                    <a:spLocks noChangeArrowheads="1"/>
                  </p:cNvSpPr>
                  <p:nvPr/>
                </p:nvSpPr>
                <p:spPr bwMode="auto">
                  <a:xfrm flipV="1">
                    <a:off x="2687"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90" name="AutoShape 274">
                    <a:extLst>
                      <a:ext uri="{FF2B5EF4-FFF2-40B4-BE49-F238E27FC236}">
                        <a16:creationId xmlns:a16="http://schemas.microsoft.com/office/drawing/2014/main" id="{219F22E5-3CCB-C3B9-A42A-2D63320FEAA2}"/>
                      </a:ext>
                    </a:extLst>
                  </p:cNvPr>
                  <p:cNvSpPr>
                    <a:spLocks noChangeArrowheads="1"/>
                  </p:cNvSpPr>
                  <p:nvPr/>
                </p:nvSpPr>
                <p:spPr bwMode="auto">
                  <a:xfrm flipV="1">
                    <a:off x="2806" y="2232"/>
                    <a:ext cx="157"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91" name="AutoShape 275">
                    <a:extLst>
                      <a:ext uri="{FF2B5EF4-FFF2-40B4-BE49-F238E27FC236}">
                        <a16:creationId xmlns:a16="http://schemas.microsoft.com/office/drawing/2014/main" id="{C9EDD5D2-F6AE-BFE8-B0D5-CC349C38D58C}"/>
                      </a:ext>
                    </a:extLst>
                  </p:cNvPr>
                  <p:cNvSpPr>
                    <a:spLocks noChangeArrowheads="1"/>
                  </p:cNvSpPr>
                  <p:nvPr/>
                </p:nvSpPr>
                <p:spPr bwMode="auto">
                  <a:xfrm flipV="1">
                    <a:off x="2924"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92" name="AutoShape 276">
                    <a:extLst>
                      <a:ext uri="{FF2B5EF4-FFF2-40B4-BE49-F238E27FC236}">
                        <a16:creationId xmlns:a16="http://schemas.microsoft.com/office/drawing/2014/main" id="{93AD031A-34D3-ECE0-9CC4-EE6BB9C04316}"/>
                      </a:ext>
                    </a:extLst>
                  </p:cNvPr>
                  <p:cNvSpPr>
                    <a:spLocks noChangeArrowheads="1"/>
                  </p:cNvSpPr>
                  <p:nvPr/>
                </p:nvSpPr>
                <p:spPr bwMode="auto">
                  <a:xfrm flipV="1">
                    <a:off x="3043" y="2232"/>
                    <a:ext cx="157"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93" name="AutoShape 277">
                    <a:extLst>
                      <a:ext uri="{FF2B5EF4-FFF2-40B4-BE49-F238E27FC236}">
                        <a16:creationId xmlns:a16="http://schemas.microsoft.com/office/drawing/2014/main" id="{0FAC8D68-E8A9-7680-3A14-E99521ED2116}"/>
                      </a:ext>
                    </a:extLst>
                  </p:cNvPr>
                  <p:cNvSpPr>
                    <a:spLocks noChangeArrowheads="1"/>
                  </p:cNvSpPr>
                  <p:nvPr/>
                </p:nvSpPr>
                <p:spPr bwMode="auto">
                  <a:xfrm flipV="1">
                    <a:off x="3160"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94" name="AutoShape 278">
                    <a:extLst>
                      <a:ext uri="{FF2B5EF4-FFF2-40B4-BE49-F238E27FC236}">
                        <a16:creationId xmlns:a16="http://schemas.microsoft.com/office/drawing/2014/main" id="{EB7E26CB-EC16-8DC9-2611-4B0464C4602C}"/>
                      </a:ext>
                    </a:extLst>
                  </p:cNvPr>
                  <p:cNvSpPr>
                    <a:spLocks noChangeArrowheads="1"/>
                  </p:cNvSpPr>
                  <p:nvPr/>
                </p:nvSpPr>
                <p:spPr bwMode="auto">
                  <a:xfrm flipV="1">
                    <a:off x="3279" y="2232"/>
                    <a:ext cx="157"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95" name="AutoShape 279">
                    <a:extLst>
                      <a:ext uri="{FF2B5EF4-FFF2-40B4-BE49-F238E27FC236}">
                        <a16:creationId xmlns:a16="http://schemas.microsoft.com/office/drawing/2014/main" id="{AA01CF8A-C81E-2761-C121-82BE17A31500}"/>
                      </a:ext>
                    </a:extLst>
                  </p:cNvPr>
                  <p:cNvSpPr>
                    <a:spLocks noChangeArrowheads="1"/>
                  </p:cNvSpPr>
                  <p:nvPr/>
                </p:nvSpPr>
                <p:spPr bwMode="auto">
                  <a:xfrm flipV="1">
                    <a:off x="3397"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96" name="AutoShape 280">
                    <a:extLst>
                      <a:ext uri="{FF2B5EF4-FFF2-40B4-BE49-F238E27FC236}">
                        <a16:creationId xmlns:a16="http://schemas.microsoft.com/office/drawing/2014/main" id="{CFB3760F-F0B0-8E32-0C1D-363CEE7D1C34}"/>
                      </a:ext>
                    </a:extLst>
                  </p:cNvPr>
                  <p:cNvSpPr>
                    <a:spLocks noChangeArrowheads="1"/>
                  </p:cNvSpPr>
                  <p:nvPr/>
                </p:nvSpPr>
                <p:spPr bwMode="auto">
                  <a:xfrm flipV="1">
                    <a:off x="3516" y="2232"/>
                    <a:ext cx="157"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97" name="AutoShape 281">
                    <a:extLst>
                      <a:ext uri="{FF2B5EF4-FFF2-40B4-BE49-F238E27FC236}">
                        <a16:creationId xmlns:a16="http://schemas.microsoft.com/office/drawing/2014/main" id="{810484F6-5738-3647-7376-1E83F14C2696}"/>
                      </a:ext>
                    </a:extLst>
                  </p:cNvPr>
                  <p:cNvSpPr>
                    <a:spLocks noChangeArrowheads="1"/>
                  </p:cNvSpPr>
                  <p:nvPr/>
                </p:nvSpPr>
                <p:spPr bwMode="auto">
                  <a:xfrm flipV="1">
                    <a:off x="3633" y="2232"/>
                    <a:ext cx="158" cy="20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grpSp>
            <p:sp>
              <p:nvSpPr>
                <p:cNvPr id="270" name="AutoShape 282">
                  <a:extLst>
                    <a:ext uri="{FF2B5EF4-FFF2-40B4-BE49-F238E27FC236}">
                      <a16:creationId xmlns:a16="http://schemas.microsoft.com/office/drawing/2014/main" id="{C668DEA6-52CC-4883-B286-FE0016DCA037}"/>
                    </a:ext>
                  </a:extLst>
                </p:cNvPr>
                <p:cNvSpPr>
                  <a:spLocks noChangeArrowheads="1"/>
                </p:cNvSpPr>
                <p:nvPr/>
              </p:nvSpPr>
              <p:spPr bwMode="auto">
                <a:xfrm flipV="1">
                  <a:off x="6248073" y="-483147"/>
                  <a:ext cx="249239" cy="208719"/>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71" name="AutoShape 283">
                  <a:extLst>
                    <a:ext uri="{FF2B5EF4-FFF2-40B4-BE49-F238E27FC236}">
                      <a16:creationId xmlns:a16="http://schemas.microsoft.com/office/drawing/2014/main" id="{5EE4D65D-64EB-0395-F413-59FCD0E24C34}"/>
                    </a:ext>
                  </a:extLst>
                </p:cNvPr>
                <p:cNvSpPr>
                  <a:spLocks noChangeArrowheads="1"/>
                </p:cNvSpPr>
                <p:nvPr/>
              </p:nvSpPr>
              <p:spPr bwMode="auto">
                <a:xfrm flipV="1">
                  <a:off x="6435397" y="-483147"/>
                  <a:ext cx="250825" cy="208719"/>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72" name="AutoShape 284">
                  <a:extLst>
                    <a:ext uri="{FF2B5EF4-FFF2-40B4-BE49-F238E27FC236}">
                      <a16:creationId xmlns:a16="http://schemas.microsoft.com/office/drawing/2014/main" id="{FFC1DB45-5989-AB4A-0982-5C0BB4CA6E97}"/>
                    </a:ext>
                  </a:extLst>
                </p:cNvPr>
                <p:cNvSpPr>
                  <a:spLocks noChangeArrowheads="1"/>
                </p:cNvSpPr>
                <p:nvPr/>
              </p:nvSpPr>
              <p:spPr bwMode="auto">
                <a:xfrm flipV="1">
                  <a:off x="6624313" y="-483148"/>
                  <a:ext cx="249237" cy="208719"/>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73" name="AutoShape 285">
                  <a:extLst>
                    <a:ext uri="{FF2B5EF4-FFF2-40B4-BE49-F238E27FC236}">
                      <a16:creationId xmlns:a16="http://schemas.microsoft.com/office/drawing/2014/main" id="{938B8F7D-1E97-E222-62AC-58B50A1ADB72}"/>
                    </a:ext>
                  </a:extLst>
                </p:cNvPr>
                <p:cNvSpPr>
                  <a:spLocks noChangeArrowheads="1"/>
                </p:cNvSpPr>
                <p:nvPr/>
              </p:nvSpPr>
              <p:spPr bwMode="auto">
                <a:xfrm flipV="1">
                  <a:off x="6810047" y="-483148"/>
                  <a:ext cx="250825" cy="208719"/>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74" name="AutoShape 286">
                  <a:extLst>
                    <a:ext uri="{FF2B5EF4-FFF2-40B4-BE49-F238E27FC236}">
                      <a16:creationId xmlns:a16="http://schemas.microsoft.com/office/drawing/2014/main" id="{F740A66A-4326-C613-63A5-CC81A7DF5CE8}"/>
                    </a:ext>
                  </a:extLst>
                </p:cNvPr>
                <p:cNvSpPr>
                  <a:spLocks noChangeArrowheads="1"/>
                </p:cNvSpPr>
                <p:nvPr/>
              </p:nvSpPr>
              <p:spPr bwMode="auto">
                <a:xfrm flipV="1">
                  <a:off x="6997376" y="-483148"/>
                  <a:ext cx="250825" cy="208719"/>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75" name="AutoShape 287">
                  <a:extLst>
                    <a:ext uri="{FF2B5EF4-FFF2-40B4-BE49-F238E27FC236}">
                      <a16:creationId xmlns:a16="http://schemas.microsoft.com/office/drawing/2014/main" id="{964F7998-7DF5-1116-032C-BBBA648B605F}"/>
                    </a:ext>
                  </a:extLst>
                </p:cNvPr>
                <p:cNvSpPr>
                  <a:spLocks noChangeArrowheads="1"/>
                </p:cNvSpPr>
                <p:nvPr/>
              </p:nvSpPr>
              <p:spPr bwMode="auto">
                <a:xfrm flipV="1">
                  <a:off x="7186291" y="-483149"/>
                  <a:ext cx="250825" cy="20872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76" name="AutoShape 288">
                  <a:extLst>
                    <a:ext uri="{FF2B5EF4-FFF2-40B4-BE49-F238E27FC236}">
                      <a16:creationId xmlns:a16="http://schemas.microsoft.com/office/drawing/2014/main" id="{8B2271D1-019B-CA2A-318A-3AD5663E931D}"/>
                    </a:ext>
                  </a:extLst>
                </p:cNvPr>
                <p:cNvSpPr>
                  <a:spLocks noChangeArrowheads="1"/>
                </p:cNvSpPr>
                <p:nvPr/>
              </p:nvSpPr>
              <p:spPr bwMode="auto">
                <a:xfrm flipV="1">
                  <a:off x="7373613" y="-483150"/>
                  <a:ext cx="250825" cy="20872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77" name="AutoShape 289">
                  <a:extLst>
                    <a:ext uri="{FF2B5EF4-FFF2-40B4-BE49-F238E27FC236}">
                      <a16:creationId xmlns:a16="http://schemas.microsoft.com/office/drawing/2014/main" id="{5ABCE5A1-A681-C046-6162-CB4809E7CF3F}"/>
                    </a:ext>
                  </a:extLst>
                </p:cNvPr>
                <p:cNvSpPr>
                  <a:spLocks noChangeArrowheads="1"/>
                </p:cNvSpPr>
                <p:nvPr/>
              </p:nvSpPr>
              <p:spPr bwMode="auto">
                <a:xfrm flipV="1">
                  <a:off x="7560940" y="-483151"/>
                  <a:ext cx="250825" cy="20872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78" name="AutoShape 290">
                  <a:extLst>
                    <a:ext uri="{FF2B5EF4-FFF2-40B4-BE49-F238E27FC236}">
                      <a16:creationId xmlns:a16="http://schemas.microsoft.com/office/drawing/2014/main" id="{930C2F73-71DE-6636-8F1D-7A50094C114F}"/>
                    </a:ext>
                  </a:extLst>
                </p:cNvPr>
                <p:cNvSpPr>
                  <a:spLocks noChangeArrowheads="1"/>
                </p:cNvSpPr>
                <p:nvPr/>
              </p:nvSpPr>
              <p:spPr bwMode="auto">
                <a:xfrm flipV="1">
                  <a:off x="7748266" y="-483151"/>
                  <a:ext cx="250825" cy="208720"/>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79" name="AutoShape 291">
                  <a:extLst>
                    <a:ext uri="{FF2B5EF4-FFF2-40B4-BE49-F238E27FC236}">
                      <a16:creationId xmlns:a16="http://schemas.microsoft.com/office/drawing/2014/main" id="{18BD599A-5360-860B-E571-964CED0E60C2}"/>
                    </a:ext>
                  </a:extLst>
                </p:cNvPr>
                <p:cNvSpPr>
                  <a:spLocks noChangeArrowheads="1"/>
                </p:cNvSpPr>
                <p:nvPr/>
              </p:nvSpPr>
              <p:spPr bwMode="auto">
                <a:xfrm flipV="1">
                  <a:off x="7937174" y="-483152"/>
                  <a:ext cx="250825" cy="208721"/>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80" name="AutoShape 292">
                  <a:extLst>
                    <a:ext uri="{FF2B5EF4-FFF2-40B4-BE49-F238E27FC236}">
                      <a16:creationId xmlns:a16="http://schemas.microsoft.com/office/drawing/2014/main" id="{E37C7F2A-6367-1DA0-8D25-3EB6E5014792}"/>
                    </a:ext>
                  </a:extLst>
                </p:cNvPr>
                <p:cNvSpPr>
                  <a:spLocks noChangeArrowheads="1"/>
                </p:cNvSpPr>
                <p:nvPr/>
              </p:nvSpPr>
              <p:spPr bwMode="auto">
                <a:xfrm flipV="1">
                  <a:off x="8124495" y="-483153"/>
                  <a:ext cx="250825" cy="208721"/>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81" name="AutoShape 293">
                  <a:extLst>
                    <a:ext uri="{FF2B5EF4-FFF2-40B4-BE49-F238E27FC236}">
                      <a16:creationId xmlns:a16="http://schemas.microsoft.com/office/drawing/2014/main" id="{1C288FD7-2D51-9B5A-7D1B-DCF6BADEF8B5}"/>
                    </a:ext>
                  </a:extLst>
                </p:cNvPr>
                <p:cNvSpPr>
                  <a:spLocks noChangeArrowheads="1"/>
                </p:cNvSpPr>
                <p:nvPr/>
              </p:nvSpPr>
              <p:spPr bwMode="auto">
                <a:xfrm flipV="1">
                  <a:off x="8311810" y="-483153"/>
                  <a:ext cx="250824" cy="208721"/>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82" name="AutoShape 294">
                  <a:extLst>
                    <a:ext uri="{FF2B5EF4-FFF2-40B4-BE49-F238E27FC236}">
                      <a16:creationId xmlns:a16="http://schemas.microsoft.com/office/drawing/2014/main" id="{0CEB5E30-C390-B2B5-C491-058FA105BF7E}"/>
                    </a:ext>
                  </a:extLst>
                </p:cNvPr>
                <p:cNvSpPr>
                  <a:spLocks noChangeArrowheads="1"/>
                </p:cNvSpPr>
                <p:nvPr/>
              </p:nvSpPr>
              <p:spPr bwMode="auto">
                <a:xfrm flipV="1">
                  <a:off x="8499127" y="-483154"/>
                  <a:ext cx="250824" cy="208721"/>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sp>
              <p:nvSpPr>
                <p:cNvPr id="283" name="AutoShape 295">
                  <a:extLst>
                    <a:ext uri="{FF2B5EF4-FFF2-40B4-BE49-F238E27FC236}">
                      <a16:creationId xmlns:a16="http://schemas.microsoft.com/office/drawing/2014/main" id="{7EFF69D7-369B-D0DD-CB15-E6CC4E6446AF}"/>
                    </a:ext>
                  </a:extLst>
                </p:cNvPr>
                <p:cNvSpPr>
                  <a:spLocks noChangeArrowheads="1"/>
                </p:cNvSpPr>
                <p:nvPr/>
              </p:nvSpPr>
              <p:spPr bwMode="auto">
                <a:xfrm flipV="1">
                  <a:off x="8688056" y="-483154"/>
                  <a:ext cx="250824" cy="208721"/>
                </a:xfrm>
                <a:prstGeom prst="chevron">
                  <a:avLst>
                    <a:gd name="adj" fmla="val 39616"/>
                  </a:avLst>
                </a:prstGeom>
                <a:grp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C40505"/>
                        </a:outerShdw>
                      </a:effectLst>
                    </a14:hiddenEffects>
                  </a:ext>
                </a:extLst>
              </p:spPr>
              <p:txBody>
                <a:bodyPr wrap="none" anchor="ct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023" b="0" i="0" u="none" strike="noStrike" kern="1200" cap="none" spc="0" normalizeH="0" baseline="0" noProof="0">
                    <a:ln>
                      <a:noFill/>
                    </a:ln>
                    <a:solidFill>
                      <a:srgbClr val="000000"/>
                    </a:solidFill>
                    <a:effectLst/>
                    <a:uLnTx/>
                    <a:uFillTx/>
                    <a:latin typeface="Arial"/>
                    <a:ea typeface="+mn-ea"/>
                    <a:cs typeface="+mn-cs"/>
                  </a:endParaRPr>
                </a:p>
              </p:txBody>
            </p:sp>
          </p:grpSp>
          <p:sp>
            <p:nvSpPr>
              <p:cNvPr id="312" name="TextBox 311">
                <a:extLst>
                  <a:ext uri="{FF2B5EF4-FFF2-40B4-BE49-F238E27FC236}">
                    <a16:creationId xmlns:a16="http://schemas.microsoft.com/office/drawing/2014/main" id="{AD9DA593-54E5-1C65-19DA-72AEA3BBDC64}"/>
                  </a:ext>
                </a:extLst>
              </p:cNvPr>
              <p:cNvSpPr txBox="1"/>
              <p:nvPr/>
            </p:nvSpPr>
            <p:spPr>
              <a:xfrm>
                <a:off x="6686908" y="2720072"/>
                <a:ext cx="198762" cy="2048743"/>
              </a:xfrm>
              <a:prstGeom prst="rect">
                <a:avLst/>
              </a:prstGeom>
              <a:solidFill>
                <a:schemeClr val="bg1"/>
              </a:solidFill>
            </p:spPr>
            <p:txBody>
              <a:bodyPr vert="vert270" wrap="square" lIns="0" tIns="0" rIns="0" bIns="0" rtlCol="0" anchor="ctr">
                <a:noAutofit/>
              </a:bodyPr>
              <a:lstStyle/>
              <a:p>
                <a:pPr marL="0" marR="0" lvl="0" indent="0" algn="ctr" defTabSz="844083" rtl="0" eaLnBrk="1" fontAlgn="auto" latinLnBrk="0" hangingPunct="1">
                  <a:lnSpc>
                    <a:spcPct val="100000"/>
                  </a:lnSpc>
                  <a:spcBef>
                    <a:spcPts val="236"/>
                  </a:spcBef>
                  <a:spcAft>
                    <a:spcPts val="0"/>
                  </a:spcAft>
                  <a:buClr>
                    <a:srgbClr val="000000"/>
                  </a:buClr>
                  <a:buSzTx/>
                  <a:buFontTx/>
                  <a:buNone/>
                  <a:tabLst/>
                  <a:defRPr/>
                </a:pPr>
                <a:r>
                  <a:rPr kumimoji="0" lang="en-GB" sz="1000" b="0" i="0" u="none" strike="noStrike" kern="1200" cap="none" spc="0" normalizeH="0" baseline="0" noProof="0">
                    <a:ln>
                      <a:noFill/>
                    </a:ln>
                    <a:solidFill>
                      <a:srgbClr val="C00000"/>
                    </a:solidFill>
                    <a:effectLst/>
                    <a:uLnTx/>
                    <a:uFillTx/>
                    <a:latin typeface="Arial"/>
                    <a:ea typeface="+mn-ea"/>
                    <a:cs typeface="+mn-cs"/>
                  </a:rPr>
                  <a:t>DBS’ Investor Access Continuum</a:t>
                </a:r>
              </a:p>
            </p:txBody>
          </p:sp>
        </p:grpSp>
        <p:cxnSp>
          <p:nvCxnSpPr>
            <p:cNvPr id="313" name="Straight Connector 312">
              <a:extLst>
                <a:ext uri="{FF2B5EF4-FFF2-40B4-BE49-F238E27FC236}">
                  <a16:creationId xmlns:a16="http://schemas.microsoft.com/office/drawing/2014/main" id="{9E1206AB-818E-B9CA-95B3-679C11EB706D}"/>
                </a:ext>
              </a:extLst>
            </p:cNvPr>
            <p:cNvCxnSpPr>
              <a:cxnSpLocks/>
            </p:cNvCxnSpPr>
            <p:nvPr/>
          </p:nvCxnSpPr>
          <p:spPr bwMode="auto">
            <a:xfrm flipV="1">
              <a:off x="3974408" y="1697847"/>
              <a:ext cx="2401777" cy="1496500"/>
            </a:xfrm>
            <a:prstGeom prst="line">
              <a:avLst/>
            </a:prstGeom>
            <a:noFill/>
            <a:ln w="9525" cap="flat" cmpd="sng" algn="ctr">
              <a:solidFill>
                <a:schemeClr val="tx1"/>
              </a:solidFill>
              <a:prstDash val="dash"/>
              <a:round/>
              <a:headEnd type="none" w="med" len="med"/>
              <a:tailEnd type="none" w="med" len="med"/>
            </a:ln>
            <a:effectLst/>
          </p:spPr>
        </p:cxnSp>
      </p:grpSp>
      <p:grpSp>
        <p:nvGrpSpPr>
          <p:cNvPr id="329" name="Group 328">
            <a:extLst>
              <a:ext uri="{FF2B5EF4-FFF2-40B4-BE49-F238E27FC236}">
                <a16:creationId xmlns:a16="http://schemas.microsoft.com/office/drawing/2014/main" id="{9AFE7CA0-922C-50A3-1307-9D6CCF9ADE66}"/>
              </a:ext>
            </a:extLst>
          </p:cNvPr>
          <p:cNvGrpSpPr/>
          <p:nvPr/>
        </p:nvGrpSpPr>
        <p:grpSpPr>
          <a:xfrm>
            <a:off x="723900" y="1165621"/>
            <a:ext cx="8496300" cy="3961681"/>
            <a:chOff x="450234" y="1003061"/>
            <a:chExt cx="9000000" cy="4196548"/>
          </a:xfrm>
        </p:grpSpPr>
        <p:sp>
          <p:nvSpPr>
            <p:cNvPr id="5" name="Oval 4">
              <a:extLst>
                <a:ext uri="{FF2B5EF4-FFF2-40B4-BE49-F238E27FC236}">
                  <a16:creationId xmlns:a16="http://schemas.microsoft.com/office/drawing/2014/main" id="{6FF2CD61-442E-AE77-8080-9EEF2AE28E08}"/>
                </a:ext>
              </a:extLst>
            </p:cNvPr>
            <p:cNvSpPr/>
            <p:nvPr/>
          </p:nvSpPr>
          <p:spPr bwMode="auto">
            <a:xfrm rot="20415061">
              <a:off x="3743919" y="2759113"/>
              <a:ext cx="1858201" cy="1858937"/>
            </a:xfrm>
            <a:prstGeom prst="ellipse">
              <a:avLst/>
            </a:prstGeom>
            <a:solidFill>
              <a:schemeClr val="accent3">
                <a:alpha val="40000"/>
              </a:schemeClr>
            </a:solidFill>
            <a:ln w="9525">
              <a:solidFill>
                <a:schemeClr val="tx1"/>
              </a:solidFill>
              <a:miter lim="800000"/>
              <a:headEnd/>
              <a:tailEnd/>
            </a:ln>
          </p:spPr>
          <p:txBody>
            <a:bodyPr rtlCol="0" anchor="ct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S PGothic" pitchFamily="34" charset="-128"/>
                <a:cs typeface="Arial" charset="0"/>
              </a:endParaRPr>
            </a:p>
          </p:txBody>
        </p:sp>
        <p:grpSp>
          <p:nvGrpSpPr>
            <p:cNvPr id="318" name="Group 317">
              <a:extLst>
                <a:ext uri="{FF2B5EF4-FFF2-40B4-BE49-F238E27FC236}">
                  <a16:creationId xmlns:a16="http://schemas.microsoft.com/office/drawing/2014/main" id="{762ED6F6-C035-201A-CD3A-23B1D03A08F6}"/>
                </a:ext>
              </a:extLst>
            </p:cNvPr>
            <p:cNvGrpSpPr/>
            <p:nvPr/>
          </p:nvGrpSpPr>
          <p:grpSpPr>
            <a:xfrm>
              <a:off x="450234" y="1003061"/>
              <a:ext cx="9000000" cy="4196548"/>
              <a:chOff x="450234" y="1003061"/>
              <a:chExt cx="9000000" cy="4196548"/>
            </a:xfrm>
          </p:grpSpPr>
          <p:sp>
            <p:nvSpPr>
              <p:cNvPr id="341" name="Rectangle 340">
                <a:extLst>
                  <a:ext uri="{FF2B5EF4-FFF2-40B4-BE49-F238E27FC236}">
                    <a16:creationId xmlns:a16="http://schemas.microsoft.com/office/drawing/2014/main" id="{4EF81F0A-D5E4-40C5-5CB7-DDCD62823CAC}"/>
                  </a:ext>
                </a:extLst>
              </p:cNvPr>
              <p:cNvSpPr/>
              <p:nvPr/>
            </p:nvSpPr>
            <p:spPr>
              <a:xfrm>
                <a:off x="6676178" y="1404760"/>
                <a:ext cx="2767822" cy="369332"/>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txBody>
              <a:bodyPr wrap="square">
                <a:spAutoFit/>
              </a:bodyPr>
              <a:lstStyle/>
              <a:p>
                <a:pPr marL="0" marR="0" lvl="1" indent="0" algn="ctr" defTabSz="844083" rtl="0" eaLnBrk="1" fontAlgn="auto"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prstClr val="black"/>
                    </a:solidFill>
                    <a:effectLst/>
                    <a:uLnTx/>
                    <a:uFillTx/>
                    <a:latin typeface="Arial"/>
                    <a:ea typeface="Calibri"/>
                    <a:cs typeface="Times New Roman"/>
                  </a:rPr>
                  <a:t>Diversity in investor access to drive price leadership &amp; early demand momentum</a:t>
                </a:r>
              </a:p>
            </p:txBody>
          </p:sp>
          <p:sp>
            <p:nvSpPr>
              <p:cNvPr id="3" name="Rectangle 2">
                <a:extLst>
                  <a:ext uri="{FF2B5EF4-FFF2-40B4-BE49-F238E27FC236}">
                    <a16:creationId xmlns:a16="http://schemas.microsoft.com/office/drawing/2014/main" id="{1FEDAAD4-F93B-0B51-E185-AD55514A7802}"/>
                  </a:ext>
                </a:extLst>
              </p:cNvPr>
              <p:cNvSpPr/>
              <p:nvPr/>
            </p:nvSpPr>
            <p:spPr bwMode="gray">
              <a:xfrm>
                <a:off x="450234" y="1003061"/>
                <a:ext cx="9000000" cy="263250"/>
              </a:xfrm>
              <a:prstGeom prst="rect">
                <a:avLst/>
              </a:prstGeom>
              <a:solidFill>
                <a:srgbClr val="CC0000"/>
              </a:solidFill>
              <a:ln w="38100">
                <a:noFill/>
                <a:miter lim="800000"/>
                <a:headEnd/>
                <a:tailEnd/>
              </a:ln>
              <a:effectLst>
                <a:outerShdw blurRad="50800" dist="38100" dir="2700000" algn="ctr" rotWithShape="0">
                  <a:schemeClr val="tx1">
                    <a:alpha val="40000"/>
                  </a:schemeClr>
                </a:outerShdw>
              </a:effectLst>
            </p:spPr>
            <p:txBody>
              <a:bodyPr anchor="ctr"/>
              <a:lstStyle/>
              <a:p>
                <a:pPr marL="0" lvl="1" algn="ctr" defTabSz="685817" fontAlgn="auto">
                  <a:spcBef>
                    <a:spcPts val="0"/>
                  </a:spcBef>
                  <a:spcAft>
                    <a:spcPts val="415"/>
                  </a:spcAft>
                  <a:buClr>
                    <a:srgbClr val="E2001A"/>
                  </a:buClr>
                  <a:buSzPct val="80000"/>
                  <a:defRPr/>
                </a:pPr>
                <a:r>
                  <a:rPr lang="en-SG" sz="1000" dirty="0">
                    <a:solidFill>
                      <a:prstClr val="white"/>
                    </a:solidFill>
                    <a:latin typeface="Arial"/>
                    <a:ea typeface="Calibri"/>
                    <a:cs typeface="Times New Roman"/>
                  </a:rPr>
                  <a:t>DBS’ investor access is a key differentiator to our track record of consistent outperformance</a:t>
                </a:r>
              </a:p>
            </p:txBody>
          </p:sp>
          <p:grpSp>
            <p:nvGrpSpPr>
              <p:cNvPr id="328" name="Group 327">
                <a:extLst>
                  <a:ext uri="{FF2B5EF4-FFF2-40B4-BE49-F238E27FC236}">
                    <a16:creationId xmlns:a16="http://schemas.microsoft.com/office/drawing/2014/main" id="{81AE2528-A97E-82A9-3941-48E485B03EE7}"/>
                  </a:ext>
                </a:extLst>
              </p:cNvPr>
              <p:cNvGrpSpPr/>
              <p:nvPr/>
            </p:nvGrpSpPr>
            <p:grpSpPr>
              <a:xfrm>
                <a:off x="2311151" y="1379687"/>
                <a:ext cx="2207242" cy="403036"/>
                <a:chOff x="3863668" y="5388075"/>
                <a:chExt cx="2207242" cy="403036"/>
              </a:xfrm>
            </p:grpSpPr>
            <p:sp>
              <p:nvSpPr>
                <p:cNvPr id="319" name="Rectangle 644">
                  <a:extLst>
                    <a:ext uri="{FF2B5EF4-FFF2-40B4-BE49-F238E27FC236}">
                      <a16:creationId xmlns:a16="http://schemas.microsoft.com/office/drawing/2014/main" id="{2F3D2C2C-6FD6-4D45-E6B2-659184DBB35A}"/>
                    </a:ext>
                  </a:extLst>
                </p:cNvPr>
                <p:cNvSpPr>
                  <a:spLocks noChangeArrowheads="1"/>
                </p:cNvSpPr>
                <p:nvPr/>
              </p:nvSpPr>
              <p:spPr bwMode="auto">
                <a:xfrm>
                  <a:off x="3863668" y="5388075"/>
                  <a:ext cx="2207242" cy="403036"/>
                </a:xfrm>
                <a:prstGeom prst="rect">
                  <a:avLst/>
                </a:prstGeom>
                <a:solidFill>
                  <a:schemeClr val="bg1">
                    <a:lumMod val="95000"/>
                  </a:schemeClr>
                </a:solidFill>
                <a:ln w="9525">
                  <a:noFill/>
                  <a:miter lim="800000"/>
                  <a:headEnd/>
                  <a:tailEnd/>
                </a:ln>
                <a:effectLst/>
              </p:spPr>
              <p:txBody>
                <a:bodyPr wrap="square" lIns="324000" tIns="36000" rIns="108000" bIns="36000" anchor="ctr">
                  <a:spAutoFit/>
                </a:bodyPr>
                <a:lstStyle/>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40000"/>
                      </a:solidFill>
                      <a:effectLst/>
                      <a:uLnTx/>
                      <a:uFillTx/>
                      <a:latin typeface="Arial"/>
                      <a:ea typeface="+mn-ea"/>
                      <a:cs typeface="+mn-cs"/>
                    </a:rPr>
                    <a:t>DBS’ institutional sales &amp;</a:t>
                  </a:r>
                </a:p>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40000"/>
                      </a:solidFill>
                      <a:effectLst/>
                      <a:uLnTx/>
                      <a:uFillTx/>
                      <a:latin typeface="Arial"/>
                      <a:ea typeface="+mn-ea"/>
                      <a:cs typeface="+mn-cs"/>
                    </a:rPr>
                    <a:t>corporate banking franchise</a:t>
                  </a:r>
                </a:p>
              </p:txBody>
            </p:sp>
            <p:pic>
              <p:nvPicPr>
                <p:cNvPr id="262" name="Picture 261" descr="A black background with a black square&#10;&#10;Description automatically generated with medium confidence">
                  <a:extLst>
                    <a:ext uri="{FF2B5EF4-FFF2-40B4-BE49-F238E27FC236}">
                      <a16:creationId xmlns:a16="http://schemas.microsoft.com/office/drawing/2014/main" id="{B9E4A741-4A7F-F13A-4230-FD468096A165}"/>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r="70110"/>
                <a:stretch/>
              </p:blipFill>
              <p:spPr>
                <a:xfrm>
                  <a:off x="3932307" y="5491636"/>
                  <a:ext cx="200852" cy="195914"/>
                </a:xfrm>
                <a:prstGeom prst="rect">
                  <a:avLst/>
                </a:prstGeom>
              </p:spPr>
            </p:pic>
          </p:grpSp>
          <p:grpSp>
            <p:nvGrpSpPr>
              <p:cNvPr id="349" name="Group 348">
                <a:extLst>
                  <a:ext uri="{FF2B5EF4-FFF2-40B4-BE49-F238E27FC236}">
                    <a16:creationId xmlns:a16="http://schemas.microsoft.com/office/drawing/2014/main" id="{13AEE24F-F9D3-6661-1A03-8E952E5E4E3C}"/>
                  </a:ext>
                </a:extLst>
              </p:cNvPr>
              <p:cNvGrpSpPr/>
              <p:nvPr/>
            </p:nvGrpSpPr>
            <p:grpSpPr>
              <a:xfrm>
                <a:off x="458296" y="1947810"/>
                <a:ext cx="5502245" cy="3251799"/>
                <a:chOff x="458296" y="1947810"/>
                <a:chExt cx="5502245" cy="3251799"/>
              </a:xfrm>
            </p:grpSpPr>
            <p:sp>
              <p:nvSpPr>
                <p:cNvPr id="6" name="16279335.75528.87526.526.6255">
                  <a:extLst>
                    <a:ext uri="{FF2B5EF4-FFF2-40B4-BE49-F238E27FC236}">
                      <a16:creationId xmlns:a16="http://schemas.microsoft.com/office/drawing/2014/main" id="{F836A6DD-C58B-0A08-C326-4EA2CFC0E7D8}"/>
                    </a:ext>
                  </a:extLst>
                </p:cNvPr>
                <p:cNvSpPr>
                  <a:spLocks/>
                </p:cNvSpPr>
                <p:nvPr/>
              </p:nvSpPr>
              <p:spPr bwMode="auto">
                <a:xfrm>
                  <a:off x="3526951" y="3256755"/>
                  <a:ext cx="324207" cy="315026"/>
                </a:xfrm>
                <a:custGeom>
                  <a:avLst/>
                  <a:gdLst>
                    <a:gd name="T0" fmla="*/ 0 w 640"/>
                    <a:gd name="T1" fmla="*/ 1 h 546"/>
                    <a:gd name="T2" fmla="*/ 1 w 640"/>
                    <a:gd name="T3" fmla="*/ 0 h 546"/>
                    <a:gd name="T4" fmla="*/ 1 w 640"/>
                    <a:gd name="T5" fmla="*/ 1 h 546"/>
                    <a:gd name="T6" fmla="*/ 1 w 640"/>
                    <a:gd name="T7" fmla="*/ 1 h 546"/>
                    <a:gd name="T8" fmla="*/ 1 w 640"/>
                    <a:gd name="T9" fmla="*/ 1 h 546"/>
                    <a:gd name="T10" fmla="*/ 1 w 640"/>
                    <a:gd name="T11" fmla="*/ 1 h 546"/>
                    <a:gd name="T12" fmla="*/ 1 w 640"/>
                    <a:gd name="T13" fmla="*/ 1 h 546"/>
                    <a:gd name="T14" fmla="*/ 1 w 640"/>
                    <a:gd name="T15" fmla="*/ 1 h 546"/>
                    <a:gd name="T16" fmla="*/ 1 w 640"/>
                    <a:gd name="T17" fmla="*/ 1 h 546"/>
                    <a:gd name="T18" fmla="*/ 1 w 640"/>
                    <a:gd name="T19" fmla="*/ 1 h 546"/>
                    <a:gd name="T20" fmla="*/ 1 w 640"/>
                    <a:gd name="T21" fmla="*/ 1 h 546"/>
                    <a:gd name="T22" fmla="*/ 1 w 640"/>
                    <a:gd name="T23" fmla="*/ 1 h 546"/>
                    <a:gd name="T24" fmla="*/ 1 w 640"/>
                    <a:gd name="T25" fmla="*/ 1 h 546"/>
                    <a:gd name="T26" fmla="*/ 1 w 640"/>
                    <a:gd name="T27" fmla="*/ 1 h 546"/>
                    <a:gd name="T28" fmla="*/ 1 w 640"/>
                    <a:gd name="T29" fmla="*/ 1 h 546"/>
                    <a:gd name="T30" fmla="*/ 1 w 640"/>
                    <a:gd name="T31" fmla="*/ 1 h 546"/>
                    <a:gd name="T32" fmla="*/ 1 w 640"/>
                    <a:gd name="T33" fmla="*/ 1 h 546"/>
                    <a:gd name="T34" fmla="*/ 1 w 640"/>
                    <a:gd name="T35" fmla="*/ 1 h 546"/>
                    <a:gd name="T36" fmla="*/ 1 w 640"/>
                    <a:gd name="T37" fmla="*/ 1 h 546"/>
                    <a:gd name="T38" fmla="*/ 1 w 640"/>
                    <a:gd name="T39" fmla="*/ 1 h 546"/>
                    <a:gd name="T40" fmla="*/ 1 w 640"/>
                    <a:gd name="T41" fmla="*/ 1 h 546"/>
                    <a:gd name="T42" fmla="*/ 1 w 640"/>
                    <a:gd name="T43" fmla="*/ 1 h 546"/>
                    <a:gd name="T44" fmla="*/ 1 w 640"/>
                    <a:gd name="T45" fmla="*/ 1 h 546"/>
                    <a:gd name="T46" fmla="*/ 1 w 640"/>
                    <a:gd name="T47" fmla="*/ 1 h 546"/>
                    <a:gd name="T48" fmla="*/ 1 w 640"/>
                    <a:gd name="T49" fmla="*/ 1 h 546"/>
                    <a:gd name="T50" fmla="*/ 1 w 640"/>
                    <a:gd name="T51" fmla="*/ 1 h 546"/>
                    <a:gd name="T52" fmla="*/ 1 w 640"/>
                    <a:gd name="T53" fmla="*/ 1 h 546"/>
                    <a:gd name="T54" fmla="*/ 1 w 640"/>
                    <a:gd name="T55" fmla="*/ 1 h 546"/>
                    <a:gd name="T56" fmla="*/ 1 w 640"/>
                    <a:gd name="T57" fmla="*/ 1 h 546"/>
                    <a:gd name="T58" fmla="*/ 1 w 640"/>
                    <a:gd name="T59" fmla="*/ 1 h 546"/>
                    <a:gd name="T60" fmla="*/ 1 w 640"/>
                    <a:gd name="T61" fmla="*/ 1 h 546"/>
                    <a:gd name="T62" fmla="*/ 0 w 640"/>
                    <a:gd name="T63" fmla="*/ 1 h 54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40"/>
                    <a:gd name="T97" fmla="*/ 0 h 546"/>
                    <a:gd name="T98" fmla="*/ 640 w 640"/>
                    <a:gd name="T99" fmla="*/ 546 h 54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40" h="546">
                      <a:moveTo>
                        <a:pt x="0" y="18"/>
                      </a:moveTo>
                      <a:lnTo>
                        <a:pt x="17" y="0"/>
                      </a:lnTo>
                      <a:lnTo>
                        <a:pt x="66" y="41"/>
                      </a:lnTo>
                      <a:lnTo>
                        <a:pt x="127" y="8"/>
                      </a:lnTo>
                      <a:lnTo>
                        <a:pt x="132" y="40"/>
                      </a:lnTo>
                      <a:lnTo>
                        <a:pt x="160" y="51"/>
                      </a:lnTo>
                      <a:lnTo>
                        <a:pt x="167" y="87"/>
                      </a:lnTo>
                      <a:lnTo>
                        <a:pt x="255" y="125"/>
                      </a:lnTo>
                      <a:lnTo>
                        <a:pt x="336" y="114"/>
                      </a:lnTo>
                      <a:lnTo>
                        <a:pt x="329" y="94"/>
                      </a:lnTo>
                      <a:lnTo>
                        <a:pt x="433" y="58"/>
                      </a:lnTo>
                      <a:lnTo>
                        <a:pt x="569" y="120"/>
                      </a:lnTo>
                      <a:lnTo>
                        <a:pt x="574" y="154"/>
                      </a:lnTo>
                      <a:lnTo>
                        <a:pt x="550" y="218"/>
                      </a:lnTo>
                      <a:lnTo>
                        <a:pt x="554" y="306"/>
                      </a:lnTo>
                      <a:lnTo>
                        <a:pt x="589" y="332"/>
                      </a:lnTo>
                      <a:lnTo>
                        <a:pt x="561" y="377"/>
                      </a:lnTo>
                      <a:lnTo>
                        <a:pt x="640" y="476"/>
                      </a:lnTo>
                      <a:lnTo>
                        <a:pt x="587" y="546"/>
                      </a:lnTo>
                      <a:lnTo>
                        <a:pt x="444" y="523"/>
                      </a:lnTo>
                      <a:lnTo>
                        <a:pt x="413" y="478"/>
                      </a:lnTo>
                      <a:lnTo>
                        <a:pt x="315" y="493"/>
                      </a:lnTo>
                      <a:lnTo>
                        <a:pt x="244" y="450"/>
                      </a:lnTo>
                      <a:lnTo>
                        <a:pt x="196" y="366"/>
                      </a:lnTo>
                      <a:lnTo>
                        <a:pt x="159" y="352"/>
                      </a:lnTo>
                      <a:lnTo>
                        <a:pt x="149" y="370"/>
                      </a:lnTo>
                      <a:lnTo>
                        <a:pt x="105" y="285"/>
                      </a:lnTo>
                      <a:lnTo>
                        <a:pt x="43" y="234"/>
                      </a:lnTo>
                      <a:lnTo>
                        <a:pt x="72" y="154"/>
                      </a:lnTo>
                      <a:lnTo>
                        <a:pt x="46" y="145"/>
                      </a:lnTo>
                      <a:lnTo>
                        <a:pt x="22" y="102"/>
                      </a:lnTo>
                      <a:lnTo>
                        <a:pt x="0" y="1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 name="16307350515.7528.37529.1255">
                  <a:extLst>
                    <a:ext uri="{FF2B5EF4-FFF2-40B4-BE49-F238E27FC236}">
                      <a16:creationId xmlns:a16="http://schemas.microsoft.com/office/drawing/2014/main" id="{48B3CF9D-5A55-8E4F-CE03-DEE3E2908A28}"/>
                    </a:ext>
                  </a:extLst>
                </p:cNvPr>
                <p:cNvSpPr>
                  <a:spLocks/>
                </p:cNvSpPr>
                <p:nvPr/>
              </p:nvSpPr>
              <p:spPr bwMode="auto">
                <a:xfrm>
                  <a:off x="3366875" y="3425230"/>
                  <a:ext cx="355614" cy="336950"/>
                </a:xfrm>
                <a:custGeom>
                  <a:avLst/>
                  <a:gdLst>
                    <a:gd name="T0" fmla="*/ 0 w 703"/>
                    <a:gd name="T1" fmla="*/ 1 h 584"/>
                    <a:gd name="T2" fmla="*/ 0 w 703"/>
                    <a:gd name="T3" fmla="*/ 1 h 584"/>
                    <a:gd name="T4" fmla="*/ 0 w 703"/>
                    <a:gd name="T5" fmla="*/ 1 h 584"/>
                    <a:gd name="T6" fmla="*/ 0 w 703"/>
                    <a:gd name="T7" fmla="*/ 1 h 584"/>
                    <a:gd name="T8" fmla="*/ 0 w 703"/>
                    <a:gd name="T9" fmla="*/ 1 h 584"/>
                    <a:gd name="T10" fmla="*/ 0 w 703"/>
                    <a:gd name="T11" fmla="*/ 1 h 584"/>
                    <a:gd name="T12" fmla="*/ 0 w 703"/>
                    <a:gd name="T13" fmla="*/ 0 h 584"/>
                    <a:gd name="T14" fmla="*/ 0 w 703"/>
                    <a:gd name="T15" fmla="*/ 1 h 584"/>
                    <a:gd name="T16" fmla="*/ 0 w 703"/>
                    <a:gd name="T17" fmla="*/ 1 h 584"/>
                    <a:gd name="T18" fmla="*/ 0 w 703"/>
                    <a:gd name="T19" fmla="*/ 1 h 584"/>
                    <a:gd name="T20" fmla="*/ 0 w 703"/>
                    <a:gd name="T21" fmla="*/ 1 h 584"/>
                    <a:gd name="T22" fmla="*/ 0 w 703"/>
                    <a:gd name="T23" fmla="*/ 1 h 584"/>
                    <a:gd name="T24" fmla="*/ 0 w 703"/>
                    <a:gd name="T25" fmla="*/ 1 h 584"/>
                    <a:gd name="T26" fmla="*/ 0 w 703"/>
                    <a:gd name="T27" fmla="*/ 1 h 584"/>
                    <a:gd name="T28" fmla="*/ 0 w 703"/>
                    <a:gd name="T29" fmla="*/ 1 h 584"/>
                    <a:gd name="T30" fmla="*/ 0 w 703"/>
                    <a:gd name="T31" fmla="*/ 1 h 584"/>
                    <a:gd name="T32" fmla="*/ 0 w 703"/>
                    <a:gd name="T33" fmla="*/ 1 h 584"/>
                    <a:gd name="T34" fmla="*/ 0 w 703"/>
                    <a:gd name="T35" fmla="*/ 1 h 584"/>
                    <a:gd name="T36" fmla="*/ 0 w 703"/>
                    <a:gd name="T37" fmla="*/ 1 h 584"/>
                    <a:gd name="T38" fmla="*/ 0 w 703"/>
                    <a:gd name="T39" fmla="*/ 1 h 584"/>
                    <a:gd name="T40" fmla="*/ 0 w 703"/>
                    <a:gd name="T41" fmla="*/ 1 h 584"/>
                    <a:gd name="T42" fmla="*/ 0 w 703"/>
                    <a:gd name="T43" fmla="*/ 1 h 584"/>
                    <a:gd name="T44" fmla="*/ 0 w 703"/>
                    <a:gd name="T45" fmla="*/ 1 h 584"/>
                    <a:gd name="T46" fmla="*/ 0 w 703"/>
                    <a:gd name="T47" fmla="*/ 1 h 584"/>
                    <a:gd name="T48" fmla="*/ 0 w 703"/>
                    <a:gd name="T49" fmla="*/ 1 h 584"/>
                    <a:gd name="T50" fmla="*/ 0 w 703"/>
                    <a:gd name="T51" fmla="*/ 1 h 584"/>
                    <a:gd name="T52" fmla="*/ 0 w 703"/>
                    <a:gd name="T53" fmla="*/ 1 h 584"/>
                    <a:gd name="T54" fmla="*/ 0 w 703"/>
                    <a:gd name="T55" fmla="*/ 1 h 584"/>
                    <a:gd name="T56" fmla="*/ 0 w 703"/>
                    <a:gd name="T57" fmla="*/ 1 h 5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03"/>
                    <a:gd name="T88" fmla="*/ 0 h 584"/>
                    <a:gd name="T89" fmla="*/ 703 w 703"/>
                    <a:gd name="T90" fmla="*/ 584 h 58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03" h="584">
                      <a:moveTo>
                        <a:pt x="0" y="153"/>
                      </a:moveTo>
                      <a:lnTo>
                        <a:pt x="10" y="102"/>
                      </a:lnTo>
                      <a:lnTo>
                        <a:pt x="47" y="113"/>
                      </a:lnTo>
                      <a:lnTo>
                        <a:pt x="92" y="81"/>
                      </a:lnTo>
                      <a:lnTo>
                        <a:pt x="112" y="59"/>
                      </a:lnTo>
                      <a:lnTo>
                        <a:pt x="75" y="25"/>
                      </a:lnTo>
                      <a:lnTo>
                        <a:pt x="150" y="0"/>
                      </a:lnTo>
                      <a:lnTo>
                        <a:pt x="300" y="67"/>
                      </a:lnTo>
                      <a:lnTo>
                        <a:pt x="301" y="92"/>
                      </a:lnTo>
                      <a:lnTo>
                        <a:pt x="337" y="108"/>
                      </a:lnTo>
                      <a:lnTo>
                        <a:pt x="369" y="125"/>
                      </a:lnTo>
                      <a:lnTo>
                        <a:pt x="398" y="113"/>
                      </a:lnTo>
                      <a:lnTo>
                        <a:pt x="458" y="132"/>
                      </a:lnTo>
                      <a:lnTo>
                        <a:pt x="539" y="265"/>
                      </a:lnTo>
                      <a:lnTo>
                        <a:pt x="549" y="275"/>
                      </a:lnTo>
                      <a:lnTo>
                        <a:pt x="580" y="327"/>
                      </a:lnTo>
                      <a:lnTo>
                        <a:pt x="686" y="340"/>
                      </a:lnTo>
                      <a:lnTo>
                        <a:pt x="703" y="364"/>
                      </a:lnTo>
                      <a:lnTo>
                        <a:pt x="678" y="433"/>
                      </a:lnTo>
                      <a:lnTo>
                        <a:pt x="580" y="467"/>
                      </a:lnTo>
                      <a:lnTo>
                        <a:pt x="473" y="491"/>
                      </a:lnTo>
                      <a:lnTo>
                        <a:pt x="388" y="584"/>
                      </a:lnTo>
                      <a:lnTo>
                        <a:pt x="388" y="549"/>
                      </a:lnTo>
                      <a:lnTo>
                        <a:pt x="327" y="525"/>
                      </a:lnTo>
                      <a:lnTo>
                        <a:pt x="267" y="557"/>
                      </a:lnTo>
                      <a:lnTo>
                        <a:pt x="207" y="451"/>
                      </a:lnTo>
                      <a:lnTo>
                        <a:pt x="157" y="410"/>
                      </a:lnTo>
                      <a:lnTo>
                        <a:pt x="125" y="300"/>
                      </a:lnTo>
                      <a:lnTo>
                        <a:pt x="0" y="15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 name="16221373.625374.3750.7525">
                  <a:extLst>
                    <a:ext uri="{FF2B5EF4-FFF2-40B4-BE49-F238E27FC236}">
                      <a16:creationId xmlns:a16="http://schemas.microsoft.com/office/drawing/2014/main" id="{954A66F7-FEB9-3DCB-FBBD-42A6D669A427}"/>
                    </a:ext>
                  </a:extLst>
                </p:cNvPr>
                <p:cNvSpPr>
                  <a:spLocks/>
                </p:cNvSpPr>
                <p:nvPr/>
              </p:nvSpPr>
              <p:spPr bwMode="auto">
                <a:xfrm>
                  <a:off x="2163423" y="3739875"/>
                  <a:ext cx="24315" cy="9232"/>
                </a:xfrm>
                <a:custGeom>
                  <a:avLst/>
                  <a:gdLst>
                    <a:gd name="T0" fmla="*/ 0 w 50"/>
                    <a:gd name="T1" fmla="*/ 0 h 17"/>
                    <a:gd name="T2" fmla="*/ 0 w 50"/>
                    <a:gd name="T3" fmla="*/ 0 h 17"/>
                    <a:gd name="T4" fmla="*/ 0 w 50"/>
                    <a:gd name="T5" fmla="*/ 0 h 17"/>
                    <a:gd name="T6" fmla="*/ 0 w 50"/>
                    <a:gd name="T7" fmla="*/ 0 h 17"/>
                    <a:gd name="T8" fmla="*/ 0 60000 65536"/>
                    <a:gd name="T9" fmla="*/ 0 60000 65536"/>
                    <a:gd name="T10" fmla="*/ 0 60000 65536"/>
                    <a:gd name="T11" fmla="*/ 0 60000 65536"/>
                    <a:gd name="T12" fmla="*/ 0 w 50"/>
                    <a:gd name="T13" fmla="*/ 0 h 17"/>
                    <a:gd name="T14" fmla="*/ 50 w 50"/>
                    <a:gd name="T15" fmla="*/ 17 h 17"/>
                  </a:gdLst>
                  <a:ahLst/>
                  <a:cxnLst>
                    <a:cxn ang="T8">
                      <a:pos x="T0" y="T1"/>
                    </a:cxn>
                    <a:cxn ang="T9">
                      <a:pos x="T2" y="T3"/>
                    </a:cxn>
                    <a:cxn ang="T10">
                      <a:pos x="T4" y="T5"/>
                    </a:cxn>
                    <a:cxn ang="T11">
                      <a:pos x="T6" y="T7"/>
                    </a:cxn>
                  </a:cxnLst>
                  <a:rect l="T12" t="T13" r="T14" b="T15"/>
                  <a:pathLst>
                    <a:path w="50" h="17">
                      <a:moveTo>
                        <a:pt x="0" y="0"/>
                      </a:moveTo>
                      <a:lnTo>
                        <a:pt x="4" y="17"/>
                      </a:lnTo>
                      <a:lnTo>
                        <a:pt x="50" y="10"/>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 name="16222338.5551.7516.37519.6255">
                  <a:extLst>
                    <a:ext uri="{FF2B5EF4-FFF2-40B4-BE49-F238E27FC236}">
                      <a16:creationId xmlns:a16="http://schemas.microsoft.com/office/drawing/2014/main" id="{BBAE21F8-145D-6EFC-36F1-34D4A45E06AA}"/>
                    </a:ext>
                  </a:extLst>
                </p:cNvPr>
                <p:cNvSpPr>
                  <a:spLocks/>
                </p:cNvSpPr>
                <p:nvPr/>
              </p:nvSpPr>
              <p:spPr bwMode="auto">
                <a:xfrm>
                  <a:off x="3805568" y="3289065"/>
                  <a:ext cx="239102" cy="195015"/>
                </a:xfrm>
                <a:custGeom>
                  <a:avLst/>
                  <a:gdLst>
                    <a:gd name="T0" fmla="*/ 0 w 472"/>
                    <a:gd name="T1" fmla="*/ 0 h 339"/>
                    <a:gd name="T2" fmla="*/ 1 w 472"/>
                    <a:gd name="T3" fmla="*/ 0 h 339"/>
                    <a:gd name="T4" fmla="*/ 1 w 472"/>
                    <a:gd name="T5" fmla="*/ 0 h 339"/>
                    <a:gd name="T6" fmla="*/ 1 w 472"/>
                    <a:gd name="T7" fmla="*/ 0 h 339"/>
                    <a:gd name="T8" fmla="*/ 1 w 472"/>
                    <a:gd name="T9" fmla="*/ 0 h 339"/>
                    <a:gd name="T10" fmla="*/ 1 w 472"/>
                    <a:gd name="T11" fmla="*/ 0 h 339"/>
                    <a:gd name="T12" fmla="*/ 1 w 472"/>
                    <a:gd name="T13" fmla="*/ 0 h 339"/>
                    <a:gd name="T14" fmla="*/ 1 w 472"/>
                    <a:gd name="T15" fmla="*/ 0 h 339"/>
                    <a:gd name="T16" fmla="*/ 1 w 472"/>
                    <a:gd name="T17" fmla="*/ 0 h 339"/>
                    <a:gd name="T18" fmla="*/ 1 w 472"/>
                    <a:gd name="T19" fmla="*/ 0 h 339"/>
                    <a:gd name="T20" fmla="*/ 1 w 472"/>
                    <a:gd name="T21" fmla="*/ 0 h 339"/>
                    <a:gd name="T22" fmla="*/ 1 w 472"/>
                    <a:gd name="T23" fmla="*/ 0 h 339"/>
                    <a:gd name="T24" fmla="*/ 1 w 472"/>
                    <a:gd name="T25" fmla="*/ 0 h 339"/>
                    <a:gd name="T26" fmla="*/ 1 w 472"/>
                    <a:gd name="T27" fmla="*/ 0 h 339"/>
                    <a:gd name="T28" fmla="*/ 1 w 472"/>
                    <a:gd name="T29" fmla="*/ 0 h 339"/>
                    <a:gd name="T30" fmla="*/ 1 w 472"/>
                    <a:gd name="T31" fmla="*/ 0 h 339"/>
                    <a:gd name="T32" fmla="*/ 1 w 472"/>
                    <a:gd name="T33" fmla="*/ 0 h 339"/>
                    <a:gd name="T34" fmla="*/ 1 w 472"/>
                    <a:gd name="T35" fmla="*/ 0 h 339"/>
                    <a:gd name="T36" fmla="*/ 1 w 472"/>
                    <a:gd name="T37" fmla="*/ 0 h 339"/>
                    <a:gd name="T38" fmla="*/ 1 w 472"/>
                    <a:gd name="T39" fmla="*/ 0 h 339"/>
                    <a:gd name="T40" fmla="*/ 1 w 472"/>
                    <a:gd name="T41" fmla="*/ 0 h 339"/>
                    <a:gd name="T42" fmla="*/ 1 w 472"/>
                    <a:gd name="T43" fmla="*/ 0 h 339"/>
                    <a:gd name="T44" fmla="*/ 1 w 472"/>
                    <a:gd name="T45" fmla="*/ 0 h 339"/>
                    <a:gd name="T46" fmla="*/ 0 w 472"/>
                    <a:gd name="T47" fmla="*/ 0 h 33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72"/>
                    <a:gd name="T73" fmla="*/ 0 h 339"/>
                    <a:gd name="T74" fmla="*/ 472 w 472"/>
                    <a:gd name="T75" fmla="*/ 339 h 33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72" h="339">
                      <a:moveTo>
                        <a:pt x="0" y="163"/>
                      </a:moveTo>
                      <a:lnTo>
                        <a:pt x="4" y="251"/>
                      </a:lnTo>
                      <a:lnTo>
                        <a:pt x="39" y="277"/>
                      </a:lnTo>
                      <a:lnTo>
                        <a:pt x="11" y="322"/>
                      </a:lnTo>
                      <a:lnTo>
                        <a:pt x="63" y="339"/>
                      </a:lnTo>
                      <a:lnTo>
                        <a:pt x="186" y="322"/>
                      </a:lnTo>
                      <a:lnTo>
                        <a:pt x="209" y="273"/>
                      </a:lnTo>
                      <a:lnTo>
                        <a:pt x="292" y="245"/>
                      </a:lnTo>
                      <a:lnTo>
                        <a:pt x="300" y="204"/>
                      </a:lnTo>
                      <a:lnTo>
                        <a:pt x="327" y="193"/>
                      </a:lnTo>
                      <a:lnTo>
                        <a:pt x="315" y="171"/>
                      </a:lnTo>
                      <a:lnTo>
                        <a:pt x="345" y="169"/>
                      </a:lnTo>
                      <a:lnTo>
                        <a:pt x="367" y="127"/>
                      </a:lnTo>
                      <a:lnTo>
                        <a:pt x="358" y="86"/>
                      </a:lnTo>
                      <a:lnTo>
                        <a:pt x="469" y="55"/>
                      </a:lnTo>
                      <a:lnTo>
                        <a:pt x="472" y="47"/>
                      </a:lnTo>
                      <a:lnTo>
                        <a:pt x="430" y="39"/>
                      </a:lnTo>
                      <a:lnTo>
                        <a:pt x="371" y="68"/>
                      </a:lnTo>
                      <a:lnTo>
                        <a:pt x="344" y="0"/>
                      </a:lnTo>
                      <a:lnTo>
                        <a:pt x="293" y="51"/>
                      </a:lnTo>
                      <a:lnTo>
                        <a:pt x="147" y="47"/>
                      </a:lnTo>
                      <a:lnTo>
                        <a:pt x="73" y="124"/>
                      </a:lnTo>
                      <a:lnTo>
                        <a:pt x="24" y="99"/>
                      </a:lnTo>
                      <a:lnTo>
                        <a:pt x="0" y="16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 name="16223330.625494.3755.52.55">
                  <a:extLst>
                    <a:ext uri="{FF2B5EF4-FFF2-40B4-BE49-F238E27FC236}">
                      <a16:creationId xmlns:a16="http://schemas.microsoft.com/office/drawing/2014/main" id="{2CC3E687-AA60-B33E-A477-21BB0E848440}"/>
                    </a:ext>
                  </a:extLst>
                </p:cNvPr>
                <p:cNvSpPr>
                  <a:spLocks/>
                </p:cNvSpPr>
                <p:nvPr/>
              </p:nvSpPr>
              <p:spPr bwMode="auto">
                <a:xfrm>
                  <a:off x="3106496" y="3195596"/>
                  <a:ext cx="30394" cy="65774"/>
                </a:xfrm>
                <a:custGeom>
                  <a:avLst/>
                  <a:gdLst>
                    <a:gd name="T0" fmla="*/ 0 w 61"/>
                    <a:gd name="T1" fmla="*/ 1 h 114"/>
                    <a:gd name="T2" fmla="*/ 0 w 61"/>
                    <a:gd name="T3" fmla="*/ 1 h 114"/>
                    <a:gd name="T4" fmla="*/ 0 w 61"/>
                    <a:gd name="T5" fmla="*/ 0 h 114"/>
                    <a:gd name="T6" fmla="*/ 0 w 61"/>
                    <a:gd name="T7" fmla="*/ 1 h 114"/>
                    <a:gd name="T8" fmla="*/ 0 w 61"/>
                    <a:gd name="T9" fmla="*/ 1 h 114"/>
                    <a:gd name="T10" fmla="*/ 0 w 61"/>
                    <a:gd name="T11" fmla="*/ 1 h 114"/>
                    <a:gd name="T12" fmla="*/ 0 60000 65536"/>
                    <a:gd name="T13" fmla="*/ 0 60000 65536"/>
                    <a:gd name="T14" fmla="*/ 0 60000 65536"/>
                    <a:gd name="T15" fmla="*/ 0 60000 65536"/>
                    <a:gd name="T16" fmla="*/ 0 60000 65536"/>
                    <a:gd name="T17" fmla="*/ 0 60000 65536"/>
                    <a:gd name="T18" fmla="*/ 0 w 61"/>
                    <a:gd name="T19" fmla="*/ 0 h 114"/>
                    <a:gd name="T20" fmla="*/ 61 w 61"/>
                    <a:gd name="T21" fmla="*/ 114 h 114"/>
                  </a:gdLst>
                  <a:ahLst/>
                  <a:cxnLst>
                    <a:cxn ang="T12">
                      <a:pos x="T0" y="T1"/>
                    </a:cxn>
                    <a:cxn ang="T13">
                      <a:pos x="T2" y="T3"/>
                    </a:cxn>
                    <a:cxn ang="T14">
                      <a:pos x="T4" y="T5"/>
                    </a:cxn>
                    <a:cxn ang="T15">
                      <a:pos x="T6" y="T7"/>
                    </a:cxn>
                    <a:cxn ang="T16">
                      <a:pos x="T8" y="T9"/>
                    </a:cxn>
                    <a:cxn ang="T17">
                      <a:pos x="T10" y="T11"/>
                    </a:cxn>
                  </a:cxnLst>
                  <a:rect l="T18" t="T19" r="T20" b="T21"/>
                  <a:pathLst>
                    <a:path w="61" h="114">
                      <a:moveTo>
                        <a:pt x="0" y="87"/>
                      </a:moveTo>
                      <a:lnTo>
                        <a:pt x="3" y="28"/>
                      </a:lnTo>
                      <a:lnTo>
                        <a:pt x="30" y="0"/>
                      </a:lnTo>
                      <a:lnTo>
                        <a:pt x="61" y="68"/>
                      </a:lnTo>
                      <a:lnTo>
                        <a:pt x="32" y="114"/>
                      </a:lnTo>
                      <a:lnTo>
                        <a:pt x="0" y="8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 name="16224341.25455.7531.528.1255">
                  <a:extLst>
                    <a:ext uri="{FF2B5EF4-FFF2-40B4-BE49-F238E27FC236}">
                      <a16:creationId xmlns:a16="http://schemas.microsoft.com/office/drawing/2014/main" id="{74C42A26-C7B3-8D0F-6001-4766DA167BAC}"/>
                    </a:ext>
                  </a:extLst>
                </p:cNvPr>
                <p:cNvSpPr>
                  <a:spLocks/>
                </p:cNvSpPr>
                <p:nvPr/>
              </p:nvSpPr>
              <p:spPr bwMode="auto">
                <a:xfrm>
                  <a:off x="2635383" y="3322530"/>
                  <a:ext cx="343456" cy="372723"/>
                </a:xfrm>
                <a:custGeom>
                  <a:avLst/>
                  <a:gdLst>
                    <a:gd name="T0" fmla="*/ 0 w 678"/>
                    <a:gd name="T1" fmla="*/ 1 h 646"/>
                    <a:gd name="T2" fmla="*/ 1 w 678"/>
                    <a:gd name="T3" fmla="*/ 1 h 646"/>
                    <a:gd name="T4" fmla="*/ 1 w 678"/>
                    <a:gd name="T5" fmla="*/ 1 h 646"/>
                    <a:gd name="T6" fmla="*/ 1 w 678"/>
                    <a:gd name="T7" fmla="*/ 1 h 646"/>
                    <a:gd name="T8" fmla="*/ 1 w 678"/>
                    <a:gd name="T9" fmla="*/ 1 h 646"/>
                    <a:gd name="T10" fmla="*/ 1 w 678"/>
                    <a:gd name="T11" fmla="*/ 1 h 646"/>
                    <a:gd name="T12" fmla="*/ 1 w 678"/>
                    <a:gd name="T13" fmla="*/ 1 h 646"/>
                    <a:gd name="T14" fmla="*/ 1 w 678"/>
                    <a:gd name="T15" fmla="*/ 1 h 646"/>
                    <a:gd name="T16" fmla="*/ 1 w 678"/>
                    <a:gd name="T17" fmla="*/ 1 h 646"/>
                    <a:gd name="T18" fmla="*/ 1 w 678"/>
                    <a:gd name="T19" fmla="*/ 1 h 646"/>
                    <a:gd name="T20" fmla="*/ 1 w 678"/>
                    <a:gd name="T21" fmla="*/ 1 h 646"/>
                    <a:gd name="T22" fmla="*/ 1 w 678"/>
                    <a:gd name="T23" fmla="*/ 1 h 646"/>
                    <a:gd name="T24" fmla="*/ 1 w 678"/>
                    <a:gd name="T25" fmla="*/ 1 h 646"/>
                    <a:gd name="T26" fmla="*/ 1 w 678"/>
                    <a:gd name="T27" fmla="*/ 0 h 646"/>
                    <a:gd name="T28" fmla="*/ 1 w 678"/>
                    <a:gd name="T29" fmla="*/ 1 h 646"/>
                    <a:gd name="T30" fmla="*/ 1 w 678"/>
                    <a:gd name="T31" fmla="*/ 1 h 646"/>
                    <a:gd name="T32" fmla="*/ 1 w 678"/>
                    <a:gd name="T33" fmla="*/ 1 h 646"/>
                    <a:gd name="T34" fmla="*/ 1 w 678"/>
                    <a:gd name="T35" fmla="*/ 1 h 646"/>
                    <a:gd name="T36" fmla="*/ 1 w 678"/>
                    <a:gd name="T37" fmla="*/ 1 h 646"/>
                    <a:gd name="T38" fmla="*/ 1 w 678"/>
                    <a:gd name="T39" fmla="*/ 1 h 646"/>
                    <a:gd name="T40" fmla="*/ 1 w 678"/>
                    <a:gd name="T41" fmla="*/ 1 h 646"/>
                    <a:gd name="T42" fmla="*/ 0 w 678"/>
                    <a:gd name="T43" fmla="*/ 1 h 64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78"/>
                    <a:gd name="T67" fmla="*/ 0 h 646"/>
                    <a:gd name="T68" fmla="*/ 678 w 678"/>
                    <a:gd name="T69" fmla="*/ 646 h 64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78" h="646">
                      <a:moveTo>
                        <a:pt x="0" y="345"/>
                      </a:moveTo>
                      <a:lnTo>
                        <a:pt x="3" y="358"/>
                      </a:lnTo>
                      <a:lnTo>
                        <a:pt x="126" y="439"/>
                      </a:lnTo>
                      <a:lnTo>
                        <a:pt x="394" y="616"/>
                      </a:lnTo>
                      <a:lnTo>
                        <a:pt x="397" y="646"/>
                      </a:lnTo>
                      <a:lnTo>
                        <a:pt x="423" y="642"/>
                      </a:lnTo>
                      <a:lnTo>
                        <a:pt x="476" y="629"/>
                      </a:lnTo>
                      <a:lnTo>
                        <a:pt x="678" y="490"/>
                      </a:lnTo>
                      <a:lnTo>
                        <a:pt x="599" y="398"/>
                      </a:lnTo>
                      <a:lnTo>
                        <a:pt x="601" y="249"/>
                      </a:lnTo>
                      <a:lnTo>
                        <a:pt x="591" y="182"/>
                      </a:lnTo>
                      <a:lnTo>
                        <a:pt x="535" y="114"/>
                      </a:lnTo>
                      <a:lnTo>
                        <a:pt x="563" y="91"/>
                      </a:lnTo>
                      <a:lnTo>
                        <a:pt x="577" y="0"/>
                      </a:lnTo>
                      <a:lnTo>
                        <a:pt x="338" y="15"/>
                      </a:lnTo>
                      <a:lnTo>
                        <a:pt x="214" y="69"/>
                      </a:lnTo>
                      <a:lnTo>
                        <a:pt x="246" y="179"/>
                      </a:lnTo>
                      <a:lnTo>
                        <a:pt x="192" y="182"/>
                      </a:lnTo>
                      <a:lnTo>
                        <a:pt x="164" y="194"/>
                      </a:lnTo>
                      <a:lnTo>
                        <a:pt x="169" y="223"/>
                      </a:lnTo>
                      <a:lnTo>
                        <a:pt x="18" y="289"/>
                      </a:lnTo>
                      <a:lnTo>
                        <a:pt x="0" y="34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 name="16225421.125624.549.12556.1255">
                  <a:extLst>
                    <a:ext uri="{FF2B5EF4-FFF2-40B4-BE49-F238E27FC236}">
                      <a16:creationId xmlns:a16="http://schemas.microsoft.com/office/drawing/2014/main" id="{6EA3AB92-5E83-770E-5AA7-78C0B7A1BBC1}"/>
                    </a:ext>
                  </a:extLst>
                </p:cNvPr>
                <p:cNvSpPr>
                  <a:spLocks/>
                </p:cNvSpPr>
                <p:nvPr/>
              </p:nvSpPr>
              <p:spPr bwMode="auto">
                <a:xfrm>
                  <a:off x="4693084" y="4268759"/>
                  <a:ext cx="683874" cy="583892"/>
                </a:xfrm>
                <a:custGeom>
                  <a:avLst/>
                  <a:gdLst>
                    <a:gd name="T0" fmla="*/ 1 w 1350"/>
                    <a:gd name="T1" fmla="*/ 1 h 1012"/>
                    <a:gd name="T2" fmla="*/ 1 w 1350"/>
                    <a:gd name="T3" fmla="*/ 1 h 1012"/>
                    <a:gd name="T4" fmla="*/ 1 w 1350"/>
                    <a:gd name="T5" fmla="*/ 1 h 1012"/>
                    <a:gd name="T6" fmla="*/ 1 w 1350"/>
                    <a:gd name="T7" fmla="*/ 1 h 1012"/>
                    <a:gd name="T8" fmla="*/ 1 w 1350"/>
                    <a:gd name="T9" fmla="*/ 1 h 1012"/>
                    <a:gd name="T10" fmla="*/ 1 w 1350"/>
                    <a:gd name="T11" fmla="*/ 1 h 1012"/>
                    <a:gd name="T12" fmla="*/ 1 w 1350"/>
                    <a:gd name="T13" fmla="*/ 1 h 1012"/>
                    <a:gd name="T14" fmla="*/ 1 w 1350"/>
                    <a:gd name="T15" fmla="*/ 1 h 1012"/>
                    <a:gd name="T16" fmla="*/ 1 w 1350"/>
                    <a:gd name="T17" fmla="*/ 1 h 1012"/>
                    <a:gd name="T18" fmla="*/ 1 w 1350"/>
                    <a:gd name="T19" fmla="*/ 1 h 1012"/>
                    <a:gd name="T20" fmla="*/ 1 w 1350"/>
                    <a:gd name="T21" fmla="*/ 1 h 1012"/>
                    <a:gd name="T22" fmla="*/ 1 w 1350"/>
                    <a:gd name="T23" fmla="*/ 1 h 1012"/>
                    <a:gd name="T24" fmla="*/ 1 w 1350"/>
                    <a:gd name="T25" fmla="*/ 1 h 1012"/>
                    <a:gd name="T26" fmla="*/ 1 w 1350"/>
                    <a:gd name="T27" fmla="*/ 1 h 1012"/>
                    <a:gd name="T28" fmla="*/ 1 w 1350"/>
                    <a:gd name="T29" fmla="*/ 1 h 1012"/>
                    <a:gd name="T30" fmla="*/ 1 w 1350"/>
                    <a:gd name="T31" fmla="*/ 1 h 1012"/>
                    <a:gd name="T32" fmla="*/ 1 w 1350"/>
                    <a:gd name="T33" fmla="*/ 1 h 1012"/>
                    <a:gd name="T34" fmla="*/ 1 w 1350"/>
                    <a:gd name="T35" fmla="*/ 1 h 1012"/>
                    <a:gd name="T36" fmla="*/ 1 w 1350"/>
                    <a:gd name="T37" fmla="*/ 1 h 1012"/>
                    <a:gd name="T38" fmla="*/ 1 w 1350"/>
                    <a:gd name="T39" fmla="*/ 1 h 1012"/>
                    <a:gd name="T40" fmla="*/ 1 w 1350"/>
                    <a:gd name="T41" fmla="*/ 1 h 1012"/>
                    <a:gd name="T42" fmla="*/ 1 w 1350"/>
                    <a:gd name="T43" fmla="*/ 1 h 1012"/>
                    <a:gd name="T44" fmla="*/ 1 w 1350"/>
                    <a:gd name="T45" fmla="*/ 1 h 1012"/>
                    <a:gd name="T46" fmla="*/ 1 w 1350"/>
                    <a:gd name="T47" fmla="*/ 1 h 1012"/>
                    <a:gd name="T48" fmla="*/ 1 w 1350"/>
                    <a:gd name="T49" fmla="*/ 1 h 1012"/>
                    <a:gd name="T50" fmla="*/ 1 w 1350"/>
                    <a:gd name="T51" fmla="*/ 1 h 1012"/>
                    <a:gd name="T52" fmla="*/ 1 w 1350"/>
                    <a:gd name="T53" fmla="*/ 1 h 1012"/>
                    <a:gd name="T54" fmla="*/ 1 w 1350"/>
                    <a:gd name="T55" fmla="*/ 1 h 1012"/>
                    <a:gd name="T56" fmla="*/ 1 w 1350"/>
                    <a:gd name="T57" fmla="*/ 1 h 1012"/>
                    <a:gd name="T58" fmla="*/ 1 w 1350"/>
                    <a:gd name="T59" fmla="*/ 1 h 1012"/>
                    <a:gd name="T60" fmla="*/ 1 w 1350"/>
                    <a:gd name="T61" fmla="*/ 1 h 1012"/>
                    <a:gd name="T62" fmla="*/ 1 w 1350"/>
                    <a:gd name="T63" fmla="*/ 1 h 1012"/>
                    <a:gd name="T64" fmla="*/ 1 w 1350"/>
                    <a:gd name="T65" fmla="*/ 1 h 101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50"/>
                    <a:gd name="T100" fmla="*/ 0 h 1012"/>
                    <a:gd name="T101" fmla="*/ 1350 w 1350"/>
                    <a:gd name="T102" fmla="*/ 1012 h 101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50" h="1012">
                      <a:moveTo>
                        <a:pt x="0" y="534"/>
                      </a:moveTo>
                      <a:lnTo>
                        <a:pt x="24" y="542"/>
                      </a:lnTo>
                      <a:lnTo>
                        <a:pt x="10" y="512"/>
                      </a:lnTo>
                      <a:lnTo>
                        <a:pt x="36" y="528"/>
                      </a:lnTo>
                      <a:lnTo>
                        <a:pt x="9" y="470"/>
                      </a:lnTo>
                      <a:lnTo>
                        <a:pt x="27" y="381"/>
                      </a:lnTo>
                      <a:lnTo>
                        <a:pt x="35" y="404"/>
                      </a:lnTo>
                      <a:lnTo>
                        <a:pt x="119" y="334"/>
                      </a:lnTo>
                      <a:lnTo>
                        <a:pt x="259" y="301"/>
                      </a:lnTo>
                      <a:lnTo>
                        <a:pt x="307" y="249"/>
                      </a:lnTo>
                      <a:lnTo>
                        <a:pt x="306" y="216"/>
                      </a:lnTo>
                      <a:lnTo>
                        <a:pt x="325" y="191"/>
                      </a:lnTo>
                      <a:lnTo>
                        <a:pt x="345" y="231"/>
                      </a:lnTo>
                      <a:lnTo>
                        <a:pt x="345" y="187"/>
                      </a:lnTo>
                      <a:lnTo>
                        <a:pt x="377" y="197"/>
                      </a:lnTo>
                      <a:lnTo>
                        <a:pt x="378" y="164"/>
                      </a:lnTo>
                      <a:lnTo>
                        <a:pt x="429" y="114"/>
                      </a:lnTo>
                      <a:lnTo>
                        <a:pt x="483" y="117"/>
                      </a:lnTo>
                      <a:lnTo>
                        <a:pt x="494" y="166"/>
                      </a:lnTo>
                      <a:lnTo>
                        <a:pt x="514" y="138"/>
                      </a:lnTo>
                      <a:lnTo>
                        <a:pt x="554" y="154"/>
                      </a:lnTo>
                      <a:lnTo>
                        <a:pt x="539" y="121"/>
                      </a:lnTo>
                      <a:lnTo>
                        <a:pt x="571" y="69"/>
                      </a:lnTo>
                      <a:lnTo>
                        <a:pt x="650" y="48"/>
                      </a:lnTo>
                      <a:lnTo>
                        <a:pt x="630" y="14"/>
                      </a:lnTo>
                      <a:lnTo>
                        <a:pt x="782" y="56"/>
                      </a:lnTo>
                      <a:lnTo>
                        <a:pt x="749" y="146"/>
                      </a:lnTo>
                      <a:lnTo>
                        <a:pt x="902" y="239"/>
                      </a:lnTo>
                      <a:lnTo>
                        <a:pt x="939" y="202"/>
                      </a:lnTo>
                      <a:lnTo>
                        <a:pt x="956" y="47"/>
                      </a:lnTo>
                      <a:lnTo>
                        <a:pt x="993" y="0"/>
                      </a:lnTo>
                      <a:lnTo>
                        <a:pt x="1024" y="120"/>
                      </a:lnTo>
                      <a:lnTo>
                        <a:pt x="1076" y="146"/>
                      </a:lnTo>
                      <a:lnTo>
                        <a:pt x="1111" y="283"/>
                      </a:lnTo>
                      <a:lnTo>
                        <a:pt x="1193" y="327"/>
                      </a:lnTo>
                      <a:lnTo>
                        <a:pt x="1222" y="404"/>
                      </a:lnTo>
                      <a:lnTo>
                        <a:pt x="1254" y="399"/>
                      </a:lnTo>
                      <a:lnTo>
                        <a:pt x="1261" y="440"/>
                      </a:lnTo>
                      <a:lnTo>
                        <a:pt x="1328" y="499"/>
                      </a:lnTo>
                      <a:lnTo>
                        <a:pt x="1350" y="607"/>
                      </a:lnTo>
                      <a:lnTo>
                        <a:pt x="1335" y="710"/>
                      </a:lnTo>
                      <a:lnTo>
                        <a:pt x="1274" y="799"/>
                      </a:lnTo>
                      <a:lnTo>
                        <a:pt x="1232" y="950"/>
                      </a:lnTo>
                      <a:lnTo>
                        <a:pt x="1156" y="967"/>
                      </a:lnTo>
                      <a:lnTo>
                        <a:pt x="1109" y="994"/>
                      </a:lnTo>
                      <a:lnTo>
                        <a:pt x="1112" y="1012"/>
                      </a:lnTo>
                      <a:lnTo>
                        <a:pt x="1064" y="961"/>
                      </a:lnTo>
                      <a:lnTo>
                        <a:pt x="1012" y="999"/>
                      </a:lnTo>
                      <a:lnTo>
                        <a:pt x="949" y="982"/>
                      </a:lnTo>
                      <a:lnTo>
                        <a:pt x="898" y="945"/>
                      </a:lnTo>
                      <a:lnTo>
                        <a:pt x="874" y="868"/>
                      </a:lnTo>
                      <a:lnTo>
                        <a:pt x="836" y="878"/>
                      </a:lnTo>
                      <a:lnTo>
                        <a:pt x="835" y="827"/>
                      </a:lnTo>
                      <a:lnTo>
                        <a:pt x="822" y="860"/>
                      </a:lnTo>
                      <a:lnTo>
                        <a:pt x="795" y="861"/>
                      </a:lnTo>
                      <a:lnTo>
                        <a:pt x="824" y="762"/>
                      </a:lnTo>
                      <a:lnTo>
                        <a:pt x="765" y="856"/>
                      </a:lnTo>
                      <a:lnTo>
                        <a:pt x="737" y="836"/>
                      </a:lnTo>
                      <a:lnTo>
                        <a:pt x="707" y="763"/>
                      </a:lnTo>
                      <a:lnTo>
                        <a:pt x="608" y="722"/>
                      </a:lnTo>
                      <a:lnTo>
                        <a:pt x="428" y="754"/>
                      </a:lnTo>
                      <a:lnTo>
                        <a:pt x="354" y="807"/>
                      </a:lnTo>
                      <a:lnTo>
                        <a:pt x="230" y="812"/>
                      </a:lnTo>
                      <a:lnTo>
                        <a:pt x="160" y="858"/>
                      </a:lnTo>
                      <a:lnTo>
                        <a:pt x="66" y="825"/>
                      </a:lnTo>
                      <a:lnTo>
                        <a:pt x="87" y="728"/>
                      </a:lnTo>
                      <a:lnTo>
                        <a:pt x="0" y="53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 name="16226473.25668.55.54.8755">
                  <a:extLst>
                    <a:ext uri="{FF2B5EF4-FFF2-40B4-BE49-F238E27FC236}">
                      <a16:creationId xmlns:a16="http://schemas.microsoft.com/office/drawing/2014/main" id="{6DDDFA2B-3BF8-C94F-6B31-59E3DAE3C9FD}"/>
                    </a:ext>
                  </a:extLst>
                </p:cNvPr>
                <p:cNvSpPr>
                  <a:spLocks/>
                </p:cNvSpPr>
                <p:nvPr/>
              </p:nvSpPr>
              <p:spPr bwMode="auto">
                <a:xfrm>
                  <a:off x="5229039" y="4887269"/>
                  <a:ext cx="59776" cy="65774"/>
                </a:xfrm>
                <a:custGeom>
                  <a:avLst/>
                  <a:gdLst>
                    <a:gd name="T0" fmla="*/ 0 w 116"/>
                    <a:gd name="T1" fmla="*/ 0 h 115"/>
                    <a:gd name="T2" fmla="*/ 1 w 116"/>
                    <a:gd name="T3" fmla="*/ 0 h 115"/>
                    <a:gd name="T4" fmla="*/ 1 w 116"/>
                    <a:gd name="T5" fmla="*/ 0 h 115"/>
                    <a:gd name="T6" fmla="*/ 1 w 116"/>
                    <a:gd name="T7" fmla="*/ 0 h 115"/>
                    <a:gd name="T8" fmla="*/ 1 w 116"/>
                    <a:gd name="T9" fmla="*/ 0 h 115"/>
                    <a:gd name="T10" fmla="*/ 1 w 116"/>
                    <a:gd name="T11" fmla="*/ 0 h 115"/>
                    <a:gd name="T12" fmla="*/ 1 w 116"/>
                    <a:gd name="T13" fmla="*/ 0 h 115"/>
                    <a:gd name="T14" fmla="*/ 1 w 116"/>
                    <a:gd name="T15" fmla="*/ 0 h 115"/>
                    <a:gd name="T16" fmla="*/ 0 w 116"/>
                    <a:gd name="T17" fmla="*/ 0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6"/>
                    <a:gd name="T28" fmla="*/ 0 h 115"/>
                    <a:gd name="T29" fmla="*/ 116 w 116"/>
                    <a:gd name="T30" fmla="*/ 115 h 1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6" h="115">
                      <a:moveTo>
                        <a:pt x="0" y="20"/>
                      </a:moveTo>
                      <a:lnTo>
                        <a:pt x="1" y="0"/>
                      </a:lnTo>
                      <a:lnTo>
                        <a:pt x="60" y="17"/>
                      </a:lnTo>
                      <a:lnTo>
                        <a:pt x="105" y="3"/>
                      </a:lnTo>
                      <a:lnTo>
                        <a:pt x="116" y="31"/>
                      </a:lnTo>
                      <a:lnTo>
                        <a:pt x="116" y="65"/>
                      </a:lnTo>
                      <a:lnTo>
                        <a:pt x="72" y="115"/>
                      </a:lnTo>
                      <a:lnTo>
                        <a:pt x="42" y="112"/>
                      </a:lnTo>
                      <a:lnTo>
                        <a:pt x="0" y="2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 name="16227318.125480.754.62510.6255">
                  <a:extLst>
                    <a:ext uri="{FF2B5EF4-FFF2-40B4-BE49-F238E27FC236}">
                      <a16:creationId xmlns:a16="http://schemas.microsoft.com/office/drawing/2014/main" id="{E6B440FF-3600-A0D6-C0DE-303BEDAAEA7B}"/>
                    </a:ext>
                  </a:extLst>
                </p:cNvPr>
                <p:cNvSpPr>
                  <a:spLocks/>
                </p:cNvSpPr>
                <p:nvPr/>
              </p:nvSpPr>
              <p:spPr bwMode="auto">
                <a:xfrm>
                  <a:off x="2940340" y="3047892"/>
                  <a:ext cx="129682" cy="55388"/>
                </a:xfrm>
                <a:custGeom>
                  <a:avLst/>
                  <a:gdLst>
                    <a:gd name="T0" fmla="*/ 0 w 256"/>
                    <a:gd name="T1" fmla="*/ 0 h 98"/>
                    <a:gd name="T2" fmla="*/ 1 w 256"/>
                    <a:gd name="T3" fmla="*/ 0 h 98"/>
                    <a:gd name="T4" fmla="*/ 1 w 256"/>
                    <a:gd name="T5" fmla="*/ 0 h 98"/>
                    <a:gd name="T6" fmla="*/ 1 w 256"/>
                    <a:gd name="T7" fmla="*/ 0 h 98"/>
                    <a:gd name="T8" fmla="*/ 1 w 256"/>
                    <a:gd name="T9" fmla="*/ 0 h 98"/>
                    <a:gd name="T10" fmla="*/ 1 w 256"/>
                    <a:gd name="T11" fmla="*/ 0 h 98"/>
                    <a:gd name="T12" fmla="*/ 1 w 256"/>
                    <a:gd name="T13" fmla="*/ 0 h 98"/>
                    <a:gd name="T14" fmla="*/ 1 w 256"/>
                    <a:gd name="T15" fmla="*/ 0 h 98"/>
                    <a:gd name="T16" fmla="*/ 1 w 256"/>
                    <a:gd name="T17" fmla="*/ 0 h 98"/>
                    <a:gd name="T18" fmla="*/ 1 w 256"/>
                    <a:gd name="T19" fmla="*/ 0 h 98"/>
                    <a:gd name="T20" fmla="*/ 1 w 256"/>
                    <a:gd name="T21" fmla="*/ 0 h 98"/>
                    <a:gd name="T22" fmla="*/ 0 w 256"/>
                    <a:gd name="T23" fmla="*/ 0 h 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6"/>
                    <a:gd name="T37" fmla="*/ 0 h 98"/>
                    <a:gd name="T38" fmla="*/ 256 w 256"/>
                    <a:gd name="T39" fmla="*/ 98 h 9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6" h="98">
                      <a:moveTo>
                        <a:pt x="0" y="55"/>
                      </a:moveTo>
                      <a:lnTo>
                        <a:pt x="4" y="59"/>
                      </a:lnTo>
                      <a:lnTo>
                        <a:pt x="5" y="77"/>
                      </a:lnTo>
                      <a:lnTo>
                        <a:pt x="33" y="81"/>
                      </a:lnTo>
                      <a:lnTo>
                        <a:pt x="85" y="72"/>
                      </a:lnTo>
                      <a:lnTo>
                        <a:pt x="142" y="98"/>
                      </a:lnTo>
                      <a:lnTo>
                        <a:pt x="221" y="80"/>
                      </a:lnTo>
                      <a:lnTo>
                        <a:pt x="256" y="30"/>
                      </a:lnTo>
                      <a:lnTo>
                        <a:pt x="242" y="0"/>
                      </a:lnTo>
                      <a:lnTo>
                        <a:pt x="143" y="1"/>
                      </a:lnTo>
                      <a:lnTo>
                        <a:pt x="113" y="54"/>
                      </a:lnTo>
                      <a:lnTo>
                        <a:pt x="0" y="5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 name="16228359.875589.59.6256.6255">
                  <a:extLst>
                    <a:ext uri="{FF2B5EF4-FFF2-40B4-BE49-F238E27FC236}">
                      <a16:creationId xmlns:a16="http://schemas.microsoft.com/office/drawing/2014/main" id="{C38F6F88-FE4A-5FFD-0D5C-31DE6F25084E}"/>
                    </a:ext>
                  </a:extLst>
                </p:cNvPr>
                <p:cNvSpPr>
                  <a:spLocks/>
                </p:cNvSpPr>
                <p:nvPr/>
              </p:nvSpPr>
              <p:spPr bwMode="auto">
                <a:xfrm>
                  <a:off x="4266549" y="3542932"/>
                  <a:ext cx="81052" cy="114240"/>
                </a:xfrm>
                <a:custGeom>
                  <a:avLst/>
                  <a:gdLst>
                    <a:gd name="T0" fmla="*/ 0 w 159"/>
                    <a:gd name="T1" fmla="*/ 1 h 198"/>
                    <a:gd name="T2" fmla="*/ 1 w 159"/>
                    <a:gd name="T3" fmla="*/ 1 h 198"/>
                    <a:gd name="T4" fmla="*/ 1 w 159"/>
                    <a:gd name="T5" fmla="*/ 1 h 198"/>
                    <a:gd name="T6" fmla="*/ 1 w 159"/>
                    <a:gd name="T7" fmla="*/ 1 h 198"/>
                    <a:gd name="T8" fmla="*/ 1 w 159"/>
                    <a:gd name="T9" fmla="*/ 1 h 198"/>
                    <a:gd name="T10" fmla="*/ 1 w 159"/>
                    <a:gd name="T11" fmla="*/ 1 h 198"/>
                    <a:gd name="T12" fmla="*/ 1 w 159"/>
                    <a:gd name="T13" fmla="*/ 1 h 198"/>
                    <a:gd name="T14" fmla="*/ 1 w 159"/>
                    <a:gd name="T15" fmla="*/ 1 h 198"/>
                    <a:gd name="T16" fmla="*/ 1 w 159"/>
                    <a:gd name="T17" fmla="*/ 1 h 198"/>
                    <a:gd name="T18" fmla="*/ 1 w 159"/>
                    <a:gd name="T19" fmla="*/ 1 h 198"/>
                    <a:gd name="T20" fmla="*/ 1 w 159"/>
                    <a:gd name="T21" fmla="*/ 1 h 198"/>
                    <a:gd name="T22" fmla="*/ 1 w 159"/>
                    <a:gd name="T23" fmla="*/ 1 h 198"/>
                    <a:gd name="T24" fmla="*/ 1 w 159"/>
                    <a:gd name="T25" fmla="*/ 1 h 198"/>
                    <a:gd name="T26" fmla="*/ 1 w 159"/>
                    <a:gd name="T27" fmla="*/ 0 h 198"/>
                    <a:gd name="T28" fmla="*/ 1 w 159"/>
                    <a:gd name="T29" fmla="*/ 1 h 198"/>
                    <a:gd name="T30" fmla="*/ 1 w 159"/>
                    <a:gd name="T31" fmla="*/ 1 h 198"/>
                    <a:gd name="T32" fmla="*/ 0 w 159"/>
                    <a:gd name="T33" fmla="*/ 1 h 1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9"/>
                    <a:gd name="T52" fmla="*/ 0 h 198"/>
                    <a:gd name="T53" fmla="*/ 159 w 159"/>
                    <a:gd name="T54" fmla="*/ 198 h 1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9" h="198">
                      <a:moveTo>
                        <a:pt x="0" y="59"/>
                      </a:moveTo>
                      <a:lnTo>
                        <a:pt x="22" y="80"/>
                      </a:lnTo>
                      <a:lnTo>
                        <a:pt x="34" y="172"/>
                      </a:lnTo>
                      <a:lnTo>
                        <a:pt x="74" y="166"/>
                      </a:lnTo>
                      <a:lnTo>
                        <a:pt x="98" y="126"/>
                      </a:lnTo>
                      <a:lnTo>
                        <a:pt x="126" y="135"/>
                      </a:lnTo>
                      <a:lnTo>
                        <a:pt x="146" y="198"/>
                      </a:lnTo>
                      <a:lnTo>
                        <a:pt x="159" y="162"/>
                      </a:lnTo>
                      <a:lnTo>
                        <a:pt x="142" y="97"/>
                      </a:lnTo>
                      <a:lnTo>
                        <a:pt x="126" y="122"/>
                      </a:lnTo>
                      <a:lnTo>
                        <a:pt x="106" y="91"/>
                      </a:lnTo>
                      <a:lnTo>
                        <a:pt x="144" y="51"/>
                      </a:lnTo>
                      <a:lnTo>
                        <a:pt x="69" y="45"/>
                      </a:lnTo>
                      <a:lnTo>
                        <a:pt x="21" y="0"/>
                      </a:lnTo>
                      <a:lnTo>
                        <a:pt x="5" y="25"/>
                      </a:lnTo>
                      <a:lnTo>
                        <a:pt x="23" y="45"/>
                      </a:lnTo>
                      <a:lnTo>
                        <a:pt x="0" y="5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 name="16229312.5471.6253.8754.3755">
                  <a:extLst>
                    <a:ext uri="{FF2B5EF4-FFF2-40B4-BE49-F238E27FC236}">
                      <a16:creationId xmlns:a16="http://schemas.microsoft.com/office/drawing/2014/main" id="{86CBE2CF-E446-4A16-54D8-5E002A48A2C1}"/>
                    </a:ext>
                  </a:extLst>
                </p:cNvPr>
                <p:cNvSpPr>
                  <a:spLocks/>
                </p:cNvSpPr>
                <p:nvPr/>
              </p:nvSpPr>
              <p:spPr bwMode="auto">
                <a:xfrm>
                  <a:off x="2828894" y="2980964"/>
                  <a:ext cx="54710" cy="46157"/>
                </a:xfrm>
                <a:custGeom>
                  <a:avLst/>
                  <a:gdLst>
                    <a:gd name="T0" fmla="*/ 0 w 109"/>
                    <a:gd name="T1" fmla="*/ 1 h 78"/>
                    <a:gd name="T2" fmla="*/ 0 w 109"/>
                    <a:gd name="T3" fmla="*/ 1 h 78"/>
                    <a:gd name="T4" fmla="*/ 0 w 109"/>
                    <a:gd name="T5" fmla="*/ 0 h 78"/>
                    <a:gd name="T6" fmla="*/ 0 w 109"/>
                    <a:gd name="T7" fmla="*/ 1 h 78"/>
                    <a:gd name="T8" fmla="*/ 0 w 109"/>
                    <a:gd name="T9" fmla="*/ 1 h 78"/>
                    <a:gd name="T10" fmla="*/ 0 w 109"/>
                    <a:gd name="T11" fmla="*/ 1 h 78"/>
                    <a:gd name="T12" fmla="*/ 0 w 109"/>
                    <a:gd name="T13" fmla="*/ 1 h 78"/>
                    <a:gd name="T14" fmla="*/ 0 60000 65536"/>
                    <a:gd name="T15" fmla="*/ 0 60000 65536"/>
                    <a:gd name="T16" fmla="*/ 0 60000 65536"/>
                    <a:gd name="T17" fmla="*/ 0 60000 65536"/>
                    <a:gd name="T18" fmla="*/ 0 60000 65536"/>
                    <a:gd name="T19" fmla="*/ 0 60000 65536"/>
                    <a:gd name="T20" fmla="*/ 0 60000 65536"/>
                    <a:gd name="T21" fmla="*/ 0 w 109"/>
                    <a:gd name="T22" fmla="*/ 0 h 78"/>
                    <a:gd name="T23" fmla="*/ 109 w 109"/>
                    <a:gd name="T24" fmla="*/ 78 h 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 h="78">
                      <a:moveTo>
                        <a:pt x="0" y="15"/>
                      </a:moveTo>
                      <a:lnTo>
                        <a:pt x="25" y="4"/>
                      </a:lnTo>
                      <a:lnTo>
                        <a:pt x="73" y="0"/>
                      </a:lnTo>
                      <a:lnTo>
                        <a:pt x="106" y="32"/>
                      </a:lnTo>
                      <a:lnTo>
                        <a:pt x="109" y="56"/>
                      </a:lnTo>
                      <a:lnTo>
                        <a:pt x="96" y="78"/>
                      </a:lnTo>
                      <a:lnTo>
                        <a:pt x="0" y="1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 name="16230356.8755912.754.1255">
                  <a:extLst>
                    <a:ext uri="{FF2B5EF4-FFF2-40B4-BE49-F238E27FC236}">
                      <a16:creationId xmlns:a16="http://schemas.microsoft.com/office/drawing/2014/main" id="{A51BC352-0392-AF82-587C-CBD663007745}"/>
                    </a:ext>
                  </a:extLst>
                </p:cNvPr>
                <p:cNvSpPr>
                  <a:spLocks/>
                </p:cNvSpPr>
                <p:nvPr/>
              </p:nvSpPr>
              <p:spPr bwMode="auto">
                <a:xfrm>
                  <a:off x="4283772" y="3507160"/>
                  <a:ext cx="51670" cy="33464"/>
                </a:xfrm>
                <a:custGeom>
                  <a:avLst/>
                  <a:gdLst>
                    <a:gd name="T0" fmla="*/ 0 w 102"/>
                    <a:gd name="T1" fmla="*/ 1 h 56"/>
                    <a:gd name="T2" fmla="*/ 1 w 102"/>
                    <a:gd name="T3" fmla="*/ 1 h 56"/>
                    <a:gd name="T4" fmla="*/ 1 w 102"/>
                    <a:gd name="T5" fmla="*/ 1 h 56"/>
                    <a:gd name="T6" fmla="*/ 1 w 102"/>
                    <a:gd name="T7" fmla="*/ 1 h 56"/>
                    <a:gd name="T8" fmla="*/ 1 w 102"/>
                    <a:gd name="T9" fmla="*/ 0 h 56"/>
                    <a:gd name="T10" fmla="*/ 0 w 102"/>
                    <a:gd name="T11" fmla="*/ 1 h 56"/>
                    <a:gd name="T12" fmla="*/ 0 60000 65536"/>
                    <a:gd name="T13" fmla="*/ 0 60000 65536"/>
                    <a:gd name="T14" fmla="*/ 0 60000 65536"/>
                    <a:gd name="T15" fmla="*/ 0 60000 65536"/>
                    <a:gd name="T16" fmla="*/ 0 60000 65536"/>
                    <a:gd name="T17" fmla="*/ 0 60000 65536"/>
                    <a:gd name="T18" fmla="*/ 0 w 102"/>
                    <a:gd name="T19" fmla="*/ 0 h 56"/>
                    <a:gd name="T20" fmla="*/ 102 w 102"/>
                    <a:gd name="T21" fmla="*/ 56 h 56"/>
                  </a:gdLst>
                  <a:ahLst/>
                  <a:cxnLst>
                    <a:cxn ang="T12">
                      <a:pos x="T0" y="T1"/>
                    </a:cxn>
                    <a:cxn ang="T13">
                      <a:pos x="T2" y="T3"/>
                    </a:cxn>
                    <a:cxn ang="T14">
                      <a:pos x="T4" y="T5"/>
                    </a:cxn>
                    <a:cxn ang="T15">
                      <a:pos x="T6" y="T7"/>
                    </a:cxn>
                    <a:cxn ang="T16">
                      <a:pos x="T8" y="T9"/>
                    </a:cxn>
                    <a:cxn ang="T17">
                      <a:pos x="T10" y="T11"/>
                    </a:cxn>
                  </a:cxnLst>
                  <a:rect l="T18" t="T19" r="T20" b="T21"/>
                  <a:pathLst>
                    <a:path w="102" h="56">
                      <a:moveTo>
                        <a:pt x="0" y="34"/>
                      </a:moveTo>
                      <a:lnTo>
                        <a:pt x="14" y="56"/>
                      </a:lnTo>
                      <a:lnTo>
                        <a:pt x="102" y="47"/>
                      </a:lnTo>
                      <a:lnTo>
                        <a:pt x="97" y="16"/>
                      </a:lnTo>
                      <a:lnTo>
                        <a:pt x="33" y="0"/>
                      </a:lnTo>
                      <a:lnTo>
                        <a:pt x="0" y="3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 name="16231419.25370.8752216.6255">
                  <a:extLst>
                    <a:ext uri="{FF2B5EF4-FFF2-40B4-BE49-F238E27FC236}">
                      <a16:creationId xmlns:a16="http://schemas.microsoft.com/office/drawing/2014/main" id="{B9CC8B91-B732-4E9B-9C2C-D03027BCDD36}"/>
                    </a:ext>
                  </a:extLst>
                </p:cNvPr>
                <p:cNvSpPr>
                  <a:spLocks/>
                </p:cNvSpPr>
                <p:nvPr/>
              </p:nvSpPr>
              <p:spPr bwMode="auto">
                <a:xfrm>
                  <a:off x="2120871" y="4281073"/>
                  <a:ext cx="202629" cy="261944"/>
                </a:xfrm>
                <a:custGeom>
                  <a:avLst/>
                  <a:gdLst>
                    <a:gd name="T0" fmla="*/ 0 w 399"/>
                    <a:gd name="T1" fmla="*/ 1 h 452"/>
                    <a:gd name="T2" fmla="*/ 1 w 399"/>
                    <a:gd name="T3" fmla="*/ 1 h 452"/>
                    <a:gd name="T4" fmla="*/ 1 w 399"/>
                    <a:gd name="T5" fmla="*/ 1 h 452"/>
                    <a:gd name="T6" fmla="*/ 1 w 399"/>
                    <a:gd name="T7" fmla="*/ 1 h 452"/>
                    <a:gd name="T8" fmla="*/ 1 w 399"/>
                    <a:gd name="T9" fmla="*/ 1 h 452"/>
                    <a:gd name="T10" fmla="*/ 1 w 399"/>
                    <a:gd name="T11" fmla="*/ 1 h 452"/>
                    <a:gd name="T12" fmla="*/ 1 w 399"/>
                    <a:gd name="T13" fmla="*/ 1 h 452"/>
                    <a:gd name="T14" fmla="*/ 1 w 399"/>
                    <a:gd name="T15" fmla="*/ 1 h 452"/>
                    <a:gd name="T16" fmla="*/ 1 w 399"/>
                    <a:gd name="T17" fmla="*/ 1 h 452"/>
                    <a:gd name="T18" fmla="*/ 1 w 399"/>
                    <a:gd name="T19" fmla="*/ 1 h 452"/>
                    <a:gd name="T20" fmla="*/ 1 w 399"/>
                    <a:gd name="T21" fmla="*/ 1 h 452"/>
                    <a:gd name="T22" fmla="*/ 1 w 399"/>
                    <a:gd name="T23" fmla="*/ 1 h 452"/>
                    <a:gd name="T24" fmla="*/ 1 w 399"/>
                    <a:gd name="T25" fmla="*/ 1 h 452"/>
                    <a:gd name="T26" fmla="*/ 1 w 399"/>
                    <a:gd name="T27" fmla="*/ 1 h 452"/>
                    <a:gd name="T28" fmla="*/ 1 w 399"/>
                    <a:gd name="T29" fmla="*/ 1 h 452"/>
                    <a:gd name="T30" fmla="*/ 1 w 399"/>
                    <a:gd name="T31" fmla="*/ 1 h 452"/>
                    <a:gd name="T32" fmla="*/ 1 w 399"/>
                    <a:gd name="T33" fmla="*/ 1 h 452"/>
                    <a:gd name="T34" fmla="*/ 1 w 399"/>
                    <a:gd name="T35" fmla="*/ 1 h 452"/>
                    <a:gd name="T36" fmla="*/ 1 w 399"/>
                    <a:gd name="T37" fmla="*/ 1 h 452"/>
                    <a:gd name="T38" fmla="*/ 1 w 399"/>
                    <a:gd name="T39" fmla="*/ 1 h 452"/>
                    <a:gd name="T40" fmla="*/ 1 w 399"/>
                    <a:gd name="T41" fmla="*/ 1 h 452"/>
                    <a:gd name="T42" fmla="*/ 1 w 399"/>
                    <a:gd name="T43" fmla="*/ 0 h 452"/>
                    <a:gd name="T44" fmla="*/ 1 w 399"/>
                    <a:gd name="T45" fmla="*/ 1 h 452"/>
                    <a:gd name="T46" fmla="*/ 0 w 399"/>
                    <a:gd name="T47" fmla="*/ 1 h 45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99"/>
                    <a:gd name="T73" fmla="*/ 0 h 452"/>
                    <a:gd name="T74" fmla="*/ 399 w 399"/>
                    <a:gd name="T75" fmla="*/ 452 h 45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99" h="452">
                      <a:moveTo>
                        <a:pt x="0" y="45"/>
                      </a:moveTo>
                      <a:lnTo>
                        <a:pt x="30" y="93"/>
                      </a:lnTo>
                      <a:lnTo>
                        <a:pt x="9" y="197"/>
                      </a:lnTo>
                      <a:lnTo>
                        <a:pt x="30" y="208"/>
                      </a:lnTo>
                      <a:lnTo>
                        <a:pt x="20" y="223"/>
                      </a:lnTo>
                      <a:lnTo>
                        <a:pt x="2" y="265"/>
                      </a:lnTo>
                      <a:lnTo>
                        <a:pt x="37" y="326"/>
                      </a:lnTo>
                      <a:lnTo>
                        <a:pt x="57" y="450"/>
                      </a:lnTo>
                      <a:lnTo>
                        <a:pt x="81" y="452"/>
                      </a:lnTo>
                      <a:lnTo>
                        <a:pt x="116" y="414"/>
                      </a:lnTo>
                      <a:lnTo>
                        <a:pt x="178" y="445"/>
                      </a:lnTo>
                      <a:lnTo>
                        <a:pt x="182" y="423"/>
                      </a:lnTo>
                      <a:lnTo>
                        <a:pt x="236" y="432"/>
                      </a:lnTo>
                      <a:lnTo>
                        <a:pt x="257" y="342"/>
                      </a:lnTo>
                      <a:lnTo>
                        <a:pt x="354" y="326"/>
                      </a:lnTo>
                      <a:lnTo>
                        <a:pt x="387" y="356"/>
                      </a:lnTo>
                      <a:lnTo>
                        <a:pt x="399" y="287"/>
                      </a:lnTo>
                      <a:lnTo>
                        <a:pt x="378" y="228"/>
                      </a:lnTo>
                      <a:lnTo>
                        <a:pt x="321" y="224"/>
                      </a:lnTo>
                      <a:lnTo>
                        <a:pt x="298" y="135"/>
                      </a:lnTo>
                      <a:lnTo>
                        <a:pt x="149" y="75"/>
                      </a:lnTo>
                      <a:lnTo>
                        <a:pt x="141" y="0"/>
                      </a:lnTo>
                      <a:lnTo>
                        <a:pt x="41" y="48"/>
                      </a:lnTo>
                      <a:lnTo>
                        <a:pt x="0" y="4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 name="16232373.625343.8754.251.1255">
                  <a:extLst>
                    <a:ext uri="{FF2B5EF4-FFF2-40B4-BE49-F238E27FC236}">
                      <a16:creationId xmlns:a16="http://schemas.microsoft.com/office/drawing/2014/main" id="{34715353-8A5F-16BA-D1D4-300339455BA1}"/>
                    </a:ext>
                  </a:extLst>
                </p:cNvPr>
                <p:cNvSpPr>
                  <a:spLocks/>
                </p:cNvSpPr>
                <p:nvPr/>
              </p:nvSpPr>
              <p:spPr bwMode="auto">
                <a:xfrm>
                  <a:off x="1791598" y="3739875"/>
                  <a:ext cx="13171" cy="50773"/>
                </a:xfrm>
                <a:custGeom>
                  <a:avLst/>
                  <a:gdLst>
                    <a:gd name="T0" fmla="*/ 0 w 28"/>
                    <a:gd name="T1" fmla="*/ 1 h 88"/>
                    <a:gd name="T2" fmla="*/ 0 w 28"/>
                    <a:gd name="T3" fmla="*/ 1 h 88"/>
                    <a:gd name="T4" fmla="*/ 0 w 28"/>
                    <a:gd name="T5" fmla="*/ 0 h 88"/>
                    <a:gd name="T6" fmla="*/ 0 w 28"/>
                    <a:gd name="T7" fmla="*/ 1 h 88"/>
                    <a:gd name="T8" fmla="*/ 0 60000 65536"/>
                    <a:gd name="T9" fmla="*/ 0 60000 65536"/>
                    <a:gd name="T10" fmla="*/ 0 60000 65536"/>
                    <a:gd name="T11" fmla="*/ 0 60000 65536"/>
                    <a:gd name="T12" fmla="*/ 0 w 28"/>
                    <a:gd name="T13" fmla="*/ 0 h 88"/>
                    <a:gd name="T14" fmla="*/ 28 w 28"/>
                    <a:gd name="T15" fmla="*/ 88 h 88"/>
                  </a:gdLst>
                  <a:ahLst/>
                  <a:cxnLst>
                    <a:cxn ang="T8">
                      <a:pos x="T0" y="T1"/>
                    </a:cxn>
                    <a:cxn ang="T9">
                      <a:pos x="T2" y="T3"/>
                    </a:cxn>
                    <a:cxn ang="T10">
                      <a:pos x="T4" y="T5"/>
                    </a:cxn>
                    <a:cxn ang="T11">
                      <a:pos x="T6" y="T7"/>
                    </a:cxn>
                  </a:cxnLst>
                  <a:rect l="T12" t="T13" r="T14" b="T15"/>
                  <a:pathLst>
                    <a:path w="28" h="88">
                      <a:moveTo>
                        <a:pt x="0" y="20"/>
                      </a:moveTo>
                      <a:lnTo>
                        <a:pt x="11" y="88"/>
                      </a:lnTo>
                      <a:lnTo>
                        <a:pt x="28" y="0"/>
                      </a:lnTo>
                      <a:lnTo>
                        <a:pt x="0" y="2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 name="16233395.625625.8751.6251.6255">
                  <a:extLst>
                    <a:ext uri="{FF2B5EF4-FFF2-40B4-BE49-F238E27FC236}">
                      <a16:creationId xmlns:a16="http://schemas.microsoft.com/office/drawing/2014/main" id="{6C6011CF-5D52-2495-53AB-715BE2312BD5}"/>
                    </a:ext>
                  </a:extLst>
                </p:cNvPr>
                <p:cNvSpPr>
                  <a:spLocks/>
                </p:cNvSpPr>
                <p:nvPr/>
              </p:nvSpPr>
              <p:spPr bwMode="auto">
                <a:xfrm>
                  <a:off x="4709295" y="3966427"/>
                  <a:ext cx="20263" cy="19617"/>
                </a:xfrm>
                <a:custGeom>
                  <a:avLst/>
                  <a:gdLst>
                    <a:gd name="T0" fmla="*/ 0 w 40"/>
                    <a:gd name="T1" fmla="*/ 1 h 34"/>
                    <a:gd name="T2" fmla="*/ 1 w 40"/>
                    <a:gd name="T3" fmla="*/ 1 h 34"/>
                    <a:gd name="T4" fmla="*/ 1 w 40"/>
                    <a:gd name="T5" fmla="*/ 0 h 34"/>
                    <a:gd name="T6" fmla="*/ 0 w 40"/>
                    <a:gd name="T7" fmla="*/ 1 h 34"/>
                    <a:gd name="T8" fmla="*/ 0 60000 65536"/>
                    <a:gd name="T9" fmla="*/ 0 60000 65536"/>
                    <a:gd name="T10" fmla="*/ 0 60000 65536"/>
                    <a:gd name="T11" fmla="*/ 0 60000 65536"/>
                    <a:gd name="T12" fmla="*/ 0 w 40"/>
                    <a:gd name="T13" fmla="*/ 0 h 34"/>
                    <a:gd name="T14" fmla="*/ 40 w 40"/>
                    <a:gd name="T15" fmla="*/ 34 h 34"/>
                  </a:gdLst>
                  <a:ahLst/>
                  <a:cxnLst>
                    <a:cxn ang="T8">
                      <a:pos x="T0" y="T1"/>
                    </a:cxn>
                    <a:cxn ang="T9">
                      <a:pos x="T2" y="T3"/>
                    </a:cxn>
                    <a:cxn ang="T10">
                      <a:pos x="T4" y="T5"/>
                    </a:cxn>
                    <a:cxn ang="T11">
                      <a:pos x="T6" y="T7"/>
                    </a:cxn>
                  </a:cxnLst>
                  <a:rect l="T12" t="T13" r="T14" b="T15"/>
                  <a:pathLst>
                    <a:path w="40" h="34">
                      <a:moveTo>
                        <a:pt x="0" y="15"/>
                      </a:moveTo>
                      <a:lnTo>
                        <a:pt x="21" y="34"/>
                      </a:lnTo>
                      <a:lnTo>
                        <a:pt x="40" y="0"/>
                      </a:lnTo>
                      <a:lnTo>
                        <a:pt x="0" y="1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 name="16234357.125595.62530.12512.55">
                  <a:extLst>
                    <a:ext uri="{FF2B5EF4-FFF2-40B4-BE49-F238E27FC236}">
                      <a16:creationId xmlns:a16="http://schemas.microsoft.com/office/drawing/2014/main" id="{BA271BE4-70A4-AFFA-C503-CFBDA7E3C2C3}"/>
                    </a:ext>
                  </a:extLst>
                </p:cNvPr>
                <p:cNvSpPr>
                  <a:spLocks/>
                </p:cNvSpPr>
                <p:nvPr/>
              </p:nvSpPr>
              <p:spPr bwMode="auto">
                <a:xfrm>
                  <a:off x="4340509" y="3510621"/>
                  <a:ext cx="151972" cy="357721"/>
                </a:xfrm>
                <a:custGeom>
                  <a:avLst/>
                  <a:gdLst>
                    <a:gd name="T0" fmla="*/ 0 w 301"/>
                    <a:gd name="T1" fmla="*/ 1 h 619"/>
                    <a:gd name="T2" fmla="*/ 0 w 301"/>
                    <a:gd name="T3" fmla="*/ 1 h 619"/>
                    <a:gd name="T4" fmla="*/ 0 w 301"/>
                    <a:gd name="T5" fmla="*/ 1 h 619"/>
                    <a:gd name="T6" fmla="*/ 0 w 301"/>
                    <a:gd name="T7" fmla="*/ 1 h 619"/>
                    <a:gd name="T8" fmla="*/ 0 w 301"/>
                    <a:gd name="T9" fmla="*/ 0 h 619"/>
                    <a:gd name="T10" fmla="*/ 0 w 301"/>
                    <a:gd name="T11" fmla="*/ 1 h 619"/>
                    <a:gd name="T12" fmla="*/ 0 w 301"/>
                    <a:gd name="T13" fmla="*/ 1 h 619"/>
                    <a:gd name="T14" fmla="*/ 0 w 301"/>
                    <a:gd name="T15" fmla="*/ 1 h 619"/>
                    <a:gd name="T16" fmla="*/ 0 w 301"/>
                    <a:gd name="T17" fmla="*/ 1 h 619"/>
                    <a:gd name="T18" fmla="*/ 0 w 301"/>
                    <a:gd name="T19" fmla="*/ 1 h 619"/>
                    <a:gd name="T20" fmla="*/ 0 w 301"/>
                    <a:gd name="T21" fmla="*/ 1 h 619"/>
                    <a:gd name="T22" fmla="*/ 0 w 301"/>
                    <a:gd name="T23" fmla="*/ 1 h 619"/>
                    <a:gd name="T24" fmla="*/ 0 w 301"/>
                    <a:gd name="T25" fmla="*/ 1 h 619"/>
                    <a:gd name="T26" fmla="*/ 0 w 301"/>
                    <a:gd name="T27" fmla="*/ 1 h 619"/>
                    <a:gd name="T28" fmla="*/ 0 w 301"/>
                    <a:gd name="T29" fmla="*/ 1 h 619"/>
                    <a:gd name="T30" fmla="*/ 0 w 301"/>
                    <a:gd name="T31" fmla="*/ 1 h 619"/>
                    <a:gd name="T32" fmla="*/ 0 w 301"/>
                    <a:gd name="T33" fmla="*/ 1 h 619"/>
                    <a:gd name="T34" fmla="*/ 0 w 301"/>
                    <a:gd name="T35" fmla="*/ 1 h 619"/>
                    <a:gd name="T36" fmla="*/ 0 w 301"/>
                    <a:gd name="T37" fmla="*/ 1 h 619"/>
                    <a:gd name="T38" fmla="*/ 0 w 301"/>
                    <a:gd name="T39" fmla="*/ 1 h 619"/>
                    <a:gd name="T40" fmla="*/ 0 w 301"/>
                    <a:gd name="T41" fmla="*/ 1 h 619"/>
                    <a:gd name="T42" fmla="*/ 0 w 301"/>
                    <a:gd name="T43" fmla="*/ 1 h 619"/>
                    <a:gd name="T44" fmla="*/ 0 w 301"/>
                    <a:gd name="T45" fmla="*/ 1 h 619"/>
                    <a:gd name="T46" fmla="*/ 0 w 301"/>
                    <a:gd name="T47" fmla="*/ 1 h 61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01"/>
                    <a:gd name="T73" fmla="*/ 0 h 619"/>
                    <a:gd name="T74" fmla="*/ 301 w 301"/>
                    <a:gd name="T75" fmla="*/ 619 h 61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01" h="619">
                      <a:moveTo>
                        <a:pt x="0" y="255"/>
                      </a:moveTo>
                      <a:lnTo>
                        <a:pt x="13" y="219"/>
                      </a:lnTo>
                      <a:lnTo>
                        <a:pt x="100" y="58"/>
                      </a:lnTo>
                      <a:lnTo>
                        <a:pt x="159" y="36"/>
                      </a:lnTo>
                      <a:lnTo>
                        <a:pt x="173" y="0"/>
                      </a:lnTo>
                      <a:lnTo>
                        <a:pt x="214" y="21"/>
                      </a:lnTo>
                      <a:lnTo>
                        <a:pt x="215" y="53"/>
                      </a:lnTo>
                      <a:lnTo>
                        <a:pt x="180" y="152"/>
                      </a:lnTo>
                      <a:lnTo>
                        <a:pt x="218" y="143"/>
                      </a:lnTo>
                      <a:lnTo>
                        <a:pt x="237" y="211"/>
                      </a:lnTo>
                      <a:lnTo>
                        <a:pt x="301" y="229"/>
                      </a:lnTo>
                      <a:lnTo>
                        <a:pt x="269" y="260"/>
                      </a:lnTo>
                      <a:lnTo>
                        <a:pt x="198" y="302"/>
                      </a:lnTo>
                      <a:lnTo>
                        <a:pt x="180" y="342"/>
                      </a:lnTo>
                      <a:lnTo>
                        <a:pt x="218" y="417"/>
                      </a:lnTo>
                      <a:lnTo>
                        <a:pt x="203" y="461"/>
                      </a:lnTo>
                      <a:lnTo>
                        <a:pt x="250" y="560"/>
                      </a:lnTo>
                      <a:lnTo>
                        <a:pt x="215" y="619"/>
                      </a:lnTo>
                      <a:lnTo>
                        <a:pt x="181" y="408"/>
                      </a:lnTo>
                      <a:lnTo>
                        <a:pt x="152" y="375"/>
                      </a:lnTo>
                      <a:lnTo>
                        <a:pt x="104" y="431"/>
                      </a:lnTo>
                      <a:lnTo>
                        <a:pt x="67" y="420"/>
                      </a:lnTo>
                      <a:lnTo>
                        <a:pt x="74" y="343"/>
                      </a:lnTo>
                      <a:lnTo>
                        <a:pt x="0" y="25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 name="16235379.875609.875775">
                  <a:extLst>
                    <a:ext uri="{FF2B5EF4-FFF2-40B4-BE49-F238E27FC236}">
                      <a16:creationId xmlns:a16="http://schemas.microsoft.com/office/drawing/2014/main" id="{9B265D2E-0BFD-B7C7-25D3-E4115CAD8291}"/>
                    </a:ext>
                  </a:extLst>
                </p:cNvPr>
                <p:cNvSpPr>
                  <a:spLocks/>
                </p:cNvSpPr>
                <p:nvPr/>
              </p:nvSpPr>
              <p:spPr bwMode="auto">
                <a:xfrm>
                  <a:off x="4514771" y="3779489"/>
                  <a:ext cx="85104" cy="83084"/>
                </a:xfrm>
                <a:custGeom>
                  <a:avLst/>
                  <a:gdLst>
                    <a:gd name="T0" fmla="*/ 0 w 167"/>
                    <a:gd name="T1" fmla="*/ 1 h 143"/>
                    <a:gd name="T2" fmla="*/ 1 w 167"/>
                    <a:gd name="T3" fmla="*/ 1 h 143"/>
                    <a:gd name="T4" fmla="*/ 1 w 167"/>
                    <a:gd name="T5" fmla="*/ 1 h 143"/>
                    <a:gd name="T6" fmla="*/ 1 w 167"/>
                    <a:gd name="T7" fmla="*/ 1 h 143"/>
                    <a:gd name="T8" fmla="*/ 1 w 167"/>
                    <a:gd name="T9" fmla="*/ 1 h 143"/>
                    <a:gd name="T10" fmla="*/ 1 w 167"/>
                    <a:gd name="T11" fmla="*/ 0 h 143"/>
                    <a:gd name="T12" fmla="*/ 1 w 167"/>
                    <a:gd name="T13" fmla="*/ 1 h 143"/>
                    <a:gd name="T14" fmla="*/ 1 w 167"/>
                    <a:gd name="T15" fmla="*/ 1 h 143"/>
                    <a:gd name="T16" fmla="*/ 0 w 167"/>
                    <a:gd name="T17" fmla="*/ 1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7"/>
                    <a:gd name="T28" fmla="*/ 0 h 143"/>
                    <a:gd name="T29" fmla="*/ 167 w 167"/>
                    <a:gd name="T30" fmla="*/ 143 h 1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7" h="143">
                      <a:moveTo>
                        <a:pt x="0" y="29"/>
                      </a:moveTo>
                      <a:lnTo>
                        <a:pt x="12" y="100"/>
                      </a:lnTo>
                      <a:lnTo>
                        <a:pt x="34" y="137"/>
                      </a:lnTo>
                      <a:lnTo>
                        <a:pt x="67" y="143"/>
                      </a:lnTo>
                      <a:lnTo>
                        <a:pt x="167" y="77"/>
                      </a:lnTo>
                      <a:lnTo>
                        <a:pt x="163" y="0"/>
                      </a:lnTo>
                      <a:lnTo>
                        <a:pt x="88" y="12"/>
                      </a:lnTo>
                      <a:lnTo>
                        <a:pt x="23" y="9"/>
                      </a:lnTo>
                      <a:lnTo>
                        <a:pt x="0" y="2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3" name="16236261.125271.87570.75118.6255">
                  <a:extLst>
                    <a:ext uri="{FF2B5EF4-FFF2-40B4-BE49-F238E27FC236}">
                      <a16:creationId xmlns:a16="http://schemas.microsoft.com/office/drawing/2014/main" id="{CAB04949-D6FE-FE0E-6320-EF8E68146B4D}"/>
                    </a:ext>
                  </a:extLst>
                </p:cNvPr>
                <p:cNvSpPr>
                  <a:spLocks/>
                </p:cNvSpPr>
                <p:nvPr/>
              </p:nvSpPr>
              <p:spPr bwMode="auto">
                <a:xfrm>
                  <a:off x="914213" y="2405923"/>
                  <a:ext cx="1444748" cy="838913"/>
                </a:xfrm>
                <a:custGeom>
                  <a:avLst/>
                  <a:gdLst>
                    <a:gd name="T0" fmla="*/ 1 w 2850"/>
                    <a:gd name="T1" fmla="*/ 1 h 1454"/>
                    <a:gd name="T2" fmla="*/ 1 w 2850"/>
                    <a:gd name="T3" fmla="*/ 1 h 1454"/>
                    <a:gd name="T4" fmla="*/ 1 w 2850"/>
                    <a:gd name="T5" fmla="*/ 1 h 1454"/>
                    <a:gd name="T6" fmla="*/ 1 w 2850"/>
                    <a:gd name="T7" fmla="*/ 1 h 1454"/>
                    <a:gd name="T8" fmla="*/ 1 w 2850"/>
                    <a:gd name="T9" fmla="*/ 1 h 1454"/>
                    <a:gd name="T10" fmla="*/ 1 w 2850"/>
                    <a:gd name="T11" fmla="*/ 1 h 1454"/>
                    <a:gd name="T12" fmla="*/ 1 w 2850"/>
                    <a:gd name="T13" fmla="*/ 1 h 1454"/>
                    <a:gd name="T14" fmla="*/ 1 w 2850"/>
                    <a:gd name="T15" fmla="*/ 1 h 1454"/>
                    <a:gd name="T16" fmla="*/ 1 w 2850"/>
                    <a:gd name="T17" fmla="*/ 1 h 1454"/>
                    <a:gd name="T18" fmla="*/ 1 w 2850"/>
                    <a:gd name="T19" fmla="*/ 1 h 1454"/>
                    <a:gd name="T20" fmla="*/ 1 w 2850"/>
                    <a:gd name="T21" fmla="*/ 1 h 1454"/>
                    <a:gd name="T22" fmla="*/ 1 w 2850"/>
                    <a:gd name="T23" fmla="*/ 1 h 1454"/>
                    <a:gd name="T24" fmla="*/ 1 w 2850"/>
                    <a:gd name="T25" fmla="*/ 0 h 1454"/>
                    <a:gd name="T26" fmla="*/ 1 w 2850"/>
                    <a:gd name="T27" fmla="*/ 1 h 1454"/>
                    <a:gd name="T28" fmla="*/ 1 w 2850"/>
                    <a:gd name="T29" fmla="*/ 1 h 1454"/>
                    <a:gd name="T30" fmla="*/ 1 w 2850"/>
                    <a:gd name="T31" fmla="*/ 1 h 1454"/>
                    <a:gd name="T32" fmla="*/ 1 w 2850"/>
                    <a:gd name="T33" fmla="*/ 1 h 1454"/>
                    <a:gd name="T34" fmla="*/ 1 w 2850"/>
                    <a:gd name="T35" fmla="*/ 1 h 1454"/>
                    <a:gd name="T36" fmla="*/ 1 w 2850"/>
                    <a:gd name="T37" fmla="*/ 1 h 1454"/>
                    <a:gd name="T38" fmla="*/ 1 w 2850"/>
                    <a:gd name="T39" fmla="*/ 1 h 1454"/>
                    <a:gd name="T40" fmla="*/ 1 w 2850"/>
                    <a:gd name="T41" fmla="*/ 1 h 1454"/>
                    <a:gd name="T42" fmla="*/ 1 w 2850"/>
                    <a:gd name="T43" fmla="*/ 1 h 1454"/>
                    <a:gd name="T44" fmla="*/ 1 w 2850"/>
                    <a:gd name="T45" fmla="*/ 1 h 1454"/>
                    <a:gd name="T46" fmla="*/ 1 w 2850"/>
                    <a:gd name="T47" fmla="*/ 1 h 1454"/>
                    <a:gd name="T48" fmla="*/ 1 w 2850"/>
                    <a:gd name="T49" fmla="*/ 1 h 1454"/>
                    <a:gd name="T50" fmla="*/ 1 w 2850"/>
                    <a:gd name="T51" fmla="*/ 1 h 1454"/>
                    <a:gd name="T52" fmla="*/ 1 w 2850"/>
                    <a:gd name="T53" fmla="*/ 1 h 1454"/>
                    <a:gd name="T54" fmla="*/ 1 w 2850"/>
                    <a:gd name="T55" fmla="*/ 1 h 1454"/>
                    <a:gd name="T56" fmla="*/ 1 w 2850"/>
                    <a:gd name="T57" fmla="*/ 1 h 1454"/>
                    <a:gd name="T58" fmla="*/ 1 w 2850"/>
                    <a:gd name="T59" fmla="*/ 1 h 1454"/>
                    <a:gd name="T60" fmla="*/ 1 w 2850"/>
                    <a:gd name="T61" fmla="*/ 1 h 1454"/>
                    <a:gd name="T62" fmla="*/ 1 w 2850"/>
                    <a:gd name="T63" fmla="*/ 1 h 1454"/>
                    <a:gd name="T64" fmla="*/ 1 w 2850"/>
                    <a:gd name="T65" fmla="*/ 1 h 1454"/>
                    <a:gd name="T66" fmla="*/ 1 w 2850"/>
                    <a:gd name="T67" fmla="*/ 1 h 1454"/>
                    <a:gd name="T68" fmla="*/ 1 w 2850"/>
                    <a:gd name="T69" fmla="*/ 1 h 1454"/>
                    <a:gd name="T70" fmla="*/ 1 w 2850"/>
                    <a:gd name="T71" fmla="*/ 1 h 1454"/>
                    <a:gd name="T72" fmla="*/ 1 w 2850"/>
                    <a:gd name="T73" fmla="*/ 1 h 1454"/>
                    <a:gd name="T74" fmla="*/ 1 w 2850"/>
                    <a:gd name="T75" fmla="*/ 1 h 1454"/>
                    <a:gd name="T76" fmla="*/ 1 w 2850"/>
                    <a:gd name="T77" fmla="*/ 1 h 1454"/>
                    <a:gd name="T78" fmla="*/ 1 w 2850"/>
                    <a:gd name="T79" fmla="*/ 1 h 1454"/>
                    <a:gd name="T80" fmla="*/ 1 w 2850"/>
                    <a:gd name="T81" fmla="*/ 1 h 1454"/>
                    <a:gd name="T82" fmla="*/ 1 w 2850"/>
                    <a:gd name="T83" fmla="*/ 1 h 1454"/>
                    <a:gd name="T84" fmla="*/ 1 w 2850"/>
                    <a:gd name="T85" fmla="*/ 1 h 1454"/>
                    <a:gd name="T86" fmla="*/ 1 w 2850"/>
                    <a:gd name="T87" fmla="*/ 1 h 1454"/>
                    <a:gd name="T88" fmla="*/ 1 w 2850"/>
                    <a:gd name="T89" fmla="*/ 1 h 1454"/>
                    <a:gd name="T90" fmla="*/ 1 w 2850"/>
                    <a:gd name="T91" fmla="*/ 1 h 1454"/>
                    <a:gd name="T92" fmla="*/ 1 w 2850"/>
                    <a:gd name="T93" fmla="*/ 1 h 1454"/>
                    <a:gd name="T94" fmla="*/ 1 w 2850"/>
                    <a:gd name="T95" fmla="*/ 1 h 1454"/>
                    <a:gd name="T96" fmla="*/ 1 w 2850"/>
                    <a:gd name="T97" fmla="*/ 1 h 1454"/>
                    <a:gd name="T98" fmla="*/ 1 w 2850"/>
                    <a:gd name="T99" fmla="*/ 1 h 1454"/>
                    <a:gd name="T100" fmla="*/ 1 w 2850"/>
                    <a:gd name="T101" fmla="*/ 1 h 1454"/>
                    <a:gd name="T102" fmla="*/ 1 w 2850"/>
                    <a:gd name="T103" fmla="*/ 1 h 1454"/>
                    <a:gd name="T104" fmla="*/ 1 w 2850"/>
                    <a:gd name="T105" fmla="*/ 1 h 1454"/>
                    <a:gd name="T106" fmla="*/ 1 w 2850"/>
                    <a:gd name="T107" fmla="*/ 1 h 1454"/>
                    <a:gd name="T108" fmla="*/ 1 w 2850"/>
                    <a:gd name="T109" fmla="*/ 1 h 1454"/>
                    <a:gd name="T110" fmla="*/ 1 w 2850"/>
                    <a:gd name="T111" fmla="*/ 1 h 1454"/>
                    <a:gd name="T112" fmla="*/ 1 w 2850"/>
                    <a:gd name="T113" fmla="*/ 1 h 1454"/>
                    <a:gd name="T114" fmla="*/ 1 w 2850"/>
                    <a:gd name="T115" fmla="*/ 1 h 1454"/>
                    <a:gd name="T116" fmla="*/ 1 w 2850"/>
                    <a:gd name="T117" fmla="*/ 1 h 1454"/>
                    <a:gd name="T118" fmla="*/ 1 w 2850"/>
                    <a:gd name="T119" fmla="*/ 1 h 145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850"/>
                    <a:gd name="T181" fmla="*/ 0 h 1454"/>
                    <a:gd name="T182" fmla="*/ 2850 w 2850"/>
                    <a:gd name="T183" fmla="*/ 1454 h 145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850" h="1454">
                      <a:moveTo>
                        <a:pt x="0" y="645"/>
                      </a:moveTo>
                      <a:lnTo>
                        <a:pt x="0" y="135"/>
                      </a:lnTo>
                      <a:lnTo>
                        <a:pt x="227" y="202"/>
                      </a:lnTo>
                      <a:lnTo>
                        <a:pt x="214" y="175"/>
                      </a:lnTo>
                      <a:lnTo>
                        <a:pt x="238" y="158"/>
                      </a:lnTo>
                      <a:lnTo>
                        <a:pt x="376" y="103"/>
                      </a:lnTo>
                      <a:lnTo>
                        <a:pt x="269" y="171"/>
                      </a:lnTo>
                      <a:lnTo>
                        <a:pt x="331" y="151"/>
                      </a:lnTo>
                      <a:lnTo>
                        <a:pt x="331" y="165"/>
                      </a:lnTo>
                      <a:lnTo>
                        <a:pt x="447" y="105"/>
                      </a:lnTo>
                      <a:lnTo>
                        <a:pt x="431" y="85"/>
                      </a:lnTo>
                      <a:lnTo>
                        <a:pt x="507" y="157"/>
                      </a:lnTo>
                      <a:lnTo>
                        <a:pt x="555" y="114"/>
                      </a:lnTo>
                      <a:lnTo>
                        <a:pt x="551" y="157"/>
                      </a:lnTo>
                      <a:lnTo>
                        <a:pt x="611" y="127"/>
                      </a:lnTo>
                      <a:lnTo>
                        <a:pt x="781" y="179"/>
                      </a:lnTo>
                      <a:lnTo>
                        <a:pt x="857" y="178"/>
                      </a:lnTo>
                      <a:lnTo>
                        <a:pt x="901" y="208"/>
                      </a:lnTo>
                      <a:lnTo>
                        <a:pt x="849" y="234"/>
                      </a:lnTo>
                      <a:lnTo>
                        <a:pt x="879" y="245"/>
                      </a:lnTo>
                      <a:lnTo>
                        <a:pt x="1032" y="231"/>
                      </a:lnTo>
                      <a:lnTo>
                        <a:pt x="1099" y="274"/>
                      </a:lnTo>
                      <a:lnTo>
                        <a:pt x="1108" y="303"/>
                      </a:lnTo>
                      <a:lnTo>
                        <a:pt x="1125" y="284"/>
                      </a:lnTo>
                      <a:lnTo>
                        <a:pt x="1099" y="245"/>
                      </a:lnTo>
                      <a:lnTo>
                        <a:pt x="1171" y="197"/>
                      </a:lnTo>
                      <a:lnTo>
                        <a:pt x="1101" y="227"/>
                      </a:lnTo>
                      <a:lnTo>
                        <a:pt x="1076" y="213"/>
                      </a:lnTo>
                      <a:lnTo>
                        <a:pt x="1163" y="176"/>
                      </a:lnTo>
                      <a:lnTo>
                        <a:pt x="1209" y="229"/>
                      </a:lnTo>
                      <a:lnTo>
                        <a:pt x="1259" y="227"/>
                      </a:lnTo>
                      <a:lnTo>
                        <a:pt x="1290" y="251"/>
                      </a:lnTo>
                      <a:lnTo>
                        <a:pt x="1424" y="245"/>
                      </a:lnTo>
                      <a:lnTo>
                        <a:pt x="1420" y="229"/>
                      </a:lnTo>
                      <a:lnTo>
                        <a:pt x="1457" y="259"/>
                      </a:lnTo>
                      <a:lnTo>
                        <a:pt x="1462" y="234"/>
                      </a:lnTo>
                      <a:lnTo>
                        <a:pt x="1433" y="242"/>
                      </a:lnTo>
                      <a:lnTo>
                        <a:pt x="1411" y="212"/>
                      </a:lnTo>
                      <a:lnTo>
                        <a:pt x="1461" y="208"/>
                      </a:lnTo>
                      <a:lnTo>
                        <a:pt x="1480" y="231"/>
                      </a:lnTo>
                      <a:lnTo>
                        <a:pt x="1499" y="224"/>
                      </a:lnTo>
                      <a:lnTo>
                        <a:pt x="1491" y="260"/>
                      </a:lnTo>
                      <a:lnTo>
                        <a:pt x="1527" y="279"/>
                      </a:lnTo>
                      <a:lnTo>
                        <a:pt x="1517" y="229"/>
                      </a:lnTo>
                      <a:lnTo>
                        <a:pt x="1584" y="200"/>
                      </a:lnTo>
                      <a:lnTo>
                        <a:pt x="1567" y="175"/>
                      </a:lnTo>
                      <a:lnTo>
                        <a:pt x="1547" y="193"/>
                      </a:lnTo>
                      <a:lnTo>
                        <a:pt x="1580" y="149"/>
                      </a:lnTo>
                      <a:lnTo>
                        <a:pt x="1484" y="117"/>
                      </a:lnTo>
                      <a:lnTo>
                        <a:pt x="1494" y="43"/>
                      </a:lnTo>
                      <a:lnTo>
                        <a:pt x="1517" y="44"/>
                      </a:lnTo>
                      <a:lnTo>
                        <a:pt x="1530" y="0"/>
                      </a:lnTo>
                      <a:lnTo>
                        <a:pt x="1602" y="43"/>
                      </a:lnTo>
                      <a:lnTo>
                        <a:pt x="1604" y="70"/>
                      </a:lnTo>
                      <a:lnTo>
                        <a:pt x="1653" y="109"/>
                      </a:lnTo>
                      <a:lnTo>
                        <a:pt x="1622" y="107"/>
                      </a:lnTo>
                      <a:lnTo>
                        <a:pt x="1635" y="121"/>
                      </a:lnTo>
                      <a:lnTo>
                        <a:pt x="1616" y="138"/>
                      </a:lnTo>
                      <a:lnTo>
                        <a:pt x="1675" y="149"/>
                      </a:lnTo>
                      <a:lnTo>
                        <a:pt x="1657" y="157"/>
                      </a:lnTo>
                      <a:lnTo>
                        <a:pt x="1692" y="220"/>
                      </a:lnTo>
                      <a:lnTo>
                        <a:pt x="1722" y="164"/>
                      </a:lnTo>
                      <a:lnTo>
                        <a:pt x="1765" y="186"/>
                      </a:lnTo>
                      <a:lnTo>
                        <a:pt x="1776" y="223"/>
                      </a:lnTo>
                      <a:lnTo>
                        <a:pt x="1755" y="234"/>
                      </a:lnTo>
                      <a:lnTo>
                        <a:pt x="1793" y="279"/>
                      </a:lnTo>
                      <a:lnTo>
                        <a:pt x="1817" y="268"/>
                      </a:lnTo>
                      <a:lnTo>
                        <a:pt x="1847" y="198"/>
                      </a:lnTo>
                      <a:lnTo>
                        <a:pt x="1881" y="191"/>
                      </a:lnTo>
                      <a:lnTo>
                        <a:pt x="1855" y="131"/>
                      </a:lnTo>
                      <a:lnTo>
                        <a:pt x="1950" y="136"/>
                      </a:lnTo>
                      <a:lnTo>
                        <a:pt x="1990" y="171"/>
                      </a:lnTo>
                      <a:lnTo>
                        <a:pt x="1975" y="189"/>
                      </a:lnTo>
                      <a:lnTo>
                        <a:pt x="1993" y="198"/>
                      </a:lnTo>
                      <a:lnTo>
                        <a:pt x="1951" y="209"/>
                      </a:lnTo>
                      <a:lnTo>
                        <a:pt x="1989" y="286"/>
                      </a:lnTo>
                      <a:lnTo>
                        <a:pt x="1927" y="328"/>
                      </a:lnTo>
                      <a:lnTo>
                        <a:pt x="1905" y="308"/>
                      </a:lnTo>
                      <a:lnTo>
                        <a:pt x="1914" y="336"/>
                      </a:lnTo>
                      <a:lnTo>
                        <a:pt x="1818" y="317"/>
                      </a:lnTo>
                      <a:lnTo>
                        <a:pt x="1837" y="343"/>
                      </a:lnTo>
                      <a:lnTo>
                        <a:pt x="1799" y="381"/>
                      </a:lnTo>
                      <a:lnTo>
                        <a:pt x="1701" y="351"/>
                      </a:lnTo>
                      <a:lnTo>
                        <a:pt x="1737" y="383"/>
                      </a:lnTo>
                      <a:lnTo>
                        <a:pt x="1807" y="389"/>
                      </a:lnTo>
                      <a:lnTo>
                        <a:pt x="1759" y="453"/>
                      </a:lnTo>
                      <a:lnTo>
                        <a:pt x="1707" y="449"/>
                      </a:lnTo>
                      <a:lnTo>
                        <a:pt x="1682" y="483"/>
                      </a:lnTo>
                      <a:lnTo>
                        <a:pt x="1590" y="454"/>
                      </a:lnTo>
                      <a:lnTo>
                        <a:pt x="1675" y="483"/>
                      </a:lnTo>
                      <a:lnTo>
                        <a:pt x="1685" y="509"/>
                      </a:lnTo>
                      <a:lnTo>
                        <a:pt x="1622" y="520"/>
                      </a:lnTo>
                      <a:lnTo>
                        <a:pt x="1635" y="527"/>
                      </a:lnTo>
                      <a:lnTo>
                        <a:pt x="1617" y="528"/>
                      </a:lnTo>
                      <a:lnTo>
                        <a:pt x="1617" y="554"/>
                      </a:lnTo>
                      <a:lnTo>
                        <a:pt x="1549" y="590"/>
                      </a:lnTo>
                      <a:lnTo>
                        <a:pt x="1535" y="707"/>
                      </a:lnTo>
                      <a:lnTo>
                        <a:pt x="1561" y="733"/>
                      </a:lnTo>
                      <a:lnTo>
                        <a:pt x="1597" y="718"/>
                      </a:lnTo>
                      <a:lnTo>
                        <a:pt x="1613" y="808"/>
                      </a:lnTo>
                      <a:lnTo>
                        <a:pt x="1667" y="790"/>
                      </a:lnTo>
                      <a:lnTo>
                        <a:pt x="1729" y="814"/>
                      </a:lnTo>
                      <a:lnTo>
                        <a:pt x="1857" y="879"/>
                      </a:lnTo>
                      <a:lnTo>
                        <a:pt x="1847" y="905"/>
                      </a:lnTo>
                      <a:lnTo>
                        <a:pt x="1861" y="886"/>
                      </a:lnTo>
                      <a:lnTo>
                        <a:pt x="1957" y="891"/>
                      </a:lnTo>
                      <a:lnTo>
                        <a:pt x="1957" y="989"/>
                      </a:lnTo>
                      <a:lnTo>
                        <a:pt x="1987" y="1022"/>
                      </a:lnTo>
                      <a:lnTo>
                        <a:pt x="1965" y="1029"/>
                      </a:lnTo>
                      <a:lnTo>
                        <a:pt x="2013" y="1047"/>
                      </a:lnTo>
                      <a:lnTo>
                        <a:pt x="2000" y="1077"/>
                      </a:lnTo>
                      <a:lnTo>
                        <a:pt x="2045" y="1076"/>
                      </a:lnTo>
                      <a:lnTo>
                        <a:pt x="2108" y="1024"/>
                      </a:lnTo>
                      <a:lnTo>
                        <a:pt x="2081" y="1011"/>
                      </a:lnTo>
                      <a:lnTo>
                        <a:pt x="2045" y="919"/>
                      </a:lnTo>
                      <a:lnTo>
                        <a:pt x="2164" y="838"/>
                      </a:lnTo>
                      <a:lnTo>
                        <a:pt x="2147" y="838"/>
                      </a:lnTo>
                      <a:lnTo>
                        <a:pt x="2120" y="742"/>
                      </a:lnTo>
                      <a:lnTo>
                        <a:pt x="2078" y="718"/>
                      </a:lnTo>
                      <a:lnTo>
                        <a:pt x="2134" y="678"/>
                      </a:lnTo>
                      <a:lnTo>
                        <a:pt x="2114" y="658"/>
                      </a:lnTo>
                      <a:lnTo>
                        <a:pt x="2123" y="623"/>
                      </a:lnTo>
                      <a:lnTo>
                        <a:pt x="2098" y="618"/>
                      </a:lnTo>
                      <a:lnTo>
                        <a:pt x="2123" y="582"/>
                      </a:lnTo>
                      <a:lnTo>
                        <a:pt x="2096" y="560"/>
                      </a:lnTo>
                      <a:lnTo>
                        <a:pt x="2111" y="530"/>
                      </a:lnTo>
                      <a:lnTo>
                        <a:pt x="2202" y="550"/>
                      </a:lnTo>
                      <a:lnTo>
                        <a:pt x="2241" y="534"/>
                      </a:lnTo>
                      <a:lnTo>
                        <a:pt x="2318" y="582"/>
                      </a:lnTo>
                      <a:lnTo>
                        <a:pt x="2318" y="603"/>
                      </a:lnTo>
                      <a:lnTo>
                        <a:pt x="2384" y="607"/>
                      </a:lnTo>
                      <a:lnTo>
                        <a:pt x="2390" y="655"/>
                      </a:lnTo>
                      <a:lnTo>
                        <a:pt x="2331" y="656"/>
                      </a:lnTo>
                      <a:lnTo>
                        <a:pt x="2382" y="665"/>
                      </a:lnTo>
                      <a:lnTo>
                        <a:pt x="2398" y="693"/>
                      </a:lnTo>
                      <a:lnTo>
                        <a:pt x="2344" y="735"/>
                      </a:lnTo>
                      <a:lnTo>
                        <a:pt x="2423" y="714"/>
                      </a:lnTo>
                      <a:lnTo>
                        <a:pt x="2427" y="750"/>
                      </a:lnTo>
                      <a:lnTo>
                        <a:pt x="2393" y="765"/>
                      </a:lnTo>
                      <a:lnTo>
                        <a:pt x="2441" y="728"/>
                      </a:lnTo>
                      <a:lnTo>
                        <a:pt x="2446" y="751"/>
                      </a:lnTo>
                      <a:lnTo>
                        <a:pt x="2492" y="715"/>
                      </a:lnTo>
                      <a:lnTo>
                        <a:pt x="2500" y="735"/>
                      </a:lnTo>
                      <a:lnTo>
                        <a:pt x="2531" y="684"/>
                      </a:lnTo>
                      <a:lnTo>
                        <a:pt x="2520" y="674"/>
                      </a:lnTo>
                      <a:lnTo>
                        <a:pt x="2556" y="645"/>
                      </a:lnTo>
                      <a:lnTo>
                        <a:pt x="2596" y="699"/>
                      </a:lnTo>
                      <a:lnTo>
                        <a:pt x="2562" y="711"/>
                      </a:lnTo>
                      <a:lnTo>
                        <a:pt x="2599" y="704"/>
                      </a:lnTo>
                      <a:lnTo>
                        <a:pt x="2612" y="726"/>
                      </a:lnTo>
                      <a:lnTo>
                        <a:pt x="2588" y="733"/>
                      </a:lnTo>
                      <a:lnTo>
                        <a:pt x="2621" y="737"/>
                      </a:lnTo>
                      <a:lnTo>
                        <a:pt x="2599" y="754"/>
                      </a:lnTo>
                      <a:lnTo>
                        <a:pt x="2622" y="750"/>
                      </a:lnTo>
                      <a:lnTo>
                        <a:pt x="2640" y="773"/>
                      </a:lnTo>
                      <a:lnTo>
                        <a:pt x="2628" y="784"/>
                      </a:lnTo>
                      <a:lnTo>
                        <a:pt x="2661" y="803"/>
                      </a:lnTo>
                      <a:lnTo>
                        <a:pt x="2608" y="823"/>
                      </a:lnTo>
                      <a:lnTo>
                        <a:pt x="2647" y="823"/>
                      </a:lnTo>
                      <a:lnTo>
                        <a:pt x="2639" y="842"/>
                      </a:lnTo>
                      <a:lnTo>
                        <a:pt x="2695" y="860"/>
                      </a:lnTo>
                      <a:lnTo>
                        <a:pt x="2716" y="904"/>
                      </a:lnTo>
                      <a:lnTo>
                        <a:pt x="2736" y="887"/>
                      </a:lnTo>
                      <a:lnTo>
                        <a:pt x="2792" y="918"/>
                      </a:lnTo>
                      <a:lnTo>
                        <a:pt x="2670" y="956"/>
                      </a:lnTo>
                      <a:lnTo>
                        <a:pt x="2695" y="977"/>
                      </a:lnTo>
                      <a:lnTo>
                        <a:pt x="2798" y="934"/>
                      </a:lnTo>
                      <a:lnTo>
                        <a:pt x="2798" y="970"/>
                      </a:lnTo>
                      <a:lnTo>
                        <a:pt x="2845" y="963"/>
                      </a:lnTo>
                      <a:lnTo>
                        <a:pt x="2850" y="981"/>
                      </a:lnTo>
                      <a:lnTo>
                        <a:pt x="2828" y="981"/>
                      </a:lnTo>
                      <a:lnTo>
                        <a:pt x="2850" y="1025"/>
                      </a:lnTo>
                      <a:lnTo>
                        <a:pt x="2706" y="1110"/>
                      </a:lnTo>
                      <a:lnTo>
                        <a:pt x="2497" y="1110"/>
                      </a:lnTo>
                      <a:lnTo>
                        <a:pt x="2409" y="1169"/>
                      </a:lnTo>
                      <a:lnTo>
                        <a:pt x="2338" y="1256"/>
                      </a:lnTo>
                      <a:lnTo>
                        <a:pt x="2409" y="1190"/>
                      </a:lnTo>
                      <a:lnTo>
                        <a:pt x="2522" y="1151"/>
                      </a:lnTo>
                      <a:lnTo>
                        <a:pt x="2562" y="1182"/>
                      </a:lnTo>
                      <a:lnTo>
                        <a:pt x="2489" y="1205"/>
                      </a:lnTo>
                      <a:lnTo>
                        <a:pt x="2546" y="1217"/>
                      </a:lnTo>
                      <a:lnTo>
                        <a:pt x="2531" y="1244"/>
                      </a:lnTo>
                      <a:lnTo>
                        <a:pt x="2575" y="1292"/>
                      </a:lnTo>
                      <a:lnTo>
                        <a:pt x="2663" y="1310"/>
                      </a:lnTo>
                      <a:lnTo>
                        <a:pt x="2687" y="1249"/>
                      </a:lnTo>
                      <a:lnTo>
                        <a:pt x="2687" y="1286"/>
                      </a:lnTo>
                      <a:lnTo>
                        <a:pt x="2710" y="1282"/>
                      </a:lnTo>
                      <a:lnTo>
                        <a:pt x="2669" y="1321"/>
                      </a:lnTo>
                      <a:lnTo>
                        <a:pt x="2566" y="1347"/>
                      </a:lnTo>
                      <a:lnTo>
                        <a:pt x="2529" y="1392"/>
                      </a:lnTo>
                      <a:lnTo>
                        <a:pt x="2500" y="1352"/>
                      </a:lnTo>
                      <a:lnTo>
                        <a:pt x="2597" y="1317"/>
                      </a:lnTo>
                      <a:lnTo>
                        <a:pt x="2546" y="1318"/>
                      </a:lnTo>
                      <a:lnTo>
                        <a:pt x="2556" y="1292"/>
                      </a:lnTo>
                      <a:lnTo>
                        <a:pt x="2471" y="1322"/>
                      </a:lnTo>
                      <a:lnTo>
                        <a:pt x="2446" y="1303"/>
                      </a:lnTo>
                      <a:lnTo>
                        <a:pt x="2446" y="1249"/>
                      </a:lnTo>
                      <a:lnTo>
                        <a:pt x="2391" y="1231"/>
                      </a:lnTo>
                      <a:lnTo>
                        <a:pt x="2350" y="1319"/>
                      </a:lnTo>
                      <a:lnTo>
                        <a:pt x="2180" y="1352"/>
                      </a:lnTo>
                      <a:lnTo>
                        <a:pt x="2063" y="1385"/>
                      </a:lnTo>
                      <a:lnTo>
                        <a:pt x="2044" y="1402"/>
                      </a:lnTo>
                      <a:lnTo>
                        <a:pt x="2070" y="1406"/>
                      </a:lnTo>
                      <a:lnTo>
                        <a:pt x="2076" y="1418"/>
                      </a:lnTo>
                      <a:lnTo>
                        <a:pt x="1934" y="1454"/>
                      </a:lnTo>
                      <a:lnTo>
                        <a:pt x="1942" y="1438"/>
                      </a:lnTo>
                      <a:lnTo>
                        <a:pt x="1951" y="1427"/>
                      </a:lnTo>
                      <a:lnTo>
                        <a:pt x="1956" y="1410"/>
                      </a:lnTo>
                      <a:lnTo>
                        <a:pt x="1978" y="1398"/>
                      </a:lnTo>
                      <a:lnTo>
                        <a:pt x="1982" y="1321"/>
                      </a:lnTo>
                      <a:lnTo>
                        <a:pt x="2006" y="1347"/>
                      </a:lnTo>
                      <a:lnTo>
                        <a:pt x="2048" y="1337"/>
                      </a:lnTo>
                      <a:lnTo>
                        <a:pt x="2012" y="1292"/>
                      </a:lnTo>
                      <a:lnTo>
                        <a:pt x="1890" y="1270"/>
                      </a:lnTo>
                      <a:lnTo>
                        <a:pt x="1884" y="1270"/>
                      </a:lnTo>
                      <a:lnTo>
                        <a:pt x="1872" y="1208"/>
                      </a:lnTo>
                      <a:lnTo>
                        <a:pt x="1847" y="1212"/>
                      </a:lnTo>
                      <a:lnTo>
                        <a:pt x="1825" y="1176"/>
                      </a:lnTo>
                      <a:lnTo>
                        <a:pt x="1799" y="1173"/>
                      </a:lnTo>
                      <a:lnTo>
                        <a:pt x="1799" y="1195"/>
                      </a:lnTo>
                      <a:lnTo>
                        <a:pt x="1767" y="1164"/>
                      </a:lnTo>
                      <a:lnTo>
                        <a:pt x="1710" y="1208"/>
                      </a:lnTo>
                      <a:lnTo>
                        <a:pt x="1552" y="1176"/>
                      </a:lnTo>
                      <a:lnTo>
                        <a:pt x="1531" y="1146"/>
                      </a:lnTo>
                      <a:lnTo>
                        <a:pt x="1530" y="1165"/>
                      </a:lnTo>
                      <a:lnTo>
                        <a:pt x="610" y="1165"/>
                      </a:lnTo>
                      <a:lnTo>
                        <a:pt x="596" y="1132"/>
                      </a:lnTo>
                      <a:lnTo>
                        <a:pt x="547" y="1123"/>
                      </a:lnTo>
                      <a:lnTo>
                        <a:pt x="550" y="1101"/>
                      </a:lnTo>
                      <a:lnTo>
                        <a:pt x="447" y="1072"/>
                      </a:lnTo>
                      <a:lnTo>
                        <a:pt x="459" y="1057"/>
                      </a:lnTo>
                      <a:lnTo>
                        <a:pt x="436" y="1015"/>
                      </a:lnTo>
                      <a:lnTo>
                        <a:pt x="409" y="1011"/>
                      </a:lnTo>
                      <a:lnTo>
                        <a:pt x="353" y="925"/>
                      </a:lnTo>
                      <a:lnTo>
                        <a:pt x="363" y="897"/>
                      </a:lnTo>
                      <a:lnTo>
                        <a:pt x="365" y="849"/>
                      </a:lnTo>
                      <a:lnTo>
                        <a:pt x="302" y="823"/>
                      </a:lnTo>
                      <a:lnTo>
                        <a:pt x="184" y="669"/>
                      </a:lnTo>
                      <a:lnTo>
                        <a:pt x="117" y="713"/>
                      </a:lnTo>
                      <a:lnTo>
                        <a:pt x="99" y="692"/>
                      </a:lnTo>
                      <a:lnTo>
                        <a:pt x="95" y="688"/>
                      </a:lnTo>
                      <a:lnTo>
                        <a:pt x="62" y="645"/>
                      </a:lnTo>
                      <a:lnTo>
                        <a:pt x="0" y="64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4" name="16237314289.6254.7575">
                  <a:extLst>
                    <a:ext uri="{FF2B5EF4-FFF2-40B4-BE49-F238E27FC236}">
                      <a16:creationId xmlns:a16="http://schemas.microsoft.com/office/drawing/2014/main" id="{BCD729B8-8A9A-0017-2FCD-43D555E63D7B}"/>
                    </a:ext>
                  </a:extLst>
                </p:cNvPr>
                <p:cNvSpPr>
                  <a:spLocks/>
                </p:cNvSpPr>
                <p:nvPr/>
              </p:nvSpPr>
              <p:spPr bwMode="auto">
                <a:xfrm>
                  <a:off x="1130013" y="3033666"/>
                  <a:ext cx="85104" cy="55388"/>
                </a:xfrm>
                <a:custGeom>
                  <a:avLst/>
                  <a:gdLst>
                    <a:gd name="T0" fmla="*/ 0 w 167"/>
                    <a:gd name="T1" fmla="*/ 0 h 96"/>
                    <a:gd name="T2" fmla="*/ 1 w 167"/>
                    <a:gd name="T3" fmla="*/ 1 h 96"/>
                    <a:gd name="T4" fmla="*/ 1 w 167"/>
                    <a:gd name="T5" fmla="*/ 1 h 96"/>
                    <a:gd name="T6" fmla="*/ 1 w 167"/>
                    <a:gd name="T7" fmla="*/ 1 h 96"/>
                    <a:gd name="T8" fmla="*/ 0 w 167"/>
                    <a:gd name="T9" fmla="*/ 0 h 96"/>
                    <a:gd name="T10" fmla="*/ 0 60000 65536"/>
                    <a:gd name="T11" fmla="*/ 0 60000 65536"/>
                    <a:gd name="T12" fmla="*/ 0 60000 65536"/>
                    <a:gd name="T13" fmla="*/ 0 60000 65536"/>
                    <a:gd name="T14" fmla="*/ 0 60000 65536"/>
                    <a:gd name="T15" fmla="*/ 0 w 167"/>
                    <a:gd name="T16" fmla="*/ 0 h 96"/>
                    <a:gd name="T17" fmla="*/ 167 w 167"/>
                    <a:gd name="T18" fmla="*/ 96 h 96"/>
                  </a:gdLst>
                  <a:ahLst/>
                  <a:cxnLst>
                    <a:cxn ang="T10">
                      <a:pos x="T0" y="T1"/>
                    </a:cxn>
                    <a:cxn ang="T11">
                      <a:pos x="T2" y="T3"/>
                    </a:cxn>
                    <a:cxn ang="T12">
                      <a:pos x="T4" y="T5"/>
                    </a:cxn>
                    <a:cxn ang="T13">
                      <a:pos x="T6" y="T7"/>
                    </a:cxn>
                    <a:cxn ang="T14">
                      <a:pos x="T8" y="T9"/>
                    </a:cxn>
                  </a:cxnLst>
                  <a:rect l="T15" t="T16" r="T17" b="T18"/>
                  <a:pathLst>
                    <a:path w="167" h="96">
                      <a:moveTo>
                        <a:pt x="0" y="0"/>
                      </a:moveTo>
                      <a:lnTo>
                        <a:pt x="90" y="19"/>
                      </a:lnTo>
                      <a:lnTo>
                        <a:pt x="167" y="96"/>
                      </a:lnTo>
                      <a:lnTo>
                        <a:pt x="122" y="81"/>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5" name="16238253292.87510.62514.55">
                  <a:extLst>
                    <a:ext uri="{FF2B5EF4-FFF2-40B4-BE49-F238E27FC236}">
                      <a16:creationId xmlns:a16="http://schemas.microsoft.com/office/drawing/2014/main" id="{89E43A52-04D6-DB96-FF02-79F237CB4AE1}"/>
                    </a:ext>
                  </a:extLst>
                </p:cNvPr>
                <p:cNvSpPr>
                  <a:spLocks/>
                </p:cNvSpPr>
                <p:nvPr/>
              </p:nvSpPr>
              <p:spPr bwMode="auto">
                <a:xfrm>
                  <a:off x="1170539" y="2310147"/>
                  <a:ext cx="176288" cy="125780"/>
                </a:xfrm>
                <a:custGeom>
                  <a:avLst/>
                  <a:gdLst>
                    <a:gd name="T0" fmla="*/ 0 w 349"/>
                    <a:gd name="T1" fmla="*/ 1 h 217"/>
                    <a:gd name="T2" fmla="*/ 0 w 349"/>
                    <a:gd name="T3" fmla="*/ 1 h 217"/>
                    <a:gd name="T4" fmla="*/ 0 w 349"/>
                    <a:gd name="T5" fmla="*/ 1 h 217"/>
                    <a:gd name="T6" fmla="*/ 0 w 349"/>
                    <a:gd name="T7" fmla="*/ 1 h 217"/>
                    <a:gd name="T8" fmla="*/ 0 w 349"/>
                    <a:gd name="T9" fmla="*/ 0 h 217"/>
                    <a:gd name="T10" fmla="*/ 0 w 349"/>
                    <a:gd name="T11" fmla="*/ 1 h 217"/>
                    <a:gd name="T12" fmla="*/ 0 w 349"/>
                    <a:gd name="T13" fmla="*/ 1 h 217"/>
                    <a:gd name="T14" fmla="*/ 0 w 349"/>
                    <a:gd name="T15" fmla="*/ 1 h 217"/>
                    <a:gd name="T16" fmla="*/ 0 w 349"/>
                    <a:gd name="T17" fmla="*/ 1 h 217"/>
                    <a:gd name="T18" fmla="*/ 0 w 349"/>
                    <a:gd name="T19" fmla="*/ 1 h 217"/>
                    <a:gd name="T20" fmla="*/ 0 w 349"/>
                    <a:gd name="T21" fmla="*/ 1 h 217"/>
                    <a:gd name="T22" fmla="*/ 0 w 349"/>
                    <a:gd name="T23" fmla="*/ 1 h 217"/>
                    <a:gd name="T24" fmla="*/ 0 w 349"/>
                    <a:gd name="T25" fmla="*/ 1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9"/>
                    <a:gd name="T40" fmla="*/ 0 h 217"/>
                    <a:gd name="T41" fmla="*/ 349 w 349"/>
                    <a:gd name="T42" fmla="*/ 217 h 2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9" h="217">
                      <a:moveTo>
                        <a:pt x="0" y="164"/>
                      </a:moveTo>
                      <a:lnTo>
                        <a:pt x="15" y="136"/>
                      </a:lnTo>
                      <a:lnTo>
                        <a:pt x="65" y="46"/>
                      </a:lnTo>
                      <a:lnTo>
                        <a:pt x="42" y="8"/>
                      </a:lnTo>
                      <a:lnTo>
                        <a:pt x="150" y="0"/>
                      </a:lnTo>
                      <a:lnTo>
                        <a:pt x="224" y="36"/>
                      </a:lnTo>
                      <a:lnTo>
                        <a:pt x="274" y="15"/>
                      </a:lnTo>
                      <a:lnTo>
                        <a:pt x="349" y="66"/>
                      </a:lnTo>
                      <a:lnTo>
                        <a:pt x="189" y="146"/>
                      </a:lnTo>
                      <a:lnTo>
                        <a:pt x="175" y="194"/>
                      </a:lnTo>
                      <a:lnTo>
                        <a:pt x="96" y="217"/>
                      </a:lnTo>
                      <a:lnTo>
                        <a:pt x="61" y="179"/>
                      </a:lnTo>
                      <a:lnTo>
                        <a:pt x="0" y="16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6" name="16239243.125297.1255.87510.1255">
                  <a:extLst>
                    <a:ext uri="{FF2B5EF4-FFF2-40B4-BE49-F238E27FC236}">
                      <a16:creationId xmlns:a16="http://schemas.microsoft.com/office/drawing/2014/main" id="{6FBC2B70-E073-631C-EDCA-F6A9C6BA110B}"/>
                    </a:ext>
                  </a:extLst>
                </p:cNvPr>
                <p:cNvSpPr>
                  <a:spLocks/>
                </p:cNvSpPr>
                <p:nvPr/>
              </p:nvSpPr>
              <p:spPr bwMode="auto">
                <a:xfrm>
                  <a:off x="1221196" y="2192445"/>
                  <a:ext cx="123603" cy="70390"/>
                </a:xfrm>
                <a:custGeom>
                  <a:avLst/>
                  <a:gdLst>
                    <a:gd name="T0" fmla="*/ 0 w 244"/>
                    <a:gd name="T1" fmla="*/ 1 h 122"/>
                    <a:gd name="T2" fmla="*/ 1 w 244"/>
                    <a:gd name="T3" fmla="*/ 1 h 122"/>
                    <a:gd name="T4" fmla="*/ 1 w 244"/>
                    <a:gd name="T5" fmla="*/ 1 h 122"/>
                    <a:gd name="T6" fmla="*/ 1 w 244"/>
                    <a:gd name="T7" fmla="*/ 1 h 122"/>
                    <a:gd name="T8" fmla="*/ 1 w 244"/>
                    <a:gd name="T9" fmla="*/ 1 h 122"/>
                    <a:gd name="T10" fmla="*/ 1 w 244"/>
                    <a:gd name="T11" fmla="*/ 1 h 122"/>
                    <a:gd name="T12" fmla="*/ 1 w 244"/>
                    <a:gd name="T13" fmla="*/ 1 h 122"/>
                    <a:gd name="T14" fmla="*/ 1 w 244"/>
                    <a:gd name="T15" fmla="*/ 1 h 122"/>
                    <a:gd name="T16" fmla="*/ 1 w 244"/>
                    <a:gd name="T17" fmla="*/ 1 h 122"/>
                    <a:gd name="T18" fmla="*/ 1 w 244"/>
                    <a:gd name="T19" fmla="*/ 1 h 122"/>
                    <a:gd name="T20" fmla="*/ 1 w 244"/>
                    <a:gd name="T21" fmla="*/ 1 h 122"/>
                    <a:gd name="T22" fmla="*/ 1 w 244"/>
                    <a:gd name="T23" fmla="*/ 1 h 122"/>
                    <a:gd name="T24" fmla="*/ 1 w 244"/>
                    <a:gd name="T25" fmla="*/ 1 h 122"/>
                    <a:gd name="T26" fmla="*/ 1 w 244"/>
                    <a:gd name="T27" fmla="*/ 0 h 122"/>
                    <a:gd name="T28" fmla="*/ 1 w 244"/>
                    <a:gd name="T29" fmla="*/ 1 h 122"/>
                    <a:gd name="T30" fmla="*/ 0 w 244"/>
                    <a:gd name="T31" fmla="*/ 1 h 1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4"/>
                    <a:gd name="T49" fmla="*/ 0 h 122"/>
                    <a:gd name="T50" fmla="*/ 244 w 244"/>
                    <a:gd name="T51" fmla="*/ 122 h 1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4" h="122">
                      <a:moveTo>
                        <a:pt x="0" y="93"/>
                      </a:moveTo>
                      <a:lnTo>
                        <a:pt x="56" y="111"/>
                      </a:lnTo>
                      <a:lnTo>
                        <a:pt x="70" y="92"/>
                      </a:lnTo>
                      <a:lnTo>
                        <a:pt x="82" y="122"/>
                      </a:lnTo>
                      <a:lnTo>
                        <a:pt x="108" y="110"/>
                      </a:lnTo>
                      <a:lnTo>
                        <a:pt x="104" y="81"/>
                      </a:lnTo>
                      <a:lnTo>
                        <a:pt x="130" y="97"/>
                      </a:lnTo>
                      <a:lnTo>
                        <a:pt x="145" y="53"/>
                      </a:lnTo>
                      <a:lnTo>
                        <a:pt x="167" y="50"/>
                      </a:lnTo>
                      <a:lnTo>
                        <a:pt x="176" y="90"/>
                      </a:lnTo>
                      <a:lnTo>
                        <a:pt x="228" y="60"/>
                      </a:lnTo>
                      <a:lnTo>
                        <a:pt x="211" y="26"/>
                      </a:lnTo>
                      <a:lnTo>
                        <a:pt x="244" y="17"/>
                      </a:lnTo>
                      <a:lnTo>
                        <a:pt x="210" y="0"/>
                      </a:lnTo>
                      <a:lnTo>
                        <a:pt x="121" y="17"/>
                      </a:lnTo>
                      <a:lnTo>
                        <a:pt x="0" y="9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7" name="16240256.875302.514.25255">
                  <a:extLst>
                    <a:ext uri="{FF2B5EF4-FFF2-40B4-BE49-F238E27FC236}">
                      <a16:creationId xmlns:a16="http://schemas.microsoft.com/office/drawing/2014/main" id="{53A725A6-3BAC-3519-CB55-D47EAB02D1E6}"/>
                    </a:ext>
                  </a:extLst>
                </p:cNvPr>
                <p:cNvSpPr>
                  <a:spLocks/>
                </p:cNvSpPr>
                <p:nvPr/>
              </p:nvSpPr>
              <p:spPr bwMode="auto">
                <a:xfrm>
                  <a:off x="1287051" y="2355150"/>
                  <a:ext cx="304957" cy="169628"/>
                </a:xfrm>
                <a:custGeom>
                  <a:avLst/>
                  <a:gdLst>
                    <a:gd name="T0" fmla="*/ 0 w 602"/>
                    <a:gd name="T1" fmla="*/ 0 h 296"/>
                    <a:gd name="T2" fmla="*/ 1 w 602"/>
                    <a:gd name="T3" fmla="*/ 0 h 296"/>
                    <a:gd name="T4" fmla="*/ 1 w 602"/>
                    <a:gd name="T5" fmla="*/ 0 h 296"/>
                    <a:gd name="T6" fmla="*/ 1 w 602"/>
                    <a:gd name="T7" fmla="*/ 0 h 296"/>
                    <a:gd name="T8" fmla="*/ 1 w 602"/>
                    <a:gd name="T9" fmla="*/ 0 h 296"/>
                    <a:gd name="T10" fmla="*/ 1 w 602"/>
                    <a:gd name="T11" fmla="*/ 0 h 296"/>
                    <a:gd name="T12" fmla="*/ 1 w 602"/>
                    <a:gd name="T13" fmla="*/ 0 h 296"/>
                    <a:gd name="T14" fmla="*/ 1 w 602"/>
                    <a:gd name="T15" fmla="*/ 0 h 296"/>
                    <a:gd name="T16" fmla="*/ 1 w 602"/>
                    <a:gd name="T17" fmla="*/ 0 h 296"/>
                    <a:gd name="T18" fmla="*/ 1 w 602"/>
                    <a:gd name="T19" fmla="*/ 0 h 296"/>
                    <a:gd name="T20" fmla="*/ 1 w 602"/>
                    <a:gd name="T21" fmla="*/ 0 h 296"/>
                    <a:gd name="T22" fmla="*/ 1 w 602"/>
                    <a:gd name="T23" fmla="*/ 0 h 296"/>
                    <a:gd name="T24" fmla="*/ 1 w 602"/>
                    <a:gd name="T25" fmla="*/ 0 h 296"/>
                    <a:gd name="T26" fmla="*/ 1 w 602"/>
                    <a:gd name="T27" fmla="*/ 0 h 296"/>
                    <a:gd name="T28" fmla="*/ 1 w 602"/>
                    <a:gd name="T29" fmla="*/ 0 h 296"/>
                    <a:gd name="T30" fmla="*/ 1 w 602"/>
                    <a:gd name="T31" fmla="*/ 0 h 296"/>
                    <a:gd name="T32" fmla="*/ 1 w 602"/>
                    <a:gd name="T33" fmla="*/ 0 h 296"/>
                    <a:gd name="T34" fmla="*/ 1 w 602"/>
                    <a:gd name="T35" fmla="*/ 0 h 296"/>
                    <a:gd name="T36" fmla="*/ 1 w 602"/>
                    <a:gd name="T37" fmla="*/ 0 h 296"/>
                    <a:gd name="T38" fmla="*/ 1 w 602"/>
                    <a:gd name="T39" fmla="*/ 0 h 296"/>
                    <a:gd name="T40" fmla="*/ 1 w 602"/>
                    <a:gd name="T41" fmla="*/ 0 h 296"/>
                    <a:gd name="T42" fmla="*/ 1 w 602"/>
                    <a:gd name="T43" fmla="*/ 0 h 296"/>
                    <a:gd name="T44" fmla="*/ 1 w 602"/>
                    <a:gd name="T45" fmla="*/ 0 h 296"/>
                    <a:gd name="T46" fmla="*/ 1 w 602"/>
                    <a:gd name="T47" fmla="*/ 0 h 296"/>
                    <a:gd name="T48" fmla="*/ 1 w 602"/>
                    <a:gd name="T49" fmla="*/ 0 h 296"/>
                    <a:gd name="T50" fmla="*/ 1 w 602"/>
                    <a:gd name="T51" fmla="*/ 0 h 296"/>
                    <a:gd name="T52" fmla="*/ 1 w 602"/>
                    <a:gd name="T53" fmla="*/ 0 h 296"/>
                    <a:gd name="T54" fmla="*/ 1 w 602"/>
                    <a:gd name="T55" fmla="*/ 0 h 296"/>
                    <a:gd name="T56" fmla="*/ 1 w 602"/>
                    <a:gd name="T57" fmla="*/ 0 h 296"/>
                    <a:gd name="T58" fmla="*/ 1 w 602"/>
                    <a:gd name="T59" fmla="*/ 0 h 296"/>
                    <a:gd name="T60" fmla="*/ 1 w 602"/>
                    <a:gd name="T61" fmla="*/ 0 h 296"/>
                    <a:gd name="T62" fmla="*/ 1 w 602"/>
                    <a:gd name="T63" fmla="*/ 0 h 296"/>
                    <a:gd name="T64" fmla="*/ 1 w 602"/>
                    <a:gd name="T65" fmla="*/ 0 h 296"/>
                    <a:gd name="T66" fmla="*/ 1 w 602"/>
                    <a:gd name="T67" fmla="*/ 0 h 296"/>
                    <a:gd name="T68" fmla="*/ 1 w 602"/>
                    <a:gd name="T69" fmla="*/ 0 h 296"/>
                    <a:gd name="T70" fmla="*/ 1 w 602"/>
                    <a:gd name="T71" fmla="*/ 0 h 296"/>
                    <a:gd name="T72" fmla="*/ 1 w 602"/>
                    <a:gd name="T73" fmla="*/ 0 h 296"/>
                    <a:gd name="T74" fmla="*/ 1 w 602"/>
                    <a:gd name="T75" fmla="*/ 0 h 296"/>
                    <a:gd name="T76" fmla="*/ 0 w 602"/>
                    <a:gd name="T77" fmla="*/ 0 h 29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02"/>
                    <a:gd name="T118" fmla="*/ 0 h 296"/>
                    <a:gd name="T119" fmla="*/ 602 w 602"/>
                    <a:gd name="T120" fmla="*/ 296 h 29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02" h="296">
                      <a:moveTo>
                        <a:pt x="0" y="95"/>
                      </a:moveTo>
                      <a:lnTo>
                        <a:pt x="30" y="72"/>
                      </a:lnTo>
                      <a:lnTo>
                        <a:pt x="15" y="59"/>
                      </a:lnTo>
                      <a:lnTo>
                        <a:pt x="87" y="17"/>
                      </a:lnTo>
                      <a:lnTo>
                        <a:pt x="146" y="0"/>
                      </a:lnTo>
                      <a:lnTo>
                        <a:pt x="165" y="30"/>
                      </a:lnTo>
                      <a:lnTo>
                        <a:pt x="144" y="48"/>
                      </a:lnTo>
                      <a:lnTo>
                        <a:pt x="198" y="24"/>
                      </a:lnTo>
                      <a:lnTo>
                        <a:pt x="257" y="44"/>
                      </a:lnTo>
                      <a:lnTo>
                        <a:pt x="235" y="66"/>
                      </a:lnTo>
                      <a:lnTo>
                        <a:pt x="304" y="51"/>
                      </a:lnTo>
                      <a:lnTo>
                        <a:pt x="285" y="26"/>
                      </a:lnTo>
                      <a:lnTo>
                        <a:pt x="312" y="29"/>
                      </a:lnTo>
                      <a:lnTo>
                        <a:pt x="366" y="109"/>
                      </a:lnTo>
                      <a:lnTo>
                        <a:pt x="385" y="90"/>
                      </a:lnTo>
                      <a:lnTo>
                        <a:pt x="363" y="3"/>
                      </a:lnTo>
                      <a:lnTo>
                        <a:pt x="407" y="4"/>
                      </a:lnTo>
                      <a:lnTo>
                        <a:pt x="455" y="35"/>
                      </a:lnTo>
                      <a:lnTo>
                        <a:pt x="483" y="143"/>
                      </a:lnTo>
                      <a:lnTo>
                        <a:pt x="602" y="195"/>
                      </a:lnTo>
                      <a:lnTo>
                        <a:pt x="601" y="224"/>
                      </a:lnTo>
                      <a:lnTo>
                        <a:pt x="568" y="212"/>
                      </a:lnTo>
                      <a:lnTo>
                        <a:pt x="532" y="231"/>
                      </a:lnTo>
                      <a:lnTo>
                        <a:pt x="583" y="255"/>
                      </a:lnTo>
                      <a:lnTo>
                        <a:pt x="536" y="279"/>
                      </a:lnTo>
                      <a:lnTo>
                        <a:pt x="459" y="267"/>
                      </a:lnTo>
                      <a:lnTo>
                        <a:pt x="414" y="237"/>
                      </a:lnTo>
                      <a:lnTo>
                        <a:pt x="315" y="286"/>
                      </a:lnTo>
                      <a:lnTo>
                        <a:pt x="191" y="296"/>
                      </a:lnTo>
                      <a:lnTo>
                        <a:pt x="166" y="249"/>
                      </a:lnTo>
                      <a:lnTo>
                        <a:pt x="98" y="246"/>
                      </a:lnTo>
                      <a:lnTo>
                        <a:pt x="54" y="206"/>
                      </a:lnTo>
                      <a:lnTo>
                        <a:pt x="228" y="182"/>
                      </a:lnTo>
                      <a:lnTo>
                        <a:pt x="47" y="169"/>
                      </a:lnTo>
                      <a:lnTo>
                        <a:pt x="24" y="145"/>
                      </a:lnTo>
                      <a:lnTo>
                        <a:pt x="117" y="117"/>
                      </a:lnTo>
                      <a:lnTo>
                        <a:pt x="30" y="121"/>
                      </a:lnTo>
                      <a:lnTo>
                        <a:pt x="37" y="109"/>
                      </a:lnTo>
                      <a:lnTo>
                        <a:pt x="0" y="9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8" name="16241245.5304.3757.87516.8755">
                  <a:extLst>
                    <a:ext uri="{FF2B5EF4-FFF2-40B4-BE49-F238E27FC236}">
                      <a16:creationId xmlns:a16="http://schemas.microsoft.com/office/drawing/2014/main" id="{CF3147CD-C010-6BBD-31AF-F69C93B8590A}"/>
                    </a:ext>
                  </a:extLst>
                </p:cNvPr>
                <p:cNvSpPr>
                  <a:spLocks/>
                </p:cNvSpPr>
                <p:nvPr/>
              </p:nvSpPr>
              <p:spPr bwMode="auto">
                <a:xfrm>
                  <a:off x="1309340" y="2220140"/>
                  <a:ext cx="206682" cy="93469"/>
                </a:xfrm>
                <a:custGeom>
                  <a:avLst/>
                  <a:gdLst>
                    <a:gd name="T0" fmla="*/ 0 w 408"/>
                    <a:gd name="T1" fmla="*/ 0 h 164"/>
                    <a:gd name="T2" fmla="*/ 1 w 408"/>
                    <a:gd name="T3" fmla="*/ 0 h 164"/>
                    <a:gd name="T4" fmla="*/ 1 w 408"/>
                    <a:gd name="T5" fmla="*/ 0 h 164"/>
                    <a:gd name="T6" fmla="*/ 1 w 408"/>
                    <a:gd name="T7" fmla="*/ 0 h 164"/>
                    <a:gd name="T8" fmla="*/ 1 w 408"/>
                    <a:gd name="T9" fmla="*/ 0 h 164"/>
                    <a:gd name="T10" fmla="*/ 1 w 408"/>
                    <a:gd name="T11" fmla="*/ 0 h 164"/>
                    <a:gd name="T12" fmla="*/ 1 w 408"/>
                    <a:gd name="T13" fmla="*/ 0 h 164"/>
                    <a:gd name="T14" fmla="*/ 1 w 408"/>
                    <a:gd name="T15" fmla="*/ 0 h 164"/>
                    <a:gd name="T16" fmla="*/ 1 w 408"/>
                    <a:gd name="T17" fmla="*/ 0 h 164"/>
                    <a:gd name="T18" fmla="*/ 1 w 408"/>
                    <a:gd name="T19" fmla="*/ 0 h 164"/>
                    <a:gd name="T20" fmla="*/ 1 w 408"/>
                    <a:gd name="T21" fmla="*/ 0 h 164"/>
                    <a:gd name="T22" fmla="*/ 1 w 408"/>
                    <a:gd name="T23" fmla="*/ 0 h 164"/>
                    <a:gd name="T24" fmla="*/ 1 w 408"/>
                    <a:gd name="T25" fmla="*/ 0 h 164"/>
                    <a:gd name="T26" fmla="*/ 1 w 408"/>
                    <a:gd name="T27" fmla="*/ 0 h 164"/>
                    <a:gd name="T28" fmla="*/ 1 w 408"/>
                    <a:gd name="T29" fmla="*/ 0 h 164"/>
                    <a:gd name="T30" fmla="*/ 1 w 408"/>
                    <a:gd name="T31" fmla="*/ 0 h 164"/>
                    <a:gd name="T32" fmla="*/ 1 w 408"/>
                    <a:gd name="T33" fmla="*/ 0 h 164"/>
                    <a:gd name="T34" fmla="*/ 1 w 408"/>
                    <a:gd name="T35" fmla="*/ 0 h 164"/>
                    <a:gd name="T36" fmla="*/ 1 w 408"/>
                    <a:gd name="T37" fmla="*/ 0 h 164"/>
                    <a:gd name="T38" fmla="*/ 1 w 408"/>
                    <a:gd name="T39" fmla="*/ 0 h 164"/>
                    <a:gd name="T40" fmla="*/ 1 w 408"/>
                    <a:gd name="T41" fmla="*/ 0 h 164"/>
                    <a:gd name="T42" fmla="*/ 1 w 408"/>
                    <a:gd name="T43" fmla="*/ 0 h 164"/>
                    <a:gd name="T44" fmla="*/ 1 w 408"/>
                    <a:gd name="T45" fmla="*/ 0 h 164"/>
                    <a:gd name="T46" fmla="*/ 1 w 408"/>
                    <a:gd name="T47" fmla="*/ 0 h 164"/>
                    <a:gd name="T48" fmla="*/ 1 w 408"/>
                    <a:gd name="T49" fmla="*/ 0 h 164"/>
                    <a:gd name="T50" fmla="*/ 1 w 408"/>
                    <a:gd name="T51" fmla="*/ 0 h 164"/>
                    <a:gd name="T52" fmla="*/ 1 w 408"/>
                    <a:gd name="T53" fmla="*/ 0 h 164"/>
                    <a:gd name="T54" fmla="*/ 1 w 408"/>
                    <a:gd name="T55" fmla="*/ 0 h 164"/>
                    <a:gd name="T56" fmla="*/ 1 w 408"/>
                    <a:gd name="T57" fmla="*/ 0 h 164"/>
                    <a:gd name="T58" fmla="*/ 1 w 408"/>
                    <a:gd name="T59" fmla="*/ 0 h 164"/>
                    <a:gd name="T60" fmla="*/ 1 w 408"/>
                    <a:gd name="T61" fmla="*/ 0 h 164"/>
                    <a:gd name="T62" fmla="*/ 1 w 408"/>
                    <a:gd name="T63" fmla="*/ 0 h 164"/>
                    <a:gd name="T64" fmla="*/ 1 w 408"/>
                    <a:gd name="T65" fmla="*/ 0 h 164"/>
                    <a:gd name="T66" fmla="*/ 0 w 408"/>
                    <a:gd name="T67" fmla="*/ 0 h 1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08"/>
                    <a:gd name="T103" fmla="*/ 0 h 164"/>
                    <a:gd name="T104" fmla="*/ 408 w 408"/>
                    <a:gd name="T105" fmla="*/ 164 h 1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08" h="164">
                      <a:moveTo>
                        <a:pt x="0" y="108"/>
                      </a:moveTo>
                      <a:lnTo>
                        <a:pt x="15" y="95"/>
                      </a:lnTo>
                      <a:lnTo>
                        <a:pt x="85" y="80"/>
                      </a:lnTo>
                      <a:lnTo>
                        <a:pt x="15" y="83"/>
                      </a:lnTo>
                      <a:lnTo>
                        <a:pt x="96" y="66"/>
                      </a:lnTo>
                      <a:lnTo>
                        <a:pt x="30" y="66"/>
                      </a:lnTo>
                      <a:lnTo>
                        <a:pt x="36" y="48"/>
                      </a:lnTo>
                      <a:lnTo>
                        <a:pt x="99" y="47"/>
                      </a:lnTo>
                      <a:lnTo>
                        <a:pt x="55" y="43"/>
                      </a:lnTo>
                      <a:lnTo>
                        <a:pt x="89" y="26"/>
                      </a:lnTo>
                      <a:lnTo>
                        <a:pt x="172" y="47"/>
                      </a:lnTo>
                      <a:lnTo>
                        <a:pt x="213" y="88"/>
                      </a:lnTo>
                      <a:lnTo>
                        <a:pt x="290" y="91"/>
                      </a:lnTo>
                      <a:lnTo>
                        <a:pt x="260" y="66"/>
                      </a:lnTo>
                      <a:lnTo>
                        <a:pt x="278" y="50"/>
                      </a:lnTo>
                      <a:lnTo>
                        <a:pt x="243" y="31"/>
                      </a:lnTo>
                      <a:lnTo>
                        <a:pt x="297" y="0"/>
                      </a:lnTo>
                      <a:lnTo>
                        <a:pt x="320" y="36"/>
                      </a:lnTo>
                      <a:lnTo>
                        <a:pt x="304" y="53"/>
                      </a:lnTo>
                      <a:lnTo>
                        <a:pt x="334" y="58"/>
                      </a:lnTo>
                      <a:lnTo>
                        <a:pt x="323" y="76"/>
                      </a:lnTo>
                      <a:lnTo>
                        <a:pt x="362" y="81"/>
                      </a:lnTo>
                      <a:lnTo>
                        <a:pt x="382" y="57"/>
                      </a:lnTo>
                      <a:lnTo>
                        <a:pt x="408" y="86"/>
                      </a:lnTo>
                      <a:lnTo>
                        <a:pt x="388" y="123"/>
                      </a:lnTo>
                      <a:lnTo>
                        <a:pt x="300" y="120"/>
                      </a:lnTo>
                      <a:lnTo>
                        <a:pt x="165" y="164"/>
                      </a:lnTo>
                      <a:lnTo>
                        <a:pt x="110" y="141"/>
                      </a:lnTo>
                      <a:lnTo>
                        <a:pt x="224" y="105"/>
                      </a:lnTo>
                      <a:lnTo>
                        <a:pt x="127" y="127"/>
                      </a:lnTo>
                      <a:lnTo>
                        <a:pt x="143" y="97"/>
                      </a:lnTo>
                      <a:lnTo>
                        <a:pt x="94" y="128"/>
                      </a:lnTo>
                      <a:lnTo>
                        <a:pt x="36" y="120"/>
                      </a:lnTo>
                      <a:lnTo>
                        <a:pt x="0" y="10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9" name="16242237.125321.254.8758.755">
                  <a:extLst>
                    <a:ext uri="{FF2B5EF4-FFF2-40B4-BE49-F238E27FC236}">
                      <a16:creationId xmlns:a16="http://schemas.microsoft.com/office/drawing/2014/main" id="{BD4E1A11-85DF-C7AE-E013-4DF1B55448EB}"/>
                    </a:ext>
                  </a:extLst>
                </p:cNvPr>
                <p:cNvSpPr>
                  <a:spLocks/>
                </p:cNvSpPr>
                <p:nvPr/>
              </p:nvSpPr>
              <p:spPr bwMode="auto">
                <a:xfrm>
                  <a:off x="1515009" y="2120901"/>
                  <a:ext cx="107393" cy="58851"/>
                </a:xfrm>
                <a:custGeom>
                  <a:avLst/>
                  <a:gdLst>
                    <a:gd name="T0" fmla="*/ 0 w 212"/>
                    <a:gd name="T1" fmla="*/ 0 h 102"/>
                    <a:gd name="T2" fmla="*/ 1 w 212"/>
                    <a:gd name="T3" fmla="*/ 1 h 102"/>
                    <a:gd name="T4" fmla="*/ 1 w 212"/>
                    <a:gd name="T5" fmla="*/ 1 h 102"/>
                    <a:gd name="T6" fmla="*/ 1 w 212"/>
                    <a:gd name="T7" fmla="*/ 1 h 102"/>
                    <a:gd name="T8" fmla="*/ 1 w 212"/>
                    <a:gd name="T9" fmla="*/ 1 h 102"/>
                    <a:gd name="T10" fmla="*/ 1 w 212"/>
                    <a:gd name="T11" fmla="*/ 1 h 102"/>
                    <a:gd name="T12" fmla="*/ 1 w 212"/>
                    <a:gd name="T13" fmla="*/ 1 h 102"/>
                    <a:gd name="T14" fmla="*/ 1 w 212"/>
                    <a:gd name="T15" fmla="*/ 1 h 102"/>
                    <a:gd name="T16" fmla="*/ 1 w 212"/>
                    <a:gd name="T17" fmla="*/ 1 h 102"/>
                    <a:gd name="T18" fmla="*/ 1 w 212"/>
                    <a:gd name="T19" fmla="*/ 1 h 102"/>
                    <a:gd name="T20" fmla="*/ 1 w 212"/>
                    <a:gd name="T21" fmla="*/ 1 h 102"/>
                    <a:gd name="T22" fmla="*/ 1 w 212"/>
                    <a:gd name="T23" fmla="*/ 0 h 102"/>
                    <a:gd name="T24" fmla="*/ 0 w 21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102"/>
                    <a:gd name="T41" fmla="*/ 212 w 212"/>
                    <a:gd name="T42" fmla="*/ 102 h 1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102">
                      <a:moveTo>
                        <a:pt x="0" y="0"/>
                      </a:moveTo>
                      <a:lnTo>
                        <a:pt x="18" y="36"/>
                      </a:lnTo>
                      <a:lnTo>
                        <a:pt x="69" y="36"/>
                      </a:lnTo>
                      <a:lnTo>
                        <a:pt x="52" y="44"/>
                      </a:lnTo>
                      <a:lnTo>
                        <a:pt x="65" y="56"/>
                      </a:lnTo>
                      <a:lnTo>
                        <a:pt x="19" y="62"/>
                      </a:lnTo>
                      <a:lnTo>
                        <a:pt x="93" y="75"/>
                      </a:lnTo>
                      <a:lnTo>
                        <a:pt x="212" y="102"/>
                      </a:lnTo>
                      <a:lnTo>
                        <a:pt x="194" y="42"/>
                      </a:lnTo>
                      <a:lnTo>
                        <a:pt x="109" y="8"/>
                      </a:lnTo>
                      <a:lnTo>
                        <a:pt x="81" y="23"/>
                      </a:lnTo>
                      <a:lnTo>
                        <a:pt x="73" y="0"/>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0" name="16243246.5325.3755.12575">
                  <a:extLst>
                    <a:ext uri="{FF2B5EF4-FFF2-40B4-BE49-F238E27FC236}">
                      <a16:creationId xmlns:a16="http://schemas.microsoft.com/office/drawing/2014/main" id="{687F127E-6A87-D6D4-6FC9-F0C102115BEF}"/>
                    </a:ext>
                  </a:extLst>
                </p:cNvPr>
                <p:cNvSpPr>
                  <a:spLocks/>
                </p:cNvSpPr>
                <p:nvPr/>
              </p:nvSpPr>
              <p:spPr bwMode="auto">
                <a:xfrm>
                  <a:off x="1565667" y="2232832"/>
                  <a:ext cx="85104" cy="60005"/>
                </a:xfrm>
                <a:custGeom>
                  <a:avLst/>
                  <a:gdLst>
                    <a:gd name="T0" fmla="*/ 0 w 169"/>
                    <a:gd name="T1" fmla="*/ 1 h 103"/>
                    <a:gd name="T2" fmla="*/ 0 w 169"/>
                    <a:gd name="T3" fmla="*/ 1 h 103"/>
                    <a:gd name="T4" fmla="*/ 0 w 169"/>
                    <a:gd name="T5" fmla="*/ 1 h 103"/>
                    <a:gd name="T6" fmla="*/ 0 w 169"/>
                    <a:gd name="T7" fmla="*/ 1 h 103"/>
                    <a:gd name="T8" fmla="*/ 0 w 169"/>
                    <a:gd name="T9" fmla="*/ 1 h 103"/>
                    <a:gd name="T10" fmla="*/ 0 w 169"/>
                    <a:gd name="T11" fmla="*/ 1 h 103"/>
                    <a:gd name="T12" fmla="*/ 0 w 169"/>
                    <a:gd name="T13" fmla="*/ 1 h 103"/>
                    <a:gd name="T14" fmla="*/ 0 w 169"/>
                    <a:gd name="T15" fmla="*/ 0 h 103"/>
                    <a:gd name="T16" fmla="*/ 0 w 169"/>
                    <a:gd name="T17" fmla="*/ 1 h 103"/>
                    <a:gd name="T18" fmla="*/ 0 w 169"/>
                    <a:gd name="T19" fmla="*/ 1 h 103"/>
                    <a:gd name="T20" fmla="*/ 0 w 169"/>
                    <a:gd name="T21" fmla="*/ 1 h 103"/>
                    <a:gd name="T22" fmla="*/ 0 w 169"/>
                    <a:gd name="T23" fmla="*/ 1 h 103"/>
                    <a:gd name="T24" fmla="*/ 0 w 169"/>
                    <a:gd name="T25" fmla="*/ 1 h 103"/>
                    <a:gd name="T26" fmla="*/ 0 w 169"/>
                    <a:gd name="T27" fmla="*/ 1 h 103"/>
                    <a:gd name="T28" fmla="*/ 0 w 169"/>
                    <a:gd name="T29" fmla="*/ 1 h 103"/>
                    <a:gd name="T30" fmla="*/ 0 w 169"/>
                    <a:gd name="T31" fmla="*/ 1 h 10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9"/>
                    <a:gd name="T49" fmla="*/ 0 h 103"/>
                    <a:gd name="T50" fmla="*/ 169 w 169"/>
                    <a:gd name="T51" fmla="*/ 103 h 10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9" h="103">
                      <a:moveTo>
                        <a:pt x="0" y="67"/>
                      </a:moveTo>
                      <a:lnTo>
                        <a:pt x="18" y="42"/>
                      </a:lnTo>
                      <a:lnTo>
                        <a:pt x="51" y="46"/>
                      </a:lnTo>
                      <a:lnTo>
                        <a:pt x="10" y="22"/>
                      </a:lnTo>
                      <a:lnTo>
                        <a:pt x="19" y="7"/>
                      </a:lnTo>
                      <a:lnTo>
                        <a:pt x="88" y="40"/>
                      </a:lnTo>
                      <a:lnTo>
                        <a:pt x="49" y="4"/>
                      </a:lnTo>
                      <a:lnTo>
                        <a:pt x="151" y="0"/>
                      </a:lnTo>
                      <a:lnTo>
                        <a:pt x="169" y="75"/>
                      </a:lnTo>
                      <a:lnTo>
                        <a:pt x="148" y="63"/>
                      </a:lnTo>
                      <a:lnTo>
                        <a:pt x="147" y="103"/>
                      </a:lnTo>
                      <a:lnTo>
                        <a:pt x="64" y="99"/>
                      </a:lnTo>
                      <a:lnTo>
                        <a:pt x="81" y="88"/>
                      </a:lnTo>
                      <a:lnTo>
                        <a:pt x="59" y="73"/>
                      </a:lnTo>
                      <a:lnTo>
                        <a:pt x="118" y="52"/>
                      </a:lnTo>
                      <a:lnTo>
                        <a:pt x="0" y="6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1" name="16244255.25325.57.8758.255">
                  <a:extLst>
                    <a:ext uri="{FF2B5EF4-FFF2-40B4-BE49-F238E27FC236}">
                      <a16:creationId xmlns:a16="http://schemas.microsoft.com/office/drawing/2014/main" id="{73A315C4-6C1F-8AFD-3162-BD3B8AF34856}"/>
                    </a:ext>
                  </a:extLst>
                </p:cNvPr>
                <p:cNvSpPr>
                  <a:spLocks/>
                </p:cNvSpPr>
                <p:nvPr/>
              </p:nvSpPr>
              <p:spPr bwMode="auto">
                <a:xfrm>
                  <a:off x="1567693" y="2335533"/>
                  <a:ext cx="100302" cy="93469"/>
                </a:xfrm>
                <a:custGeom>
                  <a:avLst/>
                  <a:gdLst>
                    <a:gd name="T0" fmla="*/ 0 w 198"/>
                    <a:gd name="T1" fmla="*/ 1 h 162"/>
                    <a:gd name="T2" fmla="*/ 1 w 198"/>
                    <a:gd name="T3" fmla="*/ 1 h 162"/>
                    <a:gd name="T4" fmla="*/ 1 w 198"/>
                    <a:gd name="T5" fmla="*/ 1 h 162"/>
                    <a:gd name="T6" fmla="*/ 1 w 198"/>
                    <a:gd name="T7" fmla="*/ 1 h 162"/>
                    <a:gd name="T8" fmla="*/ 1 w 198"/>
                    <a:gd name="T9" fmla="*/ 1 h 162"/>
                    <a:gd name="T10" fmla="*/ 1 w 198"/>
                    <a:gd name="T11" fmla="*/ 1 h 162"/>
                    <a:gd name="T12" fmla="*/ 1 w 198"/>
                    <a:gd name="T13" fmla="*/ 1 h 162"/>
                    <a:gd name="T14" fmla="*/ 1 w 198"/>
                    <a:gd name="T15" fmla="*/ 1 h 162"/>
                    <a:gd name="T16" fmla="*/ 1 w 198"/>
                    <a:gd name="T17" fmla="*/ 0 h 162"/>
                    <a:gd name="T18" fmla="*/ 1 w 198"/>
                    <a:gd name="T19" fmla="*/ 1 h 162"/>
                    <a:gd name="T20" fmla="*/ 1 w 198"/>
                    <a:gd name="T21" fmla="*/ 1 h 162"/>
                    <a:gd name="T22" fmla="*/ 1 w 198"/>
                    <a:gd name="T23" fmla="*/ 1 h 162"/>
                    <a:gd name="T24" fmla="*/ 1 w 198"/>
                    <a:gd name="T25" fmla="*/ 1 h 162"/>
                    <a:gd name="T26" fmla="*/ 1 w 198"/>
                    <a:gd name="T27" fmla="*/ 1 h 162"/>
                    <a:gd name="T28" fmla="*/ 1 w 198"/>
                    <a:gd name="T29" fmla="*/ 1 h 162"/>
                    <a:gd name="T30" fmla="*/ 0 w 198"/>
                    <a:gd name="T31" fmla="*/ 1 h 16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8"/>
                    <a:gd name="T49" fmla="*/ 0 h 162"/>
                    <a:gd name="T50" fmla="*/ 198 w 198"/>
                    <a:gd name="T51" fmla="*/ 162 h 16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8" h="162">
                      <a:moveTo>
                        <a:pt x="0" y="81"/>
                      </a:moveTo>
                      <a:lnTo>
                        <a:pt x="10" y="61"/>
                      </a:lnTo>
                      <a:lnTo>
                        <a:pt x="76" y="73"/>
                      </a:lnTo>
                      <a:lnTo>
                        <a:pt x="66" y="47"/>
                      </a:lnTo>
                      <a:lnTo>
                        <a:pt x="84" y="48"/>
                      </a:lnTo>
                      <a:lnTo>
                        <a:pt x="40" y="35"/>
                      </a:lnTo>
                      <a:lnTo>
                        <a:pt x="60" y="28"/>
                      </a:lnTo>
                      <a:lnTo>
                        <a:pt x="41" y="14"/>
                      </a:lnTo>
                      <a:lnTo>
                        <a:pt x="168" y="0"/>
                      </a:lnTo>
                      <a:lnTo>
                        <a:pt x="172" y="36"/>
                      </a:lnTo>
                      <a:lnTo>
                        <a:pt x="133" y="65"/>
                      </a:lnTo>
                      <a:lnTo>
                        <a:pt x="191" y="73"/>
                      </a:lnTo>
                      <a:lnTo>
                        <a:pt x="198" y="131"/>
                      </a:lnTo>
                      <a:lnTo>
                        <a:pt x="113" y="162"/>
                      </a:lnTo>
                      <a:lnTo>
                        <a:pt x="76" y="117"/>
                      </a:lnTo>
                      <a:lnTo>
                        <a:pt x="0" y="8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2" name="16245238.375331.254.12555">
                  <a:extLst>
                    <a:ext uri="{FF2B5EF4-FFF2-40B4-BE49-F238E27FC236}">
                      <a16:creationId xmlns:a16="http://schemas.microsoft.com/office/drawing/2014/main" id="{E20E86D1-6AB8-38EF-1454-E48317FB57DA}"/>
                    </a:ext>
                  </a:extLst>
                </p:cNvPr>
                <p:cNvSpPr>
                  <a:spLocks/>
                </p:cNvSpPr>
                <p:nvPr/>
              </p:nvSpPr>
              <p:spPr bwMode="auto">
                <a:xfrm>
                  <a:off x="1637599" y="2135901"/>
                  <a:ext cx="60789" cy="48465"/>
                </a:xfrm>
                <a:custGeom>
                  <a:avLst/>
                  <a:gdLst>
                    <a:gd name="T0" fmla="*/ 0 w 119"/>
                    <a:gd name="T1" fmla="*/ 0 h 82"/>
                    <a:gd name="T2" fmla="*/ 1 w 119"/>
                    <a:gd name="T3" fmla="*/ 1 h 82"/>
                    <a:gd name="T4" fmla="*/ 1 w 119"/>
                    <a:gd name="T5" fmla="*/ 1 h 82"/>
                    <a:gd name="T6" fmla="*/ 1 w 119"/>
                    <a:gd name="T7" fmla="*/ 1 h 82"/>
                    <a:gd name="T8" fmla="*/ 1 w 119"/>
                    <a:gd name="T9" fmla="*/ 1 h 82"/>
                    <a:gd name="T10" fmla="*/ 1 w 119"/>
                    <a:gd name="T11" fmla="*/ 1 h 82"/>
                    <a:gd name="T12" fmla="*/ 1 w 119"/>
                    <a:gd name="T13" fmla="*/ 1 h 82"/>
                    <a:gd name="T14" fmla="*/ 0 w 119"/>
                    <a:gd name="T15" fmla="*/ 0 h 82"/>
                    <a:gd name="T16" fmla="*/ 0 60000 65536"/>
                    <a:gd name="T17" fmla="*/ 0 60000 65536"/>
                    <a:gd name="T18" fmla="*/ 0 60000 65536"/>
                    <a:gd name="T19" fmla="*/ 0 60000 65536"/>
                    <a:gd name="T20" fmla="*/ 0 60000 65536"/>
                    <a:gd name="T21" fmla="*/ 0 60000 65536"/>
                    <a:gd name="T22" fmla="*/ 0 60000 65536"/>
                    <a:gd name="T23" fmla="*/ 0 60000 65536"/>
                    <a:gd name="T24" fmla="*/ 0 w 119"/>
                    <a:gd name="T25" fmla="*/ 0 h 82"/>
                    <a:gd name="T26" fmla="*/ 119 w 119"/>
                    <a:gd name="T27" fmla="*/ 82 h 8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9" h="82">
                      <a:moveTo>
                        <a:pt x="0" y="0"/>
                      </a:moveTo>
                      <a:lnTo>
                        <a:pt x="14" y="49"/>
                      </a:lnTo>
                      <a:lnTo>
                        <a:pt x="51" y="52"/>
                      </a:lnTo>
                      <a:lnTo>
                        <a:pt x="19" y="59"/>
                      </a:lnTo>
                      <a:lnTo>
                        <a:pt x="34" y="82"/>
                      </a:lnTo>
                      <a:lnTo>
                        <a:pt x="108" y="69"/>
                      </a:lnTo>
                      <a:lnTo>
                        <a:pt x="119" y="41"/>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3" name="16246244.625333.1258.7523.8755">
                  <a:extLst>
                    <a:ext uri="{FF2B5EF4-FFF2-40B4-BE49-F238E27FC236}">
                      <a16:creationId xmlns:a16="http://schemas.microsoft.com/office/drawing/2014/main" id="{660B6E36-A8D8-6C6B-53D4-393CC5953828}"/>
                    </a:ext>
                  </a:extLst>
                </p:cNvPr>
                <p:cNvSpPr>
                  <a:spLocks/>
                </p:cNvSpPr>
                <p:nvPr/>
              </p:nvSpPr>
              <p:spPr bwMode="auto">
                <a:xfrm>
                  <a:off x="1659889" y="2209754"/>
                  <a:ext cx="290773" cy="103854"/>
                </a:xfrm>
                <a:custGeom>
                  <a:avLst/>
                  <a:gdLst>
                    <a:gd name="T0" fmla="*/ 0 w 575"/>
                    <a:gd name="T1" fmla="*/ 0 h 182"/>
                    <a:gd name="T2" fmla="*/ 0 w 575"/>
                    <a:gd name="T3" fmla="*/ 0 h 182"/>
                    <a:gd name="T4" fmla="*/ 0 w 575"/>
                    <a:gd name="T5" fmla="*/ 0 h 182"/>
                    <a:gd name="T6" fmla="*/ 0 w 575"/>
                    <a:gd name="T7" fmla="*/ 0 h 182"/>
                    <a:gd name="T8" fmla="*/ 0 w 575"/>
                    <a:gd name="T9" fmla="*/ 0 h 182"/>
                    <a:gd name="T10" fmla="*/ 0 w 575"/>
                    <a:gd name="T11" fmla="*/ 0 h 182"/>
                    <a:gd name="T12" fmla="*/ 0 w 575"/>
                    <a:gd name="T13" fmla="*/ 0 h 182"/>
                    <a:gd name="T14" fmla="*/ 0 w 575"/>
                    <a:gd name="T15" fmla="*/ 0 h 182"/>
                    <a:gd name="T16" fmla="*/ 0 w 575"/>
                    <a:gd name="T17" fmla="*/ 0 h 182"/>
                    <a:gd name="T18" fmla="*/ 0 w 575"/>
                    <a:gd name="T19" fmla="*/ 0 h 182"/>
                    <a:gd name="T20" fmla="*/ 0 w 575"/>
                    <a:gd name="T21" fmla="*/ 0 h 182"/>
                    <a:gd name="T22" fmla="*/ 0 w 575"/>
                    <a:gd name="T23" fmla="*/ 0 h 182"/>
                    <a:gd name="T24" fmla="*/ 0 w 575"/>
                    <a:gd name="T25" fmla="*/ 0 h 182"/>
                    <a:gd name="T26" fmla="*/ 0 w 575"/>
                    <a:gd name="T27" fmla="*/ 0 h 182"/>
                    <a:gd name="T28" fmla="*/ 0 w 575"/>
                    <a:gd name="T29" fmla="*/ 0 h 182"/>
                    <a:gd name="T30" fmla="*/ 0 w 575"/>
                    <a:gd name="T31" fmla="*/ 0 h 182"/>
                    <a:gd name="T32" fmla="*/ 0 w 575"/>
                    <a:gd name="T33" fmla="*/ 0 h 182"/>
                    <a:gd name="T34" fmla="*/ 0 w 575"/>
                    <a:gd name="T35" fmla="*/ 0 h 182"/>
                    <a:gd name="T36" fmla="*/ 0 w 575"/>
                    <a:gd name="T37" fmla="*/ 0 h 182"/>
                    <a:gd name="T38" fmla="*/ 0 w 575"/>
                    <a:gd name="T39" fmla="*/ 0 h 182"/>
                    <a:gd name="T40" fmla="*/ 0 w 575"/>
                    <a:gd name="T41" fmla="*/ 0 h 182"/>
                    <a:gd name="T42" fmla="*/ 0 w 575"/>
                    <a:gd name="T43" fmla="*/ 0 h 182"/>
                    <a:gd name="T44" fmla="*/ 0 w 575"/>
                    <a:gd name="T45" fmla="*/ 0 h 182"/>
                    <a:gd name="T46" fmla="*/ 0 w 575"/>
                    <a:gd name="T47" fmla="*/ 0 h 182"/>
                    <a:gd name="T48" fmla="*/ 0 w 575"/>
                    <a:gd name="T49" fmla="*/ 0 h 182"/>
                    <a:gd name="T50" fmla="*/ 0 w 575"/>
                    <a:gd name="T51" fmla="*/ 0 h 182"/>
                    <a:gd name="T52" fmla="*/ 0 w 575"/>
                    <a:gd name="T53" fmla="*/ 0 h 182"/>
                    <a:gd name="T54" fmla="*/ 0 w 575"/>
                    <a:gd name="T55" fmla="*/ 0 h 182"/>
                    <a:gd name="T56" fmla="*/ 0 w 575"/>
                    <a:gd name="T57" fmla="*/ 0 h 182"/>
                    <a:gd name="T58" fmla="*/ 0 w 575"/>
                    <a:gd name="T59" fmla="*/ 0 h 182"/>
                    <a:gd name="T60" fmla="*/ 0 w 575"/>
                    <a:gd name="T61" fmla="*/ 0 h 182"/>
                    <a:gd name="T62" fmla="*/ 0 w 575"/>
                    <a:gd name="T63" fmla="*/ 0 h 18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5"/>
                    <a:gd name="T97" fmla="*/ 0 h 182"/>
                    <a:gd name="T98" fmla="*/ 575 w 575"/>
                    <a:gd name="T99" fmla="*/ 182 h 18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5" h="182">
                      <a:moveTo>
                        <a:pt x="0" y="29"/>
                      </a:moveTo>
                      <a:lnTo>
                        <a:pt x="36" y="0"/>
                      </a:lnTo>
                      <a:lnTo>
                        <a:pt x="87" y="16"/>
                      </a:lnTo>
                      <a:lnTo>
                        <a:pt x="121" y="29"/>
                      </a:lnTo>
                      <a:lnTo>
                        <a:pt x="110" y="50"/>
                      </a:lnTo>
                      <a:lnTo>
                        <a:pt x="176" y="32"/>
                      </a:lnTo>
                      <a:lnTo>
                        <a:pt x="219" y="50"/>
                      </a:lnTo>
                      <a:lnTo>
                        <a:pt x="183" y="50"/>
                      </a:lnTo>
                      <a:lnTo>
                        <a:pt x="256" y="64"/>
                      </a:lnTo>
                      <a:lnTo>
                        <a:pt x="176" y="69"/>
                      </a:lnTo>
                      <a:lnTo>
                        <a:pt x="219" y="82"/>
                      </a:lnTo>
                      <a:lnTo>
                        <a:pt x="187" y="97"/>
                      </a:lnTo>
                      <a:lnTo>
                        <a:pt x="227" y="84"/>
                      </a:lnTo>
                      <a:lnTo>
                        <a:pt x="263" y="120"/>
                      </a:lnTo>
                      <a:lnTo>
                        <a:pt x="271" y="104"/>
                      </a:lnTo>
                      <a:lnTo>
                        <a:pt x="377" y="120"/>
                      </a:lnTo>
                      <a:lnTo>
                        <a:pt x="486" y="86"/>
                      </a:lnTo>
                      <a:lnTo>
                        <a:pt x="575" y="126"/>
                      </a:lnTo>
                      <a:lnTo>
                        <a:pt x="547" y="145"/>
                      </a:lnTo>
                      <a:lnTo>
                        <a:pt x="557" y="175"/>
                      </a:lnTo>
                      <a:lnTo>
                        <a:pt x="505" y="182"/>
                      </a:lnTo>
                      <a:lnTo>
                        <a:pt x="446" y="153"/>
                      </a:lnTo>
                      <a:lnTo>
                        <a:pt x="446" y="175"/>
                      </a:lnTo>
                      <a:lnTo>
                        <a:pt x="414" y="179"/>
                      </a:lnTo>
                      <a:lnTo>
                        <a:pt x="285" y="182"/>
                      </a:lnTo>
                      <a:lnTo>
                        <a:pt x="271" y="157"/>
                      </a:lnTo>
                      <a:lnTo>
                        <a:pt x="240" y="179"/>
                      </a:lnTo>
                      <a:lnTo>
                        <a:pt x="200" y="157"/>
                      </a:lnTo>
                      <a:lnTo>
                        <a:pt x="174" y="172"/>
                      </a:lnTo>
                      <a:lnTo>
                        <a:pt x="124" y="54"/>
                      </a:lnTo>
                      <a:lnTo>
                        <a:pt x="65" y="65"/>
                      </a:lnTo>
                      <a:lnTo>
                        <a:pt x="0" y="2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4" name="16247229.37533411.7515.6255">
                  <a:extLst>
                    <a:ext uri="{FF2B5EF4-FFF2-40B4-BE49-F238E27FC236}">
                      <a16:creationId xmlns:a16="http://schemas.microsoft.com/office/drawing/2014/main" id="{230C113A-3B81-E5AB-8189-E20019158EC8}"/>
                    </a:ext>
                  </a:extLst>
                </p:cNvPr>
                <p:cNvSpPr>
                  <a:spLocks/>
                </p:cNvSpPr>
                <p:nvPr/>
              </p:nvSpPr>
              <p:spPr bwMode="auto">
                <a:xfrm>
                  <a:off x="1671033" y="2029740"/>
                  <a:ext cx="190471" cy="139627"/>
                </a:xfrm>
                <a:custGeom>
                  <a:avLst/>
                  <a:gdLst>
                    <a:gd name="T0" fmla="*/ 0 w 375"/>
                    <a:gd name="T1" fmla="*/ 1 h 242"/>
                    <a:gd name="T2" fmla="*/ 1 w 375"/>
                    <a:gd name="T3" fmla="*/ 1 h 242"/>
                    <a:gd name="T4" fmla="*/ 1 w 375"/>
                    <a:gd name="T5" fmla="*/ 1 h 242"/>
                    <a:gd name="T6" fmla="*/ 1 w 375"/>
                    <a:gd name="T7" fmla="*/ 1 h 242"/>
                    <a:gd name="T8" fmla="*/ 1 w 375"/>
                    <a:gd name="T9" fmla="*/ 0 h 242"/>
                    <a:gd name="T10" fmla="*/ 1 w 375"/>
                    <a:gd name="T11" fmla="*/ 1 h 242"/>
                    <a:gd name="T12" fmla="*/ 1 w 375"/>
                    <a:gd name="T13" fmla="*/ 1 h 242"/>
                    <a:gd name="T14" fmla="*/ 1 w 375"/>
                    <a:gd name="T15" fmla="*/ 1 h 242"/>
                    <a:gd name="T16" fmla="*/ 1 w 375"/>
                    <a:gd name="T17" fmla="*/ 1 h 242"/>
                    <a:gd name="T18" fmla="*/ 1 w 375"/>
                    <a:gd name="T19" fmla="*/ 1 h 242"/>
                    <a:gd name="T20" fmla="*/ 1 w 375"/>
                    <a:gd name="T21" fmla="*/ 1 h 242"/>
                    <a:gd name="T22" fmla="*/ 1 w 375"/>
                    <a:gd name="T23" fmla="*/ 1 h 242"/>
                    <a:gd name="T24" fmla="*/ 1 w 375"/>
                    <a:gd name="T25" fmla="*/ 1 h 242"/>
                    <a:gd name="T26" fmla="*/ 1 w 375"/>
                    <a:gd name="T27" fmla="*/ 1 h 242"/>
                    <a:gd name="T28" fmla="*/ 1 w 375"/>
                    <a:gd name="T29" fmla="*/ 1 h 242"/>
                    <a:gd name="T30" fmla="*/ 1 w 375"/>
                    <a:gd name="T31" fmla="*/ 1 h 242"/>
                    <a:gd name="T32" fmla="*/ 1 w 375"/>
                    <a:gd name="T33" fmla="*/ 1 h 242"/>
                    <a:gd name="T34" fmla="*/ 1 w 375"/>
                    <a:gd name="T35" fmla="*/ 1 h 242"/>
                    <a:gd name="T36" fmla="*/ 1 w 375"/>
                    <a:gd name="T37" fmla="*/ 1 h 242"/>
                    <a:gd name="T38" fmla="*/ 1 w 375"/>
                    <a:gd name="T39" fmla="*/ 1 h 242"/>
                    <a:gd name="T40" fmla="*/ 1 w 375"/>
                    <a:gd name="T41" fmla="*/ 1 h 242"/>
                    <a:gd name="T42" fmla="*/ 1 w 375"/>
                    <a:gd name="T43" fmla="*/ 1 h 242"/>
                    <a:gd name="T44" fmla="*/ 1 w 375"/>
                    <a:gd name="T45" fmla="*/ 1 h 242"/>
                    <a:gd name="T46" fmla="*/ 1 w 375"/>
                    <a:gd name="T47" fmla="*/ 1 h 242"/>
                    <a:gd name="T48" fmla="*/ 1 w 375"/>
                    <a:gd name="T49" fmla="*/ 1 h 242"/>
                    <a:gd name="T50" fmla="*/ 1 w 375"/>
                    <a:gd name="T51" fmla="*/ 1 h 242"/>
                    <a:gd name="T52" fmla="*/ 1 w 375"/>
                    <a:gd name="T53" fmla="*/ 1 h 242"/>
                    <a:gd name="T54" fmla="*/ 1 w 375"/>
                    <a:gd name="T55" fmla="*/ 1 h 242"/>
                    <a:gd name="T56" fmla="*/ 1 w 375"/>
                    <a:gd name="T57" fmla="*/ 1 h 242"/>
                    <a:gd name="T58" fmla="*/ 1 w 375"/>
                    <a:gd name="T59" fmla="*/ 1 h 242"/>
                    <a:gd name="T60" fmla="*/ 1 w 375"/>
                    <a:gd name="T61" fmla="*/ 1 h 242"/>
                    <a:gd name="T62" fmla="*/ 1 w 375"/>
                    <a:gd name="T63" fmla="*/ 1 h 242"/>
                    <a:gd name="T64" fmla="*/ 1 w 375"/>
                    <a:gd name="T65" fmla="*/ 1 h 242"/>
                    <a:gd name="T66" fmla="*/ 1 w 375"/>
                    <a:gd name="T67" fmla="*/ 1 h 242"/>
                    <a:gd name="T68" fmla="*/ 1 w 375"/>
                    <a:gd name="T69" fmla="*/ 1 h 242"/>
                    <a:gd name="T70" fmla="*/ 1 w 375"/>
                    <a:gd name="T71" fmla="*/ 1 h 242"/>
                    <a:gd name="T72" fmla="*/ 1 w 375"/>
                    <a:gd name="T73" fmla="*/ 1 h 242"/>
                    <a:gd name="T74" fmla="*/ 0 w 375"/>
                    <a:gd name="T75" fmla="*/ 1 h 24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75"/>
                    <a:gd name="T115" fmla="*/ 0 h 242"/>
                    <a:gd name="T116" fmla="*/ 375 w 375"/>
                    <a:gd name="T117" fmla="*/ 242 h 24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75" h="242">
                      <a:moveTo>
                        <a:pt x="0" y="75"/>
                      </a:moveTo>
                      <a:lnTo>
                        <a:pt x="90" y="61"/>
                      </a:lnTo>
                      <a:lnTo>
                        <a:pt x="42" y="28"/>
                      </a:lnTo>
                      <a:lnTo>
                        <a:pt x="122" y="13"/>
                      </a:lnTo>
                      <a:lnTo>
                        <a:pt x="59" y="0"/>
                      </a:lnTo>
                      <a:lnTo>
                        <a:pt x="159" y="17"/>
                      </a:lnTo>
                      <a:lnTo>
                        <a:pt x="188" y="63"/>
                      </a:lnTo>
                      <a:lnTo>
                        <a:pt x="240" y="64"/>
                      </a:lnTo>
                      <a:lnTo>
                        <a:pt x="260" y="96"/>
                      </a:lnTo>
                      <a:lnTo>
                        <a:pt x="264" y="74"/>
                      </a:lnTo>
                      <a:lnTo>
                        <a:pt x="290" y="75"/>
                      </a:lnTo>
                      <a:lnTo>
                        <a:pt x="279" y="96"/>
                      </a:lnTo>
                      <a:lnTo>
                        <a:pt x="308" y="111"/>
                      </a:lnTo>
                      <a:lnTo>
                        <a:pt x="290" y="133"/>
                      </a:lnTo>
                      <a:lnTo>
                        <a:pt x="349" y="130"/>
                      </a:lnTo>
                      <a:lnTo>
                        <a:pt x="375" y="162"/>
                      </a:lnTo>
                      <a:lnTo>
                        <a:pt x="304" y="173"/>
                      </a:lnTo>
                      <a:lnTo>
                        <a:pt x="284" y="202"/>
                      </a:lnTo>
                      <a:lnTo>
                        <a:pt x="271" y="171"/>
                      </a:lnTo>
                      <a:lnTo>
                        <a:pt x="251" y="240"/>
                      </a:lnTo>
                      <a:lnTo>
                        <a:pt x="206" y="205"/>
                      </a:lnTo>
                      <a:lnTo>
                        <a:pt x="229" y="242"/>
                      </a:lnTo>
                      <a:lnTo>
                        <a:pt x="141" y="236"/>
                      </a:lnTo>
                      <a:lnTo>
                        <a:pt x="114" y="217"/>
                      </a:lnTo>
                      <a:lnTo>
                        <a:pt x="155" y="214"/>
                      </a:lnTo>
                      <a:lnTo>
                        <a:pt x="111" y="207"/>
                      </a:lnTo>
                      <a:lnTo>
                        <a:pt x="99" y="196"/>
                      </a:lnTo>
                      <a:lnTo>
                        <a:pt x="122" y="195"/>
                      </a:lnTo>
                      <a:lnTo>
                        <a:pt x="85" y="180"/>
                      </a:lnTo>
                      <a:lnTo>
                        <a:pt x="203" y="158"/>
                      </a:lnTo>
                      <a:lnTo>
                        <a:pt x="59" y="162"/>
                      </a:lnTo>
                      <a:lnTo>
                        <a:pt x="33" y="138"/>
                      </a:lnTo>
                      <a:lnTo>
                        <a:pt x="85" y="127"/>
                      </a:lnTo>
                      <a:lnTo>
                        <a:pt x="5" y="111"/>
                      </a:lnTo>
                      <a:lnTo>
                        <a:pt x="23" y="110"/>
                      </a:lnTo>
                      <a:lnTo>
                        <a:pt x="1" y="93"/>
                      </a:lnTo>
                      <a:lnTo>
                        <a:pt x="90" y="93"/>
                      </a:lnTo>
                      <a:lnTo>
                        <a:pt x="0" y="7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5" name="16248249.7533433.8755">
                  <a:extLst>
                    <a:ext uri="{FF2B5EF4-FFF2-40B4-BE49-F238E27FC236}">
                      <a16:creationId xmlns:a16="http://schemas.microsoft.com/office/drawing/2014/main" id="{61D976B2-3E7F-E5B2-5FC2-03691030ED83}"/>
                    </a:ext>
                  </a:extLst>
                </p:cNvPr>
                <p:cNvSpPr>
                  <a:spLocks/>
                </p:cNvSpPr>
                <p:nvPr/>
              </p:nvSpPr>
              <p:spPr bwMode="auto">
                <a:xfrm>
                  <a:off x="1671033" y="2270913"/>
                  <a:ext cx="46604" cy="35772"/>
                </a:xfrm>
                <a:custGeom>
                  <a:avLst/>
                  <a:gdLst>
                    <a:gd name="T0" fmla="*/ 0 w 90"/>
                    <a:gd name="T1" fmla="*/ 1 h 62"/>
                    <a:gd name="T2" fmla="*/ 1 w 90"/>
                    <a:gd name="T3" fmla="*/ 0 h 62"/>
                    <a:gd name="T4" fmla="*/ 1 w 90"/>
                    <a:gd name="T5" fmla="*/ 1 h 62"/>
                    <a:gd name="T6" fmla="*/ 1 w 90"/>
                    <a:gd name="T7" fmla="*/ 1 h 62"/>
                    <a:gd name="T8" fmla="*/ 0 w 90"/>
                    <a:gd name="T9" fmla="*/ 1 h 62"/>
                    <a:gd name="T10" fmla="*/ 0 60000 65536"/>
                    <a:gd name="T11" fmla="*/ 0 60000 65536"/>
                    <a:gd name="T12" fmla="*/ 0 60000 65536"/>
                    <a:gd name="T13" fmla="*/ 0 60000 65536"/>
                    <a:gd name="T14" fmla="*/ 0 60000 65536"/>
                    <a:gd name="T15" fmla="*/ 0 w 90"/>
                    <a:gd name="T16" fmla="*/ 0 h 62"/>
                    <a:gd name="T17" fmla="*/ 90 w 90"/>
                    <a:gd name="T18" fmla="*/ 62 h 62"/>
                  </a:gdLst>
                  <a:ahLst/>
                  <a:cxnLst>
                    <a:cxn ang="T10">
                      <a:pos x="T0" y="T1"/>
                    </a:cxn>
                    <a:cxn ang="T11">
                      <a:pos x="T2" y="T3"/>
                    </a:cxn>
                    <a:cxn ang="T12">
                      <a:pos x="T4" y="T5"/>
                    </a:cxn>
                    <a:cxn ang="T13">
                      <a:pos x="T6" y="T7"/>
                    </a:cxn>
                    <a:cxn ang="T14">
                      <a:pos x="T8" y="T9"/>
                    </a:cxn>
                  </a:cxnLst>
                  <a:rect l="T15" t="T16" r="T17" b="T18"/>
                  <a:pathLst>
                    <a:path w="90" h="62">
                      <a:moveTo>
                        <a:pt x="0" y="43"/>
                      </a:moveTo>
                      <a:lnTo>
                        <a:pt x="15" y="0"/>
                      </a:lnTo>
                      <a:lnTo>
                        <a:pt x="74" y="13"/>
                      </a:lnTo>
                      <a:lnTo>
                        <a:pt x="90" y="62"/>
                      </a:lnTo>
                      <a:lnTo>
                        <a:pt x="0" y="4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6" name="16249242.5334.12514.255">
                  <a:extLst>
                    <a:ext uri="{FF2B5EF4-FFF2-40B4-BE49-F238E27FC236}">
                      <a16:creationId xmlns:a16="http://schemas.microsoft.com/office/drawing/2014/main" id="{DA32B2ED-7507-FBFA-AB6B-E1691EE12BAC}"/>
                    </a:ext>
                  </a:extLst>
                </p:cNvPr>
                <p:cNvSpPr>
                  <a:spLocks/>
                </p:cNvSpPr>
                <p:nvPr/>
              </p:nvSpPr>
              <p:spPr bwMode="auto">
                <a:xfrm>
                  <a:off x="1672046" y="2184367"/>
                  <a:ext cx="51670" cy="12693"/>
                </a:xfrm>
                <a:custGeom>
                  <a:avLst/>
                  <a:gdLst>
                    <a:gd name="T0" fmla="*/ 0 w 102"/>
                    <a:gd name="T1" fmla="*/ 1 h 22"/>
                    <a:gd name="T2" fmla="*/ 1 w 102"/>
                    <a:gd name="T3" fmla="*/ 1 h 22"/>
                    <a:gd name="T4" fmla="*/ 1 w 102"/>
                    <a:gd name="T5" fmla="*/ 1 h 22"/>
                    <a:gd name="T6" fmla="*/ 1 w 102"/>
                    <a:gd name="T7" fmla="*/ 0 h 22"/>
                    <a:gd name="T8" fmla="*/ 0 w 102"/>
                    <a:gd name="T9" fmla="*/ 1 h 22"/>
                    <a:gd name="T10" fmla="*/ 0 60000 65536"/>
                    <a:gd name="T11" fmla="*/ 0 60000 65536"/>
                    <a:gd name="T12" fmla="*/ 0 60000 65536"/>
                    <a:gd name="T13" fmla="*/ 0 60000 65536"/>
                    <a:gd name="T14" fmla="*/ 0 60000 65536"/>
                    <a:gd name="T15" fmla="*/ 0 w 102"/>
                    <a:gd name="T16" fmla="*/ 0 h 22"/>
                    <a:gd name="T17" fmla="*/ 102 w 102"/>
                    <a:gd name="T18" fmla="*/ 22 h 22"/>
                  </a:gdLst>
                  <a:ahLst/>
                  <a:cxnLst>
                    <a:cxn ang="T10">
                      <a:pos x="T0" y="T1"/>
                    </a:cxn>
                    <a:cxn ang="T11">
                      <a:pos x="T2" y="T3"/>
                    </a:cxn>
                    <a:cxn ang="T12">
                      <a:pos x="T4" y="T5"/>
                    </a:cxn>
                    <a:cxn ang="T13">
                      <a:pos x="T6" y="T7"/>
                    </a:cxn>
                    <a:cxn ang="T14">
                      <a:pos x="T8" y="T9"/>
                    </a:cxn>
                  </a:cxnLst>
                  <a:rect l="T15" t="T16" r="T17" b="T18"/>
                  <a:pathLst>
                    <a:path w="102" h="22">
                      <a:moveTo>
                        <a:pt x="0" y="9"/>
                      </a:moveTo>
                      <a:lnTo>
                        <a:pt x="24" y="22"/>
                      </a:lnTo>
                      <a:lnTo>
                        <a:pt x="102" y="9"/>
                      </a:lnTo>
                      <a:lnTo>
                        <a:pt x="28" y="0"/>
                      </a:lnTo>
                      <a:lnTo>
                        <a:pt x="0" y="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7" name="16250254.75334.8756.257.3755">
                  <a:extLst>
                    <a:ext uri="{FF2B5EF4-FFF2-40B4-BE49-F238E27FC236}">
                      <a16:creationId xmlns:a16="http://schemas.microsoft.com/office/drawing/2014/main" id="{7DA563F3-3A21-DC48-E839-7CD1009D1AAC}"/>
                    </a:ext>
                  </a:extLst>
                </p:cNvPr>
                <p:cNvSpPr>
                  <a:spLocks/>
                </p:cNvSpPr>
                <p:nvPr/>
              </p:nvSpPr>
              <p:spPr bwMode="auto">
                <a:xfrm>
                  <a:off x="1681165" y="2330917"/>
                  <a:ext cx="90170" cy="73852"/>
                </a:xfrm>
                <a:custGeom>
                  <a:avLst/>
                  <a:gdLst>
                    <a:gd name="T0" fmla="*/ 0 w 179"/>
                    <a:gd name="T1" fmla="*/ 1 h 128"/>
                    <a:gd name="T2" fmla="*/ 0 w 179"/>
                    <a:gd name="T3" fmla="*/ 1 h 128"/>
                    <a:gd name="T4" fmla="*/ 0 w 179"/>
                    <a:gd name="T5" fmla="*/ 1 h 128"/>
                    <a:gd name="T6" fmla="*/ 0 w 179"/>
                    <a:gd name="T7" fmla="*/ 1 h 128"/>
                    <a:gd name="T8" fmla="*/ 0 w 179"/>
                    <a:gd name="T9" fmla="*/ 1 h 128"/>
                    <a:gd name="T10" fmla="*/ 0 w 179"/>
                    <a:gd name="T11" fmla="*/ 1 h 128"/>
                    <a:gd name="T12" fmla="*/ 0 w 179"/>
                    <a:gd name="T13" fmla="*/ 1 h 128"/>
                    <a:gd name="T14" fmla="*/ 0 w 179"/>
                    <a:gd name="T15" fmla="*/ 1 h 128"/>
                    <a:gd name="T16" fmla="*/ 0 w 179"/>
                    <a:gd name="T17" fmla="*/ 1 h 128"/>
                    <a:gd name="T18" fmla="*/ 0 w 179"/>
                    <a:gd name="T19" fmla="*/ 0 h 128"/>
                    <a:gd name="T20" fmla="*/ 0 w 179"/>
                    <a:gd name="T21" fmla="*/ 1 h 128"/>
                    <a:gd name="T22" fmla="*/ 0 w 179"/>
                    <a:gd name="T23" fmla="*/ 1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9"/>
                    <a:gd name="T37" fmla="*/ 0 h 128"/>
                    <a:gd name="T38" fmla="*/ 179 w 179"/>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9" h="128">
                      <a:moveTo>
                        <a:pt x="0" y="21"/>
                      </a:moveTo>
                      <a:lnTo>
                        <a:pt x="4" y="81"/>
                      </a:lnTo>
                      <a:lnTo>
                        <a:pt x="23" y="92"/>
                      </a:lnTo>
                      <a:lnTo>
                        <a:pt x="17" y="126"/>
                      </a:lnTo>
                      <a:lnTo>
                        <a:pt x="44" y="128"/>
                      </a:lnTo>
                      <a:lnTo>
                        <a:pt x="73" y="100"/>
                      </a:lnTo>
                      <a:lnTo>
                        <a:pt x="44" y="81"/>
                      </a:lnTo>
                      <a:lnTo>
                        <a:pt x="117" y="81"/>
                      </a:lnTo>
                      <a:lnTo>
                        <a:pt x="179" y="8"/>
                      </a:lnTo>
                      <a:lnTo>
                        <a:pt x="14" y="0"/>
                      </a:lnTo>
                      <a:lnTo>
                        <a:pt x="36" y="23"/>
                      </a:lnTo>
                      <a:lnTo>
                        <a:pt x="0" y="2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8" name="16251222.5339.87525.37542.6255">
                  <a:extLst>
                    <a:ext uri="{FF2B5EF4-FFF2-40B4-BE49-F238E27FC236}">
                      <a16:creationId xmlns:a16="http://schemas.microsoft.com/office/drawing/2014/main" id="{5B5665B0-0AC9-5997-5D4C-44B10765B311}"/>
                    </a:ext>
                  </a:extLst>
                </p:cNvPr>
                <p:cNvSpPr>
                  <a:spLocks/>
                </p:cNvSpPr>
                <p:nvPr/>
              </p:nvSpPr>
              <p:spPr bwMode="auto">
                <a:xfrm>
                  <a:off x="1742966" y="1947810"/>
                  <a:ext cx="519744" cy="301178"/>
                </a:xfrm>
                <a:custGeom>
                  <a:avLst/>
                  <a:gdLst>
                    <a:gd name="T0" fmla="*/ 1 w 1026"/>
                    <a:gd name="T1" fmla="*/ 1 h 522"/>
                    <a:gd name="T2" fmla="*/ 1 w 1026"/>
                    <a:gd name="T3" fmla="*/ 1 h 522"/>
                    <a:gd name="T4" fmla="*/ 1 w 1026"/>
                    <a:gd name="T5" fmla="*/ 1 h 522"/>
                    <a:gd name="T6" fmla="*/ 1 w 1026"/>
                    <a:gd name="T7" fmla="*/ 1 h 522"/>
                    <a:gd name="T8" fmla="*/ 1 w 1026"/>
                    <a:gd name="T9" fmla="*/ 1 h 522"/>
                    <a:gd name="T10" fmla="*/ 1 w 1026"/>
                    <a:gd name="T11" fmla="*/ 1 h 522"/>
                    <a:gd name="T12" fmla="*/ 1 w 1026"/>
                    <a:gd name="T13" fmla="*/ 1 h 522"/>
                    <a:gd name="T14" fmla="*/ 1 w 1026"/>
                    <a:gd name="T15" fmla="*/ 1 h 522"/>
                    <a:gd name="T16" fmla="*/ 1 w 1026"/>
                    <a:gd name="T17" fmla="*/ 1 h 522"/>
                    <a:gd name="T18" fmla="*/ 1 w 1026"/>
                    <a:gd name="T19" fmla="*/ 1 h 522"/>
                    <a:gd name="T20" fmla="*/ 1 w 1026"/>
                    <a:gd name="T21" fmla="*/ 1 h 522"/>
                    <a:gd name="T22" fmla="*/ 1 w 1026"/>
                    <a:gd name="T23" fmla="*/ 1 h 522"/>
                    <a:gd name="T24" fmla="*/ 1 w 1026"/>
                    <a:gd name="T25" fmla="*/ 1 h 522"/>
                    <a:gd name="T26" fmla="*/ 1 w 1026"/>
                    <a:gd name="T27" fmla="*/ 1 h 522"/>
                    <a:gd name="T28" fmla="*/ 1 w 1026"/>
                    <a:gd name="T29" fmla="*/ 1 h 522"/>
                    <a:gd name="T30" fmla="*/ 1 w 1026"/>
                    <a:gd name="T31" fmla="*/ 1 h 522"/>
                    <a:gd name="T32" fmla="*/ 1 w 1026"/>
                    <a:gd name="T33" fmla="*/ 1 h 522"/>
                    <a:gd name="T34" fmla="*/ 1 w 1026"/>
                    <a:gd name="T35" fmla="*/ 1 h 522"/>
                    <a:gd name="T36" fmla="*/ 1 w 1026"/>
                    <a:gd name="T37" fmla="*/ 1 h 522"/>
                    <a:gd name="T38" fmla="*/ 1 w 1026"/>
                    <a:gd name="T39" fmla="*/ 1 h 522"/>
                    <a:gd name="T40" fmla="*/ 1 w 1026"/>
                    <a:gd name="T41" fmla="*/ 1 h 522"/>
                    <a:gd name="T42" fmla="*/ 1 w 1026"/>
                    <a:gd name="T43" fmla="*/ 1 h 522"/>
                    <a:gd name="T44" fmla="*/ 1 w 1026"/>
                    <a:gd name="T45" fmla="*/ 1 h 522"/>
                    <a:gd name="T46" fmla="*/ 1 w 1026"/>
                    <a:gd name="T47" fmla="*/ 1 h 522"/>
                    <a:gd name="T48" fmla="*/ 1 w 1026"/>
                    <a:gd name="T49" fmla="*/ 1 h 522"/>
                    <a:gd name="T50" fmla="*/ 1 w 1026"/>
                    <a:gd name="T51" fmla="*/ 1 h 522"/>
                    <a:gd name="T52" fmla="*/ 1 w 1026"/>
                    <a:gd name="T53" fmla="*/ 1 h 522"/>
                    <a:gd name="T54" fmla="*/ 1 w 1026"/>
                    <a:gd name="T55" fmla="*/ 1 h 522"/>
                    <a:gd name="T56" fmla="*/ 1 w 1026"/>
                    <a:gd name="T57" fmla="*/ 1 h 522"/>
                    <a:gd name="T58" fmla="*/ 1 w 1026"/>
                    <a:gd name="T59" fmla="*/ 1 h 522"/>
                    <a:gd name="T60" fmla="*/ 1 w 1026"/>
                    <a:gd name="T61" fmla="*/ 1 h 522"/>
                    <a:gd name="T62" fmla="*/ 1 w 1026"/>
                    <a:gd name="T63" fmla="*/ 1 h 522"/>
                    <a:gd name="T64" fmla="*/ 1 w 1026"/>
                    <a:gd name="T65" fmla="*/ 1 h 522"/>
                    <a:gd name="T66" fmla="*/ 1 w 1026"/>
                    <a:gd name="T67" fmla="*/ 1 h 522"/>
                    <a:gd name="T68" fmla="*/ 1 w 1026"/>
                    <a:gd name="T69" fmla="*/ 1 h 522"/>
                    <a:gd name="T70" fmla="*/ 1 w 1026"/>
                    <a:gd name="T71" fmla="*/ 1 h 522"/>
                    <a:gd name="T72" fmla="*/ 1 w 1026"/>
                    <a:gd name="T73" fmla="*/ 1 h 522"/>
                    <a:gd name="T74" fmla="*/ 1 w 1026"/>
                    <a:gd name="T75" fmla="*/ 0 h 522"/>
                    <a:gd name="T76" fmla="*/ 1 w 1026"/>
                    <a:gd name="T77" fmla="*/ 1 h 522"/>
                    <a:gd name="T78" fmla="*/ 1 w 1026"/>
                    <a:gd name="T79" fmla="*/ 1 h 522"/>
                    <a:gd name="T80" fmla="*/ 1 w 1026"/>
                    <a:gd name="T81" fmla="*/ 1 h 522"/>
                    <a:gd name="T82" fmla="*/ 1 w 1026"/>
                    <a:gd name="T83" fmla="*/ 1 h 522"/>
                    <a:gd name="T84" fmla="*/ 1 w 1026"/>
                    <a:gd name="T85" fmla="*/ 1 h 522"/>
                    <a:gd name="T86" fmla="*/ 1 w 1026"/>
                    <a:gd name="T87" fmla="*/ 1 h 52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026"/>
                    <a:gd name="T133" fmla="*/ 0 h 522"/>
                    <a:gd name="T134" fmla="*/ 1026 w 1026"/>
                    <a:gd name="T135" fmla="*/ 522 h 52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026" h="522">
                      <a:moveTo>
                        <a:pt x="0" y="123"/>
                      </a:moveTo>
                      <a:lnTo>
                        <a:pt x="90" y="123"/>
                      </a:lnTo>
                      <a:lnTo>
                        <a:pt x="58" y="143"/>
                      </a:lnTo>
                      <a:lnTo>
                        <a:pt x="184" y="129"/>
                      </a:lnTo>
                      <a:lnTo>
                        <a:pt x="75" y="143"/>
                      </a:lnTo>
                      <a:lnTo>
                        <a:pt x="109" y="151"/>
                      </a:lnTo>
                      <a:lnTo>
                        <a:pt x="72" y="154"/>
                      </a:lnTo>
                      <a:lnTo>
                        <a:pt x="87" y="167"/>
                      </a:lnTo>
                      <a:lnTo>
                        <a:pt x="250" y="147"/>
                      </a:lnTo>
                      <a:lnTo>
                        <a:pt x="90" y="178"/>
                      </a:lnTo>
                      <a:lnTo>
                        <a:pt x="160" y="203"/>
                      </a:lnTo>
                      <a:lnTo>
                        <a:pt x="223" y="166"/>
                      </a:lnTo>
                      <a:lnTo>
                        <a:pt x="330" y="160"/>
                      </a:lnTo>
                      <a:lnTo>
                        <a:pt x="217" y="174"/>
                      </a:lnTo>
                      <a:lnTo>
                        <a:pt x="190" y="203"/>
                      </a:lnTo>
                      <a:lnTo>
                        <a:pt x="257" y="207"/>
                      </a:lnTo>
                      <a:lnTo>
                        <a:pt x="330" y="177"/>
                      </a:lnTo>
                      <a:lnTo>
                        <a:pt x="281" y="204"/>
                      </a:lnTo>
                      <a:lnTo>
                        <a:pt x="330" y="204"/>
                      </a:lnTo>
                      <a:lnTo>
                        <a:pt x="406" y="184"/>
                      </a:lnTo>
                      <a:lnTo>
                        <a:pt x="396" y="155"/>
                      </a:lnTo>
                      <a:lnTo>
                        <a:pt x="480" y="132"/>
                      </a:lnTo>
                      <a:lnTo>
                        <a:pt x="419" y="181"/>
                      </a:lnTo>
                      <a:lnTo>
                        <a:pt x="550" y="171"/>
                      </a:lnTo>
                      <a:lnTo>
                        <a:pt x="286" y="220"/>
                      </a:lnTo>
                      <a:lnTo>
                        <a:pt x="347" y="270"/>
                      </a:lnTo>
                      <a:lnTo>
                        <a:pt x="399" y="270"/>
                      </a:lnTo>
                      <a:lnTo>
                        <a:pt x="371" y="281"/>
                      </a:lnTo>
                      <a:lnTo>
                        <a:pt x="270" y="228"/>
                      </a:lnTo>
                      <a:lnTo>
                        <a:pt x="183" y="220"/>
                      </a:lnTo>
                      <a:lnTo>
                        <a:pt x="180" y="242"/>
                      </a:lnTo>
                      <a:lnTo>
                        <a:pt x="220" y="253"/>
                      </a:lnTo>
                      <a:lnTo>
                        <a:pt x="182" y="261"/>
                      </a:lnTo>
                      <a:lnTo>
                        <a:pt x="286" y="317"/>
                      </a:lnTo>
                      <a:lnTo>
                        <a:pt x="244" y="320"/>
                      </a:lnTo>
                      <a:lnTo>
                        <a:pt x="348" y="324"/>
                      </a:lnTo>
                      <a:lnTo>
                        <a:pt x="289" y="337"/>
                      </a:lnTo>
                      <a:lnTo>
                        <a:pt x="321" y="356"/>
                      </a:lnTo>
                      <a:lnTo>
                        <a:pt x="227" y="326"/>
                      </a:lnTo>
                      <a:lnTo>
                        <a:pt x="172" y="338"/>
                      </a:lnTo>
                      <a:lnTo>
                        <a:pt x="150" y="385"/>
                      </a:lnTo>
                      <a:lnTo>
                        <a:pt x="204" y="370"/>
                      </a:lnTo>
                      <a:lnTo>
                        <a:pt x="195" y="386"/>
                      </a:lnTo>
                      <a:lnTo>
                        <a:pt x="215" y="386"/>
                      </a:lnTo>
                      <a:lnTo>
                        <a:pt x="246" y="350"/>
                      </a:lnTo>
                      <a:lnTo>
                        <a:pt x="235" y="379"/>
                      </a:lnTo>
                      <a:lnTo>
                        <a:pt x="266" y="383"/>
                      </a:lnTo>
                      <a:lnTo>
                        <a:pt x="208" y="397"/>
                      </a:lnTo>
                      <a:lnTo>
                        <a:pt x="244" y="398"/>
                      </a:lnTo>
                      <a:lnTo>
                        <a:pt x="215" y="408"/>
                      </a:lnTo>
                      <a:lnTo>
                        <a:pt x="239" y="427"/>
                      </a:lnTo>
                      <a:lnTo>
                        <a:pt x="281" y="427"/>
                      </a:lnTo>
                      <a:lnTo>
                        <a:pt x="321" y="390"/>
                      </a:lnTo>
                      <a:lnTo>
                        <a:pt x="250" y="444"/>
                      </a:lnTo>
                      <a:lnTo>
                        <a:pt x="182" y="404"/>
                      </a:lnTo>
                      <a:lnTo>
                        <a:pt x="123" y="411"/>
                      </a:lnTo>
                      <a:lnTo>
                        <a:pt x="173" y="452"/>
                      </a:lnTo>
                      <a:lnTo>
                        <a:pt x="87" y="475"/>
                      </a:lnTo>
                      <a:lnTo>
                        <a:pt x="95" y="506"/>
                      </a:lnTo>
                      <a:lnTo>
                        <a:pt x="112" y="478"/>
                      </a:lnTo>
                      <a:lnTo>
                        <a:pt x="114" y="506"/>
                      </a:lnTo>
                      <a:lnTo>
                        <a:pt x="175" y="493"/>
                      </a:lnTo>
                      <a:lnTo>
                        <a:pt x="217" y="518"/>
                      </a:lnTo>
                      <a:lnTo>
                        <a:pt x="248" y="517"/>
                      </a:lnTo>
                      <a:lnTo>
                        <a:pt x="226" y="496"/>
                      </a:lnTo>
                      <a:lnTo>
                        <a:pt x="286" y="503"/>
                      </a:lnTo>
                      <a:lnTo>
                        <a:pt x="281" y="484"/>
                      </a:lnTo>
                      <a:lnTo>
                        <a:pt x="308" y="506"/>
                      </a:lnTo>
                      <a:lnTo>
                        <a:pt x="323" y="502"/>
                      </a:lnTo>
                      <a:lnTo>
                        <a:pt x="315" y="486"/>
                      </a:lnTo>
                      <a:lnTo>
                        <a:pt x="363" y="502"/>
                      </a:lnTo>
                      <a:lnTo>
                        <a:pt x="365" y="522"/>
                      </a:lnTo>
                      <a:lnTo>
                        <a:pt x="451" y="502"/>
                      </a:lnTo>
                      <a:lnTo>
                        <a:pt x="468" y="471"/>
                      </a:lnTo>
                      <a:lnTo>
                        <a:pt x="428" y="478"/>
                      </a:lnTo>
                      <a:lnTo>
                        <a:pt x="428" y="451"/>
                      </a:lnTo>
                      <a:lnTo>
                        <a:pt x="330" y="449"/>
                      </a:lnTo>
                      <a:lnTo>
                        <a:pt x="459" y="442"/>
                      </a:lnTo>
                      <a:lnTo>
                        <a:pt x="479" y="422"/>
                      </a:lnTo>
                      <a:lnTo>
                        <a:pt x="459" y="396"/>
                      </a:lnTo>
                      <a:lnTo>
                        <a:pt x="534" y="397"/>
                      </a:lnTo>
                      <a:lnTo>
                        <a:pt x="549" y="386"/>
                      </a:lnTo>
                      <a:lnTo>
                        <a:pt x="499" y="379"/>
                      </a:lnTo>
                      <a:lnTo>
                        <a:pt x="565" y="376"/>
                      </a:lnTo>
                      <a:lnTo>
                        <a:pt x="521" y="359"/>
                      </a:lnTo>
                      <a:lnTo>
                        <a:pt x="575" y="348"/>
                      </a:lnTo>
                      <a:lnTo>
                        <a:pt x="572" y="334"/>
                      </a:lnTo>
                      <a:lnTo>
                        <a:pt x="473" y="326"/>
                      </a:lnTo>
                      <a:lnTo>
                        <a:pt x="529" y="314"/>
                      </a:lnTo>
                      <a:lnTo>
                        <a:pt x="472" y="310"/>
                      </a:lnTo>
                      <a:lnTo>
                        <a:pt x="575" y="320"/>
                      </a:lnTo>
                      <a:lnTo>
                        <a:pt x="579" y="306"/>
                      </a:lnTo>
                      <a:lnTo>
                        <a:pt x="470" y="301"/>
                      </a:lnTo>
                      <a:lnTo>
                        <a:pt x="612" y="281"/>
                      </a:lnTo>
                      <a:lnTo>
                        <a:pt x="573" y="264"/>
                      </a:lnTo>
                      <a:lnTo>
                        <a:pt x="675" y="270"/>
                      </a:lnTo>
                      <a:lnTo>
                        <a:pt x="707" y="242"/>
                      </a:lnTo>
                      <a:lnTo>
                        <a:pt x="656" y="239"/>
                      </a:lnTo>
                      <a:lnTo>
                        <a:pt x="722" y="236"/>
                      </a:lnTo>
                      <a:lnTo>
                        <a:pt x="714" y="215"/>
                      </a:lnTo>
                      <a:lnTo>
                        <a:pt x="745" y="220"/>
                      </a:lnTo>
                      <a:lnTo>
                        <a:pt x="917" y="134"/>
                      </a:lnTo>
                      <a:lnTo>
                        <a:pt x="727" y="165"/>
                      </a:lnTo>
                      <a:lnTo>
                        <a:pt x="833" y="129"/>
                      </a:lnTo>
                      <a:lnTo>
                        <a:pt x="769" y="132"/>
                      </a:lnTo>
                      <a:lnTo>
                        <a:pt x="753" y="115"/>
                      </a:lnTo>
                      <a:lnTo>
                        <a:pt x="873" y="123"/>
                      </a:lnTo>
                      <a:lnTo>
                        <a:pt x="1026" y="79"/>
                      </a:lnTo>
                      <a:lnTo>
                        <a:pt x="1024" y="57"/>
                      </a:lnTo>
                      <a:lnTo>
                        <a:pt x="960" y="57"/>
                      </a:lnTo>
                      <a:lnTo>
                        <a:pt x="944" y="22"/>
                      </a:lnTo>
                      <a:lnTo>
                        <a:pt x="769" y="38"/>
                      </a:lnTo>
                      <a:lnTo>
                        <a:pt x="844" y="13"/>
                      </a:lnTo>
                      <a:lnTo>
                        <a:pt x="611" y="0"/>
                      </a:lnTo>
                      <a:lnTo>
                        <a:pt x="591" y="17"/>
                      </a:lnTo>
                      <a:lnTo>
                        <a:pt x="608" y="27"/>
                      </a:lnTo>
                      <a:lnTo>
                        <a:pt x="565" y="9"/>
                      </a:lnTo>
                      <a:lnTo>
                        <a:pt x="461" y="11"/>
                      </a:lnTo>
                      <a:lnTo>
                        <a:pt x="535" y="46"/>
                      </a:lnTo>
                      <a:lnTo>
                        <a:pt x="509" y="57"/>
                      </a:lnTo>
                      <a:lnTo>
                        <a:pt x="472" y="20"/>
                      </a:lnTo>
                      <a:lnTo>
                        <a:pt x="376" y="16"/>
                      </a:lnTo>
                      <a:lnTo>
                        <a:pt x="395" y="33"/>
                      </a:lnTo>
                      <a:lnTo>
                        <a:pt x="322" y="27"/>
                      </a:lnTo>
                      <a:lnTo>
                        <a:pt x="358" y="52"/>
                      </a:lnTo>
                      <a:lnTo>
                        <a:pt x="301" y="37"/>
                      </a:lnTo>
                      <a:lnTo>
                        <a:pt x="319" y="52"/>
                      </a:lnTo>
                      <a:lnTo>
                        <a:pt x="285" y="57"/>
                      </a:lnTo>
                      <a:lnTo>
                        <a:pt x="359" y="92"/>
                      </a:lnTo>
                      <a:lnTo>
                        <a:pt x="198" y="53"/>
                      </a:lnTo>
                      <a:lnTo>
                        <a:pt x="158" y="81"/>
                      </a:lnTo>
                      <a:lnTo>
                        <a:pt x="222" y="93"/>
                      </a:lnTo>
                      <a:lnTo>
                        <a:pt x="114" y="83"/>
                      </a:lnTo>
                      <a:lnTo>
                        <a:pt x="0" y="12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9" name="16252255.25342.533.12539.8755">
                  <a:extLst>
                    <a:ext uri="{FF2B5EF4-FFF2-40B4-BE49-F238E27FC236}">
                      <a16:creationId xmlns:a16="http://schemas.microsoft.com/office/drawing/2014/main" id="{56907EED-95F7-0B57-F413-01D117F2BBB4}"/>
                    </a:ext>
                  </a:extLst>
                </p:cNvPr>
                <p:cNvSpPr>
                  <a:spLocks/>
                </p:cNvSpPr>
                <p:nvPr/>
              </p:nvSpPr>
              <p:spPr bwMode="auto">
                <a:xfrm>
                  <a:off x="1775387" y="2336687"/>
                  <a:ext cx="485297" cy="392338"/>
                </a:xfrm>
                <a:custGeom>
                  <a:avLst/>
                  <a:gdLst>
                    <a:gd name="T0" fmla="*/ 1 w 958"/>
                    <a:gd name="T1" fmla="*/ 1 h 679"/>
                    <a:gd name="T2" fmla="*/ 1 w 958"/>
                    <a:gd name="T3" fmla="*/ 0 h 679"/>
                    <a:gd name="T4" fmla="*/ 1 w 958"/>
                    <a:gd name="T5" fmla="*/ 1 h 679"/>
                    <a:gd name="T6" fmla="*/ 1 w 958"/>
                    <a:gd name="T7" fmla="*/ 1 h 679"/>
                    <a:gd name="T8" fmla="*/ 1 w 958"/>
                    <a:gd name="T9" fmla="*/ 1 h 679"/>
                    <a:gd name="T10" fmla="*/ 1 w 958"/>
                    <a:gd name="T11" fmla="*/ 1 h 679"/>
                    <a:gd name="T12" fmla="*/ 1 w 958"/>
                    <a:gd name="T13" fmla="*/ 1 h 679"/>
                    <a:gd name="T14" fmla="*/ 1 w 958"/>
                    <a:gd name="T15" fmla="*/ 1 h 679"/>
                    <a:gd name="T16" fmla="*/ 1 w 958"/>
                    <a:gd name="T17" fmla="*/ 1 h 679"/>
                    <a:gd name="T18" fmla="*/ 1 w 958"/>
                    <a:gd name="T19" fmla="*/ 1 h 679"/>
                    <a:gd name="T20" fmla="*/ 1 w 958"/>
                    <a:gd name="T21" fmla="*/ 1 h 679"/>
                    <a:gd name="T22" fmla="*/ 1 w 958"/>
                    <a:gd name="T23" fmla="*/ 1 h 679"/>
                    <a:gd name="T24" fmla="*/ 1 w 958"/>
                    <a:gd name="T25" fmla="*/ 1 h 679"/>
                    <a:gd name="T26" fmla="*/ 1 w 958"/>
                    <a:gd name="T27" fmla="*/ 1 h 679"/>
                    <a:gd name="T28" fmla="*/ 1 w 958"/>
                    <a:gd name="T29" fmla="*/ 1 h 679"/>
                    <a:gd name="T30" fmla="*/ 1 w 958"/>
                    <a:gd name="T31" fmla="*/ 1 h 679"/>
                    <a:gd name="T32" fmla="*/ 1 w 958"/>
                    <a:gd name="T33" fmla="*/ 1 h 679"/>
                    <a:gd name="T34" fmla="*/ 1 w 958"/>
                    <a:gd name="T35" fmla="*/ 1 h 679"/>
                    <a:gd name="T36" fmla="*/ 1 w 958"/>
                    <a:gd name="T37" fmla="*/ 1 h 679"/>
                    <a:gd name="T38" fmla="*/ 1 w 958"/>
                    <a:gd name="T39" fmla="*/ 1 h 679"/>
                    <a:gd name="T40" fmla="*/ 1 w 958"/>
                    <a:gd name="T41" fmla="*/ 1 h 679"/>
                    <a:gd name="T42" fmla="*/ 1 w 958"/>
                    <a:gd name="T43" fmla="*/ 1 h 679"/>
                    <a:gd name="T44" fmla="*/ 1 w 958"/>
                    <a:gd name="T45" fmla="*/ 1 h 679"/>
                    <a:gd name="T46" fmla="*/ 1 w 958"/>
                    <a:gd name="T47" fmla="*/ 1 h 679"/>
                    <a:gd name="T48" fmla="*/ 1 w 958"/>
                    <a:gd name="T49" fmla="*/ 1 h 679"/>
                    <a:gd name="T50" fmla="*/ 1 w 958"/>
                    <a:gd name="T51" fmla="*/ 1 h 679"/>
                    <a:gd name="T52" fmla="*/ 1 w 958"/>
                    <a:gd name="T53" fmla="*/ 1 h 679"/>
                    <a:gd name="T54" fmla="*/ 1 w 958"/>
                    <a:gd name="T55" fmla="*/ 1 h 679"/>
                    <a:gd name="T56" fmla="*/ 1 w 958"/>
                    <a:gd name="T57" fmla="*/ 1 h 679"/>
                    <a:gd name="T58" fmla="*/ 1 w 958"/>
                    <a:gd name="T59" fmla="*/ 1 h 679"/>
                    <a:gd name="T60" fmla="*/ 1 w 958"/>
                    <a:gd name="T61" fmla="*/ 1 h 679"/>
                    <a:gd name="T62" fmla="*/ 1 w 958"/>
                    <a:gd name="T63" fmla="*/ 1 h 679"/>
                    <a:gd name="T64" fmla="*/ 1 w 958"/>
                    <a:gd name="T65" fmla="*/ 1 h 679"/>
                    <a:gd name="T66" fmla="*/ 1 w 958"/>
                    <a:gd name="T67" fmla="*/ 1 h 679"/>
                    <a:gd name="T68" fmla="*/ 1 w 958"/>
                    <a:gd name="T69" fmla="*/ 1 h 679"/>
                    <a:gd name="T70" fmla="*/ 1 w 958"/>
                    <a:gd name="T71" fmla="*/ 1 h 679"/>
                    <a:gd name="T72" fmla="*/ 1 w 958"/>
                    <a:gd name="T73" fmla="*/ 1 h 679"/>
                    <a:gd name="T74" fmla="*/ 1 w 958"/>
                    <a:gd name="T75" fmla="*/ 1 h 679"/>
                    <a:gd name="T76" fmla="*/ 1 w 958"/>
                    <a:gd name="T77" fmla="*/ 1 h 679"/>
                    <a:gd name="T78" fmla="*/ 1 w 958"/>
                    <a:gd name="T79" fmla="*/ 1 h 679"/>
                    <a:gd name="T80" fmla="*/ 1 w 958"/>
                    <a:gd name="T81" fmla="*/ 1 h 679"/>
                    <a:gd name="T82" fmla="*/ 1 w 958"/>
                    <a:gd name="T83" fmla="*/ 1 h 679"/>
                    <a:gd name="T84" fmla="*/ 1 w 958"/>
                    <a:gd name="T85" fmla="*/ 1 h 679"/>
                    <a:gd name="T86" fmla="*/ 1 w 958"/>
                    <a:gd name="T87" fmla="*/ 1 h 679"/>
                    <a:gd name="T88" fmla="*/ 1 w 958"/>
                    <a:gd name="T89" fmla="*/ 1 h 679"/>
                    <a:gd name="T90" fmla="*/ 1 w 958"/>
                    <a:gd name="T91" fmla="*/ 1 h 679"/>
                    <a:gd name="T92" fmla="*/ 1 w 958"/>
                    <a:gd name="T93" fmla="*/ 1 h 679"/>
                    <a:gd name="T94" fmla="*/ 1 w 958"/>
                    <a:gd name="T95" fmla="*/ 1 h 679"/>
                    <a:gd name="T96" fmla="*/ 1 w 958"/>
                    <a:gd name="T97" fmla="*/ 1 h 679"/>
                    <a:gd name="T98" fmla="*/ 1 w 958"/>
                    <a:gd name="T99" fmla="*/ 1 h 679"/>
                    <a:gd name="T100" fmla="*/ 1 w 958"/>
                    <a:gd name="T101" fmla="*/ 1 h 679"/>
                    <a:gd name="T102" fmla="*/ 1 w 958"/>
                    <a:gd name="T103" fmla="*/ 1 h 679"/>
                    <a:gd name="T104" fmla="*/ 0 w 958"/>
                    <a:gd name="T105" fmla="*/ 1 h 6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958"/>
                    <a:gd name="T160" fmla="*/ 0 h 679"/>
                    <a:gd name="T161" fmla="*/ 958 w 958"/>
                    <a:gd name="T162" fmla="*/ 679 h 67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958" h="679">
                      <a:moveTo>
                        <a:pt x="0" y="151"/>
                      </a:moveTo>
                      <a:lnTo>
                        <a:pt x="7" y="78"/>
                      </a:lnTo>
                      <a:lnTo>
                        <a:pt x="47" y="25"/>
                      </a:lnTo>
                      <a:lnTo>
                        <a:pt x="114" y="0"/>
                      </a:lnTo>
                      <a:lnTo>
                        <a:pt x="169" y="10"/>
                      </a:lnTo>
                      <a:lnTo>
                        <a:pt x="110" y="78"/>
                      </a:lnTo>
                      <a:lnTo>
                        <a:pt x="125" y="120"/>
                      </a:lnTo>
                      <a:lnTo>
                        <a:pt x="169" y="161"/>
                      </a:lnTo>
                      <a:lnTo>
                        <a:pt x="114" y="176"/>
                      </a:lnTo>
                      <a:lnTo>
                        <a:pt x="172" y="175"/>
                      </a:lnTo>
                      <a:lnTo>
                        <a:pt x="179" y="139"/>
                      </a:lnTo>
                      <a:lnTo>
                        <a:pt x="136" y="117"/>
                      </a:lnTo>
                      <a:lnTo>
                        <a:pt x="172" y="93"/>
                      </a:lnTo>
                      <a:lnTo>
                        <a:pt x="144" y="60"/>
                      </a:lnTo>
                      <a:lnTo>
                        <a:pt x="201" y="69"/>
                      </a:lnTo>
                      <a:lnTo>
                        <a:pt x="150" y="52"/>
                      </a:lnTo>
                      <a:lnTo>
                        <a:pt x="207" y="56"/>
                      </a:lnTo>
                      <a:lnTo>
                        <a:pt x="168" y="33"/>
                      </a:lnTo>
                      <a:lnTo>
                        <a:pt x="214" y="34"/>
                      </a:lnTo>
                      <a:lnTo>
                        <a:pt x="245" y="10"/>
                      </a:lnTo>
                      <a:lnTo>
                        <a:pt x="283" y="8"/>
                      </a:lnTo>
                      <a:lnTo>
                        <a:pt x="286" y="40"/>
                      </a:lnTo>
                      <a:lnTo>
                        <a:pt x="313" y="52"/>
                      </a:lnTo>
                      <a:lnTo>
                        <a:pt x="304" y="120"/>
                      </a:lnTo>
                      <a:lnTo>
                        <a:pt x="341" y="88"/>
                      </a:lnTo>
                      <a:lnTo>
                        <a:pt x="363" y="102"/>
                      </a:lnTo>
                      <a:lnTo>
                        <a:pt x="415" y="70"/>
                      </a:lnTo>
                      <a:lnTo>
                        <a:pt x="495" y="88"/>
                      </a:lnTo>
                      <a:lnTo>
                        <a:pt x="528" y="120"/>
                      </a:lnTo>
                      <a:lnTo>
                        <a:pt x="504" y="139"/>
                      </a:lnTo>
                      <a:lnTo>
                        <a:pt x="551" y="131"/>
                      </a:lnTo>
                      <a:lnTo>
                        <a:pt x="536" y="150"/>
                      </a:lnTo>
                      <a:lnTo>
                        <a:pt x="565" y="161"/>
                      </a:lnTo>
                      <a:lnTo>
                        <a:pt x="587" y="136"/>
                      </a:lnTo>
                      <a:lnTo>
                        <a:pt x="622" y="148"/>
                      </a:lnTo>
                      <a:lnTo>
                        <a:pt x="632" y="169"/>
                      </a:lnTo>
                      <a:lnTo>
                        <a:pt x="602" y="175"/>
                      </a:lnTo>
                      <a:lnTo>
                        <a:pt x="649" y="175"/>
                      </a:lnTo>
                      <a:lnTo>
                        <a:pt x="642" y="201"/>
                      </a:lnTo>
                      <a:lnTo>
                        <a:pt x="675" y="187"/>
                      </a:lnTo>
                      <a:lnTo>
                        <a:pt x="654" y="209"/>
                      </a:lnTo>
                      <a:lnTo>
                        <a:pt x="721" y="203"/>
                      </a:lnTo>
                      <a:lnTo>
                        <a:pt x="684" y="225"/>
                      </a:lnTo>
                      <a:lnTo>
                        <a:pt x="716" y="225"/>
                      </a:lnTo>
                      <a:lnTo>
                        <a:pt x="704" y="242"/>
                      </a:lnTo>
                      <a:lnTo>
                        <a:pt x="734" y="220"/>
                      </a:lnTo>
                      <a:lnTo>
                        <a:pt x="764" y="243"/>
                      </a:lnTo>
                      <a:lnTo>
                        <a:pt x="709" y="263"/>
                      </a:lnTo>
                      <a:lnTo>
                        <a:pt x="789" y="279"/>
                      </a:lnTo>
                      <a:lnTo>
                        <a:pt x="720" y="285"/>
                      </a:lnTo>
                      <a:lnTo>
                        <a:pt x="746" y="296"/>
                      </a:lnTo>
                      <a:lnTo>
                        <a:pt x="726" y="318"/>
                      </a:lnTo>
                      <a:lnTo>
                        <a:pt x="805" y="358"/>
                      </a:lnTo>
                      <a:lnTo>
                        <a:pt x="844" y="351"/>
                      </a:lnTo>
                      <a:lnTo>
                        <a:pt x="863" y="399"/>
                      </a:lnTo>
                      <a:lnTo>
                        <a:pt x="903" y="395"/>
                      </a:lnTo>
                      <a:lnTo>
                        <a:pt x="897" y="415"/>
                      </a:lnTo>
                      <a:lnTo>
                        <a:pt x="958" y="426"/>
                      </a:lnTo>
                      <a:lnTo>
                        <a:pt x="950" y="452"/>
                      </a:lnTo>
                      <a:lnTo>
                        <a:pt x="921" y="448"/>
                      </a:lnTo>
                      <a:lnTo>
                        <a:pt x="933" y="465"/>
                      </a:lnTo>
                      <a:lnTo>
                        <a:pt x="918" y="488"/>
                      </a:lnTo>
                      <a:lnTo>
                        <a:pt x="890" y="477"/>
                      </a:lnTo>
                      <a:lnTo>
                        <a:pt x="885" y="525"/>
                      </a:lnTo>
                      <a:lnTo>
                        <a:pt x="776" y="436"/>
                      </a:lnTo>
                      <a:lnTo>
                        <a:pt x="735" y="446"/>
                      </a:lnTo>
                      <a:lnTo>
                        <a:pt x="764" y="466"/>
                      </a:lnTo>
                      <a:lnTo>
                        <a:pt x="742" y="488"/>
                      </a:lnTo>
                      <a:lnTo>
                        <a:pt x="760" y="487"/>
                      </a:lnTo>
                      <a:lnTo>
                        <a:pt x="783" y="531"/>
                      </a:lnTo>
                      <a:lnTo>
                        <a:pt x="835" y="540"/>
                      </a:lnTo>
                      <a:lnTo>
                        <a:pt x="831" y="565"/>
                      </a:lnTo>
                      <a:lnTo>
                        <a:pt x="860" y="587"/>
                      </a:lnTo>
                      <a:lnTo>
                        <a:pt x="845" y="646"/>
                      </a:lnTo>
                      <a:lnTo>
                        <a:pt x="709" y="586"/>
                      </a:lnTo>
                      <a:lnTo>
                        <a:pt x="800" y="679"/>
                      </a:lnTo>
                      <a:lnTo>
                        <a:pt x="628" y="627"/>
                      </a:lnTo>
                      <a:lnTo>
                        <a:pt x="603" y="595"/>
                      </a:lnTo>
                      <a:lnTo>
                        <a:pt x="627" y="593"/>
                      </a:lnTo>
                      <a:lnTo>
                        <a:pt x="572" y="573"/>
                      </a:lnTo>
                      <a:lnTo>
                        <a:pt x="555" y="538"/>
                      </a:lnTo>
                      <a:lnTo>
                        <a:pt x="513" y="525"/>
                      </a:lnTo>
                      <a:lnTo>
                        <a:pt x="510" y="550"/>
                      </a:lnTo>
                      <a:lnTo>
                        <a:pt x="484" y="538"/>
                      </a:lnTo>
                      <a:lnTo>
                        <a:pt x="447" y="561"/>
                      </a:lnTo>
                      <a:lnTo>
                        <a:pt x="398" y="538"/>
                      </a:lnTo>
                      <a:lnTo>
                        <a:pt x="425" y="496"/>
                      </a:lnTo>
                      <a:lnTo>
                        <a:pt x="551" y="496"/>
                      </a:lnTo>
                      <a:lnTo>
                        <a:pt x="521" y="455"/>
                      </a:lnTo>
                      <a:lnTo>
                        <a:pt x="592" y="395"/>
                      </a:lnTo>
                      <a:lnTo>
                        <a:pt x="541" y="315"/>
                      </a:lnTo>
                      <a:lnTo>
                        <a:pt x="507" y="308"/>
                      </a:lnTo>
                      <a:lnTo>
                        <a:pt x="526" y="294"/>
                      </a:lnTo>
                      <a:lnTo>
                        <a:pt x="448" y="316"/>
                      </a:lnTo>
                      <a:lnTo>
                        <a:pt x="447" y="293"/>
                      </a:lnTo>
                      <a:lnTo>
                        <a:pt x="475" y="279"/>
                      </a:lnTo>
                      <a:lnTo>
                        <a:pt x="416" y="249"/>
                      </a:lnTo>
                      <a:lnTo>
                        <a:pt x="415" y="224"/>
                      </a:lnTo>
                      <a:lnTo>
                        <a:pt x="361" y="212"/>
                      </a:lnTo>
                      <a:lnTo>
                        <a:pt x="375" y="245"/>
                      </a:lnTo>
                      <a:lnTo>
                        <a:pt x="282" y="232"/>
                      </a:lnTo>
                      <a:lnTo>
                        <a:pt x="305" y="252"/>
                      </a:lnTo>
                      <a:lnTo>
                        <a:pt x="63" y="219"/>
                      </a:lnTo>
                      <a:lnTo>
                        <a:pt x="21" y="175"/>
                      </a:lnTo>
                      <a:lnTo>
                        <a:pt x="96" y="177"/>
                      </a:lnTo>
                      <a:lnTo>
                        <a:pt x="0" y="15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0" name="16253278.125346.6257.259.255">
                  <a:extLst>
                    <a:ext uri="{FF2B5EF4-FFF2-40B4-BE49-F238E27FC236}">
                      <a16:creationId xmlns:a16="http://schemas.microsoft.com/office/drawing/2014/main" id="{53AF0141-6E04-A239-459E-8C65EC86E0F9}"/>
                    </a:ext>
                  </a:extLst>
                </p:cNvPr>
                <p:cNvSpPr>
                  <a:spLocks/>
                </p:cNvSpPr>
                <p:nvPr/>
              </p:nvSpPr>
              <p:spPr bwMode="auto">
                <a:xfrm>
                  <a:off x="1825032" y="2607862"/>
                  <a:ext cx="112460" cy="85392"/>
                </a:xfrm>
                <a:custGeom>
                  <a:avLst/>
                  <a:gdLst>
                    <a:gd name="T0" fmla="*/ 0 w 223"/>
                    <a:gd name="T1" fmla="*/ 1 h 148"/>
                    <a:gd name="T2" fmla="*/ 0 w 223"/>
                    <a:gd name="T3" fmla="*/ 1 h 148"/>
                    <a:gd name="T4" fmla="*/ 0 w 223"/>
                    <a:gd name="T5" fmla="*/ 0 h 148"/>
                    <a:gd name="T6" fmla="*/ 0 w 223"/>
                    <a:gd name="T7" fmla="*/ 1 h 148"/>
                    <a:gd name="T8" fmla="*/ 0 w 223"/>
                    <a:gd name="T9" fmla="*/ 1 h 148"/>
                    <a:gd name="T10" fmla="*/ 0 w 223"/>
                    <a:gd name="T11" fmla="*/ 1 h 148"/>
                    <a:gd name="T12" fmla="*/ 0 w 223"/>
                    <a:gd name="T13" fmla="*/ 1 h 148"/>
                    <a:gd name="T14" fmla="*/ 0 w 223"/>
                    <a:gd name="T15" fmla="*/ 1 h 148"/>
                    <a:gd name="T16" fmla="*/ 0 w 223"/>
                    <a:gd name="T17" fmla="*/ 1 h 148"/>
                    <a:gd name="T18" fmla="*/ 0 w 223"/>
                    <a:gd name="T19" fmla="*/ 1 h 148"/>
                    <a:gd name="T20" fmla="*/ 0 w 223"/>
                    <a:gd name="T21" fmla="*/ 1 h 1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3"/>
                    <a:gd name="T34" fmla="*/ 0 h 148"/>
                    <a:gd name="T35" fmla="*/ 223 w 223"/>
                    <a:gd name="T36" fmla="*/ 148 h 1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3" h="148">
                      <a:moveTo>
                        <a:pt x="0" y="121"/>
                      </a:moveTo>
                      <a:lnTo>
                        <a:pt x="33" y="92"/>
                      </a:lnTo>
                      <a:lnTo>
                        <a:pt x="54" y="0"/>
                      </a:lnTo>
                      <a:lnTo>
                        <a:pt x="73" y="33"/>
                      </a:lnTo>
                      <a:lnTo>
                        <a:pt x="124" y="41"/>
                      </a:lnTo>
                      <a:lnTo>
                        <a:pt x="223" y="109"/>
                      </a:lnTo>
                      <a:lnTo>
                        <a:pt x="209" y="132"/>
                      </a:lnTo>
                      <a:lnTo>
                        <a:pt x="120" y="100"/>
                      </a:lnTo>
                      <a:lnTo>
                        <a:pt x="65" y="148"/>
                      </a:lnTo>
                      <a:lnTo>
                        <a:pt x="51" y="109"/>
                      </a:lnTo>
                      <a:lnTo>
                        <a:pt x="0" y="12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1" name="16254312.25385.2510.3759.3755">
                  <a:extLst>
                    <a:ext uri="{FF2B5EF4-FFF2-40B4-BE49-F238E27FC236}">
                      <a16:creationId xmlns:a16="http://schemas.microsoft.com/office/drawing/2014/main" id="{0C844170-9201-B368-32D3-FC08EEA624D3}"/>
                    </a:ext>
                  </a:extLst>
                </p:cNvPr>
                <p:cNvSpPr>
                  <a:spLocks/>
                </p:cNvSpPr>
                <p:nvPr/>
              </p:nvSpPr>
              <p:spPr bwMode="auto">
                <a:xfrm>
                  <a:off x="2296145" y="3011741"/>
                  <a:ext cx="113472" cy="123471"/>
                </a:xfrm>
                <a:custGeom>
                  <a:avLst/>
                  <a:gdLst>
                    <a:gd name="T0" fmla="*/ 0 w 224"/>
                    <a:gd name="T1" fmla="*/ 0 h 215"/>
                    <a:gd name="T2" fmla="*/ 1 w 224"/>
                    <a:gd name="T3" fmla="*/ 0 h 215"/>
                    <a:gd name="T4" fmla="*/ 1 w 224"/>
                    <a:gd name="T5" fmla="*/ 0 h 215"/>
                    <a:gd name="T6" fmla="*/ 1 w 224"/>
                    <a:gd name="T7" fmla="*/ 0 h 215"/>
                    <a:gd name="T8" fmla="*/ 1 w 224"/>
                    <a:gd name="T9" fmla="*/ 0 h 215"/>
                    <a:gd name="T10" fmla="*/ 1 w 224"/>
                    <a:gd name="T11" fmla="*/ 0 h 215"/>
                    <a:gd name="T12" fmla="*/ 1 w 224"/>
                    <a:gd name="T13" fmla="*/ 0 h 215"/>
                    <a:gd name="T14" fmla="*/ 1 w 224"/>
                    <a:gd name="T15" fmla="*/ 0 h 215"/>
                    <a:gd name="T16" fmla="*/ 1 w 224"/>
                    <a:gd name="T17" fmla="*/ 0 h 215"/>
                    <a:gd name="T18" fmla="*/ 1 w 224"/>
                    <a:gd name="T19" fmla="*/ 0 h 215"/>
                    <a:gd name="T20" fmla="*/ 1 w 224"/>
                    <a:gd name="T21" fmla="*/ 0 h 215"/>
                    <a:gd name="T22" fmla="*/ 1 w 224"/>
                    <a:gd name="T23" fmla="*/ 0 h 215"/>
                    <a:gd name="T24" fmla="*/ 1 w 224"/>
                    <a:gd name="T25" fmla="*/ 0 h 215"/>
                    <a:gd name="T26" fmla="*/ 1 w 224"/>
                    <a:gd name="T27" fmla="*/ 0 h 215"/>
                    <a:gd name="T28" fmla="*/ 1 w 224"/>
                    <a:gd name="T29" fmla="*/ 0 h 215"/>
                    <a:gd name="T30" fmla="*/ 1 w 224"/>
                    <a:gd name="T31" fmla="*/ 0 h 215"/>
                    <a:gd name="T32" fmla="*/ 1 w 224"/>
                    <a:gd name="T33" fmla="*/ 0 h 215"/>
                    <a:gd name="T34" fmla="*/ 1 w 224"/>
                    <a:gd name="T35" fmla="*/ 0 h 215"/>
                    <a:gd name="T36" fmla="*/ 1 w 224"/>
                    <a:gd name="T37" fmla="*/ 0 h 215"/>
                    <a:gd name="T38" fmla="*/ 1 w 224"/>
                    <a:gd name="T39" fmla="*/ 0 h 215"/>
                    <a:gd name="T40" fmla="*/ 0 w 224"/>
                    <a:gd name="T41" fmla="*/ 0 h 2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4"/>
                    <a:gd name="T64" fmla="*/ 0 h 215"/>
                    <a:gd name="T65" fmla="*/ 224 w 224"/>
                    <a:gd name="T66" fmla="*/ 215 h 2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4" h="215">
                      <a:moveTo>
                        <a:pt x="0" y="168"/>
                      </a:moveTo>
                      <a:lnTo>
                        <a:pt x="92" y="11"/>
                      </a:lnTo>
                      <a:lnTo>
                        <a:pt x="127" y="0"/>
                      </a:lnTo>
                      <a:lnTo>
                        <a:pt x="85" y="84"/>
                      </a:lnTo>
                      <a:lnTo>
                        <a:pt x="114" y="65"/>
                      </a:lnTo>
                      <a:lnTo>
                        <a:pt x="133" y="100"/>
                      </a:lnTo>
                      <a:lnTo>
                        <a:pt x="192" y="100"/>
                      </a:lnTo>
                      <a:lnTo>
                        <a:pt x="180" y="133"/>
                      </a:lnTo>
                      <a:lnTo>
                        <a:pt x="210" y="131"/>
                      </a:lnTo>
                      <a:lnTo>
                        <a:pt x="189" y="165"/>
                      </a:lnTo>
                      <a:lnTo>
                        <a:pt x="217" y="146"/>
                      </a:lnTo>
                      <a:lnTo>
                        <a:pt x="224" y="179"/>
                      </a:lnTo>
                      <a:lnTo>
                        <a:pt x="195" y="215"/>
                      </a:lnTo>
                      <a:lnTo>
                        <a:pt x="192" y="188"/>
                      </a:lnTo>
                      <a:lnTo>
                        <a:pt x="178" y="202"/>
                      </a:lnTo>
                      <a:lnTo>
                        <a:pt x="178" y="161"/>
                      </a:lnTo>
                      <a:lnTo>
                        <a:pt x="123" y="202"/>
                      </a:lnTo>
                      <a:lnTo>
                        <a:pt x="155" y="175"/>
                      </a:lnTo>
                      <a:lnTo>
                        <a:pt x="109" y="179"/>
                      </a:lnTo>
                      <a:lnTo>
                        <a:pt x="120" y="162"/>
                      </a:lnTo>
                      <a:lnTo>
                        <a:pt x="0" y="16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2" name="16255388578.55.8752.55">
                  <a:extLst>
                    <a:ext uri="{FF2B5EF4-FFF2-40B4-BE49-F238E27FC236}">
                      <a16:creationId xmlns:a16="http://schemas.microsoft.com/office/drawing/2014/main" id="{CF390E55-BAA8-28E6-2F23-7E350E2E7646}"/>
                    </a:ext>
                  </a:extLst>
                </p:cNvPr>
                <p:cNvSpPr>
                  <a:spLocks/>
                </p:cNvSpPr>
                <p:nvPr/>
              </p:nvSpPr>
              <p:spPr bwMode="auto">
                <a:xfrm>
                  <a:off x="4131800" y="3876420"/>
                  <a:ext cx="31408" cy="70390"/>
                </a:xfrm>
                <a:custGeom>
                  <a:avLst/>
                  <a:gdLst>
                    <a:gd name="T0" fmla="*/ 0 w 62"/>
                    <a:gd name="T1" fmla="*/ 0 h 124"/>
                    <a:gd name="T2" fmla="*/ 1 w 62"/>
                    <a:gd name="T3" fmla="*/ 0 h 124"/>
                    <a:gd name="T4" fmla="*/ 1 w 62"/>
                    <a:gd name="T5" fmla="*/ 0 h 124"/>
                    <a:gd name="T6" fmla="*/ 1 w 62"/>
                    <a:gd name="T7" fmla="*/ 0 h 124"/>
                    <a:gd name="T8" fmla="*/ 0 w 62"/>
                    <a:gd name="T9" fmla="*/ 0 h 124"/>
                    <a:gd name="T10" fmla="*/ 0 60000 65536"/>
                    <a:gd name="T11" fmla="*/ 0 60000 65536"/>
                    <a:gd name="T12" fmla="*/ 0 60000 65536"/>
                    <a:gd name="T13" fmla="*/ 0 60000 65536"/>
                    <a:gd name="T14" fmla="*/ 0 60000 65536"/>
                    <a:gd name="T15" fmla="*/ 0 w 62"/>
                    <a:gd name="T16" fmla="*/ 0 h 124"/>
                    <a:gd name="T17" fmla="*/ 62 w 62"/>
                    <a:gd name="T18" fmla="*/ 124 h 124"/>
                  </a:gdLst>
                  <a:ahLst/>
                  <a:cxnLst>
                    <a:cxn ang="T10">
                      <a:pos x="T0" y="T1"/>
                    </a:cxn>
                    <a:cxn ang="T11">
                      <a:pos x="T2" y="T3"/>
                    </a:cxn>
                    <a:cxn ang="T12">
                      <a:pos x="T4" y="T5"/>
                    </a:cxn>
                    <a:cxn ang="T13">
                      <a:pos x="T6" y="T7"/>
                    </a:cxn>
                    <a:cxn ang="T14">
                      <a:pos x="T8" y="T9"/>
                    </a:cxn>
                  </a:cxnLst>
                  <a:rect l="T15" t="T16" r="T17" b="T18"/>
                  <a:pathLst>
                    <a:path w="62" h="124">
                      <a:moveTo>
                        <a:pt x="0" y="0"/>
                      </a:moveTo>
                      <a:lnTo>
                        <a:pt x="11" y="124"/>
                      </a:lnTo>
                      <a:lnTo>
                        <a:pt x="62" y="102"/>
                      </a:lnTo>
                      <a:lnTo>
                        <a:pt x="37" y="29"/>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3" name="16256362.5634.255.3752.55">
                  <a:extLst>
                    <a:ext uri="{FF2B5EF4-FFF2-40B4-BE49-F238E27FC236}">
                      <a16:creationId xmlns:a16="http://schemas.microsoft.com/office/drawing/2014/main" id="{84CDDCF8-3140-AAA5-B784-618370EB87FD}"/>
                    </a:ext>
                  </a:extLst>
                </p:cNvPr>
                <p:cNvSpPr>
                  <a:spLocks/>
                </p:cNvSpPr>
                <p:nvPr/>
              </p:nvSpPr>
              <p:spPr bwMode="auto">
                <a:xfrm>
                  <a:off x="4811622" y="3574089"/>
                  <a:ext cx="30394" cy="63467"/>
                </a:xfrm>
                <a:custGeom>
                  <a:avLst/>
                  <a:gdLst>
                    <a:gd name="T0" fmla="*/ 0 w 59"/>
                    <a:gd name="T1" fmla="*/ 1 h 109"/>
                    <a:gd name="T2" fmla="*/ 1 w 59"/>
                    <a:gd name="T3" fmla="*/ 1 h 109"/>
                    <a:gd name="T4" fmla="*/ 1 w 59"/>
                    <a:gd name="T5" fmla="*/ 0 h 109"/>
                    <a:gd name="T6" fmla="*/ 1 w 59"/>
                    <a:gd name="T7" fmla="*/ 1 h 109"/>
                    <a:gd name="T8" fmla="*/ 0 w 59"/>
                    <a:gd name="T9" fmla="*/ 1 h 109"/>
                    <a:gd name="T10" fmla="*/ 0 60000 65536"/>
                    <a:gd name="T11" fmla="*/ 0 60000 65536"/>
                    <a:gd name="T12" fmla="*/ 0 60000 65536"/>
                    <a:gd name="T13" fmla="*/ 0 60000 65536"/>
                    <a:gd name="T14" fmla="*/ 0 60000 65536"/>
                    <a:gd name="T15" fmla="*/ 0 w 59"/>
                    <a:gd name="T16" fmla="*/ 0 h 109"/>
                    <a:gd name="T17" fmla="*/ 59 w 59"/>
                    <a:gd name="T18" fmla="*/ 109 h 109"/>
                  </a:gdLst>
                  <a:ahLst/>
                  <a:cxnLst>
                    <a:cxn ang="T10">
                      <a:pos x="T0" y="T1"/>
                    </a:cxn>
                    <a:cxn ang="T11">
                      <a:pos x="T2" y="T3"/>
                    </a:cxn>
                    <a:cxn ang="T12">
                      <a:pos x="T4" y="T5"/>
                    </a:cxn>
                    <a:cxn ang="T13">
                      <a:pos x="T6" y="T7"/>
                    </a:cxn>
                    <a:cxn ang="T14">
                      <a:pos x="T8" y="T9"/>
                    </a:cxn>
                  </a:cxnLst>
                  <a:rect l="T15" t="T16" r="T17" b="T18"/>
                  <a:pathLst>
                    <a:path w="59" h="109">
                      <a:moveTo>
                        <a:pt x="0" y="44"/>
                      </a:moveTo>
                      <a:lnTo>
                        <a:pt x="23" y="109"/>
                      </a:lnTo>
                      <a:lnTo>
                        <a:pt x="59" y="0"/>
                      </a:lnTo>
                      <a:lnTo>
                        <a:pt x="28" y="2"/>
                      </a:lnTo>
                      <a:lnTo>
                        <a:pt x="0" y="4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4" name="16257386348.754.3754.255">
                  <a:extLst>
                    <a:ext uri="{FF2B5EF4-FFF2-40B4-BE49-F238E27FC236}">
                      <a16:creationId xmlns:a16="http://schemas.microsoft.com/office/drawing/2014/main" id="{2190C280-E80C-9633-7737-128EE757E06A}"/>
                    </a:ext>
                  </a:extLst>
                </p:cNvPr>
                <p:cNvSpPr>
                  <a:spLocks/>
                </p:cNvSpPr>
                <p:nvPr/>
              </p:nvSpPr>
              <p:spPr bwMode="auto">
                <a:xfrm>
                  <a:off x="1850360" y="3886426"/>
                  <a:ext cx="52683" cy="51927"/>
                </a:xfrm>
                <a:custGeom>
                  <a:avLst/>
                  <a:gdLst>
                    <a:gd name="T0" fmla="*/ 0 w 104"/>
                    <a:gd name="T1" fmla="*/ 0 h 89"/>
                    <a:gd name="T2" fmla="*/ 1 w 104"/>
                    <a:gd name="T3" fmla="*/ 1 h 89"/>
                    <a:gd name="T4" fmla="*/ 1 w 104"/>
                    <a:gd name="T5" fmla="*/ 1 h 89"/>
                    <a:gd name="T6" fmla="*/ 1 w 104"/>
                    <a:gd name="T7" fmla="*/ 1 h 89"/>
                    <a:gd name="T8" fmla="*/ 1 w 104"/>
                    <a:gd name="T9" fmla="*/ 1 h 89"/>
                    <a:gd name="T10" fmla="*/ 1 w 104"/>
                    <a:gd name="T11" fmla="*/ 1 h 89"/>
                    <a:gd name="T12" fmla="*/ 0 w 104"/>
                    <a:gd name="T13" fmla="*/ 0 h 89"/>
                    <a:gd name="T14" fmla="*/ 0 60000 65536"/>
                    <a:gd name="T15" fmla="*/ 0 60000 65536"/>
                    <a:gd name="T16" fmla="*/ 0 60000 65536"/>
                    <a:gd name="T17" fmla="*/ 0 60000 65536"/>
                    <a:gd name="T18" fmla="*/ 0 60000 65536"/>
                    <a:gd name="T19" fmla="*/ 0 60000 65536"/>
                    <a:gd name="T20" fmla="*/ 0 60000 65536"/>
                    <a:gd name="T21" fmla="*/ 0 w 104"/>
                    <a:gd name="T22" fmla="*/ 0 h 89"/>
                    <a:gd name="T23" fmla="*/ 104 w 104"/>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 h="89">
                      <a:moveTo>
                        <a:pt x="0" y="0"/>
                      </a:moveTo>
                      <a:lnTo>
                        <a:pt x="1" y="34"/>
                      </a:lnTo>
                      <a:lnTo>
                        <a:pt x="23" y="29"/>
                      </a:lnTo>
                      <a:lnTo>
                        <a:pt x="89" y="89"/>
                      </a:lnTo>
                      <a:lnTo>
                        <a:pt x="104" y="44"/>
                      </a:lnTo>
                      <a:lnTo>
                        <a:pt x="69" y="3"/>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5" name="16258365.75349.755.514.8755">
                  <a:extLst>
                    <a:ext uri="{FF2B5EF4-FFF2-40B4-BE49-F238E27FC236}">
                      <a16:creationId xmlns:a16="http://schemas.microsoft.com/office/drawing/2014/main" id="{9BE77FFB-F43B-97F1-937B-79FD7413F7C3}"/>
                    </a:ext>
                  </a:extLst>
                </p:cNvPr>
                <p:cNvSpPr>
                  <a:spLocks/>
                </p:cNvSpPr>
                <p:nvPr/>
              </p:nvSpPr>
              <p:spPr bwMode="auto">
                <a:xfrm>
                  <a:off x="1862518" y="3647561"/>
                  <a:ext cx="182367" cy="64620"/>
                </a:xfrm>
                <a:custGeom>
                  <a:avLst/>
                  <a:gdLst>
                    <a:gd name="T0" fmla="*/ 0 w 358"/>
                    <a:gd name="T1" fmla="*/ 0 h 113"/>
                    <a:gd name="T2" fmla="*/ 1 w 358"/>
                    <a:gd name="T3" fmla="*/ 0 h 113"/>
                    <a:gd name="T4" fmla="*/ 1 w 358"/>
                    <a:gd name="T5" fmla="*/ 0 h 113"/>
                    <a:gd name="T6" fmla="*/ 1 w 358"/>
                    <a:gd name="T7" fmla="*/ 0 h 113"/>
                    <a:gd name="T8" fmla="*/ 1 w 358"/>
                    <a:gd name="T9" fmla="*/ 0 h 113"/>
                    <a:gd name="T10" fmla="*/ 1 w 358"/>
                    <a:gd name="T11" fmla="*/ 0 h 113"/>
                    <a:gd name="T12" fmla="*/ 1 w 358"/>
                    <a:gd name="T13" fmla="*/ 0 h 113"/>
                    <a:gd name="T14" fmla="*/ 1 w 358"/>
                    <a:gd name="T15" fmla="*/ 0 h 113"/>
                    <a:gd name="T16" fmla="*/ 1 w 358"/>
                    <a:gd name="T17" fmla="*/ 0 h 113"/>
                    <a:gd name="T18" fmla="*/ 0 w 358"/>
                    <a:gd name="T19" fmla="*/ 0 h 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8"/>
                    <a:gd name="T31" fmla="*/ 0 h 113"/>
                    <a:gd name="T32" fmla="*/ 358 w 358"/>
                    <a:gd name="T33" fmla="*/ 113 h 1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8" h="113">
                      <a:moveTo>
                        <a:pt x="0" y="44"/>
                      </a:moveTo>
                      <a:lnTo>
                        <a:pt x="48" y="5"/>
                      </a:lnTo>
                      <a:lnTo>
                        <a:pt x="140" y="0"/>
                      </a:lnTo>
                      <a:lnTo>
                        <a:pt x="358" y="96"/>
                      </a:lnTo>
                      <a:lnTo>
                        <a:pt x="242" y="113"/>
                      </a:lnTo>
                      <a:lnTo>
                        <a:pt x="262" y="91"/>
                      </a:lnTo>
                      <a:lnTo>
                        <a:pt x="206" y="55"/>
                      </a:lnTo>
                      <a:lnTo>
                        <a:pt x="97" y="34"/>
                      </a:lnTo>
                      <a:lnTo>
                        <a:pt x="103" y="18"/>
                      </a:lnTo>
                      <a:lnTo>
                        <a:pt x="0" y="4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6" name="16259298.6254796.3753.6255">
                  <a:extLst>
                    <a:ext uri="{FF2B5EF4-FFF2-40B4-BE49-F238E27FC236}">
                      <a16:creationId xmlns:a16="http://schemas.microsoft.com/office/drawing/2014/main" id="{FE4E584D-31BC-00AA-27D6-A940BE000DC7}"/>
                    </a:ext>
                  </a:extLst>
                </p:cNvPr>
                <p:cNvSpPr>
                  <a:spLocks/>
                </p:cNvSpPr>
                <p:nvPr/>
              </p:nvSpPr>
              <p:spPr bwMode="auto">
                <a:xfrm>
                  <a:off x="2919064" y="2815951"/>
                  <a:ext cx="44578" cy="76160"/>
                </a:xfrm>
                <a:custGeom>
                  <a:avLst/>
                  <a:gdLst>
                    <a:gd name="T0" fmla="*/ 0 w 88"/>
                    <a:gd name="T1" fmla="*/ 1 h 132"/>
                    <a:gd name="T2" fmla="*/ 1 w 88"/>
                    <a:gd name="T3" fmla="*/ 1 h 132"/>
                    <a:gd name="T4" fmla="*/ 1 w 88"/>
                    <a:gd name="T5" fmla="*/ 0 h 132"/>
                    <a:gd name="T6" fmla="*/ 1 w 88"/>
                    <a:gd name="T7" fmla="*/ 1 h 132"/>
                    <a:gd name="T8" fmla="*/ 1 w 88"/>
                    <a:gd name="T9" fmla="*/ 1 h 132"/>
                    <a:gd name="T10" fmla="*/ 1 w 88"/>
                    <a:gd name="T11" fmla="*/ 1 h 132"/>
                    <a:gd name="T12" fmla="*/ 1 w 88"/>
                    <a:gd name="T13" fmla="*/ 1 h 132"/>
                    <a:gd name="T14" fmla="*/ 1 w 88"/>
                    <a:gd name="T15" fmla="*/ 1 h 132"/>
                    <a:gd name="T16" fmla="*/ 0 w 88"/>
                    <a:gd name="T17" fmla="*/ 1 h 1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8"/>
                    <a:gd name="T28" fmla="*/ 0 h 132"/>
                    <a:gd name="T29" fmla="*/ 88 w 88"/>
                    <a:gd name="T30" fmla="*/ 132 h 1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8" h="132">
                      <a:moveTo>
                        <a:pt x="0" y="100"/>
                      </a:moveTo>
                      <a:lnTo>
                        <a:pt x="6" y="36"/>
                      </a:lnTo>
                      <a:lnTo>
                        <a:pt x="76" y="0"/>
                      </a:lnTo>
                      <a:lnTo>
                        <a:pt x="64" y="51"/>
                      </a:lnTo>
                      <a:lnTo>
                        <a:pt x="88" y="66"/>
                      </a:lnTo>
                      <a:lnTo>
                        <a:pt x="44" y="95"/>
                      </a:lnTo>
                      <a:lnTo>
                        <a:pt x="43" y="132"/>
                      </a:lnTo>
                      <a:lnTo>
                        <a:pt x="17" y="132"/>
                      </a:lnTo>
                      <a:lnTo>
                        <a:pt x="0" y="10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7" name="16260303.5481.3750.751.3755">
                  <a:extLst>
                    <a:ext uri="{FF2B5EF4-FFF2-40B4-BE49-F238E27FC236}">
                      <a16:creationId xmlns:a16="http://schemas.microsoft.com/office/drawing/2014/main" id="{AD432F05-953A-0003-42FB-7561349EB3E7}"/>
                    </a:ext>
                  </a:extLst>
                </p:cNvPr>
                <p:cNvSpPr>
                  <a:spLocks/>
                </p:cNvSpPr>
                <p:nvPr/>
              </p:nvSpPr>
              <p:spPr bwMode="auto">
                <a:xfrm>
                  <a:off x="2948446" y="2873648"/>
                  <a:ext cx="16210" cy="9232"/>
                </a:xfrm>
                <a:custGeom>
                  <a:avLst/>
                  <a:gdLst>
                    <a:gd name="T0" fmla="*/ 0 w 32"/>
                    <a:gd name="T1" fmla="*/ 1 h 16"/>
                    <a:gd name="T2" fmla="*/ 1 w 32"/>
                    <a:gd name="T3" fmla="*/ 0 h 16"/>
                    <a:gd name="T4" fmla="*/ 1 w 32"/>
                    <a:gd name="T5" fmla="*/ 1 h 16"/>
                    <a:gd name="T6" fmla="*/ 0 w 32"/>
                    <a:gd name="T7" fmla="*/ 1 h 16"/>
                    <a:gd name="T8" fmla="*/ 0 60000 65536"/>
                    <a:gd name="T9" fmla="*/ 0 60000 65536"/>
                    <a:gd name="T10" fmla="*/ 0 60000 65536"/>
                    <a:gd name="T11" fmla="*/ 0 60000 65536"/>
                    <a:gd name="T12" fmla="*/ 0 w 32"/>
                    <a:gd name="T13" fmla="*/ 0 h 16"/>
                    <a:gd name="T14" fmla="*/ 32 w 32"/>
                    <a:gd name="T15" fmla="*/ 16 h 16"/>
                  </a:gdLst>
                  <a:ahLst/>
                  <a:cxnLst>
                    <a:cxn ang="T8">
                      <a:pos x="T0" y="T1"/>
                    </a:cxn>
                    <a:cxn ang="T9">
                      <a:pos x="T2" y="T3"/>
                    </a:cxn>
                    <a:cxn ang="T10">
                      <a:pos x="T4" y="T5"/>
                    </a:cxn>
                    <a:cxn ang="T11">
                      <a:pos x="T6" y="T7"/>
                    </a:cxn>
                  </a:cxnLst>
                  <a:rect l="T12" t="T13" r="T14" b="T15"/>
                  <a:pathLst>
                    <a:path w="32" h="16">
                      <a:moveTo>
                        <a:pt x="0" y="16"/>
                      </a:moveTo>
                      <a:lnTo>
                        <a:pt x="25" y="0"/>
                      </a:lnTo>
                      <a:lnTo>
                        <a:pt x="32" y="11"/>
                      </a:lnTo>
                      <a:lnTo>
                        <a:pt x="0" y="1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8" name="162613024832.752.255">
                  <a:extLst>
                    <a:ext uri="{FF2B5EF4-FFF2-40B4-BE49-F238E27FC236}">
                      <a16:creationId xmlns:a16="http://schemas.microsoft.com/office/drawing/2014/main" id="{28BC44DE-AEEA-AB1D-5838-36D473DE648B}"/>
                    </a:ext>
                  </a:extLst>
                </p:cNvPr>
                <p:cNvSpPr>
                  <a:spLocks/>
                </p:cNvSpPr>
                <p:nvPr/>
              </p:nvSpPr>
              <p:spPr bwMode="auto">
                <a:xfrm>
                  <a:off x="2968707" y="2856339"/>
                  <a:ext cx="26342" cy="33464"/>
                </a:xfrm>
                <a:custGeom>
                  <a:avLst/>
                  <a:gdLst>
                    <a:gd name="T0" fmla="*/ 0 w 53"/>
                    <a:gd name="T1" fmla="*/ 1 h 56"/>
                    <a:gd name="T2" fmla="*/ 0 w 53"/>
                    <a:gd name="T3" fmla="*/ 1 h 56"/>
                    <a:gd name="T4" fmla="*/ 0 w 53"/>
                    <a:gd name="T5" fmla="*/ 1 h 56"/>
                    <a:gd name="T6" fmla="*/ 0 w 53"/>
                    <a:gd name="T7" fmla="*/ 0 h 56"/>
                    <a:gd name="T8" fmla="*/ 0 w 53"/>
                    <a:gd name="T9" fmla="*/ 1 h 56"/>
                    <a:gd name="T10" fmla="*/ 0 60000 65536"/>
                    <a:gd name="T11" fmla="*/ 0 60000 65536"/>
                    <a:gd name="T12" fmla="*/ 0 60000 65536"/>
                    <a:gd name="T13" fmla="*/ 0 60000 65536"/>
                    <a:gd name="T14" fmla="*/ 0 60000 65536"/>
                    <a:gd name="T15" fmla="*/ 0 w 53"/>
                    <a:gd name="T16" fmla="*/ 0 h 56"/>
                    <a:gd name="T17" fmla="*/ 53 w 53"/>
                    <a:gd name="T18" fmla="*/ 56 h 56"/>
                  </a:gdLst>
                  <a:ahLst/>
                  <a:cxnLst>
                    <a:cxn ang="T10">
                      <a:pos x="T0" y="T1"/>
                    </a:cxn>
                    <a:cxn ang="T11">
                      <a:pos x="T2" y="T3"/>
                    </a:cxn>
                    <a:cxn ang="T12">
                      <a:pos x="T4" y="T5"/>
                    </a:cxn>
                    <a:cxn ang="T13">
                      <a:pos x="T6" y="T7"/>
                    </a:cxn>
                    <a:cxn ang="T14">
                      <a:pos x="T8" y="T9"/>
                    </a:cxn>
                  </a:cxnLst>
                  <a:rect l="T15" t="T16" r="T17" b="T18"/>
                  <a:pathLst>
                    <a:path w="53" h="56">
                      <a:moveTo>
                        <a:pt x="0" y="29"/>
                      </a:moveTo>
                      <a:lnTo>
                        <a:pt x="39" y="56"/>
                      </a:lnTo>
                      <a:lnTo>
                        <a:pt x="53" y="27"/>
                      </a:lnTo>
                      <a:lnTo>
                        <a:pt x="43" y="0"/>
                      </a:lnTo>
                      <a:lnTo>
                        <a:pt x="0" y="2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9" name="16262371.253683.1254.6255">
                  <a:extLst>
                    <a:ext uri="{FF2B5EF4-FFF2-40B4-BE49-F238E27FC236}">
                      <a16:creationId xmlns:a16="http://schemas.microsoft.com/office/drawing/2014/main" id="{8602B18B-8EA2-72CA-383D-1B1E721260B4}"/>
                    </a:ext>
                  </a:extLst>
                </p:cNvPr>
                <p:cNvSpPr>
                  <a:spLocks/>
                </p:cNvSpPr>
                <p:nvPr/>
              </p:nvSpPr>
              <p:spPr bwMode="auto">
                <a:xfrm>
                  <a:off x="2085410" y="3712181"/>
                  <a:ext cx="56736" cy="36926"/>
                </a:xfrm>
                <a:custGeom>
                  <a:avLst/>
                  <a:gdLst>
                    <a:gd name="T0" fmla="*/ 0 w 113"/>
                    <a:gd name="T1" fmla="*/ 0 h 63"/>
                    <a:gd name="T2" fmla="*/ 0 w 113"/>
                    <a:gd name="T3" fmla="*/ 1 h 63"/>
                    <a:gd name="T4" fmla="*/ 0 w 113"/>
                    <a:gd name="T5" fmla="*/ 1 h 63"/>
                    <a:gd name="T6" fmla="*/ 0 w 113"/>
                    <a:gd name="T7" fmla="*/ 1 h 63"/>
                    <a:gd name="T8" fmla="*/ 0 w 113"/>
                    <a:gd name="T9" fmla="*/ 0 h 63"/>
                    <a:gd name="T10" fmla="*/ 0 60000 65536"/>
                    <a:gd name="T11" fmla="*/ 0 60000 65536"/>
                    <a:gd name="T12" fmla="*/ 0 60000 65536"/>
                    <a:gd name="T13" fmla="*/ 0 60000 65536"/>
                    <a:gd name="T14" fmla="*/ 0 60000 65536"/>
                    <a:gd name="T15" fmla="*/ 0 w 113"/>
                    <a:gd name="T16" fmla="*/ 0 h 63"/>
                    <a:gd name="T17" fmla="*/ 113 w 113"/>
                    <a:gd name="T18" fmla="*/ 63 h 63"/>
                  </a:gdLst>
                  <a:ahLst/>
                  <a:cxnLst>
                    <a:cxn ang="T10">
                      <a:pos x="T0" y="T1"/>
                    </a:cxn>
                    <a:cxn ang="T11">
                      <a:pos x="T2" y="T3"/>
                    </a:cxn>
                    <a:cxn ang="T12">
                      <a:pos x="T4" y="T5"/>
                    </a:cxn>
                    <a:cxn ang="T13">
                      <a:pos x="T6" y="T7"/>
                    </a:cxn>
                    <a:cxn ang="T14">
                      <a:pos x="T8" y="T9"/>
                    </a:cxn>
                  </a:cxnLst>
                  <a:rect l="T15" t="T16" r="T17" b="T18"/>
                  <a:pathLst>
                    <a:path w="113" h="63">
                      <a:moveTo>
                        <a:pt x="0" y="0"/>
                      </a:moveTo>
                      <a:lnTo>
                        <a:pt x="0" y="63"/>
                      </a:lnTo>
                      <a:lnTo>
                        <a:pt x="113" y="42"/>
                      </a:lnTo>
                      <a:lnTo>
                        <a:pt x="63" y="6"/>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0" name="16263380.25342.6251.753.255">
                  <a:extLst>
                    <a:ext uri="{FF2B5EF4-FFF2-40B4-BE49-F238E27FC236}">
                      <a16:creationId xmlns:a16="http://schemas.microsoft.com/office/drawing/2014/main" id="{BFDBF7F4-393D-668C-1F88-19AD2299A62A}"/>
                    </a:ext>
                  </a:extLst>
                </p:cNvPr>
                <p:cNvSpPr>
                  <a:spLocks/>
                </p:cNvSpPr>
                <p:nvPr/>
              </p:nvSpPr>
              <p:spPr bwMode="auto">
                <a:xfrm>
                  <a:off x="1776401" y="3818344"/>
                  <a:ext cx="39513" cy="20771"/>
                </a:xfrm>
                <a:custGeom>
                  <a:avLst/>
                  <a:gdLst>
                    <a:gd name="T0" fmla="*/ 0 w 77"/>
                    <a:gd name="T1" fmla="*/ 1 h 34"/>
                    <a:gd name="T2" fmla="*/ 1 w 77"/>
                    <a:gd name="T3" fmla="*/ 0 h 34"/>
                    <a:gd name="T4" fmla="*/ 1 w 77"/>
                    <a:gd name="T5" fmla="*/ 1 h 34"/>
                    <a:gd name="T6" fmla="*/ 0 w 77"/>
                    <a:gd name="T7" fmla="*/ 1 h 34"/>
                    <a:gd name="T8" fmla="*/ 0 60000 65536"/>
                    <a:gd name="T9" fmla="*/ 0 60000 65536"/>
                    <a:gd name="T10" fmla="*/ 0 60000 65536"/>
                    <a:gd name="T11" fmla="*/ 0 60000 65536"/>
                    <a:gd name="T12" fmla="*/ 0 w 77"/>
                    <a:gd name="T13" fmla="*/ 0 h 34"/>
                    <a:gd name="T14" fmla="*/ 77 w 77"/>
                    <a:gd name="T15" fmla="*/ 34 h 34"/>
                  </a:gdLst>
                  <a:ahLst/>
                  <a:cxnLst>
                    <a:cxn ang="T8">
                      <a:pos x="T0" y="T1"/>
                    </a:cxn>
                    <a:cxn ang="T9">
                      <a:pos x="T2" y="T3"/>
                    </a:cxn>
                    <a:cxn ang="T10">
                      <a:pos x="T4" y="T5"/>
                    </a:cxn>
                    <a:cxn ang="T11">
                      <a:pos x="T6" y="T7"/>
                    </a:cxn>
                  </a:cxnLst>
                  <a:rect l="T12" t="T13" r="T14" b="T15"/>
                  <a:pathLst>
                    <a:path w="77" h="34">
                      <a:moveTo>
                        <a:pt x="0" y="26"/>
                      </a:moveTo>
                      <a:lnTo>
                        <a:pt x="22" y="0"/>
                      </a:lnTo>
                      <a:lnTo>
                        <a:pt x="77" y="34"/>
                      </a:lnTo>
                      <a:lnTo>
                        <a:pt x="0" y="2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1" name="16265494.625384.8751.752.55">
                  <a:extLst>
                    <a:ext uri="{FF2B5EF4-FFF2-40B4-BE49-F238E27FC236}">
                      <a16:creationId xmlns:a16="http://schemas.microsoft.com/office/drawing/2014/main" id="{F079306D-D023-06C5-F76D-A7DD4A2E0836}"/>
                    </a:ext>
                  </a:extLst>
                </p:cNvPr>
                <p:cNvSpPr>
                  <a:spLocks/>
                </p:cNvSpPr>
                <p:nvPr/>
              </p:nvSpPr>
              <p:spPr bwMode="auto">
                <a:xfrm>
                  <a:off x="2291079" y="5175374"/>
                  <a:ext cx="30394" cy="20771"/>
                </a:xfrm>
                <a:custGeom>
                  <a:avLst/>
                  <a:gdLst>
                    <a:gd name="T0" fmla="*/ 0 w 60"/>
                    <a:gd name="T1" fmla="*/ 1 h 35"/>
                    <a:gd name="T2" fmla="*/ 1 w 60"/>
                    <a:gd name="T3" fmla="*/ 0 h 35"/>
                    <a:gd name="T4" fmla="*/ 1 w 60"/>
                    <a:gd name="T5" fmla="*/ 1 h 35"/>
                    <a:gd name="T6" fmla="*/ 0 w 60"/>
                    <a:gd name="T7" fmla="*/ 1 h 35"/>
                    <a:gd name="T8" fmla="*/ 0 60000 65536"/>
                    <a:gd name="T9" fmla="*/ 0 60000 65536"/>
                    <a:gd name="T10" fmla="*/ 0 60000 65536"/>
                    <a:gd name="T11" fmla="*/ 0 60000 65536"/>
                    <a:gd name="T12" fmla="*/ 0 w 60"/>
                    <a:gd name="T13" fmla="*/ 0 h 35"/>
                    <a:gd name="T14" fmla="*/ 60 w 60"/>
                    <a:gd name="T15" fmla="*/ 35 h 35"/>
                  </a:gdLst>
                  <a:ahLst/>
                  <a:cxnLst>
                    <a:cxn ang="T8">
                      <a:pos x="T0" y="T1"/>
                    </a:cxn>
                    <a:cxn ang="T9">
                      <a:pos x="T2" y="T3"/>
                    </a:cxn>
                    <a:cxn ang="T10">
                      <a:pos x="T4" y="T5"/>
                    </a:cxn>
                    <a:cxn ang="T11">
                      <a:pos x="T6" y="T7"/>
                    </a:cxn>
                  </a:cxnLst>
                  <a:rect l="T12" t="T13" r="T14" b="T15"/>
                  <a:pathLst>
                    <a:path w="60" h="35">
                      <a:moveTo>
                        <a:pt x="0" y="35"/>
                      </a:moveTo>
                      <a:lnTo>
                        <a:pt x="27" y="0"/>
                      </a:lnTo>
                      <a:lnTo>
                        <a:pt x="60" y="12"/>
                      </a:lnTo>
                      <a:lnTo>
                        <a:pt x="0" y="3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2" name="16266266.875496.12526.515.1255">
                  <a:extLst>
                    <a:ext uri="{FF2B5EF4-FFF2-40B4-BE49-F238E27FC236}">
                      <a16:creationId xmlns:a16="http://schemas.microsoft.com/office/drawing/2014/main" id="{E43850D1-6BAA-07A2-9AAE-210158CBECE7}"/>
                    </a:ext>
                  </a:extLst>
                </p:cNvPr>
                <p:cNvSpPr>
                  <a:spLocks/>
                </p:cNvSpPr>
                <p:nvPr/>
              </p:nvSpPr>
              <p:spPr bwMode="auto">
                <a:xfrm>
                  <a:off x="3128786" y="2439767"/>
                  <a:ext cx="184393" cy="315026"/>
                </a:xfrm>
                <a:custGeom>
                  <a:avLst/>
                  <a:gdLst>
                    <a:gd name="T0" fmla="*/ 0 w 363"/>
                    <a:gd name="T1" fmla="*/ 0 h 547"/>
                    <a:gd name="T2" fmla="*/ 1 w 363"/>
                    <a:gd name="T3" fmla="*/ 0 h 547"/>
                    <a:gd name="T4" fmla="*/ 1 w 363"/>
                    <a:gd name="T5" fmla="*/ 0 h 547"/>
                    <a:gd name="T6" fmla="*/ 1 w 363"/>
                    <a:gd name="T7" fmla="*/ 0 h 547"/>
                    <a:gd name="T8" fmla="*/ 1 w 363"/>
                    <a:gd name="T9" fmla="*/ 0 h 547"/>
                    <a:gd name="T10" fmla="*/ 1 w 363"/>
                    <a:gd name="T11" fmla="*/ 0 h 547"/>
                    <a:gd name="T12" fmla="*/ 1 w 363"/>
                    <a:gd name="T13" fmla="*/ 0 h 547"/>
                    <a:gd name="T14" fmla="*/ 1 w 363"/>
                    <a:gd name="T15" fmla="*/ 0 h 547"/>
                    <a:gd name="T16" fmla="*/ 1 w 363"/>
                    <a:gd name="T17" fmla="*/ 0 h 547"/>
                    <a:gd name="T18" fmla="*/ 1 w 363"/>
                    <a:gd name="T19" fmla="*/ 0 h 547"/>
                    <a:gd name="T20" fmla="*/ 1 w 363"/>
                    <a:gd name="T21" fmla="*/ 0 h 547"/>
                    <a:gd name="T22" fmla="*/ 1 w 363"/>
                    <a:gd name="T23" fmla="*/ 0 h 547"/>
                    <a:gd name="T24" fmla="*/ 1 w 363"/>
                    <a:gd name="T25" fmla="*/ 0 h 547"/>
                    <a:gd name="T26" fmla="*/ 1 w 363"/>
                    <a:gd name="T27" fmla="*/ 0 h 547"/>
                    <a:gd name="T28" fmla="*/ 1 w 363"/>
                    <a:gd name="T29" fmla="*/ 0 h 547"/>
                    <a:gd name="T30" fmla="*/ 1 w 363"/>
                    <a:gd name="T31" fmla="*/ 0 h 547"/>
                    <a:gd name="T32" fmla="*/ 1 w 363"/>
                    <a:gd name="T33" fmla="*/ 0 h 547"/>
                    <a:gd name="T34" fmla="*/ 1 w 363"/>
                    <a:gd name="T35" fmla="*/ 0 h 547"/>
                    <a:gd name="T36" fmla="*/ 1 w 363"/>
                    <a:gd name="T37" fmla="*/ 0 h 547"/>
                    <a:gd name="T38" fmla="*/ 1 w 363"/>
                    <a:gd name="T39" fmla="*/ 0 h 547"/>
                    <a:gd name="T40" fmla="*/ 1 w 363"/>
                    <a:gd name="T41" fmla="*/ 0 h 547"/>
                    <a:gd name="T42" fmla="*/ 1 w 363"/>
                    <a:gd name="T43" fmla="*/ 0 h 547"/>
                    <a:gd name="T44" fmla="*/ 1 w 363"/>
                    <a:gd name="T45" fmla="*/ 0 h 547"/>
                    <a:gd name="T46" fmla="*/ 0 w 363"/>
                    <a:gd name="T47" fmla="*/ 0 h 5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63"/>
                    <a:gd name="T73" fmla="*/ 0 h 547"/>
                    <a:gd name="T74" fmla="*/ 363 w 363"/>
                    <a:gd name="T75" fmla="*/ 547 h 5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63" h="547">
                      <a:moveTo>
                        <a:pt x="0" y="57"/>
                      </a:moveTo>
                      <a:lnTo>
                        <a:pt x="24" y="40"/>
                      </a:lnTo>
                      <a:lnTo>
                        <a:pt x="62" y="73"/>
                      </a:lnTo>
                      <a:lnTo>
                        <a:pt x="132" y="79"/>
                      </a:lnTo>
                      <a:lnTo>
                        <a:pt x="172" y="58"/>
                      </a:lnTo>
                      <a:lnTo>
                        <a:pt x="183" y="13"/>
                      </a:lnTo>
                      <a:lnTo>
                        <a:pt x="249" y="0"/>
                      </a:lnTo>
                      <a:lnTo>
                        <a:pt x="285" y="18"/>
                      </a:lnTo>
                      <a:lnTo>
                        <a:pt x="281" y="57"/>
                      </a:lnTo>
                      <a:lnTo>
                        <a:pt x="267" y="95"/>
                      </a:lnTo>
                      <a:lnTo>
                        <a:pt x="314" y="142"/>
                      </a:lnTo>
                      <a:lnTo>
                        <a:pt x="286" y="177"/>
                      </a:lnTo>
                      <a:lnTo>
                        <a:pt x="321" y="237"/>
                      </a:lnTo>
                      <a:lnTo>
                        <a:pt x="307" y="291"/>
                      </a:lnTo>
                      <a:lnTo>
                        <a:pt x="363" y="405"/>
                      </a:lnTo>
                      <a:lnTo>
                        <a:pt x="235" y="512"/>
                      </a:lnTo>
                      <a:lnTo>
                        <a:pt x="81" y="547"/>
                      </a:lnTo>
                      <a:lnTo>
                        <a:pt x="73" y="525"/>
                      </a:lnTo>
                      <a:lnTo>
                        <a:pt x="24" y="508"/>
                      </a:lnTo>
                      <a:lnTo>
                        <a:pt x="17" y="402"/>
                      </a:lnTo>
                      <a:lnTo>
                        <a:pt x="164" y="287"/>
                      </a:lnTo>
                      <a:lnTo>
                        <a:pt x="116" y="230"/>
                      </a:lnTo>
                      <a:lnTo>
                        <a:pt x="98" y="116"/>
                      </a:lnTo>
                      <a:lnTo>
                        <a:pt x="0" y="5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3" name="16267313.25461.37517.7517.3755">
                  <a:extLst>
                    <a:ext uri="{FF2B5EF4-FFF2-40B4-BE49-F238E27FC236}">
                      <a16:creationId xmlns:a16="http://schemas.microsoft.com/office/drawing/2014/main" id="{D16E2FAC-BB22-830E-B11E-0CBA14F27169}"/>
                    </a:ext>
                  </a:extLst>
                </p:cNvPr>
                <p:cNvSpPr>
                  <a:spLocks/>
                </p:cNvSpPr>
                <p:nvPr/>
              </p:nvSpPr>
              <p:spPr bwMode="auto">
                <a:xfrm>
                  <a:off x="2704276" y="2990196"/>
                  <a:ext cx="212761" cy="210017"/>
                </a:xfrm>
                <a:custGeom>
                  <a:avLst/>
                  <a:gdLst>
                    <a:gd name="T0" fmla="*/ 0 w 421"/>
                    <a:gd name="T1" fmla="*/ 0 h 365"/>
                    <a:gd name="T2" fmla="*/ 0 w 421"/>
                    <a:gd name="T3" fmla="*/ 0 h 365"/>
                    <a:gd name="T4" fmla="*/ 0 w 421"/>
                    <a:gd name="T5" fmla="*/ 0 h 365"/>
                    <a:gd name="T6" fmla="*/ 0 w 421"/>
                    <a:gd name="T7" fmla="*/ 0 h 365"/>
                    <a:gd name="T8" fmla="*/ 0 w 421"/>
                    <a:gd name="T9" fmla="*/ 0 h 365"/>
                    <a:gd name="T10" fmla="*/ 0 w 421"/>
                    <a:gd name="T11" fmla="*/ 0 h 365"/>
                    <a:gd name="T12" fmla="*/ 0 w 421"/>
                    <a:gd name="T13" fmla="*/ 0 h 365"/>
                    <a:gd name="T14" fmla="*/ 0 w 421"/>
                    <a:gd name="T15" fmla="*/ 0 h 365"/>
                    <a:gd name="T16" fmla="*/ 0 w 421"/>
                    <a:gd name="T17" fmla="*/ 0 h 365"/>
                    <a:gd name="T18" fmla="*/ 0 w 421"/>
                    <a:gd name="T19" fmla="*/ 0 h 365"/>
                    <a:gd name="T20" fmla="*/ 0 w 421"/>
                    <a:gd name="T21" fmla="*/ 0 h 365"/>
                    <a:gd name="T22" fmla="*/ 0 w 421"/>
                    <a:gd name="T23" fmla="*/ 0 h 365"/>
                    <a:gd name="T24" fmla="*/ 0 w 421"/>
                    <a:gd name="T25" fmla="*/ 0 h 365"/>
                    <a:gd name="T26" fmla="*/ 0 w 421"/>
                    <a:gd name="T27" fmla="*/ 0 h 365"/>
                    <a:gd name="T28" fmla="*/ 0 w 421"/>
                    <a:gd name="T29" fmla="*/ 0 h 365"/>
                    <a:gd name="T30" fmla="*/ 0 w 421"/>
                    <a:gd name="T31" fmla="*/ 0 h 365"/>
                    <a:gd name="T32" fmla="*/ 0 w 421"/>
                    <a:gd name="T33" fmla="*/ 0 h 365"/>
                    <a:gd name="T34" fmla="*/ 0 w 421"/>
                    <a:gd name="T35" fmla="*/ 0 h 365"/>
                    <a:gd name="T36" fmla="*/ 0 w 421"/>
                    <a:gd name="T37" fmla="*/ 0 h 365"/>
                    <a:gd name="T38" fmla="*/ 0 w 421"/>
                    <a:gd name="T39" fmla="*/ 0 h 365"/>
                    <a:gd name="T40" fmla="*/ 0 w 421"/>
                    <a:gd name="T41" fmla="*/ 0 h 365"/>
                    <a:gd name="T42" fmla="*/ 0 w 421"/>
                    <a:gd name="T43" fmla="*/ 0 h 365"/>
                    <a:gd name="T44" fmla="*/ 0 w 421"/>
                    <a:gd name="T45" fmla="*/ 0 h 365"/>
                    <a:gd name="T46" fmla="*/ 0 w 421"/>
                    <a:gd name="T47" fmla="*/ 0 h 365"/>
                    <a:gd name="T48" fmla="*/ 0 w 421"/>
                    <a:gd name="T49" fmla="*/ 0 h 365"/>
                    <a:gd name="T50" fmla="*/ 0 w 421"/>
                    <a:gd name="T51" fmla="*/ 0 h 365"/>
                    <a:gd name="T52" fmla="*/ 0 w 421"/>
                    <a:gd name="T53" fmla="*/ 0 h 36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21"/>
                    <a:gd name="T82" fmla="*/ 0 h 365"/>
                    <a:gd name="T83" fmla="*/ 421 w 421"/>
                    <a:gd name="T84" fmla="*/ 365 h 36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21" h="365">
                      <a:moveTo>
                        <a:pt x="0" y="111"/>
                      </a:moveTo>
                      <a:lnTo>
                        <a:pt x="14" y="143"/>
                      </a:lnTo>
                      <a:lnTo>
                        <a:pt x="100" y="165"/>
                      </a:lnTo>
                      <a:lnTo>
                        <a:pt x="87" y="183"/>
                      </a:lnTo>
                      <a:lnTo>
                        <a:pt x="118" y="206"/>
                      </a:lnTo>
                      <a:lnTo>
                        <a:pt x="132" y="248"/>
                      </a:lnTo>
                      <a:lnTo>
                        <a:pt x="95" y="325"/>
                      </a:lnTo>
                      <a:lnTo>
                        <a:pt x="199" y="355"/>
                      </a:lnTo>
                      <a:lnTo>
                        <a:pt x="210" y="359"/>
                      </a:lnTo>
                      <a:lnTo>
                        <a:pt x="260" y="365"/>
                      </a:lnTo>
                      <a:lnTo>
                        <a:pt x="260" y="334"/>
                      </a:lnTo>
                      <a:lnTo>
                        <a:pt x="287" y="318"/>
                      </a:lnTo>
                      <a:lnTo>
                        <a:pt x="357" y="337"/>
                      </a:lnTo>
                      <a:lnTo>
                        <a:pt x="401" y="307"/>
                      </a:lnTo>
                      <a:lnTo>
                        <a:pt x="375" y="263"/>
                      </a:lnTo>
                      <a:lnTo>
                        <a:pt x="385" y="220"/>
                      </a:lnTo>
                      <a:lnTo>
                        <a:pt x="352" y="197"/>
                      </a:lnTo>
                      <a:lnTo>
                        <a:pt x="401" y="147"/>
                      </a:lnTo>
                      <a:lnTo>
                        <a:pt x="421" y="92"/>
                      </a:lnTo>
                      <a:lnTo>
                        <a:pt x="359" y="69"/>
                      </a:lnTo>
                      <a:lnTo>
                        <a:pt x="342" y="63"/>
                      </a:lnTo>
                      <a:lnTo>
                        <a:pt x="246" y="0"/>
                      </a:lnTo>
                      <a:lnTo>
                        <a:pt x="213" y="11"/>
                      </a:lnTo>
                      <a:lnTo>
                        <a:pt x="175" y="72"/>
                      </a:lnTo>
                      <a:lnTo>
                        <a:pt x="94" y="61"/>
                      </a:lnTo>
                      <a:lnTo>
                        <a:pt x="106" y="109"/>
                      </a:lnTo>
                      <a:lnTo>
                        <a:pt x="0" y="11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4" name="16268329.75479.53.251.1255">
                  <a:extLst>
                    <a:ext uri="{FF2B5EF4-FFF2-40B4-BE49-F238E27FC236}">
                      <a16:creationId xmlns:a16="http://schemas.microsoft.com/office/drawing/2014/main" id="{61FEBB1F-087D-F7ED-8FA0-D8E843F6E7A4}"/>
                    </a:ext>
                  </a:extLst>
                </p:cNvPr>
                <p:cNvSpPr>
                  <a:spLocks/>
                </p:cNvSpPr>
                <p:nvPr/>
              </p:nvSpPr>
              <p:spPr bwMode="auto">
                <a:xfrm>
                  <a:off x="2926156" y="3185211"/>
                  <a:ext cx="13171" cy="39234"/>
                </a:xfrm>
                <a:custGeom>
                  <a:avLst/>
                  <a:gdLst>
                    <a:gd name="T0" fmla="*/ 0 w 27"/>
                    <a:gd name="T1" fmla="*/ 0 h 69"/>
                    <a:gd name="T2" fmla="*/ 0 w 27"/>
                    <a:gd name="T3" fmla="*/ 0 h 69"/>
                    <a:gd name="T4" fmla="*/ 0 w 27"/>
                    <a:gd name="T5" fmla="*/ 0 h 69"/>
                    <a:gd name="T6" fmla="*/ 0 w 27"/>
                    <a:gd name="T7" fmla="*/ 0 h 69"/>
                    <a:gd name="T8" fmla="*/ 0 60000 65536"/>
                    <a:gd name="T9" fmla="*/ 0 60000 65536"/>
                    <a:gd name="T10" fmla="*/ 0 60000 65536"/>
                    <a:gd name="T11" fmla="*/ 0 60000 65536"/>
                    <a:gd name="T12" fmla="*/ 0 w 27"/>
                    <a:gd name="T13" fmla="*/ 0 h 69"/>
                    <a:gd name="T14" fmla="*/ 27 w 27"/>
                    <a:gd name="T15" fmla="*/ 69 h 69"/>
                  </a:gdLst>
                  <a:ahLst/>
                  <a:cxnLst>
                    <a:cxn ang="T8">
                      <a:pos x="T0" y="T1"/>
                    </a:cxn>
                    <a:cxn ang="T9">
                      <a:pos x="T2" y="T3"/>
                    </a:cxn>
                    <a:cxn ang="T10">
                      <a:pos x="T4" y="T5"/>
                    </a:cxn>
                    <a:cxn ang="T11">
                      <a:pos x="T6" y="T7"/>
                    </a:cxn>
                  </a:cxnLst>
                  <a:rect l="T12" t="T13" r="T14" b="T15"/>
                  <a:pathLst>
                    <a:path w="27" h="69">
                      <a:moveTo>
                        <a:pt x="0" y="34"/>
                      </a:moveTo>
                      <a:lnTo>
                        <a:pt x="24" y="69"/>
                      </a:lnTo>
                      <a:lnTo>
                        <a:pt x="27" y="0"/>
                      </a:lnTo>
                      <a:lnTo>
                        <a:pt x="0" y="3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5" name="16269394.75392.255.6253.8755">
                  <a:extLst>
                    <a:ext uri="{FF2B5EF4-FFF2-40B4-BE49-F238E27FC236}">
                      <a16:creationId xmlns:a16="http://schemas.microsoft.com/office/drawing/2014/main" id="{91F35B68-40D3-770A-6606-20FAB3F5A580}"/>
                    </a:ext>
                  </a:extLst>
                </p:cNvPr>
                <p:cNvSpPr>
                  <a:spLocks/>
                </p:cNvSpPr>
                <p:nvPr/>
              </p:nvSpPr>
              <p:spPr bwMode="auto">
                <a:xfrm>
                  <a:off x="2380236" y="3991434"/>
                  <a:ext cx="48631" cy="65774"/>
                </a:xfrm>
                <a:custGeom>
                  <a:avLst/>
                  <a:gdLst>
                    <a:gd name="T0" fmla="*/ 0 w 96"/>
                    <a:gd name="T1" fmla="*/ 1 h 114"/>
                    <a:gd name="T2" fmla="*/ 1 w 96"/>
                    <a:gd name="T3" fmla="*/ 0 h 114"/>
                    <a:gd name="T4" fmla="*/ 1 w 96"/>
                    <a:gd name="T5" fmla="*/ 1 h 114"/>
                    <a:gd name="T6" fmla="*/ 1 w 96"/>
                    <a:gd name="T7" fmla="*/ 1 h 114"/>
                    <a:gd name="T8" fmla="*/ 0 w 96"/>
                    <a:gd name="T9" fmla="*/ 1 h 114"/>
                    <a:gd name="T10" fmla="*/ 0 60000 65536"/>
                    <a:gd name="T11" fmla="*/ 0 60000 65536"/>
                    <a:gd name="T12" fmla="*/ 0 60000 65536"/>
                    <a:gd name="T13" fmla="*/ 0 60000 65536"/>
                    <a:gd name="T14" fmla="*/ 0 60000 65536"/>
                    <a:gd name="T15" fmla="*/ 0 w 96"/>
                    <a:gd name="T16" fmla="*/ 0 h 114"/>
                    <a:gd name="T17" fmla="*/ 96 w 96"/>
                    <a:gd name="T18" fmla="*/ 114 h 114"/>
                  </a:gdLst>
                  <a:ahLst/>
                  <a:cxnLst>
                    <a:cxn ang="T10">
                      <a:pos x="T0" y="T1"/>
                    </a:cxn>
                    <a:cxn ang="T11">
                      <a:pos x="T2" y="T3"/>
                    </a:cxn>
                    <a:cxn ang="T12">
                      <a:pos x="T4" y="T5"/>
                    </a:cxn>
                    <a:cxn ang="T13">
                      <a:pos x="T6" y="T7"/>
                    </a:cxn>
                    <a:cxn ang="T14">
                      <a:pos x="T8" y="T9"/>
                    </a:cxn>
                  </a:cxnLst>
                  <a:rect l="T15" t="T16" r="T17" b="T18"/>
                  <a:pathLst>
                    <a:path w="96" h="114">
                      <a:moveTo>
                        <a:pt x="0" y="110"/>
                      </a:moveTo>
                      <a:lnTo>
                        <a:pt x="14" y="0"/>
                      </a:lnTo>
                      <a:lnTo>
                        <a:pt x="96" y="49"/>
                      </a:lnTo>
                      <a:lnTo>
                        <a:pt x="47" y="114"/>
                      </a:lnTo>
                      <a:lnTo>
                        <a:pt x="0" y="11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6" name="16270305475.87515.7512.1255">
                  <a:extLst>
                    <a:ext uri="{FF2B5EF4-FFF2-40B4-BE49-F238E27FC236}">
                      <a16:creationId xmlns:a16="http://schemas.microsoft.com/office/drawing/2014/main" id="{08C5063B-146D-1088-5870-C4030594FD5A}"/>
                    </a:ext>
                  </a:extLst>
                </p:cNvPr>
                <p:cNvSpPr>
                  <a:spLocks/>
                </p:cNvSpPr>
                <p:nvPr/>
              </p:nvSpPr>
              <p:spPr bwMode="auto">
                <a:xfrm>
                  <a:off x="2881578" y="2892111"/>
                  <a:ext cx="146906" cy="186938"/>
                </a:xfrm>
                <a:custGeom>
                  <a:avLst/>
                  <a:gdLst>
                    <a:gd name="T0" fmla="*/ 0 w 289"/>
                    <a:gd name="T1" fmla="*/ 1 h 323"/>
                    <a:gd name="T2" fmla="*/ 1 w 289"/>
                    <a:gd name="T3" fmla="*/ 1 h 323"/>
                    <a:gd name="T4" fmla="*/ 1 w 289"/>
                    <a:gd name="T5" fmla="*/ 1 h 323"/>
                    <a:gd name="T6" fmla="*/ 1 w 289"/>
                    <a:gd name="T7" fmla="*/ 1 h 323"/>
                    <a:gd name="T8" fmla="*/ 1 w 289"/>
                    <a:gd name="T9" fmla="*/ 1 h 323"/>
                    <a:gd name="T10" fmla="*/ 1 w 289"/>
                    <a:gd name="T11" fmla="*/ 1 h 323"/>
                    <a:gd name="T12" fmla="*/ 1 w 289"/>
                    <a:gd name="T13" fmla="*/ 1 h 323"/>
                    <a:gd name="T14" fmla="*/ 1 w 289"/>
                    <a:gd name="T15" fmla="*/ 1 h 323"/>
                    <a:gd name="T16" fmla="*/ 1 w 289"/>
                    <a:gd name="T17" fmla="*/ 1 h 323"/>
                    <a:gd name="T18" fmla="*/ 1 w 289"/>
                    <a:gd name="T19" fmla="*/ 1 h 323"/>
                    <a:gd name="T20" fmla="*/ 1 w 289"/>
                    <a:gd name="T21" fmla="*/ 1 h 323"/>
                    <a:gd name="T22" fmla="*/ 1 w 289"/>
                    <a:gd name="T23" fmla="*/ 1 h 323"/>
                    <a:gd name="T24" fmla="*/ 1 w 289"/>
                    <a:gd name="T25" fmla="*/ 1 h 323"/>
                    <a:gd name="T26" fmla="*/ 1 w 289"/>
                    <a:gd name="T27" fmla="*/ 1 h 323"/>
                    <a:gd name="T28" fmla="*/ 1 w 289"/>
                    <a:gd name="T29" fmla="*/ 1 h 323"/>
                    <a:gd name="T30" fmla="*/ 1 w 289"/>
                    <a:gd name="T31" fmla="*/ 1 h 323"/>
                    <a:gd name="T32" fmla="*/ 1 w 289"/>
                    <a:gd name="T33" fmla="*/ 0 h 323"/>
                    <a:gd name="T34" fmla="*/ 1 w 289"/>
                    <a:gd name="T35" fmla="*/ 0 h 323"/>
                    <a:gd name="T36" fmla="*/ 1 w 289"/>
                    <a:gd name="T37" fmla="*/ 1 h 323"/>
                    <a:gd name="T38" fmla="*/ 1 w 289"/>
                    <a:gd name="T39" fmla="*/ 1 h 323"/>
                    <a:gd name="T40" fmla="*/ 1 w 289"/>
                    <a:gd name="T41" fmla="*/ 1 h 323"/>
                    <a:gd name="T42" fmla="*/ 1 w 289"/>
                    <a:gd name="T43" fmla="*/ 1 h 323"/>
                    <a:gd name="T44" fmla="*/ 0 w 289"/>
                    <a:gd name="T45" fmla="*/ 1 h 32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89"/>
                    <a:gd name="T70" fmla="*/ 0 h 323"/>
                    <a:gd name="T71" fmla="*/ 289 w 289"/>
                    <a:gd name="T72" fmla="*/ 323 h 32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89" h="323">
                      <a:moveTo>
                        <a:pt x="0" y="133"/>
                      </a:moveTo>
                      <a:lnTo>
                        <a:pt x="1" y="186"/>
                      </a:lnTo>
                      <a:lnTo>
                        <a:pt x="4" y="210"/>
                      </a:lnTo>
                      <a:lnTo>
                        <a:pt x="8" y="238"/>
                      </a:lnTo>
                      <a:lnTo>
                        <a:pt x="70" y="261"/>
                      </a:lnTo>
                      <a:lnTo>
                        <a:pt x="50" y="316"/>
                      </a:lnTo>
                      <a:lnTo>
                        <a:pt x="115" y="323"/>
                      </a:lnTo>
                      <a:lnTo>
                        <a:pt x="228" y="322"/>
                      </a:lnTo>
                      <a:lnTo>
                        <a:pt x="258" y="269"/>
                      </a:lnTo>
                      <a:lnTo>
                        <a:pt x="197" y="203"/>
                      </a:lnTo>
                      <a:lnTo>
                        <a:pt x="270" y="168"/>
                      </a:lnTo>
                      <a:lnTo>
                        <a:pt x="289" y="179"/>
                      </a:lnTo>
                      <a:lnTo>
                        <a:pt x="270" y="49"/>
                      </a:lnTo>
                      <a:lnTo>
                        <a:pt x="217" y="18"/>
                      </a:lnTo>
                      <a:lnTo>
                        <a:pt x="158" y="40"/>
                      </a:lnTo>
                      <a:lnTo>
                        <a:pt x="166" y="25"/>
                      </a:lnTo>
                      <a:lnTo>
                        <a:pt x="115" y="0"/>
                      </a:lnTo>
                      <a:lnTo>
                        <a:pt x="89" y="0"/>
                      </a:lnTo>
                      <a:lnTo>
                        <a:pt x="87" y="71"/>
                      </a:lnTo>
                      <a:lnTo>
                        <a:pt x="57" y="52"/>
                      </a:lnTo>
                      <a:lnTo>
                        <a:pt x="39" y="74"/>
                      </a:lnTo>
                      <a:lnTo>
                        <a:pt x="34" y="117"/>
                      </a:lnTo>
                      <a:lnTo>
                        <a:pt x="0" y="13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7" name="16271332495.62510.258.755">
                  <a:extLst>
                    <a:ext uri="{FF2B5EF4-FFF2-40B4-BE49-F238E27FC236}">
                      <a16:creationId xmlns:a16="http://schemas.microsoft.com/office/drawing/2014/main" id="{D0E49FE4-2676-2458-DFDD-0708A644B7BD}"/>
                    </a:ext>
                  </a:extLst>
                </p:cNvPr>
                <p:cNvSpPr>
                  <a:spLocks/>
                </p:cNvSpPr>
                <p:nvPr/>
              </p:nvSpPr>
              <p:spPr bwMode="auto">
                <a:xfrm>
                  <a:off x="3121693" y="3212906"/>
                  <a:ext cx="106381" cy="121163"/>
                </a:xfrm>
                <a:custGeom>
                  <a:avLst/>
                  <a:gdLst>
                    <a:gd name="T0" fmla="*/ 0 w 209"/>
                    <a:gd name="T1" fmla="*/ 1 h 209"/>
                    <a:gd name="T2" fmla="*/ 1 w 209"/>
                    <a:gd name="T3" fmla="*/ 1 h 209"/>
                    <a:gd name="T4" fmla="*/ 1 w 209"/>
                    <a:gd name="T5" fmla="*/ 1 h 209"/>
                    <a:gd name="T6" fmla="*/ 1 w 209"/>
                    <a:gd name="T7" fmla="*/ 1 h 209"/>
                    <a:gd name="T8" fmla="*/ 1 w 209"/>
                    <a:gd name="T9" fmla="*/ 0 h 209"/>
                    <a:gd name="T10" fmla="*/ 1 w 209"/>
                    <a:gd name="T11" fmla="*/ 1 h 209"/>
                    <a:gd name="T12" fmla="*/ 1 w 209"/>
                    <a:gd name="T13" fmla="*/ 1 h 209"/>
                    <a:gd name="T14" fmla="*/ 1 w 209"/>
                    <a:gd name="T15" fmla="*/ 1 h 209"/>
                    <a:gd name="T16" fmla="*/ 1 w 209"/>
                    <a:gd name="T17" fmla="*/ 1 h 209"/>
                    <a:gd name="T18" fmla="*/ 1 w 209"/>
                    <a:gd name="T19" fmla="*/ 1 h 209"/>
                    <a:gd name="T20" fmla="*/ 1 w 209"/>
                    <a:gd name="T21" fmla="*/ 1 h 209"/>
                    <a:gd name="T22" fmla="*/ 1 w 209"/>
                    <a:gd name="T23" fmla="*/ 1 h 209"/>
                    <a:gd name="T24" fmla="*/ 1 w 209"/>
                    <a:gd name="T25" fmla="*/ 1 h 209"/>
                    <a:gd name="T26" fmla="*/ 1 w 209"/>
                    <a:gd name="T27" fmla="*/ 1 h 209"/>
                    <a:gd name="T28" fmla="*/ 1 w 209"/>
                    <a:gd name="T29" fmla="*/ 1 h 209"/>
                    <a:gd name="T30" fmla="*/ 1 w 209"/>
                    <a:gd name="T31" fmla="*/ 1 h 209"/>
                    <a:gd name="T32" fmla="*/ 1 w 209"/>
                    <a:gd name="T33" fmla="*/ 1 h 209"/>
                    <a:gd name="T34" fmla="*/ 1 w 209"/>
                    <a:gd name="T35" fmla="*/ 1 h 209"/>
                    <a:gd name="T36" fmla="*/ 1 w 209"/>
                    <a:gd name="T37" fmla="*/ 1 h 209"/>
                    <a:gd name="T38" fmla="*/ 0 w 209"/>
                    <a:gd name="T39" fmla="*/ 1 h 20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9"/>
                    <a:gd name="T61" fmla="*/ 0 h 209"/>
                    <a:gd name="T62" fmla="*/ 209 w 209"/>
                    <a:gd name="T63" fmla="*/ 209 h 20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9" h="209">
                      <a:moveTo>
                        <a:pt x="0" y="83"/>
                      </a:moveTo>
                      <a:lnTo>
                        <a:pt x="29" y="37"/>
                      </a:lnTo>
                      <a:lnTo>
                        <a:pt x="94" y="19"/>
                      </a:lnTo>
                      <a:lnTo>
                        <a:pt x="177" y="20"/>
                      </a:lnTo>
                      <a:lnTo>
                        <a:pt x="209" y="0"/>
                      </a:lnTo>
                      <a:lnTo>
                        <a:pt x="198" y="44"/>
                      </a:lnTo>
                      <a:lnTo>
                        <a:pt x="141" y="34"/>
                      </a:lnTo>
                      <a:lnTo>
                        <a:pt x="112" y="71"/>
                      </a:lnTo>
                      <a:lnTo>
                        <a:pt x="82" y="50"/>
                      </a:lnTo>
                      <a:lnTo>
                        <a:pt x="104" y="105"/>
                      </a:lnTo>
                      <a:lnTo>
                        <a:pt x="77" y="116"/>
                      </a:lnTo>
                      <a:lnTo>
                        <a:pt x="129" y="140"/>
                      </a:lnTo>
                      <a:lnTo>
                        <a:pt x="129" y="162"/>
                      </a:lnTo>
                      <a:lnTo>
                        <a:pt x="86" y="169"/>
                      </a:lnTo>
                      <a:lnTo>
                        <a:pt x="100" y="209"/>
                      </a:lnTo>
                      <a:lnTo>
                        <a:pt x="49" y="195"/>
                      </a:lnTo>
                      <a:lnTo>
                        <a:pt x="34" y="158"/>
                      </a:lnTo>
                      <a:lnTo>
                        <a:pt x="101" y="143"/>
                      </a:lnTo>
                      <a:lnTo>
                        <a:pt x="34" y="137"/>
                      </a:lnTo>
                      <a:lnTo>
                        <a:pt x="0" y="8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8" name="16272343.875500.250.754.1255">
                  <a:extLst>
                    <a:ext uri="{FF2B5EF4-FFF2-40B4-BE49-F238E27FC236}">
                      <a16:creationId xmlns:a16="http://schemas.microsoft.com/office/drawing/2014/main" id="{92538C56-DF37-DB43-431B-D0CAD919E2A8}"/>
                    </a:ext>
                  </a:extLst>
                </p:cNvPr>
                <p:cNvSpPr>
                  <a:spLocks/>
                </p:cNvSpPr>
                <p:nvPr/>
              </p:nvSpPr>
              <p:spPr bwMode="auto">
                <a:xfrm>
                  <a:off x="3178430" y="3353686"/>
                  <a:ext cx="49644" cy="8077"/>
                </a:xfrm>
                <a:custGeom>
                  <a:avLst/>
                  <a:gdLst>
                    <a:gd name="T0" fmla="*/ 0 w 98"/>
                    <a:gd name="T1" fmla="*/ 1 h 14"/>
                    <a:gd name="T2" fmla="*/ 1 w 98"/>
                    <a:gd name="T3" fmla="*/ 0 h 14"/>
                    <a:gd name="T4" fmla="*/ 1 w 98"/>
                    <a:gd name="T5" fmla="*/ 1 h 14"/>
                    <a:gd name="T6" fmla="*/ 1 w 98"/>
                    <a:gd name="T7" fmla="*/ 1 h 14"/>
                    <a:gd name="T8" fmla="*/ 0 w 98"/>
                    <a:gd name="T9" fmla="*/ 1 h 14"/>
                    <a:gd name="T10" fmla="*/ 0 60000 65536"/>
                    <a:gd name="T11" fmla="*/ 0 60000 65536"/>
                    <a:gd name="T12" fmla="*/ 0 60000 65536"/>
                    <a:gd name="T13" fmla="*/ 0 60000 65536"/>
                    <a:gd name="T14" fmla="*/ 0 60000 65536"/>
                    <a:gd name="T15" fmla="*/ 0 w 98"/>
                    <a:gd name="T16" fmla="*/ 0 h 14"/>
                    <a:gd name="T17" fmla="*/ 98 w 98"/>
                    <a:gd name="T18" fmla="*/ 14 h 14"/>
                  </a:gdLst>
                  <a:ahLst/>
                  <a:cxnLst>
                    <a:cxn ang="T10">
                      <a:pos x="T0" y="T1"/>
                    </a:cxn>
                    <a:cxn ang="T11">
                      <a:pos x="T2" y="T3"/>
                    </a:cxn>
                    <a:cxn ang="T12">
                      <a:pos x="T4" y="T5"/>
                    </a:cxn>
                    <a:cxn ang="T13">
                      <a:pos x="T6" y="T7"/>
                    </a:cxn>
                    <a:cxn ang="T14">
                      <a:pos x="T8" y="T9"/>
                    </a:cxn>
                  </a:cxnLst>
                  <a:rect l="T15" t="T16" r="T17" b="T18"/>
                  <a:pathLst>
                    <a:path w="98" h="14">
                      <a:moveTo>
                        <a:pt x="0" y="14"/>
                      </a:moveTo>
                      <a:lnTo>
                        <a:pt x="8" y="0"/>
                      </a:lnTo>
                      <a:lnTo>
                        <a:pt x="98" y="14"/>
                      </a:lnTo>
                      <a:lnTo>
                        <a:pt x="32" y="14"/>
                      </a:lnTo>
                      <a:lnTo>
                        <a:pt x="0" y="1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9" name="16274374.5339.6257.1255.3755">
                  <a:extLst>
                    <a:ext uri="{FF2B5EF4-FFF2-40B4-BE49-F238E27FC236}">
                      <a16:creationId xmlns:a16="http://schemas.microsoft.com/office/drawing/2014/main" id="{F697864B-D27A-4A10-97F5-7CA58EE5DE0B}"/>
                    </a:ext>
                  </a:extLst>
                </p:cNvPr>
                <p:cNvSpPr>
                  <a:spLocks/>
                </p:cNvSpPr>
                <p:nvPr/>
              </p:nvSpPr>
              <p:spPr bwMode="auto">
                <a:xfrm>
                  <a:off x="1738914" y="3750261"/>
                  <a:ext cx="66868" cy="84237"/>
                </a:xfrm>
                <a:custGeom>
                  <a:avLst/>
                  <a:gdLst>
                    <a:gd name="T0" fmla="*/ 0 w 132"/>
                    <a:gd name="T1" fmla="*/ 1 h 144"/>
                    <a:gd name="T2" fmla="*/ 1 w 132"/>
                    <a:gd name="T3" fmla="*/ 1 h 144"/>
                    <a:gd name="T4" fmla="*/ 1 w 132"/>
                    <a:gd name="T5" fmla="*/ 1 h 144"/>
                    <a:gd name="T6" fmla="*/ 1 w 132"/>
                    <a:gd name="T7" fmla="*/ 1 h 144"/>
                    <a:gd name="T8" fmla="*/ 1 w 132"/>
                    <a:gd name="T9" fmla="*/ 0 h 144"/>
                    <a:gd name="T10" fmla="*/ 1 w 132"/>
                    <a:gd name="T11" fmla="*/ 1 h 144"/>
                    <a:gd name="T12" fmla="*/ 1 w 132"/>
                    <a:gd name="T13" fmla="*/ 1 h 144"/>
                    <a:gd name="T14" fmla="*/ 1 w 132"/>
                    <a:gd name="T15" fmla="*/ 1 h 144"/>
                    <a:gd name="T16" fmla="*/ 1 w 132"/>
                    <a:gd name="T17" fmla="*/ 1 h 144"/>
                    <a:gd name="T18" fmla="*/ 0 w 132"/>
                    <a:gd name="T19" fmla="*/ 1 h 1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2"/>
                    <a:gd name="T31" fmla="*/ 0 h 144"/>
                    <a:gd name="T32" fmla="*/ 132 w 132"/>
                    <a:gd name="T33" fmla="*/ 144 h 1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2" h="144">
                      <a:moveTo>
                        <a:pt x="0" y="115"/>
                      </a:moveTo>
                      <a:lnTo>
                        <a:pt x="28" y="63"/>
                      </a:lnTo>
                      <a:lnTo>
                        <a:pt x="62" y="62"/>
                      </a:lnTo>
                      <a:lnTo>
                        <a:pt x="26" y="18"/>
                      </a:lnTo>
                      <a:lnTo>
                        <a:pt x="103" y="0"/>
                      </a:lnTo>
                      <a:lnTo>
                        <a:pt x="114" y="68"/>
                      </a:lnTo>
                      <a:lnTo>
                        <a:pt x="132" y="74"/>
                      </a:lnTo>
                      <a:lnTo>
                        <a:pt x="96" y="118"/>
                      </a:lnTo>
                      <a:lnTo>
                        <a:pt x="74" y="144"/>
                      </a:lnTo>
                      <a:lnTo>
                        <a:pt x="0" y="11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0" name="16275390.375382.625116.6255">
                  <a:extLst>
                    <a:ext uri="{FF2B5EF4-FFF2-40B4-BE49-F238E27FC236}">
                      <a16:creationId xmlns:a16="http://schemas.microsoft.com/office/drawing/2014/main" id="{B9973C21-9B7E-58F5-E344-28E95D62BE50}"/>
                    </a:ext>
                  </a:extLst>
                </p:cNvPr>
                <p:cNvSpPr>
                  <a:spLocks/>
                </p:cNvSpPr>
                <p:nvPr/>
              </p:nvSpPr>
              <p:spPr bwMode="auto">
                <a:xfrm>
                  <a:off x="2263724" y="3938352"/>
                  <a:ext cx="81052" cy="130395"/>
                </a:xfrm>
                <a:custGeom>
                  <a:avLst/>
                  <a:gdLst>
                    <a:gd name="T0" fmla="*/ 0 w 160"/>
                    <a:gd name="T1" fmla="*/ 0 h 227"/>
                    <a:gd name="T2" fmla="*/ 1 w 160"/>
                    <a:gd name="T3" fmla="*/ 0 h 227"/>
                    <a:gd name="T4" fmla="*/ 1 w 160"/>
                    <a:gd name="T5" fmla="*/ 0 h 227"/>
                    <a:gd name="T6" fmla="*/ 1 w 160"/>
                    <a:gd name="T7" fmla="*/ 0 h 227"/>
                    <a:gd name="T8" fmla="*/ 1 w 160"/>
                    <a:gd name="T9" fmla="*/ 0 h 227"/>
                    <a:gd name="T10" fmla="*/ 1 w 160"/>
                    <a:gd name="T11" fmla="*/ 0 h 227"/>
                    <a:gd name="T12" fmla="*/ 1 w 160"/>
                    <a:gd name="T13" fmla="*/ 0 h 227"/>
                    <a:gd name="T14" fmla="*/ 1 w 160"/>
                    <a:gd name="T15" fmla="*/ 0 h 227"/>
                    <a:gd name="T16" fmla="*/ 1 w 160"/>
                    <a:gd name="T17" fmla="*/ 0 h 227"/>
                    <a:gd name="T18" fmla="*/ 1 w 160"/>
                    <a:gd name="T19" fmla="*/ 0 h 227"/>
                    <a:gd name="T20" fmla="*/ 1 w 160"/>
                    <a:gd name="T21" fmla="*/ 0 h 227"/>
                    <a:gd name="T22" fmla="*/ 0 w 160"/>
                    <a:gd name="T23" fmla="*/ 0 h 2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0"/>
                    <a:gd name="T37" fmla="*/ 0 h 227"/>
                    <a:gd name="T38" fmla="*/ 160 w 160"/>
                    <a:gd name="T39" fmla="*/ 227 h 2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0" h="227">
                      <a:moveTo>
                        <a:pt x="0" y="75"/>
                      </a:moveTo>
                      <a:lnTo>
                        <a:pt x="24" y="106"/>
                      </a:lnTo>
                      <a:lnTo>
                        <a:pt x="54" y="130"/>
                      </a:lnTo>
                      <a:lnTo>
                        <a:pt x="47" y="193"/>
                      </a:lnTo>
                      <a:lnTo>
                        <a:pt x="65" y="227"/>
                      </a:lnTo>
                      <a:lnTo>
                        <a:pt x="160" y="213"/>
                      </a:lnTo>
                      <a:lnTo>
                        <a:pt x="106" y="143"/>
                      </a:lnTo>
                      <a:lnTo>
                        <a:pt x="143" y="83"/>
                      </a:lnTo>
                      <a:lnTo>
                        <a:pt x="48" y="0"/>
                      </a:lnTo>
                      <a:lnTo>
                        <a:pt x="17" y="24"/>
                      </a:lnTo>
                      <a:lnTo>
                        <a:pt x="29" y="46"/>
                      </a:lnTo>
                      <a:lnTo>
                        <a:pt x="0" y="7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1" name="16276371.25364.3753.1253.6255">
                  <a:extLst>
                    <a:ext uri="{FF2B5EF4-FFF2-40B4-BE49-F238E27FC236}">
                      <a16:creationId xmlns:a16="http://schemas.microsoft.com/office/drawing/2014/main" id="{AA112863-F64B-7F2A-BB0D-9F94EEDB7145}"/>
                    </a:ext>
                  </a:extLst>
                </p:cNvPr>
                <p:cNvSpPr>
                  <a:spLocks/>
                </p:cNvSpPr>
                <p:nvPr/>
              </p:nvSpPr>
              <p:spPr bwMode="auto">
                <a:xfrm>
                  <a:off x="2040832" y="3712181"/>
                  <a:ext cx="44578" cy="36926"/>
                </a:xfrm>
                <a:custGeom>
                  <a:avLst/>
                  <a:gdLst>
                    <a:gd name="T0" fmla="*/ 0 w 86"/>
                    <a:gd name="T1" fmla="*/ 1 h 63"/>
                    <a:gd name="T2" fmla="*/ 1 w 86"/>
                    <a:gd name="T3" fmla="*/ 1 h 63"/>
                    <a:gd name="T4" fmla="*/ 1 w 86"/>
                    <a:gd name="T5" fmla="*/ 1 h 63"/>
                    <a:gd name="T6" fmla="*/ 1 w 86"/>
                    <a:gd name="T7" fmla="*/ 0 h 63"/>
                    <a:gd name="T8" fmla="*/ 1 w 86"/>
                    <a:gd name="T9" fmla="*/ 1 h 63"/>
                    <a:gd name="T10" fmla="*/ 0 w 86"/>
                    <a:gd name="T11" fmla="*/ 1 h 63"/>
                    <a:gd name="T12" fmla="*/ 0 60000 65536"/>
                    <a:gd name="T13" fmla="*/ 0 60000 65536"/>
                    <a:gd name="T14" fmla="*/ 0 60000 65536"/>
                    <a:gd name="T15" fmla="*/ 0 60000 65536"/>
                    <a:gd name="T16" fmla="*/ 0 60000 65536"/>
                    <a:gd name="T17" fmla="*/ 0 60000 65536"/>
                    <a:gd name="T18" fmla="*/ 0 w 86"/>
                    <a:gd name="T19" fmla="*/ 0 h 63"/>
                    <a:gd name="T20" fmla="*/ 86 w 86"/>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86" h="63">
                      <a:moveTo>
                        <a:pt x="0" y="46"/>
                      </a:moveTo>
                      <a:lnTo>
                        <a:pt x="65" y="45"/>
                      </a:lnTo>
                      <a:lnTo>
                        <a:pt x="34" y="4"/>
                      </a:lnTo>
                      <a:lnTo>
                        <a:pt x="86" y="0"/>
                      </a:lnTo>
                      <a:lnTo>
                        <a:pt x="86" y="63"/>
                      </a:lnTo>
                      <a:lnTo>
                        <a:pt x="0" y="4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2" name="16277377.875343.54.8758.55">
                  <a:extLst>
                    <a:ext uri="{FF2B5EF4-FFF2-40B4-BE49-F238E27FC236}">
                      <a16:creationId xmlns:a16="http://schemas.microsoft.com/office/drawing/2014/main" id="{D6F18BB6-8DDC-183B-15AB-EE6D3F48282D}"/>
                    </a:ext>
                  </a:extLst>
                </p:cNvPr>
                <p:cNvSpPr>
                  <a:spLocks/>
                </p:cNvSpPr>
                <p:nvPr/>
              </p:nvSpPr>
              <p:spPr bwMode="auto">
                <a:xfrm>
                  <a:off x="1787545" y="3790648"/>
                  <a:ext cx="103342" cy="57697"/>
                </a:xfrm>
                <a:custGeom>
                  <a:avLst/>
                  <a:gdLst>
                    <a:gd name="T0" fmla="*/ 0 w 204"/>
                    <a:gd name="T1" fmla="*/ 0 h 101"/>
                    <a:gd name="T2" fmla="*/ 1 w 204"/>
                    <a:gd name="T3" fmla="*/ 0 h 101"/>
                    <a:gd name="T4" fmla="*/ 1 w 204"/>
                    <a:gd name="T5" fmla="*/ 0 h 101"/>
                    <a:gd name="T6" fmla="*/ 1 w 204"/>
                    <a:gd name="T7" fmla="*/ 0 h 101"/>
                    <a:gd name="T8" fmla="*/ 1 w 204"/>
                    <a:gd name="T9" fmla="*/ 0 h 101"/>
                    <a:gd name="T10" fmla="*/ 1 w 204"/>
                    <a:gd name="T11" fmla="*/ 0 h 101"/>
                    <a:gd name="T12" fmla="*/ 1 w 204"/>
                    <a:gd name="T13" fmla="*/ 0 h 101"/>
                    <a:gd name="T14" fmla="*/ 0 w 204"/>
                    <a:gd name="T15" fmla="*/ 0 h 101"/>
                    <a:gd name="T16" fmla="*/ 0 60000 65536"/>
                    <a:gd name="T17" fmla="*/ 0 60000 65536"/>
                    <a:gd name="T18" fmla="*/ 0 60000 65536"/>
                    <a:gd name="T19" fmla="*/ 0 60000 65536"/>
                    <a:gd name="T20" fmla="*/ 0 60000 65536"/>
                    <a:gd name="T21" fmla="*/ 0 60000 65536"/>
                    <a:gd name="T22" fmla="*/ 0 60000 65536"/>
                    <a:gd name="T23" fmla="*/ 0 60000 65536"/>
                    <a:gd name="T24" fmla="*/ 0 w 204"/>
                    <a:gd name="T25" fmla="*/ 0 h 101"/>
                    <a:gd name="T26" fmla="*/ 204 w 204"/>
                    <a:gd name="T27" fmla="*/ 101 h 10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 h="101">
                      <a:moveTo>
                        <a:pt x="0" y="50"/>
                      </a:moveTo>
                      <a:lnTo>
                        <a:pt x="36" y="6"/>
                      </a:lnTo>
                      <a:lnTo>
                        <a:pt x="146" y="0"/>
                      </a:lnTo>
                      <a:lnTo>
                        <a:pt x="204" y="31"/>
                      </a:lnTo>
                      <a:lnTo>
                        <a:pt x="156" y="38"/>
                      </a:lnTo>
                      <a:lnTo>
                        <a:pt x="70" y="101"/>
                      </a:lnTo>
                      <a:lnTo>
                        <a:pt x="55" y="84"/>
                      </a:lnTo>
                      <a:lnTo>
                        <a:pt x="0" y="5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3" name="16280340.75521.2514.62513.755">
                  <a:extLst>
                    <a:ext uri="{FF2B5EF4-FFF2-40B4-BE49-F238E27FC236}">
                      <a16:creationId xmlns:a16="http://schemas.microsoft.com/office/drawing/2014/main" id="{1C06A71E-216C-6885-53D4-642135AD9765}"/>
                    </a:ext>
                  </a:extLst>
                </p:cNvPr>
                <p:cNvSpPr>
                  <a:spLocks/>
                </p:cNvSpPr>
                <p:nvPr/>
              </p:nvSpPr>
              <p:spPr bwMode="auto">
                <a:xfrm>
                  <a:off x="3434756" y="3315606"/>
                  <a:ext cx="167169" cy="174244"/>
                </a:xfrm>
                <a:custGeom>
                  <a:avLst/>
                  <a:gdLst>
                    <a:gd name="T0" fmla="*/ 0 w 331"/>
                    <a:gd name="T1" fmla="*/ 0 h 303"/>
                    <a:gd name="T2" fmla="*/ 0 w 331"/>
                    <a:gd name="T3" fmla="*/ 0 h 303"/>
                    <a:gd name="T4" fmla="*/ 0 w 331"/>
                    <a:gd name="T5" fmla="*/ 0 h 303"/>
                    <a:gd name="T6" fmla="*/ 0 w 331"/>
                    <a:gd name="T7" fmla="*/ 0 h 303"/>
                    <a:gd name="T8" fmla="*/ 0 w 331"/>
                    <a:gd name="T9" fmla="*/ 0 h 303"/>
                    <a:gd name="T10" fmla="*/ 0 w 331"/>
                    <a:gd name="T11" fmla="*/ 0 h 303"/>
                    <a:gd name="T12" fmla="*/ 0 w 331"/>
                    <a:gd name="T13" fmla="*/ 0 h 303"/>
                    <a:gd name="T14" fmla="*/ 0 w 331"/>
                    <a:gd name="T15" fmla="*/ 0 h 303"/>
                    <a:gd name="T16" fmla="*/ 0 w 331"/>
                    <a:gd name="T17" fmla="*/ 0 h 303"/>
                    <a:gd name="T18" fmla="*/ 0 w 331"/>
                    <a:gd name="T19" fmla="*/ 0 h 303"/>
                    <a:gd name="T20" fmla="*/ 0 w 331"/>
                    <a:gd name="T21" fmla="*/ 0 h 303"/>
                    <a:gd name="T22" fmla="*/ 0 w 331"/>
                    <a:gd name="T23" fmla="*/ 0 h 303"/>
                    <a:gd name="T24" fmla="*/ 0 w 331"/>
                    <a:gd name="T25" fmla="*/ 0 h 303"/>
                    <a:gd name="T26" fmla="*/ 0 w 331"/>
                    <a:gd name="T27" fmla="*/ 0 h 303"/>
                    <a:gd name="T28" fmla="*/ 0 w 331"/>
                    <a:gd name="T29" fmla="*/ 0 h 303"/>
                    <a:gd name="T30" fmla="*/ 0 w 331"/>
                    <a:gd name="T31" fmla="*/ 0 h 303"/>
                    <a:gd name="T32" fmla="*/ 0 w 331"/>
                    <a:gd name="T33" fmla="*/ 0 h 30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1"/>
                    <a:gd name="T52" fmla="*/ 0 h 303"/>
                    <a:gd name="T53" fmla="*/ 331 w 331"/>
                    <a:gd name="T54" fmla="*/ 303 h 30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1" h="303">
                      <a:moveTo>
                        <a:pt x="0" y="147"/>
                      </a:moveTo>
                      <a:lnTo>
                        <a:pt x="16" y="190"/>
                      </a:lnTo>
                      <a:lnTo>
                        <a:pt x="166" y="257"/>
                      </a:lnTo>
                      <a:lnTo>
                        <a:pt x="167" y="282"/>
                      </a:lnTo>
                      <a:lnTo>
                        <a:pt x="203" y="298"/>
                      </a:lnTo>
                      <a:lnTo>
                        <a:pt x="264" y="303"/>
                      </a:lnTo>
                      <a:lnTo>
                        <a:pt x="313" y="271"/>
                      </a:lnTo>
                      <a:lnTo>
                        <a:pt x="331" y="268"/>
                      </a:lnTo>
                      <a:lnTo>
                        <a:pt x="287" y="183"/>
                      </a:lnTo>
                      <a:lnTo>
                        <a:pt x="225" y="132"/>
                      </a:lnTo>
                      <a:lnTo>
                        <a:pt x="254" y="52"/>
                      </a:lnTo>
                      <a:lnTo>
                        <a:pt x="228" y="43"/>
                      </a:lnTo>
                      <a:lnTo>
                        <a:pt x="204" y="0"/>
                      </a:lnTo>
                      <a:lnTo>
                        <a:pt x="130" y="3"/>
                      </a:lnTo>
                      <a:lnTo>
                        <a:pt x="93" y="30"/>
                      </a:lnTo>
                      <a:lnTo>
                        <a:pt x="81" y="103"/>
                      </a:lnTo>
                      <a:lnTo>
                        <a:pt x="0" y="14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4" name="16281321.54771816.1255">
                  <a:extLst>
                    <a:ext uri="{FF2B5EF4-FFF2-40B4-BE49-F238E27FC236}">
                      <a16:creationId xmlns:a16="http://schemas.microsoft.com/office/drawing/2014/main" id="{1BF43F9F-0A80-7A3E-99DB-C649E9F3E293}"/>
                    </a:ext>
                  </a:extLst>
                </p:cNvPr>
                <p:cNvSpPr>
                  <a:spLocks/>
                </p:cNvSpPr>
                <p:nvPr/>
              </p:nvSpPr>
              <p:spPr bwMode="auto">
                <a:xfrm>
                  <a:off x="2894748" y="3088281"/>
                  <a:ext cx="197563" cy="212324"/>
                </a:xfrm>
                <a:custGeom>
                  <a:avLst/>
                  <a:gdLst>
                    <a:gd name="T0" fmla="*/ 0 w 392"/>
                    <a:gd name="T1" fmla="*/ 1 h 367"/>
                    <a:gd name="T2" fmla="*/ 0 w 392"/>
                    <a:gd name="T3" fmla="*/ 1 h 367"/>
                    <a:gd name="T4" fmla="*/ 0 w 392"/>
                    <a:gd name="T5" fmla="*/ 1 h 367"/>
                    <a:gd name="T6" fmla="*/ 0 w 392"/>
                    <a:gd name="T7" fmla="*/ 1 h 367"/>
                    <a:gd name="T8" fmla="*/ 0 w 392"/>
                    <a:gd name="T9" fmla="*/ 1 h 367"/>
                    <a:gd name="T10" fmla="*/ 0 w 392"/>
                    <a:gd name="T11" fmla="*/ 0 h 367"/>
                    <a:gd name="T12" fmla="*/ 0 w 392"/>
                    <a:gd name="T13" fmla="*/ 1 h 367"/>
                    <a:gd name="T14" fmla="*/ 0 w 392"/>
                    <a:gd name="T15" fmla="*/ 1 h 367"/>
                    <a:gd name="T16" fmla="*/ 0 w 392"/>
                    <a:gd name="T17" fmla="*/ 1 h 367"/>
                    <a:gd name="T18" fmla="*/ 0 w 392"/>
                    <a:gd name="T19" fmla="*/ 1 h 367"/>
                    <a:gd name="T20" fmla="*/ 0 w 392"/>
                    <a:gd name="T21" fmla="*/ 1 h 367"/>
                    <a:gd name="T22" fmla="*/ 0 w 392"/>
                    <a:gd name="T23" fmla="*/ 1 h 367"/>
                    <a:gd name="T24" fmla="*/ 0 w 392"/>
                    <a:gd name="T25" fmla="*/ 1 h 367"/>
                    <a:gd name="T26" fmla="*/ 0 w 392"/>
                    <a:gd name="T27" fmla="*/ 1 h 367"/>
                    <a:gd name="T28" fmla="*/ 0 w 392"/>
                    <a:gd name="T29" fmla="*/ 1 h 367"/>
                    <a:gd name="T30" fmla="*/ 0 w 392"/>
                    <a:gd name="T31" fmla="*/ 1 h 367"/>
                    <a:gd name="T32" fmla="*/ 0 w 392"/>
                    <a:gd name="T33" fmla="*/ 1 h 367"/>
                    <a:gd name="T34" fmla="*/ 0 w 392"/>
                    <a:gd name="T35" fmla="*/ 1 h 367"/>
                    <a:gd name="T36" fmla="*/ 0 w 392"/>
                    <a:gd name="T37" fmla="*/ 1 h 367"/>
                    <a:gd name="T38" fmla="*/ 0 w 392"/>
                    <a:gd name="T39" fmla="*/ 1 h 367"/>
                    <a:gd name="T40" fmla="*/ 0 w 392"/>
                    <a:gd name="T41" fmla="*/ 1 h 367"/>
                    <a:gd name="T42" fmla="*/ 0 w 392"/>
                    <a:gd name="T43" fmla="*/ 1 h 367"/>
                    <a:gd name="T44" fmla="*/ 0 w 392"/>
                    <a:gd name="T45" fmla="*/ 1 h 36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2"/>
                    <a:gd name="T70" fmla="*/ 0 h 367"/>
                    <a:gd name="T71" fmla="*/ 392 w 392"/>
                    <a:gd name="T72" fmla="*/ 367 h 36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2" h="367">
                      <a:moveTo>
                        <a:pt x="0" y="92"/>
                      </a:moveTo>
                      <a:lnTo>
                        <a:pt x="10" y="49"/>
                      </a:lnTo>
                      <a:lnTo>
                        <a:pt x="57" y="29"/>
                      </a:lnTo>
                      <a:lnTo>
                        <a:pt x="77" y="48"/>
                      </a:lnTo>
                      <a:lnTo>
                        <a:pt x="124" y="9"/>
                      </a:lnTo>
                      <a:lnTo>
                        <a:pt x="176" y="0"/>
                      </a:lnTo>
                      <a:lnTo>
                        <a:pt x="233" y="26"/>
                      </a:lnTo>
                      <a:lnTo>
                        <a:pt x="233" y="66"/>
                      </a:lnTo>
                      <a:lnTo>
                        <a:pt x="187" y="73"/>
                      </a:lnTo>
                      <a:lnTo>
                        <a:pt x="191" y="122"/>
                      </a:lnTo>
                      <a:lnTo>
                        <a:pt x="265" y="205"/>
                      </a:lnTo>
                      <a:lnTo>
                        <a:pt x="312" y="210"/>
                      </a:lnTo>
                      <a:lnTo>
                        <a:pt x="308" y="228"/>
                      </a:lnTo>
                      <a:lnTo>
                        <a:pt x="392" y="282"/>
                      </a:lnTo>
                      <a:lnTo>
                        <a:pt x="334" y="273"/>
                      </a:lnTo>
                      <a:lnTo>
                        <a:pt x="347" y="326"/>
                      </a:lnTo>
                      <a:lnTo>
                        <a:pt x="312" y="367"/>
                      </a:lnTo>
                      <a:lnTo>
                        <a:pt x="297" y="283"/>
                      </a:lnTo>
                      <a:lnTo>
                        <a:pt x="150" y="191"/>
                      </a:lnTo>
                      <a:lnTo>
                        <a:pt x="116" y="130"/>
                      </a:lnTo>
                      <a:lnTo>
                        <a:pt x="69" y="110"/>
                      </a:lnTo>
                      <a:lnTo>
                        <a:pt x="26" y="136"/>
                      </a:lnTo>
                      <a:lnTo>
                        <a:pt x="0" y="9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5" name="16282333.1254794.2525">
                  <a:extLst>
                    <a:ext uri="{FF2B5EF4-FFF2-40B4-BE49-F238E27FC236}">
                      <a16:creationId xmlns:a16="http://schemas.microsoft.com/office/drawing/2014/main" id="{D4304AA8-5E13-5848-D025-846B34F7A8A0}"/>
                    </a:ext>
                  </a:extLst>
                </p:cNvPr>
                <p:cNvSpPr>
                  <a:spLocks/>
                </p:cNvSpPr>
                <p:nvPr/>
              </p:nvSpPr>
              <p:spPr bwMode="auto">
                <a:xfrm>
                  <a:off x="2920077" y="3225599"/>
                  <a:ext cx="24315" cy="50773"/>
                </a:xfrm>
                <a:custGeom>
                  <a:avLst/>
                  <a:gdLst>
                    <a:gd name="T0" fmla="*/ 0 w 48"/>
                    <a:gd name="T1" fmla="*/ 0 h 90"/>
                    <a:gd name="T2" fmla="*/ 1 w 48"/>
                    <a:gd name="T3" fmla="*/ 0 h 90"/>
                    <a:gd name="T4" fmla="*/ 1 w 48"/>
                    <a:gd name="T5" fmla="*/ 0 h 90"/>
                    <a:gd name="T6" fmla="*/ 1 w 48"/>
                    <a:gd name="T7" fmla="*/ 0 h 90"/>
                    <a:gd name="T8" fmla="*/ 1 w 48"/>
                    <a:gd name="T9" fmla="*/ 0 h 90"/>
                    <a:gd name="T10" fmla="*/ 0 w 48"/>
                    <a:gd name="T11" fmla="*/ 0 h 90"/>
                    <a:gd name="T12" fmla="*/ 0 60000 65536"/>
                    <a:gd name="T13" fmla="*/ 0 60000 65536"/>
                    <a:gd name="T14" fmla="*/ 0 60000 65536"/>
                    <a:gd name="T15" fmla="*/ 0 60000 65536"/>
                    <a:gd name="T16" fmla="*/ 0 60000 65536"/>
                    <a:gd name="T17" fmla="*/ 0 60000 65536"/>
                    <a:gd name="T18" fmla="*/ 0 w 48"/>
                    <a:gd name="T19" fmla="*/ 0 h 90"/>
                    <a:gd name="T20" fmla="*/ 48 w 48"/>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48" h="90">
                      <a:moveTo>
                        <a:pt x="0" y="14"/>
                      </a:moveTo>
                      <a:lnTo>
                        <a:pt x="8" y="83"/>
                      </a:lnTo>
                      <a:lnTo>
                        <a:pt x="29" y="90"/>
                      </a:lnTo>
                      <a:lnTo>
                        <a:pt x="48" y="36"/>
                      </a:lnTo>
                      <a:lnTo>
                        <a:pt x="30" y="0"/>
                      </a:lnTo>
                      <a:lnTo>
                        <a:pt x="0" y="1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6" name="16283338.8754852.754.255">
                  <a:extLst>
                    <a:ext uri="{FF2B5EF4-FFF2-40B4-BE49-F238E27FC236}">
                      <a16:creationId xmlns:a16="http://schemas.microsoft.com/office/drawing/2014/main" id="{97BA7688-D2DF-FD2C-98A5-3F12B8F742C5}"/>
                    </a:ext>
                  </a:extLst>
                </p:cNvPr>
                <p:cNvSpPr>
                  <a:spLocks/>
                </p:cNvSpPr>
                <p:nvPr/>
              </p:nvSpPr>
              <p:spPr bwMode="auto">
                <a:xfrm>
                  <a:off x="2993024" y="3293682"/>
                  <a:ext cx="51670" cy="33464"/>
                </a:xfrm>
                <a:custGeom>
                  <a:avLst/>
                  <a:gdLst>
                    <a:gd name="T0" fmla="*/ 0 w 103"/>
                    <a:gd name="T1" fmla="*/ 0 h 60"/>
                    <a:gd name="T2" fmla="*/ 0 w 103"/>
                    <a:gd name="T3" fmla="*/ 0 h 60"/>
                    <a:gd name="T4" fmla="*/ 0 w 103"/>
                    <a:gd name="T5" fmla="*/ 0 h 60"/>
                    <a:gd name="T6" fmla="*/ 0 w 103"/>
                    <a:gd name="T7" fmla="*/ 0 h 60"/>
                    <a:gd name="T8" fmla="*/ 0 60000 65536"/>
                    <a:gd name="T9" fmla="*/ 0 60000 65536"/>
                    <a:gd name="T10" fmla="*/ 0 60000 65536"/>
                    <a:gd name="T11" fmla="*/ 0 60000 65536"/>
                    <a:gd name="T12" fmla="*/ 0 w 103"/>
                    <a:gd name="T13" fmla="*/ 0 h 60"/>
                    <a:gd name="T14" fmla="*/ 103 w 103"/>
                    <a:gd name="T15" fmla="*/ 60 h 60"/>
                  </a:gdLst>
                  <a:ahLst/>
                  <a:cxnLst>
                    <a:cxn ang="T8">
                      <a:pos x="T0" y="T1"/>
                    </a:cxn>
                    <a:cxn ang="T9">
                      <a:pos x="T2" y="T3"/>
                    </a:cxn>
                    <a:cxn ang="T10">
                      <a:pos x="T4" y="T5"/>
                    </a:cxn>
                    <a:cxn ang="T11">
                      <a:pos x="T6" y="T7"/>
                    </a:cxn>
                  </a:cxnLst>
                  <a:rect l="T12" t="T13" r="T14" b="T15"/>
                  <a:pathLst>
                    <a:path w="103" h="60">
                      <a:moveTo>
                        <a:pt x="0" y="14"/>
                      </a:moveTo>
                      <a:lnTo>
                        <a:pt x="87" y="60"/>
                      </a:lnTo>
                      <a:lnTo>
                        <a:pt x="103" y="0"/>
                      </a:lnTo>
                      <a:lnTo>
                        <a:pt x="0" y="1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7" name="16284347647.6254.53.255">
                  <a:extLst>
                    <a:ext uri="{FF2B5EF4-FFF2-40B4-BE49-F238E27FC236}">
                      <a16:creationId xmlns:a16="http://schemas.microsoft.com/office/drawing/2014/main" id="{72D5E776-B6AB-1E57-1B3B-083F30B73E90}"/>
                    </a:ext>
                  </a:extLst>
                </p:cNvPr>
                <p:cNvSpPr>
                  <a:spLocks/>
                </p:cNvSpPr>
                <p:nvPr/>
              </p:nvSpPr>
              <p:spPr bwMode="auto">
                <a:xfrm>
                  <a:off x="4974738" y="3390612"/>
                  <a:ext cx="39513" cy="53082"/>
                </a:xfrm>
                <a:custGeom>
                  <a:avLst/>
                  <a:gdLst>
                    <a:gd name="T0" fmla="*/ 0 w 78"/>
                    <a:gd name="T1" fmla="*/ 1 h 92"/>
                    <a:gd name="T2" fmla="*/ 1 w 78"/>
                    <a:gd name="T3" fmla="*/ 1 h 92"/>
                    <a:gd name="T4" fmla="*/ 1 w 78"/>
                    <a:gd name="T5" fmla="*/ 1 h 92"/>
                    <a:gd name="T6" fmla="*/ 1 w 78"/>
                    <a:gd name="T7" fmla="*/ 1 h 92"/>
                    <a:gd name="T8" fmla="*/ 1 w 78"/>
                    <a:gd name="T9" fmla="*/ 1 h 92"/>
                    <a:gd name="T10" fmla="*/ 1 w 78"/>
                    <a:gd name="T11" fmla="*/ 1 h 92"/>
                    <a:gd name="T12" fmla="*/ 1 w 78"/>
                    <a:gd name="T13" fmla="*/ 1 h 92"/>
                    <a:gd name="T14" fmla="*/ 1 w 78"/>
                    <a:gd name="T15" fmla="*/ 1 h 92"/>
                    <a:gd name="T16" fmla="*/ 1 w 78"/>
                    <a:gd name="T17" fmla="*/ 0 h 92"/>
                    <a:gd name="T18" fmla="*/ 0 w 78"/>
                    <a:gd name="T19" fmla="*/ 1 h 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
                    <a:gd name="T31" fmla="*/ 0 h 92"/>
                    <a:gd name="T32" fmla="*/ 78 w 78"/>
                    <a:gd name="T33" fmla="*/ 92 h 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 h="92">
                      <a:moveTo>
                        <a:pt x="0" y="24"/>
                      </a:moveTo>
                      <a:lnTo>
                        <a:pt x="2" y="48"/>
                      </a:lnTo>
                      <a:lnTo>
                        <a:pt x="20" y="24"/>
                      </a:lnTo>
                      <a:lnTo>
                        <a:pt x="28" y="38"/>
                      </a:lnTo>
                      <a:lnTo>
                        <a:pt x="19" y="92"/>
                      </a:lnTo>
                      <a:lnTo>
                        <a:pt x="56" y="90"/>
                      </a:lnTo>
                      <a:lnTo>
                        <a:pt x="78" y="35"/>
                      </a:lnTo>
                      <a:lnTo>
                        <a:pt x="66" y="4"/>
                      </a:lnTo>
                      <a:lnTo>
                        <a:pt x="30" y="0"/>
                      </a:lnTo>
                      <a:lnTo>
                        <a:pt x="0" y="2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8" name="16285332.875649.2514.87515.6255">
                  <a:extLst>
                    <a:ext uri="{FF2B5EF4-FFF2-40B4-BE49-F238E27FC236}">
                      <a16:creationId xmlns:a16="http://schemas.microsoft.com/office/drawing/2014/main" id="{B98B995F-BF0F-24C1-3F8C-68D48BB6AA4E}"/>
                    </a:ext>
                  </a:extLst>
                </p:cNvPr>
                <p:cNvSpPr>
                  <a:spLocks/>
                </p:cNvSpPr>
                <p:nvPr/>
              </p:nvSpPr>
              <p:spPr bwMode="auto">
                <a:xfrm>
                  <a:off x="4995001" y="3223291"/>
                  <a:ext cx="190471" cy="175399"/>
                </a:xfrm>
                <a:custGeom>
                  <a:avLst/>
                  <a:gdLst>
                    <a:gd name="T0" fmla="*/ 0 w 377"/>
                    <a:gd name="T1" fmla="*/ 1 h 303"/>
                    <a:gd name="T2" fmla="*/ 0 w 377"/>
                    <a:gd name="T3" fmla="*/ 1 h 303"/>
                    <a:gd name="T4" fmla="*/ 0 w 377"/>
                    <a:gd name="T5" fmla="*/ 1 h 303"/>
                    <a:gd name="T6" fmla="*/ 0 w 377"/>
                    <a:gd name="T7" fmla="*/ 1 h 303"/>
                    <a:gd name="T8" fmla="*/ 0 w 377"/>
                    <a:gd name="T9" fmla="*/ 1 h 303"/>
                    <a:gd name="T10" fmla="*/ 0 w 377"/>
                    <a:gd name="T11" fmla="*/ 1 h 303"/>
                    <a:gd name="T12" fmla="*/ 0 w 377"/>
                    <a:gd name="T13" fmla="*/ 1 h 303"/>
                    <a:gd name="T14" fmla="*/ 0 w 377"/>
                    <a:gd name="T15" fmla="*/ 1 h 303"/>
                    <a:gd name="T16" fmla="*/ 0 w 377"/>
                    <a:gd name="T17" fmla="*/ 1 h 303"/>
                    <a:gd name="T18" fmla="*/ 0 w 377"/>
                    <a:gd name="T19" fmla="*/ 1 h 303"/>
                    <a:gd name="T20" fmla="*/ 0 w 377"/>
                    <a:gd name="T21" fmla="*/ 0 h 303"/>
                    <a:gd name="T22" fmla="*/ 0 w 377"/>
                    <a:gd name="T23" fmla="*/ 1 h 303"/>
                    <a:gd name="T24" fmla="*/ 0 w 377"/>
                    <a:gd name="T25" fmla="*/ 1 h 303"/>
                    <a:gd name="T26" fmla="*/ 0 w 377"/>
                    <a:gd name="T27" fmla="*/ 1 h 303"/>
                    <a:gd name="T28" fmla="*/ 0 w 377"/>
                    <a:gd name="T29" fmla="*/ 1 h 303"/>
                    <a:gd name="T30" fmla="*/ 0 w 377"/>
                    <a:gd name="T31" fmla="*/ 1 h 303"/>
                    <a:gd name="T32" fmla="*/ 0 w 377"/>
                    <a:gd name="T33" fmla="*/ 1 h 303"/>
                    <a:gd name="T34" fmla="*/ 0 w 377"/>
                    <a:gd name="T35" fmla="*/ 1 h 303"/>
                    <a:gd name="T36" fmla="*/ 0 w 377"/>
                    <a:gd name="T37" fmla="*/ 1 h 303"/>
                    <a:gd name="T38" fmla="*/ 0 w 377"/>
                    <a:gd name="T39" fmla="*/ 1 h 303"/>
                    <a:gd name="T40" fmla="*/ 0 w 377"/>
                    <a:gd name="T41" fmla="*/ 1 h 303"/>
                    <a:gd name="T42" fmla="*/ 0 w 377"/>
                    <a:gd name="T43" fmla="*/ 1 h 303"/>
                    <a:gd name="T44" fmla="*/ 0 w 377"/>
                    <a:gd name="T45" fmla="*/ 1 h 303"/>
                    <a:gd name="T46" fmla="*/ 0 w 377"/>
                    <a:gd name="T47" fmla="*/ 1 h 3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77"/>
                    <a:gd name="T73" fmla="*/ 0 h 303"/>
                    <a:gd name="T74" fmla="*/ 377 w 377"/>
                    <a:gd name="T75" fmla="*/ 303 h 3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77" h="303">
                      <a:moveTo>
                        <a:pt x="0" y="285"/>
                      </a:moveTo>
                      <a:lnTo>
                        <a:pt x="68" y="229"/>
                      </a:lnTo>
                      <a:lnTo>
                        <a:pt x="163" y="229"/>
                      </a:lnTo>
                      <a:lnTo>
                        <a:pt x="201" y="160"/>
                      </a:lnTo>
                      <a:lnTo>
                        <a:pt x="218" y="155"/>
                      </a:lnTo>
                      <a:lnTo>
                        <a:pt x="219" y="181"/>
                      </a:lnTo>
                      <a:lnTo>
                        <a:pt x="262" y="155"/>
                      </a:lnTo>
                      <a:lnTo>
                        <a:pt x="299" y="102"/>
                      </a:lnTo>
                      <a:lnTo>
                        <a:pt x="315" y="16"/>
                      </a:lnTo>
                      <a:lnTo>
                        <a:pt x="344" y="20"/>
                      </a:lnTo>
                      <a:lnTo>
                        <a:pt x="334" y="0"/>
                      </a:lnTo>
                      <a:lnTo>
                        <a:pt x="354" y="2"/>
                      </a:lnTo>
                      <a:lnTo>
                        <a:pt x="377" y="73"/>
                      </a:lnTo>
                      <a:lnTo>
                        <a:pt x="344" y="124"/>
                      </a:lnTo>
                      <a:lnTo>
                        <a:pt x="344" y="171"/>
                      </a:lnTo>
                      <a:lnTo>
                        <a:pt x="321" y="240"/>
                      </a:lnTo>
                      <a:lnTo>
                        <a:pt x="304" y="249"/>
                      </a:lnTo>
                      <a:lnTo>
                        <a:pt x="303" y="223"/>
                      </a:lnTo>
                      <a:lnTo>
                        <a:pt x="248" y="262"/>
                      </a:lnTo>
                      <a:lnTo>
                        <a:pt x="201" y="245"/>
                      </a:lnTo>
                      <a:lnTo>
                        <a:pt x="204" y="277"/>
                      </a:lnTo>
                      <a:lnTo>
                        <a:pt x="164" y="303"/>
                      </a:lnTo>
                      <a:lnTo>
                        <a:pt x="153" y="259"/>
                      </a:lnTo>
                      <a:lnTo>
                        <a:pt x="0" y="28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9" name="16286346.375651.1252.753.255">
                  <a:extLst>
                    <a:ext uri="{FF2B5EF4-FFF2-40B4-BE49-F238E27FC236}">
                      <a16:creationId xmlns:a16="http://schemas.microsoft.com/office/drawing/2014/main" id="{90EEA25D-2E3C-2151-8E35-829455AE0E67}"/>
                    </a:ext>
                  </a:extLst>
                </p:cNvPr>
                <p:cNvSpPr>
                  <a:spLocks/>
                </p:cNvSpPr>
                <p:nvPr/>
              </p:nvSpPr>
              <p:spPr bwMode="auto">
                <a:xfrm>
                  <a:off x="5017291" y="3382534"/>
                  <a:ext cx="39513" cy="32310"/>
                </a:xfrm>
                <a:custGeom>
                  <a:avLst/>
                  <a:gdLst>
                    <a:gd name="T0" fmla="*/ 0 w 77"/>
                    <a:gd name="T1" fmla="*/ 1 h 55"/>
                    <a:gd name="T2" fmla="*/ 1 w 77"/>
                    <a:gd name="T3" fmla="*/ 1 h 55"/>
                    <a:gd name="T4" fmla="*/ 1 w 77"/>
                    <a:gd name="T5" fmla="*/ 1 h 55"/>
                    <a:gd name="T6" fmla="*/ 1 w 77"/>
                    <a:gd name="T7" fmla="*/ 0 h 55"/>
                    <a:gd name="T8" fmla="*/ 0 w 77"/>
                    <a:gd name="T9" fmla="*/ 1 h 55"/>
                    <a:gd name="T10" fmla="*/ 0 60000 65536"/>
                    <a:gd name="T11" fmla="*/ 0 60000 65536"/>
                    <a:gd name="T12" fmla="*/ 0 60000 65536"/>
                    <a:gd name="T13" fmla="*/ 0 60000 65536"/>
                    <a:gd name="T14" fmla="*/ 0 60000 65536"/>
                    <a:gd name="T15" fmla="*/ 0 w 77"/>
                    <a:gd name="T16" fmla="*/ 0 h 55"/>
                    <a:gd name="T17" fmla="*/ 77 w 77"/>
                    <a:gd name="T18" fmla="*/ 55 h 55"/>
                  </a:gdLst>
                  <a:ahLst/>
                  <a:cxnLst>
                    <a:cxn ang="T10">
                      <a:pos x="T0" y="T1"/>
                    </a:cxn>
                    <a:cxn ang="T11">
                      <a:pos x="T2" y="T3"/>
                    </a:cxn>
                    <a:cxn ang="T12">
                      <a:pos x="T4" y="T5"/>
                    </a:cxn>
                    <a:cxn ang="T13">
                      <a:pos x="T6" y="T7"/>
                    </a:cxn>
                    <a:cxn ang="T14">
                      <a:pos x="T8" y="T9"/>
                    </a:cxn>
                  </a:cxnLst>
                  <a:rect l="T15" t="T16" r="T17" b="T18"/>
                  <a:pathLst>
                    <a:path w="77" h="55">
                      <a:moveTo>
                        <a:pt x="0" y="29"/>
                      </a:moveTo>
                      <a:lnTo>
                        <a:pt x="26" y="55"/>
                      </a:lnTo>
                      <a:lnTo>
                        <a:pt x="70" y="34"/>
                      </a:lnTo>
                      <a:lnTo>
                        <a:pt x="77" y="0"/>
                      </a:lnTo>
                      <a:lnTo>
                        <a:pt x="0" y="2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0" name="16287325661.8757.87585">
                  <a:extLst>
                    <a:ext uri="{FF2B5EF4-FFF2-40B4-BE49-F238E27FC236}">
                      <a16:creationId xmlns:a16="http://schemas.microsoft.com/office/drawing/2014/main" id="{B361234D-FF7B-888A-BF4F-C2D4D3FCF179}"/>
                    </a:ext>
                  </a:extLst>
                </p:cNvPr>
                <p:cNvSpPr>
                  <a:spLocks/>
                </p:cNvSpPr>
                <p:nvPr/>
              </p:nvSpPr>
              <p:spPr bwMode="auto">
                <a:xfrm>
                  <a:off x="5147986" y="3129822"/>
                  <a:ext cx="98275" cy="93469"/>
                </a:xfrm>
                <a:custGeom>
                  <a:avLst/>
                  <a:gdLst>
                    <a:gd name="T0" fmla="*/ 0 w 195"/>
                    <a:gd name="T1" fmla="*/ 1 h 162"/>
                    <a:gd name="T2" fmla="*/ 0 w 195"/>
                    <a:gd name="T3" fmla="*/ 1 h 162"/>
                    <a:gd name="T4" fmla="*/ 0 w 195"/>
                    <a:gd name="T5" fmla="*/ 1 h 162"/>
                    <a:gd name="T6" fmla="*/ 0 w 195"/>
                    <a:gd name="T7" fmla="*/ 1 h 162"/>
                    <a:gd name="T8" fmla="*/ 0 w 195"/>
                    <a:gd name="T9" fmla="*/ 1 h 162"/>
                    <a:gd name="T10" fmla="*/ 0 w 195"/>
                    <a:gd name="T11" fmla="*/ 1 h 162"/>
                    <a:gd name="T12" fmla="*/ 0 w 195"/>
                    <a:gd name="T13" fmla="*/ 1 h 162"/>
                    <a:gd name="T14" fmla="*/ 0 w 195"/>
                    <a:gd name="T15" fmla="*/ 1 h 162"/>
                    <a:gd name="T16" fmla="*/ 0 w 195"/>
                    <a:gd name="T17" fmla="*/ 1 h 162"/>
                    <a:gd name="T18" fmla="*/ 0 w 195"/>
                    <a:gd name="T19" fmla="*/ 1 h 162"/>
                    <a:gd name="T20" fmla="*/ 0 w 195"/>
                    <a:gd name="T21" fmla="*/ 0 h 162"/>
                    <a:gd name="T22" fmla="*/ 0 w 195"/>
                    <a:gd name="T23" fmla="*/ 1 h 162"/>
                    <a:gd name="T24" fmla="*/ 0 w 195"/>
                    <a:gd name="T25" fmla="*/ 1 h 162"/>
                    <a:gd name="T26" fmla="*/ 0 w 195"/>
                    <a:gd name="T27" fmla="*/ 1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95"/>
                    <a:gd name="T43" fmla="*/ 0 h 162"/>
                    <a:gd name="T44" fmla="*/ 195 w 195"/>
                    <a:gd name="T45" fmla="*/ 162 h 1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95" h="162">
                      <a:moveTo>
                        <a:pt x="0" y="116"/>
                      </a:moveTo>
                      <a:lnTo>
                        <a:pt x="8" y="162"/>
                      </a:lnTo>
                      <a:lnTo>
                        <a:pt x="42" y="145"/>
                      </a:lnTo>
                      <a:lnTo>
                        <a:pt x="19" y="117"/>
                      </a:lnTo>
                      <a:lnTo>
                        <a:pt x="113" y="142"/>
                      </a:lnTo>
                      <a:lnTo>
                        <a:pt x="135" y="103"/>
                      </a:lnTo>
                      <a:lnTo>
                        <a:pt x="195" y="91"/>
                      </a:lnTo>
                      <a:lnTo>
                        <a:pt x="174" y="66"/>
                      </a:lnTo>
                      <a:lnTo>
                        <a:pt x="181" y="44"/>
                      </a:lnTo>
                      <a:lnTo>
                        <a:pt x="129" y="48"/>
                      </a:lnTo>
                      <a:lnTo>
                        <a:pt x="67" y="0"/>
                      </a:lnTo>
                      <a:lnTo>
                        <a:pt x="45" y="92"/>
                      </a:lnTo>
                      <a:lnTo>
                        <a:pt x="18" y="87"/>
                      </a:lnTo>
                      <a:lnTo>
                        <a:pt x="0" y="11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1" name="16288330.125640.1259.758.8755">
                  <a:extLst>
                    <a:ext uri="{FF2B5EF4-FFF2-40B4-BE49-F238E27FC236}">
                      <a16:creationId xmlns:a16="http://schemas.microsoft.com/office/drawing/2014/main" id="{55263134-3EAF-30B8-8C7D-D05C2FFC3A8E}"/>
                    </a:ext>
                  </a:extLst>
                </p:cNvPr>
                <p:cNvSpPr>
                  <a:spLocks/>
                </p:cNvSpPr>
                <p:nvPr/>
              </p:nvSpPr>
              <p:spPr bwMode="auto">
                <a:xfrm>
                  <a:off x="4883555" y="3189827"/>
                  <a:ext cx="107393" cy="116548"/>
                </a:xfrm>
                <a:custGeom>
                  <a:avLst/>
                  <a:gdLst>
                    <a:gd name="T0" fmla="*/ 0 w 212"/>
                    <a:gd name="T1" fmla="*/ 0 h 204"/>
                    <a:gd name="T2" fmla="*/ 1 w 212"/>
                    <a:gd name="T3" fmla="*/ 0 h 204"/>
                    <a:gd name="T4" fmla="*/ 1 w 212"/>
                    <a:gd name="T5" fmla="*/ 0 h 204"/>
                    <a:gd name="T6" fmla="*/ 1 w 212"/>
                    <a:gd name="T7" fmla="*/ 0 h 204"/>
                    <a:gd name="T8" fmla="*/ 1 w 212"/>
                    <a:gd name="T9" fmla="*/ 0 h 204"/>
                    <a:gd name="T10" fmla="*/ 1 w 212"/>
                    <a:gd name="T11" fmla="*/ 0 h 204"/>
                    <a:gd name="T12" fmla="*/ 1 w 212"/>
                    <a:gd name="T13" fmla="*/ 0 h 204"/>
                    <a:gd name="T14" fmla="*/ 1 w 212"/>
                    <a:gd name="T15" fmla="*/ 0 h 204"/>
                    <a:gd name="T16" fmla="*/ 1 w 212"/>
                    <a:gd name="T17" fmla="*/ 0 h 204"/>
                    <a:gd name="T18" fmla="*/ 1 w 212"/>
                    <a:gd name="T19" fmla="*/ 0 h 204"/>
                    <a:gd name="T20" fmla="*/ 1 w 212"/>
                    <a:gd name="T21" fmla="*/ 0 h 204"/>
                    <a:gd name="T22" fmla="*/ 1 w 212"/>
                    <a:gd name="T23" fmla="*/ 0 h 204"/>
                    <a:gd name="T24" fmla="*/ 1 w 212"/>
                    <a:gd name="T25" fmla="*/ 0 h 204"/>
                    <a:gd name="T26" fmla="*/ 0 w 212"/>
                    <a:gd name="T27" fmla="*/ 0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2"/>
                    <a:gd name="T43" fmla="*/ 0 h 204"/>
                    <a:gd name="T44" fmla="*/ 212 w 212"/>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2" h="204">
                      <a:moveTo>
                        <a:pt x="0" y="116"/>
                      </a:moveTo>
                      <a:lnTo>
                        <a:pt x="38" y="132"/>
                      </a:lnTo>
                      <a:lnTo>
                        <a:pt x="14" y="191"/>
                      </a:lnTo>
                      <a:lnTo>
                        <a:pt x="74" y="204"/>
                      </a:lnTo>
                      <a:lnTo>
                        <a:pt x="136" y="169"/>
                      </a:lnTo>
                      <a:lnTo>
                        <a:pt x="107" y="121"/>
                      </a:lnTo>
                      <a:lnTo>
                        <a:pt x="179" y="79"/>
                      </a:lnTo>
                      <a:lnTo>
                        <a:pt x="212" y="20"/>
                      </a:lnTo>
                      <a:lnTo>
                        <a:pt x="207" y="11"/>
                      </a:lnTo>
                      <a:lnTo>
                        <a:pt x="194" y="0"/>
                      </a:lnTo>
                      <a:lnTo>
                        <a:pt x="131" y="39"/>
                      </a:lnTo>
                      <a:lnTo>
                        <a:pt x="131" y="61"/>
                      </a:lnTo>
                      <a:lnTo>
                        <a:pt x="85" y="54"/>
                      </a:lnTo>
                      <a:lnTo>
                        <a:pt x="0" y="11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2" name="16289366.875606.87513.6259.8755">
                  <a:extLst>
                    <a:ext uri="{FF2B5EF4-FFF2-40B4-BE49-F238E27FC236}">
                      <a16:creationId xmlns:a16="http://schemas.microsoft.com/office/drawing/2014/main" id="{21285AAA-FF8C-6249-9BAE-D198EAB17321}"/>
                    </a:ext>
                  </a:extLst>
                </p:cNvPr>
                <p:cNvSpPr>
                  <a:spLocks/>
                </p:cNvSpPr>
                <p:nvPr/>
              </p:nvSpPr>
              <p:spPr bwMode="auto">
                <a:xfrm>
                  <a:off x="4477284" y="3626015"/>
                  <a:ext cx="120564" cy="161551"/>
                </a:xfrm>
                <a:custGeom>
                  <a:avLst/>
                  <a:gdLst>
                    <a:gd name="T0" fmla="*/ 0 w 239"/>
                    <a:gd name="T1" fmla="*/ 1 h 279"/>
                    <a:gd name="T2" fmla="*/ 0 w 239"/>
                    <a:gd name="T3" fmla="*/ 1 h 279"/>
                    <a:gd name="T4" fmla="*/ 0 w 239"/>
                    <a:gd name="T5" fmla="*/ 1 h 279"/>
                    <a:gd name="T6" fmla="*/ 0 w 239"/>
                    <a:gd name="T7" fmla="*/ 1 h 279"/>
                    <a:gd name="T8" fmla="*/ 0 w 239"/>
                    <a:gd name="T9" fmla="*/ 1 h 279"/>
                    <a:gd name="T10" fmla="*/ 0 w 239"/>
                    <a:gd name="T11" fmla="*/ 1 h 279"/>
                    <a:gd name="T12" fmla="*/ 0 w 239"/>
                    <a:gd name="T13" fmla="*/ 1 h 279"/>
                    <a:gd name="T14" fmla="*/ 0 w 239"/>
                    <a:gd name="T15" fmla="*/ 1 h 279"/>
                    <a:gd name="T16" fmla="*/ 0 w 239"/>
                    <a:gd name="T17" fmla="*/ 1 h 279"/>
                    <a:gd name="T18" fmla="*/ 0 w 239"/>
                    <a:gd name="T19" fmla="*/ 1 h 279"/>
                    <a:gd name="T20" fmla="*/ 0 w 239"/>
                    <a:gd name="T21" fmla="*/ 1 h 279"/>
                    <a:gd name="T22" fmla="*/ 0 w 239"/>
                    <a:gd name="T23" fmla="*/ 1 h 279"/>
                    <a:gd name="T24" fmla="*/ 0 w 239"/>
                    <a:gd name="T25" fmla="*/ 0 h 279"/>
                    <a:gd name="T26" fmla="*/ 0 w 239"/>
                    <a:gd name="T27" fmla="*/ 1 h 279"/>
                    <a:gd name="T28" fmla="*/ 0 w 239"/>
                    <a:gd name="T29" fmla="*/ 1 h 279"/>
                    <a:gd name="T30" fmla="*/ 0 w 239"/>
                    <a:gd name="T31" fmla="*/ 1 h 279"/>
                    <a:gd name="T32" fmla="*/ 0 w 239"/>
                    <a:gd name="T33" fmla="*/ 1 h 2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9"/>
                    <a:gd name="T52" fmla="*/ 0 h 279"/>
                    <a:gd name="T53" fmla="*/ 239 w 239"/>
                    <a:gd name="T54" fmla="*/ 279 h 27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9" h="279">
                      <a:moveTo>
                        <a:pt x="0" y="60"/>
                      </a:moveTo>
                      <a:lnTo>
                        <a:pt x="32" y="100"/>
                      </a:lnTo>
                      <a:lnTo>
                        <a:pt x="22" y="169"/>
                      </a:lnTo>
                      <a:lnTo>
                        <a:pt x="107" y="139"/>
                      </a:lnTo>
                      <a:lnTo>
                        <a:pt x="143" y="169"/>
                      </a:lnTo>
                      <a:lnTo>
                        <a:pt x="175" y="236"/>
                      </a:lnTo>
                      <a:lnTo>
                        <a:pt x="164" y="279"/>
                      </a:lnTo>
                      <a:lnTo>
                        <a:pt x="239" y="267"/>
                      </a:lnTo>
                      <a:lnTo>
                        <a:pt x="203" y="177"/>
                      </a:lnTo>
                      <a:lnTo>
                        <a:pt x="122" y="111"/>
                      </a:lnTo>
                      <a:lnTo>
                        <a:pt x="144" y="73"/>
                      </a:lnTo>
                      <a:lnTo>
                        <a:pt x="99" y="52"/>
                      </a:lnTo>
                      <a:lnTo>
                        <a:pt x="65" y="0"/>
                      </a:lnTo>
                      <a:lnTo>
                        <a:pt x="44" y="1"/>
                      </a:lnTo>
                      <a:lnTo>
                        <a:pt x="47" y="38"/>
                      </a:lnTo>
                      <a:lnTo>
                        <a:pt x="32" y="29"/>
                      </a:lnTo>
                      <a:lnTo>
                        <a:pt x="0" y="6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3" name="16290315.375475.51.250.755">
                  <a:extLst>
                    <a:ext uri="{FF2B5EF4-FFF2-40B4-BE49-F238E27FC236}">
                      <a16:creationId xmlns:a16="http://schemas.microsoft.com/office/drawing/2014/main" id="{47B87A41-9F11-0D94-AACF-81B98A79A331}"/>
                    </a:ext>
                  </a:extLst>
                </p:cNvPr>
                <p:cNvSpPr>
                  <a:spLocks/>
                </p:cNvSpPr>
                <p:nvPr/>
              </p:nvSpPr>
              <p:spPr bwMode="auto">
                <a:xfrm>
                  <a:off x="2877525" y="3014428"/>
                  <a:ext cx="8105" cy="15001"/>
                </a:xfrm>
                <a:custGeom>
                  <a:avLst/>
                  <a:gdLst>
                    <a:gd name="T0" fmla="*/ 0 w 17"/>
                    <a:gd name="T1" fmla="*/ 0 h 28"/>
                    <a:gd name="T2" fmla="*/ 0 w 17"/>
                    <a:gd name="T3" fmla="*/ 0 h 28"/>
                    <a:gd name="T4" fmla="*/ 0 w 17"/>
                    <a:gd name="T5" fmla="*/ 0 h 28"/>
                    <a:gd name="T6" fmla="*/ 0 w 17"/>
                    <a:gd name="T7" fmla="*/ 0 h 28"/>
                    <a:gd name="T8" fmla="*/ 0 60000 65536"/>
                    <a:gd name="T9" fmla="*/ 0 60000 65536"/>
                    <a:gd name="T10" fmla="*/ 0 60000 65536"/>
                    <a:gd name="T11" fmla="*/ 0 60000 65536"/>
                    <a:gd name="T12" fmla="*/ 0 w 17"/>
                    <a:gd name="T13" fmla="*/ 0 h 28"/>
                    <a:gd name="T14" fmla="*/ 17 w 17"/>
                    <a:gd name="T15" fmla="*/ 28 h 28"/>
                  </a:gdLst>
                  <a:ahLst/>
                  <a:cxnLst>
                    <a:cxn ang="T8">
                      <a:pos x="T0" y="T1"/>
                    </a:cxn>
                    <a:cxn ang="T9">
                      <a:pos x="T2" y="T3"/>
                    </a:cxn>
                    <a:cxn ang="T10">
                      <a:pos x="T4" y="T5"/>
                    </a:cxn>
                    <a:cxn ang="T11">
                      <a:pos x="T6" y="T7"/>
                    </a:cxn>
                  </a:cxnLst>
                  <a:rect l="T12" t="T13" r="T14" b="T15"/>
                  <a:pathLst>
                    <a:path w="17" h="28">
                      <a:moveTo>
                        <a:pt x="0" y="22"/>
                      </a:moveTo>
                      <a:lnTo>
                        <a:pt x="13" y="0"/>
                      </a:lnTo>
                      <a:lnTo>
                        <a:pt x="17" y="28"/>
                      </a:lnTo>
                      <a:lnTo>
                        <a:pt x="0" y="2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4" name="16291349.125305.253141.8755">
                  <a:extLst>
                    <a:ext uri="{FF2B5EF4-FFF2-40B4-BE49-F238E27FC236}">
                      <a16:creationId xmlns:a16="http://schemas.microsoft.com/office/drawing/2014/main" id="{0D6F31D2-3A83-134D-EEF7-474F6B5E100A}"/>
                    </a:ext>
                  </a:extLst>
                </p:cNvPr>
                <p:cNvSpPr>
                  <a:spLocks/>
                </p:cNvSpPr>
                <p:nvPr/>
              </p:nvSpPr>
              <p:spPr bwMode="auto">
                <a:xfrm>
                  <a:off x="1320485" y="3450237"/>
                  <a:ext cx="510626" cy="366952"/>
                </a:xfrm>
                <a:custGeom>
                  <a:avLst/>
                  <a:gdLst>
                    <a:gd name="T0" fmla="*/ 0 w 1007"/>
                    <a:gd name="T1" fmla="*/ 0 h 637"/>
                    <a:gd name="T2" fmla="*/ 1 w 1007"/>
                    <a:gd name="T3" fmla="*/ 0 h 637"/>
                    <a:gd name="T4" fmla="*/ 1 w 1007"/>
                    <a:gd name="T5" fmla="*/ 0 h 637"/>
                    <a:gd name="T6" fmla="*/ 1 w 1007"/>
                    <a:gd name="T7" fmla="*/ 0 h 637"/>
                    <a:gd name="T8" fmla="*/ 1 w 1007"/>
                    <a:gd name="T9" fmla="*/ 0 h 637"/>
                    <a:gd name="T10" fmla="*/ 1 w 1007"/>
                    <a:gd name="T11" fmla="*/ 0 h 637"/>
                    <a:gd name="T12" fmla="*/ 1 w 1007"/>
                    <a:gd name="T13" fmla="*/ 0 h 637"/>
                    <a:gd name="T14" fmla="*/ 1 w 1007"/>
                    <a:gd name="T15" fmla="*/ 0 h 637"/>
                    <a:gd name="T16" fmla="*/ 1 w 1007"/>
                    <a:gd name="T17" fmla="*/ 0 h 637"/>
                    <a:gd name="T18" fmla="*/ 1 w 1007"/>
                    <a:gd name="T19" fmla="*/ 0 h 637"/>
                    <a:gd name="T20" fmla="*/ 1 w 1007"/>
                    <a:gd name="T21" fmla="*/ 0 h 637"/>
                    <a:gd name="T22" fmla="*/ 1 w 1007"/>
                    <a:gd name="T23" fmla="*/ 0 h 637"/>
                    <a:gd name="T24" fmla="*/ 1 w 1007"/>
                    <a:gd name="T25" fmla="*/ 0 h 637"/>
                    <a:gd name="T26" fmla="*/ 1 w 1007"/>
                    <a:gd name="T27" fmla="*/ 0 h 637"/>
                    <a:gd name="T28" fmla="*/ 1 w 1007"/>
                    <a:gd name="T29" fmla="*/ 0 h 637"/>
                    <a:gd name="T30" fmla="*/ 1 w 1007"/>
                    <a:gd name="T31" fmla="*/ 0 h 637"/>
                    <a:gd name="T32" fmla="*/ 1 w 1007"/>
                    <a:gd name="T33" fmla="*/ 0 h 637"/>
                    <a:gd name="T34" fmla="*/ 1 w 1007"/>
                    <a:gd name="T35" fmla="*/ 0 h 637"/>
                    <a:gd name="T36" fmla="*/ 1 w 1007"/>
                    <a:gd name="T37" fmla="*/ 0 h 637"/>
                    <a:gd name="T38" fmla="*/ 1 w 1007"/>
                    <a:gd name="T39" fmla="*/ 0 h 637"/>
                    <a:gd name="T40" fmla="*/ 1 w 1007"/>
                    <a:gd name="T41" fmla="*/ 0 h 637"/>
                    <a:gd name="T42" fmla="*/ 1 w 1007"/>
                    <a:gd name="T43" fmla="*/ 0 h 637"/>
                    <a:gd name="T44" fmla="*/ 1 w 1007"/>
                    <a:gd name="T45" fmla="*/ 0 h 637"/>
                    <a:gd name="T46" fmla="*/ 1 w 1007"/>
                    <a:gd name="T47" fmla="*/ 0 h 637"/>
                    <a:gd name="T48" fmla="*/ 1 w 1007"/>
                    <a:gd name="T49" fmla="*/ 0 h 637"/>
                    <a:gd name="T50" fmla="*/ 1 w 1007"/>
                    <a:gd name="T51" fmla="*/ 0 h 637"/>
                    <a:gd name="T52" fmla="*/ 1 w 1007"/>
                    <a:gd name="T53" fmla="*/ 0 h 637"/>
                    <a:gd name="T54" fmla="*/ 1 w 1007"/>
                    <a:gd name="T55" fmla="*/ 0 h 637"/>
                    <a:gd name="T56" fmla="*/ 1 w 1007"/>
                    <a:gd name="T57" fmla="*/ 0 h 637"/>
                    <a:gd name="T58" fmla="*/ 1 w 1007"/>
                    <a:gd name="T59" fmla="*/ 0 h 637"/>
                    <a:gd name="T60" fmla="*/ 1 w 1007"/>
                    <a:gd name="T61" fmla="*/ 0 h 637"/>
                    <a:gd name="T62" fmla="*/ 1 w 1007"/>
                    <a:gd name="T63" fmla="*/ 0 h 637"/>
                    <a:gd name="T64" fmla="*/ 1 w 1007"/>
                    <a:gd name="T65" fmla="*/ 0 h 637"/>
                    <a:gd name="T66" fmla="*/ 1 w 1007"/>
                    <a:gd name="T67" fmla="*/ 0 h 637"/>
                    <a:gd name="T68" fmla="*/ 1 w 1007"/>
                    <a:gd name="T69" fmla="*/ 0 h 637"/>
                    <a:gd name="T70" fmla="*/ 1 w 1007"/>
                    <a:gd name="T71" fmla="*/ 0 h 637"/>
                    <a:gd name="T72" fmla="*/ 1 w 1007"/>
                    <a:gd name="T73" fmla="*/ 0 h 637"/>
                    <a:gd name="T74" fmla="*/ 1 w 1007"/>
                    <a:gd name="T75" fmla="*/ 0 h 637"/>
                    <a:gd name="T76" fmla="*/ 1 w 1007"/>
                    <a:gd name="T77" fmla="*/ 0 h 637"/>
                    <a:gd name="T78" fmla="*/ 1 w 1007"/>
                    <a:gd name="T79" fmla="*/ 0 h 637"/>
                    <a:gd name="T80" fmla="*/ 1 w 1007"/>
                    <a:gd name="T81" fmla="*/ 0 h 637"/>
                    <a:gd name="T82" fmla="*/ 1 w 1007"/>
                    <a:gd name="T83" fmla="*/ 0 h 637"/>
                    <a:gd name="T84" fmla="*/ 1 w 1007"/>
                    <a:gd name="T85" fmla="*/ 0 h 637"/>
                    <a:gd name="T86" fmla="*/ 1 w 1007"/>
                    <a:gd name="T87" fmla="*/ 0 h 637"/>
                    <a:gd name="T88" fmla="*/ 1 w 1007"/>
                    <a:gd name="T89" fmla="*/ 0 h 637"/>
                    <a:gd name="T90" fmla="*/ 0 w 1007"/>
                    <a:gd name="T91" fmla="*/ 0 h 63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7"/>
                    <a:gd name="T139" fmla="*/ 0 h 637"/>
                    <a:gd name="T140" fmla="*/ 1007 w 1007"/>
                    <a:gd name="T141" fmla="*/ 637 h 63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7" h="637">
                      <a:moveTo>
                        <a:pt x="0" y="7"/>
                      </a:moveTo>
                      <a:lnTo>
                        <a:pt x="48" y="106"/>
                      </a:lnTo>
                      <a:lnTo>
                        <a:pt x="105" y="152"/>
                      </a:lnTo>
                      <a:lnTo>
                        <a:pt x="100" y="179"/>
                      </a:lnTo>
                      <a:lnTo>
                        <a:pt x="72" y="185"/>
                      </a:lnTo>
                      <a:lnTo>
                        <a:pt x="135" y="207"/>
                      </a:lnTo>
                      <a:lnTo>
                        <a:pt x="169" y="252"/>
                      </a:lnTo>
                      <a:lnTo>
                        <a:pt x="166" y="289"/>
                      </a:lnTo>
                      <a:lnTo>
                        <a:pt x="239" y="351"/>
                      </a:lnTo>
                      <a:lnTo>
                        <a:pt x="256" y="330"/>
                      </a:lnTo>
                      <a:lnTo>
                        <a:pt x="85" y="91"/>
                      </a:lnTo>
                      <a:lnTo>
                        <a:pt x="74" y="26"/>
                      </a:lnTo>
                      <a:lnTo>
                        <a:pt x="111" y="43"/>
                      </a:lnTo>
                      <a:lnTo>
                        <a:pt x="175" y="147"/>
                      </a:lnTo>
                      <a:lnTo>
                        <a:pt x="264" y="226"/>
                      </a:lnTo>
                      <a:lnTo>
                        <a:pt x="261" y="256"/>
                      </a:lnTo>
                      <a:lnTo>
                        <a:pt x="385" y="363"/>
                      </a:lnTo>
                      <a:lnTo>
                        <a:pt x="400" y="409"/>
                      </a:lnTo>
                      <a:lnTo>
                        <a:pt x="385" y="439"/>
                      </a:lnTo>
                      <a:lnTo>
                        <a:pt x="414" y="480"/>
                      </a:lnTo>
                      <a:lnTo>
                        <a:pt x="653" y="592"/>
                      </a:lnTo>
                      <a:lnTo>
                        <a:pt x="757" y="584"/>
                      </a:lnTo>
                      <a:lnTo>
                        <a:pt x="826" y="637"/>
                      </a:lnTo>
                      <a:lnTo>
                        <a:pt x="854" y="585"/>
                      </a:lnTo>
                      <a:lnTo>
                        <a:pt x="888" y="584"/>
                      </a:lnTo>
                      <a:lnTo>
                        <a:pt x="852" y="540"/>
                      </a:lnTo>
                      <a:lnTo>
                        <a:pt x="929" y="522"/>
                      </a:lnTo>
                      <a:lnTo>
                        <a:pt x="957" y="502"/>
                      </a:lnTo>
                      <a:lnTo>
                        <a:pt x="966" y="491"/>
                      </a:lnTo>
                      <a:lnTo>
                        <a:pt x="975" y="516"/>
                      </a:lnTo>
                      <a:lnTo>
                        <a:pt x="1007" y="410"/>
                      </a:lnTo>
                      <a:lnTo>
                        <a:pt x="965" y="394"/>
                      </a:lnTo>
                      <a:lnTo>
                        <a:pt x="889" y="410"/>
                      </a:lnTo>
                      <a:lnTo>
                        <a:pt x="849" y="502"/>
                      </a:lnTo>
                      <a:lnTo>
                        <a:pt x="752" y="512"/>
                      </a:lnTo>
                      <a:lnTo>
                        <a:pt x="712" y="489"/>
                      </a:lnTo>
                      <a:lnTo>
                        <a:pt x="647" y="376"/>
                      </a:lnTo>
                      <a:lnTo>
                        <a:pt x="645" y="289"/>
                      </a:lnTo>
                      <a:lnTo>
                        <a:pt x="667" y="247"/>
                      </a:lnTo>
                      <a:lnTo>
                        <a:pt x="601" y="225"/>
                      </a:lnTo>
                      <a:lnTo>
                        <a:pt x="517" y="105"/>
                      </a:lnTo>
                      <a:lnTo>
                        <a:pt x="447" y="131"/>
                      </a:lnTo>
                      <a:lnTo>
                        <a:pt x="355" y="32"/>
                      </a:lnTo>
                      <a:lnTo>
                        <a:pt x="204" y="53"/>
                      </a:lnTo>
                      <a:lnTo>
                        <a:pt x="77" y="0"/>
                      </a:lnTo>
                      <a:lnTo>
                        <a:pt x="0" y="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5" name="16292310.875589.521.62543.8755">
                  <a:extLst>
                    <a:ext uri="{FF2B5EF4-FFF2-40B4-BE49-F238E27FC236}">
                      <a16:creationId xmlns:a16="http://schemas.microsoft.com/office/drawing/2014/main" id="{35676452-7FC2-6F24-E67F-46562BC861D1}"/>
                    </a:ext>
                  </a:extLst>
                </p:cNvPr>
                <p:cNvSpPr>
                  <a:spLocks/>
                </p:cNvSpPr>
                <p:nvPr/>
              </p:nvSpPr>
              <p:spPr bwMode="auto">
                <a:xfrm>
                  <a:off x="4265536" y="2962501"/>
                  <a:ext cx="535954" cy="256174"/>
                </a:xfrm>
                <a:custGeom>
                  <a:avLst/>
                  <a:gdLst>
                    <a:gd name="T0" fmla="*/ 0 w 1058"/>
                    <a:gd name="T1" fmla="*/ 1 h 444"/>
                    <a:gd name="T2" fmla="*/ 1 w 1058"/>
                    <a:gd name="T3" fmla="*/ 1 h 444"/>
                    <a:gd name="T4" fmla="*/ 1 w 1058"/>
                    <a:gd name="T5" fmla="*/ 1 h 444"/>
                    <a:gd name="T6" fmla="*/ 1 w 1058"/>
                    <a:gd name="T7" fmla="*/ 1 h 444"/>
                    <a:gd name="T8" fmla="*/ 1 w 1058"/>
                    <a:gd name="T9" fmla="*/ 1 h 444"/>
                    <a:gd name="T10" fmla="*/ 1 w 1058"/>
                    <a:gd name="T11" fmla="*/ 1 h 444"/>
                    <a:gd name="T12" fmla="*/ 1 w 1058"/>
                    <a:gd name="T13" fmla="*/ 1 h 444"/>
                    <a:gd name="T14" fmla="*/ 1 w 1058"/>
                    <a:gd name="T15" fmla="*/ 1 h 444"/>
                    <a:gd name="T16" fmla="*/ 1 w 1058"/>
                    <a:gd name="T17" fmla="*/ 1 h 444"/>
                    <a:gd name="T18" fmla="*/ 1 w 1058"/>
                    <a:gd name="T19" fmla="*/ 1 h 444"/>
                    <a:gd name="T20" fmla="*/ 1 w 1058"/>
                    <a:gd name="T21" fmla="*/ 1 h 444"/>
                    <a:gd name="T22" fmla="*/ 1 w 1058"/>
                    <a:gd name="T23" fmla="*/ 1 h 444"/>
                    <a:gd name="T24" fmla="*/ 1 w 1058"/>
                    <a:gd name="T25" fmla="*/ 1 h 444"/>
                    <a:gd name="T26" fmla="*/ 1 w 1058"/>
                    <a:gd name="T27" fmla="*/ 1 h 444"/>
                    <a:gd name="T28" fmla="*/ 1 w 1058"/>
                    <a:gd name="T29" fmla="*/ 1 h 444"/>
                    <a:gd name="T30" fmla="*/ 1 w 1058"/>
                    <a:gd name="T31" fmla="*/ 1 h 444"/>
                    <a:gd name="T32" fmla="*/ 1 w 1058"/>
                    <a:gd name="T33" fmla="*/ 1 h 444"/>
                    <a:gd name="T34" fmla="*/ 1 w 1058"/>
                    <a:gd name="T35" fmla="*/ 1 h 444"/>
                    <a:gd name="T36" fmla="*/ 1 w 1058"/>
                    <a:gd name="T37" fmla="*/ 1 h 444"/>
                    <a:gd name="T38" fmla="*/ 1 w 1058"/>
                    <a:gd name="T39" fmla="*/ 1 h 444"/>
                    <a:gd name="T40" fmla="*/ 1 w 1058"/>
                    <a:gd name="T41" fmla="*/ 1 h 444"/>
                    <a:gd name="T42" fmla="*/ 1 w 1058"/>
                    <a:gd name="T43" fmla="*/ 1 h 444"/>
                    <a:gd name="T44" fmla="*/ 1 w 1058"/>
                    <a:gd name="T45" fmla="*/ 1 h 444"/>
                    <a:gd name="T46" fmla="*/ 1 w 1058"/>
                    <a:gd name="T47" fmla="*/ 0 h 444"/>
                    <a:gd name="T48" fmla="*/ 1 w 1058"/>
                    <a:gd name="T49" fmla="*/ 1 h 444"/>
                    <a:gd name="T50" fmla="*/ 1 w 1058"/>
                    <a:gd name="T51" fmla="*/ 1 h 444"/>
                    <a:gd name="T52" fmla="*/ 1 w 1058"/>
                    <a:gd name="T53" fmla="*/ 1 h 444"/>
                    <a:gd name="T54" fmla="*/ 0 w 1058"/>
                    <a:gd name="T55" fmla="*/ 1 h 44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58"/>
                    <a:gd name="T85" fmla="*/ 0 h 444"/>
                    <a:gd name="T86" fmla="*/ 1058 w 1058"/>
                    <a:gd name="T87" fmla="*/ 444 h 44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58" h="444">
                      <a:moveTo>
                        <a:pt x="0" y="139"/>
                      </a:moveTo>
                      <a:lnTo>
                        <a:pt x="34" y="184"/>
                      </a:lnTo>
                      <a:lnTo>
                        <a:pt x="81" y="201"/>
                      </a:lnTo>
                      <a:lnTo>
                        <a:pt x="100" y="296"/>
                      </a:lnTo>
                      <a:lnTo>
                        <a:pt x="247" y="333"/>
                      </a:lnTo>
                      <a:lnTo>
                        <a:pt x="309" y="397"/>
                      </a:lnTo>
                      <a:lnTo>
                        <a:pt x="430" y="393"/>
                      </a:lnTo>
                      <a:lnTo>
                        <a:pt x="567" y="444"/>
                      </a:lnTo>
                      <a:lnTo>
                        <a:pt x="750" y="397"/>
                      </a:lnTo>
                      <a:lnTo>
                        <a:pt x="806" y="360"/>
                      </a:lnTo>
                      <a:lnTo>
                        <a:pt x="806" y="309"/>
                      </a:lnTo>
                      <a:lnTo>
                        <a:pt x="857" y="315"/>
                      </a:lnTo>
                      <a:lnTo>
                        <a:pt x="968" y="241"/>
                      </a:lnTo>
                      <a:lnTo>
                        <a:pt x="1058" y="236"/>
                      </a:lnTo>
                      <a:lnTo>
                        <a:pt x="1015" y="180"/>
                      </a:lnTo>
                      <a:lnTo>
                        <a:pt x="930" y="195"/>
                      </a:lnTo>
                      <a:lnTo>
                        <a:pt x="929" y="132"/>
                      </a:lnTo>
                      <a:lnTo>
                        <a:pt x="951" y="98"/>
                      </a:lnTo>
                      <a:lnTo>
                        <a:pt x="890" y="88"/>
                      </a:lnTo>
                      <a:lnTo>
                        <a:pt x="732" y="126"/>
                      </a:lnTo>
                      <a:lnTo>
                        <a:pt x="593" y="70"/>
                      </a:lnTo>
                      <a:lnTo>
                        <a:pt x="504" y="78"/>
                      </a:lnTo>
                      <a:lnTo>
                        <a:pt x="471" y="32"/>
                      </a:lnTo>
                      <a:lnTo>
                        <a:pt x="383" y="0"/>
                      </a:lnTo>
                      <a:lnTo>
                        <a:pt x="336" y="33"/>
                      </a:lnTo>
                      <a:lnTo>
                        <a:pt x="334" y="96"/>
                      </a:lnTo>
                      <a:lnTo>
                        <a:pt x="133" y="69"/>
                      </a:lnTo>
                      <a:lnTo>
                        <a:pt x="0" y="13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6" name="16293362.75539.8751410.6255">
                  <a:extLst>
                    <a:ext uri="{FF2B5EF4-FFF2-40B4-BE49-F238E27FC236}">
                      <a16:creationId xmlns:a16="http://schemas.microsoft.com/office/drawing/2014/main" id="{2A0B0DB5-0E68-50EC-94A7-C51542375977}"/>
                    </a:ext>
                  </a:extLst>
                </p:cNvPr>
                <p:cNvSpPr>
                  <a:spLocks/>
                </p:cNvSpPr>
                <p:nvPr/>
              </p:nvSpPr>
              <p:spPr bwMode="auto">
                <a:xfrm>
                  <a:off x="3660687" y="3576395"/>
                  <a:ext cx="129682" cy="167322"/>
                </a:xfrm>
                <a:custGeom>
                  <a:avLst/>
                  <a:gdLst>
                    <a:gd name="T0" fmla="*/ 0 w 256"/>
                    <a:gd name="T1" fmla="*/ 1 h 288"/>
                    <a:gd name="T2" fmla="*/ 1 w 256"/>
                    <a:gd name="T3" fmla="*/ 1 h 288"/>
                    <a:gd name="T4" fmla="*/ 1 w 256"/>
                    <a:gd name="T5" fmla="*/ 1 h 288"/>
                    <a:gd name="T6" fmla="*/ 1 w 256"/>
                    <a:gd name="T7" fmla="*/ 1 h 288"/>
                    <a:gd name="T8" fmla="*/ 1 w 256"/>
                    <a:gd name="T9" fmla="*/ 1 h 288"/>
                    <a:gd name="T10" fmla="*/ 1 w 256"/>
                    <a:gd name="T11" fmla="*/ 1 h 288"/>
                    <a:gd name="T12" fmla="*/ 1 w 256"/>
                    <a:gd name="T13" fmla="*/ 1 h 288"/>
                    <a:gd name="T14" fmla="*/ 1 w 256"/>
                    <a:gd name="T15" fmla="*/ 1 h 288"/>
                    <a:gd name="T16" fmla="*/ 1 w 256"/>
                    <a:gd name="T17" fmla="*/ 0 h 288"/>
                    <a:gd name="T18" fmla="*/ 1 w 256"/>
                    <a:gd name="T19" fmla="*/ 1 h 288"/>
                    <a:gd name="T20" fmla="*/ 1 w 256"/>
                    <a:gd name="T21" fmla="*/ 1 h 288"/>
                    <a:gd name="T22" fmla="*/ 1 w 256"/>
                    <a:gd name="T23" fmla="*/ 1 h 288"/>
                    <a:gd name="T24" fmla="*/ 1 w 256"/>
                    <a:gd name="T25" fmla="*/ 1 h 288"/>
                    <a:gd name="T26" fmla="*/ 1 w 256"/>
                    <a:gd name="T27" fmla="*/ 1 h 288"/>
                    <a:gd name="T28" fmla="*/ 0 w 256"/>
                    <a:gd name="T29" fmla="*/ 1 h 2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6"/>
                    <a:gd name="T46" fmla="*/ 0 h 288"/>
                    <a:gd name="T47" fmla="*/ 256 w 256"/>
                    <a:gd name="T48" fmla="*/ 288 h 2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6" h="288">
                      <a:moveTo>
                        <a:pt x="0" y="204"/>
                      </a:moveTo>
                      <a:lnTo>
                        <a:pt x="35" y="288"/>
                      </a:lnTo>
                      <a:lnTo>
                        <a:pt x="95" y="275"/>
                      </a:lnTo>
                      <a:lnTo>
                        <a:pt x="191" y="203"/>
                      </a:lnTo>
                      <a:lnTo>
                        <a:pt x="190" y="169"/>
                      </a:lnTo>
                      <a:lnTo>
                        <a:pt x="252" y="105"/>
                      </a:lnTo>
                      <a:lnTo>
                        <a:pt x="256" y="85"/>
                      </a:lnTo>
                      <a:lnTo>
                        <a:pt x="222" y="48"/>
                      </a:lnTo>
                      <a:lnTo>
                        <a:pt x="143" y="0"/>
                      </a:lnTo>
                      <a:lnTo>
                        <a:pt x="123" y="1"/>
                      </a:lnTo>
                      <a:lnTo>
                        <a:pt x="134" y="27"/>
                      </a:lnTo>
                      <a:lnTo>
                        <a:pt x="106" y="77"/>
                      </a:lnTo>
                      <a:lnTo>
                        <a:pt x="123" y="101"/>
                      </a:lnTo>
                      <a:lnTo>
                        <a:pt x="98" y="170"/>
                      </a:lnTo>
                      <a:lnTo>
                        <a:pt x="0" y="20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7" name="16294353.5578.756.62511.1255">
                  <a:extLst>
                    <a:ext uri="{FF2B5EF4-FFF2-40B4-BE49-F238E27FC236}">
                      <a16:creationId xmlns:a16="http://schemas.microsoft.com/office/drawing/2014/main" id="{E3AB6E02-6454-60FF-E236-B2FB32F8504D}"/>
                    </a:ext>
                  </a:extLst>
                </p:cNvPr>
                <p:cNvSpPr>
                  <a:spLocks/>
                </p:cNvSpPr>
                <p:nvPr/>
              </p:nvSpPr>
              <p:spPr bwMode="auto">
                <a:xfrm>
                  <a:off x="4134840" y="3466772"/>
                  <a:ext cx="135762" cy="78467"/>
                </a:xfrm>
                <a:custGeom>
                  <a:avLst/>
                  <a:gdLst>
                    <a:gd name="T0" fmla="*/ 0 w 268"/>
                    <a:gd name="T1" fmla="*/ 0 h 138"/>
                    <a:gd name="T2" fmla="*/ 1 w 268"/>
                    <a:gd name="T3" fmla="*/ 0 h 138"/>
                    <a:gd name="T4" fmla="*/ 1 w 268"/>
                    <a:gd name="T5" fmla="*/ 0 h 138"/>
                    <a:gd name="T6" fmla="*/ 1 w 268"/>
                    <a:gd name="T7" fmla="*/ 0 h 138"/>
                    <a:gd name="T8" fmla="*/ 1 w 268"/>
                    <a:gd name="T9" fmla="*/ 0 h 138"/>
                    <a:gd name="T10" fmla="*/ 1 w 268"/>
                    <a:gd name="T11" fmla="*/ 0 h 138"/>
                    <a:gd name="T12" fmla="*/ 1 w 268"/>
                    <a:gd name="T13" fmla="*/ 0 h 138"/>
                    <a:gd name="T14" fmla="*/ 0 w 268"/>
                    <a:gd name="T15" fmla="*/ 0 h 138"/>
                    <a:gd name="T16" fmla="*/ 0 60000 65536"/>
                    <a:gd name="T17" fmla="*/ 0 60000 65536"/>
                    <a:gd name="T18" fmla="*/ 0 60000 65536"/>
                    <a:gd name="T19" fmla="*/ 0 60000 65536"/>
                    <a:gd name="T20" fmla="*/ 0 60000 65536"/>
                    <a:gd name="T21" fmla="*/ 0 60000 65536"/>
                    <a:gd name="T22" fmla="*/ 0 60000 65536"/>
                    <a:gd name="T23" fmla="*/ 0 60000 65536"/>
                    <a:gd name="T24" fmla="*/ 0 w 268"/>
                    <a:gd name="T25" fmla="*/ 0 h 138"/>
                    <a:gd name="T26" fmla="*/ 268 w 268"/>
                    <a:gd name="T27" fmla="*/ 138 h 1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8" h="138">
                      <a:moveTo>
                        <a:pt x="0" y="54"/>
                      </a:moveTo>
                      <a:lnTo>
                        <a:pt x="33" y="0"/>
                      </a:lnTo>
                      <a:lnTo>
                        <a:pt x="139" y="35"/>
                      </a:lnTo>
                      <a:lnTo>
                        <a:pt x="195" y="87"/>
                      </a:lnTo>
                      <a:lnTo>
                        <a:pt x="268" y="87"/>
                      </a:lnTo>
                      <a:lnTo>
                        <a:pt x="264" y="138"/>
                      </a:lnTo>
                      <a:lnTo>
                        <a:pt x="90" y="105"/>
                      </a:lnTo>
                      <a:lnTo>
                        <a:pt x="0" y="5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8" name="16295308.75472.6255.254.8755">
                  <a:extLst>
                    <a:ext uri="{FF2B5EF4-FFF2-40B4-BE49-F238E27FC236}">
                      <a16:creationId xmlns:a16="http://schemas.microsoft.com/office/drawing/2014/main" id="{2291C3C5-C3CE-9EE0-0211-F2D69283E69D}"/>
                    </a:ext>
                  </a:extLst>
                </p:cNvPr>
                <p:cNvSpPr>
                  <a:spLocks/>
                </p:cNvSpPr>
                <p:nvPr/>
              </p:nvSpPr>
              <p:spPr bwMode="auto">
                <a:xfrm>
                  <a:off x="2841051" y="2935960"/>
                  <a:ext cx="60789" cy="63467"/>
                </a:xfrm>
                <a:custGeom>
                  <a:avLst/>
                  <a:gdLst>
                    <a:gd name="T0" fmla="*/ 0 w 119"/>
                    <a:gd name="T1" fmla="*/ 0 h 112"/>
                    <a:gd name="T2" fmla="*/ 1 w 119"/>
                    <a:gd name="T3" fmla="*/ 0 h 112"/>
                    <a:gd name="T4" fmla="*/ 1 w 119"/>
                    <a:gd name="T5" fmla="*/ 0 h 112"/>
                    <a:gd name="T6" fmla="*/ 1 w 119"/>
                    <a:gd name="T7" fmla="*/ 0 h 112"/>
                    <a:gd name="T8" fmla="*/ 1 w 119"/>
                    <a:gd name="T9" fmla="*/ 0 h 112"/>
                    <a:gd name="T10" fmla="*/ 1 w 119"/>
                    <a:gd name="T11" fmla="*/ 0 h 112"/>
                    <a:gd name="T12" fmla="*/ 1 w 119"/>
                    <a:gd name="T13" fmla="*/ 0 h 112"/>
                    <a:gd name="T14" fmla="*/ 1 w 119"/>
                    <a:gd name="T15" fmla="*/ 0 h 112"/>
                    <a:gd name="T16" fmla="*/ 1 w 119"/>
                    <a:gd name="T17" fmla="*/ 0 h 112"/>
                    <a:gd name="T18" fmla="*/ 1 w 119"/>
                    <a:gd name="T19" fmla="*/ 0 h 112"/>
                    <a:gd name="T20" fmla="*/ 1 w 119"/>
                    <a:gd name="T21" fmla="*/ 0 h 112"/>
                    <a:gd name="T22" fmla="*/ 0 w 119"/>
                    <a:gd name="T23" fmla="*/ 0 h 1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
                    <a:gd name="T37" fmla="*/ 0 h 112"/>
                    <a:gd name="T38" fmla="*/ 119 w 119"/>
                    <a:gd name="T39" fmla="*/ 112 h 1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 h="112">
                      <a:moveTo>
                        <a:pt x="0" y="84"/>
                      </a:moveTo>
                      <a:lnTo>
                        <a:pt x="47" y="70"/>
                      </a:lnTo>
                      <a:lnTo>
                        <a:pt x="22" y="57"/>
                      </a:lnTo>
                      <a:lnTo>
                        <a:pt x="45" y="18"/>
                      </a:lnTo>
                      <a:lnTo>
                        <a:pt x="63" y="43"/>
                      </a:lnTo>
                      <a:lnTo>
                        <a:pt x="64" y="0"/>
                      </a:lnTo>
                      <a:lnTo>
                        <a:pt x="119" y="0"/>
                      </a:lnTo>
                      <a:lnTo>
                        <a:pt x="114" y="43"/>
                      </a:lnTo>
                      <a:lnTo>
                        <a:pt x="80" y="59"/>
                      </a:lnTo>
                      <a:lnTo>
                        <a:pt x="81" y="112"/>
                      </a:lnTo>
                      <a:lnTo>
                        <a:pt x="48" y="80"/>
                      </a:lnTo>
                      <a:lnTo>
                        <a:pt x="0" y="8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9" name="16296473.25698.62511.7510.755">
                  <a:extLst>
                    <a:ext uri="{FF2B5EF4-FFF2-40B4-BE49-F238E27FC236}">
                      <a16:creationId xmlns:a16="http://schemas.microsoft.com/office/drawing/2014/main" id="{58FDA2FC-8B8B-5BC6-765D-A3721A2647BD}"/>
                    </a:ext>
                  </a:extLst>
                </p:cNvPr>
                <p:cNvSpPr>
                  <a:spLocks/>
                </p:cNvSpPr>
                <p:nvPr/>
              </p:nvSpPr>
              <p:spPr bwMode="auto">
                <a:xfrm>
                  <a:off x="5596811" y="4887269"/>
                  <a:ext cx="130696" cy="139627"/>
                </a:xfrm>
                <a:custGeom>
                  <a:avLst/>
                  <a:gdLst>
                    <a:gd name="T0" fmla="*/ 0 w 257"/>
                    <a:gd name="T1" fmla="*/ 0 h 243"/>
                    <a:gd name="T2" fmla="*/ 1 w 257"/>
                    <a:gd name="T3" fmla="*/ 0 h 243"/>
                    <a:gd name="T4" fmla="*/ 1 w 257"/>
                    <a:gd name="T5" fmla="*/ 0 h 243"/>
                    <a:gd name="T6" fmla="*/ 1 w 257"/>
                    <a:gd name="T7" fmla="*/ 0 h 243"/>
                    <a:gd name="T8" fmla="*/ 1 w 257"/>
                    <a:gd name="T9" fmla="*/ 0 h 243"/>
                    <a:gd name="T10" fmla="*/ 1 w 257"/>
                    <a:gd name="T11" fmla="*/ 0 h 243"/>
                    <a:gd name="T12" fmla="*/ 1 w 257"/>
                    <a:gd name="T13" fmla="*/ 0 h 243"/>
                    <a:gd name="T14" fmla="*/ 1 w 257"/>
                    <a:gd name="T15" fmla="*/ 0 h 243"/>
                    <a:gd name="T16" fmla="*/ 1 w 257"/>
                    <a:gd name="T17" fmla="*/ 0 h 243"/>
                    <a:gd name="T18" fmla="*/ 1 w 257"/>
                    <a:gd name="T19" fmla="*/ 0 h 243"/>
                    <a:gd name="T20" fmla="*/ 1 w 257"/>
                    <a:gd name="T21" fmla="*/ 0 h 243"/>
                    <a:gd name="T22" fmla="*/ 1 w 257"/>
                    <a:gd name="T23" fmla="*/ 0 h 243"/>
                    <a:gd name="T24" fmla="*/ 0 w 257"/>
                    <a:gd name="T25" fmla="*/ 0 h 2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7"/>
                    <a:gd name="T40" fmla="*/ 0 h 243"/>
                    <a:gd name="T41" fmla="*/ 257 w 257"/>
                    <a:gd name="T42" fmla="*/ 243 h 24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7" h="243">
                      <a:moveTo>
                        <a:pt x="0" y="212"/>
                      </a:moveTo>
                      <a:lnTo>
                        <a:pt x="54" y="138"/>
                      </a:lnTo>
                      <a:lnTo>
                        <a:pt x="147" y="83"/>
                      </a:lnTo>
                      <a:lnTo>
                        <a:pt x="194" y="0"/>
                      </a:lnTo>
                      <a:lnTo>
                        <a:pt x="223" y="25"/>
                      </a:lnTo>
                      <a:lnTo>
                        <a:pt x="254" y="14"/>
                      </a:lnTo>
                      <a:lnTo>
                        <a:pt x="257" y="43"/>
                      </a:lnTo>
                      <a:lnTo>
                        <a:pt x="209" y="101"/>
                      </a:lnTo>
                      <a:lnTo>
                        <a:pt x="220" y="127"/>
                      </a:lnTo>
                      <a:lnTo>
                        <a:pt x="165" y="137"/>
                      </a:lnTo>
                      <a:lnTo>
                        <a:pt x="139" y="218"/>
                      </a:lnTo>
                      <a:lnTo>
                        <a:pt x="83" y="243"/>
                      </a:lnTo>
                      <a:lnTo>
                        <a:pt x="0" y="21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0" name="16298379.375346.56.6255.55">
                  <a:extLst>
                    <a:ext uri="{FF2B5EF4-FFF2-40B4-BE49-F238E27FC236}">
                      <a16:creationId xmlns:a16="http://schemas.microsoft.com/office/drawing/2014/main" id="{D699EE73-A4E8-D5EE-708C-EE22822E5506}"/>
                    </a:ext>
                  </a:extLst>
                </p:cNvPr>
                <p:cNvSpPr>
                  <a:spLocks/>
                </p:cNvSpPr>
                <p:nvPr/>
              </p:nvSpPr>
              <p:spPr bwMode="auto">
                <a:xfrm>
                  <a:off x="1823005" y="3807958"/>
                  <a:ext cx="67881" cy="79621"/>
                </a:xfrm>
                <a:custGeom>
                  <a:avLst/>
                  <a:gdLst>
                    <a:gd name="T0" fmla="*/ 0 w 134"/>
                    <a:gd name="T1" fmla="*/ 0 h 139"/>
                    <a:gd name="T2" fmla="*/ 1 w 134"/>
                    <a:gd name="T3" fmla="*/ 0 h 139"/>
                    <a:gd name="T4" fmla="*/ 1 w 134"/>
                    <a:gd name="T5" fmla="*/ 0 h 139"/>
                    <a:gd name="T6" fmla="*/ 1 w 134"/>
                    <a:gd name="T7" fmla="*/ 0 h 139"/>
                    <a:gd name="T8" fmla="*/ 1 w 134"/>
                    <a:gd name="T9" fmla="*/ 0 h 139"/>
                    <a:gd name="T10" fmla="*/ 0 w 134"/>
                    <a:gd name="T11" fmla="*/ 0 h 139"/>
                    <a:gd name="T12" fmla="*/ 0 60000 65536"/>
                    <a:gd name="T13" fmla="*/ 0 60000 65536"/>
                    <a:gd name="T14" fmla="*/ 0 60000 65536"/>
                    <a:gd name="T15" fmla="*/ 0 60000 65536"/>
                    <a:gd name="T16" fmla="*/ 0 60000 65536"/>
                    <a:gd name="T17" fmla="*/ 0 60000 65536"/>
                    <a:gd name="T18" fmla="*/ 0 w 134"/>
                    <a:gd name="T19" fmla="*/ 0 h 139"/>
                    <a:gd name="T20" fmla="*/ 134 w 134"/>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4" h="139">
                      <a:moveTo>
                        <a:pt x="0" y="70"/>
                      </a:moveTo>
                      <a:lnTo>
                        <a:pt x="54" y="136"/>
                      </a:lnTo>
                      <a:lnTo>
                        <a:pt x="123" y="139"/>
                      </a:lnTo>
                      <a:lnTo>
                        <a:pt x="134" y="0"/>
                      </a:lnTo>
                      <a:lnTo>
                        <a:pt x="86" y="7"/>
                      </a:lnTo>
                      <a:lnTo>
                        <a:pt x="0" y="7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1" name="16299263.75474.62533.7535.8755">
                  <a:extLst>
                    <a:ext uri="{FF2B5EF4-FFF2-40B4-BE49-F238E27FC236}">
                      <a16:creationId xmlns:a16="http://schemas.microsoft.com/office/drawing/2014/main" id="{EB12769E-F6D9-2E0B-B3F0-ABEEFC62FED8}"/>
                    </a:ext>
                  </a:extLst>
                </p:cNvPr>
                <p:cNvSpPr>
                  <a:spLocks/>
                </p:cNvSpPr>
                <p:nvPr/>
              </p:nvSpPr>
              <p:spPr bwMode="auto">
                <a:xfrm>
                  <a:off x="2866381" y="2402840"/>
                  <a:ext cx="437680" cy="400416"/>
                </a:xfrm>
                <a:custGeom>
                  <a:avLst/>
                  <a:gdLst>
                    <a:gd name="T0" fmla="*/ 1 w 863"/>
                    <a:gd name="T1" fmla="*/ 1 h 693"/>
                    <a:gd name="T2" fmla="*/ 1 w 863"/>
                    <a:gd name="T3" fmla="*/ 1 h 693"/>
                    <a:gd name="T4" fmla="*/ 1 w 863"/>
                    <a:gd name="T5" fmla="*/ 1 h 693"/>
                    <a:gd name="T6" fmla="*/ 1 w 863"/>
                    <a:gd name="T7" fmla="*/ 1 h 693"/>
                    <a:gd name="T8" fmla="*/ 1 w 863"/>
                    <a:gd name="T9" fmla="*/ 1 h 693"/>
                    <a:gd name="T10" fmla="*/ 1 w 863"/>
                    <a:gd name="T11" fmla="*/ 1 h 693"/>
                    <a:gd name="T12" fmla="*/ 1 w 863"/>
                    <a:gd name="T13" fmla="*/ 1 h 693"/>
                    <a:gd name="T14" fmla="*/ 1 w 863"/>
                    <a:gd name="T15" fmla="*/ 1 h 693"/>
                    <a:gd name="T16" fmla="*/ 1 w 863"/>
                    <a:gd name="T17" fmla="*/ 1 h 693"/>
                    <a:gd name="T18" fmla="*/ 1 w 863"/>
                    <a:gd name="T19" fmla="*/ 1 h 693"/>
                    <a:gd name="T20" fmla="*/ 1 w 863"/>
                    <a:gd name="T21" fmla="*/ 1 h 693"/>
                    <a:gd name="T22" fmla="*/ 1 w 863"/>
                    <a:gd name="T23" fmla="*/ 1 h 693"/>
                    <a:gd name="T24" fmla="*/ 1 w 863"/>
                    <a:gd name="T25" fmla="*/ 1 h 693"/>
                    <a:gd name="T26" fmla="*/ 1 w 863"/>
                    <a:gd name="T27" fmla="*/ 1 h 693"/>
                    <a:gd name="T28" fmla="*/ 1 w 863"/>
                    <a:gd name="T29" fmla="*/ 1 h 693"/>
                    <a:gd name="T30" fmla="*/ 1 w 863"/>
                    <a:gd name="T31" fmla="*/ 1 h 693"/>
                    <a:gd name="T32" fmla="*/ 1 w 863"/>
                    <a:gd name="T33" fmla="*/ 1 h 693"/>
                    <a:gd name="T34" fmla="*/ 1 w 863"/>
                    <a:gd name="T35" fmla="*/ 1 h 693"/>
                    <a:gd name="T36" fmla="*/ 1 w 863"/>
                    <a:gd name="T37" fmla="*/ 1 h 693"/>
                    <a:gd name="T38" fmla="*/ 1 w 863"/>
                    <a:gd name="T39" fmla="*/ 1 h 693"/>
                    <a:gd name="T40" fmla="*/ 1 w 863"/>
                    <a:gd name="T41" fmla="*/ 1 h 693"/>
                    <a:gd name="T42" fmla="*/ 1 w 863"/>
                    <a:gd name="T43" fmla="*/ 1 h 693"/>
                    <a:gd name="T44" fmla="*/ 1 w 863"/>
                    <a:gd name="T45" fmla="*/ 1 h 693"/>
                    <a:gd name="T46" fmla="*/ 1 w 863"/>
                    <a:gd name="T47" fmla="*/ 1 h 693"/>
                    <a:gd name="T48" fmla="*/ 1 w 863"/>
                    <a:gd name="T49" fmla="*/ 1 h 693"/>
                    <a:gd name="T50" fmla="*/ 1 w 863"/>
                    <a:gd name="T51" fmla="*/ 1 h 693"/>
                    <a:gd name="T52" fmla="*/ 1 w 863"/>
                    <a:gd name="T53" fmla="*/ 1 h 693"/>
                    <a:gd name="T54" fmla="*/ 1 w 863"/>
                    <a:gd name="T55" fmla="*/ 1 h 693"/>
                    <a:gd name="T56" fmla="*/ 1 w 863"/>
                    <a:gd name="T57" fmla="*/ 1 h 693"/>
                    <a:gd name="T58" fmla="*/ 1 w 863"/>
                    <a:gd name="T59" fmla="*/ 1 h 693"/>
                    <a:gd name="T60" fmla="*/ 1 w 863"/>
                    <a:gd name="T61" fmla="*/ 1 h 693"/>
                    <a:gd name="T62" fmla="*/ 1 w 863"/>
                    <a:gd name="T63" fmla="*/ 1 h 693"/>
                    <a:gd name="T64" fmla="*/ 1 w 863"/>
                    <a:gd name="T65" fmla="*/ 1 h 693"/>
                    <a:gd name="T66" fmla="*/ 1 w 863"/>
                    <a:gd name="T67" fmla="*/ 1 h 693"/>
                    <a:gd name="T68" fmla="*/ 1 w 863"/>
                    <a:gd name="T69" fmla="*/ 1 h 693"/>
                    <a:gd name="T70" fmla="*/ 1 w 863"/>
                    <a:gd name="T71" fmla="*/ 1 h 693"/>
                    <a:gd name="T72" fmla="*/ 1 w 863"/>
                    <a:gd name="T73" fmla="*/ 1 h 693"/>
                    <a:gd name="T74" fmla="*/ 1 w 863"/>
                    <a:gd name="T75" fmla="*/ 1 h 693"/>
                    <a:gd name="T76" fmla="*/ 1 w 863"/>
                    <a:gd name="T77" fmla="*/ 1 h 693"/>
                    <a:gd name="T78" fmla="*/ 1 w 863"/>
                    <a:gd name="T79" fmla="*/ 1 h 693"/>
                    <a:gd name="T80" fmla="*/ 0 w 863"/>
                    <a:gd name="T81" fmla="*/ 1 h 69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63"/>
                    <a:gd name="T124" fmla="*/ 0 h 693"/>
                    <a:gd name="T125" fmla="*/ 863 w 863"/>
                    <a:gd name="T126" fmla="*/ 693 h 69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63" h="693">
                      <a:moveTo>
                        <a:pt x="0" y="519"/>
                      </a:moveTo>
                      <a:lnTo>
                        <a:pt x="3" y="548"/>
                      </a:lnTo>
                      <a:lnTo>
                        <a:pt x="81" y="528"/>
                      </a:lnTo>
                      <a:lnTo>
                        <a:pt x="84" y="539"/>
                      </a:lnTo>
                      <a:lnTo>
                        <a:pt x="2" y="560"/>
                      </a:lnTo>
                      <a:lnTo>
                        <a:pt x="22" y="571"/>
                      </a:lnTo>
                      <a:lnTo>
                        <a:pt x="14" y="608"/>
                      </a:lnTo>
                      <a:lnTo>
                        <a:pt x="69" y="577"/>
                      </a:lnTo>
                      <a:lnTo>
                        <a:pt x="9" y="629"/>
                      </a:lnTo>
                      <a:lnTo>
                        <a:pt x="43" y="629"/>
                      </a:lnTo>
                      <a:lnTo>
                        <a:pt x="22" y="674"/>
                      </a:lnTo>
                      <a:lnTo>
                        <a:pt x="105" y="693"/>
                      </a:lnTo>
                      <a:lnTo>
                        <a:pt x="171" y="649"/>
                      </a:lnTo>
                      <a:lnTo>
                        <a:pt x="184" y="610"/>
                      </a:lnTo>
                      <a:lnTo>
                        <a:pt x="205" y="649"/>
                      </a:lnTo>
                      <a:lnTo>
                        <a:pt x="244" y="600"/>
                      </a:lnTo>
                      <a:lnTo>
                        <a:pt x="237" y="556"/>
                      </a:lnTo>
                      <a:lnTo>
                        <a:pt x="255" y="537"/>
                      </a:lnTo>
                      <a:lnTo>
                        <a:pt x="237" y="516"/>
                      </a:lnTo>
                      <a:lnTo>
                        <a:pt x="239" y="417"/>
                      </a:lnTo>
                      <a:lnTo>
                        <a:pt x="301" y="394"/>
                      </a:lnTo>
                      <a:lnTo>
                        <a:pt x="289" y="363"/>
                      </a:lnTo>
                      <a:lnTo>
                        <a:pt x="316" y="288"/>
                      </a:lnTo>
                      <a:lnTo>
                        <a:pt x="374" y="233"/>
                      </a:lnTo>
                      <a:lnTo>
                        <a:pt x="386" y="187"/>
                      </a:lnTo>
                      <a:lnTo>
                        <a:pt x="428" y="179"/>
                      </a:lnTo>
                      <a:lnTo>
                        <a:pt x="440" y="150"/>
                      </a:lnTo>
                      <a:lnTo>
                        <a:pt x="502" y="157"/>
                      </a:lnTo>
                      <a:lnTo>
                        <a:pt x="503" y="120"/>
                      </a:lnTo>
                      <a:lnTo>
                        <a:pt x="518" y="120"/>
                      </a:lnTo>
                      <a:lnTo>
                        <a:pt x="542" y="103"/>
                      </a:lnTo>
                      <a:lnTo>
                        <a:pt x="580" y="136"/>
                      </a:lnTo>
                      <a:lnTo>
                        <a:pt x="650" y="142"/>
                      </a:lnTo>
                      <a:lnTo>
                        <a:pt x="690" y="121"/>
                      </a:lnTo>
                      <a:lnTo>
                        <a:pt x="701" y="76"/>
                      </a:lnTo>
                      <a:lnTo>
                        <a:pt x="767" y="63"/>
                      </a:lnTo>
                      <a:lnTo>
                        <a:pt x="803" y="81"/>
                      </a:lnTo>
                      <a:lnTo>
                        <a:pt x="799" y="120"/>
                      </a:lnTo>
                      <a:lnTo>
                        <a:pt x="861" y="76"/>
                      </a:lnTo>
                      <a:lnTo>
                        <a:pt x="819" y="83"/>
                      </a:lnTo>
                      <a:lnTo>
                        <a:pt x="830" y="72"/>
                      </a:lnTo>
                      <a:lnTo>
                        <a:pt x="788" y="59"/>
                      </a:lnTo>
                      <a:lnTo>
                        <a:pt x="863" y="39"/>
                      </a:lnTo>
                      <a:lnTo>
                        <a:pt x="803" y="13"/>
                      </a:lnTo>
                      <a:lnTo>
                        <a:pt x="763" y="39"/>
                      </a:lnTo>
                      <a:lnTo>
                        <a:pt x="784" y="4"/>
                      </a:lnTo>
                      <a:lnTo>
                        <a:pt x="752" y="0"/>
                      </a:lnTo>
                      <a:lnTo>
                        <a:pt x="731" y="39"/>
                      </a:lnTo>
                      <a:lnTo>
                        <a:pt x="720" y="41"/>
                      </a:lnTo>
                      <a:lnTo>
                        <a:pt x="720" y="8"/>
                      </a:lnTo>
                      <a:lnTo>
                        <a:pt x="665" y="63"/>
                      </a:lnTo>
                      <a:lnTo>
                        <a:pt x="694" y="14"/>
                      </a:lnTo>
                      <a:lnTo>
                        <a:pt x="665" y="6"/>
                      </a:lnTo>
                      <a:lnTo>
                        <a:pt x="606" y="66"/>
                      </a:lnTo>
                      <a:lnTo>
                        <a:pt x="550" y="47"/>
                      </a:lnTo>
                      <a:lnTo>
                        <a:pt x="565" y="81"/>
                      </a:lnTo>
                      <a:lnTo>
                        <a:pt x="542" y="63"/>
                      </a:lnTo>
                      <a:lnTo>
                        <a:pt x="503" y="105"/>
                      </a:lnTo>
                      <a:lnTo>
                        <a:pt x="507" y="70"/>
                      </a:lnTo>
                      <a:lnTo>
                        <a:pt x="487" y="99"/>
                      </a:lnTo>
                      <a:lnTo>
                        <a:pt x="469" y="79"/>
                      </a:lnTo>
                      <a:lnTo>
                        <a:pt x="481" y="109"/>
                      </a:lnTo>
                      <a:lnTo>
                        <a:pt x="436" y="96"/>
                      </a:lnTo>
                      <a:lnTo>
                        <a:pt x="424" y="138"/>
                      </a:lnTo>
                      <a:lnTo>
                        <a:pt x="382" y="153"/>
                      </a:lnTo>
                      <a:lnTo>
                        <a:pt x="421" y="156"/>
                      </a:lnTo>
                      <a:lnTo>
                        <a:pt x="352" y="176"/>
                      </a:lnTo>
                      <a:lnTo>
                        <a:pt x="340" y="205"/>
                      </a:lnTo>
                      <a:lnTo>
                        <a:pt x="360" y="205"/>
                      </a:lnTo>
                      <a:lnTo>
                        <a:pt x="277" y="253"/>
                      </a:lnTo>
                      <a:lnTo>
                        <a:pt x="245" y="336"/>
                      </a:lnTo>
                      <a:lnTo>
                        <a:pt x="154" y="405"/>
                      </a:lnTo>
                      <a:lnTo>
                        <a:pt x="171" y="422"/>
                      </a:lnTo>
                      <a:lnTo>
                        <a:pt x="211" y="410"/>
                      </a:lnTo>
                      <a:lnTo>
                        <a:pt x="118" y="431"/>
                      </a:lnTo>
                      <a:lnTo>
                        <a:pt x="69" y="458"/>
                      </a:lnTo>
                      <a:lnTo>
                        <a:pt x="81" y="473"/>
                      </a:lnTo>
                      <a:lnTo>
                        <a:pt x="46" y="473"/>
                      </a:lnTo>
                      <a:lnTo>
                        <a:pt x="48" y="495"/>
                      </a:lnTo>
                      <a:lnTo>
                        <a:pt x="4" y="495"/>
                      </a:lnTo>
                      <a:lnTo>
                        <a:pt x="46" y="506"/>
                      </a:lnTo>
                      <a:lnTo>
                        <a:pt x="0" y="51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2" name="16300388.125352.547.755">
                  <a:extLst>
                    <a:ext uri="{FF2B5EF4-FFF2-40B4-BE49-F238E27FC236}">
                      <a16:creationId xmlns:a16="http://schemas.microsoft.com/office/drawing/2014/main" id="{FDC1F0F3-C0DF-624B-6A0C-7368D1987A9A}"/>
                    </a:ext>
                  </a:extLst>
                </p:cNvPr>
                <p:cNvSpPr>
                  <a:spLocks/>
                </p:cNvSpPr>
                <p:nvPr/>
              </p:nvSpPr>
              <p:spPr bwMode="auto">
                <a:xfrm>
                  <a:off x="1895951" y="3911812"/>
                  <a:ext cx="95236" cy="48465"/>
                </a:xfrm>
                <a:custGeom>
                  <a:avLst/>
                  <a:gdLst>
                    <a:gd name="T0" fmla="*/ 0 w 189"/>
                    <a:gd name="T1" fmla="*/ 1 h 84"/>
                    <a:gd name="T2" fmla="*/ 0 w 189"/>
                    <a:gd name="T3" fmla="*/ 0 h 84"/>
                    <a:gd name="T4" fmla="*/ 0 w 189"/>
                    <a:gd name="T5" fmla="*/ 1 h 84"/>
                    <a:gd name="T6" fmla="*/ 0 w 189"/>
                    <a:gd name="T7" fmla="*/ 1 h 84"/>
                    <a:gd name="T8" fmla="*/ 0 w 189"/>
                    <a:gd name="T9" fmla="*/ 1 h 84"/>
                    <a:gd name="T10" fmla="*/ 0 w 189"/>
                    <a:gd name="T11" fmla="*/ 1 h 84"/>
                    <a:gd name="T12" fmla="*/ 0 w 189"/>
                    <a:gd name="T13" fmla="*/ 1 h 84"/>
                    <a:gd name="T14" fmla="*/ 0 w 189"/>
                    <a:gd name="T15" fmla="*/ 1 h 84"/>
                    <a:gd name="T16" fmla="*/ 0 w 189"/>
                    <a:gd name="T17" fmla="*/ 1 h 84"/>
                    <a:gd name="T18" fmla="*/ 0 w 189"/>
                    <a:gd name="T19" fmla="*/ 1 h 84"/>
                    <a:gd name="T20" fmla="*/ 0 w 189"/>
                    <a:gd name="T21" fmla="*/ 1 h 84"/>
                    <a:gd name="T22" fmla="*/ 0 w 189"/>
                    <a:gd name="T23" fmla="*/ 1 h 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9"/>
                    <a:gd name="T37" fmla="*/ 0 h 84"/>
                    <a:gd name="T38" fmla="*/ 189 w 189"/>
                    <a:gd name="T39" fmla="*/ 84 h 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9" h="84">
                      <a:moveTo>
                        <a:pt x="0" y="45"/>
                      </a:moveTo>
                      <a:lnTo>
                        <a:pt x="15" y="0"/>
                      </a:lnTo>
                      <a:lnTo>
                        <a:pt x="55" y="27"/>
                      </a:lnTo>
                      <a:lnTo>
                        <a:pt x="127" y="1"/>
                      </a:lnTo>
                      <a:lnTo>
                        <a:pt x="189" y="33"/>
                      </a:lnTo>
                      <a:lnTo>
                        <a:pt x="172" y="81"/>
                      </a:lnTo>
                      <a:lnTo>
                        <a:pt x="167" y="41"/>
                      </a:lnTo>
                      <a:lnTo>
                        <a:pt x="127" y="26"/>
                      </a:lnTo>
                      <a:lnTo>
                        <a:pt x="88" y="51"/>
                      </a:lnTo>
                      <a:lnTo>
                        <a:pt x="98" y="73"/>
                      </a:lnTo>
                      <a:lnTo>
                        <a:pt x="81" y="84"/>
                      </a:lnTo>
                      <a:lnTo>
                        <a:pt x="0" y="4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3" name="16301407.875663.512.62513.755">
                  <a:extLst>
                    <a:ext uri="{FF2B5EF4-FFF2-40B4-BE49-F238E27FC236}">
                      <a16:creationId xmlns:a16="http://schemas.microsoft.com/office/drawing/2014/main" id="{2BBAC830-AB7F-6847-C255-54080F0BF5B2}"/>
                    </a:ext>
                  </a:extLst>
                </p:cNvPr>
                <p:cNvSpPr>
                  <a:spLocks/>
                </p:cNvSpPr>
                <p:nvPr/>
              </p:nvSpPr>
              <p:spPr bwMode="auto">
                <a:xfrm>
                  <a:off x="5168250" y="4112976"/>
                  <a:ext cx="167169" cy="148858"/>
                </a:xfrm>
                <a:custGeom>
                  <a:avLst/>
                  <a:gdLst>
                    <a:gd name="T0" fmla="*/ 0 w 331"/>
                    <a:gd name="T1" fmla="*/ 0 h 259"/>
                    <a:gd name="T2" fmla="*/ 0 w 331"/>
                    <a:gd name="T3" fmla="*/ 0 h 259"/>
                    <a:gd name="T4" fmla="*/ 0 w 331"/>
                    <a:gd name="T5" fmla="*/ 0 h 259"/>
                    <a:gd name="T6" fmla="*/ 0 w 331"/>
                    <a:gd name="T7" fmla="*/ 0 h 259"/>
                    <a:gd name="T8" fmla="*/ 0 w 331"/>
                    <a:gd name="T9" fmla="*/ 0 h 259"/>
                    <a:gd name="T10" fmla="*/ 0 w 331"/>
                    <a:gd name="T11" fmla="*/ 0 h 259"/>
                    <a:gd name="T12" fmla="*/ 0 w 331"/>
                    <a:gd name="T13" fmla="*/ 0 h 259"/>
                    <a:gd name="T14" fmla="*/ 0 w 331"/>
                    <a:gd name="T15" fmla="*/ 0 h 259"/>
                    <a:gd name="T16" fmla="*/ 0 w 331"/>
                    <a:gd name="T17" fmla="*/ 0 h 259"/>
                    <a:gd name="T18" fmla="*/ 0 w 331"/>
                    <a:gd name="T19" fmla="*/ 0 h 259"/>
                    <a:gd name="T20" fmla="*/ 0 w 331"/>
                    <a:gd name="T21" fmla="*/ 0 h 259"/>
                    <a:gd name="T22" fmla="*/ 0 w 331"/>
                    <a:gd name="T23" fmla="*/ 0 h 2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1"/>
                    <a:gd name="T37" fmla="*/ 0 h 259"/>
                    <a:gd name="T38" fmla="*/ 331 w 331"/>
                    <a:gd name="T39" fmla="*/ 259 h 2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1" h="259">
                      <a:moveTo>
                        <a:pt x="0" y="0"/>
                      </a:moveTo>
                      <a:lnTo>
                        <a:pt x="5" y="216"/>
                      </a:lnTo>
                      <a:lnTo>
                        <a:pt x="59" y="223"/>
                      </a:lnTo>
                      <a:lnTo>
                        <a:pt x="112" y="164"/>
                      </a:lnTo>
                      <a:lnTo>
                        <a:pt x="171" y="190"/>
                      </a:lnTo>
                      <a:lnTo>
                        <a:pt x="226" y="248"/>
                      </a:lnTo>
                      <a:lnTo>
                        <a:pt x="331" y="259"/>
                      </a:lnTo>
                      <a:lnTo>
                        <a:pt x="211" y="162"/>
                      </a:lnTo>
                      <a:lnTo>
                        <a:pt x="220" y="116"/>
                      </a:lnTo>
                      <a:lnTo>
                        <a:pt x="163" y="99"/>
                      </a:lnTo>
                      <a:lnTo>
                        <a:pt x="111" y="40"/>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4" name="16302410.5673.6253.3755.6255">
                  <a:extLst>
                    <a:ext uri="{FF2B5EF4-FFF2-40B4-BE49-F238E27FC236}">
                      <a16:creationId xmlns:a16="http://schemas.microsoft.com/office/drawing/2014/main" id="{C77F9F2B-5BBE-D970-7D15-B25A3E3C776C}"/>
                    </a:ext>
                  </a:extLst>
                </p:cNvPr>
                <p:cNvSpPr>
                  <a:spLocks/>
                </p:cNvSpPr>
                <p:nvPr/>
              </p:nvSpPr>
              <p:spPr bwMode="auto">
                <a:xfrm>
                  <a:off x="5290840" y="4144133"/>
                  <a:ext cx="68894" cy="39234"/>
                </a:xfrm>
                <a:custGeom>
                  <a:avLst/>
                  <a:gdLst>
                    <a:gd name="T0" fmla="*/ 0 w 137"/>
                    <a:gd name="T1" fmla="*/ 1 h 67"/>
                    <a:gd name="T2" fmla="*/ 0 w 137"/>
                    <a:gd name="T3" fmla="*/ 1 h 67"/>
                    <a:gd name="T4" fmla="*/ 0 w 137"/>
                    <a:gd name="T5" fmla="*/ 1 h 67"/>
                    <a:gd name="T6" fmla="*/ 0 w 137"/>
                    <a:gd name="T7" fmla="*/ 0 h 67"/>
                    <a:gd name="T8" fmla="*/ 0 w 137"/>
                    <a:gd name="T9" fmla="*/ 1 h 67"/>
                    <a:gd name="T10" fmla="*/ 0 w 137"/>
                    <a:gd name="T11" fmla="*/ 1 h 67"/>
                    <a:gd name="T12" fmla="*/ 0 60000 65536"/>
                    <a:gd name="T13" fmla="*/ 0 60000 65536"/>
                    <a:gd name="T14" fmla="*/ 0 60000 65536"/>
                    <a:gd name="T15" fmla="*/ 0 60000 65536"/>
                    <a:gd name="T16" fmla="*/ 0 60000 65536"/>
                    <a:gd name="T17" fmla="*/ 0 60000 65536"/>
                    <a:gd name="T18" fmla="*/ 0 w 137"/>
                    <a:gd name="T19" fmla="*/ 0 h 67"/>
                    <a:gd name="T20" fmla="*/ 137 w 137"/>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37" h="67">
                      <a:moveTo>
                        <a:pt x="0" y="44"/>
                      </a:moveTo>
                      <a:lnTo>
                        <a:pt x="81" y="67"/>
                      </a:lnTo>
                      <a:lnTo>
                        <a:pt x="137" y="21"/>
                      </a:lnTo>
                      <a:lnTo>
                        <a:pt x="115" y="0"/>
                      </a:lnTo>
                      <a:lnTo>
                        <a:pt x="97" y="26"/>
                      </a:lnTo>
                      <a:lnTo>
                        <a:pt x="0" y="4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5" name="16303408.1256773.2535">
                  <a:extLst>
                    <a:ext uri="{FF2B5EF4-FFF2-40B4-BE49-F238E27FC236}">
                      <a16:creationId xmlns:a16="http://schemas.microsoft.com/office/drawing/2014/main" id="{166C2358-CA10-1BA0-0CCB-85E121F2E7F9}"/>
                    </a:ext>
                  </a:extLst>
                </p:cNvPr>
                <p:cNvSpPr>
                  <a:spLocks/>
                </p:cNvSpPr>
                <p:nvPr/>
              </p:nvSpPr>
              <p:spPr bwMode="auto">
                <a:xfrm>
                  <a:off x="5333392" y="4115285"/>
                  <a:ext cx="36474" cy="38080"/>
                </a:xfrm>
                <a:custGeom>
                  <a:avLst/>
                  <a:gdLst>
                    <a:gd name="T0" fmla="*/ 0 w 73"/>
                    <a:gd name="T1" fmla="*/ 0 h 66"/>
                    <a:gd name="T2" fmla="*/ 0 w 73"/>
                    <a:gd name="T3" fmla="*/ 1 h 66"/>
                    <a:gd name="T4" fmla="*/ 0 w 73"/>
                    <a:gd name="T5" fmla="*/ 1 h 66"/>
                    <a:gd name="T6" fmla="*/ 0 w 73"/>
                    <a:gd name="T7" fmla="*/ 1 h 66"/>
                    <a:gd name="T8" fmla="*/ 0 w 73"/>
                    <a:gd name="T9" fmla="*/ 0 h 66"/>
                    <a:gd name="T10" fmla="*/ 0 60000 65536"/>
                    <a:gd name="T11" fmla="*/ 0 60000 65536"/>
                    <a:gd name="T12" fmla="*/ 0 60000 65536"/>
                    <a:gd name="T13" fmla="*/ 0 60000 65536"/>
                    <a:gd name="T14" fmla="*/ 0 60000 65536"/>
                    <a:gd name="T15" fmla="*/ 0 w 73"/>
                    <a:gd name="T16" fmla="*/ 0 h 66"/>
                    <a:gd name="T17" fmla="*/ 73 w 73"/>
                    <a:gd name="T18" fmla="*/ 66 h 66"/>
                  </a:gdLst>
                  <a:ahLst/>
                  <a:cxnLst>
                    <a:cxn ang="T10">
                      <a:pos x="T0" y="T1"/>
                    </a:cxn>
                    <a:cxn ang="T11">
                      <a:pos x="T2" y="T3"/>
                    </a:cxn>
                    <a:cxn ang="T12">
                      <a:pos x="T4" y="T5"/>
                    </a:cxn>
                    <a:cxn ang="T13">
                      <a:pos x="T6" y="T7"/>
                    </a:cxn>
                    <a:cxn ang="T14">
                      <a:pos x="T8" y="T9"/>
                    </a:cxn>
                  </a:cxnLst>
                  <a:rect l="T15" t="T16" r="T17" b="T18"/>
                  <a:pathLst>
                    <a:path w="73" h="66">
                      <a:moveTo>
                        <a:pt x="0" y="0"/>
                      </a:moveTo>
                      <a:lnTo>
                        <a:pt x="55" y="30"/>
                      </a:lnTo>
                      <a:lnTo>
                        <a:pt x="73" y="66"/>
                      </a:lnTo>
                      <a:lnTo>
                        <a:pt x="72" y="40"/>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6" name="16304435.125380.7513.7511.3755">
                  <a:extLst>
                    <a:ext uri="{FF2B5EF4-FFF2-40B4-BE49-F238E27FC236}">
                      <a16:creationId xmlns:a16="http://schemas.microsoft.com/office/drawing/2014/main" id="{40A72743-CC7D-6ABB-088E-9567FB087C10}"/>
                    </a:ext>
                  </a:extLst>
                </p:cNvPr>
                <p:cNvSpPr>
                  <a:spLocks/>
                </p:cNvSpPr>
                <p:nvPr/>
              </p:nvSpPr>
              <p:spPr bwMode="auto">
                <a:xfrm>
                  <a:off x="2240422" y="4469165"/>
                  <a:ext cx="138801" cy="163859"/>
                </a:xfrm>
                <a:custGeom>
                  <a:avLst/>
                  <a:gdLst>
                    <a:gd name="T0" fmla="*/ 0 w 272"/>
                    <a:gd name="T1" fmla="*/ 1 h 283"/>
                    <a:gd name="T2" fmla="*/ 1 w 272"/>
                    <a:gd name="T3" fmla="*/ 1 h 283"/>
                    <a:gd name="T4" fmla="*/ 1 w 272"/>
                    <a:gd name="T5" fmla="*/ 0 h 283"/>
                    <a:gd name="T6" fmla="*/ 1 w 272"/>
                    <a:gd name="T7" fmla="*/ 1 h 283"/>
                    <a:gd name="T8" fmla="*/ 1 w 272"/>
                    <a:gd name="T9" fmla="*/ 1 h 283"/>
                    <a:gd name="T10" fmla="*/ 1 w 272"/>
                    <a:gd name="T11" fmla="*/ 1 h 283"/>
                    <a:gd name="T12" fmla="*/ 1 w 272"/>
                    <a:gd name="T13" fmla="*/ 1 h 283"/>
                    <a:gd name="T14" fmla="*/ 1 w 272"/>
                    <a:gd name="T15" fmla="*/ 1 h 283"/>
                    <a:gd name="T16" fmla="*/ 1 w 272"/>
                    <a:gd name="T17" fmla="*/ 1 h 283"/>
                    <a:gd name="T18" fmla="*/ 1 w 272"/>
                    <a:gd name="T19" fmla="*/ 1 h 283"/>
                    <a:gd name="T20" fmla="*/ 1 w 272"/>
                    <a:gd name="T21" fmla="*/ 1 h 283"/>
                    <a:gd name="T22" fmla="*/ 1 w 272"/>
                    <a:gd name="T23" fmla="*/ 1 h 283"/>
                    <a:gd name="T24" fmla="*/ 0 w 272"/>
                    <a:gd name="T25" fmla="*/ 1 h 28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2"/>
                    <a:gd name="T40" fmla="*/ 0 h 283"/>
                    <a:gd name="T41" fmla="*/ 272 w 272"/>
                    <a:gd name="T42" fmla="*/ 283 h 28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2" h="283">
                      <a:moveTo>
                        <a:pt x="0" y="106"/>
                      </a:moveTo>
                      <a:lnTo>
                        <a:pt x="21" y="16"/>
                      </a:lnTo>
                      <a:lnTo>
                        <a:pt x="118" y="0"/>
                      </a:lnTo>
                      <a:lnTo>
                        <a:pt x="151" y="30"/>
                      </a:lnTo>
                      <a:lnTo>
                        <a:pt x="159" y="97"/>
                      </a:lnTo>
                      <a:lnTo>
                        <a:pt x="228" y="108"/>
                      </a:lnTo>
                      <a:lnTo>
                        <a:pt x="238" y="155"/>
                      </a:lnTo>
                      <a:lnTo>
                        <a:pt x="272" y="164"/>
                      </a:lnTo>
                      <a:lnTo>
                        <a:pt x="267" y="223"/>
                      </a:lnTo>
                      <a:lnTo>
                        <a:pt x="232" y="283"/>
                      </a:lnTo>
                      <a:lnTo>
                        <a:pt x="142" y="279"/>
                      </a:lnTo>
                      <a:lnTo>
                        <a:pt x="161" y="212"/>
                      </a:lnTo>
                      <a:lnTo>
                        <a:pt x="0" y="10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7" name="16305404354.7529.37517.3755">
                  <a:extLst>
                    <a:ext uri="{FF2B5EF4-FFF2-40B4-BE49-F238E27FC236}">
                      <a16:creationId xmlns:a16="http://schemas.microsoft.com/office/drawing/2014/main" id="{1C6826D6-D441-F9B0-4271-323FA4BBD6A1}"/>
                    </a:ext>
                  </a:extLst>
                </p:cNvPr>
                <p:cNvSpPr>
                  <a:spLocks/>
                </p:cNvSpPr>
                <p:nvPr/>
              </p:nvSpPr>
              <p:spPr bwMode="auto">
                <a:xfrm>
                  <a:off x="1924320" y="4099904"/>
                  <a:ext cx="211748" cy="348490"/>
                </a:xfrm>
                <a:custGeom>
                  <a:avLst/>
                  <a:gdLst>
                    <a:gd name="T0" fmla="*/ 0 w 419"/>
                    <a:gd name="T1" fmla="*/ 1 h 604"/>
                    <a:gd name="T2" fmla="*/ 0 w 419"/>
                    <a:gd name="T3" fmla="*/ 1 h 604"/>
                    <a:gd name="T4" fmla="*/ 0 w 419"/>
                    <a:gd name="T5" fmla="*/ 1 h 604"/>
                    <a:gd name="T6" fmla="*/ 0 w 419"/>
                    <a:gd name="T7" fmla="*/ 1 h 604"/>
                    <a:gd name="T8" fmla="*/ 0 w 419"/>
                    <a:gd name="T9" fmla="*/ 1 h 604"/>
                    <a:gd name="T10" fmla="*/ 0 w 419"/>
                    <a:gd name="T11" fmla="*/ 1 h 604"/>
                    <a:gd name="T12" fmla="*/ 0 w 419"/>
                    <a:gd name="T13" fmla="*/ 1 h 604"/>
                    <a:gd name="T14" fmla="*/ 0 w 419"/>
                    <a:gd name="T15" fmla="*/ 1 h 604"/>
                    <a:gd name="T16" fmla="*/ 0 w 419"/>
                    <a:gd name="T17" fmla="*/ 1 h 604"/>
                    <a:gd name="T18" fmla="*/ 0 w 419"/>
                    <a:gd name="T19" fmla="*/ 1 h 604"/>
                    <a:gd name="T20" fmla="*/ 0 w 419"/>
                    <a:gd name="T21" fmla="*/ 1 h 604"/>
                    <a:gd name="T22" fmla="*/ 0 w 419"/>
                    <a:gd name="T23" fmla="*/ 1 h 604"/>
                    <a:gd name="T24" fmla="*/ 0 w 419"/>
                    <a:gd name="T25" fmla="*/ 1 h 604"/>
                    <a:gd name="T26" fmla="*/ 0 w 419"/>
                    <a:gd name="T27" fmla="*/ 1 h 604"/>
                    <a:gd name="T28" fmla="*/ 0 w 419"/>
                    <a:gd name="T29" fmla="*/ 1 h 604"/>
                    <a:gd name="T30" fmla="*/ 0 w 419"/>
                    <a:gd name="T31" fmla="*/ 1 h 604"/>
                    <a:gd name="T32" fmla="*/ 0 w 419"/>
                    <a:gd name="T33" fmla="*/ 1 h 604"/>
                    <a:gd name="T34" fmla="*/ 0 w 419"/>
                    <a:gd name="T35" fmla="*/ 1 h 604"/>
                    <a:gd name="T36" fmla="*/ 0 w 419"/>
                    <a:gd name="T37" fmla="*/ 1 h 604"/>
                    <a:gd name="T38" fmla="*/ 0 w 419"/>
                    <a:gd name="T39" fmla="*/ 1 h 604"/>
                    <a:gd name="T40" fmla="*/ 0 w 419"/>
                    <a:gd name="T41" fmla="*/ 1 h 604"/>
                    <a:gd name="T42" fmla="*/ 0 w 419"/>
                    <a:gd name="T43" fmla="*/ 0 h 604"/>
                    <a:gd name="T44" fmla="*/ 0 w 419"/>
                    <a:gd name="T45" fmla="*/ 1 h 604"/>
                    <a:gd name="T46" fmla="*/ 0 w 419"/>
                    <a:gd name="T47" fmla="*/ 1 h 604"/>
                    <a:gd name="T48" fmla="*/ 0 w 419"/>
                    <a:gd name="T49" fmla="*/ 1 h 604"/>
                    <a:gd name="T50" fmla="*/ 0 w 419"/>
                    <a:gd name="T51" fmla="*/ 1 h 604"/>
                    <a:gd name="T52" fmla="*/ 0 w 419"/>
                    <a:gd name="T53" fmla="*/ 1 h 604"/>
                    <a:gd name="T54" fmla="*/ 0 w 419"/>
                    <a:gd name="T55" fmla="*/ 1 h 60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19"/>
                    <a:gd name="T85" fmla="*/ 0 h 604"/>
                    <a:gd name="T86" fmla="*/ 419 w 419"/>
                    <a:gd name="T87" fmla="*/ 604 h 60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19" h="604">
                      <a:moveTo>
                        <a:pt x="0" y="142"/>
                      </a:moveTo>
                      <a:lnTo>
                        <a:pt x="8" y="190"/>
                      </a:lnTo>
                      <a:lnTo>
                        <a:pt x="83" y="274"/>
                      </a:lnTo>
                      <a:lnTo>
                        <a:pt x="167" y="472"/>
                      </a:lnTo>
                      <a:lnTo>
                        <a:pt x="358" y="604"/>
                      </a:lnTo>
                      <a:lnTo>
                        <a:pt x="391" y="580"/>
                      </a:lnTo>
                      <a:lnTo>
                        <a:pt x="409" y="538"/>
                      </a:lnTo>
                      <a:lnTo>
                        <a:pt x="380" y="523"/>
                      </a:lnTo>
                      <a:lnTo>
                        <a:pt x="398" y="512"/>
                      </a:lnTo>
                      <a:lnTo>
                        <a:pt x="419" y="408"/>
                      </a:lnTo>
                      <a:lnTo>
                        <a:pt x="389" y="360"/>
                      </a:lnTo>
                      <a:lnTo>
                        <a:pt x="360" y="360"/>
                      </a:lnTo>
                      <a:lnTo>
                        <a:pt x="360" y="305"/>
                      </a:lnTo>
                      <a:lnTo>
                        <a:pt x="324" y="329"/>
                      </a:lnTo>
                      <a:lnTo>
                        <a:pt x="279" y="308"/>
                      </a:lnTo>
                      <a:lnTo>
                        <a:pt x="250" y="246"/>
                      </a:lnTo>
                      <a:lnTo>
                        <a:pt x="296" y="169"/>
                      </a:lnTo>
                      <a:lnTo>
                        <a:pt x="380" y="135"/>
                      </a:lnTo>
                      <a:lnTo>
                        <a:pt x="357" y="121"/>
                      </a:lnTo>
                      <a:lnTo>
                        <a:pt x="371" y="81"/>
                      </a:lnTo>
                      <a:lnTo>
                        <a:pt x="276" y="74"/>
                      </a:lnTo>
                      <a:lnTo>
                        <a:pt x="203" y="0"/>
                      </a:lnTo>
                      <a:lnTo>
                        <a:pt x="187" y="55"/>
                      </a:lnTo>
                      <a:lnTo>
                        <a:pt x="111" y="100"/>
                      </a:lnTo>
                      <a:lnTo>
                        <a:pt x="72" y="158"/>
                      </a:lnTo>
                      <a:lnTo>
                        <a:pt x="29" y="148"/>
                      </a:lnTo>
                      <a:lnTo>
                        <a:pt x="34" y="114"/>
                      </a:lnTo>
                      <a:lnTo>
                        <a:pt x="0" y="14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8" name="16306332454.8759.1254.3755">
                  <a:extLst>
                    <a:ext uri="{FF2B5EF4-FFF2-40B4-BE49-F238E27FC236}">
                      <a16:creationId xmlns:a16="http://schemas.microsoft.com/office/drawing/2014/main" id="{D687BA55-03E8-8650-EC4A-4B8AB98B60B9}"/>
                    </a:ext>
                  </a:extLst>
                </p:cNvPr>
                <p:cNvSpPr>
                  <a:spLocks/>
                </p:cNvSpPr>
                <p:nvPr/>
              </p:nvSpPr>
              <p:spPr bwMode="auto">
                <a:xfrm>
                  <a:off x="2625251" y="3212906"/>
                  <a:ext cx="53696" cy="107316"/>
                </a:xfrm>
                <a:custGeom>
                  <a:avLst/>
                  <a:gdLst>
                    <a:gd name="T0" fmla="*/ 0 w 104"/>
                    <a:gd name="T1" fmla="*/ 1 h 185"/>
                    <a:gd name="T2" fmla="*/ 1 w 104"/>
                    <a:gd name="T3" fmla="*/ 0 h 185"/>
                    <a:gd name="T4" fmla="*/ 1 w 104"/>
                    <a:gd name="T5" fmla="*/ 1 h 185"/>
                    <a:gd name="T6" fmla="*/ 1 w 104"/>
                    <a:gd name="T7" fmla="*/ 1 h 185"/>
                    <a:gd name="T8" fmla="*/ 1 w 104"/>
                    <a:gd name="T9" fmla="*/ 1 h 185"/>
                    <a:gd name="T10" fmla="*/ 1 w 104"/>
                    <a:gd name="T11" fmla="*/ 1 h 185"/>
                    <a:gd name="T12" fmla="*/ 1 w 104"/>
                    <a:gd name="T13" fmla="*/ 1 h 185"/>
                    <a:gd name="T14" fmla="*/ 0 w 104"/>
                    <a:gd name="T15" fmla="*/ 1 h 185"/>
                    <a:gd name="T16" fmla="*/ 0 60000 65536"/>
                    <a:gd name="T17" fmla="*/ 0 60000 65536"/>
                    <a:gd name="T18" fmla="*/ 0 60000 65536"/>
                    <a:gd name="T19" fmla="*/ 0 60000 65536"/>
                    <a:gd name="T20" fmla="*/ 0 60000 65536"/>
                    <a:gd name="T21" fmla="*/ 0 60000 65536"/>
                    <a:gd name="T22" fmla="*/ 0 60000 65536"/>
                    <a:gd name="T23" fmla="*/ 0 60000 65536"/>
                    <a:gd name="T24" fmla="*/ 0 w 104"/>
                    <a:gd name="T25" fmla="*/ 0 h 185"/>
                    <a:gd name="T26" fmla="*/ 104 w 104"/>
                    <a:gd name="T27" fmla="*/ 185 h 1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4" h="185">
                      <a:moveTo>
                        <a:pt x="0" y="121"/>
                      </a:moveTo>
                      <a:lnTo>
                        <a:pt x="18" y="0"/>
                      </a:lnTo>
                      <a:lnTo>
                        <a:pt x="104" y="8"/>
                      </a:lnTo>
                      <a:lnTo>
                        <a:pt x="66" y="85"/>
                      </a:lnTo>
                      <a:lnTo>
                        <a:pt x="66" y="180"/>
                      </a:lnTo>
                      <a:lnTo>
                        <a:pt x="15" y="185"/>
                      </a:lnTo>
                      <a:lnTo>
                        <a:pt x="22" y="127"/>
                      </a:lnTo>
                      <a:lnTo>
                        <a:pt x="0" y="12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9" name="16310268.375534.51.8752.755">
                  <a:extLst>
                    <a:ext uri="{FF2B5EF4-FFF2-40B4-BE49-F238E27FC236}">
                      <a16:creationId xmlns:a16="http://schemas.microsoft.com/office/drawing/2014/main" id="{204B7B41-F6C4-F2DC-5693-468ECFBE19FA}"/>
                    </a:ext>
                  </a:extLst>
                </p:cNvPr>
                <p:cNvSpPr>
                  <a:spLocks/>
                </p:cNvSpPr>
                <p:nvPr/>
              </p:nvSpPr>
              <p:spPr bwMode="auto">
                <a:xfrm>
                  <a:off x="3595846" y="2458230"/>
                  <a:ext cx="33434" cy="21924"/>
                </a:xfrm>
                <a:custGeom>
                  <a:avLst/>
                  <a:gdLst>
                    <a:gd name="T0" fmla="*/ 0 w 66"/>
                    <a:gd name="T1" fmla="*/ 1 h 38"/>
                    <a:gd name="T2" fmla="*/ 1 w 66"/>
                    <a:gd name="T3" fmla="*/ 0 h 38"/>
                    <a:gd name="T4" fmla="*/ 1 w 66"/>
                    <a:gd name="T5" fmla="*/ 1 h 38"/>
                    <a:gd name="T6" fmla="*/ 0 w 66"/>
                    <a:gd name="T7" fmla="*/ 1 h 38"/>
                    <a:gd name="T8" fmla="*/ 0 60000 65536"/>
                    <a:gd name="T9" fmla="*/ 0 60000 65536"/>
                    <a:gd name="T10" fmla="*/ 0 60000 65536"/>
                    <a:gd name="T11" fmla="*/ 0 60000 65536"/>
                    <a:gd name="T12" fmla="*/ 0 w 66"/>
                    <a:gd name="T13" fmla="*/ 0 h 38"/>
                    <a:gd name="T14" fmla="*/ 66 w 66"/>
                    <a:gd name="T15" fmla="*/ 38 h 38"/>
                  </a:gdLst>
                  <a:ahLst/>
                  <a:cxnLst>
                    <a:cxn ang="T8">
                      <a:pos x="T0" y="T1"/>
                    </a:cxn>
                    <a:cxn ang="T9">
                      <a:pos x="T2" y="T3"/>
                    </a:cxn>
                    <a:cxn ang="T10">
                      <a:pos x="T4" y="T5"/>
                    </a:cxn>
                    <a:cxn ang="T11">
                      <a:pos x="T6" y="T7"/>
                    </a:cxn>
                  </a:cxnLst>
                  <a:rect l="T12" t="T13" r="T14" b="T15"/>
                  <a:pathLst>
                    <a:path w="66" h="38">
                      <a:moveTo>
                        <a:pt x="0" y="38"/>
                      </a:moveTo>
                      <a:lnTo>
                        <a:pt x="19" y="0"/>
                      </a:lnTo>
                      <a:lnTo>
                        <a:pt x="66" y="21"/>
                      </a:lnTo>
                      <a:lnTo>
                        <a:pt x="0" y="3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0" name="16311257.375539.1257.58.55">
                  <a:extLst>
                    <a:ext uri="{FF2B5EF4-FFF2-40B4-BE49-F238E27FC236}">
                      <a16:creationId xmlns:a16="http://schemas.microsoft.com/office/drawing/2014/main" id="{628707F3-2A2D-DB39-3F60-828C2FE10BD8}"/>
                    </a:ext>
                  </a:extLst>
                </p:cNvPr>
                <p:cNvSpPr>
                  <a:spLocks/>
                </p:cNvSpPr>
                <p:nvPr/>
              </p:nvSpPr>
              <p:spPr bwMode="auto">
                <a:xfrm>
                  <a:off x="3652583" y="2326680"/>
                  <a:ext cx="103342" cy="88853"/>
                </a:xfrm>
                <a:custGeom>
                  <a:avLst/>
                  <a:gdLst>
                    <a:gd name="T0" fmla="*/ 0 w 203"/>
                    <a:gd name="T1" fmla="*/ 1 h 154"/>
                    <a:gd name="T2" fmla="*/ 1 w 203"/>
                    <a:gd name="T3" fmla="*/ 1 h 154"/>
                    <a:gd name="T4" fmla="*/ 1 w 203"/>
                    <a:gd name="T5" fmla="*/ 1 h 154"/>
                    <a:gd name="T6" fmla="*/ 1 w 203"/>
                    <a:gd name="T7" fmla="*/ 1 h 154"/>
                    <a:gd name="T8" fmla="*/ 1 w 203"/>
                    <a:gd name="T9" fmla="*/ 1 h 154"/>
                    <a:gd name="T10" fmla="*/ 1 w 203"/>
                    <a:gd name="T11" fmla="*/ 1 h 154"/>
                    <a:gd name="T12" fmla="*/ 1 w 203"/>
                    <a:gd name="T13" fmla="*/ 1 h 154"/>
                    <a:gd name="T14" fmla="*/ 1 w 203"/>
                    <a:gd name="T15" fmla="*/ 1 h 154"/>
                    <a:gd name="T16" fmla="*/ 1 w 203"/>
                    <a:gd name="T17" fmla="*/ 1 h 154"/>
                    <a:gd name="T18" fmla="*/ 1 w 203"/>
                    <a:gd name="T19" fmla="*/ 1 h 154"/>
                    <a:gd name="T20" fmla="*/ 1 w 203"/>
                    <a:gd name="T21" fmla="*/ 0 h 154"/>
                    <a:gd name="T22" fmla="*/ 1 w 203"/>
                    <a:gd name="T23" fmla="*/ 1 h 154"/>
                    <a:gd name="T24" fmla="*/ 1 w 203"/>
                    <a:gd name="T25" fmla="*/ 1 h 154"/>
                    <a:gd name="T26" fmla="*/ 0 w 203"/>
                    <a:gd name="T27" fmla="*/ 1 h 1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3"/>
                    <a:gd name="T43" fmla="*/ 0 h 154"/>
                    <a:gd name="T44" fmla="*/ 203 w 203"/>
                    <a:gd name="T45" fmla="*/ 154 h 15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3" h="154">
                      <a:moveTo>
                        <a:pt x="0" y="76"/>
                      </a:moveTo>
                      <a:lnTo>
                        <a:pt x="16" y="109"/>
                      </a:lnTo>
                      <a:lnTo>
                        <a:pt x="38" y="98"/>
                      </a:lnTo>
                      <a:lnTo>
                        <a:pt x="63" y="120"/>
                      </a:lnTo>
                      <a:lnTo>
                        <a:pt x="82" y="109"/>
                      </a:lnTo>
                      <a:lnTo>
                        <a:pt x="75" y="147"/>
                      </a:lnTo>
                      <a:lnTo>
                        <a:pt x="203" y="154"/>
                      </a:lnTo>
                      <a:lnTo>
                        <a:pt x="154" y="127"/>
                      </a:lnTo>
                      <a:lnTo>
                        <a:pt x="129" y="79"/>
                      </a:lnTo>
                      <a:lnTo>
                        <a:pt x="132" y="29"/>
                      </a:lnTo>
                      <a:lnTo>
                        <a:pt x="163" y="0"/>
                      </a:lnTo>
                      <a:lnTo>
                        <a:pt x="52" y="10"/>
                      </a:lnTo>
                      <a:lnTo>
                        <a:pt x="26" y="76"/>
                      </a:lnTo>
                      <a:lnTo>
                        <a:pt x="0" y="7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1" name="16318247.75657.2559.255">
                  <a:extLst>
                    <a:ext uri="{FF2B5EF4-FFF2-40B4-BE49-F238E27FC236}">
                      <a16:creationId xmlns:a16="http://schemas.microsoft.com/office/drawing/2014/main" id="{611D75D3-12BA-0EF5-E132-A05C9B57C3B5}"/>
                    </a:ext>
                  </a:extLst>
                </p:cNvPr>
                <p:cNvSpPr>
                  <a:spLocks/>
                </p:cNvSpPr>
                <p:nvPr/>
              </p:nvSpPr>
              <p:spPr bwMode="auto">
                <a:xfrm>
                  <a:off x="5092264" y="2212442"/>
                  <a:ext cx="112460" cy="60005"/>
                </a:xfrm>
                <a:custGeom>
                  <a:avLst/>
                  <a:gdLst>
                    <a:gd name="T0" fmla="*/ 0 w 223"/>
                    <a:gd name="T1" fmla="*/ 1 h 103"/>
                    <a:gd name="T2" fmla="*/ 0 w 223"/>
                    <a:gd name="T3" fmla="*/ 1 h 103"/>
                    <a:gd name="T4" fmla="*/ 0 w 223"/>
                    <a:gd name="T5" fmla="*/ 0 h 103"/>
                    <a:gd name="T6" fmla="*/ 0 w 223"/>
                    <a:gd name="T7" fmla="*/ 1 h 103"/>
                    <a:gd name="T8" fmla="*/ 0 w 223"/>
                    <a:gd name="T9" fmla="*/ 1 h 103"/>
                    <a:gd name="T10" fmla="*/ 0 w 223"/>
                    <a:gd name="T11" fmla="*/ 1 h 103"/>
                    <a:gd name="T12" fmla="*/ 0 w 223"/>
                    <a:gd name="T13" fmla="*/ 1 h 103"/>
                    <a:gd name="T14" fmla="*/ 0 w 223"/>
                    <a:gd name="T15" fmla="*/ 1 h 103"/>
                    <a:gd name="T16" fmla="*/ 0 w 223"/>
                    <a:gd name="T17" fmla="*/ 1 h 103"/>
                    <a:gd name="T18" fmla="*/ 0 w 223"/>
                    <a:gd name="T19" fmla="*/ 1 h 103"/>
                    <a:gd name="T20" fmla="*/ 0 w 223"/>
                    <a:gd name="T21" fmla="*/ 1 h 103"/>
                    <a:gd name="T22" fmla="*/ 0 w 223"/>
                    <a:gd name="T23" fmla="*/ 1 h 1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3"/>
                    <a:gd name="T37" fmla="*/ 0 h 103"/>
                    <a:gd name="T38" fmla="*/ 223 w 223"/>
                    <a:gd name="T39" fmla="*/ 103 h 10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3" h="103">
                      <a:moveTo>
                        <a:pt x="0" y="56"/>
                      </a:moveTo>
                      <a:lnTo>
                        <a:pt x="45" y="4"/>
                      </a:lnTo>
                      <a:lnTo>
                        <a:pt x="77" y="0"/>
                      </a:lnTo>
                      <a:lnTo>
                        <a:pt x="128" y="40"/>
                      </a:lnTo>
                      <a:lnTo>
                        <a:pt x="136" y="11"/>
                      </a:lnTo>
                      <a:lnTo>
                        <a:pt x="192" y="34"/>
                      </a:lnTo>
                      <a:lnTo>
                        <a:pt x="187" y="72"/>
                      </a:lnTo>
                      <a:lnTo>
                        <a:pt x="223" y="85"/>
                      </a:lnTo>
                      <a:lnTo>
                        <a:pt x="106" y="92"/>
                      </a:lnTo>
                      <a:lnTo>
                        <a:pt x="99" y="76"/>
                      </a:lnTo>
                      <a:lnTo>
                        <a:pt x="80" y="103"/>
                      </a:lnTo>
                      <a:lnTo>
                        <a:pt x="0" y="5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2" name="16319247.875663.753.3755.6255">
                  <a:extLst>
                    <a:ext uri="{FF2B5EF4-FFF2-40B4-BE49-F238E27FC236}">
                      <a16:creationId xmlns:a16="http://schemas.microsoft.com/office/drawing/2014/main" id="{4078F4BD-5525-525A-D5B9-7E3FF8526A37}"/>
                    </a:ext>
                  </a:extLst>
                </p:cNvPr>
                <p:cNvSpPr>
                  <a:spLocks/>
                </p:cNvSpPr>
                <p:nvPr/>
              </p:nvSpPr>
              <p:spPr bwMode="auto">
                <a:xfrm>
                  <a:off x="5171289" y="2214751"/>
                  <a:ext cx="68894" cy="40388"/>
                </a:xfrm>
                <a:custGeom>
                  <a:avLst/>
                  <a:gdLst>
                    <a:gd name="T0" fmla="*/ 0 w 138"/>
                    <a:gd name="T1" fmla="*/ 0 h 70"/>
                    <a:gd name="T2" fmla="*/ 0 w 138"/>
                    <a:gd name="T3" fmla="*/ 1 h 70"/>
                    <a:gd name="T4" fmla="*/ 0 w 138"/>
                    <a:gd name="T5" fmla="*/ 1 h 70"/>
                    <a:gd name="T6" fmla="*/ 0 w 138"/>
                    <a:gd name="T7" fmla="*/ 1 h 70"/>
                    <a:gd name="T8" fmla="*/ 0 w 138"/>
                    <a:gd name="T9" fmla="*/ 1 h 70"/>
                    <a:gd name="T10" fmla="*/ 0 w 138"/>
                    <a:gd name="T11" fmla="*/ 1 h 70"/>
                    <a:gd name="T12" fmla="*/ 0 w 138"/>
                    <a:gd name="T13" fmla="*/ 0 h 70"/>
                    <a:gd name="T14" fmla="*/ 0 60000 65536"/>
                    <a:gd name="T15" fmla="*/ 0 60000 65536"/>
                    <a:gd name="T16" fmla="*/ 0 60000 65536"/>
                    <a:gd name="T17" fmla="*/ 0 60000 65536"/>
                    <a:gd name="T18" fmla="*/ 0 60000 65536"/>
                    <a:gd name="T19" fmla="*/ 0 60000 65536"/>
                    <a:gd name="T20" fmla="*/ 0 60000 65536"/>
                    <a:gd name="T21" fmla="*/ 0 w 138"/>
                    <a:gd name="T22" fmla="*/ 0 h 70"/>
                    <a:gd name="T23" fmla="*/ 138 w 138"/>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70">
                      <a:moveTo>
                        <a:pt x="0" y="0"/>
                      </a:moveTo>
                      <a:lnTo>
                        <a:pt x="46" y="26"/>
                      </a:lnTo>
                      <a:lnTo>
                        <a:pt x="33" y="50"/>
                      </a:lnTo>
                      <a:lnTo>
                        <a:pt x="57" y="70"/>
                      </a:lnTo>
                      <a:lnTo>
                        <a:pt x="98" y="70"/>
                      </a:lnTo>
                      <a:lnTo>
                        <a:pt x="138" y="44"/>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3" name="16320306.25664.2517.6254.3755">
                  <a:extLst>
                    <a:ext uri="{FF2B5EF4-FFF2-40B4-BE49-F238E27FC236}">
                      <a16:creationId xmlns:a16="http://schemas.microsoft.com/office/drawing/2014/main" id="{7F25BE86-CE99-0C65-AAB3-C9C0D3A3DFDF}"/>
                    </a:ext>
                  </a:extLst>
                </p:cNvPr>
                <p:cNvSpPr>
                  <a:spLocks/>
                </p:cNvSpPr>
                <p:nvPr/>
              </p:nvSpPr>
              <p:spPr bwMode="auto">
                <a:xfrm>
                  <a:off x="5177369" y="2907113"/>
                  <a:ext cx="52683" cy="208863"/>
                </a:xfrm>
                <a:custGeom>
                  <a:avLst/>
                  <a:gdLst>
                    <a:gd name="T0" fmla="*/ 0 w 103"/>
                    <a:gd name="T1" fmla="*/ 0 h 363"/>
                    <a:gd name="T2" fmla="*/ 1 w 103"/>
                    <a:gd name="T3" fmla="*/ 0 h 363"/>
                    <a:gd name="T4" fmla="*/ 1 w 103"/>
                    <a:gd name="T5" fmla="*/ 0 h 363"/>
                    <a:gd name="T6" fmla="*/ 1 w 103"/>
                    <a:gd name="T7" fmla="*/ 0 h 363"/>
                    <a:gd name="T8" fmla="*/ 1 w 103"/>
                    <a:gd name="T9" fmla="*/ 0 h 363"/>
                    <a:gd name="T10" fmla="*/ 1 w 103"/>
                    <a:gd name="T11" fmla="*/ 0 h 363"/>
                    <a:gd name="T12" fmla="*/ 1 w 103"/>
                    <a:gd name="T13" fmla="*/ 0 h 363"/>
                    <a:gd name="T14" fmla="*/ 1 w 103"/>
                    <a:gd name="T15" fmla="*/ 0 h 363"/>
                    <a:gd name="T16" fmla="*/ 1 w 103"/>
                    <a:gd name="T17" fmla="*/ 0 h 363"/>
                    <a:gd name="T18" fmla="*/ 1 w 103"/>
                    <a:gd name="T19" fmla="*/ 0 h 363"/>
                    <a:gd name="T20" fmla="*/ 0 w 103"/>
                    <a:gd name="T21" fmla="*/ 0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
                    <a:gd name="T34" fmla="*/ 0 h 363"/>
                    <a:gd name="T35" fmla="*/ 103 w 103"/>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 h="363">
                      <a:moveTo>
                        <a:pt x="0" y="92"/>
                      </a:moveTo>
                      <a:lnTo>
                        <a:pt x="18" y="137"/>
                      </a:lnTo>
                      <a:lnTo>
                        <a:pt x="18" y="363"/>
                      </a:lnTo>
                      <a:lnTo>
                        <a:pt x="36" y="335"/>
                      </a:lnTo>
                      <a:lnTo>
                        <a:pt x="62" y="353"/>
                      </a:lnTo>
                      <a:lnTo>
                        <a:pt x="32" y="291"/>
                      </a:lnTo>
                      <a:lnTo>
                        <a:pt x="48" y="228"/>
                      </a:lnTo>
                      <a:lnTo>
                        <a:pt x="103" y="247"/>
                      </a:lnTo>
                      <a:lnTo>
                        <a:pt x="51" y="128"/>
                      </a:lnTo>
                      <a:lnTo>
                        <a:pt x="36" y="0"/>
                      </a:lnTo>
                      <a:lnTo>
                        <a:pt x="0" y="9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4" name="16321249.875670.6252.56.3755">
                  <a:extLst>
                    <a:ext uri="{FF2B5EF4-FFF2-40B4-BE49-F238E27FC236}">
                      <a16:creationId xmlns:a16="http://schemas.microsoft.com/office/drawing/2014/main" id="{EA3C0BFC-2344-80E6-3C9C-E7972F45F2DC}"/>
                    </a:ext>
                  </a:extLst>
                </p:cNvPr>
                <p:cNvSpPr>
                  <a:spLocks/>
                </p:cNvSpPr>
                <p:nvPr/>
              </p:nvSpPr>
              <p:spPr bwMode="auto">
                <a:xfrm>
                  <a:off x="5254367" y="2237830"/>
                  <a:ext cx="79025" cy="30002"/>
                </a:xfrm>
                <a:custGeom>
                  <a:avLst/>
                  <a:gdLst>
                    <a:gd name="T0" fmla="*/ 0 w 155"/>
                    <a:gd name="T1" fmla="*/ 0 h 52"/>
                    <a:gd name="T2" fmla="*/ 1 w 155"/>
                    <a:gd name="T3" fmla="*/ 1 h 52"/>
                    <a:gd name="T4" fmla="*/ 1 w 155"/>
                    <a:gd name="T5" fmla="*/ 1 h 52"/>
                    <a:gd name="T6" fmla="*/ 1 w 155"/>
                    <a:gd name="T7" fmla="*/ 1 h 52"/>
                    <a:gd name="T8" fmla="*/ 0 w 155"/>
                    <a:gd name="T9" fmla="*/ 0 h 52"/>
                    <a:gd name="T10" fmla="*/ 0 60000 65536"/>
                    <a:gd name="T11" fmla="*/ 0 60000 65536"/>
                    <a:gd name="T12" fmla="*/ 0 60000 65536"/>
                    <a:gd name="T13" fmla="*/ 0 60000 65536"/>
                    <a:gd name="T14" fmla="*/ 0 60000 65536"/>
                    <a:gd name="T15" fmla="*/ 0 w 155"/>
                    <a:gd name="T16" fmla="*/ 0 h 52"/>
                    <a:gd name="T17" fmla="*/ 155 w 155"/>
                    <a:gd name="T18" fmla="*/ 52 h 52"/>
                  </a:gdLst>
                  <a:ahLst/>
                  <a:cxnLst>
                    <a:cxn ang="T10">
                      <a:pos x="T0" y="T1"/>
                    </a:cxn>
                    <a:cxn ang="T11">
                      <a:pos x="T2" y="T3"/>
                    </a:cxn>
                    <a:cxn ang="T12">
                      <a:pos x="T4" y="T5"/>
                    </a:cxn>
                    <a:cxn ang="T13">
                      <a:pos x="T6" y="T7"/>
                    </a:cxn>
                    <a:cxn ang="T14">
                      <a:pos x="T8" y="T9"/>
                    </a:cxn>
                  </a:cxnLst>
                  <a:rect l="T15" t="T16" r="T17" b="T18"/>
                  <a:pathLst>
                    <a:path w="155" h="52">
                      <a:moveTo>
                        <a:pt x="0" y="0"/>
                      </a:moveTo>
                      <a:lnTo>
                        <a:pt x="28" y="36"/>
                      </a:lnTo>
                      <a:lnTo>
                        <a:pt x="99" y="52"/>
                      </a:lnTo>
                      <a:lnTo>
                        <a:pt x="155" y="41"/>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5" name="16322328.545514.517.1255">
                  <a:extLst>
                    <a:ext uri="{FF2B5EF4-FFF2-40B4-BE49-F238E27FC236}">
                      <a16:creationId xmlns:a16="http://schemas.microsoft.com/office/drawing/2014/main" id="{7C9A55B1-B327-7BAE-607B-FB59979BBA75}"/>
                    </a:ext>
                  </a:extLst>
                </p:cNvPr>
                <p:cNvSpPr>
                  <a:spLocks/>
                </p:cNvSpPr>
                <p:nvPr/>
              </p:nvSpPr>
              <p:spPr bwMode="auto">
                <a:xfrm>
                  <a:off x="2627277" y="3171365"/>
                  <a:ext cx="208709" cy="170782"/>
                </a:xfrm>
                <a:custGeom>
                  <a:avLst/>
                  <a:gdLst>
                    <a:gd name="T0" fmla="*/ 0 w 411"/>
                    <a:gd name="T1" fmla="*/ 1 h 295"/>
                    <a:gd name="T2" fmla="*/ 1 w 411"/>
                    <a:gd name="T3" fmla="*/ 1 h 295"/>
                    <a:gd name="T4" fmla="*/ 1 w 411"/>
                    <a:gd name="T5" fmla="*/ 1 h 295"/>
                    <a:gd name="T6" fmla="*/ 1 w 411"/>
                    <a:gd name="T7" fmla="*/ 1 h 295"/>
                    <a:gd name="T8" fmla="*/ 1 w 411"/>
                    <a:gd name="T9" fmla="*/ 1 h 295"/>
                    <a:gd name="T10" fmla="*/ 1 w 411"/>
                    <a:gd name="T11" fmla="*/ 1 h 295"/>
                    <a:gd name="T12" fmla="*/ 1 w 411"/>
                    <a:gd name="T13" fmla="*/ 1 h 295"/>
                    <a:gd name="T14" fmla="*/ 1 w 411"/>
                    <a:gd name="T15" fmla="*/ 1 h 295"/>
                    <a:gd name="T16" fmla="*/ 1 w 411"/>
                    <a:gd name="T17" fmla="*/ 1 h 295"/>
                    <a:gd name="T18" fmla="*/ 1 w 411"/>
                    <a:gd name="T19" fmla="*/ 1 h 295"/>
                    <a:gd name="T20" fmla="*/ 1 w 411"/>
                    <a:gd name="T21" fmla="*/ 1 h 295"/>
                    <a:gd name="T22" fmla="*/ 1 w 411"/>
                    <a:gd name="T23" fmla="*/ 1 h 295"/>
                    <a:gd name="T24" fmla="*/ 1 w 411"/>
                    <a:gd name="T25" fmla="*/ 1 h 295"/>
                    <a:gd name="T26" fmla="*/ 1 w 411"/>
                    <a:gd name="T27" fmla="*/ 1 h 295"/>
                    <a:gd name="T28" fmla="*/ 1 w 411"/>
                    <a:gd name="T29" fmla="*/ 1 h 295"/>
                    <a:gd name="T30" fmla="*/ 1 w 411"/>
                    <a:gd name="T31" fmla="*/ 0 h 295"/>
                    <a:gd name="T32" fmla="*/ 0 w 411"/>
                    <a:gd name="T33" fmla="*/ 1 h 29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1"/>
                    <a:gd name="T52" fmla="*/ 0 h 295"/>
                    <a:gd name="T53" fmla="*/ 411 w 411"/>
                    <a:gd name="T54" fmla="*/ 295 h 29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1" h="295">
                      <a:moveTo>
                        <a:pt x="0" y="24"/>
                      </a:moveTo>
                      <a:lnTo>
                        <a:pt x="14" y="73"/>
                      </a:lnTo>
                      <a:lnTo>
                        <a:pt x="100" y="81"/>
                      </a:lnTo>
                      <a:lnTo>
                        <a:pt x="62" y="158"/>
                      </a:lnTo>
                      <a:lnTo>
                        <a:pt x="62" y="253"/>
                      </a:lnTo>
                      <a:lnTo>
                        <a:pt x="124" y="295"/>
                      </a:lnTo>
                      <a:lnTo>
                        <a:pt x="243" y="268"/>
                      </a:lnTo>
                      <a:lnTo>
                        <a:pt x="310" y="196"/>
                      </a:lnTo>
                      <a:lnTo>
                        <a:pt x="297" y="167"/>
                      </a:lnTo>
                      <a:lnTo>
                        <a:pt x="332" y="115"/>
                      </a:lnTo>
                      <a:lnTo>
                        <a:pt x="409" y="74"/>
                      </a:lnTo>
                      <a:lnTo>
                        <a:pt x="411" y="51"/>
                      </a:lnTo>
                      <a:lnTo>
                        <a:pt x="361" y="45"/>
                      </a:lnTo>
                      <a:lnTo>
                        <a:pt x="350" y="41"/>
                      </a:lnTo>
                      <a:lnTo>
                        <a:pt x="246" y="11"/>
                      </a:lnTo>
                      <a:lnTo>
                        <a:pt x="36" y="0"/>
                      </a:lnTo>
                      <a:lnTo>
                        <a:pt x="0" y="2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6" name="16323394.3753876.255.755">
                  <a:extLst>
                    <a:ext uri="{FF2B5EF4-FFF2-40B4-BE49-F238E27FC236}">
                      <a16:creationId xmlns:a16="http://schemas.microsoft.com/office/drawing/2014/main" id="{7887A8FE-DC3E-48FD-377F-3DFA0CD3FB24}"/>
                    </a:ext>
                  </a:extLst>
                </p:cNvPr>
                <p:cNvSpPr>
                  <a:spLocks/>
                </p:cNvSpPr>
                <p:nvPr/>
              </p:nvSpPr>
              <p:spPr bwMode="auto">
                <a:xfrm>
                  <a:off x="2317421" y="3985666"/>
                  <a:ext cx="69907" cy="75006"/>
                </a:xfrm>
                <a:custGeom>
                  <a:avLst/>
                  <a:gdLst>
                    <a:gd name="T0" fmla="*/ 0 w 138"/>
                    <a:gd name="T1" fmla="*/ 1 h 130"/>
                    <a:gd name="T2" fmla="*/ 1 w 138"/>
                    <a:gd name="T3" fmla="*/ 0 h 130"/>
                    <a:gd name="T4" fmla="*/ 1 w 138"/>
                    <a:gd name="T5" fmla="*/ 1 h 130"/>
                    <a:gd name="T6" fmla="*/ 1 w 138"/>
                    <a:gd name="T7" fmla="*/ 1 h 130"/>
                    <a:gd name="T8" fmla="*/ 1 w 138"/>
                    <a:gd name="T9" fmla="*/ 1 h 130"/>
                    <a:gd name="T10" fmla="*/ 0 w 138"/>
                    <a:gd name="T11" fmla="*/ 1 h 130"/>
                    <a:gd name="T12" fmla="*/ 0 60000 65536"/>
                    <a:gd name="T13" fmla="*/ 0 60000 65536"/>
                    <a:gd name="T14" fmla="*/ 0 60000 65536"/>
                    <a:gd name="T15" fmla="*/ 0 60000 65536"/>
                    <a:gd name="T16" fmla="*/ 0 60000 65536"/>
                    <a:gd name="T17" fmla="*/ 0 60000 65536"/>
                    <a:gd name="T18" fmla="*/ 0 w 138"/>
                    <a:gd name="T19" fmla="*/ 0 h 130"/>
                    <a:gd name="T20" fmla="*/ 138 w 138"/>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138" h="130">
                      <a:moveTo>
                        <a:pt x="0" y="60"/>
                      </a:moveTo>
                      <a:lnTo>
                        <a:pt x="37" y="0"/>
                      </a:lnTo>
                      <a:lnTo>
                        <a:pt x="138" y="11"/>
                      </a:lnTo>
                      <a:lnTo>
                        <a:pt x="124" y="121"/>
                      </a:lnTo>
                      <a:lnTo>
                        <a:pt x="54" y="130"/>
                      </a:lnTo>
                      <a:lnTo>
                        <a:pt x="0" y="6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7" name="16327269.625483.2534.2517.755">
                  <a:extLst>
                    <a:ext uri="{FF2B5EF4-FFF2-40B4-BE49-F238E27FC236}">
                      <a16:creationId xmlns:a16="http://schemas.microsoft.com/office/drawing/2014/main" id="{DEBFE300-66A9-05E8-0974-4F76DD476FE2}"/>
                    </a:ext>
                  </a:extLst>
                </p:cNvPr>
                <p:cNvSpPr>
                  <a:spLocks/>
                </p:cNvSpPr>
                <p:nvPr/>
              </p:nvSpPr>
              <p:spPr bwMode="auto">
                <a:xfrm>
                  <a:off x="2970735" y="2472079"/>
                  <a:ext cx="216814" cy="406187"/>
                </a:xfrm>
                <a:custGeom>
                  <a:avLst/>
                  <a:gdLst>
                    <a:gd name="T0" fmla="*/ 0 w 429"/>
                    <a:gd name="T1" fmla="*/ 1 h 704"/>
                    <a:gd name="T2" fmla="*/ 0 w 429"/>
                    <a:gd name="T3" fmla="*/ 1 h 704"/>
                    <a:gd name="T4" fmla="*/ 0 w 429"/>
                    <a:gd name="T5" fmla="*/ 1 h 704"/>
                    <a:gd name="T6" fmla="*/ 0 w 429"/>
                    <a:gd name="T7" fmla="*/ 1 h 704"/>
                    <a:gd name="T8" fmla="*/ 0 w 429"/>
                    <a:gd name="T9" fmla="*/ 1 h 704"/>
                    <a:gd name="T10" fmla="*/ 0 w 429"/>
                    <a:gd name="T11" fmla="*/ 1 h 704"/>
                    <a:gd name="T12" fmla="*/ 0 w 429"/>
                    <a:gd name="T13" fmla="*/ 1 h 704"/>
                    <a:gd name="T14" fmla="*/ 0 w 429"/>
                    <a:gd name="T15" fmla="*/ 1 h 704"/>
                    <a:gd name="T16" fmla="*/ 0 w 429"/>
                    <a:gd name="T17" fmla="*/ 1 h 704"/>
                    <a:gd name="T18" fmla="*/ 0 w 429"/>
                    <a:gd name="T19" fmla="*/ 1 h 704"/>
                    <a:gd name="T20" fmla="*/ 0 w 429"/>
                    <a:gd name="T21" fmla="*/ 1 h 704"/>
                    <a:gd name="T22" fmla="*/ 0 w 429"/>
                    <a:gd name="T23" fmla="*/ 1 h 704"/>
                    <a:gd name="T24" fmla="*/ 0 w 429"/>
                    <a:gd name="T25" fmla="*/ 1 h 704"/>
                    <a:gd name="T26" fmla="*/ 0 w 429"/>
                    <a:gd name="T27" fmla="*/ 1 h 704"/>
                    <a:gd name="T28" fmla="*/ 0 w 429"/>
                    <a:gd name="T29" fmla="*/ 1 h 704"/>
                    <a:gd name="T30" fmla="*/ 0 w 429"/>
                    <a:gd name="T31" fmla="*/ 1 h 704"/>
                    <a:gd name="T32" fmla="*/ 0 w 429"/>
                    <a:gd name="T33" fmla="*/ 1 h 704"/>
                    <a:gd name="T34" fmla="*/ 0 w 429"/>
                    <a:gd name="T35" fmla="*/ 1 h 704"/>
                    <a:gd name="T36" fmla="*/ 0 w 429"/>
                    <a:gd name="T37" fmla="*/ 1 h 704"/>
                    <a:gd name="T38" fmla="*/ 0 w 429"/>
                    <a:gd name="T39" fmla="*/ 1 h 704"/>
                    <a:gd name="T40" fmla="*/ 0 w 429"/>
                    <a:gd name="T41" fmla="*/ 0 h 704"/>
                    <a:gd name="T42" fmla="*/ 0 w 429"/>
                    <a:gd name="T43" fmla="*/ 0 h 704"/>
                    <a:gd name="T44" fmla="*/ 0 w 429"/>
                    <a:gd name="T45" fmla="*/ 1 h 704"/>
                    <a:gd name="T46" fmla="*/ 0 w 429"/>
                    <a:gd name="T47" fmla="*/ 1 h 704"/>
                    <a:gd name="T48" fmla="*/ 0 w 429"/>
                    <a:gd name="T49" fmla="*/ 1 h 704"/>
                    <a:gd name="T50" fmla="*/ 0 w 429"/>
                    <a:gd name="T51" fmla="*/ 1 h 704"/>
                    <a:gd name="T52" fmla="*/ 0 w 429"/>
                    <a:gd name="T53" fmla="*/ 1 h 704"/>
                    <a:gd name="T54" fmla="*/ 0 w 429"/>
                    <a:gd name="T55" fmla="*/ 1 h 704"/>
                    <a:gd name="T56" fmla="*/ 0 w 429"/>
                    <a:gd name="T57" fmla="*/ 1 h 704"/>
                    <a:gd name="T58" fmla="*/ 0 w 429"/>
                    <a:gd name="T59" fmla="*/ 1 h 704"/>
                    <a:gd name="T60" fmla="*/ 0 w 429"/>
                    <a:gd name="T61" fmla="*/ 1 h 704"/>
                    <a:gd name="T62" fmla="*/ 0 w 429"/>
                    <a:gd name="T63" fmla="*/ 1 h 704"/>
                    <a:gd name="T64" fmla="*/ 0 w 429"/>
                    <a:gd name="T65" fmla="*/ 1 h 704"/>
                    <a:gd name="T66" fmla="*/ 0 w 429"/>
                    <a:gd name="T67" fmla="*/ 1 h 704"/>
                    <a:gd name="T68" fmla="*/ 0 w 429"/>
                    <a:gd name="T69" fmla="*/ 1 h 704"/>
                    <a:gd name="T70" fmla="*/ 0 w 429"/>
                    <a:gd name="T71" fmla="*/ 1 h 70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29"/>
                    <a:gd name="T109" fmla="*/ 0 h 704"/>
                    <a:gd name="T110" fmla="*/ 429 w 429"/>
                    <a:gd name="T111" fmla="*/ 704 h 70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29" h="704">
                      <a:moveTo>
                        <a:pt x="0" y="529"/>
                      </a:moveTo>
                      <a:lnTo>
                        <a:pt x="18" y="611"/>
                      </a:lnTo>
                      <a:lnTo>
                        <a:pt x="55" y="649"/>
                      </a:lnTo>
                      <a:lnTo>
                        <a:pt x="51" y="704"/>
                      </a:lnTo>
                      <a:lnTo>
                        <a:pt x="155" y="667"/>
                      </a:lnTo>
                      <a:lnTo>
                        <a:pt x="183" y="556"/>
                      </a:lnTo>
                      <a:lnTo>
                        <a:pt x="162" y="551"/>
                      </a:lnTo>
                      <a:lnTo>
                        <a:pt x="241" y="517"/>
                      </a:lnTo>
                      <a:lnTo>
                        <a:pt x="166" y="509"/>
                      </a:lnTo>
                      <a:lnTo>
                        <a:pt x="223" y="517"/>
                      </a:lnTo>
                      <a:lnTo>
                        <a:pt x="253" y="488"/>
                      </a:lnTo>
                      <a:lnTo>
                        <a:pt x="208" y="452"/>
                      </a:lnTo>
                      <a:lnTo>
                        <a:pt x="165" y="477"/>
                      </a:lnTo>
                      <a:lnTo>
                        <a:pt x="199" y="455"/>
                      </a:lnTo>
                      <a:lnTo>
                        <a:pt x="201" y="353"/>
                      </a:lnTo>
                      <a:lnTo>
                        <a:pt x="345" y="257"/>
                      </a:lnTo>
                      <a:lnTo>
                        <a:pt x="334" y="236"/>
                      </a:lnTo>
                      <a:lnTo>
                        <a:pt x="359" y="188"/>
                      </a:lnTo>
                      <a:lnTo>
                        <a:pt x="429" y="173"/>
                      </a:lnTo>
                      <a:lnTo>
                        <a:pt x="411" y="59"/>
                      </a:lnTo>
                      <a:lnTo>
                        <a:pt x="313" y="0"/>
                      </a:lnTo>
                      <a:lnTo>
                        <a:pt x="298" y="0"/>
                      </a:lnTo>
                      <a:lnTo>
                        <a:pt x="297" y="37"/>
                      </a:lnTo>
                      <a:lnTo>
                        <a:pt x="235" y="30"/>
                      </a:lnTo>
                      <a:lnTo>
                        <a:pt x="223" y="59"/>
                      </a:lnTo>
                      <a:lnTo>
                        <a:pt x="181" y="67"/>
                      </a:lnTo>
                      <a:lnTo>
                        <a:pt x="169" y="113"/>
                      </a:lnTo>
                      <a:lnTo>
                        <a:pt x="111" y="168"/>
                      </a:lnTo>
                      <a:lnTo>
                        <a:pt x="84" y="243"/>
                      </a:lnTo>
                      <a:lnTo>
                        <a:pt x="96" y="274"/>
                      </a:lnTo>
                      <a:lnTo>
                        <a:pt x="34" y="297"/>
                      </a:lnTo>
                      <a:lnTo>
                        <a:pt x="32" y="396"/>
                      </a:lnTo>
                      <a:lnTo>
                        <a:pt x="50" y="417"/>
                      </a:lnTo>
                      <a:lnTo>
                        <a:pt x="32" y="436"/>
                      </a:lnTo>
                      <a:lnTo>
                        <a:pt x="39" y="480"/>
                      </a:lnTo>
                      <a:lnTo>
                        <a:pt x="0" y="52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8" name="16328320.54763.565">
                  <a:extLst>
                    <a:ext uri="{FF2B5EF4-FFF2-40B4-BE49-F238E27FC236}">
                      <a16:creationId xmlns:a16="http://schemas.microsoft.com/office/drawing/2014/main" id="{966486E0-F866-2B67-D1FB-A39EA0B084BD}"/>
                    </a:ext>
                  </a:extLst>
                </p:cNvPr>
                <p:cNvSpPr>
                  <a:spLocks/>
                </p:cNvSpPr>
                <p:nvPr/>
              </p:nvSpPr>
              <p:spPr bwMode="auto">
                <a:xfrm>
                  <a:off x="2882590" y="3075589"/>
                  <a:ext cx="73960" cy="41542"/>
                </a:xfrm>
                <a:custGeom>
                  <a:avLst/>
                  <a:gdLst>
                    <a:gd name="T0" fmla="*/ 0 w 147"/>
                    <a:gd name="T1" fmla="*/ 0 h 73"/>
                    <a:gd name="T2" fmla="*/ 0 w 147"/>
                    <a:gd name="T3" fmla="*/ 0 h 73"/>
                    <a:gd name="T4" fmla="*/ 0 w 147"/>
                    <a:gd name="T5" fmla="*/ 0 h 73"/>
                    <a:gd name="T6" fmla="*/ 0 w 147"/>
                    <a:gd name="T7" fmla="*/ 0 h 73"/>
                    <a:gd name="T8" fmla="*/ 0 w 147"/>
                    <a:gd name="T9" fmla="*/ 0 h 73"/>
                    <a:gd name="T10" fmla="*/ 0 w 147"/>
                    <a:gd name="T11" fmla="*/ 0 h 73"/>
                    <a:gd name="T12" fmla="*/ 0 w 147"/>
                    <a:gd name="T13" fmla="*/ 0 h 73"/>
                    <a:gd name="T14" fmla="*/ 0 w 147"/>
                    <a:gd name="T15" fmla="*/ 0 h 73"/>
                    <a:gd name="T16" fmla="*/ 0 w 147"/>
                    <a:gd name="T17" fmla="*/ 0 h 73"/>
                    <a:gd name="T18" fmla="*/ 0 w 147"/>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7"/>
                    <a:gd name="T31" fmla="*/ 0 h 73"/>
                    <a:gd name="T32" fmla="*/ 147 w 147"/>
                    <a:gd name="T33" fmla="*/ 73 h 7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7" h="73">
                      <a:moveTo>
                        <a:pt x="0" y="50"/>
                      </a:moveTo>
                      <a:lnTo>
                        <a:pt x="33" y="73"/>
                      </a:lnTo>
                      <a:lnTo>
                        <a:pt x="80" y="53"/>
                      </a:lnTo>
                      <a:lnTo>
                        <a:pt x="100" y="72"/>
                      </a:lnTo>
                      <a:lnTo>
                        <a:pt x="147" y="33"/>
                      </a:lnTo>
                      <a:lnTo>
                        <a:pt x="119" y="29"/>
                      </a:lnTo>
                      <a:lnTo>
                        <a:pt x="118" y="11"/>
                      </a:lnTo>
                      <a:lnTo>
                        <a:pt x="114" y="7"/>
                      </a:lnTo>
                      <a:lnTo>
                        <a:pt x="49" y="0"/>
                      </a:lnTo>
                      <a:lnTo>
                        <a:pt x="0" y="5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9" name="16329340.75516.7599.8755">
                  <a:extLst>
                    <a:ext uri="{FF2B5EF4-FFF2-40B4-BE49-F238E27FC236}">
                      <a16:creationId xmlns:a16="http://schemas.microsoft.com/office/drawing/2014/main" id="{839D47FB-8F6D-0B37-4CAF-B1E7C97B3E8C}"/>
                    </a:ext>
                  </a:extLst>
                </p:cNvPr>
                <p:cNvSpPr>
                  <a:spLocks/>
                </p:cNvSpPr>
                <p:nvPr/>
              </p:nvSpPr>
              <p:spPr bwMode="auto">
                <a:xfrm>
                  <a:off x="3380046" y="3316761"/>
                  <a:ext cx="120564" cy="106163"/>
                </a:xfrm>
                <a:custGeom>
                  <a:avLst/>
                  <a:gdLst>
                    <a:gd name="T0" fmla="*/ 0 w 237"/>
                    <a:gd name="T1" fmla="*/ 1 h 183"/>
                    <a:gd name="T2" fmla="*/ 1 w 237"/>
                    <a:gd name="T3" fmla="*/ 1 h 183"/>
                    <a:gd name="T4" fmla="*/ 1 w 237"/>
                    <a:gd name="T5" fmla="*/ 1 h 183"/>
                    <a:gd name="T6" fmla="*/ 1 w 237"/>
                    <a:gd name="T7" fmla="*/ 1 h 183"/>
                    <a:gd name="T8" fmla="*/ 1 w 237"/>
                    <a:gd name="T9" fmla="*/ 1 h 183"/>
                    <a:gd name="T10" fmla="*/ 1 w 237"/>
                    <a:gd name="T11" fmla="*/ 1 h 183"/>
                    <a:gd name="T12" fmla="*/ 1 w 237"/>
                    <a:gd name="T13" fmla="*/ 0 h 183"/>
                    <a:gd name="T14" fmla="*/ 1 w 237"/>
                    <a:gd name="T15" fmla="*/ 1 h 183"/>
                    <a:gd name="T16" fmla="*/ 1 w 237"/>
                    <a:gd name="T17" fmla="*/ 1 h 183"/>
                    <a:gd name="T18" fmla="*/ 1 w 237"/>
                    <a:gd name="T19" fmla="*/ 1 h 183"/>
                    <a:gd name="T20" fmla="*/ 1 w 237"/>
                    <a:gd name="T21" fmla="*/ 1 h 183"/>
                    <a:gd name="T22" fmla="*/ 0 w 237"/>
                    <a:gd name="T23" fmla="*/ 1 h 1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7"/>
                    <a:gd name="T37" fmla="*/ 0 h 183"/>
                    <a:gd name="T38" fmla="*/ 237 w 237"/>
                    <a:gd name="T39" fmla="*/ 183 h 1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7" h="183">
                      <a:moveTo>
                        <a:pt x="0" y="169"/>
                      </a:moveTo>
                      <a:lnTo>
                        <a:pt x="4" y="150"/>
                      </a:lnTo>
                      <a:lnTo>
                        <a:pt x="38" y="111"/>
                      </a:lnTo>
                      <a:lnTo>
                        <a:pt x="19" y="93"/>
                      </a:lnTo>
                      <a:lnTo>
                        <a:pt x="17" y="47"/>
                      </a:lnTo>
                      <a:lnTo>
                        <a:pt x="38" y="9"/>
                      </a:lnTo>
                      <a:lnTo>
                        <a:pt x="237" y="0"/>
                      </a:lnTo>
                      <a:lnTo>
                        <a:pt x="200" y="27"/>
                      </a:lnTo>
                      <a:lnTo>
                        <a:pt x="188" y="100"/>
                      </a:lnTo>
                      <a:lnTo>
                        <a:pt x="107" y="144"/>
                      </a:lnTo>
                      <a:lnTo>
                        <a:pt x="35" y="183"/>
                      </a:lnTo>
                      <a:lnTo>
                        <a:pt x="0" y="16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0" name="16330386.375381.6251.1251.3755">
                  <a:extLst>
                    <a:ext uri="{FF2B5EF4-FFF2-40B4-BE49-F238E27FC236}">
                      <a16:creationId xmlns:a16="http://schemas.microsoft.com/office/drawing/2014/main" id="{3554DC97-9D4D-5E02-A52F-DB9EC2083A9B}"/>
                    </a:ext>
                  </a:extLst>
                </p:cNvPr>
                <p:cNvSpPr>
                  <a:spLocks/>
                </p:cNvSpPr>
                <p:nvPr/>
              </p:nvSpPr>
              <p:spPr bwMode="auto">
                <a:xfrm>
                  <a:off x="2251567" y="3891043"/>
                  <a:ext cx="16210" cy="13847"/>
                </a:xfrm>
                <a:custGeom>
                  <a:avLst/>
                  <a:gdLst>
                    <a:gd name="T0" fmla="*/ 0 w 33"/>
                    <a:gd name="T1" fmla="*/ 1 h 23"/>
                    <a:gd name="T2" fmla="*/ 0 w 33"/>
                    <a:gd name="T3" fmla="*/ 1 h 23"/>
                    <a:gd name="T4" fmla="*/ 0 w 33"/>
                    <a:gd name="T5" fmla="*/ 0 h 23"/>
                    <a:gd name="T6" fmla="*/ 0 w 33"/>
                    <a:gd name="T7" fmla="*/ 1 h 23"/>
                    <a:gd name="T8" fmla="*/ 0 60000 65536"/>
                    <a:gd name="T9" fmla="*/ 0 60000 65536"/>
                    <a:gd name="T10" fmla="*/ 0 60000 65536"/>
                    <a:gd name="T11" fmla="*/ 0 60000 65536"/>
                    <a:gd name="T12" fmla="*/ 0 w 33"/>
                    <a:gd name="T13" fmla="*/ 0 h 23"/>
                    <a:gd name="T14" fmla="*/ 33 w 33"/>
                    <a:gd name="T15" fmla="*/ 23 h 23"/>
                  </a:gdLst>
                  <a:ahLst/>
                  <a:cxnLst>
                    <a:cxn ang="T8">
                      <a:pos x="T0" y="T1"/>
                    </a:cxn>
                    <a:cxn ang="T9">
                      <a:pos x="T2" y="T3"/>
                    </a:cxn>
                    <a:cxn ang="T10">
                      <a:pos x="T4" y="T5"/>
                    </a:cxn>
                    <a:cxn ang="T11">
                      <a:pos x="T6" y="T7"/>
                    </a:cxn>
                  </a:cxnLst>
                  <a:rect l="T12" t="T13" r="T14" b="T15"/>
                  <a:pathLst>
                    <a:path w="33" h="23">
                      <a:moveTo>
                        <a:pt x="0" y="23"/>
                      </a:moveTo>
                      <a:lnTo>
                        <a:pt x="31" y="19"/>
                      </a:lnTo>
                      <a:lnTo>
                        <a:pt x="33" y="0"/>
                      </a:lnTo>
                      <a:lnTo>
                        <a:pt x="0" y="2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1" name="16331360.625538.55.8757.255">
                  <a:extLst>
                    <a:ext uri="{FF2B5EF4-FFF2-40B4-BE49-F238E27FC236}">
                      <a16:creationId xmlns:a16="http://schemas.microsoft.com/office/drawing/2014/main" id="{582EA294-81BA-9098-A683-0DE43B106AC8}"/>
                    </a:ext>
                  </a:extLst>
                </p:cNvPr>
                <p:cNvSpPr>
                  <a:spLocks/>
                </p:cNvSpPr>
                <p:nvPr/>
              </p:nvSpPr>
              <p:spPr bwMode="auto">
                <a:xfrm>
                  <a:off x="3644477" y="3552164"/>
                  <a:ext cx="89156" cy="69236"/>
                </a:xfrm>
                <a:custGeom>
                  <a:avLst/>
                  <a:gdLst>
                    <a:gd name="T0" fmla="*/ 0 w 174"/>
                    <a:gd name="T1" fmla="*/ 1 h 120"/>
                    <a:gd name="T2" fmla="*/ 1 w 174"/>
                    <a:gd name="T3" fmla="*/ 1 h 120"/>
                    <a:gd name="T4" fmla="*/ 1 w 174"/>
                    <a:gd name="T5" fmla="*/ 1 h 120"/>
                    <a:gd name="T6" fmla="*/ 1 w 174"/>
                    <a:gd name="T7" fmla="*/ 1 h 120"/>
                    <a:gd name="T8" fmla="*/ 1 w 174"/>
                    <a:gd name="T9" fmla="*/ 0 h 120"/>
                    <a:gd name="T10" fmla="*/ 1 w 174"/>
                    <a:gd name="T11" fmla="*/ 1 h 120"/>
                    <a:gd name="T12" fmla="*/ 1 w 174"/>
                    <a:gd name="T13" fmla="*/ 1 h 120"/>
                    <a:gd name="T14" fmla="*/ 1 w 174"/>
                    <a:gd name="T15" fmla="*/ 1 h 120"/>
                    <a:gd name="T16" fmla="*/ 1 w 174"/>
                    <a:gd name="T17" fmla="*/ 1 h 120"/>
                    <a:gd name="T18" fmla="*/ 1 w 174"/>
                    <a:gd name="T19" fmla="*/ 1 h 120"/>
                    <a:gd name="T20" fmla="*/ 0 w 174"/>
                    <a:gd name="T21" fmla="*/ 1 h 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20"/>
                    <a:gd name="T35" fmla="*/ 174 w 174"/>
                    <a:gd name="T36" fmla="*/ 120 h 1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20">
                      <a:moveTo>
                        <a:pt x="0" y="55"/>
                      </a:moveTo>
                      <a:lnTo>
                        <a:pt x="9" y="52"/>
                      </a:lnTo>
                      <a:lnTo>
                        <a:pt x="23" y="71"/>
                      </a:lnTo>
                      <a:lnTo>
                        <a:pt x="97" y="70"/>
                      </a:lnTo>
                      <a:lnTo>
                        <a:pt x="165" y="0"/>
                      </a:lnTo>
                      <a:lnTo>
                        <a:pt x="174" y="43"/>
                      </a:lnTo>
                      <a:lnTo>
                        <a:pt x="154" y="44"/>
                      </a:lnTo>
                      <a:lnTo>
                        <a:pt x="165" y="70"/>
                      </a:lnTo>
                      <a:lnTo>
                        <a:pt x="137" y="120"/>
                      </a:lnTo>
                      <a:lnTo>
                        <a:pt x="31" y="107"/>
                      </a:lnTo>
                      <a:lnTo>
                        <a:pt x="0" y="5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2" name="16332341.125477.87512.255.55">
                  <a:extLst>
                    <a:ext uri="{FF2B5EF4-FFF2-40B4-BE49-F238E27FC236}">
                      <a16:creationId xmlns:a16="http://schemas.microsoft.com/office/drawing/2014/main" id="{0164AD7B-70B3-DFD7-9098-753685069058}"/>
                    </a:ext>
                  </a:extLst>
                </p:cNvPr>
                <p:cNvSpPr>
                  <a:spLocks/>
                </p:cNvSpPr>
                <p:nvPr/>
              </p:nvSpPr>
              <p:spPr bwMode="auto">
                <a:xfrm>
                  <a:off x="2905893" y="3320224"/>
                  <a:ext cx="66868" cy="145396"/>
                </a:xfrm>
                <a:custGeom>
                  <a:avLst/>
                  <a:gdLst>
                    <a:gd name="T0" fmla="*/ 0 w 132"/>
                    <a:gd name="T1" fmla="*/ 1 h 252"/>
                    <a:gd name="T2" fmla="*/ 1 w 132"/>
                    <a:gd name="T3" fmla="*/ 1 h 252"/>
                    <a:gd name="T4" fmla="*/ 1 w 132"/>
                    <a:gd name="T5" fmla="*/ 1 h 252"/>
                    <a:gd name="T6" fmla="*/ 1 w 132"/>
                    <a:gd name="T7" fmla="*/ 0 h 252"/>
                    <a:gd name="T8" fmla="*/ 1 w 132"/>
                    <a:gd name="T9" fmla="*/ 1 h 252"/>
                    <a:gd name="T10" fmla="*/ 1 w 132"/>
                    <a:gd name="T11" fmla="*/ 1 h 252"/>
                    <a:gd name="T12" fmla="*/ 1 w 132"/>
                    <a:gd name="T13" fmla="*/ 1 h 252"/>
                    <a:gd name="T14" fmla="*/ 1 w 132"/>
                    <a:gd name="T15" fmla="*/ 1 h 252"/>
                    <a:gd name="T16" fmla="*/ 1 w 132"/>
                    <a:gd name="T17" fmla="*/ 1 h 252"/>
                    <a:gd name="T18" fmla="*/ 1 w 132"/>
                    <a:gd name="T19" fmla="*/ 1 h 252"/>
                    <a:gd name="T20" fmla="*/ 0 w 132"/>
                    <a:gd name="T21" fmla="*/ 1 h 2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2"/>
                    <a:gd name="T34" fmla="*/ 0 h 252"/>
                    <a:gd name="T35" fmla="*/ 132 w 132"/>
                    <a:gd name="T36" fmla="*/ 252 h 2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2" h="252">
                      <a:moveTo>
                        <a:pt x="0" y="117"/>
                      </a:moveTo>
                      <a:lnTo>
                        <a:pt x="28" y="94"/>
                      </a:lnTo>
                      <a:lnTo>
                        <a:pt x="42" y="3"/>
                      </a:lnTo>
                      <a:lnTo>
                        <a:pt x="123" y="0"/>
                      </a:lnTo>
                      <a:lnTo>
                        <a:pt x="103" y="31"/>
                      </a:lnTo>
                      <a:lnTo>
                        <a:pt x="126" y="69"/>
                      </a:lnTo>
                      <a:lnTo>
                        <a:pt x="79" y="117"/>
                      </a:lnTo>
                      <a:lnTo>
                        <a:pt x="132" y="147"/>
                      </a:lnTo>
                      <a:lnTo>
                        <a:pt x="66" y="252"/>
                      </a:lnTo>
                      <a:lnTo>
                        <a:pt x="56" y="185"/>
                      </a:lnTo>
                      <a:lnTo>
                        <a:pt x="0" y="11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3" name="16333332503.8753.3753.8755">
                  <a:extLst>
                    <a:ext uri="{FF2B5EF4-FFF2-40B4-BE49-F238E27FC236}">
                      <a16:creationId xmlns:a16="http://schemas.microsoft.com/office/drawing/2014/main" id="{F4818F58-7E09-0043-B581-51A6C1E44204}"/>
                    </a:ext>
                  </a:extLst>
                </p:cNvPr>
                <p:cNvSpPr>
                  <a:spLocks/>
                </p:cNvSpPr>
                <p:nvPr/>
              </p:nvSpPr>
              <p:spPr bwMode="auto">
                <a:xfrm>
                  <a:off x="3221995" y="3211753"/>
                  <a:ext cx="47618" cy="40388"/>
                </a:xfrm>
                <a:custGeom>
                  <a:avLst/>
                  <a:gdLst>
                    <a:gd name="T0" fmla="*/ 0 w 93"/>
                    <a:gd name="T1" fmla="*/ 1 h 70"/>
                    <a:gd name="T2" fmla="*/ 1 w 93"/>
                    <a:gd name="T3" fmla="*/ 1 h 70"/>
                    <a:gd name="T4" fmla="*/ 1 w 93"/>
                    <a:gd name="T5" fmla="*/ 0 h 70"/>
                    <a:gd name="T6" fmla="*/ 1 w 93"/>
                    <a:gd name="T7" fmla="*/ 1 h 70"/>
                    <a:gd name="T8" fmla="*/ 1 w 93"/>
                    <a:gd name="T9" fmla="*/ 1 h 70"/>
                    <a:gd name="T10" fmla="*/ 1 w 93"/>
                    <a:gd name="T11" fmla="*/ 1 h 70"/>
                    <a:gd name="T12" fmla="*/ 1 w 93"/>
                    <a:gd name="T13" fmla="*/ 1 h 70"/>
                    <a:gd name="T14" fmla="*/ 0 w 93"/>
                    <a:gd name="T15" fmla="*/ 1 h 70"/>
                    <a:gd name="T16" fmla="*/ 0 60000 65536"/>
                    <a:gd name="T17" fmla="*/ 0 60000 65536"/>
                    <a:gd name="T18" fmla="*/ 0 60000 65536"/>
                    <a:gd name="T19" fmla="*/ 0 60000 65536"/>
                    <a:gd name="T20" fmla="*/ 0 60000 65536"/>
                    <a:gd name="T21" fmla="*/ 0 60000 65536"/>
                    <a:gd name="T22" fmla="*/ 0 60000 65536"/>
                    <a:gd name="T23" fmla="*/ 0 60000 65536"/>
                    <a:gd name="T24" fmla="*/ 0 w 93"/>
                    <a:gd name="T25" fmla="*/ 0 h 70"/>
                    <a:gd name="T26" fmla="*/ 93 w 93"/>
                    <a:gd name="T27" fmla="*/ 70 h 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3" h="70">
                      <a:moveTo>
                        <a:pt x="0" y="47"/>
                      </a:moveTo>
                      <a:lnTo>
                        <a:pt x="11" y="3"/>
                      </a:lnTo>
                      <a:lnTo>
                        <a:pt x="63" y="0"/>
                      </a:lnTo>
                      <a:lnTo>
                        <a:pt x="93" y="34"/>
                      </a:lnTo>
                      <a:lnTo>
                        <a:pt x="50" y="36"/>
                      </a:lnTo>
                      <a:lnTo>
                        <a:pt x="4" y="70"/>
                      </a:lnTo>
                      <a:lnTo>
                        <a:pt x="24" y="49"/>
                      </a:lnTo>
                      <a:lnTo>
                        <a:pt x="0" y="4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4" name="16334331.5504.2511.62525.55">
                  <a:extLst>
                    <a:ext uri="{FF2B5EF4-FFF2-40B4-BE49-F238E27FC236}">
                      <a16:creationId xmlns:a16="http://schemas.microsoft.com/office/drawing/2014/main" id="{E0DFD32E-BB39-BB39-D4DD-A1D3EB31C74A}"/>
                    </a:ext>
                  </a:extLst>
                </p:cNvPr>
                <p:cNvSpPr>
                  <a:spLocks/>
                </p:cNvSpPr>
                <p:nvPr/>
              </p:nvSpPr>
              <p:spPr bwMode="auto">
                <a:xfrm>
                  <a:off x="3227060" y="3207138"/>
                  <a:ext cx="311036" cy="137318"/>
                </a:xfrm>
                <a:custGeom>
                  <a:avLst/>
                  <a:gdLst>
                    <a:gd name="T0" fmla="*/ 0 w 614"/>
                    <a:gd name="T1" fmla="*/ 1 h 238"/>
                    <a:gd name="T2" fmla="*/ 1 w 614"/>
                    <a:gd name="T3" fmla="*/ 1 h 238"/>
                    <a:gd name="T4" fmla="*/ 1 w 614"/>
                    <a:gd name="T5" fmla="*/ 1 h 238"/>
                    <a:gd name="T6" fmla="*/ 1 w 614"/>
                    <a:gd name="T7" fmla="*/ 1 h 238"/>
                    <a:gd name="T8" fmla="*/ 1 w 614"/>
                    <a:gd name="T9" fmla="*/ 1 h 238"/>
                    <a:gd name="T10" fmla="*/ 1 w 614"/>
                    <a:gd name="T11" fmla="*/ 1 h 238"/>
                    <a:gd name="T12" fmla="*/ 1 w 614"/>
                    <a:gd name="T13" fmla="*/ 1 h 238"/>
                    <a:gd name="T14" fmla="*/ 1 w 614"/>
                    <a:gd name="T15" fmla="*/ 1 h 238"/>
                    <a:gd name="T16" fmla="*/ 1 w 614"/>
                    <a:gd name="T17" fmla="*/ 1 h 238"/>
                    <a:gd name="T18" fmla="*/ 1 w 614"/>
                    <a:gd name="T19" fmla="*/ 1 h 238"/>
                    <a:gd name="T20" fmla="*/ 1 w 614"/>
                    <a:gd name="T21" fmla="*/ 1 h 238"/>
                    <a:gd name="T22" fmla="*/ 1 w 614"/>
                    <a:gd name="T23" fmla="*/ 1 h 238"/>
                    <a:gd name="T24" fmla="*/ 1 w 614"/>
                    <a:gd name="T25" fmla="*/ 1 h 238"/>
                    <a:gd name="T26" fmla="*/ 1 w 614"/>
                    <a:gd name="T27" fmla="*/ 1 h 238"/>
                    <a:gd name="T28" fmla="*/ 1 w 614"/>
                    <a:gd name="T29" fmla="*/ 1 h 238"/>
                    <a:gd name="T30" fmla="*/ 1 w 614"/>
                    <a:gd name="T31" fmla="*/ 1 h 238"/>
                    <a:gd name="T32" fmla="*/ 1 w 614"/>
                    <a:gd name="T33" fmla="*/ 1 h 238"/>
                    <a:gd name="T34" fmla="*/ 1 w 614"/>
                    <a:gd name="T35" fmla="*/ 1 h 238"/>
                    <a:gd name="T36" fmla="*/ 1 w 614"/>
                    <a:gd name="T37" fmla="*/ 1 h 238"/>
                    <a:gd name="T38" fmla="*/ 1 w 614"/>
                    <a:gd name="T39" fmla="*/ 1 h 238"/>
                    <a:gd name="T40" fmla="*/ 1 w 614"/>
                    <a:gd name="T41" fmla="*/ 1 h 238"/>
                    <a:gd name="T42" fmla="*/ 1 w 614"/>
                    <a:gd name="T43" fmla="*/ 0 h 238"/>
                    <a:gd name="T44" fmla="*/ 1 w 614"/>
                    <a:gd name="T45" fmla="*/ 1 h 238"/>
                    <a:gd name="T46" fmla="*/ 1 w 614"/>
                    <a:gd name="T47" fmla="*/ 1 h 238"/>
                    <a:gd name="T48" fmla="*/ 1 w 614"/>
                    <a:gd name="T49" fmla="*/ 1 h 238"/>
                    <a:gd name="T50" fmla="*/ 1 w 614"/>
                    <a:gd name="T51" fmla="*/ 1 h 238"/>
                    <a:gd name="T52" fmla="*/ 0 w 614"/>
                    <a:gd name="T53" fmla="*/ 1 h 23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14"/>
                    <a:gd name="T82" fmla="*/ 0 h 238"/>
                    <a:gd name="T83" fmla="*/ 614 w 614"/>
                    <a:gd name="T84" fmla="*/ 238 h 23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14" h="238">
                      <a:moveTo>
                        <a:pt x="0" y="79"/>
                      </a:moveTo>
                      <a:lnTo>
                        <a:pt x="26" y="141"/>
                      </a:lnTo>
                      <a:lnTo>
                        <a:pt x="2" y="148"/>
                      </a:lnTo>
                      <a:lnTo>
                        <a:pt x="26" y="158"/>
                      </a:lnTo>
                      <a:lnTo>
                        <a:pt x="36" y="196"/>
                      </a:lnTo>
                      <a:lnTo>
                        <a:pt x="70" y="192"/>
                      </a:lnTo>
                      <a:lnTo>
                        <a:pt x="36" y="209"/>
                      </a:lnTo>
                      <a:lnTo>
                        <a:pt x="76" y="202"/>
                      </a:lnTo>
                      <a:lnTo>
                        <a:pt x="118" y="227"/>
                      </a:lnTo>
                      <a:lnTo>
                        <a:pt x="157" y="200"/>
                      </a:lnTo>
                      <a:lnTo>
                        <a:pt x="217" y="235"/>
                      </a:lnTo>
                      <a:lnTo>
                        <a:pt x="323" y="200"/>
                      </a:lnTo>
                      <a:lnTo>
                        <a:pt x="320" y="238"/>
                      </a:lnTo>
                      <a:lnTo>
                        <a:pt x="341" y="200"/>
                      </a:lnTo>
                      <a:lnTo>
                        <a:pt x="540" y="191"/>
                      </a:lnTo>
                      <a:lnTo>
                        <a:pt x="614" y="188"/>
                      </a:lnTo>
                      <a:lnTo>
                        <a:pt x="592" y="104"/>
                      </a:lnTo>
                      <a:lnTo>
                        <a:pt x="609" y="86"/>
                      </a:lnTo>
                      <a:lnTo>
                        <a:pt x="546" y="16"/>
                      </a:lnTo>
                      <a:lnTo>
                        <a:pt x="505" y="16"/>
                      </a:lnTo>
                      <a:lnTo>
                        <a:pt x="393" y="45"/>
                      </a:lnTo>
                      <a:lnTo>
                        <a:pt x="296" y="0"/>
                      </a:lnTo>
                      <a:lnTo>
                        <a:pt x="235" y="1"/>
                      </a:lnTo>
                      <a:lnTo>
                        <a:pt x="158" y="42"/>
                      </a:lnTo>
                      <a:lnTo>
                        <a:pt x="96" y="31"/>
                      </a:lnTo>
                      <a:lnTo>
                        <a:pt x="116" y="53"/>
                      </a:lnTo>
                      <a:lnTo>
                        <a:pt x="0" y="7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5" name="16335304.5453.6257.755.6255">
                  <a:extLst>
                    <a:ext uri="{FF2B5EF4-FFF2-40B4-BE49-F238E27FC236}">
                      <a16:creationId xmlns:a16="http://schemas.microsoft.com/office/drawing/2014/main" id="{908E6533-7EA8-2975-1BCC-41A4FD948A9F}"/>
                    </a:ext>
                  </a:extLst>
                </p:cNvPr>
                <p:cNvSpPr>
                  <a:spLocks/>
                </p:cNvSpPr>
                <p:nvPr/>
              </p:nvSpPr>
              <p:spPr bwMode="auto">
                <a:xfrm>
                  <a:off x="2610055" y="2886341"/>
                  <a:ext cx="68894" cy="91161"/>
                </a:xfrm>
                <a:custGeom>
                  <a:avLst/>
                  <a:gdLst>
                    <a:gd name="T0" fmla="*/ 0 w 136"/>
                    <a:gd name="T1" fmla="*/ 1 h 158"/>
                    <a:gd name="T2" fmla="*/ 1 w 136"/>
                    <a:gd name="T3" fmla="*/ 1 h 158"/>
                    <a:gd name="T4" fmla="*/ 1 w 136"/>
                    <a:gd name="T5" fmla="*/ 1 h 158"/>
                    <a:gd name="T6" fmla="*/ 1 w 136"/>
                    <a:gd name="T7" fmla="*/ 1 h 158"/>
                    <a:gd name="T8" fmla="*/ 1 w 136"/>
                    <a:gd name="T9" fmla="*/ 1 h 158"/>
                    <a:gd name="T10" fmla="*/ 1 w 136"/>
                    <a:gd name="T11" fmla="*/ 1 h 158"/>
                    <a:gd name="T12" fmla="*/ 1 w 136"/>
                    <a:gd name="T13" fmla="*/ 1 h 158"/>
                    <a:gd name="T14" fmla="*/ 1 w 136"/>
                    <a:gd name="T15" fmla="*/ 1 h 158"/>
                    <a:gd name="T16" fmla="*/ 1 w 136"/>
                    <a:gd name="T17" fmla="*/ 1 h 158"/>
                    <a:gd name="T18" fmla="*/ 1 w 136"/>
                    <a:gd name="T19" fmla="*/ 0 h 158"/>
                    <a:gd name="T20" fmla="*/ 1 w 136"/>
                    <a:gd name="T21" fmla="*/ 1 h 158"/>
                    <a:gd name="T22" fmla="*/ 1 w 136"/>
                    <a:gd name="T23" fmla="*/ 1 h 158"/>
                    <a:gd name="T24" fmla="*/ 1 w 136"/>
                    <a:gd name="T25" fmla="*/ 1 h 158"/>
                    <a:gd name="T26" fmla="*/ 1 w 136"/>
                    <a:gd name="T27" fmla="*/ 1 h 158"/>
                    <a:gd name="T28" fmla="*/ 1 w 136"/>
                    <a:gd name="T29" fmla="*/ 1 h 158"/>
                    <a:gd name="T30" fmla="*/ 1 w 136"/>
                    <a:gd name="T31" fmla="*/ 1 h 158"/>
                    <a:gd name="T32" fmla="*/ 1 w 136"/>
                    <a:gd name="T33" fmla="*/ 1 h 158"/>
                    <a:gd name="T34" fmla="*/ 0 w 136"/>
                    <a:gd name="T35" fmla="*/ 1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6"/>
                    <a:gd name="T55" fmla="*/ 0 h 158"/>
                    <a:gd name="T56" fmla="*/ 136 w 136"/>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6" h="158">
                      <a:moveTo>
                        <a:pt x="0" y="132"/>
                      </a:moveTo>
                      <a:lnTo>
                        <a:pt x="18" y="146"/>
                      </a:lnTo>
                      <a:lnTo>
                        <a:pt x="4" y="158"/>
                      </a:lnTo>
                      <a:lnTo>
                        <a:pt x="127" y="133"/>
                      </a:lnTo>
                      <a:lnTo>
                        <a:pt x="136" y="51"/>
                      </a:lnTo>
                      <a:lnTo>
                        <a:pt x="120" y="32"/>
                      </a:lnTo>
                      <a:lnTo>
                        <a:pt x="84" y="41"/>
                      </a:lnTo>
                      <a:lnTo>
                        <a:pt x="72" y="29"/>
                      </a:lnTo>
                      <a:lnTo>
                        <a:pt x="87" y="9"/>
                      </a:lnTo>
                      <a:lnTo>
                        <a:pt x="72" y="0"/>
                      </a:lnTo>
                      <a:lnTo>
                        <a:pt x="57" y="40"/>
                      </a:lnTo>
                      <a:lnTo>
                        <a:pt x="4" y="51"/>
                      </a:lnTo>
                      <a:lnTo>
                        <a:pt x="21" y="60"/>
                      </a:lnTo>
                      <a:lnTo>
                        <a:pt x="11" y="82"/>
                      </a:lnTo>
                      <a:lnTo>
                        <a:pt x="44" y="88"/>
                      </a:lnTo>
                      <a:lnTo>
                        <a:pt x="14" y="118"/>
                      </a:lnTo>
                      <a:lnTo>
                        <a:pt x="50" y="111"/>
                      </a:lnTo>
                      <a:lnTo>
                        <a:pt x="0" y="13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6" name="16336303.875456.53.1253.6255">
                  <a:extLst>
                    <a:ext uri="{FF2B5EF4-FFF2-40B4-BE49-F238E27FC236}">
                      <a16:creationId xmlns:a16="http://schemas.microsoft.com/office/drawing/2014/main" id="{972926A1-8B55-1141-6543-E1FC6082668B}"/>
                    </a:ext>
                  </a:extLst>
                </p:cNvPr>
                <p:cNvSpPr>
                  <a:spLocks/>
                </p:cNvSpPr>
                <p:nvPr/>
              </p:nvSpPr>
              <p:spPr bwMode="auto">
                <a:xfrm>
                  <a:off x="2645516" y="2879420"/>
                  <a:ext cx="43565" cy="35772"/>
                </a:xfrm>
                <a:custGeom>
                  <a:avLst/>
                  <a:gdLst>
                    <a:gd name="T0" fmla="*/ 0 w 85"/>
                    <a:gd name="T1" fmla="*/ 1 h 62"/>
                    <a:gd name="T2" fmla="*/ 1 w 85"/>
                    <a:gd name="T3" fmla="*/ 1 h 62"/>
                    <a:gd name="T4" fmla="*/ 1 w 85"/>
                    <a:gd name="T5" fmla="*/ 1 h 62"/>
                    <a:gd name="T6" fmla="*/ 1 w 85"/>
                    <a:gd name="T7" fmla="*/ 1 h 62"/>
                    <a:gd name="T8" fmla="*/ 1 w 85"/>
                    <a:gd name="T9" fmla="*/ 1 h 62"/>
                    <a:gd name="T10" fmla="*/ 1 w 85"/>
                    <a:gd name="T11" fmla="*/ 1 h 62"/>
                    <a:gd name="T12" fmla="*/ 1 w 85"/>
                    <a:gd name="T13" fmla="*/ 0 h 62"/>
                    <a:gd name="T14" fmla="*/ 1 w 85"/>
                    <a:gd name="T15" fmla="*/ 1 h 62"/>
                    <a:gd name="T16" fmla="*/ 0 w 85"/>
                    <a:gd name="T17" fmla="*/ 1 h 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5"/>
                    <a:gd name="T28" fmla="*/ 0 h 62"/>
                    <a:gd name="T29" fmla="*/ 85 w 85"/>
                    <a:gd name="T30" fmla="*/ 62 h 6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5" h="62">
                      <a:moveTo>
                        <a:pt x="0" y="40"/>
                      </a:moveTo>
                      <a:lnTo>
                        <a:pt x="12" y="52"/>
                      </a:lnTo>
                      <a:lnTo>
                        <a:pt x="48" y="43"/>
                      </a:lnTo>
                      <a:lnTo>
                        <a:pt x="64" y="62"/>
                      </a:lnTo>
                      <a:lnTo>
                        <a:pt x="85" y="40"/>
                      </a:lnTo>
                      <a:lnTo>
                        <a:pt x="66" y="9"/>
                      </a:lnTo>
                      <a:lnTo>
                        <a:pt x="24" y="0"/>
                      </a:lnTo>
                      <a:lnTo>
                        <a:pt x="15" y="20"/>
                      </a:lnTo>
                      <a:lnTo>
                        <a:pt x="0" y="4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7" name="16337297.25458.1251.3750.8755">
                  <a:extLst>
                    <a:ext uri="{FF2B5EF4-FFF2-40B4-BE49-F238E27FC236}">
                      <a16:creationId xmlns:a16="http://schemas.microsoft.com/office/drawing/2014/main" id="{269C0F31-F4DE-5692-668B-9A8291F69790}"/>
                    </a:ext>
                  </a:extLst>
                </p:cNvPr>
                <p:cNvSpPr>
                  <a:spLocks/>
                </p:cNvSpPr>
                <p:nvPr/>
              </p:nvSpPr>
              <p:spPr bwMode="auto">
                <a:xfrm>
                  <a:off x="2664764" y="2799797"/>
                  <a:ext cx="11144" cy="16155"/>
                </a:xfrm>
                <a:custGeom>
                  <a:avLst/>
                  <a:gdLst>
                    <a:gd name="T0" fmla="*/ 0 w 22"/>
                    <a:gd name="T1" fmla="*/ 1 h 27"/>
                    <a:gd name="T2" fmla="*/ 0 w 22"/>
                    <a:gd name="T3" fmla="*/ 1 h 27"/>
                    <a:gd name="T4" fmla="*/ 1 w 22"/>
                    <a:gd name="T5" fmla="*/ 0 h 27"/>
                    <a:gd name="T6" fmla="*/ 0 w 22"/>
                    <a:gd name="T7" fmla="*/ 1 h 27"/>
                    <a:gd name="T8" fmla="*/ 0 60000 65536"/>
                    <a:gd name="T9" fmla="*/ 0 60000 65536"/>
                    <a:gd name="T10" fmla="*/ 0 60000 65536"/>
                    <a:gd name="T11" fmla="*/ 0 60000 65536"/>
                    <a:gd name="T12" fmla="*/ 0 w 22"/>
                    <a:gd name="T13" fmla="*/ 0 h 27"/>
                    <a:gd name="T14" fmla="*/ 22 w 22"/>
                    <a:gd name="T15" fmla="*/ 27 h 27"/>
                  </a:gdLst>
                  <a:ahLst/>
                  <a:cxnLst>
                    <a:cxn ang="T8">
                      <a:pos x="T0" y="T1"/>
                    </a:cxn>
                    <a:cxn ang="T9">
                      <a:pos x="T2" y="T3"/>
                    </a:cxn>
                    <a:cxn ang="T10">
                      <a:pos x="T4" y="T5"/>
                    </a:cxn>
                    <a:cxn ang="T11">
                      <a:pos x="T6" y="T7"/>
                    </a:cxn>
                  </a:cxnLst>
                  <a:rect l="T12" t="T13" r="T14" b="T15"/>
                  <a:pathLst>
                    <a:path w="22" h="27">
                      <a:moveTo>
                        <a:pt x="0" y="27"/>
                      </a:moveTo>
                      <a:lnTo>
                        <a:pt x="0" y="5"/>
                      </a:lnTo>
                      <a:lnTo>
                        <a:pt x="22" y="0"/>
                      </a:lnTo>
                      <a:lnTo>
                        <a:pt x="0" y="2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8" name="16338298.625458.50.8750.8755">
                  <a:extLst>
                    <a:ext uri="{FF2B5EF4-FFF2-40B4-BE49-F238E27FC236}">
                      <a16:creationId xmlns:a16="http://schemas.microsoft.com/office/drawing/2014/main" id="{6E9EB759-347F-0457-A4A2-ACD7B80AD0AD}"/>
                    </a:ext>
                  </a:extLst>
                </p:cNvPr>
                <p:cNvSpPr>
                  <a:spLocks/>
                </p:cNvSpPr>
                <p:nvPr/>
              </p:nvSpPr>
              <p:spPr bwMode="auto">
                <a:xfrm>
                  <a:off x="2669829" y="2815952"/>
                  <a:ext cx="10131" cy="10386"/>
                </a:xfrm>
                <a:custGeom>
                  <a:avLst/>
                  <a:gdLst>
                    <a:gd name="T0" fmla="*/ 0 w 21"/>
                    <a:gd name="T1" fmla="*/ 1 h 18"/>
                    <a:gd name="T2" fmla="*/ 0 w 21"/>
                    <a:gd name="T3" fmla="*/ 0 h 18"/>
                    <a:gd name="T4" fmla="*/ 0 w 21"/>
                    <a:gd name="T5" fmla="*/ 1 h 18"/>
                    <a:gd name="T6" fmla="*/ 0 w 21"/>
                    <a:gd name="T7" fmla="*/ 1 h 18"/>
                    <a:gd name="T8" fmla="*/ 0 60000 65536"/>
                    <a:gd name="T9" fmla="*/ 0 60000 65536"/>
                    <a:gd name="T10" fmla="*/ 0 60000 65536"/>
                    <a:gd name="T11" fmla="*/ 0 60000 65536"/>
                    <a:gd name="T12" fmla="*/ 0 w 21"/>
                    <a:gd name="T13" fmla="*/ 0 h 18"/>
                    <a:gd name="T14" fmla="*/ 21 w 21"/>
                    <a:gd name="T15" fmla="*/ 18 h 18"/>
                  </a:gdLst>
                  <a:ahLst/>
                  <a:cxnLst>
                    <a:cxn ang="T8">
                      <a:pos x="T0" y="T1"/>
                    </a:cxn>
                    <a:cxn ang="T9">
                      <a:pos x="T2" y="T3"/>
                    </a:cxn>
                    <a:cxn ang="T10">
                      <a:pos x="T4" y="T5"/>
                    </a:cxn>
                    <a:cxn ang="T11">
                      <a:pos x="T6" y="T7"/>
                    </a:cxn>
                  </a:cxnLst>
                  <a:rect l="T12" t="T13" r="T14" b="T15"/>
                  <a:pathLst>
                    <a:path w="21" h="18">
                      <a:moveTo>
                        <a:pt x="0" y="14"/>
                      </a:moveTo>
                      <a:lnTo>
                        <a:pt x="11" y="0"/>
                      </a:lnTo>
                      <a:lnTo>
                        <a:pt x="21" y="18"/>
                      </a:lnTo>
                      <a:lnTo>
                        <a:pt x="0" y="1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9" name="16339296.5459.37519.2510.755">
                  <a:extLst>
                    <a:ext uri="{FF2B5EF4-FFF2-40B4-BE49-F238E27FC236}">
                      <a16:creationId xmlns:a16="http://schemas.microsoft.com/office/drawing/2014/main" id="{CFD1253D-49E2-D101-4347-4F5E7BE822C3}"/>
                    </a:ext>
                  </a:extLst>
                </p:cNvPr>
                <p:cNvSpPr>
                  <a:spLocks/>
                </p:cNvSpPr>
                <p:nvPr/>
              </p:nvSpPr>
              <p:spPr bwMode="auto">
                <a:xfrm>
                  <a:off x="2679962" y="2791719"/>
                  <a:ext cx="130696" cy="227325"/>
                </a:xfrm>
                <a:custGeom>
                  <a:avLst/>
                  <a:gdLst>
                    <a:gd name="T0" fmla="*/ 0 w 258"/>
                    <a:gd name="T1" fmla="*/ 1 h 394"/>
                    <a:gd name="T2" fmla="*/ 1 w 258"/>
                    <a:gd name="T3" fmla="*/ 1 h 394"/>
                    <a:gd name="T4" fmla="*/ 1 w 258"/>
                    <a:gd name="T5" fmla="*/ 0 h 394"/>
                    <a:gd name="T6" fmla="*/ 1 w 258"/>
                    <a:gd name="T7" fmla="*/ 0 h 394"/>
                    <a:gd name="T8" fmla="*/ 1 w 258"/>
                    <a:gd name="T9" fmla="*/ 1 h 394"/>
                    <a:gd name="T10" fmla="*/ 1 w 258"/>
                    <a:gd name="T11" fmla="*/ 1 h 394"/>
                    <a:gd name="T12" fmla="*/ 1 w 258"/>
                    <a:gd name="T13" fmla="*/ 1 h 394"/>
                    <a:gd name="T14" fmla="*/ 1 w 258"/>
                    <a:gd name="T15" fmla="*/ 1 h 394"/>
                    <a:gd name="T16" fmla="*/ 1 w 258"/>
                    <a:gd name="T17" fmla="*/ 1 h 394"/>
                    <a:gd name="T18" fmla="*/ 1 w 258"/>
                    <a:gd name="T19" fmla="*/ 1 h 394"/>
                    <a:gd name="T20" fmla="*/ 1 w 258"/>
                    <a:gd name="T21" fmla="*/ 1 h 394"/>
                    <a:gd name="T22" fmla="*/ 1 w 258"/>
                    <a:gd name="T23" fmla="*/ 1 h 394"/>
                    <a:gd name="T24" fmla="*/ 1 w 258"/>
                    <a:gd name="T25" fmla="*/ 1 h 394"/>
                    <a:gd name="T26" fmla="*/ 1 w 258"/>
                    <a:gd name="T27" fmla="*/ 1 h 394"/>
                    <a:gd name="T28" fmla="*/ 1 w 258"/>
                    <a:gd name="T29" fmla="*/ 1 h 394"/>
                    <a:gd name="T30" fmla="*/ 1 w 258"/>
                    <a:gd name="T31" fmla="*/ 1 h 394"/>
                    <a:gd name="T32" fmla="*/ 1 w 258"/>
                    <a:gd name="T33" fmla="*/ 1 h 394"/>
                    <a:gd name="T34" fmla="*/ 1 w 258"/>
                    <a:gd name="T35" fmla="*/ 1 h 394"/>
                    <a:gd name="T36" fmla="*/ 1 w 258"/>
                    <a:gd name="T37" fmla="*/ 1 h 394"/>
                    <a:gd name="T38" fmla="*/ 1 w 258"/>
                    <a:gd name="T39" fmla="*/ 1 h 394"/>
                    <a:gd name="T40" fmla="*/ 1 w 258"/>
                    <a:gd name="T41" fmla="*/ 1 h 394"/>
                    <a:gd name="T42" fmla="*/ 1 w 258"/>
                    <a:gd name="T43" fmla="*/ 1 h 394"/>
                    <a:gd name="T44" fmla="*/ 1 w 258"/>
                    <a:gd name="T45" fmla="*/ 1 h 394"/>
                    <a:gd name="T46" fmla="*/ 1 w 258"/>
                    <a:gd name="T47" fmla="*/ 1 h 394"/>
                    <a:gd name="T48" fmla="*/ 1 w 258"/>
                    <a:gd name="T49" fmla="*/ 1 h 394"/>
                    <a:gd name="T50" fmla="*/ 1 w 258"/>
                    <a:gd name="T51" fmla="*/ 1 h 394"/>
                    <a:gd name="T52" fmla="*/ 1 w 258"/>
                    <a:gd name="T53" fmla="*/ 1 h 394"/>
                    <a:gd name="T54" fmla="*/ 1 w 258"/>
                    <a:gd name="T55" fmla="*/ 1 h 394"/>
                    <a:gd name="T56" fmla="*/ 1 w 258"/>
                    <a:gd name="T57" fmla="*/ 1 h 394"/>
                    <a:gd name="T58" fmla="*/ 0 w 258"/>
                    <a:gd name="T59" fmla="*/ 1 h 3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58"/>
                    <a:gd name="T91" fmla="*/ 0 h 394"/>
                    <a:gd name="T92" fmla="*/ 258 w 258"/>
                    <a:gd name="T93" fmla="*/ 394 h 39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58" h="394">
                      <a:moveTo>
                        <a:pt x="0" y="92"/>
                      </a:moveTo>
                      <a:lnTo>
                        <a:pt x="10" y="39"/>
                      </a:lnTo>
                      <a:lnTo>
                        <a:pt x="38" y="0"/>
                      </a:lnTo>
                      <a:lnTo>
                        <a:pt x="98" y="0"/>
                      </a:lnTo>
                      <a:lnTo>
                        <a:pt x="63" y="47"/>
                      </a:lnTo>
                      <a:lnTo>
                        <a:pt x="142" y="57"/>
                      </a:lnTo>
                      <a:lnTo>
                        <a:pt x="92" y="121"/>
                      </a:lnTo>
                      <a:lnTo>
                        <a:pt x="151" y="143"/>
                      </a:lnTo>
                      <a:lnTo>
                        <a:pt x="207" y="224"/>
                      </a:lnTo>
                      <a:lnTo>
                        <a:pt x="191" y="230"/>
                      </a:lnTo>
                      <a:lnTo>
                        <a:pt x="216" y="249"/>
                      </a:lnTo>
                      <a:lnTo>
                        <a:pt x="202" y="270"/>
                      </a:lnTo>
                      <a:lnTo>
                        <a:pt x="258" y="274"/>
                      </a:lnTo>
                      <a:lnTo>
                        <a:pt x="224" y="328"/>
                      </a:lnTo>
                      <a:lnTo>
                        <a:pt x="247" y="343"/>
                      </a:lnTo>
                      <a:lnTo>
                        <a:pt x="15" y="394"/>
                      </a:lnTo>
                      <a:lnTo>
                        <a:pt x="118" y="321"/>
                      </a:lnTo>
                      <a:lnTo>
                        <a:pt x="88" y="332"/>
                      </a:lnTo>
                      <a:lnTo>
                        <a:pt x="29" y="310"/>
                      </a:lnTo>
                      <a:lnTo>
                        <a:pt x="73" y="282"/>
                      </a:lnTo>
                      <a:lnTo>
                        <a:pt x="45" y="270"/>
                      </a:lnTo>
                      <a:lnTo>
                        <a:pt x="104" y="241"/>
                      </a:lnTo>
                      <a:lnTo>
                        <a:pt x="111" y="205"/>
                      </a:lnTo>
                      <a:lnTo>
                        <a:pt x="81" y="194"/>
                      </a:lnTo>
                      <a:lnTo>
                        <a:pt x="98" y="173"/>
                      </a:lnTo>
                      <a:lnTo>
                        <a:pt x="37" y="183"/>
                      </a:lnTo>
                      <a:lnTo>
                        <a:pt x="38" y="127"/>
                      </a:lnTo>
                      <a:lnTo>
                        <a:pt x="10" y="153"/>
                      </a:lnTo>
                      <a:lnTo>
                        <a:pt x="26" y="95"/>
                      </a:lnTo>
                      <a:lnTo>
                        <a:pt x="0" y="9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0" name="16340262.75234.542.2541.3755">
                  <a:extLst>
                    <a:ext uri="{FF2B5EF4-FFF2-40B4-BE49-F238E27FC236}">
                      <a16:creationId xmlns:a16="http://schemas.microsoft.com/office/drawing/2014/main" id="{5A05DD70-E6BA-CB14-11CF-8BB58E108571}"/>
                    </a:ext>
                  </a:extLst>
                </p:cNvPr>
                <p:cNvSpPr>
                  <a:spLocks/>
                </p:cNvSpPr>
                <p:nvPr/>
              </p:nvSpPr>
              <p:spPr bwMode="auto">
                <a:xfrm>
                  <a:off x="458296" y="2425541"/>
                  <a:ext cx="504547" cy="500809"/>
                </a:xfrm>
                <a:custGeom>
                  <a:avLst/>
                  <a:gdLst>
                    <a:gd name="T0" fmla="*/ 0 w 997"/>
                    <a:gd name="T1" fmla="*/ 1 h 868"/>
                    <a:gd name="T2" fmla="*/ 0 w 997"/>
                    <a:gd name="T3" fmla="*/ 1 h 868"/>
                    <a:gd name="T4" fmla="*/ 0 w 997"/>
                    <a:gd name="T5" fmla="*/ 1 h 868"/>
                    <a:gd name="T6" fmla="*/ 0 w 997"/>
                    <a:gd name="T7" fmla="*/ 1 h 868"/>
                    <a:gd name="T8" fmla="*/ 0 w 997"/>
                    <a:gd name="T9" fmla="*/ 1 h 868"/>
                    <a:gd name="T10" fmla="*/ 0 w 997"/>
                    <a:gd name="T11" fmla="*/ 1 h 868"/>
                    <a:gd name="T12" fmla="*/ 0 w 997"/>
                    <a:gd name="T13" fmla="*/ 1 h 868"/>
                    <a:gd name="T14" fmla="*/ 0 w 997"/>
                    <a:gd name="T15" fmla="*/ 1 h 868"/>
                    <a:gd name="T16" fmla="*/ 0 w 997"/>
                    <a:gd name="T17" fmla="*/ 1 h 868"/>
                    <a:gd name="T18" fmla="*/ 0 w 997"/>
                    <a:gd name="T19" fmla="*/ 1 h 868"/>
                    <a:gd name="T20" fmla="*/ 0 w 997"/>
                    <a:gd name="T21" fmla="*/ 1 h 868"/>
                    <a:gd name="T22" fmla="*/ 0 w 997"/>
                    <a:gd name="T23" fmla="*/ 1 h 868"/>
                    <a:gd name="T24" fmla="*/ 0 w 997"/>
                    <a:gd name="T25" fmla="*/ 1 h 868"/>
                    <a:gd name="T26" fmla="*/ 0 w 997"/>
                    <a:gd name="T27" fmla="*/ 1 h 868"/>
                    <a:gd name="T28" fmla="*/ 0 w 997"/>
                    <a:gd name="T29" fmla="*/ 1 h 868"/>
                    <a:gd name="T30" fmla="*/ 0 w 997"/>
                    <a:gd name="T31" fmla="*/ 1 h 868"/>
                    <a:gd name="T32" fmla="*/ 0 w 997"/>
                    <a:gd name="T33" fmla="*/ 1 h 868"/>
                    <a:gd name="T34" fmla="*/ 0 w 997"/>
                    <a:gd name="T35" fmla="*/ 1 h 868"/>
                    <a:gd name="T36" fmla="*/ 0 w 997"/>
                    <a:gd name="T37" fmla="*/ 1 h 868"/>
                    <a:gd name="T38" fmla="*/ 0 w 997"/>
                    <a:gd name="T39" fmla="*/ 1 h 868"/>
                    <a:gd name="T40" fmla="*/ 0 w 997"/>
                    <a:gd name="T41" fmla="*/ 1 h 868"/>
                    <a:gd name="T42" fmla="*/ 0 w 997"/>
                    <a:gd name="T43" fmla="*/ 1 h 868"/>
                    <a:gd name="T44" fmla="*/ 0 w 997"/>
                    <a:gd name="T45" fmla="*/ 1 h 868"/>
                    <a:gd name="T46" fmla="*/ 0 w 997"/>
                    <a:gd name="T47" fmla="*/ 1 h 868"/>
                    <a:gd name="T48" fmla="*/ 0 w 997"/>
                    <a:gd name="T49" fmla="*/ 1 h 868"/>
                    <a:gd name="T50" fmla="*/ 0 w 997"/>
                    <a:gd name="T51" fmla="*/ 1 h 868"/>
                    <a:gd name="T52" fmla="*/ 0 w 997"/>
                    <a:gd name="T53" fmla="*/ 1 h 868"/>
                    <a:gd name="T54" fmla="*/ 0 w 997"/>
                    <a:gd name="T55" fmla="*/ 1 h 868"/>
                    <a:gd name="T56" fmla="*/ 0 w 997"/>
                    <a:gd name="T57" fmla="*/ 1 h 868"/>
                    <a:gd name="T58" fmla="*/ 0 w 997"/>
                    <a:gd name="T59" fmla="*/ 1 h 868"/>
                    <a:gd name="T60" fmla="*/ 0 w 997"/>
                    <a:gd name="T61" fmla="*/ 1 h 868"/>
                    <a:gd name="T62" fmla="*/ 0 w 997"/>
                    <a:gd name="T63" fmla="*/ 1 h 868"/>
                    <a:gd name="T64" fmla="*/ 0 w 997"/>
                    <a:gd name="T65" fmla="*/ 1 h 868"/>
                    <a:gd name="T66" fmla="*/ 0 w 997"/>
                    <a:gd name="T67" fmla="*/ 1 h 868"/>
                    <a:gd name="T68" fmla="*/ 0 w 997"/>
                    <a:gd name="T69" fmla="*/ 1 h 868"/>
                    <a:gd name="T70" fmla="*/ 0 w 997"/>
                    <a:gd name="T71" fmla="*/ 1 h 868"/>
                    <a:gd name="T72" fmla="*/ 0 w 997"/>
                    <a:gd name="T73" fmla="*/ 0 h 868"/>
                    <a:gd name="T74" fmla="*/ 0 w 997"/>
                    <a:gd name="T75" fmla="*/ 1 h 868"/>
                    <a:gd name="T76" fmla="*/ 0 w 997"/>
                    <a:gd name="T77" fmla="*/ 1 h 868"/>
                    <a:gd name="T78" fmla="*/ 0 w 997"/>
                    <a:gd name="T79" fmla="*/ 1 h 868"/>
                    <a:gd name="T80" fmla="*/ 0 w 997"/>
                    <a:gd name="T81" fmla="*/ 1 h 868"/>
                    <a:gd name="T82" fmla="*/ 0 w 997"/>
                    <a:gd name="T83" fmla="*/ 1 h 868"/>
                    <a:gd name="T84" fmla="*/ 0 w 997"/>
                    <a:gd name="T85" fmla="*/ 1 h 868"/>
                    <a:gd name="T86" fmla="*/ 0 w 997"/>
                    <a:gd name="T87" fmla="*/ 1 h 868"/>
                    <a:gd name="T88" fmla="*/ 0 w 997"/>
                    <a:gd name="T89" fmla="*/ 1 h 868"/>
                    <a:gd name="T90" fmla="*/ 0 w 997"/>
                    <a:gd name="T91" fmla="*/ 1 h 868"/>
                    <a:gd name="T92" fmla="*/ 0 w 997"/>
                    <a:gd name="T93" fmla="*/ 1 h 86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997"/>
                    <a:gd name="T142" fmla="*/ 0 h 868"/>
                    <a:gd name="T143" fmla="*/ 997 w 997"/>
                    <a:gd name="T144" fmla="*/ 868 h 86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997" h="868">
                      <a:moveTo>
                        <a:pt x="0" y="331"/>
                      </a:moveTo>
                      <a:lnTo>
                        <a:pt x="64" y="348"/>
                      </a:lnTo>
                      <a:lnTo>
                        <a:pt x="39" y="355"/>
                      </a:lnTo>
                      <a:lnTo>
                        <a:pt x="66" y="386"/>
                      </a:lnTo>
                      <a:lnTo>
                        <a:pt x="165" y="384"/>
                      </a:lnTo>
                      <a:lnTo>
                        <a:pt x="180" y="404"/>
                      </a:lnTo>
                      <a:lnTo>
                        <a:pt x="244" y="378"/>
                      </a:lnTo>
                      <a:lnTo>
                        <a:pt x="222" y="389"/>
                      </a:lnTo>
                      <a:lnTo>
                        <a:pt x="234" y="443"/>
                      </a:lnTo>
                      <a:lnTo>
                        <a:pt x="98" y="492"/>
                      </a:lnTo>
                      <a:lnTo>
                        <a:pt x="61" y="549"/>
                      </a:lnTo>
                      <a:lnTo>
                        <a:pt x="94" y="541"/>
                      </a:lnTo>
                      <a:lnTo>
                        <a:pt x="69" y="554"/>
                      </a:lnTo>
                      <a:lnTo>
                        <a:pt x="94" y="574"/>
                      </a:lnTo>
                      <a:lnTo>
                        <a:pt x="145" y="580"/>
                      </a:lnTo>
                      <a:lnTo>
                        <a:pt x="116" y="609"/>
                      </a:lnTo>
                      <a:lnTo>
                        <a:pt x="139" y="638"/>
                      </a:lnTo>
                      <a:lnTo>
                        <a:pt x="165" y="641"/>
                      </a:lnTo>
                      <a:lnTo>
                        <a:pt x="219" y="580"/>
                      </a:lnTo>
                      <a:lnTo>
                        <a:pt x="186" y="609"/>
                      </a:lnTo>
                      <a:lnTo>
                        <a:pt x="213" y="667"/>
                      </a:lnTo>
                      <a:lnTo>
                        <a:pt x="200" y="690"/>
                      </a:lnTo>
                      <a:lnTo>
                        <a:pt x="262" y="657"/>
                      </a:lnTo>
                      <a:lnTo>
                        <a:pt x="303" y="699"/>
                      </a:lnTo>
                      <a:lnTo>
                        <a:pt x="316" y="674"/>
                      </a:lnTo>
                      <a:lnTo>
                        <a:pt x="330" y="690"/>
                      </a:lnTo>
                      <a:lnTo>
                        <a:pt x="377" y="668"/>
                      </a:lnTo>
                      <a:lnTo>
                        <a:pt x="312" y="777"/>
                      </a:lnTo>
                      <a:lnTo>
                        <a:pt x="263" y="799"/>
                      </a:lnTo>
                      <a:lnTo>
                        <a:pt x="262" y="822"/>
                      </a:lnTo>
                      <a:lnTo>
                        <a:pt x="200" y="824"/>
                      </a:lnTo>
                      <a:lnTo>
                        <a:pt x="156" y="868"/>
                      </a:lnTo>
                      <a:lnTo>
                        <a:pt x="213" y="835"/>
                      </a:lnTo>
                      <a:lnTo>
                        <a:pt x="278" y="836"/>
                      </a:lnTo>
                      <a:lnTo>
                        <a:pt x="314" y="810"/>
                      </a:lnTo>
                      <a:lnTo>
                        <a:pt x="297" y="788"/>
                      </a:lnTo>
                      <a:lnTo>
                        <a:pt x="337" y="792"/>
                      </a:lnTo>
                      <a:lnTo>
                        <a:pt x="464" y="710"/>
                      </a:lnTo>
                      <a:lnTo>
                        <a:pt x="488" y="679"/>
                      </a:lnTo>
                      <a:lnTo>
                        <a:pt x="465" y="656"/>
                      </a:lnTo>
                      <a:lnTo>
                        <a:pt x="575" y="557"/>
                      </a:lnTo>
                      <a:lnTo>
                        <a:pt x="591" y="507"/>
                      </a:lnTo>
                      <a:lnTo>
                        <a:pt x="579" y="557"/>
                      </a:lnTo>
                      <a:lnTo>
                        <a:pt x="623" y="547"/>
                      </a:lnTo>
                      <a:lnTo>
                        <a:pt x="600" y="568"/>
                      </a:lnTo>
                      <a:lnTo>
                        <a:pt x="634" y="579"/>
                      </a:lnTo>
                      <a:lnTo>
                        <a:pt x="554" y="586"/>
                      </a:lnTo>
                      <a:lnTo>
                        <a:pt x="539" y="633"/>
                      </a:lnTo>
                      <a:lnTo>
                        <a:pt x="568" y="631"/>
                      </a:lnTo>
                      <a:lnTo>
                        <a:pt x="542" y="664"/>
                      </a:lnTo>
                      <a:lnTo>
                        <a:pt x="648" y="622"/>
                      </a:lnTo>
                      <a:lnTo>
                        <a:pt x="663" y="596"/>
                      </a:lnTo>
                      <a:lnTo>
                        <a:pt x="646" y="583"/>
                      </a:lnTo>
                      <a:lnTo>
                        <a:pt x="671" y="558"/>
                      </a:lnTo>
                      <a:lnTo>
                        <a:pt x="667" y="579"/>
                      </a:lnTo>
                      <a:lnTo>
                        <a:pt x="721" y="567"/>
                      </a:lnTo>
                      <a:lnTo>
                        <a:pt x="710" y="587"/>
                      </a:lnTo>
                      <a:lnTo>
                        <a:pt x="797" y="622"/>
                      </a:lnTo>
                      <a:lnTo>
                        <a:pt x="925" y="638"/>
                      </a:lnTo>
                      <a:lnTo>
                        <a:pt x="947" y="619"/>
                      </a:lnTo>
                      <a:lnTo>
                        <a:pt x="965" y="629"/>
                      </a:lnTo>
                      <a:lnTo>
                        <a:pt x="942" y="648"/>
                      </a:lnTo>
                      <a:lnTo>
                        <a:pt x="979" y="667"/>
                      </a:lnTo>
                      <a:lnTo>
                        <a:pt x="997" y="652"/>
                      </a:lnTo>
                      <a:lnTo>
                        <a:pt x="964" y="609"/>
                      </a:lnTo>
                      <a:lnTo>
                        <a:pt x="902" y="609"/>
                      </a:lnTo>
                      <a:lnTo>
                        <a:pt x="902" y="99"/>
                      </a:lnTo>
                      <a:lnTo>
                        <a:pt x="545" y="58"/>
                      </a:lnTo>
                      <a:lnTo>
                        <a:pt x="531" y="33"/>
                      </a:lnTo>
                      <a:lnTo>
                        <a:pt x="432" y="16"/>
                      </a:lnTo>
                      <a:lnTo>
                        <a:pt x="421" y="37"/>
                      </a:lnTo>
                      <a:lnTo>
                        <a:pt x="392" y="32"/>
                      </a:lnTo>
                      <a:lnTo>
                        <a:pt x="420" y="14"/>
                      </a:lnTo>
                      <a:lnTo>
                        <a:pt x="378" y="0"/>
                      </a:lnTo>
                      <a:lnTo>
                        <a:pt x="338" y="33"/>
                      </a:lnTo>
                      <a:lnTo>
                        <a:pt x="274" y="37"/>
                      </a:lnTo>
                      <a:lnTo>
                        <a:pt x="271" y="67"/>
                      </a:lnTo>
                      <a:lnTo>
                        <a:pt x="264" y="49"/>
                      </a:lnTo>
                      <a:lnTo>
                        <a:pt x="204" y="66"/>
                      </a:lnTo>
                      <a:lnTo>
                        <a:pt x="213" y="89"/>
                      </a:lnTo>
                      <a:lnTo>
                        <a:pt x="186" y="82"/>
                      </a:lnTo>
                      <a:lnTo>
                        <a:pt x="149" y="131"/>
                      </a:lnTo>
                      <a:lnTo>
                        <a:pt x="61" y="150"/>
                      </a:lnTo>
                      <a:lnTo>
                        <a:pt x="66" y="172"/>
                      </a:lnTo>
                      <a:lnTo>
                        <a:pt x="40" y="177"/>
                      </a:lnTo>
                      <a:lnTo>
                        <a:pt x="146" y="249"/>
                      </a:lnTo>
                      <a:lnTo>
                        <a:pt x="286" y="283"/>
                      </a:lnTo>
                      <a:lnTo>
                        <a:pt x="200" y="274"/>
                      </a:lnTo>
                      <a:lnTo>
                        <a:pt x="204" y="294"/>
                      </a:lnTo>
                      <a:lnTo>
                        <a:pt x="238" y="296"/>
                      </a:lnTo>
                      <a:lnTo>
                        <a:pt x="209" y="311"/>
                      </a:lnTo>
                      <a:lnTo>
                        <a:pt x="146" y="307"/>
                      </a:lnTo>
                      <a:lnTo>
                        <a:pt x="146" y="276"/>
                      </a:lnTo>
                      <a:lnTo>
                        <a:pt x="113" y="279"/>
                      </a:lnTo>
                      <a:lnTo>
                        <a:pt x="0" y="33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1" name="16341298.25252.752.53.755">
                  <a:extLst>
                    <a:ext uri="{FF2B5EF4-FFF2-40B4-BE49-F238E27FC236}">
                      <a16:creationId xmlns:a16="http://schemas.microsoft.com/office/drawing/2014/main" id="{FC5F7CB8-4DEA-C46B-B991-4D141BCAB505}"/>
                    </a:ext>
                  </a:extLst>
                </p:cNvPr>
                <p:cNvSpPr>
                  <a:spLocks/>
                </p:cNvSpPr>
                <p:nvPr/>
              </p:nvSpPr>
              <p:spPr bwMode="auto">
                <a:xfrm>
                  <a:off x="681188" y="2846729"/>
                  <a:ext cx="44578" cy="28848"/>
                </a:xfrm>
                <a:custGeom>
                  <a:avLst/>
                  <a:gdLst>
                    <a:gd name="T0" fmla="*/ 0 w 88"/>
                    <a:gd name="T1" fmla="*/ 0 h 51"/>
                    <a:gd name="T2" fmla="*/ 1 w 88"/>
                    <a:gd name="T3" fmla="*/ 0 h 51"/>
                    <a:gd name="T4" fmla="*/ 1 w 88"/>
                    <a:gd name="T5" fmla="*/ 0 h 51"/>
                    <a:gd name="T6" fmla="*/ 1 w 88"/>
                    <a:gd name="T7" fmla="*/ 0 h 51"/>
                    <a:gd name="T8" fmla="*/ 1 w 88"/>
                    <a:gd name="T9" fmla="*/ 0 h 51"/>
                    <a:gd name="T10" fmla="*/ 0 w 88"/>
                    <a:gd name="T11" fmla="*/ 0 h 51"/>
                    <a:gd name="T12" fmla="*/ 0 60000 65536"/>
                    <a:gd name="T13" fmla="*/ 0 60000 65536"/>
                    <a:gd name="T14" fmla="*/ 0 60000 65536"/>
                    <a:gd name="T15" fmla="*/ 0 60000 65536"/>
                    <a:gd name="T16" fmla="*/ 0 60000 65536"/>
                    <a:gd name="T17" fmla="*/ 0 60000 65536"/>
                    <a:gd name="T18" fmla="*/ 0 w 88"/>
                    <a:gd name="T19" fmla="*/ 0 h 51"/>
                    <a:gd name="T20" fmla="*/ 88 w 8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88" h="51">
                      <a:moveTo>
                        <a:pt x="0" y="21"/>
                      </a:moveTo>
                      <a:lnTo>
                        <a:pt x="25" y="51"/>
                      </a:lnTo>
                      <a:lnTo>
                        <a:pt x="88" y="8"/>
                      </a:lnTo>
                      <a:lnTo>
                        <a:pt x="29" y="0"/>
                      </a:lnTo>
                      <a:lnTo>
                        <a:pt x="36" y="19"/>
                      </a:lnTo>
                      <a:lnTo>
                        <a:pt x="0" y="2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2" name="16342293.62527611.62511.1255">
                  <a:extLst>
                    <a:ext uri="{FF2B5EF4-FFF2-40B4-BE49-F238E27FC236}">
                      <a16:creationId xmlns:a16="http://schemas.microsoft.com/office/drawing/2014/main" id="{192FE0DB-472B-59AE-215E-21CC43785E9A}"/>
                    </a:ext>
                  </a:extLst>
                </p:cNvPr>
                <p:cNvSpPr>
                  <a:spLocks/>
                </p:cNvSpPr>
                <p:nvPr/>
              </p:nvSpPr>
              <p:spPr bwMode="auto">
                <a:xfrm>
                  <a:off x="964870" y="2791340"/>
                  <a:ext cx="134749" cy="137318"/>
                </a:xfrm>
                <a:custGeom>
                  <a:avLst/>
                  <a:gdLst>
                    <a:gd name="T0" fmla="*/ 0 w 266"/>
                    <a:gd name="T1" fmla="*/ 0 h 239"/>
                    <a:gd name="T2" fmla="*/ 1 w 266"/>
                    <a:gd name="T3" fmla="*/ 0 h 239"/>
                    <a:gd name="T4" fmla="*/ 1 w 266"/>
                    <a:gd name="T5" fmla="*/ 0 h 239"/>
                    <a:gd name="T6" fmla="*/ 1 w 266"/>
                    <a:gd name="T7" fmla="*/ 0 h 239"/>
                    <a:gd name="T8" fmla="*/ 1 w 266"/>
                    <a:gd name="T9" fmla="*/ 0 h 239"/>
                    <a:gd name="T10" fmla="*/ 1 w 266"/>
                    <a:gd name="T11" fmla="*/ 0 h 239"/>
                    <a:gd name="T12" fmla="*/ 1 w 266"/>
                    <a:gd name="T13" fmla="*/ 0 h 239"/>
                    <a:gd name="T14" fmla="*/ 1 w 266"/>
                    <a:gd name="T15" fmla="*/ 0 h 239"/>
                    <a:gd name="T16" fmla="*/ 1 w 266"/>
                    <a:gd name="T17" fmla="*/ 0 h 239"/>
                    <a:gd name="T18" fmla="*/ 1 w 266"/>
                    <a:gd name="T19" fmla="*/ 0 h 239"/>
                    <a:gd name="T20" fmla="*/ 1 w 266"/>
                    <a:gd name="T21" fmla="*/ 0 h 239"/>
                    <a:gd name="T22" fmla="*/ 1 w 266"/>
                    <a:gd name="T23" fmla="*/ 0 h 239"/>
                    <a:gd name="T24" fmla="*/ 1 w 266"/>
                    <a:gd name="T25" fmla="*/ 0 h 239"/>
                    <a:gd name="T26" fmla="*/ 1 w 266"/>
                    <a:gd name="T27" fmla="*/ 0 h 239"/>
                    <a:gd name="T28" fmla="*/ 1 w 266"/>
                    <a:gd name="T29" fmla="*/ 0 h 239"/>
                    <a:gd name="T30" fmla="*/ 1 w 266"/>
                    <a:gd name="T31" fmla="*/ 0 h 239"/>
                    <a:gd name="T32" fmla="*/ 1 w 266"/>
                    <a:gd name="T33" fmla="*/ 0 h 239"/>
                    <a:gd name="T34" fmla="*/ 1 w 266"/>
                    <a:gd name="T35" fmla="*/ 0 h 239"/>
                    <a:gd name="T36" fmla="*/ 1 w 266"/>
                    <a:gd name="T37" fmla="*/ 0 h 239"/>
                    <a:gd name="T38" fmla="*/ 1 w 266"/>
                    <a:gd name="T39" fmla="*/ 0 h 239"/>
                    <a:gd name="T40" fmla="*/ 0 w 266"/>
                    <a:gd name="T41" fmla="*/ 0 h 23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66"/>
                    <a:gd name="T64" fmla="*/ 0 h 239"/>
                    <a:gd name="T65" fmla="*/ 266 w 266"/>
                    <a:gd name="T66" fmla="*/ 239 h 23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66" h="239">
                      <a:moveTo>
                        <a:pt x="0" y="23"/>
                      </a:moveTo>
                      <a:lnTo>
                        <a:pt x="11" y="59"/>
                      </a:lnTo>
                      <a:lnTo>
                        <a:pt x="48" y="73"/>
                      </a:lnTo>
                      <a:lnTo>
                        <a:pt x="64" y="62"/>
                      </a:lnTo>
                      <a:lnTo>
                        <a:pt x="33" y="44"/>
                      </a:lnTo>
                      <a:lnTo>
                        <a:pt x="64" y="44"/>
                      </a:lnTo>
                      <a:lnTo>
                        <a:pt x="92" y="74"/>
                      </a:lnTo>
                      <a:lnTo>
                        <a:pt x="84" y="20"/>
                      </a:lnTo>
                      <a:lnTo>
                        <a:pt x="106" y="67"/>
                      </a:lnTo>
                      <a:lnTo>
                        <a:pt x="162" y="95"/>
                      </a:lnTo>
                      <a:lnTo>
                        <a:pt x="151" y="128"/>
                      </a:lnTo>
                      <a:lnTo>
                        <a:pt x="216" y="169"/>
                      </a:lnTo>
                      <a:lnTo>
                        <a:pt x="198" y="203"/>
                      </a:lnTo>
                      <a:lnTo>
                        <a:pt x="232" y="176"/>
                      </a:lnTo>
                      <a:lnTo>
                        <a:pt x="239" y="239"/>
                      </a:lnTo>
                      <a:lnTo>
                        <a:pt x="264" y="228"/>
                      </a:lnTo>
                      <a:lnTo>
                        <a:pt x="266" y="180"/>
                      </a:lnTo>
                      <a:lnTo>
                        <a:pt x="203" y="154"/>
                      </a:lnTo>
                      <a:lnTo>
                        <a:pt x="85" y="0"/>
                      </a:lnTo>
                      <a:lnTo>
                        <a:pt x="18" y="44"/>
                      </a:lnTo>
                      <a:lnTo>
                        <a:pt x="0" y="2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3" name="16343297.375278.51.8751.755">
                  <a:extLst>
                    <a:ext uri="{FF2B5EF4-FFF2-40B4-BE49-F238E27FC236}">
                      <a16:creationId xmlns:a16="http://schemas.microsoft.com/office/drawing/2014/main" id="{5A37AA26-F19D-F053-2935-46B3BE67F63E}"/>
                    </a:ext>
                  </a:extLst>
                </p:cNvPr>
                <p:cNvSpPr>
                  <a:spLocks/>
                </p:cNvSpPr>
                <p:nvPr/>
              </p:nvSpPr>
              <p:spPr bwMode="auto">
                <a:xfrm>
                  <a:off x="994250" y="2835189"/>
                  <a:ext cx="22290" cy="23078"/>
                </a:xfrm>
                <a:custGeom>
                  <a:avLst/>
                  <a:gdLst>
                    <a:gd name="T0" fmla="*/ 0 w 45"/>
                    <a:gd name="T1" fmla="*/ 0 h 38"/>
                    <a:gd name="T2" fmla="*/ 0 w 45"/>
                    <a:gd name="T3" fmla="*/ 1 h 38"/>
                    <a:gd name="T4" fmla="*/ 0 w 45"/>
                    <a:gd name="T5" fmla="*/ 1 h 38"/>
                    <a:gd name="T6" fmla="*/ 0 w 45"/>
                    <a:gd name="T7" fmla="*/ 1 h 38"/>
                    <a:gd name="T8" fmla="*/ 0 w 45"/>
                    <a:gd name="T9" fmla="*/ 1 h 38"/>
                    <a:gd name="T10" fmla="*/ 0 w 45"/>
                    <a:gd name="T11" fmla="*/ 1 h 38"/>
                    <a:gd name="T12" fmla="*/ 0 w 45"/>
                    <a:gd name="T13" fmla="*/ 0 h 38"/>
                    <a:gd name="T14" fmla="*/ 0 60000 65536"/>
                    <a:gd name="T15" fmla="*/ 0 60000 65536"/>
                    <a:gd name="T16" fmla="*/ 0 60000 65536"/>
                    <a:gd name="T17" fmla="*/ 0 60000 65536"/>
                    <a:gd name="T18" fmla="*/ 0 60000 65536"/>
                    <a:gd name="T19" fmla="*/ 0 60000 65536"/>
                    <a:gd name="T20" fmla="*/ 0 60000 65536"/>
                    <a:gd name="T21" fmla="*/ 0 w 45"/>
                    <a:gd name="T22" fmla="*/ 0 h 38"/>
                    <a:gd name="T23" fmla="*/ 45 w 4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38">
                      <a:moveTo>
                        <a:pt x="0" y="0"/>
                      </a:moveTo>
                      <a:lnTo>
                        <a:pt x="13" y="38"/>
                      </a:lnTo>
                      <a:lnTo>
                        <a:pt x="16" y="19"/>
                      </a:lnTo>
                      <a:lnTo>
                        <a:pt x="45" y="35"/>
                      </a:lnTo>
                      <a:lnTo>
                        <a:pt x="19" y="19"/>
                      </a:lnTo>
                      <a:lnTo>
                        <a:pt x="44" y="7"/>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4" name="16344299279.3752.751.1255">
                  <a:extLst>
                    <a:ext uri="{FF2B5EF4-FFF2-40B4-BE49-F238E27FC236}">
                      <a16:creationId xmlns:a16="http://schemas.microsoft.com/office/drawing/2014/main" id="{44B9F84F-385A-C439-B5F7-4C5AC5EA37F5}"/>
                    </a:ext>
                  </a:extLst>
                </p:cNvPr>
                <p:cNvSpPr>
                  <a:spLocks/>
                </p:cNvSpPr>
                <p:nvPr/>
              </p:nvSpPr>
              <p:spPr bwMode="auto">
                <a:xfrm>
                  <a:off x="1005395" y="2854807"/>
                  <a:ext cx="13171" cy="33464"/>
                </a:xfrm>
                <a:custGeom>
                  <a:avLst/>
                  <a:gdLst>
                    <a:gd name="T0" fmla="*/ 0 w 26"/>
                    <a:gd name="T1" fmla="*/ 0 h 59"/>
                    <a:gd name="T2" fmla="*/ 1 w 26"/>
                    <a:gd name="T3" fmla="*/ 0 h 59"/>
                    <a:gd name="T4" fmla="*/ 1 w 26"/>
                    <a:gd name="T5" fmla="*/ 0 h 59"/>
                    <a:gd name="T6" fmla="*/ 0 w 26"/>
                    <a:gd name="T7" fmla="*/ 0 h 59"/>
                    <a:gd name="T8" fmla="*/ 0 60000 65536"/>
                    <a:gd name="T9" fmla="*/ 0 60000 65536"/>
                    <a:gd name="T10" fmla="*/ 0 60000 65536"/>
                    <a:gd name="T11" fmla="*/ 0 60000 65536"/>
                    <a:gd name="T12" fmla="*/ 0 w 26"/>
                    <a:gd name="T13" fmla="*/ 0 h 59"/>
                    <a:gd name="T14" fmla="*/ 26 w 26"/>
                    <a:gd name="T15" fmla="*/ 59 h 59"/>
                  </a:gdLst>
                  <a:ahLst/>
                  <a:cxnLst>
                    <a:cxn ang="T8">
                      <a:pos x="T0" y="T1"/>
                    </a:cxn>
                    <a:cxn ang="T9">
                      <a:pos x="T2" y="T3"/>
                    </a:cxn>
                    <a:cxn ang="T10">
                      <a:pos x="T4" y="T5"/>
                    </a:cxn>
                    <a:cxn ang="T11">
                      <a:pos x="T6" y="T7"/>
                    </a:cxn>
                  </a:cxnLst>
                  <a:rect l="T12" t="T13" r="T14" b="T15"/>
                  <a:pathLst>
                    <a:path w="26" h="59">
                      <a:moveTo>
                        <a:pt x="0" y="0"/>
                      </a:moveTo>
                      <a:lnTo>
                        <a:pt x="24" y="11"/>
                      </a:lnTo>
                      <a:lnTo>
                        <a:pt x="26" y="59"/>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5" name="16345297.5280.51.751.55">
                  <a:extLst>
                    <a:ext uri="{FF2B5EF4-FFF2-40B4-BE49-F238E27FC236}">
                      <a16:creationId xmlns:a16="http://schemas.microsoft.com/office/drawing/2014/main" id="{5EF188D5-4D31-2E7D-9C99-119596DBE1D6}"/>
                    </a:ext>
                  </a:extLst>
                </p:cNvPr>
                <p:cNvSpPr>
                  <a:spLocks/>
                </p:cNvSpPr>
                <p:nvPr/>
              </p:nvSpPr>
              <p:spPr bwMode="auto">
                <a:xfrm>
                  <a:off x="1019580" y="2837498"/>
                  <a:ext cx="17223" cy="20771"/>
                </a:xfrm>
                <a:custGeom>
                  <a:avLst/>
                  <a:gdLst>
                    <a:gd name="T0" fmla="*/ 0 w 33"/>
                    <a:gd name="T1" fmla="*/ 0 h 36"/>
                    <a:gd name="T2" fmla="*/ 1 w 33"/>
                    <a:gd name="T3" fmla="*/ 1 h 36"/>
                    <a:gd name="T4" fmla="*/ 1 w 33"/>
                    <a:gd name="T5" fmla="*/ 1 h 36"/>
                    <a:gd name="T6" fmla="*/ 1 w 33"/>
                    <a:gd name="T7" fmla="*/ 1 h 36"/>
                    <a:gd name="T8" fmla="*/ 1 w 33"/>
                    <a:gd name="T9" fmla="*/ 1 h 36"/>
                    <a:gd name="T10" fmla="*/ 1 w 33"/>
                    <a:gd name="T11" fmla="*/ 0 h 36"/>
                    <a:gd name="T12" fmla="*/ 0 w 33"/>
                    <a:gd name="T13" fmla="*/ 0 h 36"/>
                    <a:gd name="T14" fmla="*/ 0 60000 65536"/>
                    <a:gd name="T15" fmla="*/ 0 60000 65536"/>
                    <a:gd name="T16" fmla="*/ 0 60000 65536"/>
                    <a:gd name="T17" fmla="*/ 0 60000 65536"/>
                    <a:gd name="T18" fmla="*/ 0 60000 65536"/>
                    <a:gd name="T19" fmla="*/ 0 60000 65536"/>
                    <a:gd name="T20" fmla="*/ 0 60000 65536"/>
                    <a:gd name="T21" fmla="*/ 0 w 33"/>
                    <a:gd name="T22" fmla="*/ 0 h 36"/>
                    <a:gd name="T23" fmla="*/ 33 w 3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
                      <a:moveTo>
                        <a:pt x="0" y="0"/>
                      </a:moveTo>
                      <a:lnTo>
                        <a:pt x="7" y="36"/>
                      </a:lnTo>
                      <a:lnTo>
                        <a:pt x="28" y="36"/>
                      </a:lnTo>
                      <a:lnTo>
                        <a:pt x="18" y="4"/>
                      </a:lnTo>
                      <a:lnTo>
                        <a:pt x="33" y="26"/>
                      </a:lnTo>
                      <a:lnTo>
                        <a:pt x="20" y="0"/>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6" name="16346300.125281.751.251.1255">
                  <a:extLst>
                    <a:ext uri="{FF2B5EF4-FFF2-40B4-BE49-F238E27FC236}">
                      <a16:creationId xmlns:a16="http://schemas.microsoft.com/office/drawing/2014/main" id="{63F566B7-5E7F-AB08-9F3A-D18EF610B7CC}"/>
                    </a:ext>
                  </a:extLst>
                </p:cNvPr>
                <p:cNvSpPr>
                  <a:spLocks/>
                </p:cNvSpPr>
                <p:nvPr/>
              </p:nvSpPr>
              <p:spPr bwMode="auto">
                <a:xfrm>
                  <a:off x="1033764" y="2868653"/>
                  <a:ext cx="14184" cy="15001"/>
                </a:xfrm>
                <a:custGeom>
                  <a:avLst/>
                  <a:gdLst>
                    <a:gd name="T0" fmla="*/ 0 w 29"/>
                    <a:gd name="T1" fmla="*/ 0 h 26"/>
                    <a:gd name="T2" fmla="*/ 0 w 29"/>
                    <a:gd name="T3" fmla="*/ 1 h 26"/>
                    <a:gd name="T4" fmla="*/ 0 w 29"/>
                    <a:gd name="T5" fmla="*/ 1 h 26"/>
                    <a:gd name="T6" fmla="*/ 0 w 29"/>
                    <a:gd name="T7" fmla="*/ 0 h 26"/>
                    <a:gd name="T8" fmla="*/ 0 60000 65536"/>
                    <a:gd name="T9" fmla="*/ 0 60000 65536"/>
                    <a:gd name="T10" fmla="*/ 0 60000 65536"/>
                    <a:gd name="T11" fmla="*/ 0 60000 65536"/>
                    <a:gd name="T12" fmla="*/ 0 w 29"/>
                    <a:gd name="T13" fmla="*/ 0 h 26"/>
                    <a:gd name="T14" fmla="*/ 29 w 29"/>
                    <a:gd name="T15" fmla="*/ 26 h 26"/>
                  </a:gdLst>
                  <a:ahLst/>
                  <a:cxnLst>
                    <a:cxn ang="T8">
                      <a:pos x="T0" y="T1"/>
                    </a:cxn>
                    <a:cxn ang="T9">
                      <a:pos x="T2" y="T3"/>
                    </a:cxn>
                    <a:cxn ang="T10">
                      <a:pos x="T4" y="T5"/>
                    </a:cxn>
                    <a:cxn ang="T11">
                      <a:pos x="T6" y="T7"/>
                    </a:cxn>
                  </a:cxnLst>
                  <a:rect l="T12" t="T13" r="T14" b="T15"/>
                  <a:pathLst>
                    <a:path w="29" h="26">
                      <a:moveTo>
                        <a:pt x="0" y="0"/>
                      </a:moveTo>
                      <a:lnTo>
                        <a:pt x="27" y="26"/>
                      </a:lnTo>
                      <a:lnTo>
                        <a:pt x="29" y="3"/>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7" name="16347301.75282325">
                  <a:extLst>
                    <a:ext uri="{FF2B5EF4-FFF2-40B4-BE49-F238E27FC236}">
                      <a16:creationId xmlns:a16="http://schemas.microsoft.com/office/drawing/2014/main" id="{7AE65C69-4243-D23C-E5F9-71A4D8363188}"/>
                    </a:ext>
                  </a:extLst>
                </p:cNvPr>
                <p:cNvSpPr>
                  <a:spLocks/>
                </p:cNvSpPr>
                <p:nvPr/>
              </p:nvSpPr>
              <p:spPr bwMode="auto">
                <a:xfrm>
                  <a:off x="1037817" y="2888271"/>
                  <a:ext cx="23303" cy="35772"/>
                </a:xfrm>
                <a:custGeom>
                  <a:avLst/>
                  <a:gdLst>
                    <a:gd name="T0" fmla="*/ 0 w 46"/>
                    <a:gd name="T1" fmla="*/ 0 h 62"/>
                    <a:gd name="T2" fmla="*/ 1 w 46"/>
                    <a:gd name="T3" fmla="*/ 1 h 62"/>
                    <a:gd name="T4" fmla="*/ 1 w 46"/>
                    <a:gd name="T5" fmla="*/ 1 h 62"/>
                    <a:gd name="T6" fmla="*/ 0 w 46"/>
                    <a:gd name="T7" fmla="*/ 0 h 62"/>
                    <a:gd name="T8" fmla="*/ 0 60000 65536"/>
                    <a:gd name="T9" fmla="*/ 0 60000 65536"/>
                    <a:gd name="T10" fmla="*/ 0 60000 65536"/>
                    <a:gd name="T11" fmla="*/ 0 60000 65536"/>
                    <a:gd name="T12" fmla="*/ 0 w 46"/>
                    <a:gd name="T13" fmla="*/ 0 h 62"/>
                    <a:gd name="T14" fmla="*/ 46 w 46"/>
                    <a:gd name="T15" fmla="*/ 62 h 62"/>
                  </a:gdLst>
                  <a:ahLst/>
                  <a:cxnLst>
                    <a:cxn ang="T8">
                      <a:pos x="T0" y="T1"/>
                    </a:cxn>
                    <a:cxn ang="T9">
                      <a:pos x="T2" y="T3"/>
                    </a:cxn>
                    <a:cxn ang="T10">
                      <a:pos x="T4" y="T5"/>
                    </a:cxn>
                    <a:cxn ang="T11">
                      <a:pos x="T6" y="T7"/>
                    </a:cxn>
                  </a:cxnLst>
                  <a:rect l="T12" t="T13" r="T14" b="T15"/>
                  <a:pathLst>
                    <a:path w="46" h="62">
                      <a:moveTo>
                        <a:pt x="0" y="0"/>
                      </a:moveTo>
                      <a:lnTo>
                        <a:pt x="36" y="22"/>
                      </a:lnTo>
                      <a:lnTo>
                        <a:pt x="46" y="62"/>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8" name="16348302.6252851.7515">
                  <a:extLst>
                    <a:ext uri="{FF2B5EF4-FFF2-40B4-BE49-F238E27FC236}">
                      <a16:creationId xmlns:a16="http://schemas.microsoft.com/office/drawing/2014/main" id="{1326A4C0-B9E9-0374-555F-F90083B5C7E9}"/>
                    </a:ext>
                  </a:extLst>
                </p:cNvPr>
                <p:cNvSpPr>
                  <a:spLocks/>
                </p:cNvSpPr>
                <p:nvPr/>
              </p:nvSpPr>
              <p:spPr bwMode="auto">
                <a:xfrm>
                  <a:off x="1074290" y="2898656"/>
                  <a:ext cx="12157" cy="20771"/>
                </a:xfrm>
                <a:custGeom>
                  <a:avLst/>
                  <a:gdLst>
                    <a:gd name="T0" fmla="*/ 0 w 23"/>
                    <a:gd name="T1" fmla="*/ 1 h 36"/>
                    <a:gd name="T2" fmla="*/ 1 w 23"/>
                    <a:gd name="T3" fmla="*/ 0 h 36"/>
                    <a:gd name="T4" fmla="*/ 1 w 23"/>
                    <a:gd name="T5" fmla="*/ 1 h 36"/>
                    <a:gd name="T6" fmla="*/ 0 w 23"/>
                    <a:gd name="T7" fmla="*/ 1 h 36"/>
                    <a:gd name="T8" fmla="*/ 0 60000 65536"/>
                    <a:gd name="T9" fmla="*/ 0 60000 65536"/>
                    <a:gd name="T10" fmla="*/ 0 60000 65536"/>
                    <a:gd name="T11" fmla="*/ 0 60000 65536"/>
                    <a:gd name="T12" fmla="*/ 0 w 23"/>
                    <a:gd name="T13" fmla="*/ 0 h 36"/>
                    <a:gd name="T14" fmla="*/ 23 w 23"/>
                    <a:gd name="T15" fmla="*/ 36 h 36"/>
                  </a:gdLst>
                  <a:ahLst/>
                  <a:cxnLst>
                    <a:cxn ang="T8">
                      <a:pos x="T0" y="T1"/>
                    </a:cxn>
                    <a:cxn ang="T9">
                      <a:pos x="T2" y="T3"/>
                    </a:cxn>
                    <a:cxn ang="T10">
                      <a:pos x="T4" y="T5"/>
                    </a:cxn>
                    <a:cxn ang="T11">
                      <a:pos x="T6" y="T7"/>
                    </a:cxn>
                  </a:cxnLst>
                  <a:rect l="T12" t="T13" r="T14" b="T15"/>
                  <a:pathLst>
                    <a:path w="23" h="36">
                      <a:moveTo>
                        <a:pt x="0" y="21"/>
                      </a:moveTo>
                      <a:lnTo>
                        <a:pt x="11" y="0"/>
                      </a:lnTo>
                      <a:lnTo>
                        <a:pt x="23" y="36"/>
                      </a:lnTo>
                      <a:lnTo>
                        <a:pt x="0" y="2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9" name="16349316.75294.62545.5805">
                  <a:extLst>
                    <a:ext uri="{FF2B5EF4-FFF2-40B4-BE49-F238E27FC236}">
                      <a16:creationId xmlns:a16="http://schemas.microsoft.com/office/drawing/2014/main" id="{A6389CC2-2DED-2B24-2F80-4B3D63C690F9}"/>
                    </a:ext>
                  </a:extLst>
                </p:cNvPr>
                <p:cNvSpPr>
                  <a:spLocks/>
                </p:cNvSpPr>
                <p:nvPr/>
              </p:nvSpPr>
              <p:spPr bwMode="auto">
                <a:xfrm>
                  <a:off x="1191817" y="3065978"/>
                  <a:ext cx="974647" cy="538889"/>
                </a:xfrm>
                <a:custGeom>
                  <a:avLst/>
                  <a:gdLst>
                    <a:gd name="T0" fmla="*/ 1 w 1924"/>
                    <a:gd name="T1" fmla="*/ 1 h 934"/>
                    <a:gd name="T2" fmla="*/ 1 w 1924"/>
                    <a:gd name="T3" fmla="*/ 1 h 934"/>
                    <a:gd name="T4" fmla="*/ 1 w 1924"/>
                    <a:gd name="T5" fmla="*/ 1 h 934"/>
                    <a:gd name="T6" fmla="*/ 1 w 1924"/>
                    <a:gd name="T7" fmla="*/ 1 h 934"/>
                    <a:gd name="T8" fmla="*/ 1 w 1924"/>
                    <a:gd name="T9" fmla="*/ 1 h 934"/>
                    <a:gd name="T10" fmla="*/ 1 w 1924"/>
                    <a:gd name="T11" fmla="*/ 1 h 934"/>
                    <a:gd name="T12" fmla="*/ 1 w 1924"/>
                    <a:gd name="T13" fmla="*/ 1 h 934"/>
                    <a:gd name="T14" fmla="*/ 1 w 1924"/>
                    <a:gd name="T15" fmla="*/ 1 h 934"/>
                    <a:gd name="T16" fmla="*/ 1 w 1924"/>
                    <a:gd name="T17" fmla="*/ 1 h 934"/>
                    <a:gd name="T18" fmla="*/ 1 w 1924"/>
                    <a:gd name="T19" fmla="*/ 1 h 934"/>
                    <a:gd name="T20" fmla="*/ 1 w 1924"/>
                    <a:gd name="T21" fmla="*/ 1 h 934"/>
                    <a:gd name="T22" fmla="*/ 1 w 1924"/>
                    <a:gd name="T23" fmla="*/ 1 h 934"/>
                    <a:gd name="T24" fmla="*/ 1 w 1924"/>
                    <a:gd name="T25" fmla="*/ 1 h 934"/>
                    <a:gd name="T26" fmla="*/ 1 w 1924"/>
                    <a:gd name="T27" fmla="*/ 1 h 934"/>
                    <a:gd name="T28" fmla="*/ 1 w 1924"/>
                    <a:gd name="T29" fmla="*/ 1 h 934"/>
                    <a:gd name="T30" fmla="*/ 1 w 1924"/>
                    <a:gd name="T31" fmla="*/ 1 h 934"/>
                    <a:gd name="T32" fmla="*/ 1 w 1924"/>
                    <a:gd name="T33" fmla="*/ 1 h 934"/>
                    <a:gd name="T34" fmla="*/ 1 w 1924"/>
                    <a:gd name="T35" fmla="*/ 1 h 934"/>
                    <a:gd name="T36" fmla="*/ 1 w 1924"/>
                    <a:gd name="T37" fmla="*/ 1 h 934"/>
                    <a:gd name="T38" fmla="*/ 1 w 1924"/>
                    <a:gd name="T39" fmla="*/ 1 h 934"/>
                    <a:gd name="T40" fmla="*/ 1 w 1924"/>
                    <a:gd name="T41" fmla="*/ 1 h 934"/>
                    <a:gd name="T42" fmla="*/ 1 w 1924"/>
                    <a:gd name="T43" fmla="*/ 1 h 934"/>
                    <a:gd name="T44" fmla="*/ 1 w 1924"/>
                    <a:gd name="T45" fmla="*/ 1 h 934"/>
                    <a:gd name="T46" fmla="*/ 1 w 1924"/>
                    <a:gd name="T47" fmla="*/ 1 h 934"/>
                    <a:gd name="T48" fmla="*/ 1 w 1924"/>
                    <a:gd name="T49" fmla="*/ 1 h 934"/>
                    <a:gd name="T50" fmla="*/ 1 w 1924"/>
                    <a:gd name="T51" fmla="*/ 1 h 934"/>
                    <a:gd name="T52" fmla="*/ 1 w 1924"/>
                    <a:gd name="T53" fmla="*/ 1 h 934"/>
                    <a:gd name="T54" fmla="*/ 1 w 1924"/>
                    <a:gd name="T55" fmla="*/ 1 h 934"/>
                    <a:gd name="T56" fmla="*/ 1 w 1924"/>
                    <a:gd name="T57" fmla="*/ 1 h 934"/>
                    <a:gd name="T58" fmla="*/ 1 w 1924"/>
                    <a:gd name="T59" fmla="*/ 1 h 934"/>
                    <a:gd name="T60" fmla="*/ 1 w 1924"/>
                    <a:gd name="T61" fmla="*/ 1 h 934"/>
                    <a:gd name="T62" fmla="*/ 1 w 1924"/>
                    <a:gd name="T63" fmla="*/ 1 h 934"/>
                    <a:gd name="T64" fmla="*/ 1 w 1924"/>
                    <a:gd name="T65" fmla="*/ 1 h 934"/>
                    <a:gd name="T66" fmla="*/ 1 w 1924"/>
                    <a:gd name="T67" fmla="*/ 1 h 934"/>
                    <a:gd name="T68" fmla="*/ 1 w 1924"/>
                    <a:gd name="T69" fmla="*/ 1 h 934"/>
                    <a:gd name="T70" fmla="*/ 1 w 1924"/>
                    <a:gd name="T71" fmla="*/ 1 h 934"/>
                    <a:gd name="T72" fmla="*/ 1 w 1924"/>
                    <a:gd name="T73" fmla="*/ 1 h 934"/>
                    <a:gd name="T74" fmla="*/ 1 w 1924"/>
                    <a:gd name="T75" fmla="*/ 1 h 934"/>
                    <a:gd name="T76" fmla="*/ 1 w 1924"/>
                    <a:gd name="T77" fmla="*/ 1 h 934"/>
                    <a:gd name="T78" fmla="*/ 1 w 1924"/>
                    <a:gd name="T79" fmla="*/ 1 h 934"/>
                    <a:gd name="T80" fmla="*/ 1 w 1924"/>
                    <a:gd name="T81" fmla="*/ 1 h 934"/>
                    <a:gd name="T82" fmla="*/ 1 w 1924"/>
                    <a:gd name="T83" fmla="*/ 1 h 934"/>
                    <a:gd name="T84" fmla="*/ 1 w 1924"/>
                    <a:gd name="T85" fmla="*/ 1 h 934"/>
                    <a:gd name="T86" fmla="*/ 1 w 1924"/>
                    <a:gd name="T87" fmla="*/ 1 h 934"/>
                    <a:gd name="T88" fmla="*/ 1 w 1924"/>
                    <a:gd name="T89" fmla="*/ 0 h 934"/>
                    <a:gd name="T90" fmla="*/ 1 w 1924"/>
                    <a:gd name="T91" fmla="*/ 1 h 934"/>
                    <a:gd name="T92" fmla="*/ 1 w 1924"/>
                    <a:gd name="T93" fmla="*/ 1 h 934"/>
                    <a:gd name="T94" fmla="*/ 0 w 1924"/>
                    <a:gd name="T95" fmla="*/ 1 h 93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924"/>
                    <a:gd name="T145" fmla="*/ 0 h 934"/>
                    <a:gd name="T146" fmla="*/ 1924 w 1924"/>
                    <a:gd name="T147" fmla="*/ 934 h 93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924" h="934">
                      <a:moveTo>
                        <a:pt x="0" y="52"/>
                      </a:moveTo>
                      <a:lnTo>
                        <a:pt x="22" y="128"/>
                      </a:lnTo>
                      <a:lnTo>
                        <a:pt x="49" y="136"/>
                      </a:lnTo>
                      <a:lnTo>
                        <a:pt x="27" y="140"/>
                      </a:lnTo>
                      <a:lnTo>
                        <a:pt x="11" y="371"/>
                      </a:lnTo>
                      <a:lnTo>
                        <a:pt x="59" y="461"/>
                      </a:lnTo>
                      <a:lnTo>
                        <a:pt x="91" y="461"/>
                      </a:lnTo>
                      <a:lnTo>
                        <a:pt x="78" y="495"/>
                      </a:lnTo>
                      <a:lnTo>
                        <a:pt x="140" y="593"/>
                      </a:lnTo>
                      <a:lnTo>
                        <a:pt x="203" y="615"/>
                      </a:lnTo>
                      <a:lnTo>
                        <a:pt x="254" y="671"/>
                      </a:lnTo>
                      <a:lnTo>
                        <a:pt x="331" y="664"/>
                      </a:lnTo>
                      <a:lnTo>
                        <a:pt x="458" y="717"/>
                      </a:lnTo>
                      <a:lnTo>
                        <a:pt x="609" y="696"/>
                      </a:lnTo>
                      <a:lnTo>
                        <a:pt x="701" y="795"/>
                      </a:lnTo>
                      <a:lnTo>
                        <a:pt x="771" y="769"/>
                      </a:lnTo>
                      <a:lnTo>
                        <a:pt x="855" y="889"/>
                      </a:lnTo>
                      <a:lnTo>
                        <a:pt x="921" y="911"/>
                      </a:lnTo>
                      <a:lnTo>
                        <a:pt x="914" y="843"/>
                      </a:lnTo>
                      <a:lnTo>
                        <a:pt x="983" y="802"/>
                      </a:lnTo>
                      <a:lnTo>
                        <a:pt x="989" y="770"/>
                      </a:lnTo>
                      <a:lnTo>
                        <a:pt x="1090" y="769"/>
                      </a:lnTo>
                      <a:lnTo>
                        <a:pt x="1176" y="795"/>
                      </a:lnTo>
                      <a:lnTo>
                        <a:pt x="1178" y="755"/>
                      </a:lnTo>
                      <a:lnTo>
                        <a:pt x="1143" y="750"/>
                      </a:lnTo>
                      <a:lnTo>
                        <a:pt x="1216" y="748"/>
                      </a:lnTo>
                      <a:lnTo>
                        <a:pt x="1220" y="729"/>
                      </a:lnTo>
                      <a:lnTo>
                        <a:pt x="1226" y="752"/>
                      </a:lnTo>
                      <a:lnTo>
                        <a:pt x="1362" y="761"/>
                      </a:lnTo>
                      <a:lnTo>
                        <a:pt x="1398" y="794"/>
                      </a:lnTo>
                      <a:lnTo>
                        <a:pt x="1403" y="854"/>
                      </a:lnTo>
                      <a:lnTo>
                        <a:pt x="1447" y="934"/>
                      </a:lnTo>
                      <a:lnTo>
                        <a:pt x="1473" y="931"/>
                      </a:lnTo>
                      <a:lnTo>
                        <a:pt x="1484" y="871"/>
                      </a:lnTo>
                      <a:lnTo>
                        <a:pt x="1439" y="729"/>
                      </a:lnTo>
                      <a:lnTo>
                        <a:pt x="1466" y="670"/>
                      </a:lnTo>
                      <a:lnTo>
                        <a:pt x="1635" y="554"/>
                      </a:lnTo>
                      <a:lnTo>
                        <a:pt x="1602" y="542"/>
                      </a:lnTo>
                      <a:lnTo>
                        <a:pt x="1633" y="538"/>
                      </a:lnTo>
                      <a:lnTo>
                        <a:pt x="1609" y="499"/>
                      </a:lnTo>
                      <a:lnTo>
                        <a:pt x="1615" y="466"/>
                      </a:lnTo>
                      <a:lnTo>
                        <a:pt x="1580" y="440"/>
                      </a:lnTo>
                      <a:lnTo>
                        <a:pt x="1615" y="458"/>
                      </a:lnTo>
                      <a:lnTo>
                        <a:pt x="1604" y="417"/>
                      </a:lnTo>
                      <a:lnTo>
                        <a:pt x="1628" y="404"/>
                      </a:lnTo>
                      <a:lnTo>
                        <a:pt x="1633" y="495"/>
                      </a:lnTo>
                      <a:lnTo>
                        <a:pt x="1659" y="441"/>
                      </a:lnTo>
                      <a:lnTo>
                        <a:pt x="1642" y="399"/>
                      </a:lnTo>
                      <a:lnTo>
                        <a:pt x="1660" y="424"/>
                      </a:lnTo>
                      <a:lnTo>
                        <a:pt x="1694" y="351"/>
                      </a:lnTo>
                      <a:lnTo>
                        <a:pt x="1829" y="318"/>
                      </a:lnTo>
                      <a:lnTo>
                        <a:pt x="1795" y="297"/>
                      </a:lnTo>
                      <a:lnTo>
                        <a:pt x="1819" y="241"/>
                      </a:lnTo>
                      <a:lnTo>
                        <a:pt x="1921" y="199"/>
                      </a:lnTo>
                      <a:lnTo>
                        <a:pt x="1924" y="176"/>
                      </a:lnTo>
                      <a:lnTo>
                        <a:pt x="1899" y="157"/>
                      </a:lnTo>
                      <a:lnTo>
                        <a:pt x="1899" y="103"/>
                      </a:lnTo>
                      <a:lnTo>
                        <a:pt x="1844" y="85"/>
                      </a:lnTo>
                      <a:lnTo>
                        <a:pt x="1803" y="173"/>
                      </a:lnTo>
                      <a:lnTo>
                        <a:pt x="1633" y="206"/>
                      </a:lnTo>
                      <a:lnTo>
                        <a:pt x="1620" y="245"/>
                      </a:lnTo>
                      <a:lnTo>
                        <a:pt x="1523" y="260"/>
                      </a:lnTo>
                      <a:lnTo>
                        <a:pt x="1529" y="272"/>
                      </a:lnTo>
                      <a:lnTo>
                        <a:pt x="1431" y="326"/>
                      </a:lnTo>
                      <a:lnTo>
                        <a:pt x="1389" y="325"/>
                      </a:lnTo>
                      <a:lnTo>
                        <a:pt x="1387" y="308"/>
                      </a:lnTo>
                      <a:lnTo>
                        <a:pt x="1395" y="292"/>
                      </a:lnTo>
                      <a:lnTo>
                        <a:pt x="1404" y="281"/>
                      </a:lnTo>
                      <a:lnTo>
                        <a:pt x="1409" y="264"/>
                      </a:lnTo>
                      <a:lnTo>
                        <a:pt x="1395" y="224"/>
                      </a:lnTo>
                      <a:lnTo>
                        <a:pt x="1360" y="239"/>
                      </a:lnTo>
                      <a:lnTo>
                        <a:pt x="1373" y="175"/>
                      </a:lnTo>
                      <a:lnTo>
                        <a:pt x="1322" y="157"/>
                      </a:lnTo>
                      <a:lnTo>
                        <a:pt x="1282" y="199"/>
                      </a:lnTo>
                      <a:lnTo>
                        <a:pt x="1267" y="311"/>
                      </a:lnTo>
                      <a:lnTo>
                        <a:pt x="1237" y="314"/>
                      </a:lnTo>
                      <a:lnTo>
                        <a:pt x="1227" y="261"/>
                      </a:lnTo>
                      <a:lnTo>
                        <a:pt x="1252" y="177"/>
                      </a:lnTo>
                      <a:lnTo>
                        <a:pt x="1229" y="191"/>
                      </a:lnTo>
                      <a:lnTo>
                        <a:pt x="1270" y="147"/>
                      </a:lnTo>
                      <a:lnTo>
                        <a:pt x="1359" y="146"/>
                      </a:lnTo>
                      <a:lnTo>
                        <a:pt x="1343" y="124"/>
                      </a:lnTo>
                      <a:lnTo>
                        <a:pt x="1337" y="124"/>
                      </a:lnTo>
                      <a:lnTo>
                        <a:pt x="1208" y="111"/>
                      </a:lnTo>
                      <a:lnTo>
                        <a:pt x="1229" y="84"/>
                      </a:lnTo>
                      <a:lnTo>
                        <a:pt x="1149" y="120"/>
                      </a:lnTo>
                      <a:lnTo>
                        <a:pt x="1088" y="120"/>
                      </a:lnTo>
                      <a:lnTo>
                        <a:pt x="1163" y="62"/>
                      </a:lnTo>
                      <a:lnTo>
                        <a:pt x="1005" y="30"/>
                      </a:lnTo>
                      <a:lnTo>
                        <a:pt x="984" y="0"/>
                      </a:lnTo>
                      <a:lnTo>
                        <a:pt x="983" y="19"/>
                      </a:lnTo>
                      <a:lnTo>
                        <a:pt x="63" y="19"/>
                      </a:lnTo>
                      <a:lnTo>
                        <a:pt x="81" y="56"/>
                      </a:lnTo>
                      <a:lnTo>
                        <a:pt x="59" y="85"/>
                      </a:lnTo>
                      <a:lnTo>
                        <a:pt x="66" y="55"/>
                      </a:lnTo>
                      <a:lnTo>
                        <a:pt x="0" y="5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0" name="16351453.625386.58.757.255">
                  <a:extLst>
                    <a:ext uri="{FF2B5EF4-FFF2-40B4-BE49-F238E27FC236}">
                      <a16:creationId xmlns:a16="http://schemas.microsoft.com/office/drawing/2014/main" id="{90958E8F-DF5F-9BC3-D74C-A18E00F16393}"/>
                    </a:ext>
                  </a:extLst>
                </p:cNvPr>
                <p:cNvSpPr>
                  <a:spLocks/>
                </p:cNvSpPr>
                <p:nvPr/>
              </p:nvSpPr>
              <p:spPr bwMode="auto">
                <a:xfrm>
                  <a:off x="2311342" y="4689567"/>
                  <a:ext cx="88143" cy="102701"/>
                </a:xfrm>
                <a:custGeom>
                  <a:avLst/>
                  <a:gdLst>
                    <a:gd name="T0" fmla="*/ 0 w 174"/>
                    <a:gd name="T1" fmla="*/ 0 h 179"/>
                    <a:gd name="T2" fmla="*/ 1 w 174"/>
                    <a:gd name="T3" fmla="*/ 0 h 179"/>
                    <a:gd name="T4" fmla="*/ 1 w 174"/>
                    <a:gd name="T5" fmla="*/ 0 h 179"/>
                    <a:gd name="T6" fmla="*/ 1 w 174"/>
                    <a:gd name="T7" fmla="*/ 0 h 179"/>
                    <a:gd name="T8" fmla="*/ 1 w 174"/>
                    <a:gd name="T9" fmla="*/ 0 h 179"/>
                    <a:gd name="T10" fmla="*/ 1 w 174"/>
                    <a:gd name="T11" fmla="*/ 0 h 179"/>
                    <a:gd name="T12" fmla="*/ 1 w 174"/>
                    <a:gd name="T13" fmla="*/ 0 h 179"/>
                    <a:gd name="T14" fmla="*/ 0 w 174"/>
                    <a:gd name="T15" fmla="*/ 0 h 179"/>
                    <a:gd name="T16" fmla="*/ 0 60000 65536"/>
                    <a:gd name="T17" fmla="*/ 0 60000 65536"/>
                    <a:gd name="T18" fmla="*/ 0 60000 65536"/>
                    <a:gd name="T19" fmla="*/ 0 60000 65536"/>
                    <a:gd name="T20" fmla="*/ 0 60000 65536"/>
                    <a:gd name="T21" fmla="*/ 0 60000 65536"/>
                    <a:gd name="T22" fmla="*/ 0 60000 65536"/>
                    <a:gd name="T23" fmla="*/ 0 60000 65536"/>
                    <a:gd name="T24" fmla="*/ 0 w 174"/>
                    <a:gd name="T25" fmla="*/ 0 h 179"/>
                    <a:gd name="T26" fmla="*/ 174 w 174"/>
                    <a:gd name="T27" fmla="*/ 179 h 1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4" h="179">
                      <a:moveTo>
                        <a:pt x="0" y="144"/>
                      </a:moveTo>
                      <a:lnTo>
                        <a:pt x="29" y="7"/>
                      </a:lnTo>
                      <a:lnTo>
                        <a:pt x="53" y="0"/>
                      </a:lnTo>
                      <a:lnTo>
                        <a:pt x="154" y="70"/>
                      </a:lnTo>
                      <a:lnTo>
                        <a:pt x="174" y="99"/>
                      </a:lnTo>
                      <a:lnTo>
                        <a:pt x="166" y="135"/>
                      </a:lnTo>
                      <a:lnTo>
                        <a:pt x="119" y="179"/>
                      </a:lnTo>
                      <a:lnTo>
                        <a:pt x="0" y="14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1" name="16352439.375365.87557.2527.255">
                  <a:extLst>
                    <a:ext uri="{FF2B5EF4-FFF2-40B4-BE49-F238E27FC236}">
                      <a16:creationId xmlns:a16="http://schemas.microsoft.com/office/drawing/2014/main" id="{6D4E91E7-AD6C-CC86-DD67-3B925760C730}"/>
                    </a:ext>
                  </a:extLst>
                </p:cNvPr>
                <p:cNvSpPr>
                  <a:spLocks/>
                </p:cNvSpPr>
                <p:nvPr/>
              </p:nvSpPr>
              <p:spPr bwMode="auto">
                <a:xfrm>
                  <a:off x="2059069" y="4519939"/>
                  <a:ext cx="333325" cy="679670"/>
                </a:xfrm>
                <a:custGeom>
                  <a:avLst/>
                  <a:gdLst>
                    <a:gd name="T0" fmla="*/ 0 w 657"/>
                    <a:gd name="T1" fmla="*/ 1 h 1177"/>
                    <a:gd name="T2" fmla="*/ 1 w 657"/>
                    <a:gd name="T3" fmla="*/ 1 h 1177"/>
                    <a:gd name="T4" fmla="*/ 1 w 657"/>
                    <a:gd name="T5" fmla="*/ 1 h 1177"/>
                    <a:gd name="T6" fmla="*/ 1 w 657"/>
                    <a:gd name="T7" fmla="*/ 1 h 1177"/>
                    <a:gd name="T8" fmla="*/ 1 w 657"/>
                    <a:gd name="T9" fmla="*/ 1 h 1177"/>
                    <a:gd name="T10" fmla="*/ 1 w 657"/>
                    <a:gd name="T11" fmla="*/ 1 h 1177"/>
                    <a:gd name="T12" fmla="*/ 1 w 657"/>
                    <a:gd name="T13" fmla="*/ 1 h 1177"/>
                    <a:gd name="T14" fmla="*/ 1 w 657"/>
                    <a:gd name="T15" fmla="*/ 1 h 1177"/>
                    <a:gd name="T16" fmla="*/ 1 w 657"/>
                    <a:gd name="T17" fmla="*/ 1 h 1177"/>
                    <a:gd name="T18" fmla="*/ 1 w 657"/>
                    <a:gd name="T19" fmla="*/ 1 h 1177"/>
                    <a:gd name="T20" fmla="*/ 1 w 657"/>
                    <a:gd name="T21" fmla="*/ 1 h 1177"/>
                    <a:gd name="T22" fmla="*/ 1 w 657"/>
                    <a:gd name="T23" fmla="*/ 1 h 1177"/>
                    <a:gd name="T24" fmla="*/ 1 w 657"/>
                    <a:gd name="T25" fmla="*/ 1 h 1177"/>
                    <a:gd name="T26" fmla="*/ 1 w 657"/>
                    <a:gd name="T27" fmla="*/ 1 h 1177"/>
                    <a:gd name="T28" fmla="*/ 1 w 657"/>
                    <a:gd name="T29" fmla="*/ 1 h 1177"/>
                    <a:gd name="T30" fmla="*/ 1 w 657"/>
                    <a:gd name="T31" fmla="*/ 1 h 1177"/>
                    <a:gd name="T32" fmla="*/ 1 w 657"/>
                    <a:gd name="T33" fmla="*/ 1 h 1177"/>
                    <a:gd name="T34" fmla="*/ 1 w 657"/>
                    <a:gd name="T35" fmla="*/ 1 h 1177"/>
                    <a:gd name="T36" fmla="*/ 1 w 657"/>
                    <a:gd name="T37" fmla="*/ 1 h 1177"/>
                    <a:gd name="T38" fmla="*/ 1 w 657"/>
                    <a:gd name="T39" fmla="*/ 1 h 1177"/>
                    <a:gd name="T40" fmla="*/ 1 w 657"/>
                    <a:gd name="T41" fmla="*/ 1 h 1177"/>
                    <a:gd name="T42" fmla="*/ 1 w 657"/>
                    <a:gd name="T43" fmla="*/ 1 h 1177"/>
                    <a:gd name="T44" fmla="*/ 1 w 657"/>
                    <a:gd name="T45" fmla="*/ 1 h 1177"/>
                    <a:gd name="T46" fmla="*/ 1 w 657"/>
                    <a:gd name="T47" fmla="*/ 1 h 1177"/>
                    <a:gd name="T48" fmla="*/ 1 w 657"/>
                    <a:gd name="T49" fmla="*/ 1 h 1177"/>
                    <a:gd name="T50" fmla="*/ 1 w 657"/>
                    <a:gd name="T51" fmla="*/ 1 h 1177"/>
                    <a:gd name="T52" fmla="*/ 1 w 657"/>
                    <a:gd name="T53" fmla="*/ 1 h 1177"/>
                    <a:gd name="T54" fmla="*/ 1 w 657"/>
                    <a:gd name="T55" fmla="*/ 1 h 1177"/>
                    <a:gd name="T56" fmla="*/ 1 w 657"/>
                    <a:gd name="T57" fmla="*/ 1 h 1177"/>
                    <a:gd name="T58" fmla="*/ 1 w 657"/>
                    <a:gd name="T59" fmla="*/ 1 h 1177"/>
                    <a:gd name="T60" fmla="*/ 1 w 657"/>
                    <a:gd name="T61" fmla="*/ 1 h 1177"/>
                    <a:gd name="T62" fmla="*/ 1 w 657"/>
                    <a:gd name="T63" fmla="*/ 1 h 1177"/>
                    <a:gd name="T64" fmla="*/ 1 w 657"/>
                    <a:gd name="T65" fmla="*/ 1 h 1177"/>
                    <a:gd name="T66" fmla="*/ 1 w 657"/>
                    <a:gd name="T67" fmla="*/ 1 h 1177"/>
                    <a:gd name="T68" fmla="*/ 1 w 657"/>
                    <a:gd name="T69" fmla="*/ 0 h 1177"/>
                    <a:gd name="T70" fmla="*/ 1 w 657"/>
                    <a:gd name="T71" fmla="*/ 1 h 1177"/>
                    <a:gd name="T72" fmla="*/ 1 w 657"/>
                    <a:gd name="T73" fmla="*/ 1 h 1177"/>
                    <a:gd name="T74" fmla="*/ 1 w 657"/>
                    <a:gd name="T75" fmla="*/ 1 h 1177"/>
                    <a:gd name="T76" fmla="*/ 1 w 657"/>
                    <a:gd name="T77" fmla="*/ 1 h 1177"/>
                    <a:gd name="T78" fmla="*/ 1 w 657"/>
                    <a:gd name="T79" fmla="*/ 1 h 1177"/>
                    <a:gd name="T80" fmla="*/ 1 w 657"/>
                    <a:gd name="T81" fmla="*/ 1 h 1177"/>
                    <a:gd name="T82" fmla="*/ 1 w 657"/>
                    <a:gd name="T83" fmla="*/ 1 h 1177"/>
                    <a:gd name="T84" fmla="*/ 1 w 657"/>
                    <a:gd name="T85" fmla="*/ 1 h 1177"/>
                    <a:gd name="T86" fmla="*/ 1 w 657"/>
                    <a:gd name="T87" fmla="*/ 1 h 1177"/>
                    <a:gd name="T88" fmla="*/ 1 w 657"/>
                    <a:gd name="T89" fmla="*/ 1 h 1177"/>
                    <a:gd name="T90" fmla="*/ 1 w 657"/>
                    <a:gd name="T91" fmla="*/ 1 h 1177"/>
                    <a:gd name="T92" fmla="*/ 1 w 657"/>
                    <a:gd name="T93" fmla="*/ 1 h 1177"/>
                    <a:gd name="T94" fmla="*/ 0 w 657"/>
                    <a:gd name="T95" fmla="*/ 1 h 117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57"/>
                    <a:gd name="T145" fmla="*/ 0 h 1177"/>
                    <a:gd name="T146" fmla="*/ 657 w 657"/>
                    <a:gd name="T147" fmla="*/ 1177 h 117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57" h="1177">
                      <a:moveTo>
                        <a:pt x="0" y="1089"/>
                      </a:moveTo>
                      <a:lnTo>
                        <a:pt x="6" y="1114"/>
                      </a:lnTo>
                      <a:lnTo>
                        <a:pt x="33" y="1106"/>
                      </a:lnTo>
                      <a:lnTo>
                        <a:pt x="44" y="1165"/>
                      </a:lnTo>
                      <a:lnTo>
                        <a:pt x="165" y="1177"/>
                      </a:lnTo>
                      <a:lnTo>
                        <a:pt x="132" y="1147"/>
                      </a:lnTo>
                      <a:lnTo>
                        <a:pt x="157" y="1067"/>
                      </a:lnTo>
                      <a:lnTo>
                        <a:pt x="180" y="1082"/>
                      </a:lnTo>
                      <a:lnTo>
                        <a:pt x="256" y="971"/>
                      </a:lnTo>
                      <a:lnTo>
                        <a:pt x="197" y="908"/>
                      </a:lnTo>
                      <a:lnTo>
                        <a:pt x="263" y="869"/>
                      </a:lnTo>
                      <a:lnTo>
                        <a:pt x="272" y="811"/>
                      </a:lnTo>
                      <a:lnTo>
                        <a:pt x="303" y="785"/>
                      </a:lnTo>
                      <a:lnTo>
                        <a:pt x="276" y="774"/>
                      </a:lnTo>
                      <a:lnTo>
                        <a:pt x="326" y="774"/>
                      </a:lnTo>
                      <a:lnTo>
                        <a:pt x="320" y="747"/>
                      </a:lnTo>
                      <a:lnTo>
                        <a:pt x="298" y="766"/>
                      </a:lnTo>
                      <a:lnTo>
                        <a:pt x="276" y="745"/>
                      </a:lnTo>
                      <a:lnTo>
                        <a:pt x="274" y="703"/>
                      </a:lnTo>
                      <a:lnTo>
                        <a:pt x="363" y="707"/>
                      </a:lnTo>
                      <a:lnTo>
                        <a:pt x="371" y="620"/>
                      </a:lnTo>
                      <a:lnTo>
                        <a:pt x="513" y="606"/>
                      </a:lnTo>
                      <a:lnTo>
                        <a:pt x="554" y="546"/>
                      </a:lnTo>
                      <a:lnTo>
                        <a:pt x="498" y="437"/>
                      </a:lnTo>
                      <a:lnTo>
                        <a:pt x="527" y="300"/>
                      </a:lnTo>
                      <a:lnTo>
                        <a:pt x="657" y="187"/>
                      </a:lnTo>
                      <a:lnTo>
                        <a:pt x="652" y="136"/>
                      </a:lnTo>
                      <a:lnTo>
                        <a:pt x="626" y="135"/>
                      </a:lnTo>
                      <a:lnTo>
                        <a:pt x="591" y="195"/>
                      </a:lnTo>
                      <a:lnTo>
                        <a:pt x="501" y="191"/>
                      </a:lnTo>
                      <a:lnTo>
                        <a:pt x="520" y="124"/>
                      </a:lnTo>
                      <a:lnTo>
                        <a:pt x="359" y="18"/>
                      </a:lnTo>
                      <a:lnTo>
                        <a:pt x="305" y="9"/>
                      </a:lnTo>
                      <a:lnTo>
                        <a:pt x="301" y="31"/>
                      </a:lnTo>
                      <a:lnTo>
                        <a:pt x="239" y="0"/>
                      </a:lnTo>
                      <a:lnTo>
                        <a:pt x="204" y="38"/>
                      </a:lnTo>
                      <a:lnTo>
                        <a:pt x="201" y="80"/>
                      </a:lnTo>
                      <a:lnTo>
                        <a:pt x="164" y="98"/>
                      </a:lnTo>
                      <a:lnTo>
                        <a:pt x="165" y="179"/>
                      </a:lnTo>
                      <a:lnTo>
                        <a:pt x="125" y="224"/>
                      </a:lnTo>
                      <a:lnTo>
                        <a:pt x="94" y="338"/>
                      </a:lnTo>
                      <a:lnTo>
                        <a:pt x="117" y="447"/>
                      </a:lnTo>
                      <a:lnTo>
                        <a:pt x="74" y="539"/>
                      </a:lnTo>
                      <a:lnTo>
                        <a:pt x="44" y="769"/>
                      </a:lnTo>
                      <a:lnTo>
                        <a:pt x="68" y="853"/>
                      </a:lnTo>
                      <a:lnTo>
                        <a:pt x="46" y="860"/>
                      </a:lnTo>
                      <a:lnTo>
                        <a:pt x="57" y="934"/>
                      </a:lnTo>
                      <a:lnTo>
                        <a:pt x="0" y="108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2" name="16354395.5365.12564.62554.1255">
                  <a:extLst>
                    <a:ext uri="{FF2B5EF4-FFF2-40B4-BE49-F238E27FC236}">
                      <a16:creationId xmlns:a16="http://schemas.microsoft.com/office/drawing/2014/main" id="{E54AC977-0B9F-B288-7EEC-481986195D0F}"/>
                    </a:ext>
                  </a:extLst>
                </p:cNvPr>
                <p:cNvSpPr>
                  <a:spLocks/>
                </p:cNvSpPr>
                <p:nvPr/>
              </p:nvSpPr>
              <p:spPr bwMode="auto">
                <a:xfrm>
                  <a:off x="2050965" y="3999514"/>
                  <a:ext cx="659559" cy="767369"/>
                </a:xfrm>
                <a:custGeom>
                  <a:avLst/>
                  <a:gdLst>
                    <a:gd name="T0" fmla="*/ 0 w 1303"/>
                    <a:gd name="T1" fmla="*/ 0 h 1332"/>
                    <a:gd name="T2" fmla="*/ 0 w 1303"/>
                    <a:gd name="T3" fmla="*/ 0 h 1332"/>
                    <a:gd name="T4" fmla="*/ 0 w 1303"/>
                    <a:gd name="T5" fmla="*/ 0 h 1332"/>
                    <a:gd name="T6" fmla="*/ 0 w 1303"/>
                    <a:gd name="T7" fmla="*/ 0 h 1332"/>
                    <a:gd name="T8" fmla="*/ 0 w 1303"/>
                    <a:gd name="T9" fmla="*/ 0 h 1332"/>
                    <a:gd name="T10" fmla="*/ 0 w 1303"/>
                    <a:gd name="T11" fmla="*/ 0 h 1332"/>
                    <a:gd name="T12" fmla="*/ 0 w 1303"/>
                    <a:gd name="T13" fmla="*/ 0 h 1332"/>
                    <a:gd name="T14" fmla="*/ 0 w 1303"/>
                    <a:gd name="T15" fmla="*/ 0 h 1332"/>
                    <a:gd name="T16" fmla="*/ 0 w 1303"/>
                    <a:gd name="T17" fmla="*/ 0 h 1332"/>
                    <a:gd name="T18" fmla="*/ 0 w 1303"/>
                    <a:gd name="T19" fmla="*/ 0 h 1332"/>
                    <a:gd name="T20" fmla="*/ 0 w 1303"/>
                    <a:gd name="T21" fmla="*/ 0 h 1332"/>
                    <a:gd name="T22" fmla="*/ 0 w 1303"/>
                    <a:gd name="T23" fmla="*/ 0 h 1332"/>
                    <a:gd name="T24" fmla="*/ 0 w 1303"/>
                    <a:gd name="T25" fmla="*/ 0 h 1332"/>
                    <a:gd name="T26" fmla="*/ 0 w 1303"/>
                    <a:gd name="T27" fmla="*/ 0 h 1332"/>
                    <a:gd name="T28" fmla="*/ 0 w 1303"/>
                    <a:gd name="T29" fmla="*/ 0 h 1332"/>
                    <a:gd name="T30" fmla="*/ 0 w 1303"/>
                    <a:gd name="T31" fmla="*/ 0 h 1332"/>
                    <a:gd name="T32" fmla="*/ 0 w 1303"/>
                    <a:gd name="T33" fmla="*/ 0 h 1332"/>
                    <a:gd name="T34" fmla="*/ 0 w 1303"/>
                    <a:gd name="T35" fmla="*/ 0 h 1332"/>
                    <a:gd name="T36" fmla="*/ 0 w 1303"/>
                    <a:gd name="T37" fmla="*/ 0 h 1332"/>
                    <a:gd name="T38" fmla="*/ 0 w 1303"/>
                    <a:gd name="T39" fmla="*/ 0 h 1332"/>
                    <a:gd name="T40" fmla="*/ 0 w 1303"/>
                    <a:gd name="T41" fmla="*/ 0 h 1332"/>
                    <a:gd name="T42" fmla="*/ 0 w 1303"/>
                    <a:gd name="T43" fmla="*/ 0 h 1332"/>
                    <a:gd name="T44" fmla="*/ 0 w 1303"/>
                    <a:gd name="T45" fmla="*/ 0 h 1332"/>
                    <a:gd name="T46" fmla="*/ 0 w 1303"/>
                    <a:gd name="T47" fmla="*/ 0 h 1332"/>
                    <a:gd name="T48" fmla="*/ 0 w 1303"/>
                    <a:gd name="T49" fmla="*/ 0 h 1332"/>
                    <a:gd name="T50" fmla="*/ 0 w 1303"/>
                    <a:gd name="T51" fmla="*/ 0 h 1332"/>
                    <a:gd name="T52" fmla="*/ 0 w 1303"/>
                    <a:gd name="T53" fmla="*/ 0 h 1332"/>
                    <a:gd name="T54" fmla="*/ 0 w 1303"/>
                    <a:gd name="T55" fmla="*/ 0 h 1332"/>
                    <a:gd name="T56" fmla="*/ 0 w 1303"/>
                    <a:gd name="T57" fmla="*/ 0 h 1332"/>
                    <a:gd name="T58" fmla="*/ 0 w 1303"/>
                    <a:gd name="T59" fmla="*/ 0 h 1332"/>
                    <a:gd name="T60" fmla="*/ 0 w 1303"/>
                    <a:gd name="T61" fmla="*/ 0 h 1332"/>
                    <a:gd name="T62" fmla="*/ 0 w 1303"/>
                    <a:gd name="T63" fmla="*/ 0 h 1332"/>
                    <a:gd name="T64" fmla="*/ 0 w 1303"/>
                    <a:gd name="T65" fmla="*/ 0 h 1332"/>
                    <a:gd name="T66" fmla="*/ 0 w 1303"/>
                    <a:gd name="T67" fmla="*/ 0 h 1332"/>
                    <a:gd name="T68" fmla="*/ 0 w 1303"/>
                    <a:gd name="T69" fmla="*/ 0 h 133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303"/>
                    <a:gd name="T106" fmla="*/ 0 h 1332"/>
                    <a:gd name="T107" fmla="*/ 1303 w 1303"/>
                    <a:gd name="T108" fmla="*/ 1332 h 133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303" h="1332">
                      <a:moveTo>
                        <a:pt x="0" y="421"/>
                      </a:moveTo>
                      <a:lnTo>
                        <a:pt x="29" y="483"/>
                      </a:lnTo>
                      <a:lnTo>
                        <a:pt x="74" y="504"/>
                      </a:lnTo>
                      <a:lnTo>
                        <a:pt x="110" y="480"/>
                      </a:lnTo>
                      <a:lnTo>
                        <a:pt x="110" y="535"/>
                      </a:lnTo>
                      <a:lnTo>
                        <a:pt x="139" y="535"/>
                      </a:lnTo>
                      <a:lnTo>
                        <a:pt x="180" y="538"/>
                      </a:lnTo>
                      <a:lnTo>
                        <a:pt x="280" y="490"/>
                      </a:lnTo>
                      <a:lnTo>
                        <a:pt x="288" y="565"/>
                      </a:lnTo>
                      <a:lnTo>
                        <a:pt x="437" y="625"/>
                      </a:lnTo>
                      <a:lnTo>
                        <a:pt x="460" y="714"/>
                      </a:lnTo>
                      <a:lnTo>
                        <a:pt x="517" y="718"/>
                      </a:lnTo>
                      <a:lnTo>
                        <a:pt x="538" y="777"/>
                      </a:lnTo>
                      <a:lnTo>
                        <a:pt x="526" y="846"/>
                      </a:lnTo>
                      <a:lnTo>
                        <a:pt x="534" y="913"/>
                      </a:lnTo>
                      <a:lnTo>
                        <a:pt x="603" y="924"/>
                      </a:lnTo>
                      <a:lnTo>
                        <a:pt x="613" y="971"/>
                      </a:lnTo>
                      <a:lnTo>
                        <a:pt x="647" y="980"/>
                      </a:lnTo>
                      <a:lnTo>
                        <a:pt x="642" y="1039"/>
                      </a:lnTo>
                      <a:lnTo>
                        <a:pt x="668" y="1040"/>
                      </a:lnTo>
                      <a:lnTo>
                        <a:pt x="673" y="1091"/>
                      </a:lnTo>
                      <a:lnTo>
                        <a:pt x="543" y="1204"/>
                      </a:lnTo>
                      <a:lnTo>
                        <a:pt x="567" y="1197"/>
                      </a:lnTo>
                      <a:lnTo>
                        <a:pt x="668" y="1267"/>
                      </a:lnTo>
                      <a:lnTo>
                        <a:pt x="688" y="1296"/>
                      </a:lnTo>
                      <a:lnTo>
                        <a:pt x="680" y="1332"/>
                      </a:lnTo>
                      <a:lnTo>
                        <a:pt x="839" y="1134"/>
                      </a:lnTo>
                      <a:lnTo>
                        <a:pt x="849" y="1033"/>
                      </a:lnTo>
                      <a:lnTo>
                        <a:pt x="977" y="942"/>
                      </a:lnTo>
                      <a:lnTo>
                        <a:pt x="1057" y="942"/>
                      </a:lnTo>
                      <a:lnTo>
                        <a:pt x="1090" y="911"/>
                      </a:lnTo>
                      <a:lnTo>
                        <a:pt x="1156" y="759"/>
                      </a:lnTo>
                      <a:lnTo>
                        <a:pt x="1164" y="611"/>
                      </a:lnTo>
                      <a:lnTo>
                        <a:pt x="1290" y="469"/>
                      </a:lnTo>
                      <a:lnTo>
                        <a:pt x="1303" y="407"/>
                      </a:lnTo>
                      <a:lnTo>
                        <a:pt x="1282" y="345"/>
                      </a:lnTo>
                      <a:lnTo>
                        <a:pt x="1230" y="337"/>
                      </a:lnTo>
                      <a:lnTo>
                        <a:pt x="1146" y="274"/>
                      </a:lnTo>
                      <a:lnTo>
                        <a:pt x="982" y="260"/>
                      </a:lnTo>
                      <a:lnTo>
                        <a:pt x="967" y="222"/>
                      </a:lnTo>
                      <a:lnTo>
                        <a:pt x="893" y="193"/>
                      </a:lnTo>
                      <a:lnTo>
                        <a:pt x="863" y="194"/>
                      </a:lnTo>
                      <a:lnTo>
                        <a:pt x="819" y="252"/>
                      </a:lnTo>
                      <a:lnTo>
                        <a:pt x="817" y="231"/>
                      </a:lnTo>
                      <a:lnTo>
                        <a:pt x="747" y="241"/>
                      </a:lnTo>
                      <a:lnTo>
                        <a:pt x="776" y="230"/>
                      </a:lnTo>
                      <a:lnTo>
                        <a:pt x="749" y="184"/>
                      </a:lnTo>
                      <a:lnTo>
                        <a:pt x="801" y="120"/>
                      </a:lnTo>
                      <a:lnTo>
                        <a:pt x="746" y="37"/>
                      </a:lnTo>
                      <a:lnTo>
                        <a:pt x="697" y="102"/>
                      </a:lnTo>
                      <a:lnTo>
                        <a:pt x="650" y="98"/>
                      </a:lnTo>
                      <a:lnTo>
                        <a:pt x="580" y="107"/>
                      </a:lnTo>
                      <a:lnTo>
                        <a:pt x="485" y="121"/>
                      </a:lnTo>
                      <a:lnTo>
                        <a:pt x="467" y="87"/>
                      </a:lnTo>
                      <a:lnTo>
                        <a:pt x="474" y="24"/>
                      </a:lnTo>
                      <a:lnTo>
                        <a:pt x="444" y="0"/>
                      </a:lnTo>
                      <a:lnTo>
                        <a:pt x="361" y="40"/>
                      </a:lnTo>
                      <a:lnTo>
                        <a:pt x="303" y="28"/>
                      </a:lnTo>
                      <a:lnTo>
                        <a:pt x="320" y="91"/>
                      </a:lnTo>
                      <a:lnTo>
                        <a:pt x="352" y="99"/>
                      </a:lnTo>
                      <a:lnTo>
                        <a:pt x="272" y="145"/>
                      </a:lnTo>
                      <a:lnTo>
                        <a:pt x="233" y="128"/>
                      </a:lnTo>
                      <a:lnTo>
                        <a:pt x="214" y="105"/>
                      </a:lnTo>
                      <a:lnTo>
                        <a:pt x="134" y="117"/>
                      </a:lnTo>
                      <a:lnTo>
                        <a:pt x="159" y="151"/>
                      </a:lnTo>
                      <a:lnTo>
                        <a:pt x="128" y="154"/>
                      </a:lnTo>
                      <a:lnTo>
                        <a:pt x="145" y="213"/>
                      </a:lnTo>
                      <a:lnTo>
                        <a:pt x="130" y="310"/>
                      </a:lnTo>
                      <a:lnTo>
                        <a:pt x="46" y="344"/>
                      </a:lnTo>
                      <a:lnTo>
                        <a:pt x="0" y="42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3" name="16356489.125363.3752.515">
                  <a:extLst>
                    <a:ext uri="{FF2B5EF4-FFF2-40B4-BE49-F238E27FC236}">
                      <a16:creationId xmlns:a16="http://schemas.microsoft.com/office/drawing/2014/main" id="{0E192BDE-9728-9370-E1E6-91D7D6F9CF93}"/>
                    </a:ext>
                  </a:extLst>
                </p:cNvPr>
                <p:cNvSpPr>
                  <a:spLocks/>
                </p:cNvSpPr>
                <p:nvPr/>
              </p:nvSpPr>
              <p:spPr bwMode="auto">
                <a:xfrm>
                  <a:off x="2029687" y="5109603"/>
                  <a:ext cx="11144" cy="30002"/>
                </a:xfrm>
                <a:custGeom>
                  <a:avLst/>
                  <a:gdLst>
                    <a:gd name="T0" fmla="*/ 0 w 22"/>
                    <a:gd name="T1" fmla="*/ 1 h 51"/>
                    <a:gd name="T2" fmla="*/ 1 w 22"/>
                    <a:gd name="T3" fmla="*/ 0 h 51"/>
                    <a:gd name="T4" fmla="*/ 1 w 22"/>
                    <a:gd name="T5" fmla="*/ 1 h 51"/>
                    <a:gd name="T6" fmla="*/ 0 w 22"/>
                    <a:gd name="T7" fmla="*/ 1 h 51"/>
                    <a:gd name="T8" fmla="*/ 0 60000 65536"/>
                    <a:gd name="T9" fmla="*/ 0 60000 65536"/>
                    <a:gd name="T10" fmla="*/ 0 60000 65536"/>
                    <a:gd name="T11" fmla="*/ 0 60000 65536"/>
                    <a:gd name="T12" fmla="*/ 0 w 22"/>
                    <a:gd name="T13" fmla="*/ 0 h 51"/>
                    <a:gd name="T14" fmla="*/ 22 w 22"/>
                    <a:gd name="T15" fmla="*/ 51 h 51"/>
                  </a:gdLst>
                  <a:ahLst/>
                  <a:cxnLst>
                    <a:cxn ang="T8">
                      <a:pos x="T0" y="T1"/>
                    </a:cxn>
                    <a:cxn ang="T9">
                      <a:pos x="T2" y="T3"/>
                    </a:cxn>
                    <a:cxn ang="T10">
                      <a:pos x="T4" y="T5"/>
                    </a:cxn>
                    <a:cxn ang="T11">
                      <a:pos x="T6" y="T7"/>
                    </a:cxn>
                  </a:cxnLst>
                  <a:rect l="T12" t="T13" r="T14" b="T15"/>
                  <a:pathLst>
                    <a:path w="22" h="51">
                      <a:moveTo>
                        <a:pt x="0" y="23"/>
                      </a:moveTo>
                      <a:lnTo>
                        <a:pt x="8" y="0"/>
                      </a:lnTo>
                      <a:lnTo>
                        <a:pt x="22" y="51"/>
                      </a:lnTo>
                      <a:lnTo>
                        <a:pt x="0" y="2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4" name="16357475.375364.3753.250.755">
                  <a:extLst>
                    <a:ext uri="{FF2B5EF4-FFF2-40B4-BE49-F238E27FC236}">
                      <a16:creationId xmlns:a16="http://schemas.microsoft.com/office/drawing/2014/main" id="{A75B8633-14C2-D0F6-0B11-36684BD5AC2A}"/>
                    </a:ext>
                  </a:extLst>
                </p:cNvPr>
                <p:cNvSpPr>
                  <a:spLocks/>
                </p:cNvSpPr>
                <p:nvPr/>
              </p:nvSpPr>
              <p:spPr bwMode="auto">
                <a:xfrm>
                  <a:off x="2040833" y="4946897"/>
                  <a:ext cx="10131" cy="38080"/>
                </a:xfrm>
                <a:custGeom>
                  <a:avLst/>
                  <a:gdLst>
                    <a:gd name="T0" fmla="*/ 0 w 19"/>
                    <a:gd name="T1" fmla="*/ 1 h 66"/>
                    <a:gd name="T2" fmla="*/ 1 w 19"/>
                    <a:gd name="T3" fmla="*/ 0 h 66"/>
                    <a:gd name="T4" fmla="*/ 1 w 19"/>
                    <a:gd name="T5" fmla="*/ 1 h 66"/>
                    <a:gd name="T6" fmla="*/ 0 w 19"/>
                    <a:gd name="T7" fmla="*/ 1 h 66"/>
                    <a:gd name="T8" fmla="*/ 0 60000 65536"/>
                    <a:gd name="T9" fmla="*/ 0 60000 65536"/>
                    <a:gd name="T10" fmla="*/ 0 60000 65536"/>
                    <a:gd name="T11" fmla="*/ 0 60000 65536"/>
                    <a:gd name="T12" fmla="*/ 0 w 19"/>
                    <a:gd name="T13" fmla="*/ 0 h 66"/>
                    <a:gd name="T14" fmla="*/ 19 w 19"/>
                    <a:gd name="T15" fmla="*/ 66 h 66"/>
                  </a:gdLst>
                  <a:ahLst/>
                  <a:cxnLst>
                    <a:cxn ang="T8">
                      <a:pos x="T0" y="T1"/>
                    </a:cxn>
                    <a:cxn ang="T9">
                      <a:pos x="T2" y="T3"/>
                    </a:cxn>
                    <a:cxn ang="T10">
                      <a:pos x="T4" y="T5"/>
                    </a:cxn>
                    <a:cxn ang="T11">
                      <a:pos x="T6" y="T7"/>
                    </a:cxn>
                  </a:cxnLst>
                  <a:rect l="T12" t="T13" r="T14" b="T15"/>
                  <a:pathLst>
                    <a:path w="19" h="66">
                      <a:moveTo>
                        <a:pt x="0" y="56"/>
                      </a:moveTo>
                      <a:lnTo>
                        <a:pt x="19" y="0"/>
                      </a:lnTo>
                      <a:lnTo>
                        <a:pt x="19" y="66"/>
                      </a:lnTo>
                      <a:lnTo>
                        <a:pt x="0" y="5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5" name="16364383.75358.2526.7516.6255">
                  <a:extLst>
                    <a:ext uri="{FF2B5EF4-FFF2-40B4-BE49-F238E27FC236}">
                      <a16:creationId xmlns:a16="http://schemas.microsoft.com/office/drawing/2014/main" id="{1C9E62E6-D5CB-2DF9-C4F1-C8DB828E3C94}"/>
                    </a:ext>
                  </a:extLst>
                </p:cNvPr>
                <p:cNvSpPr>
                  <a:spLocks/>
                </p:cNvSpPr>
                <p:nvPr/>
              </p:nvSpPr>
              <p:spPr bwMode="auto">
                <a:xfrm>
                  <a:off x="1966873" y="3859887"/>
                  <a:ext cx="202629" cy="317333"/>
                </a:xfrm>
                <a:custGeom>
                  <a:avLst/>
                  <a:gdLst>
                    <a:gd name="T0" fmla="*/ 0 w 400"/>
                    <a:gd name="T1" fmla="*/ 0 h 552"/>
                    <a:gd name="T2" fmla="*/ 1 w 400"/>
                    <a:gd name="T3" fmla="*/ 0 h 552"/>
                    <a:gd name="T4" fmla="*/ 1 w 400"/>
                    <a:gd name="T5" fmla="*/ 0 h 552"/>
                    <a:gd name="T6" fmla="*/ 1 w 400"/>
                    <a:gd name="T7" fmla="*/ 0 h 552"/>
                    <a:gd name="T8" fmla="*/ 1 w 400"/>
                    <a:gd name="T9" fmla="*/ 0 h 552"/>
                    <a:gd name="T10" fmla="*/ 1 w 400"/>
                    <a:gd name="T11" fmla="*/ 0 h 552"/>
                    <a:gd name="T12" fmla="*/ 1 w 400"/>
                    <a:gd name="T13" fmla="*/ 0 h 552"/>
                    <a:gd name="T14" fmla="*/ 1 w 400"/>
                    <a:gd name="T15" fmla="*/ 0 h 552"/>
                    <a:gd name="T16" fmla="*/ 1 w 400"/>
                    <a:gd name="T17" fmla="*/ 0 h 552"/>
                    <a:gd name="T18" fmla="*/ 1 w 400"/>
                    <a:gd name="T19" fmla="*/ 0 h 552"/>
                    <a:gd name="T20" fmla="*/ 1 w 400"/>
                    <a:gd name="T21" fmla="*/ 0 h 552"/>
                    <a:gd name="T22" fmla="*/ 1 w 400"/>
                    <a:gd name="T23" fmla="*/ 0 h 552"/>
                    <a:gd name="T24" fmla="*/ 1 w 400"/>
                    <a:gd name="T25" fmla="*/ 0 h 552"/>
                    <a:gd name="T26" fmla="*/ 1 w 400"/>
                    <a:gd name="T27" fmla="*/ 0 h 552"/>
                    <a:gd name="T28" fmla="*/ 1 w 400"/>
                    <a:gd name="T29" fmla="*/ 0 h 552"/>
                    <a:gd name="T30" fmla="*/ 1 w 400"/>
                    <a:gd name="T31" fmla="*/ 0 h 552"/>
                    <a:gd name="T32" fmla="*/ 1 w 400"/>
                    <a:gd name="T33" fmla="*/ 0 h 552"/>
                    <a:gd name="T34" fmla="*/ 1 w 400"/>
                    <a:gd name="T35" fmla="*/ 0 h 552"/>
                    <a:gd name="T36" fmla="*/ 1 w 400"/>
                    <a:gd name="T37" fmla="*/ 0 h 552"/>
                    <a:gd name="T38" fmla="*/ 1 w 400"/>
                    <a:gd name="T39" fmla="*/ 0 h 552"/>
                    <a:gd name="T40" fmla="*/ 1 w 400"/>
                    <a:gd name="T41" fmla="*/ 0 h 552"/>
                    <a:gd name="T42" fmla="*/ 1 w 400"/>
                    <a:gd name="T43" fmla="*/ 0 h 552"/>
                    <a:gd name="T44" fmla="*/ 1 w 400"/>
                    <a:gd name="T45" fmla="*/ 0 h 552"/>
                    <a:gd name="T46" fmla="*/ 1 w 400"/>
                    <a:gd name="T47" fmla="*/ 0 h 552"/>
                    <a:gd name="T48" fmla="*/ 1 w 400"/>
                    <a:gd name="T49" fmla="*/ 0 h 552"/>
                    <a:gd name="T50" fmla="*/ 1 w 400"/>
                    <a:gd name="T51" fmla="*/ 0 h 552"/>
                    <a:gd name="T52" fmla="*/ 1 w 400"/>
                    <a:gd name="T53" fmla="*/ 0 h 552"/>
                    <a:gd name="T54" fmla="*/ 0 w 400"/>
                    <a:gd name="T55" fmla="*/ 0 h 5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00"/>
                    <a:gd name="T85" fmla="*/ 0 h 552"/>
                    <a:gd name="T86" fmla="*/ 400 w 400"/>
                    <a:gd name="T87" fmla="*/ 552 h 5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00" h="552">
                      <a:moveTo>
                        <a:pt x="0" y="367"/>
                      </a:moveTo>
                      <a:lnTo>
                        <a:pt x="50" y="407"/>
                      </a:lnTo>
                      <a:lnTo>
                        <a:pt x="120" y="417"/>
                      </a:lnTo>
                      <a:lnTo>
                        <a:pt x="193" y="491"/>
                      </a:lnTo>
                      <a:lnTo>
                        <a:pt x="288" y="498"/>
                      </a:lnTo>
                      <a:lnTo>
                        <a:pt x="274" y="538"/>
                      </a:lnTo>
                      <a:lnTo>
                        <a:pt x="297" y="552"/>
                      </a:lnTo>
                      <a:lnTo>
                        <a:pt x="312" y="455"/>
                      </a:lnTo>
                      <a:lnTo>
                        <a:pt x="295" y="396"/>
                      </a:lnTo>
                      <a:lnTo>
                        <a:pt x="326" y="393"/>
                      </a:lnTo>
                      <a:lnTo>
                        <a:pt x="301" y="359"/>
                      </a:lnTo>
                      <a:lnTo>
                        <a:pt x="381" y="347"/>
                      </a:lnTo>
                      <a:lnTo>
                        <a:pt x="400" y="370"/>
                      </a:lnTo>
                      <a:lnTo>
                        <a:pt x="370" y="322"/>
                      </a:lnTo>
                      <a:lnTo>
                        <a:pt x="380" y="206"/>
                      </a:lnTo>
                      <a:lnTo>
                        <a:pt x="315" y="211"/>
                      </a:lnTo>
                      <a:lnTo>
                        <a:pt x="295" y="183"/>
                      </a:lnTo>
                      <a:lnTo>
                        <a:pt x="229" y="175"/>
                      </a:lnTo>
                      <a:lnTo>
                        <a:pt x="187" y="109"/>
                      </a:lnTo>
                      <a:lnTo>
                        <a:pt x="251" y="21"/>
                      </a:lnTo>
                      <a:lnTo>
                        <a:pt x="242" y="0"/>
                      </a:lnTo>
                      <a:lnTo>
                        <a:pt x="130" y="48"/>
                      </a:lnTo>
                      <a:lnTo>
                        <a:pt x="68" y="147"/>
                      </a:lnTo>
                      <a:lnTo>
                        <a:pt x="49" y="124"/>
                      </a:lnTo>
                      <a:lnTo>
                        <a:pt x="32" y="172"/>
                      </a:lnTo>
                      <a:lnTo>
                        <a:pt x="49" y="282"/>
                      </a:lnTo>
                      <a:lnTo>
                        <a:pt x="62" y="282"/>
                      </a:lnTo>
                      <a:lnTo>
                        <a:pt x="0" y="36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6" name="16365401.5355.510.1257.755">
                  <a:extLst>
                    <a:ext uri="{FF2B5EF4-FFF2-40B4-BE49-F238E27FC236}">
                      <a16:creationId xmlns:a16="http://schemas.microsoft.com/office/drawing/2014/main" id="{5787C80A-3F84-CB5B-8BB1-7D344DAE0BFE}"/>
                    </a:ext>
                  </a:extLst>
                </p:cNvPr>
                <p:cNvSpPr>
                  <a:spLocks/>
                </p:cNvSpPr>
                <p:nvPr/>
              </p:nvSpPr>
              <p:spPr bwMode="auto">
                <a:xfrm>
                  <a:off x="1933438" y="4071057"/>
                  <a:ext cx="94223" cy="120009"/>
                </a:xfrm>
                <a:custGeom>
                  <a:avLst/>
                  <a:gdLst>
                    <a:gd name="T0" fmla="*/ 0 w 185"/>
                    <a:gd name="T1" fmla="*/ 1 h 208"/>
                    <a:gd name="T2" fmla="*/ 1 w 185"/>
                    <a:gd name="T3" fmla="*/ 1 h 208"/>
                    <a:gd name="T4" fmla="*/ 1 w 185"/>
                    <a:gd name="T5" fmla="*/ 1 h 208"/>
                    <a:gd name="T6" fmla="*/ 1 w 185"/>
                    <a:gd name="T7" fmla="*/ 1 h 208"/>
                    <a:gd name="T8" fmla="*/ 1 w 185"/>
                    <a:gd name="T9" fmla="*/ 1 h 208"/>
                    <a:gd name="T10" fmla="*/ 1 w 185"/>
                    <a:gd name="T11" fmla="*/ 1 h 208"/>
                    <a:gd name="T12" fmla="*/ 1 w 185"/>
                    <a:gd name="T13" fmla="*/ 1 h 208"/>
                    <a:gd name="T14" fmla="*/ 1 w 185"/>
                    <a:gd name="T15" fmla="*/ 1 h 208"/>
                    <a:gd name="T16" fmla="*/ 1 w 185"/>
                    <a:gd name="T17" fmla="*/ 1 h 208"/>
                    <a:gd name="T18" fmla="*/ 1 w 185"/>
                    <a:gd name="T19" fmla="*/ 1 h 208"/>
                    <a:gd name="T20" fmla="*/ 1 w 185"/>
                    <a:gd name="T21" fmla="*/ 0 h 208"/>
                    <a:gd name="T22" fmla="*/ 1 w 185"/>
                    <a:gd name="T23" fmla="*/ 1 h 208"/>
                    <a:gd name="T24" fmla="*/ 0 w 185"/>
                    <a:gd name="T25" fmla="*/ 1 h 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5"/>
                    <a:gd name="T40" fmla="*/ 0 h 208"/>
                    <a:gd name="T41" fmla="*/ 185 w 185"/>
                    <a:gd name="T42" fmla="*/ 208 h 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5" h="208">
                      <a:moveTo>
                        <a:pt x="0" y="80"/>
                      </a:moveTo>
                      <a:lnTo>
                        <a:pt x="1" y="121"/>
                      </a:lnTo>
                      <a:lnTo>
                        <a:pt x="34" y="131"/>
                      </a:lnTo>
                      <a:lnTo>
                        <a:pt x="16" y="164"/>
                      </a:lnTo>
                      <a:lnTo>
                        <a:pt x="11" y="198"/>
                      </a:lnTo>
                      <a:lnTo>
                        <a:pt x="54" y="208"/>
                      </a:lnTo>
                      <a:lnTo>
                        <a:pt x="93" y="150"/>
                      </a:lnTo>
                      <a:lnTo>
                        <a:pt x="169" y="105"/>
                      </a:lnTo>
                      <a:lnTo>
                        <a:pt x="185" y="50"/>
                      </a:lnTo>
                      <a:lnTo>
                        <a:pt x="115" y="40"/>
                      </a:lnTo>
                      <a:lnTo>
                        <a:pt x="65" y="0"/>
                      </a:lnTo>
                      <a:lnTo>
                        <a:pt x="23" y="21"/>
                      </a:lnTo>
                      <a:lnTo>
                        <a:pt x="0" y="8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7" name="16366383.87536618.62518.6255">
                  <a:extLst>
                    <a:ext uri="{FF2B5EF4-FFF2-40B4-BE49-F238E27FC236}">
                      <a16:creationId xmlns:a16="http://schemas.microsoft.com/office/drawing/2014/main" id="{8ECA2020-C56E-F0D6-A1EF-73C95B9CFA29}"/>
                    </a:ext>
                  </a:extLst>
                </p:cNvPr>
                <p:cNvSpPr>
                  <a:spLocks/>
                </p:cNvSpPr>
                <p:nvPr/>
              </p:nvSpPr>
              <p:spPr bwMode="auto">
                <a:xfrm>
                  <a:off x="2061095" y="3862194"/>
                  <a:ext cx="226945" cy="220402"/>
                </a:xfrm>
                <a:custGeom>
                  <a:avLst/>
                  <a:gdLst>
                    <a:gd name="T0" fmla="*/ 0 w 448"/>
                    <a:gd name="T1" fmla="*/ 0 h 383"/>
                    <a:gd name="T2" fmla="*/ 1 w 448"/>
                    <a:gd name="T3" fmla="*/ 0 h 383"/>
                    <a:gd name="T4" fmla="*/ 1 w 448"/>
                    <a:gd name="T5" fmla="*/ 0 h 383"/>
                    <a:gd name="T6" fmla="*/ 1 w 448"/>
                    <a:gd name="T7" fmla="*/ 0 h 383"/>
                    <a:gd name="T8" fmla="*/ 1 w 448"/>
                    <a:gd name="T9" fmla="*/ 0 h 383"/>
                    <a:gd name="T10" fmla="*/ 1 w 448"/>
                    <a:gd name="T11" fmla="*/ 0 h 383"/>
                    <a:gd name="T12" fmla="*/ 1 w 448"/>
                    <a:gd name="T13" fmla="*/ 0 h 383"/>
                    <a:gd name="T14" fmla="*/ 1 w 448"/>
                    <a:gd name="T15" fmla="*/ 0 h 383"/>
                    <a:gd name="T16" fmla="*/ 1 w 448"/>
                    <a:gd name="T17" fmla="*/ 0 h 383"/>
                    <a:gd name="T18" fmla="*/ 1 w 448"/>
                    <a:gd name="T19" fmla="*/ 0 h 383"/>
                    <a:gd name="T20" fmla="*/ 1 w 448"/>
                    <a:gd name="T21" fmla="*/ 0 h 383"/>
                    <a:gd name="T22" fmla="*/ 1 w 448"/>
                    <a:gd name="T23" fmla="*/ 0 h 383"/>
                    <a:gd name="T24" fmla="*/ 1 w 448"/>
                    <a:gd name="T25" fmla="*/ 0 h 383"/>
                    <a:gd name="T26" fmla="*/ 1 w 448"/>
                    <a:gd name="T27" fmla="*/ 0 h 383"/>
                    <a:gd name="T28" fmla="*/ 1 w 448"/>
                    <a:gd name="T29" fmla="*/ 0 h 383"/>
                    <a:gd name="T30" fmla="*/ 1 w 448"/>
                    <a:gd name="T31" fmla="*/ 0 h 383"/>
                    <a:gd name="T32" fmla="*/ 1 w 448"/>
                    <a:gd name="T33" fmla="*/ 0 h 383"/>
                    <a:gd name="T34" fmla="*/ 1 w 448"/>
                    <a:gd name="T35" fmla="*/ 0 h 383"/>
                    <a:gd name="T36" fmla="*/ 1 w 448"/>
                    <a:gd name="T37" fmla="*/ 0 h 383"/>
                    <a:gd name="T38" fmla="*/ 1 w 448"/>
                    <a:gd name="T39" fmla="*/ 0 h 383"/>
                    <a:gd name="T40" fmla="*/ 1 w 448"/>
                    <a:gd name="T41" fmla="*/ 0 h 383"/>
                    <a:gd name="T42" fmla="*/ 1 w 448"/>
                    <a:gd name="T43" fmla="*/ 0 h 383"/>
                    <a:gd name="T44" fmla="*/ 1 w 448"/>
                    <a:gd name="T45" fmla="*/ 0 h 383"/>
                    <a:gd name="T46" fmla="*/ 1 w 448"/>
                    <a:gd name="T47" fmla="*/ 0 h 383"/>
                    <a:gd name="T48" fmla="*/ 1 w 448"/>
                    <a:gd name="T49" fmla="*/ 0 h 383"/>
                    <a:gd name="T50" fmla="*/ 1 w 448"/>
                    <a:gd name="T51" fmla="*/ 0 h 383"/>
                    <a:gd name="T52" fmla="*/ 1 w 448"/>
                    <a:gd name="T53" fmla="*/ 0 h 383"/>
                    <a:gd name="T54" fmla="*/ 1 w 448"/>
                    <a:gd name="T55" fmla="*/ 0 h 383"/>
                    <a:gd name="T56" fmla="*/ 1 w 448"/>
                    <a:gd name="T57" fmla="*/ 0 h 383"/>
                    <a:gd name="T58" fmla="*/ 0 w 448"/>
                    <a:gd name="T59" fmla="*/ 0 h 3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48"/>
                    <a:gd name="T91" fmla="*/ 0 h 383"/>
                    <a:gd name="T92" fmla="*/ 448 w 448"/>
                    <a:gd name="T93" fmla="*/ 383 h 3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48" h="383">
                      <a:moveTo>
                        <a:pt x="0" y="105"/>
                      </a:moveTo>
                      <a:lnTo>
                        <a:pt x="42" y="171"/>
                      </a:lnTo>
                      <a:lnTo>
                        <a:pt x="108" y="179"/>
                      </a:lnTo>
                      <a:lnTo>
                        <a:pt x="128" y="207"/>
                      </a:lnTo>
                      <a:lnTo>
                        <a:pt x="193" y="202"/>
                      </a:lnTo>
                      <a:lnTo>
                        <a:pt x="183" y="318"/>
                      </a:lnTo>
                      <a:lnTo>
                        <a:pt x="213" y="366"/>
                      </a:lnTo>
                      <a:lnTo>
                        <a:pt x="252" y="383"/>
                      </a:lnTo>
                      <a:lnTo>
                        <a:pt x="332" y="337"/>
                      </a:lnTo>
                      <a:lnTo>
                        <a:pt x="300" y="329"/>
                      </a:lnTo>
                      <a:lnTo>
                        <a:pt x="283" y="266"/>
                      </a:lnTo>
                      <a:lnTo>
                        <a:pt x="341" y="278"/>
                      </a:lnTo>
                      <a:lnTo>
                        <a:pt x="424" y="238"/>
                      </a:lnTo>
                      <a:lnTo>
                        <a:pt x="400" y="207"/>
                      </a:lnTo>
                      <a:lnTo>
                        <a:pt x="429" y="178"/>
                      </a:lnTo>
                      <a:lnTo>
                        <a:pt x="417" y="156"/>
                      </a:lnTo>
                      <a:lnTo>
                        <a:pt x="448" y="132"/>
                      </a:lnTo>
                      <a:lnTo>
                        <a:pt x="409" y="127"/>
                      </a:lnTo>
                      <a:lnTo>
                        <a:pt x="409" y="96"/>
                      </a:lnTo>
                      <a:lnTo>
                        <a:pt x="344" y="63"/>
                      </a:lnTo>
                      <a:lnTo>
                        <a:pt x="373" y="54"/>
                      </a:lnTo>
                      <a:lnTo>
                        <a:pt x="176" y="61"/>
                      </a:lnTo>
                      <a:lnTo>
                        <a:pt x="112" y="0"/>
                      </a:lnTo>
                      <a:lnTo>
                        <a:pt x="114" y="28"/>
                      </a:lnTo>
                      <a:lnTo>
                        <a:pt x="59" y="51"/>
                      </a:lnTo>
                      <a:lnTo>
                        <a:pt x="76" y="96"/>
                      </a:lnTo>
                      <a:lnTo>
                        <a:pt x="55" y="113"/>
                      </a:lnTo>
                      <a:lnTo>
                        <a:pt x="42" y="72"/>
                      </a:lnTo>
                      <a:lnTo>
                        <a:pt x="64" y="17"/>
                      </a:lnTo>
                      <a:lnTo>
                        <a:pt x="0" y="10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8" name="16367308569.87562.62584.8755">
                  <a:extLst>
                    <a:ext uri="{FF2B5EF4-FFF2-40B4-BE49-F238E27FC236}">
                      <a16:creationId xmlns:a16="http://schemas.microsoft.com/office/drawing/2014/main" id="{51466521-9DFF-9254-89C0-F3575571B84F}"/>
                    </a:ext>
                  </a:extLst>
                </p:cNvPr>
                <p:cNvSpPr>
                  <a:spLocks/>
                </p:cNvSpPr>
                <p:nvPr/>
              </p:nvSpPr>
              <p:spPr bwMode="auto">
                <a:xfrm>
                  <a:off x="4027446" y="2927884"/>
                  <a:ext cx="1034423" cy="741982"/>
                </a:xfrm>
                <a:custGeom>
                  <a:avLst/>
                  <a:gdLst>
                    <a:gd name="T0" fmla="*/ 0 w 2044"/>
                    <a:gd name="T1" fmla="*/ 1 h 1286"/>
                    <a:gd name="T2" fmla="*/ 0 w 2044"/>
                    <a:gd name="T3" fmla="*/ 1 h 1286"/>
                    <a:gd name="T4" fmla="*/ 0 w 2044"/>
                    <a:gd name="T5" fmla="*/ 1 h 1286"/>
                    <a:gd name="T6" fmla="*/ 0 w 2044"/>
                    <a:gd name="T7" fmla="*/ 1 h 1286"/>
                    <a:gd name="T8" fmla="*/ 0 w 2044"/>
                    <a:gd name="T9" fmla="*/ 1 h 1286"/>
                    <a:gd name="T10" fmla="*/ 0 w 2044"/>
                    <a:gd name="T11" fmla="*/ 1 h 1286"/>
                    <a:gd name="T12" fmla="*/ 0 w 2044"/>
                    <a:gd name="T13" fmla="*/ 1 h 1286"/>
                    <a:gd name="T14" fmla="*/ 0 w 2044"/>
                    <a:gd name="T15" fmla="*/ 1 h 1286"/>
                    <a:gd name="T16" fmla="*/ 0 w 2044"/>
                    <a:gd name="T17" fmla="*/ 1 h 1286"/>
                    <a:gd name="T18" fmla="*/ 0 w 2044"/>
                    <a:gd name="T19" fmla="*/ 1 h 1286"/>
                    <a:gd name="T20" fmla="*/ 0 w 2044"/>
                    <a:gd name="T21" fmla="*/ 1 h 1286"/>
                    <a:gd name="T22" fmla="*/ 0 w 2044"/>
                    <a:gd name="T23" fmla="*/ 1 h 1286"/>
                    <a:gd name="T24" fmla="*/ 0 w 2044"/>
                    <a:gd name="T25" fmla="*/ 1 h 1286"/>
                    <a:gd name="T26" fmla="*/ 0 w 2044"/>
                    <a:gd name="T27" fmla="*/ 1 h 1286"/>
                    <a:gd name="T28" fmla="*/ 0 w 2044"/>
                    <a:gd name="T29" fmla="*/ 1 h 1286"/>
                    <a:gd name="T30" fmla="*/ 0 w 2044"/>
                    <a:gd name="T31" fmla="*/ 1 h 1286"/>
                    <a:gd name="T32" fmla="*/ 0 w 2044"/>
                    <a:gd name="T33" fmla="*/ 1 h 1286"/>
                    <a:gd name="T34" fmla="*/ 0 w 2044"/>
                    <a:gd name="T35" fmla="*/ 1 h 1286"/>
                    <a:gd name="T36" fmla="*/ 0 w 2044"/>
                    <a:gd name="T37" fmla="*/ 1 h 1286"/>
                    <a:gd name="T38" fmla="*/ 0 w 2044"/>
                    <a:gd name="T39" fmla="*/ 1 h 1286"/>
                    <a:gd name="T40" fmla="*/ 0 w 2044"/>
                    <a:gd name="T41" fmla="*/ 1 h 1286"/>
                    <a:gd name="T42" fmla="*/ 0 w 2044"/>
                    <a:gd name="T43" fmla="*/ 1 h 1286"/>
                    <a:gd name="T44" fmla="*/ 0 w 2044"/>
                    <a:gd name="T45" fmla="*/ 1 h 1286"/>
                    <a:gd name="T46" fmla="*/ 0 w 2044"/>
                    <a:gd name="T47" fmla="*/ 1 h 1286"/>
                    <a:gd name="T48" fmla="*/ 0 w 2044"/>
                    <a:gd name="T49" fmla="*/ 1 h 1286"/>
                    <a:gd name="T50" fmla="*/ 0 w 2044"/>
                    <a:gd name="T51" fmla="*/ 1 h 1286"/>
                    <a:gd name="T52" fmla="*/ 0 w 2044"/>
                    <a:gd name="T53" fmla="*/ 1 h 1286"/>
                    <a:gd name="T54" fmla="*/ 0 w 2044"/>
                    <a:gd name="T55" fmla="*/ 1 h 1286"/>
                    <a:gd name="T56" fmla="*/ 0 w 2044"/>
                    <a:gd name="T57" fmla="*/ 1 h 1286"/>
                    <a:gd name="T58" fmla="*/ 0 w 2044"/>
                    <a:gd name="T59" fmla="*/ 1 h 1286"/>
                    <a:gd name="T60" fmla="*/ 0 w 2044"/>
                    <a:gd name="T61" fmla="*/ 1 h 1286"/>
                    <a:gd name="T62" fmla="*/ 0 w 2044"/>
                    <a:gd name="T63" fmla="*/ 1 h 1286"/>
                    <a:gd name="T64" fmla="*/ 0 w 2044"/>
                    <a:gd name="T65" fmla="*/ 1 h 1286"/>
                    <a:gd name="T66" fmla="*/ 0 w 2044"/>
                    <a:gd name="T67" fmla="*/ 1 h 1286"/>
                    <a:gd name="T68" fmla="*/ 0 w 2044"/>
                    <a:gd name="T69" fmla="*/ 1 h 1286"/>
                    <a:gd name="T70" fmla="*/ 0 w 2044"/>
                    <a:gd name="T71" fmla="*/ 1 h 1286"/>
                    <a:gd name="T72" fmla="*/ 0 w 2044"/>
                    <a:gd name="T73" fmla="*/ 1 h 1286"/>
                    <a:gd name="T74" fmla="*/ 0 w 2044"/>
                    <a:gd name="T75" fmla="*/ 1 h 1286"/>
                    <a:gd name="T76" fmla="*/ 0 w 2044"/>
                    <a:gd name="T77" fmla="*/ 1 h 1286"/>
                    <a:gd name="T78" fmla="*/ 0 w 2044"/>
                    <a:gd name="T79" fmla="*/ 1 h 1286"/>
                    <a:gd name="T80" fmla="*/ 0 w 2044"/>
                    <a:gd name="T81" fmla="*/ 1 h 1286"/>
                    <a:gd name="T82" fmla="*/ 0 w 2044"/>
                    <a:gd name="T83" fmla="*/ 1 h 1286"/>
                    <a:gd name="T84" fmla="*/ 0 w 2044"/>
                    <a:gd name="T85" fmla="*/ 1 h 1286"/>
                    <a:gd name="T86" fmla="*/ 0 w 2044"/>
                    <a:gd name="T87" fmla="*/ 1 h 1286"/>
                    <a:gd name="T88" fmla="*/ 0 w 2044"/>
                    <a:gd name="T89" fmla="*/ 1 h 1286"/>
                    <a:gd name="T90" fmla="*/ 0 w 2044"/>
                    <a:gd name="T91" fmla="*/ 1 h 1286"/>
                    <a:gd name="T92" fmla="*/ 0 w 2044"/>
                    <a:gd name="T93" fmla="*/ 1 h 1286"/>
                    <a:gd name="T94" fmla="*/ 0 w 2044"/>
                    <a:gd name="T95" fmla="*/ 1 h 1286"/>
                    <a:gd name="T96" fmla="*/ 0 w 2044"/>
                    <a:gd name="T97" fmla="*/ 1 h 1286"/>
                    <a:gd name="T98" fmla="*/ 0 w 2044"/>
                    <a:gd name="T99" fmla="*/ 1 h 1286"/>
                    <a:gd name="T100" fmla="*/ 0 w 2044"/>
                    <a:gd name="T101" fmla="*/ 1 h 1286"/>
                    <a:gd name="T102" fmla="*/ 0 w 2044"/>
                    <a:gd name="T103" fmla="*/ 1 h 128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44"/>
                    <a:gd name="T157" fmla="*/ 0 h 1286"/>
                    <a:gd name="T158" fmla="*/ 2044 w 2044"/>
                    <a:gd name="T159" fmla="*/ 1286 h 128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44" h="1286">
                      <a:moveTo>
                        <a:pt x="0" y="612"/>
                      </a:moveTo>
                      <a:lnTo>
                        <a:pt x="13" y="562"/>
                      </a:lnTo>
                      <a:lnTo>
                        <a:pt x="87" y="551"/>
                      </a:lnTo>
                      <a:lnTo>
                        <a:pt x="216" y="484"/>
                      </a:lnTo>
                      <a:lnTo>
                        <a:pt x="235" y="432"/>
                      </a:lnTo>
                      <a:lnTo>
                        <a:pt x="209" y="371"/>
                      </a:lnTo>
                      <a:lnTo>
                        <a:pt x="290" y="355"/>
                      </a:lnTo>
                      <a:lnTo>
                        <a:pt x="312" y="273"/>
                      </a:lnTo>
                      <a:lnTo>
                        <a:pt x="397" y="278"/>
                      </a:lnTo>
                      <a:lnTo>
                        <a:pt x="407" y="225"/>
                      </a:lnTo>
                      <a:lnTo>
                        <a:pt x="472" y="198"/>
                      </a:lnTo>
                      <a:lnTo>
                        <a:pt x="506" y="243"/>
                      </a:lnTo>
                      <a:lnTo>
                        <a:pt x="553" y="260"/>
                      </a:lnTo>
                      <a:lnTo>
                        <a:pt x="572" y="355"/>
                      </a:lnTo>
                      <a:lnTo>
                        <a:pt x="719" y="392"/>
                      </a:lnTo>
                      <a:lnTo>
                        <a:pt x="781" y="456"/>
                      </a:lnTo>
                      <a:lnTo>
                        <a:pt x="902" y="452"/>
                      </a:lnTo>
                      <a:lnTo>
                        <a:pt x="1039" y="503"/>
                      </a:lnTo>
                      <a:lnTo>
                        <a:pt x="1222" y="456"/>
                      </a:lnTo>
                      <a:lnTo>
                        <a:pt x="1278" y="419"/>
                      </a:lnTo>
                      <a:lnTo>
                        <a:pt x="1278" y="368"/>
                      </a:lnTo>
                      <a:lnTo>
                        <a:pt x="1329" y="374"/>
                      </a:lnTo>
                      <a:lnTo>
                        <a:pt x="1440" y="300"/>
                      </a:lnTo>
                      <a:lnTo>
                        <a:pt x="1530" y="295"/>
                      </a:lnTo>
                      <a:lnTo>
                        <a:pt x="1487" y="239"/>
                      </a:lnTo>
                      <a:lnTo>
                        <a:pt x="1402" y="254"/>
                      </a:lnTo>
                      <a:lnTo>
                        <a:pt x="1401" y="191"/>
                      </a:lnTo>
                      <a:lnTo>
                        <a:pt x="1423" y="157"/>
                      </a:lnTo>
                      <a:lnTo>
                        <a:pt x="1473" y="176"/>
                      </a:lnTo>
                      <a:lnTo>
                        <a:pt x="1522" y="154"/>
                      </a:lnTo>
                      <a:lnTo>
                        <a:pt x="1571" y="69"/>
                      </a:lnTo>
                      <a:lnTo>
                        <a:pt x="1548" y="38"/>
                      </a:lnTo>
                      <a:lnTo>
                        <a:pt x="1669" y="0"/>
                      </a:lnTo>
                      <a:lnTo>
                        <a:pt x="1736" y="26"/>
                      </a:lnTo>
                      <a:lnTo>
                        <a:pt x="1798" y="169"/>
                      </a:lnTo>
                      <a:lnTo>
                        <a:pt x="1899" y="201"/>
                      </a:lnTo>
                      <a:lnTo>
                        <a:pt x="1919" y="253"/>
                      </a:lnTo>
                      <a:lnTo>
                        <a:pt x="2044" y="220"/>
                      </a:lnTo>
                      <a:lnTo>
                        <a:pt x="1986" y="359"/>
                      </a:lnTo>
                      <a:lnTo>
                        <a:pt x="1913" y="379"/>
                      </a:lnTo>
                      <a:lnTo>
                        <a:pt x="1923" y="432"/>
                      </a:lnTo>
                      <a:lnTo>
                        <a:pt x="1899" y="463"/>
                      </a:lnTo>
                      <a:lnTo>
                        <a:pt x="1886" y="452"/>
                      </a:lnTo>
                      <a:lnTo>
                        <a:pt x="1823" y="491"/>
                      </a:lnTo>
                      <a:lnTo>
                        <a:pt x="1823" y="513"/>
                      </a:lnTo>
                      <a:lnTo>
                        <a:pt x="1777" y="506"/>
                      </a:lnTo>
                      <a:lnTo>
                        <a:pt x="1692" y="568"/>
                      </a:lnTo>
                      <a:lnTo>
                        <a:pt x="1593" y="617"/>
                      </a:lnTo>
                      <a:lnTo>
                        <a:pt x="1623" y="551"/>
                      </a:lnTo>
                      <a:lnTo>
                        <a:pt x="1608" y="528"/>
                      </a:lnTo>
                      <a:lnTo>
                        <a:pt x="1473" y="604"/>
                      </a:lnTo>
                      <a:lnTo>
                        <a:pt x="1469" y="624"/>
                      </a:lnTo>
                      <a:lnTo>
                        <a:pt x="1515" y="674"/>
                      </a:lnTo>
                      <a:lnTo>
                        <a:pt x="1574" y="653"/>
                      </a:lnTo>
                      <a:lnTo>
                        <a:pt x="1636" y="671"/>
                      </a:lnTo>
                      <a:lnTo>
                        <a:pt x="1553" y="710"/>
                      </a:lnTo>
                      <a:lnTo>
                        <a:pt x="1523" y="763"/>
                      </a:lnTo>
                      <a:lnTo>
                        <a:pt x="1611" y="880"/>
                      </a:lnTo>
                      <a:lnTo>
                        <a:pt x="1550" y="869"/>
                      </a:lnTo>
                      <a:lnTo>
                        <a:pt x="1611" y="909"/>
                      </a:lnTo>
                      <a:lnTo>
                        <a:pt x="1552" y="935"/>
                      </a:lnTo>
                      <a:lnTo>
                        <a:pt x="1614" y="946"/>
                      </a:lnTo>
                      <a:lnTo>
                        <a:pt x="1501" y="1133"/>
                      </a:lnTo>
                      <a:lnTo>
                        <a:pt x="1425" y="1188"/>
                      </a:lnTo>
                      <a:lnTo>
                        <a:pt x="1353" y="1206"/>
                      </a:lnTo>
                      <a:lnTo>
                        <a:pt x="1347" y="1207"/>
                      </a:lnTo>
                      <a:lnTo>
                        <a:pt x="1329" y="1196"/>
                      </a:lnTo>
                      <a:lnTo>
                        <a:pt x="1310" y="1228"/>
                      </a:lnTo>
                      <a:lnTo>
                        <a:pt x="1223" y="1247"/>
                      </a:lnTo>
                      <a:lnTo>
                        <a:pt x="1216" y="1286"/>
                      </a:lnTo>
                      <a:lnTo>
                        <a:pt x="1201" y="1239"/>
                      </a:lnTo>
                      <a:lnTo>
                        <a:pt x="1142" y="1242"/>
                      </a:lnTo>
                      <a:lnTo>
                        <a:pt x="1052" y="1184"/>
                      </a:lnTo>
                      <a:lnTo>
                        <a:pt x="953" y="1209"/>
                      </a:lnTo>
                      <a:lnTo>
                        <a:pt x="932" y="1210"/>
                      </a:lnTo>
                      <a:lnTo>
                        <a:pt x="935" y="1247"/>
                      </a:lnTo>
                      <a:lnTo>
                        <a:pt x="920" y="1238"/>
                      </a:lnTo>
                      <a:lnTo>
                        <a:pt x="856" y="1220"/>
                      </a:lnTo>
                      <a:lnTo>
                        <a:pt x="837" y="1152"/>
                      </a:lnTo>
                      <a:lnTo>
                        <a:pt x="799" y="1161"/>
                      </a:lnTo>
                      <a:lnTo>
                        <a:pt x="834" y="1062"/>
                      </a:lnTo>
                      <a:lnTo>
                        <a:pt x="833" y="1030"/>
                      </a:lnTo>
                      <a:lnTo>
                        <a:pt x="792" y="1009"/>
                      </a:lnTo>
                      <a:lnTo>
                        <a:pt x="757" y="996"/>
                      </a:lnTo>
                      <a:lnTo>
                        <a:pt x="746" y="960"/>
                      </a:lnTo>
                      <a:lnTo>
                        <a:pt x="604" y="1020"/>
                      </a:lnTo>
                      <a:lnTo>
                        <a:pt x="540" y="1004"/>
                      </a:lnTo>
                      <a:lnTo>
                        <a:pt x="507" y="1038"/>
                      </a:lnTo>
                      <a:lnTo>
                        <a:pt x="503" y="1014"/>
                      </a:lnTo>
                      <a:lnTo>
                        <a:pt x="481" y="1019"/>
                      </a:lnTo>
                      <a:lnTo>
                        <a:pt x="408" y="1019"/>
                      </a:lnTo>
                      <a:lnTo>
                        <a:pt x="352" y="967"/>
                      </a:lnTo>
                      <a:lnTo>
                        <a:pt x="246" y="932"/>
                      </a:lnTo>
                      <a:lnTo>
                        <a:pt x="178" y="908"/>
                      </a:lnTo>
                      <a:lnTo>
                        <a:pt x="161" y="850"/>
                      </a:lnTo>
                      <a:lnTo>
                        <a:pt x="197" y="843"/>
                      </a:lnTo>
                      <a:lnTo>
                        <a:pt x="175" y="796"/>
                      </a:lnTo>
                      <a:lnTo>
                        <a:pt x="221" y="740"/>
                      </a:lnTo>
                      <a:lnTo>
                        <a:pt x="186" y="721"/>
                      </a:lnTo>
                      <a:lnTo>
                        <a:pt x="134" y="741"/>
                      </a:lnTo>
                      <a:lnTo>
                        <a:pt x="32" y="679"/>
                      </a:lnTo>
                      <a:lnTo>
                        <a:pt x="35" y="671"/>
                      </a:lnTo>
                      <a:lnTo>
                        <a:pt x="36" y="626"/>
                      </a:lnTo>
                      <a:lnTo>
                        <a:pt x="0" y="61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9" name="16368371618.53.12535">
                  <a:extLst>
                    <a:ext uri="{FF2B5EF4-FFF2-40B4-BE49-F238E27FC236}">
                      <a16:creationId xmlns:a16="http://schemas.microsoft.com/office/drawing/2014/main" id="{D4883F20-0BBA-A45D-5C96-DE346B7AEE73}"/>
                    </a:ext>
                  </a:extLst>
                </p:cNvPr>
                <p:cNvSpPr>
                  <a:spLocks/>
                </p:cNvSpPr>
                <p:nvPr/>
              </p:nvSpPr>
              <p:spPr bwMode="auto">
                <a:xfrm>
                  <a:off x="4620137" y="3675636"/>
                  <a:ext cx="36474" cy="35772"/>
                </a:xfrm>
                <a:custGeom>
                  <a:avLst/>
                  <a:gdLst>
                    <a:gd name="T0" fmla="*/ 0 w 73"/>
                    <a:gd name="T1" fmla="*/ 1 h 62"/>
                    <a:gd name="T2" fmla="*/ 0 w 73"/>
                    <a:gd name="T3" fmla="*/ 0 h 62"/>
                    <a:gd name="T4" fmla="*/ 0 w 73"/>
                    <a:gd name="T5" fmla="*/ 1 h 62"/>
                    <a:gd name="T6" fmla="*/ 0 w 73"/>
                    <a:gd name="T7" fmla="*/ 1 h 62"/>
                    <a:gd name="T8" fmla="*/ 0 w 73"/>
                    <a:gd name="T9" fmla="*/ 1 h 62"/>
                    <a:gd name="T10" fmla="*/ 0 60000 65536"/>
                    <a:gd name="T11" fmla="*/ 0 60000 65536"/>
                    <a:gd name="T12" fmla="*/ 0 60000 65536"/>
                    <a:gd name="T13" fmla="*/ 0 60000 65536"/>
                    <a:gd name="T14" fmla="*/ 0 60000 65536"/>
                    <a:gd name="T15" fmla="*/ 0 w 73"/>
                    <a:gd name="T16" fmla="*/ 0 h 62"/>
                    <a:gd name="T17" fmla="*/ 73 w 73"/>
                    <a:gd name="T18" fmla="*/ 62 h 62"/>
                  </a:gdLst>
                  <a:ahLst/>
                  <a:cxnLst>
                    <a:cxn ang="T10">
                      <a:pos x="T0" y="T1"/>
                    </a:cxn>
                    <a:cxn ang="T11">
                      <a:pos x="T2" y="T3"/>
                    </a:cxn>
                    <a:cxn ang="T12">
                      <a:pos x="T4" y="T5"/>
                    </a:cxn>
                    <a:cxn ang="T13">
                      <a:pos x="T6" y="T7"/>
                    </a:cxn>
                    <a:cxn ang="T14">
                      <a:pos x="T8" y="T9"/>
                    </a:cxn>
                  </a:cxnLst>
                  <a:rect l="T15" t="T16" r="T17" b="T18"/>
                  <a:pathLst>
                    <a:path w="73" h="62">
                      <a:moveTo>
                        <a:pt x="0" y="48"/>
                      </a:moveTo>
                      <a:lnTo>
                        <a:pt x="23" y="0"/>
                      </a:lnTo>
                      <a:lnTo>
                        <a:pt x="73" y="11"/>
                      </a:lnTo>
                      <a:lnTo>
                        <a:pt x="33" y="62"/>
                      </a:lnTo>
                      <a:lnTo>
                        <a:pt x="0" y="4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0" name="16369343.12556247.540.755">
                  <a:extLst>
                    <a:ext uri="{FF2B5EF4-FFF2-40B4-BE49-F238E27FC236}">
                      <a16:creationId xmlns:a16="http://schemas.microsoft.com/office/drawing/2014/main" id="{3D74EBC9-FFE6-C9A6-DEE5-AD28F474C2B2}"/>
                    </a:ext>
                  </a:extLst>
                </p:cNvPr>
                <p:cNvSpPr>
                  <a:spLocks/>
                </p:cNvSpPr>
                <p:nvPr/>
              </p:nvSpPr>
              <p:spPr bwMode="auto">
                <a:xfrm>
                  <a:off x="3931198" y="3344457"/>
                  <a:ext cx="496441" cy="563122"/>
                </a:xfrm>
                <a:custGeom>
                  <a:avLst/>
                  <a:gdLst>
                    <a:gd name="T0" fmla="*/ 0 w 980"/>
                    <a:gd name="T1" fmla="*/ 1 h 976"/>
                    <a:gd name="T2" fmla="*/ 1 w 980"/>
                    <a:gd name="T3" fmla="*/ 1 h 976"/>
                    <a:gd name="T4" fmla="*/ 1 w 980"/>
                    <a:gd name="T5" fmla="*/ 1 h 976"/>
                    <a:gd name="T6" fmla="*/ 1 w 980"/>
                    <a:gd name="T7" fmla="*/ 1 h 976"/>
                    <a:gd name="T8" fmla="*/ 1 w 980"/>
                    <a:gd name="T9" fmla="*/ 1 h 976"/>
                    <a:gd name="T10" fmla="*/ 1 w 980"/>
                    <a:gd name="T11" fmla="*/ 1 h 976"/>
                    <a:gd name="T12" fmla="*/ 1 w 980"/>
                    <a:gd name="T13" fmla="*/ 1 h 976"/>
                    <a:gd name="T14" fmla="*/ 1 w 980"/>
                    <a:gd name="T15" fmla="*/ 1 h 976"/>
                    <a:gd name="T16" fmla="*/ 1 w 980"/>
                    <a:gd name="T17" fmla="*/ 1 h 976"/>
                    <a:gd name="T18" fmla="*/ 1 w 980"/>
                    <a:gd name="T19" fmla="*/ 1 h 976"/>
                    <a:gd name="T20" fmla="*/ 1 w 980"/>
                    <a:gd name="T21" fmla="*/ 1 h 976"/>
                    <a:gd name="T22" fmla="*/ 1 w 980"/>
                    <a:gd name="T23" fmla="*/ 1 h 976"/>
                    <a:gd name="T24" fmla="*/ 1 w 980"/>
                    <a:gd name="T25" fmla="*/ 1 h 976"/>
                    <a:gd name="T26" fmla="*/ 1 w 980"/>
                    <a:gd name="T27" fmla="*/ 0 h 976"/>
                    <a:gd name="T28" fmla="*/ 1 w 980"/>
                    <a:gd name="T29" fmla="*/ 1 h 976"/>
                    <a:gd name="T30" fmla="*/ 1 w 980"/>
                    <a:gd name="T31" fmla="*/ 1 h 976"/>
                    <a:gd name="T32" fmla="*/ 1 w 980"/>
                    <a:gd name="T33" fmla="*/ 1 h 976"/>
                    <a:gd name="T34" fmla="*/ 1 w 980"/>
                    <a:gd name="T35" fmla="*/ 1 h 976"/>
                    <a:gd name="T36" fmla="*/ 1 w 980"/>
                    <a:gd name="T37" fmla="*/ 1 h 976"/>
                    <a:gd name="T38" fmla="*/ 1 w 980"/>
                    <a:gd name="T39" fmla="*/ 1 h 976"/>
                    <a:gd name="T40" fmla="*/ 1 w 980"/>
                    <a:gd name="T41" fmla="*/ 1 h 976"/>
                    <a:gd name="T42" fmla="*/ 1 w 980"/>
                    <a:gd name="T43" fmla="*/ 1 h 976"/>
                    <a:gd name="T44" fmla="*/ 1 w 980"/>
                    <a:gd name="T45" fmla="*/ 1 h 976"/>
                    <a:gd name="T46" fmla="*/ 1 w 980"/>
                    <a:gd name="T47" fmla="*/ 1 h 976"/>
                    <a:gd name="T48" fmla="*/ 1 w 980"/>
                    <a:gd name="T49" fmla="*/ 1 h 976"/>
                    <a:gd name="T50" fmla="*/ 1 w 980"/>
                    <a:gd name="T51" fmla="*/ 1 h 976"/>
                    <a:gd name="T52" fmla="*/ 1 w 980"/>
                    <a:gd name="T53" fmla="*/ 1 h 976"/>
                    <a:gd name="T54" fmla="*/ 1 w 980"/>
                    <a:gd name="T55" fmla="*/ 1 h 976"/>
                    <a:gd name="T56" fmla="*/ 1 w 980"/>
                    <a:gd name="T57" fmla="*/ 1 h 976"/>
                    <a:gd name="T58" fmla="*/ 1 w 980"/>
                    <a:gd name="T59" fmla="*/ 1 h 976"/>
                    <a:gd name="T60" fmla="*/ 1 w 980"/>
                    <a:gd name="T61" fmla="*/ 1 h 976"/>
                    <a:gd name="T62" fmla="*/ 1 w 980"/>
                    <a:gd name="T63" fmla="*/ 1 h 976"/>
                    <a:gd name="T64" fmla="*/ 1 w 980"/>
                    <a:gd name="T65" fmla="*/ 1 h 976"/>
                    <a:gd name="T66" fmla="*/ 1 w 980"/>
                    <a:gd name="T67" fmla="*/ 1 h 976"/>
                    <a:gd name="T68" fmla="*/ 1 w 980"/>
                    <a:gd name="T69" fmla="*/ 1 h 976"/>
                    <a:gd name="T70" fmla="*/ 1 w 980"/>
                    <a:gd name="T71" fmla="*/ 1 h 976"/>
                    <a:gd name="T72" fmla="*/ 1 w 980"/>
                    <a:gd name="T73" fmla="*/ 1 h 976"/>
                    <a:gd name="T74" fmla="*/ 1 w 980"/>
                    <a:gd name="T75" fmla="*/ 1 h 976"/>
                    <a:gd name="T76" fmla="*/ 1 w 980"/>
                    <a:gd name="T77" fmla="*/ 1 h 976"/>
                    <a:gd name="T78" fmla="*/ 1 w 980"/>
                    <a:gd name="T79" fmla="*/ 1 h 976"/>
                    <a:gd name="T80" fmla="*/ 1 w 980"/>
                    <a:gd name="T81" fmla="*/ 1 h 976"/>
                    <a:gd name="T82" fmla="*/ 1 w 980"/>
                    <a:gd name="T83" fmla="*/ 1 h 976"/>
                    <a:gd name="T84" fmla="*/ 1 w 980"/>
                    <a:gd name="T85" fmla="*/ 1 h 976"/>
                    <a:gd name="T86" fmla="*/ 1 w 980"/>
                    <a:gd name="T87" fmla="*/ 1 h 976"/>
                    <a:gd name="T88" fmla="*/ 1 w 980"/>
                    <a:gd name="T89" fmla="*/ 1 h 976"/>
                    <a:gd name="T90" fmla="*/ 1 w 980"/>
                    <a:gd name="T91" fmla="*/ 1 h 976"/>
                    <a:gd name="T92" fmla="*/ 1 w 980"/>
                    <a:gd name="T93" fmla="*/ 1 h 976"/>
                    <a:gd name="T94" fmla="*/ 1 w 980"/>
                    <a:gd name="T95" fmla="*/ 1 h 976"/>
                    <a:gd name="T96" fmla="*/ 1 w 980"/>
                    <a:gd name="T97" fmla="*/ 1 h 976"/>
                    <a:gd name="T98" fmla="*/ 1 w 980"/>
                    <a:gd name="T99" fmla="*/ 1 h 976"/>
                    <a:gd name="T100" fmla="*/ 1 w 980"/>
                    <a:gd name="T101" fmla="*/ 1 h 976"/>
                    <a:gd name="T102" fmla="*/ 1 w 980"/>
                    <a:gd name="T103" fmla="*/ 1 h 976"/>
                    <a:gd name="T104" fmla="*/ 1 w 980"/>
                    <a:gd name="T105" fmla="*/ 1 h 976"/>
                    <a:gd name="T106" fmla="*/ 1 w 980"/>
                    <a:gd name="T107" fmla="*/ 1 h 976"/>
                    <a:gd name="T108" fmla="*/ 1 w 980"/>
                    <a:gd name="T109" fmla="*/ 1 h 976"/>
                    <a:gd name="T110" fmla="*/ 1 w 980"/>
                    <a:gd name="T111" fmla="*/ 1 h 976"/>
                    <a:gd name="T112" fmla="*/ 1 w 980"/>
                    <a:gd name="T113" fmla="*/ 1 h 976"/>
                    <a:gd name="T114" fmla="*/ 1 w 980"/>
                    <a:gd name="T115" fmla="*/ 1 h 976"/>
                    <a:gd name="T116" fmla="*/ 1 w 980"/>
                    <a:gd name="T117" fmla="*/ 1 h 976"/>
                    <a:gd name="T118" fmla="*/ 1 w 980"/>
                    <a:gd name="T119" fmla="*/ 1 h 976"/>
                    <a:gd name="T120" fmla="*/ 1 w 980"/>
                    <a:gd name="T121" fmla="*/ 1 h 976"/>
                    <a:gd name="T122" fmla="*/ 0 w 980"/>
                    <a:gd name="T123" fmla="*/ 1 h 9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80"/>
                    <a:gd name="T187" fmla="*/ 0 h 976"/>
                    <a:gd name="T188" fmla="*/ 980 w 980"/>
                    <a:gd name="T189" fmla="*/ 976 h 97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80" h="976">
                      <a:moveTo>
                        <a:pt x="0" y="444"/>
                      </a:moveTo>
                      <a:lnTo>
                        <a:pt x="27" y="422"/>
                      </a:lnTo>
                      <a:lnTo>
                        <a:pt x="103" y="422"/>
                      </a:lnTo>
                      <a:lnTo>
                        <a:pt x="51" y="320"/>
                      </a:lnTo>
                      <a:lnTo>
                        <a:pt x="81" y="293"/>
                      </a:lnTo>
                      <a:lnTo>
                        <a:pt x="125" y="295"/>
                      </a:lnTo>
                      <a:lnTo>
                        <a:pt x="224" y="184"/>
                      </a:lnTo>
                      <a:lnTo>
                        <a:pt x="217" y="154"/>
                      </a:lnTo>
                      <a:lnTo>
                        <a:pt x="243" y="136"/>
                      </a:lnTo>
                      <a:lnTo>
                        <a:pt x="199" y="101"/>
                      </a:lnTo>
                      <a:lnTo>
                        <a:pt x="198" y="46"/>
                      </a:lnTo>
                      <a:lnTo>
                        <a:pt x="294" y="46"/>
                      </a:lnTo>
                      <a:lnTo>
                        <a:pt x="322" y="20"/>
                      </a:lnTo>
                      <a:lnTo>
                        <a:pt x="374" y="0"/>
                      </a:lnTo>
                      <a:lnTo>
                        <a:pt x="409" y="19"/>
                      </a:lnTo>
                      <a:lnTo>
                        <a:pt x="363" y="75"/>
                      </a:lnTo>
                      <a:lnTo>
                        <a:pt x="385" y="122"/>
                      </a:lnTo>
                      <a:lnTo>
                        <a:pt x="349" y="129"/>
                      </a:lnTo>
                      <a:lnTo>
                        <a:pt x="366" y="187"/>
                      </a:lnTo>
                      <a:lnTo>
                        <a:pt x="434" y="211"/>
                      </a:lnTo>
                      <a:lnTo>
                        <a:pt x="401" y="265"/>
                      </a:lnTo>
                      <a:lnTo>
                        <a:pt x="491" y="316"/>
                      </a:lnTo>
                      <a:lnTo>
                        <a:pt x="665" y="349"/>
                      </a:lnTo>
                      <a:lnTo>
                        <a:pt x="669" y="298"/>
                      </a:lnTo>
                      <a:lnTo>
                        <a:pt x="691" y="293"/>
                      </a:lnTo>
                      <a:lnTo>
                        <a:pt x="695" y="317"/>
                      </a:lnTo>
                      <a:lnTo>
                        <a:pt x="709" y="339"/>
                      </a:lnTo>
                      <a:lnTo>
                        <a:pt x="797" y="330"/>
                      </a:lnTo>
                      <a:lnTo>
                        <a:pt x="792" y="299"/>
                      </a:lnTo>
                      <a:lnTo>
                        <a:pt x="934" y="239"/>
                      </a:lnTo>
                      <a:lnTo>
                        <a:pt x="945" y="275"/>
                      </a:lnTo>
                      <a:lnTo>
                        <a:pt x="980" y="288"/>
                      </a:lnTo>
                      <a:lnTo>
                        <a:pt x="966" y="324"/>
                      </a:lnTo>
                      <a:lnTo>
                        <a:pt x="907" y="346"/>
                      </a:lnTo>
                      <a:lnTo>
                        <a:pt x="820" y="507"/>
                      </a:lnTo>
                      <a:lnTo>
                        <a:pt x="803" y="442"/>
                      </a:lnTo>
                      <a:lnTo>
                        <a:pt x="787" y="467"/>
                      </a:lnTo>
                      <a:lnTo>
                        <a:pt x="767" y="436"/>
                      </a:lnTo>
                      <a:lnTo>
                        <a:pt x="805" y="396"/>
                      </a:lnTo>
                      <a:lnTo>
                        <a:pt x="730" y="390"/>
                      </a:lnTo>
                      <a:lnTo>
                        <a:pt x="682" y="345"/>
                      </a:lnTo>
                      <a:lnTo>
                        <a:pt x="666" y="370"/>
                      </a:lnTo>
                      <a:lnTo>
                        <a:pt x="684" y="390"/>
                      </a:lnTo>
                      <a:lnTo>
                        <a:pt x="661" y="404"/>
                      </a:lnTo>
                      <a:lnTo>
                        <a:pt x="683" y="425"/>
                      </a:lnTo>
                      <a:lnTo>
                        <a:pt x="695" y="517"/>
                      </a:lnTo>
                      <a:lnTo>
                        <a:pt x="666" y="502"/>
                      </a:lnTo>
                      <a:lnTo>
                        <a:pt x="610" y="574"/>
                      </a:lnTo>
                      <a:lnTo>
                        <a:pt x="408" y="722"/>
                      </a:lnTo>
                      <a:lnTo>
                        <a:pt x="393" y="903"/>
                      </a:lnTo>
                      <a:lnTo>
                        <a:pt x="309" y="976"/>
                      </a:lnTo>
                      <a:lnTo>
                        <a:pt x="234" y="836"/>
                      </a:lnTo>
                      <a:lnTo>
                        <a:pt x="203" y="724"/>
                      </a:lnTo>
                      <a:lnTo>
                        <a:pt x="176" y="698"/>
                      </a:lnTo>
                      <a:lnTo>
                        <a:pt x="155" y="496"/>
                      </a:lnTo>
                      <a:lnTo>
                        <a:pt x="139" y="489"/>
                      </a:lnTo>
                      <a:lnTo>
                        <a:pt x="126" y="533"/>
                      </a:lnTo>
                      <a:lnTo>
                        <a:pt x="78" y="546"/>
                      </a:lnTo>
                      <a:lnTo>
                        <a:pt x="30" y="492"/>
                      </a:lnTo>
                      <a:lnTo>
                        <a:pt x="77" y="464"/>
                      </a:lnTo>
                      <a:lnTo>
                        <a:pt x="30" y="474"/>
                      </a:lnTo>
                      <a:lnTo>
                        <a:pt x="0" y="44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1" name="16370394.75599.87518.375155">
                  <a:extLst>
                    <a:ext uri="{FF2B5EF4-FFF2-40B4-BE49-F238E27FC236}">
                      <a16:creationId xmlns:a16="http://schemas.microsoft.com/office/drawing/2014/main" id="{6281287C-45F3-0650-5705-747019CB2466}"/>
                    </a:ext>
                  </a:extLst>
                </p:cNvPr>
                <p:cNvSpPr>
                  <a:spLocks/>
                </p:cNvSpPr>
                <p:nvPr/>
              </p:nvSpPr>
              <p:spPr bwMode="auto">
                <a:xfrm>
                  <a:off x="4392179" y="3956042"/>
                  <a:ext cx="183380" cy="218094"/>
                </a:xfrm>
                <a:custGeom>
                  <a:avLst/>
                  <a:gdLst>
                    <a:gd name="T0" fmla="*/ 0 w 363"/>
                    <a:gd name="T1" fmla="*/ 0 h 378"/>
                    <a:gd name="T2" fmla="*/ 0 w 363"/>
                    <a:gd name="T3" fmla="*/ 1 h 378"/>
                    <a:gd name="T4" fmla="*/ 0 w 363"/>
                    <a:gd name="T5" fmla="*/ 1 h 378"/>
                    <a:gd name="T6" fmla="*/ 0 w 363"/>
                    <a:gd name="T7" fmla="*/ 1 h 378"/>
                    <a:gd name="T8" fmla="*/ 0 w 363"/>
                    <a:gd name="T9" fmla="*/ 1 h 378"/>
                    <a:gd name="T10" fmla="*/ 0 w 363"/>
                    <a:gd name="T11" fmla="*/ 1 h 378"/>
                    <a:gd name="T12" fmla="*/ 0 w 363"/>
                    <a:gd name="T13" fmla="*/ 1 h 378"/>
                    <a:gd name="T14" fmla="*/ 0 w 363"/>
                    <a:gd name="T15" fmla="*/ 1 h 378"/>
                    <a:gd name="T16" fmla="*/ 0 w 363"/>
                    <a:gd name="T17" fmla="*/ 1 h 378"/>
                    <a:gd name="T18" fmla="*/ 0 w 363"/>
                    <a:gd name="T19" fmla="*/ 1 h 378"/>
                    <a:gd name="T20" fmla="*/ 0 w 363"/>
                    <a:gd name="T21" fmla="*/ 1 h 378"/>
                    <a:gd name="T22" fmla="*/ 0 w 363"/>
                    <a:gd name="T23" fmla="*/ 1 h 378"/>
                    <a:gd name="T24" fmla="*/ 0 w 363"/>
                    <a:gd name="T25" fmla="*/ 0 h 3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3"/>
                    <a:gd name="T40" fmla="*/ 0 h 378"/>
                    <a:gd name="T41" fmla="*/ 363 w 363"/>
                    <a:gd name="T42" fmla="*/ 378 h 3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3" h="378">
                      <a:moveTo>
                        <a:pt x="0" y="0"/>
                      </a:moveTo>
                      <a:lnTo>
                        <a:pt x="80" y="15"/>
                      </a:lnTo>
                      <a:lnTo>
                        <a:pt x="182" y="114"/>
                      </a:lnTo>
                      <a:lnTo>
                        <a:pt x="264" y="150"/>
                      </a:lnTo>
                      <a:lnTo>
                        <a:pt x="255" y="177"/>
                      </a:lnTo>
                      <a:lnTo>
                        <a:pt x="283" y="175"/>
                      </a:lnTo>
                      <a:lnTo>
                        <a:pt x="279" y="212"/>
                      </a:lnTo>
                      <a:lnTo>
                        <a:pt x="363" y="282"/>
                      </a:lnTo>
                      <a:lnTo>
                        <a:pt x="354" y="377"/>
                      </a:lnTo>
                      <a:lnTo>
                        <a:pt x="318" y="378"/>
                      </a:lnTo>
                      <a:lnTo>
                        <a:pt x="244" y="323"/>
                      </a:lnTo>
                      <a:lnTo>
                        <a:pt x="124" y="132"/>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2" name="16371413.3756144.62512.6255">
                  <a:extLst>
                    <a:ext uri="{FF2B5EF4-FFF2-40B4-BE49-F238E27FC236}">
                      <a16:creationId xmlns:a16="http://schemas.microsoft.com/office/drawing/2014/main" id="{81EFA772-0BC9-784B-AB4D-E10E384143A3}"/>
                    </a:ext>
                  </a:extLst>
                </p:cNvPr>
                <p:cNvSpPr>
                  <a:spLocks/>
                </p:cNvSpPr>
                <p:nvPr/>
              </p:nvSpPr>
              <p:spPr bwMode="auto">
                <a:xfrm>
                  <a:off x="4564415" y="4177598"/>
                  <a:ext cx="153998" cy="54235"/>
                </a:xfrm>
                <a:custGeom>
                  <a:avLst/>
                  <a:gdLst>
                    <a:gd name="T0" fmla="*/ 0 w 304"/>
                    <a:gd name="T1" fmla="*/ 0 h 95"/>
                    <a:gd name="T2" fmla="*/ 1 w 304"/>
                    <a:gd name="T3" fmla="*/ 0 h 95"/>
                    <a:gd name="T4" fmla="*/ 1 w 304"/>
                    <a:gd name="T5" fmla="*/ 0 h 95"/>
                    <a:gd name="T6" fmla="*/ 1 w 304"/>
                    <a:gd name="T7" fmla="*/ 0 h 95"/>
                    <a:gd name="T8" fmla="*/ 1 w 304"/>
                    <a:gd name="T9" fmla="*/ 0 h 95"/>
                    <a:gd name="T10" fmla="*/ 1 w 304"/>
                    <a:gd name="T11" fmla="*/ 0 h 95"/>
                    <a:gd name="T12" fmla="*/ 1 w 304"/>
                    <a:gd name="T13" fmla="*/ 0 h 95"/>
                    <a:gd name="T14" fmla="*/ 0 w 304"/>
                    <a:gd name="T15" fmla="*/ 0 h 95"/>
                    <a:gd name="T16" fmla="*/ 0 60000 65536"/>
                    <a:gd name="T17" fmla="*/ 0 60000 65536"/>
                    <a:gd name="T18" fmla="*/ 0 60000 65536"/>
                    <a:gd name="T19" fmla="*/ 0 60000 65536"/>
                    <a:gd name="T20" fmla="*/ 0 60000 65536"/>
                    <a:gd name="T21" fmla="*/ 0 60000 65536"/>
                    <a:gd name="T22" fmla="*/ 0 60000 65536"/>
                    <a:gd name="T23" fmla="*/ 0 60000 65536"/>
                    <a:gd name="T24" fmla="*/ 0 w 304"/>
                    <a:gd name="T25" fmla="*/ 0 h 95"/>
                    <a:gd name="T26" fmla="*/ 304 w 304"/>
                    <a:gd name="T27" fmla="*/ 95 h 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4" h="95">
                      <a:moveTo>
                        <a:pt x="0" y="26"/>
                      </a:moveTo>
                      <a:lnTo>
                        <a:pt x="21" y="0"/>
                      </a:lnTo>
                      <a:lnTo>
                        <a:pt x="234" y="29"/>
                      </a:lnTo>
                      <a:lnTo>
                        <a:pt x="254" y="53"/>
                      </a:lnTo>
                      <a:lnTo>
                        <a:pt x="298" y="62"/>
                      </a:lnTo>
                      <a:lnTo>
                        <a:pt x="304" y="95"/>
                      </a:lnTo>
                      <a:lnTo>
                        <a:pt x="54" y="49"/>
                      </a:lnTo>
                      <a:lnTo>
                        <a:pt x="0" y="2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3" name="16372396.7561913.7513.6255">
                  <a:extLst>
                    <a:ext uri="{FF2B5EF4-FFF2-40B4-BE49-F238E27FC236}">
                      <a16:creationId xmlns:a16="http://schemas.microsoft.com/office/drawing/2014/main" id="{4ECBFEC8-8295-D044-35BE-3B15E86EA512}"/>
                    </a:ext>
                  </a:extLst>
                </p:cNvPr>
                <p:cNvSpPr>
                  <a:spLocks/>
                </p:cNvSpPr>
                <p:nvPr/>
              </p:nvSpPr>
              <p:spPr bwMode="auto">
                <a:xfrm>
                  <a:off x="4626217" y="3980276"/>
                  <a:ext cx="166156" cy="162705"/>
                </a:xfrm>
                <a:custGeom>
                  <a:avLst/>
                  <a:gdLst>
                    <a:gd name="T0" fmla="*/ 0 w 329"/>
                    <a:gd name="T1" fmla="*/ 1 h 280"/>
                    <a:gd name="T2" fmla="*/ 0 w 329"/>
                    <a:gd name="T3" fmla="*/ 1 h 280"/>
                    <a:gd name="T4" fmla="*/ 0 w 329"/>
                    <a:gd name="T5" fmla="*/ 1 h 280"/>
                    <a:gd name="T6" fmla="*/ 0 w 329"/>
                    <a:gd name="T7" fmla="*/ 1 h 280"/>
                    <a:gd name="T8" fmla="*/ 0 w 329"/>
                    <a:gd name="T9" fmla="*/ 1 h 280"/>
                    <a:gd name="T10" fmla="*/ 0 w 329"/>
                    <a:gd name="T11" fmla="*/ 0 h 280"/>
                    <a:gd name="T12" fmla="*/ 0 w 329"/>
                    <a:gd name="T13" fmla="*/ 1 h 280"/>
                    <a:gd name="T14" fmla="*/ 0 w 329"/>
                    <a:gd name="T15" fmla="*/ 1 h 280"/>
                    <a:gd name="T16" fmla="*/ 0 w 329"/>
                    <a:gd name="T17" fmla="*/ 1 h 280"/>
                    <a:gd name="T18" fmla="*/ 0 w 329"/>
                    <a:gd name="T19" fmla="*/ 1 h 280"/>
                    <a:gd name="T20" fmla="*/ 0 w 329"/>
                    <a:gd name="T21" fmla="*/ 1 h 280"/>
                    <a:gd name="T22" fmla="*/ 0 w 329"/>
                    <a:gd name="T23" fmla="*/ 1 h 280"/>
                    <a:gd name="T24" fmla="*/ 0 w 329"/>
                    <a:gd name="T25" fmla="*/ 1 h 280"/>
                    <a:gd name="T26" fmla="*/ 0 w 329"/>
                    <a:gd name="T27" fmla="*/ 1 h 280"/>
                    <a:gd name="T28" fmla="*/ 0 w 329"/>
                    <a:gd name="T29" fmla="*/ 1 h 280"/>
                    <a:gd name="T30" fmla="*/ 0 w 329"/>
                    <a:gd name="T31" fmla="*/ 1 h 280"/>
                    <a:gd name="T32" fmla="*/ 0 w 329"/>
                    <a:gd name="T33" fmla="*/ 1 h 280"/>
                    <a:gd name="T34" fmla="*/ 0 w 329"/>
                    <a:gd name="T35" fmla="*/ 1 h 28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9"/>
                    <a:gd name="T55" fmla="*/ 0 h 280"/>
                    <a:gd name="T56" fmla="*/ 329 w 329"/>
                    <a:gd name="T57" fmla="*/ 280 h 28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9" h="280">
                      <a:moveTo>
                        <a:pt x="0" y="126"/>
                      </a:moveTo>
                      <a:lnTo>
                        <a:pt x="22" y="89"/>
                      </a:lnTo>
                      <a:lnTo>
                        <a:pt x="50" y="112"/>
                      </a:lnTo>
                      <a:lnTo>
                        <a:pt x="150" y="104"/>
                      </a:lnTo>
                      <a:lnTo>
                        <a:pt x="183" y="92"/>
                      </a:lnTo>
                      <a:lnTo>
                        <a:pt x="227" y="0"/>
                      </a:lnTo>
                      <a:lnTo>
                        <a:pt x="285" y="4"/>
                      </a:lnTo>
                      <a:lnTo>
                        <a:pt x="272" y="27"/>
                      </a:lnTo>
                      <a:lnTo>
                        <a:pt x="329" y="112"/>
                      </a:lnTo>
                      <a:lnTo>
                        <a:pt x="297" y="106"/>
                      </a:lnTo>
                      <a:lnTo>
                        <a:pt x="241" y="202"/>
                      </a:lnTo>
                      <a:lnTo>
                        <a:pt x="232" y="262"/>
                      </a:lnTo>
                      <a:lnTo>
                        <a:pt x="197" y="280"/>
                      </a:lnTo>
                      <a:lnTo>
                        <a:pt x="133" y="245"/>
                      </a:lnTo>
                      <a:lnTo>
                        <a:pt x="96" y="261"/>
                      </a:lnTo>
                      <a:lnTo>
                        <a:pt x="91" y="232"/>
                      </a:lnTo>
                      <a:lnTo>
                        <a:pt x="40" y="238"/>
                      </a:lnTo>
                      <a:lnTo>
                        <a:pt x="0" y="12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4" name="16373417.375629.7513.3755">
                  <a:extLst>
                    <a:ext uri="{FF2B5EF4-FFF2-40B4-BE49-F238E27FC236}">
                      <a16:creationId xmlns:a16="http://schemas.microsoft.com/office/drawing/2014/main" id="{46E6F47C-B60F-300C-C0FC-312FBCC95E96}"/>
                    </a:ext>
                  </a:extLst>
                </p:cNvPr>
                <p:cNvSpPr>
                  <a:spLocks/>
                </p:cNvSpPr>
                <p:nvPr/>
              </p:nvSpPr>
              <p:spPr bwMode="auto">
                <a:xfrm>
                  <a:off x="4756912" y="4224912"/>
                  <a:ext cx="40525" cy="11540"/>
                </a:xfrm>
                <a:custGeom>
                  <a:avLst/>
                  <a:gdLst>
                    <a:gd name="T0" fmla="*/ 0 w 82"/>
                    <a:gd name="T1" fmla="*/ 0 h 21"/>
                    <a:gd name="T2" fmla="*/ 0 w 82"/>
                    <a:gd name="T3" fmla="*/ 0 h 21"/>
                    <a:gd name="T4" fmla="*/ 0 w 82"/>
                    <a:gd name="T5" fmla="*/ 0 h 21"/>
                    <a:gd name="T6" fmla="*/ 0 w 82"/>
                    <a:gd name="T7" fmla="*/ 0 h 21"/>
                    <a:gd name="T8" fmla="*/ 0 w 82"/>
                    <a:gd name="T9" fmla="*/ 0 h 21"/>
                    <a:gd name="T10" fmla="*/ 0 60000 65536"/>
                    <a:gd name="T11" fmla="*/ 0 60000 65536"/>
                    <a:gd name="T12" fmla="*/ 0 60000 65536"/>
                    <a:gd name="T13" fmla="*/ 0 60000 65536"/>
                    <a:gd name="T14" fmla="*/ 0 60000 65536"/>
                    <a:gd name="T15" fmla="*/ 0 w 82"/>
                    <a:gd name="T16" fmla="*/ 0 h 21"/>
                    <a:gd name="T17" fmla="*/ 82 w 82"/>
                    <a:gd name="T18" fmla="*/ 21 h 21"/>
                  </a:gdLst>
                  <a:ahLst/>
                  <a:cxnLst>
                    <a:cxn ang="T10">
                      <a:pos x="T0" y="T1"/>
                    </a:cxn>
                    <a:cxn ang="T11">
                      <a:pos x="T2" y="T3"/>
                    </a:cxn>
                    <a:cxn ang="T12">
                      <a:pos x="T4" y="T5"/>
                    </a:cxn>
                    <a:cxn ang="T13">
                      <a:pos x="T6" y="T7"/>
                    </a:cxn>
                    <a:cxn ang="T14">
                      <a:pos x="T8" y="T9"/>
                    </a:cxn>
                  </a:cxnLst>
                  <a:rect l="T15" t="T16" r="T17" b="T18"/>
                  <a:pathLst>
                    <a:path w="82" h="21">
                      <a:moveTo>
                        <a:pt x="0" y="4"/>
                      </a:moveTo>
                      <a:lnTo>
                        <a:pt x="10" y="21"/>
                      </a:lnTo>
                      <a:lnTo>
                        <a:pt x="82" y="7"/>
                      </a:lnTo>
                      <a:lnTo>
                        <a:pt x="27" y="0"/>
                      </a:lnTo>
                      <a:lnTo>
                        <a:pt x="0" y="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5" name="16374400.875632.62511.8758.6255">
                  <a:extLst>
                    <a:ext uri="{FF2B5EF4-FFF2-40B4-BE49-F238E27FC236}">
                      <a16:creationId xmlns:a16="http://schemas.microsoft.com/office/drawing/2014/main" id="{AF273886-D1D5-721B-6325-F7E92A46B327}"/>
                    </a:ext>
                  </a:extLst>
                </p:cNvPr>
                <p:cNvSpPr>
                  <a:spLocks/>
                </p:cNvSpPr>
                <p:nvPr/>
              </p:nvSpPr>
              <p:spPr bwMode="auto">
                <a:xfrm>
                  <a:off x="4792372" y="4028741"/>
                  <a:ext cx="104354" cy="141934"/>
                </a:xfrm>
                <a:custGeom>
                  <a:avLst/>
                  <a:gdLst>
                    <a:gd name="T0" fmla="*/ 0 w 206"/>
                    <a:gd name="T1" fmla="*/ 1 h 244"/>
                    <a:gd name="T2" fmla="*/ 1 w 206"/>
                    <a:gd name="T3" fmla="*/ 1 h 244"/>
                    <a:gd name="T4" fmla="*/ 1 w 206"/>
                    <a:gd name="T5" fmla="*/ 1 h 244"/>
                    <a:gd name="T6" fmla="*/ 1 w 206"/>
                    <a:gd name="T7" fmla="*/ 1 h 244"/>
                    <a:gd name="T8" fmla="*/ 1 w 206"/>
                    <a:gd name="T9" fmla="*/ 1 h 244"/>
                    <a:gd name="T10" fmla="*/ 1 w 206"/>
                    <a:gd name="T11" fmla="*/ 1 h 244"/>
                    <a:gd name="T12" fmla="*/ 1 w 206"/>
                    <a:gd name="T13" fmla="*/ 1 h 244"/>
                    <a:gd name="T14" fmla="*/ 1 w 206"/>
                    <a:gd name="T15" fmla="*/ 1 h 244"/>
                    <a:gd name="T16" fmla="*/ 1 w 206"/>
                    <a:gd name="T17" fmla="*/ 1 h 244"/>
                    <a:gd name="T18" fmla="*/ 1 w 206"/>
                    <a:gd name="T19" fmla="*/ 1 h 244"/>
                    <a:gd name="T20" fmla="*/ 1 w 206"/>
                    <a:gd name="T21" fmla="*/ 1 h 244"/>
                    <a:gd name="T22" fmla="*/ 1 w 206"/>
                    <a:gd name="T23" fmla="*/ 1 h 244"/>
                    <a:gd name="T24" fmla="*/ 1 w 206"/>
                    <a:gd name="T25" fmla="*/ 1 h 244"/>
                    <a:gd name="T26" fmla="*/ 1 w 206"/>
                    <a:gd name="T27" fmla="*/ 1 h 244"/>
                    <a:gd name="T28" fmla="*/ 1 w 206"/>
                    <a:gd name="T29" fmla="*/ 0 h 244"/>
                    <a:gd name="T30" fmla="*/ 1 w 206"/>
                    <a:gd name="T31" fmla="*/ 1 h 244"/>
                    <a:gd name="T32" fmla="*/ 1 w 206"/>
                    <a:gd name="T33" fmla="*/ 1 h 244"/>
                    <a:gd name="T34" fmla="*/ 1 w 206"/>
                    <a:gd name="T35" fmla="*/ 1 h 244"/>
                    <a:gd name="T36" fmla="*/ 0 w 206"/>
                    <a:gd name="T37" fmla="*/ 1 h 2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6"/>
                    <a:gd name="T58" fmla="*/ 0 h 244"/>
                    <a:gd name="T59" fmla="*/ 206 w 206"/>
                    <a:gd name="T60" fmla="*/ 244 h 2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6" h="244">
                      <a:moveTo>
                        <a:pt x="0" y="145"/>
                      </a:moveTo>
                      <a:lnTo>
                        <a:pt x="26" y="191"/>
                      </a:lnTo>
                      <a:lnTo>
                        <a:pt x="17" y="235"/>
                      </a:lnTo>
                      <a:lnTo>
                        <a:pt x="50" y="244"/>
                      </a:lnTo>
                      <a:lnTo>
                        <a:pt x="48" y="154"/>
                      </a:lnTo>
                      <a:lnTo>
                        <a:pt x="70" y="145"/>
                      </a:lnTo>
                      <a:lnTo>
                        <a:pt x="72" y="180"/>
                      </a:lnTo>
                      <a:lnTo>
                        <a:pt x="92" y="220"/>
                      </a:lnTo>
                      <a:lnTo>
                        <a:pt x="129" y="202"/>
                      </a:lnTo>
                      <a:lnTo>
                        <a:pt x="83" y="118"/>
                      </a:lnTo>
                      <a:lnTo>
                        <a:pt x="152" y="81"/>
                      </a:lnTo>
                      <a:lnTo>
                        <a:pt x="60" y="104"/>
                      </a:lnTo>
                      <a:lnTo>
                        <a:pt x="46" y="50"/>
                      </a:lnTo>
                      <a:lnTo>
                        <a:pt x="181" y="45"/>
                      </a:lnTo>
                      <a:lnTo>
                        <a:pt x="206" y="0"/>
                      </a:lnTo>
                      <a:lnTo>
                        <a:pt x="166" y="28"/>
                      </a:lnTo>
                      <a:lnTo>
                        <a:pt x="70" y="13"/>
                      </a:lnTo>
                      <a:lnTo>
                        <a:pt x="37" y="34"/>
                      </a:lnTo>
                      <a:lnTo>
                        <a:pt x="0" y="14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6" name="16375417.5639.37534.8755">
                  <a:extLst>
                    <a:ext uri="{FF2B5EF4-FFF2-40B4-BE49-F238E27FC236}">
                      <a16:creationId xmlns:a16="http://schemas.microsoft.com/office/drawing/2014/main" id="{3CAD8743-849B-0D36-C857-4933A84C98B0}"/>
                    </a:ext>
                  </a:extLst>
                </p:cNvPr>
                <p:cNvSpPr>
                  <a:spLocks/>
                </p:cNvSpPr>
                <p:nvPr/>
              </p:nvSpPr>
              <p:spPr bwMode="auto">
                <a:xfrm>
                  <a:off x="4874437" y="4226064"/>
                  <a:ext cx="58763" cy="35772"/>
                </a:xfrm>
                <a:custGeom>
                  <a:avLst/>
                  <a:gdLst>
                    <a:gd name="T0" fmla="*/ 0 w 115"/>
                    <a:gd name="T1" fmla="*/ 0 h 63"/>
                    <a:gd name="T2" fmla="*/ 1 w 115"/>
                    <a:gd name="T3" fmla="*/ 0 h 63"/>
                    <a:gd name="T4" fmla="*/ 1 w 115"/>
                    <a:gd name="T5" fmla="*/ 0 h 63"/>
                    <a:gd name="T6" fmla="*/ 1 w 115"/>
                    <a:gd name="T7" fmla="*/ 0 h 63"/>
                    <a:gd name="T8" fmla="*/ 0 w 115"/>
                    <a:gd name="T9" fmla="*/ 0 h 63"/>
                    <a:gd name="T10" fmla="*/ 0 60000 65536"/>
                    <a:gd name="T11" fmla="*/ 0 60000 65536"/>
                    <a:gd name="T12" fmla="*/ 0 60000 65536"/>
                    <a:gd name="T13" fmla="*/ 0 60000 65536"/>
                    <a:gd name="T14" fmla="*/ 0 60000 65536"/>
                    <a:gd name="T15" fmla="*/ 0 w 115"/>
                    <a:gd name="T16" fmla="*/ 0 h 63"/>
                    <a:gd name="T17" fmla="*/ 115 w 115"/>
                    <a:gd name="T18" fmla="*/ 63 h 63"/>
                  </a:gdLst>
                  <a:ahLst/>
                  <a:cxnLst>
                    <a:cxn ang="T10">
                      <a:pos x="T0" y="T1"/>
                    </a:cxn>
                    <a:cxn ang="T11">
                      <a:pos x="T2" y="T3"/>
                    </a:cxn>
                    <a:cxn ang="T12">
                      <a:pos x="T4" y="T5"/>
                    </a:cxn>
                    <a:cxn ang="T13">
                      <a:pos x="T6" y="T7"/>
                    </a:cxn>
                    <a:cxn ang="T14">
                      <a:pos x="T8" y="T9"/>
                    </a:cxn>
                  </a:cxnLst>
                  <a:rect l="T15" t="T16" r="T17" b="T18"/>
                  <a:pathLst>
                    <a:path w="115" h="63">
                      <a:moveTo>
                        <a:pt x="0" y="37"/>
                      </a:moveTo>
                      <a:lnTo>
                        <a:pt x="5" y="63"/>
                      </a:lnTo>
                      <a:lnTo>
                        <a:pt x="115" y="0"/>
                      </a:lnTo>
                      <a:lnTo>
                        <a:pt x="33" y="19"/>
                      </a:lnTo>
                      <a:lnTo>
                        <a:pt x="0" y="3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7" name="16376400.25644.54.8751.6255">
                  <a:extLst>
                    <a:ext uri="{FF2B5EF4-FFF2-40B4-BE49-F238E27FC236}">
                      <a16:creationId xmlns:a16="http://schemas.microsoft.com/office/drawing/2014/main" id="{8C554C15-255B-4832-F1E5-8A81EDFE8D6C}"/>
                    </a:ext>
                  </a:extLst>
                </p:cNvPr>
                <p:cNvSpPr>
                  <a:spLocks/>
                </p:cNvSpPr>
                <p:nvPr/>
              </p:nvSpPr>
              <p:spPr bwMode="auto">
                <a:xfrm>
                  <a:off x="4936240" y="4021818"/>
                  <a:ext cx="20263" cy="57697"/>
                </a:xfrm>
                <a:custGeom>
                  <a:avLst/>
                  <a:gdLst>
                    <a:gd name="T0" fmla="*/ 0 w 40"/>
                    <a:gd name="T1" fmla="*/ 1 h 99"/>
                    <a:gd name="T2" fmla="*/ 1 w 40"/>
                    <a:gd name="T3" fmla="*/ 1 h 99"/>
                    <a:gd name="T4" fmla="*/ 1 w 40"/>
                    <a:gd name="T5" fmla="*/ 1 h 99"/>
                    <a:gd name="T6" fmla="*/ 1 w 40"/>
                    <a:gd name="T7" fmla="*/ 1 h 99"/>
                    <a:gd name="T8" fmla="*/ 1 w 40"/>
                    <a:gd name="T9" fmla="*/ 1 h 99"/>
                    <a:gd name="T10" fmla="*/ 1 w 40"/>
                    <a:gd name="T11" fmla="*/ 1 h 99"/>
                    <a:gd name="T12" fmla="*/ 1 w 40"/>
                    <a:gd name="T13" fmla="*/ 1 h 99"/>
                    <a:gd name="T14" fmla="*/ 1 w 40"/>
                    <a:gd name="T15" fmla="*/ 0 h 99"/>
                    <a:gd name="T16" fmla="*/ 0 w 40"/>
                    <a:gd name="T17" fmla="*/ 1 h 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
                    <a:gd name="T28" fmla="*/ 0 h 99"/>
                    <a:gd name="T29" fmla="*/ 40 w 40"/>
                    <a:gd name="T30" fmla="*/ 99 h 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 h="99">
                      <a:moveTo>
                        <a:pt x="0" y="35"/>
                      </a:moveTo>
                      <a:lnTo>
                        <a:pt x="8" y="80"/>
                      </a:lnTo>
                      <a:lnTo>
                        <a:pt x="32" y="99"/>
                      </a:lnTo>
                      <a:lnTo>
                        <a:pt x="17" y="58"/>
                      </a:lnTo>
                      <a:lnTo>
                        <a:pt x="40" y="52"/>
                      </a:lnTo>
                      <a:lnTo>
                        <a:pt x="37" y="21"/>
                      </a:lnTo>
                      <a:lnTo>
                        <a:pt x="8" y="41"/>
                      </a:lnTo>
                      <a:lnTo>
                        <a:pt x="21" y="0"/>
                      </a:lnTo>
                      <a:lnTo>
                        <a:pt x="0" y="3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8" name="16377408.125645.1251.545">
                  <a:extLst>
                    <a:ext uri="{FF2B5EF4-FFF2-40B4-BE49-F238E27FC236}">
                      <a16:creationId xmlns:a16="http://schemas.microsoft.com/office/drawing/2014/main" id="{CEE59F25-9449-6998-DCFB-1232F9B13392}"/>
                    </a:ext>
                  </a:extLst>
                </p:cNvPr>
                <p:cNvSpPr>
                  <a:spLocks/>
                </p:cNvSpPr>
                <p:nvPr/>
              </p:nvSpPr>
              <p:spPr bwMode="auto">
                <a:xfrm>
                  <a:off x="4944345" y="4115287"/>
                  <a:ext cx="48631" cy="18463"/>
                </a:xfrm>
                <a:custGeom>
                  <a:avLst/>
                  <a:gdLst>
                    <a:gd name="T0" fmla="*/ 0 w 96"/>
                    <a:gd name="T1" fmla="*/ 1 h 31"/>
                    <a:gd name="T2" fmla="*/ 1 w 96"/>
                    <a:gd name="T3" fmla="*/ 0 h 31"/>
                    <a:gd name="T4" fmla="*/ 1 w 96"/>
                    <a:gd name="T5" fmla="*/ 1 h 31"/>
                    <a:gd name="T6" fmla="*/ 0 w 96"/>
                    <a:gd name="T7" fmla="*/ 1 h 31"/>
                    <a:gd name="T8" fmla="*/ 0 60000 65536"/>
                    <a:gd name="T9" fmla="*/ 0 60000 65536"/>
                    <a:gd name="T10" fmla="*/ 0 60000 65536"/>
                    <a:gd name="T11" fmla="*/ 0 60000 65536"/>
                    <a:gd name="T12" fmla="*/ 0 w 96"/>
                    <a:gd name="T13" fmla="*/ 0 h 31"/>
                    <a:gd name="T14" fmla="*/ 96 w 96"/>
                    <a:gd name="T15" fmla="*/ 31 h 31"/>
                  </a:gdLst>
                  <a:ahLst/>
                  <a:cxnLst>
                    <a:cxn ang="T8">
                      <a:pos x="T0" y="T1"/>
                    </a:cxn>
                    <a:cxn ang="T9">
                      <a:pos x="T2" y="T3"/>
                    </a:cxn>
                    <a:cxn ang="T10">
                      <a:pos x="T4" y="T5"/>
                    </a:cxn>
                    <a:cxn ang="T11">
                      <a:pos x="T6" y="T7"/>
                    </a:cxn>
                  </a:cxnLst>
                  <a:rect l="T12" t="T13" r="T14" b="T15"/>
                  <a:pathLst>
                    <a:path w="96" h="31">
                      <a:moveTo>
                        <a:pt x="0" y="12"/>
                      </a:moveTo>
                      <a:lnTo>
                        <a:pt x="53" y="0"/>
                      </a:lnTo>
                      <a:lnTo>
                        <a:pt x="96" y="31"/>
                      </a:lnTo>
                      <a:lnTo>
                        <a:pt x="0" y="1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9" name="16378404.375649.251414.55">
                  <a:extLst>
                    <a:ext uri="{FF2B5EF4-FFF2-40B4-BE49-F238E27FC236}">
                      <a16:creationId xmlns:a16="http://schemas.microsoft.com/office/drawing/2014/main" id="{FE1261FB-C1AE-794F-D393-B226BF0EC5AC}"/>
                    </a:ext>
                  </a:extLst>
                </p:cNvPr>
                <p:cNvSpPr>
                  <a:spLocks/>
                </p:cNvSpPr>
                <p:nvPr/>
              </p:nvSpPr>
              <p:spPr bwMode="auto">
                <a:xfrm>
                  <a:off x="4993987" y="4070283"/>
                  <a:ext cx="177301" cy="203672"/>
                </a:xfrm>
                <a:custGeom>
                  <a:avLst/>
                  <a:gdLst>
                    <a:gd name="T0" fmla="*/ 0 w 349"/>
                    <a:gd name="T1" fmla="*/ 4 h 289"/>
                    <a:gd name="T2" fmla="*/ 1 w 349"/>
                    <a:gd name="T3" fmla="*/ 4 h 289"/>
                    <a:gd name="T4" fmla="*/ 1 w 349"/>
                    <a:gd name="T5" fmla="*/ 4 h 289"/>
                    <a:gd name="T6" fmla="*/ 1 w 349"/>
                    <a:gd name="T7" fmla="*/ 5 h 289"/>
                    <a:gd name="T8" fmla="*/ 1 w 349"/>
                    <a:gd name="T9" fmla="*/ 9 h 289"/>
                    <a:gd name="T10" fmla="*/ 1 w 349"/>
                    <a:gd name="T11" fmla="*/ 5 h 289"/>
                    <a:gd name="T12" fmla="*/ 1 w 349"/>
                    <a:gd name="T13" fmla="*/ 9 h 289"/>
                    <a:gd name="T14" fmla="*/ 1 w 349"/>
                    <a:gd name="T15" fmla="*/ 11 h 289"/>
                    <a:gd name="T16" fmla="*/ 1 w 349"/>
                    <a:gd name="T17" fmla="*/ 16 h 289"/>
                    <a:gd name="T18" fmla="*/ 1 w 349"/>
                    <a:gd name="T19" fmla="*/ 16 h 289"/>
                    <a:gd name="T20" fmla="*/ 1 w 349"/>
                    <a:gd name="T21" fmla="*/ 18 h 289"/>
                    <a:gd name="T22" fmla="*/ 1 w 349"/>
                    <a:gd name="T23" fmla="*/ 18 h 289"/>
                    <a:gd name="T24" fmla="*/ 1 w 349"/>
                    <a:gd name="T25" fmla="*/ 20 h 289"/>
                    <a:gd name="T26" fmla="*/ 1 w 349"/>
                    <a:gd name="T27" fmla="*/ 4 h 289"/>
                    <a:gd name="T28" fmla="*/ 1 w 349"/>
                    <a:gd name="T29" fmla="*/ 4 h 289"/>
                    <a:gd name="T30" fmla="*/ 1 w 349"/>
                    <a:gd name="T31" fmla="*/ 7 h 289"/>
                    <a:gd name="T32" fmla="*/ 1 w 349"/>
                    <a:gd name="T33" fmla="*/ 4 h 289"/>
                    <a:gd name="T34" fmla="*/ 1 w 349"/>
                    <a:gd name="T35" fmla="*/ 4 h 289"/>
                    <a:gd name="T36" fmla="*/ 1 w 349"/>
                    <a:gd name="T37" fmla="*/ 0 h 289"/>
                    <a:gd name="T38" fmla="*/ 0 w 349"/>
                    <a:gd name="T39" fmla="*/ 4 h 28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9"/>
                    <a:gd name="T61" fmla="*/ 0 h 289"/>
                    <a:gd name="T62" fmla="*/ 349 w 349"/>
                    <a:gd name="T63" fmla="*/ 289 h 28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9" h="289">
                      <a:moveTo>
                        <a:pt x="0" y="36"/>
                      </a:moveTo>
                      <a:lnTo>
                        <a:pt x="51" y="63"/>
                      </a:lnTo>
                      <a:lnTo>
                        <a:pt x="102" y="56"/>
                      </a:lnTo>
                      <a:lnTo>
                        <a:pt x="37" y="77"/>
                      </a:lnTo>
                      <a:lnTo>
                        <a:pt x="69" y="124"/>
                      </a:lnTo>
                      <a:lnTo>
                        <a:pt x="99" y="84"/>
                      </a:lnTo>
                      <a:lnTo>
                        <a:pt x="120" y="124"/>
                      </a:lnTo>
                      <a:lnTo>
                        <a:pt x="245" y="168"/>
                      </a:lnTo>
                      <a:lnTo>
                        <a:pt x="275" y="238"/>
                      </a:lnTo>
                      <a:lnTo>
                        <a:pt x="252" y="235"/>
                      </a:lnTo>
                      <a:lnTo>
                        <a:pt x="232" y="268"/>
                      </a:lnTo>
                      <a:lnTo>
                        <a:pt x="308" y="253"/>
                      </a:lnTo>
                      <a:lnTo>
                        <a:pt x="349" y="289"/>
                      </a:lnTo>
                      <a:lnTo>
                        <a:pt x="344" y="73"/>
                      </a:lnTo>
                      <a:lnTo>
                        <a:pt x="236" y="36"/>
                      </a:lnTo>
                      <a:lnTo>
                        <a:pt x="149" y="99"/>
                      </a:lnTo>
                      <a:lnTo>
                        <a:pt x="114" y="66"/>
                      </a:lnTo>
                      <a:lnTo>
                        <a:pt x="103" y="14"/>
                      </a:lnTo>
                      <a:lnTo>
                        <a:pt x="51" y="0"/>
                      </a:lnTo>
                      <a:lnTo>
                        <a:pt x="0" y="36"/>
                      </a:lnTo>
                      <a:close/>
                    </a:path>
                  </a:pathLst>
                </a:custGeom>
                <a:noFill/>
                <a:ln w="9525">
                  <a:noFill/>
                  <a:miter lim="800000"/>
                  <a:headEnd/>
                  <a:tailEnd/>
                </a:ln>
              </p:spPr>
              <p:txBody>
                <a:bodyPr lIns="64541" tIns="32271" rIns="64541" bIns="32271">
                  <a:spAutoFit/>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0" name="16379415.25649.751.250.6255">
                  <a:extLst>
                    <a:ext uri="{FF2B5EF4-FFF2-40B4-BE49-F238E27FC236}">
                      <a16:creationId xmlns:a16="http://schemas.microsoft.com/office/drawing/2014/main" id="{39064CCD-1AB4-B3E2-C30F-0CFEDB6CD5F8}"/>
                    </a:ext>
                  </a:extLst>
                </p:cNvPr>
                <p:cNvSpPr>
                  <a:spLocks/>
                </p:cNvSpPr>
                <p:nvPr/>
              </p:nvSpPr>
              <p:spPr bwMode="auto">
                <a:xfrm>
                  <a:off x="5000067" y="4199524"/>
                  <a:ext cx="8105" cy="15001"/>
                </a:xfrm>
                <a:custGeom>
                  <a:avLst/>
                  <a:gdLst>
                    <a:gd name="T0" fmla="*/ 0 w 16"/>
                    <a:gd name="T1" fmla="*/ 1 h 25"/>
                    <a:gd name="T2" fmla="*/ 1 w 16"/>
                    <a:gd name="T3" fmla="*/ 0 h 25"/>
                    <a:gd name="T4" fmla="*/ 1 w 16"/>
                    <a:gd name="T5" fmla="*/ 1 h 25"/>
                    <a:gd name="T6" fmla="*/ 0 w 16"/>
                    <a:gd name="T7" fmla="*/ 1 h 25"/>
                    <a:gd name="T8" fmla="*/ 0 60000 65536"/>
                    <a:gd name="T9" fmla="*/ 0 60000 65536"/>
                    <a:gd name="T10" fmla="*/ 0 60000 65536"/>
                    <a:gd name="T11" fmla="*/ 0 60000 65536"/>
                    <a:gd name="T12" fmla="*/ 0 w 16"/>
                    <a:gd name="T13" fmla="*/ 0 h 25"/>
                    <a:gd name="T14" fmla="*/ 16 w 16"/>
                    <a:gd name="T15" fmla="*/ 25 h 25"/>
                  </a:gdLst>
                  <a:ahLst/>
                  <a:cxnLst>
                    <a:cxn ang="T8">
                      <a:pos x="T0" y="T1"/>
                    </a:cxn>
                    <a:cxn ang="T9">
                      <a:pos x="T2" y="T3"/>
                    </a:cxn>
                    <a:cxn ang="T10">
                      <a:pos x="T4" y="T5"/>
                    </a:cxn>
                    <a:cxn ang="T11">
                      <a:pos x="T6" y="T7"/>
                    </a:cxn>
                  </a:cxnLst>
                  <a:rect l="T12" t="T13" r="T14" b="T15"/>
                  <a:pathLst>
                    <a:path w="16" h="25">
                      <a:moveTo>
                        <a:pt x="0" y="25"/>
                      </a:moveTo>
                      <a:lnTo>
                        <a:pt x="10" y="0"/>
                      </a:lnTo>
                      <a:lnTo>
                        <a:pt x="16" y="14"/>
                      </a:lnTo>
                      <a:lnTo>
                        <a:pt x="0" y="2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1" name="16380338.25642.757.754.755">
                  <a:extLst>
                    <a:ext uri="{FF2B5EF4-FFF2-40B4-BE49-F238E27FC236}">
                      <a16:creationId xmlns:a16="http://schemas.microsoft.com/office/drawing/2014/main" id="{ACA4CB49-FB43-F272-3E0C-EAA8A2FC66BB}"/>
                    </a:ext>
                  </a:extLst>
                </p:cNvPr>
                <p:cNvSpPr>
                  <a:spLocks/>
                </p:cNvSpPr>
                <p:nvPr/>
              </p:nvSpPr>
              <p:spPr bwMode="auto">
                <a:xfrm>
                  <a:off x="4914962" y="3286760"/>
                  <a:ext cx="58763" cy="92316"/>
                </a:xfrm>
                <a:custGeom>
                  <a:avLst/>
                  <a:gdLst>
                    <a:gd name="T0" fmla="*/ 0 w 115"/>
                    <a:gd name="T1" fmla="*/ 1 h 160"/>
                    <a:gd name="T2" fmla="*/ 1 w 115"/>
                    <a:gd name="T3" fmla="*/ 1 h 160"/>
                    <a:gd name="T4" fmla="*/ 1 w 115"/>
                    <a:gd name="T5" fmla="*/ 0 h 160"/>
                    <a:gd name="T6" fmla="*/ 1 w 115"/>
                    <a:gd name="T7" fmla="*/ 1 h 160"/>
                    <a:gd name="T8" fmla="*/ 1 w 115"/>
                    <a:gd name="T9" fmla="*/ 1 h 160"/>
                    <a:gd name="T10" fmla="*/ 0 w 115"/>
                    <a:gd name="T11" fmla="*/ 1 h 160"/>
                    <a:gd name="T12" fmla="*/ 0 60000 65536"/>
                    <a:gd name="T13" fmla="*/ 0 60000 65536"/>
                    <a:gd name="T14" fmla="*/ 0 60000 65536"/>
                    <a:gd name="T15" fmla="*/ 0 60000 65536"/>
                    <a:gd name="T16" fmla="*/ 0 60000 65536"/>
                    <a:gd name="T17" fmla="*/ 0 60000 65536"/>
                    <a:gd name="T18" fmla="*/ 0 w 115"/>
                    <a:gd name="T19" fmla="*/ 0 h 160"/>
                    <a:gd name="T20" fmla="*/ 115 w 115"/>
                    <a:gd name="T21" fmla="*/ 160 h 160"/>
                  </a:gdLst>
                  <a:ahLst/>
                  <a:cxnLst>
                    <a:cxn ang="T12">
                      <a:pos x="T0" y="T1"/>
                    </a:cxn>
                    <a:cxn ang="T13">
                      <a:pos x="T2" y="T3"/>
                    </a:cxn>
                    <a:cxn ang="T14">
                      <a:pos x="T4" y="T5"/>
                    </a:cxn>
                    <a:cxn ang="T15">
                      <a:pos x="T6" y="T7"/>
                    </a:cxn>
                    <a:cxn ang="T16">
                      <a:pos x="T8" y="T9"/>
                    </a:cxn>
                    <a:cxn ang="T17">
                      <a:pos x="T10" y="T11"/>
                    </a:cxn>
                  </a:cxnLst>
                  <a:rect l="T18" t="T19" r="T20" b="T21"/>
                  <a:pathLst>
                    <a:path w="115" h="160">
                      <a:moveTo>
                        <a:pt x="0" y="160"/>
                      </a:moveTo>
                      <a:lnTo>
                        <a:pt x="12" y="35"/>
                      </a:lnTo>
                      <a:lnTo>
                        <a:pt x="74" y="0"/>
                      </a:lnTo>
                      <a:lnTo>
                        <a:pt x="115" y="98"/>
                      </a:lnTo>
                      <a:lnTo>
                        <a:pt x="73" y="144"/>
                      </a:lnTo>
                      <a:lnTo>
                        <a:pt x="0" y="16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2" name="16381393.125606.8758.1255.1255">
                  <a:extLst>
                    <a:ext uri="{FF2B5EF4-FFF2-40B4-BE49-F238E27FC236}">
                      <a16:creationId xmlns:a16="http://schemas.microsoft.com/office/drawing/2014/main" id="{AA4CCB02-D0FF-9AD8-37C0-38C641474080}"/>
                    </a:ext>
                  </a:extLst>
                </p:cNvPr>
                <p:cNvSpPr>
                  <a:spLocks/>
                </p:cNvSpPr>
                <p:nvPr/>
              </p:nvSpPr>
              <p:spPr bwMode="auto">
                <a:xfrm>
                  <a:off x="4477284" y="3937581"/>
                  <a:ext cx="63829" cy="95777"/>
                </a:xfrm>
                <a:custGeom>
                  <a:avLst/>
                  <a:gdLst>
                    <a:gd name="T0" fmla="*/ 0 w 125"/>
                    <a:gd name="T1" fmla="*/ 0 h 167"/>
                    <a:gd name="T2" fmla="*/ 1 w 125"/>
                    <a:gd name="T3" fmla="*/ 0 h 167"/>
                    <a:gd name="T4" fmla="*/ 1 w 125"/>
                    <a:gd name="T5" fmla="*/ 0 h 167"/>
                    <a:gd name="T6" fmla="*/ 1 w 125"/>
                    <a:gd name="T7" fmla="*/ 0 h 167"/>
                    <a:gd name="T8" fmla="*/ 1 w 125"/>
                    <a:gd name="T9" fmla="*/ 0 h 167"/>
                    <a:gd name="T10" fmla="*/ 1 w 125"/>
                    <a:gd name="T11" fmla="*/ 0 h 167"/>
                    <a:gd name="T12" fmla="*/ 1 w 125"/>
                    <a:gd name="T13" fmla="*/ 0 h 167"/>
                    <a:gd name="T14" fmla="*/ 1 w 125"/>
                    <a:gd name="T15" fmla="*/ 0 h 167"/>
                    <a:gd name="T16" fmla="*/ 0 w 125"/>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5"/>
                    <a:gd name="T28" fmla="*/ 0 h 167"/>
                    <a:gd name="T29" fmla="*/ 125 w 125"/>
                    <a:gd name="T30" fmla="*/ 167 h 1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5" h="167">
                      <a:moveTo>
                        <a:pt x="0" y="0"/>
                      </a:moveTo>
                      <a:lnTo>
                        <a:pt x="25" y="0"/>
                      </a:lnTo>
                      <a:lnTo>
                        <a:pt x="33" y="31"/>
                      </a:lnTo>
                      <a:lnTo>
                        <a:pt x="65" y="11"/>
                      </a:lnTo>
                      <a:lnTo>
                        <a:pt x="106" y="50"/>
                      </a:lnTo>
                      <a:lnTo>
                        <a:pt x="125" y="167"/>
                      </a:lnTo>
                      <a:lnTo>
                        <a:pt x="124" y="167"/>
                      </a:lnTo>
                      <a:lnTo>
                        <a:pt x="39" y="117"/>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3" name="16382392.56209.7513.1255">
                  <a:extLst>
                    <a:ext uri="{FF2B5EF4-FFF2-40B4-BE49-F238E27FC236}">
                      <a16:creationId xmlns:a16="http://schemas.microsoft.com/office/drawing/2014/main" id="{2BAC3701-887F-E802-F7BE-6AE47D27F082}"/>
                    </a:ext>
                  </a:extLst>
                </p:cNvPr>
                <p:cNvSpPr>
                  <a:spLocks/>
                </p:cNvSpPr>
                <p:nvPr/>
              </p:nvSpPr>
              <p:spPr bwMode="auto">
                <a:xfrm>
                  <a:off x="4637361" y="3930656"/>
                  <a:ext cx="161090" cy="115394"/>
                </a:xfrm>
                <a:custGeom>
                  <a:avLst/>
                  <a:gdLst>
                    <a:gd name="T0" fmla="*/ 0 w 319"/>
                    <a:gd name="T1" fmla="*/ 1 h 199"/>
                    <a:gd name="T2" fmla="*/ 0 w 319"/>
                    <a:gd name="T3" fmla="*/ 1 h 199"/>
                    <a:gd name="T4" fmla="*/ 0 w 319"/>
                    <a:gd name="T5" fmla="*/ 1 h 199"/>
                    <a:gd name="T6" fmla="*/ 0 w 319"/>
                    <a:gd name="T7" fmla="*/ 1 h 199"/>
                    <a:gd name="T8" fmla="*/ 0 w 319"/>
                    <a:gd name="T9" fmla="*/ 1 h 199"/>
                    <a:gd name="T10" fmla="*/ 0 w 319"/>
                    <a:gd name="T11" fmla="*/ 1 h 199"/>
                    <a:gd name="T12" fmla="*/ 0 w 319"/>
                    <a:gd name="T13" fmla="*/ 1 h 199"/>
                    <a:gd name="T14" fmla="*/ 0 w 319"/>
                    <a:gd name="T15" fmla="*/ 1 h 199"/>
                    <a:gd name="T16" fmla="*/ 0 w 319"/>
                    <a:gd name="T17" fmla="*/ 0 h 199"/>
                    <a:gd name="T18" fmla="*/ 0 w 319"/>
                    <a:gd name="T19" fmla="*/ 1 h 199"/>
                    <a:gd name="T20" fmla="*/ 0 w 319"/>
                    <a:gd name="T21" fmla="*/ 1 h 199"/>
                    <a:gd name="T22" fmla="*/ 0 w 319"/>
                    <a:gd name="T23" fmla="*/ 1 h 199"/>
                    <a:gd name="T24" fmla="*/ 0 w 319"/>
                    <a:gd name="T25" fmla="*/ 1 h 199"/>
                    <a:gd name="T26" fmla="*/ 0 w 319"/>
                    <a:gd name="T27" fmla="*/ 1 h 199"/>
                    <a:gd name="T28" fmla="*/ 0 w 319"/>
                    <a:gd name="T29" fmla="*/ 1 h 199"/>
                    <a:gd name="T30" fmla="*/ 0 w 319"/>
                    <a:gd name="T31" fmla="*/ 1 h 1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19"/>
                    <a:gd name="T49" fmla="*/ 0 h 199"/>
                    <a:gd name="T50" fmla="*/ 319 w 319"/>
                    <a:gd name="T51" fmla="*/ 199 h 1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19" h="199">
                      <a:moveTo>
                        <a:pt x="0" y="176"/>
                      </a:moveTo>
                      <a:lnTo>
                        <a:pt x="28" y="199"/>
                      </a:lnTo>
                      <a:lnTo>
                        <a:pt x="128" y="191"/>
                      </a:lnTo>
                      <a:lnTo>
                        <a:pt x="161" y="179"/>
                      </a:lnTo>
                      <a:lnTo>
                        <a:pt x="205" y="87"/>
                      </a:lnTo>
                      <a:lnTo>
                        <a:pt x="263" y="91"/>
                      </a:lnTo>
                      <a:lnTo>
                        <a:pt x="319" y="59"/>
                      </a:lnTo>
                      <a:lnTo>
                        <a:pt x="265" y="33"/>
                      </a:lnTo>
                      <a:lnTo>
                        <a:pt x="249" y="0"/>
                      </a:lnTo>
                      <a:lnTo>
                        <a:pt x="183" y="62"/>
                      </a:lnTo>
                      <a:lnTo>
                        <a:pt x="164" y="96"/>
                      </a:lnTo>
                      <a:lnTo>
                        <a:pt x="143" y="77"/>
                      </a:lnTo>
                      <a:lnTo>
                        <a:pt x="105" y="127"/>
                      </a:lnTo>
                      <a:lnTo>
                        <a:pt x="62" y="133"/>
                      </a:lnTo>
                      <a:lnTo>
                        <a:pt x="48" y="179"/>
                      </a:lnTo>
                      <a:lnTo>
                        <a:pt x="0" y="17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4" name="16383341.125552.2523.62523.1255">
                  <a:extLst>
                    <a:ext uri="{FF2B5EF4-FFF2-40B4-BE49-F238E27FC236}">
                      <a16:creationId xmlns:a16="http://schemas.microsoft.com/office/drawing/2014/main" id="{0FFDB808-2578-993B-113E-377A3C60C9C0}"/>
                    </a:ext>
                  </a:extLst>
                </p:cNvPr>
                <p:cNvSpPr>
                  <a:spLocks/>
                </p:cNvSpPr>
                <p:nvPr/>
              </p:nvSpPr>
              <p:spPr bwMode="auto">
                <a:xfrm>
                  <a:off x="3811646" y="3320224"/>
                  <a:ext cx="282668" cy="280407"/>
                </a:xfrm>
                <a:custGeom>
                  <a:avLst/>
                  <a:gdLst>
                    <a:gd name="T0" fmla="*/ 0 w 560"/>
                    <a:gd name="T1" fmla="*/ 1 h 486"/>
                    <a:gd name="T2" fmla="*/ 0 w 560"/>
                    <a:gd name="T3" fmla="*/ 1 h 486"/>
                    <a:gd name="T4" fmla="*/ 0 w 560"/>
                    <a:gd name="T5" fmla="*/ 1 h 486"/>
                    <a:gd name="T6" fmla="*/ 0 w 560"/>
                    <a:gd name="T7" fmla="*/ 1 h 486"/>
                    <a:gd name="T8" fmla="*/ 0 w 560"/>
                    <a:gd name="T9" fmla="*/ 1 h 486"/>
                    <a:gd name="T10" fmla="*/ 0 w 560"/>
                    <a:gd name="T11" fmla="*/ 1 h 486"/>
                    <a:gd name="T12" fmla="*/ 0 w 560"/>
                    <a:gd name="T13" fmla="*/ 1 h 486"/>
                    <a:gd name="T14" fmla="*/ 0 w 560"/>
                    <a:gd name="T15" fmla="*/ 1 h 486"/>
                    <a:gd name="T16" fmla="*/ 0 w 560"/>
                    <a:gd name="T17" fmla="*/ 1 h 486"/>
                    <a:gd name="T18" fmla="*/ 0 w 560"/>
                    <a:gd name="T19" fmla="*/ 1 h 486"/>
                    <a:gd name="T20" fmla="*/ 0 w 560"/>
                    <a:gd name="T21" fmla="*/ 1 h 486"/>
                    <a:gd name="T22" fmla="*/ 0 w 560"/>
                    <a:gd name="T23" fmla="*/ 0 h 486"/>
                    <a:gd name="T24" fmla="*/ 0 w 560"/>
                    <a:gd name="T25" fmla="*/ 1 h 486"/>
                    <a:gd name="T26" fmla="*/ 0 w 560"/>
                    <a:gd name="T27" fmla="*/ 1 h 486"/>
                    <a:gd name="T28" fmla="*/ 0 w 560"/>
                    <a:gd name="T29" fmla="*/ 1 h 486"/>
                    <a:gd name="T30" fmla="*/ 0 w 560"/>
                    <a:gd name="T31" fmla="*/ 1 h 486"/>
                    <a:gd name="T32" fmla="*/ 0 w 560"/>
                    <a:gd name="T33" fmla="*/ 1 h 486"/>
                    <a:gd name="T34" fmla="*/ 0 w 560"/>
                    <a:gd name="T35" fmla="*/ 1 h 486"/>
                    <a:gd name="T36" fmla="*/ 0 w 560"/>
                    <a:gd name="T37" fmla="*/ 1 h 486"/>
                    <a:gd name="T38" fmla="*/ 0 w 560"/>
                    <a:gd name="T39" fmla="*/ 1 h 486"/>
                    <a:gd name="T40" fmla="*/ 0 w 560"/>
                    <a:gd name="T41" fmla="*/ 1 h 486"/>
                    <a:gd name="T42" fmla="*/ 0 w 560"/>
                    <a:gd name="T43" fmla="*/ 1 h 486"/>
                    <a:gd name="T44" fmla="*/ 0 w 560"/>
                    <a:gd name="T45" fmla="*/ 1 h 486"/>
                    <a:gd name="T46" fmla="*/ 0 w 560"/>
                    <a:gd name="T47" fmla="*/ 1 h 486"/>
                    <a:gd name="T48" fmla="*/ 0 w 560"/>
                    <a:gd name="T49" fmla="*/ 1 h 486"/>
                    <a:gd name="T50" fmla="*/ 0 w 560"/>
                    <a:gd name="T51" fmla="*/ 1 h 486"/>
                    <a:gd name="T52" fmla="*/ 0 w 560"/>
                    <a:gd name="T53" fmla="*/ 1 h 486"/>
                    <a:gd name="T54" fmla="*/ 0 w 560"/>
                    <a:gd name="T55" fmla="*/ 1 h 486"/>
                    <a:gd name="T56" fmla="*/ 0 w 560"/>
                    <a:gd name="T57" fmla="*/ 1 h 48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60"/>
                    <a:gd name="T88" fmla="*/ 0 h 486"/>
                    <a:gd name="T89" fmla="*/ 560 w 560"/>
                    <a:gd name="T90" fmla="*/ 486 h 48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60" h="486">
                      <a:moveTo>
                        <a:pt x="0" y="267"/>
                      </a:moveTo>
                      <a:lnTo>
                        <a:pt x="52" y="284"/>
                      </a:lnTo>
                      <a:lnTo>
                        <a:pt x="175" y="267"/>
                      </a:lnTo>
                      <a:lnTo>
                        <a:pt x="198" y="218"/>
                      </a:lnTo>
                      <a:lnTo>
                        <a:pt x="281" y="190"/>
                      </a:lnTo>
                      <a:lnTo>
                        <a:pt x="289" y="149"/>
                      </a:lnTo>
                      <a:lnTo>
                        <a:pt x="316" y="138"/>
                      </a:lnTo>
                      <a:lnTo>
                        <a:pt x="304" y="116"/>
                      </a:lnTo>
                      <a:lnTo>
                        <a:pt x="334" y="114"/>
                      </a:lnTo>
                      <a:lnTo>
                        <a:pt x="356" y="72"/>
                      </a:lnTo>
                      <a:lnTo>
                        <a:pt x="347" y="31"/>
                      </a:lnTo>
                      <a:lnTo>
                        <a:pt x="458" y="0"/>
                      </a:lnTo>
                      <a:lnTo>
                        <a:pt x="560" y="62"/>
                      </a:lnTo>
                      <a:lnTo>
                        <a:pt x="532" y="88"/>
                      </a:lnTo>
                      <a:lnTo>
                        <a:pt x="436" y="88"/>
                      </a:lnTo>
                      <a:lnTo>
                        <a:pt x="437" y="143"/>
                      </a:lnTo>
                      <a:lnTo>
                        <a:pt x="481" y="178"/>
                      </a:lnTo>
                      <a:lnTo>
                        <a:pt x="455" y="196"/>
                      </a:lnTo>
                      <a:lnTo>
                        <a:pt x="462" y="226"/>
                      </a:lnTo>
                      <a:lnTo>
                        <a:pt x="363" y="337"/>
                      </a:lnTo>
                      <a:lnTo>
                        <a:pt x="319" y="335"/>
                      </a:lnTo>
                      <a:lnTo>
                        <a:pt x="289" y="362"/>
                      </a:lnTo>
                      <a:lnTo>
                        <a:pt x="341" y="464"/>
                      </a:lnTo>
                      <a:lnTo>
                        <a:pt x="265" y="464"/>
                      </a:lnTo>
                      <a:lnTo>
                        <a:pt x="238" y="486"/>
                      </a:lnTo>
                      <a:lnTo>
                        <a:pt x="182" y="425"/>
                      </a:lnTo>
                      <a:lnTo>
                        <a:pt x="26" y="436"/>
                      </a:lnTo>
                      <a:lnTo>
                        <a:pt x="79" y="366"/>
                      </a:lnTo>
                      <a:lnTo>
                        <a:pt x="0" y="26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5" name="16384385.375630.3754.6253.1255">
                  <a:extLst>
                    <a:ext uri="{FF2B5EF4-FFF2-40B4-BE49-F238E27FC236}">
                      <a16:creationId xmlns:a16="http://schemas.microsoft.com/office/drawing/2014/main" id="{1C00B59A-F547-5298-7EC6-EADEB104E606}"/>
                    </a:ext>
                  </a:extLst>
                </p:cNvPr>
                <p:cNvSpPr>
                  <a:spLocks/>
                </p:cNvSpPr>
                <p:nvPr/>
              </p:nvSpPr>
              <p:spPr bwMode="auto">
                <a:xfrm>
                  <a:off x="4764004" y="3845265"/>
                  <a:ext cx="38500" cy="55388"/>
                </a:xfrm>
                <a:custGeom>
                  <a:avLst/>
                  <a:gdLst>
                    <a:gd name="T0" fmla="*/ 0 w 77"/>
                    <a:gd name="T1" fmla="*/ 0 h 97"/>
                    <a:gd name="T2" fmla="*/ 0 w 77"/>
                    <a:gd name="T3" fmla="*/ 0 h 97"/>
                    <a:gd name="T4" fmla="*/ 0 w 77"/>
                    <a:gd name="T5" fmla="*/ 0 h 97"/>
                    <a:gd name="T6" fmla="*/ 0 w 77"/>
                    <a:gd name="T7" fmla="*/ 0 h 97"/>
                    <a:gd name="T8" fmla="*/ 0 60000 65536"/>
                    <a:gd name="T9" fmla="*/ 0 60000 65536"/>
                    <a:gd name="T10" fmla="*/ 0 60000 65536"/>
                    <a:gd name="T11" fmla="*/ 0 60000 65536"/>
                    <a:gd name="T12" fmla="*/ 0 w 77"/>
                    <a:gd name="T13" fmla="*/ 0 h 97"/>
                    <a:gd name="T14" fmla="*/ 77 w 77"/>
                    <a:gd name="T15" fmla="*/ 97 h 97"/>
                  </a:gdLst>
                  <a:ahLst/>
                  <a:cxnLst>
                    <a:cxn ang="T8">
                      <a:pos x="T0" y="T1"/>
                    </a:cxn>
                    <a:cxn ang="T9">
                      <a:pos x="T2" y="T3"/>
                    </a:cxn>
                    <a:cxn ang="T10">
                      <a:pos x="T4" y="T5"/>
                    </a:cxn>
                    <a:cxn ang="T11">
                      <a:pos x="T6" y="T7"/>
                    </a:cxn>
                  </a:cxnLst>
                  <a:rect l="T12" t="T13" r="T14" b="T15"/>
                  <a:pathLst>
                    <a:path w="77" h="97">
                      <a:moveTo>
                        <a:pt x="0" y="97"/>
                      </a:moveTo>
                      <a:lnTo>
                        <a:pt x="54" y="51"/>
                      </a:lnTo>
                      <a:lnTo>
                        <a:pt x="77" y="0"/>
                      </a:lnTo>
                      <a:lnTo>
                        <a:pt x="0" y="9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6" name="16385373.375634.125105.6255">
                  <a:extLst>
                    <a:ext uri="{FF2B5EF4-FFF2-40B4-BE49-F238E27FC236}">
                      <a16:creationId xmlns:a16="http://schemas.microsoft.com/office/drawing/2014/main" id="{C3E8D3F9-D0EB-7052-AA2D-4D8C5E58A167}"/>
                    </a:ext>
                  </a:extLst>
                </p:cNvPr>
                <p:cNvSpPr>
                  <a:spLocks/>
                </p:cNvSpPr>
                <p:nvPr/>
              </p:nvSpPr>
              <p:spPr bwMode="auto">
                <a:xfrm>
                  <a:off x="4809596" y="3703330"/>
                  <a:ext cx="68894" cy="117702"/>
                </a:xfrm>
                <a:custGeom>
                  <a:avLst/>
                  <a:gdLst>
                    <a:gd name="T0" fmla="*/ 0 w 136"/>
                    <a:gd name="T1" fmla="*/ 1 h 203"/>
                    <a:gd name="T2" fmla="*/ 1 w 136"/>
                    <a:gd name="T3" fmla="*/ 0 h 203"/>
                    <a:gd name="T4" fmla="*/ 1 w 136"/>
                    <a:gd name="T5" fmla="*/ 1 h 203"/>
                    <a:gd name="T6" fmla="*/ 1 w 136"/>
                    <a:gd name="T7" fmla="*/ 1 h 203"/>
                    <a:gd name="T8" fmla="*/ 1 w 136"/>
                    <a:gd name="T9" fmla="*/ 1 h 203"/>
                    <a:gd name="T10" fmla="*/ 1 w 136"/>
                    <a:gd name="T11" fmla="*/ 1 h 203"/>
                    <a:gd name="T12" fmla="*/ 1 w 136"/>
                    <a:gd name="T13" fmla="*/ 1 h 203"/>
                    <a:gd name="T14" fmla="*/ 1 w 136"/>
                    <a:gd name="T15" fmla="*/ 1 h 203"/>
                    <a:gd name="T16" fmla="*/ 1 w 136"/>
                    <a:gd name="T17" fmla="*/ 1 h 203"/>
                    <a:gd name="T18" fmla="*/ 1 w 136"/>
                    <a:gd name="T19" fmla="*/ 1 h 203"/>
                    <a:gd name="T20" fmla="*/ 1 w 136"/>
                    <a:gd name="T21" fmla="*/ 1 h 203"/>
                    <a:gd name="T22" fmla="*/ 0 w 136"/>
                    <a:gd name="T23" fmla="*/ 1 h 2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6"/>
                    <a:gd name="T37" fmla="*/ 0 h 203"/>
                    <a:gd name="T38" fmla="*/ 136 w 136"/>
                    <a:gd name="T39" fmla="*/ 203 h 20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6" h="203">
                      <a:moveTo>
                        <a:pt x="0" y="79"/>
                      </a:moveTo>
                      <a:lnTo>
                        <a:pt x="26" y="0"/>
                      </a:lnTo>
                      <a:lnTo>
                        <a:pt x="74" y="2"/>
                      </a:lnTo>
                      <a:lnTo>
                        <a:pt x="87" y="55"/>
                      </a:lnTo>
                      <a:lnTo>
                        <a:pt x="49" y="110"/>
                      </a:lnTo>
                      <a:lnTo>
                        <a:pt x="58" y="141"/>
                      </a:lnTo>
                      <a:lnTo>
                        <a:pt x="130" y="161"/>
                      </a:lnTo>
                      <a:lnTo>
                        <a:pt x="136" y="203"/>
                      </a:lnTo>
                      <a:lnTo>
                        <a:pt x="92" y="161"/>
                      </a:lnTo>
                      <a:lnTo>
                        <a:pt x="92" y="181"/>
                      </a:lnTo>
                      <a:lnTo>
                        <a:pt x="26" y="161"/>
                      </a:lnTo>
                      <a:lnTo>
                        <a:pt x="0" y="7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7" name="16386381.875634.62521.55">
                  <a:extLst>
                    <a:ext uri="{FF2B5EF4-FFF2-40B4-BE49-F238E27FC236}">
                      <a16:creationId xmlns:a16="http://schemas.microsoft.com/office/drawing/2014/main" id="{E9ABE2BE-A5D3-E227-1FEC-9239C7D96DBC}"/>
                    </a:ext>
                  </a:extLst>
                </p:cNvPr>
                <p:cNvSpPr>
                  <a:spLocks/>
                </p:cNvSpPr>
                <p:nvPr/>
              </p:nvSpPr>
              <p:spPr bwMode="auto">
                <a:xfrm>
                  <a:off x="4815676" y="3803723"/>
                  <a:ext cx="19250" cy="24233"/>
                </a:xfrm>
                <a:custGeom>
                  <a:avLst/>
                  <a:gdLst>
                    <a:gd name="T0" fmla="*/ 0 w 39"/>
                    <a:gd name="T1" fmla="*/ 0 h 41"/>
                    <a:gd name="T2" fmla="*/ 0 w 39"/>
                    <a:gd name="T3" fmla="*/ 0 h 41"/>
                    <a:gd name="T4" fmla="*/ 0 w 39"/>
                    <a:gd name="T5" fmla="*/ 1 h 41"/>
                    <a:gd name="T6" fmla="*/ 0 w 39"/>
                    <a:gd name="T7" fmla="*/ 1 h 41"/>
                    <a:gd name="T8" fmla="*/ 0 w 39"/>
                    <a:gd name="T9" fmla="*/ 0 h 41"/>
                    <a:gd name="T10" fmla="*/ 0 60000 65536"/>
                    <a:gd name="T11" fmla="*/ 0 60000 65536"/>
                    <a:gd name="T12" fmla="*/ 0 60000 65536"/>
                    <a:gd name="T13" fmla="*/ 0 60000 65536"/>
                    <a:gd name="T14" fmla="*/ 0 60000 65536"/>
                    <a:gd name="T15" fmla="*/ 0 w 39"/>
                    <a:gd name="T16" fmla="*/ 0 h 41"/>
                    <a:gd name="T17" fmla="*/ 39 w 39"/>
                    <a:gd name="T18" fmla="*/ 41 h 41"/>
                  </a:gdLst>
                  <a:ahLst/>
                  <a:cxnLst>
                    <a:cxn ang="T10">
                      <a:pos x="T0" y="T1"/>
                    </a:cxn>
                    <a:cxn ang="T11">
                      <a:pos x="T2" y="T3"/>
                    </a:cxn>
                    <a:cxn ang="T12">
                      <a:pos x="T4" y="T5"/>
                    </a:cxn>
                    <a:cxn ang="T13">
                      <a:pos x="T6" y="T7"/>
                    </a:cxn>
                    <a:cxn ang="T14">
                      <a:pos x="T8" y="T9"/>
                    </a:cxn>
                  </a:cxnLst>
                  <a:rect l="T15" t="T16" r="T17" b="T18"/>
                  <a:pathLst>
                    <a:path w="39" h="41">
                      <a:moveTo>
                        <a:pt x="0" y="0"/>
                      </a:moveTo>
                      <a:lnTo>
                        <a:pt x="20" y="0"/>
                      </a:lnTo>
                      <a:lnTo>
                        <a:pt x="39" y="8"/>
                      </a:lnTo>
                      <a:lnTo>
                        <a:pt x="29" y="41"/>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8" name="16387384.375636.8752.51.55">
                  <a:extLst>
                    <a:ext uri="{FF2B5EF4-FFF2-40B4-BE49-F238E27FC236}">
                      <a16:creationId xmlns:a16="http://schemas.microsoft.com/office/drawing/2014/main" id="{22618B6D-8338-ED11-48D1-0BC6ABA5C49D}"/>
                    </a:ext>
                  </a:extLst>
                </p:cNvPr>
                <p:cNvSpPr>
                  <a:spLocks/>
                </p:cNvSpPr>
                <p:nvPr/>
              </p:nvSpPr>
              <p:spPr bwMode="auto">
                <a:xfrm>
                  <a:off x="4843029" y="3833726"/>
                  <a:ext cx="18236" cy="30002"/>
                </a:xfrm>
                <a:custGeom>
                  <a:avLst/>
                  <a:gdLst>
                    <a:gd name="T0" fmla="*/ 0 w 36"/>
                    <a:gd name="T1" fmla="*/ 0 h 52"/>
                    <a:gd name="T2" fmla="*/ 1 w 36"/>
                    <a:gd name="T3" fmla="*/ 1 h 52"/>
                    <a:gd name="T4" fmla="*/ 1 w 36"/>
                    <a:gd name="T5" fmla="*/ 1 h 52"/>
                    <a:gd name="T6" fmla="*/ 0 w 36"/>
                    <a:gd name="T7" fmla="*/ 0 h 52"/>
                    <a:gd name="T8" fmla="*/ 0 60000 65536"/>
                    <a:gd name="T9" fmla="*/ 0 60000 65536"/>
                    <a:gd name="T10" fmla="*/ 0 60000 65536"/>
                    <a:gd name="T11" fmla="*/ 0 60000 65536"/>
                    <a:gd name="T12" fmla="*/ 0 w 36"/>
                    <a:gd name="T13" fmla="*/ 0 h 52"/>
                    <a:gd name="T14" fmla="*/ 36 w 36"/>
                    <a:gd name="T15" fmla="*/ 52 h 52"/>
                  </a:gdLst>
                  <a:ahLst/>
                  <a:cxnLst>
                    <a:cxn ang="T8">
                      <a:pos x="T0" y="T1"/>
                    </a:cxn>
                    <a:cxn ang="T9">
                      <a:pos x="T2" y="T3"/>
                    </a:cxn>
                    <a:cxn ang="T10">
                      <a:pos x="T4" y="T5"/>
                    </a:cxn>
                    <a:cxn ang="T11">
                      <a:pos x="T6" y="T7"/>
                    </a:cxn>
                  </a:cxnLst>
                  <a:rect l="T12" t="T13" r="T14" b="T15"/>
                  <a:pathLst>
                    <a:path w="36" h="52">
                      <a:moveTo>
                        <a:pt x="0" y="0"/>
                      </a:moveTo>
                      <a:lnTo>
                        <a:pt x="3" y="52"/>
                      </a:lnTo>
                      <a:lnTo>
                        <a:pt x="36" y="30"/>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9" name="16388388636.8756.756.1255">
                  <a:extLst>
                    <a:ext uri="{FF2B5EF4-FFF2-40B4-BE49-F238E27FC236}">
                      <a16:creationId xmlns:a16="http://schemas.microsoft.com/office/drawing/2014/main" id="{B05A6072-FAD1-087A-489D-644590597590}"/>
                    </a:ext>
                  </a:extLst>
                </p:cNvPr>
                <p:cNvSpPr>
                  <a:spLocks/>
                </p:cNvSpPr>
                <p:nvPr/>
              </p:nvSpPr>
              <p:spPr bwMode="auto">
                <a:xfrm>
                  <a:off x="4844042" y="3876422"/>
                  <a:ext cx="73960" cy="79621"/>
                </a:xfrm>
                <a:custGeom>
                  <a:avLst/>
                  <a:gdLst>
                    <a:gd name="T0" fmla="*/ 0 w 145"/>
                    <a:gd name="T1" fmla="*/ 0 h 139"/>
                    <a:gd name="T2" fmla="*/ 1 w 145"/>
                    <a:gd name="T3" fmla="*/ 0 h 139"/>
                    <a:gd name="T4" fmla="*/ 1 w 145"/>
                    <a:gd name="T5" fmla="*/ 0 h 139"/>
                    <a:gd name="T6" fmla="*/ 1 w 145"/>
                    <a:gd name="T7" fmla="*/ 0 h 139"/>
                    <a:gd name="T8" fmla="*/ 1 w 145"/>
                    <a:gd name="T9" fmla="*/ 0 h 139"/>
                    <a:gd name="T10" fmla="*/ 1 w 145"/>
                    <a:gd name="T11" fmla="*/ 0 h 139"/>
                    <a:gd name="T12" fmla="*/ 1 w 145"/>
                    <a:gd name="T13" fmla="*/ 0 h 139"/>
                    <a:gd name="T14" fmla="*/ 1 w 145"/>
                    <a:gd name="T15" fmla="*/ 0 h 139"/>
                    <a:gd name="T16" fmla="*/ 1 w 145"/>
                    <a:gd name="T17" fmla="*/ 0 h 139"/>
                    <a:gd name="T18" fmla="*/ 1 w 145"/>
                    <a:gd name="T19" fmla="*/ 0 h 139"/>
                    <a:gd name="T20" fmla="*/ 0 w 145"/>
                    <a:gd name="T21" fmla="*/ 0 h 1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5"/>
                    <a:gd name="T34" fmla="*/ 0 h 139"/>
                    <a:gd name="T35" fmla="*/ 145 w 145"/>
                    <a:gd name="T36" fmla="*/ 139 h 1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5" h="139">
                      <a:moveTo>
                        <a:pt x="0" y="95"/>
                      </a:moveTo>
                      <a:lnTo>
                        <a:pt x="31" y="45"/>
                      </a:lnTo>
                      <a:lnTo>
                        <a:pt x="68" y="54"/>
                      </a:lnTo>
                      <a:lnTo>
                        <a:pt x="121" y="0"/>
                      </a:lnTo>
                      <a:lnTo>
                        <a:pt x="145" y="32"/>
                      </a:lnTo>
                      <a:lnTo>
                        <a:pt x="141" y="114"/>
                      </a:lnTo>
                      <a:lnTo>
                        <a:pt x="129" y="80"/>
                      </a:lnTo>
                      <a:lnTo>
                        <a:pt x="115" y="139"/>
                      </a:lnTo>
                      <a:lnTo>
                        <a:pt x="78" y="123"/>
                      </a:lnTo>
                      <a:lnTo>
                        <a:pt x="56" y="62"/>
                      </a:lnTo>
                      <a:lnTo>
                        <a:pt x="0" y="9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0" name="16389386.25637.6252.751.3755">
                  <a:extLst>
                    <a:ext uri="{FF2B5EF4-FFF2-40B4-BE49-F238E27FC236}">
                      <a16:creationId xmlns:a16="http://schemas.microsoft.com/office/drawing/2014/main" id="{9AE6C097-6D8B-36F8-2FD2-BF3F1CF59B0C}"/>
                    </a:ext>
                  </a:extLst>
                </p:cNvPr>
                <p:cNvSpPr>
                  <a:spLocks/>
                </p:cNvSpPr>
                <p:nvPr/>
              </p:nvSpPr>
              <p:spPr bwMode="auto">
                <a:xfrm>
                  <a:off x="4853162" y="3855650"/>
                  <a:ext cx="16210" cy="33464"/>
                </a:xfrm>
                <a:custGeom>
                  <a:avLst/>
                  <a:gdLst>
                    <a:gd name="T0" fmla="*/ 0 w 33"/>
                    <a:gd name="T1" fmla="*/ 1 h 56"/>
                    <a:gd name="T2" fmla="*/ 0 w 33"/>
                    <a:gd name="T3" fmla="*/ 1 h 56"/>
                    <a:gd name="T4" fmla="*/ 0 w 33"/>
                    <a:gd name="T5" fmla="*/ 0 h 56"/>
                    <a:gd name="T6" fmla="*/ 0 w 33"/>
                    <a:gd name="T7" fmla="*/ 1 h 56"/>
                    <a:gd name="T8" fmla="*/ 0 w 33"/>
                    <a:gd name="T9" fmla="*/ 1 h 56"/>
                    <a:gd name="T10" fmla="*/ 0 60000 65536"/>
                    <a:gd name="T11" fmla="*/ 0 60000 65536"/>
                    <a:gd name="T12" fmla="*/ 0 60000 65536"/>
                    <a:gd name="T13" fmla="*/ 0 60000 65536"/>
                    <a:gd name="T14" fmla="*/ 0 60000 65536"/>
                    <a:gd name="T15" fmla="*/ 0 w 33"/>
                    <a:gd name="T16" fmla="*/ 0 h 56"/>
                    <a:gd name="T17" fmla="*/ 33 w 33"/>
                    <a:gd name="T18" fmla="*/ 56 h 56"/>
                  </a:gdLst>
                  <a:ahLst/>
                  <a:cxnLst>
                    <a:cxn ang="T10">
                      <a:pos x="T0" y="T1"/>
                    </a:cxn>
                    <a:cxn ang="T11">
                      <a:pos x="T2" y="T3"/>
                    </a:cxn>
                    <a:cxn ang="T12">
                      <a:pos x="T4" y="T5"/>
                    </a:cxn>
                    <a:cxn ang="T13">
                      <a:pos x="T6" y="T7"/>
                    </a:cxn>
                    <a:cxn ang="T14">
                      <a:pos x="T8" y="T9"/>
                    </a:cxn>
                  </a:cxnLst>
                  <a:rect l="T15" t="T16" r="T17" b="T18"/>
                  <a:pathLst>
                    <a:path w="33" h="56">
                      <a:moveTo>
                        <a:pt x="0" y="35"/>
                      </a:moveTo>
                      <a:lnTo>
                        <a:pt x="8" y="24"/>
                      </a:lnTo>
                      <a:lnTo>
                        <a:pt x="33" y="0"/>
                      </a:lnTo>
                      <a:lnTo>
                        <a:pt x="22" y="56"/>
                      </a:lnTo>
                      <a:lnTo>
                        <a:pt x="0" y="3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1" name="16390369.75603.12524.87510.8755">
                  <a:extLst>
                    <a:ext uri="{FF2B5EF4-FFF2-40B4-BE49-F238E27FC236}">
                      <a16:creationId xmlns:a16="http://schemas.microsoft.com/office/drawing/2014/main" id="{4CBD890A-A48E-10EB-ED26-E402E8421AEE}"/>
                    </a:ext>
                  </a:extLst>
                </p:cNvPr>
                <p:cNvSpPr>
                  <a:spLocks/>
                </p:cNvSpPr>
                <p:nvPr/>
              </p:nvSpPr>
              <p:spPr bwMode="auto">
                <a:xfrm>
                  <a:off x="4431692" y="3660634"/>
                  <a:ext cx="133736" cy="294254"/>
                </a:xfrm>
                <a:custGeom>
                  <a:avLst/>
                  <a:gdLst>
                    <a:gd name="T0" fmla="*/ 0 w 264"/>
                    <a:gd name="T1" fmla="*/ 0 h 511"/>
                    <a:gd name="T2" fmla="*/ 1 w 264"/>
                    <a:gd name="T3" fmla="*/ 0 h 511"/>
                    <a:gd name="T4" fmla="*/ 1 w 264"/>
                    <a:gd name="T5" fmla="*/ 0 h 511"/>
                    <a:gd name="T6" fmla="*/ 1 w 264"/>
                    <a:gd name="T7" fmla="*/ 0 h 511"/>
                    <a:gd name="T8" fmla="*/ 1 w 264"/>
                    <a:gd name="T9" fmla="*/ 0 h 511"/>
                    <a:gd name="T10" fmla="*/ 1 w 264"/>
                    <a:gd name="T11" fmla="*/ 0 h 511"/>
                    <a:gd name="T12" fmla="*/ 1 w 264"/>
                    <a:gd name="T13" fmla="*/ 0 h 511"/>
                    <a:gd name="T14" fmla="*/ 1 w 264"/>
                    <a:gd name="T15" fmla="*/ 0 h 511"/>
                    <a:gd name="T16" fmla="*/ 1 w 264"/>
                    <a:gd name="T17" fmla="*/ 0 h 511"/>
                    <a:gd name="T18" fmla="*/ 1 w 264"/>
                    <a:gd name="T19" fmla="*/ 0 h 511"/>
                    <a:gd name="T20" fmla="*/ 1 w 264"/>
                    <a:gd name="T21" fmla="*/ 0 h 511"/>
                    <a:gd name="T22" fmla="*/ 1 w 264"/>
                    <a:gd name="T23" fmla="*/ 0 h 511"/>
                    <a:gd name="T24" fmla="*/ 1 w 264"/>
                    <a:gd name="T25" fmla="*/ 0 h 511"/>
                    <a:gd name="T26" fmla="*/ 1 w 264"/>
                    <a:gd name="T27" fmla="*/ 0 h 511"/>
                    <a:gd name="T28" fmla="*/ 1 w 264"/>
                    <a:gd name="T29" fmla="*/ 0 h 511"/>
                    <a:gd name="T30" fmla="*/ 1 w 264"/>
                    <a:gd name="T31" fmla="*/ 0 h 511"/>
                    <a:gd name="T32" fmla="*/ 1 w 264"/>
                    <a:gd name="T33" fmla="*/ 0 h 511"/>
                    <a:gd name="T34" fmla="*/ 1 w 264"/>
                    <a:gd name="T35" fmla="*/ 0 h 511"/>
                    <a:gd name="T36" fmla="*/ 1 w 264"/>
                    <a:gd name="T37" fmla="*/ 0 h 511"/>
                    <a:gd name="T38" fmla="*/ 1 w 264"/>
                    <a:gd name="T39" fmla="*/ 0 h 511"/>
                    <a:gd name="T40" fmla="*/ 1 w 264"/>
                    <a:gd name="T41" fmla="*/ 0 h 511"/>
                    <a:gd name="T42" fmla="*/ 1 w 264"/>
                    <a:gd name="T43" fmla="*/ 0 h 511"/>
                    <a:gd name="T44" fmla="*/ 1 w 264"/>
                    <a:gd name="T45" fmla="*/ 0 h 511"/>
                    <a:gd name="T46" fmla="*/ 1 w 264"/>
                    <a:gd name="T47" fmla="*/ 0 h 511"/>
                    <a:gd name="T48" fmla="*/ 0 w 264"/>
                    <a:gd name="T49" fmla="*/ 0 h 5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4"/>
                    <a:gd name="T76" fmla="*/ 0 h 511"/>
                    <a:gd name="T77" fmla="*/ 264 w 264"/>
                    <a:gd name="T78" fmla="*/ 511 h 51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4" h="511">
                      <a:moveTo>
                        <a:pt x="0" y="82"/>
                      </a:moveTo>
                      <a:lnTo>
                        <a:pt x="18" y="42"/>
                      </a:lnTo>
                      <a:lnTo>
                        <a:pt x="89" y="0"/>
                      </a:lnTo>
                      <a:lnTo>
                        <a:pt x="121" y="40"/>
                      </a:lnTo>
                      <a:lnTo>
                        <a:pt x="111" y="109"/>
                      </a:lnTo>
                      <a:lnTo>
                        <a:pt x="196" y="79"/>
                      </a:lnTo>
                      <a:lnTo>
                        <a:pt x="232" y="109"/>
                      </a:lnTo>
                      <a:lnTo>
                        <a:pt x="264" y="176"/>
                      </a:lnTo>
                      <a:lnTo>
                        <a:pt x="253" y="219"/>
                      </a:lnTo>
                      <a:lnTo>
                        <a:pt x="188" y="216"/>
                      </a:lnTo>
                      <a:lnTo>
                        <a:pt x="165" y="236"/>
                      </a:lnTo>
                      <a:lnTo>
                        <a:pt x="177" y="307"/>
                      </a:lnTo>
                      <a:lnTo>
                        <a:pt x="90" y="245"/>
                      </a:lnTo>
                      <a:lnTo>
                        <a:pt x="55" y="355"/>
                      </a:lnTo>
                      <a:lnTo>
                        <a:pt x="96" y="456"/>
                      </a:lnTo>
                      <a:lnTo>
                        <a:pt x="155" y="491"/>
                      </a:lnTo>
                      <a:lnTo>
                        <a:pt x="123" y="511"/>
                      </a:lnTo>
                      <a:lnTo>
                        <a:pt x="115" y="480"/>
                      </a:lnTo>
                      <a:lnTo>
                        <a:pt x="90" y="480"/>
                      </a:lnTo>
                      <a:lnTo>
                        <a:pt x="24" y="424"/>
                      </a:lnTo>
                      <a:lnTo>
                        <a:pt x="35" y="359"/>
                      </a:lnTo>
                      <a:lnTo>
                        <a:pt x="70" y="300"/>
                      </a:lnTo>
                      <a:lnTo>
                        <a:pt x="23" y="201"/>
                      </a:lnTo>
                      <a:lnTo>
                        <a:pt x="38" y="157"/>
                      </a:lnTo>
                      <a:lnTo>
                        <a:pt x="0" y="8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2" name="16391365.75609.524.1259.6255">
                  <a:extLst>
                    <a:ext uri="{FF2B5EF4-FFF2-40B4-BE49-F238E27FC236}">
                      <a16:creationId xmlns:a16="http://schemas.microsoft.com/office/drawing/2014/main" id="{85AF2569-7EA0-DD83-C6F9-557BBD2271E1}"/>
                    </a:ext>
                  </a:extLst>
                </p:cNvPr>
                <p:cNvSpPr>
                  <a:spLocks/>
                </p:cNvSpPr>
                <p:nvPr/>
              </p:nvSpPr>
              <p:spPr bwMode="auto">
                <a:xfrm>
                  <a:off x="4509704" y="3612169"/>
                  <a:ext cx="117525" cy="286177"/>
                </a:xfrm>
                <a:custGeom>
                  <a:avLst/>
                  <a:gdLst>
                    <a:gd name="T0" fmla="*/ 0 w 232"/>
                    <a:gd name="T1" fmla="*/ 0 h 497"/>
                    <a:gd name="T2" fmla="*/ 1 w 232"/>
                    <a:gd name="T3" fmla="*/ 0 h 497"/>
                    <a:gd name="T4" fmla="*/ 1 w 232"/>
                    <a:gd name="T5" fmla="*/ 0 h 497"/>
                    <a:gd name="T6" fmla="*/ 1 w 232"/>
                    <a:gd name="T7" fmla="*/ 0 h 497"/>
                    <a:gd name="T8" fmla="*/ 1 w 232"/>
                    <a:gd name="T9" fmla="*/ 0 h 497"/>
                    <a:gd name="T10" fmla="*/ 1 w 232"/>
                    <a:gd name="T11" fmla="*/ 0 h 497"/>
                    <a:gd name="T12" fmla="*/ 1 w 232"/>
                    <a:gd name="T13" fmla="*/ 0 h 497"/>
                    <a:gd name="T14" fmla="*/ 1 w 232"/>
                    <a:gd name="T15" fmla="*/ 0 h 497"/>
                    <a:gd name="T16" fmla="*/ 1 w 232"/>
                    <a:gd name="T17" fmla="*/ 0 h 497"/>
                    <a:gd name="T18" fmla="*/ 1 w 232"/>
                    <a:gd name="T19" fmla="*/ 0 h 497"/>
                    <a:gd name="T20" fmla="*/ 1 w 232"/>
                    <a:gd name="T21" fmla="*/ 0 h 497"/>
                    <a:gd name="T22" fmla="*/ 1 w 232"/>
                    <a:gd name="T23" fmla="*/ 0 h 497"/>
                    <a:gd name="T24" fmla="*/ 1 w 232"/>
                    <a:gd name="T25" fmla="*/ 0 h 497"/>
                    <a:gd name="T26" fmla="*/ 1 w 232"/>
                    <a:gd name="T27" fmla="*/ 0 h 497"/>
                    <a:gd name="T28" fmla="*/ 1 w 232"/>
                    <a:gd name="T29" fmla="*/ 0 h 497"/>
                    <a:gd name="T30" fmla="*/ 1 w 232"/>
                    <a:gd name="T31" fmla="*/ 0 h 497"/>
                    <a:gd name="T32" fmla="*/ 1 w 232"/>
                    <a:gd name="T33" fmla="*/ 0 h 497"/>
                    <a:gd name="T34" fmla="*/ 1 w 232"/>
                    <a:gd name="T35" fmla="*/ 0 h 497"/>
                    <a:gd name="T36" fmla="*/ 0 w 232"/>
                    <a:gd name="T37" fmla="*/ 0 h 4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2"/>
                    <a:gd name="T58" fmla="*/ 0 h 497"/>
                    <a:gd name="T59" fmla="*/ 232 w 232"/>
                    <a:gd name="T60" fmla="*/ 497 h 49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2" h="497">
                      <a:moveTo>
                        <a:pt x="0" y="25"/>
                      </a:moveTo>
                      <a:lnTo>
                        <a:pt x="34" y="77"/>
                      </a:lnTo>
                      <a:lnTo>
                        <a:pt x="79" y="98"/>
                      </a:lnTo>
                      <a:lnTo>
                        <a:pt x="57" y="136"/>
                      </a:lnTo>
                      <a:lnTo>
                        <a:pt x="138" y="202"/>
                      </a:lnTo>
                      <a:lnTo>
                        <a:pt x="174" y="292"/>
                      </a:lnTo>
                      <a:lnTo>
                        <a:pt x="178" y="369"/>
                      </a:lnTo>
                      <a:lnTo>
                        <a:pt x="78" y="435"/>
                      </a:lnTo>
                      <a:lnTo>
                        <a:pt x="94" y="497"/>
                      </a:lnTo>
                      <a:lnTo>
                        <a:pt x="126" y="453"/>
                      </a:lnTo>
                      <a:lnTo>
                        <a:pt x="144" y="465"/>
                      </a:lnTo>
                      <a:lnTo>
                        <a:pt x="152" y="437"/>
                      </a:lnTo>
                      <a:lnTo>
                        <a:pt x="232" y="392"/>
                      </a:lnTo>
                      <a:lnTo>
                        <a:pt x="221" y="267"/>
                      </a:lnTo>
                      <a:lnTo>
                        <a:pt x="114" y="151"/>
                      </a:lnTo>
                      <a:lnTo>
                        <a:pt x="125" y="114"/>
                      </a:lnTo>
                      <a:lnTo>
                        <a:pt x="189" y="58"/>
                      </a:lnTo>
                      <a:lnTo>
                        <a:pt x="99" y="0"/>
                      </a:lnTo>
                      <a:lnTo>
                        <a:pt x="0" y="2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3" name="16392372.75527.87510.513.3755">
                  <a:extLst>
                    <a:ext uri="{FF2B5EF4-FFF2-40B4-BE49-F238E27FC236}">
                      <a16:creationId xmlns:a16="http://schemas.microsoft.com/office/drawing/2014/main" id="{E2880F7D-7EEC-B9BB-BFD2-9267DDC5CA9A}"/>
                    </a:ext>
                  </a:extLst>
                </p:cNvPr>
                <p:cNvSpPr>
                  <a:spLocks/>
                </p:cNvSpPr>
                <p:nvPr/>
              </p:nvSpPr>
              <p:spPr bwMode="auto">
                <a:xfrm>
                  <a:off x="3515809" y="3695252"/>
                  <a:ext cx="162103" cy="124626"/>
                </a:xfrm>
                <a:custGeom>
                  <a:avLst/>
                  <a:gdLst>
                    <a:gd name="T0" fmla="*/ 0 w 322"/>
                    <a:gd name="T1" fmla="*/ 1 h 216"/>
                    <a:gd name="T2" fmla="*/ 0 w 322"/>
                    <a:gd name="T3" fmla="*/ 1 h 216"/>
                    <a:gd name="T4" fmla="*/ 0 w 322"/>
                    <a:gd name="T5" fmla="*/ 1 h 216"/>
                    <a:gd name="T6" fmla="*/ 0 w 322"/>
                    <a:gd name="T7" fmla="*/ 1 h 216"/>
                    <a:gd name="T8" fmla="*/ 0 w 322"/>
                    <a:gd name="T9" fmla="*/ 1 h 216"/>
                    <a:gd name="T10" fmla="*/ 0 w 322"/>
                    <a:gd name="T11" fmla="*/ 0 h 216"/>
                    <a:gd name="T12" fmla="*/ 0 w 322"/>
                    <a:gd name="T13" fmla="*/ 1 h 216"/>
                    <a:gd name="T14" fmla="*/ 0 w 322"/>
                    <a:gd name="T15" fmla="*/ 1 h 216"/>
                    <a:gd name="T16" fmla="*/ 0 w 322"/>
                    <a:gd name="T17" fmla="*/ 1 h 216"/>
                    <a:gd name="T18" fmla="*/ 0 w 322"/>
                    <a:gd name="T19" fmla="*/ 1 h 2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216"/>
                    <a:gd name="T32" fmla="*/ 322 w 322"/>
                    <a:gd name="T33" fmla="*/ 216 h 2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216">
                      <a:moveTo>
                        <a:pt x="0" y="216"/>
                      </a:moveTo>
                      <a:lnTo>
                        <a:pt x="85" y="168"/>
                      </a:lnTo>
                      <a:lnTo>
                        <a:pt x="70" y="145"/>
                      </a:lnTo>
                      <a:lnTo>
                        <a:pt x="95" y="117"/>
                      </a:lnTo>
                      <a:lnTo>
                        <a:pt x="180" y="24"/>
                      </a:lnTo>
                      <a:lnTo>
                        <a:pt x="287" y="0"/>
                      </a:lnTo>
                      <a:lnTo>
                        <a:pt x="322" y="84"/>
                      </a:lnTo>
                      <a:lnTo>
                        <a:pt x="294" y="117"/>
                      </a:lnTo>
                      <a:lnTo>
                        <a:pt x="172" y="175"/>
                      </a:lnTo>
                      <a:lnTo>
                        <a:pt x="0" y="21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4" name="16393375.5526.8757.7555">
                  <a:extLst>
                    <a:ext uri="{FF2B5EF4-FFF2-40B4-BE49-F238E27FC236}">
                      <a16:creationId xmlns:a16="http://schemas.microsoft.com/office/drawing/2014/main" id="{62D3E48A-D96D-5E16-4FEC-42EBCB97C035}"/>
                    </a:ext>
                  </a:extLst>
                </p:cNvPr>
                <p:cNvSpPr>
                  <a:spLocks/>
                </p:cNvSpPr>
                <p:nvPr/>
              </p:nvSpPr>
              <p:spPr bwMode="auto">
                <a:xfrm>
                  <a:off x="3502638" y="3728717"/>
                  <a:ext cx="60789" cy="91161"/>
                </a:xfrm>
                <a:custGeom>
                  <a:avLst/>
                  <a:gdLst>
                    <a:gd name="T0" fmla="*/ 0 w 121"/>
                    <a:gd name="T1" fmla="*/ 1 h 158"/>
                    <a:gd name="T2" fmla="*/ 0 w 121"/>
                    <a:gd name="T3" fmla="*/ 1 h 158"/>
                    <a:gd name="T4" fmla="*/ 0 w 121"/>
                    <a:gd name="T5" fmla="*/ 1 h 158"/>
                    <a:gd name="T6" fmla="*/ 0 w 121"/>
                    <a:gd name="T7" fmla="*/ 1 h 158"/>
                    <a:gd name="T8" fmla="*/ 0 w 121"/>
                    <a:gd name="T9" fmla="*/ 1 h 158"/>
                    <a:gd name="T10" fmla="*/ 0 w 121"/>
                    <a:gd name="T11" fmla="*/ 1 h 158"/>
                    <a:gd name="T12" fmla="*/ 0 w 121"/>
                    <a:gd name="T13" fmla="*/ 0 h 158"/>
                    <a:gd name="T14" fmla="*/ 0 w 121"/>
                    <a:gd name="T15" fmla="*/ 1 h 158"/>
                    <a:gd name="T16" fmla="*/ 0 60000 65536"/>
                    <a:gd name="T17" fmla="*/ 0 60000 65536"/>
                    <a:gd name="T18" fmla="*/ 0 60000 65536"/>
                    <a:gd name="T19" fmla="*/ 0 60000 65536"/>
                    <a:gd name="T20" fmla="*/ 0 60000 65536"/>
                    <a:gd name="T21" fmla="*/ 0 60000 65536"/>
                    <a:gd name="T22" fmla="*/ 0 60000 65536"/>
                    <a:gd name="T23" fmla="*/ 0 60000 65536"/>
                    <a:gd name="T24" fmla="*/ 0 w 121"/>
                    <a:gd name="T25" fmla="*/ 0 h 158"/>
                    <a:gd name="T26" fmla="*/ 121 w 121"/>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1" h="158">
                      <a:moveTo>
                        <a:pt x="0" y="32"/>
                      </a:moveTo>
                      <a:lnTo>
                        <a:pt x="26" y="158"/>
                      </a:lnTo>
                      <a:lnTo>
                        <a:pt x="111" y="110"/>
                      </a:lnTo>
                      <a:lnTo>
                        <a:pt x="96" y="87"/>
                      </a:lnTo>
                      <a:lnTo>
                        <a:pt x="121" y="59"/>
                      </a:lnTo>
                      <a:lnTo>
                        <a:pt x="121" y="24"/>
                      </a:lnTo>
                      <a:lnTo>
                        <a:pt x="60" y="0"/>
                      </a:lnTo>
                      <a:lnTo>
                        <a:pt x="0" y="3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5" name="16394440490.521.37522.6255">
                  <a:extLst>
                    <a:ext uri="{FF2B5EF4-FFF2-40B4-BE49-F238E27FC236}">
                      <a16:creationId xmlns:a16="http://schemas.microsoft.com/office/drawing/2014/main" id="{D9C76FB1-36B0-4865-B115-B468B97B2FA2}"/>
                    </a:ext>
                  </a:extLst>
                </p:cNvPr>
                <p:cNvSpPr>
                  <a:spLocks/>
                </p:cNvSpPr>
                <p:nvPr/>
              </p:nvSpPr>
              <p:spPr bwMode="auto">
                <a:xfrm>
                  <a:off x="3058879" y="4493778"/>
                  <a:ext cx="276588" cy="252712"/>
                </a:xfrm>
                <a:custGeom>
                  <a:avLst/>
                  <a:gdLst>
                    <a:gd name="T0" fmla="*/ 0 w 546"/>
                    <a:gd name="T1" fmla="*/ 0 h 439"/>
                    <a:gd name="T2" fmla="*/ 1 w 546"/>
                    <a:gd name="T3" fmla="*/ 0 h 439"/>
                    <a:gd name="T4" fmla="*/ 1 w 546"/>
                    <a:gd name="T5" fmla="*/ 0 h 439"/>
                    <a:gd name="T6" fmla="*/ 1 w 546"/>
                    <a:gd name="T7" fmla="*/ 0 h 439"/>
                    <a:gd name="T8" fmla="*/ 1 w 546"/>
                    <a:gd name="T9" fmla="*/ 0 h 439"/>
                    <a:gd name="T10" fmla="*/ 1 w 546"/>
                    <a:gd name="T11" fmla="*/ 0 h 439"/>
                    <a:gd name="T12" fmla="*/ 1 w 546"/>
                    <a:gd name="T13" fmla="*/ 0 h 439"/>
                    <a:gd name="T14" fmla="*/ 1 w 546"/>
                    <a:gd name="T15" fmla="*/ 0 h 439"/>
                    <a:gd name="T16" fmla="*/ 1 w 546"/>
                    <a:gd name="T17" fmla="*/ 0 h 439"/>
                    <a:gd name="T18" fmla="*/ 1 w 546"/>
                    <a:gd name="T19" fmla="*/ 0 h 439"/>
                    <a:gd name="T20" fmla="*/ 1 w 546"/>
                    <a:gd name="T21" fmla="*/ 0 h 439"/>
                    <a:gd name="T22" fmla="*/ 1 w 546"/>
                    <a:gd name="T23" fmla="*/ 0 h 439"/>
                    <a:gd name="T24" fmla="*/ 1 w 546"/>
                    <a:gd name="T25" fmla="*/ 0 h 439"/>
                    <a:gd name="T26" fmla="*/ 1 w 546"/>
                    <a:gd name="T27" fmla="*/ 0 h 439"/>
                    <a:gd name="T28" fmla="*/ 1 w 546"/>
                    <a:gd name="T29" fmla="*/ 0 h 439"/>
                    <a:gd name="T30" fmla="*/ 1 w 546"/>
                    <a:gd name="T31" fmla="*/ 0 h 439"/>
                    <a:gd name="T32" fmla="*/ 1 w 546"/>
                    <a:gd name="T33" fmla="*/ 0 h 439"/>
                    <a:gd name="T34" fmla="*/ 1 w 546"/>
                    <a:gd name="T35" fmla="*/ 0 h 439"/>
                    <a:gd name="T36" fmla="*/ 1 w 546"/>
                    <a:gd name="T37" fmla="*/ 0 h 439"/>
                    <a:gd name="T38" fmla="*/ 1 w 546"/>
                    <a:gd name="T39" fmla="*/ 0 h 439"/>
                    <a:gd name="T40" fmla="*/ 1 w 546"/>
                    <a:gd name="T41" fmla="*/ 0 h 439"/>
                    <a:gd name="T42" fmla="*/ 1 w 546"/>
                    <a:gd name="T43" fmla="*/ 0 h 439"/>
                    <a:gd name="T44" fmla="*/ 1 w 546"/>
                    <a:gd name="T45" fmla="*/ 0 h 439"/>
                    <a:gd name="T46" fmla="*/ 1 w 546"/>
                    <a:gd name="T47" fmla="*/ 0 h 439"/>
                    <a:gd name="T48" fmla="*/ 1 w 546"/>
                    <a:gd name="T49" fmla="*/ 0 h 439"/>
                    <a:gd name="T50" fmla="*/ 0 w 546"/>
                    <a:gd name="T51" fmla="*/ 0 h 4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46"/>
                    <a:gd name="T79" fmla="*/ 0 h 439"/>
                    <a:gd name="T80" fmla="*/ 546 w 546"/>
                    <a:gd name="T81" fmla="*/ 439 h 4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46" h="439">
                      <a:moveTo>
                        <a:pt x="0" y="231"/>
                      </a:moveTo>
                      <a:lnTo>
                        <a:pt x="19" y="216"/>
                      </a:lnTo>
                      <a:lnTo>
                        <a:pt x="43" y="245"/>
                      </a:lnTo>
                      <a:lnTo>
                        <a:pt x="85" y="245"/>
                      </a:lnTo>
                      <a:lnTo>
                        <a:pt x="114" y="224"/>
                      </a:lnTo>
                      <a:lnTo>
                        <a:pt x="114" y="88"/>
                      </a:lnTo>
                      <a:lnTo>
                        <a:pt x="143" y="123"/>
                      </a:lnTo>
                      <a:lnTo>
                        <a:pt x="142" y="160"/>
                      </a:lnTo>
                      <a:lnTo>
                        <a:pt x="188" y="158"/>
                      </a:lnTo>
                      <a:lnTo>
                        <a:pt x="228" y="117"/>
                      </a:lnTo>
                      <a:lnTo>
                        <a:pt x="301" y="117"/>
                      </a:lnTo>
                      <a:lnTo>
                        <a:pt x="427" y="0"/>
                      </a:lnTo>
                      <a:lnTo>
                        <a:pt x="503" y="17"/>
                      </a:lnTo>
                      <a:lnTo>
                        <a:pt x="515" y="125"/>
                      </a:lnTo>
                      <a:lnTo>
                        <a:pt x="480" y="156"/>
                      </a:lnTo>
                      <a:lnTo>
                        <a:pt x="502" y="179"/>
                      </a:lnTo>
                      <a:lnTo>
                        <a:pt x="519" y="160"/>
                      </a:lnTo>
                      <a:lnTo>
                        <a:pt x="546" y="160"/>
                      </a:lnTo>
                      <a:lnTo>
                        <a:pt x="532" y="224"/>
                      </a:lnTo>
                      <a:lnTo>
                        <a:pt x="452" y="323"/>
                      </a:lnTo>
                      <a:lnTo>
                        <a:pt x="353" y="409"/>
                      </a:lnTo>
                      <a:lnTo>
                        <a:pt x="279" y="438"/>
                      </a:lnTo>
                      <a:lnTo>
                        <a:pt x="65" y="439"/>
                      </a:lnTo>
                      <a:lnTo>
                        <a:pt x="47" y="390"/>
                      </a:lnTo>
                      <a:lnTo>
                        <a:pt x="55" y="351"/>
                      </a:lnTo>
                      <a:lnTo>
                        <a:pt x="0" y="23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6" name="16395413483.7520.12517.55">
                  <a:extLst>
                    <a:ext uri="{FF2B5EF4-FFF2-40B4-BE49-F238E27FC236}">
                      <a16:creationId xmlns:a16="http://schemas.microsoft.com/office/drawing/2014/main" id="{30C933CB-A9DB-15FE-09A5-6A7DC6342DAD}"/>
                    </a:ext>
                  </a:extLst>
                </p:cNvPr>
                <p:cNvSpPr>
                  <a:spLocks/>
                </p:cNvSpPr>
                <p:nvPr/>
              </p:nvSpPr>
              <p:spPr bwMode="auto">
                <a:xfrm>
                  <a:off x="2976815" y="4172984"/>
                  <a:ext cx="213774" cy="238865"/>
                </a:xfrm>
                <a:custGeom>
                  <a:avLst/>
                  <a:gdLst>
                    <a:gd name="T0" fmla="*/ 0 w 422"/>
                    <a:gd name="T1" fmla="*/ 1 h 414"/>
                    <a:gd name="T2" fmla="*/ 1 w 422"/>
                    <a:gd name="T3" fmla="*/ 1 h 414"/>
                    <a:gd name="T4" fmla="*/ 1 w 422"/>
                    <a:gd name="T5" fmla="*/ 1 h 414"/>
                    <a:gd name="T6" fmla="*/ 1 w 422"/>
                    <a:gd name="T7" fmla="*/ 1 h 414"/>
                    <a:gd name="T8" fmla="*/ 1 w 422"/>
                    <a:gd name="T9" fmla="*/ 1 h 414"/>
                    <a:gd name="T10" fmla="*/ 1 w 422"/>
                    <a:gd name="T11" fmla="*/ 1 h 414"/>
                    <a:gd name="T12" fmla="*/ 1 w 422"/>
                    <a:gd name="T13" fmla="*/ 1 h 414"/>
                    <a:gd name="T14" fmla="*/ 1 w 422"/>
                    <a:gd name="T15" fmla="*/ 1 h 414"/>
                    <a:gd name="T16" fmla="*/ 1 w 422"/>
                    <a:gd name="T17" fmla="*/ 1 h 414"/>
                    <a:gd name="T18" fmla="*/ 1 w 422"/>
                    <a:gd name="T19" fmla="*/ 1 h 414"/>
                    <a:gd name="T20" fmla="*/ 1 w 422"/>
                    <a:gd name="T21" fmla="*/ 1 h 414"/>
                    <a:gd name="T22" fmla="*/ 1 w 422"/>
                    <a:gd name="T23" fmla="*/ 1 h 414"/>
                    <a:gd name="T24" fmla="*/ 1 w 422"/>
                    <a:gd name="T25" fmla="*/ 1 h 414"/>
                    <a:gd name="T26" fmla="*/ 1 w 422"/>
                    <a:gd name="T27" fmla="*/ 1 h 414"/>
                    <a:gd name="T28" fmla="*/ 1 w 422"/>
                    <a:gd name="T29" fmla="*/ 0 h 414"/>
                    <a:gd name="T30" fmla="*/ 1 w 422"/>
                    <a:gd name="T31" fmla="*/ 1 h 414"/>
                    <a:gd name="T32" fmla="*/ 1 w 422"/>
                    <a:gd name="T33" fmla="*/ 1 h 414"/>
                    <a:gd name="T34" fmla="*/ 0 w 422"/>
                    <a:gd name="T35" fmla="*/ 1 h 4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22"/>
                    <a:gd name="T55" fmla="*/ 0 h 414"/>
                    <a:gd name="T56" fmla="*/ 422 w 422"/>
                    <a:gd name="T57" fmla="*/ 414 h 41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22" h="414">
                      <a:moveTo>
                        <a:pt x="0" y="388"/>
                      </a:moveTo>
                      <a:lnTo>
                        <a:pt x="55" y="374"/>
                      </a:lnTo>
                      <a:lnTo>
                        <a:pt x="328" y="414"/>
                      </a:lnTo>
                      <a:lnTo>
                        <a:pt x="389" y="396"/>
                      </a:lnTo>
                      <a:lnTo>
                        <a:pt x="348" y="364"/>
                      </a:lnTo>
                      <a:lnTo>
                        <a:pt x="348" y="239"/>
                      </a:lnTo>
                      <a:lnTo>
                        <a:pt x="422" y="239"/>
                      </a:lnTo>
                      <a:lnTo>
                        <a:pt x="417" y="170"/>
                      </a:lnTo>
                      <a:lnTo>
                        <a:pt x="348" y="177"/>
                      </a:lnTo>
                      <a:lnTo>
                        <a:pt x="341" y="58"/>
                      </a:lnTo>
                      <a:lnTo>
                        <a:pt x="310" y="36"/>
                      </a:lnTo>
                      <a:lnTo>
                        <a:pt x="267" y="38"/>
                      </a:lnTo>
                      <a:lnTo>
                        <a:pt x="256" y="73"/>
                      </a:lnTo>
                      <a:lnTo>
                        <a:pt x="209" y="77"/>
                      </a:lnTo>
                      <a:lnTo>
                        <a:pt x="154" y="0"/>
                      </a:lnTo>
                      <a:lnTo>
                        <a:pt x="27" y="16"/>
                      </a:lnTo>
                      <a:lnTo>
                        <a:pt x="73" y="173"/>
                      </a:lnTo>
                      <a:lnTo>
                        <a:pt x="0" y="38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7" name="16396411.375484.251.6251.3755">
                  <a:extLst>
                    <a:ext uri="{FF2B5EF4-FFF2-40B4-BE49-F238E27FC236}">
                      <a16:creationId xmlns:a16="http://schemas.microsoft.com/office/drawing/2014/main" id="{69CA4E1D-3AFD-F033-2CA4-8F9DA6C1396F}"/>
                    </a:ext>
                  </a:extLst>
                </p:cNvPr>
                <p:cNvSpPr>
                  <a:spLocks/>
                </p:cNvSpPr>
                <p:nvPr/>
              </p:nvSpPr>
              <p:spPr bwMode="auto">
                <a:xfrm>
                  <a:off x="2982894" y="4153367"/>
                  <a:ext cx="17223" cy="19617"/>
                </a:xfrm>
                <a:custGeom>
                  <a:avLst/>
                  <a:gdLst>
                    <a:gd name="T0" fmla="*/ 0 w 34"/>
                    <a:gd name="T1" fmla="*/ 0 h 36"/>
                    <a:gd name="T2" fmla="*/ 1 w 34"/>
                    <a:gd name="T3" fmla="*/ 0 h 36"/>
                    <a:gd name="T4" fmla="*/ 1 w 34"/>
                    <a:gd name="T5" fmla="*/ 0 h 36"/>
                    <a:gd name="T6" fmla="*/ 0 w 34"/>
                    <a:gd name="T7" fmla="*/ 0 h 36"/>
                    <a:gd name="T8" fmla="*/ 0 60000 65536"/>
                    <a:gd name="T9" fmla="*/ 0 60000 65536"/>
                    <a:gd name="T10" fmla="*/ 0 60000 65536"/>
                    <a:gd name="T11" fmla="*/ 0 60000 65536"/>
                    <a:gd name="T12" fmla="*/ 0 w 34"/>
                    <a:gd name="T13" fmla="*/ 0 h 36"/>
                    <a:gd name="T14" fmla="*/ 34 w 34"/>
                    <a:gd name="T15" fmla="*/ 36 h 36"/>
                  </a:gdLst>
                  <a:ahLst/>
                  <a:cxnLst>
                    <a:cxn ang="T8">
                      <a:pos x="T0" y="T1"/>
                    </a:cxn>
                    <a:cxn ang="T9">
                      <a:pos x="T2" y="T3"/>
                    </a:cxn>
                    <a:cxn ang="T10">
                      <a:pos x="T4" y="T5"/>
                    </a:cxn>
                    <a:cxn ang="T11">
                      <a:pos x="T6" y="T7"/>
                    </a:cxn>
                  </a:cxnLst>
                  <a:rect l="T12" t="T13" r="T14" b="T15"/>
                  <a:pathLst>
                    <a:path w="34" h="36">
                      <a:moveTo>
                        <a:pt x="0" y="11"/>
                      </a:moveTo>
                      <a:lnTo>
                        <a:pt x="12" y="36"/>
                      </a:lnTo>
                      <a:lnTo>
                        <a:pt x="34" y="0"/>
                      </a:lnTo>
                      <a:lnTo>
                        <a:pt x="0" y="1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8" name="16397432.75495.2515135">
                  <a:extLst>
                    <a:ext uri="{FF2B5EF4-FFF2-40B4-BE49-F238E27FC236}">
                      <a16:creationId xmlns:a16="http://schemas.microsoft.com/office/drawing/2014/main" id="{54B0639F-7B0B-5115-A532-6EE4C7154748}"/>
                    </a:ext>
                  </a:extLst>
                </p:cNvPr>
                <p:cNvSpPr>
                  <a:spLocks/>
                </p:cNvSpPr>
                <p:nvPr/>
              </p:nvSpPr>
              <p:spPr bwMode="auto">
                <a:xfrm>
                  <a:off x="3117641" y="4407233"/>
                  <a:ext cx="158050" cy="177706"/>
                </a:xfrm>
                <a:custGeom>
                  <a:avLst/>
                  <a:gdLst>
                    <a:gd name="T0" fmla="*/ 0 w 313"/>
                    <a:gd name="T1" fmla="*/ 0 h 310"/>
                    <a:gd name="T2" fmla="*/ 0 w 313"/>
                    <a:gd name="T3" fmla="*/ 0 h 310"/>
                    <a:gd name="T4" fmla="*/ 0 w 313"/>
                    <a:gd name="T5" fmla="*/ 0 h 310"/>
                    <a:gd name="T6" fmla="*/ 0 w 313"/>
                    <a:gd name="T7" fmla="*/ 0 h 310"/>
                    <a:gd name="T8" fmla="*/ 0 w 313"/>
                    <a:gd name="T9" fmla="*/ 0 h 310"/>
                    <a:gd name="T10" fmla="*/ 0 w 313"/>
                    <a:gd name="T11" fmla="*/ 0 h 310"/>
                    <a:gd name="T12" fmla="*/ 0 w 313"/>
                    <a:gd name="T13" fmla="*/ 0 h 310"/>
                    <a:gd name="T14" fmla="*/ 0 w 313"/>
                    <a:gd name="T15" fmla="*/ 0 h 310"/>
                    <a:gd name="T16" fmla="*/ 0 w 313"/>
                    <a:gd name="T17" fmla="*/ 0 h 310"/>
                    <a:gd name="T18" fmla="*/ 0 w 313"/>
                    <a:gd name="T19" fmla="*/ 0 h 310"/>
                    <a:gd name="T20" fmla="*/ 0 w 313"/>
                    <a:gd name="T21" fmla="*/ 0 h 310"/>
                    <a:gd name="T22" fmla="*/ 0 w 313"/>
                    <a:gd name="T23" fmla="*/ 0 h 310"/>
                    <a:gd name="T24" fmla="*/ 0 w 313"/>
                    <a:gd name="T25" fmla="*/ 0 h 310"/>
                    <a:gd name="T26" fmla="*/ 0 w 313"/>
                    <a:gd name="T27" fmla="*/ 0 h 310"/>
                    <a:gd name="T28" fmla="*/ 0 w 313"/>
                    <a:gd name="T29" fmla="*/ 0 h 3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3"/>
                    <a:gd name="T46" fmla="*/ 0 h 310"/>
                    <a:gd name="T47" fmla="*/ 313 w 313"/>
                    <a:gd name="T48" fmla="*/ 310 h 3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3" h="310">
                      <a:moveTo>
                        <a:pt x="0" y="238"/>
                      </a:moveTo>
                      <a:lnTo>
                        <a:pt x="0" y="145"/>
                      </a:lnTo>
                      <a:lnTo>
                        <a:pt x="34" y="143"/>
                      </a:lnTo>
                      <a:lnTo>
                        <a:pt x="34" y="24"/>
                      </a:lnTo>
                      <a:lnTo>
                        <a:pt x="99" y="10"/>
                      </a:lnTo>
                      <a:lnTo>
                        <a:pt x="120" y="31"/>
                      </a:lnTo>
                      <a:lnTo>
                        <a:pt x="175" y="0"/>
                      </a:lnTo>
                      <a:lnTo>
                        <a:pt x="268" y="128"/>
                      </a:lnTo>
                      <a:lnTo>
                        <a:pt x="313" y="150"/>
                      </a:lnTo>
                      <a:lnTo>
                        <a:pt x="187" y="267"/>
                      </a:lnTo>
                      <a:lnTo>
                        <a:pt x="114" y="267"/>
                      </a:lnTo>
                      <a:lnTo>
                        <a:pt x="74" y="308"/>
                      </a:lnTo>
                      <a:lnTo>
                        <a:pt x="28" y="310"/>
                      </a:lnTo>
                      <a:lnTo>
                        <a:pt x="29" y="273"/>
                      </a:lnTo>
                      <a:lnTo>
                        <a:pt x="0" y="23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9" name="16398407.55083.1252.3755">
                  <a:extLst>
                    <a:ext uri="{FF2B5EF4-FFF2-40B4-BE49-F238E27FC236}">
                      <a16:creationId xmlns:a16="http://schemas.microsoft.com/office/drawing/2014/main" id="{F7775A14-7C04-A882-F8A8-EDA57B35D680}"/>
                    </a:ext>
                  </a:extLst>
                </p:cNvPr>
                <p:cNvSpPr>
                  <a:spLocks/>
                </p:cNvSpPr>
                <p:nvPr/>
              </p:nvSpPr>
              <p:spPr bwMode="auto">
                <a:xfrm>
                  <a:off x="3272652" y="4107210"/>
                  <a:ext cx="29382" cy="38080"/>
                </a:xfrm>
                <a:custGeom>
                  <a:avLst/>
                  <a:gdLst>
                    <a:gd name="T0" fmla="*/ 0 w 58"/>
                    <a:gd name="T1" fmla="*/ 1 h 66"/>
                    <a:gd name="T2" fmla="*/ 1 w 58"/>
                    <a:gd name="T3" fmla="*/ 1 h 66"/>
                    <a:gd name="T4" fmla="*/ 1 w 58"/>
                    <a:gd name="T5" fmla="*/ 1 h 66"/>
                    <a:gd name="T6" fmla="*/ 1 w 58"/>
                    <a:gd name="T7" fmla="*/ 1 h 66"/>
                    <a:gd name="T8" fmla="*/ 1 w 58"/>
                    <a:gd name="T9" fmla="*/ 0 h 66"/>
                    <a:gd name="T10" fmla="*/ 0 w 58"/>
                    <a:gd name="T11" fmla="*/ 1 h 66"/>
                    <a:gd name="T12" fmla="*/ 0 60000 65536"/>
                    <a:gd name="T13" fmla="*/ 0 60000 65536"/>
                    <a:gd name="T14" fmla="*/ 0 60000 65536"/>
                    <a:gd name="T15" fmla="*/ 0 60000 65536"/>
                    <a:gd name="T16" fmla="*/ 0 60000 65536"/>
                    <a:gd name="T17" fmla="*/ 0 60000 65536"/>
                    <a:gd name="T18" fmla="*/ 0 w 58"/>
                    <a:gd name="T19" fmla="*/ 0 h 66"/>
                    <a:gd name="T20" fmla="*/ 58 w 58"/>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58" h="66">
                      <a:moveTo>
                        <a:pt x="0" y="9"/>
                      </a:moveTo>
                      <a:lnTo>
                        <a:pt x="7" y="34"/>
                      </a:lnTo>
                      <a:lnTo>
                        <a:pt x="20" y="66"/>
                      </a:lnTo>
                      <a:lnTo>
                        <a:pt x="58" y="27"/>
                      </a:lnTo>
                      <a:lnTo>
                        <a:pt x="55" y="0"/>
                      </a:lnTo>
                      <a:lnTo>
                        <a:pt x="0" y="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0" name="16399383479.2518.2510.755">
                  <a:extLst>
                    <a:ext uri="{FF2B5EF4-FFF2-40B4-BE49-F238E27FC236}">
                      <a16:creationId xmlns:a16="http://schemas.microsoft.com/office/drawing/2014/main" id="{E7C988B2-621E-C822-153F-495311E4BBD0}"/>
                    </a:ext>
                  </a:extLst>
                </p:cNvPr>
                <p:cNvSpPr>
                  <a:spLocks/>
                </p:cNvSpPr>
                <p:nvPr/>
              </p:nvSpPr>
              <p:spPr bwMode="auto">
                <a:xfrm>
                  <a:off x="2923117" y="3817571"/>
                  <a:ext cx="129682" cy="215787"/>
                </a:xfrm>
                <a:custGeom>
                  <a:avLst/>
                  <a:gdLst>
                    <a:gd name="T0" fmla="*/ 0 w 257"/>
                    <a:gd name="T1" fmla="*/ 1 h 374"/>
                    <a:gd name="T2" fmla="*/ 0 w 257"/>
                    <a:gd name="T3" fmla="*/ 1 h 374"/>
                    <a:gd name="T4" fmla="*/ 0 w 257"/>
                    <a:gd name="T5" fmla="*/ 1 h 374"/>
                    <a:gd name="T6" fmla="*/ 0 w 257"/>
                    <a:gd name="T7" fmla="*/ 1 h 374"/>
                    <a:gd name="T8" fmla="*/ 0 w 257"/>
                    <a:gd name="T9" fmla="*/ 1 h 374"/>
                    <a:gd name="T10" fmla="*/ 0 w 257"/>
                    <a:gd name="T11" fmla="*/ 1 h 374"/>
                    <a:gd name="T12" fmla="*/ 0 w 257"/>
                    <a:gd name="T13" fmla="*/ 0 h 374"/>
                    <a:gd name="T14" fmla="*/ 0 w 257"/>
                    <a:gd name="T15" fmla="*/ 1 h 374"/>
                    <a:gd name="T16" fmla="*/ 0 w 257"/>
                    <a:gd name="T17" fmla="*/ 1 h 374"/>
                    <a:gd name="T18" fmla="*/ 0 w 257"/>
                    <a:gd name="T19" fmla="*/ 1 h 374"/>
                    <a:gd name="T20" fmla="*/ 0 w 257"/>
                    <a:gd name="T21" fmla="*/ 1 h 374"/>
                    <a:gd name="T22" fmla="*/ 0 w 257"/>
                    <a:gd name="T23" fmla="*/ 1 h 374"/>
                    <a:gd name="T24" fmla="*/ 0 w 257"/>
                    <a:gd name="T25" fmla="*/ 1 h 374"/>
                    <a:gd name="T26" fmla="*/ 0 w 257"/>
                    <a:gd name="T27" fmla="*/ 1 h 374"/>
                    <a:gd name="T28" fmla="*/ 0 w 257"/>
                    <a:gd name="T29" fmla="*/ 1 h 374"/>
                    <a:gd name="T30" fmla="*/ 0 w 257"/>
                    <a:gd name="T31" fmla="*/ 1 h 374"/>
                    <a:gd name="T32" fmla="*/ 0 w 257"/>
                    <a:gd name="T33" fmla="*/ 1 h 374"/>
                    <a:gd name="T34" fmla="*/ 0 w 257"/>
                    <a:gd name="T35" fmla="*/ 1 h 3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7"/>
                    <a:gd name="T55" fmla="*/ 0 h 374"/>
                    <a:gd name="T56" fmla="*/ 257 w 257"/>
                    <a:gd name="T57" fmla="*/ 374 h 3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7" h="374">
                      <a:moveTo>
                        <a:pt x="0" y="267"/>
                      </a:moveTo>
                      <a:lnTo>
                        <a:pt x="35" y="196"/>
                      </a:lnTo>
                      <a:lnTo>
                        <a:pt x="99" y="206"/>
                      </a:lnTo>
                      <a:lnTo>
                        <a:pt x="167" y="60"/>
                      </a:lnTo>
                      <a:lnTo>
                        <a:pt x="202" y="34"/>
                      </a:lnTo>
                      <a:lnTo>
                        <a:pt x="188" y="5"/>
                      </a:lnTo>
                      <a:lnTo>
                        <a:pt x="204" y="0"/>
                      </a:lnTo>
                      <a:lnTo>
                        <a:pt x="229" y="90"/>
                      </a:lnTo>
                      <a:lnTo>
                        <a:pt x="188" y="107"/>
                      </a:lnTo>
                      <a:lnTo>
                        <a:pt x="235" y="179"/>
                      </a:lnTo>
                      <a:lnTo>
                        <a:pt x="204" y="264"/>
                      </a:lnTo>
                      <a:lnTo>
                        <a:pt x="257" y="328"/>
                      </a:lnTo>
                      <a:lnTo>
                        <a:pt x="251" y="374"/>
                      </a:lnTo>
                      <a:lnTo>
                        <a:pt x="163" y="353"/>
                      </a:lnTo>
                      <a:lnTo>
                        <a:pt x="96" y="352"/>
                      </a:lnTo>
                      <a:lnTo>
                        <a:pt x="41" y="353"/>
                      </a:lnTo>
                      <a:lnTo>
                        <a:pt x="39" y="291"/>
                      </a:lnTo>
                      <a:lnTo>
                        <a:pt x="0" y="26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1" name="16400386487.7513.12518.1255">
                  <a:extLst>
                    <a:ext uri="{FF2B5EF4-FFF2-40B4-BE49-F238E27FC236}">
                      <a16:creationId xmlns:a16="http://schemas.microsoft.com/office/drawing/2014/main" id="{CFC7EEF5-57DD-4637-1176-93D3D464564E}"/>
                    </a:ext>
                  </a:extLst>
                </p:cNvPr>
                <p:cNvSpPr>
                  <a:spLocks/>
                </p:cNvSpPr>
                <p:nvPr/>
              </p:nvSpPr>
              <p:spPr bwMode="auto">
                <a:xfrm>
                  <a:off x="3026457" y="3852189"/>
                  <a:ext cx="220866" cy="155781"/>
                </a:xfrm>
                <a:custGeom>
                  <a:avLst/>
                  <a:gdLst>
                    <a:gd name="T0" fmla="*/ 0 w 436"/>
                    <a:gd name="T1" fmla="*/ 1 h 269"/>
                    <a:gd name="T2" fmla="*/ 1 w 436"/>
                    <a:gd name="T3" fmla="*/ 1 h 269"/>
                    <a:gd name="T4" fmla="*/ 1 w 436"/>
                    <a:gd name="T5" fmla="*/ 1 h 269"/>
                    <a:gd name="T6" fmla="*/ 1 w 436"/>
                    <a:gd name="T7" fmla="*/ 1 h 269"/>
                    <a:gd name="T8" fmla="*/ 1 w 436"/>
                    <a:gd name="T9" fmla="*/ 1 h 269"/>
                    <a:gd name="T10" fmla="*/ 1 w 436"/>
                    <a:gd name="T11" fmla="*/ 0 h 269"/>
                    <a:gd name="T12" fmla="*/ 1 w 436"/>
                    <a:gd name="T13" fmla="*/ 1 h 269"/>
                    <a:gd name="T14" fmla="*/ 1 w 436"/>
                    <a:gd name="T15" fmla="*/ 1 h 269"/>
                    <a:gd name="T16" fmla="*/ 1 w 436"/>
                    <a:gd name="T17" fmla="*/ 1 h 269"/>
                    <a:gd name="T18" fmla="*/ 1 w 436"/>
                    <a:gd name="T19" fmla="*/ 1 h 269"/>
                    <a:gd name="T20" fmla="*/ 1 w 436"/>
                    <a:gd name="T21" fmla="*/ 1 h 269"/>
                    <a:gd name="T22" fmla="*/ 1 w 436"/>
                    <a:gd name="T23" fmla="*/ 1 h 269"/>
                    <a:gd name="T24" fmla="*/ 1 w 436"/>
                    <a:gd name="T25" fmla="*/ 1 h 269"/>
                    <a:gd name="T26" fmla="*/ 1 w 436"/>
                    <a:gd name="T27" fmla="*/ 1 h 269"/>
                    <a:gd name="T28" fmla="*/ 0 w 436"/>
                    <a:gd name="T29" fmla="*/ 1 h 2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6"/>
                    <a:gd name="T46" fmla="*/ 0 h 269"/>
                    <a:gd name="T47" fmla="*/ 436 w 436"/>
                    <a:gd name="T48" fmla="*/ 269 h 2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6" h="269">
                      <a:moveTo>
                        <a:pt x="0" y="205"/>
                      </a:moveTo>
                      <a:lnTo>
                        <a:pt x="31" y="120"/>
                      </a:lnTo>
                      <a:lnTo>
                        <a:pt x="139" y="98"/>
                      </a:lnTo>
                      <a:lnTo>
                        <a:pt x="150" y="70"/>
                      </a:lnTo>
                      <a:lnTo>
                        <a:pt x="200" y="60"/>
                      </a:lnTo>
                      <a:lnTo>
                        <a:pt x="274" y="0"/>
                      </a:lnTo>
                      <a:lnTo>
                        <a:pt x="299" y="71"/>
                      </a:lnTo>
                      <a:lnTo>
                        <a:pt x="355" y="98"/>
                      </a:lnTo>
                      <a:lnTo>
                        <a:pt x="436" y="195"/>
                      </a:lnTo>
                      <a:lnTo>
                        <a:pt x="234" y="223"/>
                      </a:lnTo>
                      <a:lnTo>
                        <a:pt x="168" y="195"/>
                      </a:lnTo>
                      <a:lnTo>
                        <a:pt x="139" y="243"/>
                      </a:lnTo>
                      <a:lnTo>
                        <a:pt x="81" y="243"/>
                      </a:lnTo>
                      <a:lnTo>
                        <a:pt x="53" y="269"/>
                      </a:lnTo>
                      <a:lnTo>
                        <a:pt x="0" y="20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2" name="16401365.25486.2526.514.8755">
                  <a:extLst>
                    <a:ext uri="{FF2B5EF4-FFF2-40B4-BE49-F238E27FC236}">
                      <a16:creationId xmlns:a16="http://schemas.microsoft.com/office/drawing/2014/main" id="{3483355C-6FFA-F721-1022-A8BE5EAEEFC4}"/>
                    </a:ext>
                  </a:extLst>
                </p:cNvPr>
                <p:cNvSpPr>
                  <a:spLocks/>
                </p:cNvSpPr>
                <p:nvPr/>
              </p:nvSpPr>
              <p:spPr bwMode="auto">
                <a:xfrm>
                  <a:off x="3007208" y="3606401"/>
                  <a:ext cx="181353" cy="315027"/>
                </a:xfrm>
                <a:custGeom>
                  <a:avLst/>
                  <a:gdLst>
                    <a:gd name="T0" fmla="*/ 0 w 357"/>
                    <a:gd name="T1" fmla="*/ 0 h 547"/>
                    <a:gd name="T2" fmla="*/ 1 w 357"/>
                    <a:gd name="T3" fmla="*/ 0 h 547"/>
                    <a:gd name="T4" fmla="*/ 1 w 357"/>
                    <a:gd name="T5" fmla="*/ 0 h 547"/>
                    <a:gd name="T6" fmla="*/ 1 w 357"/>
                    <a:gd name="T7" fmla="*/ 0 h 547"/>
                    <a:gd name="T8" fmla="*/ 1 w 357"/>
                    <a:gd name="T9" fmla="*/ 0 h 547"/>
                    <a:gd name="T10" fmla="*/ 1 w 357"/>
                    <a:gd name="T11" fmla="*/ 0 h 547"/>
                    <a:gd name="T12" fmla="*/ 1 w 357"/>
                    <a:gd name="T13" fmla="*/ 0 h 547"/>
                    <a:gd name="T14" fmla="*/ 1 w 357"/>
                    <a:gd name="T15" fmla="*/ 0 h 547"/>
                    <a:gd name="T16" fmla="*/ 1 w 357"/>
                    <a:gd name="T17" fmla="*/ 0 h 547"/>
                    <a:gd name="T18" fmla="*/ 1 w 357"/>
                    <a:gd name="T19" fmla="*/ 0 h 547"/>
                    <a:gd name="T20" fmla="*/ 1 w 357"/>
                    <a:gd name="T21" fmla="*/ 0 h 547"/>
                    <a:gd name="T22" fmla="*/ 1 w 357"/>
                    <a:gd name="T23" fmla="*/ 0 h 547"/>
                    <a:gd name="T24" fmla="*/ 1 w 357"/>
                    <a:gd name="T25" fmla="*/ 0 h 547"/>
                    <a:gd name="T26" fmla="*/ 1 w 357"/>
                    <a:gd name="T27" fmla="*/ 0 h 547"/>
                    <a:gd name="T28" fmla="*/ 1 w 357"/>
                    <a:gd name="T29" fmla="*/ 0 h 547"/>
                    <a:gd name="T30" fmla="*/ 1 w 357"/>
                    <a:gd name="T31" fmla="*/ 0 h 547"/>
                    <a:gd name="T32" fmla="*/ 1 w 357"/>
                    <a:gd name="T33" fmla="*/ 0 h 547"/>
                    <a:gd name="T34" fmla="*/ 1 w 357"/>
                    <a:gd name="T35" fmla="*/ 0 h 547"/>
                    <a:gd name="T36" fmla="*/ 1 w 357"/>
                    <a:gd name="T37" fmla="*/ 0 h 547"/>
                    <a:gd name="T38" fmla="*/ 0 w 357"/>
                    <a:gd name="T39" fmla="*/ 0 h 54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57"/>
                    <a:gd name="T61" fmla="*/ 0 h 547"/>
                    <a:gd name="T62" fmla="*/ 357 w 357"/>
                    <a:gd name="T63" fmla="*/ 547 h 54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57" h="547">
                      <a:moveTo>
                        <a:pt x="0" y="313"/>
                      </a:moveTo>
                      <a:lnTo>
                        <a:pt x="52" y="340"/>
                      </a:lnTo>
                      <a:lnTo>
                        <a:pt x="38" y="368"/>
                      </a:lnTo>
                      <a:lnTo>
                        <a:pt x="63" y="458"/>
                      </a:lnTo>
                      <a:lnTo>
                        <a:pt x="22" y="475"/>
                      </a:lnTo>
                      <a:lnTo>
                        <a:pt x="69" y="547"/>
                      </a:lnTo>
                      <a:lnTo>
                        <a:pt x="177" y="525"/>
                      </a:lnTo>
                      <a:lnTo>
                        <a:pt x="188" y="497"/>
                      </a:lnTo>
                      <a:lnTo>
                        <a:pt x="238" y="487"/>
                      </a:lnTo>
                      <a:lnTo>
                        <a:pt x="312" y="427"/>
                      </a:lnTo>
                      <a:lnTo>
                        <a:pt x="286" y="361"/>
                      </a:lnTo>
                      <a:lnTo>
                        <a:pt x="321" y="271"/>
                      </a:lnTo>
                      <a:lnTo>
                        <a:pt x="356" y="265"/>
                      </a:lnTo>
                      <a:lnTo>
                        <a:pt x="357" y="138"/>
                      </a:lnTo>
                      <a:lnTo>
                        <a:pt x="89" y="0"/>
                      </a:lnTo>
                      <a:lnTo>
                        <a:pt x="55" y="14"/>
                      </a:lnTo>
                      <a:lnTo>
                        <a:pt x="55" y="68"/>
                      </a:lnTo>
                      <a:lnTo>
                        <a:pt x="89" y="105"/>
                      </a:lnTo>
                      <a:lnTo>
                        <a:pt x="69" y="225"/>
                      </a:lnTo>
                      <a:lnTo>
                        <a:pt x="0" y="31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3" name="16402397.875483.1251410.55">
                  <a:extLst>
                    <a:ext uri="{FF2B5EF4-FFF2-40B4-BE49-F238E27FC236}">
                      <a16:creationId xmlns:a16="http://schemas.microsoft.com/office/drawing/2014/main" id="{3B0A16EF-C213-E49D-AC3A-3CC903878CA7}"/>
                    </a:ext>
                  </a:extLst>
                </p:cNvPr>
                <p:cNvSpPr>
                  <a:spLocks/>
                </p:cNvSpPr>
                <p:nvPr/>
              </p:nvSpPr>
              <p:spPr bwMode="auto">
                <a:xfrm>
                  <a:off x="2969722" y="3992970"/>
                  <a:ext cx="127656" cy="166167"/>
                </a:xfrm>
                <a:custGeom>
                  <a:avLst/>
                  <a:gdLst>
                    <a:gd name="T0" fmla="*/ 0 w 251"/>
                    <a:gd name="T1" fmla="*/ 0 h 289"/>
                    <a:gd name="T2" fmla="*/ 1 w 251"/>
                    <a:gd name="T3" fmla="*/ 0 h 289"/>
                    <a:gd name="T4" fmla="*/ 1 w 251"/>
                    <a:gd name="T5" fmla="*/ 0 h 289"/>
                    <a:gd name="T6" fmla="*/ 1 w 251"/>
                    <a:gd name="T7" fmla="*/ 0 h 289"/>
                    <a:gd name="T8" fmla="*/ 1 w 251"/>
                    <a:gd name="T9" fmla="*/ 0 h 289"/>
                    <a:gd name="T10" fmla="*/ 1 w 251"/>
                    <a:gd name="T11" fmla="*/ 0 h 289"/>
                    <a:gd name="T12" fmla="*/ 1 w 251"/>
                    <a:gd name="T13" fmla="*/ 0 h 289"/>
                    <a:gd name="T14" fmla="*/ 1 w 251"/>
                    <a:gd name="T15" fmla="*/ 0 h 289"/>
                    <a:gd name="T16" fmla="*/ 1 w 251"/>
                    <a:gd name="T17" fmla="*/ 0 h 289"/>
                    <a:gd name="T18" fmla="*/ 1 w 251"/>
                    <a:gd name="T19" fmla="*/ 0 h 289"/>
                    <a:gd name="T20" fmla="*/ 1 w 251"/>
                    <a:gd name="T21" fmla="*/ 0 h 289"/>
                    <a:gd name="T22" fmla="*/ 1 w 251"/>
                    <a:gd name="T23" fmla="*/ 0 h 289"/>
                    <a:gd name="T24" fmla="*/ 1 w 251"/>
                    <a:gd name="T25" fmla="*/ 0 h 289"/>
                    <a:gd name="T26" fmla="*/ 1 w 251"/>
                    <a:gd name="T27" fmla="*/ 0 h 289"/>
                    <a:gd name="T28" fmla="*/ 1 w 251"/>
                    <a:gd name="T29" fmla="*/ 0 h 289"/>
                    <a:gd name="T30" fmla="*/ 1 w 251"/>
                    <a:gd name="T31" fmla="*/ 0 h 289"/>
                    <a:gd name="T32" fmla="*/ 0 w 251"/>
                    <a:gd name="T33" fmla="*/ 0 h 28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1"/>
                    <a:gd name="T52" fmla="*/ 0 h 289"/>
                    <a:gd name="T53" fmla="*/ 251 w 251"/>
                    <a:gd name="T54" fmla="*/ 289 h 28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1" h="289">
                      <a:moveTo>
                        <a:pt x="0" y="253"/>
                      </a:moveTo>
                      <a:lnTo>
                        <a:pt x="26" y="289"/>
                      </a:lnTo>
                      <a:lnTo>
                        <a:pt x="60" y="278"/>
                      </a:lnTo>
                      <a:lnTo>
                        <a:pt x="111" y="281"/>
                      </a:lnTo>
                      <a:lnTo>
                        <a:pt x="158" y="251"/>
                      </a:lnTo>
                      <a:lnTo>
                        <a:pt x="170" y="193"/>
                      </a:lnTo>
                      <a:lnTo>
                        <a:pt x="220" y="145"/>
                      </a:lnTo>
                      <a:lnTo>
                        <a:pt x="251" y="0"/>
                      </a:lnTo>
                      <a:lnTo>
                        <a:pt x="193" y="0"/>
                      </a:lnTo>
                      <a:lnTo>
                        <a:pt x="165" y="26"/>
                      </a:lnTo>
                      <a:lnTo>
                        <a:pt x="159" y="72"/>
                      </a:lnTo>
                      <a:lnTo>
                        <a:pt x="71" y="51"/>
                      </a:lnTo>
                      <a:lnTo>
                        <a:pt x="68" y="81"/>
                      </a:lnTo>
                      <a:lnTo>
                        <a:pt x="104" y="84"/>
                      </a:lnTo>
                      <a:lnTo>
                        <a:pt x="93" y="198"/>
                      </a:lnTo>
                      <a:lnTo>
                        <a:pt x="49" y="185"/>
                      </a:lnTo>
                      <a:lnTo>
                        <a:pt x="0" y="25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4" name="16403395.5484.7529.62526.255">
                  <a:extLst>
                    <a:ext uri="{FF2B5EF4-FFF2-40B4-BE49-F238E27FC236}">
                      <a16:creationId xmlns:a16="http://schemas.microsoft.com/office/drawing/2014/main" id="{66F21DEA-E918-C5D6-56FC-2DED7640370E}"/>
                    </a:ext>
                  </a:extLst>
                </p:cNvPr>
                <p:cNvSpPr>
                  <a:spLocks/>
                </p:cNvSpPr>
                <p:nvPr/>
              </p:nvSpPr>
              <p:spPr bwMode="auto">
                <a:xfrm>
                  <a:off x="2988971" y="3965275"/>
                  <a:ext cx="321168" cy="351951"/>
                </a:xfrm>
                <a:custGeom>
                  <a:avLst/>
                  <a:gdLst>
                    <a:gd name="T0" fmla="*/ 0 w 634"/>
                    <a:gd name="T1" fmla="*/ 0 h 611"/>
                    <a:gd name="T2" fmla="*/ 1 w 634"/>
                    <a:gd name="T3" fmla="*/ 0 h 611"/>
                    <a:gd name="T4" fmla="*/ 1 w 634"/>
                    <a:gd name="T5" fmla="*/ 0 h 611"/>
                    <a:gd name="T6" fmla="*/ 1 w 634"/>
                    <a:gd name="T7" fmla="*/ 0 h 611"/>
                    <a:gd name="T8" fmla="*/ 1 w 634"/>
                    <a:gd name="T9" fmla="*/ 0 h 611"/>
                    <a:gd name="T10" fmla="*/ 1 w 634"/>
                    <a:gd name="T11" fmla="*/ 0 h 611"/>
                    <a:gd name="T12" fmla="*/ 1 w 634"/>
                    <a:gd name="T13" fmla="*/ 0 h 611"/>
                    <a:gd name="T14" fmla="*/ 1 w 634"/>
                    <a:gd name="T15" fmla="*/ 0 h 611"/>
                    <a:gd name="T16" fmla="*/ 1 w 634"/>
                    <a:gd name="T17" fmla="*/ 0 h 611"/>
                    <a:gd name="T18" fmla="*/ 1 w 634"/>
                    <a:gd name="T19" fmla="*/ 0 h 611"/>
                    <a:gd name="T20" fmla="*/ 1 w 634"/>
                    <a:gd name="T21" fmla="*/ 0 h 611"/>
                    <a:gd name="T22" fmla="*/ 1 w 634"/>
                    <a:gd name="T23" fmla="*/ 0 h 611"/>
                    <a:gd name="T24" fmla="*/ 1 w 634"/>
                    <a:gd name="T25" fmla="*/ 0 h 611"/>
                    <a:gd name="T26" fmla="*/ 1 w 634"/>
                    <a:gd name="T27" fmla="*/ 0 h 611"/>
                    <a:gd name="T28" fmla="*/ 1 w 634"/>
                    <a:gd name="T29" fmla="*/ 0 h 611"/>
                    <a:gd name="T30" fmla="*/ 1 w 634"/>
                    <a:gd name="T31" fmla="*/ 0 h 611"/>
                    <a:gd name="T32" fmla="*/ 1 w 634"/>
                    <a:gd name="T33" fmla="*/ 0 h 611"/>
                    <a:gd name="T34" fmla="*/ 1 w 634"/>
                    <a:gd name="T35" fmla="*/ 0 h 611"/>
                    <a:gd name="T36" fmla="*/ 1 w 634"/>
                    <a:gd name="T37" fmla="*/ 0 h 611"/>
                    <a:gd name="T38" fmla="*/ 1 w 634"/>
                    <a:gd name="T39" fmla="*/ 0 h 611"/>
                    <a:gd name="T40" fmla="*/ 1 w 634"/>
                    <a:gd name="T41" fmla="*/ 0 h 611"/>
                    <a:gd name="T42" fmla="*/ 1 w 634"/>
                    <a:gd name="T43" fmla="*/ 0 h 611"/>
                    <a:gd name="T44" fmla="*/ 1 w 634"/>
                    <a:gd name="T45" fmla="*/ 0 h 611"/>
                    <a:gd name="T46" fmla="*/ 1 w 634"/>
                    <a:gd name="T47" fmla="*/ 0 h 611"/>
                    <a:gd name="T48" fmla="*/ 1 w 634"/>
                    <a:gd name="T49" fmla="*/ 0 h 611"/>
                    <a:gd name="T50" fmla="*/ 1 w 634"/>
                    <a:gd name="T51" fmla="*/ 0 h 611"/>
                    <a:gd name="T52" fmla="*/ 1 w 634"/>
                    <a:gd name="T53" fmla="*/ 0 h 611"/>
                    <a:gd name="T54" fmla="*/ 1 w 634"/>
                    <a:gd name="T55" fmla="*/ 0 h 611"/>
                    <a:gd name="T56" fmla="*/ 1 w 634"/>
                    <a:gd name="T57" fmla="*/ 0 h 611"/>
                    <a:gd name="T58" fmla="*/ 1 w 634"/>
                    <a:gd name="T59" fmla="*/ 0 h 611"/>
                    <a:gd name="T60" fmla="*/ 1 w 634"/>
                    <a:gd name="T61" fmla="*/ 0 h 611"/>
                    <a:gd name="T62" fmla="*/ 0 w 634"/>
                    <a:gd name="T63" fmla="*/ 0 h 6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34"/>
                    <a:gd name="T97" fmla="*/ 0 h 611"/>
                    <a:gd name="T98" fmla="*/ 634 w 634"/>
                    <a:gd name="T99" fmla="*/ 611 h 6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34" h="611">
                      <a:moveTo>
                        <a:pt x="0" y="362"/>
                      </a:moveTo>
                      <a:lnTo>
                        <a:pt x="2" y="378"/>
                      </a:lnTo>
                      <a:lnTo>
                        <a:pt x="129" y="362"/>
                      </a:lnTo>
                      <a:lnTo>
                        <a:pt x="184" y="439"/>
                      </a:lnTo>
                      <a:lnTo>
                        <a:pt x="231" y="435"/>
                      </a:lnTo>
                      <a:lnTo>
                        <a:pt x="242" y="400"/>
                      </a:lnTo>
                      <a:lnTo>
                        <a:pt x="285" y="398"/>
                      </a:lnTo>
                      <a:lnTo>
                        <a:pt x="316" y="420"/>
                      </a:lnTo>
                      <a:lnTo>
                        <a:pt x="323" y="539"/>
                      </a:lnTo>
                      <a:lnTo>
                        <a:pt x="392" y="532"/>
                      </a:lnTo>
                      <a:lnTo>
                        <a:pt x="583" y="611"/>
                      </a:lnTo>
                      <a:lnTo>
                        <a:pt x="581" y="575"/>
                      </a:lnTo>
                      <a:lnTo>
                        <a:pt x="544" y="559"/>
                      </a:lnTo>
                      <a:lnTo>
                        <a:pt x="551" y="472"/>
                      </a:lnTo>
                      <a:lnTo>
                        <a:pt x="612" y="442"/>
                      </a:lnTo>
                      <a:lnTo>
                        <a:pt x="573" y="383"/>
                      </a:lnTo>
                      <a:lnTo>
                        <a:pt x="568" y="282"/>
                      </a:lnTo>
                      <a:lnTo>
                        <a:pt x="561" y="257"/>
                      </a:lnTo>
                      <a:lnTo>
                        <a:pt x="583" y="213"/>
                      </a:lnTo>
                      <a:lnTo>
                        <a:pt x="612" y="129"/>
                      </a:lnTo>
                      <a:lnTo>
                        <a:pt x="634" y="98"/>
                      </a:lnTo>
                      <a:lnTo>
                        <a:pt x="621" y="50"/>
                      </a:lnTo>
                      <a:lnTo>
                        <a:pt x="510" y="0"/>
                      </a:lnTo>
                      <a:lnTo>
                        <a:pt x="308" y="28"/>
                      </a:lnTo>
                      <a:lnTo>
                        <a:pt x="242" y="0"/>
                      </a:lnTo>
                      <a:lnTo>
                        <a:pt x="213" y="48"/>
                      </a:lnTo>
                      <a:lnTo>
                        <a:pt x="182" y="193"/>
                      </a:lnTo>
                      <a:lnTo>
                        <a:pt x="132" y="241"/>
                      </a:lnTo>
                      <a:lnTo>
                        <a:pt x="120" y="299"/>
                      </a:lnTo>
                      <a:lnTo>
                        <a:pt x="73" y="329"/>
                      </a:lnTo>
                      <a:lnTo>
                        <a:pt x="22" y="326"/>
                      </a:lnTo>
                      <a:lnTo>
                        <a:pt x="0" y="36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5" name="16404343.625512.523.255">
                  <a:extLst>
                    <a:ext uri="{FF2B5EF4-FFF2-40B4-BE49-F238E27FC236}">
                      <a16:creationId xmlns:a16="http://schemas.microsoft.com/office/drawing/2014/main" id="{7038CC25-3E0A-6F4A-B4BD-74CE21609731}"/>
                    </a:ext>
                  </a:extLst>
                </p:cNvPr>
                <p:cNvSpPr>
                  <a:spLocks/>
                </p:cNvSpPr>
                <p:nvPr/>
              </p:nvSpPr>
              <p:spPr bwMode="auto">
                <a:xfrm>
                  <a:off x="3328376" y="3350225"/>
                  <a:ext cx="39513" cy="24233"/>
                </a:xfrm>
                <a:custGeom>
                  <a:avLst/>
                  <a:gdLst>
                    <a:gd name="T0" fmla="*/ 0 w 79"/>
                    <a:gd name="T1" fmla="*/ 1 h 41"/>
                    <a:gd name="T2" fmla="*/ 0 w 79"/>
                    <a:gd name="T3" fmla="*/ 1 h 41"/>
                    <a:gd name="T4" fmla="*/ 0 w 79"/>
                    <a:gd name="T5" fmla="*/ 0 h 41"/>
                    <a:gd name="T6" fmla="*/ 0 w 79"/>
                    <a:gd name="T7" fmla="*/ 1 h 41"/>
                    <a:gd name="T8" fmla="*/ 0 60000 65536"/>
                    <a:gd name="T9" fmla="*/ 0 60000 65536"/>
                    <a:gd name="T10" fmla="*/ 0 60000 65536"/>
                    <a:gd name="T11" fmla="*/ 0 60000 65536"/>
                    <a:gd name="T12" fmla="*/ 0 w 79"/>
                    <a:gd name="T13" fmla="*/ 0 h 41"/>
                    <a:gd name="T14" fmla="*/ 79 w 79"/>
                    <a:gd name="T15" fmla="*/ 41 h 41"/>
                  </a:gdLst>
                  <a:ahLst/>
                  <a:cxnLst>
                    <a:cxn ang="T8">
                      <a:pos x="T0" y="T1"/>
                    </a:cxn>
                    <a:cxn ang="T9">
                      <a:pos x="T2" y="T3"/>
                    </a:cxn>
                    <a:cxn ang="T10">
                      <a:pos x="T4" y="T5"/>
                    </a:cxn>
                    <a:cxn ang="T11">
                      <a:pos x="T6" y="T7"/>
                    </a:cxn>
                  </a:cxnLst>
                  <a:rect l="T12" t="T13" r="T14" b="T15"/>
                  <a:pathLst>
                    <a:path w="79" h="41">
                      <a:moveTo>
                        <a:pt x="0" y="22"/>
                      </a:moveTo>
                      <a:lnTo>
                        <a:pt x="28" y="41"/>
                      </a:lnTo>
                      <a:lnTo>
                        <a:pt x="79" y="0"/>
                      </a:lnTo>
                      <a:lnTo>
                        <a:pt x="0" y="2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6" name="16405383.625468.8759.8753.755">
                  <a:extLst>
                    <a:ext uri="{FF2B5EF4-FFF2-40B4-BE49-F238E27FC236}">
                      <a16:creationId xmlns:a16="http://schemas.microsoft.com/office/drawing/2014/main" id="{9D2A086A-D51F-FAEF-F435-32A4D4A263C2}"/>
                    </a:ext>
                  </a:extLst>
                </p:cNvPr>
                <p:cNvSpPr>
                  <a:spLocks/>
                </p:cNvSpPr>
                <p:nvPr/>
              </p:nvSpPr>
              <p:spPr bwMode="auto">
                <a:xfrm>
                  <a:off x="2796473" y="3824494"/>
                  <a:ext cx="45592" cy="117702"/>
                </a:xfrm>
                <a:custGeom>
                  <a:avLst/>
                  <a:gdLst>
                    <a:gd name="T0" fmla="*/ 0 w 91"/>
                    <a:gd name="T1" fmla="*/ 0 h 205"/>
                    <a:gd name="T2" fmla="*/ 0 w 91"/>
                    <a:gd name="T3" fmla="*/ 0 h 205"/>
                    <a:gd name="T4" fmla="*/ 0 w 91"/>
                    <a:gd name="T5" fmla="*/ 0 h 205"/>
                    <a:gd name="T6" fmla="*/ 0 w 91"/>
                    <a:gd name="T7" fmla="*/ 0 h 205"/>
                    <a:gd name="T8" fmla="*/ 0 w 91"/>
                    <a:gd name="T9" fmla="*/ 0 h 205"/>
                    <a:gd name="T10" fmla="*/ 0 w 91"/>
                    <a:gd name="T11" fmla="*/ 0 h 205"/>
                    <a:gd name="T12" fmla="*/ 0 w 91"/>
                    <a:gd name="T13" fmla="*/ 0 h 205"/>
                    <a:gd name="T14" fmla="*/ 0 60000 65536"/>
                    <a:gd name="T15" fmla="*/ 0 60000 65536"/>
                    <a:gd name="T16" fmla="*/ 0 60000 65536"/>
                    <a:gd name="T17" fmla="*/ 0 60000 65536"/>
                    <a:gd name="T18" fmla="*/ 0 60000 65536"/>
                    <a:gd name="T19" fmla="*/ 0 60000 65536"/>
                    <a:gd name="T20" fmla="*/ 0 60000 65536"/>
                    <a:gd name="T21" fmla="*/ 0 w 91"/>
                    <a:gd name="T22" fmla="*/ 0 h 205"/>
                    <a:gd name="T23" fmla="*/ 91 w 91"/>
                    <a:gd name="T24" fmla="*/ 205 h 2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205">
                      <a:moveTo>
                        <a:pt x="0" y="49"/>
                      </a:moveTo>
                      <a:lnTo>
                        <a:pt x="36" y="205"/>
                      </a:lnTo>
                      <a:lnTo>
                        <a:pt x="65" y="203"/>
                      </a:lnTo>
                      <a:lnTo>
                        <a:pt x="91" y="23"/>
                      </a:lnTo>
                      <a:lnTo>
                        <a:pt x="65" y="0"/>
                      </a:lnTo>
                      <a:lnTo>
                        <a:pt x="49" y="15"/>
                      </a:lnTo>
                      <a:lnTo>
                        <a:pt x="0" y="4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7" name="16406400.125480.752.1252.55">
                  <a:extLst>
                    <a:ext uri="{FF2B5EF4-FFF2-40B4-BE49-F238E27FC236}">
                      <a16:creationId xmlns:a16="http://schemas.microsoft.com/office/drawing/2014/main" id="{BD9FF42A-9719-E4F8-CB6F-92AF98F08C3D}"/>
                    </a:ext>
                  </a:extLst>
                </p:cNvPr>
                <p:cNvSpPr>
                  <a:spLocks/>
                </p:cNvSpPr>
                <p:nvPr/>
              </p:nvSpPr>
              <p:spPr bwMode="auto">
                <a:xfrm>
                  <a:off x="2941355" y="4020664"/>
                  <a:ext cx="30394" cy="24233"/>
                </a:xfrm>
                <a:custGeom>
                  <a:avLst/>
                  <a:gdLst>
                    <a:gd name="T0" fmla="*/ 0 w 61"/>
                    <a:gd name="T1" fmla="*/ 1 h 41"/>
                    <a:gd name="T2" fmla="*/ 0 w 61"/>
                    <a:gd name="T3" fmla="*/ 1 h 41"/>
                    <a:gd name="T4" fmla="*/ 0 w 61"/>
                    <a:gd name="T5" fmla="*/ 0 h 41"/>
                    <a:gd name="T6" fmla="*/ 0 w 61"/>
                    <a:gd name="T7" fmla="*/ 1 h 41"/>
                    <a:gd name="T8" fmla="*/ 0 w 61"/>
                    <a:gd name="T9" fmla="*/ 1 h 41"/>
                    <a:gd name="T10" fmla="*/ 0 60000 65536"/>
                    <a:gd name="T11" fmla="*/ 0 60000 65536"/>
                    <a:gd name="T12" fmla="*/ 0 60000 65536"/>
                    <a:gd name="T13" fmla="*/ 0 60000 65536"/>
                    <a:gd name="T14" fmla="*/ 0 60000 65536"/>
                    <a:gd name="T15" fmla="*/ 0 w 61"/>
                    <a:gd name="T16" fmla="*/ 0 h 41"/>
                    <a:gd name="T17" fmla="*/ 61 w 61"/>
                    <a:gd name="T18" fmla="*/ 41 h 41"/>
                  </a:gdLst>
                  <a:ahLst/>
                  <a:cxnLst>
                    <a:cxn ang="T10">
                      <a:pos x="T0" y="T1"/>
                    </a:cxn>
                    <a:cxn ang="T11">
                      <a:pos x="T2" y="T3"/>
                    </a:cxn>
                    <a:cxn ang="T12">
                      <a:pos x="T4" y="T5"/>
                    </a:cxn>
                    <a:cxn ang="T13">
                      <a:pos x="T6" y="T7"/>
                    </a:cxn>
                    <a:cxn ang="T14">
                      <a:pos x="T8" y="T9"/>
                    </a:cxn>
                  </a:cxnLst>
                  <a:rect l="T15" t="T16" r="T17" b="T18"/>
                  <a:pathLst>
                    <a:path w="61" h="41">
                      <a:moveTo>
                        <a:pt x="0" y="41"/>
                      </a:moveTo>
                      <a:lnTo>
                        <a:pt x="6" y="1"/>
                      </a:lnTo>
                      <a:lnTo>
                        <a:pt x="61" y="0"/>
                      </a:lnTo>
                      <a:lnTo>
                        <a:pt x="61" y="36"/>
                      </a:lnTo>
                      <a:lnTo>
                        <a:pt x="0" y="4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8" name="16407374.25513.37523.875215">
                  <a:extLst>
                    <a:ext uri="{FF2B5EF4-FFF2-40B4-BE49-F238E27FC236}">
                      <a16:creationId xmlns:a16="http://schemas.microsoft.com/office/drawing/2014/main" id="{E88A88E0-5336-AC0F-408F-2390812F4A41}"/>
                    </a:ext>
                  </a:extLst>
                </p:cNvPr>
                <p:cNvSpPr>
                  <a:spLocks/>
                </p:cNvSpPr>
                <p:nvPr/>
              </p:nvSpPr>
              <p:spPr bwMode="auto">
                <a:xfrm>
                  <a:off x="3338507" y="3713716"/>
                  <a:ext cx="255313" cy="282715"/>
                </a:xfrm>
                <a:custGeom>
                  <a:avLst/>
                  <a:gdLst>
                    <a:gd name="T0" fmla="*/ 0 w 504"/>
                    <a:gd name="T1" fmla="*/ 1 h 489"/>
                    <a:gd name="T2" fmla="*/ 1 w 504"/>
                    <a:gd name="T3" fmla="*/ 1 h 489"/>
                    <a:gd name="T4" fmla="*/ 1 w 504"/>
                    <a:gd name="T5" fmla="*/ 1 h 489"/>
                    <a:gd name="T6" fmla="*/ 1 w 504"/>
                    <a:gd name="T7" fmla="*/ 1 h 489"/>
                    <a:gd name="T8" fmla="*/ 1 w 504"/>
                    <a:gd name="T9" fmla="*/ 1 h 489"/>
                    <a:gd name="T10" fmla="*/ 1 w 504"/>
                    <a:gd name="T11" fmla="*/ 0 h 489"/>
                    <a:gd name="T12" fmla="*/ 1 w 504"/>
                    <a:gd name="T13" fmla="*/ 1 h 489"/>
                    <a:gd name="T14" fmla="*/ 1 w 504"/>
                    <a:gd name="T15" fmla="*/ 1 h 489"/>
                    <a:gd name="T16" fmla="*/ 1 w 504"/>
                    <a:gd name="T17" fmla="*/ 1 h 489"/>
                    <a:gd name="T18" fmla="*/ 1 w 504"/>
                    <a:gd name="T19" fmla="*/ 1 h 489"/>
                    <a:gd name="T20" fmla="*/ 1 w 504"/>
                    <a:gd name="T21" fmla="*/ 1 h 489"/>
                    <a:gd name="T22" fmla="*/ 1 w 504"/>
                    <a:gd name="T23" fmla="*/ 1 h 489"/>
                    <a:gd name="T24" fmla="*/ 1 w 504"/>
                    <a:gd name="T25" fmla="*/ 1 h 489"/>
                    <a:gd name="T26" fmla="*/ 1 w 504"/>
                    <a:gd name="T27" fmla="*/ 1 h 489"/>
                    <a:gd name="T28" fmla="*/ 1 w 504"/>
                    <a:gd name="T29" fmla="*/ 1 h 489"/>
                    <a:gd name="T30" fmla="*/ 1 w 504"/>
                    <a:gd name="T31" fmla="*/ 1 h 489"/>
                    <a:gd name="T32" fmla="*/ 1 w 504"/>
                    <a:gd name="T33" fmla="*/ 1 h 489"/>
                    <a:gd name="T34" fmla="*/ 0 w 504"/>
                    <a:gd name="T35" fmla="*/ 1 h 4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04"/>
                    <a:gd name="T55" fmla="*/ 0 h 489"/>
                    <a:gd name="T56" fmla="*/ 504 w 504"/>
                    <a:gd name="T57" fmla="*/ 489 h 4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04" h="489">
                      <a:moveTo>
                        <a:pt x="0" y="342"/>
                      </a:moveTo>
                      <a:lnTo>
                        <a:pt x="39" y="316"/>
                      </a:lnTo>
                      <a:lnTo>
                        <a:pt x="43" y="255"/>
                      </a:lnTo>
                      <a:lnTo>
                        <a:pt x="109" y="174"/>
                      </a:lnTo>
                      <a:lnTo>
                        <a:pt x="135" y="31"/>
                      </a:lnTo>
                      <a:lnTo>
                        <a:pt x="186" y="0"/>
                      </a:lnTo>
                      <a:lnTo>
                        <a:pt x="224" y="97"/>
                      </a:lnTo>
                      <a:lnTo>
                        <a:pt x="335" y="181"/>
                      </a:lnTo>
                      <a:lnTo>
                        <a:pt x="296" y="231"/>
                      </a:lnTo>
                      <a:lnTo>
                        <a:pt x="331" y="243"/>
                      </a:lnTo>
                      <a:lnTo>
                        <a:pt x="372" y="303"/>
                      </a:lnTo>
                      <a:lnTo>
                        <a:pt x="504" y="337"/>
                      </a:lnTo>
                      <a:lnTo>
                        <a:pt x="403" y="437"/>
                      </a:lnTo>
                      <a:lnTo>
                        <a:pt x="298" y="474"/>
                      </a:lnTo>
                      <a:lnTo>
                        <a:pt x="202" y="489"/>
                      </a:lnTo>
                      <a:lnTo>
                        <a:pt x="96" y="452"/>
                      </a:lnTo>
                      <a:lnTo>
                        <a:pt x="59" y="382"/>
                      </a:lnTo>
                      <a:lnTo>
                        <a:pt x="0" y="34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9" name="16408383.125525.62532.255">
                  <a:extLst>
                    <a:ext uri="{FF2B5EF4-FFF2-40B4-BE49-F238E27FC236}">
                      <a16:creationId xmlns:a16="http://schemas.microsoft.com/office/drawing/2014/main" id="{9356BE3B-5C9C-2E69-9705-100F8C19F1CC}"/>
                    </a:ext>
                  </a:extLst>
                </p:cNvPr>
                <p:cNvSpPr>
                  <a:spLocks/>
                </p:cNvSpPr>
                <p:nvPr/>
              </p:nvSpPr>
              <p:spPr bwMode="auto">
                <a:xfrm>
                  <a:off x="3488452" y="3818725"/>
                  <a:ext cx="26342" cy="35772"/>
                </a:xfrm>
                <a:custGeom>
                  <a:avLst/>
                  <a:gdLst>
                    <a:gd name="T0" fmla="*/ 0 w 52"/>
                    <a:gd name="T1" fmla="*/ 1 h 62"/>
                    <a:gd name="T2" fmla="*/ 1 w 52"/>
                    <a:gd name="T3" fmla="*/ 1 h 62"/>
                    <a:gd name="T4" fmla="*/ 1 w 52"/>
                    <a:gd name="T5" fmla="*/ 1 h 62"/>
                    <a:gd name="T6" fmla="*/ 1 w 52"/>
                    <a:gd name="T7" fmla="*/ 1 h 62"/>
                    <a:gd name="T8" fmla="*/ 1 w 52"/>
                    <a:gd name="T9" fmla="*/ 1 h 62"/>
                    <a:gd name="T10" fmla="*/ 1 w 52"/>
                    <a:gd name="T11" fmla="*/ 0 h 62"/>
                    <a:gd name="T12" fmla="*/ 0 w 52"/>
                    <a:gd name="T13" fmla="*/ 1 h 62"/>
                    <a:gd name="T14" fmla="*/ 0 60000 65536"/>
                    <a:gd name="T15" fmla="*/ 0 60000 65536"/>
                    <a:gd name="T16" fmla="*/ 0 60000 65536"/>
                    <a:gd name="T17" fmla="*/ 0 60000 65536"/>
                    <a:gd name="T18" fmla="*/ 0 60000 65536"/>
                    <a:gd name="T19" fmla="*/ 0 60000 65536"/>
                    <a:gd name="T20" fmla="*/ 0 60000 65536"/>
                    <a:gd name="T21" fmla="*/ 0 w 52"/>
                    <a:gd name="T22" fmla="*/ 0 h 62"/>
                    <a:gd name="T23" fmla="*/ 52 w 52"/>
                    <a:gd name="T24" fmla="*/ 62 h 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62">
                      <a:moveTo>
                        <a:pt x="0" y="50"/>
                      </a:moveTo>
                      <a:lnTo>
                        <a:pt x="35" y="62"/>
                      </a:lnTo>
                      <a:lnTo>
                        <a:pt x="50" y="43"/>
                      </a:lnTo>
                      <a:lnTo>
                        <a:pt x="24" y="39"/>
                      </a:lnTo>
                      <a:lnTo>
                        <a:pt x="52" y="23"/>
                      </a:lnTo>
                      <a:lnTo>
                        <a:pt x="39" y="0"/>
                      </a:lnTo>
                      <a:lnTo>
                        <a:pt x="0" y="5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0" name="16409400.125479.75107.755">
                  <a:extLst>
                    <a:ext uri="{FF2B5EF4-FFF2-40B4-BE49-F238E27FC236}">
                      <a16:creationId xmlns:a16="http://schemas.microsoft.com/office/drawing/2014/main" id="{4767F83C-067D-689E-82BF-F7F87339B7F5}"/>
                    </a:ext>
                  </a:extLst>
                </p:cNvPr>
                <p:cNvSpPr>
                  <a:spLocks/>
                </p:cNvSpPr>
                <p:nvPr/>
              </p:nvSpPr>
              <p:spPr bwMode="auto">
                <a:xfrm>
                  <a:off x="2928183" y="4020664"/>
                  <a:ext cx="94223" cy="117702"/>
                </a:xfrm>
                <a:custGeom>
                  <a:avLst/>
                  <a:gdLst>
                    <a:gd name="T0" fmla="*/ 0 w 185"/>
                    <a:gd name="T1" fmla="*/ 1 h 203"/>
                    <a:gd name="T2" fmla="*/ 1 w 185"/>
                    <a:gd name="T3" fmla="*/ 1 h 203"/>
                    <a:gd name="T4" fmla="*/ 1 w 185"/>
                    <a:gd name="T5" fmla="*/ 1 h 203"/>
                    <a:gd name="T6" fmla="*/ 1 w 185"/>
                    <a:gd name="T7" fmla="*/ 1 h 203"/>
                    <a:gd name="T8" fmla="*/ 1 w 185"/>
                    <a:gd name="T9" fmla="*/ 1 h 203"/>
                    <a:gd name="T10" fmla="*/ 1 w 185"/>
                    <a:gd name="T11" fmla="*/ 0 h 203"/>
                    <a:gd name="T12" fmla="*/ 1 w 185"/>
                    <a:gd name="T13" fmla="*/ 1 h 203"/>
                    <a:gd name="T14" fmla="*/ 1 w 185"/>
                    <a:gd name="T15" fmla="*/ 1 h 203"/>
                    <a:gd name="T16" fmla="*/ 1 w 185"/>
                    <a:gd name="T17" fmla="*/ 1 h 203"/>
                    <a:gd name="T18" fmla="*/ 1 w 185"/>
                    <a:gd name="T19" fmla="*/ 1 h 203"/>
                    <a:gd name="T20" fmla="*/ 1 w 185"/>
                    <a:gd name="T21" fmla="*/ 1 h 203"/>
                    <a:gd name="T22" fmla="*/ 1 w 185"/>
                    <a:gd name="T23" fmla="*/ 1 h 203"/>
                    <a:gd name="T24" fmla="*/ 0 w 185"/>
                    <a:gd name="T25" fmla="*/ 1 h 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5"/>
                    <a:gd name="T40" fmla="*/ 0 h 203"/>
                    <a:gd name="T41" fmla="*/ 185 w 185"/>
                    <a:gd name="T42" fmla="*/ 203 h 2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5" h="203">
                      <a:moveTo>
                        <a:pt x="0" y="96"/>
                      </a:moveTo>
                      <a:lnTo>
                        <a:pt x="20" y="64"/>
                      </a:lnTo>
                      <a:lnTo>
                        <a:pt x="34" y="67"/>
                      </a:lnTo>
                      <a:lnTo>
                        <a:pt x="24" y="41"/>
                      </a:lnTo>
                      <a:lnTo>
                        <a:pt x="85" y="36"/>
                      </a:lnTo>
                      <a:lnTo>
                        <a:pt x="85" y="0"/>
                      </a:lnTo>
                      <a:lnTo>
                        <a:pt x="152" y="1"/>
                      </a:lnTo>
                      <a:lnTo>
                        <a:pt x="149" y="31"/>
                      </a:lnTo>
                      <a:lnTo>
                        <a:pt x="185" y="34"/>
                      </a:lnTo>
                      <a:lnTo>
                        <a:pt x="174" y="148"/>
                      </a:lnTo>
                      <a:lnTo>
                        <a:pt x="130" y="135"/>
                      </a:lnTo>
                      <a:lnTo>
                        <a:pt x="81" y="203"/>
                      </a:lnTo>
                      <a:lnTo>
                        <a:pt x="0" y="9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1" name="16410381.625444.50.87545">
                  <a:extLst>
                    <a:ext uri="{FF2B5EF4-FFF2-40B4-BE49-F238E27FC236}">
                      <a16:creationId xmlns:a16="http://schemas.microsoft.com/office/drawing/2014/main" id="{9E297006-84B2-828D-CA55-2737FE5F25D6}"/>
                    </a:ext>
                  </a:extLst>
                </p:cNvPr>
                <p:cNvSpPr>
                  <a:spLocks/>
                </p:cNvSpPr>
                <p:nvPr/>
              </p:nvSpPr>
              <p:spPr bwMode="auto">
                <a:xfrm>
                  <a:off x="2498609" y="3800261"/>
                  <a:ext cx="49644" cy="11540"/>
                </a:xfrm>
                <a:custGeom>
                  <a:avLst/>
                  <a:gdLst>
                    <a:gd name="T0" fmla="*/ 0 w 99"/>
                    <a:gd name="T1" fmla="*/ 1 h 20"/>
                    <a:gd name="T2" fmla="*/ 0 w 99"/>
                    <a:gd name="T3" fmla="*/ 0 h 20"/>
                    <a:gd name="T4" fmla="*/ 0 w 99"/>
                    <a:gd name="T5" fmla="*/ 1 h 20"/>
                    <a:gd name="T6" fmla="*/ 0 w 99"/>
                    <a:gd name="T7" fmla="*/ 1 h 20"/>
                    <a:gd name="T8" fmla="*/ 0 60000 65536"/>
                    <a:gd name="T9" fmla="*/ 0 60000 65536"/>
                    <a:gd name="T10" fmla="*/ 0 60000 65536"/>
                    <a:gd name="T11" fmla="*/ 0 60000 65536"/>
                    <a:gd name="T12" fmla="*/ 0 w 99"/>
                    <a:gd name="T13" fmla="*/ 0 h 20"/>
                    <a:gd name="T14" fmla="*/ 99 w 99"/>
                    <a:gd name="T15" fmla="*/ 20 h 20"/>
                  </a:gdLst>
                  <a:ahLst/>
                  <a:cxnLst>
                    <a:cxn ang="T8">
                      <a:pos x="T0" y="T1"/>
                    </a:cxn>
                    <a:cxn ang="T9">
                      <a:pos x="T2" y="T3"/>
                    </a:cxn>
                    <a:cxn ang="T10">
                      <a:pos x="T4" y="T5"/>
                    </a:cxn>
                    <a:cxn ang="T11">
                      <a:pos x="T6" y="T7"/>
                    </a:cxn>
                  </a:cxnLst>
                  <a:rect l="T12" t="T13" r="T14" b="T15"/>
                  <a:pathLst>
                    <a:path w="99" h="20">
                      <a:moveTo>
                        <a:pt x="0" y="20"/>
                      </a:moveTo>
                      <a:lnTo>
                        <a:pt x="4" y="0"/>
                      </a:lnTo>
                      <a:lnTo>
                        <a:pt x="99" y="7"/>
                      </a:lnTo>
                      <a:lnTo>
                        <a:pt x="0" y="2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2" name="16411385.5463.37510.62565">
                  <a:extLst>
                    <a:ext uri="{FF2B5EF4-FFF2-40B4-BE49-F238E27FC236}">
                      <a16:creationId xmlns:a16="http://schemas.microsoft.com/office/drawing/2014/main" id="{D7C27098-7AC9-8198-26CE-665D434991E5}"/>
                    </a:ext>
                  </a:extLst>
                </p:cNvPr>
                <p:cNvSpPr>
                  <a:spLocks/>
                </p:cNvSpPr>
                <p:nvPr/>
              </p:nvSpPr>
              <p:spPr bwMode="auto">
                <a:xfrm>
                  <a:off x="2729606" y="3847573"/>
                  <a:ext cx="71933" cy="124626"/>
                </a:xfrm>
                <a:custGeom>
                  <a:avLst/>
                  <a:gdLst>
                    <a:gd name="T0" fmla="*/ 0 w 142"/>
                    <a:gd name="T1" fmla="*/ 1 h 216"/>
                    <a:gd name="T2" fmla="*/ 1 w 142"/>
                    <a:gd name="T3" fmla="*/ 1 h 216"/>
                    <a:gd name="T4" fmla="*/ 1 w 142"/>
                    <a:gd name="T5" fmla="*/ 1 h 216"/>
                    <a:gd name="T6" fmla="*/ 1 w 142"/>
                    <a:gd name="T7" fmla="*/ 0 h 216"/>
                    <a:gd name="T8" fmla="*/ 1 w 142"/>
                    <a:gd name="T9" fmla="*/ 1 h 216"/>
                    <a:gd name="T10" fmla="*/ 1 w 142"/>
                    <a:gd name="T11" fmla="*/ 1 h 216"/>
                    <a:gd name="T12" fmla="*/ 0 w 142"/>
                    <a:gd name="T13" fmla="*/ 1 h 216"/>
                    <a:gd name="T14" fmla="*/ 0 60000 65536"/>
                    <a:gd name="T15" fmla="*/ 0 60000 65536"/>
                    <a:gd name="T16" fmla="*/ 0 60000 65536"/>
                    <a:gd name="T17" fmla="*/ 0 60000 65536"/>
                    <a:gd name="T18" fmla="*/ 0 60000 65536"/>
                    <a:gd name="T19" fmla="*/ 0 60000 65536"/>
                    <a:gd name="T20" fmla="*/ 0 60000 65536"/>
                    <a:gd name="T21" fmla="*/ 0 w 142"/>
                    <a:gd name="T22" fmla="*/ 0 h 216"/>
                    <a:gd name="T23" fmla="*/ 142 w 142"/>
                    <a:gd name="T24" fmla="*/ 216 h 2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 h="216">
                      <a:moveTo>
                        <a:pt x="0" y="204"/>
                      </a:moveTo>
                      <a:lnTo>
                        <a:pt x="13" y="55"/>
                      </a:lnTo>
                      <a:lnTo>
                        <a:pt x="6" y="8"/>
                      </a:lnTo>
                      <a:lnTo>
                        <a:pt x="96" y="0"/>
                      </a:lnTo>
                      <a:lnTo>
                        <a:pt x="142" y="171"/>
                      </a:lnTo>
                      <a:lnTo>
                        <a:pt x="37" y="216"/>
                      </a:lnTo>
                      <a:lnTo>
                        <a:pt x="0" y="20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3" name="16412383.125446.8758.62510.1255">
                  <a:extLst>
                    <a:ext uri="{FF2B5EF4-FFF2-40B4-BE49-F238E27FC236}">
                      <a16:creationId xmlns:a16="http://schemas.microsoft.com/office/drawing/2014/main" id="{1F476FE8-7F21-9F68-F24C-360B9F1C623B}"/>
                    </a:ext>
                  </a:extLst>
                </p:cNvPr>
                <p:cNvSpPr>
                  <a:spLocks/>
                </p:cNvSpPr>
                <p:nvPr/>
              </p:nvSpPr>
              <p:spPr bwMode="auto">
                <a:xfrm>
                  <a:off x="2527991" y="3818725"/>
                  <a:ext cx="123603" cy="102701"/>
                </a:xfrm>
                <a:custGeom>
                  <a:avLst/>
                  <a:gdLst>
                    <a:gd name="T0" fmla="*/ 0 w 245"/>
                    <a:gd name="T1" fmla="*/ 0 h 179"/>
                    <a:gd name="T2" fmla="*/ 0 w 245"/>
                    <a:gd name="T3" fmla="*/ 0 h 179"/>
                    <a:gd name="T4" fmla="*/ 0 w 245"/>
                    <a:gd name="T5" fmla="*/ 0 h 179"/>
                    <a:gd name="T6" fmla="*/ 0 w 245"/>
                    <a:gd name="T7" fmla="*/ 0 h 179"/>
                    <a:gd name="T8" fmla="*/ 0 w 245"/>
                    <a:gd name="T9" fmla="*/ 0 h 179"/>
                    <a:gd name="T10" fmla="*/ 0 w 245"/>
                    <a:gd name="T11" fmla="*/ 0 h 179"/>
                    <a:gd name="T12" fmla="*/ 0 w 245"/>
                    <a:gd name="T13" fmla="*/ 0 h 179"/>
                    <a:gd name="T14" fmla="*/ 0 w 245"/>
                    <a:gd name="T15" fmla="*/ 0 h 179"/>
                    <a:gd name="T16" fmla="*/ 0 w 245"/>
                    <a:gd name="T17" fmla="*/ 0 h 179"/>
                    <a:gd name="T18" fmla="*/ 0 w 245"/>
                    <a:gd name="T19" fmla="*/ 0 h 179"/>
                    <a:gd name="T20" fmla="*/ 0 w 245"/>
                    <a:gd name="T21" fmla="*/ 0 h 179"/>
                    <a:gd name="T22" fmla="*/ 0 w 245"/>
                    <a:gd name="T23" fmla="*/ 0 h 179"/>
                    <a:gd name="T24" fmla="*/ 0 w 245"/>
                    <a:gd name="T25" fmla="*/ 0 h 179"/>
                    <a:gd name="T26" fmla="*/ 0 w 245"/>
                    <a:gd name="T27" fmla="*/ 0 h 179"/>
                    <a:gd name="T28" fmla="*/ 0 w 245"/>
                    <a:gd name="T29" fmla="*/ 0 h 179"/>
                    <a:gd name="T30" fmla="*/ 0 w 245"/>
                    <a:gd name="T31" fmla="*/ 0 h 17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5"/>
                    <a:gd name="T49" fmla="*/ 0 h 179"/>
                    <a:gd name="T50" fmla="*/ 245 w 245"/>
                    <a:gd name="T51" fmla="*/ 179 h 17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5" h="179">
                      <a:moveTo>
                        <a:pt x="0" y="59"/>
                      </a:moveTo>
                      <a:lnTo>
                        <a:pt x="41" y="33"/>
                      </a:lnTo>
                      <a:lnTo>
                        <a:pt x="43" y="0"/>
                      </a:lnTo>
                      <a:lnTo>
                        <a:pt x="122" y="7"/>
                      </a:lnTo>
                      <a:lnTo>
                        <a:pt x="144" y="23"/>
                      </a:lnTo>
                      <a:lnTo>
                        <a:pt x="201" y="4"/>
                      </a:lnTo>
                      <a:lnTo>
                        <a:pt x="235" y="84"/>
                      </a:lnTo>
                      <a:lnTo>
                        <a:pt x="245" y="144"/>
                      </a:lnTo>
                      <a:lnTo>
                        <a:pt x="224" y="140"/>
                      </a:lnTo>
                      <a:lnTo>
                        <a:pt x="219" y="173"/>
                      </a:lnTo>
                      <a:lnTo>
                        <a:pt x="183" y="179"/>
                      </a:lnTo>
                      <a:lnTo>
                        <a:pt x="181" y="144"/>
                      </a:lnTo>
                      <a:lnTo>
                        <a:pt x="161" y="143"/>
                      </a:lnTo>
                      <a:lnTo>
                        <a:pt x="128" y="92"/>
                      </a:lnTo>
                      <a:lnTo>
                        <a:pt x="58" y="121"/>
                      </a:lnTo>
                      <a:lnTo>
                        <a:pt x="0" y="5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4" name="16413355.25529.750.752.55">
                  <a:extLst>
                    <a:ext uri="{FF2B5EF4-FFF2-40B4-BE49-F238E27FC236}">
                      <a16:creationId xmlns:a16="http://schemas.microsoft.com/office/drawing/2014/main" id="{13020A29-40BD-DA5D-B65F-A8CE36FACBC8}"/>
                    </a:ext>
                  </a:extLst>
                </p:cNvPr>
                <p:cNvSpPr>
                  <a:spLocks/>
                </p:cNvSpPr>
                <p:nvPr/>
              </p:nvSpPr>
              <p:spPr bwMode="auto">
                <a:xfrm>
                  <a:off x="3538097" y="3487545"/>
                  <a:ext cx="30394" cy="9232"/>
                </a:xfrm>
                <a:custGeom>
                  <a:avLst/>
                  <a:gdLst>
                    <a:gd name="T0" fmla="*/ 0 w 61"/>
                    <a:gd name="T1" fmla="*/ 0 h 17"/>
                    <a:gd name="T2" fmla="*/ 0 w 61"/>
                    <a:gd name="T3" fmla="*/ 0 h 17"/>
                    <a:gd name="T4" fmla="*/ 0 w 61"/>
                    <a:gd name="T5" fmla="*/ 0 h 17"/>
                    <a:gd name="T6" fmla="*/ 0 w 61"/>
                    <a:gd name="T7" fmla="*/ 0 h 17"/>
                    <a:gd name="T8" fmla="*/ 0 60000 65536"/>
                    <a:gd name="T9" fmla="*/ 0 60000 65536"/>
                    <a:gd name="T10" fmla="*/ 0 60000 65536"/>
                    <a:gd name="T11" fmla="*/ 0 60000 65536"/>
                    <a:gd name="T12" fmla="*/ 0 w 61"/>
                    <a:gd name="T13" fmla="*/ 0 h 17"/>
                    <a:gd name="T14" fmla="*/ 61 w 61"/>
                    <a:gd name="T15" fmla="*/ 17 h 17"/>
                  </a:gdLst>
                  <a:ahLst/>
                  <a:cxnLst>
                    <a:cxn ang="T8">
                      <a:pos x="T0" y="T1"/>
                    </a:cxn>
                    <a:cxn ang="T9">
                      <a:pos x="T2" y="T3"/>
                    </a:cxn>
                    <a:cxn ang="T10">
                      <a:pos x="T4" y="T5"/>
                    </a:cxn>
                    <a:cxn ang="T11">
                      <a:pos x="T6" y="T7"/>
                    </a:cxn>
                  </a:cxnLst>
                  <a:rect l="T12" t="T13" r="T14" b="T15"/>
                  <a:pathLst>
                    <a:path w="61" h="17">
                      <a:moveTo>
                        <a:pt x="0" y="0"/>
                      </a:moveTo>
                      <a:lnTo>
                        <a:pt x="32" y="17"/>
                      </a:lnTo>
                      <a:lnTo>
                        <a:pt x="61" y="5"/>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5" name="16414348.125514.756.8752.255">
                  <a:extLst>
                    <a:ext uri="{FF2B5EF4-FFF2-40B4-BE49-F238E27FC236}">
                      <a16:creationId xmlns:a16="http://schemas.microsoft.com/office/drawing/2014/main" id="{990A5988-BADC-689B-D50B-312530DDB253}"/>
                    </a:ext>
                  </a:extLst>
                </p:cNvPr>
                <p:cNvSpPr>
                  <a:spLocks/>
                </p:cNvSpPr>
                <p:nvPr/>
              </p:nvSpPr>
              <p:spPr bwMode="auto">
                <a:xfrm>
                  <a:off x="3355730" y="3403307"/>
                  <a:ext cx="26342" cy="81930"/>
                </a:xfrm>
                <a:custGeom>
                  <a:avLst/>
                  <a:gdLst>
                    <a:gd name="T0" fmla="*/ 0 w 53"/>
                    <a:gd name="T1" fmla="*/ 1 h 141"/>
                    <a:gd name="T2" fmla="*/ 0 w 53"/>
                    <a:gd name="T3" fmla="*/ 1 h 141"/>
                    <a:gd name="T4" fmla="*/ 0 w 53"/>
                    <a:gd name="T5" fmla="*/ 1 h 141"/>
                    <a:gd name="T6" fmla="*/ 0 w 53"/>
                    <a:gd name="T7" fmla="*/ 1 h 141"/>
                    <a:gd name="T8" fmla="*/ 0 w 53"/>
                    <a:gd name="T9" fmla="*/ 1 h 141"/>
                    <a:gd name="T10" fmla="*/ 0 w 53"/>
                    <a:gd name="T11" fmla="*/ 1 h 141"/>
                    <a:gd name="T12" fmla="*/ 0 w 53"/>
                    <a:gd name="T13" fmla="*/ 1 h 141"/>
                    <a:gd name="T14" fmla="*/ 0 w 53"/>
                    <a:gd name="T15" fmla="*/ 0 h 141"/>
                    <a:gd name="T16" fmla="*/ 0 w 53"/>
                    <a:gd name="T17" fmla="*/ 1 h 141"/>
                    <a:gd name="T18" fmla="*/ 0 w 53"/>
                    <a:gd name="T19" fmla="*/ 1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3"/>
                    <a:gd name="T31" fmla="*/ 0 h 141"/>
                    <a:gd name="T32" fmla="*/ 53 w 53"/>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3" h="141">
                      <a:moveTo>
                        <a:pt x="0" y="70"/>
                      </a:moveTo>
                      <a:lnTo>
                        <a:pt x="28" y="141"/>
                      </a:lnTo>
                      <a:lnTo>
                        <a:pt x="32" y="139"/>
                      </a:lnTo>
                      <a:lnTo>
                        <a:pt x="47" y="63"/>
                      </a:lnTo>
                      <a:lnTo>
                        <a:pt x="27" y="68"/>
                      </a:lnTo>
                      <a:lnTo>
                        <a:pt x="32" y="35"/>
                      </a:lnTo>
                      <a:lnTo>
                        <a:pt x="49" y="19"/>
                      </a:lnTo>
                      <a:lnTo>
                        <a:pt x="53" y="0"/>
                      </a:lnTo>
                      <a:lnTo>
                        <a:pt x="35" y="2"/>
                      </a:lnTo>
                      <a:lnTo>
                        <a:pt x="0" y="7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6" name="16415386.375455.7510.1258.255">
                  <a:extLst>
                    <a:ext uri="{FF2B5EF4-FFF2-40B4-BE49-F238E27FC236}">
                      <a16:creationId xmlns:a16="http://schemas.microsoft.com/office/drawing/2014/main" id="{49B69BD7-BE9A-4D2D-561B-ACDD87E456EA}"/>
                    </a:ext>
                  </a:extLst>
                </p:cNvPr>
                <p:cNvSpPr>
                  <a:spLocks/>
                </p:cNvSpPr>
                <p:nvPr/>
              </p:nvSpPr>
              <p:spPr bwMode="auto">
                <a:xfrm>
                  <a:off x="2636396" y="3856804"/>
                  <a:ext cx="100302" cy="121163"/>
                </a:xfrm>
                <a:custGeom>
                  <a:avLst/>
                  <a:gdLst>
                    <a:gd name="T0" fmla="*/ 0 w 196"/>
                    <a:gd name="T1" fmla="*/ 0 h 211"/>
                    <a:gd name="T2" fmla="*/ 1 w 196"/>
                    <a:gd name="T3" fmla="*/ 0 h 211"/>
                    <a:gd name="T4" fmla="*/ 1 w 196"/>
                    <a:gd name="T5" fmla="*/ 0 h 211"/>
                    <a:gd name="T6" fmla="*/ 1 w 196"/>
                    <a:gd name="T7" fmla="*/ 0 h 211"/>
                    <a:gd name="T8" fmla="*/ 1 w 196"/>
                    <a:gd name="T9" fmla="*/ 0 h 211"/>
                    <a:gd name="T10" fmla="*/ 1 w 196"/>
                    <a:gd name="T11" fmla="*/ 0 h 211"/>
                    <a:gd name="T12" fmla="*/ 1 w 196"/>
                    <a:gd name="T13" fmla="*/ 0 h 211"/>
                    <a:gd name="T14" fmla="*/ 1 w 196"/>
                    <a:gd name="T15" fmla="*/ 0 h 211"/>
                    <a:gd name="T16" fmla="*/ 1 w 196"/>
                    <a:gd name="T17" fmla="*/ 0 h 211"/>
                    <a:gd name="T18" fmla="*/ 1 w 196"/>
                    <a:gd name="T19" fmla="*/ 0 h 211"/>
                    <a:gd name="T20" fmla="*/ 1 w 196"/>
                    <a:gd name="T21" fmla="*/ 0 h 211"/>
                    <a:gd name="T22" fmla="*/ 1 w 196"/>
                    <a:gd name="T23" fmla="*/ 0 h 211"/>
                    <a:gd name="T24" fmla="*/ 0 w 196"/>
                    <a:gd name="T25" fmla="*/ 0 h 2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6"/>
                    <a:gd name="T40" fmla="*/ 0 h 211"/>
                    <a:gd name="T41" fmla="*/ 196 w 196"/>
                    <a:gd name="T42" fmla="*/ 211 h 2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6" h="211">
                      <a:moveTo>
                        <a:pt x="0" y="139"/>
                      </a:moveTo>
                      <a:lnTo>
                        <a:pt x="3" y="107"/>
                      </a:lnTo>
                      <a:lnTo>
                        <a:pt x="8" y="74"/>
                      </a:lnTo>
                      <a:lnTo>
                        <a:pt x="29" y="78"/>
                      </a:lnTo>
                      <a:lnTo>
                        <a:pt x="19" y="18"/>
                      </a:lnTo>
                      <a:lnTo>
                        <a:pt x="77" y="0"/>
                      </a:lnTo>
                      <a:lnTo>
                        <a:pt x="111" y="12"/>
                      </a:lnTo>
                      <a:lnTo>
                        <a:pt x="129" y="33"/>
                      </a:lnTo>
                      <a:lnTo>
                        <a:pt x="196" y="40"/>
                      </a:lnTo>
                      <a:lnTo>
                        <a:pt x="183" y="189"/>
                      </a:lnTo>
                      <a:lnTo>
                        <a:pt x="31" y="211"/>
                      </a:lnTo>
                      <a:lnTo>
                        <a:pt x="36" y="162"/>
                      </a:lnTo>
                      <a:lnTo>
                        <a:pt x="0" y="13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7" name="16416347.875515.8757.56.1255">
                  <a:extLst>
                    <a:ext uri="{FF2B5EF4-FFF2-40B4-BE49-F238E27FC236}">
                      <a16:creationId xmlns:a16="http://schemas.microsoft.com/office/drawing/2014/main" id="{51D30135-6823-CA15-B25B-711FA4279B40}"/>
                    </a:ext>
                  </a:extLst>
                </p:cNvPr>
                <p:cNvSpPr>
                  <a:spLocks/>
                </p:cNvSpPr>
                <p:nvPr/>
              </p:nvSpPr>
              <p:spPr bwMode="auto">
                <a:xfrm>
                  <a:off x="3368901" y="3401000"/>
                  <a:ext cx="73960" cy="88853"/>
                </a:xfrm>
                <a:custGeom>
                  <a:avLst/>
                  <a:gdLst>
                    <a:gd name="T0" fmla="*/ 0 w 145"/>
                    <a:gd name="T1" fmla="*/ 0 h 156"/>
                    <a:gd name="T2" fmla="*/ 1 w 145"/>
                    <a:gd name="T3" fmla="*/ 0 h 156"/>
                    <a:gd name="T4" fmla="*/ 1 w 145"/>
                    <a:gd name="T5" fmla="*/ 0 h 156"/>
                    <a:gd name="T6" fmla="*/ 1 w 145"/>
                    <a:gd name="T7" fmla="*/ 0 h 156"/>
                    <a:gd name="T8" fmla="*/ 1 w 145"/>
                    <a:gd name="T9" fmla="*/ 0 h 156"/>
                    <a:gd name="T10" fmla="*/ 1 w 145"/>
                    <a:gd name="T11" fmla="*/ 0 h 156"/>
                    <a:gd name="T12" fmla="*/ 1 w 145"/>
                    <a:gd name="T13" fmla="*/ 0 h 156"/>
                    <a:gd name="T14" fmla="*/ 1 w 145"/>
                    <a:gd name="T15" fmla="*/ 0 h 156"/>
                    <a:gd name="T16" fmla="*/ 1 w 145"/>
                    <a:gd name="T17" fmla="*/ 0 h 156"/>
                    <a:gd name="T18" fmla="*/ 1 w 145"/>
                    <a:gd name="T19" fmla="*/ 0 h 156"/>
                    <a:gd name="T20" fmla="*/ 1 w 145"/>
                    <a:gd name="T21" fmla="*/ 0 h 156"/>
                    <a:gd name="T22" fmla="*/ 1 w 145"/>
                    <a:gd name="T23" fmla="*/ 0 h 156"/>
                    <a:gd name="T24" fmla="*/ 0 w 145"/>
                    <a:gd name="T25" fmla="*/ 0 h 15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
                    <a:gd name="T40" fmla="*/ 0 h 156"/>
                    <a:gd name="T41" fmla="*/ 145 w 145"/>
                    <a:gd name="T42" fmla="*/ 156 h 15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 h="156">
                      <a:moveTo>
                        <a:pt x="0" y="74"/>
                      </a:moveTo>
                      <a:lnTo>
                        <a:pt x="5" y="41"/>
                      </a:lnTo>
                      <a:lnTo>
                        <a:pt x="22" y="25"/>
                      </a:lnTo>
                      <a:lnTo>
                        <a:pt x="57" y="39"/>
                      </a:lnTo>
                      <a:lnTo>
                        <a:pt x="129" y="0"/>
                      </a:lnTo>
                      <a:lnTo>
                        <a:pt x="145" y="43"/>
                      </a:lnTo>
                      <a:lnTo>
                        <a:pt x="70" y="68"/>
                      </a:lnTo>
                      <a:lnTo>
                        <a:pt x="107" y="102"/>
                      </a:lnTo>
                      <a:lnTo>
                        <a:pt x="87" y="124"/>
                      </a:lnTo>
                      <a:lnTo>
                        <a:pt x="42" y="156"/>
                      </a:lnTo>
                      <a:lnTo>
                        <a:pt x="5" y="145"/>
                      </a:lnTo>
                      <a:lnTo>
                        <a:pt x="20" y="69"/>
                      </a:lnTo>
                      <a:lnTo>
                        <a:pt x="0" y="7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8" name="16417396.375514.7514.875115">
                  <a:extLst>
                    <a:ext uri="{FF2B5EF4-FFF2-40B4-BE49-F238E27FC236}">
                      <a16:creationId xmlns:a16="http://schemas.microsoft.com/office/drawing/2014/main" id="{05DA967F-6004-D0FE-20B8-73BED46D56DD}"/>
                    </a:ext>
                  </a:extLst>
                </p:cNvPr>
                <p:cNvSpPr>
                  <a:spLocks/>
                </p:cNvSpPr>
                <p:nvPr/>
              </p:nvSpPr>
              <p:spPr bwMode="auto">
                <a:xfrm>
                  <a:off x="3355730" y="3975660"/>
                  <a:ext cx="133736" cy="176553"/>
                </a:xfrm>
                <a:custGeom>
                  <a:avLst/>
                  <a:gdLst>
                    <a:gd name="T0" fmla="*/ 0 w 264"/>
                    <a:gd name="T1" fmla="*/ 0 h 307"/>
                    <a:gd name="T2" fmla="*/ 1 w 264"/>
                    <a:gd name="T3" fmla="*/ 0 h 307"/>
                    <a:gd name="T4" fmla="*/ 0 w 264"/>
                    <a:gd name="T5" fmla="*/ 0 h 307"/>
                    <a:gd name="T6" fmla="*/ 1 w 264"/>
                    <a:gd name="T7" fmla="*/ 0 h 307"/>
                    <a:gd name="T8" fmla="*/ 1 w 264"/>
                    <a:gd name="T9" fmla="*/ 0 h 307"/>
                    <a:gd name="T10" fmla="*/ 1 w 264"/>
                    <a:gd name="T11" fmla="*/ 0 h 307"/>
                    <a:gd name="T12" fmla="*/ 1 w 264"/>
                    <a:gd name="T13" fmla="*/ 0 h 307"/>
                    <a:gd name="T14" fmla="*/ 1 w 264"/>
                    <a:gd name="T15" fmla="*/ 0 h 307"/>
                    <a:gd name="T16" fmla="*/ 1 w 264"/>
                    <a:gd name="T17" fmla="*/ 0 h 307"/>
                    <a:gd name="T18" fmla="*/ 1 w 264"/>
                    <a:gd name="T19" fmla="*/ 0 h 307"/>
                    <a:gd name="T20" fmla="*/ 1 w 264"/>
                    <a:gd name="T21" fmla="*/ 0 h 307"/>
                    <a:gd name="T22" fmla="*/ 1 w 264"/>
                    <a:gd name="T23" fmla="*/ 0 h 307"/>
                    <a:gd name="T24" fmla="*/ 0 w 264"/>
                    <a:gd name="T25" fmla="*/ 0 h 3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4"/>
                    <a:gd name="T40" fmla="*/ 0 h 307"/>
                    <a:gd name="T41" fmla="*/ 264 w 264"/>
                    <a:gd name="T42" fmla="*/ 307 h 3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4" h="307">
                      <a:moveTo>
                        <a:pt x="0" y="19"/>
                      </a:moveTo>
                      <a:lnTo>
                        <a:pt x="36" y="84"/>
                      </a:lnTo>
                      <a:lnTo>
                        <a:pt x="0" y="144"/>
                      </a:lnTo>
                      <a:lnTo>
                        <a:pt x="28" y="161"/>
                      </a:lnTo>
                      <a:lnTo>
                        <a:pt x="9" y="183"/>
                      </a:lnTo>
                      <a:lnTo>
                        <a:pt x="180" y="307"/>
                      </a:lnTo>
                      <a:lnTo>
                        <a:pt x="253" y="208"/>
                      </a:lnTo>
                      <a:lnTo>
                        <a:pt x="237" y="180"/>
                      </a:lnTo>
                      <a:lnTo>
                        <a:pt x="237" y="58"/>
                      </a:lnTo>
                      <a:lnTo>
                        <a:pt x="264" y="22"/>
                      </a:lnTo>
                      <a:lnTo>
                        <a:pt x="168" y="37"/>
                      </a:lnTo>
                      <a:lnTo>
                        <a:pt x="62" y="0"/>
                      </a:lnTo>
                      <a:lnTo>
                        <a:pt x="0" y="1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9" name="16418353.875532.252.52.55">
                  <a:extLst>
                    <a:ext uri="{FF2B5EF4-FFF2-40B4-BE49-F238E27FC236}">
                      <a16:creationId xmlns:a16="http://schemas.microsoft.com/office/drawing/2014/main" id="{E38C840F-E3CC-70E1-AA4D-8D50557D1BE8}"/>
                    </a:ext>
                  </a:extLst>
                </p:cNvPr>
                <p:cNvSpPr>
                  <a:spLocks/>
                </p:cNvSpPr>
                <p:nvPr/>
              </p:nvSpPr>
              <p:spPr bwMode="auto">
                <a:xfrm>
                  <a:off x="3568490" y="3471389"/>
                  <a:ext cx="30394" cy="30002"/>
                </a:xfrm>
                <a:custGeom>
                  <a:avLst/>
                  <a:gdLst>
                    <a:gd name="T0" fmla="*/ 0 w 60"/>
                    <a:gd name="T1" fmla="*/ 1 h 51"/>
                    <a:gd name="T2" fmla="*/ 1 w 60"/>
                    <a:gd name="T3" fmla="*/ 0 h 51"/>
                    <a:gd name="T4" fmla="*/ 1 w 60"/>
                    <a:gd name="T5" fmla="*/ 1 h 51"/>
                    <a:gd name="T6" fmla="*/ 0 w 60"/>
                    <a:gd name="T7" fmla="*/ 1 h 51"/>
                    <a:gd name="T8" fmla="*/ 0 60000 65536"/>
                    <a:gd name="T9" fmla="*/ 0 60000 65536"/>
                    <a:gd name="T10" fmla="*/ 0 60000 65536"/>
                    <a:gd name="T11" fmla="*/ 0 60000 65536"/>
                    <a:gd name="T12" fmla="*/ 0 w 60"/>
                    <a:gd name="T13" fmla="*/ 0 h 51"/>
                    <a:gd name="T14" fmla="*/ 60 w 60"/>
                    <a:gd name="T15" fmla="*/ 51 h 51"/>
                  </a:gdLst>
                  <a:ahLst/>
                  <a:cxnLst>
                    <a:cxn ang="T8">
                      <a:pos x="T0" y="T1"/>
                    </a:cxn>
                    <a:cxn ang="T9">
                      <a:pos x="T2" y="T3"/>
                    </a:cxn>
                    <a:cxn ang="T10">
                      <a:pos x="T4" y="T5"/>
                    </a:cxn>
                    <a:cxn ang="T11">
                      <a:pos x="T6" y="T7"/>
                    </a:cxn>
                  </a:cxnLst>
                  <a:rect l="T12" t="T13" r="T14" b="T15"/>
                  <a:pathLst>
                    <a:path w="60" h="51">
                      <a:moveTo>
                        <a:pt x="0" y="32"/>
                      </a:moveTo>
                      <a:lnTo>
                        <a:pt x="49" y="0"/>
                      </a:lnTo>
                      <a:lnTo>
                        <a:pt x="60" y="51"/>
                      </a:lnTo>
                      <a:lnTo>
                        <a:pt x="0" y="3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0" name="16419345.375516.252.8752.1255">
                  <a:extLst>
                    <a:ext uri="{FF2B5EF4-FFF2-40B4-BE49-F238E27FC236}">
                      <a16:creationId xmlns:a16="http://schemas.microsoft.com/office/drawing/2014/main" id="{F3E6FB68-64A6-60C0-455E-A93A41522976}"/>
                    </a:ext>
                  </a:extLst>
                </p:cNvPr>
                <p:cNvSpPr>
                  <a:spLocks/>
                </p:cNvSpPr>
                <p:nvPr/>
              </p:nvSpPr>
              <p:spPr bwMode="auto">
                <a:xfrm>
                  <a:off x="3372954" y="3370996"/>
                  <a:ext cx="26342" cy="34619"/>
                </a:xfrm>
                <a:custGeom>
                  <a:avLst/>
                  <a:gdLst>
                    <a:gd name="T0" fmla="*/ 0 w 52"/>
                    <a:gd name="T1" fmla="*/ 1 h 59"/>
                    <a:gd name="T2" fmla="*/ 1 w 52"/>
                    <a:gd name="T3" fmla="*/ 1 h 59"/>
                    <a:gd name="T4" fmla="*/ 1 w 52"/>
                    <a:gd name="T5" fmla="*/ 1 h 59"/>
                    <a:gd name="T6" fmla="*/ 1 w 52"/>
                    <a:gd name="T7" fmla="*/ 0 h 59"/>
                    <a:gd name="T8" fmla="*/ 0 w 52"/>
                    <a:gd name="T9" fmla="*/ 1 h 59"/>
                    <a:gd name="T10" fmla="*/ 0 60000 65536"/>
                    <a:gd name="T11" fmla="*/ 0 60000 65536"/>
                    <a:gd name="T12" fmla="*/ 0 60000 65536"/>
                    <a:gd name="T13" fmla="*/ 0 60000 65536"/>
                    <a:gd name="T14" fmla="*/ 0 60000 65536"/>
                    <a:gd name="T15" fmla="*/ 0 w 52"/>
                    <a:gd name="T16" fmla="*/ 0 h 59"/>
                    <a:gd name="T17" fmla="*/ 52 w 52"/>
                    <a:gd name="T18" fmla="*/ 59 h 59"/>
                  </a:gdLst>
                  <a:ahLst/>
                  <a:cxnLst>
                    <a:cxn ang="T10">
                      <a:pos x="T0" y="T1"/>
                    </a:cxn>
                    <a:cxn ang="T11">
                      <a:pos x="T2" y="T3"/>
                    </a:cxn>
                    <a:cxn ang="T12">
                      <a:pos x="T4" y="T5"/>
                    </a:cxn>
                    <a:cxn ang="T13">
                      <a:pos x="T6" y="T7"/>
                    </a:cxn>
                    <a:cxn ang="T14">
                      <a:pos x="T8" y="T9"/>
                    </a:cxn>
                  </a:cxnLst>
                  <a:rect l="T15" t="T16" r="T17" b="T18"/>
                  <a:pathLst>
                    <a:path w="52" h="59">
                      <a:moveTo>
                        <a:pt x="0" y="59"/>
                      </a:moveTo>
                      <a:lnTo>
                        <a:pt x="18" y="57"/>
                      </a:lnTo>
                      <a:lnTo>
                        <a:pt x="52" y="18"/>
                      </a:lnTo>
                      <a:lnTo>
                        <a:pt x="33" y="0"/>
                      </a:lnTo>
                      <a:lnTo>
                        <a:pt x="0" y="5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1" name="16420390.125451.756.3755.55">
                  <a:extLst>
                    <a:ext uri="{FF2B5EF4-FFF2-40B4-BE49-F238E27FC236}">
                      <a16:creationId xmlns:a16="http://schemas.microsoft.com/office/drawing/2014/main" id="{D9B63142-B2E0-65BD-33C0-14B2BBBA6062}"/>
                    </a:ext>
                  </a:extLst>
                </p:cNvPr>
                <p:cNvSpPr>
                  <a:spLocks/>
                </p:cNvSpPr>
                <p:nvPr/>
              </p:nvSpPr>
              <p:spPr bwMode="auto">
                <a:xfrm>
                  <a:off x="2587765" y="3901809"/>
                  <a:ext cx="66868" cy="76160"/>
                </a:xfrm>
                <a:custGeom>
                  <a:avLst/>
                  <a:gdLst>
                    <a:gd name="T0" fmla="*/ 0 w 132"/>
                    <a:gd name="T1" fmla="*/ 0 h 134"/>
                    <a:gd name="T2" fmla="*/ 1 w 132"/>
                    <a:gd name="T3" fmla="*/ 0 h 134"/>
                    <a:gd name="T4" fmla="*/ 1 w 132"/>
                    <a:gd name="T5" fmla="*/ 0 h 134"/>
                    <a:gd name="T6" fmla="*/ 1 w 132"/>
                    <a:gd name="T7" fmla="*/ 0 h 134"/>
                    <a:gd name="T8" fmla="*/ 1 w 132"/>
                    <a:gd name="T9" fmla="*/ 0 h 134"/>
                    <a:gd name="T10" fmla="*/ 1 w 132"/>
                    <a:gd name="T11" fmla="*/ 0 h 134"/>
                    <a:gd name="T12" fmla="*/ 1 w 132"/>
                    <a:gd name="T13" fmla="*/ 0 h 134"/>
                    <a:gd name="T14" fmla="*/ 1 w 132"/>
                    <a:gd name="T15" fmla="*/ 0 h 134"/>
                    <a:gd name="T16" fmla="*/ 0 w 132"/>
                    <a:gd name="T17" fmla="*/ 0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2"/>
                    <a:gd name="T28" fmla="*/ 0 h 134"/>
                    <a:gd name="T29" fmla="*/ 132 w 132"/>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2" h="134">
                      <a:moveTo>
                        <a:pt x="0" y="50"/>
                      </a:moveTo>
                      <a:lnTo>
                        <a:pt x="41" y="0"/>
                      </a:lnTo>
                      <a:lnTo>
                        <a:pt x="61" y="1"/>
                      </a:lnTo>
                      <a:lnTo>
                        <a:pt x="63" y="36"/>
                      </a:lnTo>
                      <a:lnTo>
                        <a:pt x="99" y="30"/>
                      </a:lnTo>
                      <a:lnTo>
                        <a:pt x="96" y="62"/>
                      </a:lnTo>
                      <a:lnTo>
                        <a:pt x="132" y="85"/>
                      </a:lnTo>
                      <a:lnTo>
                        <a:pt x="127" y="134"/>
                      </a:lnTo>
                      <a:lnTo>
                        <a:pt x="0" y="5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2" name="16421348.25480.62523.62521.755">
                  <a:extLst>
                    <a:ext uri="{FF2B5EF4-FFF2-40B4-BE49-F238E27FC236}">
                      <a16:creationId xmlns:a16="http://schemas.microsoft.com/office/drawing/2014/main" id="{779266D8-6207-1171-E403-42148F20A07F}"/>
                    </a:ext>
                  </a:extLst>
                </p:cNvPr>
                <p:cNvSpPr>
                  <a:spLocks/>
                </p:cNvSpPr>
                <p:nvPr/>
              </p:nvSpPr>
              <p:spPr bwMode="auto">
                <a:xfrm>
                  <a:off x="2939328" y="3405615"/>
                  <a:ext cx="264431" cy="279253"/>
                </a:xfrm>
                <a:custGeom>
                  <a:avLst/>
                  <a:gdLst>
                    <a:gd name="T0" fmla="*/ 0 w 522"/>
                    <a:gd name="T1" fmla="*/ 0 h 486"/>
                    <a:gd name="T2" fmla="*/ 1 w 522"/>
                    <a:gd name="T3" fmla="*/ 0 h 486"/>
                    <a:gd name="T4" fmla="*/ 1 w 522"/>
                    <a:gd name="T5" fmla="*/ 0 h 486"/>
                    <a:gd name="T6" fmla="*/ 1 w 522"/>
                    <a:gd name="T7" fmla="*/ 0 h 486"/>
                    <a:gd name="T8" fmla="*/ 1 w 522"/>
                    <a:gd name="T9" fmla="*/ 0 h 486"/>
                    <a:gd name="T10" fmla="*/ 1 w 522"/>
                    <a:gd name="T11" fmla="*/ 0 h 486"/>
                    <a:gd name="T12" fmla="*/ 1 w 522"/>
                    <a:gd name="T13" fmla="*/ 0 h 486"/>
                    <a:gd name="T14" fmla="*/ 1 w 522"/>
                    <a:gd name="T15" fmla="*/ 0 h 486"/>
                    <a:gd name="T16" fmla="*/ 1 w 522"/>
                    <a:gd name="T17" fmla="*/ 0 h 486"/>
                    <a:gd name="T18" fmla="*/ 1 w 522"/>
                    <a:gd name="T19" fmla="*/ 0 h 486"/>
                    <a:gd name="T20" fmla="*/ 1 w 522"/>
                    <a:gd name="T21" fmla="*/ 0 h 486"/>
                    <a:gd name="T22" fmla="*/ 1 w 522"/>
                    <a:gd name="T23" fmla="*/ 0 h 486"/>
                    <a:gd name="T24" fmla="*/ 1 w 522"/>
                    <a:gd name="T25" fmla="*/ 0 h 486"/>
                    <a:gd name="T26" fmla="*/ 1 w 522"/>
                    <a:gd name="T27" fmla="*/ 0 h 486"/>
                    <a:gd name="T28" fmla="*/ 1 w 522"/>
                    <a:gd name="T29" fmla="*/ 0 h 486"/>
                    <a:gd name="T30" fmla="*/ 1 w 522"/>
                    <a:gd name="T31" fmla="*/ 0 h 486"/>
                    <a:gd name="T32" fmla="*/ 1 w 522"/>
                    <a:gd name="T33" fmla="*/ 0 h 486"/>
                    <a:gd name="T34" fmla="*/ 1 w 522"/>
                    <a:gd name="T35" fmla="*/ 0 h 486"/>
                    <a:gd name="T36" fmla="*/ 0 w 522"/>
                    <a:gd name="T37" fmla="*/ 0 h 48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22"/>
                    <a:gd name="T58" fmla="*/ 0 h 486"/>
                    <a:gd name="T59" fmla="*/ 522 w 522"/>
                    <a:gd name="T60" fmla="*/ 486 h 48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22" h="486">
                      <a:moveTo>
                        <a:pt x="0" y="254"/>
                      </a:moveTo>
                      <a:lnTo>
                        <a:pt x="2" y="105"/>
                      </a:lnTo>
                      <a:lnTo>
                        <a:pt x="68" y="0"/>
                      </a:lnTo>
                      <a:lnTo>
                        <a:pt x="191" y="31"/>
                      </a:lnTo>
                      <a:lnTo>
                        <a:pt x="215" y="66"/>
                      </a:lnTo>
                      <a:lnTo>
                        <a:pt x="316" y="105"/>
                      </a:lnTo>
                      <a:lnTo>
                        <a:pt x="349" y="91"/>
                      </a:lnTo>
                      <a:lnTo>
                        <a:pt x="352" y="39"/>
                      </a:lnTo>
                      <a:lnTo>
                        <a:pt x="385" y="14"/>
                      </a:lnTo>
                      <a:lnTo>
                        <a:pt x="522" y="55"/>
                      </a:lnTo>
                      <a:lnTo>
                        <a:pt x="507" y="113"/>
                      </a:lnTo>
                      <a:lnTo>
                        <a:pt x="522" y="398"/>
                      </a:lnTo>
                      <a:lnTo>
                        <a:pt x="522" y="465"/>
                      </a:lnTo>
                      <a:lnTo>
                        <a:pt x="492" y="467"/>
                      </a:lnTo>
                      <a:lnTo>
                        <a:pt x="492" y="486"/>
                      </a:lnTo>
                      <a:lnTo>
                        <a:pt x="224" y="348"/>
                      </a:lnTo>
                      <a:lnTo>
                        <a:pt x="190" y="362"/>
                      </a:lnTo>
                      <a:lnTo>
                        <a:pt x="79" y="346"/>
                      </a:lnTo>
                      <a:lnTo>
                        <a:pt x="0" y="25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3" name="16422423.375527.37522.6259.8755">
                  <a:extLst>
                    <a:ext uri="{FF2B5EF4-FFF2-40B4-BE49-F238E27FC236}">
                      <a16:creationId xmlns:a16="http://schemas.microsoft.com/office/drawing/2014/main" id="{29445BF3-D3EE-B70C-B455-AB955F528957}"/>
                    </a:ext>
                  </a:extLst>
                </p:cNvPr>
                <p:cNvSpPr>
                  <a:spLocks/>
                </p:cNvSpPr>
                <p:nvPr/>
              </p:nvSpPr>
              <p:spPr bwMode="auto">
                <a:xfrm>
                  <a:off x="3509730" y="4296455"/>
                  <a:ext cx="119551" cy="267713"/>
                </a:xfrm>
                <a:custGeom>
                  <a:avLst/>
                  <a:gdLst>
                    <a:gd name="T0" fmla="*/ 0 w 235"/>
                    <a:gd name="T1" fmla="*/ 1 h 464"/>
                    <a:gd name="T2" fmla="*/ 1 w 235"/>
                    <a:gd name="T3" fmla="*/ 1 h 464"/>
                    <a:gd name="T4" fmla="*/ 1 w 235"/>
                    <a:gd name="T5" fmla="*/ 1 h 464"/>
                    <a:gd name="T6" fmla="*/ 1 w 235"/>
                    <a:gd name="T7" fmla="*/ 1 h 464"/>
                    <a:gd name="T8" fmla="*/ 1 w 235"/>
                    <a:gd name="T9" fmla="*/ 1 h 464"/>
                    <a:gd name="T10" fmla="*/ 1 w 235"/>
                    <a:gd name="T11" fmla="*/ 1 h 464"/>
                    <a:gd name="T12" fmla="*/ 1 w 235"/>
                    <a:gd name="T13" fmla="*/ 0 h 464"/>
                    <a:gd name="T14" fmla="*/ 1 w 235"/>
                    <a:gd name="T15" fmla="*/ 1 h 464"/>
                    <a:gd name="T16" fmla="*/ 1 w 235"/>
                    <a:gd name="T17" fmla="*/ 1 h 464"/>
                    <a:gd name="T18" fmla="*/ 1 w 235"/>
                    <a:gd name="T19" fmla="*/ 1 h 464"/>
                    <a:gd name="T20" fmla="*/ 1 w 235"/>
                    <a:gd name="T21" fmla="*/ 1 h 464"/>
                    <a:gd name="T22" fmla="*/ 1 w 235"/>
                    <a:gd name="T23" fmla="*/ 1 h 464"/>
                    <a:gd name="T24" fmla="*/ 1 w 235"/>
                    <a:gd name="T25" fmla="*/ 1 h 464"/>
                    <a:gd name="T26" fmla="*/ 0 w 235"/>
                    <a:gd name="T27" fmla="*/ 1 h 4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35"/>
                    <a:gd name="T43" fmla="*/ 0 h 464"/>
                    <a:gd name="T44" fmla="*/ 235 w 235"/>
                    <a:gd name="T45" fmla="*/ 464 h 4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35" h="464">
                      <a:moveTo>
                        <a:pt x="0" y="332"/>
                      </a:moveTo>
                      <a:lnTo>
                        <a:pt x="21" y="427"/>
                      </a:lnTo>
                      <a:lnTo>
                        <a:pt x="65" y="464"/>
                      </a:lnTo>
                      <a:lnTo>
                        <a:pt x="138" y="427"/>
                      </a:lnTo>
                      <a:lnTo>
                        <a:pt x="220" y="107"/>
                      </a:lnTo>
                      <a:lnTo>
                        <a:pt x="235" y="120"/>
                      </a:lnTo>
                      <a:lnTo>
                        <a:pt x="199" y="0"/>
                      </a:lnTo>
                      <a:lnTo>
                        <a:pt x="157" y="50"/>
                      </a:lnTo>
                      <a:lnTo>
                        <a:pt x="158" y="85"/>
                      </a:lnTo>
                      <a:lnTo>
                        <a:pt x="106" y="123"/>
                      </a:lnTo>
                      <a:lnTo>
                        <a:pt x="41" y="139"/>
                      </a:lnTo>
                      <a:lnTo>
                        <a:pt x="23" y="180"/>
                      </a:lnTo>
                      <a:lnTo>
                        <a:pt x="41" y="261"/>
                      </a:lnTo>
                      <a:lnTo>
                        <a:pt x="0" y="33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4" name="16423418.875513.12512.754.3755">
                  <a:extLst>
                    <a:ext uri="{FF2B5EF4-FFF2-40B4-BE49-F238E27FC236}">
                      <a16:creationId xmlns:a16="http://schemas.microsoft.com/office/drawing/2014/main" id="{02A2B61B-C095-621A-BAD7-BE455E78D96A}"/>
                    </a:ext>
                  </a:extLst>
                </p:cNvPr>
                <p:cNvSpPr>
                  <a:spLocks/>
                </p:cNvSpPr>
                <p:nvPr/>
              </p:nvSpPr>
              <p:spPr bwMode="auto">
                <a:xfrm>
                  <a:off x="3335468" y="4243374"/>
                  <a:ext cx="53696" cy="151166"/>
                </a:xfrm>
                <a:custGeom>
                  <a:avLst/>
                  <a:gdLst>
                    <a:gd name="T0" fmla="*/ 0 w 107"/>
                    <a:gd name="T1" fmla="*/ 1 h 261"/>
                    <a:gd name="T2" fmla="*/ 0 w 107"/>
                    <a:gd name="T3" fmla="*/ 1 h 261"/>
                    <a:gd name="T4" fmla="*/ 0 w 107"/>
                    <a:gd name="T5" fmla="*/ 1 h 261"/>
                    <a:gd name="T6" fmla="*/ 0 w 107"/>
                    <a:gd name="T7" fmla="*/ 1 h 261"/>
                    <a:gd name="T8" fmla="*/ 0 w 107"/>
                    <a:gd name="T9" fmla="*/ 1 h 261"/>
                    <a:gd name="T10" fmla="*/ 0 w 107"/>
                    <a:gd name="T11" fmla="*/ 1 h 261"/>
                    <a:gd name="T12" fmla="*/ 0 w 107"/>
                    <a:gd name="T13" fmla="*/ 1 h 261"/>
                    <a:gd name="T14" fmla="*/ 0 w 107"/>
                    <a:gd name="T15" fmla="*/ 1 h 261"/>
                    <a:gd name="T16" fmla="*/ 0 w 107"/>
                    <a:gd name="T17" fmla="*/ 1 h 261"/>
                    <a:gd name="T18" fmla="*/ 0 w 107"/>
                    <a:gd name="T19" fmla="*/ 1 h 261"/>
                    <a:gd name="T20" fmla="*/ 0 w 107"/>
                    <a:gd name="T21" fmla="*/ 1 h 261"/>
                    <a:gd name="T22" fmla="*/ 0 w 107"/>
                    <a:gd name="T23" fmla="*/ 0 h 261"/>
                    <a:gd name="T24" fmla="*/ 0 w 107"/>
                    <a:gd name="T25" fmla="*/ 1 h 261"/>
                    <a:gd name="T26" fmla="*/ 0 w 107"/>
                    <a:gd name="T27" fmla="*/ 1 h 26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7"/>
                    <a:gd name="T43" fmla="*/ 0 h 261"/>
                    <a:gd name="T44" fmla="*/ 107 w 107"/>
                    <a:gd name="T45" fmla="*/ 261 h 26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7" h="261">
                      <a:moveTo>
                        <a:pt x="0" y="142"/>
                      </a:moveTo>
                      <a:lnTo>
                        <a:pt x="14" y="158"/>
                      </a:lnTo>
                      <a:lnTo>
                        <a:pt x="57" y="172"/>
                      </a:lnTo>
                      <a:lnTo>
                        <a:pt x="51" y="221"/>
                      </a:lnTo>
                      <a:lnTo>
                        <a:pt x="87" y="261"/>
                      </a:lnTo>
                      <a:lnTo>
                        <a:pt x="107" y="187"/>
                      </a:lnTo>
                      <a:lnTo>
                        <a:pt x="73" y="138"/>
                      </a:lnTo>
                      <a:lnTo>
                        <a:pt x="84" y="165"/>
                      </a:lnTo>
                      <a:lnTo>
                        <a:pt x="63" y="164"/>
                      </a:lnTo>
                      <a:lnTo>
                        <a:pt x="41" y="96"/>
                      </a:lnTo>
                      <a:lnTo>
                        <a:pt x="40" y="7"/>
                      </a:lnTo>
                      <a:lnTo>
                        <a:pt x="7" y="0"/>
                      </a:lnTo>
                      <a:lnTo>
                        <a:pt x="33" y="43"/>
                      </a:lnTo>
                      <a:lnTo>
                        <a:pt x="0" y="14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5" name="16424362.625450.87524.62522.55">
                  <a:extLst>
                    <a:ext uri="{FF2B5EF4-FFF2-40B4-BE49-F238E27FC236}">
                      <a16:creationId xmlns:a16="http://schemas.microsoft.com/office/drawing/2014/main" id="{CC635E6B-A8B5-74C1-C85B-9D1539846BEA}"/>
                    </a:ext>
                  </a:extLst>
                </p:cNvPr>
                <p:cNvSpPr>
                  <a:spLocks/>
                </p:cNvSpPr>
                <p:nvPr/>
              </p:nvSpPr>
              <p:spPr bwMode="auto">
                <a:xfrm>
                  <a:off x="2576620" y="3575244"/>
                  <a:ext cx="273549" cy="291947"/>
                </a:xfrm>
                <a:custGeom>
                  <a:avLst/>
                  <a:gdLst>
                    <a:gd name="T0" fmla="*/ 0 w 540"/>
                    <a:gd name="T1" fmla="*/ 1 h 506"/>
                    <a:gd name="T2" fmla="*/ 1 w 540"/>
                    <a:gd name="T3" fmla="*/ 1 h 506"/>
                    <a:gd name="T4" fmla="*/ 1 w 540"/>
                    <a:gd name="T5" fmla="*/ 1 h 506"/>
                    <a:gd name="T6" fmla="*/ 1 w 540"/>
                    <a:gd name="T7" fmla="*/ 1 h 506"/>
                    <a:gd name="T8" fmla="*/ 1 w 540"/>
                    <a:gd name="T9" fmla="*/ 0 h 506"/>
                    <a:gd name="T10" fmla="*/ 1 w 540"/>
                    <a:gd name="T11" fmla="*/ 0 h 506"/>
                    <a:gd name="T12" fmla="*/ 1 w 540"/>
                    <a:gd name="T13" fmla="*/ 1 h 506"/>
                    <a:gd name="T14" fmla="*/ 1 w 540"/>
                    <a:gd name="T15" fmla="*/ 1 h 506"/>
                    <a:gd name="T16" fmla="*/ 1 w 540"/>
                    <a:gd name="T17" fmla="*/ 1 h 506"/>
                    <a:gd name="T18" fmla="*/ 1 w 540"/>
                    <a:gd name="T19" fmla="*/ 1 h 506"/>
                    <a:gd name="T20" fmla="*/ 1 w 540"/>
                    <a:gd name="T21" fmla="*/ 1 h 506"/>
                    <a:gd name="T22" fmla="*/ 1 w 540"/>
                    <a:gd name="T23" fmla="*/ 1 h 506"/>
                    <a:gd name="T24" fmla="*/ 1 w 540"/>
                    <a:gd name="T25" fmla="*/ 1 h 506"/>
                    <a:gd name="T26" fmla="*/ 1 w 540"/>
                    <a:gd name="T27" fmla="*/ 1 h 506"/>
                    <a:gd name="T28" fmla="*/ 1 w 540"/>
                    <a:gd name="T29" fmla="*/ 1 h 506"/>
                    <a:gd name="T30" fmla="*/ 1 w 540"/>
                    <a:gd name="T31" fmla="*/ 1 h 506"/>
                    <a:gd name="T32" fmla="*/ 1 w 540"/>
                    <a:gd name="T33" fmla="*/ 1 h 506"/>
                    <a:gd name="T34" fmla="*/ 1 w 540"/>
                    <a:gd name="T35" fmla="*/ 1 h 506"/>
                    <a:gd name="T36" fmla="*/ 1 w 540"/>
                    <a:gd name="T37" fmla="*/ 1 h 506"/>
                    <a:gd name="T38" fmla="*/ 0 w 540"/>
                    <a:gd name="T39" fmla="*/ 1 h 50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40"/>
                    <a:gd name="T61" fmla="*/ 0 h 506"/>
                    <a:gd name="T62" fmla="*/ 540 w 540"/>
                    <a:gd name="T63" fmla="*/ 506 h 50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40" h="506">
                      <a:moveTo>
                        <a:pt x="0" y="351"/>
                      </a:moveTo>
                      <a:lnTo>
                        <a:pt x="23" y="315"/>
                      </a:lnTo>
                      <a:lnTo>
                        <a:pt x="49" y="338"/>
                      </a:lnTo>
                      <a:lnTo>
                        <a:pt x="218" y="327"/>
                      </a:lnTo>
                      <a:lnTo>
                        <a:pt x="182" y="0"/>
                      </a:lnTo>
                      <a:lnTo>
                        <a:pt x="241" y="0"/>
                      </a:lnTo>
                      <a:lnTo>
                        <a:pt x="509" y="177"/>
                      </a:lnTo>
                      <a:lnTo>
                        <a:pt x="512" y="207"/>
                      </a:lnTo>
                      <a:lnTo>
                        <a:pt x="538" y="203"/>
                      </a:lnTo>
                      <a:lnTo>
                        <a:pt x="540" y="308"/>
                      </a:lnTo>
                      <a:lnTo>
                        <a:pt x="518" y="330"/>
                      </a:lnTo>
                      <a:lnTo>
                        <a:pt x="409" y="344"/>
                      </a:lnTo>
                      <a:lnTo>
                        <a:pt x="272" y="404"/>
                      </a:lnTo>
                      <a:lnTo>
                        <a:pt x="229" y="500"/>
                      </a:lnTo>
                      <a:lnTo>
                        <a:pt x="195" y="488"/>
                      </a:lnTo>
                      <a:lnTo>
                        <a:pt x="137" y="506"/>
                      </a:lnTo>
                      <a:lnTo>
                        <a:pt x="103" y="426"/>
                      </a:lnTo>
                      <a:lnTo>
                        <a:pt x="46" y="445"/>
                      </a:lnTo>
                      <a:lnTo>
                        <a:pt x="24" y="429"/>
                      </a:lnTo>
                      <a:lnTo>
                        <a:pt x="0" y="35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6" name="16425358.625444.1252116.755">
                  <a:extLst>
                    <a:ext uri="{FF2B5EF4-FFF2-40B4-BE49-F238E27FC236}">
                      <a16:creationId xmlns:a16="http://schemas.microsoft.com/office/drawing/2014/main" id="{EFE8437B-A0C0-96F2-BF61-BC64337CABD4}"/>
                    </a:ext>
                  </a:extLst>
                </p:cNvPr>
                <p:cNvSpPr>
                  <a:spLocks/>
                </p:cNvSpPr>
                <p:nvPr/>
              </p:nvSpPr>
              <p:spPr bwMode="auto">
                <a:xfrm>
                  <a:off x="2494556" y="3527932"/>
                  <a:ext cx="204655" cy="249251"/>
                </a:xfrm>
                <a:custGeom>
                  <a:avLst/>
                  <a:gdLst>
                    <a:gd name="T0" fmla="*/ 0 w 404"/>
                    <a:gd name="T1" fmla="*/ 1 h 432"/>
                    <a:gd name="T2" fmla="*/ 1 w 404"/>
                    <a:gd name="T3" fmla="*/ 1 h 432"/>
                    <a:gd name="T4" fmla="*/ 1 w 404"/>
                    <a:gd name="T5" fmla="*/ 1 h 432"/>
                    <a:gd name="T6" fmla="*/ 1 w 404"/>
                    <a:gd name="T7" fmla="*/ 1 h 432"/>
                    <a:gd name="T8" fmla="*/ 1 w 404"/>
                    <a:gd name="T9" fmla="*/ 1 h 432"/>
                    <a:gd name="T10" fmla="*/ 1 w 404"/>
                    <a:gd name="T11" fmla="*/ 1 h 432"/>
                    <a:gd name="T12" fmla="*/ 1 w 404"/>
                    <a:gd name="T13" fmla="*/ 1 h 432"/>
                    <a:gd name="T14" fmla="*/ 1 w 404"/>
                    <a:gd name="T15" fmla="*/ 1 h 432"/>
                    <a:gd name="T16" fmla="*/ 1 w 404"/>
                    <a:gd name="T17" fmla="*/ 1 h 432"/>
                    <a:gd name="T18" fmla="*/ 1 w 404"/>
                    <a:gd name="T19" fmla="*/ 1 h 432"/>
                    <a:gd name="T20" fmla="*/ 1 w 404"/>
                    <a:gd name="T21" fmla="*/ 1 h 432"/>
                    <a:gd name="T22" fmla="*/ 1 w 404"/>
                    <a:gd name="T23" fmla="*/ 0 h 432"/>
                    <a:gd name="T24" fmla="*/ 1 w 404"/>
                    <a:gd name="T25" fmla="*/ 1 h 432"/>
                    <a:gd name="T26" fmla="*/ 1 w 404"/>
                    <a:gd name="T27" fmla="*/ 1 h 432"/>
                    <a:gd name="T28" fmla="*/ 1 w 404"/>
                    <a:gd name="T29" fmla="*/ 1 h 432"/>
                    <a:gd name="T30" fmla="*/ 1 w 404"/>
                    <a:gd name="T31" fmla="*/ 1 h 432"/>
                    <a:gd name="T32" fmla="*/ 1 w 404"/>
                    <a:gd name="T33" fmla="*/ 1 h 432"/>
                    <a:gd name="T34" fmla="*/ 0 w 404"/>
                    <a:gd name="T35" fmla="*/ 1 h 4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04"/>
                    <a:gd name="T55" fmla="*/ 0 h 432"/>
                    <a:gd name="T56" fmla="*/ 404 w 404"/>
                    <a:gd name="T57" fmla="*/ 432 h 4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04" h="432">
                      <a:moveTo>
                        <a:pt x="0" y="217"/>
                      </a:moveTo>
                      <a:lnTo>
                        <a:pt x="25" y="242"/>
                      </a:lnTo>
                      <a:lnTo>
                        <a:pt x="31" y="306"/>
                      </a:lnTo>
                      <a:lnTo>
                        <a:pt x="11" y="388"/>
                      </a:lnTo>
                      <a:lnTo>
                        <a:pt x="87" y="370"/>
                      </a:lnTo>
                      <a:lnTo>
                        <a:pt x="163" y="432"/>
                      </a:lnTo>
                      <a:lnTo>
                        <a:pt x="186" y="396"/>
                      </a:lnTo>
                      <a:lnTo>
                        <a:pt x="212" y="419"/>
                      </a:lnTo>
                      <a:lnTo>
                        <a:pt x="381" y="408"/>
                      </a:lnTo>
                      <a:lnTo>
                        <a:pt x="345" y="81"/>
                      </a:lnTo>
                      <a:lnTo>
                        <a:pt x="404" y="81"/>
                      </a:lnTo>
                      <a:lnTo>
                        <a:pt x="281" y="0"/>
                      </a:lnTo>
                      <a:lnTo>
                        <a:pt x="278" y="44"/>
                      </a:lnTo>
                      <a:lnTo>
                        <a:pt x="171" y="41"/>
                      </a:lnTo>
                      <a:lnTo>
                        <a:pt x="169" y="132"/>
                      </a:lnTo>
                      <a:lnTo>
                        <a:pt x="131" y="148"/>
                      </a:lnTo>
                      <a:lnTo>
                        <a:pt x="134" y="203"/>
                      </a:lnTo>
                      <a:lnTo>
                        <a:pt x="0" y="21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7" name="16426343.625449.62514.37516.255">
                  <a:extLst>
                    <a:ext uri="{FF2B5EF4-FFF2-40B4-BE49-F238E27FC236}">
                      <a16:creationId xmlns:a16="http://schemas.microsoft.com/office/drawing/2014/main" id="{777B6B09-E466-5631-F80F-C7635C978671}"/>
                    </a:ext>
                  </a:extLst>
                </p:cNvPr>
                <p:cNvSpPr>
                  <a:spLocks/>
                </p:cNvSpPr>
                <p:nvPr/>
              </p:nvSpPr>
              <p:spPr bwMode="auto">
                <a:xfrm>
                  <a:off x="2561424" y="3350225"/>
                  <a:ext cx="198577" cy="170782"/>
                </a:xfrm>
                <a:custGeom>
                  <a:avLst/>
                  <a:gdLst>
                    <a:gd name="T0" fmla="*/ 0 w 392"/>
                    <a:gd name="T1" fmla="*/ 1 h 295"/>
                    <a:gd name="T2" fmla="*/ 1 w 392"/>
                    <a:gd name="T3" fmla="*/ 1 h 295"/>
                    <a:gd name="T4" fmla="*/ 1 w 392"/>
                    <a:gd name="T5" fmla="*/ 1 h 295"/>
                    <a:gd name="T6" fmla="*/ 1 w 392"/>
                    <a:gd name="T7" fmla="*/ 1 h 295"/>
                    <a:gd name="T8" fmla="*/ 1 w 392"/>
                    <a:gd name="T9" fmla="*/ 0 h 295"/>
                    <a:gd name="T10" fmla="*/ 1 w 392"/>
                    <a:gd name="T11" fmla="*/ 1 h 295"/>
                    <a:gd name="T12" fmla="*/ 1 w 392"/>
                    <a:gd name="T13" fmla="*/ 1 h 295"/>
                    <a:gd name="T14" fmla="*/ 1 w 392"/>
                    <a:gd name="T15" fmla="*/ 1 h 295"/>
                    <a:gd name="T16" fmla="*/ 1 w 392"/>
                    <a:gd name="T17" fmla="*/ 1 h 295"/>
                    <a:gd name="T18" fmla="*/ 1 w 392"/>
                    <a:gd name="T19" fmla="*/ 1 h 295"/>
                    <a:gd name="T20" fmla="*/ 1 w 392"/>
                    <a:gd name="T21" fmla="*/ 1 h 295"/>
                    <a:gd name="T22" fmla="*/ 1 w 392"/>
                    <a:gd name="T23" fmla="*/ 1 h 295"/>
                    <a:gd name="T24" fmla="*/ 0 w 392"/>
                    <a:gd name="T25" fmla="*/ 1 h 2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2"/>
                    <a:gd name="T40" fmla="*/ 0 h 295"/>
                    <a:gd name="T41" fmla="*/ 392 w 392"/>
                    <a:gd name="T42" fmla="*/ 295 h 2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2" h="295">
                      <a:moveTo>
                        <a:pt x="0" y="291"/>
                      </a:moveTo>
                      <a:lnTo>
                        <a:pt x="97" y="235"/>
                      </a:lnTo>
                      <a:lnTo>
                        <a:pt x="131" y="118"/>
                      </a:lnTo>
                      <a:lnTo>
                        <a:pt x="213" y="59"/>
                      </a:lnTo>
                      <a:lnTo>
                        <a:pt x="241" y="0"/>
                      </a:lnTo>
                      <a:lnTo>
                        <a:pt x="360" y="19"/>
                      </a:lnTo>
                      <a:lnTo>
                        <a:pt x="392" y="129"/>
                      </a:lnTo>
                      <a:lnTo>
                        <a:pt x="338" y="132"/>
                      </a:lnTo>
                      <a:lnTo>
                        <a:pt x="310" y="144"/>
                      </a:lnTo>
                      <a:lnTo>
                        <a:pt x="315" y="173"/>
                      </a:lnTo>
                      <a:lnTo>
                        <a:pt x="164" y="239"/>
                      </a:lnTo>
                      <a:lnTo>
                        <a:pt x="146" y="295"/>
                      </a:lnTo>
                      <a:lnTo>
                        <a:pt x="0" y="29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8" name="16427420.625509.2527.12514.6255">
                  <a:extLst>
                    <a:ext uri="{FF2B5EF4-FFF2-40B4-BE49-F238E27FC236}">
                      <a16:creationId xmlns:a16="http://schemas.microsoft.com/office/drawing/2014/main" id="{C672C33F-B746-E386-1B69-39AF945F017A}"/>
                    </a:ext>
                  </a:extLst>
                </p:cNvPr>
                <p:cNvSpPr>
                  <a:spLocks/>
                </p:cNvSpPr>
                <p:nvPr/>
              </p:nvSpPr>
              <p:spPr bwMode="auto">
                <a:xfrm>
                  <a:off x="3287849" y="4264145"/>
                  <a:ext cx="178314" cy="320795"/>
                </a:xfrm>
                <a:custGeom>
                  <a:avLst/>
                  <a:gdLst>
                    <a:gd name="T0" fmla="*/ 0 w 352"/>
                    <a:gd name="T1" fmla="*/ 0 h 557"/>
                    <a:gd name="T2" fmla="*/ 1 w 352"/>
                    <a:gd name="T3" fmla="*/ 0 h 557"/>
                    <a:gd name="T4" fmla="*/ 1 w 352"/>
                    <a:gd name="T5" fmla="*/ 0 h 557"/>
                    <a:gd name="T6" fmla="*/ 1 w 352"/>
                    <a:gd name="T7" fmla="*/ 0 h 557"/>
                    <a:gd name="T8" fmla="*/ 1 w 352"/>
                    <a:gd name="T9" fmla="*/ 0 h 557"/>
                    <a:gd name="T10" fmla="*/ 1 w 352"/>
                    <a:gd name="T11" fmla="*/ 0 h 557"/>
                    <a:gd name="T12" fmla="*/ 1 w 352"/>
                    <a:gd name="T13" fmla="*/ 0 h 557"/>
                    <a:gd name="T14" fmla="*/ 1 w 352"/>
                    <a:gd name="T15" fmla="*/ 0 h 557"/>
                    <a:gd name="T16" fmla="*/ 1 w 352"/>
                    <a:gd name="T17" fmla="*/ 0 h 557"/>
                    <a:gd name="T18" fmla="*/ 1 w 352"/>
                    <a:gd name="T19" fmla="*/ 0 h 557"/>
                    <a:gd name="T20" fmla="*/ 1 w 352"/>
                    <a:gd name="T21" fmla="*/ 0 h 557"/>
                    <a:gd name="T22" fmla="*/ 1 w 352"/>
                    <a:gd name="T23" fmla="*/ 0 h 557"/>
                    <a:gd name="T24" fmla="*/ 1 w 352"/>
                    <a:gd name="T25" fmla="*/ 0 h 557"/>
                    <a:gd name="T26" fmla="*/ 1 w 352"/>
                    <a:gd name="T27" fmla="*/ 0 h 557"/>
                    <a:gd name="T28" fmla="*/ 1 w 352"/>
                    <a:gd name="T29" fmla="*/ 0 h 557"/>
                    <a:gd name="T30" fmla="*/ 1 w 352"/>
                    <a:gd name="T31" fmla="*/ 0 h 557"/>
                    <a:gd name="T32" fmla="*/ 1 w 352"/>
                    <a:gd name="T33" fmla="*/ 0 h 557"/>
                    <a:gd name="T34" fmla="*/ 1 w 352"/>
                    <a:gd name="T35" fmla="*/ 0 h 557"/>
                    <a:gd name="T36" fmla="*/ 1 w 352"/>
                    <a:gd name="T37" fmla="*/ 0 h 557"/>
                    <a:gd name="T38" fmla="*/ 1 w 352"/>
                    <a:gd name="T39" fmla="*/ 0 h 557"/>
                    <a:gd name="T40" fmla="*/ 1 w 352"/>
                    <a:gd name="T41" fmla="*/ 0 h 557"/>
                    <a:gd name="T42" fmla="*/ 1 w 352"/>
                    <a:gd name="T43" fmla="*/ 0 h 557"/>
                    <a:gd name="T44" fmla="*/ 0 w 352"/>
                    <a:gd name="T45" fmla="*/ 0 h 5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52"/>
                    <a:gd name="T70" fmla="*/ 0 h 557"/>
                    <a:gd name="T71" fmla="*/ 352 w 352"/>
                    <a:gd name="T72" fmla="*/ 557 h 55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52" h="557">
                      <a:moveTo>
                        <a:pt x="0" y="155"/>
                      </a:moveTo>
                      <a:lnTo>
                        <a:pt x="9" y="173"/>
                      </a:lnTo>
                      <a:lnTo>
                        <a:pt x="92" y="199"/>
                      </a:lnTo>
                      <a:lnTo>
                        <a:pt x="100" y="234"/>
                      </a:lnTo>
                      <a:lnTo>
                        <a:pt x="96" y="322"/>
                      </a:lnTo>
                      <a:lnTo>
                        <a:pt x="52" y="414"/>
                      </a:lnTo>
                      <a:lnTo>
                        <a:pt x="64" y="522"/>
                      </a:lnTo>
                      <a:lnTo>
                        <a:pt x="68" y="557"/>
                      </a:lnTo>
                      <a:lnTo>
                        <a:pt x="95" y="557"/>
                      </a:lnTo>
                      <a:lnTo>
                        <a:pt x="95" y="520"/>
                      </a:lnTo>
                      <a:lnTo>
                        <a:pt x="181" y="470"/>
                      </a:lnTo>
                      <a:lnTo>
                        <a:pt x="156" y="322"/>
                      </a:lnTo>
                      <a:lnTo>
                        <a:pt x="349" y="172"/>
                      </a:lnTo>
                      <a:lnTo>
                        <a:pt x="352" y="0"/>
                      </a:lnTo>
                      <a:lnTo>
                        <a:pt x="302" y="30"/>
                      </a:lnTo>
                      <a:lnTo>
                        <a:pt x="169" y="38"/>
                      </a:lnTo>
                      <a:lnTo>
                        <a:pt x="166" y="102"/>
                      </a:lnTo>
                      <a:lnTo>
                        <a:pt x="200" y="151"/>
                      </a:lnTo>
                      <a:lnTo>
                        <a:pt x="180" y="225"/>
                      </a:lnTo>
                      <a:lnTo>
                        <a:pt x="144" y="185"/>
                      </a:lnTo>
                      <a:lnTo>
                        <a:pt x="150" y="136"/>
                      </a:lnTo>
                      <a:lnTo>
                        <a:pt x="107" y="122"/>
                      </a:lnTo>
                      <a:lnTo>
                        <a:pt x="0" y="15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9" name="16428365467.87519.7522.1255">
                  <a:extLst>
                    <a:ext uri="{FF2B5EF4-FFF2-40B4-BE49-F238E27FC236}">
                      <a16:creationId xmlns:a16="http://schemas.microsoft.com/office/drawing/2014/main" id="{5EA7944B-0EDF-6F7D-F619-F7B1E958281C}"/>
                    </a:ext>
                  </a:extLst>
                </p:cNvPr>
                <p:cNvSpPr>
                  <a:spLocks/>
                </p:cNvSpPr>
                <p:nvPr/>
              </p:nvSpPr>
              <p:spPr bwMode="auto">
                <a:xfrm>
                  <a:off x="2784315" y="3604092"/>
                  <a:ext cx="268484" cy="234250"/>
                </a:xfrm>
                <a:custGeom>
                  <a:avLst/>
                  <a:gdLst>
                    <a:gd name="T0" fmla="*/ 0 w 529"/>
                    <a:gd name="T1" fmla="*/ 1 h 404"/>
                    <a:gd name="T2" fmla="*/ 1 w 529"/>
                    <a:gd name="T3" fmla="*/ 1 h 404"/>
                    <a:gd name="T4" fmla="*/ 1 w 529"/>
                    <a:gd name="T5" fmla="*/ 1 h 404"/>
                    <a:gd name="T6" fmla="*/ 1 w 529"/>
                    <a:gd name="T7" fmla="*/ 1 h 404"/>
                    <a:gd name="T8" fmla="*/ 1 w 529"/>
                    <a:gd name="T9" fmla="*/ 1 h 404"/>
                    <a:gd name="T10" fmla="*/ 1 w 529"/>
                    <a:gd name="T11" fmla="*/ 1 h 404"/>
                    <a:gd name="T12" fmla="*/ 1 w 529"/>
                    <a:gd name="T13" fmla="*/ 1 h 404"/>
                    <a:gd name="T14" fmla="*/ 1 w 529"/>
                    <a:gd name="T15" fmla="*/ 1 h 404"/>
                    <a:gd name="T16" fmla="*/ 1 w 529"/>
                    <a:gd name="T17" fmla="*/ 1 h 404"/>
                    <a:gd name="T18" fmla="*/ 1 w 529"/>
                    <a:gd name="T19" fmla="*/ 1 h 404"/>
                    <a:gd name="T20" fmla="*/ 1 w 529"/>
                    <a:gd name="T21" fmla="*/ 1 h 404"/>
                    <a:gd name="T22" fmla="*/ 1 w 529"/>
                    <a:gd name="T23" fmla="*/ 1 h 404"/>
                    <a:gd name="T24" fmla="*/ 1 w 529"/>
                    <a:gd name="T25" fmla="*/ 1 h 404"/>
                    <a:gd name="T26" fmla="*/ 1 w 529"/>
                    <a:gd name="T27" fmla="*/ 0 h 404"/>
                    <a:gd name="T28" fmla="*/ 1 w 529"/>
                    <a:gd name="T29" fmla="*/ 1 h 404"/>
                    <a:gd name="T30" fmla="*/ 1 w 529"/>
                    <a:gd name="T31" fmla="*/ 1 h 404"/>
                    <a:gd name="T32" fmla="*/ 1 w 529"/>
                    <a:gd name="T33" fmla="*/ 1 h 404"/>
                    <a:gd name="T34" fmla="*/ 1 w 529"/>
                    <a:gd name="T35" fmla="*/ 1 h 404"/>
                    <a:gd name="T36" fmla="*/ 0 w 529"/>
                    <a:gd name="T37" fmla="*/ 1 h 40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29"/>
                    <a:gd name="T58" fmla="*/ 0 h 404"/>
                    <a:gd name="T59" fmla="*/ 529 w 529"/>
                    <a:gd name="T60" fmla="*/ 404 h 40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29" h="404">
                      <a:moveTo>
                        <a:pt x="0" y="293"/>
                      </a:moveTo>
                      <a:lnTo>
                        <a:pt x="7" y="326"/>
                      </a:lnTo>
                      <a:lnTo>
                        <a:pt x="72" y="396"/>
                      </a:lnTo>
                      <a:lnTo>
                        <a:pt x="88" y="381"/>
                      </a:lnTo>
                      <a:lnTo>
                        <a:pt x="114" y="404"/>
                      </a:lnTo>
                      <a:lnTo>
                        <a:pt x="154" y="334"/>
                      </a:lnTo>
                      <a:lnTo>
                        <a:pt x="305" y="370"/>
                      </a:lnTo>
                      <a:lnTo>
                        <a:pt x="436" y="333"/>
                      </a:lnTo>
                      <a:lnTo>
                        <a:pt x="440" y="315"/>
                      </a:lnTo>
                      <a:lnTo>
                        <a:pt x="509" y="227"/>
                      </a:lnTo>
                      <a:lnTo>
                        <a:pt x="529" y="107"/>
                      </a:lnTo>
                      <a:lnTo>
                        <a:pt x="495" y="70"/>
                      </a:lnTo>
                      <a:lnTo>
                        <a:pt x="495" y="16"/>
                      </a:lnTo>
                      <a:lnTo>
                        <a:pt x="384" y="0"/>
                      </a:lnTo>
                      <a:lnTo>
                        <a:pt x="182" y="139"/>
                      </a:lnTo>
                      <a:lnTo>
                        <a:pt x="129" y="152"/>
                      </a:lnTo>
                      <a:lnTo>
                        <a:pt x="131" y="257"/>
                      </a:lnTo>
                      <a:lnTo>
                        <a:pt x="109" y="279"/>
                      </a:lnTo>
                      <a:lnTo>
                        <a:pt x="0" y="29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0" name="16429381.25471.62515.7516.1255">
                  <a:extLst>
                    <a:ext uri="{FF2B5EF4-FFF2-40B4-BE49-F238E27FC236}">
                      <a16:creationId xmlns:a16="http://schemas.microsoft.com/office/drawing/2014/main" id="{BFCB4ADA-9A9A-193E-E344-D9141E17FC5F}"/>
                    </a:ext>
                  </a:extLst>
                </p:cNvPr>
                <p:cNvSpPr>
                  <a:spLocks/>
                </p:cNvSpPr>
                <p:nvPr/>
              </p:nvSpPr>
              <p:spPr bwMode="auto">
                <a:xfrm>
                  <a:off x="2828894" y="3796801"/>
                  <a:ext cx="196550" cy="185784"/>
                </a:xfrm>
                <a:custGeom>
                  <a:avLst/>
                  <a:gdLst>
                    <a:gd name="T0" fmla="*/ 0 w 388"/>
                    <a:gd name="T1" fmla="*/ 0 h 323"/>
                    <a:gd name="T2" fmla="*/ 1 w 388"/>
                    <a:gd name="T3" fmla="*/ 0 h 323"/>
                    <a:gd name="T4" fmla="*/ 1 w 388"/>
                    <a:gd name="T5" fmla="*/ 0 h 323"/>
                    <a:gd name="T6" fmla="*/ 1 w 388"/>
                    <a:gd name="T7" fmla="*/ 0 h 323"/>
                    <a:gd name="T8" fmla="*/ 1 w 388"/>
                    <a:gd name="T9" fmla="*/ 0 h 323"/>
                    <a:gd name="T10" fmla="*/ 1 w 388"/>
                    <a:gd name="T11" fmla="*/ 0 h 323"/>
                    <a:gd name="T12" fmla="*/ 1 w 388"/>
                    <a:gd name="T13" fmla="*/ 0 h 323"/>
                    <a:gd name="T14" fmla="*/ 1 w 388"/>
                    <a:gd name="T15" fmla="*/ 0 h 323"/>
                    <a:gd name="T16" fmla="*/ 1 w 388"/>
                    <a:gd name="T17" fmla="*/ 0 h 323"/>
                    <a:gd name="T18" fmla="*/ 1 w 388"/>
                    <a:gd name="T19" fmla="*/ 0 h 323"/>
                    <a:gd name="T20" fmla="*/ 1 w 388"/>
                    <a:gd name="T21" fmla="*/ 0 h 323"/>
                    <a:gd name="T22" fmla="*/ 1 w 388"/>
                    <a:gd name="T23" fmla="*/ 0 h 323"/>
                    <a:gd name="T24" fmla="*/ 1 w 388"/>
                    <a:gd name="T25" fmla="*/ 0 h 323"/>
                    <a:gd name="T26" fmla="*/ 0 w 388"/>
                    <a:gd name="T27" fmla="*/ 0 h 3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8"/>
                    <a:gd name="T43" fmla="*/ 0 h 323"/>
                    <a:gd name="T44" fmla="*/ 388 w 388"/>
                    <a:gd name="T45" fmla="*/ 323 h 3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8" h="323">
                      <a:moveTo>
                        <a:pt x="0" y="251"/>
                      </a:moveTo>
                      <a:lnTo>
                        <a:pt x="26" y="71"/>
                      </a:lnTo>
                      <a:lnTo>
                        <a:pt x="66" y="1"/>
                      </a:lnTo>
                      <a:lnTo>
                        <a:pt x="217" y="37"/>
                      </a:lnTo>
                      <a:lnTo>
                        <a:pt x="348" y="0"/>
                      </a:lnTo>
                      <a:lnTo>
                        <a:pt x="374" y="42"/>
                      </a:lnTo>
                      <a:lnTo>
                        <a:pt x="388" y="71"/>
                      </a:lnTo>
                      <a:lnTo>
                        <a:pt x="353" y="97"/>
                      </a:lnTo>
                      <a:lnTo>
                        <a:pt x="285" y="243"/>
                      </a:lnTo>
                      <a:lnTo>
                        <a:pt x="221" y="233"/>
                      </a:lnTo>
                      <a:lnTo>
                        <a:pt x="186" y="304"/>
                      </a:lnTo>
                      <a:lnTo>
                        <a:pt x="111" y="323"/>
                      </a:lnTo>
                      <a:lnTo>
                        <a:pt x="66" y="260"/>
                      </a:lnTo>
                      <a:lnTo>
                        <a:pt x="0" y="25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1" name="16430383.125444.52.8754.1255">
                  <a:extLst>
                    <a:ext uri="{FF2B5EF4-FFF2-40B4-BE49-F238E27FC236}">
                      <a16:creationId xmlns:a16="http://schemas.microsoft.com/office/drawing/2014/main" id="{C641ED48-C653-A7CC-22B7-712256DE1932}"/>
                    </a:ext>
                  </a:extLst>
                </p:cNvPr>
                <p:cNvSpPr>
                  <a:spLocks/>
                </p:cNvSpPr>
                <p:nvPr/>
              </p:nvSpPr>
              <p:spPr bwMode="auto">
                <a:xfrm>
                  <a:off x="2498609" y="3818725"/>
                  <a:ext cx="50657" cy="34619"/>
                </a:xfrm>
                <a:custGeom>
                  <a:avLst/>
                  <a:gdLst>
                    <a:gd name="T0" fmla="*/ 0 w 101"/>
                    <a:gd name="T1" fmla="*/ 1 h 59"/>
                    <a:gd name="T2" fmla="*/ 0 w 101"/>
                    <a:gd name="T3" fmla="*/ 1 h 59"/>
                    <a:gd name="T4" fmla="*/ 0 w 101"/>
                    <a:gd name="T5" fmla="*/ 1 h 59"/>
                    <a:gd name="T6" fmla="*/ 0 w 101"/>
                    <a:gd name="T7" fmla="*/ 1 h 59"/>
                    <a:gd name="T8" fmla="*/ 0 w 101"/>
                    <a:gd name="T9" fmla="*/ 1 h 59"/>
                    <a:gd name="T10" fmla="*/ 0 w 101"/>
                    <a:gd name="T11" fmla="*/ 1 h 59"/>
                    <a:gd name="T12" fmla="*/ 0 w 101"/>
                    <a:gd name="T13" fmla="*/ 0 h 59"/>
                    <a:gd name="T14" fmla="*/ 0 w 101"/>
                    <a:gd name="T15" fmla="*/ 1 h 59"/>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59"/>
                    <a:gd name="T26" fmla="*/ 101 w 101"/>
                    <a:gd name="T27" fmla="*/ 59 h 5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59">
                      <a:moveTo>
                        <a:pt x="0" y="7"/>
                      </a:moveTo>
                      <a:lnTo>
                        <a:pt x="29" y="33"/>
                      </a:lnTo>
                      <a:lnTo>
                        <a:pt x="62" y="25"/>
                      </a:lnTo>
                      <a:lnTo>
                        <a:pt x="43" y="33"/>
                      </a:lnTo>
                      <a:lnTo>
                        <a:pt x="58" y="59"/>
                      </a:lnTo>
                      <a:lnTo>
                        <a:pt x="99" y="33"/>
                      </a:lnTo>
                      <a:lnTo>
                        <a:pt x="101" y="0"/>
                      </a:lnTo>
                      <a:lnTo>
                        <a:pt x="0" y="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2" name="16431360.625538.1252.6250.755">
                  <a:extLst>
                    <a:ext uri="{FF2B5EF4-FFF2-40B4-BE49-F238E27FC236}">
                      <a16:creationId xmlns:a16="http://schemas.microsoft.com/office/drawing/2014/main" id="{04A0BB0C-2863-9ED9-6472-283B038E75D2}"/>
                    </a:ext>
                  </a:extLst>
                </p:cNvPr>
                <p:cNvSpPr>
                  <a:spLocks/>
                </p:cNvSpPr>
                <p:nvPr/>
              </p:nvSpPr>
              <p:spPr bwMode="auto">
                <a:xfrm>
                  <a:off x="3640424" y="3552164"/>
                  <a:ext cx="9118" cy="31156"/>
                </a:xfrm>
                <a:custGeom>
                  <a:avLst/>
                  <a:gdLst>
                    <a:gd name="T0" fmla="*/ 0 w 19"/>
                    <a:gd name="T1" fmla="*/ 0 h 55"/>
                    <a:gd name="T2" fmla="*/ 0 w 19"/>
                    <a:gd name="T3" fmla="*/ 0 h 55"/>
                    <a:gd name="T4" fmla="*/ 0 w 19"/>
                    <a:gd name="T5" fmla="*/ 0 h 55"/>
                    <a:gd name="T6" fmla="*/ 0 w 19"/>
                    <a:gd name="T7" fmla="*/ 0 h 55"/>
                    <a:gd name="T8" fmla="*/ 0 w 19"/>
                    <a:gd name="T9" fmla="*/ 0 h 55"/>
                    <a:gd name="T10" fmla="*/ 0 60000 65536"/>
                    <a:gd name="T11" fmla="*/ 0 60000 65536"/>
                    <a:gd name="T12" fmla="*/ 0 60000 65536"/>
                    <a:gd name="T13" fmla="*/ 0 60000 65536"/>
                    <a:gd name="T14" fmla="*/ 0 60000 65536"/>
                    <a:gd name="T15" fmla="*/ 0 w 19"/>
                    <a:gd name="T16" fmla="*/ 0 h 55"/>
                    <a:gd name="T17" fmla="*/ 19 w 19"/>
                    <a:gd name="T18" fmla="*/ 55 h 55"/>
                  </a:gdLst>
                  <a:ahLst/>
                  <a:cxnLst>
                    <a:cxn ang="T10">
                      <a:pos x="T0" y="T1"/>
                    </a:cxn>
                    <a:cxn ang="T11">
                      <a:pos x="T2" y="T3"/>
                    </a:cxn>
                    <a:cxn ang="T12">
                      <a:pos x="T4" y="T5"/>
                    </a:cxn>
                    <a:cxn ang="T13">
                      <a:pos x="T6" y="T7"/>
                    </a:cxn>
                    <a:cxn ang="T14">
                      <a:pos x="T8" y="T9"/>
                    </a:cxn>
                  </a:cxnLst>
                  <a:rect l="T15" t="T16" r="T17" b="T18"/>
                  <a:pathLst>
                    <a:path w="19" h="55">
                      <a:moveTo>
                        <a:pt x="0" y="45"/>
                      </a:moveTo>
                      <a:lnTo>
                        <a:pt x="10" y="55"/>
                      </a:lnTo>
                      <a:lnTo>
                        <a:pt x="19" y="52"/>
                      </a:lnTo>
                      <a:lnTo>
                        <a:pt x="11" y="0"/>
                      </a:lnTo>
                      <a:lnTo>
                        <a:pt x="0" y="4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3" name="16432405.255082.6252.255">
                  <a:extLst>
                    <a:ext uri="{FF2B5EF4-FFF2-40B4-BE49-F238E27FC236}">
                      <a16:creationId xmlns:a16="http://schemas.microsoft.com/office/drawing/2014/main" id="{D8DA9AF5-39D0-C5FE-23F3-A5578544D862}"/>
                    </a:ext>
                  </a:extLst>
                </p:cNvPr>
                <p:cNvSpPr>
                  <a:spLocks/>
                </p:cNvSpPr>
                <p:nvPr/>
              </p:nvSpPr>
              <p:spPr bwMode="auto">
                <a:xfrm>
                  <a:off x="3272652" y="4081823"/>
                  <a:ext cx="28368" cy="31156"/>
                </a:xfrm>
                <a:custGeom>
                  <a:avLst/>
                  <a:gdLst>
                    <a:gd name="T0" fmla="*/ 0 w 55"/>
                    <a:gd name="T1" fmla="*/ 1 h 53"/>
                    <a:gd name="T2" fmla="*/ 1 w 55"/>
                    <a:gd name="T3" fmla="*/ 1 h 53"/>
                    <a:gd name="T4" fmla="*/ 1 w 55"/>
                    <a:gd name="T5" fmla="*/ 0 h 53"/>
                    <a:gd name="T6" fmla="*/ 1 w 55"/>
                    <a:gd name="T7" fmla="*/ 1 h 53"/>
                    <a:gd name="T8" fmla="*/ 0 w 55"/>
                    <a:gd name="T9" fmla="*/ 1 h 53"/>
                    <a:gd name="T10" fmla="*/ 0 60000 65536"/>
                    <a:gd name="T11" fmla="*/ 0 60000 65536"/>
                    <a:gd name="T12" fmla="*/ 0 60000 65536"/>
                    <a:gd name="T13" fmla="*/ 0 60000 65536"/>
                    <a:gd name="T14" fmla="*/ 0 60000 65536"/>
                    <a:gd name="T15" fmla="*/ 0 w 55"/>
                    <a:gd name="T16" fmla="*/ 0 h 53"/>
                    <a:gd name="T17" fmla="*/ 55 w 55"/>
                    <a:gd name="T18" fmla="*/ 53 h 53"/>
                  </a:gdLst>
                  <a:ahLst/>
                  <a:cxnLst>
                    <a:cxn ang="T10">
                      <a:pos x="T0" y="T1"/>
                    </a:cxn>
                    <a:cxn ang="T11">
                      <a:pos x="T2" y="T3"/>
                    </a:cxn>
                    <a:cxn ang="T12">
                      <a:pos x="T4" y="T5"/>
                    </a:cxn>
                    <a:cxn ang="T13">
                      <a:pos x="T6" y="T7"/>
                    </a:cxn>
                    <a:cxn ang="T14">
                      <a:pos x="T8" y="T9"/>
                    </a:cxn>
                  </a:cxnLst>
                  <a:rect l="T15" t="T16" r="T17" b="T18"/>
                  <a:pathLst>
                    <a:path w="55" h="53">
                      <a:moveTo>
                        <a:pt x="0" y="53"/>
                      </a:moveTo>
                      <a:lnTo>
                        <a:pt x="22" y="9"/>
                      </a:lnTo>
                      <a:lnTo>
                        <a:pt x="48" y="0"/>
                      </a:lnTo>
                      <a:lnTo>
                        <a:pt x="55" y="44"/>
                      </a:lnTo>
                      <a:lnTo>
                        <a:pt x="0" y="5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4" name="16433376.625443.3756.758.6255">
                  <a:extLst>
                    <a:ext uri="{FF2B5EF4-FFF2-40B4-BE49-F238E27FC236}">
                      <a16:creationId xmlns:a16="http://schemas.microsoft.com/office/drawing/2014/main" id="{72A81722-D169-C218-DEDD-ED401C045660}"/>
                    </a:ext>
                  </a:extLst>
                </p:cNvPr>
                <p:cNvSpPr>
                  <a:spLocks/>
                </p:cNvSpPr>
                <p:nvPr/>
              </p:nvSpPr>
              <p:spPr bwMode="auto">
                <a:xfrm>
                  <a:off x="2485438" y="3741411"/>
                  <a:ext cx="104354" cy="80775"/>
                </a:xfrm>
                <a:custGeom>
                  <a:avLst/>
                  <a:gdLst>
                    <a:gd name="T0" fmla="*/ 0 w 206"/>
                    <a:gd name="T1" fmla="*/ 1 h 140"/>
                    <a:gd name="T2" fmla="*/ 1 w 206"/>
                    <a:gd name="T3" fmla="*/ 1 h 140"/>
                    <a:gd name="T4" fmla="*/ 1 w 206"/>
                    <a:gd name="T5" fmla="*/ 1 h 140"/>
                    <a:gd name="T6" fmla="*/ 1 w 206"/>
                    <a:gd name="T7" fmla="*/ 1 h 140"/>
                    <a:gd name="T8" fmla="*/ 1 w 206"/>
                    <a:gd name="T9" fmla="*/ 1 h 140"/>
                    <a:gd name="T10" fmla="*/ 1 w 206"/>
                    <a:gd name="T11" fmla="*/ 1 h 140"/>
                    <a:gd name="T12" fmla="*/ 1 w 206"/>
                    <a:gd name="T13" fmla="*/ 1 h 140"/>
                    <a:gd name="T14" fmla="*/ 1 w 206"/>
                    <a:gd name="T15" fmla="*/ 1 h 140"/>
                    <a:gd name="T16" fmla="*/ 1 w 206"/>
                    <a:gd name="T17" fmla="*/ 0 h 140"/>
                    <a:gd name="T18" fmla="*/ 1 w 206"/>
                    <a:gd name="T19" fmla="*/ 1 h 140"/>
                    <a:gd name="T20" fmla="*/ 0 w 206"/>
                    <a:gd name="T21" fmla="*/ 1 h 1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6"/>
                    <a:gd name="T34" fmla="*/ 0 h 140"/>
                    <a:gd name="T35" fmla="*/ 206 w 206"/>
                    <a:gd name="T36" fmla="*/ 140 h 1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6" h="140">
                      <a:moveTo>
                        <a:pt x="0" y="62"/>
                      </a:moveTo>
                      <a:lnTo>
                        <a:pt x="30" y="101"/>
                      </a:lnTo>
                      <a:lnTo>
                        <a:pt x="125" y="108"/>
                      </a:lnTo>
                      <a:lnTo>
                        <a:pt x="26" y="121"/>
                      </a:lnTo>
                      <a:lnTo>
                        <a:pt x="26" y="140"/>
                      </a:lnTo>
                      <a:lnTo>
                        <a:pt x="127" y="133"/>
                      </a:lnTo>
                      <a:lnTo>
                        <a:pt x="206" y="140"/>
                      </a:lnTo>
                      <a:lnTo>
                        <a:pt x="182" y="62"/>
                      </a:lnTo>
                      <a:lnTo>
                        <a:pt x="106" y="0"/>
                      </a:lnTo>
                      <a:lnTo>
                        <a:pt x="30" y="18"/>
                      </a:lnTo>
                      <a:lnTo>
                        <a:pt x="0" y="6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5" name="16434387.625449.254.8754.255">
                  <a:extLst>
                    <a:ext uri="{FF2B5EF4-FFF2-40B4-BE49-F238E27FC236}">
                      <a16:creationId xmlns:a16="http://schemas.microsoft.com/office/drawing/2014/main" id="{F0D02751-A7B9-727A-F317-01881BA5D72A}"/>
                    </a:ext>
                  </a:extLst>
                </p:cNvPr>
                <p:cNvSpPr>
                  <a:spLocks/>
                </p:cNvSpPr>
                <p:nvPr/>
              </p:nvSpPr>
              <p:spPr bwMode="auto">
                <a:xfrm>
                  <a:off x="2556358" y="3871806"/>
                  <a:ext cx="52683" cy="57697"/>
                </a:xfrm>
                <a:custGeom>
                  <a:avLst/>
                  <a:gdLst>
                    <a:gd name="T0" fmla="*/ 0 w 103"/>
                    <a:gd name="T1" fmla="*/ 0 h 101"/>
                    <a:gd name="T2" fmla="*/ 1 w 103"/>
                    <a:gd name="T3" fmla="*/ 0 h 101"/>
                    <a:gd name="T4" fmla="*/ 1 w 103"/>
                    <a:gd name="T5" fmla="*/ 0 h 101"/>
                    <a:gd name="T6" fmla="*/ 1 w 103"/>
                    <a:gd name="T7" fmla="*/ 0 h 101"/>
                    <a:gd name="T8" fmla="*/ 1 w 103"/>
                    <a:gd name="T9" fmla="*/ 0 h 101"/>
                    <a:gd name="T10" fmla="*/ 0 w 103"/>
                    <a:gd name="T11" fmla="*/ 0 h 101"/>
                    <a:gd name="T12" fmla="*/ 0 60000 65536"/>
                    <a:gd name="T13" fmla="*/ 0 60000 65536"/>
                    <a:gd name="T14" fmla="*/ 0 60000 65536"/>
                    <a:gd name="T15" fmla="*/ 0 60000 65536"/>
                    <a:gd name="T16" fmla="*/ 0 60000 65536"/>
                    <a:gd name="T17" fmla="*/ 0 60000 65536"/>
                    <a:gd name="T18" fmla="*/ 0 w 103"/>
                    <a:gd name="T19" fmla="*/ 0 h 101"/>
                    <a:gd name="T20" fmla="*/ 103 w 103"/>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103" h="101">
                      <a:moveTo>
                        <a:pt x="0" y="29"/>
                      </a:moveTo>
                      <a:lnTo>
                        <a:pt x="11" y="69"/>
                      </a:lnTo>
                      <a:lnTo>
                        <a:pt x="62" y="101"/>
                      </a:lnTo>
                      <a:lnTo>
                        <a:pt x="103" y="51"/>
                      </a:lnTo>
                      <a:lnTo>
                        <a:pt x="70" y="0"/>
                      </a:lnTo>
                      <a:lnTo>
                        <a:pt x="0" y="2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6" name="16435384.375524.6252214.255">
                  <a:extLst>
                    <a:ext uri="{FF2B5EF4-FFF2-40B4-BE49-F238E27FC236}">
                      <a16:creationId xmlns:a16="http://schemas.microsoft.com/office/drawing/2014/main" id="{24275831-1A20-B3AA-0C95-75D995120424}"/>
                    </a:ext>
                  </a:extLst>
                </p:cNvPr>
                <p:cNvSpPr>
                  <a:spLocks/>
                </p:cNvSpPr>
                <p:nvPr/>
              </p:nvSpPr>
              <p:spPr bwMode="auto">
                <a:xfrm>
                  <a:off x="3475282" y="3833726"/>
                  <a:ext cx="173249" cy="260789"/>
                </a:xfrm>
                <a:custGeom>
                  <a:avLst/>
                  <a:gdLst>
                    <a:gd name="T0" fmla="*/ 0 w 341"/>
                    <a:gd name="T1" fmla="*/ 0 h 453"/>
                    <a:gd name="T2" fmla="*/ 0 w 341"/>
                    <a:gd name="T3" fmla="*/ 0 h 453"/>
                    <a:gd name="T4" fmla="*/ 1 w 341"/>
                    <a:gd name="T5" fmla="*/ 0 h 453"/>
                    <a:gd name="T6" fmla="*/ 1 w 341"/>
                    <a:gd name="T7" fmla="*/ 0 h 453"/>
                    <a:gd name="T8" fmla="*/ 1 w 341"/>
                    <a:gd name="T9" fmla="*/ 0 h 453"/>
                    <a:gd name="T10" fmla="*/ 1 w 341"/>
                    <a:gd name="T11" fmla="*/ 0 h 453"/>
                    <a:gd name="T12" fmla="*/ 1 w 341"/>
                    <a:gd name="T13" fmla="*/ 0 h 453"/>
                    <a:gd name="T14" fmla="*/ 1 w 341"/>
                    <a:gd name="T15" fmla="*/ 0 h 453"/>
                    <a:gd name="T16" fmla="*/ 1 w 341"/>
                    <a:gd name="T17" fmla="*/ 0 h 453"/>
                    <a:gd name="T18" fmla="*/ 1 w 341"/>
                    <a:gd name="T19" fmla="*/ 0 h 453"/>
                    <a:gd name="T20" fmla="*/ 1 w 341"/>
                    <a:gd name="T21" fmla="*/ 0 h 453"/>
                    <a:gd name="T22" fmla="*/ 1 w 341"/>
                    <a:gd name="T23" fmla="*/ 0 h 453"/>
                    <a:gd name="T24" fmla="*/ 1 w 341"/>
                    <a:gd name="T25" fmla="*/ 0 h 453"/>
                    <a:gd name="T26" fmla="*/ 0 w 341"/>
                    <a:gd name="T27" fmla="*/ 0 h 4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1"/>
                    <a:gd name="T43" fmla="*/ 0 h 453"/>
                    <a:gd name="T44" fmla="*/ 341 w 341"/>
                    <a:gd name="T45" fmla="*/ 453 h 4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1" h="453">
                      <a:moveTo>
                        <a:pt x="0" y="425"/>
                      </a:moveTo>
                      <a:lnTo>
                        <a:pt x="0" y="303"/>
                      </a:lnTo>
                      <a:lnTo>
                        <a:pt x="27" y="267"/>
                      </a:lnTo>
                      <a:lnTo>
                        <a:pt x="132" y="230"/>
                      </a:lnTo>
                      <a:lnTo>
                        <a:pt x="233" y="130"/>
                      </a:lnTo>
                      <a:lnTo>
                        <a:pt x="101" y="96"/>
                      </a:lnTo>
                      <a:lnTo>
                        <a:pt x="60" y="36"/>
                      </a:lnTo>
                      <a:lnTo>
                        <a:pt x="75" y="17"/>
                      </a:lnTo>
                      <a:lnTo>
                        <a:pt x="128" y="52"/>
                      </a:lnTo>
                      <a:lnTo>
                        <a:pt x="325" y="0"/>
                      </a:lnTo>
                      <a:lnTo>
                        <a:pt x="341" y="52"/>
                      </a:lnTo>
                      <a:lnTo>
                        <a:pt x="221" y="264"/>
                      </a:lnTo>
                      <a:lnTo>
                        <a:pt x="16" y="453"/>
                      </a:lnTo>
                      <a:lnTo>
                        <a:pt x="0" y="42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7" name="16436429.125502.511.7510.8755">
                  <a:extLst>
                    <a:ext uri="{FF2B5EF4-FFF2-40B4-BE49-F238E27FC236}">
                      <a16:creationId xmlns:a16="http://schemas.microsoft.com/office/drawing/2014/main" id="{85E7BC3E-E4BF-DA14-07ED-F2900860E629}"/>
                    </a:ext>
                  </a:extLst>
                </p:cNvPr>
                <p:cNvSpPr>
                  <a:spLocks/>
                </p:cNvSpPr>
                <p:nvPr/>
              </p:nvSpPr>
              <p:spPr bwMode="auto">
                <a:xfrm>
                  <a:off x="3205785" y="4364538"/>
                  <a:ext cx="132722" cy="138472"/>
                </a:xfrm>
                <a:custGeom>
                  <a:avLst/>
                  <a:gdLst>
                    <a:gd name="T0" fmla="*/ 0 w 262"/>
                    <a:gd name="T1" fmla="*/ 0 h 241"/>
                    <a:gd name="T2" fmla="*/ 1 w 262"/>
                    <a:gd name="T3" fmla="*/ 0 h 241"/>
                    <a:gd name="T4" fmla="*/ 1 w 262"/>
                    <a:gd name="T5" fmla="*/ 0 h 241"/>
                    <a:gd name="T6" fmla="*/ 1 w 262"/>
                    <a:gd name="T7" fmla="*/ 0 h 241"/>
                    <a:gd name="T8" fmla="*/ 1 w 262"/>
                    <a:gd name="T9" fmla="*/ 0 h 241"/>
                    <a:gd name="T10" fmla="*/ 1 w 262"/>
                    <a:gd name="T11" fmla="*/ 0 h 241"/>
                    <a:gd name="T12" fmla="*/ 1 w 262"/>
                    <a:gd name="T13" fmla="*/ 0 h 241"/>
                    <a:gd name="T14" fmla="*/ 1 w 262"/>
                    <a:gd name="T15" fmla="*/ 0 h 241"/>
                    <a:gd name="T16" fmla="*/ 1 w 262"/>
                    <a:gd name="T17" fmla="*/ 0 h 241"/>
                    <a:gd name="T18" fmla="*/ 1 w 262"/>
                    <a:gd name="T19" fmla="*/ 0 h 241"/>
                    <a:gd name="T20" fmla="*/ 1 w 262"/>
                    <a:gd name="T21" fmla="*/ 0 h 241"/>
                    <a:gd name="T22" fmla="*/ 0 w 262"/>
                    <a:gd name="T23" fmla="*/ 0 h 2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2"/>
                    <a:gd name="T37" fmla="*/ 0 h 241"/>
                    <a:gd name="T38" fmla="*/ 262 w 262"/>
                    <a:gd name="T39" fmla="*/ 241 h 2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2" h="241">
                      <a:moveTo>
                        <a:pt x="0" y="74"/>
                      </a:moveTo>
                      <a:lnTo>
                        <a:pt x="59" y="76"/>
                      </a:lnTo>
                      <a:lnTo>
                        <a:pt x="118" y="32"/>
                      </a:lnTo>
                      <a:lnTo>
                        <a:pt x="121" y="12"/>
                      </a:lnTo>
                      <a:lnTo>
                        <a:pt x="171" y="0"/>
                      </a:lnTo>
                      <a:lnTo>
                        <a:pt x="254" y="26"/>
                      </a:lnTo>
                      <a:lnTo>
                        <a:pt x="262" y="61"/>
                      </a:lnTo>
                      <a:lnTo>
                        <a:pt x="258" y="149"/>
                      </a:lnTo>
                      <a:lnTo>
                        <a:pt x="214" y="241"/>
                      </a:lnTo>
                      <a:lnTo>
                        <a:pt x="138" y="224"/>
                      </a:lnTo>
                      <a:lnTo>
                        <a:pt x="93" y="202"/>
                      </a:lnTo>
                      <a:lnTo>
                        <a:pt x="0" y="7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8" name="16437431.25483.7520.62518.755">
                  <a:extLst>
                    <a:ext uri="{FF2B5EF4-FFF2-40B4-BE49-F238E27FC236}">
                      <a16:creationId xmlns:a16="http://schemas.microsoft.com/office/drawing/2014/main" id="{48ABEA3E-C4E2-6439-3E26-0C4E9ACE90FB}"/>
                    </a:ext>
                  </a:extLst>
                </p:cNvPr>
                <p:cNvSpPr>
                  <a:spLocks/>
                </p:cNvSpPr>
                <p:nvPr/>
              </p:nvSpPr>
              <p:spPr bwMode="auto">
                <a:xfrm>
                  <a:off x="2976815" y="4389924"/>
                  <a:ext cx="228971" cy="244635"/>
                </a:xfrm>
                <a:custGeom>
                  <a:avLst/>
                  <a:gdLst>
                    <a:gd name="T0" fmla="*/ 0 w 453"/>
                    <a:gd name="T1" fmla="*/ 0 h 425"/>
                    <a:gd name="T2" fmla="*/ 0 w 453"/>
                    <a:gd name="T3" fmla="*/ 0 h 425"/>
                    <a:gd name="T4" fmla="*/ 0 w 453"/>
                    <a:gd name="T5" fmla="*/ 0 h 425"/>
                    <a:gd name="T6" fmla="*/ 0 w 453"/>
                    <a:gd name="T7" fmla="*/ 0 h 425"/>
                    <a:gd name="T8" fmla="*/ 0 w 453"/>
                    <a:gd name="T9" fmla="*/ 0 h 425"/>
                    <a:gd name="T10" fmla="*/ 0 w 453"/>
                    <a:gd name="T11" fmla="*/ 0 h 425"/>
                    <a:gd name="T12" fmla="*/ 0 w 453"/>
                    <a:gd name="T13" fmla="*/ 0 h 425"/>
                    <a:gd name="T14" fmla="*/ 0 w 453"/>
                    <a:gd name="T15" fmla="*/ 0 h 425"/>
                    <a:gd name="T16" fmla="*/ 0 w 453"/>
                    <a:gd name="T17" fmla="*/ 0 h 425"/>
                    <a:gd name="T18" fmla="*/ 0 w 453"/>
                    <a:gd name="T19" fmla="*/ 0 h 425"/>
                    <a:gd name="T20" fmla="*/ 0 w 453"/>
                    <a:gd name="T21" fmla="*/ 0 h 425"/>
                    <a:gd name="T22" fmla="*/ 0 w 453"/>
                    <a:gd name="T23" fmla="*/ 0 h 425"/>
                    <a:gd name="T24" fmla="*/ 0 w 453"/>
                    <a:gd name="T25" fmla="*/ 0 h 425"/>
                    <a:gd name="T26" fmla="*/ 0 w 453"/>
                    <a:gd name="T27" fmla="*/ 0 h 425"/>
                    <a:gd name="T28" fmla="*/ 0 w 453"/>
                    <a:gd name="T29" fmla="*/ 0 h 425"/>
                    <a:gd name="T30" fmla="*/ 0 w 453"/>
                    <a:gd name="T31" fmla="*/ 0 h 425"/>
                    <a:gd name="T32" fmla="*/ 0 w 453"/>
                    <a:gd name="T33" fmla="*/ 0 h 425"/>
                    <a:gd name="T34" fmla="*/ 0 w 453"/>
                    <a:gd name="T35" fmla="*/ 0 h 425"/>
                    <a:gd name="T36" fmla="*/ 0 w 453"/>
                    <a:gd name="T37" fmla="*/ 0 h 425"/>
                    <a:gd name="T38" fmla="*/ 0 w 453"/>
                    <a:gd name="T39" fmla="*/ 0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53"/>
                    <a:gd name="T61" fmla="*/ 0 h 425"/>
                    <a:gd name="T62" fmla="*/ 453 w 453"/>
                    <a:gd name="T63" fmla="*/ 425 h 4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53" h="425">
                      <a:moveTo>
                        <a:pt x="0" y="14"/>
                      </a:moveTo>
                      <a:lnTo>
                        <a:pt x="55" y="0"/>
                      </a:lnTo>
                      <a:lnTo>
                        <a:pt x="328" y="40"/>
                      </a:lnTo>
                      <a:lnTo>
                        <a:pt x="389" y="22"/>
                      </a:lnTo>
                      <a:lnTo>
                        <a:pt x="453" y="30"/>
                      </a:lnTo>
                      <a:lnTo>
                        <a:pt x="398" y="61"/>
                      </a:lnTo>
                      <a:lnTo>
                        <a:pt x="377" y="40"/>
                      </a:lnTo>
                      <a:lnTo>
                        <a:pt x="312" y="54"/>
                      </a:lnTo>
                      <a:lnTo>
                        <a:pt x="312" y="173"/>
                      </a:lnTo>
                      <a:lnTo>
                        <a:pt x="278" y="175"/>
                      </a:lnTo>
                      <a:lnTo>
                        <a:pt x="278" y="268"/>
                      </a:lnTo>
                      <a:lnTo>
                        <a:pt x="278" y="404"/>
                      </a:lnTo>
                      <a:lnTo>
                        <a:pt x="249" y="425"/>
                      </a:lnTo>
                      <a:lnTo>
                        <a:pt x="207" y="425"/>
                      </a:lnTo>
                      <a:lnTo>
                        <a:pt x="183" y="396"/>
                      </a:lnTo>
                      <a:lnTo>
                        <a:pt x="164" y="411"/>
                      </a:lnTo>
                      <a:lnTo>
                        <a:pt x="120" y="365"/>
                      </a:lnTo>
                      <a:lnTo>
                        <a:pt x="97" y="216"/>
                      </a:lnTo>
                      <a:lnTo>
                        <a:pt x="97" y="198"/>
                      </a:lnTo>
                      <a:lnTo>
                        <a:pt x="0" y="1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9" name="16438357.875444.12511.37511.6255">
                  <a:extLst>
                    <a:ext uri="{FF2B5EF4-FFF2-40B4-BE49-F238E27FC236}">
                      <a16:creationId xmlns:a16="http://schemas.microsoft.com/office/drawing/2014/main" id="{001FD115-EB26-714E-6700-828DE637B436}"/>
                    </a:ext>
                  </a:extLst>
                </p:cNvPr>
                <p:cNvSpPr>
                  <a:spLocks/>
                </p:cNvSpPr>
                <p:nvPr/>
              </p:nvSpPr>
              <p:spPr bwMode="auto">
                <a:xfrm>
                  <a:off x="2494556" y="3518699"/>
                  <a:ext cx="141841" cy="135012"/>
                </a:xfrm>
                <a:custGeom>
                  <a:avLst/>
                  <a:gdLst>
                    <a:gd name="T0" fmla="*/ 0 w 281"/>
                    <a:gd name="T1" fmla="*/ 1 h 234"/>
                    <a:gd name="T2" fmla="*/ 0 w 281"/>
                    <a:gd name="T3" fmla="*/ 0 h 234"/>
                    <a:gd name="T4" fmla="*/ 0 w 281"/>
                    <a:gd name="T5" fmla="*/ 1 h 234"/>
                    <a:gd name="T6" fmla="*/ 0 w 281"/>
                    <a:gd name="T7" fmla="*/ 1 h 234"/>
                    <a:gd name="T8" fmla="*/ 0 w 281"/>
                    <a:gd name="T9" fmla="*/ 1 h 234"/>
                    <a:gd name="T10" fmla="*/ 0 w 281"/>
                    <a:gd name="T11" fmla="*/ 1 h 234"/>
                    <a:gd name="T12" fmla="*/ 0 w 281"/>
                    <a:gd name="T13" fmla="*/ 1 h 234"/>
                    <a:gd name="T14" fmla="*/ 0 w 281"/>
                    <a:gd name="T15" fmla="*/ 1 h 234"/>
                    <a:gd name="T16" fmla="*/ 0 w 281"/>
                    <a:gd name="T17" fmla="*/ 1 h 234"/>
                    <a:gd name="T18" fmla="*/ 0 w 281"/>
                    <a:gd name="T19" fmla="*/ 1 h 2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1"/>
                    <a:gd name="T31" fmla="*/ 0 h 234"/>
                    <a:gd name="T32" fmla="*/ 281 w 281"/>
                    <a:gd name="T33" fmla="*/ 234 h 2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1" h="234">
                      <a:moveTo>
                        <a:pt x="0" y="234"/>
                      </a:moveTo>
                      <a:lnTo>
                        <a:pt x="132" y="0"/>
                      </a:lnTo>
                      <a:lnTo>
                        <a:pt x="278" y="4"/>
                      </a:lnTo>
                      <a:lnTo>
                        <a:pt x="281" y="17"/>
                      </a:lnTo>
                      <a:lnTo>
                        <a:pt x="278" y="61"/>
                      </a:lnTo>
                      <a:lnTo>
                        <a:pt x="171" y="58"/>
                      </a:lnTo>
                      <a:lnTo>
                        <a:pt x="169" y="149"/>
                      </a:lnTo>
                      <a:lnTo>
                        <a:pt x="131" y="165"/>
                      </a:lnTo>
                      <a:lnTo>
                        <a:pt x="134" y="220"/>
                      </a:lnTo>
                      <a:lnTo>
                        <a:pt x="0" y="234"/>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0" name="16439365.75498.12532.125235">
                  <a:extLst>
                    <a:ext uri="{FF2B5EF4-FFF2-40B4-BE49-F238E27FC236}">
                      <a16:creationId xmlns:a16="http://schemas.microsoft.com/office/drawing/2014/main" id="{5004D4BD-785E-3D3A-7C67-393CAA9AFAB1}"/>
                    </a:ext>
                  </a:extLst>
                </p:cNvPr>
                <p:cNvSpPr>
                  <a:spLocks/>
                </p:cNvSpPr>
                <p:nvPr/>
              </p:nvSpPr>
              <p:spPr bwMode="auto">
                <a:xfrm>
                  <a:off x="3152088" y="3613324"/>
                  <a:ext cx="280642" cy="379646"/>
                </a:xfrm>
                <a:custGeom>
                  <a:avLst/>
                  <a:gdLst>
                    <a:gd name="T0" fmla="*/ 0 w 554"/>
                    <a:gd name="T1" fmla="*/ 0 h 659"/>
                    <a:gd name="T2" fmla="*/ 1 w 554"/>
                    <a:gd name="T3" fmla="*/ 0 h 659"/>
                    <a:gd name="T4" fmla="*/ 1 w 554"/>
                    <a:gd name="T5" fmla="*/ 0 h 659"/>
                    <a:gd name="T6" fmla="*/ 1 w 554"/>
                    <a:gd name="T7" fmla="*/ 0 h 659"/>
                    <a:gd name="T8" fmla="*/ 1 w 554"/>
                    <a:gd name="T9" fmla="*/ 0 h 659"/>
                    <a:gd name="T10" fmla="*/ 1 w 554"/>
                    <a:gd name="T11" fmla="*/ 0 h 659"/>
                    <a:gd name="T12" fmla="*/ 1 w 554"/>
                    <a:gd name="T13" fmla="*/ 0 h 659"/>
                    <a:gd name="T14" fmla="*/ 1 w 554"/>
                    <a:gd name="T15" fmla="*/ 0 h 659"/>
                    <a:gd name="T16" fmla="*/ 1 w 554"/>
                    <a:gd name="T17" fmla="*/ 0 h 659"/>
                    <a:gd name="T18" fmla="*/ 1 w 554"/>
                    <a:gd name="T19" fmla="*/ 0 h 659"/>
                    <a:gd name="T20" fmla="*/ 1 w 554"/>
                    <a:gd name="T21" fmla="*/ 0 h 659"/>
                    <a:gd name="T22" fmla="*/ 1 w 554"/>
                    <a:gd name="T23" fmla="*/ 0 h 659"/>
                    <a:gd name="T24" fmla="*/ 1 w 554"/>
                    <a:gd name="T25" fmla="*/ 0 h 659"/>
                    <a:gd name="T26" fmla="*/ 1 w 554"/>
                    <a:gd name="T27" fmla="*/ 0 h 659"/>
                    <a:gd name="T28" fmla="*/ 1 w 554"/>
                    <a:gd name="T29" fmla="*/ 0 h 659"/>
                    <a:gd name="T30" fmla="*/ 1 w 554"/>
                    <a:gd name="T31" fmla="*/ 0 h 659"/>
                    <a:gd name="T32" fmla="*/ 1 w 554"/>
                    <a:gd name="T33" fmla="*/ 0 h 659"/>
                    <a:gd name="T34" fmla="*/ 1 w 554"/>
                    <a:gd name="T35" fmla="*/ 0 h 659"/>
                    <a:gd name="T36" fmla="*/ 1 w 554"/>
                    <a:gd name="T37" fmla="*/ 0 h 659"/>
                    <a:gd name="T38" fmla="*/ 1 w 554"/>
                    <a:gd name="T39" fmla="*/ 0 h 659"/>
                    <a:gd name="T40" fmla="*/ 1 w 554"/>
                    <a:gd name="T41" fmla="*/ 0 h 659"/>
                    <a:gd name="T42" fmla="*/ 1 w 554"/>
                    <a:gd name="T43" fmla="*/ 0 h 659"/>
                    <a:gd name="T44" fmla="*/ 1 w 554"/>
                    <a:gd name="T45" fmla="*/ 0 h 659"/>
                    <a:gd name="T46" fmla="*/ 1 w 554"/>
                    <a:gd name="T47" fmla="*/ 0 h 659"/>
                    <a:gd name="T48" fmla="*/ 1 w 554"/>
                    <a:gd name="T49" fmla="*/ 0 h 659"/>
                    <a:gd name="T50" fmla="*/ 0 w 554"/>
                    <a:gd name="T51" fmla="*/ 0 h 6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54"/>
                    <a:gd name="T79" fmla="*/ 0 h 659"/>
                    <a:gd name="T80" fmla="*/ 554 w 554"/>
                    <a:gd name="T81" fmla="*/ 659 h 6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54" h="659">
                      <a:moveTo>
                        <a:pt x="0" y="348"/>
                      </a:moveTo>
                      <a:lnTo>
                        <a:pt x="26" y="414"/>
                      </a:lnTo>
                      <a:lnTo>
                        <a:pt x="51" y="485"/>
                      </a:lnTo>
                      <a:lnTo>
                        <a:pt x="107" y="512"/>
                      </a:lnTo>
                      <a:lnTo>
                        <a:pt x="188" y="609"/>
                      </a:lnTo>
                      <a:lnTo>
                        <a:pt x="299" y="659"/>
                      </a:lnTo>
                      <a:lnTo>
                        <a:pt x="402" y="646"/>
                      </a:lnTo>
                      <a:lnTo>
                        <a:pt x="464" y="627"/>
                      </a:lnTo>
                      <a:lnTo>
                        <a:pt x="427" y="557"/>
                      </a:lnTo>
                      <a:lnTo>
                        <a:pt x="368" y="517"/>
                      </a:lnTo>
                      <a:lnTo>
                        <a:pt x="407" y="491"/>
                      </a:lnTo>
                      <a:lnTo>
                        <a:pt x="411" y="430"/>
                      </a:lnTo>
                      <a:lnTo>
                        <a:pt x="477" y="349"/>
                      </a:lnTo>
                      <a:lnTo>
                        <a:pt x="503" y="206"/>
                      </a:lnTo>
                      <a:lnTo>
                        <a:pt x="554" y="175"/>
                      </a:lnTo>
                      <a:lnTo>
                        <a:pt x="514" y="144"/>
                      </a:lnTo>
                      <a:lnTo>
                        <a:pt x="499" y="38"/>
                      </a:lnTo>
                      <a:lnTo>
                        <a:pt x="455" y="0"/>
                      </a:lnTo>
                      <a:lnTo>
                        <a:pt x="402" y="45"/>
                      </a:lnTo>
                      <a:lnTo>
                        <a:pt x="101" y="37"/>
                      </a:lnTo>
                      <a:lnTo>
                        <a:pt x="101" y="104"/>
                      </a:lnTo>
                      <a:lnTo>
                        <a:pt x="71" y="106"/>
                      </a:lnTo>
                      <a:lnTo>
                        <a:pt x="71" y="125"/>
                      </a:lnTo>
                      <a:lnTo>
                        <a:pt x="70" y="252"/>
                      </a:lnTo>
                      <a:lnTo>
                        <a:pt x="35" y="258"/>
                      </a:lnTo>
                      <a:lnTo>
                        <a:pt x="0" y="34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1" name="16440446.125510.3752.6251.6255">
                  <a:extLst>
                    <a:ext uri="{FF2B5EF4-FFF2-40B4-BE49-F238E27FC236}">
                      <a16:creationId xmlns:a16="http://schemas.microsoft.com/office/drawing/2014/main" id="{CC6C215D-4FEB-EEED-E9C0-830729CF1AFE}"/>
                    </a:ext>
                  </a:extLst>
                </p:cNvPr>
                <p:cNvSpPr>
                  <a:spLocks/>
                </p:cNvSpPr>
                <p:nvPr/>
              </p:nvSpPr>
              <p:spPr bwMode="auto">
                <a:xfrm>
                  <a:off x="3302034" y="4565322"/>
                  <a:ext cx="20263" cy="31156"/>
                </a:xfrm>
                <a:custGeom>
                  <a:avLst/>
                  <a:gdLst>
                    <a:gd name="T0" fmla="*/ 0 w 39"/>
                    <a:gd name="T1" fmla="*/ 1 h 54"/>
                    <a:gd name="T2" fmla="*/ 1 w 39"/>
                    <a:gd name="T3" fmla="*/ 1 h 54"/>
                    <a:gd name="T4" fmla="*/ 1 w 39"/>
                    <a:gd name="T5" fmla="*/ 1 h 54"/>
                    <a:gd name="T6" fmla="*/ 1 w 39"/>
                    <a:gd name="T7" fmla="*/ 0 h 54"/>
                    <a:gd name="T8" fmla="*/ 0 w 39"/>
                    <a:gd name="T9" fmla="*/ 1 h 54"/>
                    <a:gd name="T10" fmla="*/ 0 60000 65536"/>
                    <a:gd name="T11" fmla="*/ 0 60000 65536"/>
                    <a:gd name="T12" fmla="*/ 0 60000 65536"/>
                    <a:gd name="T13" fmla="*/ 0 60000 65536"/>
                    <a:gd name="T14" fmla="*/ 0 60000 65536"/>
                    <a:gd name="T15" fmla="*/ 0 w 39"/>
                    <a:gd name="T16" fmla="*/ 0 h 54"/>
                    <a:gd name="T17" fmla="*/ 39 w 39"/>
                    <a:gd name="T18" fmla="*/ 54 h 54"/>
                  </a:gdLst>
                  <a:ahLst/>
                  <a:cxnLst>
                    <a:cxn ang="T10">
                      <a:pos x="T0" y="T1"/>
                    </a:cxn>
                    <a:cxn ang="T11">
                      <a:pos x="T2" y="T3"/>
                    </a:cxn>
                    <a:cxn ang="T12">
                      <a:pos x="T4" y="T5"/>
                    </a:cxn>
                    <a:cxn ang="T13">
                      <a:pos x="T6" y="T7"/>
                    </a:cxn>
                    <a:cxn ang="T14">
                      <a:pos x="T8" y="T9"/>
                    </a:cxn>
                  </a:cxnLst>
                  <a:rect l="T15" t="T16" r="T17" b="T18"/>
                  <a:pathLst>
                    <a:path w="39" h="54">
                      <a:moveTo>
                        <a:pt x="0" y="31"/>
                      </a:moveTo>
                      <a:lnTo>
                        <a:pt x="22" y="54"/>
                      </a:lnTo>
                      <a:lnTo>
                        <a:pt x="39" y="35"/>
                      </a:lnTo>
                      <a:lnTo>
                        <a:pt x="35" y="0"/>
                      </a:lnTo>
                      <a:lnTo>
                        <a:pt x="0" y="3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2" name="16441405.25508.87517.25155">
                  <a:extLst>
                    <a:ext uri="{FF2B5EF4-FFF2-40B4-BE49-F238E27FC236}">
                      <a16:creationId xmlns:a16="http://schemas.microsoft.com/office/drawing/2014/main" id="{8A6F14B3-BA44-302F-0202-B91778A6ACA4}"/>
                    </a:ext>
                  </a:extLst>
                </p:cNvPr>
                <p:cNvSpPr>
                  <a:spLocks/>
                </p:cNvSpPr>
                <p:nvPr/>
              </p:nvSpPr>
              <p:spPr bwMode="auto">
                <a:xfrm>
                  <a:off x="3283797" y="4080668"/>
                  <a:ext cx="182367" cy="205401"/>
                </a:xfrm>
                <a:custGeom>
                  <a:avLst/>
                  <a:gdLst>
                    <a:gd name="T0" fmla="*/ 0 w 361"/>
                    <a:gd name="T1" fmla="*/ 1 h 356"/>
                    <a:gd name="T2" fmla="*/ 0 w 361"/>
                    <a:gd name="T3" fmla="*/ 1 h 356"/>
                    <a:gd name="T4" fmla="*/ 0 w 361"/>
                    <a:gd name="T5" fmla="*/ 1 h 356"/>
                    <a:gd name="T6" fmla="*/ 0 w 361"/>
                    <a:gd name="T7" fmla="*/ 1 h 356"/>
                    <a:gd name="T8" fmla="*/ 0 w 361"/>
                    <a:gd name="T9" fmla="*/ 1 h 356"/>
                    <a:gd name="T10" fmla="*/ 0 w 361"/>
                    <a:gd name="T11" fmla="*/ 1 h 356"/>
                    <a:gd name="T12" fmla="*/ 0 w 361"/>
                    <a:gd name="T13" fmla="*/ 1 h 356"/>
                    <a:gd name="T14" fmla="*/ 0 w 361"/>
                    <a:gd name="T15" fmla="*/ 1 h 356"/>
                    <a:gd name="T16" fmla="*/ 0 w 361"/>
                    <a:gd name="T17" fmla="*/ 1 h 356"/>
                    <a:gd name="T18" fmla="*/ 0 w 361"/>
                    <a:gd name="T19" fmla="*/ 1 h 356"/>
                    <a:gd name="T20" fmla="*/ 0 w 361"/>
                    <a:gd name="T21" fmla="*/ 0 h 356"/>
                    <a:gd name="T22" fmla="*/ 0 w 361"/>
                    <a:gd name="T23" fmla="*/ 1 h 356"/>
                    <a:gd name="T24" fmla="*/ 0 w 361"/>
                    <a:gd name="T25" fmla="*/ 1 h 356"/>
                    <a:gd name="T26" fmla="*/ 0 w 361"/>
                    <a:gd name="T27" fmla="*/ 1 h 356"/>
                    <a:gd name="T28" fmla="*/ 0 w 361"/>
                    <a:gd name="T29" fmla="*/ 0 h 356"/>
                    <a:gd name="T30" fmla="*/ 0 w 361"/>
                    <a:gd name="T31" fmla="*/ 1 h 356"/>
                    <a:gd name="T32" fmla="*/ 0 w 361"/>
                    <a:gd name="T33" fmla="*/ 1 h 356"/>
                    <a:gd name="T34" fmla="*/ 0 w 361"/>
                    <a:gd name="T35" fmla="*/ 1 h 356"/>
                    <a:gd name="T36" fmla="*/ 0 w 361"/>
                    <a:gd name="T37" fmla="*/ 1 h 3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1"/>
                    <a:gd name="T58" fmla="*/ 0 h 356"/>
                    <a:gd name="T59" fmla="*/ 361 w 361"/>
                    <a:gd name="T60" fmla="*/ 356 h 3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1" h="356">
                      <a:moveTo>
                        <a:pt x="0" y="113"/>
                      </a:moveTo>
                      <a:lnTo>
                        <a:pt x="3" y="182"/>
                      </a:lnTo>
                      <a:lnTo>
                        <a:pt x="47" y="252"/>
                      </a:lnTo>
                      <a:lnTo>
                        <a:pt x="109" y="282"/>
                      </a:lnTo>
                      <a:lnTo>
                        <a:pt x="142" y="289"/>
                      </a:lnTo>
                      <a:lnTo>
                        <a:pt x="178" y="356"/>
                      </a:lnTo>
                      <a:lnTo>
                        <a:pt x="311" y="348"/>
                      </a:lnTo>
                      <a:lnTo>
                        <a:pt x="361" y="318"/>
                      </a:lnTo>
                      <a:lnTo>
                        <a:pt x="310" y="177"/>
                      </a:lnTo>
                      <a:lnTo>
                        <a:pt x="323" y="124"/>
                      </a:lnTo>
                      <a:lnTo>
                        <a:pt x="152" y="0"/>
                      </a:lnTo>
                      <a:lnTo>
                        <a:pt x="106" y="62"/>
                      </a:lnTo>
                      <a:lnTo>
                        <a:pt x="87" y="45"/>
                      </a:lnTo>
                      <a:lnTo>
                        <a:pt x="73" y="59"/>
                      </a:lnTo>
                      <a:lnTo>
                        <a:pt x="72" y="0"/>
                      </a:lnTo>
                      <a:lnTo>
                        <a:pt x="28" y="3"/>
                      </a:lnTo>
                      <a:lnTo>
                        <a:pt x="35" y="47"/>
                      </a:lnTo>
                      <a:lnTo>
                        <a:pt x="38" y="74"/>
                      </a:lnTo>
                      <a:lnTo>
                        <a:pt x="0" y="11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3" name="16442385.5467.3758.37535">
                  <a:extLst>
                    <a:ext uri="{FF2B5EF4-FFF2-40B4-BE49-F238E27FC236}">
                      <a16:creationId xmlns:a16="http://schemas.microsoft.com/office/drawing/2014/main" id="{96EEACDC-0824-3781-1AAA-CAE21F80A7A2}"/>
                    </a:ext>
                  </a:extLst>
                </p:cNvPr>
                <p:cNvSpPr>
                  <a:spLocks/>
                </p:cNvSpPr>
                <p:nvPr/>
              </p:nvSpPr>
              <p:spPr bwMode="auto">
                <a:xfrm>
                  <a:off x="2778236" y="3847573"/>
                  <a:ext cx="36474" cy="99239"/>
                </a:xfrm>
                <a:custGeom>
                  <a:avLst/>
                  <a:gdLst>
                    <a:gd name="T0" fmla="*/ 0 w 71"/>
                    <a:gd name="T1" fmla="*/ 0 h 171"/>
                    <a:gd name="T2" fmla="*/ 1 w 71"/>
                    <a:gd name="T3" fmla="*/ 1 h 171"/>
                    <a:gd name="T4" fmla="*/ 1 w 71"/>
                    <a:gd name="T5" fmla="*/ 1 h 171"/>
                    <a:gd name="T6" fmla="*/ 1 w 71"/>
                    <a:gd name="T7" fmla="*/ 1 h 171"/>
                    <a:gd name="T8" fmla="*/ 0 w 71"/>
                    <a:gd name="T9" fmla="*/ 0 h 171"/>
                    <a:gd name="T10" fmla="*/ 0 60000 65536"/>
                    <a:gd name="T11" fmla="*/ 0 60000 65536"/>
                    <a:gd name="T12" fmla="*/ 0 60000 65536"/>
                    <a:gd name="T13" fmla="*/ 0 60000 65536"/>
                    <a:gd name="T14" fmla="*/ 0 60000 65536"/>
                    <a:gd name="T15" fmla="*/ 0 w 71"/>
                    <a:gd name="T16" fmla="*/ 0 h 171"/>
                    <a:gd name="T17" fmla="*/ 71 w 71"/>
                    <a:gd name="T18" fmla="*/ 171 h 171"/>
                  </a:gdLst>
                  <a:ahLst/>
                  <a:cxnLst>
                    <a:cxn ang="T10">
                      <a:pos x="T0" y="T1"/>
                    </a:cxn>
                    <a:cxn ang="T11">
                      <a:pos x="T2" y="T3"/>
                    </a:cxn>
                    <a:cxn ang="T12">
                      <a:pos x="T4" y="T5"/>
                    </a:cxn>
                    <a:cxn ang="T13">
                      <a:pos x="T6" y="T7"/>
                    </a:cxn>
                    <a:cxn ang="T14">
                      <a:pos x="T8" y="T9"/>
                    </a:cxn>
                  </a:cxnLst>
                  <a:rect l="T15" t="T16" r="T17" b="T18"/>
                  <a:pathLst>
                    <a:path w="71" h="171">
                      <a:moveTo>
                        <a:pt x="0" y="0"/>
                      </a:moveTo>
                      <a:lnTo>
                        <a:pt x="35" y="8"/>
                      </a:lnTo>
                      <a:lnTo>
                        <a:pt x="71" y="164"/>
                      </a:lnTo>
                      <a:lnTo>
                        <a:pt x="46" y="171"/>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4" name="16443397.25508.8758.57.3755">
                  <a:extLst>
                    <a:ext uri="{FF2B5EF4-FFF2-40B4-BE49-F238E27FC236}">
                      <a16:creationId xmlns:a16="http://schemas.microsoft.com/office/drawing/2014/main" id="{C14497CA-5A83-10B0-E3E1-92EA84D5B7E3}"/>
                    </a:ext>
                  </a:extLst>
                </p:cNvPr>
                <p:cNvSpPr>
                  <a:spLocks/>
                </p:cNvSpPr>
                <p:nvPr/>
              </p:nvSpPr>
              <p:spPr bwMode="auto">
                <a:xfrm>
                  <a:off x="3283797" y="3986046"/>
                  <a:ext cx="90170" cy="101547"/>
                </a:xfrm>
                <a:custGeom>
                  <a:avLst/>
                  <a:gdLst>
                    <a:gd name="T0" fmla="*/ 0 w 177"/>
                    <a:gd name="T1" fmla="*/ 1 h 176"/>
                    <a:gd name="T2" fmla="*/ 1 w 177"/>
                    <a:gd name="T3" fmla="*/ 1 h 176"/>
                    <a:gd name="T4" fmla="*/ 1 w 177"/>
                    <a:gd name="T5" fmla="*/ 1 h 176"/>
                    <a:gd name="T6" fmla="*/ 1 w 177"/>
                    <a:gd name="T7" fmla="*/ 1 h 176"/>
                    <a:gd name="T8" fmla="*/ 1 w 177"/>
                    <a:gd name="T9" fmla="*/ 1 h 176"/>
                    <a:gd name="T10" fmla="*/ 1 w 177"/>
                    <a:gd name="T11" fmla="*/ 1 h 176"/>
                    <a:gd name="T12" fmla="*/ 1 w 177"/>
                    <a:gd name="T13" fmla="*/ 0 h 176"/>
                    <a:gd name="T14" fmla="*/ 1 w 177"/>
                    <a:gd name="T15" fmla="*/ 1 h 176"/>
                    <a:gd name="T16" fmla="*/ 1 w 177"/>
                    <a:gd name="T17" fmla="*/ 1 h 176"/>
                    <a:gd name="T18" fmla="*/ 1 w 177"/>
                    <a:gd name="T19" fmla="*/ 1 h 176"/>
                    <a:gd name="T20" fmla="*/ 0 w 177"/>
                    <a:gd name="T21" fmla="*/ 1 h 1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7"/>
                    <a:gd name="T34" fmla="*/ 0 h 176"/>
                    <a:gd name="T35" fmla="*/ 177 w 177"/>
                    <a:gd name="T36" fmla="*/ 176 h 1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7" h="176">
                      <a:moveTo>
                        <a:pt x="0" y="176"/>
                      </a:moveTo>
                      <a:lnTo>
                        <a:pt x="26" y="167"/>
                      </a:lnTo>
                      <a:lnTo>
                        <a:pt x="70" y="164"/>
                      </a:lnTo>
                      <a:lnTo>
                        <a:pt x="71" y="139"/>
                      </a:lnTo>
                      <a:lnTo>
                        <a:pt x="141" y="125"/>
                      </a:lnTo>
                      <a:lnTo>
                        <a:pt x="177" y="65"/>
                      </a:lnTo>
                      <a:lnTo>
                        <a:pt x="141" y="0"/>
                      </a:lnTo>
                      <a:lnTo>
                        <a:pt x="38" y="13"/>
                      </a:lnTo>
                      <a:lnTo>
                        <a:pt x="51" y="61"/>
                      </a:lnTo>
                      <a:lnTo>
                        <a:pt x="29" y="92"/>
                      </a:lnTo>
                      <a:lnTo>
                        <a:pt x="0" y="17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5" name="16444350.875501.62517.12515.6255">
                  <a:extLst>
                    <a:ext uri="{FF2B5EF4-FFF2-40B4-BE49-F238E27FC236}">
                      <a16:creationId xmlns:a16="http://schemas.microsoft.com/office/drawing/2014/main" id="{C8028992-C421-1E98-2895-95CC039D0F32}"/>
                    </a:ext>
                  </a:extLst>
                </p:cNvPr>
                <p:cNvSpPr>
                  <a:spLocks/>
                </p:cNvSpPr>
                <p:nvPr/>
              </p:nvSpPr>
              <p:spPr bwMode="auto">
                <a:xfrm>
                  <a:off x="3195652" y="3436771"/>
                  <a:ext cx="189459" cy="203092"/>
                </a:xfrm>
                <a:custGeom>
                  <a:avLst/>
                  <a:gdLst>
                    <a:gd name="T0" fmla="*/ 0 w 374"/>
                    <a:gd name="T1" fmla="*/ 1 h 351"/>
                    <a:gd name="T2" fmla="*/ 1 w 374"/>
                    <a:gd name="T3" fmla="*/ 1 h 351"/>
                    <a:gd name="T4" fmla="*/ 1 w 374"/>
                    <a:gd name="T5" fmla="*/ 1 h 351"/>
                    <a:gd name="T6" fmla="*/ 1 w 374"/>
                    <a:gd name="T7" fmla="*/ 1 h 351"/>
                    <a:gd name="T8" fmla="*/ 1 w 374"/>
                    <a:gd name="T9" fmla="*/ 1 h 351"/>
                    <a:gd name="T10" fmla="*/ 1 w 374"/>
                    <a:gd name="T11" fmla="*/ 1 h 351"/>
                    <a:gd name="T12" fmla="*/ 1 w 374"/>
                    <a:gd name="T13" fmla="*/ 1 h 351"/>
                    <a:gd name="T14" fmla="*/ 1 w 374"/>
                    <a:gd name="T15" fmla="*/ 1 h 351"/>
                    <a:gd name="T16" fmla="*/ 1 w 374"/>
                    <a:gd name="T17" fmla="*/ 1 h 351"/>
                    <a:gd name="T18" fmla="*/ 1 w 374"/>
                    <a:gd name="T19" fmla="*/ 1 h 351"/>
                    <a:gd name="T20" fmla="*/ 1 w 374"/>
                    <a:gd name="T21" fmla="*/ 1 h 351"/>
                    <a:gd name="T22" fmla="*/ 1 w 374"/>
                    <a:gd name="T23" fmla="*/ 1 h 351"/>
                    <a:gd name="T24" fmla="*/ 1 w 374"/>
                    <a:gd name="T25" fmla="*/ 1 h 351"/>
                    <a:gd name="T26" fmla="*/ 1 w 374"/>
                    <a:gd name="T27" fmla="*/ 0 h 351"/>
                    <a:gd name="T28" fmla="*/ 0 w 374"/>
                    <a:gd name="T29" fmla="*/ 1 h 3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74"/>
                    <a:gd name="T46" fmla="*/ 0 h 351"/>
                    <a:gd name="T47" fmla="*/ 374 w 374"/>
                    <a:gd name="T48" fmla="*/ 351 h 3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74" h="351">
                      <a:moveTo>
                        <a:pt x="0" y="58"/>
                      </a:moveTo>
                      <a:lnTo>
                        <a:pt x="15" y="343"/>
                      </a:lnTo>
                      <a:lnTo>
                        <a:pt x="316" y="351"/>
                      </a:lnTo>
                      <a:lnTo>
                        <a:pt x="369" y="306"/>
                      </a:lnTo>
                      <a:lnTo>
                        <a:pt x="374" y="276"/>
                      </a:lnTo>
                      <a:lnTo>
                        <a:pt x="261" y="75"/>
                      </a:lnTo>
                      <a:lnTo>
                        <a:pt x="316" y="139"/>
                      </a:lnTo>
                      <a:lnTo>
                        <a:pt x="344" y="84"/>
                      </a:lnTo>
                      <a:lnTo>
                        <a:pt x="316" y="13"/>
                      </a:lnTo>
                      <a:lnTo>
                        <a:pt x="246" y="24"/>
                      </a:lnTo>
                      <a:lnTo>
                        <a:pt x="245" y="5"/>
                      </a:lnTo>
                      <a:lnTo>
                        <a:pt x="208" y="5"/>
                      </a:lnTo>
                      <a:lnTo>
                        <a:pt x="146" y="31"/>
                      </a:lnTo>
                      <a:lnTo>
                        <a:pt x="15" y="0"/>
                      </a:lnTo>
                      <a:lnTo>
                        <a:pt x="0" y="5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6" name="16445379.375460.3758.87510.55">
                  <a:extLst>
                    <a:ext uri="{FF2B5EF4-FFF2-40B4-BE49-F238E27FC236}">
                      <a16:creationId xmlns:a16="http://schemas.microsoft.com/office/drawing/2014/main" id="{E2F19338-4C8E-4482-47D8-5FC31D40E049}"/>
                    </a:ext>
                  </a:extLst>
                </p:cNvPr>
                <p:cNvSpPr>
                  <a:spLocks/>
                </p:cNvSpPr>
                <p:nvPr/>
              </p:nvSpPr>
              <p:spPr bwMode="auto">
                <a:xfrm>
                  <a:off x="2693134" y="3773721"/>
                  <a:ext cx="127656" cy="106163"/>
                </a:xfrm>
                <a:custGeom>
                  <a:avLst/>
                  <a:gdLst>
                    <a:gd name="T0" fmla="*/ 0 w 252"/>
                    <a:gd name="T1" fmla="*/ 1 h 184"/>
                    <a:gd name="T2" fmla="*/ 1 w 252"/>
                    <a:gd name="T3" fmla="*/ 1 h 184"/>
                    <a:gd name="T4" fmla="*/ 1 w 252"/>
                    <a:gd name="T5" fmla="*/ 1 h 184"/>
                    <a:gd name="T6" fmla="*/ 1 w 252"/>
                    <a:gd name="T7" fmla="*/ 1 h 184"/>
                    <a:gd name="T8" fmla="*/ 1 w 252"/>
                    <a:gd name="T9" fmla="*/ 1 h 184"/>
                    <a:gd name="T10" fmla="*/ 1 w 252"/>
                    <a:gd name="T11" fmla="*/ 1 h 184"/>
                    <a:gd name="T12" fmla="*/ 1 w 252"/>
                    <a:gd name="T13" fmla="*/ 1 h 184"/>
                    <a:gd name="T14" fmla="*/ 1 w 252"/>
                    <a:gd name="T15" fmla="*/ 1 h 184"/>
                    <a:gd name="T16" fmla="*/ 1 w 252"/>
                    <a:gd name="T17" fmla="*/ 0 h 184"/>
                    <a:gd name="T18" fmla="*/ 1 w 252"/>
                    <a:gd name="T19" fmla="*/ 1 h 184"/>
                    <a:gd name="T20" fmla="*/ 0 w 252"/>
                    <a:gd name="T21" fmla="*/ 1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2"/>
                    <a:gd name="T34" fmla="*/ 0 h 184"/>
                    <a:gd name="T35" fmla="*/ 252 w 252"/>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2" h="184">
                      <a:moveTo>
                        <a:pt x="0" y="156"/>
                      </a:moveTo>
                      <a:lnTo>
                        <a:pt x="18" y="177"/>
                      </a:lnTo>
                      <a:lnTo>
                        <a:pt x="85" y="184"/>
                      </a:lnTo>
                      <a:lnTo>
                        <a:pt x="78" y="137"/>
                      </a:lnTo>
                      <a:lnTo>
                        <a:pt x="168" y="129"/>
                      </a:lnTo>
                      <a:lnTo>
                        <a:pt x="203" y="137"/>
                      </a:lnTo>
                      <a:lnTo>
                        <a:pt x="252" y="103"/>
                      </a:lnTo>
                      <a:lnTo>
                        <a:pt x="187" y="33"/>
                      </a:lnTo>
                      <a:lnTo>
                        <a:pt x="180" y="0"/>
                      </a:lnTo>
                      <a:lnTo>
                        <a:pt x="43" y="60"/>
                      </a:lnTo>
                      <a:lnTo>
                        <a:pt x="0" y="15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7" name="16446416.875498.12515.87516.3755">
                  <a:extLst>
                    <a:ext uri="{FF2B5EF4-FFF2-40B4-BE49-F238E27FC236}">
                      <a16:creationId xmlns:a16="http://schemas.microsoft.com/office/drawing/2014/main" id="{2BB2E4E6-13B9-3F11-FE3F-647F95831C98}"/>
                    </a:ext>
                  </a:extLst>
                </p:cNvPr>
                <p:cNvSpPr>
                  <a:spLocks/>
                </p:cNvSpPr>
                <p:nvPr/>
              </p:nvSpPr>
              <p:spPr bwMode="auto">
                <a:xfrm>
                  <a:off x="3153101" y="4219141"/>
                  <a:ext cx="198577" cy="188091"/>
                </a:xfrm>
                <a:custGeom>
                  <a:avLst/>
                  <a:gdLst>
                    <a:gd name="T0" fmla="*/ 0 w 393"/>
                    <a:gd name="T1" fmla="*/ 1 h 326"/>
                    <a:gd name="T2" fmla="*/ 0 w 393"/>
                    <a:gd name="T3" fmla="*/ 1 h 326"/>
                    <a:gd name="T4" fmla="*/ 0 w 393"/>
                    <a:gd name="T5" fmla="*/ 1 h 326"/>
                    <a:gd name="T6" fmla="*/ 0 w 393"/>
                    <a:gd name="T7" fmla="*/ 1 h 326"/>
                    <a:gd name="T8" fmla="*/ 0 w 393"/>
                    <a:gd name="T9" fmla="*/ 1 h 326"/>
                    <a:gd name="T10" fmla="*/ 0 w 393"/>
                    <a:gd name="T11" fmla="*/ 1 h 326"/>
                    <a:gd name="T12" fmla="*/ 0 w 393"/>
                    <a:gd name="T13" fmla="*/ 1 h 326"/>
                    <a:gd name="T14" fmla="*/ 0 w 393"/>
                    <a:gd name="T15" fmla="*/ 1 h 326"/>
                    <a:gd name="T16" fmla="*/ 0 w 393"/>
                    <a:gd name="T17" fmla="*/ 1 h 326"/>
                    <a:gd name="T18" fmla="*/ 0 w 393"/>
                    <a:gd name="T19" fmla="*/ 1 h 326"/>
                    <a:gd name="T20" fmla="*/ 0 w 393"/>
                    <a:gd name="T21" fmla="*/ 1 h 326"/>
                    <a:gd name="T22" fmla="*/ 0 w 393"/>
                    <a:gd name="T23" fmla="*/ 1 h 326"/>
                    <a:gd name="T24" fmla="*/ 0 w 393"/>
                    <a:gd name="T25" fmla="*/ 1 h 326"/>
                    <a:gd name="T26" fmla="*/ 0 w 393"/>
                    <a:gd name="T27" fmla="*/ 1 h 326"/>
                    <a:gd name="T28" fmla="*/ 0 w 393"/>
                    <a:gd name="T29" fmla="*/ 0 h 326"/>
                    <a:gd name="T30" fmla="*/ 0 w 393"/>
                    <a:gd name="T31" fmla="*/ 1 h 326"/>
                    <a:gd name="T32" fmla="*/ 0 w 393"/>
                    <a:gd name="T33" fmla="*/ 1 h 326"/>
                    <a:gd name="T34" fmla="*/ 0 w 393"/>
                    <a:gd name="T35" fmla="*/ 1 h 326"/>
                    <a:gd name="T36" fmla="*/ 0 w 393"/>
                    <a:gd name="T37" fmla="*/ 1 h 326"/>
                    <a:gd name="T38" fmla="*/ 0 w 393"/>
                    <a:gd name="T39" fmla="*/ 1 h 326"/>
                    <a:gd name="T40" fmla="*/ 0 w 393"/>
                    <a:gd name="T41" fmla="*/ 1 h 326"/>
                    <a:gd name="T42" fmla="*/ 0 w 393"/>
                    <a:gd name="T43" fmla="*/ 1 h 3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93"/>
                    <a:gd name="T67" fmla="*/ 0 h 326"/>
                    <a:gd name="T68" fmla="*/ 393 w 393"/>
                    <a:gd name="T69" fmla="*/ 326 h 32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93" h="326">
                      <a:moveTo>
                        <a:pt x="0" y="159"/>
                      </a:moveTo>
                      <a:lnTo>
                        <a:pt x="0" y="284"/>
                      </a:lnTo>
                      <a:lnTo>
                        <a:pt x="41" y="316"/>
                      </a:lnTo>
                      <a:lnTo>
                        <a:pt x="105" y="324"/>
                      </a:lnTo>
                      <a:lnTo>
                        <a:pt x="164" y="326"/>
                      </a:lnTo>
                      <a:lnTo>
                        <a:pt x="223" y="282"/>
                      </a:lnTo>
                      <a:lnTo>
                        <a:pt x="226" y="262"/>
                      </a:lnTo>
                      <a:lnTo>
                        <a:pt x="276" y="250"/>
                      </a:lnTo>
                      <a:lnTo>
                        <a:pt x="267" y="232"/>
                      </a:lnTo>
                      <a:lnTo>
                        <a:pt x="374" y="199"/>
                      </a:lnTo>
                      <a:lnTo>
                        <a:pt x="360" y="183"/>
                      </a:lnTo>
                      <a:lnTo>
                        <a:pt x="393" y="84"/>
                      </a:lnTo>
                      <a:lnTo>
                        <a:pt x="367" y="41"/>
                      </a:lnTo>
                      <a:lnTo>
                        <a:pt x="305" y="11"/>
                      </a:lnTo>
                      <a:lnTo>
                        <a:pt x="289" y="0"/>
                      </a:lnTo>
                      <a:lnTo>
                        <a:pt x="228" y="30"/>
                      </a:lnTo>
                      <a:lnTo>
                        <a:pt x="221" y="117"/>
                      </a:lnTo>
                      <a:lnTo>
                        <a:pt x="258" y="133"/>
                      </a:lnTo>
                      <a:lnTo>
                        <a:pt x="260" y="169"/>
                      </a:lnTo>
                      <a:lnTo>
                        <a:pt x="69" y="90"/>
                      </a:lnTo>
                      <a:lnTo>
                        <a:pt x="74" y="159"/>
                      </a:lnTo>
                      <a:lnTo>
                        <a:pt x="0" y="15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8" name="16447451.375505.12543.255">
                  <a:extLst>
                    <a:ext uri="{FF2B5EF4-FFF2-40B4-BE49-F238E27FC236}">
                      <a16:creationId xmlns:a16="http://schemas.microsoft.com/office/drawing/2014/main" id="{FD852D2B-21E8-C284-E604-142C6DA15E30}"/>
                    </a:ext>
                  </a:extLst>
                </p:cNvPr>
                <p:cNvSpPr>
                  <a:spLocks/>
                </p:cNvSpPr>
                <p:nvPr/>
              </p:nvSpPr>
              <p:spPr bwMode="auto">
                <a:xfrm>
                  <a:off x="3237192" y="4628790"/>
                  <a:ext cx="39513" cy="46157"/>
                </a:xfrm>
                <a:custGeom>
                  <a:avLst/>
                  <a:gdLst>
                    <a:gd name="T0" fmla="*/ 0 w 77"/>
                    <a:gd name="T1" fmla="*/ 1 h 80"/>
                    <a:gd name="T2" fmla="*/ 1 w 77"/>
                    <a:gd name="T3" fmla="*/ 1 h 80"/>
                    <a:gd name="T4" fmla="*/ 1 w 77"/>
                    <a:gd name="T5" fmla="*/ 1 h 80"/>
                    <a:gd name="T6" fmla="*/ 1 w 77"/>
                    <a:gd name="T7" fmla="*/ 0 h 80"/>
                    <a:gd name="T8" fmla="*/ 0 w 77"/>
                    <a:gd name="T9" fmla="*/ 1 h 80"/>
                    <a:gd name="T10" fmla="*/ 0 60000 65536"/>
                    <a:gd name="T11" fmla="*/ 0 60000 65536"/>
                    <a:gd name="T12" fmla="*/ 0 60000 65536"/>
                    <a:gd name="T13" fmla="*/ 0 60000 65536"/>
                    <a:gd name="T14" fmla="*/ 0 60000 65536"/>
                    <a:gd name="T15" fmla="*/ 0 w 77"/>
                    <a:gd name="T16" fmla="*/ 0 h 80"/>
                    <a:gd name="T17" fmla="*/ 77 w 77"/>
                    <a:gd name="T18" fmla="*/ 80 h 80"/>
                  </a:gdLst>
                  <a:ahLst/>
                  <a:cxnLst>
                    <a:cxn ang="T10">
                      <a:pos x="T0" y="T1"/>
                    </a:cxn>
                    <a:cxn ang="T11">
                      <a:pos x="T2" y="T3"/>
                    </a:cxn>
                    <a:cxn ang="T12">
                      <a:pos x="T4" y="T5"/>
                    </a:cxn>
                    <a:cxn ang="T13">
                      <a:pos x="T6" y="T7"/>
                    </a:cxn>
                    <a:cxn ang="T14">
                      <a:pos x="T8" y="T9"/>
                    </a:cxn>
                  </a:cxnLst>
                  <a:rect l="T15" t="T16" r="T17" b="T18"/>
                  <a:pathLst>
                    <a:path w="77" h="80">
                      <a:moveTo>
                        <a:pt x="0" y="39"/>
                      </a:moveTo>
                      <a:lnTo>
                        <a:pt x="29" y="80"/>
                      </a:lnTo>
                      <a:lnTo>
                        <a:pt x="77" y="39"/>
                      </a:lnTo>
                      <a:lnTo>
                        <a:pt x="55" y="0"/>
                      </a:lnTo>
                      <a:lnTo>
                        <a:pt x="0" y="3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9" name="16448303.375499.87510115">
                  <a:extLst>
                    <a:ext uri="{FF2B5EF4-FFF2-40B4-BE49-F238E27FC236}">
                      <a16:creationId xmlns:a16="http://schemas.microsoft.com/office/drawing/2014/main" id="{0A478219-0EC8-2568-F7BB-18DA0C9F81DB}"/>
                    </a:ext>
                  </a:extLst>
                </p:cNvPr>
                <p:cNvSpPr>
                  <a:spLocks/>
                </p:cNvSpPr>
                <p:nvPr/>
              </p:nvSpPr>
              <p:spPr bwMode="auto">
                <a:xfrm>
                  <a:off x="3174378" y="2872496"/>
                  <a:ext cx="133736" cy="118856"/>
                </a:xfrm>
                <a:custGeom>
                  <a:avLst/>
                  <a:gdLst>
                    <a:gd name="T0" fmla="*/ 0 w 265"/>
                    <a:gd name="T1" fmla="*/ 0 h 207"/>
                    <a:gd name="T2" fmla="*/ 0 w 265"/>
                    <a:gd name="T3" fmla="*/ 0 h 207"/>
                    <a:gd name="T4" fmla="*/ 0 w 265"/>
                    <a:gd name="T5" fmla="*/ 0 h 207"/>
                    <a:gd name="T6" fmla="*/ 0 w 265"/>
                    <a:gd name="T7" fmla="*/ 0 h 207"/>
                    <a:gd name="T8" fmla="*/ 0 w 265"/>
                    <a:gd name="T9" fmla="*/ 0 h 207"/>
                    <a:gd name="T10" fmla="*/ 0 w 265"/>
                    <a:gd name="T11" fmla="*/ 0 h 207"/>
                    <a:gd name="T12" fmla="*/ 0 w 265"/>
                    <a:gd name="T13" fmla="*/ 0 h 207"/>
                    <a:gd name="T14" fmla="*/ 0 w 265"/>
                    <a:gd name="T15" fmla="*/ 0 h 207"/>
                    <a:gd name="T16" fmla="*/ 0 w 265"/>
                    <a:gd name="T17" fmla="*/ 0 h 207"/>
                    <a:gd name="T18" fmla="*/ 0 w 265"/>
                    <a:gd name="T19" fmla="*/ 0 h 207"/>
                    <a:gd name="T20" fmla="*/ 0 w 265"/>
                    <a:gd name="T21" fmla="*/ 0 h 207"/>
                    <a:gd name="T22" fmla="*/ 0 w 265"/>
                    <a:gd name="T23" fmla="*/ 0 h 207"/>
                    <a:gd name="T24" fmla="*/ 0 w 265"/>
                    <a:gd name="T25" fmla="*/ 0 h 207"/>
                    <a:gd name="T26" fmla="*/ 0 w 265"/>
                    <a:gd name="T27" fmla="*/ 0 h 207"/>
                    <a:gd name="T28" fmla="*/ 0 w 265"/>
                    <a:gd name="T29" fmla="*/ 0 h 207"/>
                    <a:gd name="T30" fmla="*/ 0 w 265"/>
                    <a:gd name="T31" fmla="*/ 0 h 207"/>
                    <a:gd name="T32" fmla="*/ 0 w 265"/>
                    <a:gd name="T33" fmla="*/ 0 h 207"/>
                    <a:gd name="T34" fmla="*/ 0 w 265"/>
                    <a:gd name="T35" fmla="*/ 0 h 207"/>
                    <a:gd name="T36" fmla="*/ 0 w 265"/>
                    <a:gd name="T37" fmla="*/ 0 h 207"/>
                    <a:gd name="T38" fmla="*/ 0 w 265"/>
                    <a:gd name="T39" fmla="*/ 0 h 207"/>
                    <a:gd name="T40" fmla="*/ 0 w 265"/>
                    <a:gd name="T41" fmla="*/ 0 h 207"/>
                    <a:gd name="T42" fmla="*/ 0 w 265"/>
                    <a:gd name="T43" fmla="*/ 0 h 207"/>
                    <a:gd name="T44" fmla="*/ 0 w 265"/>
                    <a:gd name="T45" fmla="*/ 0 h 207"/>
                    <a:gd name="T46" fmla="*/ 0 w 265"/>
                    <a:gd name="T47" fmla="*/ 0 h 207"/>
                    <a:gd name="T48" fmla="*/ 0 w 265"/>
                    <a:gd name="T49" fmla="*/ 0 h 207"/>
                    <a:gd name="T50" fmla="*/ 0 w 265"/>
                    <a:gd name="T51" fmla="*/ 0 h 207"/>
                    <a:gd name="T52" fmla="*/ 0 w 265"/>
                    <a:gd name="T53" fmla="*/ 0 h 207"/>
                    <a:gd name="T54" fmla="*/ 0 w 265"/>
                    <a:gd name="T55" fmla="*/ 0 h 207"/>
                    <a:gd name="T56" fmla="*/ 0 w 265"/>
                    <a:gd name="T57" fmla="*/ 0 h 207"/>
                    <a:gd name="T58" fmla="*/ 0 w 265"/>
                    <a:gd name="T59" fmla="*/ 0 h 207"/>
                    <a:gd name="T60" fmla="*/ 0 w 265"/>
                    <a:gd name="T61" fmla="*/ 0 h 207"/>
                    <a:gd name="T62" fmla="*/ 0 w 265"/>
                    <a:gd name="T63" fmla="*/ 0 h 207"/>
                    <a:gd name="T64" fmla="*/ 0 w 265"/>
                    <a:gd name="T65" fmla="*/ 0 h 207"/>
                    <a:gd name="T66" fmla="*/ 0 w 265"/>
                    <a:gd name="T67" fmla="*/ 0 h 207"/>
                    <a:gd name="T68" fmla="*/ 0 w 265"/>
                    <a:gd name="T69" fmla="*/ 0 h 207"/>
                    <a:gd name="T70" fmla="*/ 0 w 265"/>
                    <a:gd name="T71" fmla="*/ 0 h 207"/>
                    <a:gd name="T72" fmla="*/ 0 w 265"/>
                    <a:gd name="T73" fmla="*/ 0 h 207"/>
                    <a:gd name="T74" fmla="*/ 0 w 265"/>
                    <a:gd name="T75" fmla="*/ 0 h 207"/>
                    <a:gd name="T76" fmla="*/ 0 w 265"/>
                    <a:gd name="T77" fmla="*/ 0 h 207"/>
                    <a:gd name="T78" fmla="*/ 0 w 265"/>
                    <a:gd name="T79" fmla="*/ 0 h 207"/>
                    <a:gd name="T80" fmla="*/ 0 w 265"/>
                    <a:gd name="T81" fmla="*/ 0 h 2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65"/>
                    <a:gd name="T124" fmla="*/ 0 h 207"/>
                    <a:gd name="T125" fmla="*/ 265 w 265"/>
                    <a:gd name="T126" fmla="*/ 207 h 20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65" h="207">
                      <a:moveTo>
                        <a:pt x="86" y="0"/>
                      </a:moveTo>
                      <a:lnTo>
                        <a:pt x="108" y="5"/>
                      </a:lnTo>
                      <a:lnTo>
                        <a:pt x="130" y="20"/>
                      </a:lnTo>
                      <a:lnTo>
                        <a:pt x="166" y="20"/>
                      </a:lnTo>
                      <a:lnTo>
                        <a:pt x="203" y="25"/>
                      </a:lnTo>
                      <a:lnTo>
                        <a:pt x="221" y="50"/>
                      </a:lnTo>
                      <a:lnTo>
                        <a:pt x="236" y="84"/>
                      </a:lnTo>
                      <a:lnTo>
                        <a:pt x="242" y="97"/>
                      </a:lnTo>
                      <a:lnTo>
                        <a:pt x="255" y="108"/>
                      </a:lnTo>
                      <a:lnTo>
                        <a:pt x="265" y="117"/>
                      </a:lnTo>
                      <a:lnTo>
                        <a:pt x="265" y="130"/>
                      </a:lnTo>
                      <a:lnTo>
                        <a:pt x="248" y="130"/>
                      </a:lnTo>
                      <a:lnTo>
                        <a:pt x="225" y="130"/>
                      </a:lnTo>
                      <a:lnTo>
                        <a:pt x="236" y="144"/>
                      </a:lnTo>
                      <a:lnTo>
                        <a:pt x="244" y="152"/>
                      </a:lnTo>
                      <a:lnTo>
                        <a:pt x="248" y="170"/>
                      </a:lnTo>
                      <a:lnTo>
                        <a:pt x="236" y="178"/>
                      </a:lnTo>
                      <a:lnTo>
                        <a:pt x="215" y="178"/>
                      </a:lnTo>
                      <a:lnTo>
                        <a:pt x="213" y="178"/>
                      </a:lnTo>
                      <a:lnTo>
                        <a:pt x="203" y="186"/>
                      </a:lnTo>
                      <a:lnTo>
                        <a:pt x="203" y="203"/>
                      </a:lnTo>
                      <a:lnTo>
                        <a:pt x="189" y="207"/>
                      </a:lnTo>
                      <a:lnTo>
                        <a:pt x="176" y="199"/>
                      </a:lnTo>
                      <a:lnTo>
                        <a:pt x="155" y="194"/>
                      </a:lnTo>
                      <a:lnTo>
                        <a:pt x="136" y="186"/>
                      </a:lnTo>
                      <a:lnTo>
                        <a:pt x="118" y="190"/>
                      </a:lnTo>
                      <a:lnTo>
                        <a:pt x="63" y="170"/>
                      </a:lnTo>
                      <a:lnTo>
                        <a:pt x="41" y="174"/>
                      </a:lnTo>
                      <a:lnTo>
                        <a:pt x="22" y="170"/>
                      </a:lnTo>
                      <a:lnTo>
                        <a:pt x="12" y="186"/>
                      </a:lnTo>
                      <a:lnTo>
                        <a:pt x="0" y="150"/>
                      </a:lnTo>
                      <a:lnTo>
                        <a:pt x="23" y="128"/>
                      </a:lnTo>
                      <a:lnTo>
                        <a:pt x="7" y="84"/>
                      </a:lnTo>
                      <a:lnTo>
                        <a:pt x="22" y="90"/>
                      </a:lnTo>
                      <a:lnTo>
                        <a:pt x="24" y="80"/>
                      </a:lnTo>
                      <a:lnTo>
                        <a:pt x="29" y="64"/>
                      </a:lnTo>
                      <a:lnTo>
                        <a:pt x="38" y="56"/>
                      </a:lnTo>
                      <a:lnTo>
                        <a:pt x="41" y="36"/>
                      </a:lnTo>
                      <a:lnTo>
                        <a:pt x="59" y="17"/>
                      </a:lnTo>
                      <a:lnTo>
                        <a:pt x="71" y="0"/>
                      </a:lnTo>
                      <a:lnTo>
                        <a:pt x="86"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0" name="16449310.5498.37516.524.3755">
                  <a:extLst>
                    <a:ext uri="{FF2B5EF4-FFF2-40B4-BE49-F238E27FC236}">
                      <a16:creationId xmlns:a16="http://schemas.microsoft.com/office/drawing/2014/main" id="{E73B29D7-E15F-DBAB-02B7-61504CF1BAB1}"/>
                    </a:ext>
                  </a:extLst>
                </p:cNvPr>
                <p:cNvSpPr>
                  <a:spLocks/>
                </p:cNvSpPr>
                <p:nvPr/>
              </p:nvSpPr>
              <p:spPr bwMode="auto">
                <a:xfrm>
                  <a:off x="3155127" y="2957887"/>
                  <a:ext cx="296852" cy="195015"/>
                </a:xfrm>
                <a:custGeom>
                  <a:avLst/>
                  <a:gdLst>
                    <a:gd name="T0" fmla="*/ 0 w 587"/>
                    <a:gd name="T1" fmla="*/ 1 h 338"/>
                    <a:gd name="T2" fmla="*/ 0 w 587"/>
                    <a:gd name="T3" fmla="*/ 0 h 338"/>
                    <a:gd name="T4" fmla="*/ 0 w 587"/>
                    <a:gd name="T5" fmla="*/ 1 h 338"/>
                    <a:gd name="T6" fmla="*/ 0 w 587"/>
                    <a:gd name="T7" fmla="*/ 1 h 338"/>
                    <a:gd name="T8" fmla="*/ 0 w 587"/>
                    <a:gd name="T9" fmla="*/ 1 h 338"/>
                    <a:gd name="T10" fmla="*/ 0 w 587"/>
                    <a:gd name="T11" fmla="*/ 1 h 338"/>
                    <a:gd name="T12" fmla="*/ 0 w 587"/>
                    <a:gd name="T13" fmla="*/ 1 h 338"/>
                    <a:gd name="T14" fmla="*/ 0 w 587"/>
                    <a:gd name="T15" fmla="*/ 1 h 338"/>
                    <a:gd name="T16" fmla="*/ 0 w 587"/>
                    <a:gd name="T17" fmla="*/ 1 h 338"/>
                    <a:gd name="T18" fmla="*/ 0 w 587"/>
                    <a:gd name="T19" fmla="*/ 1 h 338"/>
                    <a:gd name="T20" fmla="*/ 0 w 587"/>
                    <a:gd name="T21" fmla="*/ 1 h 338"/>
                    <a:gd name="T22" fmla="*/ 0 w 587"/>
                    <a:gd name="T23" fmla="*/ 1 h 338"/>
                    <a:gd name="T24" fmla="*/ 0 w 587"/>
                    <a:gd name="T25" fmla="*/ 1 h 338"/>
                    <a:gd name="T26" fmla="*/ 0 w 587"/>
                    <a:gd name="T27" fmla="*/ 1 h 338"/>
                    <a:gd name="T28" fmla="*/ 0 w 587"/>
                    <a:gd name="T29" fmla="*/ 1 h 338"/>
                    <a:gd name="T30" fmla="*/ 0 w 587"/>
                    <a:gd name="T31" fmla="*/ 1 h 338"/>
                    <a:gd name="T32" fmla="*/ 0 w 587"/>
                    <a:gd name="T33" fmla="*/ 1 h 338"/>
                    <a:gd name="T34" fmla="*/ 0 w 587"/>
                    <a:gd name="T35" fmla="*/ 1 h 338"/>
                    <a:gd name="T36" fmla="*/ 0 w 587"/>
                    <a:gd name="T37" fmla="*/ 1 h 338"/>
                    <a:gd name="T38" fmla="*/ 0 w 587"/>
                    <a:gd name="T39" fmla="*/ 1 h 338"/>
                    <a:gd name="T40" fmla="*/ 0 w 587"/>
                    <a:gd name="T41" fmla="*/ 1 h 338"/>
                    <a:gd name="T42" fmla="*/ 0 w 587"/>
                    <a:gd name="T43" fmla="*/ 1 h 338"/>
                    <a:gd name="T44" fmla="*/ 0 w 587"/>
                    <a:gd name="T45" fmla="*/ 1 h 338"/>
                    <a:gd name="T46" fmla="*/ 0 w 587"/>
                    <a:gd name="T47" fmla="*/ 1 h 338"/>
                    <a:gd name="T48" fmla="*/ 0 w 587"/>
                    <a:gd name="T49" fmla="*/ 1 h 338"/>
                    <a:gd name="T50" fmla="*/ 0 w 587"/>
                    <a:gd name="T51" fmla="*/ 1 h 338"/>
                    <a:gd name="T52" fmla="*/ 0 w 587"/>
                    <a:gd name="T53" fmla="*/ 1 h 338"/>
                    <a:gd name="T54" fmla="*/ 0 w 587"/>
                    <a:gd name="T55" fmla="*/ 1 h 338"/>
                    <a:gd name="T56" fmla="*/ 0 w 587"/>
                    <a:gd name="T57" fmla="*/ 1 h 338"/>
                    <a:gd name="T58" fmla="*/ 0 w 587"/>
                    <a:gd name="T59" fmla="*/ 1 h 338"/>
                    <a:gd name="T60" fmla="*/ 0 w 587"/>
                    <a:gd name="T61" fmla="*/ 1 h 338"/>
                    <a:gd name="T62" fmla="*/ 0 w 587"/>
                    <a:gd name="T63" fmla="*/ 1 h 338"/>
                    <a:gd name="T64" fmla="*/ 0 w 587"/>
                    <a:gd name="T65" fmla="*/ 1 h 338"/>
                    <a:gd name="T66" fmla="*/ 0 w 587"/>
                    <a:gd name="T67" fmla="*/ 1 h 3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87"/>
                    <a:gd name="T103" fmla="*/ 0 h 338"/>
                    <a:gd name="T104" fmla="*/ 587 w 587"/>
                    <a:gd name="T105" fmla="*/ 338 h 33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87" h="338">
                      <a:moveTo>
                        <a:pt x="292" y="16"/>
                      </a:moveTo>
                      <a:lnTo>
                        <a:pt x="301" y="13"/>
                      </a:lnTo>
                      <a:lnTo>
                        <a:pt x="318" y="4"/>
                      </a:lnTo>
                      <a:lnTo>
                        <a:pt x="330" y="0"/>
                      </a:lnTo>
                      <a:lnTo>
                        <a:pt x="356" y="4"/>
                      </a:lnTo>
                      <a:lnTo>
                        <a:pt x="366" y="22"/>
                      </a:lnTo>
                      <a:lnTo>
                        <a:pt x="371" y="42"/>
                      </a:lnTo>
                      <a:lnTo>
                        <a:pt x="380" y="49"/>
                      </a:lnTo>
                      <a:lnTo>
                        <a:pt x="393" y="45"/>
                      </a:lnTo>
                      <a:lnTo>
                        <a:pt x="422" y="73"/>
                      </a:lnTo>
                      <a:lnTo>
                        <a:pt x="437" y="95"/>
                      </a:lnTo>
                      <a:lnTo>
                        <a:pt x="477" y="110"/>
                      </a:lnTo>
                      <a:lnTo>
                        <a:pt x="503" y="114"/>
                      </a:lnTo>
                      <a:lnTo>
                        <a:pt x="516" y="110"/>
                      </a:lnTo>
                      <a:lnTo>
                        <a:pt x="540" y="121"/>
                      </a:lnTo>
                      <a:lnTo>
                        <a:pt x="571" y="125"/>
                      </a:lnTo>
                      <a:lnTo>
                        <a:pt x="587" y="177"/>
                      </a:lnTo>
                      <a:lnTo>
                        <a:pt x="557" y="184"/>
                      </a:lnTo>
                      <a:lnTo>
                        <a:pt x="551" y="209"/>
                      </a:lnTo>
                      <a:lnTo>
                        <a:pt x="507" y="235"/>
                      </a:lnTo>
                      <a:lnTo>
                        <a:pt x="439" y="253"/>
                      </a:lnTo>
                      <a:lnTo>
                        <a:pt x="432" y="276"/>
                      </a:lnTo>
                      <a:lnTo>
                        <a:pt x="403" y="267"/>
                      </a:lnTo>
                      <a:lnTo>
                        <a:pt x="435" y="298"/>
                      </a:lnTo>
                      <a:lnTo>
                        <a:pt x="473" y="302"/>
                      </a:lnTo>
                      <a:lnTo>
                        <a:pt x="397" y="338"/>
                      </a:lnTo>
                      <a:lnTo>
                        <a:pt x="352" y="300"/>
                      </a:lnTo>
                      <a:lnTo>
                        <a:pt x="389" y="271"/>
                      </a:lnTo>
                      <a:lnTo>
                        <a:pt x="352" y="264"/>
                      </a:lnTo>
                      <a:lnTo>
                        <a:pt x="327" y="264"/>
                      </a:lnTo>
                      <a:lnTo>
                        <a:pt x="333" y="239"/>
                      </a:lnTo>
                      <a:lnTo>
                        <a:pt x="326" y="242"/>
                      </a:lnTo>
                      <a:lnTo>
                        <a:pt x="271" y="256"/>
                      </a:lnTo>
                      <a:lnTo>
                        <a:pt x="250" y="300"/>
                      </a:lnTo>
                      <a:lnTo>
                        <a:pt x="215" y="297"/>
                      </a:lnTo>
                      <a:lnTo>
                        <a:pt x="224" y="267"/>
                      </a:lnTo>
                      <a:lnTo>
                        <a:pt x="226" y="253"/>
                      </a:lnTo>
                      <a:lnTo>
                        <a:pt x="246" y="246"/>
                      </a:lnTo>
                      <a:lnTo>
                        <a:pt x="257" y="236"/>
                      </a:lnTo>
                      <a:lnTo>
                        <a:pt x="260" y="228"/>
                      </a:lnTo>
                      <a:lnTo>
                        <a:pt x="246" y="224"/>
                      </a:lnTo>
                      <a:lnTo>
                        <a:pt x="231" y="192"/>
                      </a:lnTo>
                      <a:lnTo>
                        <a:pt x="208" y="173"/>
                      </a:lnTo>
                      <a:lnTo>
                        <a:pt x="179" y="173"/>
                      </a:lnTo>
                      <a:lnTo>
                        <a:pt x="142" y="181"/>
                      </a:lnTo>
                      <a:lnTo>
                        <a:pt x="90" y="184"/>
                      </a:lnTo>
                      <a:lnTo>
                        <a:pt x="62" y="189"/>
                      </a:lnTo>
                      <a:lnTo>
                        <a:pt x="22" y="189"/>
                      </a:lnTo>
                      <a:lnTo>
                        <a:pt x="0" y="170"/>
                      </a:lnTo>
                      <a:lnTo>
                        <a:pt x="14" y="140"/>
                      </a:lnTo>
                      <a:lnTo>
                        <a:pt x="37" y="108"/>
                      </a:lnTo>
                      <a:lnTo>
                        <a:pt x="63" y="75"/>
                      </a:lnTo>
                      <a:lnTo>
                        <a:pt x="51" y="37"/>
                      </a:lnTo>
                      <a:lnTo>
                        <a:pt x="52" y="30"/>
                      </a:lnTo>
                      <a:lnTo>
                        <a:pt x="61" y="22"/>
                      </a:lnTo>
                      <a:lnTo>
                        <a:pt x="80" y="26"/>
                      </a:lnTo>
                      <a:lnTo>
                        <a:pt x="102" y="22"/>
                      </a:lnTo>
                      <a:lnTo>
                        <a:pt x="128" y="31"/>
                      </a:lnTo>
                      <a:lnTo>
                        <a:pt x="156" y="42"/>
                      </a:lnTo>
                      <a:lnTo>
                        <a:pt x="175" y="37"/>
                      </a:lnTo>
                      <a:lnTo>
                        <a:pt x="194" y="46"/>
                      </a:lnTo>
                      <a:lnTo>
                        <a:pt x="215" y="51"/>
                      </a:lnTo>
                      <a:lnTo>
                        <a:pt x="228" y="59"/>
                      </a:lnTo>
                      <a:lnTo>
                        <a:pt x="242" y="55"/>
                      </a:lnTo>
                      <a:lnTo>
                        <a:pt x="243" y="38"/>
                      </a:lnTo>
                      <a:lnTo>
                        <a:pt x="252" y="30"/>
                      </a:lnTo>
                      <a:lnTo>
                        <a:pt x="275" y="30"/>
                      </a:lnTo>
                      <a:lnTo>
                        <a:pt x="283" y="26"/>
                      </a:lnTo>
                      <a:lnTo>
                        <a:pt x="292" y="1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1" name="16450318.875504.6256.1254.55">
                  <a:extLst>
                    <a:ext uri="{FF2B5EF4-FFF2-40B4-BE49-F238E27FC236}">
                      <a16:creationId xmlns:a16="http://schemas.microsoft.com/office/drawing/2014/main" id="{5AF9838C-6A84-E7C6-C1F3-FC2510D5C645}"/>
                    </a:ext>
                  </a:extLst>
                </p:cNvPr>
                <p:cNvSpPr>
                  <a:spLocks/>
                </p:cNvSpPr>
                <p:nvPr/>
              </p:nvSpPr>
              <p:spPr bwMode="auto">
                <a:xfrm>
                  <a:off x="3231113" y="3057126"/>
                  <a:ext cx="55723" cy="71544"/>
                </a:xfrm>
                <a:custGeom>
                  <a:avLst/>
                  <a:gdLst>
                    <a:gd name="T0" fmla="*/ 1 w 110"/>
                    <a:gd name="T1" fmla="*/ 1 h 122"/>
                    <a:gd name="T2" fmla="*/ 1 w 110"/>
                    <a:gd name="T3" fmla="*/ 1 h 122"/>
                    <a:gd name="T4" fmla="*/ 1 w 110"/>
                    <a:gd name="T5" fmla="*/ 1 h 122"/>
                    <a:gd name="T6" fmla="*/ 1 w 110"/>
                    <a:gd name="T7" fmla="*/ 1 h 122"/>
                    <a:gd name="T8" fmla="*/ 1 w 110"/>
                    <a:gd name="T9" fmla="*/ 1 h 122"/>
                    <a:gd name="T10" fmla="*/ 1 w 110"/>
                    <a:gd name="T11" fmla="*/ 1 h 122"/>
                    <a:gd name="T12" fmla="*/ 1 w 110"/>
                    <a:gd name="T13" fmla="*/ 1 h 122"/>
                    <a:gd name="T14" fmla="*/ 1 w 110"/>
                    <a:gd name="T15" fmla="*/ 1 h 122"/>
                    <a:gd name="T16" fmla="*/ 1 w 110"/>
                    <a:gd name="T17" fmla="*/ 1 h 122"/>
                    <a:gd name="T18" fmla="*/ 1 w 110"/>
                    <a:gd name="T19" fmla="*/ 1 h 122"/>
                    <a:gd name="T20" fmla="*/ 1 w 110"/>
                    <a:gd name="T21" fmla="*/ 1 h 122"/>
                    <a:gd name="T22" fmla="*/ 1 w 110"/>
                    <a:gd name="T23" fmla="*/ 1 h 122"/>
                    <a:gd name="T24" fmla="*/ 1 w 110"/>
                    <a:gd name="T25" fmla="*/ 0 h 122"/>
                    <a:gd name="T26" fmla="*/ 0 w 110"/>
                    <a:gd name="T27" fmla="*/ 1 h 122"/>
                    <a:gd name="T28" fmla="*/ 1 w 110"/>
                    <a:gd name="T29" fmla="*/ 1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0"/>
                    <a:gd name="T46" fmla="*/ 0 h 122"/>
                    <a:gd name="T47" fmla="*/ 110 w 110"/>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0" h="122">
                      <a:moveTo>
                        <a:pt x="25" y="33"/>
                      </a:moveTo>
                      <a:lnTo>
                        <a:pt x="39" y="51"/>
                      </a:lnTo>
                      <a:lnTo>
                        <a:pt x="46" y="65"/>
                      </a:lnTo>
                      <a:lnTo>
                        <a:pt x="53" y="121"/>
                      </a:lnTo>
                      <a:lnTo>
                        <a:pt x="64" y="122"/>
                      </a:lnTo>
                      <a:lnTo>
                        <a:pt x="73" y="94"/>
                      </a:lnTo>
                      <a:lnTo>
                        <a:pt x="75" y="78"/>
                      </a:lnTo>
                      <a:lnTo>
                        <a:pt x="103" y="69"/>
                      </a:lnTo>
                      <a:lnTo>
                        <a:pt x="110" y="56"/>
                      </a:lnTo>
                      <a:lnTo>
                        <a:pt x="97" y="52"/>
                      </a:lnTo>
                      <a:lnTo>
                        <a:pt x="81" y="21"/>
                      </a:lnTo>
                      <a:lnTo>
                        <a:pt x="58" y="1"/>
                      </a:lnTo>
                      <a:lnTo>
                        <a:pt x="28" y="0"/>
                      </a:lnTo>
                      <a:lnTo>
                        <a:pt x="0" y="4"/>
                      </a:lnTo>
                      <a:lnTo>
                        <a:pt x="25" y="3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2" name="16451327.125521.255.37510.3755">
                  <a:extLst>
                    <a:ext uri="{FF2B5EF4-FFF2-40B4-BE49-F238E27FC236}">
                      <a16:creationId xmlns:a16="http://schemas.microsoft.com/office/drawing/2014/main" id="{0A81F060-1F77-BC7E-6EE4-F92681F13EE6}"/>
                    </a:ext>
                  </a:extLst>
                </p:cNvPr>
                <p:cNvSpPr>
                  <a:spLocks/>
                </p:cNvSpPr>
                <p:nvPr/>
              </p:nvSpPr>
              <p:spPr bwMode="auto">
                <a:xfrm>
                  <a:off x="3434756" y="3154056"/>
                  <a:ext cx="125630" cy="63467"/>
                </a:xfrm>
                <a:custGeom>
                  <a:avLst/>
                  <a:gdLst>
                    <a:gd name="T0" fmla="*/ 0 w 247"/>
                    <a:gd name="T1" fmla="*/ 1 h 110"/>
                    <a:gd name="T2" fmla="*/ 1 w 247"/>
                    <a:gd name="T3" fmla="*/ 0 h 110"/>
                    <a:gd name="T4" fmla="*/ 1 w 247"/>
                    <a:gd name="T5" fmla="*/ 1 h 110"/>
                    <a:gd name="T6" fmla="*/ 1 w 247"/>
                    <a:gd name="T7" fmla="*/ 1 h 110"/>
                    <a:gd name="T8" fmla="*/ 1 w 247"/>
                    <a:gd name="T9" fmla="*/ 1 h 110"/>
                    <a:gd name="T10" fmla="*/ 1 w 247"/>
                    <a:gd name="T11" fmla="*/ 1 h 110"/>
                    <a:gd name="T12" fmla="*/ 1 w 247"/>
                    <a:gd name="T13" fmla="*/ 1 h 110"/>
                    <a:gd name="T14" fmla="*/ 1 w 247"/>
                    <a:gd name="T15" fmla="*/ 1 h 110"/>
                    <a:gd name="T16" fmla="*/ 1 w 247"/>
                    <a:gd name="T17" fmla="*/ 1 h 110"/>
                    <a:gd name="T18" fmla="*/ 1 w 247"/>
                    <a:gd name="T19" fmla="*/ 1 h 110"/>
                    <a:gd name="T20" fmla="*/ 1 w 247"/>
                    <a:gd name="T21" fmla="*/ 1 h 110"/>
                    <a:gd name="T22" fmla="*/ 1 w 247"/>
                    <a:gd name="T23" fmla="*/ 1 h 110"/>
                    <a:gd name="T24" fmla="*/ 1 w 247"/>
                    <a:gd name="T25" fmla="*/ 1 h 110"/>
                    <a:gd name="T26" fmla="*/ 1 w 247"/>
                    <a:gd name="T27" fmla="*/ 1 h 110"/>
                    <a:gd name="T28" fmla="*/ 1 w 247"/>
                    <a:gd name="T29" fmla="*/ 1 h 110"/>
                    <a:gd name="T30" fmla="*/ 1 w 247"/>
                    <a:gd name="T31" fmla="*/ 1 h 110"/>
                    <a:gd name="T32" fmla="*/ 1 w 247"/>
                    <a:gd name="T33" fmla="*/ 1 h 110"/>
                    <a:gd name="T34" fmla="*/ 1 w 247"/>
                    <a:gd name="T35" fmla="*/ 1 h 110"/>
                    <a:gd name="T36" fmla="*/ 1 w 247"/>
                    <a:gd name="T37" fmla="*/ 1 h 110"/>
                    <a:gd name="T38" fmla="*/ 1 w 247"/>
                    <a:gd name="T39" fmla="*/ 1 h 110"/>
                    <a:gd name="T40" fmla="*/ 1 w 247"/>
                    <a:gd name="T41" fmla="*/ 1 h 110"/>
                    <a:gd name="T42" fmla="*/ 0 w 247"/>
                    <a:gd name="T43" fmla="*/ 1 h 11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7"/>
                    <a:gd name="T67" fmla="*/ 0 h 110"/>
                    <a:gd name="T68" fmla="*/ 247 w 247"/>
                    <a:gd name="T69" fmla="*/ 110 h 11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7" h="110">
                      <a:moveTo>
                        <a:pt x="0" y="6"/>
                      </a:moveTo>
                      <a:lnTo>
                        <a:pt x="59" y="0"/>
                      </a:lnTo>
                      <a:lnTo>
                        <a:pt x="115" y="22"/>
                      </a:lnTo>
                      <a:lnTo>
                        <a:pt x="139" y="47"/>
                      </a:lnTo>
                      <a:lnTo>
                        <a:pt x="167" y="47"/>
                      </a:lnTo>
                      <a:lnTo>
                        <a:pt x="188" y="36"/>
                      </a:lnTo>
                      <a:lnTo>
                        <a:pt x="203" y="32"/>
                      </a:lnTo>
                      <a:lnTo>
                        <a:pt x="218" y="58"/>
                      </a:lnTo>
                      <a:lnTo>
                        <a:pt x="244" y="64"/>
                      </a:lnTo>
                      <a:lnTo>
                        <a:pt x="239" y="75"/>
                      </a:lnTo>
                      <a:lnTo>
                        <a:pt x="247" y="94"/>
                      </a:lnTo>
                      <a:lnTo>
                        <a:pt x="244" y="109"/>
                      </a:lnTo>
                      <a:lnTo>
                        <a:pt x="218" y="86"/>
                      </a:lnTo>
                      <a:lnTo>
                        <a:pt x="203" y="79"/>
                      </a:lnTo>
                      <a:lnTo>
                        <a:pt x="189" y="79"/>
                      </a:lnTo>
                      <a:lnTo>
                        <a:pt x="182" y="104"/>
                      </a:lnTo>
                      <a:lnTo>
                        <a:pt x="163" y="97"/>
                      </a:lnTo>
                      <a:lnTo>
                        <a:pt x="132" y="110"/>
                      </a:lnTo>
                      <a:lnTo>
                        <a:pt x="95" y="108"/>
                      </a:lnTo>
                      <a:lnTo>
                        <a:pt x="93" y="64"/>
                      </a:lnTo>
                      <a:lnTo>
                        <a:pt x="33" y="27"/>
                      </a:lnTo>
                      <a:lnTo>
                        <a:pt x="0" y="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3" name="16452330.125528.8758.1258.55">
                  <a:extLst>
                    <a:ext uri="{FF2B5EF4-FFF2-40B4-BE49-F238E27FC236}">
                      <a16:creationId xmlns:a16="http://schemas.microsoft.com/office/drawing/2014/main" id="{DB2522A6-C73A-DC09-BD87-62B0B3D93B29}"/>
                    </a:ext>
                  </a:extLst>
                </p:cNvPr>
                <p:cNvSpPr>
                  <a:spLocks/>
                </p:cNvSpPr>
                <p:nvPr/>
              </p:nvSpPr>
              <p:spPr bwMode="auto">
                <a:xfrm>
                  <a:off x="3526951" y="3189828"/>
                  <a:ext cx="104354" cy="96931"/>
                </a:xfrm>
                <a:custGeom>
                  <a:avLst/>
                  <a:gdLst>
                    <a:gd name="T0" fmla="*/ 1 w 205"/>
                    <a:gd name="T1" fmla="*/ 1 h 166"/>
                    <a:gd name="T2" fmla="*/ 1 w 205"/>
                    <a:gd name="T3" fmla="*/ 1 h 166"/>
                    <a:gd name="T4" fmla="*/ 1 w 205"/>
                    <a:gd name="T5" fmla="*/ 1 h 166"/>
                    <a:gd name="T6" fmla="*/ 1 w 205"/>
                    <a:gd name="T7" fmla="*/ 1 h 166"/>
                    <a:gd name="T8" fmla="*/ 1 w 205"/>
                    <a:gd name="T9" fmla="*/ 1 h 166"/>
                    <a:gd name="T10" fmla="*/ 1 w 205"/>
                    <a:gd name="T11" fmla="*/ 1 h 166"/>
                    <a:gd name="T12" fmla="*/ 1 w 205"/>
                    <a:gd name="T13" fmla="*/ 1 h 166"/>
                    <a:gd name="T14" fmla="*/ 1 w 205"/>
                    <a:gd name="T15" fmla="*/ 1 h 166"/>
                    <a:gd name="T16" fmla="*/ 1 w 205"/>
                    <a:gd name="T17" fmla="*/ 1 h 166"/>
                    <a:gd name="T18" fmla="*/ 1 w 205"/>
                    <a:gd name="T19" fmla="*/ 1 h 166"/>
                    <a:gd name="T20" fmla="*/ 1 w 205"/>
                    <a:gd name="T21" fmla="*/ 1 h 166"/>
                    <a:gd name="T22" fmla="*/ 1 w 205"/>
                    <a:gd name="T23" fmla="*/ 1 h 166"/>
                    <a:gd name="T24" fmla="*/ 1 w 205"/>
                    <a:gd name="T25" fmla="*/ 1 h 166"/>
                    <a:gd name="T26" fmla="*/ 1 w 205"/>
                    <a:gd name="T27" fmla="*/ 1 h 166"/>
                    <a:gd name="T28" fmla="*/ 1 w 205"/>
                    <a:gd name="T29" fmla="*/ 1 h 166"/>
                    <a:gd name="T30" fmla="*/ 1 w 205"/>
                    <a:gd name="T31" fmla="*/ 1 h 166"/>
                    <a:gd name="T32" fmla="*/ 1 w 205"/>
                    <a:gd name="T33" fmla="*/ 1 h 166"/>
                    <a:gd name="T34" fmla="*/ 1 w 205"/>
                    <a:gd name="T35" fmla="*/ 1 h 166"/>
                    <a:gd name="T36" fmla="*/ 1 w 205"/>
                    <a:gd name="T37" fmla="*/ 1 h 166"/>
                    <a:gd name="T38" fmla="*/ 1 w 205"/>
                    <a:gd name="T39" fmla="*/ 1 h 166"/>
                    <a:gd name="T40" fmla="*/ 1 w 205"/>
                    <a:gd name="T41" fmla="*/ 1 h 166"/>
                    <a:gd name="T42" fmla="*/ 1 w 205"/>
                    <a:gd name="T43" fmla="*/ 1 h 166"/>
                    <a:gd name="T44" fmla="*/ 1 w 205"/>
                    <a:gd name="T45" fmla="*/ 1 h 166"/>
                    <a:gd name="T46" fmla="*/ 1 w 205"/>
                    <a:gd name="T47" fmla="*/ 1 h 166"/>
                    <a:gd name="T48" fmla="*/ 1 w 205"/>
                    <a:gd name="T49" fmla="*/ 1 h 166"/>
                    <a:gd name="T50" fmla="*/ 1 w 205"/>
                    <a:gd name="T51" fmla="*/ 1 h 166"/>
                    <a:gd name="T52" fmla="*/ 0 w 205"/>
                    <a:gd name="T53" fmla="*/ 1 h 166"/>
                    <a:gd name="T54" fmla="*/ 1 w 205"/>
                    <a:gd name="T55" fmla="*/ 1 h 166"/>
                    <a:gd name="T56" fmla="*/ 1 w 205"/>
                    <a:gd name="T57" fmla="*/ 1 h 166"/>
                    <a:gd name="T58" fmla="*/ 1 w 205"/>
                    <a:gd name="T59" fmla="*/ 1 h 166"/>
                    <a:gd name="T60" fmla="*/ 1 w 205"/>
                    <a:gd name="T61" fmla="*/ 1 h 166"/>
                    <a:gd name="T62" fmla="*/ 1 w 205"/>
                    <a:gd name="T63" fmla="*/ 1 h 166"/>
                    <a:gd name="T64" fmla="*/ 1 w 205"/>
                    <a:gd name="T65" fmla="*/ 1 h 166"/>
                    <a:gd name="T66" fmla="*/ 1 w 205"/>
                    <a:gd name="T67" fmla="*/ 1 h 166"/>
                    <a:gd name="T68" fmla="*/ 1 w 205"/>
                    <a:gd name="T69" fmla="*/ 0 h 166"/>
                    <a:gd name="T70" fmla="*/ 1 w 205"/>
                    <a:gd name="T71" fmla="*/ 1 h 16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05"/>
                    <a:gd name="T109" fmla="*/ 0 h 166"/>
                    <a:gd name="T110" fmla="*/ 205 w 205"/>
                    <a:gd name="T111" fmla="*/ 166 h 16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05" h="166">
                      <a:moveTo>
                        <a:pt x="77" y="7"/>
                      </a:moveTo>
                      <a:lnTo>
                        <a:pt x="88" y="7"/>
                      </a:lnTo>
                      <a:lnTo>
                        <a:pt x="119" y="15"/>
                      </a:lnTo>
                      <a:lnTo>
                        <a:pt x="149" y="37"/>
                      </a:lnTo>
                      <a:lnTo>
                        <a:pt x="167" y="63"/>
                      </a:lnTo>
                      <a:lnTo>
                        <a:pt x="205" y="95"/>
                      </a:lnTo>
                      <a:lnTo>
                        <a:pt x="185" y="101"/>
                      </a:lnTo>
                      <a:lnTo>
                        <a:pt x="171" y="121"/>
                      </a:lnTo>
                      <a:lnTo>
                        <a:pt x="168" y="130"/>
                      </a:lnTo>
                      <a:lnTo>
                        <a:pt x="160" y="166"/>
                      </a:lnTo>
                      <a:lnTo>
                        <a:pt x="132" y="156"/>
                      </a:lnTo>
                      <a:lnTo>
                        <a:pt x="126" y="125"/>
                      </a:lnTo>
                      <a:lnTo>
                        <a:pt x="98" y="137"/>
                      </a:lnTo>
                      <a:lnTo>
                        <a:pt x="69" y="155"/>
                      </a:lnTo>
                      <a:lnTo>
                        <a:pt x="53" y="151"/>
                      </a:lnTo>
                      <a:lnTo>
                        <a:pt x="38" y="136"/>
                      </a:lnTo>
                      <a:lnTo>
                        <a:pt x="28" y="121"/>
                      </a:lnTo>
                      <a:lnTo>
                        <a:pt x="40" y="106"/>
                      </a:lnTo>
                      <a:lnTo>
                        <a:pt x="49" y="118"/>
                      </a:lnTo>
                      <a:lnTo>
                        <a:pt x="84" y="134"/>
                      </a:lnTo>
                      <a:lnTo>
                        <a:pt x="91" y="119"/>
                      </a:lnTo>
                      <a:lnTo>
                        <a:pt x="58" y="93"/>
                      </a:lnTo>
                      <a:lnTo>
                        <a:pt x="47" y="71"/>
                      </a:lnTo>
                      <a:lnTo>
                        <a:pt x="36" y="63"/>
                      </a:lnTo>
                      <a:lnTo>
                        <a:pt x="36" y="51"/>
                      </a:lnTo>
                      <a:lnTo>
                        <a:pt x="21" y="45"/>
                      </a:lnTo>
                      <a:lnTo>
                        <a:pt x="0" y="41"/>
                      </a:lnTo>
                      <a:lnTo>
                        <a:pt x="6" y="24"/>
                      </a:lnTo>
                      <a:lnTo>
                        <a:pt x="9" y="15"/>
                      </a:lnTo>
                      <a:lnTo>
                        <a:pt x="25" y="15"/>
                      </a:lnTo>
                      <a:lnTo>
                        <a:pt x="36" y="22"/>
                      </a:lnTo>
                      <a:lnTo>
                        <a:pt x="62" y="45"/>
                      </a:lnTo>
                      <a:lnTo>
                        <a:pt x="65" y="30"/>
                      </a:lnTo>
                      <a:lnTo>
                        <a:pt x="57" y="12"/>
                      </a:lnTo>
                      <a:lnTo>
                        <a:pt x="62" y="0"/>
                      </a:lnTo>
                      <a:lnTo>
                        <a:pt x="77" y="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4" name="16453331.7552755.6255">
                  <a:extLst>
                    <a:ext uri="{FF2B5EF4-FFF2-40B4-BE49-F238E27FC236}">
                      <a16:creationId xmlns:a16="http://schemas.microsoft.com/office/drawing/2014/main" id="{31650F41-74BB-E10D-3CDF-C47F80C88568}"/>
                    </a:ext>
                  </a:extLst>
                </p:cNvPr>
                <p:cNvSpPr>
                  <a:spLocks/>
                </p:cNvSpPr>
                <p:nvPr/>
              </p:nvSpPr>
              <p:spPr bwMode="auto">
                <a:xfrm>
                  <a:off x="3504664" y="3209445"/>
                  <a:ext cx="68894" cy="58851"/>
                </a:xfrm>
                <a:custGeom>
                  <a:avLst/>
                  <a:gdLst>
                    <a:gd name="T0" fmla="*/ 0 w 134"/>
                    <a:gd name="T1" fmla="*/ 1 h 101"/>
                    <a:gd name="T2" fmla="*/ 1 w 134"/>
                    <a:gd name="T3" fmla="*/ 1 h 101"/>
                    <a:gd name="T4" fmla="*/ 1 w 134"/>
                    <a:gd name="T5" fmla="*/ 1 h 101"/>
                    <a:gd name="T6" fmla="*/ 1 w 134"/>
                    <a:gd name="T7" fmla="*/ 1 h 101"/>
                    <a:gd name="T8" fmla="*/ 1 w 134"/>
                    <a:gd name="T9" fmla="*/ 1 h 101"/>
                    <a:gd name="T10" fmla="*/ 1 w 134"/>
                    <a:gd name="T11" fmla="*/ 1 h 101"/>
                    <a:gd name="T12" fmla="*/ 1 w 134"/>
                    <a:gd name="T13" fmla="*/ 1 h 101"/>
                    <a:gd name="T14" fmla="*/ 1 w 134"/>
                    <a:gd name="T15" fmla="*/ 1 h 101"/>
                    <a:gd name="T16" fmla="*/ 1 w 134"/>
                    <a:gd name="T17" fmla="*/ 1 h 101"/>
                    <a:gd name="T18" fmla="*/ 1 w 134"/>
                    <a:gd name="T19" fmla="*/ 1 h 101"/>
                    <a:gd name="T20" fmla="*/ 1 w 134"/>
                    <a:gd name="T21" fmla="*/ 1 h 101"/>
                    <a:gd name="T22" fmla="*/ 1 w 134"/>
                    <a:gd name="T23" fmla="*/ 1 h 101"/>
                    <a:gd name="T24" fmla="*/ 1 w 134"/>
                    <a:gd name="T25" fmla="*/ 1 h 101"/>
                    <a:gd name="T26" fmla="*/ 1 w 134"/>
                    <a:gd name="T27" fmla="*/ 1 h 101"/>
                    <a:gd name="T28" fmla="*/ 1 w 134"/>
                    <a:gd name="T29" fmla="*/ 1 h 101"/>
                    <a:gd name="T30" fmla="*/ 1 w 134"/>
                    <a:gd name="T31" fmla="*/ 0 h 101"/>
                    <a:gd name="T32" fmla="*/ 1 w 134"/>
                    <a:gd name="T33" fmla="*/ 1 h 101"/>
                    <a:gd name="T34" fmla="*/ 0 w 134"/>
                    <a:gd name="T35" fmla="*/ 1 h 1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4"/>
                    <a:gd name="T55" fmla="*/ 0 h 101"/>
                    <a:gd name="T56" fmla="*/ 134 w 134"/>
                    <a:gd name="T57" fmla="*/ 101 h 1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4" h="101">
                      <a:moveTo>
                        <a:pt x="0" y="15"/>
                      </a:moveTo>
                      <a:lnTo>
                        <a:pt x="16" y="31"/>
                      </a:lnTo>
                      <a:lnTo>
                        <a:pt x="35" y="56"/>
                      </a:lnTo>
                      <a:lnTo>
                        <a:pt x="67" y="89"/>
                      </a:lnTo>
                      <a:lnTo>
                        <a:pt x="87" y="70"/>
                      </a:lnTo>
                      <a:lnTo>
                        <a:pt x="89" y="86"/>
                      </a:lnTo>
                      <a:lnTo>
                        <a:pt x="104" y="89"/>
                      </a:lnTo>
                      <a:lnTo>
                        <a:pt x="126" y="101"/>
                      </a:lnTo>
                      <a:lnTo>
                        <a:pt x="134" y="86"/>
                      </a:lnTo>
                      <a:lnTo>
                        <a:pt x="101" y="60"/>
                      </a:lnTo>
                      <a:lnTo>
                        <a:pt x="93" y="40"/>
                      </a:lnTo>
                      <a:lnTo>
                        <a:pt x="79" y="30"/>
                      </a:lnTo>
                      <a:lnTo>
                        <a:pt x="79" y="18"/>
                      </a:lnTo>
                      <a:lnTo>
                        <a:pt x="64" y="12"/>
                      </a:lnTo>
                      <a:lnTo>
                        <a:pt x="42" y="7"/>
                      </a:lnTo>
                      <a:lnTo>
                        <a:pt x="23" y="0"/>
                      </a:lnTo>
                      <a:lnTo>
                        <a:pt x="6" y="2"/>
                      </a:lnTo>
                      <a:lnTo>
                        <a:pt x="0" y="1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5" name="16454303.875530.2529.2558.1255">
                  <a:extLst>
                    <a:ext uri="{FF2B5EF4-FFF2-40B4-BE49-F238E27FC236}">
                      <a16:creationId xmlns:a16="http://schemas.microsoft.com/office/drawing/2014/main" id="{45D5801C-2072-288A-CDDA-EFDF1D265980}"/>
                    </a:ext>
                  </a:extLst>
                </p:cNvPr>
                <p:cNvSpPr>
                  <a:spLocks/>
                </p:cNvSpPr>
                <p:nvPr/>
              </p:nvSpPr>
              <p:spPr bwMode="auto">
                <a:xfrm>
                  <a:off x="3544177" y="2879419"/>
                  <a:ext cx="708190" cy="346181"/>
                </a:xfrm>
                <a:custGeom>
                  <a:avLst/>
                  <a:gdLst>
                    <a:gd name="T0" fmla="*/ 1 w 1396"/>
                    <a:gd name="T1" fmla="*/ 1 h 600"/>
                    <a:gd name="T2" fmla="*/ 1 w 1396"/>
                    <a:gd name="T3" fmla="*/ 1 h 600"/>
                    <a:gd name="T4" fmla="*/ 1 w 1396"/>
                    <a:gd name="T5" fmla="*/ 1 h 600"/>
                    <a:gd name="T6" fmla="*/ 1 w 1396"/>
                    <a:gd name="T7" fmla="*/ 1 h 600"/>
                    <a:gd name="T8" fmla="*/ 1 w 1396"/>
                    <a:gd name="T9" fmla="*/ 1 h 600"/>
                    <a:gd name="T10" fmla="*/ 1 w 1396"/>
                    <a:gd name="T11" fmla="*/ 1 h 600"/>
                    <a:gd name="T12" fmla="*/ 1 w 1396"/>
                    <a:gd name="T13" fmla="*/ 1 h 600"/>
                    <a:gd name="T14" fmla="*/ 1 w 1396"/>
                    <a:gd name="T15" fmla="*/ 1 h 600"/>
                    <a:gd name="T16" fmla="*/ 1 w 1396"/>
                    <a:gd name="T17" fmla="*/ 1 h 600"/>
                    <a:gd name="T18" fmla="*/ 1 w 1396"/>
                    <a:gd name="T19" fmla="*/ 1 h 600"/>
                    <a:gd name="T20" fmla="*/ 1 w 1396"/>
                    <a:gd name="T21" fmla="*/ 1 h 600"/>
                    <a:gd name="T22" fmla="*/ 1 w 1396"/>
                    <a:gd name="T23" fmla="*/ 1 h 600"/>
                    <a:gd name="T24" fmla="*/ 1 w 1396"/>
                    <a:gd name="T25" fmla="*/ 1 h 600"/>
                    <a:gd name="T26" fmla="*/ 1 w 1396"/>
                    <a:gd name="T27" fmla="*/ 1 h 600"/>
                    <a:gd name="T28" fmla="*/ 1 w 1396"/>
                    <a:gd name="T29" fmla="*/ 1 h 600"/>
                    <a:gd name="T30" fmla="*/ 1 w 1396"/>
                    <a:gd name="T31" fmla="*/ 1 h 600"/>
                    <a:gd name="T32" fmla="*/ 1 w 1396"/>
                    <a:gd name="T33" fmla="*/ 1 h 600"/>
                    <a:gd name="T34" fmla="*/ 1 w 1396"/>
                    <a:gd name="T35" fmla="*/ 1 h 600"/>
                    <a:gd name="T36" fmla="*/ 1 w 1396"/>
                    <a:gd name="T37" fmla="*/ 1 h 600"/>
                    <a:gd name="T38" fmla="*/ 1 w 1396"/>
                    <a:gd name="T39" fmla="*/ 1 h 600"/>
                    <a:gd name="T40" fmla="*/ 1 w 1396"/>
                    <a:gd name="T41" fmla="*/ 1 h 600"/>
                    <a:gd name="T42" fmla="*/ 1 w 1396"/>
                    <a:gd name="T43" fmla="*/ 1 h 600"/>
                    <a:gd name="T44" fmla="*/ 0 w 1396"/>
                    <a:gd name="T45" fmla="*/ 1 h 600"/>
                    <a:gd name="T46" fmla="*/ 1 w 1396"/>
                    <a:gd name="T47" fmla="*/ 1 h 600"/>
                    <a:gd name="T48" fmla="*/ 1 w 1396"/>
                    <a:gd name="T49" fmla="*/ 1 h 600"/>
                    <a:gd name="T50" fmla="*/ 1 w 1396"/>
                    <a:gd name="T51" fmla="*/ 1 h 600"/>
                    <a:gd name="T52" fmla="*/ 1 w 1396"/>
                    <a:gd name="T53" fmla="*/ 1 h 600"/>
                    <a:gd name="T54" fmla="*/ 1 w 1396"/>
                    <a:gd name="T55" fmla="*/ 1 h 600"/>
                    <a:gd name="T56" fmla="*/ 1 w 1396"/>
                    <a:gd name="T57" fmla="*/ 1 h 600"/>
                    <a:gd name="T58" fmla="*/ 1 w 1396"/>
                    <a:gd name="T59" fmla="*/ 1 h 600"/>
                    <a:gd name="T60" fmla="*/ 1 w 1396"/>
                    <a:gd name="T61" fmla="*/ 1 h 600"/>
                    <a:gd name="T62" fmla="*/ 1 w 1396"/>
                    <a:gd name="T63" fmla="*/ 1 h 600"/>
                    <a:gd name="T64" fmla="*/ 1 w 1396"/>
                    <a:gd name="T65" fmla="*/ 1 h 600"/>
                    <a:gd name="T66" fmla="*/ 1 w 1396"/>
                    <a:gd name="T67" fmla="*/ 1 h 600"/>
                    <a:gd name="T68" fmla="*/ 1 w 1396"/>
                    <a:gd name="T69" fmla="*/ 1 h 600"/>
                    <a:gd name="T70" fmla="*/ 1 w 1396"/>
                    <a:gd name="T71" fmla="*/ 1 h 600"/>
                    <a:gd name="T72" fmla="*/ 1 w 1396"/>
                    <a:gd name="T73" fmla="*/ 1 h 600"/>
                    <a:gd name="T74" fmla="*/ 1 w 1396"/>
                    <a:gd name="T75" fmla="*/ 1 h 600"/>
                    <a:gd name="T76" fmla="*/ 1 w 1396"/>
                    <a:gd name="T77" fmla="*/ 1 h 600"/>
                    <a:gd name="T78" fmla="*/ 1 w 1396"/>
                    <a:gd name="T79" fmla="*/ 1 h 600"/>
                    <a:gd name="T80" fmla="*/ 1 w 1396"/>
                    <a:gd name="T81" fmla="*/ 1 h 600"/>
                    <a:gd name="T82" fmla="*/ 1 w 1396"/>
                    <a:gd name="T83" fmla="*/ 1 h 600"/>
                    <a:gd name="T84" fmla="*/ 1 w 1396"/>
                    <a:gd name="T85" fmla="*/ 1 h 600"/>
                    <a:gd name="T86" fmla="*/ 1 w 1396"/>
                    <a:gd name="T87" fmla="*/ 1 h 600"/>
                    <a:gd name="T88" fmla="*/ 1 w 1396"/>
                    <a:gd name="T89" fmla="*/ 1 h 600"/>
                    <a:gd name="T90" fmla="*/ 1 w 1396"/>
                    <a:gd name="T91" fmla="*/ 1 h 600"/>
                    <a:gd name="T92" fmla="*/ 1 w 1396"/>
                    <a:gd name="T93" fmla="*/ 1 h 600"/>
                    <a:gd name="T94" fmla="*/ 1 w 1396"/>
                    <a:gd name="T95" fmla="*/ 1 h 600"/>
                    <a:gd name="T96" fmla="*/ 1 w 1396"/>
                    <a:gd name="T97" fmla="*/ 1 h 600"/>
                    <a:gd name="T98" fmla="*/ 1 w 1396"/>
                    <a:gd name="T99" fmla="*/ 1 h 600"/>
                    <a:gd name="T100" fmla="*/ 1 w 1396"/>
                    <a:gd name="T101" fmla="*/ 1 h 60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396"/>
                    <a:gd name="T154" fmla="*/ 0 h 600"/>
                    <a:gd name="T155" fmla="*/ 1396 w 1396"/>
                    <a:gd name="T156" fmla="*/ 600 h 60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396" h="600">
                      <a:moveTo>
                        <a:pt x="1362" y="308"/>
                      </a:moveTo>
                      <a:lnTo>
                        <a:pt x="1396" y="296"/>
                      </a:lnTo>
                      <a:lnTo>
                        <a:pt x="1326" y="247"/>
                      </a:lnTo>
                      <a:lnTo>
                        <a:pt x="1281" y="267"/>
                      </a:lnTo>
                      <a:lnTo>
                        <a:pt x="1216" y="249"/>
                      </a:lnTo>
                      <a:lnTo>
                        <a:pt x="1187" y="234"/>
                      </a:lnTo>
                      <a:lnTo>
                        <a:pt x="1160" y="234"/>
                      </a:lnTo>
                      <a:lnTo>
                        <a:pt x="1143" y="205"/>
                      </a:lnTo>
                      <a:lnTo>
                        <a:pt x="1135" y="186"/>
                      </a:lnTo>
                      <a:lnTo>
                        <a:pt x="1110" y="186"/>
                      </a:lnTo>
                      <a:lnTo>
                        <a:pt x="1090" y="186"/>
                      </a:lnTo>
                      <a:lnTo>
                        <a:pt x="1069" y="194"/>
                      </a:lnTo>
                      <a:lnTo>
                        <a:pt x="1036" y="161"/>
                      </a:lnTo>
                      <a:lnTo>
                        <a:pt x="1021" y="166"/>
                      </a:lnTo>
                      <a:lnTo>
                        <a:pt x="1006" y="173"/>
                      </a:lnTo>
                      <a:lnTo>
                        <a:pt x="987" y="180"/>
                      </a:lnTo>
                      <a:lnTo>
                        <a:pt x="958" y="155"/>
                      </a:lnTo>
                      <a:lnTo>
                        <a:pt x="889" y="100"/>
                      </a:lnTo>
                      <a:lnTo>
                        <a:pt x="835" y="67"/>
                      </a:lnTo>
                      <a:lnTo>
                        <a:pt x="802" y="37"/>
                      </a:lnTo>
                      <a:lnTo>
                        <a:pt x="745" y="73"/>
                      </a:lnTo>
                      <a:lnTo>
                        <a:pt x="735" y="47"/>
                      </a:lnTo>
                      <a:lnTo>
                        <a:pt x="654" y="44"/>
                      </a:lnTo>
                      <a:lnTo>
                        <a:pt x="644" y="44"/>
                      </a:lnTo>
                      <a:lnTo>
                        <a:pt x="609" y="0"/>
                      </a:lnTo>
                      <a:lnTo>
                        <a:pt x="569" y="5"/>
                      </a:lnTo>
                      <a:lnTo>
                        <a:pt x="544" y="23"/>
                      </a:lnTo>
                      <a:lnTo>
                        <a:pt x="493" y="34"/>
                      </a:lnTo>
                      <a:lnTo>
                        <a:pt x="477" y="25"/>
                      </a:lnTo>
                      <a:lnTo>
                        <a:pt x="449" y="51"/>
                      </a:lnTo>
                      <a:lnTo>
                        <a:pt x="430" y="47"/>
                      </a:lnTo>
                      <a:lnTo>
                        <a:pt x="357" y="54"/>
                      </a:lnTo>
                      <a:lnTo>
                        <a:pt x="342" y="51"/>
                      </a:lnTo>
                      <a:lnTo>
                        <a:pt x="332" y="56"/>
                      </a:lnTo>
                      <a:lnTo>
                        <a:pt x="363" y="89"/>
                      </a:lnTo>
                      <a:lnTo>
                        <a:pt x="342" y="120"/>
                      </a:lnTo>
                      <a:lnTo>
                        <a:pt x="345" y="142"/>
                      </a:lnTo>
                      <a:lnTo>
                        <a:pt x="345" y="153"/>
                      </a:lnTo>
                      <a:lnTo>
                        <a:pt x="383" y="153"/>
                      </a:lnTo>
                      <a:lnTo>
                        <a:pt x="396" y="173"/>
                      </a:lnTo>
                      <a:lnTo>
                        <a:pt x="396" y="194"/>
                      </a:lnTo>
                      <a:lnTo>
                        <a:pt x="383" y="198"/>
                      </a:lnTo>
                      <a:lnTo>
                        <a:pt x="368" y="186"/>
                      </a:lnTo>
                      <a:lnTo>
                        <a:pt x="352" y="194"/>
                      </a:lnTo>
                      <a:lnTo>
                        <a:pt x="342" y="202"/>
                      </a:lnTo>
                      <a:lnTo>
                        <a:pt x="315" y="186"/>
                      </a:lnTo>
                      <a:lnTo>
                        <a:pt x="306" y="169"/>
                      </a:lnTo>
                      <a:lnTo>
                        <a:pt x="280" y="177"/>
                      </a:lnTo>
                      <a:lnTo>
                        <a:pt x="280" y="183"/>
                      </a:lnTo>
                      <a:lnTo>
                        <a:pt x="262" y="169"/>
                      </a:lnTo>
                      <a:lnTo>
                        <a:pt x="239" y="186"/>
                      </a:lnTo>
                      <a:lnTo>
                        <a:pt x="209" y="194"/>
                      </a:lnTo>
                      <a:lnTo>
                        <a:pt x="199" y="186"/>
                      </a:lnTo>
                      <a:lnTo>
                        <a:pt x="191" y="169"/>
                      </a:lnTo>
                      <a:lnTo>
                        <a:pt x="152" y="166"/>
                      </a:lnTo>
                      <a:lnTo>
                        <a:pt x="88" y="162"/>
                      </a:lnTo>
                      <a:lnTo>
                        <a:pt x="73" y="166"/>
                      </a:lnTo>
                      <a:lnTo>
                        <a:pt x="67" y="177"/>
                      </a:lnTo>
                      <a:lnTo>
                        <a:pt x="56" y="173"/>
                      </a:lnTo>
                      <a:lnTo>
                        <a:pt x="47" y="191"/>
                      </a:lnTo>
                      <a:lnTo>
                        <a:pt x="37" y="205"/>
                      </a:lnTo>
                      <a:lnTo>
                        <a:pt x="37" y="212"/>
                      </a:lnTo>
                      <a:lnTo>
                        <a:pt x="44" y="224"/>
                      </a:lnTo>
                      <a:lnTo>
                        <a:pt x="33" y="228"/>
                      </a:lnTo>
                      <a:lnTo>
                        <a:pt x="22" y="205"/>
                      </a:lnTo>
                      <a:lnTo>
                        <a:pt x="5" y="208"/>
                      </a:lnTo>
                      <a:lnTo>
                        <a:pt x="0" y="239"/>
                      </a:lnTo>
                      <a:lnTo>
                        <a:pt x="0" y="258"/>
                      </a:lnTo>
                      <a:lnTo>
                        <a:pt x="0" y="275"/>
                      </a:lnTo>
                      <a:lnTo>
                        <a:pt x="8" y="290"/>
                      </a:lnTo>
                      <a:lnTo>
                        <a:pt x="18" y="301"/>
                      </a:lnTo>
                      <a:lnTo>
                        <a:pt x="18" y="320"/>
                      </a:lnTo>
                      <a:lnTo>
                        <a:pt x="33" y="318"/>
                      </a:lnTo>
                      <a:lnTo>
                        <a:pt x="52" y="304"/>
                      </a:lnTo>
                      <a:lnTo>
                        <a:pt x="62" y="318"/>
                      </a:lnTo>
                      <a:lnTo>
                        <a:pt x="77" y="335"/>
                      </a:lnTo>
                      <a:lnTo>
                        <a:pt x="89" y="352"/>
                      </a:lnTo>
                      <a:lnTo>
                        <a:pt x="104" y="385"/>
                      </a:lnTo>
                      <a:lnTo>
                        <a:pt x="133" y="377"/>
                      </a:lnTo>
                      <a:lnTo>
                        <a:pt x="180" y="368"/>
                      </a:lnTo>
                      <a:lnTo>
                        <a:pt x="253" y="359"/>
                      </a:lnTo>
                      <a:lnTo>
                        <a:pt x="271" y="381"/>
                      </a:lnTo>
                      <a:lnTo>
                        <a:pt x="273" y="422"/>
                      </a:lnTo>
                      <a:lnTo>
                        <a:pt x="240" y="430"/>
                      </a:lnTo>
                      <a:lnTo>
                        <a:pt x="209" y="439"/>
                      </a:lnTo>
                      <a:lnTo>
                        <a:pt x="213" y="468"/>
                      </a:lnTo>
                      <a:lnTo>
                        <a:pt x="166" y="468"/>
                      </a:lnTo>
                      <a:lnTo>
                        <a:pt x="209" y="527"/>
                      </a:lnTo>
                      <a:lnTo>
                        <a:pt x="228" y="531"/>
                      </a:lnTo>
                      <a:lnTo>
                        <a:pt x="249" y="535"/>
                      </a:lnTo>
                      <a:lnTo>
                        <a:pt x="258" y="560"/>
                      </a:lnTo>
                      <a:lnTo>
                        <a:pt x="269" y="550"/>
                      </a:lnTo>
                      <a:lnTo>
                        <a:pt x="308" y="545"/>
                      </a:lnTo>
                      <a:lnTo>
                        <a:pt x="328" y="554"/>
                      </a:lnTo>
                      <a:lnTo>
                        <a:pt x="342" y="567"/>
                      </a:lnTo>
                      <a:lnTo>
                        <a:pt x="353" y="554"/>
                      </a:lnTo>
                      <a:lnTo>
                        <a:pt x="378" y="557"/>
                      </a:lnTo>
                      <a:lnTo>
                        <a:pt x="335" y="425"/>
                      </a:lnTo>
                      <a:lnTo>
                        <a:pt x="352" y="418"/>
                      </a:lnTo>
                      <a:lnTo>
                        <a:pt x="408" y="389"/>
                      </a:lnTo>
                      <a:lnTo>
                        <a:pt x="418" y="388"/>
                      </a:lnTo>
                      <a:lnTo>
                        <a:pt x="409" y="377"/>
                      </a:lnTo>
                      <a:lnTo>
                        <a:pt x="422" y="382"/>
                      </a:lnTo>
                      <a:lnTo>
                        <a:pt x="422" y="368"/>
                      </a:lnTo>
                      <a:lnTo>
                        <a:pt x="430" y="359"/>
                      </a:lnTo>
                      <a:lnTo>
                        <a:pt x="434" y="363"/>
                      </a:lnTo>
                      <a:lnTo>
                        <a:pt x="446" y="363"/>
                      </a:lnTo>
                      <a:lnTo>
                        <a:pt x="459" y="371"/>
                      </a:lnTo>
                      <a:lnTo>
                        <a:pt x="475" y="355"/>
                      </a:lnTo>
                      <a:lnTo>
                        <a:pt x="485" y="359"/>
                      </a:lnTo>
                      <a:lnTo>
                        <a:pt x="474" y="382"/>
                      </a:lnTo>
                      <a:lnTo>
                        <a:pt x="482" y="414"/>
                      </a:lnTo>
                      <a:lnTo>
                        <a:pt x="511" y="432"/>
                      </a:lnTo>
                      <a:lnTo>
                        <a:pt x="511" y="439"/>
                      </a:lnTo>
                      <a:lnTo>
                        <a:pt x="501" y="454"/>
                      </a:lnTo>
                      <a:lnTo>
                        <a:pt x="506" y="461"/>
                      </a:lnTo>
                      <a:lnTo>
                        <a:pt x="541" y="474"/>
                      </a:lnTo>
                      <a:lnTo>
                        <a:pt x="552" y="494"/>
                      </a:lnTo>
                      <a:lnTo>
                        <a:pt x="587" y="483"/>
                      </a:lnTo>
                      <a:lnTo>
                        <a:pt x="624" y="474"/>
                      </a:lnTo>
                      <a:lnTo>
                        <a:pt x="654" y="534"/>
                      </a:lnTo>
                      <a:lnTo>
                        <a:pt x="665" y="561"/>
                      </a:lnTo>
                      <a:lnTo>
                        <a:pt x="655" y="568"/>
                      </a:lnTo>
                      <a:lnTo>
                        <a:pt x="650" y="578"/>
                      </a:lnTo>
                      <a:lnTo>
                        <a:pt x="679" y="587"/>
                      </a:lnTo>
                      <a:lnTo>
                        <a:pt x="688" y="600"/>
                      </a:lnTo>
                      <a:lnTo>
                        <a:pt x="728" y="587"/>
                      </a:lnTo>
                      <a:lnTo>
                        <a:pt x="742" y="600"/>
                      </a:lnTo>
                      <a:lnTo>
                        <a:pt x="769" y="584"/>
                      </a:lnTo>
                      <a:lnTo>
                        <a:pt x="789" y="582"/>
                      </a:lnTo>
                      <a:lnTo>
                        <a:pt x="813" y="586"/>
                      </a:lnTo>
                      <a:lnTo>
                        <a:pt x="866" y="586"/>
                      </a:lnTo>
                      <a:lnTo>
                        <a:pt x="852" y="575"/>
                      </a:lnTo>
                      <a:lnTo>
                        <a:pt x="852" y="557"/>
                      </a:lnTo>
                      <a:lnTo>
                        <a:pt x="860" y="546"/>
                      </a:lnTo>
                      <a:lnTo>
                        <a:pt x="860" y="536"/>
                      </a:lnTo>
                      <a:lnTo>
                        <a:pt x="844" y="528"/>
                      </a:lnTo>
                      <a:lnTo>
                        <a:pt x="877" y="525"/>
                      </a:lnTo>
                      <a:lnTo>
                        <a:pt x="906" y="528"/>
                      </a:lnTo>
                      <a:lnTo>
                        <a:pt x="912" y="536"/>
                      </a:lnTo>
                      <a:lnTo>
                        <a:pt x="936" y="534"/>
                      </a:lnTo>
                      <a:lnTo>
                        <a:pt x="919" y="507"/>
                      </a:lnTo>
                      <a:lnTo>
                        <a:pt x="937" y="503"/>
                      </a:lnTo>
                      <a:lnTo>
                        <a:pt x="1018" y="514"/>
                      </a:lnTo>
                      <a:lnTo>
                        <a:pt x="1086" y="520"/>
                      </a:lnTo>
                      <a:lnTo>
                        <a:pt x="1135" y="542"/>
                      </a:lnTo>
                      <a:lnTo>
                        <a:pt x="1160" y="542"/>
                      </a:lnTo>
                      <a:lnTo>
                        <a:pt x="1168" y="567"/>
                      </a:lnTo>
                      <a:lnTo>
                        <a:pt x="1187" y="514"/>
                      </a:lnTo>
                      <a:lnTo>
                        <a:pt x="1160" y="457"/>
                      </a:lnTo>
                      <a:lnTo>
                        <a:pt x="1242" y="437"/>
                      </a:lnTo>
                      <a:lnTo>
                        <a:pt x="1252" y="406"/>
                      </a:lnTo>
                      <a:lnTo>
                        <a:pt x="1264" y="359"/>
                      </a:lnTo>
                      <a:lnTo>
                        <a:pt x="1349" y="363"/>
                      </a:lnTo>
                      <a:lnTo>
                        <a:pt x="1362" y="30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6" name="16455322.75544.2518.12525.255">
                  <a:extLst>
                    <a:ext uri="{FF2B5EF4-FFF2-40B4-BE49-F238E27FC236}">
                      <a16:creationId xmlns:a16="http://schemas.microsoft.com/office/drawing/2014/main" id="{32C258BE-82D2-646A-FE24-AF8687827D9A}"/>
                    </a:ext>
                  </a:extLst>
                </p:cNvPr>
                <p:cNvSpPr>
                  <a:spLocks/>
                </p:cNvSpPr>
                <p:nvPr/>
              </p:nvSpPr>
              <p:spPr bwMode="auto">
                <a:xfrm>
                  <a:off x="3714385" y="3103283"/>
                  <a:ext cx="307996" cy="214633"/>
                </a:xfrm>
                <a:custGeom>
                  <a:avLst/>
                  <a:gdLst>
                    <a:gd name="T0" fmla="*/ 0 w 609"/>
                    <a:gd name="T1" fmla="*/ 1 h 371"/>
                    <a:gd name="T2" fmla="*/ 0 w 609"/>
                    <a:gd name="T3" fmla="*/ 1 h 371"/>
                    <a:gd name="T4" fmla="*/ 0 w 609"/>
                    <a:gd name="T5" fmla="*/ 1 h 371"/>
                    <a:gd name="T6" fmla="*/ 0 w 609"/>
                    <a:gd name="T7" fmla="*/ 1 h 371"/>
                    <a:gd name="T8" fmla="*/ 0 w 609"/>
                    <a:gd name="T9" fmla="*/ 1 h 371"/>
                    <a:gd name="T10" fmla="*/ 0 w 609"/>
                    <a:gd name="T11" fmla="*/ 1 h 371"/>
                    <a:gd name="T12" fmla="*/ 0 w 609"/>
                    <a:gd name="T13" fmla="*/ 1 h 371"/>
                    <a:gd name="T14" fmla="*/ 0 w 609"/>
                    <a:gd name="T15" fmla="*/ 1 h 371"/>
                    <a:gd name="T16" fmla="*/ 0 w 609"/>
                    <a:gd name="T17" fmla="*/ 1 h 371"/>
                    <a:gd name="T18" fmla="*/ 0 w 609"/>
                    <a:gd name="T19" fmla="*/ 1 h 371"/>
                    <a:gd name="T20" fmla="*/ 0 w 609"/>
                    <a:gd name="T21" fmla="*/ 1 h 371"/>
                    <a:gd name="T22" fmla="*/ 0 w 609"/>
                    <a:gd name="T23" fmla="*/ 1 h 371"/>
                    <a:gd name="T24" fmla="*/ 0 w 609"/>
                    <a:gd name="T25" fmla="*/ 1 h 371"/>
                    <a:gd name="T26" fmla="*/ 0 w 609"/>
                    <a:gd name="T27" fmla="*/ 1 h 371"/>
                    <a:gd name="T28" fmla="*/ 0 w 609"/>
                    <a:gd name="T29" fmla="*/ 1 h 371"/>
                    <a:gd name="T30" fmla="*/ 0 w 609"/>
                    <a:gd name="T31" fmla="*/ 1 h 371"/>
                    <a:gd name="T32" fmla="*/ 0 w 609"/>
                    <a:gd name="T33" fmla="*/ 1 h 371"/>
                    <a:gd name="T34" fmla="*/ 0 w 609"/>
                    <a:gd name="T35" fmla="*/ 1 h 371"/>
                    <a:gd name="T36" fmla="*/ 0 w 609"/>
                    <a:gd name="T37" fmla="*/ 1 h 371"/>
                    <a:gd name="T38" fmla="*/ 0 w 609"/>
                    <a:gd name="T39" fmla="*/ 1 h 371"/>
                    <a:gd name="T40" fmla="*/ 0 w 609"/>
                    <a:gd name="T41" fmla="*/ 1 h 371"/>
                    <a:gd name="T42" fmla="*/ 0 w 609"/>
                    <a:gd name="T43" fmla="*/ 1 h 371"/>
                    <a:gd name="T44" fmla="*/ 0 w 609"/>
                    <a:gd name="T45" fmla="*/ 1 h 371"/>
                    <a:gd name="T46" fmla="*/ 0 w 609"/>
                    <a:gd name="T47" fmla="*/ 1 h 371"/>
                    <a:gd name="T48" fmla="*/ 0 w 609"/>
                    <a:gd name="T49" fmla="*/ 1 h 371"/>
                    <a:gd name="T50" fmla="*/ 0 w 609"/>
                    <a:gd name="T51" fmla="*/ 1 h 371"/>
                    <a:gd name="T52" fmla="*/ 0 w 609"/>
                    <a:gd name="T53" fmla="*/ 1 h 371"/>
                    <a:gd name="T54" fmla="*/ 0 w 609"/>
                    <a:gd name="T55" fmla="*/ 1 h 371"/>
                    <a:gd name="T56" fmla="*/ 0 w 609"/>
                    <a:gd name="T57" fmla="*/ 1 h 371"/>
                    <a:gd name="T58" fmla="*/ 0 w 609"/>
                    <a:gd name="T59" fmla="*/ 1 h 371"/>
                    <a:gd name="T60" fmla="*/ 0 w 609"/>
                    <a:gd name="T61" fmla="*/ 1 h 371"/>
                    <a:gd name="T62" fmla="*/ 0 w 609"/>
                    <a:gd name="T63" fmla="*/ 1 h 371"/>
                    <a:gd name="T64" fmla="*/ 0 w 609"/>
                    <a:gd name="T65" fmla="*/ 1 h 371"/>
                    <a:gd name="T66" fmla="*/ 0 w 609"/>
                    <a:gd name="T67" fmla="*/ 0 h 371"/>
                    <a:gd name="T68" fmla="*/ 0 w 609"/>
                    <a:gd name="T69" fmla="*/ 1 h 37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09"/>
                    <a:gd name="T106" fmla="*/ 0 h 371"/>
                    <a:gd name="T107" fmla="*/ 609 w 609"/>
                    <a:gd name="T108" fmla="*/ 371 h 37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09" h="371">
                      <a:moveTo>
                        <a:pt x="43" y="169"/>
                      </a:moveTo>
                      <a:lnTo>
                        <a:pt x="58" y="166"/>
                      </a:lnTo>
                      <a:lnTo>
                        <a:pt x="63" y="151"/>
                      </a:lnTo>
                      <a:lnTo>
                        <a:pt x="69" y="139"/>
                      </a:lnTo>
                      <a:lnTo>
                        <a:pt x="87" y="146"/>
                      </a:lnTo>
                      <a:lnTo>
                        <a:pt x="83" y="126"/>
                      </a:lnTo>
                      <a:lnTo>
                        <a:pt x="99" y="119"/>
                      </a:lnTo>
                      <a:lnTo>
                        <a:pt x="109" y="132"/>
                      </a:lnTo>
                      <a:lnTo>
                        <a:pt x="124" y="132"/>
                      </a:lnTo>
                      <a:lnTo>
                        <a:pt x="139" y="140"/>
                      </a:lnTo>
                      <a:lnTo>
                        <a:pt x="147" y="146"/>
                      </a:lnTo>
                      <a:lnTo>
                        <a:pt x="147" y="148"/>
                      </a:lnTo>
                      <a:lnTo>
                        <a:pt x="149" y="161"/>
                      </a:lnTo>
                      <a:lnTo>
                        <a:pt x="166" y="166"/>
                      </a:lnTo>
                      <a:lnTo>
                        <a:pt x="166" y="183"/>
                      </a:lnTo>
                      <a:lnTo>
                        <a:pt x="180" y="209"/>
                      </a:lnTo>
                      <a:lnTo>
                        <a:pt x="197" y="212"/>
                      </a:lnTo>
                      <a:lnTo>
                        <a:pt x="204" y="205"/>
                      </a:lnTo>
                      <a:lnTo>
                        <a:pt x="221" y="195"/>
                      </a:lnTo>
                      <a:lnTo>
                        <a:pt x="237" y="209"/>
                      </a:lnTo>
                      <a:lnTo>
                        <a:pt x="256" y="229"/>
                      </a:lnTo>
                      <a:lnTo>
                        <a:pt x="285" y="258"/>
                      </a:lnTo>
                      <a:lnTo>
                        <a:pt x="335" y="271"/>
                      </a:lnTo>
                      <a:lnTo>
                        <a:pt x="337" y="289"/>
                      </a:lnTo>
                      <a:lnTo>
                        <a:pt x="370" y="301"/>
                      </a:lnTo>
                      <a:lnTo>
                        <a:pt x="385" y="319"/>
                      </a:lnTo>
                      <a:lnTo>
                        <a:pt x="374" y="370"/>
                      </a:lnTo>
                      <a:lnTo>
                        <a:pt x="404" y="371"/>
                      </a:lnTo>
                      <a:lnTo>
                        <a:pt x="423" y="345"/>
                      </a:lnTo>
                      <a:lnTo>
                        <a:pt x="436" y="330"/>
                      </a:lnTo>
                      <a:lnTo>
                        <a:pt x="444" y="316"/>
                      </a:lnTo>
                      <a:lnTo>
                        <a:pt x="439" y="291"/>
                      </a:lnTo>
                      <a:lnTo>
                        <a:pt x="415" y="282"/>
                      </a:lnTo>
                      <a:lnTo>
                        <a:pt x="421" y="236"/>
                      </a:lnTo>
                      <a:lnTo>
                        <a:pt x="443" y="218"/>
                      </a:lnTo>
                      <a:lnTo>
                        <a:pt x="461" y="224"/>
                      </a:lnTo>
                      <a:lnTo>
                        <a:pt x="506" y="216"/>
                      </a:lnTo>
                      <a:lnTo>
                        <a:pt x="513" y="235"/>
                      </a:lnTo>
                      <a:lnTo>
                        <a:pt x="539" y="234"/>
                      </a:lnTo>
                      <a:lnTo>
                        <a:pt x="595" y="229"/>
                      </a:lnTo>
                      <a:lnTo>
                        <a:pt x="609" y="209"/>
                      </a:lnTo>
                      <a:lnTo>
                        <a:pt x="595" y="196"/>
                      </a:lnTo>
                      <a:lnTo>
                        <a:pt x="560" y="196"/>
                      </a:lnTo>
                      <a:lnTo>
                        <a:pt x="496" y="196"/>
                      </a:lnTo>
                      <a:lnTo>
                        <a:pt x="472" y="196"/>
                      </a:lnTo>
                      <a:lnTo>
                        <a:pt x="447" y="192"/>
                      </a:lnTo>
                      <a:lnTo>
                        <a:pt x="407" y="212"/>
                      </a:lnTo>
                      <a:lnTo>
                        <a:pt x="403" y="209"/>
                      </a:lnTo>
                      <a:lnTo>
                        <a:pt x="393" y="199"/>
                      </a:lnTo>
                      <a:lnTo>
                        <a:pt x="373" y="205"/>
                      </a:lnTo>
                      <a:lnTo>
                        <a:pt x="353" y="212"/>
                      </a:lnTo>
                      <a:lnTo>
                        <a:pt x="349" y="207"/>
                      </a:lnTo>
                      <a:lnTo>
                        <a:pt x="345" y="199"/>
                      </a:lnTo>
                      <a:lnTo>
                        <a:pt x="320" y="192"/>
                      </a:lnTo>
                      <a:lnTo>
                        <a:pt x="315" y="190"/>
                      </a:lnTo>
                      <a:lnTo>
                        <a:pt x="319" y="180"/>
                      </a:lnTo>
                      <a:lnTo>
                        <a:pt x="331" y="173"/>
                      </a:lnTo>
                      <a:lnTo>
                        <a:pt x="315" y="137"/>
                      </a:lnTo>
                      <a:lnTo>
                        <a:pt x="289" y="86"/>
                      </a:lnTo>
                      <a:lnTo>
                        <a:pt x="219" y="103"/>
                      </a:lnTo>
                      <a:lnTo>
                        <a:pt x="204" y="86"/>
                      </a:lnTo>
                      <a:lnTo>
                        <a:pt x="171" y="73"/>
                      </a:lnTo>
                      <a:lnTo>
                        <a:pt x="140" y="93"/>
                      </a:lnTo>
                      <a:lnTo>
                        <a:pt x="110" y="88"/>
                      </a:lnTo>
                      <a:lnTo>
                        <a:pt x="77" y="66"/>
                      </a:lnTo>
                      <a:lnTo>
                        <a:pt x="72" y="38"/>
                      </a:lnTo>
                      <a:lnTo>
                        <a:pt x="74" y="19"/>
                      </a:lnTo>
                      <a:lnTo>
                        <a:pt x="73" y="0"/>
                      </a:lnTo>
                      <a:lnTo>
                        <a:pt x="0" y="38"/>
                      </a:lnTo>
                      <a:lnTo>
                        <a:pt x="43" y="16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7" name="16456328.625540.87515.87519.3755">
                  <a:extLst>
                    <a:ext uri="{FF2B5EF4-FFF2-40B4-BE49-F238E27FC236}">
                      <a16:creationId xmlns:a16="http://schemas.microsoft.com/office/drawing/2014/main" id="{9E770218-A6A0-964E-253C-28FEB1D85999}"/>
                    </a:ext>
                  </a:extLst>
                </p:cNvPr>
                <p:cNvSpPr>
                  <a:spLocks/>
                </p:cNvSpPr>
                <p:nvPr/>
              </p:nvSpPr>
              <p:spPr bwMode="auto">
                <a:xfrm>
                  <a:off x="3673859" y="3172518"/>
                  <a:ext cx="236063" cy="188091"/>
                </a:xfrm>
                <a:custGeom>
                  <a:avLst/>
                  <a:gdLst>
                    <a:gd name="T0" fmla="*/ 0 w 466"/>
                    <a:gd name="T1" fmla="*/ 1 h 325"/>
                    <a:gd name="T2" fmla="*/ 1 w 466"/>
                    <a:gd name="T3" fmla="*/ 1 h 325"/>
                    <a:gd name="T4" fmla="*/ 1 w 466"/>
                    <a:gd name="T5" fmla="*/ 1 h 325"/>
                    <a:gd name="T6" fmla="*/ 1 w 466"/>
                    <a:gd name="T7" fmla="*/ 1 h 325"/>
                    <a:gd name="T8" fmla="*/ 1 w 466"/>
                    <a:gd name="T9" fmla="*/ 1 h 325"/>
                    <a:gd name="T10" fmla="*/ 1 w 466"/>
                    <a:gd name="T11" fmla="*/ 1 h 325"/>
                    <a:gd name="T12" fmla="*/ 1 w 466"/>
                    <a:gd name="T13" fmla="*/ 1 h 325"/>
                    <a:gd name="T14" fmla="*/ 1 w 466"/>
                    <a:gd name="T15" fmla="*/ 1 h 325"/>
                    <a:gd name="T16" fmla="*/ 1 w 466"/>
                    <a:gd name="T17" fmla="*/ 1 h 325"/>
                    <a:gd name="T18" fmla="*/ 1 w 466"/>
                    <a:gd name="T19" fmla="*/ 1 h 325"/>
                    <a:gd name="T20" fmla="*/ 1 w 466"/>
                    <a:gd name="T21" fmla="*/ 1 h 325"/>
                    <a:gd name="T22" fmla="*/ 1 w 466"/>
                    <a:gd name="T23" fmla="*/ 1 h 325"/>
                    <a:gd name="T24" fmla="*/ 1 w 466"/>
                    <a:gd name="T25" fmla="*/ 1 h 325"/>
                    <a:gd name="T26" fmla="*/ 1 w 466"/>
                    <a:gd name="T27" fmla="*/ 1 h 325"/>
                    <a:gd name="T28" fmla="*/ 1 w 466"/>
                    <a:gd name="T29" fmla="*/ 1 h 325"/>
                    <a:gd name="T30" fmla="*/ 1 w 466"/>
                    <a:gd name="T31" fmla="*/ 1 h 325"/>
                    <a:gd name="T32" fmla="*/ 1 w 466"/>
                    <a:gd name="T33" fmla="*/ 1 h 325"/>
                    <a:gd name="T34" fmla="*/ 1 w 466"/>
                    <a:gd name="T35" fmla="*/ 1 h 325"/>
                    <a:gd name="T36" fmla="*/ 1 w 466"/>
                    <a:gd name="T37" fmla="*/ 1 h 325"/>
                    <a:gd name="T38" fmla="*/ 1 w 466"/>
                    <a:gd name="T39" fmla="*/ 1 h 325"/>
                    <a:gd name="T40" fmla="*/ 1 w 466"/>
                    <a:gd name="T41" fmla="*/ 1 h 325"/>
                    <a:gd name="T42" fmla="*/ 1 w 466"/>
                    <a:gd name="T43" fmla="*/ 1 h 325"/>
                    <a:gd name="T44" fmla="*/ 1 w 466"/>
                    <a:gd name="T45" fmla="*/ 1 h 325"/>
                    <a:gd name="T46" fmla="*/ 1 w 466"/>
                    <a:gd name="T47" fmla="*/ 1 h 325"/>
                    <a:gd name="T48" fmla="*/ 1 w 466"/>
                    <a:gd name="T49" fmla="*/ 1 h 325"/>
                    <a:gd name="T50" fmla="*/ 1 w 466"/>
                    <a:gd name="T51" fmla="*/ 1 h 325"/>
                    <a:gd name="T52" fmla="*/ 1 w 466"/>
                    <a:gd name="T53" fmla="*/ 1 h 325"/>
                    <a:gd name="T54" fmla="*/ 1 w 466"/>
                    <a:gd name="T55" fmla="*/ 1 h 325"/>
                    <a:gd name="T56" fmla="*/ 1 w 466"/>
                    <a:gd name="T57" fmla="*/ 1 h 325"/>
                    <a:gd name="T58" fmla="*/ 1 w 466"/>
                    <a:gd name="T59" fmla="*/ 1 h 325"/>
                    <a:gd name="T60" fmla="*/ 1 w 466"/>
                    <a:gd name="T61" fmla="*/ 1 h 325"/>
                    <a:gd name="T62" fmla="*/ 1 w 466"/>
                    <a:gd name="T63" fmla="*/ 1 h 325"/>
                    <a:gd name="T64" fmla="*/ 1 w 466"/>
                    <a:gd name="T65" fmla="*/ 1 h 325"/>
                    <a:gd name="T66" fmla="*/ 1 w 466"/>
                    <a:gd name="T67" fmla="*/ 1 h 325"/>
                    <a:gd name="T68" fmla="*/ 1 w 466"/>
                    <a:gd name="T69" fmla="*/ 1 h 325"/>
                    <a:gd name="T70" fmla="*/ 1 w 466"/>
                    <a:gd name="T71" fmla="*/ 1 h 325"/>
                    <a:gd name="T72" fmla="*/ 1 w 466"/>
                    <a:gd name="T73" fmla="*/ 1 h 325"/>
                    <a:gd name="T74" fmla="*/ 1 w 466"/>
                    <a:gd name="T75" fmla="*/ 1 h 325"/>
                    <a:gd name="T76" fmla="*/ 1 w 466"/>
                    <a:gd name="T77" fmla="*/ 1 h 325"/>
                    <a:gd name="T78" fmla="*/ 1 w 466"/>
                    <a:gd name="T79" fmla="*/ 0 h 325"/>
                    <a:gd name="T80" fmla="*/ 1 w 466"/>
                    <a:gd name="T81" fmla="*/ 1 h 325"/>
                    <a:gd name="T82" fmla="*/ 1 w 466"/>
                    <a:gd name="T83" fmla="*/ 1 h 325"/>
                    <a:gd name="T84" fmla="*/ 1 w 466"/>
                    <a:gd name="T85" fmla="*/ 1 h 325"/>
                    <a:gd name="T86" fmla="*/ 1 w 466"/>
                    <a:gd name="T87" fmla="*/ 1 h 325"/>
                    <a:gd name="T88" fmla="*/ 1 w 466"/>
                    <a:gd name="T89" fmla="*/ 1 h 325"/>
                    <a:gd name="T90" fmla="*/ 1 w 466"/>
                    <a:gd name="T91" fmla="*/ 1 h 325"/>
                    <a:gd name="T92" fmla="*/ 1 w 466"/>
                    <a:gd name="T93" fmla="*/ 1 h 325"/>
                    <a:gd name="T94" fmla="*/ 1 w 466"/>
                    <a:gd name="T95" fmla="*/ 1 h 325"/>
                    <a:gd name="T96" fmla="*/ 1 w 466"/>
                    <a:gd name="T97" fmla="*/ 1 h 325"/>
                    <a:gd name="T98" fmla="*/ 1 w 466"/>
                    <a:gd name="T99" fmla="*/ 1 h 325"/>
                    <a:gd name="T100" fmla="*/ 0 w 466"/>
                    <a:gd name="T101" fmla="*/ 1 h 32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66"/>
                    <a:gd name="T154" fmla="*/ 0 h 325"/>
                    <a:gd name="T155" fmla="*/ 466 w 466"/>
                    <a:gd name="T156" fmla="*/ 325 h 32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66" h="325">
                      <a:moveTo>
                        <a:pt x="0" y="47"/>
                      </a:moveTo>
                      <a:lnTo>
                        <a:pt x="3" y="90"/>
                      </a:lnTo>
                      <a:lnTo>
                        <a:pt x="29" y="64"/>
                      </a:lnTo>
                      <a:lnTo>
                        <a:pt x="64" y="97"/>
                      </a:lnTo>
                      <a:lnTo>
                        <a:pt x="49" y="117"/>
                      </a:lnTo>
                      <a:lnTo>
                        <a:pt x="6" y="98"/>
                      </a:lnTo>
                      <a:lnTo>
                        <a:pt x="2" y="127"/>
                      </a:lnTo>
                      <a:lnTo>
                        <a:pt x="6" y="143"/>
                      </a:lnTo>
                      <a:lnTo>
                        <a:pt x="29" y="148"/>
                      </a:lnTo>
                      <a:lnTo>
                        <a:pt x="18" y="165"/>
                      </a:lnTo>
                      <a:lnTo>
                        <a:pt x="39" y="179"/>
                      </a:lnTo>
                      <a:lnTo>
                        <a:pt x="39" y="237"/>
                      </a:lnTo>
                      <a:lnTo>
                        <a:pt x="102" y="220"/>
                      </a:lnTo>
                      <a:lnTo>
                        <a:pt x="138" y="203"/>
                      </a:lnTo>
                      <a:lnTo>
                        <a:pt x="220" y="241"/>
                      </a:lnTo>
                      <a:lnTo>
                        <a:pt x="271" y="265"/>
                      </a:lnTo>
                      <a:lnTo>
                        <a:pt x="282" y="276"/>
                      </a:lnTo>
                      <a:lnTo>
                        <a:pt x="288" y="304"/>
                      </a:lnTo>
                      <a:lnTo>
                        <a:pt x="336" y="325"/>
                      </a:lnTo>
                      <a:lnTo>
                        <a:pt x="407" y="248"/>
                      </a:lnTo>
                      <a:lnTo>
                        <a:pt x="454" y="248"/>
                      </a:lnTo>
                      <a:lnTo>
                        <a:pt x="461" y="215"/>
                      </a:lnTo>
                      <a:lnTo>
                        <a:pt x="466" y="201"/>
                      </a:lnTo>
                      <a:lnTo>
                        <a:pt x="451" y="181"/>
                      </a:lnTo>
                      <a:lnTo>
                        <a:pt x="417" y="168"/>
                      </a:lnTo>
                      <a:lnTo>
                        <a:pt x="414" y="152"/>
                      </a:lnTo>
                      <a:lnTo>
                        <a:pt x="365" y="139"/>
                      </a:lnTo>
                      <a:lnTo>
                        <a:pt x="336" y="110"/>
                      </a:lnTo>
                      <a:lnTo>
                        <a:pt x="325" y="93"/>
                      </a:lnTo>
                      <a:lnTo>
                        <a:pt x="301" y="75"/>
                      </a:lnTo>
                      <a:lnTo>
                        <a:pt x="286" y="84"/>
                      </a:lnTo>
                      <a:lnTo>
                        <a:pt x="277" y="93"/>
                      </a:lnTo>
                      <a:lnTo>
                        <a:pt x="260" y="90"/>
                      </a:lnTo>
                      <a:lnTo>
                        <a:pt x="246" y="64"/>
                      </a:lnTo>
                      <a:lnTo>
                        <a:pt x="245" y="47"/>
                      </a:lnTo>
                      <a:lnTo>
                        <a:pt x="229" y="42"/>
                      </a:lnTo>
                      <a:lnTo>
                        <a:pt x="224" y="27"/>
                      </a:lnTo>
                      <a:lnTo>
                        <a:pt x="204" y="13"/>
                      </a:lnTo>
                      <a:lnTo>
                        <a:pt x="189" y="13"/>
                      </a:lnTo>
                      <a:lnTo>
                        <a:pt x="179" y="0"/>
                      </a:lnTo>
                      <a:lnTo>
                        <a:pt x="163" y="7"/>
                      </a:lnTo>
                      <a:lnTo>
                        <a:pt x="168" y="27"/>
                      </a:lnTo>
                      <a:lnTo>
                        <a:pt x="160" y="22"/>
                      </a:lnTo>
                      <a:lnTo>
                        <a:pt x="149" y="20"/>
                      </a:lnTo>
                      <a:lnTo>
                        <a:pt x="138" y="47"/>
                      </a:lnTo>
                      <a:lnTo>
                        <a:pt x="120" y="50"/>
                      </a:lnTo>
                      <a:lnTo>
                        <a:pt x="102" y="46"/>
                      </a:lnTo>
                      <a:lnTo>
                        <a:pt x="87" y="60"/>
                      </a:lnTo>
                      <a:lnTo>
                        <a:pt x="73" y="47"/>
                      </a:lnTo>
                      <a:lnTo>
                        <a:pt x="51" y="35"/>
                      </a:lnTo>
                      <a:lnTo>
                        <a:pt x="0" y="47"/>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8" name="16457328.5562.625816.1255">
                  <a:extLst>
                    <a:ext uri="{FF2B5EF4-FFF2-40B4-BE49-F238E27FC236}">
                      <a16:creationId xmlns:a16="http://schemas.microsoft.com/office/drawing/2014/main" id="{82ACA492-57E2-946F-B7BF-A7D4A53A1448}"/>
                    </a:ext>
                  </a:extLst>
                </p:cNvPr>
                <p:cNvSpPr>
                  <a:spLocks/>
                </p:cNvSpPr>
                <p:nvPr/>
              </p:nvSpPr>
              <p:spPr bwMode="auto">
                <a:xfrm>
                  <a:off x="3938289" y="3170211"/>
                  <a:ext cx="197563" cy="95777"/>
                </a:xfrm>
                <a:custGeom>
                  <a:avLst/>
                  <a:gdLst>
                    <a:gd name="T0" fmla="*/ 1 w 389"/>
                    <a:gd name="T1" fmla="*/ 0 h 167"/>
                    <a:gd name="T2" fmla="*/ 1 w 389"/>
                    <a:gd name="T3" fmla="*/ 0 h 167"/>
                    <a:gd name="T4" fmla="*/ 1 w 389"/>
                    <a:gd name="T5" fmla="*/ 0 h 167"/>
                    <a:gd name="T6" fmla="*/ 0 w 389"/>
                    <a:gd name="T7" fmla="*/ 0 h 167"/>
                    <a:gd name="T8" fmla="*/ 1 w 389"/>
                    <a:gd name="T9" fmla="*/ 0 h 167"/>
                    <a:gd name="T10" fmla="*/ 1 w 389"/>
                    <a:gd name="T11" fmla="*/ 0 h 167"/>
                    <a:gd name="T12" fmla="*/ 1 w 389"/>
                    <a:gd name="T13" fmla="*/ 0 h 167"/>
                    <a:gd name="T14" fmla="*/ 1 w 389"/>
                    <a:gd name="T15" fmla="*/ 0 h 167"/>
                    <a:gd name="T16" fmla="*/ 1 w 389"/>
                    <a:gd name="T17" fmla="*/ 0 h 167"/>
                    <a:gd name="T18" fmla="*/ 1 w 389"/>
                    <a:gd name="T19" fmla="*/ 0 h 167"/>
                    <a:gd name="T20" fmla="*/ 1 w 389"/>
                    <a:gd name="T21" fmla="*/ 0 h 167"/>
                    <a:gd name="T22" fmla="*/ 1 w 389"/>
                    <a:gd name="T23" fmla="*/ 0 h 167"/>
                    <a:gd name="T24" fmla="*/ 1 w 389"/>
                    <a:gd name="T25" fmla="*/ 0 h 167"/>
                    <a:gd name="T26" fmla="*/ 1 w 389"/>
                    <a:gd name="T27" fmla="*/ 0 h 167"/>
                    <a:gd name="T28" fmla="*/ 1 w 389"/>
                    <a:gd name="T29" fmla="*/ 0 h 167"/>
                    <a:gd name="T30" fmla="*/ 1 w 389"/>
                    <a:gd name="T31" fmla="*/ 0 h 167"/>
                    <a:gd name="T32" fmla="*/ 1 w 389"/>
                    <a:gd name="T33" fmla="*/ 0 h 167"/>
                    <a:gd name="T34" fmla="*/ 1 w 389"/>
                    <a:gd name="T35" fmla="*/ 0 h 167"/>
                    <a:gd name="T36" fmla="*/ 1 w 389"/>
                    <a:gd name="T37" fmla="*/ 0 h 167"/>
                    <a:gd name="T38" fmla="*/ 1 w 389"/>
                    <a:gd name="T39" fmla="*/ 0 h 167"/>
                    <a:gd name="T40" fmla="*/ 1 w 389"/>
                    <a:gd name="T41" fmla="*/ 0 h 167"/>
                    <a:gd name="T42" fmla="*/ 1 w 389"/>
                    <a:gd name="T43" fmla="*/ 0 h 167"/>
                    <a:gd name="T44" fmla="*/ 1 w 389"/>
                    <a:gd name="T45" fmla="*/ 0 h 167"/>
                    <a:gd name="T46" fmla="*/ 1 w 389"/>
                    <a:gd name="T47" fmla="*/ 0 h 167"/>
                    <a:gd name="T48" fmla="*/ 1 w 389"/>
                    <a:gd name="T49" fmla="*/ 0 h 167"/>
                    <a:gd name="T50" fmla="*/ 1 w 389"/>
                    <a:gd name="T51" fmla="*/ 0 h 167"/>
                    <a:gd name="T52" fmla="*/ 1 w 389"/>
                    <a:gd name="T53" fmla="*/ 0 h 167"/>
                    <a:gd name="T54" fmla="*/ 1 w 389"/>
                    <a:gd name="T55" fmla="*/ 0 h 167"/>
                    <a:gd name="T56" fmla="*/ 1 w 389"/>
                    <a:gd name="T57" fmla="*/ 0 h 167"/>
                    <a:gd name="T58" fmla="*/ 1 w 389"/>
                    <a:gd name="T59" fmla="*/ 0 h 167"/>
                    <a:gd name="T60" fmla="*/ 1 w 389"/>
                    <a:gd name="T61" fmla="*/ 0 h 167"/>
                    <a:gd name="T62" fmla="*/ 1 w 389"/>
                    <a:gd name="T63" fmla="*/ 0 h 167"/>
                    <a:gd name="T64" fmla="*/ 1 w 389"/>
                    <a:gd name="T65" fmla="*/ 0 h 167"/>
                    <a:gd name="T66" fmla="*/ 1 w 389"/>
                    <a:gd name="T67" fmla="*/ 0 h 167"/>
                    <a:gd name="T68" fmla="*/ 1 w 389"/>
                    <a:gd name="T69" fmla="*/ 0 h 167"/>
                    <a:gd name="T70" fmla="*/ 1 w 389"/>
                    <a:gd name="T71" fmla="*/ 0 h 167"/>
                    <a:gd name="T72" fmla="*/ 1 w 389"/>
                    <a:gd name="T73" fmla="*/ 0 h 167"/>
                    <a:gd name="T74" fmla="*/ 1 w 389"/>
                    <a:gd name="T75" fmla="*/ 0 h 167"/>
                    <a:gd name="T76" fmla="*/ 1 w 389"/>
                    <a:gd name="T77" fmla="*/ 0 h 167"/>
                    <a:gd name="T78" fmla="*/ 1 w 389"/>
                    <a:gd name="T79" fmla="*/ 0 h 167"/>
                    <a:gd name="T80" fmla="*/ 1 w 389"/>
                    <a:gd name="T81" fmla="*/ 0 h 167"/>
                    <a:gd name="T82" fmla="*/ 1 w 389"/>
                    <a:gd name="T83" fmla="*/ 0 h 16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89"/>
                    <a:gd name="T127" fmla="*/ 0 h 167"/>
                    <a:gd name="T128" fmla="*/ 389 w 389"/>
                    <a:gd name="T129" fmla="*/ 167 h 16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89" h="167">
                      <a:moveTo>
                        <a:pt x="99" y="119"/>
                      </a:moveTo>
                      <a:lnTo>
                        <a:pt x="70" y="119"/>
                      </a:lnTo>
                      <a:lnTo>
                        <a:pt x="13" y="125"/>
                      </a:lnTo>
                      <a:lnTo>
                        <a:pt x="0" y="143"/>
                      </a:lnTo>
                      <a:lnTo>
                        <a:pt x="13" y="152"/>
                      </a:lnTo>
                      <a:lnTo>
                        <a:pt x="26" y="157"/>
                      </a:lnTo>
                      <a:lnTo>
                        <a:pt x="104" y="156"/>
                      </a:lnTo>
                      <a:lnTo>
                        <a:pt x="156" y="156"/>
                      </a:lnTo>
                      <a:lnTo>
                        <a:pt x="180" y="167"/>
                      </a:lnTo>
                      <a:lnTo>
                        <a:pt x="188" y="146"/>
                      </a:lnTo>
                      <a:lnTo>
                        <a:pt x="210" y="143"/>
                      </a:lnTo>
                      <a:lnTo>
                        <a:pt x="242" y="136"/>
                      </a:lnTo>
                      <a:lnTo>
                        <a:pt x="269" y="131"/>
                      </a:lnTo>
                      <a:lnTo>
                        <a:pt x="319" y="103"/>
                      </a:lnTo>
                      <a:lnTo>
                        <a:pt x="371" y="77"/>
                      </a:lnTo>
                      <a:lnTo>
                        <a:pt x="389" y="64"/>
                      </a:lnTo>
                      <a:lnTo>
                        <a:pt x="382" y="39"/>
                      </a:lnTo>
                      <a:lnTo>
                        <a:pt x="357" y="39"/>
                      </a:lnTo>
                      <a:lnTo>
                        <a:pt x="332" y="26"/>
                      </a:lnTo>
                      <a:lnTo>
                        <a:pt x="306" y="17"/>
                      </a:lnTo>
                      <a:lnTo>
                        <a:pt x="240" y="11"/>
                      </a:lnTo>
                      <a:lnTo>
                        <a:pt x="159" y="0"/>
                      </a:lnTo>
                      <a:lnTo>
                        <a:pt x="143" y="4"/>
                      </a:lnTo>
                      <a:lnTo>
                        <a:pt x="148" y="17"/>
                      </a:lnTo>
                      <a:lnTo>
                        <a:pt x="158" y="31"/>
                      </a:lnTo>
                      <a:lnTo>
                        <a:pt x="134" y="33"/>
                      </a:lnTo>
                      <a:lnTo>
                        <a:pt x="128" y="25"/>
                      </a:lnTo>
                      <a:lnTo>
                        <a:pt x="101" y="22"/>
                      </a:lnTo>
                      <a:lnTo>
                        <a:pt x="66" y="25"/>
                      </a:lnTo>
                      <a:lnTo>
                        <a:pt x="82" y="33"/>
                      </a:lnTo>
                      <a:lnTo>
                        <a:pt x="85" y="43"/>
                      </a:lnTo>
                      <a:lnTo>
                        <a:pt x="74" y="54"/>
                      </a:lnTo>
                      <a:lnTo>
                        <a:pt x="74" y="72"/>
                      </a:lnTo>
                      <a:lnTo>
                        <a:pt x="88" y="83"/>
                      </a:lnTo>
                      <a:lnTo>
                        <a:pt x="134" y="83"/>
                      </a:lnTo>
                      <a:lnTo>
                        <a:pt x="151" y="81"/>
                      </a:lnTo>
                      <a:lnTo>
                        <a:pt x="166" y="97"/>
                      </a:lnTo>
                      <a:lnTo>
                        <a:pt x="149" y="116"/>
                      </a:lnTo>
                      <a:lnTo>
                        <a:pt x="133" y="116"/>
                      </a:lnTo>
                      <a:lnTo>
                        <a:pt x="117" y="114"/>
                      </a:lnTo>
                      <a:lnTo>
                        <a:pt x="108" y="116"/>
                      </a:lnTo>
                      <a:lnTo>
                        <a:pt x="99" y="11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9" name="16458333.375561.1258.2510.255">
                  <a:extLst>
                    <a:ext uri="{FF2B5EF4-FFF2-40B4-BE49-F238E27FC236}">
                      <a16:creationId xmlns:a16="http://schemas.microsoft.com/office/drawing/2014/main" id="{0E14D3AC-53FA-63F9-2B73-F2AFBA37C3E8}"/>
                    </a:ext>
                  </a:extLst>
                </p:cNvPr>
                <p:cNvSpPr>
                  <a:spLocks/>
                </p:cNvSpPr>
                <p:nvPr/>
              </p:nvSpPr>
              <p:spPr bwMode="auto">
                <a:xfrm>
                  <a:off x="3920054" y="3227909"/>
                  <a:ext cx="125630" cy="99239"/>
                </a:xfrm>
                <a:custGeom>
                  <a:avLst/>
                  <a:gdLst>
                    <a:gd name="T0" fmla="*/ 0 w 247"/>
                    <a:gd name="T1" fmla="*/ 1 h 172"/>
                    <a:gd name="T2" fmla="*/ 1 w 247"/>
                    <a:gd name="T3" fmla="*/ 1 h 172"/>
                    <a:gd name="T4" fmla="*/ 1 w 247"/>
                    <a:gd name="T5" fmla="*/ 1 h 172"/>
                    <a:gd name="T6" fmla="*/ 1 w 247"/>
                    <a:gd name="T7" fmla="*/ 1 h 172"/>
                    <a:gd name="T8" fmla="*/ 1 w 247"/>
                    <a:gd name="T9" fmla="*/ 1 h 172"/>
                    <a:gd name="T10" fmla="*/ 1 w 247"/>
                    <a:gd name="T11" fmla="*/ 1 h 172"/>
                    <a:gd name="T12" fmla="*/ 1 w 247"/>
                    <a:gd name="T13" fmla="*/ 1 h 172"/>
                    <a:gd name="T14" fmla="*/ 1 w 247"/>
                    <a:gd name="T15" fmla="*/ 1 h 172"/>
                    <a:gd name="T16" fmla="*/ 1 w 247"/>
                    <a:gd name="T17" fmla="*/ 1 h 172"/>
                    <a:gd name="T18" fmla="*/ 1 w 247"/>
                    <a:gd name="T19" fmla="*/ 1 h 172"/>
                    <a:gd name="T20" fmla="*/ 1 w 247"/>
                    <a:gd name="T21" fmla="*/ 1 h 172"/>
                    <a:gd name="T22" fmla="*/ 1 w 247"/>
                    <a:gd name="T23" fmla="*/ 1 h 172"/>
                    <a:gd name="T24" fmla="*/ 1 w 247"/>
                    <a:gd name="T25" fmla="*/ 1 h 172"/>
                    <a:gd name="T26" fmla="*/ 1 w 247"/>
                    <a:gd name="T27" fmla="*/ 1 h 172"/>
                    <a:gd name="T28" fmla="*/ 1 w 247"/>
                    <a:gd name="T29" fmla="*/ 1 h 172"/>
                    <a:gd name="T30" fmla="*/ 1 w 247"/>
                    <a:gd name="T31" fmla="*/ 1 h 172"/>
                    <a:gd name="T32" fmla="*/ 1 w 247"/>
                    <a:gd name="T33" fmla="*/ 1 h 172"/>
                    <a:gd name="T34" fmla="*/ 1 w 247"/>
                    <a:gd name="T35" fmla="*/ 1 h 172"/>
                    <a:gd name="T36" fmla="*/ 1 w 247"/>
                    <a:gd name="T37" fmla="*/ 1 h 172"/>
                    <a:gd name="T38" fmla="*/ 1 w 247"/>
                    <a:gd name="T39" fmla="*/ 1 h 172"/>
                    <a:gd name="T40" fmla="*/ 1 w 247"/>
                    <a:gd name="T41" fmla="*/ 1 h 172"/>
                    <a:gd name="T42" fmla="*/ 1 w 247"/>
                    <a:gd name="T43" fmla="*/ 1 h 172"/>
                    <a:gd name="T44" fmla="*/ 1 w 247"/>
                    <a:gd name="T45" fmla="*/ 1 h 172"/>
                    <a:gd name="T46" fmla="*/ 1 w 247"/>
                    <a:gd name="T47" fmla="*/ 1 h 172"/>
                    <a:gd name="T48" fmla="*/ 1 w 247"/>
                    <a:gd name="T49" fmla="*/ 0 h 172"/>
                    <a:gd name="T50" fmla="*/ 1 w 247"/>
                    <a:gd name="T51" fmla="*/ 1 h 172"/>
                    <a:gd name="T52" fmla="*/ 1 w 247"/>
                    <a:gd name="T53" fmla="*/ 1 h 172"/>
                    <a:gd name="T54" fmla="*/ 1 w 247"/>
                    <a:gd name="T55" fmla="*/ 1 h 172"/>
                    <a:gd name="T56" fmla="*/ 1 w 247"/>
                    <a:gd name="T57" fmla="*/ 1 h 172"/>
                    <a:gd name="T58" fmla="*/ 1 w 247"/>
                    <a:gd name="T59" fmla="*/ 1 h 172"/>
                    <a:gd name="T60" fmla="*/ 1 w 247"/>
                    <a:gd name="T61" fmla="*/ 1 h 172"/>
                    <a:gd name="T62" fmla="*/ 1 w 247"/>
                    <a:gd name="T63" fmla="*/ 1 h 172"/>
                    <a:gd name="T64" fmla="*/ 1 w 247"/>
                    <a:gd name="T65" fmla="*/ 1 h 172"/>
                    <a:gd name="T66" fmla="*/ 1 w 247"/>
                    <a:gd name="T67" fmla="*/ 1 h 172"/>
                    <a:gd name="T68" fmla="*/ 1 w 247"/>
                    <a:gd name="T69" fmla="*/ 1 h 172"/>
                    <a:gd name="T70" fmla="*/ 1 w 247"/>
                    <a:gd name="T71" fmla="*/ 1 h 172"/>
                    <a:gd name="T72" fmla="*/ 0 w 247"/>
                    <a:gd name="T73" fmla="*/ 1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47"/>
                    <a:gd name="T112" fmla="*/ 0 h 172"/>
                    <a:gd name="T113" fmla="*/ 247 w 247"/>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47" h="172">
                      <a:moveTo>
                        <a:pt x="0" y="146"/>
                      </a:moveTo>
                      <a:lnTo>
                        <a:pt x="3" y="152"/>
                      </a:lnTo>
                      <a:lnTo>
                        <a:pt x="21" y="155"/>
                      </a:lnTo>
                      <a:lnTo>
                        <a:pt x="65" y="157"/>
                      </a:lnTo>
                      <a:lnTo>
                        <a:pt x="117" y="103"/>
                      </a:lnTo>
                      <a:lnTo>
                        <a:pt x="129" y="137"/>
                      </a:lnTo>
                      <a:lnTo>
                        <a:pt x="144" y="172"/>
                      </a:lnTo>
                      <a:lnTo>
                        <a:pt x="176" y="158"/>
                      </a:lnTo>
                      <a:lnTo>
                        <a:pt x="210" y="144"/>
                      </a:lnTo>
                      <a:lnTo>
                        <a:pt x="245" y="155"/>
                      </a:lnTo>
                      <a:lnTo>
                        <a:pt x="247" y="104"/>
                      </a:lnTo>
                      <a:lnTo>
                        <a:pt x="223" y="95"/>
                      </a:lnTo>
                      <a:lnTo>
                        <a:pt x="209" y="96"/>
                      </a:lnTo>
                      <a:lnTo>
                        <a:pt x="218" y="64"/>
                      </a:lnTo>
                      <a:lnTo>
                        <a:pt x="190" y="57"/>
                      </a:lnTo>
                      <a:lnTo>
                        <a:pt x="165" y="55"/>
                      </a:lnTo>
                      <a:lnTo>
                        <a:pt x="131" y="55"/>
                      </a:lnTo>
                      <a:lnTo>
                        <a:pt x="103" y="55"/>
                      </a:lnTo>
                      <a:lnTo>
                        <a:pt x="70" y="55"/>
                      </a:lnTo>
                      <a:lnTo>
                        <a:pt x="41" y="49"/>
                      </a:lnTo>
                      <a:lnTo>
                        <a:pt x="37" y="45"/>
                      </a:lnTo>
                      <a:lnTo>
                        <a:pt x="43" y="33"/>
                      </a:lnTo>
                      <a:lnTo>
                        <a:pt x="55" y="24"/>
                      </a:lnTo>
                      <a:lnTo>
                        <a:pt x="102" y="16"/>
                      </a:lnTo>
                      <a:lnTo>
                        <a:pt x="99" y="0"/>
                      </a:lnTo>
                      <a:lnTo>
                        <a:pt x="63" y="5"/>
                      </a:lnTo>
                      <a:lnTo>
                        <a:pt x="33" y="4"/>
                      </a:lnTo>
                      <a:lnTo>
                        <a:pt x="14" y="20"/>
                      </a:lnTo>
                      <a:lnTo>
                        <a:pt x="7" y="55"/>
                      </a:lnTo>
                      <a:lnTo>
                        <a:pt x="8" y="63"/>
                      </a:lnTo>
                      <a:lnTo>
                        <a:pt x="5" y="66"/>
                      </a:lnTo>
                      <a:lnTo>
                        <a:pt x="27" y="73"/>
                      </a:lnTo>
                      <a:lnTo>
                        <a:pt x="38" y="92"/>
                      </a:lnTo>
                      <a:lnTo>
                        <a:pt x="32" y="114"/>
                      </a:lnTo>
                      <a:lnTo>
                        <a:pt x="26" y="117"/>
                      </a:lnTo>
                      <a:lnTo>
                        <a:pt x="18" y="126"/>
                      </a:lnTo>
                      <a:lnTo>
                        <a:pt x="0" y="14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0" name="16459321.875486.62512135">
                  <a:extLst>
                    <a:ext uri="{FF2B5EF4-FFF2-40B4-BE49-F238E27FC236}">
                      <a16:creationId xmlns:a16="http://schemas.microsoft.com/office/drawing/2014/main" id="{BE6A678C-22E5-E387-0D30-8C00A2040D97}"/>
                    </a:ext>
                  </a:extLst>
                </p:cNvPr>
                <p:cNvSpPr>
                  <a:spLocks/>
                </p:cNvSpPr>
                <p:nvPr/>
              </p:nvSpPr>
              <p:spPr bwMode="auto">
                <a:xfrm>
                  <a:off x="3012274" y="3092898"/>
                  <a:ext cx="158050" cy="141934"/>
                </a:xfrm>
                <a:custGeom>
                  <a:avLst/>
                  <a:gdLst>
                    <a:gd name="T0" fmla="*/ 0 w 311"/>
                    <a:gd name="T1" fmla="*/ 1 h 245"/>
                    <a:gd name="T2" fmla="*/ 0 w 311"/>
                    <a:gd name="T3" fmla="*/ 1 h 245"/>
                    <a:gd name="T4" fmla="*/ 1 w 311"/>
                    <a:gd name="T5" fmla="*/ 0 h 245"/>
                    <a:gd name="T6" fmla="*/ 1 w 311"/>
                    <a:gd name="T7" fmla="*/ 1 h 245"/>
                    <a:gd name="T8" fmla="*/ 1 w 311"/>
                    <a:gd name="T9" fmla="*/ 1 h 245"/>
                    <a:gd name="T10" fmla="*/ 1 w 311"/>
                    <a:gd name="T11" fmla="*/ 1 h 245"/>
                    <a:gd name="T12" fmla="*/ 1 w 311"/>
                    <a:gd name="T13" fmla="*/ 1 h 245"/>
                    <a:gd name="T14" fmla="*/ 1 w 311"/>
                    <a:gd name="T15" fmla="*/ 1 h 245"/>
                    <a:gd name="T16" fmla="*/ 1 w 311"/>
                    <a:gd name="T17" fmla="*/ 1 h 245"/>
                    <a:gd name="T18" fmla="*/ 1 w 311"/>
                    <a:gd name="T19" fmla="*/ 1 h 245"/>
                    <a:gd name="T20" fmla="*/ 1 w 311"/>
                    <a:gd name="T21" fmla="*/ 1 h 245"/>
                    <a:gd name="T22" fmla="*/ 1 w 311"/>
                    <a:gd name="T23" fmla="*/ 1 h 245"/>
                    <a:gd name="T24" fmla="*/ 1 w 311"/>
                    <a:gd name="T25" fmla="*/ 1 h 245"/>
                    <a:gd name="T26" fmla="*/ 1 w 311"/>
                    <a:gd name="T27" fmla="*/ 1 h 245"/>
                    <a:gd name="T28" fmla="*/ 0 w 311"/>
                    <a:gd name="T29" fmla="*/ 1 h 2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1"/>
                    <a:gd name="T46" fmla="*/ 0 h 245"/>
                    <a:gd name="T47" fmla="*/ 311 w 311"/>
                    <a:gd name="T48" fmla="*/ 245 h 2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1" h="245">
                      <a:moveTo>
                        <a:pt x="0" y="58"/>
                      </a:moveTo>
                      <a:lnTo>
                        <a:pt x="0" y="18"/>
                      </a:lnTo>
                      <a:lnTo>
                        <a:pt x="79" y="0"/>
                      </a:lnTo>
                      <a:lnTo>
                        <a:pt x="144" y="48"/>
                      </a:lnTo>
                      <a:lnTo>
                        <a:pt x="217" y="34"/>
                      </a:lnTo>
                      <a:lnTo>
                        <a:pt x="303" y="111"/>
                      </a:lnTo>
                      <a:lnTo>
                        <a:pt x="291" y="191"/>
                      </a:lnTo>
                      <a:lnTo>
                        <a:pt x="311" y="227"/>
                      </a:lnTo>
                      <a:lnTo>
                        <a:pt x="246" y="245"/>
                      </a:lnTo>
                      <a:lnTo>
                        <a:pt x="215" y="177"/>
                      </a:lnTo>
                      <a:lnTo>
                        <a:pt x="188" y="205"/>
                      </a:lnTo>
                      <a:lnTo>
                        <a:pt x="79" y="139"/>
                      </a:lnTo>
                      <a:lnTo>
                        <a:pt x="28" y="69"/>
                      </a:lnTo>
                      <a:lnTo>
                        <a:pt x="2" y="84"/>
                      </a:lnTo>
                      <a:lnTo>
                        <a:pt x="0" y="5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1" name="16460323.875489.1257.255.3755">
                  <a:extLst>
                    <a:ext uri="{FF2B5EF4-FFF2-40B4-BE49-F238E27FC236}">
                      <a16:creationId xmlns:a16="http://schemas.microsoft.com/office/drawing/2014/main" id="{91D8E027-F605-E16B-8BC4-386F30752680}"/>
                    </a:ext>
                  </a:extLst>
                </p:cNvPr>
                <p:cNvSpPr>
                  <a:spLocks/>
                </p:cNvSpPr>
                <p:nvPr/>
              </p:nvSpPr>
              <p:spPr bwMode="auto">
                <a:xfrm>
                  <a:off x="3042667" y="3115975"/>
                  <a:ext cx="65854" cy="86545"/>
                </a:xfrm>
                <a:custGeom>
                  <a:avLst/>
                  <a:gdLst>
                    <a:gd name="T0" fmla="*/ 1 w 129"/>
                    <a:gd name="T1" fmla="*/ 1 h 150"/>
                    <a:gd name="T2" fmla="*/ 1 w 129"/>
                    <a:gd name="T3" fmla="*/ 1 h 150"/>
                    <a:gd name="T4" fmla="*/ 1 w 129"/>
                    <a:gd name="T5" fmla="*/ 0 h 150"/>
                    <a:gd name="T6" fmla="*/ 0 w 129"/>
                    <a:gd name="T7" fmla="*/ 1 h 150"/>
                    <a:gd name="T8" fmla="*/ 1 w 129"/>
                    <a:gd name="T9" fmla="*/ 1 h 150"/>
                    <a:gd name="T10" fmla="*/ 1 w 129"/>
                    <a:gd name="T11" fmla="*/ 1 h 150"/>
                    <a:gd name="T12" fmla="*/ 1 w 129"/>
                    <a:gd name="T13" fmla="*/ 1 h 150"/>
                    <a:gd name="T14" fmla="*/ 0 60000 65536"/>
                    <a:gd name="T15" fmla="*/ 0 60000 65536"/>
                    <a:gd name="T16" fmla="*/ 0 60000 65536"/>
                    <a:gd name="T17" fmla="*/ 0 60000 65536"/>
                    <a:gd name="T18" fmla="*/ 0 60000 65536"/>
                    <a:gd name="T19" fmla="*/ 0 60000 65536"/>
                    <a:gd name="T20" fmla="*/ 0 60000 65536"/>
                    <a:gd name="T21" fmla="*/ 0 w 129"/>
                    <a:gd name="T22" fmla="*/ 0 h 150"/>
                    <a:gd name="T23" fmla="*/ 129 w 129"/>
                    <a:gd name="T24" fmla="*/ 150 h 1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9" h="150">
                      <a:moveTo>
                        <a:pt x="129" y="81"/>
                      </a:moveTo>
                      <a:lnTo>
                        <a:pt x="103" y="41"/>
                      </a:lnTo>
                      <a:lnTo>
                        <a:pt x="45" y="0"/>
                      </a:lnTo>
                      <a:lnTo>
                        <a:pt x="0" y="5"/>
                      </a:lnTo>
                      <a:lnTo>
                        <a:pt x="5" y="59"/>
                      </a:lnTo>
                      <a:lnTo>
                        <a:pt x="103" y="150"/>
                      </a:lnTo>
                      <a:lnTo>
                        <a:pt x="129" y="8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2" name="16461293.875494.87513.511.255">
                  <a:extLst>
                    <a:ext uri="{FF2B5EF4-FFF2-40B4-BE49-F238E27FC236}">
                      <a16:creationId xmlns:a16="http://schemas.microsoft.com/office/drawing/2014/main" id="{00F8E367-71C9-9A26-CAA6-E25760305645}"/>
                    </a:ext>
                  </a:extLst>
                </p:cNvPr>
                <p:cNvSpPr>
                  <a:spLocks/>
                </p:cNvSpPr>
                <p:nvPr/>
              </p:nvSpPr>
              <p:spPr bwMode="auto">
                <a:xfrm>
                  <a:off x="3112575" y="2760563"/>
                  <a:ext cx="137788" cy="160398"/>
                </a:xfrm>
                <a:custGeom>
                  <a:avLst/>
                  <a:gdLst>
                    <a:gd name="T0" fmla="*/ 0 w 272"/>
                    <a:gd name="T1" fmla="*/ 1 h 277"/>
                    <a:gd name="T2" fmla="*/ 1 w 272"/>
                    <a:gd name="T3" fmla="*/ 1 h 277"/>
                    <a:gd name="T4" fmla="*/ 1 w 272"/>
                    <a:gd name="T5" fmla="*/ 1 h 277"/>
                    <a:gd name="T6" fmla="*/ 1 w 272"/>
                    <a:gd name="T7" fmla="*/ 1 h 277"/>
                    <a:gd name="T8" fmla="*/ 1 w 272"/>
                    <a:gd name="T9" fmla="*/ 1 h 277"/>
                    <a:gd name="T10" fmla="*/ 1 w 272"/>
                    <a:gd name="T11" fmla="*/ 1 h 277"/>
                    <a:gd name="T12" fmla="*/ 1 w 272"/>
                    <a:gd name="T13" fmla="*/ 1 h 277"/>
                    <a:gd name="T14" fmla="*/ 1 w 272"/>
                    <a:gd name="T15" fmla="*/ 1 h 277"/>
                    <a:gd name="T16" fmla="*/ 1 w 272"/>
                    <a:gd name="T17" fmla="*/ 1 h 277"/>
                    <a:gd name="T18" fmla="*/ 1 w 272"/>
                    <a:gd name="T19" fmla="*/ 1 h 277"/>
                    <a:gd name="T20" fmla="*/ 1 w 272"/>
                    <a:gd name="T21" fmla="*/ 1 h 277"/>
                    <a:gd name="T22" fmla="*/ 1 w 272"/>
                    <a:gd name="T23" fmla="*/ 0 h 277"/>
                    <a:gd name="T24" fmla="*/ 1 w 272"/>
                    <a:gd name="T25" fmla="*/ 1 h 277"/>
                    <a:gd name="T26" fmla="*/ 1 w 272"/>
                    <a:gd name="T27" fmla="*/ 1 h 277"/>
                    <a:gd name="T28" fmla="*/ 1 w 272"/>
                    <a:gd name="T29" fmla="*/ 1 h 277"/>
                    <a:gd name="T30" fmla="*/ 1 w 272"/>
                    <a:gd name="T31" fmla="*/ 1 h 277"/>
                    <a:gd name="T32" fmla="*/ 1 w 272"/>
                    <a:gd name="T33" fmla="*/ 1 h 277"/>
                    <a:gd name="T34" fmla="*/ 1 w 272"/>
                    <a:gd name="T35" fmla="*/ 1 h 277"/>
                    <a:gd name="T36" fmla="*/ 0 w 272"/>
                    <a:gd name="T37" fmla="*/ 1 h 27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72"/>
                    <a:gd name="T58" fmla="*/ 0 h 277"/>
                    <a:gd name="T59" fmla="*/ 272 w 272"/>
                    <a:gd name="T60" fmla="*/ 277 h 27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72" h="277">
                      <a:moveTo>
                        <a:pt x="0" y="246"/>
                      </a:moveTo>
                      <a:lnTo>
                        <a:pt x="47" y="203"/>
                      </a:lnTo>
                      <a:lnTo>
                        <a:pt x="31" y="221"/>
                      </a:lnTo>
                      <a:lnTo>
                        <a:pt x="52" y="226"/>
                      </a:lnTo>
                      <a:lnTo>
                        <a:pt x="47" y="140"/>
                      </a:lnTo>
                      <a:lnTo>
                        <a:pt x="66" y="100"/>
                      </a:lnTo>
                      <a:lnTo>
                        <a:pt x="93" y="94"/>
                      </a:lnTo>
                      <a:lnTo>
                        <a:pt x="148" y="132"/>
                      </a:lnTo>
                      <a:lnTo>
                        <a:pt x="161" y="60"/>
                      </a:lnTo>
                      <a:lnTo>
                        <a:pt x="137" y="61"/>
                      </a:lnTo>
                      <a:lnTo>
                        <a:pt x="128" y="20"/>
                      </a:lnTo>
                      <a:lnTo>
                        <a:pt x="272" y="0"/>
                      </a:lnTo>
                      <a:lnTo>
                        <a:pt x="264" y="26"/>
                      </a:lnTo>
                      <a:lnTo>
                        <a:pt x="240" y="42"/>
                      </a:lnTo>
                      <a:lnTo>
                        <a:pt x="260" y="79"/>
                      </a:lnTo>
                      <a:lnTo>
                        <a:pt x="247" y="88"/>
                      </a:lnTo>
                      <a:lnTo>
                        <a:pt x="130" y="277"/>
                      </a:lnTo>
                      <a:lnTo>
                        <a:pt x="126" y="265"/>
                      </a:lnTo>
                      <a:lnTo>
                        <a:pt x="0" y="24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3" name="16462297.375494.87510.510.755">
                  <a:extLst>
                    <a:ext uri="{FF2B5EF4-FFF2-40B4-BE49-F238E27FC236}">
                      <a16:creationId xmlns:a16="http://schemas.microsoft.com/office/drawing/2014/main" id="{50654D60-C615-C70E-98E5-D536BE5584AC}"/>
                    </a:ext>
                  </a:extLst>
                </p:cNvPr>
                <p:cNvSpPr>
                  <a:spLocks/>
                </p:cNvSpPr>
                <p:nvPr/>
              </p:nvSpPr>
              <p:spPr bwMode="auto">
                <a:xfrm>
                  <a:off x="3112575" y="2800951"/>
                  <a:ext cx="130696" cy="125780"/>
                </a:xfrm>
                <a:custGeom>
                  <a:avLst/>
                  <a:gdLst>
                    <a:gd name="T0" fmla="*/ 0 w 257"/>
                    <a:gd name="T1" fmla="*/ 1 h 217"/>
                    <a:gd name="T2" fmla="*/ 1 w 257"/>
                    <a:gd name="T3" fmla="*/ 1 h 217"/>
                    <a:gd name="T4" fmla="*/ 1 w 257"/>
                    <a:gd name="T5" fmla="*/ 1 h 217"/>
                    <a:gd name="T6" fmla="*/ 1 w 257"/>
                    <a:gd name="T7" fmla="*/ 1 h 217"/>
                    <a:gd name="T8" fmla="*/ 1 w 257"/>
                    <a:gd name="T9" fmla="*/ 1 h 217"/>
                    <a:gd name="T10" fmla="*/ 1 w 257"/>
                    <a:gd name="T11" fmla="*/ 1 h 217"/>
                    <a:gd name="T12" fmla="*/ 1 w 257"/>
                    <a:gd name="T13" fmla="*/ 1 h 217"/>
                    <a:gd name="T14" fmla="*/ 1 w 257"/>
                    <a:gd name="T15" fmla="*/ 1 h 217"/>
                    <a:gd name="T16" fmla="*/ 1 w 257"/>
                    <a:gd name="T17" fmla="*/ 1 h 217"/>
                    <a:gd name="T18" fmla="*/ 1 w 257"/>
                    <a:gd name="T19" fmla="*/ 0 h 217"/>
                    <a:gd name="T20" fmla="*/ 1 w 257"/>
                    <a:gd name="T21" fmla="*/ 1 h 217"/>
                    <a:gd name="T22" fmla="*/ 1 w 257"/>
                    <a:gd name="T23" fmla="*/ 1 h 217"/>
                    <a:gd name="T24" fmla="*/ 1 w 257"/>
                    <a:gd name="T25" fmla="*/ 1 h 217"/>
                    <a:gd name="T26" fmla="*/ 1 w 257"/>
                    <a:gd name="T27" fmla="*/ 1 h 217"/>
                    <a:gd name="T28" fmla="*/ 1 w 257"/>
                    <a:gd name="T29" fmla="*/ 1 h 217"/>
                    <a:gd name="T30" fmla="*/ 1 w 257"/>
                    <a:gd name="T31" fmla="*/ 1 h 217"/>
                    <a:gd name="T32" fmla="*/ 1 w 257"/>
                    <a:gd name="T33" fmla="*/ 1 h 217"/>
                    <a:gd name="T34" fmla="*/ 1 w 257"/>
                    <a:gd name="T35" fmla="*/ 1 h 217"/>
                    <a:gd name="T36" fmla="*/ 1 w 257"/>
                    <a:gd name="T37" fmla="*/ 1 h 217"/>
                    <a:gd name="T38" fmla="*/ 1 w 257"/>
                    <a:gd name="T39" fmla="*/ 1 h 217"/>
                    <a:gd name="T40" fmla="*/ 1 w 257"/>
                    <a:gd name="T41" fmla="*/ 1 h 217"/>
                    <a:gd name="T42" fmla="*/ 1 w 257"/>
                    <a:gd name="T43" fmla="*/ 1 h 217"/>
                    <a:gd name="T44" fmla="*/ 1 w 257"/>
                    <a:gd name="T45" fmla="*/ 1 h 217"/>
                    <a:gd name="T46" fmla="*/ 1 w 257"/>
                    <a:gd name="T47" fmla="*/ 1 h 217"/>
                    <a:gd name="T48" fmla="*/ 1 w 257"/>
                    <a:gd name="T49" fmla="*/ 1 h 217"/>
                    <a:gd name="T50" fmla="*/ 0 w 257"/>
                    <a:gd name="T51" fmla="*/ 1 h 21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7"/>
                    <a:gd name="T79" fmla="*/ 0 h 217"/>
                    <a:gd name="T80" fmla="*/ 257 w 257"/>
                    <a:gd name="T81" fmla="*/ 217 h 21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7" h="217">
                      <a:moveTo>
                        <a:pt x="0" y="176"/>
                      </a:moveTo>
                      <a:lnTo>
                        <a:pt x="47" y="133"/>
                      </a:lnTo>
                      <a:lnTo>
                        <a:pt x="31" y="151"/>
                      </a:lnTo>
                      <a:lnTo>
                        <a:pt x="52" y="156"/>
                      </a:lnTo>
                      <a:lnTo>
                        <a:pt x="47" y="70"/>
                      </a:lnTo>
                      <a:lnTo>
                        <a:pt x="66" y="30"/>
                      </a:lnTo>
                      <a:lnTo>
                        <a:pt x="93" y="24"/>
                      </a:lnTo>
                      <a:lnTo>
                        <a:pt x="148" y="62"/>
                      </a:lnTo>
                      <a:lnTo>
                        <a:pt x="155" y="11"/>
                      </a:lnTo>
                      <a:lnTo>
                        <a:pt x="181" y="0"/>
                      </a:lnTo>
                      <a:lnTo>
                        <a:pt x="214" y="18"/>
                      </a:lnTo>
                      <a:lnTo>
                        <a:pt x="246" y="18"/>
                      </a:lnTo>
                      <a:lnTo>
                        <a:pt x="257" y="34"/>
                      </a:lnTo>
                      <a:lnTo>
                        <a:pt x="235" y="57"/>
                      </a:lnTo>
                      <a:lnTo>
                        <a:pt x="251" y="82"/>
                      </a:lnTo>
                      <a:lnTo>
                        <a:pt x="238" y="133"/>
                      </a:lnTo>
                      <a:lnTo>
                        <a:pt x="211" y="125"/>
                      </a:lnTo>
                      <a:lnTo>
                        <a:pt x="194" y="125"/>
                      </a:lnTo>
                      <a:lnTo>
                        <a:pt x="183" y="137"/>
                      </a:lnTo>
                      <a:lnTo>
                        <a:pt x="162" y="158"/>
                      </a:lnTo>
                      <a:lnTo>
                        <a:pt x="159" y="179"/>
                      </a:lnTo>
                      <a:lnTo>
                        <a:pt x="150" y="184"/>
                      </a:lnTo>
                      <a:lnTo>
                        <a:pt x="139" y="217"/>
                      </a:lnTo>
                      <a:lnTo>
                        <a:pt x="130" y="207"/>
                      </a:lnTo>
                      <a:lnTo>
                        <a:pt x="126" y="195"/>
                      </a:lnTo>
                      <a:lnTo>
                        <a:pt x="0" y="176"/>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4" name="16463327.375498.6255.758.755">
                  <a:extLst>
                    <a:ext uri="{FF2B5EF4-FFF2-40B4-BE49-F238E27FC236}">
                      <a16:creationId xmlns:a16="http://schemas.microsoft.com/office/drawing/2014/main" id="{5E29A433-17C3-65D7-18EC-A3148586EF01}"/>
                    </a:ext>
                  </a:extLst>
                </p:cNvPr>
                <p:cNvSpPr>
                  <a:spLocks/>
                </p:cNvSpPr>
                <p:nvPr/>
              </p:nvSpPr>
              <p:spPr bwMode="auto">
                <a:xfrm>
                  <a:off x="3159180" y="3157517"/>
                  <a:ext cx="106381" cy="68083"/>
                </a:xfrm>
                <a:custGeom>
                  <a:avLst/>
                  <a:gdLst>
                    <a:gd name="T0" fmla="*/ 0 w 209"/>
                    <a:gd name="T1" fmla="*/ 1 h 117"/>
                    <a:gd name="T2" fmla="*/ 1 w 209"/>
                    <a:gd name="T3" fmla="*/ 0 h 117"/>
                    <a:gd name="T4" fmla="*/ 1 w 209"/>
                    <a:gd name="T5" fmla="*/ 1 h 117"/>
                    <a:gd name="T6" fmla="*/ 1 w 209"/>
                    <a:gd name="T7" fmla="*/ 1 h 117"/>
                    <a:gd name="T8" fmla="*/ 1 w 209"/>
                    <a:gd name="T9" fmla="*/ 1 h 117"/>
                    <a:gd name="T10" fmla="*/ 1 w 209"/>
                    <a:gd name="T11" fmla="*/ 1 h 117"/>
                    <a:gd name="T12" fmla="*/ 1 w 209"/>
                    <a:gd name="T13" fmla="*/ 1 h 117"/>
                    <a:gd name="T14" fmla="*/ 1 w 209"/>
                    <a:gd name="T15" fmla="*/ 1 h 117"/>
                    <a:gd name="T16" fmla="*/ 0 w 209"/>
                    <a:gd name="T17" fmla="*/ 1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9"/>
                    <a:gd name="T28" fmla="*/ 0 h 117"/>
                    <a:gd name="T29" fmla="*/ 209 w 209"/>
                    <a:gd name="T30" fmla="*/ 117 h 1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9" h="117">
                      <a:moveTo>
                        <a:pt x="0" y="80"/>
                      </a:moveTo>
                      <a:lnTo>
                        <a:pt x="12" y="0"/>
                      </a:lnTo>
                      <a:lnTo>
                        <a:pt x="209" y="18"/>
                      </a:lnTo>
                      <a:lnTo>
                        <a:pt x="172" y="68"/>
                      </a:lnTo>
                      <a:lnTo>
                        <a:pt x="187" y="94"/>
                      </a:lnTo>
                      <a:lnTo>
                        <a:pt x="135" y="97"/>
                      </a:lnTo>
                      <a:lnTo>
                        <a:pt x="103" y="117"/>
                      </a:lnTo>
                      <a:lnTo>
                        <a:pt x="20" y="116"/>
                      </a:lnTo>
                      <a:lnTo>
                        <a:pt x="0" y="8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5" name="16464318.6254905.759.255">
                  <a:extLst>
                    <a:ext uri="{FF2B5EF4-FFF2-40B4-BE49-F238E27FC236}">
                      <a16:creationId xmlns:a16="http://schemas.microsoft.com/office/drawing/2014/main" id="{B2BF9384-9FA5-A347-0F5F-82D1AB03606E}"/>
                    </a:ext>
                  </a:extLst>
                </p:cNvPr>
                <p:cNvSpPr>
                  <a:spLocks/>
                </p:cNvSpPr>
                <p:nvPr/>
              </p:nvSpPr>
              <p:spPr bwMode="auto">
                <a:xfrm>
                  <a:off x="3052801" y="3053663"/>
                  <a:ext cx="113472" cy="68083"/>
                </a:xfrm>
                <a:custGeom>
                  <a:avLst/>
                  <a:gdLst>
                    <a:gd name="T0" fmla="*/ 0 w 224"/>
                    <a:gd name="T1" fmla="*/ 1 h 117"/>
                    <a:gd name="T2" fmla="*/ 1 w 224"/>
                    <a:gd name="T3" fmla="*/ 1 h 117"/>
                    <a:gd name="T4" fmla="*/ 1 w 224"/>
                    <a:gd name="T5" fmla="*/ 1 h 117"/>
                    <a:gd name="T6" fmla="*/ 1 w 224"/>
                    <a:gd name="T7" fmla="*/ 0 h 117"/>
                    <a:gd name="T8" fmla="*/ 1 w 224"/>
                    <a:gd name="T9" fmla="*/ 1 h 117"/>
                    <a:gd name="T10" fmla="*/ 1 w 224"/>
                    <a:gd name="T11" fmla="*/ 1 h 117"/>
                    <a:gd name="T12" fmla="*/ 1 w 224"/>
                    <a:gd name="T13" fmla="*/ 1 h 117"/>
                    <a:gd name="T14" fmla="*/ 1 w 224"/>
                    <a:gd name="T15" fmla="*/ 1 h 117"/>
                    <a:gd name="T16" fmla="*/ 0 w 224"/>
                    <a:gd name="T17" fmla="*/ 1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4"/>
                    <a:gd name="T28" fmla="*/ 0 h 117"/>
                    <a:gd name="T29" fmla="*/ 224 w 224"/>
                    <a:gd name="T30" fmla="*/ 117 h 1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4" h="117">
                      <a:moveTo>
                        <a:pt x="0" y="69"/>
                      </a:moveTo>
                      <a:lnTo>
                        <a:pt x="35" y="19"/>
                      </a:lnTo>
                      <a:lnTo>
                        <a:pt x="80" y="33"/>
                      </a:lnTo>
                      <a:lnTo>
                        <a:pt x="157" y="0"/>
                      </a:lnTo>
                      <a:lnTo>
                        <a:pt x="202" y="7"/>
                      </a:lnTo>
                      <a:lnTo>
                        <a:pt x="224" y="25"/>
                      </a:lnTo>
                      <a:lnTo>
                        <a:pt x="138" y="103"/>
                      </a:lnTo>
                      <a:lnTo>
                        <a:pt x="65" y="117"/>
                      </a:lnTo>
                      <a:lnTo>
                        <a:pt x="0" y="69"/>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6" name="16465305.25487.2512.2513.755">
                  <a:extLst>
                    <a:ext uri="{FF2B5EF4-FFF2-40B4-BE49-F238E27FC236}">
                      <a16:creationId xmlns:a16="http://schemas.microsoft.com/office/drawing/2014/main" id="{1FBB516C-6870-D83A-F043-0B40AA9B1A19}"/>
                    </a:ext>
                  </a:extLst>
                </p:cNvPr>
                <p:cNvSpPr>
                  <a:spLocks/>
                </p:cNvSpPr>
                <p:nvPr/>
              </p:nvSpPr>
              <p:spPr bwMode="auto">
                <a:xfrm>
                  <a:off x="3019367" y="2894420"/>
                  <a:ext cx="168182" cy="145396"/>
                </a:xfrm>
                <a:custGeom>
                  <a:avLst/>
                  <a:gdLst>
                    <a:gd name="T0" fmla="*/ 0 w 333"/>
                    <a:gd name="T1" fmla="*/ 1 h 252"/>
                    <a:gd name="T2" fmla="*/ 0 w 333"/>
                    <a:gd name="T3" fmla="*/ 1 h 252"/>
                    <a:gd name="T4" fmla="*/ 0 w 333"/>
                    <a:gd name="T5" fmla="*/ 1 h 252"/>
                    <a:gd name="T6" fmla="*/ 0 w 333"/>
                    <a:gd name="T7" fmla="*/ 1 h 252"/>
                    <a:gd name="T8" fmla="*/ 0 w 333"/>
                    <a:gd name="T9" fmla="*/ 1 h 252"/>
                    <a:gd name="T10" fmla="*/ 0 w 333"/>
                    <a:gd name="T11" fmla="*/ 1 h 252"/>
                    <a:gd name="T12" fmla="*/ 0 w 333"/>
                    <a:gd name="T13" fmla="*/ 1 h 252"/>
                    <a:gd name="T14" fmla="*/ 0 w 333"/>
                    <a:gd name="T15" fmla="*/ 1 h 252"/>
                    <a:gd name="T16" fmla="*/ 0 w 333"/>
                    <a:gd name="T17" fmla="*/ 1 h 252"/>
                    <a:gd name="T18" fmla="*/ 0 w 333"/>
                    <a:gd name="T19" fmla="*/ 0 h 252"/>
                    <a:gd name="T20" fmla="*/ 0 w 333"/>
                    <a:gd name="T21" fmla="*/ 1 h 2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3"/>
                    <a:gd name="T34" fmla="*/ 0 h 252"/>
                    <a:gd name="T35" fmla="*/ 333 w 333"/>
                    <a:gd name="T36" fmla="*/ 252 h 2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3" h="252">
                      <a:moveTo>
                        <a:pt x="0" y="45"/>
                      </a:moveTo>
                      <a:lnTo>
                        <a:pt x="19" y="177"/>
                      </a:lnTo>
                      <a:lnTo>
                        <a:pt x="194" y="243"/>
                      </a:lnTo>
                      <a:lnTo>
                        <a:pt x="278" y="252"/>
                      </a:lnTo>
                      <a:lnTo>
                        <a:pt x="333" y="186"/>
                      </a:lnTo>
                      <a:lnTo>
                        <a:pt x="305" y="110"/>
                      </a:lnTo>
                      <a:lnTo>
                        <a:pt x="326" y="91"/>
                      </a:lnTo>
                      <a:lnTo>
                        <a:pt x="312" y="33"/>
                      </a:lnTo>
                      <a:lnTo>
                        <a:pt x="186" y="14"/>
                      </a:lnTo>
                      <a:lnTo>
                        <a:pt x="103" y="0"/>
                      </a:lnTo>
                      <a:lnTo>
                        <a:pt x="0" y="4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7" name="16466319.25495.625913.1255">
                  <a:extLst>
                    <a:ext uri="{FF2B5EF4-FFF2-40B4-BE49-F238E27FC236}">
                      <a16:creationId xmlns:a16="http://schemas.microsoft.com/office/drawing/2014/main" id="{E0B7DE0B-AF84-3015-86FB-AB232AA9C890}"/>
                    </a:ext>
                  </a:extLst>
                </p:cNvPr>
                <p:cNvSpPr>
                  <a:spLocks/>
                </p:cNvSpPr>
                <p:nvPr/>
              </p:nvSpPr>
              <p:spPr bwMode="auto">
                <a:xfrm>
                  <a:off x="3121693" y="3060587"/>
                  <a:ext cx="161090" cy="107316"/>
                </a:xfrm>
                <a:custGeom>
                  <a:avLst/>
                  <a:gdLst>
                    <a:gd name="T0" fmla="*/ 0 w 317"/>
                    <a:gd name="T1" fmla="*/ 1 h 186"/>
                    <a:gd name="T2" fmla="*/ 1 w 317"/>
                    <a:gd name="T3" fmla="*/ 1 h 186"/>
                    <a:gd name="T4" fmla="*/ 1 w 317"/>
                    <a:gd name="T5" fmla="*/ 1 h 186"/>
                    <a:gd name="T6" fmla="*/ 1 w 317"/>
                    <a:gd name="T7" fmla="*/ 1 h 186"/>
                    <a:gd name="T8" fmla="*/ 1 w 317"/>
                    <a:gd name="T9" fmla="*/ 1 h 186"/>
                    <a:gd name="T10" fmla="*/ 1 w 317"/>
                    <a:gd name="T11" fmla="*/ 1 h 186"/>
                    <a:gd name="T12" fmla="*/ 1 w 317"/>
                    <a:gd name="T13" fmla="*/ 0 h 186"/>
                    <a:gd name="T14" fmla="*/ 1 w 317"/>
                    <a:gd name="T15" fmla="*/ 1 h 186"/>
                    <a:gd name="T16" fmla="*/ 0 w 317"/>
                    <a:gd name="T17" fmla="*/ 1 h 1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7"/>
                    <a:gd name="T28" fmla="*/ 0 h 186"/>
                    <a:gd name="T29" fmla="*/ 317 w 317"/>
                    <a:gd name="T30" fmla="*/ 186 h 18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7" h="186">
                      <a:moveTo>
                        <a:pt x="0" y="91"/>
                      </a:moveTo>
                      <a:lnTo>
                        <a:pt x="86" y="168"/>
                      </a:lnTo>
                      <a:lnTo>
                        <a:pt x="283" y="186"/>
                      </a:lnTo>
                      <a:lnTo>
                        <a:pt x="317" y="122"/>
                      </a:lnTo>
                      <a:lnTo>
                        <a:pt x="268" y="117"/>
                      </a:lnTo>
                      <a:lnTo>
                        <a:pt x="262" y="61"/>
                      </a:lnTo>
                      <a:lnTo>
                        <a:pt x="218" y="0"/>
                      </a:lnTo>
                      <a:lnTo>
                        <a:pt x="86" y="13"/>
                      </a:lnTo>
                      <a:lnTo>
                        <a:pt x="0" y="91"/>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8" name="16467313.125484.1257.12514.55">
                  <a:extLst>
                    <a:ext uri="{FF2B5EF4-FFF2-40B4-BE49-F238E27FC236}">
                      <a16:creationId xmlns:a16="http://schemas.microsoft.com/office/drawing/2014/main" id="{0C213E58-427B-E2E1-0310-85C557B58A26}"/>
                    </a:ext>
                  </a:extLst>
                </p:cNvPr>
                <p:cNvSpPr>
                  <a:spLocks/>
                </p:cNvSpPr>
                <p:nvPr/>
              </p:nvSpPr>
              <p:spPr bwMode="auto">
                <a:xfrm>
                  <a:off x="2981879" y="2989043"/>
                  <a:ext cx="177301" cy="84237"/>
                </a:xfrm>
                <a:custGeom>
                  <a:avLst/>
                  <a:gdLst>
                    <a:gd name="T0" fmla="*/ 0 w 351"/>
                    <a:gd name="T1" fmla="*/ 1 h 144"/>
                    <a:gd name="T2" fmla="*/ 0 w 351"/>
                    <a:gd name="T3" fmla="*/ 1 h 144"/>
                    <a:gd name="T4" fmla="*/ 0 w 351"/>
                    <a:gd name="T5" fmla="*/ 1 h 144"/>
                    <a:gd name="T6" fmla="*/ 0 w 351"/>
                    <a:gd name="T7" fmla="*/ 1 h 144"/>
                    <a:gd name="T8" fmla="*/ 0 w 351"/>
                    <a:gd name="T9" fmla="*/ 1 h 144"/>
                    <a:gd name="T10" fmla="*/ 0 w 351"/>
                    <a:gd name="T11" fmla="*/ 1 h 144"/>
                    <a:gd name="T12" fmla="*/ 0 w 351"/>
                    <a:gd name="T13" fmla="*/ 1 h 144"/>
                    <a:gd name="T14" fmla="*/ 0 w 351"/>
                    <a:gd name="T15" fmla="*/ 1 h 144"/>
                    <a:gd name="T16" fmla="*/ 0 w 351"/>
                    <a:gd name="T17" fmla="*/ 1 h 144"/>
                    <a:gd name="T18" fmla="*/ 0 w 351"/>
                    <a:gd name="T19" fmla="*/ 1 h 144"/>
                    <a:gd name="T20" fmla="*/ 0 w 351"/>
                    <a:gd name="T21" fmla="*/ 0 h 144"/>
                    <a:gd name="T22" fmla="*/ 0 w 351"/>
                    <a:gd name="T23" fmla="*/ 1 h 1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
                    <a:gd name="T37" fmla="*/ 0 h 144"/>
                    <a:gd name="T38" fmla="*/ 351 w 351"/>
                    <a:gd name="T39" fmla="*/ 144 h 1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 h="144">
                      <a:moveTo>
                        <a:pt x="0" y="35"/>
                      </a:moveTo>
                      <a:lnTo>
                        <a:pt x="61" y="101"/>
                      </a:lnTo>
                      <a:lnTo>
                        <a:pt x="160" y="100"/>
                      </a:lnTo>
                      <a:lnTo>
                        <a:pt x="174" y="130"/>
                      </a:lnTo>
                      <a:lnTo>
                        <a:pt x="219" y="144"/>
                      </a:lnTo>
                      <a:lnTo>
                        <a:pt x="296" y="111"/>
                      </a:lnTo>
                      <a:lnTo>
                        <a:pt x="341" y="118"/>
                      </a:lnTo>
                      <a:lnTo>
                        <a:pt x="351" y="88"/>
                      </a:lnTo>
                      <a:lnTo>
                        <a:pt x="267" y="79"/>
                      </a:lnTo>
                      <a:lnTo>
                        <a:pt x="92" y="13"/>
                      </a:lnTo>
                      <a:lnTo>
                        <a:pt x="75" y="0"/>
                      </a:lnTo>
                      <a:lnTo>
                        <a:pt x="0" y="3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9" name="16468321.875486.6259.257.255">
                  <a:extLst>
                    <a:ext uri="{FF2B5EF4-FFF2-40B4-BE49-F238E27FC236}">
                      <a16:creationId xmlns:a16="http://schemas.microsoft.com/office/drawing/2014/main" id="{C89A280D-3B31-9B5E-C5DA-4CD0B1C1F5FA}"/>
                    </a:ext>
                  </a:extLst>
                </p:cNvPr>
                <p:cNvSpPr>
                  <a:spLocks/>
                </p:cNvSpPr>
                <p:nvPr/>
              </p:nvSpPr>
              <p:spPr bwMode="auto">
                <a:xfrm>
                  <a:off x="3012274" y="3092898"/>
                  <a:ext cx="89156" cy="109624"/>
                </a:xfrm>
                <a:custGeom>
                  <a:avLst/>
                  <a:gdLst>
                    <a:gd name="T0" fmla="*/ 0 w 177"/>
                    <a:gd name="T1" fmla="*/ 1 h 190"/>
                    <a:gd name="T2" fmla="*/ 0 w 177"/>
                    <a:gd name="T3" fmla="*/ 1 h 190"/>
                    <a:gd name="T4" fmla="*/ 0 w 177"/>
                    <a:gd name="T5" fmla="*/ 0 h 190"/>
                    <a:gd name="T6" fmla="*/ 0 w 177"/>
                    <a:gd name="T7" fmla="*/ 1 h 190"/>
                    <a:gd name="T8" fmla="*/ 0 w 177"/>
                    <a:gd name="T9" fmla="*/ 1 h 190"/>
                    <a:gd name="T10" fmla="*/ 0 w 177"/>
                    <a:gd name="T11" fmla="*/ 1 h 190"/>
                    <a:gd name="T12" fmla="*/ 0 w 177"/>
                    <a:gd name="T13" fmla="*/ 1 h 190"/>
                    <a:gd name="T14" fmla="*/ 0 w 177"/>
                    <a:gd name="T15" fmla="*/ 1 h 190"/>
                    <a:gd name="T16" fmla="*/ 0 w 177"/>
                    <a:gd name="T17" fmla="*/ 1 h 190"/>
                    <a:gd name="T18" fmla="*/ 0 w 177"/>
                    <a:gd name="T19" fmla="*/ 1 h 190"/>
                    <a:gd name="T20" fmla="*/ 0 w 177"/>
                    <a:gd name="T21" fmla="*/ 1 h 190"/>
                    <a:gd name="T22" fmla="*/ 0 w 177"/>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7"/>
                    <a:gd name="T37" fmla="*/ 0 h 190"/>
                    <a:gd name="T38" fmla="*/ 177 w 177"/>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7" h="190">
                      <a:moveTo>
                        <a:pt x="0" y="58"/>
                      </a:moveTo>
                      <a:lnTo>
                        <a:pt x="0" y="18"/>
                      </a:lnTo>
                      <a:lnTo>
                        <a:pt x="79" y="0"/>
                      </a:lnTo>
                      <a:lnTo>
                        <a:pt x="144" y="48"/>
                      </a:lnTo>
                      <a:lnTo>
                        <a:pt x="177" y="43"/>
                      </a:lnTo>
                      <a:lnTo>
                        <a:pt x="163" y="81"/>
                      </a:lnTo>
                      <a:lnTo>
                        <a:pt x="72" y="59"/>
                      </a:lnTo>
                      <a:lnTo>
                        <a:pt x="163" y="190"/>
                      </a:lnTo>
                      <a:lnTo>
                        <a:pt x="79" y="139"/>
                      </a:lnTo>
                      <a:lnTo>
                        <a:pt x="28" y="69"/>
                      </a:lnTo>
                      <a:lnTo>
                        <a:pt x="2" y="84"/>
                      </a:lnTo>
                      <a:lnTo>
                        <a:pt x="0" y="5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30" name="16469321.875486.6252.8753.3755">
                  <a:extLst>
                    <a:ext uri="{FF2B5EF4-FFF2-40B4-BE49-F238E27FC236}">
                      <a16:creationId xmlns:a16="http://schemas.microsoft.com/office/drawing/2014/main" id="{BA743D8A-7193-6D11-2602-55CA3A61D576}"/>
                    </a:ext>
                  </a:extLst>
                </p:cNvPr>
                <p:cNvSpPr>
                  <a:spLocks/>
                </p:cNvSpPr>
                <p:nvPr/>
              </p:nvSpPr>
              <p:spPr bwMode="auto">
                <a:xfrm>
                  <a:off x="3012274" y="3092898"/>
                  <a:ext cx="40525" cy="33464"/>
                </a:xfrm>
                <a:custGeom>
                  <a:avLst/>
                  <a:gdLst>
                    <a:gd name="T0" fmla="*/ 0 w 79"/>
                    <a:gd name="T1" fmla="*/ 1 h 58"/>
                    <a:gd name="T2" fmla="*/ 0 w 79"/>
                    <a:gd name="T3" fmla="*/ 1 h 58"/>
                    <a:gd name="T4" fmla="*/ 1 w 79"/>
                    <a:gd name="T5" fmla="*/ 0 h 58"/>
                    <a:gd name="T6" fmla="*/ 1 w 79"/>
                    <a:gd name="T7" fmla="*/ 1 h 58"/>
                    <a:gd name="T8" fmla="*/ 0 w 79"/>
                    <a:gd name="T9" fmla="*/ 1 h 58"/>
                    <a:gd name="T10" fmla="*/ 0 60000 65536"/>
                    <a:gd name="T11" fmla="*/ 0 60000 65536"/>
                    <a:gd name="T12" fmla="*/ 0 60000 65536"/>
                    <a:gd name="T13" fmla="*/ 0 60000 65536"/>
                    <a:gd name="T14" fmla="*/ 0 60000 65536"/>
                    <a:gd name="T15" fmla="*/ 0 w 79"/>
                    <a:gd name="T16" fmla="*/ 0 h 58"/>
                    <a:gd name="T17" fmla="*/ 79 w 79"/>
                    <a:gd name="T18" fmla="*/ 58 h 58"/>
                  </a:gdLst>
                  <a:ahLst/>
                  <a:cxnLst>
                    <a:cxn ang="T10">
                      <a:pos x="T0" y="T1"/>
                    </a:cxn>
                    <a:cxn ang="T11">
                      <a:pos x="T2" y="T3"/>
                    </a:cxn>
                    <a:cxn ang="T12">
                      <a:pos x="T4" y="T5"/>
                    </a:cxn>
                    <a:cxn ang="T13">
                      <a:pos x="T6" y="T7"/>
                    </a:cxn>
                    <a:cxn ang="T14">
                      <a:pos x="T8" y="T9"/>
                    </a:cxn>
                  </a:cxnLst>
                  <a:rect l="T15" t="T16" r="T17" b="T18"/>
                  <a:pathLst>
                    <a:path w="79" h="58">
                      <a:moveTo>
                        <a:pt x="0" y="58"/>
                      </a:moveTo>
                      <a:lnTo>
                        <a:pt x="0" y="18"/>
                      </a:lnTo>
                      <a:lnTo>
                        <a:pt x="79" y="0"/>
                      </a:lnTo>
                      <a:lnTo>
                        <a:pt x="49" y="54"/>
                      </a:lnTo>
                      <a:lnTo>
                        <a:pt x="0" y="58"/>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31" name="16470300.875494.87577.6255">
                  <a:extLst>
                    <a:ext uri="{FF2B5EF4-FFF2-40B4-BE49-F238E27FC236}">
                      <a16:creationId xmlns:a16="http://schemas.microsoft.com/office/drawing/2014/main" id="{445AE44D-4546-B0D2-36EA-1DAC71D6FF67}"/>
                    </a:ext>
                  </a:extLst>
                </p:cNvPr>
                <p:cNvSpPr>
                  <a:spLocks/>
                </p:cNvSpPr>
                <p:nvPr/>
              </p:nvSpPr>
              <p:spPr bwMode="auto">
                <a:xfrm>
                  <a:off x="3112575" y="2843646"/>
                  <a:ext cx="93209" cy="83084"/>
                </a:xfrm>
                <a:custGeom>
                  <a:avLst/>
                  <a:gdLst>
                    <a:gd name="T0" fmla="*/ 0 w 183"/>
                    <a:gd name="T1" fmla="*/ 1 h 143"/>
                    <a:gd name="T2" fmla="*/ 1 w 183"/>
                    <a:gd name="T3" fmla="*/ 1 h 143"/>
                    <a:gd name="T4" fmla="*/ 1 w 183"/>
                    <a:gd name="T5" fmla="*/ 1 h 143"/>
                    <a:gd name="T6" fmla="*/ 1 w 183"/>
                    <a:gd name="T7" fmla="*/ 1 h 143"/>
                    <a:gd name="T8" fmla="*/ 1 w 183"/>
                    <a:gd name="T9" fmla="*/ 1 h 143"/>
                    <a:gd name="T10" fmla="*/ 1 w 183"/>
                    <a:gd name="T11" fmla="*/ 0 h 143"/>
                    <a:gd name="T12" fmla="*/ 1 w 183"/>
                    <a:gd name="T13" fmla="*/ 1 h 143"/>
                    <a:gd name="T14" fmla="*/ 1 w 183"/>
                    <a:gd name="T15" fmla="*/ 1 h 143"/>
                    <a:gd name="T16" fmla="*/ 1 w 183"/>
                    <a:gd name="T17" fmla="*/ 1 h 143"/>
                    <a:gd name="T18" fmla="*/ 1 w 183"/>
                    <a:gd name="T19" fmla="*/ 1 h 143"/>
                    <a:gd name="T20" fmla="*/ 1 w 183"/>
                    <a:gd name="T21" fmla="*/ 1 h 143"/>
                    <a:gd name="T22" fmla="*/ 1 w 183"/>
                    <a:gd name="T23" fmla="*/ 1 h 143"/>
                    <a:gd name="T24" fmla="*/ 1 w 183"/>
                    <a:gd name="T25" fmla="*/ 1 h 143"/>
                    <a:gd name="T26" fmla="*/ 1 w 183"/>
                    <a:gd name="T27" fmla="*/ 1 h 143"/>
                    <a:gd name="T28" fmla="*/ 0 w 183"/>
                    <a:gd name="T29" fmla="*/ 1 h 1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3"/>
                    <a:gd name="T46" fmla="*/ 0 h 143"/>
                    <a:gd name="T47" fmla="*/ 183 w 183"/>
                    <a:gd name="T48" fmla="*/ 143 h 1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3" h="143">
                      <a:moveTo>
                        <a:pt x="0" y="102"/>
                      </a:moveTo>
                      <a:lnTo>
                        <a:pt x="47" y="59"/>
                      </a:lnTo>
                      <a:lnTo>
                        <a:pt x="31" y="77"/>
                      </a:lnTo>
                      <a:lnTo>
                        <a:pt x="52" y="82"/>
                      </a:lnTo>
                      <a:lnTo>
                        <a:pt x="49" y="5"/>
                      </a:lnTo>
                      <a:lnTo>
                        <a:pt x="115" y="0"/>
                      </a:lnTo>
                      <a:lnTo>
                        <a:pt x="178" y="19"/>
                      </a:lnTo>
                      <a:lnTo>
                        <a:pt x="183" y="63"/>
                      </a:lnTo>
                      <a:lnTo>
                        <a:pt x="162" y="84"/>
                      </a:lnTo>
                      <a:lnTo>
                        <a:pt x="159" y="105"/>
                      </a:lnTo>
                      <a:lnTo>
                        <a:pt x="150" y="110"/>
                      </a:lnTo>
                      <a:lnTo>
                        <a:pt x="139" y="143"/>
                      </a:lnTo>
                      <a:lnTo>
                        <a:pt x="130" y="133"/>
                      </a:lnTo>
                      <a:lnTo>
                        <a:pt x="126" y="121"/>
                      </a:lnTo>
                      <a:lnTo>
                        <a:pt x="0" y="102"/>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32" name="16471303.875494.8752.753.55">
                  <a:extLst>
                    <a:ext uri="{FF2B5EF4-FFF2-40B4-BE49-F238E27FC236}">
                      <a16:creationId xmlns:a16="http://schemas.microsoft.com/office/drawing/2014/main" id="{FA37054D-A340-4CB3-132D-C810F51E5119}"/>
                    </a:ext>
                  </a:extLst>
                </p:cNvPr>
                <p:cNvSpPr>
                  <a:spLocks/>
                </p:cNvSpPr>
                <p:nvPr/>
              </p:nvSpPr>
              <p:spPr bwMode="auto">
                <a:xfrm>
                  <a:off x="3112575" y="2878264"/>
                  <a:ext cx="42552" cy="33464"/>
                </a:xfrm>
                <a:custGeom>
                  <a:avLst/>
                  <a:gdLst>
                    <a:gd name="T0" fmla="*/ 0 w 82"/>
                    <a:gd name="T1" fmla="*/ 1 h 58"/>
                    <a:gd name="T2" fmla="*/ 1 w 82"/>
                    <a:gd name="T3" fmla="*/ 0 h 58"/>
                    <a:gd name="T4" fmla="*/ 1 w 82"/>
                    <a:gd name="T5" fmla="*/ 1 h 58"/>
                    <a:gd name="T6" fmla="*/ 1 w 82"/>
                    <a:gd name="T7" fmla="*/ 1 h 58"/>
                    <a:gd name="T8" fmla="*/ 1 w 82"/>
                    <a:gd name="T9" fmla="*/ 1 h 58"/>
                    <a:gd name="T10" fmla="*/ 1 w 82"/>
                    <a:gd name="T11" fmla="*/ 1 h 58"/>
                    <a:gd name="T12" fmla="*/ 0 w 82"/>
                    <a:gd name="T13" fmla="*/ 1 h 58"/>
                    <a:gd name="T14" fmla="*/ 0 60000 65536"/>
                    <a:gd name="T15" fmla="*/ 0 60000 65536"/>
                    <a:gd name="T16" fmla="*/ 0 60000 65536"/>
                    <a:gd name="T17" fmla="*/ 0 60000 65536"/>
                    <a:gd name="T18" fmla="*/ 0 60000 65536"/>
                    <a:gd name="T19" fmla="*/ 0 60000 65536"/>
                    <a:gd name="T20" fmla="*/ 0 60000 65536"/>
                    <a:gd name="T21" fmla="*/ 0 w 82"/>
                    <a:gd name="T22" fmla="*/ 0 h 58"/>
                    <a:gd name="T23" fmla="*/ 82 w 82"/>
                    <a:gd name="T24" fmla="*/ 58 h 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58">
                      <a:moveTo>
                        <a:pt x="0" y="43"/>
                      </a:moveTo>
                      <a:lnTo>
                        <a:pt x="47" y="0"/>
                      </a:lnTo>
                      <a:lnTo>
                        <a:pt x="31" y="18"/>
                      </a:lnTo>
                      <a:lnTo>
                        <a:pt x="52" y="23"/>
                      </a:lnTo>
                      <a:lnTo>
                        <a:pt x="77" y="19"/>
                      </a:lnTo>
                      <a:lnTo>
                        <a:pt x="82" y="58"/>
                      </a:lnTo>
                      <a:lnTo>
                        <a:pt x="0" y="43"/>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33" name="16472313.125484.12559.55">
                  <a:extLst>
                    <a:ext uri="{FF2B5EF4-FFF2-40B4-BE49-F238E27FC236}">
                      <a16:creationId xmlns:a16="http://schemas.microsoft.com/office/drawing/2014/main" id="{87DEDB26-1076-39E7-3BE2-B20A65B4B1CE}"/>
                    </a:ext>
                  </a:extLst>
                </p:cNvPr>
                <p:cNvSpPr>
                  <a:spLocks/>
                </p:cNvSpPr>
                <p:nvPr/>
              </p:nvSpPr>
              <p:spPr bwMode="auto">
                <a:xfrm>
                  <a:off x="2981879" y="2989043"/>
                  <a:ext cx="115499" cy="58851"/>
                </a:xfrm>
                <a:custGeom>
                  <a:avLst/>
                  <a:gdLst>
                    <a:gd name="T0" fmla="*/ 0 w 227"/>
                    <a:gd name="T1" fmla="*/ 1 h 101"/>
                    <a:gd name="T2" fmla="*/ 1 w 227"/>
                    <a:gd name="T3" fmla="*/ 1 h 101"/>
                    <a:gd name="T4" fmla="*/ 1 w 227"/>
                    <a:gd name="T5" fmla="*/ 1 h 101"/>
                    <a:gd name="T6" fmla="*/ 1 w 227"/>
                    <a:gd name="T7" fmla="*/ 1 h 101"/>
                    <a:gd name="T8" fmla="*/ 1 w 227"/>
                    <a:gd name="T9" fmla="*/ 1 h 101"/>
                    <a:gd name="T10" fmla="*/ 1 w 227"/>
                    <a:gd name="T11" fmla="*/ 0 h 101"/>
                    <a:gd name="T12" fmla="*/ 0 w 227"/>
                    <a:gd name="T13" fmla="*/ 1 h 101"/>
                    <a:gd name="T14" fmla="*/ 0 60000 65536"/>
                    <a:gd name="T15" fmla="*/ 0 60000 65536"/>
                    <a:gd name="T16" fmla="*/ 0 60000 65536"/>
                    <a:gd name="T17" fmla="*/ 0 60000 65536"/>
                    <a:gd name="T18" fmla="*/ 0 60000 65536"/>
                    <a:gd name="T19" fmla="*/ 0 60000 65536"/>
                    <a:gd name="T20" fmla="*/ 0 60000 65536"/>
                    <a:gd name="T21" fmla="*/ 0 w 227"/>
                    <a:gd name="T22" fmla="*/ 0 h 101"/>
                    <a:gd name="T23" fmla="*/ 227 w 227"/>
                    <a:gd name="T24" fmla="*/ 101 h 1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7" h="101">
                      <a:moveTo>
                        <a:pt x="0" y="35"/>
                      </a:moveTo>
                      <a:lnTo>
                        <a:pt x="61" y="101"/>
                      </a:lnTo>
                      <a:lnTo>
                        <a:pt x="160" y="100"/>
                      </a:lnTo>
                      <a:lnTo>
                        <a:pt x="227" y="64"/>
                      </a:lnTo>
                      <a:lnTo>
                        <a:pt x="92" y="13"/>
                      </a:lnTo>
                      <a:lnTo>
                        <a:pt x="75" y="0"/>
                      </a:lnTo>
                      <a:lnTo>
                        <a:pt x="0" y="35"/>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34" name="Rectangle 644">
                  <a:extLst>
                    <a:ext uri="{FF2B5EF4-FFF2-40B4-BE49-F238E27FC236}">
                      <a16:creationId xmlns:a16="http://schemas.microsoft.com/office/drawing/2014/main" id="{A69006F6-161C-1040-7AC2-D1E42DEEFDF4}"/>
                    </a:ext>
                  </a:extLst>
                </p:cNvPr>
                <p:cNvSpPr>
                  <a:spLocks noChangeArrowheads="1"/>
                </p:cNvSpPr>
                <p:nvPr/>
              </p:nvSpPr>
              <p:spPr bwMode="auto">
                <a:xfrm>
                  <a:off x="3627008" y="3952646"/>
                  <a:ext cx="923940" cy="188283"/>
                </a:xfrm>
                <a:prstGeom prst="rect">
                  <a:avLst/>
                </a:prstGeom>
                <a:noFill/>
                <a:ln w="9525">
                  <a:noFill/>
                  <a:miter lim="800000"/>
                  <a:headEnd/>
                  <a:tailEnd/>
                </a:ln>
              </p:spPr>
              <p:txBody>
                <a:bodyPr lIns="64541" tIns="32271" rIns="64541" bIns="32271">
                  <a:spAutoFit/>
                </a:bodyPr>
                <a:lstStyle/>
                <a:p>
                  <a:pPr marL="0" marR="0" lvl="0" indent="0" algn="r"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Singapore</a:t>
                  </a:r>
                </a:p>
              </p:txBody>
            </p:sp>
            <p:sp>
              <p:nvSpPr>
                <p:cNvPr id="235" name="Rectangle 644">
                  <a:extLst>
                    <a:ext uri="{FF2B5EF4-FFF2-40B4-BE49-F238E27FC236}">
                      <a16:creationId xmlns:a16="http://schemas.microsoft.com/office/drawing/2014/main" id="{CDCAFFD4-F55C-975A-F6C7-746BB4121997}"/>
                    </a:ext>
                  </a:extLst>
                </p:cNvPr>
                <p:cNvSpPr>
                  <a:spLocks noChangeArrowheads="1"/>
                </p:cNvSpPr>
                <p:nvPr/>
              </p:nvSpPr>
              <p:spPr bwMode="auto">
                <a:xfrm>
                  <a:off x="2371050" y="2691313"/>
                  <a:ext cx="720673" cy="188283"/>
                </a:xfrm>
                <a:prstGeom prst="rect">
                  <a:avLst/>
                </a:prstGeom>
                <a:noFill/>
                <a:ln w="9525">
                  <a:noFill/>
                  <a:miter lim="800000"/>
                  <a:headEnd/>
                  <a:tailEnd/>
                </a:ln>
              </p:spPr>
              <p:txBody>
                <a:bodyPr wrap="square" lIns="64541" tIns="32271" rIns="64541" bIns="32271">
                  <a:spAutoFit/>
                </a:bodyPr>
                <a:lstStyle/>
                <a:p>
                  <a:pPr marL="0" marR="0" lvl="0" indent="0" algn="ctr"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UK</a:t>
                  </a:r>
                </a:p>
              </p:txBody>
            </p:sp>
            <p:sp>
              <p:nvSpPr>
                <p:cNvPr id="236" name="Rectangle 657">
                  <a:extLst>
                    <a:ext uri="{FF2B5EF4-FFF2-40B4-BE49-F238E27FC236}">
                      <a16:creationId xmlns:a16="http://schemas.microsoft.com/office/drawing/2014/main" id="{36CAE140-56FA-08F7-74EA-45B1A63FA23F}"/>
                    </a:ext>
                  </a:extLst>
                </p:cNvPr>
                <p:cNvSpPr>
                  <a:spLocks noChangeArrowheads="1"/>
                </p:cNvSpPr>
                <p:nvPr/>
              </p:nvSpPr>
              <p:spPr bwMode="auto">
                <a:xfrm>
                  <a:off x="4728655" y="3529064"/>
                  <a:ext cx="917220" cy="188283"/>
                </a:xfrm>
                <a:prstGeom prst="rect">
                  <a:avLst/>
                </a:prstGeom>
                <a:noFill/>
                <a:ln w="9525">
                  <a:noFill/>
                  <a:miter lim="800000"/>
                  <a:headEnd/>
                  <a:tailEnd/>
                </a:ln>
              </p:spPr>
              <p:txBody>
                <a:bodyPr lIns="64541" tIns="32271" rIns="64541" bIns="32271">
                  <a:spAutoFit/>
                </a:bodyPr>
                <a:lstStyle/>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HK/China</a:t>
                  </a:r>
                </a:p>
              </p:txBody>
            </p:sp>
            <p:sp>
              <p:nvSpPr>
                <p:cNvPr id="237" name="Oval 629">
                  <a:extLst>
                    <a:ext uri="{FF2B5EF4-FFF2-40B4-BE49-F238E27FC236}">
                      <a16:creationId xmlns:a16="http://schemas.microsoft.com/office/drawing/2014/main" id="{579A52E6-BCDD-DDC0-4E43-A2BC097C60F3}"/>
                    </a:ext>
                  </a:extLst>
                </p:cNvPr>
                <p:cNvSpPr>
                  <a:spLocks noChangeArrowheads="1"/>
                </p:cNvSpPr>
                <p:nvPr/>
              </p:nvSpPr>
              <p:spPr bwMode="auto">
                <a:xfrm>
                  <a:off x="2709171" y="2892331"/>
                  <a:ext cx="40318" cy="49391"/>
                </a:xfrm>
                <a:prstGeom prst="ellipse">
                  <a:avLst/>
                </a:prstGeom>
                <a:solidFill>
                  <a:srgbClr val="C00000"/>
                </a:solidFill>
                <a:ln w="12700">
                  <a:solidFill>
                    <a:srgbClr val="C00000"/>
                  </a:solidFill>
                  <a:round/>
                  <a:headEnd/>
                  <a:tailEnd/>
                </a:ln>
              </p:spPr>
              <p:txBody>
                <a:bodyPr wrap="none" lIns="0" tIns="0" rIns="0" anchor="ctr"/>
                <a:lstStyle/>
                <a:p>
                  <a:pPr marL="0" marR="0" lvl="0" indent="0" algn="l" defTabSz="844083" rtl="0" eaLnBrk="1" fontAlgn="auto" latinLnBrk="0" hangingPunct="1">
                    <a:lnSpc>
                      <a:spcPct val="100000"/>
                    </a:lnSpc>
                    <a:spcBef>
                      <a:spcPts val="0"/>
                    </a:spcBef>
                    <a:spcAft>
                      <a:spcPts val="0"/>
                    </a:spcAft>
                    <a:buClrTx/>
                    <a:buSzTx/>
                    <a:buFontTx/>
                    <a:buChar char="•"/>
                    <a:tabLst/>
                    <a:defRPr/>
                  </a:pPr>
                  <a:endParaRPr kumimoji="0" lang="en-SG" sz="2000" b="0" i="0" u="none" strike="noStrike" kern="1200" cap="none" spc="0" normalizeH="0" baseline="0" noProof="0">
                    <a:ln>
                      <a:noFill/>
                    </a:ln>
                    <a:solidFill>
                      <a:srgbClr val="000000"/>
                    </a:solidFill>
                    <a:effectLst/>
                    <a:uLnTx/>
                    <a:uFillTx/>
                    <a:latin typeface="Arial"/>
                    <a:ea typeface="+mn-ea"/>
                    <a:cs typeface="+mn-cs"/>
                  </a:endParaRPr>
                </a:p>
              </p:txBody>
            </p:sp>
            <p:sp>
              <p:nvSpPr>
                <p:cNvPr id="238" name="Oval 629">
                  <a:extLst>
                    <a:ext uri="{FF2B5EF4-FFF2-40B4-BE49-F238E27FC236}">
                      <a16:creationId xmlns:a16="http://schemas.microsoft.com/office/drawing/2014/main" id="{28476D2A-B7A8-6015-0B60-E507C0427F07}"/>
                    </a:ext>
                  </a:extLst>
                </p:cNvPr>
                <p:cNvSpPr>
                  <a:spLocks noChangeArrowheads="1"/>
                </p:cNvSpPr>
                <p:nvPr/>
              </p:nvSpPr>
              <p:spPr bwMode="auto">
                <a:xfrm>
                  <a:off x="4523818" y="3999139"/>
                  <a:ext cx="40318" cy="49391"/>
                </a:xfrm>
                <a:prstGeom prst="ellipse">
                  <a:avLst/>
                </a:prstGeom>
                <a:solidFill>
                  <a:srgbClr val="C00000"/>
                </a:solidFill>
                <a:ln w="12700">
                  <a:solidFill>
                    <a:srgbClr val="C00000"/>
                  </a:solidFill>
                  <a:round/>
                  <a:headEnd/>
                  <a:tailEnd/>
                </a:ln>
              </p:spPr>
              <p:txBody>
                <a:bodyPr wrap="none" lIns="0" tIns="0" rIns="0" anchor="ctr"/>
                <a:lstStyle/>
                <a:p>
                  <a:pPr marL="0" marR="0" lvl="0" indent="0" algn="l" defTabSz="844083" rtl="0" eaLnBrk="1" fontAlgn="auto" latinLnBrk="0" hangingPunct="1">
                    <a:lnSpc>
                      <a:spcPct val="100000"/>
                    </a:lnSpc>
                    <a:spcBef>
                      <a:spcPts val="0"/>
                    </a:spcBef>
                    <a:spcAft>
                      <a:spcPts val="0"/>
                    </a:spcAft>
                    <a:buClrTx/>
                    <a:buSzTx/>
                    <a:buFontTx/>
                    <a:buChar char="•"/>
                    <a:tabLst/>
                    <a:defRPr/>
                  </a:pPr>
                  <a:endParaRPr kumimoji="0" lang="en-SG" sz="2000" b="0" i="0" u="none" strike="noStrike" kern="1200" cap="none" spc="0" normalizeH="0" baseline="0" noProof="0">
                    <a:ln>
                      <a:noFill/>
                    </a:ln>
                    <a:solidFill>
                      <a:srgbClr val="000000"/>
                    </a:solidFill>
                    <a:effectLst/>
                    <a:uLnTx/>
                    <a:uFillTx/>
                    <a:latin typeface="Arial"/>
                    <a:ea typeface="+mn-ea"/>
                    <a:cs typeface="+mn-cs"/>
                  </a:endParaRPr>
                </a:p>
              </p:txBody>
            </p:sp>
            <p:sp>
              <p:nvSpPr>
                <p:cNvPr id="239" name="Oval 629">
                  <a:extLst>
                    <a:ext uri="{FF2B5EF4-FFF2-40B4-BE49-F238E27FC236}">
                      <a16:creationId xmlns:a16="http://schemas.microsoft.com/office/drawing/2014/main" id="{8C6D5048-F53F-27F4-AB8C-8D1B113555D5}"/>
                    </a:ext>
                  </a:extLst>
                </p:cNvPr>
                <p:cNvSpPr>
                  <a:spLocks noChangeArrowheads="1"/>
                </p:cNvSpPr>
                <p:nvPr/>
              </p:nvSpPr>
              <p:spPr bwMode="auto">
                <a:xfrm>
                  <a:off x="4631332" y="4201718"/>
                  <a:ext cx="40318" cy="46647"/>
                </a:xfrm>
                <a:prstGeom prst="ellipse">
                  <a:avLst/>
                </a:prstGeom>
                <a:solidFill>
                  <a:srgbClr val="C00000"/>
                </a:solidFill>
                <a:ln w="12700">
                  <a:solidFill>
                    <a:srgbClr val="C00000"/>
                  </a:solidFill>
                  <a:round/>
                  <a:headEnd/>
                  <a:tailEnd/>
                </a:ln>
              </p:spPr>
              <p:txBody>
                <a:bodyPr wrap="none" lIns="0" tIns="0" rIns="0" anchor="ctr"/>
                <a:lstStyle/>
                <a:p>
                  <a:pPr marL="0" marR="0" lvl="0" indent="0" algn="l" defTabSz="844083" rtl="0" eaLnBrk="1" fontAlgn="auto" latinLnBrk="0" hangingPunct="1">
                    <a:lnSpc>
                      <a:spcPct val="100000"/>
                    </a:lnSpc>
                    <a:spcBef>
                      <a:spcPts val="0"/>
                    </a:spcBef>
                    <a:spcAft>
                      <a:spcPts val="0"/>
                    </a:spcAft>
                    <a:buClrTx/>
                    <a:buSzTx/>
                    <a:buFontTx/>
                    <a:buChar char="•"/>
                    <a:tabLst/>
                    <a:defRPr/>
                  </a:pPr>
                  <a:endParaRPr kumimoji="0" lang="en-SG" sz="2000" b="0" i="0" u="none" strike="noStrike" kern="1200" cap="none" spc="0" normalizeH="0" baseline="0" noProof="0">
                    <a:ln>
                      <a:noFill/>
                    </a:ln>
                    <a:solidFill>
                      <a:srgbClr val="000000"/>
                    </a:solidFill>
                    <a:effectLst/>
                    <a:uLnTx/>
                    <a:uFillTx/>
                    <a:latin typeface="Arial"/>
                    <a:ea typeface="+mn-ea"/>
                    <a:cs typeface="+mn-cs"/>
                  </a:endParaRPr>
                </a:p>
              </p:txBody>
            </p:sp>
            <p:sp>
              <p:nvSpPr>
                <p:cNvPr id="240" name="Rectangle 644">
                  <a:extLst>
                    <a:ext uri="{FF2B5EF4-FFF2-40B4-BE49-F238E27FC236}">
                      <a16:creationId xmlns:a16="http://schemas.microsoft.com/office/drawing/2014/main" id="{EBA4D165-9D49-099C-347F-6513C597DF6F}"/>
                    </a:ext>
                  </a:extLst>
                </p:cNvPr>
                <p:cNvSpPr>
                  <a:spLocks noChangeArrowheads="1"/>
                </p:cNvSpPr>
                <p:nvPr/>
              </p:nvSpPr>
              <p:spPr bwMode="auto">
                <a:xfrm>
                  <a:off x="1828447" y="3404587"/>
                  <a:ext cx="720673" cy="188283"/>
                </a:xfrm>
                <a:prstGeom prst="rect">
                  <a:avLst/>
                </a:prstGeom>
                <a:noFill/>
                <a:ln w="9525">
                  <a:noFill/>
                  <a:miter lim="800000"/>
                  <a:headEnd/>
                  <a:tailEnd/>
                </a:ln>
              </p:spPr>
              <p:txBody>
                <a:bodyPr wrap="square" lIns="64541" tIns="32271" rIns="64541" bIns="32271">
                  <a:spAutoFit/>
                </a:bodyPr>
                <a:lstStyle/>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New York</a:t>
                  </a:r>
                </a:p>
              </p:txBody>
            </p:sp>
            <p:sp>
              <p:nvSpPr>
                <p:cNvPr id="241" name="Oval 629">
                  <a:extLst>
                    <a:ext uri="{FF2B5EF4-FFF2-40B4-BE49-F238E27FC236}">
                      <a16:creationId xmlns:a16="http://schemas.microsoft.com/office/drawing/2014/main" id="{7F0B39BA-672B-3E77-9F05-38A51EA42F60}"/>
                    </a:ext>
                  </a:extLst>
                </p:cNvPr>
                <p:cNvSpPr>
                  <a:spLocks noChangeArrowheads="1"/>
                </p:cNvSpPr>
                <p:nvPr/>
              </p:nvSpPr>
              <p:spPr bwMode="auto">
                <a:xfrm>
                  <a:off x="1945681" y="3351823"/>
                  <a:ext cx="40318" cy="49391"/>
                </a:xfrm>
                <a:prstGeom prst="ellipse">
                  <a:avLst/>
                </a:prstGeom>
                <a:solidFill>
                  <a:srgbClr val="C00000"/>
                </a:solidFill>
                <a:ln w="12700">
                  <a:solidFill>
                    <a:srgbClr val="C00000"/>
                  </a:solidFill>
                  <a:round/>
                  <a:headEnd/>
                  <a:tailEnd/>
                </a:ln>
              </p:spPr>
              <p:txBody>
                <a:bodyPr wrap="none" lIns="0" tIns="0" rIns="0" anchor="ctr"/>
                <a:lstStyle/>
                <a:p>
                  <a:pPr marL="0" marR="0" lvl="0" indent="0" algn="l" defTabSz="844083" rtl="0" eaLnBrk="1" fontAlgn="auto" latinLnBrk="0" hangingPunct="1">
                    <a:lnSpc>
                      <a:spcPct val="100000"/>
                    </a:lnSpc>
                    <a:spcBef>
                      <a:spcPts val="0"/>
                    </a:spcBef>
                    <a:spcAft>
                      <a:spcPts val="0"/>
                    </a:spcAft>
                    <a:buClrTx/>
                    <a:buSzTx/>
                    <a:buFontTx/>
                    <a:buChar char="•"/>
                    <a:tabLst/>
                    <a:defRPr/>
                  </a:pPr>
                  <a:endParaRPr kumimoji="0" lang="en-SG" sz="2000" b="0" i="0" u="none" strike="noStrike" kern="1200" cap="none" spc="0" normalizeH="0" baseline="0" noProof="0">
                    <a:ln>
                      <a:noFill/>
                    </a:ln>
                    <a:solidFill>
                      <a:srgbClr val="000000"/>
                    </a:solidFill>
                    <a:effectLst/>
                    <a:uLnTx/>
                    <a:uFillTx/>
                    <a:latin typeface="Arial"/>
                    <a:ea typeface="+mn-ea"/>
                    <a:cs typeface="+mn-cs"/>
                  </a:endParaRPr>
                </a:p>
              </p:txBody>
            </p:sp>
            <p:sp>
              <p:nvSpPr>
                <p:cNvPr id="242" name="Rectangle 644">
                  <a:extLst>
                    <a:ext uri="{FF2B5EF4-FFF2-40B4-BE49-F238E27FC236}">
                      <a16:creationId xmlns:a16="http://schemas.microsoft.com/office/drawing/2014/main" id="{2947E2E6-5142-9B23-F570-C90C2AFE36F5}"/>
                    </a:ext>
                  </a:extLst>
                </p:cNvPr>
                <p:cNvSpPr>
                  <a:spLocks noChangeArrowheads="1"/>
                </p:cNvSpPr>
                <p:nvPr/>
              </p:nvSpPr>
              <p:spPr bwMode="auto">
                <a:xfrm>
                  <a:off x="4682214" y="4143918"/>
                  <a:ext cx="644356" cy="188283"/>
                </a:xfrm>
                <a:prstGeom prst="rect">
                  <a:avLst/>
                </a:prstGeom>
                <a:noFill/>
                <a:ln w="9525">
                  <a:noFill/>
                  <a:miter lim="800000"/>
                  <a:headEnd/>
                  <a:tailEnd/>
                </a:ln>
              </p:spPr>
              <p:txBody>
                <a:bodyPr lIns="64541" tIns="32271" rIns="64541" bIns="32271">
                  <a:spAutoFit/>
                </a:bodyPr>
                <a:lstStyle/>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Indonesia</a:t>
                  </a:r>
                </a:p>
              </p:txBody>
            </p:sp>
            <p:pic>
              <p:nvPicPr>
                <p:cNvPr id="243" name="Picture 15" descr="DBS-LOGO-STAR.png">
                  <a:extLst>
                    <a:ext uri="{FF2B5EF4-FFF2-40B4-BE49-F238E27FC236}">
                      <a16:creationId xmlns:a16="http://schemas.microsoft.com/office/drawing/2014/main" id="{185D402A-F43A-8E8A-BFE9-F32D8D660D9F}"/>
                    </a:ext>
                  </a:extLst>
                </p:cNvPr>
                <p:cNvPicPr>
                  <a:picLocks noChangeAspect="1"/>
                </p:cNvPicPr>
                <p:nvPr/>
              </p:nvPicPr>
              <p:blipFill>
                <a:blip r:embed="rId7" cstate="print"/>
                <a:srcRect/>
                <a:stretch>
                  <a:fillRect/>
                </a:stretch>
              </p:blipFill>
              <p:spPr bwMode="auto">
                <a:xfrm>
                  <a:off x="4665486" y="3556040"/>
                  <a:ext cx="127770" cy="123232"/>
                </a:xfrm>
                <a:prstGeom prst="rect">
                  <a:avLst/>
                </a:prstGeom>
                <a:noFill/>
                <a:ln w="9525">
                  <a:noFill/>
                  <a:miter lim="800000"/>
                  <a:headEnd/>
                  <a:tailEnd/>
                </a:ln>
              </p:spPr>
            </p:pic>
            <p:pic>
              <p:nvPicPr>
                <p:cNvPr id="244" name="Picture 15" descr="DBS-LOGO-STAR.png">
                  <a:extLst>
                    <a:ext uri="{FF2B5EF4-FFF2-40B4-BE49-F238E27FC236}">
                      <a16:creationId xmlns:a16="http://schemas.microsoft.com/office/drawing/2014/main" id="{CD7CF70F-4EF0-FEA4-2009-B43569028C22}"/>
                    </a:ext>
                  </a:extLst>
                </p:cNvPr>
                <p:cNvPicPr>
                  <a:picLocks noChangeAspect="1"/>
                </p:cNvPicPr>
                <p:nvPr/>
              </p:nvPicPr>
              <p:blipFill>
                <a:blip r:embed="rId7" cstate="print"/>
                <a:srcRect/>
                <a:stretch>
                  <a:fillRect/>
                </a:stretch>
              </p:blipFill>
              <p:spPr bwMode="auto">
                <a:xfrm>
                  <a:off x="4416015" y="3692110"/>
                  <a:ext cx="127769" cy="123232"/>
                </a:xfrm>
                <a:prstGeom prst="rect">
                  <a:avLst/>
                </a:prstGeom>
                <a:noFill/>
                <a:ln w="9525">
                  <a:noFill/>
                  <a:miter lim="800000"/>
                  <a:headEnd/>
                  <a:tailEnd/>
                </a:ln>
              </p:spPr>
            </p:pic>
            <p:pic>
              <p:nvPicPr>
                <p:cNvPr id="245" name="Picture 15" descr="DBS-LOGO-STAR.png">
                  <a:extLst>
                    <a:ext uri="{FF2B5EF4-FFF2-40B4-BE49-F238E27FC236}">
                      <a16:creationId xmlns:a16="http://schemas.microsoft.com/office/drawing/2014/main" id="{9305130B-86C2-DEA4-C7D2-1E2DECB75B7F}"/>
                    </a:ext>
                  </a:extLst>
                </p:cNvPr>
                <p:cNvPicPr>
                  <a:picLocks noChangeAspect="1"/>
                </p:cNvPicPr>
                <p:nvPr/>
              </p:nvPicPr>
              <p:blipFill>
                <a:blip r:embed="rId7" cstate="print"/>
                <a:srcRect/>
                <a:stretch>
                  <a:fillRect/>
                </a:stretch>
              </p:blipFill>
              <p:spPr bwMode="auto">
                <a:xfrm>
                  <a:off x="4589518" y="4158947"/>
                  <a:ext cx="127770" cy="123232"/>
                </a:xfrm>
                <a:prstGeom prst="rect">
                  <a:avLst/>
                </a:prstGeom>
                <a:noFill/>
                <a:ln w="9525">
                  <a:noFill/>
                  <a:miter lim="800000"/>
                  <a:headEnd/>
                  <a:tailEnd/>
                </a:ln>
              </p:spPr>
            </p:pic>
            <p:sp>
              <p:nvSpPr>
                <p:cNvPr id="246" name="Rectangle 644">
                  <a:extLst>
                    <a:ext uri="{FF2B5EF4-FFF2-40B4-BE49-F238E27FC236}">
                      <a16:creationId xmlns:a16="http://schemas.microsoft.com/office/drawing/2014/main" id="{48C74C1F-72C2-1784-2BBF-9012717D91FF}"/>
                    </a:ext>
                  </a:extLst>
                </p:cNvPr>
                <p:cNvSpPr>
                  <a:spLocks noChangeArrowheads="1"/>
                </p:cNvSpPr>
                <p:nvPr/>
              </p:nvSpPr>
              <p:spPr bwMode="auto">
                <a:xfrm>
                  <a:off x="3312818" y="3627086"/>
                  <a:ext cx="404752" cy="188283"/>
                </a:xfrm>
                <a:prstGeom prst="rect">
                  <a:avLst/>
                </a:prstGeom>
                <a:noFill/>
                <a:ln w="9525">
                  <a:noFill/>
                  <a:miter lim="800000"/>
                  <a:headEnd/>
                  <a:tailEnd/>
                </a:ln>
              </p:spPr>
              <p:txBody>
                <a:bodyPr wrap="square" lIns="64541" tIns="32271" rIns="64541" bIns="32271">
                  <a:spAutoFit/>
                </a:bodyPr>
                <a:lstStyle/>
                <a:p>
                  <a:pPr marL="0" marR="0" lvl="0" indent="0" algn="ctr"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UAE</a:t>
                  </a:r>
                </a:p>
              </p:txBody>
            </p:sp>
            <p:sp>
              <p:nvSpPr>
                <p:cNvPr id="247" name="Rectangle 644">
                  <a:extLst>
                    <a:ext uri="{FF2B5EF4-FFF2-40B4-BE49-F238E27FC236}">
                      <a16:creationId xmlns:a16="http://schemas.microsoft.com/office/drawing/2014/main" id="{C9D40801-0BDA-438D-9665-333FCC422E59}"/>
                    </a:ext>
                  </a:extLst>
                </p:cNvPr>
                <p:cNvSpPr>
                  <a:spLocks noChangeArrowheads="1"/>
                </p:cNvSpPr>
                <p:nvPr/>
              </p:nvSpPr>
              <p:spPr bwMode="auto">
                <a:xfrm>
                  <a:off x="3970749" y="3664112"/>
                  <a:ext cx="557719" cy="188283"/>
                </a:xfrm>
                <a:prstGeom prst="rect">
                  <a:avLst/>
                </a:prstGeom>
                <a:noFill/>
                <a:ln w="9525">
                  <a:noFill/>
                  <a:miter lim="800000"/>
                  <a:headEnd/>
                  <a:tailEnd/>
                </a:ln>
              </p:spPr>
              <p:txBody>
                <a:bodyPr wrap="square" lIns="64541" tIns="32271" rIns="64541" bIns="32271">
                  <a:spAutoFit/>
                </a:bodyPr>
                <a:lstStyle/>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Thailand</a:t>
                  </a:r>
                </a:p>
              </p:txBody>
            </p:sp>
            <p:pic>
              <p:nvPicPr>
                <p:cNvPr id="248" name="Picture 15" descr="DBS-LOGO-STAR.png">
                  <a:extLst>
                    <a:ext uri="{FF2B5EF4-FFF2-40B4-BE49-F238E27FC236}">
                      <a16:creationId xmlns:a16="http://schemas.microsoft.com/office/drawing/2014/main" id="{B5E190AC-4B4E-F269-3EAD-D353B179E18B}"/>
                    </a:ext>
                  </a:extLst>
                </p:cNvPr>
                <p:cNvPicPr>
                  <a:picLocks noChangeAspect="1"/>
                </p:cNvPicPr>
                <p:nvPr/>
              </p:nvPicPr>
              <p:blipFill>
                <a:blip r:embed="rId7" cstate="print"/>
                <a:srcRect/>
                <a:stretch>
                  <a:fillRect/>
                </a:stretch>
              </p:blipFill>
              <p:spPr bwMode="auto">
                <a:xfrm>
                  <a:off x="4495473" y="3976305"/>
                  <a:ext cx="127770" cy="123232"/>
                </a:xfrm>
                <a:prstGeom prst="rect">
                  <a:avLst/>
                </a:prstGeom>
                <a:noFill/>
                <a:ln w="9525">
                  <a:noFill/>
                  <a:miter lim="800000"/>
                  <a:headEnd/>
                  <a:tailEnd/>
                </a:ln>
                <a:effectLst/>
              </p:spPr>
            </p:pic>
            <p:pic>
              <p:nvPicPr>
                <p:cNvPr id="249" name="Picture 15" descr="DBS-LOGO-STAR.png">
                  <a:extLst>
                    <a:ext uri="{FF2B5EF4-FFF2-40B4-BE49-F238E27FC236}">
                      <a16:creationId xmlns:a16="http://schemas.microsoft.com/office/drawing/2014/main" id="{A9CCDDAF-7C16-FD82-B40B-38B795421F02}"/>
                    </a:ext>
                  </a:extLst>
                </p:cNvPr>
                <p:cNvPicPr>
                  <a:picLocks noChangeAspect="1"/>
                </p:cNvPicPr>
                <p:nvPr/>
              </p:nvPicPr>
              <p:blipFill>
                <a:blip r:embed="rId7" cstate="print"/>
                <a:srcRect/>
                <a:stretch>
                  <a:fillRect/>
                </a:stretch>
              </p:blipFill>
              <p:spPr bwMode="auto">
                <a:xfrm>
                  <a:off x="2671909" y="2855427"/>
                  <a:ext cx="127770" cy="123232"/>
                </a:xfrm>
                <a:prstGeom prst="rect">
                  <a:avLst/>
                </a:prstGeom>
                <a:noFill/>
                <a:ln w="9525">
                  <a:noFill/>
                  <a:miter lim="800000"/>
                  <a:headEnd/>
                  <a:tailEnd/>
                </a:ln>
              </p:spPr>
            </p:pic>
            <p:pic>
              <p:nvPicPr>
                <p:cNvPr id="250" name="Picture 15" descr="DBS-LOGO-STAR.png">
                  <a:extLst>
                    <a:ext uri="{FF2B5EF4-FFF2-40B4-BE49-F238E27FC236}">
                      <a16:creationId xmlns:a16="http://schemas.microsoft.com/office/drawing/2014/main" id="{606913E3-846E-332B-9B9C-41226D7D5B43}"/>
                    </a:ext>
                  </a:extLst>
                </p:cNvPr>
                <p:cNvPicPr>
                  <a:picLocks noChangeAspect="1"/>
                </p:cNvPicPr>
                <p:nvPr/>
              </p:nvPicPr>
              <p:blipFill>
                <a:blip r:embed="rId7" cstate="print"/>
                <a:srcRect/>
                <a:stretch>
                  <a:fillRect/>
                </a:stretch>
              </p:blipFill>
              <p:spPr bwMode="auto">
                <a:xfrm>
                  <a:off x="1889945" y="3302829"/>
                  <a:ext cx="127770" cy="123232"/>
                </a:xfrm>
                <a:prstGeom prst="rect">
                  <a:avLst/>
                </a:prstGeom>
                <a:noFill/>
                <a:ln w="9525">
                  <a:noFill/>
                  <a:miter lim="800000"/>
                  <a:headEnd/>
                  <a:tailEnd/>
                </a:ln>
              </p:spPr>
            </p:pic>
            <p:sp>
              <p:nvSpPr>
                <p:cNvPr id="251" name="Rectangle 644">
                  <a:extLst>
                    <a:ext uri="{FF2B5EF4-FFF2-40B4-BE49-F238E27FC236}">
                      <a16:creationId xmlns:a16="http://schemas.microsoft.com/office/drawing/2014/main" id="{5DE0F06B-1D0C-91EC-3B96-F728C0CC198F}"/>
                    </a:ext>
                  </a:extLst>
                </p:cNvPr>
                <p:cNvSpPr>
                  <a:spLocks noChangeArrowheads="1"/>
                </p:cNvSpPr>
                <p:nvPr/>
              </p:nvSpPr>
              <p:spPr bwMode="auto">
                <a:xfrm>
                  <a:off x="3710074" y="3514665"/>
                  <a:ext cx="382676" cy="188283"/>
                </a:xfrm>
                <a:prstGeom prst="rect">
                  <a:avLst/>
                </a:prstGeom>
                <a:noFill/>
                <a:ln w="9525">
                  <a:noFill/>
                  <a:miter lim="800000"/>
                  <a:headEnd/>
                  <a:tailEnd/>
                </a:ln>
              </p:spPr>
              <p:txBody>
                <a:bodyPr wrap="square" lIns="64541" tIns="32271" rIns="64541" bIns="32271">
                  <a:spAutoFit/>
                </a:bodyPr>
                <a:lstStyle/>
                <a:p>
                  <a:pPr marL="0" marR="0" lvl="0" indent="0" algn="ctr"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India</a:t>
                  </a:r>
                </a:p>
              </p:txBody>
            </p:sp>
            <p:sp>
              <p:nvSpPr>
                <p:cNvPr id="252" name="Rectangle 644">
                  <a:extLst>
                    <a:ext uri="{FF2B5EF4-FFF2-40B4-BE49-F238E27FC236}">
                      <a16:creationId xmlns:a16="http://schemas.microsoft.com/office/drawing/2014/main" id="{4E03727A-4455-66C7-7915-DB829A309D8C}"/>
                    </a:ext>
                  </a:extLst>
                </p:cNvPr>
                <p:cNvSpPr>
                  <a:spLocks noChangeArrowheads="1"/>
                </p:cNvSpPr>
                <p:nvPr/>
              </p:nvSpPr>
              <p:spPr bwMode="auto">
                <a:xfrm>
                  <a:off x="5125711" y="3229035"/>
                  <a:ext cx="470008" cy="188283"/>
                </a:xfrm>
                <a:prstGeom prst="rect">
                  <a:avLst/>
                </a:prstGeom>
                <a:noFill/>
                <a:ln w="9525">
                  <a:noFill/>
                  <a:miter lim="800000"/>
                  <a:headEnd/>
                  <a:tailEnd/>
                </a:ln>
              </p:spPr>
              <p:txBody>
                <a:bodyPr wrap="square" lIns="64541" tIns="32271" rIns="64541" bIns="32271">
                  <a:spAutoFit/>
                </a:bodyPr>
                <a:lstStyle/>
                <a:p>
                  <a:pPr marL="0" marR="0" lvl="0" indent="0" algn="ctr"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Japan</a:t>
                  </a:r>
                </a:p>
              </p:txBody>
            </p:sp>
            <p:sp>
              <p:nvSpPr>
                <p:cNvPr id="253" name="Rectangle 644">
                  <a:extLst>
                    <a:ext uri="{FF2B5EF4-FFF2-40B4-BE49-F238E27FC236}">
                      <a16:creationId xmlns:a16="http://schemas.microsoft.com/office/drawing/2014/main" id="{128F7073-3C16-271D-04DA-C6283F7E2101}"/>
                    </a:ext>
                  </a:extLst>
                </p:cNvPr>
                <p:cNvSpPr>
                  <a:spLocks noChangeArrowheads="1"/>
                </p:cNvSpPr>
                <p:nvPr/>
              </p:nvSpPr>
              <p:spPr bwMode="auto">
                <a:xfrm>
                  <a:off x="4881385" y="3773770"/>
                  <a:ext cx="668398" cy="188283"/>
                </a:xfrm>
                <a:prstGeom prst="rect">
                  <a:avLst/>
                </a:prstGeom>
                <a:noFill/>
                <a:ln w="9525">
                  <a:noFill/>
                  <a:miter lim="800000"/>
                  <a:headEnd/>
                  <a:tailEnd/>
                </a:ln>
              </p:spPr>
              <p:txBody>
                <a:bodyPr wrap="square" lIns="64541" tIns="32271" rIns="64541" bIns="32271">
                  <a:spAutoFit/>
                </a:bodyPr>
                <a:lstStyle/>
                <a:p>
                  <a:pPr marL="0" marR="0" lvl="0" indent="0" algn="ctr"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Philippines</a:t>
                  </a:r>
                </a:p>
              </p:txBody>
            </p:sp>
            <p:pic>
              <p:nvPicPr>
                <p:cNvPr id="254" name="Picture 15" descr="DBS-LOGO-STAR.png">
                  <a:extLst>
                    <a:ext uri="{FF2B5EF4-FFF2-40B4-BE49-F238E27FC236}">
                      <a16:creationId xmlns:a16="http://schemas.microsoft.com/office/drawing/2014/main" id="{642BC5A0-83C1-8BA3-2F71-E9D27D8EFA9D}"/>
                    </a:ext>
                  </a:extLst>
                </p:cNvPr>
                <p:cNvPicPr>
                  <a:picLocks noChangeAspect="1"/>
                </p:cNvPicPr>
                <p:nvPr/>
              </p:nvPicPr>
              <p:blipFill>
                <a:blip r:embed="rId7" cstate="print"/>
                <a:srcRect/>
                <a:stretch>
                  <a:fillRect/>
                </a:stretch>
              </p:blipFill>
              <p:spPr bwMode="auto">
                <a:xfrm>
                  <a:off x="3459013" y="3538550"/>
                  <a:ext cx="127770" cy="123232"/>
                </a:xfrm>
                <a:prstGeom prst="rect">
                  <a:avLst/>
                </a:prstGeom>
                <a:noFill/>
                <a:ln w="9525">
                  <a:noFill/>
                  <a:miter lim="800000"/>
                  <a:headEnd/>
                  <a:tailEnd/>
                </a:ln>
              </p:spPr>
            </p:pic>
            <p:pic>
              <p:nvPicPr>
                <p:cNvPr id="255" name="Picture 15" descr="DBS-LOGO-STAR.png">
                  <a:extLst>
                    <a:ext uri="{FF2B5EF4-FFF2-40B4-BE49-F238E27FC236}">
                      <a16:creationId xmlns:a16="http://schemas.microsoft.com/office/drawing/2014/main" id="{4A879737-C1E2-6703-65C1-CE731D8BE635}"/>
                    </a:ext>
                  </a:extLst>
                </p:cNvPr>
                <p:cNvPicPr>
                  <a:picLocks noChangeAspect="1"/>
                </p:cNvPicPr>
                <p:nvPr/>
              </p:nvPicPr>
              <p:blipFill>
                <a:blip r:embed="rId7" cstate="print"/>
                <a:srcRect/>
                <a:stretch>
                  <a:fillRect/>
                </a:stretch>
              </p:blipFill>
              <p:spPr bwMode="auto">
                <a:xfrm>
                  <a:off x="4017931" y="3565089"/>
                  <a:ext cx="127770" cy="123232"/>
                </a:xfrm>
                <a:prstGeom prst="rect">
                  <a:avLst/>
                </a:prstGeom>
                <a:noFill/>
                <a:ln w="9525">
                  <a:noFill/>
                  <a:miter lim="800000"/>
                  <a:headEnd/>
                  <a:tailEnd/>
                </a:ln>
              </p:spPr>
            </p:pic>
            <p:sp>
              <p:nvSpPr>
                <p:cNvPr id="256" name="Rectangle 644">
                  <a:extLst>
                    <a:ext uri="{FF2B5EF4-FFF2-40B4-BE49-F238E27FC236}">
                      <a16:creationId xmlns:a16="http://schemas.microsoft.com/office/drawing/2014/main" id="{A8A2D363-49F7-5DA2-9445-EC342FF5842A}"/>
                    </a:ext>
                  </a:extLst>
                </p:cNvPr>
                <p:cNvSpPr>
                  <a:spLocks noChangeArrowheads="1"/>
                </p:cNvSpPr>
                <p:nvPr/>
              </p:nvSpPr>
              <p:spPr bwMode="auto">
                <a:xfrm>
                  <a:off x="3573959" y="3807656"/>
                  <a:ext cx="923941" cy="188283"/>
                </a:xfrm>
                <a:prstGeom prst="rect">
                  <a:avLst/>
                </a:prstGeom>
                <a:noFill/>
                <a:ln w="9525">
                  <a:noFill/>
                  <a:miter lim="800000"/>
                  <a:headEnd/>
                  <a:tailEnd/>
                </a:ln>
              </p:spPr>
              <p:txBody>
                <a:bodyPr lIns="64541" tIns="32271" rIns="64541" bIns="32271">
                  <a:spAutoFit/>
                </a:bodyPr>
                <a:lstStyle/>
                <a:p>
                  <a:pPr marL="0" marR="0" lvl="0" indent="0" algn="r"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Malaysia</a:t>
                  </a:r>
                </a:p>
              </p:txBody>
            </p:sp>
            <p:pic>
              <p:nvPicPr>
                <p:cNvPr id="257" name="Picture 15" descr="DBS-LOGO-STAR.png">
                  <a:extLst>
                    <a:ext uri="{FF2B5EF4-FFF2-40B4-BE49-F238E27FC236}">
                      <a16:creationId xmlns:a16="http://schemas.microsoft.com/office/drawing/2014/main" id="{17F09D5C-C980-C9D5-A8C6-4296A36D27B8}"/>
                    </a:ext>
                  </a:extLst>
                </p:cNvPr>
                <p:cNvPicPr>
                  <a:picLocks noChangeAspect="1"/>
                </p:cNvPicPr>
                <p:nvPr/>
              </p:nvPicPr>
              <p:blipFill>
                <a:blip r:embed="rId7" cstate="print"/>
                <a:srcRect/>
                <a:stretch>
                  <a:fillRect/>
                </a:stretch>
              </p:blipFill>
              <p:spPr bwMode="auto">
                <a:xfrm>
                  <a:off x="4425950" y="3847326"/>
                  <a:ext cx="127770" cy="123232"/>
                </a:xfrm>
                <a:prstGeom prst="rect">
                  <a:avLst/>
                </a:prstGeom>
                <a:noFill/>
                <a:ln w="9525">
                  <a:noFill/>
                  <a:miter lim="800000"/>
                  <a:headEnd/>
                  <a:tailEnd/>
                </a:ln>
                <a:effectLst/>
              </p:spPr>
            </p:pic>
            <p:sp>
              <p:nvSpPr>
                <p:cNvPr id="263" name="16297461.625707.125138.1255">
                  <a:extLst>
                    <a:ext uri="{FF2B5EF4-FFF2-40B4-BE49-F238E27FC236}">
                      <a16:creationId xmlns:a16="http://schemas.microsoft.com/office/drawing/2014/main" id="{E19CAD04-04C4-08EF-1A04-13A4D6B97655}"/>
                    </a:ext>
                  </a:extLst>
                </p:cNvPr>
                <p:cNvSpPr>
                  <a:spLocks/>
                </p:cNvSpPr>
                <p:nvPr/>
              </p:nvSpPr>
              <p:spPr bwMode="auto">
                <a:xfrm>
                  <a:off x="5657339" y="4739522"/>
                  <a:ext cx="101372" cy="158310"/>
                </a:xfrm>
                <a:custGeom>
                  <a:avLst/>
                  <a:gdLst>
                    <a:gd name="T0" fmla="*/ 0 w 193"/>
                    <a:gd name="T1" fmla="*/ 0 h 266"/>
                    <a:gd name="T2" fmla="*/ 1 w 193"/>
                    <a:gd name="T3" fmla="*/ 1 h 266"/>
                    <a:gd name="T4" fmla="*/ 1 w 193"/>
                    <a:gd name="T5" fmla="*/ 1 h 266"/>
                    <a:gd name="T6" fmla="*/ 1 w 193"/>
                    <a:gd name="T7" fmla="*/ 1 h 266"/>
                    <a:gd name="T8" fmla="*/ 1 w 193"/>
                    <a:gd name="T9" fmla="*/ 1 h 266"/>
                    <a:gd name="T10" fmla="*/ 1 w 193"/>
                    <a:gd name="T11" fmla="*/ 1 h 266"/>
                    <a:gd name="T12" fmla="*/ 1 w 193"/>
                    <a:gd name="T13" fmla="*/ 1 h 266"/>
                    <a:gd name="T14" fmla="*/ 1 w 193"/>
                    <a:gd name="T15" fmla="*/ 1 h 266"/>
                    <a:gd name="T16" fmla="*/ 1 w 193"/>
                    <a:gd name="T17" fmla="*/ 1 h 266"/>
                    <a:gd name="T18" fmla="*/ 1 w 193"/>
                    <a:gd name="T19" fmla="*/ 1 h 266"/>
                    <a:gd name="T20" fmla="*/ 1 w 193"/>
                    <a:gd name="T21" fmla="*/ 1 h 266"/>
                    <a:gd name="T22" fmla="*/ 1 w 193"/>
                    <a:gd name="T23" fmla="*/ 1 h 266"/>
                    <a:gd name="T24" fmla="*/ 1 w 193"/>
                    <a:gd name="T25" fmla="*/ 1 h 266"/>
                    <a:gd name="T26" fmla="*/ 1 w 193"/>
                    <a:gd name="T27" fmla="*/ 1 h 266"/>
                    <a:gd name="T28" fmla="*/ 1 w 193"/>
                    <a:gd name="T29" fmla="*/ 1 h 266"/>
                    <a:gd name="T30" fmla="*/ 0 w 193"/>
                    <a:gd name="T31" fmla="*/ 0 h 2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3"/>
                    <a:gd name="T49" fmla="*/ 0 h 266"/>
                    <a:gd name="T50" fmla="*/ 193 w 193"/>
                    <a:gd name="T51" fmla="*/ 266 h 2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3" h="266">
                      <a:moveTo>
                        <a:pt x="0" y="0"/>
                      </a:moveTo>
                      <a:lnTo>
                        <a:pt x="53" y="30"/>
                      </a:lnTo>
                      <a:lnTo>
                        <a:pt x="67" y="89"/>
                      </a:lnTo>
                      <a:lnTo>
                        <a:pt x="90" y="105"/>
                      </a:lnTo>
                      <a:lnTo>
                        <a:pt x="104" y="81"/>
                      </a:lnTo>
                      <a:lnTo>
                        <a:pt x="115" y="121"/>
                      </a:lnTo>
                      <a:lnTo>
                        <a:pt x="193" y="121"/>
                      </a:lnTo>
                      <a:lnTo>
                        <a:pt x="177" y="180"/>
                      </a:lnTo>
                      <a:lnTo>
                        <a:pt x="138" y="188"/>
                      </a:lnTo>
                      <a:lnTo>
                        <a:pt x="105" y="265"/>
                      </a:lnTo>
                      <a:lnTo>
                        <a:pt x="68" y="266"/>
                      </a:lnTo>
                      <a:lnTo>
                        <a:pt x="85" y="239"/>
                      </a:lnTo>
                      <a:lnTo>
                        <a:pt x="37" y="184"/>
                      </a:lnTo>
                      <a:lnTo>
                        <a:pt x="75" y="136"/>
                      </a:lnTo>
                      <a:lnTo>
                        <a:pt x="68" y="96"/>
                      </a:lnTo>
                      <a:lnTo>
                        <a:pt x="0" y="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825" b="0" i="0" u="none" strike="noStrike" kern="1200" cap="none" spc="0" normalizeH="0" baseline="0" noProof="0">
                    <a:ln>
                      <a:noFill/>
                    </a:ln>
                    <a:solidFill>
                      <a:srgbClr val="000000"/>
                    </a:solidFill>
                    <a:effectLst/>
                    <a:uLnTx/>
                    <a:uFillTx/>
                    <a:latin typeface="Arial"/>
                    <a:ea typeface="+mn-ea"/>
                    <a:cs typeface="+mn-cs"/>
                  </a:endParaRPr>
                </a:p>
              </p:txBody>
            </p:sp>
            <p:sp>
              <p:nvSpPr>
                <p:cNvPr id="264" name="16308242.625494.87589236.8755">
                  <a:extLst>
                    <a:ext uri="{FF2B5EF4-FFF2-40B4-BE49-F238E27FC236}">
                      <a16:creationId xmlns:a16="http://schemas.microsoft.com/office/drawing/2014/main" id="{85B898FB-C96D-75EC-5FDF-1B032E1E61FC}"/>
                    </a:ext>
                  </a:extLst>
                </p:cNvPr>
                <p:cNvSpPr>
                  <a:spLocks/>
                </p:cNvSpPr>
                <p:nvPr/>
              </p:nvSpPr>
              <p:spPr bwMode="auto">
                <a:xfrm>
                  <a:off x="2982085" y="2060158"/>
                  <a:ext cx="2978456" cy="1089125"/>
                </a:xfrm>
                <a:custGeom>
                  <a:avLst/>
                  <a:gdLst>
                    <a:gd name="T0" fmla="*/ 1 w 5699"/>
                    <a:gd name="T1" fmla="*/ 1 h 1829"/>
                    <a:gd name="T2" fmla="*/ 1 w 5699"/>
                    <a:gd name="T3" fmla="*/ 1 h 1829"/>
                    <a:gd name="T4" fmla="*/ 1 w 5699"/>
                    <a:gd name="T5" fmla="*/ 1 h 1829"/>
                    <a:gd name="T6" fmla="*/ 1 w 5699"/>
                    <a:gd name="T7" fmla="*/ 1 h 1829"/>
                    <a:gd name="T8" fmla="*/ 1 w 5699"/>
                    <a:gd name="T9" fmla="*/ 1 h 1829"/>
                    <a:gd name="T10" fmla="*/ 1 w 5699"/>
                    <a:gd name="T11" fmla="*/ 1 h 1829"/>
                    <a:gd name="T12" fmla="*/ 1 w 5699"/>
                    <a:gd name="T13" fmla="*/ 1 h 1829"/>
                    <a:gd name="T14" fmla="*/ 1 w 5699"/>
                    <a:gd name="T15" fmla="*/ 1 h 1829"/>
                    <a:gd name="T16" fmla="*/ 1 w 5699"/>
                    <a:gd name="T17" fmla="*/ 1 h 1829"/>
                    <a:gd name="T18" fmla="*/ 1 w 5699"/>
                    <a:gd name="T19" fmla="*/ 1 h 1829"/>
                    <a:gd name="T20" fmla="*/ 1 w 5699"/>
                    <a:gd name="T21" fmla="*/ 1 h 1829"/>
                    <a:gd name="T22" fmla="*/ 1 w 5699"/>
                    <a:gd name="T23" fmla="*/ 1 h 1829"/>
                    <a:gd name="T24" fmla="*/ 1 w 5699"/>
                    <a:gd name="T25" fmla="*/ 1 h 1829"/>
                    <a:gd name="T26" fmla="*/ 1 w 5699"/>
                    <a:gd name="T27" fmla="*/ 1 h 1829"/>
                    <a:gd name="T28" fmla="*/ 1 w 5699"/>
                    <a:gd name="T29" fmla="*/ 1 h 1829"/>
                    <a:gd name="T30" fmla="*/ 1 w 5699"/>
                    <a:gd name="T31" fmla="*/ 1 h 1829"/>
                    <a:gd name="T32" fmla="*/ 1 w 5699"/>
                    <a:gd name="T33" fmla="*/ 1 h 1829"/>
                    <a:gd name="T34" fmla="*/ 1 w 5699"/>
                    <a:gd name="T35" fmla="*/ 1 h 1829"/>
                    <a:gd name="T36" fmla="*/ 1 w 5699"/>
                    <a:gd name="T37" fmla="*/ 1 h 1829"/>
                    <a:gd name="T38" fmla="*/ 1 w 5699"/>
                    <a:gd name="T39" fmla="*/ 1 h 1829"/>
                    <a:gd name="T40" fmla="*/ 1 w 5699"/>
                    <a:gd name="T41" fmla="*/ 1 h 1829"/>
                    <a:gd name="T42" fmla="*/ 1 w 5699"/>
                    <a:gd name="T43" fmla="*/ 1 h 1829"/>
                    <a:gd name="T44" fmla="*/ 1 w 5699"/>
                    <a:gd name="T45" fmla="*/ 1 h 1829"/>
                    <a:gd name="T46" fmla="*/ 1 w 5699"/>
                    <a:gd name="T47" fmla="*/ 1 h 1829"/>
                    <a:gd name="T48" fmla="*/ 1 w 5699"/>
                    <a:gd name="T49" fmla="*/ 1 h 1829"/>
                    <a:gd name="T50" fmla="*/ 1 w 5699"/>
                    <a:gd name="T51" fmla="*/ 1 h 1829"/>
                    <a:gd name="T52" fmla="*/ 1 w 5699"/>
                    <a:gd name="T53" fmla="*/ 1 h 1829"/>
                    <a:gd name="T54" fmla="*/ 1 w 5699"/>
                    <a:gd name="T55" fmla="*/ 1 h 1829"/>
                    <a:gd name="T56" fmla="*/ 1 w 5699"/>
                    <a:gd name="T57" fmla="*/ 1 h 1829"/>
                    <a:gd name="T58" fmla="*/ 1 w 5699"/>
                    <a:gd name="T59" fmla="*/ 1 h 1829"/>
                    <a:gd name="T60" fmla="*/ 1 w 5699"/>
                    <a:gd name="T61" fmla="*/ 1 h 1829"/>
                    <a:gd name="T62" fmla="*/ 1 w 5699"/>
                    <a:gd name="T63" fmla="*/ 1 h 1829"/>
                    <a:gd name="T64" fmla="*/ 1 w 5699"/>
                    <a:gd name="T65" fmla="*/ 1 h 1829"/>
                    <a:gd name="T66" fmla="*/ 1 w 5699"/>
                    <a:gd name="T67" fmla="*/ 1 h 1829"/>
                    <a:gd name="T68" fmla="*/ 1 w 5699"/>
                    <a:gd name="T69" fmla="*/ 1 h 1829"/>
                    <a:gd name="T70" fmla="*/ 1 w 5699"/>
                    <a:gd name="T71" fmla="*/ 1 h 1829"/>
                    <a:gd name="T72" fmla="*/ 1 w 5699"/>
                    <a:gd name="T73" fmla="*/ 1 h 1829"/>
                    <a:gd name="T74" fmla="*/ 1 w 5699"/>
                    <a:gd name="T75" fmla="*/ 1 h 1829"/>
                    <a:gd name="T76" fmla="*/ 1 w 5699"/>
                    <a:gd name="T77" fmla="*/ 1 h 1829"/>
                    <a:gd name="T78" fmla="*/ 1 w 5699"/>
                    <a:gd name="T79" fmla="*/ 1 h 1829"/>
                    <a:gd name="T80" fmla="*/ 1 w 5699"/>
                    <a:gd name="T81" fmla="*/ 1 h 1829"/>
                    <a:gd name="T82" fmla="*/ 1 w 5699"/>
                    <a:gd name="T83" fmla="*/ 1 h 1829"/>
                    <a:gd name="T84" fmla="*/ 1 w 5699"/>
                    <a:gd name="T85" fmla="*/ 1 h 1829"/>
                    <a:gd name="T86" fmla="*/ 1 w 5699"/>
                    <a:gd name="T87" fmla="*/ 1 h 1829"/>
                    <a:gd name="T88" fmla="*/ 1 w 5699"/>
                    <a:gd name="T89" fmla="*/ 1 h 1829"/>
                    <a:gd name="T90" fmla="*/ 1 w 5699"/>
                    <a:gd name="T91" fmla="*/ 1 h 1829"/>
                    <a:gd name="T92" fmla="*/ 1 w 5699"/>
                    <a:gd name="T93" fmla="*/ 1 h 1829"/>
                    <a:gd name="T94" fmla="*/ 1 w 5699"/>
                    <a:gd name="T95" fmla="*/ 1 h 1829"/>
                    <a:gd name="T96" fmla="*/ 1 w 5699"/>
                    <a:gd name="T97" fmla="*/ 1 h 1829"/>
                    <a:gd name="T98" fmla="*/ 1 w 5699"/>
                    <a:gd name="T99" fmla="*/ 1 h 1829"/>
                    <a:gd name="T100" fmla="*/ 1 w 5699"/>
                    <a:gd name="T101" fmla="*/ 1 h 1829"/>
                    <a:gd name="T102" fmla="*/ 1 w 5699"/>
                    <a:gd name="T103" fmla="*/ 1 h 1829"/>
                    <a:gd name="T104" fmla="*/ 1 w 5699"/>
                    <a:gd name="T105" fmla="*/ 1 h 1829"/>
                    <a:gd name="T106" fmla="*/ 1 w 5699"/>
                    <a:gd name="T107" fmla="*/ 1 h 1829"/>
                    <a:gd name="T108" fmla="*/ 1 w 5699"/>
                    <a:gd name="T109" fmla="*/ 1 h 1829"/>
                    <a:gd name="T110" fmla="*/ 1 w 5699"/>
                    <a:gd name="T111" fmla="*/ 1 h 1829"/>
                    <a:gd name="T112" fmla="*/ 1 w 5699"/>
                    <a:gd name="T113" fmla="*/ 1 h 1829"/>
                    <a:gd name="T114" fmla="*/ 1 w 5699"/>
                    <a:gd name="T115" fmla="*/ 1 h 182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99"/>
                    <a:gd name="T175" fmla="*/ 0 h 1829"/>
                    <a:gd name="T176" fmla="*/ 5699 w 5699"/>
                    <a:gd name="T177" fmla="*/ 1829 h 1829"/>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99" h="1829">
                      <a:moveTo>
                        <a:pt x="0" y="1300"/>
                      </a:moveTo>
                      <a:lnTo>
                        <a:pt x="47" y="1257"/>
                      </a:lnTo>
                      <a:lnTo>
                        <a:pt x="31" y="1275"/>
                      </a:lnTo>
                      <a:lnTo>
                        <a:pt x="52" y="1280"/>
                      </a:lnTo>
                      <a:lnTo>
                        <a:pt x="47" y="1194"/>
                      </a:lnTo>
                      <a:lnTo>
                        <a:pt x="66" y="1154"/>
                      </a:lnTo>
                      <a:lnTo>
                        <a:pt x="93" y="1148"/>
                      </a:lnTo>
                      <a:lnTo>
                        <a:pt x="148" y="1186"/>
                      </a:lnTo>
                      <a:lnTo>
                        <a:pt x="161" y="1114"/>
                      </a:lnTo>
                      <a:lnTo>
                        <a:pt x="137" y="1115"/>
                      </a:lnTo>
                      <a:lnTo>
                        <a:pt x="128" y="1074"/>
                      </a:lnTo>
                      <a:lnTo>
                        <a:pt x="353" y="1037"/>
                      </a:lnTo>
                      <a:lnTo>
                        <a:pt x="298" y="1022"/>
                      </a:lnTo>
                      <a:lnTo>
                        <a:pt x="301" y="1001"/>
                      </a:lnTo>
                      <a:lnTo>
                        <a:pt x="266" y="1008"/>
                      </a:lnTo>
                      <a:lnTo>
                        <a:pt x="394" y="901"/>
                      </a:lnTo>
                      <a:lnTo>
                        <a:pt x="338" y="787"/>
                      </a:lnTo>
                      <a:lnTo>
                        <a:pt x="352" y="733"/>
                      </a:lnTo>
                      <a:lnTo>
                        <a:pt x="317" y="673"/>
                      </a:lnTo>
                      <a:lnTo>
                        <a:pt x="345" y="638"/>
                      </a:lnTo>
                      <a:lnTo>
                        <a:pt x="298" y="591"/>
                      </a:lnTo>
                      <a:lnTo>
                        <a:pt x="312" y="553"/>
                      </a:lnTo>
                      <a:lnTo>
                        <a:pt x="374" y="509"/>
                      </a:lnTo>
                      <a:lnTo>
                        <a:pt x="408" y="503"/>
                      </a:lnTo>
                      <a:lnTo>
                        <a:pt x="451" y="513"/>
                      </a:lnTo>
                      <a:lnTo>
                        <a:pt x="413" y="523"/>
                      </a:lnTo>
                      <a:lnTo>
                        <a:pt x="442" y="539"/>
                      </a:lnTo>
                      <a:lnTo>
                        <a:pt x="541" y="545"/>
                      </a:lnTo>
                      <a:lnTo>
                        <a:pt x="716" y="637"/>
                      </a:lnTo>
                      <a:lnTo>
                        <a:pt x="720" y="681"/>
                      </a:lnTo>
                      <a:lnTo>
                        <a:pt x="644" y="721"/>
                      </a:lnTo>
                      <a:lnTo>
                        <a:pt x="409" y="666"/>
                      </a:lnTo>
                      <a:lnTo>
                        <a:pt x="506" y="732"/>
                      </a:lnTo>
                      <a:lnTo>
                        <a:pt x="503" y="807"/>
                      </a:lnTo>
                      <a:lnTo>
                        <a:pt x="598" y="844"/>
                      </a:lnTo>
                      <a:lnTo>
                        <a:pt x="622" y="838"/>
                      </a:lnTo>
                      <a:lnTo>
                        <a:pt x="610" y="807"/>
                      </a:lnTo>
                      <a:lnTo>
                        <a:pt x="566" y="795"/>
                      </a:lnTo>
                      <a:lnTo>
                        <a:pt x="577" y="769"/>
                      </a:lnTo>
                      <a:lnTo>
                        <a:pt x="620" y="798"/>
                      </a:lnTo>
                      <a:lnTo>
                        <a:pt x="712" y="807"/>
                      </a:lnTo>
                      <a:lnTo>
                        <a:pt x="672" y="747"/>
                      </a:lnTo>
                      <a:lnTo>
                        <a:pt x="757" y="696"/>
                      </a:lnTo>
                      <a:lnTo>
                        <a:pt x="819" y="732"/>
                      </a:lnTo>
                      <a:lnTo>
                        <a:pt x="817" y="595"/>
                      </a:lnTo>
                      <a:lnTo>
                        <a:pt x="791" y="575"/>
                      </a:lnTo>
                      <a:lnTo>
                        <a:pt x="894" y="605"/>
                      </a:lnTo>
                      <a:lnTo>
                        <a:pt x="901" y="622"/>
                      </a:lnTo>
                      <a:lnTo>
                        <a:pt x="846" y="645"/>
                      </a:lnTo>
                      <a:lnTo>
                        <a:pt x="901" y="689"/>
                      </a:lnTo>
                      <a:lnTo>
                        <a:pt x="948" y="638"/>
                      </a:lnTo>
                      <a:lnTo>
                        <a:pt x="1140" y="558"/>
                      </a:lnTo>
                      <a:lnTo>
                        <a:pt x="1169" y="554"/>
                      </a:lnTo>
                      <a:lnTo>
                        <a:pt x="1140" y="568"/>
                      </a:lnTo>
                      <a:lnTo>
                        <a:pt x="1172" y="607"/>
                      </a:lnTo>
                      <a:lnTo>
                        <a:pt x="1311" y="554"/>
                      </a:lnTo>
                      <a:lnTo>
                        <a:pt x="1342" y="593"/>
                      </a:lnTo>
                      <a:lnTo>
                        <a:pt x="1375" y="564"/>
                      </a:lnTo>
                      <a:lnTo>
                        <a:pt x="1359" y="520"/>
                      </a:lnTo>
                      <a:lnTo>
                        <a:pt x="1378" y="506"/>
                      </a:lnTo>
                      <a:lnTo>
                        <a:pt x="1484" y="527"/>
                      </a:lnTo>
                      <a:lnTo>
                        <a:pt x="1624" y="604"/>
                      </a:lnTo>
                      <a:lnTo>
                        <a:pt x="1652" y="567"/>
                      </a:lnTo>
                      <a:lnTo>
                        <a:pt x="1621" y="528"/>
                      </a:lnTo>
                      <a:lnTo>
                        <a:pt x="1579" y="517"/>
                      </a:lnTo>
                      <a:lnTo>
                        <a:pt x="1595" y="457"/>
                      </a:lnTo>
                      <a:lnTo>
                        <a:pt x="1566" y="448"/>
                      </a:lnTo>
                      <a:lnTo>
                        <a:pt x="1576" y="421"/>
                      </a:lnTo>
                      <a:lnTo>
                        <a:pt x="1627" y="391"/>
                      </a:lnTo>
                      <a:lnTo>
                        <a:pt x="1660" y="318"/>
                      </a:lnTo>
                      <a:lnTo>
                        <a:pt x="1733" y="319"/>
                      </a:lnTo>
                      <a:lnTo>
                        <a:pt x="1767" y="330"/>
                      </a:lnTo>
                      <a:lnTo>
                        <a:pt x="1741" y="407"/>
                      </a:lnTo>
                      <a:lnTo>
                        <a:pt x="1771" y="446"/>
                      </a:lnTo>
                      <a:lnTo>
                        <a:pt x="1762" y="553"/>
                      </a:lnTo>
                      <a:lnTo>
                        <a:pt x="1797" y="590"/>
                      </a:lnTo>
                      <a:lnTo>
                        <a:pt x="1784" y="629"/>
                      </a:lnTo>
                      <a:lnTo>
                        <a:pt x="1729" y="659"/>
                      </a:lnTo>
                      <a:lnTo>
                        <a:pt x="1747" y="673"/>
                      </a:lnTo>
                      <a:lnTo>
                        <a:pt x="1674" y="688"/>
                      </a:lnTo>
                      <a:lnTo>
                        <a:pt x="1751" y="714"/>
                      </a:lnTo>
                      <a:lnTo>
                        <a:pt x="1837" y="629"/>
                      </a:lnTo>
                      <a:lnTo>
                        <a:pt x="1828" y="575"/>
                      </a:lnTo>
                      <a:lnTo>
                        <a:pt x="1858" y="567"/>
                      </a:lnTo>
                      <a:lnTo>
                        <a:pt x="1903" y="557"/>
                      </a:lnTo>
                      <a:lnTo>
                        <a:pt x="1925" y="587"/>
                      </a:lnTo>
                      <a:lnTo>
                        <a:pt x="1922" y="627"/>
                      </a:lnTo>
                      <a:lnTo>
                        <a:pt x="1979" y="640"/>
                      </a:lnTo>
                      <a:lnTo>
                        <a:pt x="1935" y="626"/>
                      </a:lnTo>
                      <a:lnTo>
                        <a:pt x="1954" y="602"/>
                      </a:lnTo>
                      <a:lnTo>
                        <a:pt x="1938" y="567"/>
                      </a:lnTo>
                      <a:lnTo>
                        <a:pt x="1807" y="543"/>
                      </a:lnTo>
                      <a:lnTo>
                        <a:pt x="1828" y="459"/>
                      </a:lnTo>
                      <a:lnTo>
                        <a:pt x="1782" y="407"/>
                      </a:lnTo>
                      <a:lnTo>
                        <a:pt x="1847" y="359"/>
                      </a:lnTo>
                      <a:lnTo>
                        <a:pt x="1839" y="325"/>
                      </a:lnTo>
                      <a:lnTo>
                        <a:pt x="1869" y="344"/>
                      </a:lnTo>
                      <a:lnTo>
                        <a:pt x="1854" y="411"/>
                      </a:lnTo>
                      <a:lnTo>
                        <a:pt x="1874" y="421"/>
                      </a:lnTo>
                      <a:lnTo>
                        <a:pt x="1962" y="441"/>
                      </a:lnTo>
                      <a:lnTo>
                        <a:pt x="1883" y="385"/>
                      </a:lnTo>
                      <a:lnTo>
                        <a:pt x="1943" y="388"/>
                      </a:lnTo>
                      <a:lnTo>
                        <a:pt x="1929" y="366"/>
                      </a:lnTo>
                      <a:lnTo>
                        <a:pt x="1962" y="355"/>
                      </a:lnTo>
                      <a:lnTo>
                        <a:pt x="2123" y="399"/>
                      </a:lnTo>
                      <a:lnTo>
                        <a:pt x="2093" y="428"/>
                      </a:lnTo>
                      <a:lnTo>
                        <a:pt x="2089" y="472"/>
                      </a:lnTo>
                      <a:lnTo>
                        <a:pt x="2122" y="496"/>
                      </a:lnTo>
                      <a:lnTo>
                        <a:pt x="2138" y="399"/>
                      </a:lnTo>
                      <a:lnTo>
                        <a:pt x="2050" y="349"/>
                      </a:lnTo>
                      <a:lnTo>
                        <a:pt x="2032" y="282"/>
                      </a:lnTo>
                      <a:lnTo>
                        <a:pt x="2237" y="257"/>
                      </a:lnTo>
                      <a:lnTo>
                        <a:pt x="2211" y="195"/>
                      </a:lnTo>
                      <a:lnTo>
                        <a:pt x="2237" y="209"/>
                      </a:lnTo>
                      <a:lnTo>
                        <a:pt x="2271" y="184"/>
                      </a:lnTo>
                      <a:lnTo>
                        <a:pt x="2247" y="177"/>
                      </a:lnTo>
                      <a:lnTo>
                        <a:pt x="2461" y="126"/>
                      </a:lnTo>
                      <a:lnTo>
                        <a:pt x="2443" y="113"/>
                      </a:lnTo>
                      <a:lnTo>
                        <a:pt x="2542" y="107"/>
                      </a:lnTo>
                      <a:lnTo>
                        <a:pt x="2541" y="124"/>
                      </a:lnTo>
                      <a:lnTo>
                        <a:pt x="2566" y="124"/>
                      </a:lnTo>
                      <a:lnTo>
                        <a:pt x="2637" y="102"/>
                      </a:lnTo>
                      <a:lnTo>
                        <a:pt x="2671" y="114"/>
                      </a:lnTo>
                      <a:lnTo>
                        <a:pt x="2640" y="87"/>
                      </a:lnTo>
                      <a:lnTo>
                        <a:pt x="2721" y="81"/>
                      </a:lnTo>
                      <a:lnTo>
                        <a:pt x="2724" y="47"/>
                      </a:lnTo>
                      <a:lnTo>
                        <a:pt x="2820" y="0"/>
                      </a:lnTo>
                      <a:lnTo>
                        <a:pt x="2886" y="27"/>
                      </a:lnTo>
                      <a:lnTo>
                        <a:pt x="2829" y="52"/>
                      </a:lnTo>
                      <a:lnTo>
                        <a:pt x="2926" y="51"/>
                      </a:lnTo>
                      <a:lnTo>
                        <a:pt x="2887" y="87"/>
                      </a:lnTo>
                      <a:lnTo>
                        <a:pt x="3052" y="69"/>
                      </a:lnTo>
                      <a:lnTo>
                        <a:pt x="3143" y="124"/>
                      </a:lnTo>
                      <a:lnTo>
                        <a:pt x="3129" y="144"/>
                      </a:lnTo>
                      <a:lnTo>
                        <a:pt x="3099" y="132"/>
                      </a:lnTo>
                      <a:lnTo>
                        <a:pt x="3140" y="150"/>
                      </a:lnTo>
                      <a:lnTo>
                        <a:pt x="3119" y="183"/>
                      </a:lnTo>
                      <a:lnTo>
                        <a:pt x="2820" y="342"/>
                      </a:lnTo>
                      <a:lnTo>
                        <a:pt x="2915" y="322"/>
                      </a:lnTo>
                      <a:lnTo>
                        <a:pt x="2895" y="301"/>
                      </a:lnTo>
                      <a:lnTo>
                        <a:pt x="3047" y="271"/>
                      </a:lnTo>
                      <a:lnTo>
                        <a:pt x="3005" y="276"/>
                      </a:lnTo>
                      <a:lnTo>
                        <a:pt x="3015" y="249"/>
                      </a:lnTo>
                      <a:lnTo>
                        <a:pt x="3099" y="271"/>
                      </a:lnTo>
                      <a:lnTo>
                        <a:pt x="3111" y="249"/>
                      </a:lnTo>
                      <a:lnTo>
                        <a:pt x="3130" y="301"/>
                      </a:lnTo>
                      <a:lnTo>
                        <a:pt x="3172" y="304"/>
                      </a:lnTo>
                      <a:lnTo>
                        <a:pt x="3133" y="283"/>
                      </a:lnTo>
                      <a:lnTo>
                        <a:pt x="3213" y="270"/>
                      </a:lnTo>
                      <a:lnTo>
                        <a:pt x="3309" y="282"/>
                      </a:lnTo>
                      <a:lnTo>
                        <a:pt x="3301" y="301"/>
                      </a:lnTo>
                      <a:lnTo>
                        <a:pt x="3385" y="318"/>
                      </a:lnTo>
                      <a:lnTo>
                        <a:pt x="3458" y="314"/>
                      </a:lnTo>
                      <a:lnTo>
                        <a:pt x="3460" y="264"/>
                      </a:lnTo>
                      <a:lnTo>
                        <a:pt x="3482" y="259"/>
                      </a:lnTo>
                      <a:lnTo>
                        <a:pt x="3668" y="314"/>
                      </a:lnTo>
                      <a:lnTo>
                        <a:pt x="3642" y="399"/>
                      </a:lnTo>
                      <a:lnTo>
                        <a:pt x="3728" y="457"/>
                      </a:lnTo>
                      <a:lnTo>
                        <a:pt x="3775" y="377"/>
                      </a:lnTo>
                      <a:lnTo>
                        <a:pt x="3807" y="411"/>
                      </a:lnTo>
                      <a:lnTo>
                        <a:pt x="3868" y="399"/>
                      </a:lnTo>
                      <a:lnTo>
                        <a:pt x="3951" y="428"/>
                      </a:lnTo>
                      <a:lnTo>
                        <a:pt x="4018" y="410"/>
                      </a:lnTo>
                      <a:lnTo>
                        <a:pt x="4011" y="377"/>
                      </a:lnTo>
                      <a:lnTo>
                        <a:pt x="4057" y="323"/>
                      </a:lnTo>
                      <a:lnTo>
                        <a:pt x="4334" y="362"/>
                      </a:lnTo>
                      <a:lnTo>
                        <a:pt x="4352" y="386"/>
                      </a:lnTo>
                      <a:lnTo>
                        <a:pt x="4318" y="397"/>
                      </a:lnTo>
                      <a:lnTo>
                        <a:pt x="4407" y="410"/>
                      </a:lnTo>
                      <a:lnTo>
                        <a:pt x="4440" y="448"/>
                      </a:lnTo>
                      <a:lnTo>
                        <a:pt x="4649" y="441"/>
                      </a:lnTo>
                      <a:lnTo>
                        <a:pt x="4687" y="472"/>
                      </a:lnTo>
                      <a:lnTo>
                        <a:pt x="4674" y="509"/>
                      </a:lnTo>
                      <a:lnTo>
                        <a:pt x="4734" y="535"/>
                      </a:lnTo>
                      <a:lnTo>
                        <a:pt x="4766" y="514"/>
                      </a:lnTo>
                      <a:lnTo>
                        <a:pt x="4914" y="529"/>
                      </a:lnTo>
                      <a:lnTo>
                        <a:pt x="4944" y="509"/>
                      </a:lnTo>
                      <a:lnTo>
                        <a:pt x="4962" y="542"/>
                      </a:lnTo>
                      <a:lnTo>
                        <a:pt x="5024" y="569"/>
                      </a:lnTo>
                      <a:lnTo>
                        <a:pt x="5053" y="550"/>
                      </a:lnTo>
                      <a:lnTo>
                        <a:pt x="5023" y="520"/>
                      </a:lnTo>
                      <a:lnTo>
                        <a:pt x="5041" y="496"/>
                      </a:lnTo>
                      <a:lnTo>
                        <a:pt x="5300" y="534"/>
                      </a:lnTo>
                      <a:lnTo>
                        <a:pt x="5472" y="630"/>
                      </a:lnTo>
                      <a:lnTo>
                        <a:pt x="5508" y="630"/>
                      </a:lnTo>
                      <a:lnTo>
                        <a:pt x="5552" y="708"/>
                      </a:lnTo>
                      <a:lnTo>
                        <a:pt x="5534" y="666"/>
                      </a:lnTo>
                      <a:lnTo>
                        <a:pt x="5562" y="662"/>
                      </a:lnTo>
                      <a:lnTo>
                        <a:pt x="5579" y="678"/>
                      </a:lnTo>
                      <a:lnTo>
                        <a:pt x="5629" y="673"/>
                      </a:lnTo>
                      <a:lnTo>
                        <a:pt x="5699" y="718"/>
                      </a:lnTo>
                      <a:lnTo>
                        <a:pt x="5599" y="767"/>
                      </a:lnTo>
                      <a:lnTo>
                        <a:pt x="5619" y="781"/>
                      </a:lnTo>
                      <a:lnTo>
                        <a:pt x="5584" y="791"/>
                      </a:lnTo>
                      <a:lnTo>
                        <a:pt x="5612" y="809"/>
                      </a:lnTo>
                      <a:lnTo>
                        <a:pt x="5552" y="810"/>
                      </a:lnTo>
                      <a:lnTo>
                        <a:pt x="5533" y="781"/>
                      </a:lnTo>
                      <a:lnTo>
                        <a:pt x="5509" y="792"/>
                      </a:lnTo>
                      <a:lnTo>
                        <a:pt x="5471" y="747"/>
                      </a:lnTo>
                      <a:lnTo>
                        <a:pt x="5403" y="748"/>
                      </a:lnTo>
                      <a:lnTo>
                        <a:pt x="5386" y="721"/>
                      </a:lnTo>
                      <a:lnTo>
                        <a:pt x="5402" y="708"/>
                      </a:lnTo>
                      <a:lnTo>
                        <a:pt x="5376" y="708"/>
                      </a:lnTo>
                      <a:lnTo>
                        <a:pt x="5354" y="718"/>
                      </a:lnTo>
                      <a:lnTo>
                        <a:pt x="5379" y="750"/>
                      </a:lnTo>
                      <a:lnTo>
                        <a:pt x="5364" y="769"/>
                      </a:lnTo>
                      <a:lnTo>
                        <a:pt x="5306" y="800"/>
                      </a:lnTo>
                      <a:lnTo>
                        <a:pt x="5267" y="794"/>
                      </a:lnTo>
                      <a:lnTo>
                        <a:pt x="5332" y="883"/>
                      </a:lnTo>
                      <a:lnTo>
                        <a:pt x="5321" y="917"/>
                      </a:lnTo>
                      <a:lnTo>
                        <a:pt x="5255" y="893"/>
                      </a:lnTo>
                      <a:lnTo>
                        <a:pt x="5258" y="906"/>
                      </a:lnTo>
                      <a:lnTo>
                        <a:pt x="5137" y="950"/>
                      </a:lnTo>
                      <a:lnTo>
                        <a:pt x="5030" y="1041"/>
                      </a:lnTo>
                      <a:lnTo>
                        <a:pt x="4957" y="1007"/>
                      </a:lnTo>
                      <a:lnTo>
                        <a:pt x="4890" y="1044"/>
                      </a:lnTo>
                      <a:lnTo>
                        <a:pt x="4890" y="1011"/>
                      </a:lnTo>
                      <a:lnTo>
                        <a:pt x="4851" y="1045"/>
                      </a:lnTo>
                      <a:lnTo>
                        <a:pt x="4804" y="1043"/>
                      </a:lnTo>
                      <a:lnTo>
                        <a:pt x="4753" y="1131"/>
                      </a:lnTo>
                      <a:lnTo>
                        <a:pt x="4793" y="1148"/>
                      </a:lnTo>
                      <a:lnTo>
                        <a:pt x="4777" y="1177"/>
                      </a:lnTo>
                      <a:lnTo>
                        <a:pt x="4796" y="1223"/>
                      </a:lnTo>
                      <a:lnTo>
                        <a:pt x="4762" y="1214"/>
                      </a:lnTo>
                      <a:lnTo>
                        <a:pt x="4741" y="1254"/>
                      </a:lnTo>
                      <a:lnTo>
                        <a:pt x="4755" y="1290"/>
                      </a:lnTo>
                      <a:lnTo>
                        <a:pt x="4682" y="1320"/>
                      </a:lnTo>
                      <a:lnTo>
                        <a:pt x="4687" y="1360"/>
                      </a:lnTo>
                      <a:lnTo>
                        <a:pt x="4639" y="1371"/>
                      </a:lnTo>
                      <a:lnTo>
                        <a:pt x="4626" y="1415"/>
                      </a:lnTo>
                      <a:lnTo>
                        <a:pt x="4582" y="1462"/>
                      </a:lnTo>
                      <a:lnTo>
                        <a:pt x="4545" y="1290"/>
                      </a:lnTo>
                      <a:lnTo>
                        <a:pt x="4549" y="1198"/>
                      </a:lnTo>
                      <a:lnTo>
                        <a:pt x="4582" y="1143"/>
                      </a:lnTo>
                      <a:lnTo>
                        <a:pt x="4633" y="1132"/>
                      </a:lnTo>
                      <a:lnTo>
                        <a:pt x="4751" y="1016"/>
                      </a:lnTo>
                      <a:lnTo>
                        <a:pt x="4807" y="993"/>
                      </a:lnTo>
                      <a:lnTo>
                        <a:pt x="4826" y="926"/>
                      </a:lnTo>
                      <a:lnTo>
                        <a:pt x="4851" y="908"/>
                      </a:lnTo>
                      <a:lnTo>
                        <a:pt x="4806" y="906"/>
                      </a:lnTo>
                      <a:lnTo>
                        <a:pt x="4792" y="961"/>
                      </a:lnTo>
                      <a:lnTo>
                        <a:pt x="4692" y="1008"/>
                      </a:lnTo>
                      <a:lnTo>
                        <a:pt x="4701" y="938"/>
                      </a:lnTo>
                      <a:lnTo>
                        <a:pt x="4594" y="953"/>
                      </a:lnTo>
                      <a:lnTo>
                        <a:pt x="4492" y="1044"/>
                      </a:lnTo>
                      <a:lnTo>
                        <a:pt x="4512" y="1081"/>
                      </a:lnTo>
                      <a:lnTo>
                        <a:pt x="4403" y="1093"/>
                      </a:lnTo>
                      <a:lnTo>
                        <a:pt x="4389" y="1082"/>
                      </a:lnTo>
                      <a:lnTo>
                        <a:pt x="4426" y="1077"/>
                      </a:lnTo>
                      <a:lnTo>
                        <a:pt x="4336" y="1054"/>
                      </a:lnTo>
                      <a:lnTo>
                        <a:pt x="4311" y="1077"/>
                      </a:lnTo>
                      <a:lnTo>
                        <a:pt x="4106" y="1078"/>
                      </a:lnTo>
                      <a:lnTo>
                        <a:pt x="3862" y="1287"/>
                      </a:lnTo>
                      <a:lnTo>
                        <a:pt x="3911" y="1296"/>
                      </a:lnTo>
                      <a:lnTo>
                        <a:pt x="3911" y="1333"/>
                      </a:lnTo>
                      <a:lnTo>
                        <a:pt x="3940" y="1309"/>
                      </a:lnTo>
                      <a:lnTo>
                        <a:pt x="3932" y="1341"/>
                      </a:lnTo>
                      <a:lnTo>
                        <a:pt x="3969" y="1323"/>
                      </a:lnTo>
                      <a:lnTo>
                        <a:pt x="3965" y="1344"/>
                      </a:lnTo>
                      <a:lnTo>
                        <a:pt x="3976" y="1309"/>
                      </a:lnTo>
                      <a:lnTo>
                        <a:pt x="4011" y="1311"/>
                      </a:lnTo>
                      <a:lnTo>
                        <a:pt x="4064" y="1355"/>
                      </a:lnTo>
                      <a:lnTo>
                        <a:pt x="4017" y="1359"/>
                      </a:lnTo>
                      <a:lnTo>
                        <a:pt x="4058" y="1373"/>
                      </a:lnTo>
                      <a:lnTo>
                        <a:pt x="4068" y="1403"/>
                      </a:lnTo>
                      <a:lnTo>
                        <a:pt x="4035" y="1469"/>
                      </a:lnTo>
                      <a:lnTo>
                        <a:pt x="4028" y="1568"/>
                      </a:lnTo>
                      <a:lnTo>
                        <a:pt x="3856" y="1776"/>
                      </a:lnTo>
                      <a:lnTo>
                        <a:pt x="3796" y="1803"/>
                      </a:lnTo>
                      <a:lnTo>
                        <a:pt x="3749" y="1776"/>
                      </a:lnTo>
                      <a:lnTo>
                        <a:pt x="3708" y="1816"/>
                      </a:lnTo>
                      <a:lnTo>
                        <a:pt x="3703" y="1807"/>
                      </a:lnTo>
                      <a:lnTo>
                        <a:pt x="3727" y="1776"/>
                      </a:lnTo>
                      <a:lnTo>
                        <a:pt x="3717" y="1723"/>
                      </a:lnTo>
                      <a:lnTo>
                        <a:pt x="3790" y="1703"/>
                      </a:lnTo>
                      <a:lnTo>
                        <a:pt x="3848" y="1564"/>
                      </a:lnTo>
                      <a:lnTo>
                        <a:pt x="3723" y="1597"/>
                      </a:lnTo>
                      <a:lnTo>
                        <a:pt x="3703" y="1545"/>
                      </a:lnTo>
                      <a:lnTo>
                        <a:pt x="3602" y="1513"/>
                      </a:lnTo>
                      <a:lnTo>
                        <a:pt x="3540" y="1370"/>
                      </a:lnTo>
                      <a:lnTo>
                        <a:pt x="3473" y="1344"/>
                      </a:lnTo>
                      <a:lnTo>
                        <a:pt x="3352" y="1382"/>
                      </a:lnTo>
                      <a:lnTo>
                        <a:pt x="3375" y="1413"/>
                      </a:lnTo>
                      <a:lnTo>
                        <a:pt x="3326" y="1498"/>
                      </a:lnTo>
                      <a:lnTo>
                        <a:pt x="3277" y="1520"/>
                      </a:lnTo>
                      <a:lnTo>
                        <a:pt x="3227" y="1501"/>
                      </a:lnTo>
                      <a:lnTo>
                        <a:pt x="3166" y="1491"/>
                      </a:lnTo>
                      <a:lnTo>
                        <a:pt x="3008" y="1529"/>
                      </a:lnTo>
                      <a:lnTo>
                        <a:pt x="2869" y="1473"/>
                      </a:lnTo>
                      <a:lnTo>
                        <a:pt x="2780" y="1481"/>
                      </a:lnTo>
                      <a:lnTo>
                        <a:pt x="2747" y="1435"/>
                      </a:lnTo>
                      <a:lnTo>
                        <a:pt x="2659" y="1403"/>
                      </a:lnTo>
                      <a:lnTo>
                        <a:pt x="2612" y="1436"/>
                      </a:lnTo>
                      <a:lnTo>
                        <a:pt x="2610" y="1499"/>
                      </a:lnTo>
                      <a:lnTo>
                        <a:pt x="2409" y="1472"/>
                      </a:lnTo>
                      <a:lnTo>
                        <a:pt x="2303" y="1529"/>
                      </a:lnTo>
                      <a:lnTo>
                        <a:pt x="2247" y="1553"/>
                      </a:lnTo>
                      <a:lnTo>
                        <a:pt x="2175" y="1507"/>
                      </a:lnTo>
                      <a:lnTo>
                        <a:pt x="2130" y="1532"/>
                      </a:lnTo>
                      <a:lnTo>
                        <a:pt x="2045" y="1501"/>
                      </a:lnTo>
                      <a:lnTo>
                        <a:pt x="2013" y="1498"/>
                      </a:lnTo>
                      <a:lnTo>
                        <a:pt x="1988" y="1448"/>
                      </a:lnTo>
                      <a:lnTo>
                        <a:pt x="1943" y="1448"/>
                      </a:lnTo>
                      <a:lnTo>
                        <a:pt x="1924" y="1457"/>
                      </a:lnTo>
                      <a:lnTo>
                        <a:pt x="1888" y="1419"/>
                      </a:lnTo>
                      <a:lnTo>
                        <a:pt x="1863" y="1429"/>
                      </a:lnTo>
                      <a:lnTo>
                        <a:pt x="1840" y="1441"/>
                      </a:lnTo>
                      <a:lnTo>
                        <a:pt x="1747" y="1363"/>
                      </a:lnTo>
                      <a:lnTo>
                        <a:pt x="1719" y="1356"/>
                      </a:lnTo>
                      <a:lnTo>
                        <a:pt x="1656" y="1297"/>
                      </a:lnTo>
                      <a:lnTo>
                        <a:pt x="1597" y="1333"/>
                      </a:lnTo>
                      <a:lnTo>
                        <a:pt x="1586" y="1308"/>
                      </a:lnTo>
                      <a:lnTo>
                        <a:pt x="1498" y="1305"/>
                      </a:lnTo>
                      <a:lnTo>
                        <a:pt x="1465" y="1261"/>
                      </a:lnTo>
                      <a:lnTo>
                        <a:pt x="1418" y="1265"/>
                      </a:lnTo>
                      <a:lnTo>
                        <a:pt x="1402" y="1283"/>
                      </a:lnTo>
                      <a:lnTo>
                        <a:pt x="1342" y="1294"/>
                      </a:lnTo>
                      <a:lnTo>
                        <a:pt x="1326" y="1283"/>
                      </a:lnTo>
                      <a:lnTo>
                        <a:pt x="1304" y="1316"/>
                      </a:lnTo>
                      <a:lnTo>
                        <a:pt x="1286" y="1308"/>
                      </a:lnTo>
                      <a:lnTo>
                        <a:pt x="1216" y="1318"/>
                      </a:lnTo>
                      <a:lnTo>
                        <a:pt x="1193" y="1308"/>
                      </a:lnTo>
                      <a:lnTo>
                        <a:pt x="1184" y="1318"/>
                      </a:lnTo>
                      <a:lnTo>
                        <a:pt x="1220" y="1356"/>
                      </a:lnTo>
                      <a:lnTo>
                        <a:pt x="1195" y="1378"/>
                      </a:lnTo>
                      <a:lnTo>
                        <a:pt x="1198" y="1410"/>
                      </a:lnTo>
                      <a:lnTo>
                        <a:pt x="1238" y="1411"/>
                      </a:lnTo>
                      <a:lnTo>
                        <a:pt x="1255" y="1441"/>
                      </a:lnTo>
                      <a:lnTo>
                        <a:pt x="1245" y="1463"/>
                      </a:lnTo>
                      <a:lnTo>
                        <a:pt x="1216" y="1448"/>
                      </a:lnTo>
                      <a:lnTo>
                        <a:pt x="1193" y="1462"/>
                      </a:lnTo>
                      <a:lnTo>
                        <a:pt x="1171" y="1450"/>
                      </a:lnTo>
                      <a:lnTo>
                        <a:pt x="1160" y="1429"/>
                      </a:lnTo>
                      <a:lnTo>
                        <a:pt x="1132" y="1441"/>
                      </a:lnTo>
                      <a:lnTo>
                        <a:pt x="1112" y="1430"/>
                      </a:lnTo>
                      <a:lnTo>
                        <a:pt x="1090" y="1448"/>
                      </a:lnTo>
                      <a:lnTo>
                        <a:pt x="1058" y="1452"/>
                      </a:lnTo>
                      <a:lnTo>
                        <a:pt x="1040" y="1429"/>
                      </a:lnTo>
                      <a:lnTo>
                        <a:pt x="932" y="1422"/>
                      </a:lnTo>
                      <a:lnTo>
                        <a:pt x="919" y="1435"/>
                      </a:lnTo>
                      <a:lnTo>
                        <a:pt x="908" y="1433"/>
                      </a:lnTo>
                      <a:lnTo>
                        <a:pt x="893" y="1458"/>
                      </a:lnTo>
                      <a:lnTo>
                        <a:pt x="894" y="1483"/>
                      </a:lnTo>
                      <a:lnTo>
                        <a:pt x="882" y="1484"/>
                      </a:lnTo>
                      <a:lnTo>
                        <a:pt x="872" y="1463"/>
                      </a:lnTo>
                      <a:lnTo>
                        <a:pt x="857" y="1466"/>
                      </a:lnTo>
                      <a:lnTo>
                        <a:pt x="853" y="1536"/>
                      </a:lnTo>
                      <a:lnTo>
                        <a:pt x="870" y="1558"/>
                      </a:lnTo>
                      <a:lnTo>
                        <a:pt x="870" y="1578"/>
                      </a:lnTo>
                      <a:lnTo>
                        <a:pt x="888" y="1575"/>
                      </a:lnTo>
                      <a:lnTo>
                        <a:pt x="908" y="1565"/>
                      </a:lnTo>
                      <a:lnTo>
                        <a:pt x="929" y="1597"/>
                      </a:lnTo>
                      <a:lnTo>
                        <a:pt x="944" y="1617"/>
                      </a:lnTo>
                      <a:lnTo>
                        <a:pt x="959" y="1644"/>
                      </a:lnTo>
                      <a:lnTo>
                        <a:pt x="982" y="1651"/>
                      </a:lnTo>
                      <a:lnTo>
                        <a:pt x="952" y="1671"/>
                      </a:lnTo>
                      <a:lnTo>
                        <a:pt x="930" y="1652"/>
                      </a:lnTo>
                      <a:lnTo>
                        <a:pt x="907" y="1732"/>
                      </a:lnTo>
                      <a:lnTo>
                        <a:pt x="934" y="1752"/>
                      </a:lnTo>
                      <a:lnTo>
                        <a:pt x="958" y="1829"/>
                      </a:lnTo>
                      <a:lnTo>
                        <a:pt x="936" y="1816"/>
                      </a:lnTo>
                      <a:lnTo>
                        <a:pt x="914" y="1807"/>
                      </a:lnTo>
                      <a:lnTo>
                        <a:pt x="888" y="1803"/>
                      </a:lnTo>
                      <a:lnTo>
                        <a:pt x="870" y="1795"/>
                      </a:lnTo>
                      <a:lnTo>
                        <a:pt x="852" y="1792"/>
                      </a:lnTo>
                      <a:lnTo>
                        <a:pt x="837" y="1765"/>
                      </a:lnTo>
                      <a:lnTo>
                        <a:pt x="802" y="1781"/>
                      </a:lnTo>
                      <a:lnTo>
                        <a:pt x="771" y="1780"/>
                      </a:lnTo>
                      <a:lnTo>
                        <a:pt x="750" y="1756"/>
                      </a:lnTo>
                      <a:lnTo>
                        <a:pt x="697" y="1734"/>
                      </a:lnTo>
                      <a:lnTo>
                        <a:pt x="643" y="1739"/>
                      </a:lnTo>
                      <a:lnTo>
                        <a:pt x="587" y="1700"/>
                      </a:lnTo>
                      <a:lnTo>
                        <a:pt x="631" y="1664"/>
                      </a:lnTo>
                      <a:lnTo>
                        <a:pt x="636" y="1634"/>
                      </a:lnTo>
                      <a:lnTo>
                        <a:pt x="635" y="1604"/>
                      </a:lnTo>
                      <a:lnTo>
                        <a:pt x="639" y="1580"/>
                      </a:lnTo>
                      <a:lnTo>
                        <a:pt x="668" y="1572"/>
                      </a:lnTo>
                      <a:lnTo>
                        <a:pt x="653" y="1525"/>
                      </a:lnTo>
                      <a:lnTo>
                        <a:pt x="618" y="1513"/>
                      </a:lnTo>
                      <a:lnTo>
                        <a:pt x="602" y="1505"/>
                      </a:lnTo>
                      <a:lnTo>
                        <a:pt x="578" y="1512"/>
                      </a:lnTo>
                      <a:lnTo>
                        <a:pt x="529" y="1499"/>
                      </a:lnTo>
                      <a:lnTo>
                        <a:pt x="489" y="1454"/>
                      </a:lnTo>
                      <a:lnTo>
                        <a:pt x="457" y="1440"/>
                      </a:lnTo>
                      <a:lnTo>
                        <a:pt x="442" y="1397"/>
                      </a:lnTo>
                      <a:lnTo>
                        <a:pt x="413" y="1393"/>
                      </a:lnTo>
                      <a:lnTo>
                        <a:pt x="387" y="1407"/>
                      </a:lnTo>
                      <a:lnTo>
                        <a:pt x="369" y="1415"/>
                      </a:lnTo>
                      <a:lnTo>
                        <a:pt x="361" y="1396"/>
                      </a:lnTo>
                      <a:lnTo>
                        <a:pt x="347" y="1377"/>
                      </a:lnTo>
                      <a:lnTo>
                        <a:pt x="386" y="1374"/>
                      </a:lnTo>
                      <a:lnTo>
                        <a:pt x="383" y="1362"/>
                      </a:lnTo>
                      <a:lnTo>
                        <a:pt x="374" y="1352"/>
                      </a:lnTo>
                      <a:lnTo>
                        <a:pt x="361" y="1342"/>
                      </a:lnTo>
                      <a:lnTo>
                        <a:pt x="341" y="1294"/>
                      </a:lnTo>
                      <a:lnTo>
                        <a:pt x="312" y="1268"/>
                      </a:lnTo>
                      <a:lnTo>
                        <a:pt x="282" y="1267"/>
                      </a:lnTo>
                      <a:lnTo>
                        <a:pt x="253" y="1267"/>
                      </a:lnTo>
                      <a:lnTo>
                        <a:pt x="231" y="1252"/>
                      </a:lnTo>
                      <a:lnTo>
                        <a:pt x="211" y="1249"/>
                      </a:lnTo>
                      <a:lnTo>
                        <a:pt x="194" y="1249"/>
                      </a:lnTo>
                      <a:lnTo>
                        <a:pt x="183" y="1261"/>
                      </a:lnTo>
                      <a:lnTo>
                        <a:pt x="162" y="1282"/>
                      </a:lnTo>
                      <a:lnTo>
                        <a:pt x="159" y="1303"/>
                      </a:lnTo>
                      <a:lnTo>
                        <a:pt x="150" y="1308"/>
                      </a:lnTo>
                      <a:lnTo>
                        <a:pt x="139" y="1341"/>
                      </a:lnTo>
                      <a:lnTo>
                        <a:pt x="130" y="1331"/>
                      </a:lnTo>
                      <a:lnTo>
                        <a:pt x="126" y="1319"/>
                      </a:lnTo>
                      <a:lnTo>
                        <a:pt x="0" y="1300"/>
                      </a:lnTo>
                      <a:close/>
                    </a:path>
                  </a:pathLst>
                </a:custGeom>
                <a:solidFill>
                  <a:srgbClr val="C0C0C0">
                    <a:alpha val="39999"/>
                  </a:srgbClr>
                </a:solidFill>
                <a:ln w="3175">
                  <a:solidFill>
                    <a:srgbClr val="C0C0C0"/>
                  </a:solidFill>
                  <a:round/>
                  <a:headEnd/>
                  <a:tailEnd/>
                </a:ln>
              </p:spPr>
              <p:txBody>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825" b="0" i="0" u="none" strike="noStrike" kern="1200" cap="none" spc="0" normalizeH="0" baseline="0" noProof="0">
                    <a:ln>
                      <a:noFill/>
                    </a:ln>
                    <a:solidFill>
                      <a:srgbClr val="000000"/>
                    </a:solidFill>
                    <a:effectLst/>
                    <a:uLnTx/>
                    <a:uFillTx/>
                    <a:latin typeface="Arial"/>
                    <a:ea typeface="+mn-ea"/>
                    <a:cs typeface="+mn-cs"/>
                  </a:endParaRPr>
                </a:p>
              </p:txBody>
            </p:sp>
            <p:sp>
              <p:nvSpPr>
                <p:cNvPr id="314" name="Rectangle 644">
                  <a:extLst>
                    <a:ext uri="{FF2B5EF4-FFF2-40B4-BE49-F238E27FC236}">
                      <a16:creationId xmlns:a16="http://schemas.microsoft.com/office/drawing/2014/main" id="{1CE346EA-2C8D-6A7C-EDC0-5764F3837704}"/>
                    </a:ext>
                  </a:extLst>
                </p:cNvPr>
                <p:cNvSpPr>
                  <a:spLocks noChangeArrowheads="1"/>
                </p:cNvSpPr>
                <p:nvPr/>
              </p:nvSpPr>
              <p:spPr bwMode="auto">
                <a:xfrm>
                  <a:off x="4912766" y="4654926"/>
                  <a:ext cx="953053" cy="176741"/>
                </a:xfrm>
                <a:prstGeom prst="rect">
                  <a:avLst/>
                </a:prstGeom>
                <a:noFill/>
                <a:ln w="9525">
                  <a:noFill/>
                  <a:miter lim="800000"/>
                  <a:headEnd/>
                  <a:tailEnd/>
                </a:ln>
              </p:spPr>
              <p:txBody>
                <a:bodyPr wrap="square" lIns="64541" tIns="32271" rIns="64541" bIns="32271">
                  <a:spAutoFit/>
                </a:bodyPr>
                <a:lstStyle/>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725" b="0" i="0" u="none" strike="noStrike" kern="1200" cap="none" spc="0" normalizeH="0" baseline="0" noProof="0">
                      <a:ln>
                        <a:noFill/>
                      </a:ln>
                      <a:solidFill>
                        <a:srgbClr val="A40000"/>
                      </a:solidFill>
                      <a:effectLst/>
                      <a:uLnTx/>
                      <a:uFillTx/>
                      <a:latin typeface="Arial"/>
                      <a:ea typeface="+mn-ea"/>
                      <a:cs typeface="+mn-cs"/>
                    </a:rPr>
                    <a:t>Australia</a:t>
                  </a:r>
                </a:p>
              </p:txBody>
            </p:sp>
            <p:sp>
              <p:nvSpPr>
                <p:cNvPr id="315" name="Rectangle 644">
                  <a:extLst>
                    <a:ext uri="{FF2B5EF4-FFF2-40B4-BE49-F238E27FC236}">
                      <a16:creationId xmlns:a16="http://schemas.microsoft.com/office/drawing/2014/main" id="{4F063291-FACA-1932-6693-2E21BD6BE771}"/>
                    </a:ext>
                  </a:extLst>
                </p:cNvPr>
                <p:cNvSpPr>
                  <a:spLocks noChangeArrowheads="1"/>
                </p:cNvSpPr>
                <p:nvPr/>
              </p:nvSpPr>
              <p:spPr bwMode="auto">
                <a:xfrm>
                  <a:off x="4670678" y="3637509"/>
                  <a:ext cx="557719" cy="176741"/>
                </a:xfrm>
                <a:prstGeom prst="rect">
                  <a:avLst/>
                </a:prstGeom>
                <a:noFill/>
                <a:ln w="9525">
                  <a:noFill/>
                  <a:miter lim="800000"/>
                  <a:headEnd/>
                  <a:tailEnd/>
                </a:ln>
              </p:spPr>
              <p:txBody>
                <a:bodyPr wrap="square" lIns="64541" tIns="32271" rIns="64541" bIns="32271">
                  <a:spAutoFit/>
                </a:bodyPr>
                <a:lstStyle/>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725" b="0" i="0" u="none" strike="noStrike" kern="1200" cap="none" spc="0" normalizeH="0" baseline="0" noProof="0" dirty="0">
                      <a:ln>
                        <a:noFill/>
                      </a:ln>
                      <a:solidFill>
                        <a:srgbClr val="A40000"/>
                      </a:solidFill>
                      <a:effectLst/>
                      <a:uLnTx/>
                      <a:uFillTx/>
                      <a:latin typeface="Arial"/>
                      <a:ea typeface="+mn-ea"/>
                      <a:cs typeface="+mn-cs"/>
                    </a:rPr>
                    <a:t>Vietnam</a:t>
                  </a:r>
                </a:p>
              </p:txBody>
            </p:sp>
            <p:sp>
              <p:nvSpPr>
                <p:cNvPr id="316" name="Rectangle 644">
                  <a:extLst>
                    <a:ext uri="{FF2B5EF4-FFF2-40B4-BE49-F238E27FC236}">
                      <a16:creationId xmlns:a16="http://schemas.microsoft.com/office/drawing/2014/main" id="{17CBB8EC-DB00-6816-6401-964CB5457504}"/>
                    </a:ext>
                  </a:extLst>
                </p:cNvPr>
                <p:cNvSpPr>
                  <a:spLocks noChangeArrowheads="1"/>
                </p:cNvSpPr>
                <p:nvPr/>
              </p:nvSpPr>
              <p:spPr bwMode="auto">
                <a:xfrm>
                  <a:off x="4156161" y="3418804"/>
                  <a:ext cx="629603" cy="176741"/>
                </a:xfrm>
                <a:prstGeom prst="rect">
                  <a:avLst/>
                </a:prstGeom>
                <a:noFill/>
                <a:ln w="9525">
                  <a:noFill/>
                  <a:miter lim="800000"/>
                  <a:headEnd/>
                  <a:tailEnd/>
                </a:ln>
              </p:spPr>
              <p:txBody>
                <a:bodyPr wrap="square" lIns="64541" tIns="32271" rIns="64541" bIns="32271">
                  <a:spAutoFit/>
                </a:bodyPr>
                <a:lstStyle/>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725" b="0" i="0" u="none" strike="noStrike" kern="1200" cap="none" spc="0" normalizeH="0" baseline="0" noProof="0">
                      <a:ln>
                        <a:noFill/>
                      </a:ln>
                      <a:solidFill>
                        <a:srgbClr val="A40000"/>
                      </a:solidFill>
                      <a:effectLst/>
                      <a:uLnTx/>
                      <a:uFillTx/>
                      <a:latin typeface="Arial"/>
                      <a:ea typeface="+mn-ea"/>
                      <a:cs typeface="+mn-cs"/>
                    </a:rPr>
                    <a:t>Myanmar</a:t>
                  </a:r>
                </a:p>
              </p:txBody>
            </p:sp>
            <p:sp>
              <p:nvSpPr>
                <p:cNvPr id="317" name="Rectangle 644">
                  <a:extLst>
                    <a:ext uri="{FF2B5EF4-FFF2-40B4-BE49-F238E27FC236}">
                      <a16:creationId xmlns:a16="http://schemas.microsoft.com/office/drawing/2014/main" id="{B6D596C2-461B-F45B-3E12-5D179258C0FE}"/>
                    </a:ext>
                  </a:extLst>
                </p:cNvPr>
                <p:cNvSpPr>
                  <a:spLocks noChangeArrowheads="1"/>
                </p:cNvSpPr>
                <p:nvPr/>
              </p:nvSpPr>
              <p:spPr bwMode="auto">
                <a:xfrm>
                  <a:off x="4617529" y="3100299"/>
                  <a:ext cx="629603" cy="188283"/>
                </a:xfrm>
                <a:prstGeom prst="rect">
                  <a:avLst/>
                </a:prstGeom>
                <a:noFill/>
                <a:ln w="9525">
                  <a:noFill/>
                  <a:miter lim="800000"/>
                  <a:headEnd/>
                  <a:tailEnd/>
                </a:ln>
              </p:spPr>
              <p:txBody>
                <a:bodyPr wrap="square" lIns="64541" tIns="32271" rIns="64541" bIns="32271">
                  <a:spAutoFit/>
                </a:bodyPr>
                <a:lstStyle/>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40000"/>
                      </a:solidFill>
                      <a:effectLst/>
                      <a:uLnTx/>
                      <a:uFillTx/>
                      <a:latin typeface="Arial"/>
                      <a:ea typeface="+mn-ea"/>
                      <a:cs typeface="+mn-cs"/>
                    </a:rPr>
                    <a:t>S. Korea</a:t>
                  </a:r>
                </a:p>
              </p:txBody>
            </p:sp>
            <p:pic>
              <p:nvPicPr>
                <p:cNvPr id="320" name="Picture 15" descr="DBS-LOGO-STAR.png">
                  <a:extLst>
                    <a:ext uri="{FF2B5EF4-FFF2-40B4-BE49-F238E27FC236}">
                      <a16:creationId xmlns:a16="http://schemas.microsoft.com/office/drawing/2014/main" id="{347FCD87-D2EA-561B-646B-D6783EF3141F}"/>
                    </a:ext>
                  </a:extLst>
                </p:cNvPr>
                <p:cNvPicPr>
                  <a:picLocks noChangeAspect="1"/>
                </p:cNvPicPr>
                <p:nvPr/>
              </p:nvPicPr>
              <p:blipFill>
                <a:blip r:embed="rId7" cstate="print"/>
                <a:srcRect/>
                <a:stretch>
                  <a:fillRect/>
                </a:stretch>
              </p:blipFill>
              <p:spPr bwMode="auto">
                <a:xfrm>
                  <a:off x="4386892" y="3559480"/>
                  <a:ext cx="127770" cy="123232"/>
                </a:xfrm>
                <a:prstGeom prst="rect">
                  <a:avLst/>
                </a:prstGeom>
                <a:noFill/>
                <a:ln w="9525">
                  <a:noFill/>
                  <a:miter lim="800000"/>
                  <a:headEnd/>
                  <a:tailEnd/>
                </a:ln>
              </p:spPr>
            </p:pic>
            <p:pic>
              <p:nvPicPr>
                <p:cNvPr id="321" name="Picture 15" descr="DBS-LOGO-STAR.png">
                  <a:extLst>
                    <a:ext uri="{FF2B5EF4-FFF2-40B4-BE49-F238E27FC236}">
                      <a16:creationId xmlns:a16="http://schemas.microsoft.com/office/drawing/2014/main" id="{F544C8EC-C1DC-CEA2-5722-47F9601BFB59}"/>
                    </a:ext>
                  </a:extLst>
                </p:cNvPr>
                <p:cNvPicPr>
                  <a:picLocks noChangeAspect="1"/>
                </p:cNvPicPr>
                <p:nvPr/>
              </p:nvPicPr>
              <p:blipFill>
                <a:blip r:embed="rId7" cstate="print"/>
                <a:srcRect/>
                <a:stretch>
                  <a:fillRect/>
                </a:stretch>
              </p:blipFill>
              <p:spPr bwMode="auto">
                <a:xfrm>
                  <a:off x="4904026" y="3255731"/>
                  <a:ext cx="127771" cy="123232"/>
                </a:xfrm>
                <a:prstGeom prst="rect">
                  <a:avLst/>
                </a:prstGeom>
                <a:noFill/>
                <a:ln w="9525">
                  <a:noFill/>
                  <a:miter lim="800000"/>
                  <a:headEnd/>
                  <a:tailEnd/>
                </a:ln>
              </p:spPr>
            </p:pic>
            <p:pic>
              <p:nvPicPr>
                <p:cNvPr id="322" name="Picture 15" descr="DBS-LOGO-STAR.png">
                  <a:extLst>
                    <a:ext uri="{FF2B5EF4-FFF2-40B4-BE49-F238E27FC236}">
                      <a16:creationId xmlns:a16="http://schemas.microsoft.com/office/drawing/2014/main" id="{35BBEA13-E3AF-4669-2759-2C5F8846DDBF}"/>
                    </a:ext>
                  </a:extLst>
                </p:cNvPr>
                <p:cNvPicPr>
                  <a:picLocks noChangeAspect="1"/>
                </p:cNvPicPr>
                <p:nvPr/>
              </p:nvPicPr>
              <p:blipFill>
                <a:blip r:embed="rId7" cstate="print"/>
                <a:srcRect/>
                <a:stretch>
                  <a:fillRect/>
                </a:stretch>
              </p:blipFill>
              <p:spPr bwMode="auto">
                <a:xfrm>
                  <a:off x="5107246" y="3256997"/>
                  <a:ext cx="127771" cy="123232"/>
                </a:xfrm>
                <a:prstGeom prst="rect">
                  <a:avLst/>
                </a:prstGeom>
                <a:noFill/>
                <a:ln w="9525">
                  <a:noFill/>
                  <a:miter lim="800000"/>
                  <a:headEnd/>
                  <a:tailEnd/>
                </a:ln>
              </p:spPr>
            </p:pic>
            <p:pic>
              <p:nvPicPr>
                <p:cNvPr id="323" name="Picture 15" descr="DBS-LOGO-STAR.png">
                  <a:extLst>
                    <a:ext uri="{FF2B5EF4-FFF2-40B4-BE49-F238E27FC236}">
                      <a16:creationId xmlns:a16="http://schemas.microsoft.com/office/drawing/2014/main" id="{0FD6B23A-350E-8377-C355-6D55F5E5801B}"/>
                    </a:ext>
                  </a:extLst>
                </p:cNvPr>
                <p:cNvPicPr>
                  <a:picLocks noChangeAspect="1"/>
                </p:cNvPicPr>
                <p:nvPr/>
              </p:nvPicPr>
              <p:blipFill>
                <a:blip r:embed="rId7" cstate="print"/>
                <a:srcRect/>
                <a:stretch>
                  <a:fillRect/>
                </a:stretch>
              </p:blipFill>
              <p:spPr bwMode="auto">
                <a:xfrm>
                  <a:off x="4599224" y="3738723"/>
                  <a:ext cx="127771" cy="123232"/>
                </a:xfrm>
                <a:prstGeom prst="rect">
                  <a:avLst/>
                </a:prstGeom>
                <a:noFill/>
                <a:ln w="9525">
                  <a:noFill/>
                  <a:miter lim="800000"/>
                  <a:headEnd/>
                  <a:tailEnd/>
                </a:ln>
              </p:spPr>
            </p:pic>
            <p:pic>
              <p:nvPicPr>
                <p:cNvPr id="324" name="Picture 15" descr="DBS-LOGO-STAR.png">
                  <a:extLst>
                    <a:ext uri="{FF2B5EF4-FFF2-40B4-BE49-F238E27FC236}">
                      <a16:creationId xmlns:a16="http://schemas.microsoft.com/office/drawing/2014/main" id="{01F775EE-80D4-2DBD-A17C-15021FF654F0}"/>
                    </a:ext>
                  </a:extLst>
                </p:cNvPr>
                <p:cNvPicPr>
                  <a:picLocks noChangeAspect="1"/>
                </p:cNvPicPr>
                <p:nvPr/>
              </p:nvPicPr>
              <p:blipFill>
                <a:blip r:embed="rId7" cstate="print"/>
                <a:srcRect/>
                <a:stretch>
                  <a:fillRect/>
                </a:stretch>
              </p:blipFill>
              <p:spPr bwMode="auto">
                <a:xfrm>
                  <a:off x="4829452" y="3807342"/>
                  <a:ext cx="127771" cy="123232"/>
                </a:xfrm>
                <a:prstGeom prst="rect">
                  <a:avLst/>
                </a:prstGeom>
                <a:noFill/>
                <a:ln w="9525">
                  <a:noFill/>
                  <a:miter lim="800000"/>
                  <a:headEnd/>
                  <a:tailEnd/>
                </a:ln>
              </p:spPr>
            </p:pic>
            <p:pic>
              <p:nvPicPr>
                <p:cNvPr id="325" name="Picture 15" descr="DBS-LOGO-STAR.png">
                  <a:extLst>
                    <a:ext uri="{FF2B5EF4-FFF2-40B4-BE49-F238E27FC236}">
                      <a16:creationId xmlns:a16="http://schemas.microsoft.com/office/drawing/2014/main" id="{E1421EE0-83CC-8DA7-6E8B-8BEFB9399E46}"/>
                    </a:ext>
                  </a:extLst>
                </p:cNvPr>
                <p:cNvPicPr>
                  <a:picLocks noChangeAspect="1"/>
                </p:cNvPicPr>
                <p:nvPr/>
              </p:nvPicPr>
              <p:blipFill>
                <a:blip r:embed="rId7" cstate="print"/>
                <a:srcRect/>
                <a:stretch>
                  <a:fillRect/>
                </a:stretch>
              </p:blipFill>
              <p:spPr bwMode="auto">
                <a:xfrm>
                  <a:off x="5183102" y="4571260"/>
                  <a:ext cx="127771" cy="123232"/>
                </a:xfrm>
                <a:prstGeom prst="rect">
                  <a:avLst/>
                </a:prstGeom>
                <a:noFill/>
                <a:ln w="9525">
                  <a:noFill/>
                  <a:miter lim="800000"/>
                  <a:headEnd/>
                  <a:tailEnd/>
                </a:ln>
              </p:spPr>
            </p:pic>
            <p:pic>
              <p:nvPicPr>
                <p:cNvPr id="326" name="Picture 15" descr="DBS-LOGO-STAR.png">
                  <a:extLst>
                    <a:ext uri="{FF2B5EF4-FFF2-40B4-BE49-F238E27FC236}">
                      <a16:creationId xmlns:a16="http://schemas.microsoft.com/office/drawing/2014/main" id="{9BC6A5A7-31C6-E353-B802-BA028C7F7093}"/>
                    </a:ext>
                  </a:extLst>
                </p:cNvPr>
                <p:cNvPicPr>
                  <a:picLocks noChangeAspect="1"/>
                </p:cNvPicPr>
                <p:nvPr/>
              </p:nvPicPr>
              <p:blipFill>
                <a:blip r:embed="rId7" cstate="print"/>
                <a:srcRect/>
                <a:stretch>
                  <a:fillRect/>
                </a:stretch>
              </p:blipFill>
              <p:spPr bwMode="auto">
                <a:xfrm>
                  <a:off x="4816679" y="3430566"/>
                  <a:ext cx="127771" cy="123232"/>
                </a:xfrm>
                <a:prstGeom prst="rect">
                  <a:avLst/>
                </a:prstGeom>
                <a:noFill/>
                <a:ln w="9525">
                  <a:noFill/>
                  <a:miter lim="800000"/>
                  <a:headEnd/>
                  <a:tailEnd/>
                </a:ln>
              </p:spPr>
            </p:pic>
            <p:sp>
              <p:nvSpPr>
                <p:cNvPr id="327" name="Rectangle 657">
                  <a:extLst>
                    <a:ext uri="{FF2B5EF4-FFF2-40B4-BE49-F238E27FC236}">
                      <a16:creationId xmlns:a16="http://schemas.microsoft.com/office/drawing/2014/main" id="{0215E877-0973-9D60-58D7-E4ACE2FBC5F8}"/>
                    </a:ext>
                  </a:extLst>
                </p:cNvPr>
                <p:cNvSpPr>
                  <a:spLocks noChangeArrowheads="1"/>
                </p:cNvSpPr>
                <p:nvPr/>
              </p:nvSpPr>
              <p:spPr bwMode="auto">
                <a:xfrm>
                  <a:off x="4881607" y="3401700"/>
                  <a:ext cx="917220" cy="176741"/>
                </a:xfrm>
                <a:prstGeom prst="rect">
                  <a:avLst/>
                </a:prstGeom>
                <a:noFill/>
                <a:ln w="9525">
                  <a:noFill/>
                  <a:miter lim="800000"/>
                  <a:headEnd/>
                  <a:tailEnd/>
                </a:ln>
              </p:spPr>
              <p:txBody>
                <a:bodyPr wrap="square" lIns="64541" tIns="32271" rIns="64541" bIns="32271">
                  <a:spAutoFit/>
                </a:bodyPr>
                <a:lstStyle/>
                <a:p>
                  <a:pPr marL="0" marR="0" lvl="0" indent="0" algn="l" defTabSz="645581" rtl="0" eaLnBrk="1" fontAlgn="auto" latinLnBrk="0" hangingPunct="1">
                    <a:lnSpc>
                      <a:spcPct val="100000"/>
                    </a:lnSpc>
                    <a:spcBef>
                      <a:spcPts val="0"/>
                    </a:spcBef>
                    <a:spcAft>
                      <a:spcPts val="0"/>
                    </a:spcAft>
                    <a:buClrTx/>
                    <a:buSzTx/>
                    <a:buFontTx/>
                    <a:buNone/>
                    <a:tabLst/>
                    <a:defRPr/>
                  </a:pPr>
                  <a:r>
                    <a:rPr kumimoji="0" lang="en-US" sz="725" b="0" i="0" u="none" strike="noStrike" kern="1200" cap="none" spc="0" normalizeH="0" baseline="0" noProof="0">
                      <a:ln>
                        <a:noFill/>
                      </a:ln>
                      <a:solidFill>
                        <a:srgbClr val="A40000"/>
                      </a:solidFill>
                      <a:effectLst/>
                      <a:uLnTx/>
                      <a:uFillTx/>
                      <a:latin typeface="Arial"/>
                      <a:ea typeface="+mn-ea"/>
                      <a:cs typeface="+mn-cs"/>
                    </a:rPr>
                    <a:t>Taiwan</a:t>
                  </a:r>
                </a:p>
              </p:txBody>
            </p:sp>
            <p:sp>
              <p:nvSpPr>
                <p:cNvPr id="347" name="Rectangle 644">
                  <a:extLst>
                    <a:ext uri="{FF2B5EF4-FFF2-40B4-BE49-F238E27FC236}">
                      <a16:creationId xmlns:a16="http://schemas.microsoft.com/office/drawing/2014/main" id="{67B83AC7-78FA-6AE4-C09F-7CA5EBBA49A9}"/>
                    </a:ext>
                  </a:extLst>
                </p:cNvPr>
                <p:cNvSpPr>
                  <a:spLocks noChangeArrowheads="1"/>
                </p:cNvSpPr>
                <p:nvPr/>
              </p:nvSpPr>
              <p:spPr bwMode="auto">
                <a:xfrm>
                  <a:off x="685588" y="3299030"/>
                  <a:ext cx="720673" cy="188283"/>
                </a:xfrm>
                <a:prstGeom prst="rect">
                  <a:avLst/>
                </a:prstGeom>
                <a:noFill/>
                <a:ln w="9525">
                  <a:noFill/>
                  <a:miter lim="800000"/>
                  <a:headEnd/>
                  <a:tailEnd/>
                </a:ln>
              </p:spPr>
              <p:txBody>
                <a:bodyPr wrap="square" lIns="64541" tIns="32271" rIns="64541" bIns="32271">
                  <a:spAutoFit/>
                </a:bodyPr>
                <a:lstStyle/>
                <a:p>
                  <a:pPr marL="0" marR="0" lvl="0" indent="0" algn="r" defTabSz="64558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40000"/>
                      </a:solidFill>
                      <a:effectLst/>
                      <a:uLnTx/>
                      <a:uFillTx/>
                      <a:latin typeface="Arial"/>
                      <a:ea typeface="+mn-ea"/>
                      <a:cs typeface="+mn-cs"/>
                    </a:rPr>
                    <a:t>Los Angeles</a:t>
                  </a:r>
                </a:p>
              </p:txBody>
            </p:sp>
            <p:pic>
              <p:nvPicPr>
                <p:cNvPr id="348" name="Picture 15" descr="DBS-LOGO-STAR.png">
                  <a:extLst>
                    <a:ext uri="{FF2B5EF4-FFF2-40B4-BE49-F238E27FC236}">
                      <a16:creationId xmlns:a16="http://schemas.microsoft.com/office/drawing/2014/main" id="{F87555E3-DD3B-C19C-D1D0-D64E35502AD0}"/>
                    </a:ext>
                  </a:extLst>
                </p:cNvPr>
                <p:cNvPicPr>
                  <a:picLocks noChangeAspect="1"/>
                </p:cNvPicPr>
                <p:nvPr/>
              </p:nvPicPr>
              <p:blipFill>
                <a:blip r:embed="rId7" cstate="print"/>
                <a:srcRect/>
                <a:stretch>
                  <a:fillRect/>
                </a:stretch>
              </p:blipFill>
              <p:spPr bwMode="auto">
                <a:xfrm>
                  <a:off x="1218258" y="3216811"/>
                  <a:ext cx="127770" cy="123232"/>
                </a:xfrm>
                <a:prstGeom prst="rect">
                  <a:avLst/>
                </a:prstGeom>
                <a:noFill/>
                <a:ln w="9525">
                  <a:noFill/>
                  <a:miter lim="800000"/>
                  <a:headEnd/>
                  <a:tailEnd/>
                </a:ln>
              </p:spPr>
            </p:pic>
          </p:grpSp>
        </p:grpSp>
      </p:grpSp>
      <p:graphicFrame>
        <p:nvGraphicFramePr>
          <p:cNvPr id="355" name="Table 355">
            <a:extLst>
              <a:ext uri="{FF2B5EF4-FFF2-40B4-BE49-F238E27FC236}">
                <a16:creationId xmlns:a16="http://schemas.microsoft.com/office/drawing/2014/main" id="{62875DDC-4D02-AD95-236E-E1CA32544E14}"/>
              </a:ext>
            </a:extLst>
          </p:cNvPr>
          <p:cNvGraphicFramePr>
            <a:graphicFrameLocks noGrp="1"/>
          </p:cNvGraphicFramePr>
          <p:nvPr>
            <p:custDataLst>
              <p:tags r:id="rId1"/>
            </p:custDataLst>
            <p:extLst>
              <p:ext uri="{D42A27DB-BD31-4B8C-83A1-F6EECF244321}">
                <p14:modId xmlns:p14="http://schemas.microsoft.com/office/powerpoint/2010/main" val="2509431155"/>
              </p:ext>
            </p:extLst>
          </p:nvPr>
        </p:nvGraphicFramePr>
        <p:xfrm>
          <a:off x="6676178" y="2023630"/>
          <a:ext cx="2437342" cy="1205956"/>
        </p:xfrm>
        <a:graphic>
          <a:graphicData uri="http://schemas.openxmlformats.org/drawingml/2006/table">
            <a:tbl>
              <a:tblPr firstRow="1" bandRow="1">
                <a:effectLst>
                  <a:outerShdw blurRad="50800" dist="38100" dir="2700000" algn="tl" rotWithShape="0">
                    <a:prstClr val="black">
                      <a:alpha val="40000"/>
                    </a:prstClr>
                  </a:outerShdw>
                </a:effectLst>
                <a:tableStyleId>{2D5ABB26-0587-4C30-8999-92F81FD0307C}</a:tableStyleId>
              </a:tblPr>
              <a:tblGrid>
                <a:gridCol w="2437342">
                  <a:extLst>
                    <a:ext uri="{9D8B030D-6E8A-4147-A177-3AD203B41FA5}">
                      <a16:colId xmlns:a16="http://schemas.microsoft.com/office/drawing/2014/main" val="168002646"/>
                    </a:ext>
                  </a:extLst>
                </a:gridCol>
              </a:tblGrid>
              <a:tr h="663432">
                <a:tc>
                  <a:txBody>
                    <a:bodyPr/>
                    <a:lstStyle/>
                    <a:p>
                      <a:pPr algn="ctr"/>
                      <a:r>
                        <a:rPr kumimoji="0" lang="en-GB" sz="900" b="0" i="0" u="none" strike="noStrike" kern="1200" cap="none" spc="0" normalizeH="0" baseline="0" noProof="0">
                          <a:ln>
                            <a:noFill/>
                          </a:ln>
                          <a:solidFill>
                            <a:srgbClr val="C00000"/>
                          </a:solidFill>
                          <a:effectLst/>
                          <a:uLnTx/>
                          <a:uFillTx/>
                          <a:latin typeface="+mj-lt"/>
                          <a:ea typeface="+mn-ea"/>
                          <a:cs typeface="+mn-cs"/>
                        </a:rPr>
                        <a:t>Global Institutional Sales</a:t>
                      </a:r>
                      <a:br>
                        <a:rPr kumimoji="0" lang="en-GB" sz="900" b="0" i="0" u="none" strike="noStrike" kern="1200" cap="none" spc="0" normalizeH="0" baseline="0" noProof="0">
                          <a:ln>
                            <a:noFill/>
                          </a:ln>
                          <a:solidFill>
                            <a:srgbClr val="C00000"/>
                          </a:solidFill>
                          <a:effectLst/>
                          <a:uLnTx/>
                          <a:uFillTx/>
                          <a:latin typeface="+mj-lt"/>
                          <a:ea typeface="+mn-ea"/>
                          <a:cs typeface="+mn-cs"/>
                        </a:rPr>
                      </a:br>
                      <a:r>
                        <a:rPr kumimoji="0" lang="en-GB" sz="900" b="0" i="0" u="none" strike="noStrike" kern="1200" cap="none" spc="0" normalizeH="0" baseline="0" noProof="0">
                          <a:ln>
                            <a:noFill/>
                          </a:ln>
                          <a:solidFill>
                            <a:srgbClr val="C00000"/>
                          </a:solidFill>
                          <a:effectLst/>
                          <a:uLnTx/>
                          <a:uFillTx/>
                          <a:latin typeface="+mj-lt"/>
                          <a:ea typeface="+mn-ea"/>
                          <a:cs typeface="+mn-cs"/>
                        </a:rPr>
                        <a:t>in 6 key global financial centres</a:t>
                      </a:r>
                      <a:endParaRPr lang="en-SG" sz="900">
                        <a:latin typeface="+mj-lt"/>
                      </a:endParaRPr>
                    </a:p>
                  </a:txBody>
                  <a:tcPr marL="80244" marR="80244" marT="40122" marB="40122"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5796203"/>
                  </a:ext>
                </a:extLst>
              </a:tr>
              <a:tr h="526042">
                <a:tc>
                  <a:txBody>
                    <a:bodyPr/>
                    <a:lstStyle/>
                    <a:p>
                      <a:pPr marL="171450" indent="-171450">
                        <a:spcBef>
                          <a:spcPts val="0"/>
                        </a:spcBef>
                        <a:spcAft>
                          <a:spcPts val="200"/>
                        </a:spcAft>
                        <a:buFont typeface="Wingdings" panose="05000000000000000000" pitchFamily="2" charset="2"/>
                        <a:buChar char="§"/>
                      </a:pPr>
                      <a:r>
                        <a:rPr lang="en-US" sz="900">
                          <a:latin typeface="+mj-lt"/>
                        </a:rPr>
                        <a:t>Tier 1 &amp; 2 funds</a:t>
                      </a:r>
                    </a:p>
                    <a:p>
                      <a:pPr marL="171450" indent="-171450">
                        <a:spcBef>
                          <a:spcPts val="0"/>
                        </a:spcBef>
                        <a:spcAft>
                          <a:spcPts val="200"/>
                        </a:spcAft>
                        <a:buFont typeface="Wingdings" panose="05000000000000000000" pitchFamily="2" charset="2"/>
                        <a:buChar char="§"/>
                      </a:pPr>
                      <a:r>
                        <a:rPr lang="en-US" sz="900">
                          <a:latin typeface="+mj-lt"/>
                        </a:rPr>
                        <a:t>Boutique funds</a:t>
                      </a:r>
                    </a:p>
                    <a:p>
                      <a:pPr marL="171450" indent="-171450">
                        <a:spcBef>
                          <a:spcPts val="0"/>
                        </a:spcBef>
                        <a:spcAft>
                          <a:spcPts val="200"/>
                        </a:spcAft>
                        <a:buFont typeface="Wingdings" panose="05000000000000000000" pitchFamily="2" charset="2"/>
                        <a:buChar char="§"/>
                      </a:pPr>
                      <a:r>
                        <a:rPr lang="en-US" sz="900">
                          <a:latin typeface="+mj-lt"/>
                        </a:rPr>
                        <a:t>Family offices</a:t>
                      </a:r>
                      <a:endParaRPr lang="en-SG" sz="900">
                        <a:latin typeface="+mj-lt"/>
                      </a:endParaRPr>
                    </a:p>
                  </a:txBody>
                  <a:tcPr marL="80244" marR="80244" marT="40122" marB="401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22639147"/>
                  </a:ext>
                </a:extLst>
              </a:tr>
            </a:tbl>
          </a:graphicData>
        </a:graphic>
      </p:graphicFrame>
      <p:graphicFrame>
        <p:nvGraphicFramePr>
          <p:cNvPr id="357" name="Table 355">
            <a:extLst>
              <a:ext uri="{FF2B5EF4-FFF2-40B4-BE49-F238E27FC236}">
                <a16:creationId xmlns:a16="http://schemas.microsoft.com/office/drawing/2014/main" id="{E86D2E4D-3785-8FB6-EBF8-7AEA43D87F0B}"/>
              </a:ext>
            </a:extLst>
          </p:cNvPr>
          <p:cNvGraphicFramePr>
            <a:graphicFrameLocks noGrp="1"/>
          </p:cNvGraphicFramePr>
          <p:nvPr>
            <p:custDataLst>
              <p:tags r:id="rId2"/>
            </p:custDataLst>
            <p:extLst>
              <p:ext uri="{D42A27DB-BD31-4B8C-83A1-F6EECF244321}">
                <p14:modId xmlns:p14="http://schemas.microsoft.com/office/powerpoint/2010/main" val="2354235844"/>
              </p:ext>
            </p:extLst>
          </p:nvPr>
        </p:nvGraphicFramePr>
        <p:xfrm>
          <a:off x="6676178" y="3364812"/>
          <a:ext cx="2437342" cy="1205956"/>
        </p:xfrm>
        <a:graphic>
          <a:graphicData uri="http://schemas.openxmlformats.org/drawingml/2006/table">
            <a:tbl>
              <a:tblPr firstRow="1" bandRow="1">
                <a:effectLst>
                  <a:outerShdw blurRad="50800" dist="38100" dir="2700000" algn="tl" rotWithShape="0">
                    <a:prstClr val="black">
                      <a:alpha val="40000"/>
                    </a:prstClr>
                  </a:outerShdw>
                </a:effectLst>
                <a:tableStyleId>{2D5ABB26-0587-4C30-8999-92F81FD0307C}</a:tableStyleId>
              </a:tblPr>
              <a:tblGrid>
                <a:gridCol w="2437342">
                  <a:extLst>
                    <a:ext uri="{9D8B030D-6E8A-4147-A177-3AD203B41FA5}">
                      <a16:colId xmlns:a16="http://schemas.microsoft.com/office/drawing/2014/main" val="168002646"/>
                    </a:ext>
                  </a:extLst>
                </a:gridCol>
              </a:tblGrid>
              <a:tr h="663432">
                <a:tc>
                  <a:txBody>
                    <a:bodyPr/>
                    <a:lstStyle/>
                    <a:p>
                      <a:pPr algn="ctr"/>
                      <a:r>
                        <a:rPr kumimoji="0" lang="en-US" sz="900" b="0" i="0" u="none" strike="noStrike" kern="1200" cap="none" spc="0" normalizeH="0" baseline="0" noProof="0">
                          <a:ln>
                            <a:noFill/>
                          </a:ln>
                          <a:solidFill>
                            <a:srgbClr val="C00000"/>
                          </a:solidFill>
                          <a:effectLst/>
                          <a:uLnTx/>
                          <a:uFillTx/>
                          <a:latin typeface="+mj-lt"/>
                          <a:ea typeface="+mn-ea"/>
                          <a:cs typeface="+mn-cs"/>
                        </a:rPr>
                        <a:t>Corporate Banking and Treasury &amp; Markets </a:t>
                      </a:r>
                      <a:br>
                        <a:rPr kumimoji="0" lang="en-US" sz="900" b="0" i="0" u="none" strike="noStrike" kern="1200" cap="none" spc="0" normalizeH="0" baseline="0" noProof="0">
                          <a:ln>
                            <a:noFill/>
                          </a:ln>
                          <a:solidFill>
                            <a:srgbClr val="C00000"/>
                          </a:solidFill>
                          <a:effectLst/>
                          <a:uLnTx/>
                          <a:uFillTx/>
                          <a:latin typeface="+mj-lt"/>
                          <a:ea typeface="+mn-ea"/>
                          <a:cs typeface="+mn-cs"/>
                        </a:rPr>
                      </a:br>
                      <a:r>
                        <a:rPr kumimoji="0" lang="en-US" sz="900" b="0" i="0" u="none" strike="noStrike" kern="1200" cap="none" spc="0" normalizeH="0" baseline="0" noProof="0">
                          <a:ln>
                            <a:noFill/>
                          </a:ln>
                          <a:solidFill>
                            <a:srgbClr val="C00000"/>
                          </a:solidFill>
                          <a:effectLst/>
                          <a:uLnTx/>
                          <a:uFillTx/>
                          <a:latin typeface="+mj-lt"/>
                          <a:ea typeface="+mn-ea"/>
                          <a:cs typeface="+mn-cs"/>
                        </a:rPr>
                        <a:t>in 19 markets across Asia</a:t>
                      </a:r>
                      <a:endParaRPr lang="en-SG" sz="900">
                        <a:latin typeface="+mj-lt"/>
                      </a:endParaRPr>
                    </a:p>
                  </a:txBody>
                  <a:tcPr marL="80244" marR="80244" marT="40122" marB="40122"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5796203"/>
                  </a:ext>
                </a:extLst>
              </a:tr>
              <a:tr h="526042">
                <a:tc>
                  <a:txBody>
                    <a:bodyPr/>
                    <a:lstStyle/>
                    <a:p>
                      <a:pPr marL="171450" indent="-171450">
                        <a:spcBef>
                          <a:spcPts val="0"/>
                        </a:spcBef>
                        <a:spcAft>
                          <a:spcPts val="200"/>
                        </a:spcAft>
                        <a:buFont typeface="Wingdings" panose="05000000000000000000" pitchFamily="2" charset="2"/>
                        <a:buChar char="§"/>
                      </a:pPr>
                      <a:r>
                        <a:rPr lang="en-US" sz="900">
                          <a:latin typeface="+mj-lt"/>
                        </a:rPr>
                        <a:t>Corporate clients including strategics</a:t>
                      </a:r>
                    </a:p>
                    <a:p>
                      <a:pPr marL="171450" indent="-171450">
                        <a:spcBef>
                          <a:spcPts val="0"/>
                        </a:spcBef>
                        <a:spcAft>
                          <a:spcPts val="200"/>
                        </a:spcAft>
                        <a:buFont typeface="Wingdings" panose="05000000000000000000" pitchFamily="2" charset="2"/>
                        <a:buChar char="§"/>
                      </a:pPr>
                      <a:r>
                        <a:rPr lang="en-US" sz="900">
                          <a:latin typeface="+mj-lt"/>
                        </a:rPr>
                        <a:t>Foundations / non-profits</a:t>
                      </a:r>
                    </a:p>
                    <a:p>
                      <a:pPr marL="171450" indent="-171450">
                        <a:spcBef>
                          <a:spcPts val="0"/>
                        </a:spcBef>
                        <a:spcAft>
                          <a:spcPts val="200"/>
                        </a:spcAft>
                        <a:buFont typeface="Wingdings" panose="05000000000000000000" pitchFamily="2" charset="2"/>
                        <a:buChar char="§"/>
                      </a:pPr>
                      <a:r>
                        <a:rPr lang="en-US" sz="900">
                          <a:latin typeface="+mj-lt"/>
                        </a:rPr>
                        <a:t>Sovereign funds / quasi sovereign</a:t>
                      </a:r>
                      <a:endParaRPr lang="en-SG" sz="900">
                        <a:latin typeface="+mj-lt"/>
                      </a:endParaRPr>
                    </a:p>
                  </a:txBody>
                  <a:tcPr marL="80244" marR="80244" marT="40122" marB="401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22639147"/>
                  </a:ext>
                </a:extLst>
              </a:tr>
            </a:tbl>
          </a:graphicData>
        </a:graphic>
      </p:graphicFrame>
      <p:graphicFrame>
        <p:nvGraphicFramePr>
          <p:cNvPr id="358" name="Table 355">
            <a:extLst>
              <a:ext uri="{FF2B5EF4-FFF2-40B4-BE49-F238E27FC236}">
                <a16:creationId xmlns:a16="http://schemas.microsoft.com/office/drawing/2014/main" id="{0D0BF612-FDD8-6268-822E-38A2036E42CD}"/>
              </a:ext>
            </a:extLst>
          </p:cNvPr>
          <p:cNvGraphicFramePr>
            <a:graphicFrameLocks noGrp="1"/>
          </p:cNvGraphicFramePr>
          <p:nvPr>
            <p:custDataLst>
              <p:tags r:id="rId3"/>
            </p:custDataLst>
            <p:extLst>
              <p:ext uri="{D42A27DB-BD31-4B8C-83A1-F6EECF244321}">
                <p14:modId xmlns:p14="http://schemas.microsoft.com/office/powerpoint/2010/main" val="2643672818"/>
              </p:ext>
            </p:extLst>
          </p:nvPr>
        </p:nvGraphicFramePr>
        <p:xfrm>
          <a:off x="6676178" y="4702841"/>
          <a:ext cx="2437342" cy="1273740"/>
        </p:xfrm>
        <a:graphic>
          <a:graphicData uri="http://schemas.openxmlformats.org/drawingml/2006/table">
            <a:tbl>
              <a:tblPr firstRow="1" bandRow="1">
                <a:effectLst>
                  <a:outerShdw blurRad="50800" dist="38100" dir="2700000" algn="tl" rotWithShape="0">
                    <a:prstClr val="black">
                      <a:alpha val="40000"/>
                    </a:prstClr>
                  </a:outerShdw>
                </a:effectLst>
                <a:tableStyleId>{2D5ABB26-0587-4C30-8999-92F81FD0307C}</a:tableStyleId>
              </a:tblPr>
              <a:tblGrid>
                <a:gridCol w="2437342">
                  <a:extLst>
                    <a:ext uri="{9D8B030D-6E8A-4147-A177-3AD203B41FA5}">
                      <a16:colId xmlns:a16="http://schemas.microsoft.com/office/drawing/2014/main" val="168002646"/>
                    </a:ext>
                  </a:extLst>
                </a:gridCol>
              </a:tblGrid>
              <a:tr h="568656">
                <a:tc>
                  <a:txBody>
                    <a:bodyPr/>
                    <a:lstStyle/>
                    <a:p>
                      <a:pPr algn="ctr"/>
                      <a:r>
                        <a:rPr kumimoji="0" lang="en-GB" sz="900" b="0" i="0" u="none" strike="noStrike" kern="1200" cap="none" spc="0" normalizeH="0" baseline="0" noProof="0" dirty="0">
                          <a:ln>
                            <a:noFill/>
                          </a:ln>
                          <a:solidFill>
                            <a:srgbClr val="C00000"/>
                          </a:solidFill>
                          <a:effectLst/>
                          <a:uLnTx/>
                          <a:uFillTx/>
                          <a:latin typeface="+mj-lt"/>
                          <a:ea typeface="+mn-ea"/>
                          <a:cs typeface="+mn-cs"/>
                        </a:rPr>
                        <a:t>Large AUM of S$488 billion</a:t>
                      </a:r>
                      <a:r>
                        <a:rPr kumimoji="0" lang="en-GB" sz="900" b="0" i="0" u="none" strike="noStrike" kern="1200" cap="none" spc="0" normalizeH="0" baseline="30000" noProof="0" dirty="0">
                          <a:ln>
                            <a:noFill/>
                          </a:ln>
                          <a:solidFill>
                            <a:srgbClr val="C00000"/>
                          </a:solidFill>
                          <a:effectLst/>
                          <a:uLnTx/>
                          <a:uFillTx/>
                          <a:latin typeface="+mj-lt"/>
                          <a:ea typeface="+mn-ea"/>
                          <a:cs typeface="+mn-cs"/>
                        </a:rPr>
                        <a:t>(1)</a:t>
                      </a:r>
                    </a:p>
                  </a:txBody>
                  <a:tcPr marL="80244" marR="80244" marT="40122" marB="40122"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5796203"/>
                  </a:ext>
                </a:extLst>
              </a:tr>
              <a:tr h="682071">
                <a:tc>
                  <a:txBody>
                    <a:bodyPr/>
                    <a:lstStyle/>
                    <a:p>
                      <a:pPr marL="171450" indent="-171450">
                        <a:spcBef>
                          <a:spcPts val="0"/>
                        </a:spcBef>
                        <a:spcAft>
                          <a:spcPts val="200"/>
                        </a:spcAft>
                        <a:buFont typeface="Wingdings" panose="05000000000000000000" pitchFamily="2" charset="2"/>
                        <a:buChar char="§"/>
                      </a:pPr>
                      <a:r>
                        <a:rPr lang="en-US" sz="900" dirty="0">
                          <a:latin typeface="+mj-lt"/>
                        </a:rPr>
                        <a:t>Three platforms serving:</a:t>
                      </a:r>
                    </a:p>
                    <a:p>
                      <a:pPr marL="324000" marR="0" lvl="1" indent="-144000" algn="l" defTabSz="74295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kern="1200" dirty="0">
                          <a:solidFill>
                            <a:schemeClr val="tx1"/>
                          </a:solidFill>
                          <a:latin typeface="+mn-lt"/>
                          <a:ea typeface="+mn-ea"/>
                          <a:cs typeface="+mn-cs"/>
                        </a:rPr>
                        <a:t>Private Banking clients</a:t>
                      </a:r>
                    </a:p>
                    <a:p>
                      <a:pPr marL="324000" marR="0" lvl="1" indent="-144000" algn="l" defTabSz="74295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kern="1200" dirty="0">
                          <a:solidFill>
                            <a:schemeClr val="tx1"/>
                          </a:solidFill>
                          <a:latin typeface="+mn-lt"/>
                          <a:ea typeface="+mn-ea"/>
                          <a:cs typeface="+mn-cs"/>
                        </a:rPr>
                        <a:t>Treasures Private Clients</a:t>
                      </a:r>
                    </a:p>
                    <a:p>
                      <a:pPr marL="324000" lvl="1" indent="-144000">
                        <a:spcBef>
                          <a:spcPts val="0"/>
                        </a:spcBef>
                        <a:spcAft>
                          <a:spcPts val="200"/>
                        </a:spcAft>
                        <a:buFont typeface="Arial" panose="020B0604020202020204" pitchFamily="34" charset="0"/>
                        <a:buChar char="‒"/>
                      </a:pPr>
                      <a:r>
                        <a:rPr lang="en-US" sz="900" dirty="0">
                          <a:latin typeface="+mj-lt"/>
                        </a:rPr>
                        <a:t>Treasures clients</a:t>
                      </a:r>
                    </a:p>
                  </a:txBody>
                  <a:tcPr marL="80244" marR="80244" marT="40122" marB="401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22639147"/>
                  </a:ext>
                </a:extLst>
              </a:tr>
            </a:tbl>
          </a:graphicData>
        </a:graphic>
      </p:graphicFrame>
      <p:pic>
        <p:nvPicPr>
          <p:cNvPr id="361" name="Picture 360">
            <a:extLst>
              <a:ext uri="{FF2B5EF4-FFF2-40B4-BE49-F238E27FC236}">
                <a16:creationId xmlns:a16="http://schemas.microsoft.com/office/drawing/2014/main" id="{6E3497E6-5720-59F2-417C-84A2D39A4AA5}"/>
              </a:ext>
            </a:extLst>
          </p:cNvPr>
          <p:cNvPicPr>
            <a:picLocks noChangeAspect="1"/>
          </p:cNvPicPr>
          <p:nvPr/>
        </p:nvPicPr>
        <p:blipFill>
          <a:blip r:embed="rId8"/>
          <a:stretch>
            <a:fillRect/>
          </a:stretch>
        </p:blipFill>
        <p:spPr>
          <a:xfrm>
            <a:off x="7218731" y="4728149"/>
            <a:ext cx="1370769" cy="324000"/>
          </a:xfrm>
          <a:prstGeom prst="rect">
            <a:avLst/>
          </a:prstGeom>
        </p:spPr>
      </p:pic>
      <p:pic>
        <p:nvPicPr>
          <p:cNvPr id="363" name="Picture 362">
            <a:extLst>
              <a:ext uri="{FF2B5EF4-FFF2-40B4-BE49-F238E27FC236}">
                <a16:creationId xmlns:a16="http://schemas.microsoft.com/office/drawing/2014/main" id="{828E200E-B1AA-2F15-6F7F-ABDEC5210D24}"/>
              </a:ext>
            </a:extLst>
          </p:cNvPr>
          <p:cNvPicPr>
            <a:picLocks noChangeAspect="1"/>
          </p:cNvPicPr>
          <p:nvPr/>
        </p:nvPicPr>
        <p:blipFill>
          <a:blip r:embed="rId9"/>
          <a:stretch>
            <a:fillRect/>
          </a:stretch>
        </p:blipFill>
        <p:spPr>
          <a:xfrm>
            <a:off x="6881629" y="2054763"/>
            <a:ext cx="2016000" cy="288000"/>
          </a:xfrm>
          <a:prstGeom prst="rect">
            <a:avLst/>
          </a:prstGeom>
        </p:spPr>
      </p:pic>
      <p:pic>
        <p:nvPicPr>
          <p:cNvPr id="366" name="Picture 365">
            <a:extLst>
              <a:ext uri="{FF2B5EF4-FFF2-40B4-BE49-F238E27FC236}">
                <a16:creationId xmlns:a16="http://schemas.microsoft.com/office/drawing/2014/main" id="{413F91E6-E1DC-9F91-B9D9-BEA22139730A}"/>
              </a:ext>
            </a:extLst>
          </p:cNvPr>
          <p:cNvPicPr>
            <a:picLocks noChangeAspect="1"/>
          </p:cNvPicPr>
          <p:nvPr/>
        </p:nvPicPr>
        <p:blipFill>
          <a:blip r:embed="rId10"/>
          <a:stretch>
            <a:fillRect/>
          </a:stretch>
        </p:blipFill>
        <p:spPr>
          <a:xfrm>
            <a:off x="7447630" y="3416928"/>
            <a:ext cx="894438" cy="288000"/>
          </a:xfrm>
          <a:prstGeom prst="rect">
            <a:avLst/>
          </a:prstGeom>
        </p:spPr>
      </p:pic>
      <p:sp>
        <p:nvSpPr>
          <p:cNvPr id="258" name="Arrow: Pentagon 257">
            <a:extLst>
              <a:ext uri="{FF2B5EF4-FFF2-40B4-BE49-F238E27FC236}">
                <a16:creationId xmlns:a16="http://schemas.microsoft.com/office/drawing/2014/main" id="{3E47A7FC-29C2-0FCF-30D4-3C832024523B}"/>
              </a:ext>
            </a:extLst>
          </p:cNvPr>
          <p:cNvSpPr/>
          <p:nvPr/>
        </p:nvSpPr>
        <p:spPr bwMode="auto">
          <a:xfrm>
            <a:off x="736600" y="5212585"/>
            <a:ext cx="344766" cy="238150"/>
          </a:xfrm>
          <a:prstGeom prst="homePlate">
            <a:avLst>
              <a:gd name="adj" fmla="val 43601"/>
            </a:avLst>
          </a:prstGeom>
          <a:solidFill>
            <a:schemeClr val="accent1">
              <a:lumMod val="20000"/>
              <a:lumOff val="80000"/>
            </a:schemeClr>
          </a:solidFill>
          <a:ln w="9525" cap="flat" cmpd="sng" algn="ctr">
            <a:solidFill>
              <a:schemeClr val="accent1">
                <a:lumMod val="60000"/>
                <a:lumOff val="40000"/>
              </a:schemeClr>
            </a:solid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kumimoji="0" lang="en-SG" sz="1200" i="0" u="none" strike="noStrike" cap="none" normalizeH="0" baseline="0">
                <a:ln>
                  <a:noFill/>
                </a:ln>
                <a:solidFill>
                  <a:schemeClr val="tx1"/>
                </a:solidFill>
                <a:effectLst/>
                <a:latin typeface="Arial" panose="020B0604020202020204" pitchFamily="34" charset="0"/>
              </a:rPr>
              <a:t>1</a:t>
            </a:r>
          </a:p>
        </p:txBody>
      </p:sp>
      <p:sp>
        <p:nvSpPr>
          <p:cNvPr id="261" name="Arrow: Pentagon 260">
            <a:extLst>
              <a:ext uri="{FF2B5EF4-FFF2-40B4-BE49-F238E27FC236}">
                <a16:creationId xmlns:a16="http://schemas.microsoft.com/office/drawing/2014/main" id="{18BB2C88-11F0-7B9C-368A-7E0627CA77B9}"/>
              </a:ext>
            </a:extLst>
          </p:cNvPr>
          <p:cNvSpPr/>
          <p:nvPr/>
        </p:nvSpPr>
        <p:spPr bwMode="auto">
          <a:xfrm>
            <a:off x="736600" y="5517156"/>
            <a:ext cx="344766" cy="238150"/>
          </a:xfrm>
          <a:prstGeom prst="homePlate">
            <a:avLst>
              <a:gd name="adj" fmla="val 43601"/>
            </a:avLst>
          </a:prstGeom>
          <a:solidFill>
            <a:schemeClr val="accent1">
              <a:lumMod val="20000"/>
              <a:lumOff val="80000"/>
            </a:schemeClr>
          </a:solidFill>
          <a:ln w="9525" cap="flat" cmpd="sng" algn="ctr">
            <a:solidFill>
              <a:schemeClr val="accent1">
                <a:lumMod val="60000"/>
                <a:lumOff val="40000"/>
              </a:schemeClr>
            </a:solid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en-SG" sz="1200">
                <a:solidFill>
                  <a:schemeClr val="tx1"/>
                </a:solidFill>
                <a:latin typeface="Arial" panose="020B0604020202020204" pitchFamily="34" charset="0"/>
              </a:rPr>
              <a:t>2</a:t>
            </a:r>
            <a:endParaRPr kumimoji="0" lang="en-SG" sz="1200" i="0" u="none" strike="noStrike" cap="none" normalizeH="0" baseline="0">
              <a:ln>
                <a:noFill/>
              </a:ln>
              <a:solidFill>
                <a:schemeClr val="tx1"/>
              </a:solidFill>
              <a:effectLst/>
              <a:latin typeface="Arial" panose="020B0604020202020204" pitchFamily="34" charset="0"/>
            </a:endParaRPr>
          </a:p>
        </p:txBody>
      </p:sp>
      <p:sp>
        <p:nvSpPr>
          <p:cNvPr id="331" name="Text Placeholder 4">
            <a:extLst>
              <a:ext uri="{FF2B5EF4-FFF2-40B4-BE49-F238E27FC236}">
                <a16:creationId xmlns:a16="http://schemas.microsoft.com/office/drawing/2014/main" id="{1BFA4982-B85D-2B0B-D1A0-1C2F2989CD81}"/>
              </a:ext>
            </a:extLst>
          </p:cNvPr>
          <p:cNvSpPr txBox="1">
            <a:spLocks/>
          </p:cNvSpPr>
          <p:nvPr/>
        </p:nvSpPr>
        <p:spPr bwMode="auto">
          <a:xfrm>
            <a:off x="717153" y="5987226"/>
            <a:ext cx="8494776" cy="184666"/>
          </a:xfrm>
          <a:prstGeom prst="rect">
            <a:avLst/>
          </a:prstGeom>
          <a:noFill/>
          <a:ln w="9525">
            <a:noFill/>
            <a:miter lim="800000"/>
            <a:headEnd/>
            <a:tailEnd/>
          </a:ln>
        </p:spPr>
        <p:txBody>
          <a:bodyPr vert="horz" wrap="square" lIns="0" tIns="45720" rIns="0" bIns="45720" numCol="1" anchor="b" anchorCtr="0" compatLnSpc="1">
            <a:prstTxWarp prst="textNoShape">
              <a:avLst/>
            </a:prstTxWarp>
            <a:spAutoFit/>
          </a:bodyPr>
          <a:lstStyle>
            <a:defPPr>
              <a:defRPr lang="en-US"/>
            </a:defPPr>
            <a:lvl1pPr marL="228600" indent="-228600" eaLnBrk="0" hangingPunct="0">
              <a:spcBef>
                <a:spcPts val="0"/>
              </a:spcBef>
              <a:spcAft>
                <a:spcPts val="0"/>
              </a:spcAft>
              <a:buClr>
                <a:srgbClr val="BE050A"/>
              </a:buClr>
              <a:buFont typeface="+mj-lt"/>
              <a:buAutoNum type="arabicParenR"/>
              <a:tabLst>
                <a:tab pos="228600" algn="l"/>
              </a:tabLst>
              <a:defRPr sz="900" b="0" i="1" kern="0">
                <a:solidFill>
                  <a:schemeClr val="tx1"/>
                </a:solidFill>
                <a:latin typeface="+mn-lt"/>
                <a:cs typeface="+mn-cs"/>
              </a:defRPr>
            </a:lvl1pPr>
            <a:lvl2pPr marL="684213" indent="-285750" eaLnBrk="0" hangingPunct="0">
              <a:spcBef>
                <a:spcPts val="200"/>
              </a:spcBef>
              <a:spcAft>
                <a:spcPts val="200"/>
              </a:spcAft>
              <a:buClr>
                <a:srgbClr val="626262"/>
              </a:buClr>
              <a:buFont typeface="Arial" panose="020B0604020202020204" pitchFamily="34" charset="0"/>
              <a:buChar char="―"/>
              <a:defRPr sz="1500">
                <a:solidFill>
                  <a:schemeClr val="tx1"/>
                </a:solidFill>
                <a:latin typeface="+mn-lt"/>
                <a:cs typeface="+mn-cs"/>
              </a:defRPr>
            </a:lvl2pPr>
            <a:lvl3pPr marL="1068388" indent="-269875" eaLnBrk="0" hangingPunct="0">
              <a:spcBef>
                <a:spcPts val="200"/>
              </a:spcBef>
              <a:spcAft>
                <a:spcPts val="200"/>
              </a:spcAft>
              <a:buFont typeface="Arial" panose="020B0604020202020204" pitchFamily="34" charset="0"/>
              <a:buChar char="‒"/>
              <a:defRPr sz="1500">
                <a:solidFill>
                  <a:schemeClr val="tx1"/>
                </a:solidFill>
                <a:latin typeface="+mn-lt"/>
                <a:cs typeface="+mn-cs"/>
              </a:defRPr>
            </a:lvl3pPr>
            <a:lvl4pPr marL="1484313" indent="-301625" eaLnBrk="0" hangingPunct="0">
              <a:spcBef>
                <a:spcPts val="200"/>
              </a:spcBef>
              <a:spcAft>
                <a:spcPts val="200"/>
              </a:spcAft>
              <a:buChar char="–"/>
              <a:defRPr sz="1500">
                <a:solidFill>
                  <a:schemeClr val="tx1"/>
                </a:solidFill>
                <a:latin typeface="+mn-lt"/>
                <a:cs typeface="+mn-cs"/>
              </a:defRPr>
            </a:lvl4pPr>
            <a:lvl5pPr marL="1827213" indent="-228600" eaLnBrk="0" hangingPunct="0">
              <a:spcBef>
                <a:spcPts val="200"/>
              </a:spcBef>
              <a:spcAft>
                <a:spcPts val="200"/>
              </a:spcAft>
              <a:buChar char="»"/>
              <a:defRPr sz="1500">
                <a:solidFill>
                  <a:schemeClr val="tx1"/>
                </a:solidFill>
                <a:latin typeface="+mn-lt"/>
                <a:cs typeface="+mn-cs"/>
              </a:defRPr>
            </a:lvl5pPr>
            <a:lvl6pPr marL="2284413" indent="-228600" fontAlgn="base">
              <a:spcBef>
                <a:spcPct val="0"/>
              </a:spcBef>
              <a:spcAft>
                <a:spcPct val="30000"/>
              </a:spcAft>
              <a:buChar char="»"/>
              <a:defRPr sz="1500">
                <a:solidFill>
                  <a:schemeClr val="tx1"/>
                </a:solidFill>
                <a:latin typeface="+mn-lt"/>
                <a:cs typeface="+mn-cs"/>
              </a:defRPr>
            </a:lvl6pPr>
            <a:lvl7pPr marL="2741613" indent="-228600" fontAlgn="base">
              <a:spcBef>
                <a:spcPct val="0"/>
              </a:spcBef>
              <a:spcAft>
                <a:spcPct val="30000"/>
              </a:spcAft>
              <a:buChar char="»"/>
              <a:defRPr sz="1500">
                <a:solidFill>
                  <a:schemeClr val="tx1"/>
                </a:solidFill>
                <a:latin typeface="+mn-lt"/>
                <a:cs typeface="+mn-cs"/>
              </a:defRPr>
            </a:lvl7pPr>
            <a:lvl8pPr marL="3198813" indent="-228600" fontAlgn="base">
              <a:spcBef>
                <a:spcPct val="0"/>
              </a:spcBef>
              <a:spcAft>
                <a:spcPct val="30000"/>
              </a:spcAft>
              <a:buChar char="»"/>
              <a:defRPr sz="1500">
                <a:solidFill>
                  <a:schemeClr val="tx1"/>
                </a:solidFill>
                <a:latin typeface="+mn-lt"/>
                <a:cs typeface="+mn-cs"/>
              </a:defRPr>
            </a:lvl8pPr>
            <a:lvl9pPr marL="3656013" indent="-228600" fontAlgn="base">
              <a:spcBef>
                <a:spcPct val="0"/>
              </a:spcBef>
              <a:spcAft>
                <a:spcPct val="30000"/>
              </a:spcAft>
              <a:buChar char="»"/>
              <a:defRPr sz="1500">
                <a:solidFill>
                  <a:schemeClr val="tx1"/>
                </a:solidFill>
                <a:latin typeface="+mn-lt"/>
                <a:cs typeface="+mn-cs"/>
              </a:defRPr>
            </a:lvl9pPr>
          </a:lstStyle>
          <a:p>
            <a:pPr marL="0" indent="0">
              <a:buNone/>
            </a:pPr>
            <a:r>
              <a:rPr lang="en-US" sz="600" dirty="0"/>
              <a:t>Source: </a:t>
            </a:r>
            <a:r>
              <a:rPr lang="en-SG" sz="600" dirty="0"/>
              <a:t>DBS Annual Report 2025</a:t>
            </a:r>
          </a:p>
        </p:txBody>
      </p:sp>
      <p:sp>
        <p:nvSpPr>
          <p:cNvPr id="333" name="Slide Number Placeholder 332">
            <a:extLst>
              <a:ext uri="{FF2B5EF4-FFF2-40B4-BE49-F238E27FC236}">
                <a16:creationId xmlns:a16="http://schemas.microsoft.com/office/drawing/2014/main" id="{2D639200-8D18-499B-9410-439327C20D12}"/>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11</a:t>
            </a:fld>
            <a:endParaRPr lang="en-US" altLang="en-US" b="0">
              <a:solidFill>
                <a:srgbClr val="000000"/>
              </a:solidFill>
            </a:endParaRPr>
          </a:p>
        </p:txBody>
      </p:sp>
    </p:spTree>
    <p:extLst>
      <p:ext uri="{BB962C8B-B14F-4D97-AF65-F5344CB8AC3E}">
        <p14:creationId xmlns:p14="http://schemas.microsoft.com/office/powerpoint/2010/main" val="2544115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E9B9491-2BBF-43CA-5AE8-D45B1630021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grpSp>
        <p:nvGrpSpPr>
          <p:cNvPr id="293" name="Group 292">
            <a:extLst>
              <a:ext uri="{FF2B5EF4-FFF2-40B4-BE49-F238E27FC236}">
                <a16:creationId xmlns:a16="http://schemas.microsoft.com/office/drawing/2014/main" id="{86E87D80-87EA-6CD9-4EBB-0ED294EFCD88}"/>
              </a:ext>
            </a:extLst>
          </p:cNvPr>
          <p:cNvGrpSpPr/>
          <p:nvPr/>
        </p:nvGrpSpPr>
        <p:grpSpPr>
          <a:xfrm>
            <a:off x="2122819" y="1098694"/>
            <a:ext cx="5515918" cy="4370519"/>
            <a:chOff x="407631" y="1420750"/>
            <a:chExt cx="4665400" cy="4542644"/>
          </a:xfrm>
        </p:grpSpPr>
        <p:sp>
          <p:nvSpPr>
            <p:cNvPr id="302" name="Freeform 650">
              <a:extLst>
                <a:ext uri="{FF2B5EF4-FFF2-40B4-BE49-F238E27FC236}">
                  <a16:creationId xmlns:a16="http://schemas.microsoft.com/office/drawing/2014/main" id="{981DBA84-6979-E711-30F6-1A9940F6DBE5}"/>
                </a:ext>
              </a:extLst>
            </p:cNvPr>
            <p:cNvSpPr>
              <a:spLocks/>
            </p:cNvSpPr>
            <p:nvPr/>
          </p:nvSpPr>
          <p:spPr bwMode="auto">
            <a:xfrm>
              <a:off x="1320833" y="4682702"/>
              <a:ext cx="134693" cy="238903"/>
            </a:xfrm>
            <a:custGeom>
              <a:avLst/>
              <a:gdLst/>
              <a:ahLst/>
              <a:cxnLst>
                <a:cxn ang="0">
                  <a:pos x="8" y="0"/>
                </a:cxn>
                <a:cxn ang="0">
                  <a:pos x="6" y="1"/>
                </a:cxn>
                <a:cxn ang="0">
                  <a:pos x="12" y="6"/>
                </a:cxn>
                <a:cxn ang="0">
                  <a:pos x="8" y="8"/>
                </a:cxn>
                <a:cxn ang="0">
                  <a:pos x="3" y="33"/>
                </a:cxn>
                <a:cxn ang="0">
                  <a:pos x="0" y="33"/>
                </a:cxn>
                <a:cxn ang="0">
                  <a:pos x="3" y="58"/>
                </a:cxn>
                <a:cxn ang="0">
                  <a:pos x="10" y="73"/>
                </a:cxn>
                <a:cxn ang="0">
                  <a:pos x="22" y="75"/>
                </a:cxn>
                <a:cxn ang="0">
                  <a:pos x="42" y="60"/>
                </a:cxn>
                <a:cxn ang="0">
                  <a:pos x="43" y="44"/>
                </a:cxn>
                <a:cxn ang="0">
                  <a:pos x="24" y="12"/>
                </a:cxn>
                <a:cxn ang="0">
                  <a:pos x="13" y="1"/>
                </a:cxn>
                <a:cxn ang="0">
                  <a:pos x="8" y="0"/>
                </a:cxn>
              </a:cxnLst>
              <a:rect l="0" t="0" r="r" b="b"/>
              <a:pathLst>
                <a:path w="43" h="75">
                  <a:moveTo>
                    <a:pt x="8" y="0"/>
                  </a:moveTo>
                  <a:lnTo>
                    <a:pt x="6" y="1"/>
                  </a:lnTo>
                  <a:lnTo>
                    <a:pt x="12" y="6"/>
                  </a:lnTo>
                  <a:lnTo>
                    <a:pt x="8" y="8"/>
                  </a:lnTo>
                  <a:lnTo>
                    <a:pt x="3" y="33"/>
                  </a:lnTo>
                  <a:lnTo>
                    <a:pt x="0" y="33"/>
                  </a:lnTo>
                  <a:lnTo>
                    <a:pt x="3" y="58"/>
                  </a:lnTo>
                  <a:lnTo>
                    <a:pt x="10" y="73"/>
                  </a:lnTo>
                  <a:lnTo>
                    <a:pt x="22" y="75"/>
                  </a:lnTo>
                  <a:lnTo>
                    <a:pt x="42" y="60"/>
                  </a:lnTo>
                  <a:lnTo>
                    <a:pt x="43" y="44"/>
                  </a:lnTo>
                  <a:lnTo>
                    <a:pt x="24" y="12"/>
                  </a:lnTo>
                  <a:lnTo>
                    <a:pt x="13" y="1"/>
                  </a:lnTo>
                  <a:lnTo>
                    <a:pt x="8" y="0"/>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03" name="Freeform 658">
              <a:extLst>
                <a:ext uri="{FF2B5EF4-FFF2-40B4-BE49-F238E27FC236}">
                  <a16:creationId xmlns:a16="http://schemas.microsoft.com/office/drawing/2014/main" id="{A808D945-1BFD-B923-C0F3-0C461D2FC17B}"/>
                </a:ext>
              </a:extLst>
            </p:cNvPr>
            <p:cNvSpPr>
              <a:spLocks/>
            </p:cNvSpPr>
            <p:nvPr/>
          </p:nvSpPr>
          <p:spPr bwMode="auto">
            <a:xfrm>
              <a:off x="3414368" y="4976441"/>
              <a:ext cx="84664" cy="66578"/>
            </a:xfrm>
            <a:custGeom>
              <a:avLst/>
              <a:gdLst/>
              <a:ahLst/>
              <a:cxnLst>
                <a:cxn ang="0">
                  <a:pos x="0" y="10"/>
                </a:cxn>
                <a:cxn ang="0">
                  <a:pos x="18" y="0"/>
                </a:cxn>
                <a:cxn ang="0">
                  <a:pos x="23" y="4"/>
                </a:cxn>
                <a:cxn ang="0">
                  <a:pos x="27" y="14"/>
                </a:cxn>
                <a:cxn ang="0">
                  <a:pos x="18" y="6"/>
                </a:cxn>
                <a:cxn ang="0">
                  <a:pos x="11" y="21"/>
                </a:cxn>
                <a:cxn ang="0">
                  <a:pos x="0" y="10"/>
                </a:cxn>
              </a:cxnLst>
              <a:rect l="0" t="0" r="r" b="b"/>
              <a:pathLst>
                <a:path w="27" h="21">
                  <a:moveTo>
                    <a:pt x="0" y="10"/>
                  </a:moveTo>
                  <a:lnTo>
                    <a:pt x="18" y="0"/>
                  </a:lnTo>
                  <a:lnTo>
                    <a:pt x="23" y="4"/>
                  </a:lnTo>
                  <a:lnTo>
                    <a:pt x="27" y="14"/>
                  </a:lnTo>
                  <a:lnTo>
                    <a:pt x="18" y="6"/>
                  </a:lnTo>
                  <a:lnTo>
                    <a:pt x="11" y="21"/>
                  </a:lnTo>
                  <a:lnTo>
                    <a:pt x="0" y="1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04" name="Freeform 674">
              <a:extLst>
                <a:ext uri="{FF2B5EF4-FFF2-40B4-BE49-F238E27FC236}">
                  <a16:creationId xmlns:a16="http://schemas.microsoft.com/office/drawing/2014/main" id="{E909CC32-448E-9F76-32C5-799702DBB18A}"/>
                </a:ext>
              </a:extLst>
            </p:cNvPr>
            <p:cNvSpPr>
              <a:spLocks/>
            </p:cNvSpPr>
            <p:nvPr/>
          </p:nvSpPr>
          <p:spPr bwMode="auto">
            <a:xfrm>
              <a:off x="3610638" y="4585706"/>
              <a:ext cx="143588" cy="181746"/>
            </a:xfrm>
            <a:custGeom>
              <a:avLst/>
              <a:gdLst/>
              <a:ahLst/>
              <a:cxnLst>
                <a:cxn ang="0">
                  <a:pos x="43" y="0"/>
                </a:cxn>
                <a:cxn ang="0">
                  <a:pos x="46" y="19"/>
                </a:cxn>
                <a:cxn ang="0">
                  <a:pos x="31" y="30"/>
                </a:cxn>
                <a:cxn ang="0">
                  <a:pos x="30" y="34"/>
                </a:cxn>
                <a:cxn ang="0">
                  <a:pos x="14" y="49"/>
                </a:cxn>
                <a:cxn ang="0">
                  <a:pos x="0" y="57"/>
                </a:cxn>
                <a:cxn ang="0">
                  <a:pos x="4" y="48"/>
                </a:cxn>
                <a:cxn ang="0">
                  <a:pos x="37" y="19"/>
                </a:cxn>
                <a:cxn ang="0">
                  <a:pos x="43" y="0"/>
                </a:cxn>
              </a:cxnLst>
              <a:rect l="0" t="0" r="r" b="b"/>
              <a:pathLst>
                <a:path w="46" h="57">
                  <a:moveTo>
                    <a:pt x="43" y="0"/>
                  </a:moveTo>
                  <a:lnTo>
                    <a:pt x="46" y="19"/>
                  </a:lnTo>
                  <a:lnTo>
                    <a:pt x="31" y="30"/>
                  </a:lnTo>
                  <a:lnTo>
                    <a:pt x="30" y="34"/>
                  </a:lnTo>
                  <a:lnTo>
                    <a:pt x="14" y="49"/>
                  </a:lnTo>
                  <a:lnTo>
                    <a:pt x="0" y="57"/>
                  </a:lnTo>
                  <a:lnTo>
                    <a:pt x="4" y="48"/>
                  </a:lnTo>
                  <a:lnTo>
                    <a:pt x="37" y="19"/>
                  </a:lnTo>
                  <a:lnTo>
                    <a:pt x="43"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05" name="Freeform 675">
              <a:extLst>
                <a:ext uri="{FF2B5EF4-FFF2-40B4-BE49-F238E27FC236}">
                  <a16:creationId xmlns:a16="http://schemas.microsoft.com/office/drawing/2014/main" id="{E371BD4C-138B-DACE-281B-9FBED07BDFC9}"/>
                </a:ext>
              </a:extLst>
            </p:cNvPr>
            <p:cNvSpPr>
              <a:spLocks/>
            </p:cNvSpPr>
            <p:nvPr/>
          </p:nvSpPr>
          <p:spPr bwMode="auto">
            <a:xfrm>
              <a:off x="3769832" y="4968327"/>
              <a:ext cx="18729" cy="15941"/>
            </a:xfrm>
            <a:custGeom>
              <a:avLst/>
              <a:gdLst/>
              <a:ahLst/>
              <a:cxnLst>
                <a:cxn ang="0">
                  <a:pos x="0" y="5"/>
                </a:cxn>
                <a:cxn ang="0">
                  <a:pos x="2" y="1"/>
                </a:cxn>
                <a:cxn ang="0">
                  <a:pos x="6" y="0"/>
                </a:cxn>
                <a:cxn ang="0">
                  <a:pos x="0" y="5"/>
                </a:cxn>
              </a:cxnLst>
              <a:rect l="0" t="0" r="r" b="b"/>
              <a:pathLst>
                <a:path w="6" h="5">
                  <a:moveTo>
                    <a:pt x="0" y="5"/>
                  </a:moveTo>
                  <a:lnTo>
                    <a:pt x="2" y="1"/>
                  </a:lnTo>
                  <a:lnTo>
                    <a:pt x="6" y="0"/>
                  </a:lnTo>
                  <a:lnTo>
                    <a:pt x="0" y="5"/>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06" name="Freeform 676">
              <a:extLst>
                <a:ext uri="{FF2B5EF4-FFF2-40B4-BE49-F238E27FC236}">
                  <a16:creationId xmlns:a16="http://schemas.microsoft.com/office/drawing/2014/main" id="{F66C0C26-53FD-DA25-CE56-EE54BB4D8C5E}"/>
                </a:ext>
              </a:extLst>
            </p:cNvPr>
            <p:cNvSpPr>
              <a:spLocks/>
            </p:cNvSpPr>
            <p:nvPr/>
          </p:nvSpPr>
          <p:spPr bwMode="auto">
            <a:xfrm>
              <a:off x="3835386" y="4914121"/>
              <a:ext cx="28093" cy="15941"/>
            </a:xfrm>
            <a:custGeom>
              <a:avLst/>
              <a:gdLst/>
              <a:ahLst/>
              <a:cxnLst>
                <a:cxn ang="0">
                  <a:pos x="0" y="4"/>
                </a:cxn>
                <a:cxn ang="0">
                  <a:pos x="3" y="0"/>
                </a:cxn>
                <a:cxn ang="0">
                  <a:pos x="9" y="3"/>
                </a:cxn>
                <a:cxn ang="0">
                  <a:pos x="8" y="5"/>
                </a:cxn>
                <a:cxn ang="0">
                  <a:pos x="0" y="4"/>
                </a:cxn>
              </a:cxnLst>
              <a:rect l="0" t="0" r="r" b="b"/>
              <a:pathLst>
                <a:path w="9" h="5">
                  <a:moveTo>
                    <a:pt x="0" y="4"/>
                  </a:moveTo>
                  <a:lnTo>
                    <a:pt x="3" y="0"/>
                  </a:lnTo>
                  <a:lnTo>
                    <a:pt x="9" y="3"/>
                  </a:lnTo>
                  <a:lnTo>
                    <a:pt x="8" y="5"/>
                  </a:lnTo>
                  <a:lnTo>
                    <a:pt x="0" y="4"/>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07" name="Freeform 677">
              <a:extLst>
                <a:ext uri="{FF2B5EF4-FFF2-40B4-BE49-F238E27FC236}">
                  <a16:creationId xmlns:a16="http://schemas.microsoft.com/office/drawing/2014/main" id="{CC0F60A4-7B84-874D-85DC-A8AE014B0E5A}"/>
                </a:ext>
              </a:extLst>
            </p:cNvPr>
            <p:cNvSpPr>
              <a:spLocks/>
            </p:cNvSpPr>
            <p:nvPr/>
          </p:nvSpPr>
          <p:spPr bwMode="auto">
            <a:xfrm>
              <a:off x="3888448" y="4879047"/>
              <a:ext cx="31217" cy="12752"/>
            </a:xfrm>
            <a:custGeom>
              <a:avLst/>
              <a:gdLst/>
              <a:ahLst/>
              <a:cxnLst>
                <a:cxn ang="0">
                  <a:pos x="0" y="0"/>
                </a:cxn>
                <a:cxn ang="0">
                  <a:pos x="10" y="0"/>
                </a:cxn>
                <a:cxn ang="0">
                  <a:pos x="3" y="4"/>
                </a:cxn>
                <a:cxn ang="0">
                  <a:pos x="0" y="0"/>
                </a:cxn>
              </a:cxnLst>
              <a:rect l="0" t="0" r="r" b="b"/>
              <a:pathLst>
                <a:path w="10" h="4">
                  <a:moveTo>
                    <a:pt x="0" y="0"/>
                  </a:moveTo>
                  <a:lnTo>
                    <a:pt x="10" y="0"/>
                  </a:lnTo>
                  <a:lnTo>
                    <a:pt x="3" y="4"/>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08" name="Freeform 678">
              <a:extLst>
                <a:ext uri="{FF2B5EF4-FFF2-40B4-BE49-F238E27FC236}">
                  <a16:creationId xmlns:a16="http://schemas.microsoft.com/office/drawing/2014/main" id="{805F776E-A99A-409C-D651-A830884562C5}"/>
                </a:ext>
              </a:extLst>
            </p:cNvPr>
            <p:cNvSpPr>
              <a:spLocks/>
            </p:cNvSpPr>
            <p:nvPr/>
          </p:nvSpPr>
          <p:spPr bwMode="auto">
            <a:xfrm>
              <a:off x="3894696" y="4687738"/>
              <a:ext cx="277810" cy="255082"/>
            </a:xfrm>
            <a:custGeom>
              <a:avLst/>
              <a:gdLst/>
              <a:ahLst/>
              <a:cxnLst>
                <a:cxn ang="0">
                  <a:pos x="68" y="0"/>
                </a:cxn>
                <a:cxn ang="0">
                  <a:pos x="72" y="0"/>
                </a:cxn>
                <a:cxn ang="0">
                  <a:pos x="82" y="11"/>
                </a:cxn>
                <a:cxn ang="0">
                  <a:pos x="84" y="19"/>
                </a:cxn>
                <a:cxn ang="0">
                  <a:pos x="82" y="22"/>
                </a:cxn>
                <a:cxn ang="0">
                  <a:pos x="84" y="25"/>
                </a:cxn>
                <a:cxn ang="0">
                  <a:pos x="89" y="44"/>
                </a:cxn>
                <a:cxn ang="0">
                  <a:pos x="83" y="65"/>
                </a:cxn>
                <a:cxn ang="0">
                  <a:pos x="77" y="47"/>
                </a:cxn>
                <a:cxn ang="0">
                  <a:pos x="69" y="55"/>
                </a:cxn>
                <a:cxn ang="0">
                  <a:pos x="68" y="60"/>
                </a:cxn>
                <a:cxn ang="0">
                  <a:pos x="74" y="70"/>
                </a:cxn>
                <a:cxn ang="0">
                  <a:pos x="69" y="80"/>
                </a:cxn>
                <a:cxn ang="0">
                  <a:pos x="65" y="71"/>
                </a:cxn>
                <a:cxn ang="0">
                  <a:pos x="58" y="75"/>
                </a:cxn>
                <a:cxn ang="0">
                  <a:pos x="44" y="66"/>
                </a:cxn>
                <a:cxn ang="0">
                  <a:pos x="40" y="54"/>
                </a:cxn>
                <a:cxn ang="0">
                  <a:pos x="44" y="45"/>
                </a:cxn>
                <a:cxn ang="0">
                  <a:pos x="34" y="36"/>
                </a:cxn>
                <a:cxn ang="0">
                  <a:pos x="28" y="45"/>
                </a:cxn>
                <a:cxn ang="0">
                  <a:pos x="24" y="40"/>
                </a:cxn>
                <a:cxn ang="0">
                  <a:pos x="19" y="47"/>
                </a:cxn>
                <a:cxn ang="0">
                  <a:pos x="18" y="40"/>
                </a:cxn>
                <a:cxn ang="0">
                  <a:pos x="14" y="40"/>
                </a:cxn>
                <a:cxn ang="0">
                  <a:pos x="6" y="55"/>
                </a:cxn>
                <a:cxn ang="0">
                  <a:pos x="1" y="55"/>
                </a:cxn>
                <a:cxn ang="0">
                  <a:pos x="0" y="51"/>
                </a:cxn>
                <a:cxn ang="0">
                  <a:pos x="8" y="34"/>
                </a:cxn>
                <a:cxn ang="0">
                  <a:pos x="19" y="30"/>
                </a:cxn>
                <a:cxn ang="0">
                  <a:pos x="28" y="20"/>
                </a:cxn>
                <a:cxn ang="0">
                  <a:pos x="35" y="22"/>
                </a:cxn>
                <a:cxn ang="0">
                  <a:pos x="34" y="34"/>
                </a:cxn>
                <a:cxn ang="0">
                  <a:pos x="43" y="30"/>
                </a:cxn>
                <a:cxn ang="0">
                  <a:pos x="45" y="24"/>
                </a:cxn>
                <a:cxn ang="0">
                  <a:pos x="52" y="24"/>
                </a:cxn>
                <a:cxn ang="0">
                  <a:pos x="55" y="15"/>
                </a:cxn>
                <a:cxn ang="0">
                  <a:pos x="69" y="14"/>
                </a:cxn>
                <a:cxn ang="0">
                  <a:pos x="68" y="0"/>
                </a:cxn>
              </a:cxnLst>
              <a:rect l="0" t="0" r="r" b="b"/>
              <a:pathLst>
                <a:path w="89" h="80">
                  <a:moveTo>
                    <a:pt x="68" y="0"/>
                  </a:moveTo>
                  <a:lnTo>
                    <a:pt x="72" y="0"/>
                  </a:lnTo>
                  <a:lnTo>
                    <a:pt x="82" y="11"/>
                  </a:lnTo>
                  <a:lnTo>
                    <a:pt x="84" y="19"/>
                  </a:lnTo>
                  <a:lnTo>
                    <a:pt x="82" y="22"/>
                  </a:lnTo>
                  <a:lnTo>
                    <a:pt x="84" y="25"/>
                  </a:lnTo>
                  <a:lnTo>
                    <a:pt x="89" y="44"/>
                  </a:lnTo>
                  <a:lnTo>
                    <a:pt x="83" y="65"/>
                  </a:lnTo>
                  <a:lnTo>
                    <a:pt x="77" y="47"/>
                  </a:lnTo>
                  <a:lnTo>
                    <a:pt x="69" y="55"/>
                  </a:lnTo>
                  <a:lnTo>
                    <a:pt x="68" y="60"/>
                  </a:lnTo>
                  <a:lnTo>
                    <a:pt x="74" y="70"/>
                  </a:lnTo>
                  <a:lnTo>
                    <a:pt x="69" y="80"/>
                  </a:lnTo>
                  <a:lnTo>
                    <a:pt x="65" y="71"/>
                  </a:lnTo>
                  <a:lnTo>
                    <a:pt x="58" y="75"/>
                  </a:lnTo>
                  <a:lnTo>
                    <a:pt x="44" y="66"/>
                  </a:lnTo>
                  <a:lnTo>
                    <a:pt x="40" y="54"/>
                  </a:lnTo>
                  <a:lnTo>
                    <a:pt x="44" y="45"/>
                  </a:lnTo>
                  <a:lnTo>
                    <a:pt x="34" y="36"/>
                  </a:lnTo>
                  <a:lnTo>
                    <a:pt x="28" y="45"/>
                  </a:lnTo>
                  <a:lnTo>
                    <a:pt x="24" y="40"/>
                  </a:lnTo>
                  <a:lnTo>
                    <a:pt x="19" y="47"/>
                  </a:lnTo>
                  <a:lnTo>
                    <a:pt x="18" y="40"/>
                  </a:lnTo>
                  <a:lnTo>
                    <a:pt x="14" y="40"/>
                  </a:lnTo>
                  <a:lnTo>
                    <a:pt x="6" y="55"/>
                  </a:lnTo>
                  <a:lnTo>
                    <a:pt x="1" y="55"/>
                  </a:lnTo>
                  <a:lnTo>
                    <a:pt x="0" y="51"/>
                  </a:lnTo>
                  <a:lnTo>
                    <a:pt x="8" y="34"/>
                  </a:lnTo>
                  <a:lnTo>
                    <a:pt x="19" y="30"/>
                  </a:lnTo>
                  <a:lnTo>
                    <a:pt x="28" y="20"/>
                  </a:lnTo>
                  <a:lnTo>
                    <a:pt x="35" y="22"/>
                  </a:lnTo>
                  <a:lnTo>
                    <a:pt x="34" y="34"/>
                  </a:lnTo>
                  <a:lnTo>
                    <a:pt x="43" y="30"/>
                  </a:lnTo>
                  <a:lnTo>
                    <a:pt x="45" y="24"/>
                  </a:lnTo>
                  <a:lnTo>
                    <a:pt x="52" y="24"/>
                  </a:lnTo>
                  <a:lnTo>
                    <a:pt x="55" y="15"/>
                  </a:lnTo>
                  <a:lnTo>
                    <a:pt x="69" y="14"/>
                  </a:lnTo>
                  <a:lnTo>
                    <a:pt x="68" y="0"/>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09" name="Freeform 679">
              <a:extLst>
                <a:ext uri="{FF2B5EF4-FFF2-40B4-BE49-F238E27FC236}">
                  <a16:creationId xmlns:a16="http://schemas.microsoft.com/office/drawing/2014/main" id="{FBE99481-AED8-4748-42F6-48A06FF8AC90}"/>
                </a:ext>
              </a:extLst>
            </p:cNvPr>
            <p:cNvSpPr>
              <a:spLocks/>
            </p:cNvSpPr>
            <p:nvPr/>
          </p:nvSpPr>
          <p:spPr bwMode="auto">
            <a:xfrm>
              <a:off x="4010191" y="4662228"/>
              <a:ext cx="46822" cy="31885"/>
            </a:xfrm>
            <a:custGeom>
              <a:avLst/>
              <a:gdLst/>
              <a:ahLst/>
              <a:cxnLst>
                <a:cxn ang="0">
                  <a:pos x="0" y="6"/>
                </a:cxn>
                <a:cxn ang="0">
                  <a:pos x="7" y="0"/>
                </a:cxn>
                <a:cxn ang="0">
                  <a:pos x="15" y="1"/>
                </a:cxn>
                <a:cxn ang="0">
                  <a:pos x="13" y="9"/>
                </a:cxn>
                <a:cxn ang="0">
                  <a:pos x="2" y="10"/>
                </a:cxn>
                <a:cxn ang="0">
                  <a:pos x="0" y="6"/>
                </a:cxn>
              </a:cxnLst>
              <a:rect l="0" t="0" r="r" b="b"/>
              <a:pathLst>
                <a:path w="15" h="10">
                  <a:moveTo>
                    <a:pt x="0" y="6"/>
                  </a:moveTo>
                  <a:lnTo>
                    <a:pt x="7" y="0"/>
                  </a:lnTo>
                  <a:lnTo>
                    <a:pt x="15" y="1"/>
                  </a:lnTo>
                  <a:lnTo>
                    <a:pt x="13" y="9"/>
                  </a:lnTo>
                  <a:lnTo>
                    <a:pt x="2" y="10"/>
                  </a:lnTo>
                  <a:lnTo>
                    <a:pt x="0" y="6"/>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0" name="Freeform 680">
              <a:extLst>
                <a:ext uri="{FF2B5EF4-FFF2-40B4-BE49-F238E27FC236}">
                  <a16:creationId xmlns:a16="http://schemas.microsoft.com/office/drawing/2014/main" id="{43E5AD58-C5D3-5E8D-C91D-912154148DA4}"/>
                </a:ext>
              </a:extLst>
            </p:cNvPr>
            <p:cNvSpPr>
              <a:spLocks/>
            </p:cNvSpPr>
            <p:nvPr/>
          </p:nvSpPr>
          <p:spPr bwMode="auto">
            <a:xfrm>
              <a:off x="3982093" y="4595275"/>
              <a:ext cx="37456" cy="108413"/>
            </a:xfrm>
            <a:custGeom>
              <a:avLst/>
              <a:gdLst/>
              <a:ahLst/>
              <a:cxnLst>
                <a:cxn ang="0">
                  <a:pos x="12" y="0"/>
                </a:cxn>
                <a:cxn ang="0">
                  <a:pos x="12" y="16"/>
                </a:cxn>
                <a:cxn ang="0">
                  <a:pos x="0" y="34"/>
                </a:cxn>
                <a:cxn ang="0">
                  <a:pos x="0" y="27"/>
                </a:cxn>
                <a:cxn ang="0">
                  <a:pos x="12" y="0"/>
                </a:cxn>
              </a:cxnLst>
              <a:rect l="0" t="0" r="r" b="b"/>
              <a:pathLst>
                <a:path w="12" h="34">
                  <a:moveTo>
                    <a:pt x="12" y="0"/>
                  </a:moveTo>
                  <a:lnTo>
                    <a:pt x="12" y="16"/>
                  </a:lnTo>
                  <a:lnTo>
                    <a:pt x="0" y="34"/>
                  </a:lnTo>
                  <a:lnTo>
                    <a:pt x="0" y="27"/>
                  </a:lnTo>
                  <a:lnTo>
                    <a:pt x="12"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1" name="Freeform 681">
              <a:extLst>
                <a:ext uri="{FF2B5EF4-FFF2-40B4-BE49-F238E27FC236}">
                  <a16:creationId xmlns:a16="http://schemas.microsoft.com/office/drawing/2014/main" id="{1D3B71BC-36D6-F46C-4295-1481D633E365}"/>
                </a:ext>
              </a:extLst>
            </p:cNvPr>
            <p:cNvSpPr>
              <a:spLocks/>
            </p:cNvSpPr>
            <p:nvPr/>
          </p:nvSpPr>
          <p:spPr bwMode="auto">
            <a:xfrm>
              <a:off x="4113196" y="4646287"/>
              <a:ext cx="9363" cy="35074"/>
            </a:xfrm>
            <a:custGeom>
              <a:avLst/>
              <a:gdLst/>
              <a:ahLst/>
              <a:cxnLst>
                <a:cxn ang="0">
                  <a:pos x="0" y="5"/>
                </a:cxn>
                <a:cxn ang="0">
                  <a:pos x="3" y="0"/>
                </a:cxn>
                <a:cxn ang="0">
                  <a:pos x="3" y="11"/>
                </a:cxn>
                <a:cxn ang="0">
                  <a:pos x="0" y="5"/>
                </a:cxn>
              </a:cxnLst>
              <a:rect l="0" t="0" r="r" b="b"/>
              <a:pathLst>
                <a:path w="3" h="11">
                  <a:moveTo>
                    <a:pt x="0" y="5"/>
                  </a:moveTo>
                  <a:lnTo>
                    <a:pt x="3" y="0"/>
                  </a:lnTo>
                  <a:lnTo>
                    <a:pt x="3" y="11"/>
                  </a:lnTo>
                  <a:lnTo>
                    <a:pt x="0" y="5"/>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2" name="Freeform 682">
              <a:extLst>
                <a:ext uri="{FF2B5EF4-FFF2-40B4-BE49-F238E27FC236}">
                  <a16:creationId xmlns:a16="http://schemas.microsoft.com/office/drawing/2014/main" id="{63474848-2D5F-1884-E20E-74DE0E936D89}"/>
                </a:ext>
              </a:extLst>
            </p:cNvPr>
            <p:cNvSpPr>
              <a:spLocks/>
            </p:cNvSpPr>
            <p:nvPr/>
          </p:nvSpPr>
          <p:spPr bwMode="auto">
            <a:xfrm>
              <a:off x="4041405" y="4579328"/>
              <a:ext cx="53062" cy="92469"/>
            </a:xfrm>
            <a:custGeom>
              <a:avLst/>
              <a:gdLst/>
              <a:ahLst/>
              <a:cxnLst>
                <a:cxn ang="0">
                  <a:pos x="0" y="0"/>
                </a:cxn>
                <a:cxn ang="0">
                  <a:pos x="12" y="6"/>
                </a:cxn>
                <a:cxn ang="0">
                  <a:pos x="17" y="25"/>
                </a:cxn>
                <a:cxn ang="0">
                  <a:pos x="13" y="25"/>
                </a:cxn>
                <a:cxn ang="0">
                  <a:pos x="12" y="29"/>
                </a:cxn>
                <a:cxn ang="0">
                  <a:pos x="8" y="24"/>
                </a:cxn>
                <a:cxn ang="0">
                  <a:pos x="6" y="11"/>
                </a:cxn>
                <a:cxn ang="0">
                  <a:pos x="2" y="12"/>
                </a:cxn>
                <a:cxn ang="0">
                  <a:pos x="0" y="0"/>
                </a:cxn>
              </a:cxnLst>
              <a:rect l="0" t="0" r="r" b="b"/>
              <a:pathLst>
                <a:path w="17" h="29">
                  <a:moveTo>
                    <a:pt x="0" y="0"/>
                  </a:moveTo>
                  <a:lnTo>
                    <a:pt x="12" y="6"/>
                  </a:lnTo>
                  <a:lnTo>
                    <a:pt x="17" y="25"/>
                  </a:lnTo>
                  <a:lnTo>
                    <a:pt x="13" y="25"/>
                  </a:lnTo>
                  <a:lnTo>
                    <a:pt x="12" y="29"/>
                  </a:lnTo>
                  <a:lnTo>
                    <a:pt x="8" y="24"/>
                  </a:lnTo>
                  <a:lnTo>
                    <a:pt x="6" y="11"/>
                  </a:lnTo>
                  <a:lnTo>
                    <a:pt x="2" y="12"/>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3" name="Freeform 683">
              <a:extLst>
                <a:ext uri="{FF2B5EF4-FFF2-40B4-BE49-F238E27FC236}">
                  <a16:creationId xmlns:a16="http://schemas.microsoft.com/office/drawing/2014/main" id="{F42E29A4-8C23-375D-83D8-110CE754E27F}"/>
                </a:ext>
              </a:extLst>
            </p:cNvPr>
            <p:cNvSpPr>
              <a:spLocks/>
            </p:cNvSpPr>
            <p:nvPr/>
          </p:nvSpPr>
          <p:spPr bwMode="auto">
            <a:xfrm>
              <a:off x="3925907" y="4611216"/>
              <a:ext cx="62428" cy="121159"/>
            </a:xfrm>
            <a:custGeom>
              <a:avLst/>
              <a:gdLst/>
              <a:ahLst/>
              <a:cxnLst>
                <a:cxn ang="0">
                  <a:pos x="10" y="2"/>
                </a:cxn>
                <a:cxn ang="0">
                  <a:pos x="13" y="0"/>
                </a:cxn>
                <a:cxn ang="0">
                  <a:pos x="20" y="2"/>
                </a:cxn>
                <a:cxn ang="0">
                  <a:pos x="20" y="5"/>
                </a:cxn>
                <a:cxn ang="0">
                  <a:pos x="14" y="22"/>
                </a:cxn>
                <a:cxn ang="0">
                  <a:pos x="14" y="35"/>
                </a:cxn>
                <a:cxn ang="0">
                  <a:pos x="12" y="38"/>
                </a:cxn>
                <a:cxn ang="0">
                  <a:pos x="0" y="24"/>
                </a:cxn>
                <a:cxn ang="0">
                  <a:pos x="1" y="20"/>
                </a:cxn>
                <a:cxn ang="0">
                  <a:pos x="6" y="19"/>
                </a:cxn>
                <a:cxn ang="0">
                  <a:pos x="10" y="2"/>
                </a:cxn>
              </a:cxnLst>
              <a:rect l="0" t="0" r="r" b="b"/>
              <a:pathLst>
                <a:path w="20" h="38">
                  <a:moveTo>
                    <a:pt x="10" y="2"/>
                  </a:moveTo>
                  <a:lnTo>
                    <a:pt x="13" y="0"/>
                  </a:lnTo>
                  <a:lnTo>
                    <a:pt x="20" y="2"/>
                  </a:lnTo>
                  <a:lnTo>
                    <a:pt x="20" y="5"/>
                  </a:lnTo>
                  <a:lnTo>
                    <a:pt x="14" y="22"/>
                  </a:lnTo>
                  <a:lnTo>
                    <a:pt x="14" y="35"/>
                  </a:lnTo>
                  <a:lnTo>
                    <a:pt x="12" y="38"/>
                  </a:lnTo>
                  <a:lnTo>
                    <a:pt x="0" y="24"/>
                  </a:lnTo>
                  <a:lnTo>
                    <a:pt x="1" y="20"/>
                  </a:lnTo>
                  <a:lnTo>
                    <a:pt x="6" y="19"/>
                  </a:lnTo>
                  <a:lnTo>
                    <a:pt x="10" y="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4" name="Freeform 684">
              <a:extLst>
                <a:ext uri="{FF2B5EF4-FFF2-40B4-BE49-F238E27FC236}">
                  <a16:creationId xmlns:a16="http://schemas.microsoft.com/office/drawing/2014/main" id="{A996C2A7-EE67-DB6D-2723-4515F6B520FC}"/>
                </a:ext>
              </a:extLst>
            </p:cNvPr>
            <p:cNvSpPr>
              <a:spLocks/>
            </p:cNvSpPr>
            <p:nvPr/>
          </p:nvSpPr>
          <p:spPr bwMode="auto">
            <a:xfrm>
              <a:off x="3894696" y="4553821"/>
              <a:ext cx="68673" cy="92469"/>
            </a:xfrm>
            <a:custGeom>
              <a:avLst/>
              <a:gdLst/>
              <a:ahLst/>
              <a:cxnLst>
                <a:cxn ang="0">
                  <a:pos x="0" y="0"/>
                </a:cxn>
                <a:cxn ang="0">
                  <a:pos x="10" y="5"/>
                </a:cxn>
                <a:cxn ang="0">
                  <a:pos x="22" y="7"/>
                </a:cxn>
                <a:cxn ang="0">
                  <a:pos x="21" y="15"/>
                </a:cxn>
                <a:cxn ang="0">
                  <a:pos x="1" y="29"/>
                </a:cxn>
                <a:cxn ang="0">
                  <a:pos x="0" y="0"/>
                </a:cxn>
              </a:cxnLst>
              <a:rect l="0" t="0" r="r" b="b"/>
              <a:pathLst>
                <a:path w="22" h="29">
                  <a:moveTo>
                    <a:pt x="0" y="0"/>
                  </a:moveTo>
                  <a:lnTo>
                    <a:pt x="10" y="5"/>
                  </a:lnTo>
                  <a:lnTo>
                    <a:pt x="22" y="7"/>
                  </a:lnTo>
                  <a:lnTo>
                    <a:pt x="21" y="15"/>
                  </a:lnTo>
                  <a:lnTo>
                    <a:pt x="1" y="29"/>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5" name="Freeform 685">
              <a:extLst>
                <a:ext uri="{FF2B5EF4-FFF2-40B4-BE49-F238E27FC236}">
                  <a16:creationId xmlns:a16="http://schemas.microsoft.com/office/drawing/2014/main" id="{52B7958D-25A7-B715-B854-97E9587A9157}"/>
                </a:ext>
              </a:extLst>
            </p:cNvPr>
            <p:cNvSpPr>
              <a:spLocks/>
            </p:cNvSpPr>
            <p:nvPr/>
          </p:nvSpPr>
          <p:spPr bwMode="auto">
            <a:xfrm>
              <a:off x="4041405" y="4512370"/>
              <a:ext cx="84284" cy="95655"/>
            </a:xfrm>
            <a:custGeom>
              <a:avLst/>
              <a:gdLst/>
              <a:ahLst/>
              <a:cxnLst>
                <a:cxn ang="0">
                  <a:pos x="0" y="0"/>
                </a:cxn>
                <a:cxn ang="0">
                  <a:pos x="17" y="1"/>
                </a:cxn>
                <a:cxn ang="0">
                  <a:pos x="22" y="6"/>
                </a:cxn>
                <a:cxn ang="0">
                  <a:pos x="22" y="18"/>
                </a:cxn>
                <a:cxn ang="0">
                  <a:pos x="27" y="30"/>
                </a:cxn>
                <a:cxn ang="0">
                  <a:pos x="17" y="28"/>
                </a:cxn>
                <a:cxn ang="0">
                  <a:pos x="0" y="0"/>
                </a:cxn>
              </a:cxnLst>
              <a:rect l="0" t="0" r="r" b="b"/>
              <a:pathLst>
                <a:path w="27" h="30">
                  <a:moveTo>
                    <a:pt x="0" y="0"/>
                  </a:moveTo>
                  <a:lnTo>
                    <a:pt x="17" y="1"/>
                  </a:lnTo>
                  <a:lnTo>
                    <a:pt x="22" y="6"/>
                  </a:lnTo>
                  <a:lnTo>
                    <a:pt x="22" y="18"/>
                  </a:lnTo>
                  <a:lnTo>
                    <a:pt x="27" y="30"/>
                  </a:lnTo>
                  <a:lnTo>
                    <a:pt x="17" y="28"/>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6" name="Freeform 686">
              <a:extLst>
                <a:ext uri="{FF2B5EF4-FFF2-40B4-BE49-F238E27FC236}">
                  <a16:creationId xmlns:a16="http://schemas.microsoft.com/office/drawing/2014/main" id="{F6457973-73D2-FD63-49AE-32862ED7DD1C}"/>
                </a:ext>
              </a:extLst>
            </p:cNvPr>
            <p:cNvSpPr>
              <a:spLocks/>
            </p:cNvSpPr>
            <p:nvPr/>
          </p:nvSpPr>
          <p:spPr bwMode="auto">
            <a:xfrm>
              <a:off x="3969611" y="4505995"/>
              <a:ext cx="49943" cy="54206"/>
            </a:xfrm>
            <a:custGeom>
              <a:avLst/>
              <a:gdLst/>
              <a:ahLst/>
              <a:cxnLst>
                <a:cxn ang="0">
                  <a:pos x="1" y="0"/>
                </a:cxn>
                <a:cxn ang="0">
                  <a:pos x="15" y="12"/>
                </a:cxn>
                <a:cxn ang="0">
                  <a:pos x="16" y="17"/>
                </a:cxn>
                <a:cxn ang="0">
                  <a:pos x="6" y="9"/>
                </a:cxn>
                <a:cxn ang="0">
                  <a:pos x="0" y="12"/>
                </a:cxn>
                <a:cxn ang="0">
                  <a:pos x="1" y="0"/>
                </a:cxn>
              </a:cxnLst>
              <a:rect l="0" t="0" r="r" b="b"/>
              <a:pathLst>
                <a:path w="16" h="17">
                  <a:moveTo>
                    <a:pt x="1" y="0"/>
                  </a:moveTo>
                  <a:lnTo>
                    <a:pt x="15" y="12"/>
                  </a:lnTo>
                  <a:lnTo>
                    <a:pt x="16" y="17"/>
                  </a:lnTo>
                  <a:lnTo>
                    <a:pt x="6" y="9"/>
                  </a:lnTo>
                  <a:lnTo>
                    <a:pt x="0" y="12"/>
                  </a:lnTo>
                  <a:lnTo>
                    <a:pt x="1"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7" name="Freeform 687">
              <a:extLst>
                <a:ext uri="{FF2B5EF4-FFF2-40B4-BE49-F238E27FC236}">
                  <a16:creationId xmlns:a16="http://schemas.microsoft.com/office/drawing/2014/main" id="{3DE2CEF5-483F-B12A-FF64-13B2E1D46E0C}"/>
                </a:ext>
              </a:extLst>
            </p:cNvPr>
            <p:cNvSpPr>
              <a:spLocks/>
            </p:cNvSpPr>
            <p:nvPr/>
          </p:nvSpPr>
          <p:spPr bwMode="auto">
            <a:xfrm>
              <a:off x="3897814" y="4505995"/>
              <a:ext cx="9363" cy="28696"/>
            </a:xfrm>
            <a:custGeom>
              <a:avLst/>
              <a:gdLst/>
              <a:ahLst/>
              <a:cxnLst>
                <a:cxn ang="0">
                  <a:pos x="0" y="3"/>
                </a:cxn>
                <a:cxn ang="0">
                  <a:pos x="3" y="0"/>
                </a:cxn>
                <a:cxn ang="0">
                  <a:pos x="0" y="9"/>
                </a:cxn>
                <a:cxn ang="0">
                  <a:pos x="0" y="3"/>
                </a:cxn>
              </a:cxnLst>
              <a:rect l="0" t="0" r="r" b="b"/>
              <a:pathLst>
                <a:path w="3" h="9">
                  <a:moveTo>
                    <a:pt x="0" y="3"/>
                  </a:moveTo>
                  <a:lnTo>
                    <a:pt x="3" y="0"/>
                  </a:lnTo>
                  <a:lnTo>
                    <a:pt x="0" y="9"/>
                  </a:lnTo>
                  <a:lnTo>
                    <a:pt x="0" y="3"/>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8" name="Freeform 688">
              <a:extLst>
                <a:ext uri="{FF2B5EF4-FFF2-40B4-BE49-F238E27FC236}">
                  <a16:creationId xmlns:a16="http://schemas.microsoft.com/office/drawing/2014/main" id="{DAA06DB2-59E4-56F8-1826-31FC7AA139D7}"/>
                </a:ext>
              </a:extLst>
            </p:cNvPr>
            <p:cNvSpPr>
              <a:spLocks/>
            </p:cNvSpPr>
            <p:nvPr/>
          </p:nvSpPr>
          <p:spPr bwMode="auto">
            <a:xfrm>
              <a:off x="3888448" y="4451789"/>
              <a:ext cx="15611" cy="19133"/>
            </a:xfrm>
            <a:custGeom>
              <a:avLst/>
              <a:gdLst/>
              <a:ahLst/>
              <a:cxnLst>
                <a:cxn ang="0">
                  <a:pos x="1" y="3"/>
                </a:cxn>
                <a:cxn ang="0">
                  <a:pos x="0" y="0"/>
                </a:cxn>
                <a:cxn ang="0">
                  <a:pos x="5" y="1"/>
                </a:cxn>
                <a:cxn ang="0">
                  <a:pos x="5" y="6"/>
                </a:cxn>
                <a:cxn ang="0">
                  <a:pos x="1" y="3"/>
                </a:cxn>
              </a:cxnLst>
              <a:rect l="0" t="0" r="r" b="b"/>
              <a:pathLst>
                <a:path w="5" h="6">
                  <a:moveTo>
                    <a:pt x="1" y="3"/>
                  </a:moveTo>
                  <a:lnTo>
                    <a:pt x="0" y="0"/>
                  </a:lnTo>
                  <a:lnTo>
                    <a:pt x="5" y="1"/>
                  </a:lnTo>
                  <a:lnTo>
                    <a:pt x="5" y="6"/>
                  </a:lnTo>
                  <a:lnTo>
                    <a:pt x="1" y="3"/>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9" name="Freeform 689">
              <a:extLst>
                <a:ext uri="{FF2B5EF4-FFF2-40B4-BE49-F238E27FC236}">
                  <a16:creationId xmlns:a16="http://schemas.microsoft.com/office/drawing/2014/main" id="{D4284FAA-A339-517A-54BC-8065123B92A8}"/>
                </a:ext>
              </a:extLst>
            </p:cNvPr>
            <p:cNvSpPr>
              <a:spLocks/>
            </p:cNvSpPr>
            <p:nvPr/>
          </p:nvSpPr>
          <p:spPr bwMode="auto">
            <a:xfrm>
              <a:off x="3891572" y="4349757"/>
              <a:ext cx="6242" cy="25510"/>
            </a:xfrm>
            <a:custGeom>
              <a:avLst/>
              <a:gdLst/>
              <a:ahLst/>
              <a:cxnLst>
                <a:cxn ang="0">
                  <a:pos x="0" y="2"/>
                </a:cxn>
                <a:cxn ang="0">
                  <a:pos x="2" y="0"/>
                </a:cxn>
                <a:cxn ang="0">
                  <a:pos x="2" y="8"/>
                </a:cxn>
                <a:cxn ang="0">
                  <a:pos x="0" y="2"/>
                </a:cxn>
              </a:cxnLst>
              <a:rect l="0" t="0" r="r" b="b"/>
              <a:pathLst>
                <a:path w="2" h="8">
                  <a:moveTo>
                    <a:pt x="0" y="2"/>
                  </a:moveTo>
                  <a:lnTo>
                    <a:pt x="2" y="0"/>
                  </a:lnTo>
                  <a:lnTo>
                    <a:pt x="2" y="8"/>
                  </a:lnTo>
                  <a:lnTo>
                    <a:pt x="0" y="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20" name="Freeform 690">
              <a:extLst>
                <a:ext uri="{FF2B5EF4-FFF2-40B4-BE49-F238E27FC236}">
                  <a16:creationId xmlns:a16="http://schemas.microsoft.com/office/drawing/2014/main" id="{696F14E1-69DB-532F-0D0E-DDA96CE83013}"/>
                </a:ext>
              </a:extLst>
            </p:cNvPr>
            <p:cNvSpPr>
              <a:spLocks/>
            </p:cNvSpPr>
            <p:nvPr/>
          </p:nvSpPr>
          <p:spPr bwMode="auto">
            <a:xfrm>
              <a:off x="3766714" y="4126563"/>
              <a:ext cx="259083" cy="385810"/>
            </a:xfrm>
            <a:custGeom>
              <a:avLst/>
              <a:gdLst/>
              <a:ahLst/>
              <a:cxnLst>
                <a:cxn ang="0">
                  <a:pos x="47" y="3"/>
                </a:cxn>
                <a:cxn ang="0">
                  <a:pos x="46" y="22"/>
                </a:cxn>
                <a:cxn ang="0">
                  <a:pos x="52" y="34"/>
                </a:cxn>
                <a:cxn ang="0">
                  <a:pos x="45" y="50"/>
                </a:cxn>
                <a:cxn ang="0">
                  <a:pos x="37" y="55"/>
                </a:cxn>
                <a:cxn ang="0">
                  <a:pos x="31" y="65"/>
                </a:cxn>
                <a:cxn ang="0">
                  <a:pos x="35" y="84"/>
                </a:cxn>
                <a:cxn ang="0">
                  <a:pos x="42" y="94"/>
                </a:cxn>
                <a:cxn ang="0">
                  <a:pos x="47" y="93"/>
                </a:cxn>
                <a:cxn ang="0">
                  <a:pos x="47" y="88"/>
                </a:cxn>
                <a:cxn ang="0">
                  <a:pos x="56" y="85"/>
                </a:cxn>
                <a:cxn ang="0">
                  <a:pos x="64" y="98"/>
                </a:cxn>
                <a:cxn ang="0">
                  <a:pos x="66" y="92"/>
                </a:cxn>
                <a:cxn ang="0">
                  <a:pos x="78" y="97"/>
                </a:cxn>
                <a:cxn ang="0">
                  <a:pos x="73" y="100"/>
                </a:cxn>
                <a:cxn ang="0">
                  <a:pos x="78" y="107"/>
                </a:cxn>
                <a:cxn ang="0">
                  <a:pos x="78" y="110"/>
                </a:cxn>
                <a:cxn ang="0">
                  <a:pos x="83" y="113"/>
                </a:cxn>
                <a:cxn ang="0">
                  <a:pos x="81" y="121"/>
                </a:cxn>
                <a:cxn ang="0">
                  <a:pos x="78" y="117"/>
                </a:cxn>
                <a:cxn ang="0">
                  <a:pos x="80" y="115"/>
                </a:cxn>
                <a:cxn ang="0">
                  <a:pos x="68" y="110"/>
                </a:cxn>
                <a:cxn ang="0">
                  <a:pos x="56" y="95"/>
                </a:cxn>
                <a:cxn ang="0">
                  <a:pos x="52" y="94"/>
                </a:cxn>
                <a:cxn ang="0">
                  <a:pos x="56" y="108"/>
                </a:cxn>
                <a:cxn ang="0">
                  <a:pos x="41" y="94"/>
                </a:cxn>
                <a:cxn ang="0">
                  <a:pos x="35" y="94"/>
                </a:cxn>
                <a:cxn ang="0">
                  <a:pos x="30" y="99"/>
                </a:cxn>
                <a:cxn ang="0">
                  <a:pos x="17" y="97"/>
                </a:cxn>
                <a:cxn ang="0">
                  <a:pos x="16" y="89"/>
                </a:cxn>
                <a:cxn ang="0">
                  <a:pos x="21" y="79"/>
                </a:cxn>
                <a:cxn ang="0">
                  <a:pos x="15" y="77"/>
                </a:cxn>
                <a:cxn ang="0">
                  <a:pos x="14" y="84"/>
                </a:cxn>
                <a:cxn ang="0">
                  <a:pos x="6" y="70"/>
                </a:cxn>
                <a:cxn ang="0">
                  <a:pos x="0" y="49"/>
                </a:cxn>
                <a:cxn ang="0">
                  <a:pos x="10" y="50"/>
                </a:cxn>
                <a:cxn ang="0">
                  <a:pos x="15" y="2"/>
                </a:cxn>
                <a:cxn ang="0">
                  <a:pos x="17" y="0"/>
                </a:cxn>
                <a:cxn ang="0">
                  <a:pos x="36" y="6"/>
                </a:cxn>
                <a:cxn ang="0">
                  <a:pos x="42" y="5"/>
                </a:cxn>
                <a:cxn ang="0">
                  <a:pos x="44" y="1"/>
                </a:cxn>
                <a:cxn ang="0">
                  <a:pos x="47" y="3"/>
                </a:cxn>
              </a:cxnLst>
              <a:rect l="0" t="0" r="r" b="b"/>
              <a:pathLst>
                <a:path w="83" h="121">
                  <a:moveTo>
                    <a:pt x="47" y="3"/>
                  </a:moveTo>
                  <a:lnTo>
                    <a:pt x="46" y="22"/>
                  </a:lnTo>
                  <a:lnTo>
                    <a:pt x="52" y="34"/>
                  </a:lnTo>
                  <a:lnTo>
                    <a:pt x="45" y="50"/>
                  </a:lnTo>
                  <a:lnTo>
                    <a:pt x="37" y="55"/>
                  </a:lnTo>
                  <a:lnTo>
                    <a:pt x="31" y="65"/>
                  </a:lnTo>
                  <a:lnTo>
                    <a:pt x="35" y="84"/>
                  </a:lnTo>
                  <a:lnTo>
                    <a:pt x="42" y="94"/>
                  </a:lnTo>
                  <a:lnTo>
                    <a:pt x="47" y="93"/>
                  </a:lnTo>
                  <a:lnTo>
                    <a:pt x="47" y="88"/>
                  </a:lnTo>
                  <a:lnTo>
                    <a:pt x="56" y="85"/>
                  </a:lnTo>
                  <a:lnTo>
                    <a:pt x="64" y="98"/>
                  </a:lnTo>
                  <a:lnTo>
                    <a:pt x="66" y="92"/>
                  </a:lnTo>
                  <a:lnTo>
                    <a:pt x="78" y="97"/>
                  </a:lnTo>
                  <a:lnTo>
                    <a:pt x="73" y="100"/>
                  </a:lnTo>
                  <a:lnTo>
                    <a:pt x="78" y="107"/>
                  </a:lnTo>
                  <a:lnTo>
                    <a:pt x="78" y="110"/>
                  </a:lnTo>
                  <a:lnTo>
                    <a:pt x="83" y="113"/>
                  </a:lnTo>
                  <a:lnTo>
                    <a:pt x="81" y="121"/>
                  </a:lnTo>
                  <a:lnTo>
                    <a:pt x="78" y="117"/>
                  </a:lnTo>
                  <a:lnTo>
                    <a:pt x="80" y="115"/>
                  </a:lnTo>
                  <a:lnTo>
                    <a:pt x="68" y="110"/>
                  </a:lnTo>
                  <a:lnTo>
                    <a:pt x="56" y="95"/>
                  </a:lnTo>
                  <a:lnTo>
                    <a:pt x="52" y="94"/>
                  </a:lnTo>
                  <a:lnTo>
                    <a:pt x="56" y="108"/>
                  </a:lnTo>
                  <a:lnTo>
                    <a:pt x="41" y="94"/>
                  </a:lnTo>
                  <a:lnTo>
                    <a:pt x="35" y="94"/>
                  </a:lnTo>
                  <a:lnTo>
                    <a:pt x="30" y="99"/>
                  </a:lnTo>
                  <a:lnTo>
                    <a:pt x="17" y="97"/>
                  </a:lnTo>
                  <a:lnTo>
                    <a:pt x="16" y="89"/>
                  </a:lnTo>
                  <a:lnTo>
                    <a:pt x="21" y="79"/>
                  </a:lnTo>
                  <a:lnTo>
                    <a:pt x="15" y="77"/>
                  </a:lnTo>
                  <a:lnTo>
                    <a:pt x="14" y="84"/>
                  </a:lnTo>
                  <a:lnTo>
                    <a:pt x="6" y="70"/>
                  </a:lnTo>
                  <a:lnTo>
                    <a:pt x="0" y="49"/>
                  </a:lnTo>
                  <a:lnTo>
                    <a:pt x="10" y="50"/>
                  </a:lnTo>
                  <a:lnTo>
                    <a:pt x="15" y="2"/>
                  </a:lnTo>
                  <a:lnTo>
                    <a:pt x="17" y="0"/>
                  </a:lnTo>
                  <a:lnTo>
                    <a:pt x="36" y="6"/>
                  </a:lnTo>
                  <a:lnTo>
                    <a:pt x="42" y="5"/>
                  </a:lnTo>
                  <a:lnTo>
                    <a:pt x="44" y="1"/>
                  </a:lnTo>
                  <a:lnTo>
                    <a:pt x="47" y="3"/>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21" name="Freeform 691">
              <a:extLst>
                <a:ext uri="{FF2B5EF4-FFF2-40B4-BE49-F238E27FC236}">
                  <a16:creationId xmlns:a16="http://schemas.microsoft.com/office/drawing/2014/main" id="{B2DC8D93-BCB8-BD69-1677-893D0F315806}"/>
                </a:ext>
              </a:extLst>
            </p:cNvPr>
            <p:cNvSpPr>
              <a:spLocks/>
            </p:cNvSpPr>
            <p:nvPr/>
          </p:nvSpPr>
          <p:spPr bwMode="auto">
            <a:xfrm>
              <a:off x="3797930" y="4454978"/>
              <a:ext cx="68673" cy="76522"/>
            </a:xfrm>
            <a:custGeom>
              <a:avLst/>
              <a:gdLst/>
              <a:ahLst/>
              <a:cxnLst>
                <a:cxn ang="0">
                  <a:pos x="0" y="1"/>
                </a:cxn>
                <a:cxn ang="0">
                  <a:pos x="14" y="0"/>
                </a:cxn>
                <a:cxn ang="0">
                  <a:pos x="22" y="6"/>
                </a:cxn>
                <a:cxn ang="0">
                  <a:pos x="22" y="21"/>
                </a:cxn>
                <a:cxn ang="0">
                  <a:pos x="17" y="24"/>
                </a:cxn>
                <a:cxn ang="0">
                  <a:pos x="6" y="5"/>
                </a:cxn>
                <a:cxn ang="0">
                  <a:pos x="0" y="1"/>
                </a:cxn>
              </a:cxnLst>
              <a:rect l="0" t="0" r="r" b="b"/>
              <a:pathLst>
                <a:path w="22" h="24">
                  <a:moveTo>
                    <a:pt x="0" y="1"/>
                  </a:moveTo>
                  <a:lnTo>
                    <a:pt x="14" y="0"/>
                  </a:lnTo>
                  <a:lnTo>
                    <a:pt x="22" y="6"/>
                  </a:lnTo>
                  <a:lnTo>
                    <a:pt x="22" y="21"/>
                  </a:lnTo>
                  <a:lnTo>
                    <a:pt x="17" y="24"/>
                  </a:lnTo>
                  <a:lnTo>
                    <a:pt x="6" y="5"/>
                  </a:lnTo>
                  <a:lnTo>
                    <a:pt x="0" y="1"/>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22" name="Freeform 692">
              <a:extLst>
                <a:ext uri="{FF2B5EF4-FFF2-40B4-BE49-F238E27FC236}">
                  <a16:creationId xmlns:a16="http://schemas.microsoft.com/office/drawing/2014/main" id="{B0B84961-1245-32BE-01BB-442C234F4785}"/>
                </a:ext>
              </a:extLst>
            </p:cNvPr>
            <p:cNvSpPr>
              <a:spLocks/>
            </p:cNvSpPr>
            <p:nvPr/>
          </p:nvSpPr>
          <p:spPr bwMode="auto">
            <a:xfrm>
              <a:off x="1821129" y="3593924"/>
              <a:ext cx="292482" cy="375979"/>
            </a:xfrm>
            <a:custGeom>
              <a:avLst/>
              <a:gdLst/>
              <a:ahLst/>
              <a:cxnLst>
                <a:cxn ang="0">
                  <a:pos x="92" y="97"/>
                </a:cxn>
                <a:cxn ang="0">
                  <a:pos x="92" y="109"/>
                </a:cxn>
                <a:cxn ang="0">
                  <a:pos x="85" y="109"/>
                </a:cxn>
                <a:cxn ang="0">
                  <a:pos x="85" y="117"/>
                </a:cxn>
                <a:cxn ang="0">
                  <a:pos x="76" y="90"/>
                </a:cxn>
                <a:cxn ang="0">
                  <a:pos x="72" y="80"/>
                </a:cxn>
                <a:cxn ang="0">
                  <a:pos x="61" y="80"/>
                </a:cxn>
                <a:cxn ang="0">
                  <a:pos x="56" y="76"/>
                </a:cxn>
                <a:cxn ang="0">
                  <a:pos x="51" y="82"/>
                </a:cxn>
                <a:cxn ang="0">
                  <a:pos x="51" y="90"/>
                </a:cxn>
                <a:cxn ang="0">
                  <a:pos x="45" y="99"/>
                </a:cxn>
                <a:cxn ang="0">
                  <a:pos x="40" y="94"/>
                </a:cxn>
                <a:cxn ang="0">
                  <a:pos x="34" y="100"/>
                </a:cxn>
                <a:cxn ang="0">
                  <a:pos x="33" y="98"/>
                </a:cxn>
                <a:cxn ang="0">
                  <a:pos x="19" y="103"/>
                </a:cxn>
                <a:cxn ang="0">
                  <a:pos x="10" y="60"/>
                </a:cxn>
                <a:cxn ang="0">
                  <a:pos x="11" y="47"/>
                </a:cxn>
                <a:cxn ang="0">
                  <a:pos x="0" y="37"/>
                </a:cxn>
                <a:cxn ang="0">
                  <a:pos x="7" y="27"/>
                </a:cxn>
                <a:cxn ang="0">
                  <a:pos x="14" y="27"/>
                </a:cxn>
                <a:cxn ang="0">
                  <a:pos x="13" y="20"/>
                </a:cxn>
                <a:cxn ang="0">
                  <a:pos x="6" y="19"/>
                </a:cxn>
                <a:cxn ang="0">
                  <a:pos x="4" y="13"/>
                </a:cxn>
                <a:cxn ang="0">
                  <a:pos x="10" y="0"/>
                </a:cxn>
                <a:cxn ang="0">
                  <a:pos x="16" y="8"/>
                </a:cxn>
                <a:cxn ang="0">
                  <a:pos x="20" y="2"/>
                </a:cxn>
                <a:cxn ang="0">
                  <a:pos x="24" y="10"/>
                </a:cxn>
                <a:cxn ang="0">
                  <a:pos x="29" y="10"/>
                </a:cxn>
                <a:cxn ang="0">
                  <a:pos x="31" y="5"/>
                </a:cxn>
                <a:cxn ang="0">
                  <a:pos x="35" y="20"/>
                </a:cxn>
                <a:cxn ang="0">
                  <a:pos x="41" y="25"/>
                </a:cxn>
                <a:cxn ang="0">
                  <a:pos x="84" y="30"/>
                </a:cxn>
                <a:cxn ang="0">
                  <a:pos x="61" y="55"/>
                </a:cxn>
                <a:cxn ang="0">
                  <a:pos x="64" y="67"/>
                </a:cxn>
                <a:cxn ang="0">
                  <a:pos x="72" y="73"/>
                </a:cxn>
                <a:cxn ang="0">
                  <a:pos x="82" y="59"/>
                </a:cxn>
                <a:cxn ang="0">
                  <a:pos x="92" y="97"/>
                </a:cxn>
              </a:cxnLst>
              <a:rect l="0" t="0" r="r" b="b"/>
              <a:pathLst>
                <a:path w="92" h="117">
                  <a:moveTo>
                    <a:pt x="92" y="97"/>
                  </a:moveTo>
                  <a:lnTo>
                    <a:pt x="92" y="109"/>
                  </a:lnTo>
                  <a:lnTo>
                    <a:pt x="85" y="109"/>
                  </a:lnTo>
                  <a:lnTo>
                    <a:pt x="85" y="117"/>
                  </a:lnTo>
                  <a:lnTo>
                    <a:pt x="76" y="90"/>
                  </a:lnTo>
                  <a:lnTo>
                    <a:pt x="72" y="80"/>
                  </a:lnTo>
                  <a:lnTo>
                    <a:pt x="61" y="80"/>
                  </a:lnTo>
                  <a:lnTo>
                    <a:pt x="56" y="76"/>
                  </a:lnTo>
                  <a:lnTo>
                    <a:pt x="51" y="82"/>
                  </a:lnTo>
                  <a:lnTo>
                    <a:pt x="51" y="90"/>
                  </a:lnTo>
                  <a:lnTo>
                    <a:pt x="45" y="99"/>
                  </a:lnTo>
                  <a:lnTo>
                    <a:pt x="40" y="94"/>
                  </a:lnTo>
                  <a:lnTo>
                    <a:pt x="34" y="100"/>
                  </a:lnTo>
                  <a:lnTo>
                    <a:pt x="33" y="98"/>
                  </a:lnTo>
                  <a:lnTo>
                    <a:pt x="19" y="103"/>
                  </a:lnTo>
                  <a:lnTo>
                    <a:pt x="10" y="60"/>
                  </a:lnTo>
                  <a:lnTo>
                    <a:pt x="11" y="47"/>
                  </a:lnTo>
                  <a:lnTo>
                    <a:pt x="0" y="37"/>
                  </a:lnTo>
                  <a:lnTo>
                    <a:pt x="7" y="27"/>
                  </a:lnTo>
                  <a:lnTo>
                    <a:pt x="14" y="27"/>
                  </a:lnTo>
                  <a:lnTo>
                    <a:pt x="13" y="20"/>
                  </a:lnTo>
                  <a:lnTo>
                    <a:pt x="6" y="19"/>
                  </a:lnTo>
                  <a:lnTo>
                    <a:pt x="4" y="13"/>
                  </a:lnTo>
                  <a:lnTo>
                    <a:pt x="10" y="0"/>
                  </a:lnTo>
                  <a:lnTo>
                    <a:pt x="16" y="8"/>
                  </a:lnTo>
                  <a:lnTo>
                    <a:pt x="20" y="2"/>
                  </a:lnTo>
                  <a:lnTo>
                    <a:pt x="24" y="10"/>
                  </a:lnTo>
                  <a:lnTo>
                    <a:pt x="29" y="10"/>
                  </a:lnTo>
                  <a:lnTo>
                    <a:pt x="31" y="5"/>
                  </a:lnTo>
                  <a:lnTo>
                    <a:pt x="35" y="20"/>
                  </a:lnTo>
                  <a:lnTo>
                    <a:pt x="41" y="25"/>
                  </a:lnTo>
                  <a:lnTo>
                    <a:pt x="84" y="30"/>
                  </a:lnTo>
                  <a:lnTo>
                    <a:pt x="61" y="55"/>
                  </a:lnTo>
                  <a:lnTo>
                    <a:pt x="64" y="67"/>
                  </a:lnTo>
                  <a:lnTo>
                    <a:pt x="72" y="73"/>
                  </a:lnTo>
                  <a:lnTo>
                    <a:pt x="82" y="59"/>
                  </a:lnTo>
                  <a:lnTo>
                    <a:pt x="92" y="97"/>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23" name="Freeform 693">
              <a:extLst>
                <a:ext uri="{FF2B5EF4-FFF2-40B4-BE49-F238E27FC236}">
                  <a16:creationId xmlns:a16="http://schemas.microsoft.com/office/drawing/2014/main" id="{1E96A9B7-ED0F-AE6D-E314-D63333BDCE37}"/>
                </a:ext>
              </a:extLst>
            </p:cNvPr>
            <p:cNvSpPr>
              <a:spLocks/>
            </p:cNvSpPr>
            <p:nvPr/>
          </p:nvSpPr>
          <p:spPr bwMode="auto">
            <a:xfrm>
              <a:off x="1992804" y="3851001"/>
              <a:ext cx="9537" cy="28923"/>
            </a:xfrm>
            <a:custGeom>
              <a:avLst/>
              <a:gdLst/>
              <a:ahLst/>
              <a:cxnLst>
                <a:cxn ang="0">
                  <a:pos x="0" y="0"/>
                </a:cxn>
                <a:cxn ang="0">
                  <a:pos x="0" y="8"/>
                </a:cxn>
                <a:cxn ang="0">
                  <a:pos x="2" y="9"/>
                </a:cxn>
                <a:cxn ang="0">
                  <a:pos x="3" y="3"/>
                </a:cxn>
                <a:cxn ang="0">
                  <a:pos x="0" y="0"/>
                </a:cxn>
              </a:cxnLst>
              <a:rect l="0" t="0" r="r" b="b"/>
              <a:pathLst>
                <a:path w="3" h="9">
                  <a:moveTo>
                    <a:pt x="0" y="0"/>
                  </a:moveTo>
                  <a:lnTo>
                    <a:pt x="0" y="8"/>
                  </a:lnTo>
                  <a:lnTo>
                    <a:pt x="2" y="9"/>
                  </a:lnTo>
                  <a:lnTo>
                    <a:pt x="3" y="3"/>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24" name="Freeform 694">
              <a:extLst>
                <a:ext uri="{FF2B5EF4-FFF2-40B4-BE49-F238E27FC236}">
                  <a16:creationId xmlns:a16="http://schemas.microsoft.com/office/drawing/2014/main" id="{4F58D5CA-8D12-319D-ACA4-E5C89AF2708F}"/>
                </a:ext>
              </a:extLst>
            </p:cNvPr>
            <p:cNvSpPr>
              <a:spLocks/>
            </p:cNvSpPr>
            <p:nvPr/>
          </p:nvSpPr>
          <p:spPr bwMode="auto">
            <a:xfrm>
              <a:off x="1875004" y="3468597"/>
              <a:ext cx="207813" cy="113576"/>
            </a:xfrm>
            <a:custGeom>
              <a:avLst/>
              <a:gdLst/>
              <a:ahLst/>
              <a:cxnLst>
                <a:cxn ang="0">
                  <a:pos x="4" y="21"/>
                </a:cxn>
                <a:cxn ang="0">
                  <a:pos x="0" y="25"/>
                </a:cxn>
                <a:cxn ang="0">
                  <a:pos x="3" y="31"/>
                </a:cxn>
                <a:cxn ang="0">
                  <a:pos x="18" y="35"/>
                </a:cxn>
                <a:cxn ang="0">
                  <a:pos x="63" y="30"/>
                </a:cxn>
                <a:cxn ang="0">
                  <a:pos x="67" y="21"/>
                </a:cxn>
                <a:cxn ang="0">
                  <a:pos x="58" y="17"/>
                </a:cxn>
                <a:cxn ang="0">
                  <a:pos x="58" y="11"/>
                </a:cxn>
                <a:cxn ang="0">
                  <a:pos x="52" y="7"/>
                </a:cxn>
                <a:cxn ang="0">
                  <a:pos x="24" y="0"/>
                </a:cxn>
                <a:cxn ang="0">
                  <a:pos x="4" y="21"/>
                </a:cxn>
              </a:cxnLst>
              <a:rect l="0" t="0" r="r" b="b"/>
              <a:pathLst>
                <a:path w="67" h="35">
                  <a:moveTo>
                    <a:pt x="4" y="21"/>
                  </a:moveTo>
                  <a:lnTo>
                    <a:pt x="0" y="25"/>
                  </a:lnTo>
                  <a:lnTo>
                    <a:pt x="3" y="31"/>
                  </a:lnTo>
                  <a:lnTo>
                    <a:pt x="18" y="35"/>
                  </a:lnTo>
                  <a:lnTo>
                    <a:pt x="63" y="30"/>
                  </a:lnTo>
                  <a:lnTo>
                    <a:pt x="67" y="21"/>
                  </a:lnTo>
                  <a:lnTo>
                    <a:pt x="58" y="17"/>
                  </a:lnTo>
                  <a:lnTo>
                    <a:pt x="58" y="11"/>
                  </a:lnTo>
                  <a:lnTo>
                    <a:pt x="52" y="7"/>
                  </a:lnTo>
                  <a:lnTo>
                    <a:pt x="24" y="0"/>
                  </a:lnTo>
                  <a:lnTo>
                    <a:pt x="4" y="21"/>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25" name="Freeform 695">
              <a:extLst>
                <a:ext uri="{FF2B5EF4-FFF2-40B4-BE49-F238E27FC236}">
                  <a16:creationId xmlns:a16="http://schemas.microsoft.com/office/drawing/2014/main" id="{B1FEB4A4-C52A-1F62-5805-66792D132EED}"/>
                </a:ext>
              </a:extLst>
            </p:cNvPr>
            <p:cNvSpPr>
              <a:spLocks/>
            </p:cNvSpPr>
            <p:nvPr/>
          </p:nvSpPr>
          <p:spPr bwMode="auto">
            <a:xfrm>
              <a:off x="2090514" y="3468597"/>
              <a:ext cx="538779" cy="1190613"/>
            </a:xfrm>
            <a:custGeom>
              <a:avLst/>
              <a:gdLst/>
              <a:ahLst/>
              <a:cxnLst>
                <a:cxn ang="0">
                  <a:pos x="155" y="160"/>
                </a:cxn>
                <a:cxn ang="0">
                  <a:pos x="128" y="182"/>
                </a:cxn>
                <a:cxn ang="0">
                  <a:pos x="105" y="208"/>
                </a:cxn>
                <a:cxn ang="0">
                  <a:pos x="121" y="234"/>
                </a:cxn>
                <a:cxn ang="0">
                  <a:pos x="127" y="254"/>
                </a:cxn>
                <a:cxn ang="0">
                  <a:pos x="118" y="285"/>
                </a:cxn>
                <a:cxn ang="0">
                  <a:pos x="133" y="314"/>
                </a:cxn>
                <a:cxn ang="0">
                  <a:pos x="129" y="358"/>
                </a:cxn>
                <a:cxn ang="0">
                  <a:pos x="122" y="369"/>
                </a:cxn>
                <a:cxn ang="0">
                  <a:pos x="122" y="337"/>
                </a:cxn>
                <a:cxn ang="0">
                  <a:pos x="123" y="318"/>
                </a:cxn>
                <a:cxn ang="0">
                  <a:pos x="116" y="304"/>
                </a:cxn>
                <a:cxn ang="0">
                  <a:pos x="106" y="246"/>
                </a:cxn>
                <a:cxn ang="0">
                  <a:pos x="87" y="227"/>
                </a:cxn>
                <a:cxn ang="0">
                  <a:pos x="59" y="261"/>
                </a:cxn>
                <a:cxn ang="0">
                  <a:pos x="44" y="254"/>
                </a:cxn>
                <a:cxn ang="0">
                  <a:pos x="44" y="233"/>
                </a:cxn>
                <a:cxn ang="0">
                  <a:pos x="33" y="194"/>
                </a:cxn>
                <a:cxn ang="0">
                  <a:pos x="25" y="191"/>
                </a:cxn>
                <a:cxn ang="0">
                  <a:pos x="30" y="190"/>
                </a:cxn>
                <a:cxn ang="0">
                  <a:pos x="13" y="174"/>
                </a:cxn>
                <a:cxn ang="0">
                  <a:pos x="0" y="148"/>
                </a:cxn>
                <a:cxn ang="0">
                  <a:pos x="7" y="136"/>
                </a:cxn>
                <a:cxn ang="0">
                  <a:pos x="14" y="119"/>
                </a:cxn>
                <a:cxn ang="0">
                  <a:pos x="20" y="115"/>
                </a:cxn>
                <a:cxn ang="0">
                  <a:pos x="37" y="93"/>
                </a:cxn>
                <a:cxn ang="0">
                  <a:pos x="57" y="54"/>
                </a:cxn>
                <a:cxn ang="0">
                  <a:pos x="76" y="25"/>
                </a:cxn>
                <a:cxn ang="0">
                  <a:pos x="93" y="11"/>
                </a:cxn>
                <a:cxn ang="0">
                  <a:pos x="98" y="3"/>
                </a:cxn>
                <a:cxn ang="0">
                  <a:pos x="109" y="3"/>
                </a:cxn>
                <a:cxn ang="0">
                  <a:pos x="122" y="17"/>
                </a:cxn>
                <a:cxn ang="0">
                  <a:pos x="125" y="48"/>
                </a:cxn>
                <a:cxn ang="0">
                  <a:pos x="103" y="97"/>
                </a:cxn>
                <a:cxn ang="0">
                  <a:pos x="128" y="90"/>
                </a:cxn>
                <a:cxn ang="0">
                  <a:pos x="141" y="113"/>
                </a:cxn>
                <a:cxn ang="0">
                  <a:pos x="148" y="133"/>
                </a:cxn>
                <a:cxn ang="0">
                  <a:pos x="168" y="138"/>
                </a:cxn>
              </a:cxnLst>
              <a:rect l="0" t="0" r="r" b="b"/>
              <a:pathLst>
                <a:path w="172" h="372">
                  <a:moveTo>
                    <a:pt x="172" y="141"/>
                  </a:moveTo>
                  <a:lnTo>
                    <a:pt x="155" y="160"/>
                  </a:lnTo>
                  <a:lnTo>
                    <a:pt x="148" y="168"/>
                  </a:lnTo>
                  <a:lnTo>
                    <a:pt x="128" y="182"/>
                  </a:lnTo>
                  <a:lnTo>
                    <a:pt x="112" y="184"/>
                  </a:lnTo>
                  <a:lnTo>
                    <a:pt x="105" y="208"/>
                  </a:lnTo>
                  <a:lnTo>
                    <a:pt x="111" y="224"/>
                  </a:lnTo>
                  <a:lnTo>
                    <a:pt x="121" y="234"/>
                  </a:lnTo>
                  <a:lnTo>
                    <a:pt x="122" y="250"/>
                  </a:lnTo>
                  <a:lnTo>
                    <a:pt x="127" y="254"/>
                  </a:lnTo>
                  <a:lnTo>
                    <a:pt x="116" y="279"/>
                  </a:lnTo>
                  <a:lnTo>
                    <a:pt x="118" y="285"/>
                  </a:lnTo>
                  <a:lnTo>
                    <a:pt x="132" y="297"/>
                  </a:lnTo>
                  <a:lnTo>
                    <a:pt x="133" y="314"/>
                  </a:lnTo>
                  <a:lnTo>
                    <a:pt x="143" y="338"/>
                  </a:lnTo>
                  <a:lnTo>
                    <a:pt x="129" y="358"/>
                  </a:lnTo>
                  <a:lnTo>
                    <a:pt x="126" y="372"/>
                  </a:lnTo>
                  <a:lnTo>
                    <a:pt x="122" y="369"/>
                  </a:lnTo>
                  <a:lnTo>
                    <a:pt x="128" y="341"/>
                  </a:lnTo>
                  <a:lnTo>
                    <a:pt x="122" y="337"/>
                  </a:lnTo>
                  <a:lnTo>
                    <a:pt x="125" y="334"/>
                  </a:lnTo>
                  <a:lnTo>
                    <a:pt x="123" y="318"/>
                  </a:lnTo>
                  <a:lnTo>
                    <a:pt x="118" y="302"/>
                  </a:lnTo>
                  <a:lnTo>
                    <a:pt x="116" y="304"/>
                  </a:lnTo>
                  <a:lnTo>
                    <a:pt x="108" y="277"/>
                  </a:lnTo>
                  <a:lnTo>
                    <a:pt x="106" y="246"/>
                  </a:lnTo>
                  <a:lnTo>
                    <a:pt x="90" y="239"/>
                  </a:lnTo>
                  <a:lnTo>
                    <a:pt x="87" y="227"/>
                  </a:lnTo>
                  <a:lnTo>
                    <a:pt x="86" y="243"/>
                  </a:lnTo>
                  <a:lnTo>
                    <a:pt x="59" y="261"/>
                  </a:lnTo>
                  <a:lnTo>
                    <a:pt x="44" y="259"/>
                  </a:lnTo>
                  <a:lnTo>
                    <a:pt x="44" y="254"/>
                  </a:lnTo>
                  <a:lnTo>
                    <a:pt x="38" y="256"/>
                  </a:lnTo>
                  <a:lnTo>
                    <a:pt x="44" y="233"/>
                  </a:lnTo>
                  <a:lnTo>
                    <a:pt x="40" y="210"/>
                  </a:lnTo>
                  <a:lnTo>
                    <a:pt x="33" y="194"/>
                  </a:lnTo>
                  <a:lnTo>
                    <a:pt x="31" y="197"/>
                  </a:lnTo>
                  <a:lnTo>
                    <a:pt x="25" y="191"/>
                  </a:lnTo>
                  <a:lnTo>
                    <a:pt x="27" y="187"/>
                  </a:lnTo>
                  <a:lnTo>
                    <a:pt x="30" y="190"/>
                  </a:lnTo>
                  <a:lnTo>
                    <a:pt x="28" y="181"/>
                  </a:lnTo>
                  <a:lnTo>
                    <a:pt x="13" y="174"/>
                  </a:lnTo>
                  <a:lnTo>
                    <a:pt x="0" y="156"/>
                  </a:lnTo>
                  <a:lnTo>
                    <a:pt x="0" y="148"/>
                  </a:lnTo>
                  <a:lnTo>
                    <a:pt x="7" y="148"/>
                  </a:lnTo>
                  <a:lnTo>
                    <a:pt x="7" y="136"/>
                  </a:lnTo>
                  <a:lnTo>
                    <a:pt x="17" y="131"/>
                  </a:lnTo>
                  <a:lnTo>
                    <a:pt x="14" y="119"/>
                  </a:lnTo>
                  <a:lnTo>
                    <a:pt x="15" y="116"/>
                  </a:lnTo>
                  <a:lnTo>
                    <a:pt x="20" y="115"/>
                  </a:lnTo>
                  <a:lnTo>
                    <a:pt x="21" y="98"/>
                  </a:lnTo>
                  <a:lnTo>
                    <a:pt x="37" y="93"/>
                  </a:lnTo>
                  <a:lnTo>
                    <a:pt x="47" y="67"/>
                  </a:lnTo>
                  <a:lnTo>
                    <a:pt x="57" y="54"/>
                  </a:lnTo>
                  <a:lnTo>
                    <a:pt x="58" y="40"/>
                  </a:lnTo>
                  <a:lnTo>
                    <a:pt x="76" y="25"/>
                  </a:lnTo>
                  <a:lnTo>
                    <a:pt x="91" y="24"/>
                  </a:lnTo>
                  <a:lnTo>
                    <a:pt x="93" y="11"/>
                  </a:lnTo>
                  <a:lnTo>
                    <a:pt x="98" y="8"/>
                  </a:lnTo>
                  <a:lnTo>
                    <a:pt x="98" y="3"/>
                  </a:lnTo>
                  <a:lnTo>
                    <a:pt x="103" y="0"/>
                  </a:lnTo>
                  <a:lnTo>
                    <a:pt x="109" y="3"/>
                  </a:lnTo>
                  <a:lnTo>
                    <a:pt x="117" y="17"/>
                  </a:lnTo>
                  <a:lnTo>
                    <a:pt x="122" y="17"/>
                  </a:lnTo>
                  <a:lnTo>
                    <a:pt x="126" y="35"/>
                  </a:lnTo>
                  <a:lnTo>
                    <a:pt x="125" y="48"/>
                  </a:lnTo>
                  <a:lnTo>
                    <a:pt x="109" y="70"/>
                  </a:lnTo>
                  <a:lnTo>
                    <a:pt x="103" y="97"/>
                  </a:lnTo>
                  <a:lnTo>
                    <a:pt x="119" y="90"/>
                  </a:lnTo>
                  <a:lnTo>
                    <a:pt x="128" y="90"/>
                  </a:lnTo>
                  <a:lnTo>
                    <a:pt x="131" y="106"/>
                  </a:lnTo>
                  <a:lnTo>
                    <a:pt x="141" y="113"/>
                  </a:lnTo>
                  <a:lnTo>
                    <a:pt x="137" y="129"/>
                  </a:lnTo>
                  <a:lnTo>
                    <a:pt x="148" y="133"/>
                  </a:lnTo>
                  <a:lnTo>
                    <a:pt x="155" y="143"/>
                  </a:lnTo>
                  <a:lnTo>
                    <a:pt x="168" y="138"/>
                  </a:lnTo>
                  <a:lnTo>
                    <a:pt x="172" y="141"/>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26" name="Freeform 696">
              <a:extLst>
                <a:ext uri="{FF2B5EF4-FFF2-40B4-BE49-F238E27FC236}">
                  <a16:creationId xmlns:a16="http://schemas.microsoft.com/office/drawing/2014/main" id="{223BA38D-E448-03D0-49CA-3E302E96DE17}"/>
                </a:ext>
              </a:extLst>
            </p:cNvPr>
            <p:cNvSpPr>
              <a:spLocks/>
            </p:cNvSpPr>
            <p:nvPr/>
          </p:nvSpPr>
          <p:spPr bwMode="auto">
            <a:xfrm>
              <a:off x="2457010" y="4553586"/>
              <a:ext cx="15660" cy="16005"/>
            </a:xfrm>
            <a:custGeom>
              <a:avLst/>
              <a:gdLst/>
              <a:ahLst/>
              <a:cxnLst>
                <a:cxn ang="0">
                  <a:pos x="4" y="0"/>
                </a:cxn>
                <a:cxn ang="0">
                  <a:pos x="0" y="4"/>
                </a:cxn>
                <a:cxn ang="0">
                  <a:pos x="5" y="5"/>
                </a:cxn>
                <a:cxn ang="0">
                  <a:pos x="4" y="0"/>
                </a:cxn>
              </a:cxnLst>
              <a:rect l="0" t="0" r="r" b="b"/>
              <a:pathLst>
                <a:path w="5" h="5">
                  <a:moveTo>
                    <a:pt x="4" y="0"/>
                  </a:moveTo>
                  <a:lnTo>
                    <a:pt x="0" y="4"/>
                  </a:lnTo>
                  <a:lnTo>
                    <a:pt x="5" y="5"/>
                  </a:lnTo>
                  <a:lnTo>
                    <a:pt x="4"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27" name="Freeform 697">
              <a:extLst>
                <a:ext uri="{FF2B5EF4-FFF2-40B4-BE49-F238E27FC236}">
                  <a16:creationId xmlns:a16="http://schemas.microsoft.com/office/drawing/2014/main" id="{AE12E763-51AF-B744-BAE2-71B69F657F31}"/>
                </a:ext>
              </a:extLst>
            </p:cNvPr>
            <p:cNvSpPr>
              <a:spLocks/>
            </p:cNvSpPr>
            <p:nvPr/>
          </p:nvSpPr>
          <p:spPr bwMode="auto">
            <a:xfrm>
              <a:off x="2702413" y="4369386"/>
              <a:ext cx="315566" cy="270239"/>
            </a:xfrm>
            <a:custGeom>
              <a:avLst/>
              <a:gdLst/>
              <a:ahLst/>
              <a:cxnLst>
                <a:cxn ang="0">
                  <a:pos x="99" y="0"/>
                </a:cxn>
                <a:cxn ang="0">
                  <a:pos x="101" y="45"/>
                </a:cxn>
                <a:cxn ang="0">
                  <a:pos x="80" y="55"/>
                </a:cxn>
                <a:cxn ang="0">
                  <a:pos x="79" y="59"/>
                </a:cxn>
                <a:cxn ang="0">
                  <a:pos x="69" y="60"/>
                </a:cxn>
                <a:cxn ang="0">
                  <a:pos x="69" y="71"/>
                </a:cxn>
                <a:cxn ang="0">
                  <a:pos x="52" y="76"/>
                </a:cxn>
                <a:cxn ang="0">
                  <a:pos x="50" y="81"/>
                </a:cxn>
                <a:cxn ang="0">
                  <a:pos x="42" y="84"/>
                </a:cxn>
                <a:cxn ang="0">
                  <a:pos x="25" y="82"/>
                </a:cxn>
                <a:cxn ang="0">
                  <a:pos x="25" y="72"/>
                </a:cxn>
                <a:cxn ang="0">
                  <a:pos x="16" y="76"/>
                </a:cxn>
                <a:cxn ang="0">
                  <a:pos x="11" y="61"/>
                </a:cxn>
                <a:cxn ang="0">
                  <a:pos x="10" y="50"/>
                </a:cxn>
                <a:cxn ang="0">
                  <a:pos x="3" y="41"/>
                </a:cxn>
                <a:cxn ang="0">
                  <a:pos x="0" y="31"/>
                </a:cxn>
                <a:cxn ang="0">
                  <a:pos x="5" y="18"/>
                </a:cxn>
                <a:cxn ang="0">
                  <a:pos x="18" y="6"/>
                </a:cxn>
                <a:cxn ang="0">
                  <a:pos x="56" y="8"/>
                </a:cxn>
                <a:cxn ang="0">
                  <a:pos x="69" y="15"/>
                </a:cxn>
                <a:cxn ang="0">
                  <a:pos x="78" y="5"/>
                </a:cxn>
                <a:cxn ang="0">
                  <a:pos x="90" y="7"/>
                </a:cxn>
                <a:cxn ang="0">
                  <a:pos x="99" y="0"/>
                </a:cxn>
              </a:cxnLst>
              <a:rect l="0" t="0" r="r" b="b"/>
              <a:pathLst>
                <a:path w="101" h="84">
                  <a:moveTo>
                    <a:pt x="99" y="0"/>
                  </a:moveTo>
                  <a:lnTo>
                    <a:pt x="101" y="45"/>
                  </a:lnTo>
                  <a:lnTo>
                    <a:pt x="80" y="55"/>
                  </a:lnTo>
                  <a:lnTo>
                    <a:pt x="79" y="59"/>
                  </a:lnTo>
                  <a:lnTo>
                    <a:pt x="69" y="60"/>
                  </a:lnTo>
                  <a:lnTo>
                    <a:pt x="69" y="71"/>
                  </a:lnTo>
                  <a:lnTo>
                    <a:pt x="52" y="76"/>
                  </a:lnTo>
                  <a:lnTo>
                    <a:pt x="50" y="81"/>
                  </a:lnTo>
                  <a:lnTo>
                    <a:pt x="42" y="84"/>
                  </a:lnTo>
                  <a:lnTo>
                    <a:pt x="25" y="82"/>
                  </a:lnTo>
                  <a:lnTo>
                    <a:pt x="25" y="72"/>
                  </a:lnTo>
                  <a:lnTo>
                    <a:pt x="16" y="76"/>
                  </a:lnTo>
                  <a:lnTo>
                    <a:pt x="11" y="61"/>
                  </a:lnTo>
                  <a:lnTo>
                    <a:pt x="10" y="50"/>
                  </a:lnTo>
                  <a:lnTo>
                    <a:pt x="3" y="41"/>
                  </a:lnTo>
                  <a:lnTo>
                    <a:pt x="0" y="31"/>
                  </a:lnTo>
                  <a:lnTo>
                    <a:pt x="5" y="18"/>
                  </a:lnTo>
                  <a:lnTo>
                    <a:pt x="18" y="6"/>
                  </a:lnTo>
                  <a:lnTo>
                    <a:pt x="56" y="8"/>
                  </a:lnTo>
                  <a:lnTo>
                    <a:pt x="69" y="15"/>
                  </a:lnTo>
                  <a:lnTo>
                    <a:pt x="78" y="5"/>
                  </a:lnTo>
                  <a:lnTo>
                    <a:pt x="90" y="7"/>
                  </a:lnTo>
                  <a:lnTo>
                    <a:pt x="99" y="0"/>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28" name="Freeform 698">
              <a:extLst>
                <a:ext uri="{FF2B5EF4-FFF2-40B4-BE49-F238E27FC236}">
                  <a16:creationId xmlns:a16="http://schemas.microsoft.com/office/drawing/2014/main" id="{878AEE9E-A7C3-386C-97BF-4D1E4FEECBAD}"/>
                </a:ext>
              </a:extLst>
            </p:cNvPr>
            <p:cNvSpPr>
              <a:spLocks/>
            </p:cNvSpPr>
            <p:nvPr/>
          </p:nvSpPr>
          <p:spPr bwMode="auto">
            <a:xfrm>
              <a:off x="3779965" y="3680084"/>
              <a:ext cx="107758" cy="223238"/>
            </a:xfrm>
            <a:custGeom>
              <a:avLst/>
              <a:gdLst/>
              <a:ahLst/>
              <a:cxnLst>
                <a:cxn ang="0">
                  <a:pos x="26" y="0"/>
                </a:cxn>
                <a:cxn ang="0">
                  <a:pos x="34" y="4"/>
                </a:cxn>
                <a:cxn ang="0">
                  <a:pos x="34" y="13"/>
                </a:cxn>
                <a:cxn ang="0">
                  <a:pos x="14" y="70"/>
                </a:cxn>
                <a:cxn ang="0">
                  <a:pos x="1" y="51"/>
                </a:cxn>
                <a:cxn ang="0">
                  <a:pos x="0" y="35"/>
                </a:cxn>
                <a:cxn ang="0">
                  <a:pos x="16" y="4"/>
                </a:cxn>
                <a:cxn ang="0">
                  <a:pos x="26" y="0"/>
                </a:cxn>
              </a:cxnLst>
              <a:rect l="0" t="0" r="r" b="b"/>
              <a:pathLst>
                <a:path w="34" h="70">
                  <a:moveTo>
                    <a:pt x="26" y="0"/>
                  </a:moveTo>
                  <a:lnTo>
                    <a:pt x="34" y="4"/>
                  </a:lnTo>
                  <a:lnTo>
                    <a:pt x="34" y="13"/>
                  </a:lnTo>
                  <a:lnTo>
                    <a:pt x="14" y="70"/>
                  </a:lnTo>
                  <a:lnTo>
                    <a:pt x="1" y="51"/>
                  </a:lnTo>
                  <a:lnTo>
                    <a:pt x="0" y="35"/>
                  </a:lnTo>
                  <a:lnTo>
                    <a:pt x="16" y="4"/>
                  </a:lnTo>
                  <a:lnTo>
                    <a:pt x="26"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29" name="Freeform 699">
              <a:extLst>
                <a:ext uri="{FF2B5EF4-FFF2-40B4-BE49-F238E27FC236}">
                  <a16:creationId xmlns:a16="http://schemas.microsoft.com/office/drawing/2014/main" id="{4B82B485-41AF-6177-BBC3-E5FA0CFD8974}"/>
                </a:ext>
              </a:extLst>
            </p:cNvPr>
            <p:cNvSpPr>
              <a:spLocks/>
            </p:cNvSpPr>
            <p:nvPr/>
          </p:nvSpPr>
          <p:spPr bwMode="auto">
            <a:xfrm>
              <a:off x="992698" y="1420750"/>
              <a:ext cx="3717560" cy="2641736"/>
            </a:xfrm>
            <a:custGeom>
              <a:avLst/>
              <a:gdLst/>
              <a:ahLst/>
              <a:cxnLst>
                <a:cxn ang="0">
                  <a:pos x="51" y="371"/>
                </a:cxn>
                <a:cxn ang="0">
                  <a:pos x="129" y="318"/>
                </a:cxn>
                <a:cxn ang="0">
                  <a:pos x="167" y="223"/>
                </a:cxn>
                <a:cxn ang="0">
                  <a:pos x="230" y="171"/>
                </a:cxn>
                <a:cxn ang="0">
                  <a:pos x="273" y="137"/>
                </a:cxn>
                <a:cxn ang="0">
                  <a:pos x="331" y="206"/>
                </a:cxn>
                <a:cxn ang="0">
                  <a:pos x="418" y="269"/>
                </a:cxn>
                <a:cxn ang="0">
                  <a:pos x="604" y="340"/>
                </a:cxn>
                <a:cxn ang="0">
                  <a:pos x="732" y="269"/>
                </a:cxn>
                <a:cxn ang="0">
                  <a:pos x="812" y="231"/>
                </a:cxn>
                <a:cxn ang="0">
                  <a:pos x="862" y="164"/>
                </a:cxn>
                <a:cxn ang="0">
                  <a:pos x="827" y="108"/>
                </a:cxn>
                <a:cxn ang="0">
                  <a:pos x="911" y="46"/>
                </a:cxn>
                <a:cxn ang="0">
                  <a:pos x="967" y="0"/>
                </a:cxn>
                <a:cxn ang="0">
                  <a:pos x="1036" y="80"/>
                </a:cxn>
                <a:cxn ang="0">
                  <a:pos x="1107" y="164"/>
                </a:cxn>
                <a:cxn ang="0">
                  <a:pos x="1183" y="178"/>
                </a:cxn>
                <a:cxn ang="0">
                  <a:pos x="1127" y="244"/>
                </a:cxn>
                <a:cxn ang="0">
                  <a:pos x="1103" y="315"/>
                </a:cxn>
                <a:cxn ang="0">
                  <a:pos x="1058" y="346"/>
                </a:cxn>
                <a:cxn ang="0">
                  <a:pos x="983" y="384"/>
                </a:cxn>
                <a:cxn ang="0">
                  <a:pos x="931" y="399"/>
                </a:cxn>
                <a:cxn ang="0">
                  <a:pos x="906" y="378"/>
                </a:cxn>
                <a:cxn ang="0">
                  <a:pos x="852" y="414"/>
                </a:cxn>
                <a:cxn ang="0">
                  <a:pos x="889" y="454"/>
                </a:cxn>
                <a:cxn ang="0">
                  <a:pos x="940" y="457"/>
                </a:cxn>
                <a:cxn ang="0">
                  <a:pos x="910" y="478"/>
                </a:cxn>
                <a:cxn ang="0">
                  <a:pos x="901" y="519"/>
                </a:cxn>
                <a:cxn ang="0">
                  <a:pos x="909" y="575"/>
                </a:cxn>
                <a:cxn ang="0">
                  <a:pos x="936" y="621"/>
                </a:cxn>
                <a:cxn ang="0">
                  <a:pos x="926" y="637"/>
                </a:cxn>
                <a:cxn ang="0">
                  <a:pos x="895" y="689"/>
                </a:cxn>
                <a:cxn ang="0">
                  <a:pos x="870" y="735"/>
                </a:cxn>
                <a:cxn ang="0">
                  <a:pos x="848" y="755"/>
                </a:cxn>
                <a:cxn ang="0">
                  <a:pos x="796" y="777"/>
                </a:cxn>
                <a:cxn ang="0">
                  <a:pos x="792" y="778"/>
                </a:cxn>
                <a:cxn ang="0">
                  <a:pos x="772" y="784"/>
                </a:cxn>
                <a:cxn ang="0">
                  <a:pos x="712" y="823"/>
                </a:cxn>
                <a:cxn ang="0">
                  <a:pos x="675" y="795"/>
                </a:cxn>
                <a:cxn ang="0">
                  <a:pos x="642" y="792"/>
                </a:cxn>
                <a:cxn ang="0">
                  <a:pos x="569" y="779"/>
                </a:cxn>
                <a:cxn ang="0">
                  <a:pos x="542" y="804"/>
                </a:cxn>
                <a:cxn ang="0">
                  <a:pos x="508" y="789"/>
                </a:cxn>
                <a:cxn ang="0">
                  <a:pos x="479" y="746"/>
                </a:cxn>
                <a:cxn ang="0">
                  <a:pos x="482" y="673"/>
                </a:cxn>
                <a:cxn ang="0">
                  <a:pos x="453" y="654"/>
                </a:cxn>
                <a:cxn ang="0">
                  <a:pos x="418" y="636"/>
                </a:cxn>
                <a:cxn ang="0">
                  <a:pos x="315" y="656"/>
                </a:cxn>
                <a:cxn ang="0">
                  <a:pos x="265" y="667"/>
                </a:cxn>
                <a:cxn ang="0">
                  <a:pos x="223" y="649"/>
                </a:cxn>
                <a:cxn ang="0">
                  <a:pos x="169" y="616"/>
                </a:cxn>
                <a:cxn ang="0">
                  <a:pos x="103" y="595"/>
                </a:cxn>
                <a:cxn ang="0">
                  <a:pos x="103" y="565"/>
                </a:cxn>
                <a:cxn ang="0">
                  <a:pos x="114" y="525"/>
                </a:cxn>
                <a:cxn ang="0">
                  <a:pos x="122" y="488"/>
                </a:cxn>
                <a:cxn ang="0">
                  <a:pos x="49" y="482"/>
                </a:cxn>
                <a:cxn ang="0">
                  <a:pos x="33" y="457"/>
                </a:cxn>
                <a:cxn ang="0">
                  <a:pos x="21" y="420"/>
                </a:cxn>
              </a:cxnLst>
              <a:rect l="0" t="0" r="r" b="b"/>
              <a:pathLst>
                <a:path w="1184" h="826">
                  <a:moveTo>
                    <a:pt x="3" y="392"/>
                  </a:moveTo>
                  <a:lnTo>
                    <a:pt x="5" y="380"/>
                  </a:lnTo>
                  <a:lnTo>
                    <a:pt x="21" y="373"/>
                  </a:lnTo>
                  <a:lnTo>
                    <a:pt x="24" y="368"/>
                  </a:lnTo>
                  <a:lnTo>
                    <a:pt x="51" y="371"/>
                  </a:lnTo>
                  <a:lnTo>
                    <a:pt x="62" y="359"/>
                  </a:lnTo>
                  <a:lnTo>
                    <a:pt x="88" y="354"/>
                  </a:lnTo>
                  <a:lnTo>
                    <a:pt x="96" y="344"/>
                  </a:lnTo>
                  <a:lnTo>
                    <a:pt x="125" y="330"/>
                  </a:lnTo>
                  <a:lnTo>
                    <a:pt x="129" y="318"/>
                  </a:lnTo>
                  <a:lnTo>
                    <a:pt x="135" y="295"/>
                  </a:lnTo>
                  <a:lnTo>
                    <a:pt x="127" y="261"/>
                  </a:lnTo>
                  <a:lnTo>
                    <a:pt x="121" y="253"/>
                  </a:lnTo>
                  <a:lnTo>
                    <a:pt x="168" y="243"/>
                  </a:lnTo>
                  <a:lnTo>
                    <a:pt x="167" y="223"/>
                  </a:lnTo>
                  <a:lnTo>
                    <a:pt x="180" y="189"/>
                  </a:lnTo>
                  <a:lnTo>
                    <a:pt x="211" y="192"/>
                  </a:lnTo>
                  <a:lnTo>
                    <a:pt x="217" y="198"/>
                  </a:lnTo>
                  <a:lnTo>
                    <a:pt x="230" y="192"/>
                  </a:lnTo>
                  <a:lnTo>
                    <a:pt x="230" y="171"/>
                  </a:lnTo>
                  <a:lnTo>
                    <a:pt x="235" y="154"/>
                  </a:lnTo>
                  <a:lnTo>
                    <a:pt x="249" y="153"/>
                  </a:lnTo>
                  <a:lnTo>
                    <a:pt x="257" y="139"/>
                  </a:lnTo>
                  <a:lnTo>
                    <a:pt x="266" y="142"/>
                  </a:lnTo>
                  <a:lnTo>
                    <a:pt x="273" y="137"/>
                  </a:lnTo>
                  <a:lnTo>
                    <a:pt x="279" y="151"/>
                  </a:lnTo>
                  <a:lnTo>
                    <a:pt x="292" y="167"/>
                  </a:lnTo>
                  <a:lnTo>
                    <a:pt x="318" y="172"/>
                  </a:lnTo>
                  <a:lnTo>
                    <a:pt x="321" y="178"/>
                  </a:lnTo>
                  <a:lnTo>
                    <a:pt x="331" y="206"/>
                  </a:lnTo>
                  <a:lnTo>
                    <a:pt x="332" y="230"/>
                  </a:lnTo>
                  <a:lnTo>
                    <a:pt x="329" y="241"/>
                  </a:lnTo>
                  <a:lnTo>
                    <a:pt x="360" y="250"/>
                  </a:lnTo>
                  <a:lnTo>
                    <a:pt x="373" y="249"/>
                  </a:lnTo>
                  <a:lnTo>
                    <a:pt x="418" y="269"/>
                  </a:lnTo>
                  <a:lnTo>
                    <a:pt x="433" y="293"/>
                  </a:lnTo>
                  <a:lnTo>
                    <a:pt x="452" y="311"/>
                  </a:lnTo>
                  <a:lnTo>
                    <a:pt x="525" y="308"/>
                  </a:lnTo>
                  <a:lnTo>
                    <a:pt x="557" y="325"/>
                  </a:lnTo>
                  <a:lnTo>
                    <a:pt x="604" y="340"/>
                  </a:lnTo>
                  <a:lnTo>
                    <a:pt x="658" y="319"/>
                  </a:lnTo>
                  <a:lnTo>
                    <a:pt x="683" y="320"/>
                  </a:lnTo>
                  <a:lnTo>
                    <a:pt x="705" y="314"/>
                  </a:lnTo>
                  <a:lnTo>
                    <a:pt x="741" y="283"/>
                  </a:lnTo>
                  <a:lnTo>
                    <a:pt x="732" y="269"/>
                  </a:lnTo>
                  <a:lnTo>
                    <a:pt x="741" y="250"/>
                  </a:lnTo>
                  <a:lnTo>
                    <a:pt x="748" y="248"/>
                  </a:lnTo>
                  <a:lnTo>
                    <a:pt x="772" y="256"/>
                  </a:lnTo>
                  <a:lnTo>
                    <a:pt x="796" y="236"/>
                  </a:lnTo>
                  <a:lnTo>
                    <a:pt x="812" y="231"/>
                  </a:lnTo>
                  <a:lnTo>
                    <a:pt x="836" y="206"/>
                  </a:lnTo>
                  <a:lnTo>
                    <a:pt x="887" y="202"/>
                  </a:lnTo>
                  <a:lnTo>
                    <a:pt x="881" y="194"/>
                  </a:lnTo>
                  <a:lnTo>
                    <a:pt x="880" y="183"/>
                  </a:lnTo>
                  <a:lnTo>
                    <a:pt x="862" y="164"/>
                  </a:lnTo>
                  <a:lnTo>
                    <a:pt x="839" y="178"/>
                  </a:lnTo>
                  <a:lnTo>
                    <a:pt x="813" y="175"/>
                  </a:lnTo>
                  <a:lnTo>
                    <a:pt x="810" y="163"/>
                  </a:lnTo>
                  <a:lnTo>
                    <a:pt x="812" y="132"/>
                  </a:lnTo>
                  <a:lnTo>
                    <a:pt x="827" y="108"/>
                  </a:lnTo>
                  <a:lnTo>
                    <a:pt x="855" y="120"/>
                  </a:lnTo>
                  <a:lnTo>
                    <a:pt x="882" y="104"/>
                  </a:lnTo>
                  <a:lnTo>
                    <a:pt x="884" y="93"/>
                  </a:lnTo>
                  <a:lnTo>
                    <a:pt x="896" y="60"/>
                  </a:lnTo>
                  <a:lnTo>
                    <a:pt x="911" y="46"/>
                  </a:lnTo>
                  <a:lnTo>
                    <a:pt x="910" y="31"/>
                  </a:lnTo>
                  <a:lnTo>
                    <a:pt x="897" y="31"/>
                  </a:lnTo>
                  <a:lnTo>
                    <a:pt x="899" y="25"/>
                  </a:lnTo>
                  <a:lnTo>
                    <a:pt x="914" y="8"/>
                  </a:lnTo>
                  <a:lnTo>
                    <a:pt x="967" y="0"/>
                  </a:lnTo>
                  <a:lnTo>
                    <a:pt x="983" y="11"/>
                  </a:lnTo>
                  <a:lnTo>
                    <a:pt x="1007" y="16"/>
                  </a:lnTo>
                  <a:lnTo>
                    <a:pt x="1021" y="36"/>
                  </a:lnTo>
                  <a:lnTo>
                    <a:pt x="1024" y="54"/>
                  </a:lnTo>
                  <a:lnTo>
                    <a:pt x="1036" y="80"/>
                  </a:lnTo>
                  <a:lnTo>
                    <a:pt x="1043" y="118"/>
                  </a:lnTo>
                  <a:lnTo>
                    <a:pt x="1075" y="124"/>
                  </a:lnTo>
                  <a:lnTo>
                    <a:pt x="1102" y="138"/>
                  </a:lnTo>
                  <a:lnTo>
                    <a:pt x="1107" y="152"/>
                  </a:lnTo>
                  <a:lnTo>
                    <a:pt x="1107" y="164"/>
                  </a:lnTo>
                  <a:lnTo>
                    <a:pt x="1113" y="174"/>
                  </a:lnTo>
                  <a:lnTo>
                    <a:pt x="1131" y="175"/>
                  </a:lnTo>
                  <a:lnTo>
                    <a:pt x="1184" y="152"/>
                  </a:lnTo>
                  <a:lnTo>
                    <a:pt x="1181" y="158"/>
                  </a:lnTo>
                  <a:lnTo>
                    <a:pt x="1183" y="178"/>
                  </a:lnTo>
                  <a:lnTo>
                    <a:pt x="1175" y="187"/>
                  </a:lnTo>
                  <a:lnTo>
                    <a:pt x="1165" y="220"/>
                  </a:lnTo>
                  <a:lnTo>
                    <a:pt x="1152" y="247"/>
                  </a:lnTo>
                  <a:lnTo>
                    <a:pt x="1147" y="250"/>
                  </a:lnTo>
                  <a:lnTo>
                    <a:pt x="1127" y="244"/>
                  </a:lnTo>
                  <a:lnTo>
                    <a:pt x="1111" y="259"/>
                  </a:lnTo>
                  <a:lnTo>
                    <a:pt x="1116" y="273"/>
                  </a:lnTo>
                  <a:lnTo>
                    <a:pt x="1116" y="295"/>
                  </a:lnTo>
                  <a:lnTo>
                    <a:pt x="1103" y="309"/>
                  </a:lnTo>
                  <a:lnTo>
                    <a:pt x="1103" y="315"/>
                  </a:lnTo>
                  <a:lnTo>
                    <a:pt x="1093" y="305"/>
                  </a:lnTo>
                  <a:lnTo>
                    <a:pt x="1083" y="321"/>
                  </a:lnTo>
                  <a:lnTo>
                    <a:pt x="1072" y="330"/>
                  </a:lnTo>
                  <a:lnTo>
                    <a:pt x="1057" y="331"/>
                  </a:lnTo>
                  <a:lnTo>
                    <a:pt x="1058" y="346"/>
                  </a:lnTo>
                  <a:lnTo>
                    <a:pt x="1043" y="348"/>
                  </a:lnTo>
                  <a:lnTo>
                    <a:pt x="1031" y="342"/>
                  </a:lnTo>
                  <a:lnTo>
                    <a:pt x="1012" y="361"/>
                  </a:lnTo>
                  <a:lnTo>
                    <a:pt x="993" y="370"/>
                  </a:lnTo>
                  <a:lnTo>
                    <a:pt x="983" y="384"/>
                  </a:lnTo>
                  <a:lnTo>
                    <a:pt x="963" y="388"/>
                  </a:lnTo>
                  <a:lnTo>
                    <a:pt x="923" y="414"/>
                  </a:lnTo>
                  <a:lnTo>
                    <a:pt x="920" y="413"/>
                  </a:lnTo>
                  <a:lnTo>
                    <a:pt x="929" y="407"/>
                  </a:lnTo>
                  <a:lnTo>
                    <a:pt x="931" y="399"/>
                  </a:lnTo>
                  <a:lnTo>
                    <a:pt x="923" y="394"/>
                  </a:lnTo>
                  <a:lnTo>
                    <a:pt x="941" y="370"/>
                  </a:lnTo>
                  <a:lnTo>
                    <a:pt x="934" y="356"/>
                  </a:lnTo>
                  <a:lnTo>
                    <a:pt x="920" y="360"/>
                  </a:lnTo>
                  <a:lnTo>
                    <a:pt x="906" y="378"/>
                  </a:lnTo>
                  <a:lnTo>
                    <a:pt x="889" y="388"/>
                  </a:lnTo>
                  <a:lnTo>
                    <a:pt x="881" y="400"/>
                  </a:lnTo>
                  <a:lnTo>
                    <a:pt x="869" y="405"/>
                  </a:lnTo>
                  <a:lnTo>
                    <a:pt x="859" y="403"/>
                  </a:lnTo>
                  <a:lnTo>
                    <a:pt x="852" y="414"/>
                  </a:lnTo>
                  <a:lnTo>
                    <a:pt x="851" y="419"/>
                  </a:lnTo>
                  <a:lnTo>
                    <a:pt x="860" y="429"/>
                  </a:lnTo>
                  <a:lnTo>
                    <a:pt x="874" y="437"/>
                  </a:lnTo>
                  <a:lnTo>
                    <a:pt x="879" y="450"/>
                  </a:lnTo>
                  <a:lnTo>
                    <a:pt x="889" y="454"/>
                  </a:lnTo>
                  <a:lnTo>
                    <a:pt x="914" y="437"/>
                  </a:lnTo>
                  <a:lnTo>
                    <a:pt x="928" y="446"/>
                  </a:lnTo>
                  <a:lnTo>
                    <a:pt x="949" y="448"/>
                  </a:lnTo>
                  <a:lnTo>
                    <a:pt x="943" y="462"/>
                  </a:lnTo>
                  <a:lnTo>
                    <a:pt x="940" y="457"/>
                  </a:lnTo>
                  <a:lnTo>
                    <a:pt x="935" y="457"/>
                  </a:lnTo>
                  <a:lnTo>
                    <a:pt x="930" y="463"/>
                  </a:lnTo>
                  <a:lnTo>
                    <a:pt x="914" y="466"/>
                  </a:lnTo>
                  <a:lnTo>
                    <a:pt x="915" y="470"/>
                  </a:lnTo>
                  <a:lnTo>
                    <a:pt x="910" y="478"/>
                  </a:lnTo>
                  <a:lnTo>
                    <a:pt x="901" y="475"/>
                  </a:lnTo>
                  <a:lnTo>
                    <a:pt x="900" y="483"/>
                  </a:lnTo>
                  <a:lnTo>
                    <a:pt x="892" y="491"/>
                  </a:lnTo>
                  <a:lnTo>
                    <a:pt x="882" y="507"/>
                  </a:lnTo>
                  <a:lnTo>
                    <a:pt x="901" y="519"/>
                  </a:lnTo>
                  <a:lnTo>
                    <a:pt x="915" y="557"/>
                  </a:lnTo>
                  <a:lnTo>
                    <a:pt x="935" y="580"/>
                  </a:lnTo>
                  <a:lnTo>
                    <a:pt x="909" y="572"/>
                  </a:lnTo>
                  <a:lnTo>
                    <a:pt x="900" y="574"/>
                  </a:lnTo>
                  <a:lnTo>
                    <a:pt x="909" y="575"/>
                  </a:lnTo>
                  <a:lnTo>
                    <a:pt x="920" y="582"/>
                  </a:lnTo>
                  <a:lnTo>
                    <a:pt x="935" y="596"/>
                  </a:lnTo>
                  <a:lnTo>
                    <a:pt x="901" y="616"/>
                  </a:lnTo>
                  <a:lnTo>
                    <a:pt x="920" y="611"/>
                  </a:lnTo>
                  <a:lnTo>
                    <a:pt x="936" y="621"/>
                  </a:lnTo>
                  <a:lnTo>
                    <a:pt x="926" y="630"/>
                  </a:lnTo>
                  <a:lnTo>
                    <a:pt x="933" y="627"/>
                  </a:lnTo>
                  <a:lnTo>
                    <a:pt x="933" y="632"/>
                  </a:lnTo>
                  <a:lnTo>
                    <a:pt x="933" y="636"/>
                  </a:lnTo>
                  <a:lnTo>
                    <a:pt x="926" y="637"/>
                  </a:lnTo>
                  <a:lnTo>
                    <a:pt x="928" y="642"/>
                  </a:lnTo>
                  <a:lnTo>
                    <a:pt x="923" y="659"/>
                  </a:lnTo>
                  <a:lnTo>
                    <a:pt x="918" y="657"/>
                  </a:lnTo>
                  <a:lnTo>
                    <a:pt x="896" y="695"/>
                  </a:lnTo>
                  <a:lnTo>
                    <a:pt x="895" y="689"/>
                  </a:lnTo>
                  <a:lnTo>
                    <a:pt x="889" y="693"/>
                  </a:lnTo>
                  <a:lnTo>
                    <a:pt x="892" y="699"/>
                  </a:lnTo>
                  <a:lnTo>
                    <a:pt x="886" y="718"/>
                  </a:lnTo>
                  <a:lnTo>
                    <a:pt x="882" y="716"/>
                  </a:lnTo>
                  <a:lnTo>
                    <a:pt x="870" y="735"/>
                  </a:lnTo>
                  <a:lnTo>
                    <a:pt x="859" y="738"/>
                  </a:lnTo>
                  <a:lnTo>
                    <a:pt x="859" y="745"/>
                  </a:lnTo>
                  <a:lnTo>
                    <a:pt x="850" y="754"/>
                  </a:lnTo>
                  <a:lnTo>
                    <a:pt x="850" y="752"/>
                  </a:lnTo>
                  <a:lnTo>
                    <a:pt x="848" y="755"/>
                  </a:lnTo>
                  <a:lnTo>
                    <a:pt x="839" y="757"/>
                  </a:lnTo>
                  <a:lnTo>
                    <a:pt x="827" y="769"/>
                  </a:lnTo>
                  <a:lnTo>
                    <a:pt x="809" y="775"/>
                  </a:lnTo>
                  <a:lnTo>
                    <a:pt x="803" y="772"/>
                  </a:lnTo>
                  <a:lnTo>
                    <a:pt x="796" y="777"/>
                  </a:lnTo>
                  <a:lnTo>
                    <a:pt x="795" y="774"/>
                  </a:lnTo>
                  <a:lnTo>
                    <a:pt x="792" y="778"/>
                  </a:lnTo>
                  <a:lnTo>
                    <a:pt x="787" y="778"/>
                  </a:lnTo>
                  <a:lnTo>
                    <a:pt x="790" y="781"/>
                  </a:lnTo>
                  <a:lnTo>
                    <a:pt x="792" y="778"/>
                  </a:lnTo>
                  <a:lnTo>
                    <a:pt x="786" y="778"/>
                  </a:lnTo>
                  <a:lnTo>
                    <a:pt x="787" y="782"/>
                  </a:lnTo>
                  <a:lnTo>
                    <a:pt x="781" y="783"/>
                  </a:lnTo>
                  <a:lnTo>
                    <a:pt x="772" y="772"/>
                  </a:lnTo>
                  <a:lnTo>
                    <a:pt x="772" y="784"/>
                  </a:lnTo>
                  <a:lnTo>
                    <a:pt x="763" y="777"/>
                  </a:lnTo>
                  <a:lnTo>
                    <a:pt x="760" y="792"/>
                  </a:lnTo>
                  <a:lnTo>
                    <a:pt x="712" y="803"/>
                  </a:lnTo>
                  <a:lnTo>
                    <a:pt x="707" y="812"/>
                  </a:lnTo>
                  <a:lnTo>
                    <a:pt x="712" y="823"/>
                  </a:lnTo>
                  <a:lnTo>
                    <a:pt x="705" y="826"/>
                  </a:lnTo>
                  <a:lnTo>
                    <a:pt x="697" y="812"/>
                  </a:lnTo>
                  <a:lnTo>
                    <a:pt x="697" y="799"/>
                  </a:lnTo>
                  <a:lnTo>
                    <a:pt x="687" y="803"/>
                  </a:lnTo>
                  <a:lnTo>
                    <a:pt x="675" y="795"/>
                  </a:lnTo>
                  <a:lnTo>
                    <a:pt x="670" y="802"/>
                  </a:lnTo>
                  <a:lnTo>
                    <a:pt x="669" y="798"/>
                  </a:lnTo>
                  <a:lnTo>
                    <a:pt x="664" y="802"/>
                  </a:lnTo>
                  <a:lnTo>
                    <a:pt x="652" y="799"/>
                  </a:lnTo>
                  <a:lnTo>
                    <a:pt x="642" y="792"/>
                  </a:lnTo>
                  <a:lnTo>
                    <a:pt x="636" y="774"/>
                  </a:lnTo>
                  <a:lnTo>
                    <a:pt x="611" y="764"/>
                  </a:lnTo>
                  <a:lnTo>
                    <a:pt x="584" y="778"/>
                  </a:lnTo>
                  <a:lnTo>
                    <a:pt x="576" y="775"/>
                  </a:lnTo>
                  <a:lnTo>
                    <a:pt x="569" y="779"/>
                  </a:lnTo>
                  <a:lnTo>
                    <a:pt x="558" y="774"/>
                  </a:lnTo>
                  <a:lnTo>
                    <a:pt x="554" y="782"/>
                  </a:lnTo>
                  <a:lnTo>
                    <a:pt x="545" y="779"/>
                  </a:lnTo>
                  <a:lnTo>
                    <a:pt x="541" y="782"/>
                  </a:lnTo>
                  <a:lnTo>
                    <a:pt x="542" y="804"/>
                  </a:lnTo>
                  <a:lnTo>
                    <a:pt x="535" y="807"/>
                  </a:lnTo>
                  <a:lnTo>
                    <a:pt x="532" y="797"/>
                  </a:lnTo>
                  <a:lnTo>
                    <a:pt x="528" y="794"/>
                  </a:lnTo>
                  <a:lnTo>
                    <a:pt x="515" y="799"/>
                  </a:lnTo>
                  <a:lnTo>
                    <a:pt x="508" y="789"/>
                  </a:lnTo>
                  <a:lnTo>
                    <a:pt x="497" y="785"/>
                  </a:lnTo>
                  <a:lnTo>
                    <a:pt x="501" y="769"/>
                  </a:lnTo>
                  <a:lnTo>
                    <a:pt x="491" y="762"/>
                  </a:lnTo>
                  <a:lnTo>
                    <a:pt x="488" y="746"/>
                  </a:lnTo>
                  <a:lnTo>
                    <a:pt x="479" y="746"/>
                  </a:lnTo>
                  <a:lnTo>
                    <a:pt x="463" y="753"/>
                  </a:lnTo>
                  <a:lnTo>
                    <a:pt x="469" y="726"/>
                  </a:lnTo>
                  <a:lnTo>
                    <a:pt x="485" y="704"/>
                  </a:lnTo>
                  <a:lnTo>
                    <a:pt x="486" y="691"/>
                  </a:lnTo>
                  <a:lnTo>
                    <a:pt x="482" y="673"/>
                  </a:lnTo>
                  <a:lnTo>
                    <a:pt x="477" y="673"/>
                  </a:lnTo>
                  <a:lnTo>
                    <a:pt x="469" y="659"/>
                  </a:lnTo>
                  <a:lnTo>
                    <a:pt x="463" y="656"/>
                  </a:lnTo>
                  <a:lnTo>
                    <a:pt x="458" y="659"/>
                  </a:lnTo>
                  <a:lnTo>
                    <a:pt x="453" y="654"/>
                  </a:lnTo>
                  <a:lnTo>
                    <a:pt x="439" y="651"/>
                  </a:lnTo>
                  <a:lnTo>
                    <a:pt x="440" y="642"/>
                  </a:lnTo>
                  <a:lnTo>
                    <a:pt x="437" y="641"/>
                  </a:lnTo>
                  <a:lnTo>
                    <a:pt x="433" y="630"/>
                  </a:lnTo>
                  <a:lnTo>
                    <a:pt x="418" y="636"/>
                  </a:lnTo>
                  <a:lnTo>
                    <a:pt x="404" y="635"/>
                  </a:lnTo>
                  <a:lnTo>
                    <a:pt x="375" y="657"/>
                  </a:lnTo>
                  <a:lnTo>
                    <a:pt x="349" y="667"/>
                  </a:lnTo>
                  <a:lnTo>
                    <a:pt x="343" y="663"/>
                  </a:lnTo>
                  <a:lnTo>
                    <a:pt x="315" y="656"/>
                  </a:lnTo>
                  <a:lnTo>
                    <a:pt x="295" y="677"/>
                  </a:lnTo>
                  <a:lnTo>
                    <a:pt x="291" y="675"/>
                  </a:lnTo>
                  <a:lnTo>
                    <a:pt x="291" y="661"/>
                  </a:lnTo>
                  <a:lnTo>
                    <a:pt x="280" y="665"/>
                  </a:lnTo>
                  <a:lnTo>
                    <a:pt x="265" y="667"/>
                  </a:lnTo>
                  <a:lnTo>
                    <a:pt x="251" y="663"/>
                  </a:lnTo>
                  <a:lnTo>
                    <a:pt x="237" y="665"/>
                  </a:lnTo>
                  <a:lnTo>
                    <a:pt x="232" y="659"/>
                  </a:lnTo>
                  <a:lnTo>
                    <a:pt x="222" y="655"/>
                  </a:lnTo>
                  <a:lnTo>
                    <a:pt x="223" y="649"/>
                  </a:lnTo>
                  <a:lnTo>
                    <a:pt x="203" y="645"/>
                  </a:lnTo>
                  <a:lnTo>
                    <a:pt x="204" y="635"/>
                  </a:lnTo>
                  <a:lnTo>
                    <a:pt x="191" y="640"/>
                  </a:lnTo>
                  <a:lnTo>
                    <a:pt x="184" y="628"/>
                  </a:lnTo>
                  <a:lnTo>
                    <a:pt x="169" y="616"/>
                  </a:lnTo>
                  <a:lnTo>
                    <a:pt x="149" y="611"/>
                  </a:lnTo>
                  <a:lnTo>
                    <a:pt x="148" y="618"/>
                  </a:lnTo>
                  <a:lnTo>
                    <a:pt x="143" y="613"/>
                  </a:lnTo>
                  <a:lnTo>
                    <a:pt x="113" y="594"/>
                  </a:lnTo>
                  <a:lnTo>
                    <a:pt x="103" y="595"/>
                  </a:lnTo>
                  <a:lnTo>
                    <a:pt x="98" y="585"/>
                  </a:lnTo>
                  <a:lnTo>
                    <a:pt x="99" y="574"/>
                  </a:lnTo>
                  <a:lnTo>
                    <a:pt x="93" y="561"/>
                  </a:lnTo>
                  <a:lnTo>
                    <a:pt x="98" y="557"/>
                  </a:lnTo>
                  <a:lnTo>
                    <a:pt x="103" y="565"/>
                  </a:lnTo>
                  <a:lnTo>
                    <a:pt x="114" y="556"/>
                  </a:lnTo>
                  <a:lnTo>
                    <a:pt x="112" y="546"/>
                  </a:lnTo>
                  <a:lnTo>
                    <a:pt x="103" y="541"/>
                  </a:lnTo>
                  <a:lnTo>
                    <a:pt x="102" y="527"/>
                  </a:lnTo>
                  <a:lnTo>
                    <a:pt x="114" y="525"/>
                  </a:lnTo>
                  <a:lnTo>
                    <a:pt x="114" y="517"/>
                  </a:lnTo>
                  <a:lnTo>
                    <a:pt x="123" y="509"/>
                  </a:lnTo>
                  <a:lnTo>
                    <a:pt x="129" y="491"/>
                  </a:lnTo>
                  <a:lnTo>
                    <a:pt x="123" y="493"/>
                  </a:lnTo>
                  <a:lnTo>
                    <a:pt x="122" y="488"/>
                  </a:lnTo>
                  <a:lnTo>
                    <a:pt x="109" y="479"/>
                  </a:lnTo>
                  <a:lnTo>
                    <a:pt x="76" y="492"/>
                  </a:lnTo>
                  <a:lnTo>
                    <a:pt x="59" y="486"/>
                  </a:lnTo>
                  <a:lnTo>
                    <a:pt x="56" y="481"/>
                  </a:lnTo>
                  <a:lnTo>
                    <a:pt x="49" y="482"/>
                  </a:lnTo>
                  <a:lnTo>
                    <a:pt x="44" y="477"/>
                  </a:lnTo>
                  <a:lnTo>
                    <a:pt x="45" y="468"/>
                  </a:lnTo>
                  <a:lnTo>
                    <a:pt x="41" y="463"/>
                  </a:lnTo>
                  <a:lnTo>
                    <a:pt x="34" y="463"/>
                  </a:lnTo>
                  <a:lnTo>
                    <a:pt x="33" y="457"/>
                  </a:lnTo>
                  <a:lnTo>
                    <a:pt x="19" y="454"/>
                  </a:lnTo>
                  <a:lnTo>
                    <a:pt x="15" y="452"/>
                  </a:lnTo>
                  <a:lnTo>
                    <a:pt x="21" y="449"/>
                  </a:lnTo>
                  <a:lnTo>
                    <a:pt x="25" y="449"/>
                  </a:lnTo>
                  <a:lnTo>
                    <a:pt x="21" y="420"/>
                  </a:lnTo>
                  <a:lnTo>
                    <a:pt x="19" y="417"/>
                  </a:lnTo>
                  <a:lnTo>
                    <a:pt x="5" y="418"/>
                  </a:lnTo>
                  <a:lnTo>
                    <a:pt x="0" y="410"/>
                  </a:lnTo>
                  <a:lnTo>
                    <a:pt x="3" y="392"/>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0" name="Freeform 700">
              <a:extLst>
                <a:ext uri="{FF2B5EF4-FFF2-40B4-BE49-F238E27FC236}">
                  <a16:creationId xmlns:a16="http://schemas.microsoft.com/office/drawing/2014/main" id="{6DE3C94B-72B2-4441-DF75-BAF53468AF11}"/>
                </a:ext>
              </a:extLst>
            </p:cNvPr>
            <p:cNvSpPr>
              <a:spLocks/>
            </p:cNvSpPr>
            <p:nvPr/>
          </p:nvSpPr>
          <p:spPr bwMode="auto">
            <a:xfrm>
              <a:off x="3084752" y="4027812"/>
              <a:ext cx="144432" cy="118336"/>
            </a:xfrm>
            <a:custGeom>
              <a:avLst/>
              <a:gdLst/>
              <a:ahLst/>
              <a:cxnLst>
                <a:cxn ang="0">
                  <a:pos x="36" y="0"/>
                </a:cxn>
                <a:cxn ang="0">
                  <a:pos x="44" y="1"/>
                </a:cxn>
                <a:cxn ang="0">
                  <a:pos x="46" y="8"/>
                </a:cxn>
                <a:cxn ang="0">
                  <a:pos x="36" y="26"/>
                </a:cxn>
                <a:cxn ang="0">
                  <a:pos x="21" y="37"/>
                </a:cxn>
                <a:cxn ang="0">
                  <a:pos x="4" y="33"/>
                </a:cxn>
                <a:cxn ang="0">
                  <a:pos x="0" y="16"/>
                </a:cxn>
                <a:cxn ang="0">
                  <a:pos x="17" y="2"/>
                </a:cxn>
                <a:cxn ang="0">
                  <a:pos x="36" y="0"/>
                </a:cxn>
              </a:cxnLst>
              <a:rect l="0" t="0" r="r" b="b"/>
              <a:pathLst>
                <a:path w="46" h="37">
                  <a:moveTo>
                    <a:pt x="36" y="0"/>
                  </a:moveTo>
                  <a:lnTo>
                    <a:pt x="44" y="1"/>
                  </a:lnTo>
                  <a:lnTo>
                    <a:pt x="46" y="8"/>
                  </a:lnTo>
                  <a:lnTo>
                    <a:pt x="36" y="26"/>
                  </a:lnTo>
                  <a:lnTo>
                    <a:pt x="21" y="37"/>
                  </a:lnTo>
                  <a:lnTo>
                    <a:pt x="4" y="33"/>
                  </a:lnTo>
                  <a:lnTo>
                    <a:pt x="0" y="16"/>
                  </a:lnTo>
                  <a:lnTo>
                    <a:pt x="17" y="2"/>
                  </a:lnTo>
                  <a:lnTo>
                    <a:pt x="36" y="0"/>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1" name="Freeform 701">
              <a:extLst>
                <a:ext uri="{FF2B5EF4-FFF2-40B4-BE49-F238E27FC236}">
                  <a16:creationId xmlns:a16="http://schemas.microsoft.com/office/drawing/2014/main" id="{D9F1A8B0-DD4D-A1CB-1AEE-5CBAC5001D16}"/>
                </a:ext>
              </a:extLst>
            </p:cNvPr>
            <p:cNvSpPr>
              <a:spLocks/>
            </p:cNvSpPr>
            <p:nvPr/>
          </p:nvSpPr>
          <p:spPr bwMode="auto">
            <a:xfrm>
              <a:off x="3401875" y="3877495"/>
              <a:ext cx="12559" cy="12793"/>
            </a:xfrm>
            <a:custGeom>
              <a:avLst/>
              <a:gdLst/>
              <a:ahLst/>
              <a:cxnLst>
                <a:cxn ang="0">
                  <a:pos x="4" y="0"/>
                </a:cxn>
                <a:cxn ang="0">
                  <a:pos x="0" y="2"/>
                </a:cxn>
                <a:cxn ang="0">
                  <a:pos x="4" y="4"/>
                </a:cxn>
                <a:cxn ang="0">
                  <a:pos x="4" y="0"/>
                </a:cxn>
              </a:cxnLst>
              <a:rect l="0" t="0" r="r" b="b"/>
              <a:pathLst>
                <a:path w="4" h="4">
                  <a:moveTo>
                    <a:pt x="4" y="0"/>
                  </a:moveTo>
                  <a:lnTo>
                    <a:pt x="0" y="2"/>
                  </a:lnTo>
                  <a:lnTo>
                    <a:pt x="4" y="4"/>
                  </a:lnTo>
                  <a:lnTo>
                    <a:pt x="4"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2" name="Freeform 703">
              <a:extLst>
                <a:ext uri="{FF2B5EF4-FFF2-40B4-BE49-F238E27FC236}">
                  <a16:creationId xmlns:a16="http://schemas.microsoft.com/office/drawing/2014/main" id="{C9F099D3-5DD3-E365-21FB-90363F04DD6B}"/>
                </a:ext>
              </a:extLst>
            </p:cNvPr>
            <p:cNvSpPr>
              <a:spLocks/>
            </p:cNvSpPr>
            <p:nvPr/>
          </p:nvSpPr>
          <p:spPr bwMode="auto">
            <a:xfrm>
              <a:off x="4342954" y="3454268"/>
              <a:ext cx="15703" cy="19194"/>
            </a:xfrm>
            <a:custGeom>
              <a:avLst/>
              <a:gdLst/>
              <a:ahLst/>
              <a:cxnLst>
                <a:cxn ang="0">
                  <a:pos x="0" y="2"/>
                </a:cxn>
                <a:cxn ang="0">
                  <a:pos x="5" y="0"/>
                </a:cxn>
                <a:cxn ang="0">
                  <a:pos x="0" y="6"/>
                </a:cxn>
                <a:cxn ang="0">
                  <a:pos x="0" y="2"/>
                </a:cxn>
              </a:cxnLst>
              <a:rect l="0" t="0" r="r" b="b"/>
              <a:pathLst>
                <a:path w="5" h="6">
                  <a:moveTo>
                    <a:pt x="0" y="2"/>
                  </a:moveTo>
                  <a:lnTo>
                    <a:pt x="5" y="0"/>
                  </a:lnTo>
                  <a:lnTo>
                    <a:pt x="0" y="6"/>
                  </a:lnTo>
                  <a:lnTo>
                    <a:pt x="0" y="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3" name="Freeform 704">
              <a:extLst>
                <a:ext uri="{FF2B5EF4-FFF2-40B4-BE49-F238E27FC236}">
                  <a16:creationId xmlns:a16="http://schemas.microsoft.com/office/drawing/2014/main" id="{00AFF89E-29CD-4B8D-B29B-9F44E41CCDEF}"/>
                </a:ext>
              </a:extLst>
            </p:cNvPr>
            <p:cNvSpPr>
              <a:spLocks/>
            </p:cNvSpPr>
            <p:nvPr/>
          </p:nvSpPr>
          <p:spPr bwMode="auto">
            <a:xfrm>
              <a:off x="4245621" y="3569436"/>
              <a:ext cx="28258" cy="47986"/>
            </a:xfrm>
            <a:custGeom>
              <a:avLst/>
              <a:gdLst/>
              <a:ahLst/>
              <a:cxnLst>
                <a:cxn ang="0">
                  <a:pos x="1" y="8"/>
                </a:cxn>
                <a:cxn ang="0">
                  <a:pos x="9" y="0"/>
                </a:cxn>
                <a:cxn ang="0">
                  <a:pos x="0" y="15"/>
                </a:cxn>
                <a:cxn ang="0">
                  <a:pos x="1" y="8"/>
                </a:cxn>
              </a:cxnLst>
              <a:rect l="0" t="0" r="r" b="b"/>
              <a:pathLst>
                <a:path w="9" h="15">
                  <a:moveTo>
                    <a:pt x="1" y="8"/>
                  </a:moveTo>
                  <a:lnTo>
                    <a:pt x="9" y="0"/>
                  </a:lnTo>
                  <a:lnTo>
                    <a:pt x="0" y="15"/>
                  </a:lnTo>
                  <a:lnTo>
                    <a:pt x="1" y="8"/>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4" name="Freeform 705">
              <a:extLst>
                <a:ext uri="{FF2B5EF4-FFF2-40B4-BE49-F238E27FC236}">
                  <a16:creationId xmlns:a16="http://schemas.microsoft.com/office/drawing/2014/main" id="{AF684F2F-4567-EAFD-FD9A-012B8D636966}"/>
                </a:ext>
              </a:extLst>
            </p:cNvPr>
            <p:cNvSpPr>
              <a:spLocks/>
            </p:cNvSpPr>
            <p:nvPr/>
          </p:nvSpPr>
          <p:spPr bwMode="auto">
            <a:xfrm>
              <a:off x="4327252" y="3124767"/>
              <a:ext cx="9420" cy="19194"/>
            </a:xfrm>
            <a:custGeom>
              <a:avLst/>
              <a:gdLst/>
              <a:ahLst/>
              <a:cxnLst>
                <a:cxn ang="0">
                  <a:pos x="3" y="2"/>
                </a:cxn>
                <a:cxn ang="0">
                  <a:pos x="0" y="0"/>
                </a:cxn>
                <a:cxn ang="0">
                  <a:pos x="0" y="6"/>
                </a:cxn>
                <a:cxn ang="0">
                  <a:pos x="3" y="2"/>
                </a:cxn>
              </a:cxnLst>
              <a:rect l="0" t="0" r="r" b="b"/>
              <a:pathLst>
                <a:path w="3" h="6">
                  <a:moveTo>
                    <a:pt x="3" y="2"/>
                  </a:moveTo>
                  <a:lnTo>
                    <a:pt x="0" y="0"/>
                  </a:lnTo>
                  <a:lnTo>
                    <a:pt x="0" y="6"/>
                  </a:lnTo>
                  <a:lnTo>
                    <a:pt x="3" y="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5" name="Freeform 706">
              <a:extLst>
                <a:ext uri="{FF2B5EF4-FFF2-40B4-BE49-F238E27FC236}">
                  <a16:creationId xmlns:a16="http://schemas.microsoft.com/office/drawing/2014/main" id="{AB59B93D-5EEE-44FD-7548-D840764B3555}"/>
                </a:ext>
              </a:extLst>
            </p:cNvPr>
            <p:cNvSpPr>
              <a:spLocks/>
            </p:cNvSpPr>
            <p:nvPr/>
          </p:nvSpPr>
          <p:spPr bwMode="auto">
            <a:xfrm>
              <a:off x="4415170" y="3319912"/>
              <a:ext cx="12559" cy="12793"/>
            </a:xfrm>
            <a:custGeom>
              <a:avLst/>
              <a:gdLst/>
              <a:ahLst/>
              <a:cxnLst>
                <a:cxn ang="0">
                  <a:pos x="1" y="0"/>
                </a:cxn>
                <a:cxn ang="0">
                  <a:pos x="0" y="4"/>
                </a:cxn>
                <a:cxn ang="0">
                  <a:pos x="4" y="4"/>
                </a:cxn>
                <a:cxn ang="0">
                  <a:pos x="1" y="0"/>
                </a:cxn>
              </a:cxnLst>
              <a:rect l="0" t="0" r="r" b="b"/>
              <a:pathLst>
                <a:path w="4" h="4">
                  <a:moveTo>
                    <a:pt x="1" y="0"/>
                  </a:moveTo>
                  <a:lnTo>
                    <a:pt x="0" y="4"/>
                  </a:lnTo>
                  <a:lnTo>
                    <a:pt x="4" y="4"/>
                  </a:lnTo>
                  <a:lnTo>
                    <a:pt x="1"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6" name="Freeform 713">
              <a:extLst>
                <a:ext uri="{FF2B5EF4-FFF2-40B4-BE49-F238E27FC236}">
                  <a16:creationId xmlns:a16="http://schemas.microsoft.com/office/drawing/2014/main" id="{6A696F0B-1F3F-3F32-9EFC-C0A56F666B91}"/>
                </a:ext>
              </a:extLst>
            </p:cNvPr>
            <p:cNvSpPr>
              <a:spLocks/>
            </p:cNvSpPr>
            <p:nvPr/>
          </p:nvSpPr>
          <p:spPr bwMode="auto">
            <a:xfrm>
              <a:off x="4045505" y="2348480"/>
              <a:ext cx="380989" cy="426892"/>
            </a:xfrm>
            <a:custGeom>
              <a:avLst/>
              <a:gdLst/>
              <a:ahLst/>
              <a:cxnLst>
                <a:cxn ang="0">
                  <a:pos x="120" y="10"/>
                </a:cxn>
                <a:cxn ang="0">
                  <a:pos x="122" y="15"/>
                </a:cxn>
                <a:cxn ang="0">
                  <a:pos x="103" y="36"/>
                </a:cxn>
                <a:cxn ang="0">
                  <a:pos x="103" y="54"/>
                </a:cxn>
                <a:cxn ang="0">
                  <a:pos x="78" y="74"/>
                </a:cxn>
                <a:cxn ang="0">
                  <a:pos x="60" y="82"/>
                </a:cxn>
                <a:cxn ang="0">
                  <a:pos x="60" y="98"/>
                </a:cxn>
                <a:cxn ang="0">
                  <a:pos x="78" y="113"/>
                </a:cxn>
                <a:cxn ang="0">
                  <a:pos x="66" y="121"/>
                </a:cxn>
                <a:cxn ang="0">
                  <a:pos x="54" y="121"/>
                </a:cxn>
                <a:cxn ang="0">
                  <a:pos x="41" y="133"/>
                </a:cxn>
                <a:cxn ang="0">
                  <a:pos x="25" y="127"/>
                </a:cxn>
                <a:cxn ang="0">
                  <a:pos x="24" y="132"/>
                </a:cxn>
                <a:cxn ang="0">
                  <a:pos x="17" y="134"/>
                </a:cxn>
                <a:cxn ang="0">
                  <a:pos x="14" y="128"/>
                </a:cxn>
                <a:cxn ang="0">
                  <a:pos x="16" y="124"/>
                </a:cxn>
                <a:cxn ang="0">
                  <a:pos x="7" y="125"/>
                </a:cxn>
                <a:cxn ang="0">
                  <a:pos x="12" y="114"/>
                </a:cxn>
                <a:cxn ang="0">
                  <a:pos x="20" y="110"/>
                </a:cxn>
                <a:cxn ang="0">
                  <a:pos x="16" y="108"/>
                </a:cxn>
                <a:cxn ang="0">
                  <a:pos x="21" y="89"/>
                </a:cxn>
                <a:cxn ang="0">
                  <a:pos x="5" y="88"/>
                </a:cxn>
                <a:cxn ang="0">
                  <a:pos x="0" y="79"/>
                </a:cxn>
                <a:cxn ang="0">
                  <a:pos x="10" y="65"/>
                </a:cxn>
                <a:cxn ang="0">
                  <a:pos x="29" y="56"/>
                </a:cxn>
                <a:cxn ang="0">
                  <a:pos x="48" y="37"/>
                </a:cxn>
                <a:cxn ang="0">
                  <a:pos x="60" y="43"/>
                </a:cxn>
                <a:cxn ang="0">
                  <a:pos x="75" y="41"/>
                </a:cxn>
                <a:cxn ang="0">
                  <a:pos x="74" y="26"/>
                </a:cxn>
                <a:cxn ang="0">
                  <a:pos x="89" y="25"/>
                </a:cxn>
                <a:cxn ang="0">
                  <a:pos x="100" y="16"/>
                </a:cxn>
                <a:cxn ang="0">
                  <a:pos x="110" y="0"/>
                </a:cxn>
                <a:cxn ang="0">
                  <a:pos x="120" y="10"/>
                </a:cxn>
              </a:cxnLst>
              <a:rect l="0" t="0" r="r" b="b"/>
              <a:pathLst>
                <a:path w="122" h="134">
                  <a:moveTo>
                    <a:pt x="120" y="10"/>
                  </a:moveTo>
                  <a:lnTo>
                    <a:pt x="122" y="15"/>
                  </a:lnTo>
                  <a:lnTo>
                    <a:pt x="103" y="36"/>
                  </a:lnTo>
                  <a:lnTo>
                    <a:pt x="103" y="54"/>
                  </a:lnTo>
                  <a:lnTo>
                    <a:pt x="78" y="74"/>
                  </a:lnTo>
                  <a:lnTo>
                    <a:pt x="60" y="82"/>
                  </a:lnTo>
                  <a:lnTo>
                    <a:pt x="60" y="98"/>
                  </a:lnTo>
                  <a:lnTo>
                    <a:pt x="78" y="113"/>
                  </a:lnTo>
                  <a:lnTo>
                    <a:pt x="66" y="121"/>
                  </a:lnTo>
                  <a:lnTo>
                    <a:pt x="54" y="121"/>
                  </a:lnTo>
                  <a:lnTo>
                    <a:pt x="41" y="133"/>
                  </a:lnTo>
                  <a:lnTo>
                    <a:pt x="25" y="127"/>
                  </a:lnTo>
                  <a:lnTo>
                    <a:pt x="24" y="132"/>
                  </a:lnTo>
                  <a:lnTo>
                    <a:pt x="17" y="134"/>
                  </a:lnTo>
                  <a:lnTo>
                    <a:pt x="14" y="128"/>
                  </a:lnTo>
                  <a:lnTo>
                    <a:pt x="16" y="124"/>
                  </a:lnTo>
                  <a:lnTo>
                    <a:pt x="7" y="125"/>
                  </a:lnTo>
                  <a:lnTo>
                    <a:pt x="12" y="114"/>
                  </a:lnTo>
                  <a:lnTo>
                    <a:pt x="20" y="110"/>
                  </a:lnTo>
                  <a:lnTo>
                    <a:pt x="16" y="108"/>
                  </a:lnTo>
                  <a:lnTo>
                    <a:pt x="21" y="89"/>
                  </a:lnTo>
                  <a:lnTo>
                    <a:pt x="5" y="88"/>
                  </a:lnTo>
                  <a:lnTo>
                    <a:pt x="0" y="79"/>
                  </a:lnTo>
                  <a:lnTo>
                    <a:pt x="10" y="65"/>
                  </a:lnTo>
                  <a:lnTo>
                    <a:pt x="29" y="56"/>
                  </a:lnTo>
                  <a:lnTo>
                    <a:pt x="48" y="37"/>
                  </a:lnTo>
                  <a:lnTo>
                    <a:pt x="60" y="43"/>
                  </a:lnTo>
                  <a:lnTo>
                    <a:pt x="75" y="41"/>
                  </a:lnTo>
                  <a:lnTo>
                    <a:pt x="74" y="26"/>
                  </a:lnTo>
                  <a:lnTo>
                    <a:pt x="89" y="25"/>
                  </a:lnTo>
                  <a:lnTo>
                    <a:pt x="100" y="16"/>
                  </a:lnTo>
                  <a:lnTo>
                    <a:pt x="110" y="0"/>
                  </a:lnTo>
                  <a:lnTo>
                    <a:pt x="120" y="10"/>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7" name="Freeform 714">
              <a:extLst>
                <a:ext uri="{FF2B5EF4-FFF2-40B4-BE49-F238E27FC236}">
                  <a16:creationId xmlns:a16="http://schemas.microsoft.com/office/drawing/2014/main" id="{49E1255B-10B5-1C8E-15FC-4E9BBF199CC1}"/>
                </a:ext>
              </a:extLst>
            </p:cNvPr>
            <p:cNvSpPr>
              <a:spLocks/>
            </p:cNvSpPr>
            <p:nvPr/>
          </p:nvSpPr>
          <p:spPr bwMode="auto">
            <a:xfrm>
              <a:off x="4155616" y="3103964"/>
              <a:ext cx="43422" cy="16066"/>
            </a:xfrm>
            <a:custGeom>
              <a:avLst/>
              <a:gdLst/>
              <a:ahLst/>
              <a:cxnLst>
                <a:cxn ang="0">
                  <a:pos x="1" y="0"/>
                </a:cxn>
                <a:cxn ang="0">
                  <a:pos x="0" y="4"/>
                </a:cxn>
                <a:cxn ang="0">
                  <a:pos x="4" y="5"/>
                </a:cxn>
                <a:cxn ang="0">
                  <a:pos x="14" y="0"/>
                </a:cxn>
                <a:cxn ang="0">
                  <a:pos x="1" y="0"/>
                </a:cxn>
              </a:cxnLst>
              <a:rect l="0" t="0" r="r" b="b"/>
              <a:pathLst>
                <a:path w="14" h="5">
                  <a:moveTo>
                    <a:pt x="1" y="0"/>
                  </a:moveTo>
                  <a:lnTo>
                    <a:pt x="0" y="4"/>
                  </a:lnTo>
                  <a:lnTo>
                    <a:pt x="4" y="5"/>
                  </a:lnTo>
                  <a:lnTo>
                    <a:pt x="14" y="0"/>
                  </a:lnTo>
                  <a:lnTo>
                    <a:pt x="1"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8" name="Freeform 715">
              <a:extLst>
                <a:ext uri="{FF2B5EF4-FFF2-40B4-BE49-F238E27FC236}">
                  <a16:creationId xmlns:a16="http://schemas.microsoft.com/office/drawing/2014/main" id="{EC5CF2CD-97FD-2DD5-A7F2-1609530CDFA1}"/>
                </a:ext>
              </a:extLst>
            </p:cNvPr>
            <p:cNvSpPr>
              <a:spLocks/>
            </p:cNvSpPr>
            <p:nvPr/>
          </p:nvSpPr>
          <p:spPr bwMode="auto">
            <a:xfrm>
              <a:off x="4149411" y="2708797"/>
              <a:ext cx="207813" cy="321274"/>
            </a:xfrm>
            <a:custGeom>
              <a:avLst/>
              <a:gdLst/>
              <a:ahLst/>
              <a:cxnLst>
                <a:cxn ang="0">
                  <a:pos x="45" y="0"/>
                </a:cxn>
                <a:cxn ang="0">
                  <a:pos x="61" y="26"/>
                </a:cxn>
                <a:cxn ang="0">
                  <a:pos x="67" y="60"/>
                </a:cxn>
                <a:cxn ang="0">
                  <a:pos x="61" y="77"/>
                </a:cxn>
                <a:cxn ang="0">
                  <a:pos x="54" y="83"/>
                </a:cxn>
                <a:cxn ang="0">
                  <a:pos x="48" y="81"/>
                </a:cxn>
                <a:cxn ang="0">
                  <a:pos x="43" y="89"/>
                </a:cxn>
                <a:cxn ang="0">
                  <a:pos x="35" y="85"/>
                </a:cxn>
                <a:cxn ang="0">
                  <a:pos x="28" y="93"/>
                </a:cxn>
                <a:cxn ang="0">
                  <a:pos x="26" y="89"/>
                </a:cxn>
                <a:cxn ang="0">
                  <a:pos x="23" y="97"/>
                </a:cxn>
                <a:cxn ang="0">
                  <a:pos x="21" y="95"/>
                </a:cxn>
                <a:cxn ang="0">
                  <a:pos x="23" y="91"/>
                </a:cxn>
                <a:cxn ang="0">
                  <a:pos x="15" y="98"/>
                </a:cxn>
                <a:cxn ang="0">
                  <a:pos x="2" y="100"/>
                </a:cxn>
                <a:cxn ang="0">
                  <a:pos x="3" y="93"/>
                </a:cxn>
                <a:cxn ang="0">
                  <a:pos x="7" y="95"/>
                </a:cxn>
                <a:cxn ang="0">
                  <a:pos x="8" y="90"/>
                </a:cxn>
                <a:cxn ang="0">
                  <a:pos x="3" y="88"/>
                </a:cxn>
                <a:cxn ang="0">
                  <a:pos x="12" y="65"/>
                </a:cxn>
                <a:cxn ang="0">
                  <a:pos x="7" y="46"/>
                </a:cxn>
                <a:cxn ang="0">
                  <a:pos x="3" y="51"/>
                </a:cxn>
                <a:cxn ang="0">
                  <a:pos x="0" y="44"/>
                </a:cxn>
                <a:cxn ang="0">
                  <a:pos x="11" y="39"/>
                </a:cxn>
                <a:cxn ang="0">
                  <a:pos x="15" y="42"/>
                </a:cxn>
                <a:cxn ang="0">
                  <a:pos x="8" y="20"/>
                </a:cxn>
                <a:cxn ang="0">
                  <a:pos x="21" y="8"/>
                </a:cxn>
                <a:cxn ang="0">
                  <a:pos x="33" y="8"/>
                </a:cxn>
                <a:cxn ang="0">
                  <a:pos x="45" y="0"/>
                </a:cxn>
              </a:cxnLst>
              <a:rect l="0" t="0" r="r" b="b"/>
              <a:pathLst>
                <a:path w="67" h="100">
                  <a:moveTo>
                    <a:pt x="45" y="0"/>
                  </a:moveTo>
                  <a:lnTo>
                    <a:pt x="61" y="26"/>
                  </a:lnTo>
                  <a:lnTo>
                    <a:pt x="67" y="60"/>
                  </a:lnTo>
                  <a:lnTo>
                    <a:pt x="61" y="77"/>
                  </a:lnTo>
                  <a:lnTo>
                    <a:pt x="54" y="83"/>
                  </a:lnTo>
                  <a:lnTo>
                    <a:pt x="48" y="81"/>
                  </a:lnTo>
                  <a:lnTo>
                    <a:pt x="43" y="89"/>
                  </a:lnTo>
                  <a:lnTo>
                    <a:pt x="35" y="85"/>
                  </a:lnTo>
                  <a:lnTo>
                    <a:pt x="28" y="93"/>
                  </a:lnTo>
                  <a:lnTo>
                    <a:pt x="26" y="89"/>
                  </a:lnTo>
                  <a:lnTo>
                    <a:pt x="23" y="97"/>
                  </a:lnTo>
                  <a:lnTo>
                    <a:pt x="21" y="95"/>
                  </a:lnTo>
                  <a:lnTo>
                    <a:pt x="23" y="91"/>
                  </a:lnTo>
                  <a:lnTo>
                    <a:pt x="15" y="98"/>
                  </a:lnTo>
                  <a:lnTo>
                    <a:pt x="2" y="100"/>
                  </a:lnTo>
                  <a:lnTo>
                    <a:pt x="3" y="93"/>
                  </a:lnTo>
                  <a:lnTo>
                    <a:pt x="7" y="95"/>
                  </a:lnTo>
                  <a:lnTo>
                    <a:pt x="8" y="90"/>
                  </a:lnTo>
                  <a:lnTo>
                    <a:pt x="3" y="88"/>
                  </a:lnTo>
                  <a:lnTo>
                    <a:pt x="12" y="65"/>
                  </a:lnTo>
                  <a:lnTo>
                    <a:pt x="7" y="46"/>
                  </a:lnTo>
                  <a:lnTo>
                    <a:pt x="3" y="51"/>
                  </a:lnTo>
                  <a:lnTo>
                    <a:pt x="0" y="44"/>
                  </a:lnTo>
                  <a:lnTo>
                    <a:pt x="11" y="39"/>
                  </a:lnTo>
                  <a:lnTo>
                    <a:pt x="15" y="42"/>
                  </a:lnTo>
                  <a:lnTo>
                    <a:pt x="8" y="20"/>
                  </a:lnTo>
                  <a:lnTo>
                    <a:pt x="21" y="8"/>
                  </a:lnTo>
                  <a:lnTo>
                    <a:pt x="33" y="8"/>
                  </a:lnTo>
                  <a:lnTo>
                    <a:pt x="45" y="0"/>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9" name="Freeform 716">
              <a:extLst>
                <a:ext uri="{FF2B5EF4-FFF2-40B4-BE49-F238E27FC236}">
                  <a16:creationId xmlns:a16="http://schemas.microsoft.com/office/drawing/2014/main" id="{1621E40B-D9C5-A884-50A4-663A0EF5033C}"/>
                </a:ext>
              </a:extLst>
            </p:cNvPr>
            <p:cNvSpPr>
              <a:spLocks/>
            </p:cNvSpPr>
            <p:nvPr/>
          </p:nvSpPr>
          <p:spPr bwMode="auto">
            <a:xfrm>
              <a:off x="2571570" y="3864159"/>
              <a:ext cx="442567" cy="556140"/>
            </a:xfrm>
            <a:custGeom>
              <a:avLst/>
              <a:gdLst/>
              <a:ahLst/>
              <a:cxnLst>
                <a:cxn ang="0">
                  <a:pos x="18" y="18"/>
                </a:cxn>
                <a:cxn ang="0">
                  <a:pos x="1" y="37"/>
                </a:cxn>
                <a:cxn ang="0">
                  <a:pos x="0" y="42"/>
                </a:cxn>
                <a:cxn ang="0">
                  <a:pos x="6" y="45"/>
                </a:cxn>
                <a:cxn ang="0">
                  <a:pos x="7" y="58"/>
                </a:cxn>
                <a:cxn ang="0">
                  <a:pos x="18" y="61"/>
                </a:cxn>
                <a:cxn ang="0">
                  <a:pos x="14" y="101"/>
                </a:cxn>
                <a:cxn ang="0">
                  <a:pos x="33" y="88"/>
                </a:cxn>
                <a:cxn ang="0">
                  <a:pos x="47" y="94"/>
                </a:cxn>
                <a:cxn ang="0">
                  <a:pos x="53" y="91"/>
                </a:cxn>
                <a:cxn ang="0">
                  <a:pos x="56" y="87"/>
                </a:cxn>
                <a:cxn ang="0">
                  <a:pos x="63" y="85"/>
                </a:cxn>
                <a:cxn ang="0">
                  <a:pos x="69" y="85"/>
                </a:cxn>
                <a:cxn ang="0">
                  <a:pos x="83" y="101"/>
                </a:cxn>
                <a:cxn ang="0">
                  <a:pos x="89" y="127"/>
                </a:cxn>
                <a:cxn ang="0">
                  <a:pos x="102" y="141"/>
                </a:cxn>
                <a:cxn ang="0">
                  <a:pos x="102" y="162"/>
                </a:cxn>
                <a:cxn ang="0">
                  <a:pos x="97" y="167"/>
                </a:cxn>
                <a:cxn ang="0">
                  <a:pos x="110" y="174"/>
                </a:cxn>
                <a:cxn ang="0">
                  <a:pos x="119" y="164"/>
                </a:cxn>
                <a:cxn ang="0">
                  <a:pos x="131" y="166"/>
                </a:cxn>
                <a:cxn ang="0">
                  <a:pos x="140" y="159"/>
                </a:cxn>
                <a:cxn ang="0">
                  <a:pos x="141" y="147"/>
                </a:cxn>
                <a:cxn ang="0">
                  <a:pos x="134" y="128"/>
                </a:cxn>
                <a:cxn ang="0">
                  <a:pos x="122" y="122"/>
                </a:cxn>
                <a:cxn ang="0">
                  <a:pos x="121" y="117"/>
                </a:cxn>
                <a:cxn ang="0">
                  <a:pos x="119" y="107"/>
                </a:cxn>
                <a:cxn ang="0">
                  <a:pos x="110" y="102"/>
                </a:cxn>
                <a:cxn ang="0">
                  <a:pos x="95" y="81"/>
                </a:cxn>
                <a:cxn ang="0">
                  <a:pos x="72" y="67"/>
                </a:cxn>
                <a:cxn ang="0">
                  <a:pos x="75" y="59"/>
                </a:cxn>
                <a:cxn ang="0">
                  <a:pos x="83" y="59"/>
                </a:cxn>
                <a:cxn ang="0">
                  <a:pos x="89" y="53"/>
                </a:cxn>
                <a:cxn ang="0">
                  <a:pos x="81" y="37"/>
                </a:cxn>
                <a:cxn ang="0">
                  <a:pos x="77" y="33"/>
                </a:cxn>
                <a:cxn ang="0">
                  <a:pos x="57" y="33"/>
                </a:cxn>
                <a:cxn ang="0">
                  <a:pos x="52" y="29"/>
                </a:cxn>
                <a:cxn ang="0">
                  <a:pos x="51" y="18"/>
                </a:cxn>
                <a:cxn ang="0">
                  <a:pos x="40" y="3"/>
                </a:cxn>
                <a:cxn ang="0">
                  <a:pos x="31" y="0"/>
                </a:cxn>
                <a:cxn ang="0">
                  <a:pos x="27" y="3"/>
                </a:cxn>
                <a:cxn ang="0">
                  <a:pos x="28" y="25"/>
                </a:cxn>
                <a:cxn ang="0">
                  <a:pos x="21" y="28"/>
                </a:cxn>
                <a:cxn ang="0">
                  <a:pos x="18" y="18"/>
                </a:cxn>
              </a:cxnLst>
              <a:rect l="0" t="0" r="r" b="b"/>
              <a:pathLst>
                <a:path w="141" h="174">
                  <a:moveTo>
                    <a:pt x="18" y="18"/>
                  </a:moveTo>
                  <a:lnTo>
                    <a:pt x="1" y="37"/>
                  </a:lnTo>
                  <a:lnTo>
                    <a:pt x="0" y="42"/>
                  </a:lnTo>
                  <a:lnTo>
                    <a:pt x="6" y="45"/>
                  </a:lnTo>
                  <a:lnTo>
                    <a:pt x="7" y="58"/>
                  </a:lnTo>
                  <a:lnTo>
                    <a:pt x="18" y="61"/>
                  </a:lnTo>
                  <a:lnTo>
                    <a:pt x="14" y="101"/>
                  </a:lnTo>
                  <a:lnTo>
                    <a:pt x="33" y="88"/>
                  </a:lnTo>
                  <a:lnTo>
                    <a:pt x="47" y="94"/>
                  </a:lnTo>
                  <a:lnTo>
                    <a:pt x="53" y="91"/>
                  </a:lnTo>
                  <a:lnTo>
                    <a:pt x="56" y="87"/>
                  </a:lnTo>
                  <a:lnTo>
                    <a:pt x="63" y="85"/>
                  </a:lnTo>
                  <a:lnTo>
                    <a:pt x="69" y="85"/>
                  </a:lnTo>
                  <a:lnTo>
                    <a:pt x="83" y="101"/>
                  </a:lnTo>
                  <a:lnTo>
                    <a:pt x="89" y="127"/>
                  </a:lnTo>
                  <a:lnTo>
                    <a:pt x="102" y="141"/>
                  </a:lnTo>
                  <a:lnTo>
                    <a:pt x="102" y="162"/>
                  </a:lnTo>
                  <a:lnTo>
                    <a:pt x="97" y="167"/>
                  </a:lnTo>
                  <a:lnTo>
                    <a:pt x="110" y="174"/>
                  </a:lnTo>
                  <a:lnTo>
                    <a:pt x="119" y="164"/>
                  </a:lnTo>
                  <a:lnTo>
                    <a:pt x="131" y="166"/>
                  </a:lnTo>
                  <a:lnTo>
                    <a:pt x="140" y="159"/>
                  </a:lnTo>
                  <a:lnTo>
                    <a:pt x="141" y="147"/>
                  </a:lnTo>
                  <a:lnTo>
                    <a:pt x="134" y="128"/>
                  </a:lnTo>
                  <a:lnTo>
                    <a:pt x="122" y="122"/>
                  </a:lnTo>
                  <a:lnTo>
                    <a:pt x="121" y="117"/>
                  </a:lnTo>
                  <a:lnTo>
                    <a:pt x="119" y="107"/>
                  </a:lnTo>
                  <a:lnTo>
                    <a:pt x="110" y="102"/>
                  </a:lnTo>
                  <a:lnTo>
                    <a:pt x="95" y="81"/>
                  </a:lnTo>
                  <a:lnTo>
                    <a:pt x="72" y="67"/>
                  </a:lnTo>
                  <a:lnTo>
                    <a:pt x="75" y="59"/>
                  </a:lnTo>
                  <a:lnTo>
                    <a:pt x="83" y="59"/>
                  </a:lnTo>
                  <a:lnTo>
                    <a:pt x="89" y="53"/>
                  </a:lnTo>
                  <a:lnTo>
                    <a:pt x="81" y="37"/>
                  </a:lnTo>
                  <a:lnTo>
                    <a:pt x="77" y="33"/>
                  </a:lnTo>
                  <a:lnTo>
                    <a:pt x="57" y="33"/>
                  </a:lnTo>
                  <a:lnTo>
                    <a:pt x="52" y="29"/>
                  </a:lnTo>
                  <a:lnTo>
                    <a:pt x="51" y="18"/>
                  </a:lnTo>
                  <a:lnTo>
                    <a:pt x="40" y="3"/>
                  </a:lnTo>
                  <a:lnTo>
                    <a:pt x="31" y="0"/>
                  </a:lnTo>
                  <a:lnTo>
                    <a:pt x="27" y="3"/>
                  </a:lnTo>
                  <a:lnTo>
                    <a:pt x="28" y="25"/>
                  </a:lnTo>
                  <a:lnTo>
                    <a:pt x="21" y="28"/>
                  </a:lnTo>
                  <a:lnTo>
                    <a:pt x="18" y="18"/>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0" name="Freeform 717">
              <a:extLst>
                <a:ext uri="{FF2B5EF4-FFF2-40B4-BE49-F238E27FC236}">
                  <a16:creationId xmlns:a16="http://schemas.microsoft.com/office/drawing/2014/main" id="{3B8AF3B6-2B72-20A1-08D8-DE7866DF7E01}"/>
                </a:ext>
              </a:extLst>
            </p:cNvPr>
            <p:cNvSpPr>
              <a:spLocks/>
            </p:cNvSpPr>
            <p:nvPr/>
          </p:nvSpPr>
          <p:spPr bwMode="auto">
            <a:xfrm>
              <a:off x="3146395" y="4862862"/>
              <a:ext cx="587393" cy="364235"/>
            </a:xfrm>
            <a:custGeom>
              <a:avLst/>
              <a:gdLst/>
              <a:ahLst/>
              <a:cxnLst>
                <a:cxn ang="0">
                  <a:pos x="1" y="93"/>
                </a:cxn>
                <a:cxn ang="0">
                  <a:pos x="8" y="99"/>
                </a:cxn>
                <a:cxn ang="0">
                  <a:pos x="28" y="103"/>
                </a:cxn>
                <a:cxn ang="0">
                  <a:pos x="31" y="89"/>
                </a:cxn>
                <a:cxn ang="0">
                  <a:pos x="35" y="89"/>
                </a:cxn>
                <a:cxn ang="0">
                  <a:pos x="39" y="78"/>
                </a:cxn>
                <a:cxn ang="0">
                  <a:pos x="63" y="74"/>
                </a:cxn>
                <a:cxn ang="0">
                  <a:pos x="81" y="54"/>
                </a:cxn>
                <a:cxn ang="0">
                  <a:pos x="85" y="45"/>
                </a:cxn>
                <a:cxn ang="0">
                  <a:pos x="96" y="56"/>
                </a:cxn>
                <a:cxn ang="0">
                  <a:pos x="103" y="41"/>
                </a:cxn>
                <a:cxn ang="0">
                  <a:pos x="112" y="49"/>
                </a:cxn>
                <a:cxn ang="0">
                  <a:pos x="108" y="39"/>
                </a:cxn>
                <a:cxn ang="0">
                  <a:pos x="114" y="34"/>
                </a:cxn>
                <a:cxn ang="0">
                  <a:pos x="113" y="28"/>
                </a:cxn>
                <a:cxn ang="0">
                  <a:pos x="119" y="26"/>
                </a:cxn>
                <a:cxn ang="0">
                  <a:pos x="138" y="0"/>
                </a:cxn>
                <a:cxn ang="0">
                  <a:pos x="138" y="6"/>
                </a:cxn>
                <a:cxn ang="0">
                  <a:pos x="146" y="0"/>
                </a:cxn>
                <a:cxn ang="0">
                  <a:pos x="148" y="5"/>
                </a:cxn>
                <a:cxn ang="0">
                  <a:pos x="155" y="9"/>
                </a:cxn>
                <a:cxn ang="0">
                  <a:pos x="155" y="19"/>
                </a:cxn>
                <a:cxn ang="0">
                  <a:pos x="163" y="18"/>
                </a:cxn>
                <a:cxn ang="0">
                  <a:pos x="163" y="24"/>
                </a:cxn>
                <a:cxn ang="0">
                  <a:pos x="168" y="23"/>
                </a:cxn>
                <a:cxn ang="0">
                  <a:pos x="187" y="33"/>
                </a:cxn>
                <a:cxn ang="0">
                  <a:pos x="177" y="39"/>
                </a:cxn>
                <a:cxn ang="0">
                  <a:pos x="167" y="39"/>
                </a:cxn>
                <a:cxn ang="0">
                  <a:pos x="173" y="49"/>
                </a:cxn>
                <a:cxn ang="0">
                  <a:pos x="163" y="53"/>
                </a:cxn>
                <a:cxn ang="0">
                  <a:pos x="157" y="50"/>
                </a:cxn>
                <a:cxn ang="0">
                  <a:pos x="154" y="53"/>
                </a:cxn>
                <a:cxn ang="0">
                  <a:pos x="145" y="49"/>
                </a:cxn>
                <a:cxn ang="0">
                  <a:pos x="120" y="50"/>
                </a:cxn>
                <a:cxn ang="0">
                  <a:pos x="99" y="97"/>
                </a:cxn>
                <a:cxn ang="0">
                  <a:pos x="94" y="103"/>
                </a:cxn>
                <a:cxn ang="0">
                  <a:pos x="89" y="107"/>
                </a:cxn>
                <a:cxn ang="0">
                  <a:pos x="74" y="110"/>
                </a:cxn>
                <a:cxn ang="0">
                  <a:pos x="63" y="104"/>
                </a:cxn>
                <a:cxn ang="0">
                  <a:pos x="53" y="104"/>
                </a:cxn>
                <a:cxn ang="0">
                  <a:pos x="39" y="114"/>
                </a:cxn>
                <a:cxn ang="0">
                  <a:pos x="18" y="114"/>
                </a:cxn>
                <a:cxn ang="0">
                  <a:pos x="8" y="110"/>
                </a:cxn>
                <a:cxn ang="0">
                  <a:pos x="0" y="94"/>
                </a:cxn>
                <a:cxn ang="0">
                  <a:pos x="1" y="93"/>
                </a:cxn>
              </a:cxnLst>
              <a:rect l="0" t="0" r="r" b="b"/>
              <a:pathLst>
                <a:path w="187" h="114">
                  <a:moveTo>
                    <a:pt x="1" y="93"/>
                  </a:moveTo>
                  <a:lnTo>
                    <a:pt x="8" y="99"/>
                  </a:lnTo>
                  <a:lnTo>
                    <a:pt x="28" y="103"/>
                  </a:lnTo>
                  <a:lnTo>
                    <a:pt x="31" y="89"/>
                  </a:lnTo>
                  <a:lnTo>
                    <a:pt x="35" y="89"/>
                  </a:lnTo>
                  <a:lnTo>
                    <a:pt x="39" y="78"/>
                  </a:lnTo>
                  <a:lnTo>
                    <a:pt x="63" y="74"/>
                  </a:lnTo>
                  <a:lnTo>
                    <a:pt x="81" y="54"/>
                  </a:lnTo>
                  <a:lnTo>
                    <a:pt x="85" y="45"/>
                  </a:lnTo>
                  <a:lnTo>
                    <a:pt x="96" y="56"/>
                  </a:lnTo>
                  <a:lnTo>
                    <a:pt x="103" y="41"/>
                  </a:lnTo>
                  <a:lnTo>
                    <a:pt x="112" y="49"/>
                  </a:lnTo>
                  <a:lnTo>
                    <a:pt x="108" y="39"/>
                  </a:lnTo>
                  <a:lnTo>
                    <a:pt x="114" y="34"/>
                  </a:lnTo>
                  <a:lnTo>
                    <a:pt x="113" y="28"/>
                  </a:lnTo>
                  <a:lnTo>
                    <a:pt x="119" y="26"/>
                  </a:lnTo>
                  <a:lnTo>
                    <a:pt x="138" y="0"/>
                  </a:lnTo>
                  <a:lnTo>
                    <a:pt x="138" y="6"/>
                  </a:lnTo>
                  <a:lnTo>
                    <a:pt x="146" y="0"/>
                  </a:lnTo>
                  <a:lnTo>
                    <a:pt x="148" y="5"/>
                  </a:lnTo>
                  <a:lnTo>
                    <a:pt x="155" y="9"/>
                  </a:lnTo>
                  <a:lnTo>
                    <a:pt x="155" y="19"/>
                  </a:lnTo>
                  <a:lnTo>
                    <a:pt x="163" y="18"/>
                  </a:lnTo>
                  <a:lnTo>
                    <a:pt x="163" y="24"/>
                  </a:lnTo>
                  <a:lnTo>
                    <a:pt x="168" y="23"/>
                  </a:lnTo>
                  <a:lnTo>
                    <a:pt x="187" y="33"/>
                  </a:lnTo>
                  <a:lnTo>
                    <a:pt x="177" y="39"/>
                  </a:lnTo>
                  <a:lnTo>
                    <a:pt x="167" y="39"/>
                  </a:lnTo>
                  <a:lnTo>
                    <a:pt x="173" y="49"/>
                  </a:lnTo>
                  <a:lnTo>
                    <a:pt x="163" y="53"/>
                  </a:lnTo>
                  <a:lnTo>
                    <a:pt x="157" y="50"/>
                  </a:lnTo>
                  <a:lnTo>
                    <a:pt x="154" y="53"/>
                  </a:lnTo>
                  <a:lnTo>
                    <a:pt x="145" y="49"/>
                  </a:lnTo>
                  <a:lnTo>
                    <a:pt x="120" y="50"/>
                  </a:lnTo>
                  <a:lnTo>
                    <a:pt x="99" y="97"/>
                  </a:lnTo>
                  <a:lnTo>
                    <a:pt x="94" y="103"/>
                  </a:lnTo>
                  <a:lnTo>
                    <a:pt x="89" y="107"/>
                  </a:lnTo>
                  <a:lnTo>
                    <a:pt x="74" y="110"/>
                  </a:lnTo>
                  <a:lnTo>
                    <a:pt x="63" y="104"/>
                  </a:lnTo>
                  <a:lnTo>
                    <a:pt x="53" y="104"/>
                  </a:lnTo>
                  <a:lnTo>
                    <a:pt x="39" y="114"/>
                  </a:lnTo>
                  <a:lnTo>
                    <a:pt x="18" y="114"/>
                  </a:lnTo>
                  <a:lnTo>
                    <a:pt x="8" y="110"/>
                  </a:lnTo>
                  <a:lnTo>
                    <a:pt x="0" y="94"/>
                  </a:lnTo>
                  <a:lnTo>
                    <a:pt x="1" y="93"/>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1" name="Freeform 718">
              <a:extLst>
                <a:ext uri="{FF2B5EF4-FFF2-40B4-BE49-F238E27FC236}">
                  <a16:creationId xmlns:a16="http://schemas.microsoft.com/office/drawing/2014/main" id="{B9516963-8B50-A7E2-415A-9B1DDDEA79B5}"/>
                </a:ext>
              </a:extLst>
            </p:cNvPr>
            <p:cNvSpPr>
              <a:spLocks/>
            </p:cNvSpPr>
            <p:nvPr/>
          </p:nvSpPr>
          <p:spPr bwMode="auto">
            <a:xfrm>
              <a:off x="2571570" y="4872446"/>
              <a:ext cx="251289" cy="325894"/>
            </a:xfrm>
            <a:custGeom>
              <a:avLst/>
              <a:gdLst/>
              <a:ahLst/>
              <a:cxnLst>
                <a:cxn ang="0">
                  <a:pos x="40" y="10"/>
                </a:cxn>
                <a:cxn ang="0">
                  <a:pos x="43" y="10"/>
                </a:cxn>
                <a:cxn ang="0">
                  <a:pos x="55" y="21"/>
                </a:cxn>
                <a:cxn ang="0">
                  <a:pos x="63" y="33"/>
                </a:cxn>
                <a:cxn ang="0">
                  <a:pos x="63" y="67"/>
                </a:cxn>
                <a:cxn ang="0">
                  <a:pos x="80" y="94"/>
                </a:cxn>
                <a:cxn ang="0">
                  <a:pos x="77" y="102"/>
                </a:cxn>
                <a:cxn ang="0">
                  <a:pos x="70" y="99"/>
                </a:cxn>
                <a:cxn ang="0">
                  <a:pos x="63" y="102"/>
                </a:cxn>
                <a:cxn ang="0">
                  <a:pos x="23" y="74"/>
                </a:cxn>
                <a:cxn ang="0">
                  <a:pos x="8" y="46"/>
                </a:cxn>
                <a:cxn ang="0">
                  <a:pos x="1" y="5"/>
                </a:cxn>
                <a:cxn ang="0">
                  <a:pos x="0" y="0"/>
                </a:cxn>
                <a:cxn ang="0">
                  <a:pos x="16" y="5"/>
                </a:cxn>
                <a:cxn ang="0">
                  <a:pos x="21" y="20"/>
                </a:cxn>
                <a:cxn ang="0">
                  <a:pos x="28" y="15"/>
                </a:cxn>
                <a:cxn ang="0">
                  <a:pos x="36" y="15"/>
                </a:cxn>
                <a:cxn ang="0">
                  <a:pos x="40" y="10"/>
                </a:cxn>
              </a:cxnLst>
              <a:rect l="0" t="0" r="r" b="b"/>
              <a:pathLst>
                <a:path w="80" h="102">
                  <a:moveTo>
                    <a:pt x="40" y="10"/>
                  </a:moveTo>
                  <a:lnTo>
                    <a:pt x="43" y="10"/>
                  </a:lnTo>
                  <a:lnTo>
                    <a:pt x="55" y="21"/>
                  </a:lnTo>
                  <a:lnTo>
                    <a:pt x="63" y="33"/>
                  </a:lnTo>
                  <a:lnTo>
                    <a:pt x="63" y="67"/>
                  </a:lnTo>
                  <a:lnTo>
                    <a:pt x="80" y="94"/>
                  </a:lnTo>
                  <a:lnTo>
                    <a:pt x="77" y="102"/>
                  </a:lnTo>
                  <a:lnTo>
                    <a:pt x="70" y="99"/>
                  </a:lnTo>
                  <a:lnTo>
                    <a:pt x="63" y="102"/>
                  </a:lnTo>
                  <a:lnTo>
                    <a:pt x="23" y="74"/>
                  </a:lnTo>
                  <a:lnTo>
                    <a:pt x="8" y="46"/>
                  </a:lnTo>
                  <a:lnTo>
                    <a:pt x="1" y="5"/>
                  </a:lnTo>
                  <a:lnTo>
                    <a:pt x="0" y="0"/>
                  </a:lnTo>
                  <a:lnTo>
                    <a:pt x="16" y="5"/>
                  </a:lnTo>
                  <a:lnTo>
                    <a:pt x="21" y="20"/>
                  </a:lnTo>
                  <a:lnTo>
                    <a:pt x="28" y="15"/>
                  </a:lnTo>
                  <a:lnTo>
                    <a:pt x="36" y="15"/>
                  </a:lnTo>
                  <a:lnTo>
                    <a:pt x="40" y="1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2" name="Freeform 719">
              <a:extLst>
                <a:ext uri="{FF2B5EF4-FFF2-40B4-BE49-F238E27FC236}">
                  <a16:creationId xmlns:a16="http://schemas.microsoft.com/office/drawing/2014/main" id="{828FBE8A-9B44-ABDA-5DF6-4E5907484EE5}"/>
                </a:ext>
              </a:extLst>
            </p:cNvPr>
            <p:cNvSpPr>
              <a:spLocks/>
            </p:cNvSpPr>
            <p:nvPr/>
          </p:nvSpPr>
          <p:spPr bwMode="auto">
            <a:xfrm>
              <a:off x="1347774" y="3327600"/>
              <a:ext cx="492593" cy="278071"/>
            </a:xfrm>
            <a:custGeom>
              <a:avLst/>
              <a:gdLst/>
              <a:ahLst/>
              <a:cxnLst>
                <a:cxn ang="0">
                  <a:pos x="20" y="2"/>
                </a:cxn>
                <a:cxn ang="0">
                  <a:pos x="25" y="7"/>
                </a:cxn>
                <a:cxn ang="0">
                  <a:pos x="26" y="0"/>
                </a:cxn>
                <a:cxn ang="0">
                  <a:pos x="46" y="5"/>
                </a:cxn>
                <a:cxn ang="0">
                  <a:pos x="61" y="17"/>
                </a:cxn>
                <a:cxn ang="0">
                  <a:pos x="68" y="29"/>
                </a:cxn>
                <a:cxn ang="0">
                  <a:pos x="81" y="24"/>
                </a:cxn>
                <a:cxn ang="0">
                  <a:pos x="80" y="34"/>
                </a:cxn>
                <a:cxn ang="0">
                  <a:pos x="100" y="38"/>
                </a:cxn>
                <a:cxn ang="0">
                  <a:pos x="99" y="44"/>
                </a:cxn>
                <a:cxn ang="0">
                  <a:pos x="109" y="48"/>
                </a:cxn>
                <a:cxn ang="0">
                  <a:pos x="114" y="54"/>
                </a:cxn>
                <a:cxn ang="0">
                  <a:pos x="128" y="52"/>
                </a:cxn>
                <a:cxn ang="0">
                  <a:pos x="142" y="56"/>
                </a:cxn>
                <a:cxn ang="0">
                  <a:pos x="157" y="54"/>
                </a:cxn>
                <a:cxn ang="0">
                  <a:pos x="154" y="70"/>
                </a:cxn>
                <a:cxn ang="0">
                  <a:pos x="152" y="74"/>
                </a:cxn>
                <a:cxn ang="0">
                  <a:pos x="157" y="79"/>
                </a:cxn>
                <a:cxn ang="0">
                  <a:pos x="154" y="86"/>
                </a:cxn>
                <a:cxn ang="0">
                  <a:pos x="138" y="88"/>
                </a:cxn>
                <a:cxn ang="0">
                  <a:pos x="95" y="78"/>
                </a:cxn>
                <a:cxn ang="0">
                  <a:pos x="83" y="66"/>
                </a:cxn>
                <a:cxn ang="0">
                  <a:pos x="53" y="65"/>
                </a:cxn>
                <a:cxn ang="0">
                  <a:pos x="0" y="34"/>
                </a:cxn>
                <a:cxn ang="0">
                  <a:pos x="6" y="13"/>
                </a:cxn>
                <a:cxn ang="0">
                  <a:pos x="20" y="2"/>
                </a:cxn>
              </a:cxnLst>
              <a:rect l="0" t="0" r="r" b="b"/>
              <a:pathLst>
                <a:path w="157" h="88">
                  <a:moveTo>
                    <a:pt x="20" y="2"/>
                  </a:moveTo>
                  <a:lnTo>
                    <a:pt x="25" y="7"/>
                  </a:lnTo>
                  <a:lnTo>
                    <a:pt x="26" y="0"/>
                  </a:lnTo>
                  <a:lnTo>
                    <a:pt x="46" y="5"/>
                  </a:lnTo>
                  <a:lnTo>
                    <a:pt x="61" y="17"/>
                  </a:lnTo>
                  <a:lnTo>
                    <a:pt x="68" y="29"/>
                  </a:lnTo>
                  <a:lnTo>
                    <a:pt x="81" y="24"/>
                  </a:lnTo>
                  <a:lnTo>
                    <a:pt x="80" y="34"/>
                  </a:lnTo>
                  <a:lnTo>
                    <a:pt x="100" y="38"/>
                  </a:lnTo>
                  <a:lnTo>
                    <a:pt x="99" y="44"/>
                  </a:lnTo>
                  <a:lnTo>
                    <a:pt x="109" y="48"/>
                  </a:lnTo>
                  <a:lnTo>
                    <a:pt x="114" y="54"/>
                  </a:lnTo>
                  <a:lnTo>
                    <a:pt x="128" y="52"/>
                  </a:lnTo>
                  <a:lnTo>
                    <a:pt x="142" y="56"/>
                  </a:lnTo>
                  <a:lnTo>
                    <a:pt x="157" y="54"/>
                  </a:lnTo>
                  <a:lnTo>
                    <a:pt x="154" y="70"/>
                  </a:lnTo>
                  <a:lnTo>
                    <a:pt x="152" y="74"/>
                  </a:lnTo>
                  <a:lnTo>
                    <a:pt x="157" y="79"/>
                  </a:lnTo>
                  <a:lnTo>
                    <a:pt x="154" y="86"/>
                  </a:lnTo>
                  <a:lnTo>
                    <a:pt x="138" y="88"/>
                  </a:lnTo>
                  <a:lnTo>
                    <a:pt x="95" y="78"/>
                  </a:lnTo>
                  <a:lnTo>
                    <a:pt x="83" y="66"/>
                  </a:lnTo>
                  <a:lnTo>
                    <a:pt x="53" y="65"/>
                  </a:lnTo>
                  <a:lnTo>
                    <a:pt x="0" y="34"/>
                  </a:lnTo>
                  <a:lnTo>
                    <a:pt x="6" y="13"/>
                  </a:lnTo>
                  <a:lnTo>
                    <a:pt x="20" y="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3" name="Freeform 720">
              <a:extLst>
                <a:ext uri="{FF2B5EF4-FFF2-40B4-BE49-F238E27FC236}">
                  <a16:creationId xmlns:a16="http://schemas.microsoft.com/office/drawing/2014/main" id="{ADC8A5BD-5039-7E2D-A457-B0E73CED5673}"/>
                </a:ext>
              </a:extLst>
            </p:cNvPr>
            <p:cNvSpPr>
              <a:spLocks/>
            </p:cNvSpPr>
            <p:nvPr/>
          </p:nvSpPr>
          <p:spPr bwMode="auto">
            <a:xfrm>
              <a:off x="2417628" y="3981650"/>
              <a:ext cx="477201" cy="955625"/>
            </a:xfrm>
            <a:custGeom>
              <a:avLst/>
              <a:gdLst/>
              <a:ahLst/>
              <a:cxnLst>
                <a:cxn ang="0">
                  <a:pos x="146" y="130"/>
                </a:cxn>
                <a:cxn ang="0">
                  <a:pos x="108" y="128"/>
                </a:cxn>
                <a:cxn ang="0">
                  <a:pos x="95" y="140"/>
                </a:cxn>
                <a:cxn ang="0">
                  <a:pos x="90" y="153"/>
                </a:cxn>
                <a:cxn ang="0">
                  <a:pos x="93" y="163"/>
                </a:cxn>
                <a:cxn ang="0">
                  <a:pos x="100" y="172"/>
                </a:cxn>
                <a:cxn ang="0">
                  <a:pos x="101" y="183"/>
                </a:cxn>
                <a:cxn ang="0">
                  <a:pos x="97" y="174"/>
                </a:cxn>
                <a:cxn ang="0">
                  <a:pos x="82" y="163"/>
                </a:cxn>
                <a:cxn ang="0">
                  <a:pos x="63" y="163"/>
                </a:cxn>
                <a:cxn ang="0">
                  <a:pos x="62" y="147"/>
                </a:cxn>
                <a:cxn ang="0">
                  <a:pos x="49" y="145"/>
                </a:cxn>
                <a:cxn ang="0">
                  <a:pos x="45" y="148"/>
                </a:cxn>
                <a:cxn ang="0">
                  <a:pos x="43" y="172"/>
                </a:cxn>
                <a:cxn ang="0">
                  <a:pos x="30" y="211"/>
                </a:cxn>
                <a:cxn ang="0">
                  <a:pos x="32" y="230"/>
                </a:cxn>
                <a:cxn ang="0">
                  <a:pos x="42" y="230"/>
                </a:cxn>
                <a:cxn ang="0">
                  <a:pos x="56" y="267"/>
                </a:cxn>
                <a:cxn ang="0">
                  <a:pos x="63" y="275"/>
                </a:cxn>
                <a:cxn ang="0">
                  <a:pos x="76" y="276"/>
                </a:cxn>
                <a:cxn ang="0">
                  <a:pos x="89" y="289"/>
                </a:cxn>
                <a:cxn ang="0">
                  <a:pos x="85" y="294"/>
                </a:cxn>
                <a:cxn ang="0">
                  <a:pos x="77" y="294"/>
                </a:cxn>
                <a:cxn ang="0">
                  <a:pos x="70" y="299"/>
                </a:cxn>
                <a:cxn ang="0">
                  <a:pos x="65" y="284"/>
                </a:cxn>
                <a:cxn ang="0">
                  <a:pos x="49" y="279"/>
                </a:cxn>
                <a:cxn ang="0">
                  <a:pos x="50" y="284"/>
                </a:cxn>
                <a:cxn ang="0">
                  <a:pos x="21" y="248"/>
                </a:cxn>
                <a:cxn ang="0">
                  <a:pos x="13" y="250"/>
                </a:cxn>
                <a:cxn ang="0">
                  <a:pos x="13" y="235"/>
                </a:cxn>
                <a:cxn ang="0">
                  <a:pos x="21" y="212"/>
                </a:cxn>
                <a:cxn ang="0">
                  <a:pos x="24" y="198"/>
                </a:cxn>
                <a:cxn ang="0">
                  <a:pos x="38" y="178"/>
                </a:cxn>
                <a:cxn ang="0">
                  <a:pos x="28" y="154"/>
                </a:cxn>
                <a:cxn ang="0">
                  <a:pos x="27" y="137"/>
                </a:cxn>
                <a:cxn ang="0">
                  <a:pos x="13" y="125"/>
                </a:cxn>
                <a:cxn ang="0">
                  <a:pos x="11" y="119"/>
                </a:cxn>
                <a:cxn ang="0">
                  <a:pos x="22" y="94"/>
                </a:cxn>
                <a:cxn ang="0">
                  <a:pos x="17" y="90"/>
                </a:cxn>
                <a:cxn ang="0">
                  <a:pos x="16" y="74"/>
                </a:cxn>
                <a:cxn ang="0">
                  <a:pos x="6" y="64"/>
                </a:cxn>
                <a:cxn ang="0">
                  <a:pos x="0" y="48"/>
                </a:cxn>
                <a:cxn ang="0">
                  <a:pos x="7" y="24"/>
                </a:cxn>
                <a:cxn ang="0">
                  <a:pos x="23" y="22"/>
                </a:cxn>
                <a:cxn ang="0">
                  <a:pos x="43" y="8"/>
                </a:cxn>
                <a:cxn ang="0">
                  <a:pos x="50" y="0"/>
                </a:cxn>
                <a:cxn ang="0">
                  <a:pos x="49" y="5"/>
                </a:cxn>
                <a:cxn ang="0">
                  <a:pos x="55" y="8"/>
                </a:cxn>
                <a:cxn ang="0">
                  <a:pos x="56" y="21"/>
                </a:cxn>
                <a:cxn ang="0">
                  <a:pos x="67" y="24"/>
                </a:cxn>
                <a:cxn ang="0">
                  <a:pos x="63" y="64"/>
                </a:cxn>
                <a:cxn ang="0">
                  <a:pos x="82" y="51"/>
                </a:cxn>
                <a:cxn ang="0">
                  <a:pos x="96" y="57"/>
                </a:cxn>
                <a:cxn ang="0">
                  <a:pos x="102" y="54"/>
                </a:cxn>
                <a:cxn ang="0">
                  <a:pos x="105" y="50"/>
                </a:cxn>
                <a:cxn ang="0">
                  <a:pos x="112" y="48"/>
                </a:cxn>
                <a:cxn ang="0">
                  <a:pos x="118" y="48"/>
                </a:cxn>
                <a:cxn ang="0">
                  <a:pos x="132" y="64"/>
                </a:cxn>
                <a:cxn ang="0">
                  <a:pos x="138" y="90"/>
                </a:cxn>
                <a:cxn ang="0">
                  <a:pos x="151" y="104"/>
                </a:cxn>
                <a:cxn ang="0">
                  <a:pos x="151" y="125"/>
                </a:cxn>
                <a:cxn ang="0">
                  <a:pos x="146" y="130"/>
                </a:cxn>
              </a:cxnLst>
              <a:rect l="0" t="0" r="r" b="b"/>
              <a:pathLst>
                <a:path w="151" h="299">
                  <a:moveTo>
                    <a:pt x="146" y="130"/>
                  </a:moveTo>
                  <a:lnTo>
                    <a:pt x="108" y="128"/>
                  </a:lnTo>
                  <a:lnTo>
                    <a:pt x="95" y="140"/>
                  </a:lnTo>
                  <a:lnTo>
                    <a:pt x="90" y="153"/>
                  </a:lnTo>
                  <a:lnTo>
                    <a:pt x="93" y="163"/>
                  </a:lnTo>
                  <a:lnTo>
                    <a:pt x="100" y="172"/>
                  </a:lnTo>
                  <a:lnTo>
                    <a:pt x="101" y="183"/>
                  </a:lnTo>
                  <a:lnTo>
                    <a:pt x="97" y="174"/>
                  </a:lnTo>
                  <a:lnTo>
                    <a:pt x="82" y="163"/>
                  </a:lnTo>
                  <a:lnTo>
                    <a:pt x="63" y="163"/>
                  </a:lnTo>
                  <a:lnTo>
                    <a:pt x="62" y="147"/>
                  </a:lnTo>
                  <a:lnTo>
                    <a:pt x="49" y="145"/>
                  </a:lnTo>
                  <a:lnTo>
                    <a:pt x="45" y="148"/>
                  </a:lnTo>
                  <a:lnTo>
                    <a:pt x="43" y="172"/>
                  </a:lnTo>
                  <a:lnTo>
                    <a:pt x="30" y="211"/>
                  </a:lnTo>
                  <a:lnTo>
                    <a:pt x="32" y="230"/>
                  </a:lnTo>
                  <a:lnTo>
                    <a:pt x="42" y="230"/>
                  </a:lnTo>
                  <a:lnTo>
                    <a:pt x="56" y="267"/>
                  </a:lnTo>
                  <a:lnTo>
                    <a:pt x="63" y="275"/>
                  </a:lnTo>
                  <a:lnTo>
                    <a:pt x="76" y="276"/>
                  </a:lnTo>
                  <a:lnTo>
                    <a:pt x="89" y="289"/>
                  </a:lnTo>
                  <a:lnTo>
                    <a:pt x="85" y="294"/>
                  </a:lnTo>
                  <a:lnTo>
                    <a:pt x="77" y="294"/>
                  </a:lnTo>
                  <a:lnTo>
                    <a:pt x="70" y="299"/>
                  </a:lnTo>
                  <a:lnTo>
                    <a:pt x="65" y="284"/>
                  </a:lnTo>
                  <a:lnTo>
                    <a:pt x="49" y="279"/>
                  </a:lnTo>
                  <a:lnTo>
                    <a:pt x="50" y="284"/>
                  </a:lnTo>
                  <a:lnTo>
                    <a:pt x="21" y="248"/>
                  </a:lnTo>
                  <a:lnTo>
                    <a:pt x="13" y="250"/>
                  </a:lnTo>
                  <a:lnTo>
                    <a:pt x="13" y="235"/>
                  </a:lnTo>
                  <a:lnTo>
                    <a:pt x="21" y="212"/>
                  </a:lnTo>
                  <a:lnTo>
                    <a:pt x="24" y="198"/>
                  </a:lnTo>
                  <a:lnTo>
                    <a:pt x="38" y="178"/>
                  </a:lnTo>
                  <a:lnTo>
                    <a:pt x="28" y="154"/>
                  </a:lnTo>
                  <a:lnTo>
                    <a:pt x="27" y="137"/>
                  </a:lnTo>
                  <a:lnTo>
                    <a:pt x="13" y="125"/>
                  </a:lnTo>
                  <a:lnTo>
                    <a:pt x="11" y="119"/>
                  </a:lnTo>
                  <a:lnTo>
                    <a:pt x="22" y="94"/>
                  </a:lnTo>
                  <a:lnTo>
                    <a:pt x="17" y="90"/>
                  </a:lnTo>
                  <a:lnTo>
                    <a:pt x="16" y="74"/>
                  </a:lnTo>
                  <a:lnTo>
                    <a:pt x="6" y="64"/>
                  </a:lnTo>
                  <a:lnTo>
                    <a:pt x="0" y="48"/>
                  </a:lnTo>
                  <a:lnTo>
                    <a:pt x="7" y="24"/>
                  </a:lnTo>
                  <a:lnTo>
                    <a:pt x="23" y="22"/>
                  </a:lnTo>
                  <a:lnTo>
                    <a:pt x="43" y="8"/>
                  </a:lnTo>
                  <a:lnTo>
                    <a:pt x="50" y="0"/>
                  </a:lnTo>
                  <a:lnTo>
                    <a:pt x="49" y="5"/>
                  </a:lnTo>
                  <a:lnTo>
                    <a:pt x="55" y="8"/>
                  </a:lnTo>
                  <a:lnTo>
                    <a:pt x="56" y="21"/>
                  </a:lnTo>
                  <a:lnTo>
                    <a:pt x="67" y="24"/>
                  </a:lnTo>
                  <a:lnTo>
                    <a:pt x="63" y="64"/>
                  </a:lnTo>
                  <a:lnTo>
                    <a:pt x="82" y="51"/>
                  </a:lnTo>
                  <a:lnTo>
                    <a:pt x="96" y="57"/>
                  </a:lnTo>
                  <a:lnTo>
                    <a:pt x="102" y="54"/>
                  </a:lnTo>
                  <a:lnTo>
                    <a:pt x="105" y="50"/>
                  </a:lnTo>
                  <a:lnTo>
                    <a:pt x="112" y="48"/>
                  </a:lnTo>
                  <a:lnTo>
                    <a:pt x="118" y="48"/>
                  </a:lnTo>
                  <a:lnTo>
                    <a:pt x="132" y="64"/>
                  </a:lnTo>
                  <a:lnTo>
                    <a:pt x="138" y="90"/>
                  </a:lnTo>
                  <a:lnTo>
                    <a:pt x="151" y="104"/>
                  </a:lnTo>
                  <a:lnTo>
                    <a:pt x="151" y="125"/>
                  </a:lnTo>
                  <a:lnTo>
                    <a:pt x="146" y="130"/>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4" name="Freeform 721">
              <a:extLst>
                <a:ext uri="{FF2B5EF4-FFF2-40B4-BE49-F238E27FC236}">
                  <a16:creationId xmlns:a16="http://schemas.microsoft.com/office/drawing/2014/main" id="{85672F81-0275-A656-0FDC-6F4A0B152829}"/>
                </a:ext>
              </a:extLst>
            </p:cNvPr>
            <p:cNvSpPr>
              <a:spLocks/>
            </p:cNvSpPr>
            <p:nvPr/>
          </p:nvSpPr>
          <p:spPr bwMode="auto">
            <a:xfrm>
              <a:off x="2698562" y="3817161"/>
              <a:ext cx="431021" cy="936040"/>
            </a:xfrm>
            <a:custGeom>
              <a:avLst/>
              <a:gdLst/>
              <a:ahLst/>
              <a:cxnLst>
                <a:cxn ang="0">
                  <a:pos x="0" y="18"/>
                </a:cxn>
                <a:cxn ang="0">
                  <a:pos x="4" y="10"/>
                </a:cxn>
                <a:cxn ang="0">
                  <a:pos x="15" y="15"/>
                </a:cxn>
                <a:cxn ang="0">
                  <a:pos x="22" y="11"/>
                </a:cxn>
                <a:cxn ang="0">
                  <a:pos x="30" y="14"/>
                </a:cxn>
                <a:cxn ang="0">
                  <a:pos x="57" y="0"/>
                </a:cxn>
                <a:cxn ang="0">
                  <a:pos x="82" y="10"/>
                </a:cxn>
                <a:cxn ang="0">
                  <a:pos x="88" y="28"/>
                </a:cxn>
                <a:cxn ang="0">
                  <a:pos x="98" y="35"/>
                </a:cxn>
                <a:cxn ang="0">
                  <a:pos x="110" y="38"/>
                </a:cxn>
                <a:cxn ang="0">
                  <a:pos x="99" y="41"/>
                </a:cxn>
                <a:cxn ang="0">
                  <a:pos x="84" y="54"/>
                </a:cxn>
                <a:cxn ang="0">
                  <a:pos x="71" y="69"/>
                </a:cxn>
                <a:cxn ang="0">
                  <a:pos x="65" y="87"/>
                </a:cxn>
                <a:cxn ang="0">
                  <a:pos x="66" y="97"/>
                </a:cxn>
                <a:cxn ang="0">
                  <a:pos x="78" y="106"/>
                </a:cxn>
                <a:cxn ang="0">
                  <a:pos x="80" y="115"/>
                </a:cxn>
                <a:cxn ang="0">
                  <a:pos x="92" y="127"/>
                </a:cxn>
                <a:cxn ang="0">
                  <a:pos x="105" y="142"/>
                </a:cxn>
                <a:cxn ang="0">
                  <a:pos x="116" y="146"/>
                </a:cxn>
                <a:cxn ang="0">
                  <a:pos x="119" y="155"/>
                </a:cxn>
                <a:cxn ang="0">
                  <a:pos x="127" y="161"/>
                </a:cxn>
                <a:cxn ang="0">
                  <a:pos x="137" y="212"/>
                </a:cxn>
                <a:cxn ang="0">
                  <a:pos x="133" y="219"/>
                </a:cxn>
                <a:cxn ang="0">
                  <a:pos x="133" y="234"/>
                </a:cxn>
                <a:cxn ang="0">
                  <a:pos x="130" y="241"/>
                </a:cxn>
                <a:cxn ang="0">
                  <a:pos x="111" y="253"/>
                </a:cxn>
                <a:cxn ang="0">
                  <a:pos x="98" y="259"/>
                </a:cxn>
                <a:cxn ang="0">
                  <a:pos x="88" y="259"/>
                </a:cxn>
                <a:cxn ang="0">
                  <a:pos x="80" y="269"/>
                </a:cxn>
                <a:cxn ang="0">
                  <a:pos x="81" y="275"/>
                </a:cxn>
                <a:cxn ang="0">
                  <a:pos x="72" y="269"/>
                </a:cxn>
                <a:cxn ang="0">
                  <a:pos x="75" y="278"/>
                </a:cxn>
                <a:cxn ang="0">
                  <a:pos x="55" y="294"/>
                </a:cxn>
                <a:cxn ang="0">
                  <a:pos x="51" y="293"/>
                </a:cxn>
                <a:cxn ang="0">
                  <a:pos x="50" y="278"/>
                </a:cxn>
                <a:cxn ang="0">
                  <a:pos x="55" y="266"/>
                </a:cxn>
                <a:cxn ang="0">
                  <a:pos x="43" y="258"/>
                </a:cxn>
                <a:cxn ang="0">
                  <a:pos x="51" y="255"/>
                </a:cxn>
                <a:cxn ang="0">
                  <a:pos x="53" y="250"/>
                </a:cxn>
                <a:cxn ang="0">
                  <a:pos x="70" y="245"/>
                </a:cxn>
                <a:cxn ang="0">
                  <a:pos x="70" y="234"/>
                </a:cxn>
                <a:cxn ang="0">
                  <a:pos x="80" y="233"/>
                </a:cxn>
                <a:cxn ang="0">
                  <a:pos x="81" y="229"/>
                </a:cxn>
                <a:cxn ang="0">
                  <a:pos x="102" y="219"/>
                </a:cxn>
                <a:cxn ang="0">
                  <a:pos x="100" y="174"/>
                </a:cxn>
                <a:cxn ang="0">
                  <a:pos x="101" y="162"/>
                </a:cxn>
                <a:cxn ang="0">
                  <a:pos x="94" y="143"/>
                </a:cxn>
                <a:cxn ang="0">
                  <a:pos x="82" y="137"/>
                </a:cxn>
                <a:cxn ang="0">
                  <a:pos x="81" y="132"/>
                </a:cxn>
                <a:cxn ang="0">
                  <a:pos x="79" y="122"/>
                </a:cxn>
                <a:cxn ang="0">
                  <a:pos x="70" y="117"/>
                </a:cxn>
                <a:cxn ang="0">
                  <a:pos x="55" y="96"/>
                </a:cxn>
                <a:cxn ang="0">
                  <a:pos x="32" y="82"/>
                </a:cxn>
                <a:cxn ang="0">
                  <a:pos x="35" y="74"/>
                </a:cxn>
                <a:cxn ang="0">
                  <a:pos x="43" y="74"/>
                </a:cxn>
                <a:cxn ang="0">
                  <a:pos x="49" y="68"/>
                </a:cxn>
                <a:cxn ang="0">
                  <a:pos x="41" y="52"/>
                </a:cxn>
                <a:cxn ang="0">
                  <a:pos x="37" y="48"/>
                </a:cxn>
                <a:cxn ang="0">
                  <a:pos x="17" y="48"/>
                </a:cxn>
                <a:cxn ang="0">
                  <a:pos x="12" y="44"/>
                </a:cxn>
                <a:cxn ang="0">
                  <a:pos x="11" y="33"/>
                </a:cxn>
                <a:cxn ang="0">
                  <a:pos x="0" y="18"/>
                </a:cxn>
              </a:cxnLst>
              <a:rect l="0" t="0" r="r" b="b"/>
              <a:pathLst>
                <a:path w="137" h="294">
                  <a:moveTo>
                    <a:pt x="0" y="18"/>
                  </a:moveTo>
                  <a:lnTo>
                    <a:pt x="4" y="10"/>
                  </a:lnTo>
                  <a:lnTo>
                    <a:pt x="15" y="15"/>
                  </a:lnTo>
                  <a:lnTo>
                    <a:pt x="22" y="11"/>
                  </a:lnTo>
                  <a:lnTo>
                    <a:pt x="30" y="14"/>
                  </a:lnTo>
                  <a:lnTo>
                    <a:pt x="57" y="0"/>
                  </a:lnTo>
                  <a:lnTo>
                    <a:pt x="82" y="10"/>
                  </a:lnTo>
                  <a:lnTo>
                    <a:pt x="88" y="28"/>
                  </a:lnTo>
                  <a:lnTo>
                    <a:pt x="98" y="35"/>
                  </a:lnTo>
                  <a:lnTo>
                    <a:pt x="110" y="38"/>
                  </a:lnTo>
                  <a:lnTo>
                    <a:pt x="99" y="41"/>
                  </a:lnTo>
                  <a:lnTo>
                    <a:pt x="84" y="54"/>
                  </a:lnTo>
                  <a:lnTo>
                    <a:pt x="71" y="69"/>
                  </a:lnTo>
                  <a:lnTo>
                    <a:pt x="65" y="87"/>
                  </a:lnTo>
                  <a:lnTo>
                    <a:pt x="66" y="97"/>
                  </a:lnTo>
                  <a:lnTo>
                    <a:pt x="78" y="106"/>
                  </a:lnTo>
                  <a:lnTo>
                    <a:pt x="80" y="115"/>
                  </a:lnTo>
                  <a:lnTo>
                    <a:pt x="92" y="127"/>
                  </a:lnTo>
                  <a:lnTo>
                    <a:pt x="105" y="142"/>
                  </a:lnTo>
                  <a:lnTo>
                    <a:pt x="116" y="146"/>
                  </a:lnTo>
                  <a:lnTo>
                    <a:pt x="119" y="155"/>
                  </a:lnTo>
                  <a:lnTo>
                    <a:pt x="127" y="161"/>
                  </a:lnTo>
                  <a:lnTo>
                    <a:pt x="137" y="212"/>
                  </a:lnTo>
                  <a:lnTo>
                    <a:pt x="133" y="219"/>
                  </a:lnTo>
                  <a:lnTo>
                    <a:pt x="133" y="234"/>
                  </a:lnTo>
                  <a:lnTo>
                    <a:pt x="130" y="241"/>
                  </a:lnTo>
                  <a:lnTo>
                    <a:pt x="111" y="253"/>
                  </a:lnTo>
                  <a:lnTo>
                    <a:pt x="98" y="259"/>
                  </a:lnTo>
                  <a:lnTo>
                    <a:pt x="88" y="259"/>
                  </a:lnTo>
                  <a:lnTo>
                    <a:pt x="80" y="269"/>
                  </a:lnTo>
                  <a:lnTo>
                    <a:pt x="81" y="275"/>
                  </a:lnTo>
                  <a:lnTo>
                    <a:pt x="72" y="269"/>
                  </a:lnTo>
                  <a:lnTo>
                    <a:pt x="75" y="278"/>
                  </a:lnTo>
                  <a:lnTo>
                    <a:pt x="55" y="294"/>
                  </a:lnTo>
                  <a:lnTo>
                    <a:pt x="51" y="293"/>
                  </a:lnTo>
                  <a:lnTo>
                    <a:pt x="50" y="278"/>
                  </a:lnTo>
                  <a:lnTo>
                    <a:pt x="55" y="266"/>
                  </a:lnTo>
                  <a:lnTo>
                    <a:pt x="43" y="258"/>
                  </a:lnTo>
                  <a:lnTo>
                    <a:pt x="51" y="255"/>
                  </a:lnTo>
                  <a:lnTo>
                    <a:pt x="53" y="250"/>
                  </a:lnTo>
                  <a:lnTo>
                    <a:pt x="70" y="245"/>
                  </a:lnTo>
                  <a:lnTo>
                    <a:pt x="70" y="234"/>
                  </a:lnTo>
                  <a:lnTo>
                    <a:pt x="80" y="233"/>
                  </a:lnTo>
                  <a:lnTo>
                    <a:pt x="81" y="229"/>
                  </a:lnTo>
                  <a:lnTo>
                    <a:pt x="102" y="219"/>
                  </a:lnTo>
                  <a:lnTo>
                    <a:pt x="100" y="174"/>
                  </a:lnTo>
                  <a:lnTo>
                    <a:pt x="101" y="162"/>
                  </a:lnTo>
                  <a:lnTo>
                    <a:pt x="94" y="143"/>
                  </a:lnTo>
                  <a:lnTo>
                    <a:pt x="82" y="137"/>
                  </a:lnTo>
                  <a:lnTo>
                    <a:pt x="81" y="132"/>
                  </a:lnTo>
                  <a:lnTo>
                    <a:pt x="79" y="122"/>
                  </a:lnTo>
                  <a:lnTo>
                    <a:pt x="70" y="117"/>
                  </a:lnTo>
                  <a:lnTo>
                    <a:pt x="55" y="96"/>
                  </a:lnTo>
                  <a:lnTo>
                    <a:pt x="32" y="82"/>
                  </a:lnTo>
                  <a:lnTo>
                    <a:pt x="35" y="74"/>
                  </a:lnTo>
                  <a:lnTo>
                    <a:pt x="43" y="74"/>
                  </a:lnTo>
                  <a:lnTo>
                    <a:pt x="49" y="68"/>
                  </a:lnTo>
                  <a:lnTo>
                    <a:pt x="41" y="52"/>
                  </a:lnTo>
                  <a:lnTo>
                    <a:pt x="37" y="48"/>
                  </a:lnTo>
                  <a:lnTo>
                    <a:pt x="17" y="48"/>
                  </a:lnTo>
                  <a:lnTo>
                    <a:pt x="12" y="44"/>
                  </a:lnTo>
                  <a:lnTo>
                    <a:pt x="11" y="33"/>
                  </a:lnTo>
                  <a:lnTo>
                    <a:pt x="0" y="18"/>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5" name="Freeform 722">
              <a:extLst>
                <a:ext uri="{FF2B5EF4-FFF2-40B4-BE49-F238E27FC236}">
                  <a16:creationId xmlns:a16="http://schemas.microsoft.com/office/drawing/2014/main" id="{8E86C331-5CA2-C9CD-73D9-4B0CE026B95A}"/>
                </a:ext>
              </a:extLst>
            </p:cNvPr>
            <p:cNvSpPr>
              <a:spLocks/>
            </p:cNvSpPr>
            <p:nvPr/>
          </p:nvSpPr>
          <p:spPr bwMode="auto">
            <a:xfrm>
              <a:off x="3106423" y="5018099"/>
              <a:ext cx="605355" cy="525521"/>
            </a:xfrm>
            <a:custGeom>
              <a:avLst/>
              <a:gdLst/>
              <a:ahLst/>
              <a:cxnLst>
                <a:cxn ang="0">
                  <a:pos x="167" y="4"/>
                </a:cxn>
                <a:cxn ang="0">
                  <a:pos x="158" y="0"/>
                </a:cxn>
                <a:cxn ang="0">
                  <a:pos x="133" y="1"/>
                </a:cxn>
                <a:cxn ang="0">
                  <a:pos x="112" y="48"/>
                </a:cxn>
                <a:cxn ang="0">
                  <a:pos x="107" y="54"/>
                </a:cxn>
                <a:cxn ang="0">
                  <a:pos x="102" y="58"/>
                </a:cxn>
                <a:cxn ang="0">
                  <a:pos x="87" y="61"/>
                </a:cxn>
                <a:cxn ang="0">
                  <a:pos x="76" y="55"/>
                </a:cxn>
                <a:cxn ang="0">
                  <a:pos x="66" y="55"/>
                </a:cxn>
                <a:cxn ang="0">
                  <a:pos x="52" y="65"/>
                </a:cxn>
                <a:cxn ang="0">
                  <a:pos x="31" y="65"/>
                </a:cxn>
                <a:cxn ang="0">
                  <a:pos x="21" y="61"/>
                </a:cxn>
                <a:cxn ang="0">
                  <a:pos x="13" y="45"/>
                </a:cxn>
                <a:cxn ang="0">
                  <a:pos x="11" y="46"/>
                </a:cxn>
                <a:cxn ang="0">
                  <a:pos x="4" y="54"/>
                </a:cxn>
                <a:cxn ang="0">
                  <a:pos x="0" y="74"/>
                </a:cxn>
                <a:cxn ang="0">
                  <a:pos x="5" y="93"/>
                </a:cxn>
                <a:cxn ang="0">
                  <a:pos x="14" y="98"/>
                </a:cxn>
                <a:cxn ang="0">
                  <a:pos x="19" y="108"/>
                </a:cxn>
                <a:cxn ang="0">
                  <a:pos x="27" y="141"/>
                </a:cxn>
                <a:cxn ang="0">
                  <a:pos x="43" y="142"/>
                </a:cxn>
                <a:cxn ang="0">
                  <a:pos x="53" y="137"/>
                </a:cxn>
                <a:cxn ang="0">
                  <a:pos x="57" y="152"/>
                </a:cxn>
                <a:cxn ang="0">
                  <a:pos x="70" y="149"/>
                </a:cxn>
                <a:cxn ang="0">
                  <a:pos x="79" y="142"/>
                </a:cxn>
                <a:cxn ang="0">
                  <a:pos x="92" y="146"/>
                </a:cxn>
                <a:cxn ang="0">
                  <a:pos x="93" y="151"/>
                </a:cxn>
                <a:cxn ang="0">
                  <a:pos x="103" y="149"/>
                </a:cxn>
                <a:cxn ang="0">
                  <a:pos x="108" y="153"/>
                </a:cxn>
                <a:cxn ang="0">
                  <a:pos x="112" y="164"/>
                </a:cxn>
                <a:cxn ang="0">
                  <a:pos x="115" y="164"/>
                </a:cxn>
                <a:cxn ang="0">
                  <a:pos x="137" y="152"/>
                </a:cxn>
                <a:cxn ang="0">
                  <a:pos x="149" y="127"/>
                </a:cxn>
                <a:cxn ang="0">
                  <a:pos x="142" y="119"/>
                </a:cxn>
                <a:cxn ang="0">
                  <a:pos x="158" y="107"/>
                </a:cxn>
                <a:cxn ang="0">
                  <a:pos x="165" y="94"/>
                </a:cxn>
                <a:cxn ang="0">
                  <a:pos x="167" y="77"/>
                </a:cxn>
                <a:cxn ang="0">
                  <a:pos x="176" y="68"/>
                </a:cxn>
                <a:cxn ang="0">
                  <a:pos x="176" y="63"/>
                </a:cxn>
                <a:cxn ang="0">
                  <a:pos x="183" y="68"/>
                </a:cxn>
                <a:cxn ang="0">
                  <a:pos x="193" y="67"/>
                </a:cxn>
                <a:cxn ang="0">
                  <a:pos x="174" y="48"/>
                </a:cxn>
                <a:cxn ang="0">
                  <a:pos x="176" y="40"/>
                </a:cxn>
                <a:cxn ang="0">
                  <a:pos x="160" y="15"/>
                </a:cxn>
                <a:cxn ang="0">
                  <a:pos x="171" y="13"/>
                </a:cxn>
                <a:cxn ang="0">
                  <a:pos x="164" y="6"/>
                </a:cxn>
                <a:cxn ang="0">
                  <a:pos x="167" y="4"/>
                </a:cxn>
              </a:cxnLst>
              <a:rect l="0" t="0" r="r" b="b"/>
              <a:pathLst>
                <a:path w="193" h="164">
                  <a:moveTo>
                    <a:pt x="167" y="4"/>
                  </a:moveTo>
                  <a:lnTo>
                    <a:pt x="158" y="0"/>
                  </a:lnTo>
                  <a:lnTo>
                    <a:pt x="133" y="1"/>
                  </a:lnTo>
                  <a:lnTo>
                    <a:pt x="112" y="48"/>
                  </a:lnTo>
                  <a:lnTo>
                    <a:pt x="107" y="54"/>
                  </a:lnTo>
                  <a:lnTo>
                    <a:pt x="102" y="58"/>
                  </a:lnTo>
                  <a:lnTo>
                    <a:pt x="87" y="61"/>
                  </a:lnTo>
                  <a:lnTo>
                    <a:pt x="76" y="55"/>
                  </a:lnTo>
                  <a:lnTo>
                    <a:pt x="66" y="55"/>
                  </a:lnTo>
                  <a:lnTo>
                    <a:pt x="52" y="65"/>
                  </a:lnTo>
                  <a:lnTo>
                    <a:pt x="31" y="65"/>
                  </a:lnTo>
                  <a:lnTo>
                    <a:pt x="21" y="61"/>
                  </a:lnTo>
                  <a:lnTo>
                    <a:pt x="13" y="45"/>
                  </a:lnTo>
                  <a:lnTo>
                    <a:pt x="11" y="46"/>
                  </a:lnTo>
                  <a:lnTo>
                    <a:pt x="4" y="54"/>
                  </a:lnTo>
                  <a:lnTo>
                    <a:pt x="0" y="74"/>
                  </a:lnTo>
                  <a:lnTo>
                    <a:pt x="5" y="93"/>
                  </a:lnTo>
                  <a:lnTo>
                    <a:pt x="14" y="98"/>
                  </a:lnTo>
                  <a:lnTo>
                    <a:pt x="19" y="108"/>
                  </a:lnTo>
                  <a:lnTo>
                    <a:pt x="27" y="141"/>
                  </a:lnTo>
                  <a:lnTo>
                    <a:pt x="43" y="142"/>
                  </a:lnTo>
                  <a:lnTo>
                    <a:pt x="53" y="137"/>
                  </a:lnTo>
                  <a:lnTo>
                    <a:pt x="57" y="152"/>
                  </a:lnTo>
                  <a:lnTo>
                    <a:pt x="70" y="149"/>
                  </a:lnTo>
                  <a:lnTo>
                    <a:pt x="79" y="142"/>
                  </a:lnTo>
                  <a:lnTo>
                    <a:pt x="92" y="146"/>
                  </a:lnTo>
                  <a:lnTo>
                    <a:pt x="93" y="151"/>
                  </a:lnTo>
                  <a:lnTo>
                    <a:pt x="103" y="149"/>
                  </a:lnTo>
                  <a:lnTo>
                    <a:pt x="108" y="153"/>
                  </a:lnTo>
                  <a:lnTo>
                    <a:pt x="112" y="164"/>
                  </a:lnTo>
                  <a:lnTo>
                    <a:pt x="115" y="164"/>
                  </a:lnTo>
                  <a:lnTo>
                    <a:pt x="137" y="152"/>
                  </a:lnTo>
                  <a:lnTo>
                    <a:pt x="149" y="127"/>
                  </a:lnTo>
                  <a:lnTo>
                    <a:pt x="142" y="119"/>
                  </a:lnTo>
                  <a:lnTo>
                    <a:pt x="158" y="107"/>
                  </a:lnTo>
                  <a:lnTo>
                    <a:pt x="165" y="94"/>
                  </a:lnTo>
                  <a:lnTo>
                    <a:pt x="167" y="77"/>
                  </a:lnTo>
                  <a:lnTo>
                    <a:pt x="176" y="68"/>
                  </a:lnTo>
                  <a:lnTo>
                    <a:pt x="176" y="63"/>
                  </a:lnTo>
                  <a:lnTo>
                    <a:pt x="183" y="68"/>
                  </a:lnTo>
                  <a:lnTo>
                    <a:pt x="193" y="67"/>
                  </a:lnTo>
                  <a:lnTo>
                    <a:pt x="174" y="48"/>
                  </a:lnTo>
                  <a:lnTo>
                    <a:pt x="176" y="40"/>
                  </a:lnTo>
                  <a:lnTo>
                    <a:pt x="160" y="15"/>
                  </a:lnTo>
                  <a:lnTo>
                    <a:pt x="171" y="13"/>
                  </a:lnTo>
                  <a:lnTo>
                    <a:pt x="164" y="6"/>
                  </a:lnTo>
                  <a:lnTo>
                    <a:pt x="167" y="4"/>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6" name="Freeform 723">
              <a:extLst>
                <a:ext uri="{FF2B5EF4-FFF2-40B4-BE49-F238E27FC236}">
                  <a16:creationId xmlns:a16="http://schemas.microsoft.com/office/drawing/2014/main" id="{EDAB3121-3E0E-44C7-AE01-8CCFB191BCD6}"/>
                </a:ext>
              </a:extLst>
            </p:cNvPr>
            <p:cNvSpPr>
              <a:spLocks/>
            </p:cNvSpPr>
            <p:nvPr/>
          </p:nvSpPr>
          <p:spPr bwMode="auto">
            <a:xfrm>
              <a:off x="2789633" y="5191135"/>
              <a:ext cx="18821" cy="12813"/>
            </a:xfrm>
            <a:custGeom>
              <a:avLst/>
              <a:gdLst/>
              <a:ahLst/>
              <a:cxnLst>
                <a:cxn ang="0">
                  <a:pos x="6" y="2"/>
                </a:cxn>
                <a:cxn ang="0">
                  <a:pos x="3" y="0"/>
                </a:cxn>
                <a:cxn ang="0">
                  <a:pos x="0" y="4"/>
                </a:cxn>
                <a:cxn ang="0">
                  <a:pos x="6" y="2"/>
                </a:cxn>
              </a:cxnLst>
              <a:rect l="0" t="0" r="r" b="b"/>
              <a:pathLst>
                <a:path w="6" h="4">
                  <a:moveTo>
                    <a:pt x="6" y="2"/>
                  </a:moveTo>
                  <a:lnTo>
                    <a:pt x="3" y="0"/>
                  </a:lnTo>
                  <a:lnTo>
                    <a:pt x="0" y="4"/>
                  </a:lnTo>
                  <a:lnTo>
                    <a:pt x="6" y="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7" name="Freeform 724">
              <a:extLst>
                <a:ext uri="{FF2B5EF4-FFF2-40B4-BE49-F238E27FC236}">
                  <a16:creationId xmlns:a16="http://schemas.microsoft.com/office/drawing/2014/main" id="{E0FF6A55-72E2-3C62-F1ED-B44F20BD388D}"/>
                </a:ext>
              </a:extLst>
            </p:cNvPr>
            <p:cNvSpPr>
              <a:spLocks/>
            </p:cNvSpPr>
            <p:nvPr/>
          </p:nvSpPr>
          <p:spPr bwMode="auto">
            <a:xfrm>
              <a:off x="2275238" y="4941191"/>
              <a:ext cx="655535" cy="708170"/>
            </a:xfrm>
            <a:custGeom>
              <a:avLst/>
              <a:gdLst/>
              <a:ahLst/>
              <a:cxnLst>
                <a:cxn ang="0">
                  <a:pos x="0" y="0"/>
                </a:cxn>
                <a:cxn ang="0">
                  <a:pos x="10" y="0"/>
                </a:cxn>
                <a:cxn ang="0">
                  <a:pos x="23" y="6"/>
                </a:cxn>
                <a:cxn ang="0">
                  <a:pos x="46" y="9"/>
                </a:cxn>
                <a:cxn ang="0">
                  <a:pos x="60" y="29"/>
                </a:cxn>
                <a:cxn ang="0">
                  <a:pos x="82" y="42"/>
                </a:cxn>
                <a:cxn ang="0">
                  <a:pos x="105" y="65"/>
                </a:cxn>
                <a:cxn ang="0">
                  <a:pos x="109" y="68"/>
                </a:cxn>
                <a:cxn ang="0">
                  <a:pos x="113" y="65"/>
                </a:cxn>
                <a:cxn ang="0">
                  <a:pos x="119" y="74"/>
                </a:cxn>
                <a:cxn ang="0">
                  <a:pos x="132" y="80"/>
                </a:cxn>
                <a:cxn ang="0">
                  <a:pos x="136" y="85"/>
                </a:cxn>
                <a:cxn ang="0">
                  <a:pos x="137" y="83"/>
                </a:cxn>
                <a:cxn ang="0">
                  <a:pos x="143" y="87"/>
                </a:cxn>
                <a:cxn ang="0">
                  <a:pos x="152" y="88"/>
                </a:cxn>
                <a:cxn ang="0">
                  <a:pos x="151" y="99"/>
                </a:cxn>
                <a:cxn ang="0">
                  <a:pos x="150" y="102"/>
                </a:cxn>
                <a:cxn ang="0">
                  <a:pos x="158" y="98"/>
                </a:cxn>
                <a:cxn ang="0">
                  <a:pos x="164" y="102"/>
                </a:cxn>
                <a:cxn ang="0">
                  <a:pos x="166" y="107"/>
                </a:cxn>
                <a:cxn ang="0">
                  <a:pos x="161" y="112"/>
                </a:cxn>
                <a:cxn ang="0">
                  <a:pos x="164" y="113"/>
                </a:cxn>
                <a:cxn ang="0">
                  <a:pos x="160" y="121"/>
                </a:cxn>
                <a:cxn ang="0">
                  <a:pos x="161" y="124"/>
                </a:cxn>
                <a:cxn ang="0">
                  <a:pos x="177" y="129"/>
                </a:cxn>
                <a:cxn ang="0">
                  <a:pos x="181" y="143"/>
                </a:cxn>
                <a:cxn ang="0">
                  <a:pos x="188" y="147"/>
                </a:cxn>
                <a:cxn ang="0">
                  <a:pos x="186" y="153"/>
                </a:cxn>
                <a:cxn ang="0">
                  <a:pos x="201" y="155"/>
                </a:cxn>
                <a:cxn ang="0">
                  <a:pos x="209" y="166"/>
                </a:cxn>
                <a:cxn ang="0">
                  <a:pos x="205" y="220"/>
                </a:cxn>
                <a:cxn ang="0">
                  <a:pos x="197" y="214"/>
                </a:cxn>
                <a:cxn ang="0">
                  <a:pos x="192" y="219"/>
                </a:cxn>
                <a:cxn ang="0">
                  <a:pos x="186" y="214"/>
                </a:cxn>
                <a:cxn ang="0">
                  <a:pos x="184" y="215"/>
                </a:cxn>
                <a:cxn ang="0">
                  <a:pos x="184" y="221"/>
                </a:cxn>
                <a:cxn ang="0">
                  <a:pos x="166" y="204"/>
                </a:cxn>
                <a:cxn ang="0">
                  <a:pos x="142" y="187"/>
                </a:cxn>
                <a:cxn ang="0">
                  <a:pos x="136" y="177"/>
                </a:cxn>
                <a:cxn ang="0">
                  <a:pos x="112" y="152"/>
                </a:cxn>
                <a:cxn ang="0">
                  <a:pos x="98" y="121"/>
                </a:cxn>
                <a:cxn ang="0">
                  <a:pos x="88" y="108"/>
                </a:cxn>
                <a:cxn ang="0">
                  <a:pos x="79" y="102"/>
                </a:cxn>
                <a:cxn ang="0">
                  <a:pos x="70" y="75"/>
                </a:cxn>
                <a:cxn ang="0">
                  <a:pos x="64" y="69"/>
                </a:cxn>
                <a:cxn ang="0">
                  <a:pos x="49" y="63"/>
                </a:cxn>
                <a:cxn ang="0">
                  <a:pos x="47" y="53"/>
                </a:cxn>
                <a:cxn ang="0">
                  <a:pos x="37" y="40"/>
                </a:cxn>
                <a:cxn ang="0">
                  <a:pos x="28" y="35"/>
                </a:cxn>
                <a:cxn ang="0">
                  <a:pos x="7" y="16"/>
                </a:cxn>
                <a:cxn ang="0">
                  <a:pos x="0" y="0"/>
                </a:cxn>
              </a:cxnLst>
              <a:rect l="0" t="0" r="r" b="b"/>
              <a:pathLst>
                <a:path w="209" h="221">
                  <a:moveTo>
                    <a:pt x="0" y="0"/>
                  </a:moveTo>
                  <a:lnTo>
                    <a:pt x="10" y="0"/>
                  </a:lnTo>
                  <a:lnTo>
                    <a:pt x="23" y="6"/>
                  </a:lnTo>
                  <a:lnTo>
                    <a:pt x="46" y="9"/>
                  </a:lnTo>
                  <a:lnTo>
                    <a:pt x="60" y="29"/>
                  </a:lnTo>
                  <a:lnTo>
                    <a:pt x="82" y="42"/>
                  </a:lnTo>
                  <a:lnTo>
                    <a:pt x="105" y="65"/>
                  </a:lnTo>
                  <a:lnTo>
                    <a:pt x="109" y="68"/>
                  </a:lnTo>
                  <a:lnTo>
                    <a:pt x="113" y="65"/>
                  </a:lnTo>
                  <a:lnTo>
                    <a:pt x="119" y="74"/>
                  </a:lnTo>
                  <a:lnTo>
                    <a:pt x="132" y="80"/>
                  </a:lnTo>
                  <a:lnTo>
                    <a:pt x="136" y="85"/>
                  </a:lnTo>
                  <a:lnTo>
                    <a:pt x="137" y="83"/>
                  </a:lnTo>
                  <a:lnTo>
                    <a:pt x="143" y="87"/>
                  </a:lnTo>
                  <a:lnTo>
                    <a:pt x="152" y="88"/>
                  </a:lnTo>
                  <a:lnTo>
                    <a:pt x="151" y="99"/>
                  </a:lnTo>
                  <a:lnTo>
                    <a:pt x="150" y="102"/>
                  </a:lnTo>
                  <a:lnTo>
                    <a:pt x="158" y="98"/>
                  </a:lnTo>
                  <a:lnTo>
                    <a:pt x="164" y="102"/>
                  </a:lnTo>
                  <a:lnTo>
                    <a:pt x="166" y="107"/>
                  </a:lnTo>
                  <a:lnTo>
                    <a:pt x="161" y="112"/>
                  </a:lnTo>
                  <a:lnTo>
                    <a:pt x="164" y="113"/>
                  </a:lnTo>
                  <a:lnTo>
                    <a:pt x="160" y="121"/>
                  </a:lnTo>
                  <a:lnTo>
                    <a:pt x="161" y="124"/>
                  </a:lnTo>
                  <a:lnTo>
                    <a:pt x="177" y="129"/>
                  </a:lnTo>
                  <a:lnTo>
                    <a:pt x="181" y="143"/>
                  </a:lnTo>
                  <a:lnTo>
                    <a:pt x="188" y="147"/>
                  </a:lnTo>
                  <a:lnTo>
                    <a:pt x="186" y="153"/>
                  </a:lnTo>
                  <a:lnTo>
                    <a:pt x="201" y="155"/>
                  </a:lnTo>
                  <a:lnTo>
                    <a:pt x="209" y="166"/>
                  </a:lnTo>
                  <a:lnTo>
                    <a:pt x="205" y="220"/>
                  </a:lnTo>
                  <a:lnTo>
                    <a:pt x="197" y="214"/>
                  </a:lnTo>
                  <a:lnTo>
                    <a:pt x="192" y="219"/>
                  </a:lnTo>
                  <a:lnTo>
                    <a:pt x="186" y="214"/>
                  </a:lnTo>
                  <a:lnTo>
                    <a:pt x="184" y="215"/>
                  </a:lnTo>
                  <a:lnTo>
                    <a:pt x="184" y="221"/>
                  </a:lnTo>
                  <a:lnTo>
                    <a:pt x="166" y="204"/>
                  </a:lnTo>
                  <a:lnTo>
                    <a:pt x="142" y="187"/>
                  </a:lnTo>
                  <a:lnTo>
                    <a:pt x="136" y="177"/>
                  </a:lnTo>
                  <a:lnTo>
                    <a:pt x="112" y="152"/>
                  </a:lnTo>
                  <a:lnTo>
                    <a:pt x="98" y="121"/>
                  </a:lnTo>
                  <a:lnTo>
                    <a:pt x="88" y="108"/>
                  </a:lnTo>
                  <a:lnTo>
                    <a:pt x="79" y="102"/>
                  </a:lnTo>
                  <a:lnTo>
                    <a:pt x="70" y="75"/>
                  </a:lnTo>
                  <a:lnTo>
                    <a:pt x="64" y="69"/>
                  </a:lnTo>
                  <a:lnTo>
                    <a:pt x="49" y="63"/>
                  </a:lnTo>
                  <a:lnTo>
                    <a:pt x="47" y="53"/>
                  </a:lnTo>
                  <a:lnTo>
                    <a:pt x="37" y="40"/>
                  </a:lnTo>
                  <a:lnTo>
                    <a:pt x="28" y="35"/>
                  </a:lnTo>
                  <a:lnTo>
                    <a:pt x="7" y="16"/>
                  </a:lnTo>
                  <a:lnTo>
                    <a:pt x="0" y="0"/>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8" name="Freeform 725">
              <a:extLst>
                <a:ext uri="{FF2B5EF4-FFF2-40B4-BE49-F238E27FC236}">
                  <a16:creationId xmlns:a16="http://schemas.microsoft.com/office/drawing/2014/main" id="{FF127A28-4E27-2E08-C195-2CD83CD11FEE}"/>
                </a:ext>
              </a:extLst>
            </p:cNvPr>
            <p:cNvSpPr>
              <a:spLocks/>
            </p:cNvSpPr>
            <p:nvPr/>
          </p:nvSpPr>
          <p:spPr bwMode="auto">
            <a:xfrm>
              <a:off x="4442590" y="5312901"/>
              <a:ext cx="630441" cy="541540"/>
            </a:xfrm>
            <a:custGeom>
              <a:avLst/>
              <a:gdLst/>
              <a:ahLst/>
              <a:cxnLst>
                <a:cxn ang="0">
                  <a:pos x="198" y="89"/>
                </a:cxn>
                <a:cxn ang="0">
                  <a:pos x="197" y="41"/>
                </a:cxn>
                <a:cxn ang="0">
                  <a:pos x="169" y="36"/>
                </a:cxn>
                <a:cxn ang="0">
                  <a:pos x="134" y="20"/>
                </a:cxn>
                <a:cxn ang="0">
                  <a:pos x="124" y="27"/>
                </a:cxn>
                <a:cxn ang="0">
                  <a:pos x="119" y="34"/>
                </a:cxn>
                <a:cxn ang="0">
                  <a:pos x="106" y="35"/>
                </a:cxn>
                <a:cxn ang="0">
                  <a:pos x="90" y="57"/>
                </a:cxn>
                <a:cxn ang="0">
                  <a:pos x="83" y="57"/>
                </a:cxn>
                <a:cxn ang="0">
                  <a:pos x="76" y="54"/>
                </a:cxn>
                <a:cxn ang="0">
                  <a:pos x="71" y="42"/>
                </a:cxn>
                <a:cxn ang="0">
                  <a:pos x="70" y="41"/>
                </a:cxn>
                <a:cxn ang="0">
                  <a:pos x="69" y="46"/>
                </a:cxn>
                <a:cxn ang="0">
                  <a:pos x="64" y="39"/>
                </a:cxn>
                <a:cxn ang="0">
                  <a:pos x="64" y="17"/>
                </a:cxn>
                <a:cxn ang="0">
                  <a:pos x="60" y="7"/>
                </a:cxn>
                <a:cxn ang="0">
                  <a:pos x="47" y="7"/>
                </a:cxn>
                <a:cxn ang="0">
                  <a:pos x="37" y="0"/>
                </a:cxn>
                <a:cxn ang="0">
                  <a:pos x="27" y="0"/>
                </a:cxn>
                <a:cxn ang="0">
                  <a:pos x="6" y="10"/>
                </a:cxn>
                <a:cxn ang="0">
                  <a:pos x="0" y="20"/>
                </a:cxn>
                <a:cxn ang="0">
                  <a:pos x="16" y="23"/>
                </a:cxn>
                <a:cxn ang="0">
                  <a:pos x="21" y="34"/>
                </a:cxn>
                <a:cxn ang="0">
                  <a:pos x="27" y="36"/>
                </a:cxn>
                <a:cxn ang="0">
                  <a:pos x="57" y="31"/>
                </a:cxn>
                <a:cxn ang="0">
                  <a:pos x="55" y="40"/>
                </a:cxn>
                <a:cxn ang="0">
                  <a:pos x="52" y="41"/>
                </a:cxn>
                <a:cxn ang="0">
                  <a:pos x="44" y="40"/>
                </a:cxn>
                <a:cxn ang="0">
                  <a:pos x="34" y="45"/>
                </a:cxn>
                <a:cxn ang="0">
                  <a:pos x="20" y="46"/>
                </a:cxn>
                <a:cxn ang="0">
                  <a:pos x="20" y="49"/>
                </a:cxn>
                <a:cxn ang="0">
                  <a:pos x="27" y="50"/>
                </a:cxn>
                <a:cxn ang="0">
                  <a:pos x="36" y="57"/>
                </a:cxn>
                <a:cxn ang="0">
                  <a:pos x="39" y="71"/>
                </a:cxn>
                <a:cxn ang="0">
                  <a:pos x="49" y="69"/>
                </a:cxn>
                <a:cxn ang="0">
                  <a:pos x="56" y="50"/>
                </a:cxn>
                <a:cxn ang="0">
                  <a:pos x="56" y="62"/>
                </a:cxn>
                <a:cxn ang="0">
                  <a:pos x="67" y="71"/>
                </a:cxn>
                <a:cxn ang="0">
                  <a:pos x="73" y="70"/>
                </a:cxn>
                <a:cxn ang="0">
                  <a:pos x="81" y="79"/>
                </a:cxn>
                <a:cxn ang="0">
                  <a:pos x="111" y="84"/>
                </a:cxn>
                <a:cxn ang="0">
                  <a:pos x="139" y="96"/>
                </a:cxn>
                <a:cxn ang="0">
                  <a:pos x="152" y="120"/>
                </a:cxn>
                <a:cxn ang="0">
                  <a:pos x="148" y="126"/>
                </a:cxn>
                <a:cxn ang="0">
                  <a:pos x="157" y="131"/>
                </a:cxn>
                <a:cxn ang="0">
                  <a:pos x="153" y="133"/>
                </a:cxn>
                <a:cxn ang="0">
                  <a:pos x="157" y="139"/>
                </a:cxn>
                <a:cxn ang="0">
                  <a:pos x="150" y="135"/>
                </a:cxn>
                <a:cxn ang="0">
                  <a:pos x="143" y="136"/>
                </a:cxn>
                <a:cxn ang="0">
                  <a:pos x="133" y="154"/>
                </a:cxn>
                <a:cxn ang="0">
                  <a:pos x="155" y="153"/>
                </a:cxn>
                <a:cxn ang="0">
                  <a:pos x="157" y="149"/>
                </a:cxn>
                <a:cxn ang="0">
                  <a:pos x="175" y="148"/>
                </a:cxn>
                <a:cxn ang="0">
                  <a:pos x="201" y="169"/>
                </a:cxn>
                <a:cxn ang="0">
                  <a:pos x="196" y="124"/>
                </a:cxn>
                <a:cxn ang="0">
                  <a:pos x="198" y="89"/>
                </a:cxn>
              </a:cxnLst>
              <a:rect l="0" t="0" r="r" b="b"/>
              <a:pathLst>
                <a:path w="201" h="169">
                  <a:moveTo>
                    <a:pt x="198" y="89"/>
                  </a:moveTo>
                  <a:lnTo>
                    <a:pt x="197" y="41"/>
                  </a:lnTo>
                  <a:lnTo>
                    <a:pt x="169" y="36"/>
                  </a:lnTo>
                  <a:lnTo>
                    <a:pt x="134" y="20"/>
                  </a:lnTo>
                  <a:lnTo>
                    <a:pt x="124" y="27"/>
                  </a:lnTo>
                  <a:lnTo>
                    <a:pt x="119" y="34"/>
                  </a:lnTo>
                  <a:lnTo>
                    <a:pt x="106" y="35"/>
                  </a:lnTo>
                  <a:lnTo>
                    <a:pt x="90" y="57"/>
                  </a:lnTo>
                  <a:lnTo>
                    <a:pt x="83" y="57"/>
                  </a:lnTo>
                  <a:lnTo>
                    <a:pt x="76" y="54"/>
                  </a:lnTo>
                  <a:lnTo>
                    <a:pt x="71" y="42"/>
                  </a:lnTo>
                  <a:lnTo>
                    <a:pt x="70" y="41"/>
                  </a:lnTo>
                  <a:lnTo>
                    <a:pt x="69" y="46"/>
                  </a:lnTo>
                  <a:lnTo>
                    <a:pt x="64" y="39"/>
                  </a:lnTo>
                  <a:lnTo>
                    <a:pt x="64" y="17"/>
                  </a:lnTo>
                  <a:lnTo>
                    <a:pt x="60" y="7"/>
                  </a:lnTo>
                  <a:lnTo>
                    <a:pt x="47" y="7"/>
                  </a:lnTo>
                  <a:lnTo>
                    <a:pt x="37" y="0"/>
                  </a:lnTo>
                  <a:lnTo>
                    <a:pt x="27" y="0"/>
                  </a:lnTo>
                  <a:lnTo>
                    <a:pt x="6" y="10"/>
                  </a:lnTo>
                  <a:lnTo>
                    <a:pt x="0" y="20"/>
                  </a:lnTo>
                  <a:lnTo>
                    <a:pt x="16" y="23"/>
                  </a:lnTo>
                  <a:lnTo>
                    <a:pt x="21" y="34"/>
                  </a:lnTo>
                  <a:lnTo>
                    <a:pt x="27" y="36"/>
                  </a:lnTo>
                  <a:lnTo>
                    <a:pt x="57" y="31"/>
                  </a:lnTo>
                  <a:lnTo>
                    <a:pt x="55" y="40"/>
                  </a:lnTo>
                  <a:lnTo>
                    <a:pt x="52" y="41"/>
                  </a:lnTo>
                  <a:lnTo>
                    <a:pt x="44" y="40"/>
                  </a:lnTo>
                  <a:lnTo>
                    <a:pt x="34" y="45"/>
                  </a:lnTo>
                  <a:lnTo>
                    <a:pt x="20" y="46"/>
                  </a:lnTo>
                  <a:lnTo>
                    <a:pt x="20" y="49"/>
                  </a:lnTo>
                  <a:lnTo>
                    <a:pt x="27" y="50"/>
                  </a:lnTo>
                  <a:lnTo>
                    <a:pt x="36" y="57"/>
                  </a:lnTo>
                  <a:lnTo>
                    <a:pt x="39" y="71"/>
                  </a:lnTo>
                  <a:lnTo>
                    <a:pt x="49" y="69"/>
                  </a:lnTo>
                  <a:lnTo>
                    <a:pt x="56" y="50"/>
                  </a:lnTo>
                  <a:lnTo>
                    <a:pt x="56" y="62"/>
                  </a:lnTo>
                  <a:lnTo>
                    <a:pt x="67" y="71"/>
                  </a:lnTo>
                  <a:lnTo>
                    <a:pt x="73" y="70"/>
                  </a:lnTo>
                  <a:lnTo>
                    <a:pt x="81" y="79"/>
                  </a:lnTo>
                  <a:lnTo>
                    <a:pt x="111" y="84"/>
                  </a:lnTo>
                  <a:lnTo>
                    <a:pt x="139" y="96"/>
                  </a:lnTo>
                  <a:lnTo>
                    <a:pt x="152" y="120"/>
                  </a:lnTo>
                  <a:lnTo>
                    <a:pt x="148" y="126"/>
                  </a:lnTo>
                  <a:lnTo>
                    <a:pt x="157" y="131"/>
                  </a:lnTo>
                  <a:lnTo>
                    <a:pt x="153" y="133"/>
                  </a:lnTo>
                  <a:lnTo>
                    <a:pt x="157" y="139"/>
                  </a:lnTo>
                  <a:lnTo>
                    <a:pt x="150" y="135"/>
                  </a:lnTo>
                  <a:lnTo>
                    <a:pt x="143" y="136"/>
                  </a:lnTo>
                  <a:lnTo>
                    <a:pt x="133" y="154"/>
                  </a:lnTo>
                  <a:lnTo>
                    <a:pt x="155" y="153"/>
                  </a:lnTo>
                  <a:lnTo>
                    <a:pt x="157" y="149"/>
                  </a:lnTo>
                  <a:lnTo>
                    <a:pt x="175" y="148"/>
                  </a:lnTo>
                  <a:lnTo>
                    <a:pt x="201" y="169"/>
                  </a:lnTo>
                  <a:lnTo>
                    <a:pt x="196" y="124"/>
                  </a:lnTo>
                  <a:lnTo>
                    <a:pt x="198" y="89"/>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9" name="Freeform 726">
              <a:extLst>
                <a:ext uri="{FF2B5EF4-FFF2-40B4-BE49-F238E27FC236}">
                  <a16:creationId xmlns:a16="http://schemas.microsoft.com/office/drawing/2014/main" id="{CD7937B6-BEFA-2A83-FADA-888DC0FCAC03}"/>
                </a:ext>
              </a:extLst>
            </p:cNvPr>
            <p:cNvSpPr>
              <a:spLocks/>
            </p:cNvSpPr>
            <p:nvPr/>
          </p:nvSpPr>
          <p:spPr bwMode="auto">
            <a:xfrm>
              <a:off x="4226167" y="5376990"/>
              <a:ext cx="47048" cy="19226"/>
            </a:xfrm>
            <a:custGeom>
              <a:avLst/>
              <a:gdLst/>
              <a:ahLst/>
              <a:cxnLst>
                <a:cxn ang="0">
                  <a:pos x="0" y="1"/>
                </a:cxn>
                <a:cxn ang="0">
                  <a:pos x="8" y="0"/>
                </a:cxn>
                <a:cxn ang="0">
                  <a:pos x="15" y="3"/>
                </a:cxn>
                <a:cxn ang="0">
                  <a:pos x="2" y="6"/>
                </a:cxn>
                <a:cxn ang="0">
                  <a:pos x="0" y="1"/>
                </a:cxn>
              </a:cxnLst>
              <a:rect l="0" t="0" r="r" b="b"/>
              <a:pathLst>
                <a:path w="15" h="6">
                  <a:moveTo>
                    <a:pt x="0" y="1"/>
                  </a:moveTo>
                  <a:lnTo>
                    <a:pt x="8" y="0"/>
                  </a:lnTo>
                  <a:lnTo>
                    <a:pt x="15" y="3"/>
                  </a:lnTo>
                  <a:lnTo>
                    <a:pt x="2" y="6"/>
                  </a:lnTo>
                  <a:lnTo>
                    <a:pt x="0" y="1"/>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0" name="Freeform 727">
              <a:extLst>
                <a:ext uri="{FF2B5EF4-FFF2-40B4-BE49-F238E27FC236}">
                  <a16:creationId xmlns:a16="http://schemas.microsoft.com/office/drawing/2014/main" id="{765E3357-4A71-E779-8FF6-B1C95BC009EB}"/>
                </a:ext>
              </a:extLst>
            </p:cNvPr>
            <p:cNvSpPr>
              <a:spLocks/>
            </p:cNvSpPr>
            <p:nvPr/>
          </p:nvSpPr>
          <p:spPr bwMode="auto">
            <a:xfrm>
              <a:off x="4219893" y="5312901"/>
              <a:ext cx="31368" cy="32045"/>
            </a:xfrm>
            <a:custGeom>
              <a:avLst/>
              <a:gdLst/>
              <a:ahLst/>
              <a:cxnLst>
                <a:cxn ang="0">
                  <a:pos x="0" y="0"/>
                </a:cxn>
                <a:cxn ang="0">
                  <a:pos x="4" y="0"/>
                </a:cxn>
                <a:cxn ang="0">
                  <a:pos x="10" y="10"/>
                </a:cxn>
                <a:cxn ang="0">
                  <a:pos x="4" y="8"/>
                </a:cxn>
                <a:cxn ang="0">
                  <a:pos x="0" y="0"/>
                </a:cxn>
              </a:cxnLst>
              <a:rect l="0" t="0" r="r" b="b"/>
              <a:pathLst>
                <a:path w="10" h="10">
                  <a:moveTo>
                    <a:pt x="0" y="0"/>
                  </a:moveTo>
                  <a:lnTo>
                    <a:pt x="4" y="0"/>
                  </a:lnTo>
                  <a:lnTo>
                    <a:pt x="10" y="10"/>
                  </a:lnTo>
                  <a:lnTo>
                    <a:pt x="4" y="8"/>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1" name="Freeform 728">
              <a:extLst>
                <a:ext uri="{FF2B5EF4-FFF2-40B4-BE49-F238E27FC236}">
                  <a16:creationId xmlns:a16="http://schemas.microsoft.com/office/drawing/2014/main" id="{3446EE31-2642-7DFA-379E-9141AEF81022}"/>
                </a:ext>
              </a:extLst>
            </p:cNvPr>
            <p:cNvSpPr>
              <a:spLocks/>
            </p:cNvSpPr>
            <p:nvPr/>
          </p:nvSpPr>
          <p:spPr bwMode="auto">
            <a:xfrm>
              <a:off x="4226167" y="5149475"/>
              <a:ext cx="84684" cy="195465"/>
            </a:xfrm>
            <a:custGeom>
              <a:avLst/>
              <a:gdLst/>
              <a:ahLst/>
              <a:cxnLst>
                <a:cxn ang="0">
                  <a:pos x="11" y="0"/>
                </a:cxn>
                <a:cxn ang="0">
                  <a:pos x="12" y="19"/>
                </a:cxn>
                <a:cxn ang="0">
                  <a:pos x="5" y="26"/>
                </a:cxn>
                <a:cxn ang="0">
                  <a:pos x="8" y="27"/>
                </a:cxn>
                <a:cxn ang="0">
                  <a:pos x="20" y="14"/>
                </a:cxn>
                <a:cxn ang="0">
                  <a:pos x="26" y="18"/>
                </a:cxn>
                <a:cxn ang="0">
                  <a:pos x="26" y="22"/>
                </a:cxn>
                <a:cxn ang="0">
                  <a:pos x="18" y="28"/>
                </a:cxn>
                <a:cxn ang="0">
                  <a:pos x="27" y="38"/>
                </a:cxn>
                <a:cxn ang="0">
                  <a:pos x="12" y="34"/>
                </a:cxn>
                <a:cxn ang="0">
                  <a:pos x="11" y="36"/>
                </a:cxn>
                <a:cxn ang="0">
                  <a:pos x="11" y="48"/>
                </a:cxn>
                <a:cxn ang="0">
                  <a:pos x="17" y="61"/>
                </a:cxn>
                <a:cxn ang="0">
                  <a:pos x="7" y="48"/>
                </a:cxn>
                <a:cxn ang="0">
                  <a:pos x="0" y="22"/>
                </a:cxn>
                <a:cxn ang="0">
                  <a:pos x="3" y="9"/>
                </a:cxn>
                <a:cxn ang="0">
                  <a:pos x="11" y="0"/>
                </a:cxn>
              </a:cxnLst>
              <a:rect l="0" t="0" r="r" b="b"/>
              <a:pathLst>
                <a:path w="27" h="61">
                  <a:moveTo>
                    <a:pt x="11" y="0"/>
                  </a:moveTo>
                  <a:lnTo>
                    <a:pt x="12" y="19"/>
                  </a:lnTo>
                  <a:lnTo>
                    <a:pt x="5" y="26"/>
                  </a:lnTo>
                  <a:lnTo>
                    <a:pt x="8" y="27"/>
                  </a:lnTo>
                  <a:lnTo>
                    <a:pt x="20" y="14"/>
                  </a:lnTo>
                  <a:lnTo>
                    <a:pt x="26" y="18"/>
                  </a:lnTo>
                  <a:lnTo>
                    <a:pt x="26" y="22"/>
                  </a:lnTo>
                  <a:lnTo>
                    <a:pt x="18" y="28"/>
                  </a:lnTo>
                  <a:lnTo>
                    <a:pt x="27" y="38"/>
                  </a:lnTo>
                  <a:lnTo>
                    <a:pt x="12" y="34"/>
                  </a:lnTo>
                  <a:lnTo>
                    <a:pt x="11" y="36"/>
                  </a:lnTo>
                  <a:lnTo>
                    <a:pt x="11" y="48"/>
                  </a:lnTo>
                  <a:lnTo>
                    <a:pt x="17" y="61"/>
                  </a:lnTo>
                  <a:lnTo>
                    <a:pt x="7" y="48"/>
                  </a:lnTo>
                  <a:lnTo>
                    <a:pt x="0" y="22"/>
                  </a:lnTo>
                  <a:lnTo>
                    <a:pt x="3" y="9"/>
                  </a:lnTo>
                  <a:lnTo>
                    <a:pt x="11"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2" name="Freeform 729">
              <a:extLst>
                <a:ext uri="{FF2B5EF4-FFF2-40B4-BE49-F238E27FC236}">
                  <a16:creationId xmlns:a16="http://schemas.microsoft.com/office/drawing/2014/main" id="{8B5911E1-21F8-FB0D-F35A-97E87E5C857D}"/>
                </a:ext>
              </a:extLst>
            </p:cNvPr>
            <p:cNvSpPr>
              <a:spLocks/>
            </p:cNvSpPr>
            <p:nvPr/>
          </p:nvSpPr>
          <p:spPr bwMode="auto">
            <a:xfrm>
              <a:off x="4279485" y="5123840"/>
              <a:ext cx="25092" cy="38454"/>
            </a:xfrm>
            <a:custGeom>
              <a:avLst/>
              <a:gdLst/>
              <a:ahLst/>
              <a:cxnLst>
                <a:cxn ang="0">
                  <a:pos x="6" y="0"/>
                </a:cxn>
                <a:cxn ang="0">
                  <a:pos x="8" y="7"/>
                </a:cxn>
                <a:cxn ang="0">
                  <a:pos x="1" y="12"/>
                </a:cxn>
                <a:cxn ang="0">
                  <a:pos x="0" y="5"/>
                </a:cxn>
                <a:cxn ang="0">
                  <a:pos x="6" y="0"/>
                </a:cxn>
              </a:cxnLst>
              <a:rect l="0" t="0" r="r" b="b"/>
              <a:pathLst>
                <a:path w="8" h="12">
                  <a:moveTo>
                    <a:pt x="6" y="0"/>
                  </a:moveTo>
                  <a:lnTo>
                    <a:pt x="8" y="7"/>
                  </a:lnTo>
                  <a:lnTo>
                    <a:pt x="1" y="12"/>
                  </a:lnTo>
                  <a:lnTo>
                    <a:pt x="0" y="5"/>
                  </a:lnTo>
                  <a:lnTo>
                    <a:pt x="6"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3" name="Freeform 730">
              <a:extLst>
                <a:ext uri="{FF2B5EF4-FFF2-40B4-BE49-F238E27FC236}">
                  <a16:creationId xmlns:a16="http://schemas.microsoft.com/office/drawing/2014/main" id="{C1D75B2F-0F46-2B9C-9B86-1DEB8CC52582}"/>
                </a:ext>
              </a:extLst>
            </p:cNvPr>
            <p:cNvSpPr>
              <a:spLocks/>
            </p:cNvSpPr>
            <p:nvPr/>
          </p:nvSpPr>
          <p:spPr bwMode="auto">
            <a:xfrm>
              <a:off x="4141483" y="5473121"/>
              <a:ext cx="75277" cy="54473"/>
            </a:xfrm>
            <a:custGeom>
              <a:avLst/>
              <a:gdLst/>
              <a:ahLst/>
              <a:cxnLst>
                <a:cxn ang="0">
                  <a:pos x="0" y="1"/>
                </a:cxn>
                <a:cxn ang="0">
                  <a:pos x="14" y="0"/>
                </a:cxn>
                <a:cxn ang="0">
                  <a:pos x="23" y="6"/>
                </a:cxn>
                <a:cxn ang="0">
                  <a:pos x="24" y="11"/>
                </a:cxn>
                <a:cxn ang="0">
                  <a:pos x="15" y="17"/>
                </a:cxn>
                <a:cxn ang="0">
                  <a:pos x="10" y="16"/>
                </a:cxn>
                <a:cxn ang="0">
                  <a:pos x="3" y="10"/>
                </a:cxn>
                <a:cxn ang="0">
                  <a:pos x="0" y="1"/>
                </a:cxn>
              </a:cxnLst>
              <a:rect l="0" t="0" r="r" b="b"/>
              <a:pathLst>
                <a:path w="24" h="17">
                  <a:moveTo>
                    <a:pt x="0" y="1"/>
                  </a:moveTo>
                  <a:lnTo>
                    <a:pt x="14" y="0"/>
                  </a:lnTo>
                  <a:lnTo>
                    <a:pt x="23" y="6"/>
                  </a:lnTo>
                  <a:lnTo>
                    <a:pt x="24" y="11"/>
                  </a:lnTo>
                  <a:lnTo>
                    <a:pt x="15" y="17"/>
                  </a:lnTo>
                  <a:lnTo>
                    <a:pt x="10" y="16"/>
                  </a:lnTo>
                  <a:lnTo>
                    <a:pt x="3" y="10"/>
                  </a:lnTo>
                  <a:lnTo>
                    <a:pt x="0" y="1"/>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4" name="Freeform 731">
              <a:extLst>
                <a:ext uri="{FF2B5EF4-FFF2-40B4-BE49-F238E27FC236}">
                  <a16:creationId xmlns:a16="http://schemas.microsoft.com/office/drawing/2014/main" id="{D42A2958-F740-5230-E2EA-18141ECAFEB4}"/>
                </a:ext>
              </a:extLst>
            </p:cNvPr>
            <p:cNvSpPr>
              <a:spLocks/>
            </p:cNvSpPr>
            <p:nvPr/>
          </p:nvSpPr>
          <p:spPr bwMode="auto">
            <a:xfrm>
              <a:off x="4106977" y="5399419"/>
              <a:ext cx="50183" cy="9610"/>
            </a:xfrm>
            <a:custGeom>
              <a:avLst/>
              <a:gdLst/>
              <a:ahLst/>
              <a:cxnLst>
                <a:cxn ang="0">
                  <a:pos x="0" y="0"/>
                </a:cxn>
                <a:cxn ang="0">
                  <a:pos x="16" y="0"/>
                </a:cxn>
                <a:cxn ang="0">
                  <a:pos x="2" y="3"/>
                </a:cxn>
                <a:cxn ang="0">
                  <a:pos x="0" y="0"/>
                </a:cxn>
              </a:cxnLst>
              <a:rect l="0" t="0" r="r" b="b"/>
              <a:pathLst>
                <a:path w="16" h="3">
                  <a:moveTo>
                    <a:pt x="0" y="0"/>
                  </a:moveTo>
                  <a:lnTo>
                    <a:pt x="16" y="0"/>
                  </a:lnTo>
                  <a:lnTo>
                    <a:pt x="2" y="3"/>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5" name="Freeform 732">
              <a:extLst>
                <a:ext uri="{FF2B5EF4-FFF2-40B4-BE49-F238E27FC236}">
                  <a16:creationId xmlns:a16="http://schemas.microsoft.com/office/drawing/2014/main" id="{15A22EF9-51A6-B546-EC82-B65B9234F21F}"/>
                </a:ext>
              </a:extLst>
            </p:cNvPr>
            <p:cNvSpPr>
              <a:spLocks/>
            </p:cNvSpPr>
            <p:nvPr/>
          </p:nvSpPr>
          <p:spPr bwMode="auto">
            <a:xfrm>
              <a:off x="4044247" y="5393012"/>
              <a:ext cx="53321" cy="19226"/>
            </a:xfrm>
            <a:custGeom>
              <a:avLst/>
              <a:gdLst/>
              <a:ahLst/>
              <a:cxnLst>
                <a:cxn ang="0">
                  <a:pos x="0" y="0"/>
                </a:cxn>
                <a:cxn ang="0">
                  <a:pos x="17" y="2"/>
                </a:cxn>
                <a:cxn ang="0">
                  <a:pos x="4" y="6"/>
                </a:cxn>
                <a:cxn ang="0">
                  <a:pos x="0" y="0"/>
                </a:cxn>
              </a:cxnLst>
              <a:rect l="0" t="0" r="r" b="b"/>
              <a:pathLst>
                <a:path w="17" h="6">
                  <a:moveTo>
                    <a:pt x="0" y="0"/>
                  </a:moveTo>
                  <a:lnTo>
                    <a:pt x="17" y="2"/>
                  </a:lnTo>
                  <a:lnTo>
                    <a:pt x="4" y="6"/>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6" name="Freeform 733">
              <a:extLst>
                <a:ext uri="{FF2B5EF4-FFF2-40B4-BE49-F238E27FC236}">
                  <a16:creationId xmlns:a16="http://schemas.microsoft.com/office/drawing/2014/main" id="{2D02859B-CD7E-2E8F-0363-582E95751AEE}"/>
                </a:ext>
              </a:extLst>
            </p:cNvPr>
            <p:cNvSpPr>
              <a:spLocks/>
            </p:cNvSpPr>
            <p:nvPr/>
          </p:nvSpPr>
          <p:spPr bwMode="auto">
            <a:xfrm>
              <a:off x="3968972" y="5370581"/>
              <a:ext cx="18821" cy="16019"/>
            </a:xfrm>
            <a:custGeom>
              <a:avLst/>
              <a:gdLst/>
              <a:ahLst/>
              <a:cxnLst>
                <a:cxn ang="0">
                  <a:pos x="0" y="2"/>
                </a:cxn>
                <a:cxn ang="0">
                  <a:pos x="6" y="0"/>
                </a:cxn>
                <a:cxn ang="0">
                  <a:pos x="5" y="4"/>
                </a:cxn>
                <a:cxn ang="0">
                  <a:pos x="1" y="5"/>
                </a:cxn>
                <a:cxn ang="0">
                  <a:pos x="0" y="2"/>
                </a:cxn>
              </a:cxnLst>
              <a:rect l="0" t="0" r="r" b="b"/>
              <a:pathLst>
                <a:path w="6" h="5">
                  <a:moveTo>
                    <a:pt x="0" y="2"/>
                  </a:moveTo>
                  <a:lnTo>
                    <a:pt x="6" y="0"/>
                  </a:lnTo>
                  <a:lnTo>
                    <a:pt x="5" y="4"/>
                  </a:lnTo>
                  <a:lnTo>
                    <a:pt x="1" y="5"/>
                  </a:lnTo>
                  <a:lnTo>
                    <a:pt x="0" y="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7" name="Freeform 734">
              <a:extLst>
                <a:ext uri="{FF2B5EF4-FFF2-40B4-BE49-F238E27FC236}">
                  <a16:creationId xmlns:a16="http://schemas.microsoft.com/office/drawing/2014/main" id="{1DA03712-28BA-BE09-2B15-895F81FAFC93}"/>
                </a:ext>
              </a:extLst>
            </p:cNvPr>
            <p:cNvSpPr>
              <a:spLocks/>
            </p:cNvSpPr>
            <p:nvPr/>
          </p:nvSpPr>
          <p:spPr bwMode="auto">
            <a:xfrm>
              <a:off x="3953287" y="5360965"/>
              <a:ext cx="12544" cy="22429"/>
            </a:xfrm>
            <a:custGeom>
              <a:avLst/>
              <a:gdLst/>
              <a:ahLst/>
              <a:cxnLst>
                <a:cxn ang="0">
                  <a:pos x="3" y="0"/>
                </a:cxn>
                <a:cxn ang="0">
                  <a:pos x="4" y="3"/>
                </a:cxn>
                <a:cxn ang="0">
                  <a:pos x="0" y="7"/>
                </a:cxn>
                <a:cxn ang="0">
                  <a:pos x="0" y="2"/>
                </a:cxn>
                <a:cxn ang="0">
                  <a:pos x="3" y="0"/>
                </a:cxn>
              </a:cxnLst>
              <a:rect l="0" t="0" r="r" b="b"/>
              <a:pathLst>
                <a:path w="4" h="7">
                  <a:moveTo>
                    <a:pt x="3" y="0"/>
                  </a:moveTo>
                  <a:lnTo>
                    <a:pt x="4" y="3"/>
                  </a:lnTo>
                  <a:lnTo>
                    <a:pt x="0" y="7"/>
                  </a:lnTo>
                  <a:lnTo>
                    <a:pt x="0" y="2"/>
                  </a:lnTo>
                  <a:lnTo>
                    <a:pt x="3"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8" name="Freeform 735">
              <a:extLst>
                <a:ext uri="{FF2B5EF4-FFF2-40B4-BE49-F238E27FC236}">
                  <a16:creationId xmlns:a16="http://schemas.microsoft.com/office/drawing/2014/main" id="{FBEE5F2C-A6D8-5375-5C80-A2C829B0358D}"/>
                </a:ext>
              </a:extLst>
            </p:cNvPr>
            <p:cNvSpPr>
              <a:spLocks/>
            </p:cNvSpPr>
            <p:nvPr/>
          </p:nvSpPr>
          <p:spPr bwMode="auto">
            <a:xfrm>
              <a:off x="3959563" y="5537210"/>
              <a:ext cx="9409" cy="12813"/>
            </a:xfrm>
            <a:custGeom>
              <a:avLst/>
              <a:gdLst/>
              <a:ahLst/>
              <a:cxnLst>
                <a:cxn ang="0">
                  <a:pos x="0" y="0"/>
                </a:cxn>
                <a:cxn ang="0">
                  <a:pos x="3" y="0"/>
                </a:cxn>
                <a:cxn ang="0">
                  <a:pos x="3" y="4"/>
                </a:cxn>
                <a:cxn ang="0">
                  <a:pos x="0" y="0"/>
                </a:cxn>
              </a:cxnLst>
              <a:rect l="0" t="0" r="r" b="b"/>
              <a:pathLst>
                <a:path w="3" h="4">
                  <a:moveTo>
                    <a:pt x="0" y="0"/>
                  </a:moveTo>
                  <a:lnTo>
                    <a:pt x="3" y="0"/>
                  </a:lnTo>
                  <a:lnTo>
                    <a:pt x="3" y="4"/>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9" name="Freeform 736">
              <a:extLst>
                <a:ext uri="{FF2B5EF4-FFF2-40B4-BE49-F238E27FC236}">
                  <a16:creationId xmlns:a16="http://schemas.microsoft.com/office/drawing/2014/main" id="{44DB81A1-8254-873E-C73F-3D44E4568A48}"/>
                </a:ext>
              </a:extLst>
            </p:cNvPr>
            <p:cNvSpPr>
              <a:spLocks/>
            </p:cNvSpPr>
            <p:nvPr/>
          </p:nvSpPr>
          <p:spPr bwMode="auto">
            <a:xfrm>
              <a:off x="3940739" y="5556433"/>
              <a:ext cx="28230" cy="80111"/>
            </a:xfrm>
            <a:custGeom>
              <a:avLst/>
              <a:gdLst/>
              <a:ahLst/>
              <a:cxnLst>
                <a:cxn ang="0">
                  <a:pos x="3" y="12"/>
                </a:cxn>
                <a:cxn ang="0">
                  <a:pos x="6" y="0"/>
                </a:cxn>
                <a:cxn ang="0">
                  <a:pos x="9" y="8"/>
                </a:cxn>
                <a:cxn ang="0">
                  <a:pos x="6" y="12"/>
                </a:cxn>
                <a:cxn ang="0">
                  <a:pos x="8" y="19"/>
                </a:cxn>
                <a:cxn ang="0">
                  <a:pos x="3" y="25"/>
                </a:cxn>
                <a:cxn ang="0">
                  <a:pos x="0" y="20"/>
                </a:cxn>
                <a:cxn ang="0">
                  <a:pos x="3" y="12"/>
                </a:cxn>
              </a:cxnLst>
              <a:rect l="0" t="0" r="r" b="b"/>
              <a:pathLst>
                <a:path w="9" h="25">
                  <a:moveTo>
                    <a:pt x="3" y="12"/>
                  </a:moveTo>
                  <a:lnTo>
                    <a:pt x="6" y="0"/>
                  </a:lnTo>
                  <a:lnTo>
                    <a:pt x="9" y="8"/>
                  </a:lnTo>
                  <a:lnTo>
                    <a:pt x="6" y="12"/>
                  </a:lnTo>
                  <a:lnTo>
                    <a:pt x="8" y="19"/>
                  </a:lnTo>
                  <a:lnTo>
                    <a:pt x="3" y="25"/>
                  </a:lnTo>
                  <a:lnTo>
                    <a:pt x="0" y="20"/>
                  </a:lnTo>
                  <a:lnTo>
                    <a:pt x="3" y="1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0" name="Freeform 737">
              <a:extLst>
                <a:ext uri="{FF2B5EF4-FFF2-40B4-BE49-F238E27FC236}">
                  <a16:creationId xmlns:a16="http://schemas.microsoft.com/office/drawing/2014/main" id="{20052DEE-716E-9DFD-71DD-9E163647A889}"/>
                </a:ext>
              </a:extLst>
            </p:cNvPr>
            <p:cNvSpPr>
              <a:spLocks/>
            </p:cNvSpPr>
            <p:nvPr/>
          </p:nvSpPr>
          <p:spPr bwMode="auto">
            <a:xfrm>
              <a:off x="3890556" y="5601294"/>
              <a:ext cx="15683" cy="19226"/>
            </a:xfrm>
            <a:custGeom>
              <a:avLst/>
              <a:gdLst/>
              <a:ahLst/>
              <a:cxnLst>
                <a:cxn ang="0">
                  <a:pos x="0" y="3"/>
                </a:cxn>
                <a:cxn ang="0">
                  <a:pos x="2" y="0"/>
                </a:cxn>
                <a:cxn ang="0">
                  <a:pos x="5" y="6"/>
                </a:cxn>
                <a:cxn ang="0">
                  <a:pos x="0" y="3"/>
                </a:cxn>
              </a:cxnLst>
              <a:rect l="0" t="0" r="r" b="b"/>
              <a:pathLst>
                <a:path w="5" h="6">
                  <a:moveTo>
                    <a:pt x="0" y="3"/>
                  </a:moveTo>
                  <a:lnTo>
                    <a:pt x="2" y="0"/>
                  </a:lnTo>
                  <a:lnTo>
                    <a:pt x="5" y="6"/>
                  </a:lnTo>
                  <a:lnTo>
                    <a:pt x="0" y="3"/>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1" name="Freeform 738">
              <a:extLst>
                <a:ext uri="{FF2B5EF4-FFF2-40B4-BE49-F238E27FC236}">
                  <a16:creationId xmlns:a16="http://schemas.microsoft.com/office/drawing/2014/main" id="{848291E1-17AB-D0F0-3F4A-440C96BF6A89}"/>
                </a:ext>
              </a:extLst>
            </p:cNvPr>
            <p:cNvSpPr>
              <a:spLocks/>
            </p:cNvSpPr>
            <p:nvPr/>
          </p:nvSpPr>
          <p:spPr bwMode="auto">
            <a:xfrm>
              <a:off x="3711775" y="5181519"/>
              <a:ext cx="379520" cy="455022"/>
            </a:xfrm>
            <a:custGeom>
              <a:avLst/>
              <a:gdLst/>
              <a:ahLst/>
              <a:cxnLst>
                <a:cxn ang="0">
                  <a:pos x="42" y="8"/>
                </a:cxn>
                <a:cxn ang="0">
                  <a:pos x="36" y="10"/>
                </a:cxn>
                <a:cxn ang="0">
                  <a:pos x="32" y="17"/>
                </a:cxn>
                <a:cxn ang="0">
                  <a:pos x="26" y="16"/>
                </a:cxn>
                <a:cxn ang="0">
                  <a:pos x="22" y="19"/>
                </a:cxn>
                <a:cxn ang="0">
                  <a:pos x="15" y="34"/>
                </a:cxn>
                <a:cxn ang="0">
                  <a:pos x="17" y="44"/>
                </a:cxn>
                <a:cxn ang="0">
                  <a:pos x="9" y="58"/>
                </a:cxn>
                <a:cxn ang="0">
                  <a:pos x="9" y="68"/>
                </a:cxn>
                <a:cxn ang="0">
                  <a:pos x="0" y="85"/>
                </a:cxn>
                <a:cxn ang="0">
                  <a:pos x="3" y="101"/>
                </a:cxn>
                <a:cxn ang="0">
                  <a:pos x="12" y="100"/>
                </a:cxn>
                <a:cxn ang="0">
                  <a:pos x="15" y="112"/>
                </a:cxn>
                <a:cxn ang="0">
                  <a:pos x="9" y="135"/>
                </a:cxn>
                <a:cxn ang="0">
                  <a:pos x="15" y="142"/>
                </a:cxn>
                <a:cxn ang="0">
                  <a:pos x="29" y="140"/>
                </a:cxn>
                <a:cxn ang="0">
                  <a:pos x="28" y="98"/>
                </a:cxn>
                <a:cxn ang="0">
                  <a:pos x="26" y="93"/>
                </a:cxn>
                <a:cxn ang="0">
                  <a:pos x="37" y="83"/>
                </a:cxn>
                <a:cxn ang="0">
                  <a:pos x="42" y="86"/>
                </a:cxn>
                <a:cxn ang="0">
                  <a:pos x="39" y="98"/>
                </a:cxn>
                <a:cxn ang="0">
                  <a:pos x="42" y="103"/>
                </a:cxn>
                <a:cxn ang="0">
                  <a:pos x="52" y="113"/>
                </a:cxn>
                <a:cxn ang="0">
                  <a:pos x="53" y="126"/>
                </a:cxn>
                <a:cxn ang="0">
                  <a:pos x="58" y="126"/>
                </a:cxn>
                <a:cxn ang="0">
                  <a:pos x="64" y="121"/>
                </a:cxn>
                <a:cxn ang="0">
                  <a:pos x="76" y="117"/>
                </a:cxn>
                <a:cxn ang="0">
                  <a:pos x="76" y="113"/>
                </a:cxn>
                <a:cxn ang="0">
                  <a:pos x="72" y="112"/>
                </a:cxn>
                <a:cxn ang="0">
                  <a:pos x="66" y="103"/>
                </a:cxn>
                <a:cxn ang="0">
                  <a:pos x="69" y="95"/>
                </a:cxn>
                <a:cxn ang="0">
                  <a:pos x="48" y="68"/>
                </a:cxn>
                <a:cxn ang="0">
                  <a:pos x="54" y="68"/>
                </a:cxn>
                <a:cxn ang="0">
                  <a:pos x="67" y="64"/>
                </a:cxn>
                <a:cxn ang="0">
                  <a:pos x="77" y="52"/>
                </a:cxn>
                <a:cxn ang="0">
                  <a:pos x="87" y="51"/>
                </a:cxn>
                <a:cxn ang="0">
                  <a:pos x="86" y="44"/>
                </a:cxn>
                <a:cxn ang="0">
                  <a:pos x="81" y="43"/>
                </a:cxn>
                <a:cxn ang="0">
                  <a:pos x="76" y="48"/>
                </a:cxn>
                <a:cxn ang="0">
                  <a:pos x="62" y="49"/>
                </a:cxn>
                <a:cxn ang="0">
                  <a:pos x="61" y="52"/>
                </a:cxn>
                <a:cxn ang="0">
                  <a:pos x="53" y="51"/>
                </a:cxn>
                <a:cxn ang="0">
                  <a:pos x="42" y="61"/>
                </a:cxn>
                <a:cxn ang="0">
                  <a:pos x="34" y="61"/>
                </a:cxn>
                <a:cxn ang="0">
                  <a:pos x="23" y="48"/>
                </a:cxn>
                <a:cxn ang="0">
                  <a:pos x="27" y="28"/>
                </a:cxn>
                <a:cxn ang="0">
                  <a:pos x="29" y="24"/>
                </a:cxn>
                <a:cxn ang="0">
                  <a:pos x="47" y="23"/>
                </a:cxn>
                <a:cxn ang="0">
                  <a:pos x="103" y="26"/>
                </a:cxn>
                <a:cxn ang="0">
                  <a:pos x="121" y="7"/>
                </a:cxn>
                <a:cxn ang="0">
                  <a:pos x="118" y="0"/>
                </a:cxn>
                <a:cxn ang="0">
                  <a:pos x="96" y="16"/>
                </a:cxn>
                <a:cxn ang="0">
                  <a:pos x="77" y="16"/>
                </a:cxn>
                <a:cxn ang="0">
                  <a:pos x="42" y="8"/>
                </a:cxn>
              </a:cxnLst>
              <a:rect l="0" t="0" r="r" b="b"/>
              <a:pathLst>
                <a:path w="121" h="142">
                  <a:moveTo>
                    <a:pt x="42" y="8"/>
                  </a:moveTo>
                  <a:lnTo>
                    <a:pt x="36" y="10"/>
                  </a:lnTo>
                  <a:lnTo>
                    <a:pt x="32" y="17"/>
                  </a:lnTo>
                  <a:lnTo>
                    <a:pt x="26" y="16"/>
                  </a:lnTo>
                  <a:lnTo>
                    <a:pt x="22" y="19"/>
                  </a:lnTo>
                  <a:lnTo>
                    <a:pt x="15" y="34"/>
                  </a:lnTo>
                  <a:lnTo>
                    <a:pt x="17" y="44"/>
                  </a:lnTo>
                  <a:lnTo>
                    <a:pt x="9" y="58"/>
                  </a:lnTo>
                  <a:lnTo>
                    <a:pt x="9" y="68"/>
                  </a:lnTo>
                  <a:lnTo>
                    <a:pt x="0" y="85"/>
                  </a:lnTo>
                  <a:lnTo>
                    <a:pt x="3" y="101"/>
                  </a:lnTo>
                  <a:lnTo>
                    <a:pt x="12" y="100"/>
                  </a:lnTo>
                  <a:lnTo>
                    <a:pt x="15" y="112"/>
                  </a:lnTo>
                  <a:lnTo>
                    <a:pt x="9" y="135"/>
                  </a:lnTo>
                  <a:lnTo>
                    <a:pt x="15" y="142"/>
                  </a:lnTo>
                  <a:lnTo>
                    <a:pt x="29" y="140"/>
                  </a:lnTo>
                  <a:lnTo>
                    <a:pt x="28" y="98"/>
                  </a:lnTo>
                  <a:lnTo>
                    <a:pt x="26" y="93"/>
                  </a:lnTo>
                  <a:lnTo>
                    <a:pt x="37" y="83"/>
                  </a:lnTo>
                  <a:lnTo>
                    <a:pt x="42" y="86"/>
                  </a:lnTo>
                  <a:lnTo>
                    <a:pt x="39" y="98"/>
                  </a:lnTo>
                  <a:lnTo>
                    <a:pt x="42" y="103"/>
                  </a:lnTo>
                  <a:lnTo>
                    <a:pt x="52" y="113"/>
                  </a:lnTo>
                  <a:lnTo>
                    <a:pt x="53" y="126"/>
                  </a:lnTo>
                  <a:lnTo>
                    <a:pt x="58" y="126"/>
                  </a:lnTo>
                  <a:lnTo>
                    <a:pt x="64" y="121"/>
                  </a:lnTo>
                  <a:lnTo>
                    <a:pt x="76" y="117"/>
                  </a:lnTo>
                  <a:lnTo>
                    <a:pt x="76" y="113"/>
                  </a:lnTo>
                  <a:lnTo>
                    <a:pt x="72" y="112"/>
                  </a:lnTo>
                  <a:lnTo>
                    <a:pt x="66" y="103"/>
                  </a:lnTo>
                  <a:lnTo>
                    <a:pt x="69" y="95"/>
                  </a:lnTo>
                  <a:lnTo>
                    <a:pt x="48" y="68"/>
                  </a:lnTo>
                  <a:lnTo>
                    <a:pt x="54" y="68"/>
                  </a:lnTo>
                  <a:lnTo>
                    <a:pt x="67" y="64"/>
                  </a:lnTo>
                  <a:lnTo>
                    <a:pt x="77" y="52"/>
                  </a:lnTo>
                  <a:lnTo>
                    <a:pt x="87" y="51"/>
                  </a:lnTo>
                  <a:lnTo>
                    <a:pt x="86" y="44"/>
                  </a:lnTo>
                  <a:lnTo>
                    <a:pt x="81" y="43"/>
                  </a:lnTo>
                  <a:lnTo>
                    <a:pt x="76" y="48"/>
                  </a:lnTo>
                  <a:lnTo>
                    <a:pt x="62" y="49"/>
                  </a:lnTo>
                  <a:lnTo>
                    <a:pt x="61" y="52"/>
                  </a:lnTo>
                  <a:lnTo>
                    <a:pt x="53" y="51"/>
                  </a:lnTo>
                  <a:lnTo>
                    <a:pt x="42" y="61"/>
                  </a:lnTo>
                  <a:lnTo>
                    <a:pt x="34" y="61"/>
                  </a:lnTo>
                  <a:lnTo>
                    <a:pt x="23" y="48"/>
                  </a:lnTo>
                  <a:lnTo>
                    <a:pt x="27" y="28"/>
                  </a:lnTo>
                  <a:lnTo>
                    <a:pt x="29" y="24"/>
                  </a:lnTo>
                  <a:lnTo>
                    <a:pt x="47" y="23"/>
                  </a:lnTo>
                  <a:lnTo>
                    <a:pt x="103" y="26"/>
                  </a:lnTo>
                  <a:lnTo>
                    <a:pt x="121" y="7"/>
                  </a:lnTo>
                  <a:lnTo>
                    <a:pt x="118" y="0"/>
                  </a:lnTo>
                  <a:lnTo>
                    <a:pt x="96" y="16"/>
                  </a:lnTo>
                  <a:lnTo>
                    <a:pt x="77" y="16"/>
                  </a:lnTo>
                  <a:lnTo>
                    <a:pt x="42" y="8"/>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2" name="Freeform 739">
              <a:extLst>
                <a:ext uri="{FF2B5EF4-FFF2-40B4-BE49-F238E27FC236}">
                  <a16:creationId xmlns:a16="http://schemas.microsoft.com/office/drawing/2014/main" id="{56FA1DEA-631A-09EC-0CAB-2B93673708EE}"/>
                </a:ext>
              </a:extLst>
            </p:cNvPr>
            <p:cNvSpPr>
              <a:spLocks/>
            </p:cNvSpPr>
            <p:nvPr/>
          </p:nvSpPr>
          <p:spPr bwMode="auto">
            <a:xfrm>
              <a:off x="3489081" y="5710246"/>
              <a:ext cx="18821" cy="12813"/>
            </a:xfrm>
            <a:custGeom>
              <a:avLst/>
              <a:gdLst/>
              <a:ahLst/>
              <a:cxnLst>
                <a:cxn ang="0">
                  <a:pos x="0" y="0"/>
                </a:cxn>
                <a:cxn ang="0">
                  <a:pos x="6" y="1"/>
                </a:cxn>
                <a:cxn ang="0">
                  <a:pos x="3" y="4"/>
                </a:cxn>
                <a:cxn ang="0">
                  <a:pos x="0" y="0"/>
                </a:cxn>
              </a:cxnLst>
              <a:rect l="0" t="0" r="r" b="b"/>
              <a:pathLst>
                <a:path w="6" h="4">
                  <a:moveTo>
                    <a:pt x="0" y="0"/>
                  </a:moveTo>
                  <a:lnTo>
                    <a:pt x="6" y="1"/>
                  </a:lnTo>
                  <a:lnTo>
                    <a:pt x="3" y="4"/>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3" name="Freeform 740">
              <a:extLst>
                <a:ext uri="{FF2B5EF4-FFF2-40B4-BE49-F238E27FC236}">
                  <a16:creationId xmlns:a16="http://schemas.microsoft.com/office/drawing/2014/main" id="{BACC0443-1627-AB9D-04D8-73653BD922BE}"/>
                </a:ext>
              </a:extLst>
            </p:cNvPr>
            <p:cNvSpPr>
              <a:spLocks/>
            </p:cNvSpPr>
            <p:nvPr/>
          </p:nvSpPr>
          <p:spPr bwMode="auto">
            <a:xfrm>
              <a:off x="3338529" y="5713450"/>
              <a:ext cx="78413" cy="19226"/>
            </a:xfrm>
            <a:custGeom>
              <a:avLst/>
              <a:gdLst/>
              <a:ahLst/>
              <a:cxnLst>
                <a:cxn ang="0">
                  <a:pos x="0" y="1"/>
                </a:cxn>
                <a:cxn ang="0">
                  <a:pos x="23" y="0"/>
                </a:cxn>
                <a:cxn ang="0">
                  <a:pos x="25" y="4"/>
                </a:cxn>
                <a:cxn ang="0">
                  <a:pos x="14" y="6"/>
                </a:cxn>
                <a:cxn ang="0">
                  <a:pos x="3" y="5"/>
                </a:cxn>
                <a:cxn ang="0">
                  <a:pos x="0" y="1"/>
                </a:cxn>
              </a:cxnLst>
              <a:rect l="0" t="0" r="r" b="b"/>
              <a:pathLst>
                <a:path w="25" h="6">
                  <a:moveTo>
                    <a:pt x="0" y="1"/>
                  </a:moveTo>
                  <a:lnTo>
                    <a:pt x="23" y="0"/>
                  </a:lnTo>
                  <a:lnTo>
                    <a:pt x="25" y="4"/>
                  </a:lnTo>
                  <a:lnTo>
                    <a:pt x="14" y="6"/>
                  </a:lnTo>
                  <a:lnTo>
                    <a:pt x="3" y="5"/>
                  </a:lnTo>
                  <a:lnTo>
                    <a:pt x="0" y="1"/>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4" name="Freeform 741">
              <a:extLst>
                <a:ext uri="{FF2B5EF4-FFF2-40B4-BE49-F238E27FC236}">
                  <a16:creationId xmlns:a16="http://schemas.microsoft.com/office/drawing/2014/main" id="{B35F4B17-C57D-D2C0-9717-8AA558589FEF}"/>
                </a:ext>
              </a:extLst>
            </p:cNvPr>
            <p:cNvSpPr>
              <a:spLocks/>
            </p:cNvSpPr>
            <p:nvPr/>
          </p:nvSpPr>
          <p:spPr bwMode="auto">
            <a:xfrm>
              <a:off x="3445168" y="5787149"/>
              <a:ext cx="65868" cy="48064"/>
            </a:xfrm>
            <a:custGeom>
              <a:avLst/>
              <a:gdLst/>
              <a:ahLst/>
              <a:cxnLst>
                <a:cxn ang="0">
                  <a:pos x="9" y="0"/>
                </a:cxn>
                <a:cxn ang="0">
                  <a:pos x="17" y="0"/>
                </a:cxn>
                <a:cxn ang="0">
                  <a:pos x="21" y="4"/>
                </a:cxn>
                <a:cxn ang="0">
                  <a:pos x="14" y="15"/>
                </a:cxn>
                <a:cxn ang="0">
                  <a:pos x="8" y="6"/>
                </a:cxn>
                <a:cxn ang="0">
                  <a:pos x="0" y="4"/>
                </a:cxn>
                <a:cxn ang="0">
                  <a:pos x="0" y="0"/>
                </a:cxn>
                <a:cxn ang="0">
                  <a:pos x="9" y="0"/>
                </a:cxn>
              </a:cxnLst>
              <a:rect l="0" t="0" r="r" b="b"/>
              <a:pathLst>
                <a:path w="21" h="15">
                  <a:moveTo>
                    <a:pt x="9" y="0"/>
                  </a:moveTo>
                  <a:lnTo>
                    <a:pt x="17" y="0"/>
                  </a:lnTo>
                  <a:lnTo>
                    <a:pt x="21" y="4"/>
                  </a:lnTo>
                  <a:lnTo>
                    <a:pt x="14" y="15"/>
                  </a:lnTo>
                  <a:lnTo>
                    <a:pt x="8" y="6"/>
                  </a:lnTo>
                  <a:lnTo>
                    <a:pt x="0" y="4"/>
                  </a:lnTo>
                  <a:lnTo>
                    <a:pt x="0" y="0"/>
                  </a:lnTo>
                  <a:lnTo>
                    <a:pt x="9"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5" name="Freeform 742">
              <a:extLst>
                <a:ext uri="{FF2B5EF4-FFF2-40B4-BE49-F238E27FC236}">
                  <a16:creationId xmlns:a16="http://schemas.microsoft.com/office/drawing/2014/main" id="{46DF1D7B-06E8-F48F-1851-B9B9F854AC4B}"/>
                </a:ext>
              </a:extLst>
            </p:cNvPr>
            <p:cNvSpPr>
              <a:spLocks/>
            </p:cNvSpPr>
            <p:nvPr/>
          </p:nvSpPr>
          <p:spPr bwMode="auto">
            <a:xfrm>
              <a:off x="3532990" y="5793558"/>
              <a:ext cx="47048" cy="44864"/>
            </a:xfrm>
            <a:custGeom>
              <a:avLst/>
              <a:gdLst/>
              <a:ahLst/>
              <a:cxnLst>
                <a:cxn ang="0">
                  <a:pos x="2" y="5"/>
                </a:cxn>
                <a:cxn ang="0">
                  <a:pos x="7" y="0"/>
                </a:cxn>
                <a:cxn ang="0">
                  <a:pos x="15" y="3"/>
                </a:cxn>
                <a:cxn ang="0">
                  <a:pos x="13" y="14"/>
                </a:cxn>
                <a:cxn ang="0">
                  <a:pos x="0" y="14"/>
                </a:cxn>
                <a:cxn ang="0">
                  <a:pos x="2" y="5"/>
                </a:cxn>
              </a:cxnLst>
              <a:rect l="0" t="0" r="r" b="b"/>
              <a:pathLst>
                <a:path w="15" h="14">
                  <a:moveTo>
                    <a:pt x="2" y="5"/>
                  </a:moveTo>
                  <a:lnTo>
                    <a:pt x="7" y="0"/>
                  </a:lnTo>
                  <a:lnTo>
                    <a:pt x="15" y="3"/>
                  </a:lnTo>
                  <a:lnTo>
                    <a:pt x="13" y="14"/>
                  </a:lnTo>
                  <a:lnTo>
                    <a:pt x="0" y="14"/>
                  </a:lnTo>
                  <a:lnTo>
                    <a:pt x="2" y="5"/>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6" name="Freeform 743">
              <a:extLst>
                <a:ext uri="{FF2B5EF4-FFF2-40B4-BE49-F238E27FC236}">
                  <a16:creationId xmlns:a16="http://schemas.microsoft.com/office/drawing/2014/main" id="{C216B21C-88D9-5669-0E96-1CB9A52F6366}"/>
                </a:ext>
              </a:extLst>
            </p:cNvPr>
            <p:cNvSpPr>
              <a:spLocks/>
            </p:cNvSpPr>
            <p:nvPr/>
          </p:nvSpPr>
          <p:spPr bwMode="auto">
            <a:xfrm>
              <a:off x="3583179" y="5787149"/>
              <a:ext cx="144281" cy="64089"/>
            </a:xfrm>
            <a:custGeom>
              <a:avLst/>
              <a:gdLst/>
              <a:ahLst/>
              <a:cxnLst>
                <a:cxn ang="0">
                  <a:pos x="6" y="6"/>
                </a:cxn>
                <a:cxn ang="0">
                  <a:pos x="15" y="7"/>
                </a:cxn>
                <a:cxn ang="0">
                  <a:pos x="22" y="12"/>
                </a:cxn>
                <a:cxn ang="0">
                  <a:pos x="28" y="10"/>
                </a:cxn>
                <a:cxn ang="0">
                  <a:pos x="20" y="5"/>
                </a:cxn>
                <a:cxn ang="0">
                  <a:pos x="23" y="0"/>
                </a:cxn>
                <a:cxn ang="0">
                  <a:pos x="28" y="5"/>
                </a:cxn>
                <a:cxn ang="0">
                  <a:pos x="34" y="4"/>
                </a:cxn>
                <a:cxn ang="0">
                  <a:pos x="36" y="9"/>
                </a:cxn>
                <a:cxn ang="0">
                  <a:pos x="41" y="4"/>
                </a:cxn>
                <a:cxn ang="0">
                  <a:pos x="46" y="12"/>
                </a:cxn>
                <a:cxn ang="0">
                  <a:pos x="36" y="15"/>
                </a:cxn>
                <a:cxn ang="0">
                  <a:pos x="33" y="12"/>
                </a:cxn>
                <a:cxn ang="0">
                  <a:pos x="5" y="20"/>
                </a:cxn>
                <a:cxn ang="0">
                  <a:pos x="0" y="11"/>
                </a:cxn>
                <a:cxn ang="0">
                  <a:pos x="6" y="6"/>
                </a:cxn>
              </a:cxnLst>
              <a:rect l="0" t="0" r="r" b="b"/>
              <a:pathLst>
                <a:path w="46" h="20">
                  <a:moveTo>
                    <a:pt x="6" y="6"/>
                  </a:moveTo>
                  <a:lnTo>
                    <a:pt x="15" y="7"/>
                  </a:lnTo>
                  <a:lnTo>
                    <a:pt x="22" y="12"/>
                  </a:lnTo>
                  <a:lnTo>
                    <a:pt x="28" y="10"/>
                  </a:lnTo>
                  <a:lnTo>
                    <a:pt x="20" y="5"/>
                  </a:lnTo>
                  <a:lnTo>
                    <a:pt x="23" y="0"/>
                  </a:lnTo>
                  <a:lnTo>
                    <a:pt x="28" y="5"/>
                  </a:lnTo>
                  <a:lnTo>
                    <a:pt x="34" y="4"/>
                  </a:lnTo>
                  <a:lnTo>
                    <a:pt x="36" y="9"/>
                  </a:lnTo>
                  <a:lnTo>
                    <a:pt x="41" y="4"/>
                  </a:lnTo>
                  <a:lnTo>
                    <a:pt x="46" y="12"/>
                  </a:lnTo>
                  <a:lnTo>
                    <a:pt x="36" y="15"/>
                  </a:lnTo>
                  <a:lnTo>
                    <a:pt x="33" y="12"/>
                  </a:lnTo>
                  <a:lnTo>
                    <a:pt x="5" y="20"/>
                  </a:lnTo>
                  <a:lnTo>
                    <a:pt x="0" y="11"/>
                  </a:lnTo>
                  <a:lnTo>
                    <a:pt x="6" y="6"/>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7" name="Freeform 744">
              <a:extLst>
                <a:ext uri="{FF2B5EF4-FFF2-40B4-BE49-F238E27FC236}">
                  <a16:creationId xmlns:a16="http://schemas.microsoft.com/office/drawing/2014/main" id="{70E6091B-38D2-9939-29DC-5733014974CB}"/>
                </a:ext>
              </a:extLst>
            </p:cNvPr>
            <p:cNvSpPr>
              <a:spLocks/>
            </p:cNvSpPr>
            <p:nvPr/>
          </p:nvSpPr>
          <p:spPr bwMode="auto">
            <a:xfrm>
              <a:off x="3721186" y="5864057"/>
              <a:ext cx="106640" cy="64089"/>
            </a:xfrm>
            <a:custGeom>
              <a:avLst/>
              <a:gdLst/>
              <a:ahLst/>
              <a:cxnLst>
                <a:cxn ang="0">
                  <a:pos x="17" y="0"/>
                </a:cxn>
                <a:cxn ang="0">
                  <a:pos x="29" y="8"/>
                </a:cxn>
                <a:cxn ang="0">
                  <a:pos x="34" y="16"/>
                </a:cxn>
                <a:cxn ang="0">
                  <a:pos x="24" y="20"/>
                </a:cxn>
                <a:cxn ang="0">
                  <a:pos x="12" y="10"/>
                </a:cxn>
                <a:cxn ang="0">
                  <a:pos x="2" y="10"/>
                </a:cxn>
                <a:cxn ang="0">
                  <a:pos x="0" y="3"/>
                </a:cxn>
                <a:cxn ang="0">
                  <a:pos x="17" y="0"/>
                </a:cxn>
              </a:cxnLst>
              <a:rect l="0" t="0" r="r" b="b"/>
              <a:pathLst>
                <a:path w="34" h="20">
                  <a:moveTo>
                    <a:pt x="17" y="0"/>
                  </a:moveTo>
                  <a:lnTo>
                    <a:pt x="29" y="8"/>
                  </a:lnTo>
                  <a:lnTo>
                    <a:pt x="34" y="16"/>
                  </a:lnTo>
                  <a:lnTo>
                    <a:pt x="24" y="20"/>
                  </a:lnTo>
                  <a:lnTo>
                    <a:pt x="12" y="10"/>
                  </a:lnTo>
                  <a:lnTo>
                    <a:pt x="2" y="10"/>
                  </a:lnTo>
                  <a:lnTo>
                    <a:pt x="0" y="3"/>
                  </a:lnTo>
                  <a:lnTo>
                    <a:pt x="17"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8" name="Freeform 745">
              <a:extLst>
                <a:ext uri="{FF2B5EF4-FFF2-40B4-BE49-F238E27FC236}">
                  <a16:creationId xmlns:a16="http://schemas.microsoft.com/office/drawing/2014/main" id="{745EC482-1D9E-F65D-386F-FF24FACA8596}"/>
                </a:ext>
              </a:extLst>
            </p:cNvPr>
            <p:cNvSpPr>
              <a:spLocks/>
            </p:cNvSpPr>
            <p:nvPr/>
          </p:nvSpPr>
          <p:spPr bwMode="auto">
            <a:xfrm>
              <a:off x="3771367" y="5783948"/>
              <a:ext cx="188191" cy="57680"/>
            </a:xfrm>
            <a:custGeom>
              <a:avLst/>
              <a:gdLst/>
              <a:ahLst/>
              <a:cxnLst>
                <a:cxn ang="0">
                  <a:pos x="1" y="8"/>
                </a:cxn>
                <a:cxn ang="0">
                  <a:pos x="14" y="3"/>
                </a:cxn>
                <a:cxn ang="0">
                  <a:pos x="30" y="11"/>
                </a:cxn>
                <a:cxn ang="0">
                  <a:pos x="42" y="8"/>
                </a:cxn>
                <a:cxn ang="0">
                  <a:pos x="49" y="11"/>
                </a:cxn>
                <a:cxn ang="0">
                  <a:pos x="58" y="5"/>
                </a:cxn>
                <a:cxn ang="0">
                  <a:pos x="58" y="0"/>
                </a:cxn>
                <a:cxn ang="0">
                  <a:pos x="60" y="6"/>
                </a:cxn>
                <a:cxn ang="0">
                  <a:pos x="52" y="13"/>
                </a:cxn>
                <a:cxn ang="0">
                  <a:pos x="23" y="18"/>
                </a:cxn>
                <a:cxn ang="0">
                  <a:pos x="0" y="15"/>
                </a:cxn>
                <a:cxn ang="0">
                  <a:pos x="1" y="8"/>
                </a:cxn>
              </a:cxnLst>
              <a:rect l="0" t="0" r="r" b="b"/>
              <a:pathLst>
                <a:path w="60" h="18">
                  <a:moveTo>
                    <a:pt x="1" y="8"/>
                  </a:moveTo>
                  <a:lnTo>
                    <a:pt x="14" y="3"/>
                  </a:lnTo>
                  <a:lnTo>
                    <a:pt x="30" y="11"/>
                  </a:lnTo>
                  <a:lnTo>
                    <a:pt x="42" y="8"/>
                  </a:lnTo>
                  <a:lnTo>
                    <a:pt x="49" y="11"/>
                  </a:lnTo>
                  <a:lnTo>
                    <a:pt x="58" y="5"/>
                  </a:lnTo>
                  <a:lnTo>
                    <a:pt x="58" y="0"/>
                  </a:lnTo>
                  <a:lnTo>
                    <a:pt x="60" y="6"/>
                  </a:lnTo>
                  <a:lnTo>
                    <a:pt x="52" y="13"/>
                  </a:lnTo>
                  <a:lnTo>
                    <a:pt x="23" y="18"/>
                  </a:lnTo>
                  <a:lnTo>
                    <a:pt x="0" y="15"/>
                  </a:lnTo>
                  <a:lnTo>
                    <a:pt x="1" y="8"/>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9" name="Freeform 746">
              <a:extLst>
                <a:ext uri="{FF2B5EF4-FFF2-40B4-BE49-F238E27FC236}">
                  <a16:creationId xmlns:a16="http://schemas.microsoft.com/office/drawing/2014/main" id="{0B56D261-1EE0-A79E-2F05-CE8197CA7B54}"/>
                </a:ext>
              </a:extLst>
            </p:cNvPr>
            <p:cNvSpPr>
              <a:spLocks/>
            </p:cNvSpPr>
            <p:nvPr/>
          </p:nvSpPr>
          <p:spPr bwMode="auto">
            <a:xfrm>
              <a:off x="3978378" y="5793558"/>
              <a:ext cx="25092" cy="22429"/>
            </a:xfrm>
            <a:custGeom>
              <a:avLst/>
              <a:gdLst/>
              <a:ahLst/>
              <a:cxnLst>
                <a:cxn ang="0">
                  <a:pos x="0" y="7"/>
                </a:cxn>
                <a:cxn ang="0">
                  <a:pos x="2" y="0"/>
                </a:cxn>
                <a:cxn ang="0">
                  <a:pos x="5" y="3"/>
                </a:cxn>
                <a:cxn ang="0">
                  <a:pos x="8" y="0"/>
                </a:cxn>
                <a:cxn ang="0">
                  <a:pos x="6" y="7"/>
                </a:cxn>
                <a:cxn ang="0">
                  <a:pos x="0" y="7"/>
                </a:cxn>
              </a:cxnLst>
              <a:rect l="0" t="0" r="r" b="b"/>
              <a:pathLst>
                <a:path w="8" h="7">
                  <a:moveTo>
                    <a:pt x="0" y="7"/>
                  </a:moveTo>
                  <a:lnTo>
                    <a:pt x="2" y="0"/>
                  </a:lnTo>
                  <a:lnTo>
                    <a:pt x="5" y="3"/>
                  </a:lnTo>
                  <a:lnTo>
                    <a:pt x="8" y="0"/>
                  </a:lnTo>
                  <a:lnTo>
                    <a:pt x="6" y="7"/>
                  </a:lnTo>
                  <a:lnTo>
                    <a:pt x="0" y="7"/>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0" name="Freeform 747">
              <a:extLst>
                <a:ext uri="{FF2B5EF4-FFF2-40B4-BE49-F238E27FC236}">
                  <a16:creationId xmlns:a16="http://schemas.microsoft.com/office/drawing/2014/main" id="{D2279835-7B4B-0077-D060-87889A99744B}"/>
                </a:ext>
              </a:extLst>
            </p:cNvPr>
            <p:cNvSpPr>
              <a:spLocks/>
            </p:cNvSpPr>
            <p:nvPr/>
          </p:nvSpPr>
          <p:spPr bwMode="auto">
            <a:xfrm>
              <a:off x="4019155" y="5793558"/>
              <a:ext cx="15683" cy="25635"/>
            </a:xfrm>
            <a:custGeom>
              <a:avLst/>
              <a:gdLst/>
              <a:ahLst/>
              <a:cxnLst>
                <a:cxn ang="0">
                  <a:pos x="0" y="5"/>
                </a:cxn>
                <a:cxn ang="0">
                  <a:pos x="5" y="0"/>
                </a:cxn>
                <a:cxn ang="0">
                  <a:pos x="3" y="8"/>
                </a:cxn>
                <a:cxn ang="0">
                  <a:pos x="0" y="5"/>
                </a:cxn>
              </a:cxnLst>
              <a:rect l="0" t="0" r="r" b="b"/>
              <a:pathLst>
                <a:path w="5" h="8">
                  <a:moveTo>
                    <a:pt x="0" y="5"/>
                  </a:moveTo>
                  <a:lnTo>
                    <a:pt x="5" y="0"/>
                  </a:lnTo>
                  <a:lnTo>
                    <a:pt x="3" y="8"/>
                  </a:lnTo>
                  <a:lnTo>
                    <a:pt x="0" y="5"/>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1" name="Freeform 748">
              <a:extLst>
                <a:ext uri="{FF2B5EF4-FFF2-40B4-BE49-F238E27FC236}">
                  <a16:creationId xmlns:a16="http://schemas.microsoft.com/office/drawing/2014/main" id="{9BAD5A0F-ABD4-13DA-EA84-7AA49688AC60}"/>
                </a:ext>
              </a:extLst>
            </p:cNvPr>
            <p:cNvSpPr>
              <a:spLocks/>
            </p:cNvSpPr>
            <p:nvPr/>
          </p:nvSpPr>
          <p:spPr bwMode="auto">
            <a:xfrm>
              <a:off x="4047385" y="5793558"/>
              <a:ext cx="40771" cy="16019"/>
            </a:xfrm>
            <a:custGeom>
              <a:avLst/>
              <a:gdLst/>
              <a:ahLst/>
              <a:cxnLst>
                <a:cxn ang="0">
                  <a:pos x="0" y="0"/>
                </a:cxn>
                <a:cxn ang="0">
                  <a:pos x="13" y="2"/>
                </a:cxn>
                <a:cxn ang="0">
                  <a:pos x="3" y="5"/>
                </a:cxn>
                <a:cxn ang="0">
                  <a:pos x="0" y="0"/>
                </a:cxn>
              </a:cxnLst>
              <a:rect l="0" t="0" r="r" b="b"/>
              <a:pathLst>
                <a:path w="13" h="5">
                  <a:moveTo>
                    <a:pt x="0" y="0"/>
                  </a:moveTo>
                  <a:lnTo>
                    <a:pt x="13" y="2"/>
                  </a:lnTo>
                  <a:lnTo>
                    <a:pt x="3" y="5"/>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2" name="Freeform 749">
              <a:extLst>
                <a:ext uri="{FF2B5EF4-FFF2-40B4-BE49-F238E27FC236}">
                  <a16:creationId xmlns:a16="http://schemas.microsoft.com/office/drawing/2014/main" id="{D01C22F3-5AF9-8CF3-D936-931E5737DBF1}"/>
                </a:ext>
              </a:extLst>
            </p:cNvPr>
            <p:cNvSpPr>
              <a:spLocks/>
            </p:cNvSpPr>
            <p:nvPr/>
          </p:nvSpPr>
          <p:spPr bwMode="auto">
            <a:xfrm>
              <a:off x="3953287" y="5937759"/>
              <a:ext cx="28230" cy="25635"/>
            </a:xfrm>
            <a:custGeom>
              <a:avLst/>
              <a:gdLst/>
              <a:ahLst/>
              <a:cxnLst>
                <a:cxn ang="0">
                  <a:pos x="0" y="8"/>
                </a:cxn>
                <a:cxn ang="0">
                  <a:pos x="9" y="0"/>
                </a:cxn>
                <a:cxn ang="0">
                  <a:pos x="6" y="6"/>
                </a:cxn>
                <a:cxn ang="0">
                  <a:pos x="0" y="8"/>
                </a:cxn>
              </a:cxnLst>
              <a:rect l="0" t="0" r="r" b="b"/>
              <a:pathLst>
                <a:path w="9" h="8">
                  <a:moveTo>
                    <a:pt x="0" y="8"/>
                  </a:moveTo>
                  <a:lnTo>
                    <a:pt x="9" y="0"/>
                  </a:lnTo>
                  <a:lnTo>
                    <a:pt x="6" y="6"/>
                  </a:lnTo>
                  <a:lnTo>
                    <a:pt x="0" y="8"/>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3" name="Freeform 750">
              <a:extLst>
                <a:ext uri="{FF2B5EF4-FFF2-40B4-BE49-F238E27FC236}">
                  <a16:creationId xmlns:a16="http://schemas.microsoft.com/office/drawing/2014/main" id="{1FBD4521-2DE3-A38D-D394-6399B949FB17}"/>
                </a:ext>
              </a:extLst>
            </p:cNvPr>
            <p:cNvSpPr>
              <a:spLocks/>
            </p:cNvSpPr>
            <p:nvPr/>
          </p:nvSpPr>
          <p:spPr bwMode="auto">
            <a:xfrm>
              <a:off x="3994064" y="5806377"/>
              <a:ext cx="219559" cy="124972"/>
            </a:xfrm>
            <a:custGeom>
              <a:avLst/>
              <a:gdLst/>
              <a:ahLst/>
              <a:cxnLst>
                <a:cxn ang="0">
                  <a:pos x="30" y="20"/>
                </a:cxn>
                <a:cxn ang="0">
                  <a:pos x="22" y="33"/>
                </a:cxn>
                <a:cxn ang="0">
                  <a:pos x="7" y="39"/>
                </a:cxn>
                <a:cxn ang="0">
                  <a:pos x="0" y="38"/>
                </a:cxn>
                <a:cxn ang="0">
                  <a:pos x="5" y="23"/>
                </a:cxn>
                <a:cxn ang="0">
                  <a:pos x="23" y="14"/>
                </a:cxn>
                <a:cxn ang="0">
                  <a:pos x="30" y="5"/>
                </a:cxn>
                <a:cxn ang="0">
                  <a:pos x="70" y="0"/>
                </a:cxn>
                <a:cxn ang="0">
                  <a:pos x="69" y="6"/>
                </a:cxn>
                <a:cxn ang="0">
                  <a:pos x="30" y="20"/>
                </a:cxn>
              </a:cxnLst>
              <a:rect l="0" t="0" r="r" b="b"/>
              <a:pathLst>
                <a:path w="70" h="39">
                  <a:moveTo>
                    <a:pt x="30" y="20"/>
                  </a:moveTo>
                  <a:lnTo>
                    <a:pt x="22" y="33"/>
                  </a:lnTo>
                  <a:lnTo>
                    <a:pt x="7" y="39"/>
                  </a:lnTo>
                  <a:lnTo>
                    <a:pt x="0" y="38"/>
                  </a:lnTo>
                  <a:lnTo>
                    <a:pt x="5" y="23"/>
                  </a:lnTo>
                  <a:lnTo>
                    <a:pt x="23" y="14"/>
                  </a:lnTo>
                  <a:lnTo>
                    <a:pt x="30" y="5"/>
                  </a:lnTo>
                  <a:lnTo>
                    <a:pt x="70" y="0"/>
                  </a:lnTo>
                  <a:lnTo>
                    <a:pt x="69" y="6"/>
                  </a:lnTo>
                  <a:lnTo>
                    <a:pt x="30" y="2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4" name="Freeform 751">
              <a:extLst>
                <a:ext uri="{FF2B5EF4-FFF2-40B4-BE49-F238E27FC236}">
                  <a16:creationId xmlns:a16="http://schemas.microsoft.com/office/drawing/2014/main" id="{C08AA664-C96B-9551-68F7-8607E2F3E0EE}"/>
                </a:ext>
              </a:extLst>
            </p:cNvPr>
            <p:cNvSpPr>
              <a:spLocks/>
            </p:cNvSpPr>
            <p:nvPr/>
          </p:nvSpPr>
          <p:spPr bwMode="auto">
            <a:xfrm>
              <a:off x="4135207" y="5755110"/>
              <a:ext cx="59598" cy="28838"/>
            </a:xfrm>
            <a:custGeom>
              <a:avLst/>
              <a:gdLst/>
              <a:ahLst/>
              <a:cxnLst>
                <a:cxn ang="0">
                  <a:pos x="0" y="9"/>
                </a:cxn>
                <a:cxn ang="0">
                  <a:pos x="0" y="2"/>
                </a:cxn>
                <a:cxn ang="0">
                  <a:pos x="14" y="0"/>
                </a:cxn>
                <a:cxn ang="0">
                  <a:pos x="19" y="2"/>
                </a:cxn>
                <a:cxn ang="0">
                  <a:pos x="11" y="7"/>
                </a:cxn>
                <a:cxn ang="0">
                  <a:pos x="0" y="9"/>
                </a:cxn>
              </a:cxnLst>
              <a:rect l="0" t="0" r="r" b="b"/>
              <a:pathLst>
                <a:path w="19" h="9">
                  <a:moveTo>
                    <a:pt x="0" y="9"/>
                  </a:moveTo>
                  <a:lnTo>
                    <a:pt x="0" y="2"/>
                  </a:lnTo>
                  <a:lnTo>
                    <a:pt x="14" y="0"/>
                  </a:lnTo>
                  <a:lnTo>
                    <a:pt x="19" y="2"/>
                  </a:lnTo>
                  <a:lnTo>
                    <a:pt x="11" y="7"/>
                  </a:lnTo>
                  <a:lnTo>
                    <a:pt x="0" y="9"/>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5" name="Freeform 752">
              <a:extLst>
                <a:ext uri="{FF2B5EF4-FFF2-40B4-BE49-F238E27FC236}">
                  <a16:creationId xmlns:a16="http://schemas.microsoft.com/office/drawing/2014/main" id="{22A29140-D057-F69F-B01D-3B3676705097}"/>
                </a:ext>
              </a:extLst>
            </p:cNvPr>
            <p:cNvSpPr>
              <a:spLocks/>
            </p:cNvSpPr>
            <p:nvPr/>
          </p:nvSpPr>
          <p:spPr bwMode="auto">
            <a:xfrm>
              <a:off x="4458267" y="5729475"/>
              <a:ext cx="28230" cy="54473"/>
            </a:xfrm>
            <a:custGeom>
              <a:avLst/>
              <a:gdLst/>
              <a:ahLst/>
              <a:cxnLst>
                <a:cxn ang="0">
                  <a:pos x="0" y="12"/>
                </a:cxn>
                <a:cxn ang="0">
                  <a:pos x="6" y="0"/>
                </a:cxn>
                <a:cxn ang="0">
                  <a:pos x="9" y="1"/>
                </a:cxn>
                <a:cxn ang="0">
                  <a:pos x="9" y="9"/>
                </a:cxn>
                <a:cxn ang="0">
                  <a:pos x="3" y="17"/>
                </a:cxn>
                <a:cxn ang="0">
                  <a:pos x="0" y="12"/>
                </a:cxn>
              </a:cxnLst>
              <a:rect l="0" t="0" r="r" b="b"/>
              <a:pathLst>
                <a:path w="9" h="17">
                  <a:moveTo>
                    <a:pt x="0" y="12"/>
                  </a:moveTo>
                  <a:lnTo>
                    <a:pt x="6" y="0"/>
                  </a:lnTo>
                  <a:lnTo>
                    <a:pt x="9" y="1"/>
                  </a:lnTo>
                  <a:lnTo>
                    <a:pt x="9" y="9"/>
                  </a:lnTo>
                  <a:lnTo>
                    <a:pt x="3" y="17"/>
                  </a:lnTo>
                  <a:lnTo>
                    <a:pt x="0" y="1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6" name="Freeform 753">
              <a:extLst>
                <a:ext uri="{FF2B5EF4-FFF2-40B4-BE49-F238E27FC236}">
                  <a16:creationId xmlns:a16="http://schemas.microsoft.com/office/drawing/2014/main" id="{D6B8EEF5-0990-0C5A-C37F-3DC2FDDCA573}"/>
                </a:ext>
              </a:extLst>
            </p:cNvPr>
            <p:cNvSpPr>
              <a:spLocks/>
            </p:cNvSpPr>
            <p:nvPr/>
          </p:nvSpPr>
          <p:spPr bwMode="auto">
            <a:xfrm>
              <a:off x="4633913" y="5674996"/>
              <a:ext cx="25092" cy="41660"/>
            </a:xfrm>
            <a:custGeom>
              <a:avLst/>
              <a:gdLst/>
              <a:ahLst/>
              <a:cxnLst>
                <a:cxn ang="0">
                  <a:pos x="1" y="0"/>
                </a:cxn>
                <a:cxn ang="0">
                  <a:pos x="8" y="6"/>
                </a:cxn>
                <a:cxn ang="0">
                  <a:pos x="4" y="13"/>
                </a:cxn>
                <a:cxn ang="0">
                  <a:pos x="0" y="7"/>
                </a:cxn>
                <a:cxn ang="0">
                  <a:pos x="3" y="8"/>
                </a:cxn>
                <a:cxn ang="0">
                  <a:pos x="1" y="0"/>
                </a:cxn>
              </a:cxnLst>
              <a:rect l="0" t="0" r="r" b="b"/>
              <a:pathLst>
                <a:path w="8" h="13">
                  <a:moveTo>
                    <a:pt x="1" y="0"/>
                  </a:moveTo>
                  <a:lnTo>
                    <a:pt x="8" y="6"/>
                  </a:lnTo>
                  <a:lnTo>
                    <a:pt x="4" y="13"/>
                  </a:lnTo>
                  <a:lnTo>
                    <a:pt x="0" y="7"/>
                  </a:lnTo>
                  <a:lnTo>
                    <a:pt x="3" y="8"/>
                  </a:lnTo>
                  <a:lnTo>
                    <a:pt x="1"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7" name="Freeform 754">
              <a:extLst>
                <a:ext uri="{FF2B5EF4-FFF2-40B4-BE49-F238E27FC236}">
                  <a16:creationId xmlns:a16="http://schemas.microsoft.com/office/drawing/2014/main" id="{646A6400-94F2-E0E2-7B4A-C916F1B8780E}"/>
                </a:ext>
              </a:extLst>
            </p:cNvPr>
            <p:cNvSpPr>
              <a:spLocks/>
            </p:cNvSpPr>
            <p:nvPr/>
          </p:nvSpPr>
          <p:spPr bwMode="auto">
            <a:xfrm>
              <a:off x="4643325" y="5662182"/>
              <a:ext cx="18821" cy="32045"/>
            </a:xfrm>
            <a:custGeom>
              <a:avLst/>
              <a:gdLst/>
              <a:ahLst/>
              <a:cxnLst>
                <a:cxn ang="0">
                  <a:pos x="0" y="4"/>
                </a:cxn>
                <a:cxn ang="0">
                  <a:pos x="0" y="0"/>
                </a:cxn>
                <a:cxn ang="0">
                  <a:pos x="6" y="5"/>
                </a:cxn>
                <a:cxn ang="0">
                  <a:pos x="6" y="10"/>
                </a:cxn>
                <a:cxn ang="0">
                  <a:pos x="0" y="4"/>
                </a:cxn>
              </a:cxnLst>
              <a:rect l="0" t="0" r="r" b="b"/>
              <a:pathLst>
                <a:path w="6" h="10">
                  <a:moveTo>
                    <a:pt x="0" y="4"/>
                  </a:moveTo>
                  <a:lnTo>
                    <a:pt x="0" y="0"/>
                  </a:lnTo>
                  <a:lnTo>
                    <a:pt x="6" y="5"/>
                  </a:lnTo>
                  <a:lnTo>
                    <a:pt x="6" y="10"/>
                  </a:lnTo>
                  <a:lnTo>
                    <a:pt x="0" y="4"/>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8" name="Freeform 755">
              <a:extLst>
                <a:ext uri="{FF2B5EF4-FFF2-40B4-BE49-F238E27FC236}">
                  <a16:creationId xmlns:a16="http://schemas.microsoft.com/office/drawing/2014/main" id="{4F567AD7-5123-61DC-3A4F-39D1FCF63E2A}"/>
                </a:ext>
              </a:extLst>
            </p:cNvPr>
            <p:cNvSpPr>
              <a:spLocks/>
            </p:cNvSpPr>
            <p:nvPr/>
          </p:nvSpPr>
          <p:spPr bwMode="auto">
            <a:xfrm>
              <a:off x="4646463" y="5620522"/>
              <a:ext cx="18821" cy="60883"/>
            </a:xfrm>
            <a:custGeom>
              <a:avLst/>
              <a:gdLst/>
              <a:ahLst/>
              <a:cxnLst>
                <a:cxn ang="0">
                  <a:pos x="0" y="8"/>
                </a:cxn>
                <a:cxn ang="0">
                  <a:pos x="4" y="0"/>
                </a:cxn>
                <a:cxn ang="0">
                  <a:pos x="6" y="2"/>
                </a:cxn>
                <a:cxn ang="0">
                  <a:pos x="6" y="19"/>
                </a:cxn>
                <a:cxn ang="0">
                  <a:pos x="2" y="17"/>
                </a:cxn>
                <a:cxn ang="0">
                  <a:pos x="2" y="9"/>
                </a:cxn>
                <a:cxn ang="0">
                  <a:pos x="0" y="8"/>
                </a:cxn>
              </a:cxnLst>
              <a:rect l="0" t="0" r="r" b="b"/>
              <a:pathLst>
                <a:path w="6" h="19">
                  <a:moveTo>
                    <a:pt x="0" y="8"/>
                  </a:moveTo>
                  <a:lnTo>
                    <a:pt x="4" y="0"/>
                  </a:lnTo>
                  <a:lnTo>
                    <a:pt x="6" y="2"/>
                  </a:lnTo>
                  <a:lnTo>
                    <a:pt x="6" y="19"/>
                  </a:lnTo>
                  <a:lnTo>
                    <a:pt x="2" y="17"/>
                  </a:lnTo>
                  <a:lnTo>
                    <a:pt x="2" y="9"/>
                  </a:lnTo>
                  <a:lnTo>
                    <a:pt x="0" y="8"/>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9" name="Freeform 756">
              <a:extLst>
                <a:ext uri="{FF2B5EF4-FFF2-40B4-BE49-F238E27FC236}">
                  <a16:creationId xmlns:a16="http://schemas.microsoft.com/office/drawing/2014/main" id="{D9F557C7-DC57-0313-25AF-8AACBFE3C789}"/>
                </a:ext>
              </a:extLst>
            </p:cNvPr>
            <p:cNvSpPr>
              <a:spLocks/>
            </p:cNvSpPr>
            <p:nvPr/>
          </p:nvSpPr>
          <p:spPr bwMode="auto">
            <a:xfrm>
              <a:off x="4568045" y="5617319"/>
              <a:ext cx="15683" cy="32045"/>
            </a:xfrm>
            <a:custGeom>
              <a:avLst/>
              <a:gdLst/>
              <a:ahLst/>
              <a:cxnLst>
                <a:cxn ang="0">
                  <a:pos x="1" y="1"/>
                </a:cxn>
                <a:cxn ang="0">
                  <a:pos x="5" y="0"/>
                </a:cxn>
                <a:cxn ang="0">
                  <a:pos x="0" y="10"/>
                </a:cxn>
                <a:cxn ang="0">
                  <a:pos x="1" y="1"/>
                </a:cxn>
              </a:cxnLst>
              <a:rect l="0" t="0" r="r" b="b"/>
              <a:pathLst>
                <a:path w="5" h="10">
                  <a:moveTo>
                    <a:pt x="1" y="1"/>
                  </a:moveTo>
                  <a:lnTo>
                    <a:pt x="5" y="0"/>
                  </a:lnTo>
                  <a:lnTo>
                    <a:pt x="0" y="10"/>
                  </a:lnTo>
                  <a:lnTo>
                    <a:pt x="1" y="1"/>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0" name="Freeform 757">
              <a:extLst>
                <a:ext uri="{FF2B5EF4-FFF2-40B4-BE49-F238E27FC236}">
                  <a16:creationId xmlns:a16="http://schemas.microsoft.com/office/drawing/2014/main" id="{657ACFC3-DDBE-9516-3720-2A20FF099D55}"/>
                </a:ext>
              </a:extLst>
            </p:cNvPr>
            <p:cNvSpPr>
              <a:spLocks/>
            </p:cNvSpPr>
            <p:nvPr/>
          </p:nvSpPr>
          <p:spPr bwMode="auto">
            <a:xfrm>
              <a:off x="4257532" y="5460302"/>
              <a:ext cx="178782" cy="67292"/>
            </a:xfrm>
            <a:custGeom>
              <a:avLst/>
              <a:gdLst/>
              <a:ahLst/>
              <a:cxnLst>
                <a:cxn ang="0">
                  <a:pos x="1" y="14"/>
                </a:cxn>
                <a:cxn ang="0">
                  <a:pos x="0" y="9"/>
                </a:cxn>
                <a:cxn ang="0">
                  <a:pos x="6" y="1"/>
                </a:cxn>
                <a:cxn ang="0">
                  <a:pos x="31" y="0"/>
                </a:cxn>
                <a:cxn ang="0">
                  <a:pos x="50" y="5"/>
                </a:cxn>
                <a:cxn ang="0">
                  <a:pos x="57" y="18"/>
                </a:cxn>
                <a:cxn ang="0">
                  <a:pos x="56" y="21"/>
                </a:cxn>
                <a:cxn ang="0">
                  <a:pos x="35" y="11"/>
                </a:cxn>
                <a:cxn ang="0">
                  <a:pos x="25" y="13"/>
                </a:cxn>
                <a:cxn ang="0">
                  <a:pos x="19" y="9"/>
                </a:cxn>
                <a:cxn ang="0">
                  <a:pos x="12" y="14"/>
                </a:cxn>
                <a:cxn ang="0">
                  <a:pos x="5" y="8"/>
                </a:cxn>
                <a:cxn ang="0">
                  <a:pos x="1" y="14"/>
                </a:cxn>
              </a:cxnLst>
              <a:rect l="0" t="0" r="r" b="b"/>
              <a:pathLst>
                <a:path w="57" h="21">
                  <a:moveTo>
                    <a:pt x="1" y="14"/>
                  </a:moveTo>
                  <a:lnTo>
                    <a:pt x="0" y="9"/>
                  </a:lnTo>
                  <a:lnTo>
                    <a:pt x="6" y="1"/>
                  </a:lnTo>
                  <a:lnTo>
                    <a:pt x="31" y="0"/>
                  </a:lnTo>
                  <a:lnTo>
                    <a:pt x="50" y="5"/>
                  </a:lnTo>
                  <a:lnTo>
                    <a:pt x="57" y="18"/>
                  </a:lnTo>
                  <a:lnTo>
                    <a:pt x="56" y="21"/>
                  </a:lnTo>
                  <a:lnTo>
                    <a:pt x="35" y="11"/>
                  </a:lnTo>
                  <a:lnTo>
                    <a:pt x="25" y="13"/>
                  </a:lnTo>
                  <a:lnTo>
                    <a:pt x="19" y="9"/>
                  </a:lnTo>
                  <a:lnTo>
                    <a:pt x="12" y="14"/>
                  </a:lnTo>
                  <a:lnTo>
                    <a:pt x="5" y="8"/>
                  </a:lnTo>
                  <a:lnTo>
                    <a:pt x="1" y="14"/>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1" name="Freeform 758">
              <a:extLst>
                <a:ext uri="{FF2B5EF4-FFF2-40B4-BE49-F238E27FC236}">
                  <a16:creationId xmlns:a16="http://schemas.microsoft.com/office/drawing/2014/main" id="{4A002FEB-6007-94D4-6456-439474F5EAF8}"/>
                </a:ext>
              </a:extLst>
            </p:cNvPr>
            <p:cNvSpPr>
              <a:spLocks/>
            </p:cNvSpPr>
            <p:nvPr/>
          </p:nvSpPr>
          <p:spPr bwMode="auto">
            <a:xfrm>
              <a:off x="4370445" y="5396219"/>
              <a:ext cx="34500" cy="19226"/>
            </a:xfrm>
            <a:custGeom>
              <a:avLst/>
              <a:gdLst/>
              <a:ahLst/>
              <a:cxnLst>
                <a:cxn ang="0">
                  <a:pos x="0" y="1"/>
                </a:cxn>
                <a:cxn ang="0">
                  <a:pos x="10" y="0"/>
                </a:cxn>
                <a:cxn ang="0">
                  <a:pos x="11" y="4"/>
                </a:cxn>
                <a:cxn ang="0">
                  <a:pos x="5" y="6"/>
                </a:cxn>
                <a:cxn ang="0">
                  <a:pos x="0" y="1"/>
                </a:cxn>
              </a:cxnLst>
              <a:rect l="0" t="0" r="r" b="b"/>
              <a:pathLst>
                <a:path w="11" h="6">
                  <a:moveTo>
                    <a:pt x="0" y="1"/>
                  </a:moveTo>
                  <a:lnTo>
                    <a:pt x="10" y="0"/>
                  </a:lnTo>
                  <a:lnTo>
                    <a:pt x="11" y="4"/>
                  </a:lnTo>
                  <a:lnTo>
                    <a:pt x="5" y="6"/>
                  </a:lnTo>
                  <a:lnTo>
                    <a:pt x="0" y="1"/>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2" name="Freeform 759">
              <a:extLst>
                <a:ext uri="{FF2B5EF4-FFF2-40B4-BE49-F238E27FC236}">
                  <a16:creationId xmlns:a16="http://schemas.microsoft.com/office/drawing/2014/main" id="{B8EC9180-8854-786D-7170-1A14A6FEBA17}"/>
                </a:ext>
              </a:extLst>
            </p:cNvPr>
            <p:cNvSpPr>
              <a:spLocks/>
            </p:cNvSpPr>
            <p:nvPr/>
          </p:nvSpPr>
          <p:spPr bwMode="auto">
            <a:xfrm>
              <a:off x="4426905" y="5348149"/>
              <a:ext cx="18821" cy="19226"/>
            </a:xfrm>
            <a:custGeom>
              <a:avLst/>
              <a:gdLst/>
              <a:ahLst/>
              <a:cxnLst>
                <a:cxn ang="0">
                  <a:pos x="0" y="1"/>
                </a:cxn>
                <a:cxn ang="0">
                  <a:pos x="6" y="0"/>
                </a:cxn>
                <a:cxn ang="0">
                  <a:pos x="6" y="6"/>
                </a:cxn>
                <a:cxn ang="0">
                  <a:pos x="2" y="5"/>
                </a:cxn>
                <a:cxn ang="0">
                  <a:pos x="0" y="1"/>
                </a:cxn>
              </a:cxnLst>
              <a:rect l="0" t="0" r="r" b="b"/>
              <a:pathLst>
                <a:path w="6" h="6">
                  <a:moveTo>
                    <a:pt x="0" y="1"/>
                  </a:moveTo>
                  <a:lnTo>
                    <a:pt x="6" y="0"/>
                  </a:lnTo>
                  <a:lnTo>
                    <a:pt x="6" y="6"/>
                  </a:lnTo>
                  <a:lnTo>
                    <a:pt x="2" y="5"/>
                  </a:lnTo>
                  <a:lnTo>
                    <a:pt x="0" y="1"/>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3" name="Freeform 760">
              <a:extLst>
                <a:ext uri="{FF2B5EF4-FFF2-40B4-BE49-F238E27FC236}">
                  <a16:creationId xmlns:a16="http://schemas.microsoft.com/office/drawing/2014/main" id="{93D3CADB-3728-14ED-9C55-E7DA180E29A1}"/>
                </a:ext>
              </a:extLst>
            </p:cNvPr>
            <p:cNvSpPr>
              <a:spLocks/>
            </p:cNvSpPr>
            <p:nvPr/>
          </p:nvSpPr>
          <p:spPr bwMode="auto">
            <a:xfrm>
              <a:off x="4411222" y="5290472"/>
              <a:ext cx="50183" cy="25635"/>
            </a:xfrm>
            <a:custGeom>
              <a:avLst/>
              <a:gdLst/>
              <a:ahLst/>
              <a:cxnLst>
                <a:cxn ang="0">
                  <a:pos x="0" y="2"/>
                </a:cxn>
                <a:cxn ang="0">
                  <a:pos x="5" y="0"/>
                </a:cxn>
                <a:cxn ang="0">
                  <a:pos x="16" y="5"/>
                </a:cxn>
                <a:cxn ang="0">
                  <a:pos x="8" y="8"/>
                </a:cxn>
                <a:cxn ang="0">
                  <a:pos x="0" y="2"/>
                </a:cxn>
              </a:cxnLst>
              <a:rect l="0" t="0" r="r" b="b"/>
              <a:pathLst>
                <a:path w="16" h="8">
                  <a:moveTo>
                    <a:pt x="0" y="2"/>
                  </a:moveTo>
                  <a:lnTo>
                    <a:pt x="5" y="0"/>
                  </a:lnTo>
                  <a:lnTo>
                    <a:pt x="16" y="5"/>
                  </a:lnTo>
                  <a:lnTo>
                    <a:pt x="8" y="8"/>
                  </a:lnTo>
                  <a:lnTo>
                    <a:pt x="0" y="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4" name="Freeform 761">
              <a:extLst>
                <a:ext uri="{FF2B5EF4-FFF2-40B4-BE49-F238E27FC236}">
                  <a16:creationId xmlns:a16="http://schemas.microsoft.com/office/drawing/2014/main" id="{40A4CCD4-EA49-56F9-5DCB-20DB92B213CB}"/>
                </a:ext>
              </a:extLst>
            </p:cNvPr>
            <p:cNvSpPr>
              <a:spLocks/>
            </p:cNvSpPr>
            <p:nvPr/>
          </p:nvSpPr>
          <p:spPr bwMode="auto">
            <a:xfrm>
              <a:off x="4724873" y="5383400"/>
              <a:ext cx="78413" cy="16019"/>
            </a:xfrm>
            <a:custGeom>
              <a:avLst/>
              <a:gdLst/>
              <a:ahLst/>
              <a:cxnLst>
                <a:cxn ang="0">
                  <a:pos x="6" y="0"/>
                </a:cxn>
                <a:cxn ang="0">
                  <a:pos x="23" y="4"/>
                </a:cxn>
                <a:cxn ang="0">
                  <a:pos x="25" y="5"/>
                </a:cxn>
                <a:cxn ang="0">
                  <a:pos x="0" y="3"/>
                </a:cxn>
                <a:cxn ang="0">
                  <a:pos x="6" y="0"/>
                </a:cxn>
              </a:cxnLst>
              <a:rect l="0" t="0" r="r" b="b"/>
              <a:pathLst>
                <a:path w="25" h="5">
                  <a:moveTo>
                    <a:pt x="6" y="0"/>
                  </a:moveTo>
                  <a:lnTo>
                    <a:pt x="23" y="4"/>
                  </a:lnTo>
                  <a:lnTo>
                    <a:pt x="25" y="5"/>
                  </a:lnTo>
                  <a:lnTo>
                    <a:pt x="0" y="3"/>
                  </a:lnTo>
                  <a:lnTo>
                    <a:pt x="6"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5" name="Freeform 762">
              <a:extLst>
                <a:ext uri="{FF2B5EF4-FFF2-40B4-BE49-F238E27FC236}">
                  <a16:creationId xmlns:a16="http://schemas.microsoft.com/office/drawing/2014/main" id="{023BB3D1-B651-DD29-C17E-B8412E9018A6}"/>
                </a:ext>
              </a:extLst>
            </p:cNvPr>
            <p:cNvSpPr>
              <a:spLocks/>
            </p:cNvSpPr>
            <p:nvPr/>
          </p:nvSpPr>
          <p:spPr bwMode="auto">
            <a:xfrm>
              <a:off x="4718602" y="5335330"/>
              <a:ext cx="50183" cy="28838"/>
            </a:xfrm>
            <a:custGeom>
              <a:avLst/>
              <a:gdLst/>
              <a:ahLst/>
              <a:cxnLst>
                <a:cxn ang="0">
                  <a:pos x="0" y="0"/>
                </a:cxn>
                <a:cxn ang="0">
                  <a:pos x="7" y="0"/>
                </a:cxn>
                <a:cxn ang="0">
                  <a:pos x="16" y="8"/>
                </a:cxn>
                <a:cxn ang="0">
                  <a:pos x="11" y="9"/>
                </a:cxn>
                <a:cxn ang="0">
                  <a:pos x="0" y="0"/>
                </a:cxn>
              </a:cxnLst>
              <a:rect l="0" t="0" r="r" b="b"/>
              <a:pathLst>
                <a:path w="16" h="9">
                  <a:moveTo>
                    <a:pt x="0" y="0"/>
                  </a:moveTo>
                  <a:lnTo>
                    <a:pt x="7" y="0"/>
                  </a:lnTo>
                  <a:lnTo>
                    <a:pt x="16" y="8"/>
                  </a:lnTo>
                  <a:lnTo>
                    <a:pt x="11" y="9"/>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6" name="Freeform 763">
              <a:extLst>
                <a:ext uri="{FF2B5EF4-FFF2-40B4-BE49-F238E27FC236}">
                  <a16:creationId xmlns:a16="http://schemas.microsoft.com/office/drawing/2014/main" id="{0F59B522-16DA-1EBE-4845-0AA124ADA272}"/>
                </a:ext>
              </a:extLst>
            </p:cNvPr>
            <p:cNvSpPr>
              <a:spLocks/>
            </p:cNvSpPr>
            <p:nvPr/>
          </p:nvSpPr>
          <p:spPr bwMode="auto">
            <a:xfrm>
              <a:off x="4266944" y="5505166"/>
              <a:ext cx="15683" cy="19226"/>
            </a:xfrm>
            <a:custGeom>
              <a:avLst/>
              <a:gdLst/>
              <a:ahLst/>
              <a:cxnLst>
                <a:cxn ang="0">
                  <a:pos x="0" y="6"/>
                </a:cxn>
                <a:cxn ang="0">
                  <a:pos x="0" y="2"/>
                </a:cxn>
                <a:cxn ang="0">
                  <a:pos x="5" y="0"/>
                </a:cxn>
                <a:cxn ang="0">
                  <a:pos x="0" y="6"/>
                </a:cxn>
              </a:cxnLst>
              <a:rect l="0" t="0" r="r" b="b"/>
              <a:pathLst>
                <a:path w="5" h="6">
                  <a:moveTo>
                    <a:pt x="0" y="6"/>
                  </a:moveTo>
                  <a:lnTo>
                    <a:pt x="0" y="2"/>
                  </a:lnTo>
                  <a:lnTo>
                    <a:pt x="5" y="0"/>
                  </a:lnTo>
                  <a:lnTo>
                    <a:pt x="0" y="6"/>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7" name="Freeform 764">
              <a:extLst>
                <a:ext uri="{FF2B5EF4-FFF2-40B4-BE49-F238E27FC236}">
                  <a16:creationId xmlns:a16="http://schemas.microsoft.com/office/drawing/2014/main" id="{06C3A62A-2F55-20E2-C755-75D9D19A5F12}"/>
                </a:ext>
              </a:extLst>
            </p:cNvPr>
            <p:cNvSpPr>
              <a:spLocks/>
            </p:cNvSpPr>
            <p:nvPr/>
          </p:nvSpPr>
          <p:spPr bwMode="auto">
            <a:xfrm>
              <a:off x="3542399" y="5492347"/>
              <a:ext cx="18821" cy="48064"/>
            </a:xfrm>
            <a:custGeom>
              <a:avLst/>
              <a:gdLst/>
              <a:ahLst/>
              <a:cxnLst>
                <a:cxn ang="0">
                  <a:pos x="3" y="0"/>
                </a:cxn>
                <a:cxn ang="0">
                  <a:pos x="6" y="11"/>
                </a:cxn>
                <a:cxn ang="0">
                  <a:pos x="2" y="15"/>
                </a:cxn>
                <a:cxn ang="0">
                  <a:pos x="0" y="5"/>
                </a:cxn>
                <a:cxn ang="0">
                  <a:pos x="3" y="0"/>
                </a:cxn>
              </a:cxnLst>
              <a:rect l="0" t="0" r="r" b="b"/>
              <a:pathLst>
                <a:path w="6" h="15">
                  <a:moveTo>
                    <a:pt x="3" y="0"/>
                  </a:moveTo>
                  <a:lnTo>
                    <a:pt x="6" y="11"/>
                  </a:lnTo>
                  <a:lnTo>
                    <a:pt x="2" y="15"/>
                  </a:lnTo>
                  <a:lnTo>
                    <a:pt x="0" y="5"/>
                  </a:lnTo>
                  <a:lnTo>
                    <a:pt x="3"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8" name="Freeform 765">
              <a:extLst>
                <a:ext uri="{FF2B5EF4-FFF2-40B4-BE49-F238E27FC236}">
                  <a16:creationId xmlns:a16="http://schemas.microsoft.com/office/drawing/2014/main" id="{69BE7904-A107-630F-DDBB-458B1328F141}"/>
                </a:ext>
              </a:extLst>
            </p:cNvPr>
            <p:cNvSpPr>
              <a:spLocks/>
            </p:cNvSpPr>
            <p:nvPr/>
          </p:nvSpPr>
          <p:spPr bwMode="auto">
            <a:xfrm>
              <a:off x="2886864" y="5652567"/>
              <a:ext cx="558301" cy="179446"/>
            </a:xfrm>
            <a:custGeom>
              <a:avLst/>
              <a:gdLst/>
              <a:ahLst/>
              <a:cxnLst>
                <a:cxn ang="0">
                  <a:pos x="132" y="46"/>
                </a:cxn>
                <a:cxn ang="0">
                  <a:pos x="123" y="47"/>
                </a:cxn>
                <a:cxn ang="0">
                  <a:pos x="107" y="44"/>
                </a:cxn>
                <a:cxn ang="0">
                  <a:pos x="85" y="34"/>
                </a:cxn>
                <a:cxn ang="0">
                  <a:pos x="67" y="34"/>
                </a:cxn>
                <a:cxn ang="0">
                  <a:pos x="61" y="36"/>
                </a:cxn>
                <a:cxn ang="0">
                  <a:pos x="32" y="30"/>
                </a:cxn>
                <a:cxn ang="0">
                  <a:pos x="21" y="25"/>
                </a:cxn>
                <a:cxn ang="0">
                  <a:pos x="24" y="22"/>
                </a:cxn>
                <a:cxn ang="0">
                  <a:pos x="2" y="17"/>
                </a:cxn>
                <a:cxn ang="0">
                  <a:pos x="0" y="13"/>
                </a:cxn>
                <a:cxn ang="0">
                  <a:pos x="6" y="14"/>
                </a:cxn>
                <a:cxn ang="0">
                  <a:pos x="14" y="2"/>
                </a:cxn>
                <a:cxn ang="0">
                  <a:pos x="18" y="0"/>
                </a:cxn>
                <a:cxn ang="0">
                  <a:pos x="30" y="3"/>
                </a:cxn>
                <a:cxn ang="0">
                  <a:pos x="40" y="0"/>
                </a:cxn>
                <a:cxn ang="0">
                  <a:pos x="42" y="5"/>
                </a:cxn>
                <a:cxn ang="0">
                  <a:pos x="58" y="7"/>
                </a:cxn>
                <a:cxn ang="0">
                  <a:pos x="69" y="18"/>
                </a:cxn>
                <a:cxn ang="0">
                  <a:pos x="98" y="20"/>
                </a:cxn>
                <a:cxn ang="0">
                  <a:pos x="104" y="12"/>
                </a:cxn>
                <a:cxn ang="0">
                  <a:pos x="109" y="9"/>
                </a:cxn>
                <a:cxn ang="0">
                  <a:pos x="114" y="15"/>
                </a:cxn>
                <a:cxn ang="0">
                  <a:pos x="119" y="13"/>
                </a:cxn>
                <a:cxn ang="0">
                  <a:pos x="139" y="19"/>
                </a:cxn>
                <a:cxn ang="0">
                  <a:pos x="149" y="34"/>
                </a:cxn>
                <a:cxn ang="0">
                  <a:pos x="176" y="36"/>
                </a:cxn>
                <a:cxn ang="0">
                  <a:pos x="175" y="48"/>
                </a:cxn>
                <a:cxn ang="0">
                  <a:pos x="178" y="56"/>
                </a:cxn>
                <a:cxn ang="0">
                  <a:pos x="152" y="46"/>
                </a:cxn>
                <a:cxn ang="0">
                  <a:pos x="143" y="48"/>
                </a:cxn>
                <a:cxn ang="0">
                  <a:pos x="132" y="46"/>
                </a:cxn>
              </a:cxnLst>
              <a:rect l="0" t="0" r="r" b="b"/>
              <a:pathLst>
                <a:path w="178" h="56">
                  <a:moveTo>
                    <a:pt x="132" y="46"/>
                  </a:moveTo>
                  <a:lnTo>
                    <a:pt x="123" y="47"/>
                  </a:lnTo>
                  <a:lnTo>
                    <a:pt x="107" y="44"/>
                  </a:lnTo>
                  <a:lnTo>
                    <a:pt x="85" y="34"/>
                  </a:lnTo>
                  <a:lnTo>
                    <a:pt x="67" y="34"/>
                  </a:lnTo>
                  <a:lnTo>
                    <a:pt x="61" y="36"/>
                  </a:lnTo>
                  <a:lnTo>
                    <a:pt x="32" y="30"/>
                  </a:lnTo>
                  <a:lnTo>
                    <a:pt x="21" y="25"/>
                  </a:lnTo>
                  <a:lnTo>
                    <a:pt x="24" y="22"/>
                  </a:lnTo>
                  <a:lnTo>
                    <a:pt x="2" y="17"/>
                  </a:lnTo>
                  <a:lnTo>
                    <a:pt x="0" y="13"/>
                  </a:lnTo>
                  <a:lnTo>
                    <a:pt x="6" y="14"/>
                  </a:lnTo>
                  <a:lnTo>
                    <a:pt x="14" y="2"/>
                  </a:lnTo>
                  <a:lnTo>
                    <a:pt x="18" y="0"/>
                  </a:lnTo>
                  <a:lnTo>
                    <a:pt x="30" y="3"/>
                  </a:lnTo>
                  <a:lnTo>
                    <a:pt x="40" y="0"/>
                  </a:lnTo>
                  <a:lnTo>
                    <a:pt x="42" y="5"/>
                  </a:lnTo>
                  <a:lnTo>
                    <a:pt x="58" y="7"/>
                  </a:lnTo>
                  <a:lnTo>
                    <a:pt x="69" y="18"/>
                  </a:lnTo>
                  <a:lnTo>
                    <a:pt x="98" y="20"/>
                  </a:lnTo>
                  <a:lnTo>
                    <a:pt x="104" y="12"/>
                  </a:lnTo>
                  <a:lnTo>
                    <a:pt x="109" y="9"/>
                  </a:lnTo>
                  <a:lnTo>
                    <a:pt x="114" y="15"/>
                  </a:lnTo>
                  <a:lnTo>
                    <a:pt x="119" y="13"/>
                  </a:lnTo>
                  <a:lnTo>
                    <a:pt x="139" y="19"/>
                  </a:lnTo>
                  <a:lnTo>
                    <a:pt x="149" y="34"/>
                  </a:lnTo>
                  <a:lnTo>
                    <a:pt x="176" y="36"/>
                  </a:lnTo>
                  <a:lnTo>
                    <a:pt x="175" y="48"/>
                  </a:lnTo>
                  <a:lnTo>
                    <a:pt x="178" y="56"/>
                  </a:lnTo>
                  <a:lnTo>
                    <a:pt x="152" y="46"/>
                  </a:lnTo>
                  <a:lnTo>
                    <a:pt x="143" y="48"/>
                  </a:lnTo>
                  <a:lnTo>
                    <a:pt x="132" y="46"/>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9" name="Freeform 766">
              <a:extLst>
                <a:ext uri="{FF2B5EF4-FFF2-40B4-BE49-F238E27FC236}">
                  <a16:creationId xmlns:a16="http://schemas.microsoft.com/office/drawing/2014/main" id="{643A68C1-014F-E315-39D4-9C7812AB2E9A}"/>
                </a:ext>
              </a:extLst>
            </p:cNvPr>
            <p:cNvSpPr>
              <a:spLocks/>
            </p:cNvSpPr>
            <p:nvPr/>
          </p:nvSpPr>
          <p:spPr bwMode="auto">
            <a:xfrm>
              <a:off x="3031142" y="5444283"/>
              <a:ext cx="37639" cy="35248"/>
            </a:xfrm>
            <a:custGeom>
              <a:avLst/>
              <a:gdLst/>
              <a:ahLst/>
              <a:cxnLst>
                <a:cxn ang="0">
                  <a:pos x="2" y="0"/>
                </a:cxn>
                <a:cxn ang="0">
                  <a:pos x="12" y="4"/>
                </a:cxn>
                <a:cxn ang="0">
                  <a:pos x="10" y="11"/>
                </a:cxn>
                <a:cxn ang="0">
                  <a:pos x="0" y="10"/>
                </a:cxn>
                <a:cxn ang="0">
                  <a:pos x="2" y="0"/>
                </a:cxn>
              </a:cxnLst>
              <a:rect l="0" t="0" r="r" b="b"/>
              <a:pathLst>
                <a:path w="12" h="11">
                  <a:moveTo>
                    <a:pt x="2" y="0"/>
                  </a:moveTo>
                  <a:lnTo>
                    <a:pt x="12" y="4"/>
                  </a:lnTo>
                  <a:lnTo>
                    <a:pt x="10" y="11"/>
                  </a:lnTo>
                  <a:lnTo>
                    <a:pt x="0" y="10"/>
                  </a:lnTo>
                  <a:lnTo>
                    <a:pt x="2"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0" name="Freeform 767">
              <a:extLst>
                <a:ext uri="{FF2B5EF4-FFF2-40B4-BE49-F238E27FC236}">
                  <a16:creationId xmlns:a16="http://schemas.microsoft.com/office/drawing/2014/main" id="{B6E43089-2329-DCAC-49A4-4F7E88C651B4}"/>
                </a:ext>
              </a:extLst>
            </p:cNvPr>
            <p:cNvSpPr>
              <a:spLocks/>
            </p:cNvSpPr>
            <p:nvPr/>
          </p:nvSpPr>
          <p:spPr bwMode="auto">
            <a:xfrm>
              <a:off x="2883726" y="5380193"/>
              <a:ext cx="90960" cy="92928"/>
            </a:xfrm>
            <a:custGeom>
              <a:avLst/>
              <a:gdLst/>
              <a:ahLst/>
              <a:cxnLst>
                <a:cxn ang="0">
                  <a:pos x="0" y="8"/>
                </a:cxn>
                <a:cxn ang="0">
                  <a:pos x="4" y="2"/>
                </a:cxn>
                <a:cxn ang="0">
                  <a:pos x="10" y="5"/>
                </a:cxn>
                <a:cxn ang="0">
                  <a:pos x="13" y="0"/>
                </a:cxn>
                <a:cxn ang="0">
                  <a:pos x="21" y="18"/>
                </a:cxn>
                <a:cxn ang="0">
                  <a:pos x="29" y="19"/>
                </a:cxn>
                <a:cxn ang="0">
                  <a:pos x="29" y="29"/>
                </a:cxn>
                <a:cxn ang="0">
                  <a:pos x="17" y="25"/>
                </a:cxn>
                <a:cxn ang="0">
                  <a:pos x="11" y="13"/>
                </a:cxn>
                <a:cxn ang="0">
                  <a:pos x="0" y="8"/>
                </a:cxn>
              </a:cxnLst>
              <a:rect l="0" t="0" r="r" b="b"/>
              <a:pathLst>
                <a:path w="29" h="29">
                  <a:moveTo>
                    <a:pt x="0" y="8"/>
                  </a:moveTo>
                  <a:lnTo>
                    <a:pt x="4" y="2"/>
                  </a:lnTo>
                  <a:lnTo>
                    <a:pt x="10" y="5"/>
                  </a:lnTo>
                  <a:lnTo>
                    <a:pt x="13" y="0"/>
                  </a:lnTo>
                  <a:lnTo>
                    <a:pt x="21" y="18"/>
                  </a:lnTo>
                  <a:lnTo>
                    <a:pt x="29" y="19"/>
                  </a:lnTo>
                  <a:lnTo>
                    <a:pt x="29" y="29"/>
                  </a:lnTo>
                  <a:lnTo>
                    <a:pt x="17" y="25"/>
                  </a:lnTo>
                  <a:lnTo>
                    <a:pt x="11" y="13"/>
                  </a:lnTo>
                  <a:lnTo>
                    <a:pt x="0" y="8"/>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1" name="Freeform 768">
              <a:extLst>
                <a:ext uri="{FF2B5EF4-FFF2-40B4-BE49-F238E27FC236}">
                  <a16:creationId xmlns:a16="http://schemas.microsoft.com/office/drawing/2014/main" id="{1E54B8C9-C42E-6D7E-0135-C5655D9203CF}"/>
                </a:ext>
              </a:extLst>
            </p:cNvPr>
            <p:cNvSpPr>
              <a:spLocks/>
            </p:cNvSpPr>
            <p:nvPr/>
          </p:nvSpPr>
          <p:spPr bwMode="auto">
            <a:xfrm>
              <a:off x="2830410" y="5306491"/>
              <a:ext cx="12544" cy="16019"/>
            </a:xfrm>
            <a:custGeom>
              <a:avLst/>
              <a:gdLst/>
              <a:ahLst/>
              <a:cxnLst>
                <a:cxn ang="0">
                  <a:pos x="0" y="4"/>
                </a:cxn>
                <a:cxn ang="0">
                  <a:pos x="3" y="0"/>
                </a:cxn>
                <a:cxn ang="0">
                  <a:pos x="4" y="5"/>
                </a:cxn>
                <a:cxn ang="0">
                  <a:pos x="1" y="5"/>
                </a:cxn>
                <a:cxn ang="0">
                  <a:pos x="0" y="4"/>
                </a:cxn>
              </a:cxnLst>
              <a:rect l="0" t="0" r="r" b="b"/>
              <a:pathLst>
                <a:path w="4" h="5">
                  <a:moveTo>
                    <a:pt x="0" y="4"/>
                  </a:moveTo>
                  <a:lnTo>
                    <a:pt x="3" y="0"/>
                  </a:lnTo>
                  <a:lnTo>
                    <a:pt x="4" y="5"/>
                  </a:lnTo>
                  <a:lnTo>
                    <a:pt x="1" y="5"/>
                  </a:lnTo>
                  <a:lnTo>
                    <a:pt x="0" y="4"/>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2" name="Freeform 769">
              <a:extLst>
                <a:ext uri="{FF2B5EF4-FFF2-40B4-BE49-F238E27FC236}">
                  <a16:creationId xmlns:a16="http://schemas.microsoft.com/office/drawing/2014/main" id="{C0640283-99E3-08E0-0237-E4C9531BAFEF}"/>
                </a:ext>
              </a:extLst>
            </p:cNvPr>
            <p:cNvSpPr>
              <a:spLocks/>
            </p:cNvSpPr>
            <p:nvPr/>
          </p:nvSpPr>
          <p:spPr bwMode="auto">
            <a:xfrm>
              <a:off x="2830410" y="5213564"/>
              <a:ext cx="15683" cy="19226"/>
            </a:xfrm>
            <a:custGeom>
              <a:avLst/>
              <a:gdLst/>
              <a:ahLst/>
              <a:cxnLst>
                <a:cxn ang="0">
                  <a:pos x="5" y="2"/>
                </a:cxn>
                <a:cxn ang="0">
                  <a:pos x="4" y="6"/>
                </a:cxn>
                <a:cxn ang="0">
                  <a:pos x="0" y="0"/>
                </a:cxn>
                <a:cxn ang="0">
                  <a:pos x="5" y="2"/>
                </a:cxn>
              </a:cxnLst>
              <a:rect l="0" t="0" r="r" b="b"/>
              <a:pathLst>
                <a:path w="5" h="6">
                  <a:moveTo>
                    <a:pt x="5" y="2"/>
                  </a:moveTo>
                  <a:lnTo>
                    <a:pt x="4" y="6"/>
                  </a:lnTo>
                  <a:lnTo>
                    <a:pt x="0" y="0"/>
                  </a:lnTo>
                  <a:lnTo>
                    <a:pt x="5" y="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3" name="Freeform 770">
              <a:extLst>
                <a:ext uri="{FF2B5EF4-FFF2-40B4-BE49-F238E27FC236}">
                  <a16:creationId xmlns:a16="http://schemas.microsoft.com/office/drawing/2014/main" id="{99022C66-F163-5531-B7A2-69F8D126141B}"/>
                </a:ext>
              </a:extLst>
            </p:cNvPr>
            <p:cNvSpPr>
              <a:spLocks/>
            </p:cNvSpPr>
            <p:nvPr/>
          </p:nvSpPr>
          <p:spPr bwMode="auto">
            <a:xfrm>
              <a:off x="2491665" y="5348149"/>
              <a:ext cx="31368" cy="48064"/>
            </a:xfrm>
            <a:custGeom>
              <a:avLst/>
              <a:gdLst/>
              <a:ahLst/>
              <a:cxnLst>
                <a:cxn ang="0">
                  <a:pos x="0" y="0"/>
                </a:cxn>
                <a:cxn ang="0">
                  <a:pos x="4" y="0"/>
                </a:cxn>
                <a:cxn ang="0">
                  <a:pos x="10" y="15"/>
                </a:cxn>
                <a:cxn ang="0">
                  <a:pos x="1" y="10"/>
                </a:cxn>
                <a:cxn ang="0">
                  <a:pos x="0" y="0"/>
                </a:cxn>
              </a:cxnLst>
              <a:rect l="0" t="0" r="r" b="b"/>
              <a:pathLst>
                <a:path w="10" h="15">
                  <a:moveTo>
                    <a:pt x="0" y="0"/>
                  </a:moveTo>
                  <a:lnTo>
                    <a:pt x="4" y="0"/>
                  </a:lnTo>
                  <a:lnTo>
                    <a:pt x="10" y="15"/>
                  </a:lnTo>
                  <a:lnTo>
                    <a:pt x="1" y="10"/>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4" name="Freeform 771">
              <a:extLst>
                <a:ext uri="{FF2B5EF4-FFF2-40B4-BE49-F238E27FC236}">
                  <a16:creationId xmlns:a16="http://schemas.microsoft.com/office/drawing/2014/main" id="{49536301-AA28-1DD2-26EA-9E694538AB24}"/>
                </a:ext>
              </a:extLst>
            </p:cNvPr>
            <p:cNvSpPr>
              <a:spLocks/>
            </p:cNvSpPr>
            <p:nvPr/>
          </p:nvSpPr>
          <p:spPr bwMode="auto">
            <a:xfrm>
              <a:off x="2692403" y="5187929"/>
              <a:ext cx="28230" cy="16019"/>
            </a:xfrm>
            <a:custGeom>
              <a:avLst/>
              <a:gdLst/>
              <a:ahLst/>
              <a:cxnLst>
                <a:cxn ang="0">
                  <a:pos x="0" y="0"/>
                </a:cxn>
                <a:cxn ang="0">
                  <a:pos x="8" y="1"/>
                </a:cxn>
                <a:cxn ang="0">
                  <a:pos x="9" y="5"/>
                </a:cxn>
                <a:cxn ang="0">
                  <a:pos x="0" y="0"/>
                </a:cxn>
              </a:cxnLst>
              <a:rect l="0" t="0" r="r" b="b"/>
              <a:pathLst>
                <a:path w="9" h="5">
                  <a:moveTo>
                    <a:pt x="0" y="0"/>
                  </a:moveTo>
                  <a:lnTo>
                    <a:pt x="8" y="1"/>
                  </a:lnTo>
                  <a:lnTo>
                    <a:pt x="9" y="5"/>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5" name="Freeform 772">
              <a:extLst>
                <a:ext uri="{FF2B5EF4-FFF2-40B4-BE49-F238E27FC236}">
                  <a16:creationId xmlns:a16="http://schemas.microsoft.com/office/drawing/2014/main" id="{118EB21F-CE71-125F-0A44-8F4262463C73}"/>
                </a:ext>
              </a:extLst>
            </p:cNvPr>
            <p:cNvSpPr>
              <a:spLocks/>
            </p:cNvSpPr>
            <p:nvPr/>
          </p:nvSpPr>
          <p:spPr bwMode="auto">
            <a:xfrm>
              <a:off x="2654764" y="5162294"/>
              <a:ext cx="21959" cy="16019"/>
            </a:xfrm>
            <a:custGeom>
              <a:avLst/>
              <a:gdLst/>
              <a:ahLst/>
              <a:cxnLst>
                <a:cxn ang="0">
                  <a:pos x="6" y="5"/>
                </a:cxn>
                <a:cxn ang="0">
                  <a:pos x="0" y="0"/>
                </a:cxn>
                <a:cxn ang="0">
                  <a:pos x="7" y="0"/>
                </a:cxn>
                <a:cxn ang="0">
                  <a:pos x="6" y="5"/>
                </a:cxn>
              </a:cxnLst>
              <a:rect l="0" t="0" r="r" b="b"/>
              <a:pathLst>
                <a:path w="7" h="5">
                  <a:moveTo>
                    <a:pt x="6" y="5"/>
                  </a:moveTo>
                  <a:lnTo>
                    <a:pt x="0" y="0"/>
                  </a:lnTo>
                  <a:lnTo>
                    <a:pt x="7" y="0"/>
                  </a:lnTo>
                  <a:lnTo>
                    <a:pt x="6" y="5"/>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6" name="Freeform 773">
              <a:extLst>
                <a:ext uri="{FF2B5EF4-FFF2-40B4-BE49-F238E27FC236}">
                  <a16:creationId xmlns:a16="http://schemas.microsoft.com/office/drawing/2014/main" id="{FB9480F3-4975-595F-551E-E092745389C6}"/>
                </a:ext>
              </a:extLst>
            </p:cNvPr>
            <p:cNvSpPr>
              <a:spLocks/>
            </p:cNvSpPr>
            <p:nvPr/>
          </p:nvSpPr>
          <p:spPr bwMode="auto">
            <a:xfrm>
              <a:off x="2394431" y="5194338"/>
              <a:ext cx="47048" cy="54473"/>
            </a:xfrm>
            <a:custGeom>
              <a:avLst/>
              <a:gdLst/>
              <a:ahLst/>
              <a:cxnLst>
                <a:cxn ang="0">
                  <a:pos x="0" y="3"/>
                </a:cxn>
                <a:cxn ang="0">
                  <a:pos x="5" y="0"/>
                </a:cxn>
                <a:cxn ang="0">
                  <a:pos x="15" y="9"/>
                </a:cxn>
                <a:cxn ang="0">
                  <a:pos x="15" y="17"/>
                </a:cxn>
                <a:cxn ang="0">
                  <a:pos x="0" y="3"/>
                </a:cxn>
              </a:cxnLst>
              <a:rect l="0" t="0" r="r" b="b"/>
              <a:pathLst>
                <a:path w="15" h="17">
                  <a:moveTo>
                    <a:pt x="0" y="3"/>
                  </a:moveTo>
                  <a:lnTo>
                    <a:pt x="5" y="0"/>
                  </a:lnTo>
                  <a:lnTo>
                    <a:pt x="15" y="9"/>
                  </a:lnTo>
                  <a:lnTo>
                    <a:pt x="15" y="17"/>
                  </a:lnTo>
                  <a:lnTo>
                    <a:pt x="0" y="3"/>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7" name="Freeform 774">
              <a:extLst>
                <a:ext uri="{FF2B5EF4-FFF2-40B4-BE49-F238E27FC236}">
                  <a16:creationId xmlns:a16="http://schemas.microsoft.com/office/drawing/2014/main" id="{E9141EAB-504D-50C4-02FB-483CB86F634F}"/>
                </a:ext>
              </a:extLst>
            </p:cNvPr>
            <p:cNvSpPr>
              <a:spLocks/>
            </p:cNvSpPr>
            <p:nvPr/>
          </p:nvSpPr>
          <p:spPr bwMode="auto">
            <a:xfrm>
              <a:off x="2309745" y="5107820"/>
              <a:ext cx="40771" cy="35248"/>
            </a:xfrm>
            <a:custGeom>
              <a:avLst/>
              <a:gdLst/>
              <a:ahLst/>
              <a:cxnLst>
                <a:cxn ang="0">
                  <a:pos x="0" y="2"/>
                </a:cxn>
                <a:cxn ang="0">
                  <a:pos x="2" y="0"/>
                </a:cxn>
                <a:cxn ang="0">
                  <a:pos x="13" y="11"/>
                </a:cxn>
                <a:cxn ang="0">
                  <a:pos x="0" y="2"/>
                </a:cxn>
              </a:cxnLst>
              <a:rect l="0" t="0" r="r" b="b"/>
              <a:pathLst>
                <a:path w="13" h="11">
                  <a:moveTo>
                    <a:pt x="0" y="2"/>
                  </a:moveTo>
                  <a:lnTo>
                    <a:pt x="2" y="0"/>
                  </a:lnTo>
                  <a:lnTo>
                    <a:pt x="13" y="11"/>
                  </a:lnTo>
                  <a:lnTo>
                    <a:pt x="0" y="2"/>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8" name="Freeform 775">
              <a:extLst>
                <a:ext uri="{FF2B5EF4-FFF2-40B4-BE49-F238E27FC236}">
                  <a16:creationId xmlns:a16="http://schemas.microsoft.com/office/drawing/2014/main" id="{BC0E8621-A0D5-5881-FB03-A8BCAC71E634}"/>
                </a:ext>
              </a:extLst>
            </p:cNvPr>
            <p:cNvSpPr>
              <a:spLocks/>
            </p:cNvSpPr>
            <p:nvPr/>
          </p:nvSpPr>
          <p:spPr bwMode="auto">
            <a:xfrm>
              <a:off x="3912510" y="5578868"/>
              <a:ext cx="25092" cy="41660"/>
            </a:xfrm>
            <a:custGeom>
              <a:avLst/>
              <a:gdLst/>
              <a:ahLst/>
              <a:cxnLst>
                <a:cxn ang="0">
                  <a:pos x="2" y="1"/>
                </a:cxn>
                <a:cxn ang="0">
                  <a:pos x="8" y="0"/>
                </a:cxn>
                <a:cxn ang="0">
                  <a:pos x="7" y="13"/>
                </a:cxn>
                <a:cxn ang="0">
                  <a:pos x="0" y="12"/>
                </a:cxn>
                <a:cxn ang="0">
                  <a:pos x="2" y="1"/>
                </a:cxn>
              </a:cxnLst>
              <a:rect l="0" t="0" r="r" b="b"/>
              <a:pathLst>
                <a:path w="8" h="13">
                  <a:moveTo>
                    <a:pt x="2" y="1"/>
                  </a:moveTo>
                  <a:lnTo>
                    <a:pt x="8" y="0"/>
                  </a:lnTo>
                  <a:lnTo>
                    <a:pt x="7" y="13"/>
                  </a:lnTo>
                  <a:lnTo>
                    <a:pt x="0" y="12"/>
                  </a:lnTo>
                  <a:lnTo>
                    <a:pt x="2" y="1"/>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9" name="Freeform 776">
              <a:extLst>
                <a:ext uri="{FF2B5EF4-FFF2-40B4-BE49-F238E27FC236}">
                  <a16:creationId xmlns:a16="http://schemas.microsoft.com/office/drawing/2014/main" id="{A1ABF7A3-2853-DB43-C17D-A534EAB8C8CF}"/>
                </a:ext>
              </a:extLst>
            </p:cNvPr>
            <p:cNvSpPr>
              <a:spLocks/>
            </p:cNvSpPr>
            <p:nvPr/>
          </p:nvSpPr>
          <p:spPr bwMode="auto">
            <a:xfrm>
              <a:off x="587668" y="2952530"/>
              <a:ext cx="1785661" cy="1881570"/>
            </a:xfrm>
            <a:custGeom>
              <a:avLst/>
              <a:gdLst/>
              <a:ahLst/>
              <a:cxnLst>
                <a:cxn ang="0">
                  <a:pos x="234" y="166"/>
                </a:cxn>
                <a:cxn ang="0">
                  <a:pos x="329" y="210"/>
                </a:cxn>
                <a:cxn ang="0">
                  <a:pos x="391" y="211"/>
                </a:cxn>
                <a:cxn ang="0">
                  <a:pos x="391" y="186"/>
                </a:cxn>
                <a:cxn ang="0">
                  <a:pos x="406" y="198"/>
                </a:cxn>
                <a:cxn ang="0">
                  <a:pos x="420" y="212"/>
                </a:cxn>
                <a:cxn ang="0">
                  <a:pos x="460" y="194"/>
                </a:cxn>
                <a:cxn ang="0">
                  <a:pos x="515" y="156"/>
                </a:cxn>
                <a:cxn ang="0">
                  <a:pos x="548" y="162"/>
                </a:cxn>
                <a:cxn ang="0">
                  <a:pos x="564" y="175"/>
                </a:cxn>
                <a:cxn ang="0">
                  <a:pos x="564" y="188"/>
                </a:cxn>
                <a:cxn ang="0">
                  <a:pos x="529" y="217"/>
                </a:cxn>
                <a:cxn ang="0">
                  <a:pos x="508" y="270"/>
                </a:cxn>
                <a:cxn ang="0">
                  <a:pos x="486" y="293"/>
                </a:cxn>
                <a:cxn ang="0">
                  <a:pos x="478" y="313"/>
                </a:cxn>
                <a:cxn ang="0">
                  <a:pos x="450" y="283"/>
                </a:cxn>
                <a:cxn ang="0">
                  <a:pos x="427" y="241"/>
                </a:cxn>
                <a:cxn ang="0">
                  <a:pos x="415" y="226"/>
                </a:cxn>
                <a:cxn ang="0">
                  <a:pos x="402" y="224"/>
                </a:cxn>
                <a:cxn ang="0">
                  <a:pos x="392" y="235"/>
                </a:cxn>
                <a:cxn ang="0">
                  <a:pos x="393" y="243"/>
                </a:cxn>
                <a:cxn ang="0">
                  <a:pos x="396" y="276"/>
                </a:cxn>
                <a:cxn ang="0">
                  <a:pos x="400" y="315"/>
                </a:cxn>
                <a:cxn ang="0">
                  <a:pos x="390" y="308"/>
                </a:cxn>
                <a:cxn ang="0">
                  <a:pos x="368" y="338"/>
                </a:cxn>
                <a:cxn ang="0">
                  <a:pos x="313" y="387"/>
                </a:cxn>
                <a:cxn ang="0">
                  <a:pos x="256" y="428"/>
                </a:cxn>
                <a:cxn ang="0">
                  <a:pos x="233" y="447"/>
                </a:cxn>
                <a:cxn ang="0">
                  <a:pos x="228" y="520"/>
                </a:cxn>
                <a:cxn ang="0">
                  <a:pos x="213" y="559"/>
                </a:cxn>
                <a:cxn ang="0">
                  <a:pos x="195" y="582"/>
                </a:cxn>
                <a:cxn ang="0">
                  <a:pos x="168" y="572"/>
                </a:cxn>
                <a:cxn ang="0">
                  <a:pos x="131" y="481"/>
                </a:cxn>
                <a:cxn ang="0">
                  <a:pos x="112" y="444"/>
                </a:cxn>
                <a:cxn ang="0">
                  <a:pos x="93" y="385"/>
                </a:cxn>
                <a:cxn ang="0">
                  <a:pos x="89" y="358"/>
                </a:cxn>
                <a:cxn ang="0">
                  <a:pos x="93" y="305"/>
                </a:cxn>
                <a:cxn ang="0">
                  <a:pos x="61" y="334"/>
                </a:cxn>
                <a:cxn ang="0">
                  <a:pos x="18" y="304"/>
                </a:cxn>
                <a:cxn ang="0">
                  <a:pos x="46" y="286"/>
                </a:cxn>
                <a:cxn ang="0">
                  <a:pos x="0" y="274"/>
                </a:cxn>
                <a:cxn ang="0">
                  <a:pos x="17" y="261"/>
                </a:cxn>
                <a:cxn ang="0">
                  <a:pos x="54" y="265"/>
                </a:cxn>
                <a:cxn ang="0">
                  <a:pos x="42" y="229"/>
                </a:cxn>
                <a:cxn ang="0">
                  <a:pos x="32" y="204"/>
                </a:cxn>
                <a:cxn ang="0">
                  <a:pos x="75" y="185"/>
                </a:cxn>
                <a:cxn ang="0">
                  <a:pos x="106" y="142"/>
                </a:cxn>
                <a:cxn ang="0">
                  <a:pos x="122" y="120"/>
                </a:cxn>
                <a:cxn ang="0">
                  <a:pos x="131" y="106"/>
                </a:cxn>
                <a:cxn ang="0">
                  <a:pos x="144" y="89"/>
                </a:cxn>
                <a:cxn ang="0">
                  <a:pos x="130" y="75"/>
                </a:cxn>
                <a:cxn ang="0">
                  <a:pos x="121" y="58"/>
                </a:cxn>
                <a:cxn ang="0">
                  <a:pos x="114" y="44"/>
                </a:cxn>
                <a:cxn ang="0">
                  <a:pos x="115" y="29"/>
                </a:cxn>
                <a:cxn ang="0">
                  <a:pos x="164" y="29"/>
                </a:cxn>
                <a:cxn ang="0">
                  <a:pos x="187" y="13"/>
                </a:cxn>
                <a:cxn ang="0">
                  <a:pos x="234" y="14"/>
                </a:cxn>
                <a:cxn ang="0">
                  <a:pos x="225" y="38"/>
                </a:cxn>
                <a:cxn ang="0">
                  <a:pos x="214" y="62"/>
                </a:cxn>
                <a:cxn ang="0">
                  <a:pos x="214" y="86"/>
                </a:cxn>
                <a:cxn ang="0">
                  <a:pos x="210" y="95"/>
                </a:cxn>
                <a:cxn ang="0">
                  <a:pos x="224" y="115"/>
                </a:cxn>
              </a:cxnLst>
              <a:rect l="0" t="0" r="r" b="b"/>
              <a:pathLst>
                <a:path w="569" h="589">
                  <a:moveTo>
                    <a:pt x="254" y="134"/>
                  </a:moveTo>
                  <a:lnTo>
                    <a:pt x="240" y="145"/>
                  </a:lnTo>
                  <a:lnTo>
                    <a:pt x="234" y="166"/>
                  </a:lnTo>
                  <a:lnTo>
                    <a:pt x="287" y="197"/>
                  </a:lnTo>
                  <a:lnTo>
                    <a:pt x="317" y="198"/>
                  </a:lnTo>
                  <a:lnTo>
                    <a:pt x="329" y="210"/>
                  </a:lnTo>
                  <a:lnTo>
                    <a:pt x="372" y="220"/>
                  </a:lnTo>
                  <a:lnTo>
                    <a:pt x="388" y="218"/>
                  </a:lnTo>
                  <a:lnTo>
                    <a:pt x="391" y="211"/>
                  </a:lnTo>
                  <a:lnTo>
                    <a:pt x="386" y="206"/>
                  </a:lnTo>
                  <a:lnTo>
                    <a:pt x="388" y="202"/>
                  </a:lnTo>
                  <a:lnTo>
                    <a:pt x="391" y="186"/>
                  </a:lnTo>
                  <a:lnTo>
                    <a:pt x="402" y="182"/>
                  </a:lnTo>
                  <a:lnTo>
                    <a:pt x="402" y="196"/>
                  </a:lnTo>
                  <a:lnTo>
                    <a:pt x="406" y="198"/>
                  </a:lnTo>
                  <a:lnTo>
                    <a:pt x="402" y="202"/>
                  </a:lnTo>
                  <a:lnTo>
                    <a:pt x="405" y="208"/>
                  </a:lnTo>
                  <a:lnTo>
                    <a:pt x="420" y="212"/>
                  </a:lnTo>
                  <a:lnTo>
                    <a:pt x="465" y="207"/>
                  </a:lnTo>
                  <a:lnTo>
                    <a:pt x="469" y="198"/>
                  </a:lnTo>
                  <a:lnTo>
                    <a:pt x="460" y="194"/>
                  </a:lnTo>
                  <a:lnTo>
                    <a:pt x="460" y="188"/>
                  </a:lnTo>
                  <a:lnTo>
                    <a:pt x="486" y="178"/>
                  </a:lnTo>
                  <a:lnTo>
                    <a:pt x="515" y="156"/>
                  </a:lnTo>
                  <a:lnTo>
                    <a:pt x="529" y="157"/>
                  </a:lnTo>
                  <a:lnTo>
                    <a:pt x="544" y="151"/>
                  </a:lnTo>
                  <a:lnTo>
                    <a:pt x="548" y="162"/>
                  </a:lnTo>
                  <a:lnTo>
                    <a:pt x="551" y="163"/>
                  </a:lnTo>
                  <a:lnTo>
                    <a:pt x="550" y="172"/>
                  </a:lnTo>
                  <a:lnTo>
                    <a:pt x="564" y="175"/>
                  </a:lnTo>
                  <a:lnTo>
                    <a:pt x="569" y="180"/>
                  </a:lnTo>
                  <a:lnTo>
                    <a:pt x="569" y="185"/>
                  </a:lnTo>
                  <a:lnTo>
                    <a:pt x="564" y="188"/>
                  </a:lnTo>
                  <a:lnTo>
                    <a:pt x="562" y="201"/>
                  </a:lnTo>
                  <a:lnTo>
                    <a:pt x="547" y="202"/>
                  </a:lnTo>
                  <a:lnTo>
                    <a:pt x="529" y="217"/>
                  </a:lnTo>
                  <a:lnTo>
                    <a:pt x="528" y="231"/>
                  </a:lnTo>
                  <a:lnTo>
                    <a:pt x="518" y="244"/>
                  </a:lnTo>
                  <a:lnTo>
                    <a:pt x="508" y="270"/>
                  </a:lnTo>
                  <a:lnTo>
                    <a:pt x="492" y="275"/>
                  </a:lnTo>
                  <a:lnTo>
                    <a:pt x="491" y="292"/>
                  </a:lnTo>
                  <a:lnTo>
                    <a:pt x="486" y="293"/>
                  </a:lnTo>
                  <a:lnTo>
                    <a:pt x="485" y="296"/>
                  </a:lnTo>
                  <a:lnTo>
                    <a:pt x="488" y="308"/>
                  </a:lnTo>
                  <a:lnTo>
                    <a:pt x="478" y="313"/>
                  </a:lnTo>
                  <a:lnTo>
                    <a:pt x="468" y="275"/>
                  </a:lnTo>
                  <a:lnTo>
                    <a:pt x="458" y="289"/>
                  </a:lnTo>
                  <a:lnTo>
                    <a:pt x="450" y="283"/>
                  </a:lnTo>
                  <a:lnTo>
                    <a:pt x="447" y="271"/>
                  </a:lnTo>
                  <a:lnTo>
                    <a:pt x="470" y="246"/>
                  </a:lnTo>
                  <a:lnTo>
                    <a:pt x="427" y="241"/>
                  </a:lnTo>
                  <a:lnTo>
                    <a:pt x="421" y="236"/>
                  </a:lnTo>
                  <a:lnTo>
                    <a:pt x="417" y="221"/>
                  </a:lnTo>
                  <a:lnTo>
                    <a:pt x="415" y="226"/>
                  </a:lnTo>
                  <a:lnTo>
                    <a:pt x="410" y="226"/>
                  </a:lnTo>
                  <a:lnTo>
                    <a:pt x="406" y="218"/>
                  </a:lnTo>
                  <a:lnTo>
                    <a:pt x="402" y="224"/>
                  </a:lnTo>
                  <a:lnTo>
                    <a:pt x="396" y="216"/>
                  </a:lnTo>
                  <a:lnTo>
                    <a:pt x="390" y="229"/>
                  </a:lnTo>
                  <a:lnTo>
                    <a:pt x="392" y="235"/>
                  </a:lnTo>
                  <a:lnTo>
                    <a:pt x="399" y="236"/>
                  </a:lnTo>
                  <a:lnTo>
                    <a:pt x="400" y="243"/>
                  </a:lnTo>
                  <a:lnTo>
                    <a:pt x="393" y="243"/>
                  </a:lnTo>
                  <a:lnTo>
                    <a:pt x="386" y="253"/>
                  </a:lnTo>
                  <a:lnTo>
                    <a:pt x="397" y="263"/>
                  </a:lnTo>
                  <a:lnTo>
                    <a:pt x="396" y="276"/>
                  </a:lnTo>
                  <a:lnTo>
                    <a:pt x="405" y="319"/>
                  </a:lnTo>
                  <a:lnTo>
                    <a:pt x="402" y="320"/>
                  </a:lnTo>
                  <a:lnTo>
                    <a:pt x="400" y="315"/>
                  </a:lnTo>
                  <a:lnTo>
                    <a:pt x="400" y="319"/>
                  </a:lnTo>
                  <a:lnTo>
                    <a:pt x="393" y="322"/>
                  </a:lnTo>
                  <a:lnTo>
                    <a:pt x="390" y="308"/>
                  </a:lnTo>
                  <a:lnTo>
                    <a:pt x="386" y="316"/>
                  </a:lnTo>
                  <a:lnTo>
                    <a:pt x="368" y="324"/>
                  </a:lnTo>
                  <a:lnTo>
                    <a:pt x="368" y="338"/>
                  </a:lnTo>
                  <a:lnTo>
                    <a:pt x="354" y="353"/>
                  </a:lnTo>
                  <a:lnTo>
                    <a:pt x="329" y="367"/>
                  </a:lnTo>
                  <a:lnTo>
                    <a:pt x="313" y="387"/>
                  </a:lnTo>
                  <a:lnTo>
                    <a:pt x="279" y="413"/>
                  </a:lnTo>
                  <a:lnTo>
                    <a:pt x="274" y="423"/>
                  </a:lnTo>
                  <a:lnTo>
                    <a:pt x="256" y="428"/>
                  </a:lnTo>
                  <a:lnTo>
                    <a:pt x="249" y="440"/>
                  </a:lnTo>
                  <a:lnTo>
                    <a:pt x="238" y="440"/>
                  </a:lnTo>
                  <a:lnTo>
                    <a:pt x="233" y="447"/>
                  </a:lnTo>
                  <a:lnTo>
                    <a:pt x="234" y="481"/>
                  </a:lnTo>
                  <a:lnTo>
                    <a:pt x="238" y="490"/>
                  </a:lnTo>
                  <a:lnTo>
                    <a:pt x="228" y="520"/>
                  </a:lnTo>
                  <a:lnTo>
                    <a:pt x="229" y="546"/>
                  </a:lnTo>
                  <a:lnTo>
                    <a:pt x="220" y="546"/>
                  </a:lnTo>
                  <a:lnTo>
                    <a:pt x="213" y="559"/>
                  </a:lnTo>
                  <a:lnTo>
                    <a:pt x="213" y="565"/>
                  </a:lnTo>
                  <a:lnTo>
                    <a:pt x="197" y="570"/>
                  </a:lnTo>
                  <a:lnTo>
                    <a:pt x="195" y="582"/>
                  </a:lnTo>
                  <a:lnTo>
                    <a:pt x="187" y="589"/>
                  </a:lnTo>
                  <a:lnTo>
                    <a:pt x="181" y="589"/>
                  </a:lnTo>
                  <a:lnTo>
                    <a:pt x="168" y="572"/>
                  </a:lnTo>
                  <a:lnTo>
                    <a:pt x="150" y="523"/>
                  </a:lnTo>
                  <a:lnTo>
                    <a:pt x="137" y="506"/>
                  </a:lnTo>
                  <a:lnTo>
                    <a:pt x="131" y="481"/>
                  </a:lnTo>
                  <a:lnTo>
                    <a:pt x="116" y="454"/>
                  </a:lnTo>
                  <a:lnTo>
                    <a:pt x="115" y="443"/>
                  </a:lnTo>
                  <a:lnTo>
                    <a:pt x="112" y="444"/>
                  </a:lnTo>
                  <a:lnTo>
                    <a:pt x="109" y="438"/>
                  </a:lnTo>
                  <a:lnTo>
                    <a:pt x="102" y="423"/>
                  </a:lnTo>
                  <a:lnTo>
                    <a:pt x="93" y="385"/>
                  </a:lnTo>
                  <a:lnTo>
                    <a:pt x="95" y="372"/>
                  </a:lnTo>
                  <a:lnTo>
                    <a:pt x="92" y="372"/>
                  </a:lnTo>
                  <a:lnTo>
                    <a:pt x="89" y="358"/>
                  </a:lnTo>
                  <a:lnTo>
                    <a:pt x="92" y="342"/>
                  </a:lnTo>
                  <a:lnTo>
                    <a:pt x="86" y="313"/>
                  </a:lnTo>
                  <a:lnTo>
                    <a:pt x="93" y="305"/>
                  </a:lnTo>
                  <a:lnTo>
                    <a:pt x="81" y="303"/>
                  </a:lnTo>
                  <a:lnTo>
                    <a:pt x="75" y="329"/>
                  </a:lnTo>
                  <a:lnTo>
                    <a:pt x="61" y="334"/>
                  </a:lnTo>
                  <a:lnTo>
                    <a:pt x="47" y="334"/>
                  </a:lnTo>
                  <a:lnTo>
                    <a:pt x="19" y="309"/>
                  </a:lnTo>
                  <a:lnTo>
                    <a:pt x="18" y="304"/>
                  </a:lnTo>
                  <a:lnTo>
                    <a:pt x="37" y="302"/>
                  </a:lnTo>
                  <a:lnTo>
                    <a:pt x="44" y="296"/>
                  </a:lnTo>
                  <a:lnTo>
                    <a:pt x="46" y="286"/>
                  </a:lnTo>
                  <a:lnTo>
                    <a:pt x="33" y="293"/>
                  </a:lnTo>
                  <a:lnTo>
                    <a:pt x="18" y="293"/>
                  </a:lnTo>
                  <a:lnTo>
                    <a:pt x="0" y="274"/>
                  </a:lnTo>
                  <a:lnTo>
                    <a:pt x="6" y="270"/>
                  </a:lnTo>
                  <a:lnTo>
                    <a:pt x="16" y="270"/>
                  </a:lnTo>
                  <a:lnTo>
                    <a:pt x="17" y="261"/>
                  </a:lnTo>
                  <a:lnTo>
                    <a:pt x="40" y="266"/>
                  </a:lnTo>
                  <a:lnTo>
                    <a:pt x="49" y="260"/>
                  </a:lnTo>
                  <a:lnTo>
                    <a:pt x="54" y="265"/>
                  </a:lnTo>
                  <a:lnTo>
                    <a:pt x="61" y="261"/>
                  </a:lnTo>
                  <a:lnTo>
                    <a:pt x="52" y="234"/>
                  </a:lnTo>
                  <a:lnTo>
                    <a:pt x="42" y="229"/>
                  </a:lnTo>
                  <a:lnTo>
                    <a:pt x="44" y="217"/>
                  </a:lnTo>
                  <a:lnTo>
                    <a:pt x="30" y="214"/>
                  </a:lnTo>
                  <a:lnTo>
                    <a:pt x="32" y="204"/>
                  </a:lnTo>
                  <a:lnTo>
                    <a:pt x="49" y="182"/>
                  </a:lnTo>
                  <a:lnTo>
                    <a:pt x="56" y="190"/>
                  </a:lnTo>
                  <a:lnTo>
                    <a:pt x="75" y="185"/>
                  </a:lnTo>
                  <a:lnTo>
                    <a:pt x="85" y="168"/>
                  </a:lnTo>
                  <a:lnTo>
                    <a:pt x="95" y="162"/>
                  </a:lnTo>
                  <a:lnTo>
                    <a:pt x="106" y="142"/>
                  </a:lnTo>
                  <a:lnTo>
                    <a:pt x="113" y="139"/>
                  </a:lnTo>
                  <a:lnTo>
                    <a:pt x="114" y="132"/>
                  </a:lnTo>
                  <a:lnTo>
                    <a:pt x="122" y="120"/>
                  </a:lnTo>
                  <a:lnTo>
                    <a:pt x="134" y="115"/>
                  </a:lnTo>
                  <a:lnTo>
                    <a:pt x="127" y="111"/>
                  </a:lnTo>
                  <a:lnTo>
                    <a:pt x="131" y="106"/>
                  </a:lnTo>
                  <a:lnTo>
                    <a:pt x="127" y="102"/>
                  </a:lnTo>
                  <a:lnTo>
                    <a:pt x="130" y="96"/>
                  </a:lnTo>
                  <a:lnTo>
                    <a:pt x="144" y="89"/>
                  </a:lnTo>
                  <a:lnTo>
                    <a:pt x="141" y="83"/>
                  </a:lnTo>
                  <a:lnTo>
                    <a:pt x="131" y="82"/>
                  </a:lnTo>
                  <a:lnTo>
                    <a:pt x="130" y="75"/>
                  </a:lnTo>
                  <a:lnTo>
                    <a:pt x="122" y="73"/>
                  </a:lnTo>
                  <a:lnTo>
                    <a:pt x="115" y="65"/>
                  </a:lnTo>
                  <a:lnTo>
                    <a:pt x="121" y="58"/>
                  </a:lnTo>
                  <a:lnTo>
                    <a:pt x="116" y="52"/>
                  </a:lnTo>
                  <a:lnTo>
                    <a:pt x="121" y="48"/>
                  </a:lnTo>
                  <a:lnTo>
                    <a:pt x="114" y="44"/>
                  </a:lnTo>
                  <a:lnTo>
                    <a:pt x="116" y="40"/>
                  </a:lnTo>
                  <a:lnTo>
                    <a:pt x="113" y="38"/>
                  </a:lnTo>
                  <a:lnTo>
                    <a:pt x="115" y="29"/>
                  </a:lnTo>
                  <a:lnTo>
                    <a:pt x="122" y="27"/>
                  </a:lnTo>
                  <a:lnTo>
                    <a:pt x="147" y="34"/>
                  </a:lnTo>
                  <a:lnTo>
                    <a:pt x="164" y="29"/>
                  </a:lnTo>
                  <a:lnTo>
                    <a:pt x="171" y="30"/>
                  </a:lnTo>
                  <a:lnTo>
                    <a:pt x="175" y="22"/>
                  </a:lnTo>
                  <a:lnTo>
                    <a:pt x="187" y="13"/>
                  </a:lnTo>
                  <a:lnTo>
                    <a:pt x="220" y="0"/>
                  </a:lnTo>
                  <a:lnTo>
                    <a:pt x="233" y="9"/>
                  </a:lnTo>
                  <a:lnTo>
                    <a:pt x="234" y="14"/>
                  </a:lnTo>
                  <a:lnTo>
                    <a:pt x="240" y="12"/>
                  </a:lnTo>
                  <a:lnTo>
                    <a:pt x="234" y="30"/>
                  </a:lnTo>
                  <a:lnTo>
                    <a:pt x="225" y="38"/>
                  </a:lnTo>
                  <a:lnTo>
                    <a:pt x="225" y="46"/>
                  </a:lnTo>
                  <a:lnTo>
                    <a:pt x="213" y="48"/>
                  </a:lnTo>
                  <a:lnTo>
                    <a:pt x="214" y="62"/>
                  </a:lnTo>
                  <a:lnTo>
                    <a:pt x="223" y="67"/>
                  </a:lnTo>
                  <a:lnTo>
                    <a:pt x="225" y="77"/>
                  </a:lnTo>
                  <a:lnTo>
                    <a:pt x="214" y="86"/>
                  </a:lnTo>
                  <a:lnTo>
                    <a:pt x="209" y="78"/>
                  </a:lnTo>
                  <a:lnTo>
                    <a:pt x="204" y="82"/>
                  </a:lnTo>
                  <a:lnTo>
                    <a:pt x="210" y="95"/>
                  </a:lnTo>
                  <a:lnTo>
                    <a:pt x="209" y="106"/>
                  </a:lnTo>
                  <a:lnTo>
                    <a:pt x="214" y="116"/>
                  </a:lnTo>
                  <a:lnTo>
                    <a:pt x="224" y="115"/>
                  </a:lnTo>
                  <a:lnTo>
                    <a:pt x="254" y="134"/>
                  </a:lnTo>
                  <a:close/>
                </a:path>
              </a:pathLst>
            </a:custGeom>
            <a:solidFill>
              <a:srgbClr val="E7E6E6"/>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00" name="Freeform 777">
              <a:extLst>
                <a:ext uri="{FF2B5EF4-FFF2-40B4-BE49-F238E27FC236}">
                  <a16:creationId xmlns:a16="http://schemas.microsoft.com/office/drawing/2014/main" id="{35BAE383-AA3D-D544-A1F8-0A4B6DCA06A0}"/>
                </a:ext>
              </a:extLst>
            </p:cNvPr>
            <p:cNvSpPr>
              <a:spLocks/>
            </p:cNvSpPr>
            <p:nvPr/>
          </p:nvSpPr>
          <p:spPr bwMode="auto">
            <a:xfrm>
              <a:off x="2106533" y="4444380"/>
              <a:ext cx="25106" cy="124586"/>
            </a:xfrm>
            <a:custGeom>
              <a:avLst/>
              <a:gdLst/>
              <a:ahLst/>
              <a:cxnLst>
                <a:cxn ang="0">
                  <a:pos x="8" y="0"/>
                </a:cxn>
                <a:cxn ang="0">
                  <a:pos x="0" y="33"/>
                </a:cxn>
                <a:cxn ang="0">
                  <a:pos x="3" y="39"/>
                </a:cxn>
                <a:cxn ang="0">
                  <a:pos x="8" y="0"/>
                </a:cxn>
              </a:cxnLst>
              <a:rect l="0" t="0" r="r" b="b"/>
              <a:pathLst>
                <a:path w="8" h="39">
                  <a:moveTo>
                    <a:pt x="8" y="0"/>
                  </a:moveTo>
                  <a:lnTo>
                    <a:pt x="0" y="33"/>
                  </a:lnTo>
                  <a:lnTo>
                    <a:pt x="3" y="39"/>
                  </a:lnTo>
                  <a:lnTo>
                    <a:pt x="8"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01" name="Freeform 778">
              <a:extLst>
                <a:ext uri="{FF2B5EF4-FFF2-40B4-BE49-F238E27FC236}">
                  <a16:creationId xmlns:a16="http://schemas.microsoft.com/office/drawing/2014/main" id="{6E61BBCC-7346-AE2D-D9BF-1133BE0F55FE}"/>
                </a:ext>
              </a:extLst>
            </p:cNvPr>
            <p:cNvSpPr>
              <a:spLocks/>
            </p:cNvSpPr>
            <p:nvPr/>
          </p:nvSpPr>
          <p:spPr bwMode="auto">
            <a:xfrm>
              <a:off x="2178710" y="4837306"/>
              <a:ext cx="9415" cy="25557"/>
            </a:xfrm>
            <a:custGeom>
              <a:avLst/>
              <a:gdLst/>
              <a:ahLst/>
              <a:cxnLst>
                <a:cxn ang="0">
                  <a:pos x="3" y="0"/>
                </a:cxn>
                <a:cxn ang="0">
                  <a:pos x="0" y="2"/>
                </a:cxn>
                <a:cxn ang="0">
                  <a:pos x="1" y="8"/>
                </a:cxn>
                <a:cxn ang="0">
                  <a:pos x="3" y="0"/>
                </a:cxn>
              </a:cxnLst>
              <a:rect l="0" t="0" r="r" b="b"/>
              <a:pathLst>
                <a:path w="3" h="8">
                  <a:moveTo>
                    <a:pt x="3" y="0"/>
                  </a:moveTo>
                  <a:lnTo>
                    <a:pt x="0" y="2"/>
                  </a:lnTo>
                  <a:lnTo>
                    <a:pt x="1" y="8"/>
                  </a:lnTo>
                  <a:lnTo>
                    <a:pt x="3"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02" name="Rectangle 401">
              <a:extLst>
                <a:ext uri="{FF2B5EF4-FFF2-40B4-BE49-F238E27FC236}">
                  <a16:creationId xmlns:a16="http://schemas.microsoft.com/office/drawing/2014/main" id="{506A7CFF-DD98-5066-11F7-827D4F519CFB}"/>
                </a:ext>
              </a:extLst>
            </p:cNvPr>
            <p:cNvSpPr>
              <a:spLocks noChangeAspect="1" noChangeArrowheads="1"/>
            </p:cNvSpPr>
            <p:nvPr/>
          </p:nvSpPr>
          <p:spPr bwMode="auto">
            <a:xfrm>
              <a:off x="2779380" y="5191844"/>
              <a:ext cx="15394" cy="15665"/>
            </a:xfrm>
            <a:prstGeom prst="rect">
              <a:avLst/>
            </a:prstGeom>
            <a:solidFill>
              <a:sysClr val="window" lastClr="FFFFFF">
                <a:lumMod val="85000"/>
              </a:sysClr>
            </a:solidFill>
            <a:ln w="3175">
              <a:solidFill>
                <a:sysClr val="window" lastClr="FFFFFF"/>
              </a:solidFill>
              <a:miter lim="800000"/>
              <a:headEnd/>
              <a:tailEnd/>
            </a:ln>
            <a:effectLst/>
          </p:spPr>
          <p:txBody>
            <a:bodyPr wrap="none" anchor="ct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03" name="Arrow: Curved Right 402">
              <a:extLst>
                <a:ext uri="{FF2B5EF4-FFF2-40B4-BE49-F238E27FC236}">
                  <a16:creationId xmlns:a16="http://schemas.microsoft.com/office/drawing/2014/main" id="{07F9F6DD-390C-EF52-56F6-90E417E673BE}"/>
                </a:ext>
              </a:extLst>
            </p:cNvPr>
            <p:cNvSpPr/>
            <p:nvPr/>
          </p:nvSpPr>
          <p:spPr bwMode="auto">
            <a:xfrm>
              <a:off x="407631" y="1726877"/>
              <a:ext cx="1608584" cy="275102"/>
            </a:xfrm>
            <a:prstGeom prst="curvedRightArrow">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auto" latinLnBrk="0" hangingPunct="1">
                <a:lnSpc>
                  <a:spcPct val="120000"/>
                </a:lnSpc>
                <a:spcBef>
                  <a:spcPct val="50000"/>
                </a:spcBef>
                <a:spcAft>
                  <a:spcPts val="0"/>
                </a:spcAft>
                <a:buClrTx/>
                <a:buSzTx/>
                <a:buFontTx/>
                <a:buNone/>
                <a:tabLst/>
                <a:defRPr/>
              </a:pPr>
              <a:endParaRPr kumimoji="0" lang="en-SG" sz="1200" b="0" i="0" u="none" strike="noStrike" kern="0" cap="none" spc="0" normalizeH="0" baseline="0" noProof="0">
                <a:ln>
                  <a:noFill/>
                </a:ln>
                <a:solidFill>
                  <a:srgbClr val="E6E6E6"/>
                </a:solidFill>
                <a:effectLst/>
                <a:uLnTx/>
                <a:uFillTx/>
                <a:latin typeface="Arial" panose="020B0604020202020204" pitchFamily="34" charset="0"/>
                <a:ea typeface="+mn-ea"/>
                <a:cs typeface="Arial" panose="020B0604020202020204" pitchFamily="34" charset="0"/>
              </a:endParaRPr>
            </a:p>
          </p:txBody>
        </p:sp>
      </p:grpSp>
      <p:sp>
        <p:nvSpPr>
          <p:cNvPr id="432" name="Rectangle 431">
            <a:extLst>
              <a:ext uri="{FF2B5EF4-FFF2-40B4-BE49-F238E27FC236}">
                <a16:creationId xmlns:a16="http://schemas.microsoft.com/office/drawing/2014/main" id="{C121F93D-3D8F-8ACD-849B-2183CD53825C}"/>
              </a:ext>
            </a:extLst>
          </p:cNvPr>
          <p:cNvSpPr/>
          <p:nvPr/>
        </p:nvSpPr>
        <p:spPr bwMode="auto">
          <a:xfrm>
            <a:off x="723900" y="1104222"/>
            <a:ext cx="4165092" cy="3119692"/>
          </a:xfrm>
          <a:prstGeom prst="rect">
            <a:avLst/>
          </a:prstGeom>
          <a:solidFill>
            <a:srgbClr val="FFFFFF">
              <a:alpha val="60000"/>
            </a:srgbClr>
          </a:solidFill>
          <a:ln>
            <a:solidFill>
              <a:schemeClr val="accent1"/>
            </a:solidFill>
            <a:prstDash val="dash"/>
          </a:ln>
          <a:effectLst/>
        </p:spPr>
        <p:txBody>
          <a:bodyPr vert="horz" wrap="square" lIns="36000" tIns="36000" rIns="36000" bIns="3600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SG" sz="1000" b="0" i="0" u="none" strike="noStrike" kern="1200" cap="none" spc="0" normalizeH="0" baseline="0" noProof="0">
              <a:ln>
                <a:noFill/>
              </a:ln>
              <a:solidFill>
                <a:srgbClr val="000000"/>
              </a:solidFill>
              <a:effectLst/>
              <a:uLnTx/>
              <a:uFillTx/>
              <a:latin typeface="Arial" panose="020B0604020202020204" pitchFamily="34" charset="0"/>
              <a:ea typeface="+mn-ea"/>
              <a:cs typeface="Arial" charset="0"/>
            </a:endParaRPr>
          </a:p>
        </p:txBody>
      </p:sp>
      <p:sp>
        <p:nvSpPr>
          <p:cNvPr id="12" name="Title 11">
            <a:extLst>
              <a:ext uri="{FF2B5EF4-FFF2-40B4-BE49-F238E27FC236}">
                <a16:creationId xmlns:a16="http://schemas.microsoft.com/office/drawing/2014/main" id="{0E52A882-047C-D90E-F79F-D962BE21A39C}"/>
              </a:ext>
            </a:extLst>
          </p:cNvPr>
          <p:cNvSpPr>
            <a:spLocks noGrp="1"/>
          </p:cNvSpPr>
          <p:nvPr>
            <p:ph type="title"/>
          </p:nvPr>
        </p:nvSpPr>
        <p:spPr/>
        <p:txBody>
          <a:bodyPr/>
          <a:lstStyle/>
          <a:p>
            <a:r>
              <a:rPr lang="en-US" sz="2000" dirty="0"/>
              <a:t>Prominent Franchise Value and Industry Recognition across Key Asian Markets</a:t>
            </a:r>
          </a:p>
        </p:txBody>
      </p:sp>
      <p:sp>
        <p:nvSpPr>
          <p:cNvPr id="407" name="Freeform 761">
            <a:extLst>
              <a:ext uri="{FF2B5EF4-FFF2-40B4-BE49-F238E27FC236}">
                <a16:creationId xmlns:a16="http://schemas.microsoft.com/office/drawing/2014/main" id="{8390F447-4EBC-2EE0-A665-CA5C736DF034}"/>
              </a:ext>
            </a:extLst>
          </p:cNvPr>
          <p:cNvSpPr>
            <a:spLocks/>
          </p:cNvSpPr>
          <p:nvPr/>
        </p:nvSpPr>
        <p:spPr bwMode="auto">
          <a:xfrm>
            <a:off x="7382204" y="5365099"/>
            <a:ext cx="187290" cy="18550"/>
          </a:xfrm>
          <a:custGeom>
            <a:avLst/>
            <a:gdLst/>
            <a:ahLst/>
            <a:cxnLst>
              <a:cxn ang="0">
                <a:pos x="6" y="0"/>
              </a:cxn>
              <a:cxn ang="0">
                <a:pos x="23" y="4"/>
              </a:cxn>
              <a:cxn ang="0">
                <a:pos x="25" y="5"/>
              </a:cxn>
              <a:cxn ang="0">
                <a:pos x="0" y="3"/>
              </a:cxn>
              <a:cxn ang="0">
                <a:pos x="6" y="0"/>
              </a:cxn>
            </a:cxnLst>
            <a:rect l="0" t="0" r="r" b="b"/>
            <a:pathLst>
              <a:path w="25" h="5">
                <a:moveTo>
                  <a:pt x="6" y="0"/>
                </a:moveTo>
                <a:lnTo>
                  <a:pt x="23" y="4"/>
                </a:lnTo>
                <a:lnTo>
                  <a:pt x="25" y="5"/>
                </a:lnTo>
                <a:lnTo>
                  <a:pt x="0" y="3"/>
                </a:lnTo>
                <a:lnTo>
                  <a:pt x="6"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413" name="Table 412">
            <a:extLst>
              <a:ext uri="{FF2B5EF4-FFF2-40B4-BE49-F238E27FC236}">
                <a16:creationId xmlns:a16="http://schemas.microsoft.com/office/drawing/2014/main" id="{90A96423-7958-26DC-B4A9-AE4612FBF970}"/>
              </a:ext>
            </a:extLst>
          </p:cNvPr>
          <p:cNvGraphicFramePr>
            <a:graphicFrameLocks noGrp="1"/>
          </p:cNvGraphicFramePr>
          <p:nvPr>
            <p:extLst>
              <p:ext uri="{D42A27DB-BD31-4B8C-83A1-F6EECF244321}">
                <p14:modId xmlns:p14="http://schemas.microsoft.com/office/powerpoint/2010/main" val="1141251094"/>
              </p:ext>
            </p:extLst>
          </p:nvPr>
        </p:nvGraphicFramePr>
        <p:xfrm>
          <a:off x="6293850" y="1448090"/>
          <a:ext cx="2774441" cy="502920"/>
        </p:xfrm>
        <a:graphic>
          <a:graphicData uri="http://schemas.openxmlformats.org/drawingml/2006/table">
            <a:tbl>
              <a:tblPr firstRow="1" bandRow="1"/>
              <a:tblGrid>
                <a:gridCol w="2774441">
                  <a:extLst>
                    <a:ext uri="{9D8B030D-6E8A-4147-A177-3AD203B41FA5}">
                      <a16:colId xmlns:a16="http://schemas.microsoft.com/office/drawing/2014/main" val="2002617881"/>
                    </a:ext>
                  </a:extLst>
                </a:gridCol>
              </a:tblGrid>
              <a:tr h="288000">
                <a:tc>
                  <a:txBody>
                    <a:bodyPr/>
                    <a:lstStyle>
                      <a:lvl1pPr marL="0" algn="l" defTabSz="742950" rtl="0" eaLnBrk="1" latinLnBrk="0" hangingPunct="1">
                        <a:defRPr sz="1463" b="1" kern="1200">
                          <a:solidFill>
                            <a:schemeClr val="lt1"/>
                          </a:solidFill>
                          <a:latin typeface="Calibri" panose="020F0502020204030204"/>
                        </a:defRPr>
                      </a:lvl1pPr>
                      <a:lvl2pPr marL="371475" algn="l" defTabSz="742950" rtl="0" eaLnBrk="1" latinLnBrk="0" hangingPunct="1">
                        <a:defRPr sz="1463" b="1" kern="1200">
                          <a:solidFill>
                            <a:schemeClr val="lt1"/>
                          </a:solidFill>
                          <a:latin typeface="Calibri" panose="020F0502020204030204"/>
                        </a:defRPr>
                      </a:lvl2pPr>
                      <a:lvl3pPr marL="742950" algn="l" defTabSz="742950" rtl="0" eaLnBrk="1" latinLnBrk="0" hangingPunct="1">
                        <a:defRPr sz="1463" b="1" kern="1200">
                          <a:solidFill>
                            <a:schemeClr val="lt1"/>
                          </a:solidFill>
                          <a:latin typeface="Calibri" panose="020F0502020204030204"/>
                        </a:defRPr>
                      </a:lvl3pPr>
                      <a:lvl4pPr marL="1114425" algn="l" defTabSz="742950" rtl="0" eaLnBrk="1" latinLnBrk="0" hangingPunct="1">
                        <a:defRPr sz="1463" b="1" kern="1200">
                          <a:solidFill>
                            <a:schemeClr val="lt1"/>
                          </a:solidFill>
                          <a:latin typeface="Calibri" panose="020F0502020204030204"/>
                        </a:defRPr>
                      </a:lvl4pPr>
                      <a:lvl5pPr marL="1485900" algn="l" defTabSz="742950" rtl="0" eaLnBrk="1" latinLnBrk="0" hangingPunct="1">
                        <a:defRPr sz="1463" b="1" kern="1200">
                          <a:solidFill>
                            <a:schemeClr val="lt1"/>
                          </a:solidFill>
                          <a:latin typeface="Calibri" panose="020F0502020204030204"/>
                        </a:defRPr>
                      </a:lvl5pPr>
                      <a:lvl6pPr marL="1857375" algn="l" defTabSz="742950" rtl="0" eaLnBrk="1" latinLnBrk="0" hangingPunct="1">
                        <a:defRPr sz="1463" b="1" kern="1200">
                          <a:solidFill>
                            <a:schemeClr val="lt1"/>
                          </a:solidFill>
                          <a:latin typeface="Calibri" panose="020F0502020204030204"/>
                        </a:defRPr>
                      </a:lvl6pPr>
                      <a:lvl7pPr marL="2228850" algn="l" defTabSz="742950" rtl="0" eaLnBrk="1" latinLnBrk="0" hangingPunct="1">
                        <a:defRPr sz="1463" b="1" kern="1200">
                          <a:solidFill>
                            <a:schemeClr val="lt1"/>
                          </a:solidFill>
                          <a:latin typeface="Calibri" panose="020F0502020204030204"/>
                        </a:defRPr>
                      </a:lvl7pPr>
                      <a:lvl8pPr marL="2600325" algn="l" defTabSz="742950" rtl="0" eaLnBrk="1" latinLnBrk="0" hangingPunct="1">
                        <a:defRPr sz="1463" b="1" kern="1200">
                          <a:solidFill>
                            <a:schemeClr val="lt1"/>
                          </a:solidFill>
                          <a:latin typeface="Calibri" panose="020F0502020204030204"/>
                        </a:defRPr>
                      </a:lvl8pPr>
                      <a:lvl9pPr marL="2971800" algn="l" defTabSz="742950" rtl="0" eaLnBrk="1" latinLnBrk="0" hangingPunct="1">
                        <a:defRPr sz="1463" b="1" kern="1200">
                          <a:solidFill>
                            <a:schemeClr val="lt1"/>
                          </a:solidFill>
                          <a:latin typeface="Calibri" panose="020F0502020204030204"/>
                        </a:defRPr>
                      </a:lvl9pPr>
                    </a:lstStyle>
                    <a:p>
                      <a:pPr marL="0" marR="0" lvl="0" indent="0" algn="l" defTabSz="844083" rtl="0" eaLnBrk="1" fontAlgn="ctr" latinLnBrk="0" hangingPunct="1">
                        <a:lnSpc>
                          <a:spcPct val="100000"/>
                        </a:lnSpc>
                        <a:spcBef>
                          <a:spcPts val="0"/>
                        </a:spcBef>
                        <a:spcAft>
                          <a:spcPts val="0"/>
                        </a:spcAft>
                        <a:buClrTx/>
                        <a:buSzTx/>
                        <a:buFont typeface="Wingdings" panose="05000000000000000000" pitchFamily="2" charset="2"/>
                        <a:buNone/>
                        <a:tabLst/>
                        <a:defRPr/>
                      </a:pPr>
                      <a:r>
                        <a:rPr kumimoji="0" lang="en-SG" sz="1100" b="1" u="sng" strike="noStrike" kern="1200" cap="none" spc="0" normalizeH="0" baseline="0">
                          <a:ln>
                            <a:noFill/>
                          </a:ln>
                          <a:solidFill>
                            <a:srgbClr val="000000"/>
                          </a:solidFill>
                          <a:effectLst/>
                          <a:uLnTx/>
                          <a:uFillTx/>
                          <a:latin typeface="+mj-lt"/>
                          <a:ea typeface="+mn-ea"/>
                          <a:cs typeface="Arial" panose="020B0604020202020204" pitchFamily="34" charset="0"/>
                        </a:rPr>
                        <a:t>China</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 </a:t>
                      </a:r>
                    </a:p>
                    <a:p>
                      <a:pPr marL="0" marR="0" lvl="0" indent="0" algn="l" defTabSz="844083" rtl="0" eaLnBrk="1" fontAlgn="ctr" latinLnBrk="0" hangingPunct="1">
                        <a:lnSpc>
                          <a:spcPct val="100000"/>
                        </a:lnSpc>
                        <a:spcBef>
                          <a:spcPts val="0"/>
                        </a:spcBef>
                        <a:spcAft>
                          <a:spcPts val="0"/>
                        </a:spcAft>
                        <a:buClrTx/>
                        <a:buSzTx/>
                        <a:buFont typeface="Wingdings" panose="05000000000000000000" pitchFamily="2" charset="2"/>
                        <a:buNone/>
                        <a:tabLst/>
                        <a:defRPr/>
                      </a:pP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DBS Securities ranks </a:t>
                      </a:r>
                      <a:r>
                        <a:rPr kumimoji="0" lang="en-SG" sz="1100" b="1" u="none" strike="noStrike" kern="1200" cap="none" spc="0" normalizeH="0" baseline="0">
                          <a:ln>
                            <a:noFill/>
                          </a:ln>
                          <a:solidFill>
                            <a:srgbClr val="C00000"/>
                          </a:solidFill>
                          <a:effectLst/>
                          <a:uLnTx/>
                          <a:uFillTx/>
                          <a:latin typeface="+mj-lt"/>
                          <a:ea typeface="+mn-ea"/>
                          <a:cs typeface="Arial" panose="020B0604020202020204" pitchFamily="34" charset="0"/>
                        </a:rPr>
                        <a:t>#3</a:t>
                      </a:r>
                      <a:r>
                        <a:rPr kumimoji="0" lang="en-SG" sz="1100" b="1" u="none" strike="noStrike" kern="1200" cap="none" spc="0" normalizeH="0" baseline="30000">
                          <a:ln>
                            <a:noFill/>
                          </a:ln>
                          <a:solidFill>
                            <a:schemeClr val="tx1"/>
                          </a:solidFill>
                          <a:effectLst/>
                          <a:uLnTx/>
                          <a:uFillTx/>
                          <a:latin typeface="+mj-lt"/>
                          <a:ea typeface="+mn-ea"/>
                          <a:cs typeface="Arial" panose="020B0604020202020204" pitchFamily="34" charset="0"/>
                        </a:rPr>
                        <a:t> </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among </a:t>
                      </a:r>
                      <a:b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b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Foreign Equity Houses</a:t>
                      </a:r>
                      <a:r>
                        <a:rPr kumimoji="0" lang="en-SG" sz="1100" b="1" u="none" strike="noStrike" kern="1200" cap="none" spc="0" normalizeH="0" baseline="30000">
                          <a:ln>
                            <a:noFill/>
                          </a:ln>
                          <a:solidFill>
                            <a:srgbClr val="000000"/>
                          </a:solidFill>
                          <a:effectLst/>
                          <a:uLnTx/>
                          <a:uFillTx/>
                          <a:latin typeface="+mj-lt"/>
                          <a:ea typeface="+mn-ea"/>
                          <a:cs typeface="Arial" panose="020B0604020202020204" pitchFamily="34" charset="0"/>
                        </a:rPr>
                        <a:t>3</a:t>
                      </a:r>
                      <a:endPar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4343883"/>
                  </a:ext>
                </a:extLst>
              </a:tr>
            </a:tbl>
          </a:graphicData>
        </a:graphic>
      </p:graphicFrame>
      <p:graphicFrame>
        <p:nvGraphicFramePr>
          <p:cNvPr id="414" name="Table 413">
            <a:extLst>
              <a:ext uri="{FF2B5EF4-FFF2-40B4-BE49-F238E27FC236}">
                <a16:creationId xmlns:a16="http://schemas.microsoft.com/office/drawing/2014/main" id="{52F9E2BE-1424-40F4-E01F-8407F16A8BFE}"/>
              </a:ext>
            </a:extLst>
          </p:cNvPr>
          <p:cNvGraphicFramePr>
            <a:graphicFrameLocks noGrp="1"/>
          </p:cNvGraphicFramePr>
          <p:nvPr>
            <p:extLst>
              <p:ext uri="{D42A27DB-BD31-4B8C-83A1-F6EECF244321}">
                <p14:modId xmlns:p14="http://schemas.microsoft.com/office/powerpoint/2010/main" val="3843339877"/>
              </p:ext>
            </p:extLst>
          </p:nvPr>
        </p:nvGraphicFramePr>
        <p:xfrm>
          <a:off x="5296464" y="4333130"/>
          <a:ext cx="3838392" cy="335280"/>
        </p:xfrm>
        <a:graphic>
          <a:graphicData uri="http://schemas.openxmlformats.org/drawingml/2006/table">
            <a:tbl>
              <a:tblPr firstRow="1" bandRow="1"/>
              <a:tblGrid>
                <a:gridCol w="3838392">
                  <a:extLst>
                    <a:ext uri="{9D8B030D-6E8A-4147-A177-3AD203B41FA5}">
                      <a16:colId xmlns:a16="http://schemas.microsoft.com/office/drawing/2014/main" val="2002617881"/>
                    </a:ext>
                  </a:extLst>
                </a:gridCol>
              </a:tblGrid>
              <a:tr h="324000">
                <a:tc>
                  <a:txBody>
                    <a:bodyPr/>
                    <a:lstStyle>
                      <a:lvl1pPr marL="0" algn="l" defTabSz="742950" rtl="0" eaLnBrk="1" latinLnBrk="0" hangingPunct="1">
                        <a:defRPr sz="1463" b="1" kern="1200">
                          <a:solidFill>
                            <a:schemeClr val="lt1"/>
                          </a:solidFill>
                          <a:latin typeface="Calibri" panose="020F0502020204030204"/>
                        </a:defRPr>
                      </a:lvl1pPr>
                      <a:lvl2pPr marL="371475" algn="l" defTabSz="742950" rtl="0" eaLnBrk="1" latinLnBrk="0" hangingPunct="1">
                        <a:defRPr sz="1463" b="1" kern="1200">
                          <a:solidFill>
                            <a:schemeClr val="lt1"/>
                          </a:solidFill>
                          <a:latin typeface="Calibri" panose="020F0502020204030204"/>
                        </a:defRPr>
                      </a:lvl2pPr>
                      <a:lvl3pPr marL="742950" algn="l" defTabSz="742950" rtl="0" eaLnBrk="1" latinLnBrk="0" hangingPunct="1">
                        <a:defRPr sz="1463" b="1" kern="1200">
                          <a:solidFill>
                            <a:schemeClr val="lt1"/>
                          </a:solidFill>
                          <a:latin typeface="Calibri" panose="020F0502020204030204"/>
                        </a:defRPr>
                      </a:lvl3pPr>
                      <a:lvl4pPr marL="1114425" algn="l" defTabSz="742950" rtl="0" eaLnBrk="1" latinLnBrk="0" hangingPunct="1">
                        <a:defRPr sz="1463" b="1" kern="1200">
                          <a:solidFill>
                            <a:schemeClr val="lt1"/>
                          </a:solidFill>
                          <a:latin typeface="Calibri" panose="020F0502020204030204"/>
                        </a:defRPr>
                      </a:lvl4pPr>
                      <a:lvl5pPr marL="1485900" algn="l" defTabSz="742950" rtl="0" eaLnBrk="1" latinLnBrk="0" hangingPunct="1">
                        <a:defRPr sz="1463" b="1" kern="1200">
                          <a:solidFill>
                            <a:schemeClr val="lt1"/>
                          </a:solidFill>
                          <a:latin typeface="Calibri" panose="020F0502020204030204"/>
                        </a:defRPr>
                      </a:lvl5pPr>
                      <a:lvl6pPr marL="1857375" algn="l" defTabSz="742950" rtl="0" eaLnBrk="1" latinLnBrk="0" hangingPunct="1">
                        <a:defRPr sz="1463" b="1" kern="1200">
                          <a:solidFill>
                            <a:schemeClr val="lt1"/>
                          </a:solidFill>
                          <a:latin typeface="Calibri" panose="020F0502020204030204"/>
                        </a:defRPr>
                      </a:lvl6pPr>
                      <a:lvl7pPr marL="2228850" algn="l" defTabSz="742950" rtl="0" eaLnBrk="1" latinLnBrk="0" hangingPunct="1">
                        <a:defRPr sz="1463" b="1" kern="1200">
                          <a:solidFill>
                            <a:schemeClr val="lt1"/>
                          </a:solidFill>
                          <a:latin typeface="Calibri" panose="020F0502020204030204"/>
                        </a:defRPr>
                      </a:lvl7pPr>
                      <a:lvl8pPr marL="2600325" algn="l" defTabSz="742950" rtl="0" eaLnBrk="1" latinLnBrk="0" hangingPunct="1">
                        <a:defRPr sz="1463" b="1" kern="1200">
                          <a:solidFill>
                            <a:schemeClr val="lt1"/>
                          </a:solidFill>
                          <a:latin typeface="Calibri" panose="020F0502020204030204"/>
                        </a:defRPr>
                      </a:lvl8pPr>
                      <a:lvl9pPr marL="2971800" algn="l" defTabSz="742950" rtl="0" eaLnBrk="1" latinLnBrk="0" hangingPunct="1">
                        <a:defRPr sz="1463" b="1" kern="1200">
                          <a:solidFill>
                            <a:schemeClr val="lt1"/>
                          </a:solidFill>
                          <a:latin typeface="Calibri" panose="020F0502020204030204"/>
                        </a:defRPr>
                      </a:lvl9pPr>
                    </a:lstStyle>
                    <a:p>
                      <a:pPr marL="0" marR="0" lvl="0" indent="0" algn="l" defTabSz="844083" rtl="0" eaLnBrk="1" fontAlgn="ctr" latinLnBrk="0" hangingPunct="1">
                        <a:lnSpc>
                          <a:spcPct val="100000"/>
                        </a:lnSpc>
                        <a:spcBef>
                          <a:spcPts val="0"/>
                        </a:spcBef>
                        <a:spcAft>
                          <a:spcPts val="0"/>
                        </a:spcAft>
                        <a:buClrTx/>
                        <a:buSzTx/>
                        <a:buFont typeface="Wingdings" panose="05000000000000000000" pitchFamily="2" charset="2"/>
                        <a:buNone/>
                        <a:tabLst/>
                        <a:defRPr/>
                      </a:pPr>
                      <a:r>
                        <a:rPr kumimoji="0" lang="en-SG" sz="1100" b="1" u="sng" strike="noStrike" kern="1200" cap="none" spc="0" normalizeH="0" baseline="0">
                          <a:ln>
                            <a:noFill/>
                          </a:ln>
                          <a:solidFill>
                            <a:srgbClr val="000000"/>
                          </a:solidFill>
                          <a:effectLst/>
                          <a:uLnTx/>
                          <a:uFillTx/>
                          <a:latin typeface="+mj-lt"/>
                          <a:ea typeface="+mn-ea"/>
                          <a:cs typeface="Arial" panose="020B0604020202020204" pitchFamily="34" charset="0"/>
                        </a:rPr>
                        <a:t>Singapore</a:t>
                      </a:r>
                    </a:p>
                    <a:p>
                      <a:pPr marL="0" marR="0" lvl="0" indent="0" algn="l" defTabSz="844083" rtl="0" eaLnBrk="1" fontAlgn="ctr" latinLnBrk="0" hangingPunct="1">
                        <a:lnSpc>
                          <a:spcPct val="100000"/>
                        </a:lnSpc>
                        <a:spcBef>
                          <a:spcPts val="0"/>
                        </a:spcBef>
                        <a:spcAft>
                          <a:spcPts val="0"/>
                        </a:spcAft>
                        <a:buClrTx/>
                        <a:buSzTx/>
                        <a:buFont typeface="Wingdings" panose="05000000000000000000" pitchFamily="2" charset="2"/>
                        <a:buNone/>
                        <a:tabLst/>
                        <a:defRPr/>
                      </a:pP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DBS ranks </a:t>
                      </a:r>
                      <a:r>
                        <a:rPr kumimoji="0" lang="en-SG" sz="1100" b="1" u="none" strike="noStrike" kern="1200" cap="none" spc="0" normalizeH="0" baseline="0">
                          <a:ln>
                            <a:noFill/>
                          </a:ln>
                          <a:solidFill>
                            <a:srgbClr val="C00000"/>
                          </a:solidFill>
                          <a:effectLst/>
                          <a:uLnTx/>
                          <a:uFillTx/>
                          <a:latin typeface="+mj-lt"/>
                          <a:ea typeface="+mn-ea"/>
                          <a:cs typeface="Arial" panose="020B0604020202020204" pitchFamily="34" charset="0"/>
                        </a:rPr>
                        <a:t>#1</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 in All Equities and </a:t>
                      </a:r>
                      <a:r>
                        <a:rPr kumimoji="0" lang="en-SG" sz="1100" b="1" u="none" strike="noStrike" kern="1200" cap="none" spc="0" normalizeH="0" baseline="0">
                          <a:ln>
                            <a:noFill/>
                          </a:ln>
                          <a:solidFill>
                            <a:srgbClr val="C00000"/>
                          </a:solidFill>
                          <a:effectLst/>
                          <a:uLnTx/>
                          <a:uFillTx/>
                          <a:latin typeface="+mj-lt"/>
                          <a:ea typeface="+mn-ea"/>
                          <a:cs typeface="Arial" panose="020B0604020202020204" pitchFamily="34" charset="0"/>
                        </a:rPr>
                        <a:t>#1</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 in REITs/BTs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4343883"/>
                  </a:ext>
                </a:extLst>
              </a:tr>
            </a:tbl>
          </a:graphicData>
        </a:graphic>
      </p:graphicFrame>
      <p:graphicFrame>
        <p:nvGraphicFramePr>
          <p:cNvPr id="416" name="Table 415">
            <a:extLst>
              <a:ext uri="{FF2B5EF4-FFF2-40B4-BE49-F238E27FC236}">
                <a16:creationId xmlns:a16="http://schemas.microsoft.com/office/drawing/2014/main" id="{628F4732-FBE2-7ABB-09DF-A6470FF2809B}"/>
              </a:ext>
            </a:extLst>
          </p:cNvPr>
          <p:cNvGraphicFramePr>
            <a:graphicFrameLocks noGrp="1"/>
          </p:cNvGraphicFramePr>
          <p:nvPr>
            <p:extLst>
              <p:ext uri="{D42A27DB-BD31-4B8C-83A1-F6EECF244321}">
                <p14:modId xmlns:p14="http://schemas.microsoft.com/office/powerpoint/2010/main" val="3749547684"/>
              </p:ext>
            </p:extLst>
          </p:nvPr>
        </p:nvGraphicFramePr>
        <p:xfrm>
          <a:off x="2307323" y="4462667"/>
          <a:ext cx="1985080" cy="335280"/>
        </p:xfrm>
        <a:graphic>
          <a:graphicData uri="http://schemas.openxmlformats.org/drawingml/2006/table">
            <a:tbl>
              <a:tblPr firstRow="1" bandRow="1"/>
              <a:tblGrid>
                <a:gridCol w="1985080">
                  <a:extLst>
                    <a:ext uri="{9D8B030D-6E8A-4147-A177-3AD203B41FA5}">
                      <a16:colId xmlns:a16="http://schemas.microsoft.com/office/drawing/2014/main" val="2002617881"/>
                    </a:ext>
                  </a:extLst>
                </a:gridCol>
              </a:tblGrid>
              <a:tr h="288000">
                <a:tc>
                  <a:txBody>
                    <a:bodyPr/>
                    <a:lstStyle>
                      <a:lvl1pPr marL="0" algn="l" defTabSz="742950" rtl="0" eaLnBrk="1" latinLnBrk="0" hangingPunct="1">
                        <a:defRPr sz="1463" b="1" kern="1200">
                          <a:solidFill>
                            <a:schemeClr val="lt1"/>
                          </a:solidFill>
                          <a:latin typeface="Calibri" panose="020F0502020204030204"/>
                        </a:defRPr>
                      </a:lvl1pPr>
                      <a:lvl2pPr marL="371475" algn="l" defTabSz="742950" rtl="0" eaLnBrk="1" latinLnBrk="0" hangingPunct="1">
                        <a:defRPr sz="1463" b="1" kern="1200">
                          <a:solidFill>
                            <a:schemeClr val="lt1"/>
                          </a:solidFill>
                          <a:latin typeface="Calibri" panose="020F0502020204030204"/>
                        </a:defRPr>
                      </a:lvl2pPr>
                      <a:lvl3pPr marL="742950" algn="l" defTabSz="742950" rtl="0" eaLnBrk="1" latinLnBrk="0" hangingPunct="1">
                        <a:defRPr sz="1463" b="1" kern="1200">
                          <a:solidFill>
                            <a:schemeClr val="lt1"/>
                          </a:solidFill>
                          <a:latin typeface="Calibri" panose="020F0502020204030204"/>
                        </a:defRPr>
                      </a:lvl3pPr>
                      <a:lvl4pPr marL="1114425" algn="l" defTabSz="742950" rtl="0" eaLnBrk="1" latinLnBrk="0" hangingPunct="1">
                        <a:defRPr sz="1463" b="1" kern="1200">
                          <a:solidFill>
                            <a:schemeClr val="lt1"/>
                          </a:solidFill>
                          <a:latin typeface="Calibri" panose="020F0502020204030204"/>
                        </a:defRPr>
                      </a:lvl4pPr>
                      <a:lvl5pPr marL="1485900" algn="l" defTabSz="742950" rtl="0" eaLnBrk="1" latinLnBrk="0" hangingPunct="1">
                        <a:defRPr sz="1463" b="1" kern="1200">
                          <a:solidFill>
                            <a:schemeClr val="lt1"/>
                          </a:solidFill>
                          <a:latin typeface="Calibri" panose="020F0502020204030204"/>
                        </a:defRPr>
                      </a:lvl5pPr>
                      <a:lvl6pPr marL="1857375" algn="l" defTabSz="742950" rtl="0" eaLnBrk="1" latinLnBrk="0" hangingPunct="1">
                        <a:defRPr sz="1463" b="1" kern="1200">
                          <a:solidFill>
                            <a:schemeClr val="lt1"/>
                          </a:solidFill>
                          <a:latin typeface="Calibri" panose="020F0502020204030204"/>
                        </a:defRPr>
                      </a:lvl6pPr>
                      <a:lvl7pPr marL="2228850" algn="l" defTabSz="742950" rtl="0" eaLnBrk="1" latinLnBrk="0" hangingPunct="1">
                        <a:defRPr sz="1463" b="1" kern="1200">
                          <a:solidFill>
                            <a:schemeClr val="lt1"/>
                          </a:solidFill>
                          <a:latin typeface="Calibri" panose="020F0502020204030204"/>
                        </a:defRPr>
                      </a:lvl7pPr>
                      <a:lvl8pPr marL="2600325" algn="l" defTabSz="742950" rtl="0" eaLnBrk="1" latinLnBrk="0" hangingPunct="1">
                        <a:defRPr sz="1463" b="1" kern="1200">
                          <a:solidFill>
                            <a:schemeClr val="lt1"/>
                          </a:solidFill>
                          <a:latin typeface="Calibri" panose="020F0502020204030204"/>
                        </a:defRPr>
                      </a:lvl8pPr>
                      <a:lvl9pPr marL="2971800" algn="l" defTabSz="742950" rtl="0" eaLnBrk="1" latinLnBrk="0" hangingPunct="1">
                        <a:defRPr sz="1463" b="1" kern="1200">
                          <a:solidFill>
                            <a:schemeClr val="lt1"/>
                          </a:solidFill>
                          <a:latin typeface="Calibri" panose="020F0502020204030204"/>
                        </a:defRPr>
                      </a:lvl9pPr>
                    </a:lstStyle>
                    <a:p>
                      <a:pPr marL="85725" marR="0" lvl="0" indent="0" algn="r" defTabSz="844083" rtl="0" eaLnBrk="1" fontAlgn="ctr" latinLnBrk="0" hangingPunct="1">
                        <a:lnSpc>
                          <a:spcPct val="100000"/>
                        </a:lnSpc>
                        <a:spcBef>
                          <a:spcPts val="0"/>
                        </a:spcBef>
                        <a:spcAft>
                          <a:spcPts val="0"/>
                        </a:spcAft>
                        <a:buClrTx/>
                        <a:buSzTx/>
                        <a:buFont typeface="Wingdings" panose="05000000000000000000" pitchFamily="2" charset="2"/>
                        <a:buNone/>
                        <a:tabLst/>
                        <a:defRPr/>
                      </a:pPr>
                      <a:r>
                        <a:rPr kumimoji="0" lang="en-SG" sz="1100" b="1" u="sng" strike="noStrike" kern="1200" cap="none" spc="0" normalizeH="0" baseline="0">
                          <a:ln>
                            <a:noFill/>
                          </a:ln>
                          <a:solidFill>
                            <a:srgbClr val="000000"/>
                          </a:solidFill>
                          <a:effectLst/>
                          <a:uLnTx/>
                          <a:uFillTx/>
                          <a:latin typeface="+mj-lt"/>
                          <a:ea typeface="+mn-ea"/>
                          <a:cs typeface="Arial" panose="020B0604020202020204" pitchFamily="34" charset="0"/>
                        </a:rPr>
                        <a:t>Indonesia</a:t>
                      </a:r>
                    </a:p>
                    <a:p>
                      <a:pPr marL="85725" marR="0" lvl="0" indent="0" algn="r" defTabSz="844083" rtl="0" eaLnBrk="1" fontAlgn="ctr" latinLnBrk="0" hangingPunct="1">
                        <a:lnSpc>
                          <a:spcPct val="100000"/>
                        </a:lnSpc>
                        <a:spcBef>
                          <a:spcPts val="0"/>
                        </a:spcBef>
                        <a:spcAft>
                          <a:spcPts val="0"/>
                        </a:spcAft>
                        <a:buClrTx/>
                        <a:buSzTx/>
                        <a:buFont typeface="Wingdings" panose="05000000000000000000" pitchFamily="2" charset="2"/>
                        <a:buNone/>
                        <a:tabLst/>
                        <a:defRPr/>
                      </a:pP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DBS ranks </a:t>
                      </a:r>
                      <a:r>
                        <a:rPr kumimoji="0" lang="en-SG" sz="1100" b="1" u="none" strike="noStrike" kern="1200" cap="none" spc="0" normalizeH="0" baseline="0">
                          <a:ln>
                            <a:noFill/>
                          </a:ln>
                          <a:solidFill>
                            <a:srgbClr val="C00000"/>
                          </a:solidFill>
                          <a:effectLst/>
                          <a:uLnTx/>
                          <a:uFillTx/>
                          <a:latin typeface="+mj-lt"/>
                          <a:ea typeface="+mn-ea"/>
                          <a:cs typeface="Arial" panose="020B0604020202020204" pitchFamily="34" charset="0"/>
                        </a:rPr>
                        <a:t>#4</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 in All Equities</a:t>
                      </a:r>
                    </a:p>
                  </a:txBody>
                  <a:tcPr marL="0" marR="0" marT="0" marB="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4343883"/>
                  </a:ext>
                </a:extLst>
              </a:tr>
            </a:tbl>
          </a:graphicData>
        </a:graphic>
      </p:graphicFrame>
      <p:graphicFrame>
        <p:nvGraphicFramePr>
          <p:cNvPr id="419" name="Table 418">
            <a:extLst>
              <a:ext uri="{FF2B5EF4-FFF2-40B4-BE49-F238E27FC236}">
                <a16:creationId xmlns:a16="http://schemas.microsoft.com/office/drawing/2014/main" id="{E6D95AB1-BE31-4E07-B8CC-BAEECD3BE9BB}"/>
              </a:ext>
            </a:extLst>
          </p:cNvPr>
          <p:cNvGraphicFramePr>
            <a:graphicFrameLocks noGrp="1"/>
          </p:cNvGraphicFramePr>
          <p:nvPr>
            <p:extLst>
              <p:ext uri="{D42A27DB-BD31-4B8C-83A1-F6EECF244321}">
                <p14:modId xmlns:p14="http://schemas.microsoft.com/office/powerpoint/2010/main" val="1305615565"/>
              </p:ext>
            </p:extLst>
          </p:nvPr>
        </p:nvGraphicFramePr>
        <p:xfrm>
          <a:off x="798306" y="1182241"/>
          <a:ext cx="3608990" cy="335280"/>
        </p:xfrm>
        <a:graphic>
          <a:graphicData uri="http://schemas.openxmlformats.org/drawingml/2006/table">
            <a:tbl>
              <a:tblPr firstRow="1" bandRow="1"/>
              <a:tblGrid>
                <a:gridCol w="3608990">
                  <a:extLst>
                    <a:ext uri="{9D8B030D-6E8A-4147-A177-3AD203B41FA5}">
                      <a16:colId xmlns:a16="http://schemas.microsoft.com/office/drawing/2014/main" val="2002617881"/>
                    </a:ext>
                  </a:extLst>
                </a:gridCol>
              </a:tblGrid>
              <a:tr h="288000">
                <a:tc>
                  <a:txBody>
                    <a:bodyPr/>
                    <a:lstStyle>
                      <a:lvl1pPr marL="0" algn="l" defTabSz="742950" rtl="0" eaLnBrk="1" latinLnBrk="0" hangingPunct="1">
                        <a:defRPr sz="1463" b="1" kern="1200">
                          <a:solidFill>
                            <a:schemeClr val="lt1"/>
                          </a:solidFill>
                          <a:latin typeface="Calibri" panose="020F0502020204030204"/>
                        </a:defRPr>
                      </a:lvl1pPr>
                      <a:lvl2pPr marL="371475" algn="l" defTabSz="742950" rtl="0" eaLnBrk="1" latinLnBrk="0" hangingPunct="1">
                        <a:defRPr sz="1463" b="1" kern="1200">
                          <a:solidFill>
                            <a:schemeClr val="lt1"/>
                          </a:solidFill>
                          <a:latin typeface="Calibri" panose="020F0502020204030204"/>
                        </a:defRPr>
                      </a:lvl2pPr>
                      <a:lvl3pPr marL="742950" algn="l" defTabSz="742950" rtl="0" eaLnBrk="1" latinLnBrk="0" hangingPunct="1">
                        <a:defRPr sz="1463" b="1" kern="1200">
                          <a:solidFill>
                            <a:schemeClr val="lt1"/>
                          </a:solidFill>
                          <a:latin typeface="Calibri" panose="020F0502020204030204"/>
                        </a:defRPr>
                      </a:lvl3pPr>
                      <a:lvl4pPr marL="1114425" algn="l" defTabSz="742950" rtl="0" eaLnBrk="1" latinLnBrk="0" hangingPunct="1">
                        <a:defRPr sz="1463" b="1" kern="1200">
                          <a:solidFill>
                            <a:schemeClr val="lt1"/>
                          </a:solidFill>
                          <a:latin typeface="Calibri" panose="020F0502020204030204"/>
                        </a:defRPr>
                      </a:lvl4pPr>
                      <a:lvl5pPr marL="1485900" algn="l" defTabSz="742950" rtl="0" eaLnBrk="1" latinLnBrk="0" hangingPunct="1">
                        <a:defRPr sz="1463" b="1" kern="1200">
                          <a:solidFill>
                            <a:schemeClr val="lt1"/>
                          </a:solidFill>
                          <a:latin typeface="Calibri" panose="020F0502020204030204"/>
                        </a:defRPr>
                      </a:lvl5pPr>
                      <a:lvl6pPr marL="1857375" algn="l" defTabSz="742950" rtl="0" eaLnBrk="1" latinLnBrk="0" hangingPunct="1">
                        <a:defRPr sz="1463" b="1" kern="1200">
                          <a:solidFill>
                            <a:schemeClr val="lt1"/>
                          </a:solidFill>
                          <a:latin typeface="Calibri" panose="020F0502020204030204"/>
                        </a:defRPr>
                      </a:lvl6pPr>
                      <a:lvl7pPr marL="2228850" algn="l" defTabSz="742950" rtl="0" eaLnBrk="1" latinLnBrk="0" hangingPunct="1">
                        <a:defRPr sz="1463" b="1" kern="1200">
                          <a:solidFill>
                            <a:schemeClr val="lt1"/>
                          </a:solidFill>
                          <a:latin typeface="Calibri" panose="020F0502020204030204"/>
                        </a:defRPr>
                      </a:lvl7pPr>
                      <a:lvl8pPr marL="2600325" algn="l" defTabSz="742950" rtl="0" eaLnBrk="1" latinLnBrk="0" hangingPunct="1">
                        <a:defRPr sz="1463" b="1" kern="1200">
                          <a:solidFill>
                            <a:schemeClr val="lt1"/>
                          </a:solidFill>
                          <a:latin typeface="Calibri" panose="020F0502020204030204"/>
                        </a:defRPr>
                      </a:lvl8pPr>
                      <a:lvl9pPr marL="2971800" algn="l" defTabSz="742950" rtl="0" eaLnBrk="1" latinLnBrk="0" hangingPunct="1">
                        <a:defRPr sz="1463" b="1" kern="1200">
                          <a:solidFill>
                            <a:schemeClr val="lt1"/>
                          </a:solidFill>
                          <a:latin typeface="Calibri" panose="020F0502020204030204"/>
                        </a:defRPr>
                      </a:lvl9pPr>
                    </a:lstStyle>
                    <a:p>
                      <a:pPr marL="0" marR="0" lvl="0" indent="0" algn="l" defTabSz="844083" rtl="0" eaLnBrk="1" fontAlgn="ctr" latinLnBrk="0" hangingPunct="1">
                        <a:lnSpc>
                          <a:spcPct val="100000"/>
                        </a:lnSpc>
                        <a:spcBef>
                          <a:spcPts val="0"/>
                        </a:spcBef>
                        <a:spcAft>
                          <a:spcPts val="0"/>
                        </a:spcAft>
                        <a:buClrTx/>
                        <a:buSzTx/>
                        <a:buFont typeface="Wingdings" panose="05000000000000000000" pitchFamily="2" charset="2"/>
                        <a:buNone/>
                        <a:tabLst/>
                        <a:defRPr/>
                      </a:pPr>
                      <a:r>
                        <a:rPr lang="en-SG" sz="1100" u="sng">
                          <a:solidFill>
                            <a:srgbClr val="000000"/>
                          </a:solidFill>
                          <a:latin typeface="Arial" panose="020B0604020202020204" pitchFamily="34" charset="0"/>
                          <a:cs typeface="Arial" panose="020B0604020202020204" pitchFamily="34" charset="0"/>
                        </a:rPr>
                        <a:t>Asia ex-Japan</a:t>
                      </a:r>
                      <a:endPar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endParaRPr>
                    </a:p>
                    <a:p>
                      <a:pPr marL="0" marR="0" lvl="0" indent="0" algn="l" defTabSz="844083" rtl="0" eaLnBrk="1" fontAlgn="ctr" latinLnBrk="0" hangingPunct="1">
                        <a:lnSpc>
                          <a:spcPct val="100000"/>
                        </a:lnSpc>
                        <a:spcBef>
                          <a:spcPts val="0"/>
                        </a:spcBef>
                        <a:spcAft>
                          <a:spcPts val="0"/>
                        </a:spcAft>
                        <a:buClrTx/>
                        <a:buSzTx/>
                        <a:buFont typeface="Wingdings" panose="05000000000000000000" pitchFamily="2" charset="2"/>
                        <a:buNone/>
                        <a:tabLst/>
                        <a:defRPr/>
                      </a:pP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DBS ranks </a:t>
                      </a:r>
                      <a:r>
                        <a:rPr kumimoji="0" lang="en-SG" sz="1100" b="1" u="none" strike="noStrike" kern="1200" cap="none" spc="0" normalizeH="0" baseline="0">
                          <a:ln>
                            <a:noFill/>
                          </a:ln>
                          <a:solidFill>
                            <a:srgbClr val="C00000"/>
                          </a:solidFill>
                          <a:effectLst/>
                          <a:uLnTx/>
                          <a:uFillTx/>
                          <a:latin typeface="+mj-lt"/>
                          <a:ea typeface="+mn-ea"/>
                          <a:cs typeface="Arial" panose="020B0604020202020204" pitchFamily="34" charset="0"/>
                        </a:rPr>
                        <a:t>#9</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 in All Equities</a:t>
                      </a:r>
                      <a:r>
                        <a:rPr kumimoji="0" lang="en-SG" sz="1100" b="1" u="none" strike="noStrike" kern="1200" cap="none" spc="0" normalizeH="0" baseline="30000">
                          <a:ln>
                            <a:noFill/>
                          </a:ln>
                          <a:solidFill>
                            <a:srgbClr val="000000"/>
                          </a:solidFill>
                          <a:effectLst/>
                          <a:uLnTx/>
                          <a:uFillTx/>
                          <a:latin typeface="+mj-lt"/>
                          <a:ea typeface="+mn-ea"/>
                          <a:cs typeface="Arial" panose="020B0604020202020204" pitchFamily="34" charset="0"/>
                        </a:rPr>
                        <a:t>1</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 and </a:t>
                      </a:r>
                      <a:r>
                        <a:rPr kumimoji="0" lang="en-SG" sz="1100" b="1" u="none" strike="noStrike" kern="1200" cap="none" spc="0" normalizeH="0" baseline="0">
                          <a:ln>
                            <a:noFill/>
                          </a:ln>
                          <a:solidFill>
                            <a:srgbClr val="C00000"/>
                          </a:solidFill>
                          <a:effectLst/>
                          <a:uLnTx/>
                          <a:uFillTx/>
                          <a:latin typeface="+mj-lt"/>
                          <a:ea typeface="+mn-ea"/>
                          <a:cs typeface="Arial" panose="020B0604020202020204" pitchFamily="34" charset="0"/>
                        </a:rPr>
                        <a:t>#2</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 in REITs/BTs</a:t>
                      </a:r>
                      <a:r>
                        <a:rPr kumimoji="0" lang="en-SG" sz="1100" b="1" u="none" strike="noStrike" kern="1200" cap="none" spc="0" normalizeH="0" baseline="30000">
                          <a:ln>
                            <a:noFill/>
                          </a:ln>
                          <a:solidFill>
                            <a:srgbClr val="000000"/>
                          </a:solidFill>
                          <a:effectLst/>
                          <a:uLnTx/>
                          <a:uFillTx/>
                          <a:latin typeface="+mj-lt"/>
                          <a:ea typeface="+mn-ea"/>
                          <a:cs typeface="Arial" panose="020B0604020202020204" pitchFamily="34" charset="0"/>
                        </a:rPr>
                        <a:t>2</a:t>
                      </a:r>
                      <a:endPar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endParaRPr>
                    </a:p>
                  </a:txBody>
                  <a:tcPr marL="0" marR="0" marT="0" marB="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4343883"/>
                  </a:ext>
                </a:extLst>
              </a:tr>
            </a:tbl>
          </a:graphicData>
        </a:graphic>
      </p:graphicFrame>
      <p:graphicFrame>
        <p:nvGraphicFramePr>
          <p:cNvPr id="420" name="Table 419">
            <a:extLst>
              <a:ext uri="{FF2B5EF4-FFF2-40B4-BE49-F238E27FC236}">
                <a16:creationId xmlns:a16="http://schemas.microsoft.com/office/drawing/2014/main" id="{DB269071-3B83-EE62-DB4A-B46B2BC179B5}"/>
              </a:ext>
            </a:extLst>
          </p:cNvPr>
          <p:cNvGraphicFramePr>
            <a:graphicFrameLocks noGrp="1"/>
          </p:cNvGraphicFramePr>
          <p:nvPr>
            <p:extLst>
              <p:ext uri="{D42A27DB-BD31-4B8C-83A1-F6EECF244321}">
                <p14:modId xmlns:p14="http://schemas.microsoft.com/office/powerpoint/2010/main" val="2137093600"/>
              </p:ext>
            </p:extLst>
          </p:nvPr>
        </p:nvGraphicFramePr>
        <p:xfrm>
          <a:off x="6293850" y="3137592"/>
          <a:ext cx="2780334" cy="335280"/>
        </p:xfrm>
        <a:graphic>
          <a:graphicData uri="http://schemas.openxmlformats.org/drawingml/2006/table">
            <a:tbl>
              <a:tblPr firstRow="1" bandRow="1"/>
              <a:tblGrid>
                <a:gridCol w="2780334">
                  <a:extLst>
                    <a:ext uri="{9D8B030D-6E8A-4147-A177-3AD203B41FA5}">
                      <a16:colId xmlns:a16="http://schemas.microsoft.com/office/drawing/2014/main" val="2002617881"/>
                    </a:ext>
                  </a:extLst>
                </a:gridCol>
              </a:tblGrid>
              <a:tr h="324108">
                <a:tc>
                  <a:txBody>
                    <a:bodyPr/>
                    <a:lstStyle>
                      <a:lvl1pPr marL="0" algn="l" defTabSz="742950" rtl="0" eaLnBrk="1" latinLnBrk="0" hangingPunct="1">
                        <a:defRPr sz="1463" b="1" kern="1200">
                          <a:solidFill>
                            <a:schemeClr val="lt1"/>
                          </a:solidFill>
                          <a:latin typeface="Calibri" panose="020F0502020204030204"/>
                        </a:defRPr>
                      </a:lvl1pPr>
                      <a:lvl2pPr marL="371475" algn="l" defTabSz="742950" rtl="0" eaLnBrk="1" latinLnBrk="0" hangingPunct="1">
                        <a:defRPr sz="1463" b="1" kern="1200">
                          <a:solidFill>
                            <a:schemeClr val="lt1"/>
                          </a:solidFill>
                          <a:latin typeface="Calibri" panose="020F0502020204030204"/>
                        </a:defRPr>
                      </a:lvl2pPr>
                      <a:lvl3pPr marL="742950" algn="l" defTabSz="742950" rtl="0" eaLnBrk="1" latinLnBrk="0" hangingPunct="1">
                        <a:defRPr sz="1463" b="1" kern="1200">
                          <a:solidFill>
                            <a:schemeClr val="lt1"/>
                          </a:solidFill>
                          <a:latin typeface="Calibri" panose="020F0502020204030204"/>
                        </a:defRPr>
                      </a:lvl3pPr>
                      <a:lvl4pPr marL="1114425" algn="l" defTabSz="742950" rtl="0" eaLnBrk="1" latinLnBrk="0" hangingPunct="1">
                        <a:defRPr sz="1463" b="1" kern="1200">
                          <a:solidFill>
                            <a:schemeClr val="lt1"/>
                          </a:solidFill>
                          <a:latin typeface="Calibri" panose="020F0502020204030204"/>
                        </a:defRPr>
                      </a:lvl4pPr>
                      <a:lvl5pPr marL="1485900" algn="l" defTabSz="742950" rtl="0" eaLnBrk="1" latinLnBrk="0" hangingPunct="1">
                        <a:defRPr sz="1463" b="1" kern="1200">
                          <a:solidFill>
                            <a:schemeClr val="lt1"/>
                          </a:solidFill>
                          <a:latin typeface="Calibri" panose="020F0502020204030204"/>
                        </a:defRPr>
                      </a:lvl5pPr>
                      <a:lvl6pPr marL="1857375" algn="l" defTabSz="742950" rtl="0" eaLnBrk="1" latinLnBrk="0" hangingPunct="1">
                        <a:defRPr sz="1463" b="1" kern="1200">
                          <a:solidFill>
                            <a:schemeClr val="lt1"/>
                          </a:solidFill>
                          <a:latin typeface="Calibri" panose="020F0502020204030204"/>
                        </a:defRPr>
                      </a:lvl6pPr>
                      <a:lvl7pPr marL="2228850" algn="l" defTabSz="742950" rtl="0" eaLnBrk="1" latinLnBrk="0" hangingPunct="1">
                        <a:defRPr sz="1463" b="1" kern="1200">
                          <a:solidFill>
                            <a:schemeClr val="lt1"/>
                          </a:solidFill>
                          <a:latin typeface="Calibri" panose="020F0502020204030204"/>
                        </a:defRPr>
                      </a:lvl7pPr>
                      <a:lvl8pPr marL="2600325" algn="l" defTabSz="742950" rtl="0" eaLnBrk="1" latinLnBrk="0" hangingPunct="1">
                        <a:defRPr sz="1463" b="1" kern="1200">
                          <a:solidFill>
                            <a:schemeClr val="lt1"/>
                          </a:solidFill>
                          <a:latin typeface="Calibri" panose="020F0502020204030204"/>
                        </a:defRPr>
                      </a:lvl8pPr>
                      <a:lvl9pPr marL="2971800" algn="l" defTabSz="742950" rtl="0" eaLnBrk="1" latinLnBrk="0" hangingPunct="1">
                        <a:defRPr sz="1463" b="1" kern="1200">
                          <a:solidFill>
                            <a:schemeClr val="lt1"/>
                          </a:solidFill>
                          <a:latin typeface="Calibri" panose="020F0502020204030204"/>
                        </a:defRPr>
                      </a:lvl9pPr>
                    </a:lstStyle>
                    <a:p>
                      <a:pPr marL="0" marR="0" lvl="0" indent="0" algn="l" defTabSz="844083" rtl="0" eaLnBrk="1" fontAlgn="ctr" latinLnBrk="0" hangingPunct="1">
                        <a:lnSpc>
                          <a:spcPct val="100000"/>
                        </a:lnSpc>
                        <a:spcBef>
                          <a:spcPts val="0"/>
                        </a:spcBef>
                        <a:spcAft>
                          <a:spcPts val="0"/>
                        </a:spcAft>
                        <a:buClrTx/>
                        <a:buSzTx/>
                        <a:buFontTx/>
                        <a:buNone/>
                        <a:tabLst/>
                        <a:defRPr/>
                      </a:pPr>
                      <a:r>
                        <a:rPr kumimoji="0" lang="en-SG" sz="1100" b="1" u="sng" strike="noStrike" kern="1200" cap="none" spc="0" normalizeH="0" baseline="0">
                          <a:ln>
                            <a:noFill/>
                          </a:ln>
                          <a:solidFill>
                            <a:srgbClr val="000000"/>
                          </a:solidFill>
                          <a:effectLst/>
                          <a:uLnTx/>
                          <a:uFillTx/>
                          <a:latin typeface="+mj-lt"/>
                          <a:ea typeface="+mn-ea"/>
                          <a:cs typeface="Arial" panose="020B0604020202020204" pitchFamily="34" charset="0"/>
                        </a:rPr>
                        <a:t>Hong Kong</a:t>
                      </a:r>
                    </a:p>
                    <a:p>
                      <a:pPr marL="0" marR="0" lvl="0" indent="0" algn="l" defTabSz="844083" rtl="0" eaLnBrk="1" fontAlgn="ctr" latinLnBrk="0" hangingPunct="1">
                        <a:lnSpc>
                          <a:spcPct val="100000"/>
                        </a:lnSpc>
                        <a:spcBef>
                          <a:spcPts val="0"/>
                        </a:spcBef>
                        <a:spcAft>
                          <a:spcPts val="0"/>
                        </a:spcAft>
                        <a:buClrTx/>
                        <a:buSzTx/>
                        <a:buFontTx/>
                        <a:buNone/>
                        <a:tabLst/>
                        <a:defRPr/>
                      </a:pP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DBS Asia Capital ranks </a:t>
                      </a:r>
                      <a:r>
                        <a:rPr kumimoji="0" lang="en-SG" sz="1100" b="1" u="none" strike="noStrike" kern="1200" cap="none" spc="0" normalizeH="0" baseline="0">
                          <a:ln>
                            <a:noFill/>
                          </a:ln>
                          <a:solidFill>
                            <a:srgbClr val="C00000"/>
                          </a:solidFill>
                          <a:effectLst/>
                          <a:uLnTx/>
                          <a:uFillTx/>
                          <a:latin typeface="+mj-lt"/>
                          <a:ea typeface="+mn-ea"/>
                          <a:cs typeface="Arial" panose="020B0604020202020204" pitchFamily="34" charset="0"/>
                        </a:rPr>
                        <a:t>#3</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 in All Equities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4343883"/>
                  </a:ext>
                </a:extLst>
              </a:tr>
            </a:tbl>
          </a:graphicData>
        </a:graphic>
      </p:graphicFrame>
      <p:graphicFrame>
        <p:nvGraphicFramePr>
          <p:cNvPr id="421" name="Table 420">
            <a:extLst>
              <a:ext uri="{FF2B5EF4-FFF2-40B4-BE49-F238E27FC236}">
                <a16:creationId xmlns:a16="http://schemas.microsoft.com/office/drawing/2014/main" id="{93D16938-D913-35BA-76FD-CCE3E8A6BE59}"/>
              </a:ext>
            </a:extLst>
          </p:cNvPr>
          <p:cNvGraphicFramePr>
            <a:graphicFrameLocks noGrp="1"/>
          </p:cNvGraphicFramePr>
          <p:nvPr>
            <p:extLst>
              <p:ext uri="{D42A27DB-BD31-4B8C-83A1-F6EECF244321}">
                <p14:modId xmlns:p14="http://schemas.microsoft.com/office/powerpoint/2010/main" val="553019923"/>
              </p:ext>
            </p:extLst>
          </p:nvPr>
        </p:nvGraphicFramePr>
        <p:xfrm>
          <a:off x="798305" y="3797297"/>
          <a:ext cx="3608989" cy="335280"/>
        </p:xfrm>
        <a:graphic>
          <a:graphicData uri="http://schemas.openxmlformats.org/drawingml/2006/table">
            <a:tbl>
              <a:tblPr firstRow="1" bandRow="1"/>
              <a:tblGrid>
                <a:gridCol w="3608989">
                  <a:extLst>
                    <a:ext uri="{9D8B030D-6E8A-4147-A177-3AD203B41FA5}">
                      <a16:colId xmlns:a16="http://schemas.microsoft.com/office/drawing/2014/main" val="2002617881"/>
                    </a:ext>
                  </a:extLst>
                </a:gridCol>
              </a:tblGrid>
              <a:tr h="324000">
                <a:tc>
                  <a:txBody>
                    <a:bodyPr/>
                    <a:lstStyle>
                      <a:lvl1pPr marL="0" algn="l" defTabSz="742950" rtl="0" eaLnBrk="1" latinLnBrk="0" hangingPunct="1">
                        <a:defRPr sz="1463" b="1" kern="1200">
                          <a:solidFill>
                            <a:schemeClr val="lt1"/>
                          </a:solidFill>
                          <a:latin typeface="Calibri" panose="020F0502020204030204"/>
                        </a:defRPr>
                      </a:lvl1pPr>
                      <a:lvl2pPr marL="371475" algn="l" defTabSz="742950" rtl="0" eaLnBrk="1" latinLnBrk="0" hangingPunct="1">
                        <a:defRPr sz="1463" b="1" kern="1200">
                          <a:solidFill>
                            <a:schemeClr val="lt1"/>
                          </a:solidFill>
                          <a:latin typeface="Calibri" panose="020F0502020204030204"/>
                        </a:defRPr>
                      </a:lvl2pPr>
                      <a:lvl3pPr marL="742950" algn="l" defTabSz="742950" rtl="0" eaLnBrk="1" latinLnBrk="0" hangingPunct="1">
                        <a:defRPr sz="1463" b="1" kern="1200">
                          <a:solidFill>
                            <a:schemeClr val="lt1"/>
                          </a:solidFill>
                          <a:latin typeface="Calibri" panose="020F0502020204030204"/>
                        </a:defRPr>
                      </a:lvl3pPr>
                      <a:lvl4pPr marL="1114425" algn="l" defTabSz="742950" rtl="0" eaLnBrk="1" latinLnBrk="0" hangingPunct="1">
                        <a:defRPr sz="1463" b="1" kern="1200">
                          <a:solidFill>
                            <a:schemeClr val="lt1"/>
                          </a:solidFill>
                          <a:latin typeface="Calibri" panose="020F0502020204030204"/>
                        </a:defRPr>
                      </a:lvl4pPr>
                      <a:lvl5pPr marL="1485900" algn="l" defTabSz="742950" rtl="0" eaLnBrk="1" latinLnBrk="0" hangingPunct="1">
                        <a:defRPr sz="1463" b="1" kern="1200">
                          <a:solidFill>
                            <a:schemeClr val="lt1"/>
                          </a:solidFill>
                          <a:latin typeface="Calibri" panose="020F0502020204030204"/>
                        </a:defRPr>
                      </a:lvl5pPr>
                      <a:lvl6pPr marL="1857375" algn="l" defTabSz="742950" rtl="0" eaLnBrk="1" latinLnBrk="0" hangingPunct="1">
                        <a:defRPr sz="1463" b="1" kern="1200">
                          <a:solidFill>
                            <a:schemeClr val="lt1"/>
                          </a:solidFill>
                          <a:latin typeface="Calibri" panose="020F0502020204030204"/>
                        </a:defRPr>
                      </a:lvl6pPr>
                      <a:lvl7pPr marL="2228850" algn="l" defTabSz="742950" rtl="0" eaLnBrk="1" latinLnBrk="0" hangingPunct="1">
                        <a:defRPr sz="1463" b="1" kern="1200">
                          <a:solidFill>
                            <a:schemeClr val="lt1"/>
                          </a:solidFill>
                          <a:latin typeface="Calibri" panose="020F0502020204030204"/>
                        </a:defRPr>
                      </a:lvl7pPr>
                      <a:lvl8pPr marL="2600325" algn="l" defTabSz="742950" rtl="0" eaLnBrk="1" latinLnBrk="0" hangingPunct="1">
                        <a:defRPr sz="1463" b="1" kern="1200">
                          <a:solidFill>
                            <a:schemeClr val="lt1"/>
                          </a:solidFill>
                          <a:latin typeface="Calibri" panose="020F0502020204030204"/>
                        </a:defRPr>
                      </a:lvl8pPr>
                      <a:lvl9pPr marL="2971800" algn="l" defTabSz="742950" rtl="0" eaLnBrk="1" latinLnBrk="0" hangingPunct="1">
                        <a:defRPr sz="1463" b="1" kern="1200">
                          <a:solidFill>
                            <a:schemeClr val="lt1"/>
                          </a:solidFill>
                          <a:latin typeface="Calibri" panose="020F0502020204030204"/>
                        </a:defRPr>
                      </a:lvl9pPr>
                    </a:lstStyle>
                    <a:p>
                      <a:pPr marL="0" marR="0" lvl="0" indent="0" algn="l" defTabSz="844083" rtl="0" eaLnBrk="1" fontAlgn="ctr" latinLnBrk="0" hangingPunct="1">
                        <a:lnSpc>
                          <a:spcPct val="100000"/>
                        </a:lnSpc>
                        <a:spcBef>
                          <a:spcPts val="0"/>
                        </a:spcBef>
                        <a:spcAft>
                          <a:spcPts val="0"/>
                        </a:spcAft>
                        <a:buClrTx/>
                        <a:buSzTx/>
                        <a:buFont typeface="Wingdings" panose="05000000000000000000" pitchFamily="2" charset="2"/>
                        <a:buNone/>
                        <a:tabLst/>
                        <a:defRPr/>
                      </a:pPr>
                      <a:r>
                        <a:rPr kumimoji="0" lang="en-SG" sz="1100" b="1" u="sng" strike="noStrike" kern="1200" cap="none" spc="0" normalizeH="0" baseline="0">
                          <a:ln>
                            <a:noFill/>
                          </a:ln>
                          <a:solidFill>
                            <a:srgbClr val="000000"/>
                          </a:solidFill>
                          <a:effectLst/>
                          <a:uLnTx/>
                          <a:uFillTx/>
                          <a:latin typeface="+mj-lt"/>
                          <a:ea typeface="+mn-ea"/>
                          <a:cs typeface="Arial" panose="020B0604020202020204" pitchFamily="34" charset="0"/>
                        </a:rPr>
                        <a:t>ASEAN</a:t>
                      </a:r>
                      <a:br>
                        <a:rPr kumimoji="0" lang="en-SG" sz="1100" b="1" u="sng" strike="noStrike" kern="1200" cap="none" spc="0" normalizeH="0" baseline="0">
                          <a:ln>
                            <a:noFill/>
                          </a:ln>
                          <a:solidFill>
                            <a:srgbClr val="000000"/>
                          </a:solidFill>
                          <a:effectLst/>
                          <a:uLnTx/>
                          <a:uFillTx/>
                          <a:latin typeface="+mj-lt"/>
                          <a:ea typeface="+mn-ea"/>
                          <a:cs typeface="Arial" panose="020B0604020202020204" pitchFamily="34" charset="0"/>
                        </a:rPr>
                      </a:b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DBS ranks </a:t>
                      </a:r>
                      <a:r>
                        <a:rPr kumimoji="0" lang="en-SG" sz="1100" b="1" u="none" strike="noStrike" kern="1200" cap="none" spc="0" normalizeH="0" baseline="0">
                          <a:ln>
                            <a:noFill/>
                          </a:ln>
                          <a:solidFill>
                            <a:srgbClr val="C00000"/>
                          </a:solidFill>
                          <a:effectLst/>
                          <a:uLnTx/>
                          <a:uFillTx/>
                          <a:latin typeface="+mj-lt"/>
                          <a:ea typeface="+mn-ea"/>
                          <a:cs typeface="Arial" panose="020B0604020202020204" pitchFamily="34" charset="0"/>
                        </a:rPr>
                        <a:t>#3</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 in All Equities and </a:t>
                      </a:r>
                      <a:r>
                        <a:rPr kumimoji="0" lang="en-SG" sz="1100" b="1" u="none" strike="noStrike" kern="1200" cap="none" spc="0" normalizeH="0" baseline="0">
                          <a:ln>
                            <a:noFill/>
                          </a:ln>
                          <a:solidFill>
                            <a:srgbClr val="C00000"/>
                          </a:solidFill>
                          <a:effectLst/>
                          <a:uLnTx/>
                          <a:uFillTx/>
                          <a:latin typeface="+mj-lt"/>
                          <a:ea typeface="+mn-ea"/>
                          <a:cs typeface="Arial" panose="020B0604020202020204" pitchFamily="34" charset="0"/>
                        </a:rPr>
                        <a:t>#1</a:t>
                      </a:r>
                      <a:r>
                        <a:rPr kumimoji="0" lang="en-SG" sz="1100" b="1" u="none" strike="noStrike" kern="1200" cap="none" spc="0" normalizeH="0" baseline="0">
                          <a:ln>
                            <a:noFill/>
                          </a:ln>
                          <a:solidFill>
                            <a:srgbClr val="000000"/>
                          </a:solidFill>
                          <a:effectLst/>
                          <a:uLnTx/>
                          <a:uFillTx/>
                          <a:latin typeface="+mj-lt"/>
                          <a:ea typeface="+mn-ea"/>
                          <a:cs typeface="Arial" panose="020B0604020202020204" pitchFamily="34" charset="0"/>
                        </a:rPr>
                        <a:t> in REITs/BTs</a:t>
                      </a:r>
                    </a:p>
                  </a:txBody>
                  <a:tcPr marL="0" marR="0" marT="0" marB="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4343883"/>
                  </a:ext>
                </a:extLst>
              </a:tr>
            </a:tbl>
          </a:graphicData>
        </a:graphic>
      </p:graphicFrame>
      <p:sp>
        <p:nvSpPr>
          <p:cNvPr id="291" name="Freeform 762">
            <a:extLst>
              <a:ext uri="{FF2B5EF4-FFF2-40B4-BE49-F238E27FC236}">
                <a16:creationId xmlns:a16="http://schemas.microsoft.com/office/drawing/2014/main" id="{6579E9BE-F99D-3DC1-DEEC-693DEC8068A1}"/>
              </a:ext>
            </a:extLst>
          </p:cNvPr>
          <p:cNvSpPr>
            <a:spLocks/>
          </p:cNvSpPr>
          <p:nvPr/>
        </p:nvSpPr>
        <p:spPr bwMode="auto">
          <a:xfrm>
            <a:off x="7201315" y="5335767"/>
            <a:ext cx="180044" cy="45990"/>
          </a:xfrm>
          <a:custGeom>
            <a:avLst/>
            <a:gdLst/>
            <a:ahLst/>
            <a:cxnLst>
              <a:cxn ang="0">
                <a:pos x="0" y="0"/>
              </a:cxn>
              <a:cxn ang="0">
                <a:pos x="7" y="0"/>
              </a:cxn>
              <a:cxn ang="0">
                <a:pos x="16" y="8"/>
              </a:cxn>
              <a:cxn ang="0">
                <a:pos x="11" y="9"/>
              </a:cxn>
              <a:cxn ang="0">
                <a:pos x="0" y="0"/>
              </a:cxn>
            </a:cxnLst>
            <a:rect l="0" t="0" r="r" b="b"/>
            <a:pathLst>
              <a:path w="16" h="9">
                <a:moveTo>
                  <a:pt x="0" y="0"/>
                </a:moveTo>
                <a:lnTo>
                  <a:pt x="7" y="0"/>
                </a:lnTo>
                <a:lnTo>
                  <a:pt x="16" y="8"/>
                </a:lnTo>
                <a:lnTo>
                  <a:pt x="11" y="9"/>
                </a:lnTo>
                <a:lnTo>
                  <a:pt x="0" y="0"/>
                </a:lnTo>
                <a:close/>
              </a:path>
            </a:pathLst>
          </a:custGeom>
          <a:solidFill>
            <a:sysClr val="window" lastClr="FFFFFF">
              <a:lumMod val="85000"/>
            </a:sysClr>
          </a:solidFill>
          <a:ln w="3175" cmpd="sng">
            <a:solidFill>
              <a:sysClr val="window" lastClr="FFFFFF"/>
            </a:solidFill>
            <a:round/>
            <a:headEnd/>
            <a:tailEnd/>
          </a:ln>
        </p:spPr>
        <p:txBody>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10" name="TextBox 409">
            <a:extLst>
              <a:ext uri="{FF2B5EF4-FFF2-40B4-BE49-F238E27FC236}">
                <a16:creationId xmlns:a16="http://schemas.microsoft.com/office/drawing/2014/main" id="{4B2ABA2B-816F-AFC3-6027-E5667F9FDB8F}"/>
              </a:ext>
            </a:extLst>
          </p:cNvPr>
          <p:cNvSpPr txBox="1"/>
          <p:nvPr/>
        </p:nvSpPr>
        <p:spPr>
          <a:xfrm>
            <a:off x="1616288" y="1688572"/>
            <a:ext cx="3132496" cy="2236510"/>
          </a:xfrm>
          <a:prstGeom prst="rect">
            <a:avLst/>
          </a:prstGeom>
          <a:noFill/>
        </p:spPr>
        <p:txBody>
          <a:bodyPr wrap="square" rtlCol="0">
            <a:spAutoFit/>
          </a:bodyPr>
          <a:lstStyle/>
          <a:p>
            <a:pPr marL="180000" marR="0" lvl="2" indent="-180000" algn="l" defTabSz="914400" rtl="0" eaLnBrk="0" fontAlgn="base" latinLnBrk="0" hangingPunct="0">
              <a:lnSpc>
                <a:spcPct val="100000"/>
              </a:lnSpc>
              <a:spcBef>
                <a:spcPts val="0"/>
              </a:spcBef>
              <a:spcAft>
                <a:spcPts val="20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Banker:</a:t>
            </a: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Investment Bank of the Year (Asia Pacific) (2024) </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(2</a:t>
            </a:r>
            <a:r>
              <a:rPr kumimoji="0" lang="en-SG" sz="900" b="0" i="0" u="none" strike="noStrike" kern="1200" cap="none" spc="0" normalizeH="0" baseline="30000" noProof="0" dirty="0">
                <a:ln>
                  <a:noFill/>
                </a:ln>
                <a:solidFill>
                  <a:srgbClr val="C00000"/>
                </a:solidFill>
                <a:effectLst/>
                <a:uLnTx/>
                <a:uFillTx/>
                <a:latin typeface="Arial" panose="020B0604020202020204" pitchFamily="34" charset="0"/>
                <a:ea typeface="+mn-ea"/>
                <a:cs typeface="Arial" panose="020B0604020202020204" pitchFamily="34" charset="0"/>
              </a:rPr>
              <a:t>nd</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Win)</a:t>
            </a:r>
          </a:p>
          <a:p>
            <a:pPr marL="180000" marR="0" lvl="2" indent="-180000" algn="l" defTabSz="914400" rtl="0" eaLnBrk="0" fontAlgn="base" latinLnBrk="0" hangingPunct="0">
              <a:lnSpc>
                <a:spcPct val="100000"/>
              </a:lnSpc>
              <a:spcBef>
                <a:spcPts val="0"/>
              </a:spcBef>
              <a:spcAft>
                <a:spcPts val="20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Global Finance:</a:t>
            </a: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Best Investment Bank (Asia Pacific) (2023) </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(4</a:t>
            </a:r>
            <a:r>
              <a:rPr kumimoji="0" lang="en-SG" sz="900" b="0" i="0" u="none" strike="noStrike" kern="1200" cap="none" spc="0" normalizeH="0" baseline="30000" noProof="0" dirty="0">
                <a:ln>
                  <a:noFill/>
                </a:ln>
                <a:solidFill>
                  <a:srgbClr val="C00000"/>
                </a:solidFill>
                <a:effectLst/>
                <a:uLnTx/>
                <a:uFillTx/>
                <a:latin typeface="Arial" panose="020B0604020202020204" pitchFamily="34" charset="0"/>
                <a:ea typeface="+mn-ea"/>
                <a:cs typeface="Arial" panose="020B0604020202020204" pitchFamily="34" charset="0"/>
              </a:rPr>
              <a:t>th</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Win)</a:t>
            </a:r>
          </a:p>
          <a:p>
            <a:pPr marL="180000" marR="0" lvl="2" indent="-180000" algn="l" defTabSz="914400" rtl="0" eaLnBrk="0" fontAlgn="base" latinLnBrk="0" hangingPunct="0">
              <a:lnSpc>
                <a:spcPct val="100000"/>
              </a:lnSpc>
              <a:spcBef>
                <a:spcPts val="0"/>
              </a:spcBef>
              <a:spcAft>
                <a:spcPts val="20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Asset:</a:t>
            </a: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Best REIT Advisor (Regional) (2023) </a:t>
            </a:r>
            <a:b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(11</a:t>
            </a:r>
            <a:r>
              <a:rPr kumimoji="0" lang="en-SG" sz="900" b="0" i="0" u="none" strike="noStrike" kern="1200" cap="none" spc="0" normalizeH="0" baseline="30000" noProof="0" dirty="0">
                <a:ln>
                  <a:noFill/>
                </a:ln>
                <a:solidFill>
                  <a:srgbClr val="C00000"/>
                </a:solidFill>
                <a:effectLst/>
                <a:uLnTx/>
                <a:uFillTx/>
                <a:latin typeface="Arial" panose="020B0604020202020204" pitchFamily="34" charset="0"/>
                <a:ea typeface="+mn-ea"/>
                <a:cs typeface="Arial" panose="020B0604020202020204" pitchFamily="34" charset="0"/>
              </a:rPr>
              <a:t>th</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Consecutive Win)</a:t>
            </a:r>
          </a:p>
          <a:p>
            <a:pPr marL="180000" marR="0" lvl="2" indent="-180000" algn="l" defTabSz="914400" rtl="0" eaLnBrk="1" fontAlgn="auto" latinLnBrk="0" hangingPunct="1">
              <a:lnSpc>
                <a:spcPct val="100000"/>
              </a:lnSpc>
              <a:spcBef>
                <a:spcPts val="0"/>
              </a:spcBef>
              <a:spcAft>
                <a:spcPts val="200"/>
              </a:spcAft>
              <a:buClrTx/>
              <a:buSzTx/>
              <a:buFont typeface="Wingdings" panose="05000000000000000000" pitchFamily="2" charset="2"/>
              <a:buChar char="Ø"/>
              <a:defRPr/>
            </a:pPr>
            <a:r>
              <a:rPr kumimoji="0" lang="en-SG"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Finance Asia: </a:t>
            </a:r>
            <a:r>
              <a:rPr kumimoji="0" lang="en-SG"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Best Equity Deal (Asia) (2023)</a:t>
            </a:r>
          </a:p>
          <a:p>
            <a:pPr marL="401638" lvl="3" indent="-179388" fontAlgn="auto">
              <a:spcBef>
                <a:spcPts val="0"/>
              </a:spcBef>
              <a:spcAft>
                <a:spcPts val="200"/>
              </a:spcAft>
              <a:buFont typeface="Arial" panose="020B0604020202020204" pitchFamily="34" charset="0"/>
              <a:buChar char="―"/>
              <a:defRPr/>
            </a:pP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DengXian" panose="02010600030101010101" pitchFamily="2" charset="-122"/>
                <a:cs typeface="Arial" panose="020B0604020202020204" pitchFamily="34" charset="0"/>
              </a:rPr>
              <a:t>Link REIT’s HK$18.8 billion (US$2.4 billion) Rights Issue</a:t>
            </a:r>
            <a:endParaRPr kumimoji="0" lang="en-SG"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80000" marR="0" lvl="2" indent="-180000" algn="l" defTabSz="914400" rtl="0" eaLnBrk="1" fontAlgn="auto" latinLnBrk="0" hangingPunct="1">
              <a:lnSpc>
                <a:spcPct val="100000"/>
              </a:lnSpc>
              <a:spcBef>
                <a:spcPts val="0"/>
              </a:spcBef>
              <a:spcAft>
                <a:spcPts val="20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Finance Asia: </a:t>
            </a:r>
            <a:r>
              <a:rPr kumimoji="0" lang="en-SG"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Best Property Deal (Asia) (2023) </a:t>
            </a:r>
          </a:p>
          <a:p>
            <a:pPr marL="401638" lvl="3" indent="-179388" fontAlgn="auto">
              <a:spcBef>
                <a:spcPts val="0"/>
              </a:spcBef>
              <a:spcAft>
                <a:spcPts val="200"/>
              </a:spcAft>
              <a:buFont typeface="Arial" panose="020B0604020202020204" pitchFamily="34" charset="0"/>
              <a:buChar char="―"/>
              <a:defRPr/>
            </a:pPr>
            <a:r>
              <a:rPr lang="en-SG" sz="900" b="0" dirty="0">
                <a:solidFill>
                  <a:srgbClr val="000000"/>
                </a:solidFill>
                <a:latin typeface="Arial" panose="020B0604020202020204" pitchFamily="34" charset="0"/>
                <a:ea typeface="DengXian" panose="02010600030101010101" pitchFamily="2" charset="-122"/>
                <a:cs typeface="Arial" panose="020B0604020202020204" pitchFamily="34" charset="0"/>
              </a:rPr>
              <a:t>Yuexiu Property’s HK$8.36 billion Rights Issue</a:t>
            </a:r>
          </a:p>
          <a:p>
            <a:pPr marL="180000" marR="0" lvl="2" indent="-180000" algn="l" defTabSz="914400" rtl="0" eaLnBrk="1" fontAlgn="auto" latinLnBrk="0" hangingPunct="1">
              <a:lnSpc>
                <a:spcPct val="100000"/>
              </a:lnSpc>
              <a:spcBef>
                <a:spcPts val="0"/>
              </a:spcBef>
              <a:spcAft>
                <a:spcPts val="20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Finance Asia: </a:t>
            </a:r>
            <a:r>
              <a:rPr kumimoji="0" lang="en-SG"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Best IPO (Southeast Asia) (2023)</a:t>
            </a:r>
          </a:p>
          <a:p>
            <a:pPr marL="401638" marR="0" lvl="3" indent="-179388" defTabSz="914400" eaLnBrk="1" fontAlgn="auto" latinLnBrk="0" hangingPunct="1">
              <a:lnSpc>
                <a:spcPct val="100000"/>
              </a:lnSpc>
              <a:spcBef>
                <a:spcPts val="0"/>
              </a:spcBef>
              <a:spcAft>
                <a:spcPts val="200"/>
              </a:spcAft>
              <a:buClrTx/>
              <a:buSzTx/>
              <a:buFont typeface="Arial" panose="020B0604020202020204" pitchFamily="34" charset="0"/>
              <a:buChar char="―"/>
              <a:tabLst/>
              <a:defRPr/>
            </a:pPr>
            <a:r>
              <a:rPr lang="en-SG" sz="900" b="0" dirty="0">
                <a:solidFill>
                  <a:srgbClr val="000000"/>
                </a:solidFill>
                <a:latin typeface="Arial" panose="020B0604020202020204" pitchFamily="34" charset="0"/>
                <a:ea typeface="DengXian" panose="02010600030101010101" pitchFamily="2" charset="-122"/>
                <a:cs typeface="Arial" panose="020B0604020202020204" pitchFamily="34" charset="0"/>
              </a:rPr>
              <a:t>PT Amman Mineral Internasional </a:t>
            </a:r>
            <a:r>
              <a:rPr lang="en-SG" sz="900" b="0" dirty="0" err="1">
                <a:solidFill>
                  <a:srgbClr val="000000"/>
                </a:solidFill>
                <a:latin typeface="Arial" panose="020B0604020202020204" pitchFamily="34" charset="0"/>
                <a:ea typeface="DengXian" panose="02010600030101010101" pitchFamily="2" charset="-122"/>
                <a:cs typeface="Arial" panose="020B0604020202020204" pitchFamily="34" charset="0"/>
              </a:rPr>
              <a:t>Tbk’s</a:t>
            </a:r>
            <a:r>
              <a:rPr lang="en-SG" sz="900" b="0" dirty="0">
                <a:solidFill>
                  <a:srgbClr val="000000"/>
                </a:solidFill>
                <a:latin typeface="Arial" panose="020B0604020202020204" pitchFamily="34" charset="0"/>
                <a:ea typeface="DengXian" panose="02010600030101010101" pitchFamily="2" charset="-122"/>
                <a:cs typeface="Arial" panose="020B0604020202020204" pitchFamily="34" charset="0"/>
              </a:rPr>
              <a:t> US$708 million IPO</a:t>
            </a:r>
          </a:p>
        </p:txBody>
      </p:sp>
      <p:sp>
        <p:nvSpPr>
          <p:cNvPr id="415" name="TextBox 414">
            <a:extLst>
              <a:ext uri="{FF2B5EF4-FFF2-40B4-BE49-F238E27FC236}">
                <a16:creationId xmlns:a16="http://schemas.microsoft.com/office/drawing/2014/main" id="{698ECC19-EFAD-C068-CC0F-57EE28F3731B}"/>
              </a:ext>
            </a:extLst>
          </p:cNvPr>
          <p:cNvSpPr txBox="1"/>
          <p:nvPr/>
        </p:nvSpPr>
        <p:spPr>
          <a:xfrm>
            <a:off x="5254752" y="4642010"/>
            <a:ext cx="3965447" cy="784830"/>
          </a:xfrm>
          <a:prstGeom prst="rect">
            <a:avLst/>
          </a:prstGeom>
          <a:noFill/>
        </p:spPr>
        <p:txBody>
          <a:bodyPr wrap="square" lIns="36000" rIns="36000" rtlCol="0" anchor="t">
            <a:spAutoFit/>
          </a:bodyPr>
          <a:lstStyle/>
          <a:p>
            <a:pPr marL="180000" marR="0" lvl="1" indent="-1800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Finance Asia: </a:t>
            </a:r>
            <a:r>
              <a:rPr kumimoji="0" lang="en-SG"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Best Equity Deal (Singapore) (2023) – SATS </a:t>
            </a:r>
            <a:r>
              <a:rPr kumimoji="0" lang="en-SG" sz="9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Ltd’s</a:t>
            </a:r>
            <a:r>
              <a:rPr kumimoji="0" lang="en-SG"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S$798.8 million Rights Issue</a:t>
            </a:r>
            <a:endPar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180000" marR="0" lvl="1" indent="-180000" algn="l"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Global Finance:</a:t>
            </a: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Best Investment Bank (2024) </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(10</a:t>
            </a:r>
            <a:r>
              <a:rPr kumimoji="0" lang="en-SG" sz="900" b="0" i="0" u="none" strike="noStrike" kern="1200" cap="none" spc="0" normalizeH="0" baseline="30000" noProof="0" dirty="0">
                <a:ln>
                  <a:noFill/>
                </a:ln>
                <a:solidFill>
                  <a:srgbClr val="C00000"/>
                </a:solidFill>
                <a:effectLst/>
                <a:uLnTx/>
                <a:uFillTx/>
                <a:latin typeface="Arial" panose="020B0604020202020204" pitchFamily="34" charset="0"/>
                <a:ea typeface="+mn-ea"/>
                <a:cs typeface="Arial" panose="020B0604020202020204" pitchFamily="34" charset="0"/>
              </a:rPr>
              <a:t>th</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Win)</a:t>
            </a:r>
          </a:p>
          <a:p>
            <a:pPr marL="180000" marR="0" lvl="1" indent="-180000" algn="l"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Finance Asia:</a:t>
            </a: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Best Investment Bank (2024) by </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(15</a:t>
            </a:r>
            <a:r>
              <a:rPr kumimoji="0" lang="en-SG" sz="900" b="0" i="0" u="none" strike="noStrike" kern="1200" cap="none" spc="0" normalizeH="0" baseline="30000" noProof="0" dirty="0">
                <a:ln>
                  <a:noFill/>
                </a:ln>
                <a:solidFill>
                  <a:srgbClr val="C00000"/>
                </a:solidFill>
                <a:effectLst/>
                <a:uLnTx/>
                <a:uFillTx/>
                <a:latin typeface="Arial" panose="020B0604020202020204" pitchFamily="34" charset="0"/>
                <a:ea typeface="+mn-ea"/>
                <a:cs typeface="Arial" panose="020B0604020202020204" pitchFamily="34" charset="0"/>
              </a:rPr>
              <a:t>th</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Consecutive Win)</a:t>
            </a:r>
          </a:p>
          <a:p>
            <a:pPr marL="180000" marR="0" lvl="1" indent="-180000" algn="l"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SG" sz="900" b="1"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Asiamoney</a:t>
            </a:r>
            <a:r>
              <a:rPr kumimoji="0" lang="en-SG" sz="9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Best Investment Bank (2023) </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(5</a:t>
            </a:r>
            <a:r>
              <a:rPr kumimoji="0" lang="en-SG" sz="900" b="0" i="0" u="none" strike="noStrike" kern="1200" cap="none" spc="0" normalizeH="0" baseline="30000" noProof="0" dirty="0">
                <a:ln>
                  <a:noFill/>
                </a:ln>
                <a:solidFill>
                  <a:srgbClr val="C00000"/>
                </a:solidFill>
                <a:effectLst/>
                <a:uLnTx/>
                <a:uFillTx/>
                <a:latin typeface="Arial" panose="020B0604020202020204" pitchFamily="34" charset="0"/>
                <a:ea typeface="+mn-ea"/>
                <a:cs typeface="Arial" panose="020B0604020202020204" pitchFamily="34" charset="0"/>
              </a:rPr>
              <a:t>th</a:t>
            </a:r>
            <a:r>
              <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Consecutive Win)</a:t>
            </a:r>
          </a:p>
        </p:txBody>
      </p:sp>
      <p:sp>
        <p:nvSpPr>
          <p:cNvPr id="417" name="TextBox 416">
            <a:extLst>
              <a:ext uri="{FF2B5EF4-FFF2-40B4-BE49-F238E27FC236}">
                <a16:creationId xmlns:a16="http://schemas.microsoft.com/office/drawing/2014/main" id="{80435FE3-02A9-7A1A-AC47-37F091A3C39B}"/>
              </a:ext>
            </a:extLst>
          </p:cNvPr>
          <p:cNvSpPr txBox="1"/>
          <p:nvPr/>
        </p:nvSpPr>
        <p:spPr>
          <a:xfrm>
            <a:off x="2426970" y="4831230"/>
            <a:ext cx="2144956" cy="276999"/>
          </a:xfrm>
          <a:prstGeom prst="rect">
            <a:avLst/>
          </a:prstGeom>
          <a:noFill/>
        </p:spPr>
        <p:txBody>
          <a:bodyPr wrap="square" lIns="0" tIns="0" rIns="0" bIns="0" rtlCol="0" anchor="t">
            <a:spAutoFit/>
          </a:bodyPr>
          <a:lstStyle/>
          <a:p>
            <a:pPr marL="180000" marR="0" lvl="1" indent="-180000" algn="l" defTabSz="914400" rtl="0" eaLnBrk="0" fontAlgn="base" latinLnBrk="0" hangingPunct="0">
              <a:lnSpc>
                <a:spcPct val="100000"/>
              </a:lnSpc>
              <a:spcBef>
                <a:spcPct val="0"/>
              </a:spcBef>
              <a:spcAft>
                <a:spcPts val="200"/>
              </a:spcAft>
              <a:buClrTx/>
              <a:buSzTx/>
              <a:buFont typeface="Wingdings" panose="05000000000000000000" pitchFamily="2" charset="2"/>
              <a:buChar char="Ø"/>
              <a:tabLst/>
              <a:defRPr/>
            </a:pPr>
            <a:r>
              <a:rPr kumimoji="0" lang="en-SG" sz="9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Global Finance: </a:t>
            </a: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Best Investment </a:t>
            </a:r>
            <a:b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b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Bank (2023)</a:t>
            </a:r>
            <a:endParaRPr kumimoji="0" lang="en-SG" sz="9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p:txBody>
      </p:sp>
      <p:pic>
        <p:nvPicPr>
          <p:cNvPr id="430" name="Picture 429" descr="C:\Users\jaypeh\Desktop\Pics\misc\Trophy.png">
            <a:extLst>
              <a:ext uri="{FF2B5EF4-FFF2-40B4-BE49-F238E27FC236}">
                <a16:creationId xmlns:a16="http://schemas.microsoft.com/office/drawing/2014/main" id="{05520ABD-D954-FC88-EEA2-9C7A0D7AF04D}"/>
              </a:ext>
            </a:extLst>
          </p:cNvPr>
          <p:cNvPicPr>
            <a:picLocks noChangeAspect="1" noChangeArrowheads="1"/>
          </p:cNvPicPr>
          <p:nvPr/>
        </p:nvPicPr>
        <p:blipFill>
          <a:blip r:embed="rId3" cstate="print"/>
          <a:srcRect/>
          <a:stretch>
            <a:fillRect/>
          </a:stretch>
        </p:blipFill>
        <p:spPr bwMode="auto">
          <a:xfrm>
            <a:off x="1176589" y="1725161"/>
            <a:ext cx="466333" cy="477778"/>
          </a:xfrm>
          <a:prstGeom prst="rect">
            <a:avLst/>
          </a:prstGeom>
          <a:noFill/>
          <a:ln>
            <a:noFill/>
          </a:ln>
        </p:spPr>
      </p:pic>
      <p:pic>
        <p:nvPicPr>
          <p:cNvPr id="13" name="Picture 12" descr="A black background with a black square&#10;&#10;Description automatically generated with medium confidence">
            <a:extLst>
              <a:ext uri="{FF2B5EF4-FFF2-40B4-BE49-F238E27FC236}">
                <a16:creationId xmlns:a16="http://schemas.microsoft.com/office/drawing/2014/main" id="{ECDEA736-8247-20DB-543A-4E448E2E7B0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70706"/>
          <a:stretch/>
        </p:blipFill>
        <p:spPr>
          <a:xfrm>
            <a:off x="4320962" y="4489845"/>
            <a:ext cx="237428" cy="236307"/>
          </a:xfrm>
          <a:prstGeom prst="rect">
            <a:avLst/>
          </a:prstGeom>
        </p:spPr>
      </p:pic>
      <p:pic>
        <p:nvPicPr>
          <p:cNvPr id="14" name="Picture 13" descr="A black background with a black square&#10;&#10;Description automatically generated with medium confidence">
            <a:extLst>
              <a:ext uri="{FF2B5EF4-FFF2-40B4-BE49-F238E27FC236}">
                <a16:creationId xmlns:a16="http://schemas.microsoft.com/office/drawing/2014/main" id="{1F7FE190-9F78-278E-5687-FAF02DEAD7F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70706"/>
          <a:stretch/>
        </p:blipFill>
        <p:spPr>
          <a:xfrm>
            <a:off x="4969460" y="4489845"/>
            <a:ext cx="237428" cy="236307"/>
          </a:xfrm>
          <a:prstGeom prst="rect">
            <a:avLst/>
          </a:prstGeom>
        </p:spPr>
      </p:pic>
      <p:pic>
        <p:nvPicPr>
          <p:cNvPr id="424" name="Picture 1" descr="C:\Users\jaypeh\Desktop\Pics\misc\Trophy.png">
            <a:extLst>
              <a:ext uri="{FF2B5EF4-FFF2-40B4-BE49-F238E27FC236}">
                <a16:creationId xmlns:a16="http://schemas.microsoft.com/office/drawing/2014/main" id="{FC239C16-B69E-C1DF-DA03-3BE0D1030EE8}"/>
              </a:ext>
            </a:extLst>
          </p:cNvPr>
          <p:cNvPicPr>
            <a:picLocks noChangeAspect="1" noChangeArrowheads="1"/>
          </p:cNvPicPr>
          <p:nvPr/>
        </p:nvPicPr>
        <p:blipFill>
          <a:blip r:embed="rId3" cstate="print"/>
          <a:srcRect/>
          <a:stretch>
            <a:fillRect/>
          </a:stretch>
        </p:blipFill>
        <p:spPr bwMode="auto">
          <a:xfrm>
            <a:off x="5772768" y="3480450"/>
            <a:ext cx="466333" cy="477778"/>
          </a:xfrm>
          <a:prstGeom prst="rect">
            <a:avLst/>
          </a:prstGeom>
          <a:noFill/>
          <a:ln>
            <a:noFill/>
          </a:ln>
        </p:spPr>
      </p:pic>
      <p:sp>
        <p:nvSpPr>
          <p:cNvPr id="428" name="TextBox 427">
            <a:extLst>
              <a:ext uri="{FF2B5EF4-FFF2-40B4-BE49-F238E27FC236}">
                <a16:creationId xmlns:a16="http://schemas.microsoft.com/office/drawing/2014/main" id="{87A6C5DE-1624-FE0E-94C4-C710D047261C}"/>
              </a:ext>
            </a:extLst>
          </p:cNvPr>
          <p:cNvSpPr txBox="1"/>
          <p:nvPr/>
        </p:nvSpPr>
        <p:spPr>
          <a:xfrm>
            <a:off x="6293850" y="3456066"/>
            <a:ext cx="2871485" cy="819434"/>
          </a:xfrm>
          <a:prstGeom prst="rect">
            <a:avLst/>
          </a:prstGeom>
          <a:noFill/>
        </p:spPr>
        <p:txBody>
          <a:bodyPr wrap="square" lIns="36000" rIns="36000" rtlCol="0" anchor="ctr">
            <a:noAutofit/>
          </a:bodyPr>
          <a:lstStyle/>
          <a:p>
            <a:pPr marL="180000" marR="0" lvl="1" indent="-1800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Finance Asia: </a:t>
            </a:r>
            <a:r>
              <a:rPr kumimoji="0" lang="en-SG"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Best Property Deal (HK) (2023) </a:t>
            </a:r>
            <a:br>
              <a:rPr kumimoji="0" lang="en-SG"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SG"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DengXian" panose="02010600030101010101" pitchFamily="2" charset="-122"/>
                <a:cs typeface="Arial" panose="020B0604020202020204" pitchFamily="34" charset="0"/>
              </a:rPr>
              <a:t>Yuexiu Property’s HK$8.36 billion Rights Issue</a:t>
            </a:r>
            <a:endPar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180000" marR="0" lvl="1" indent="-180000" algn="l"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Asset:</a:t>
            </a: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Best IPO China Offshore (2023)</a:t>
            </a:r>
            <a:r>
              <a:rPr kumimoji="0" lang="en-SG" sz="9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5</a:t>
            </a: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b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(Joint Win with China) </a:t>
            </a:r>
          </a:p>
          <a:p>
            <a:pPr marL="180000" marR="0" lvl="1" indent="-180000" algn="l"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SG" sz="9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Global Finance: </a:t>
            </a:r>
            <a:r>
              <a:rPr kumimoji="0" lang="en-SG"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Best Investment Bank (2022)</a:t>
            </a:r>
            <a:endParaRPr kumimoji="0" lang="en-SG" sz="9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endParaRPr>
          </a:p>
        </p:txBody>
      </p:sp>
      <p:sp>
        <p:nvSpPr>
          <p:cNvPr id="429" name="TextBox 428">
            <a:extLst>
              <a:ext uri="{FF2B5EF4-FFF2-40B4-BE49-F238E27FC236}">
                <a16:creationId xmlns:a16="http://schemas.microsoft.com/office/drawing/2014/main" id="{D2F444A3-91D8-F4A6-AC1B-CBBD4131D23C}"/>
              </a:ext>
            </a:extLst>
          </p:cNvPr>
          <p:cNvSpPr txBox="1"/>
          <p:nvPr/>
        </p:nvSpPr>
        <p:spPr>
          <a:xfrm>
            <a:off x="6293850" y="2037702"/>
            <a:ext cx="2871485" cy="974626"/>
          </a:xfrm>
          <a:prstGeom prst="rect">
            <a:avLst/>
          </a:prstGeom>
          <a:noFill/>
        </p:spPr>
        <p:txBody>
          <a:bodyPr wrap="square" lIns="36000" rIns="36000" rtlCol="0">
            <a:spAutoFit/>
          </a:bodyPr>
          <a:lstStyle/>
          <a:p>
            <a:pPr marL="180000" marR="0" lvl="2" indent="-180000" algn="l" defTabSz="914400" rtl="0" eaLnBrk="0" fontAlgn="base" latinLnBrk="0" hangingPunct="0">
              <a:lnSpc>
                <a:spcPct val="100000"/>
              </a:lnSpc>
              <a:spcBef>
                <a:spcPct val="0"/>
              </a:spcBef>
              <a:spcAft>
                <a:spcPts val="200"/>
              </a:spcAft>
              <a:buClrTx/>
              <a:buSzTx/>
              <a:buFont typeface="Wingdings" panose="05000000000000000000" pitchFamily="2" charset="2"/>
              <a:buChar char="Ø"/>
              <a:tabLst/>
              <a:defRPr/>
            </a:pPr>
            <a:r>
              <a:rPr kumimoji="0" lang="en-SG" sz="9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Securities Times:</a:t>
            </a: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Best Innovative Investment Bank (2023)</a:t>
            </a:r>
            <a:endParaRPr kumimoji="0" lang="en-SG" sz="9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p>
            <a:pPr marL="180000" marR="0" lvl="2" indent="-180000" algn="l" defTabSz="914400" rtl="0" eaLnBrk="0" fontAlgn="base" latinLnBrk="0" hangingPunct="0">
              <a:lnSpc>
                <a:spcPct val="100000"/>
              </a:lnSpc>
              <a:spcBef>
                <a:spcPct val="0"/>
              </a:spcBef>
              <a:spcAft>
                <a:spcPts val="200"/>
              </a:spcAft>
              <a:buClrTx/>
              <a:buSzTx/>
              <a:buFont typeface="Wingdings" panose="05000000000000000000" pitchFamily="2" charset="2"/>
              <a:buChar char="Ø"/>
              <a:tabLst/>
              <a:defRPr/>
            </a:pPr>
            <a:r>
              <a:rPr kumimoji="0" lang="en-SG" sz="900" b="1"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Win.d</a:t>
            </a:r>
            <a:r>
              <a:rPr kumimoji="0" lang="en-SG" sz="9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Most Improved Investment Bank for Underwriting of </a:t>
            </a:r>
            <a:r>
              <a:rPr kumimoji="0" lang="en-SG" sz="900" b="0" i="1" u="sng"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A-share Equity Fundraising</a:t>
            </a: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(2022)</a:t>
            </a:r>
            <a:endParaRPr kumimoji="0" lang="en-SG" sz="9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p>
            <a:pPr marL="180000" marR="0" lvl="2" indent="-180000" algn="l" defTabSz="914400" rtl="0" eaLnBrk="0" fontAlgn="base" latinLnBrk="0" hangingPunct="0">
              <a:lnSpc>
                <a:spcPct val="100000"/>
              </a:lnSpc>
              <a:spcBef>
                <a:spcPct val="0"/>
              </a:spcBef>
              <a:spcAft>
                <a:spcPts val="200"/>
              </a:spcAft>
              <a:buClrTx/>
              <a:buSzTx/>
              <a:buFont typeface="Wingdings" panose="05000000000000000000" pitchFamily="2" charset="2"/>
              <a:buChar char="Ø"/>
              <a:tabLst/>
              <a:defRPr/>
            </a:pPr>
            <a:r>
              <a:rPr kumimoji="0" lang="en-SG" sz="900" b="1"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Win.d</a:t>
            </a:r>
            <a:r>
              <a:rPr kumimoji="0" lang="en-SG" sz="9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Most Improved Investment Bank for Underwriting of </a:t>
            </a:r>
            <a:r>
              <a:rPr kumimoji="0" lang="en-SG" sz="900" b="0" i="1" u="sng"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A-share Secondary Offering</a:t>
            </a: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(2022)</a:t>
            </a:r>
            <a:endParaRPr kumimoji="0" lang="en-SG" sz="9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p:txBody>
      </p:sp>
      <p:pic>
        <p:nvPicPr>
          <p:cNvPr id="431" name="Picture 430" descr="C:\Users\jaypeh\Desktop\Pics\misc\Trophy.png">
            <a:extLst>
              <a:ext uri="{FF2B5EF4-FFF2-40B4-BE49-F238E27FC236}">
                <a16:creationId xmlns:a16="http://schemas.microsoft.com/office/drawing/2014/main" id="{831D0988-7AC5-6994-F0EA-50B0DD313962}"/>
              </a:ext>
            </a:extLst>
          </p:cNvPr>
          <p:cNvPicPr>
            <a:picLocks noChangeAspect="1" noChangeArrowheads="1"/>
          </p:cNvPicPr>
          <p:nvPr/>
        </p:nvPicPr>
        <p:blipFill>
          <a:blip r:embed="rId3" cstate="print"/>
          <a:srcRect/>
          <a:stretch>
            <a:fillRect/>
          </a:stretch>
        </p:blipFill>
        <p:spPr bwMode="auto">
          <a:xfrm>
            <a:off x="5864208" y="2037702"/>
            <a:ext cx="466333" cy="477778"/>
          </a:xfrm>
          <a:prstGeom prst="rect">
            <a:avLst/>
          </a:prstGeom>
          <a:noFill/>
          <a:ln>
            <a:noFill/>
          </a:ln>
        </p:spPr>
      </p:pic>
      <p:pic>
        <p:nvPicPr>
          <p:cNvPr id="15" name="Picture 14" descr="A black background with a black square&#10;&#10;Description automatically generated with medium confidence">
            <a:extLst>
              <a:ext uri="{FF2B5EF4-FFF2-40B4-BE49-F238E27FC236}">
                <a16:creationId xmlns:a16="http://schemas.microsoft.com/office/drawing/2014/main" id="{90A0ED9A-697A-5525-7C15-6941F380640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70706"/>
          <a:stretch/>
        </p:blipFill>
        <p:spPr>
          <a:xfrm>
            <a:off x="5868969" y="3214264"/>
            <a:ext cx="237428" cy="236307"/>
          </a:xfrm>
          <a:prstGeom prst="rect">
            <a:avLst/>
          </a:prstGeom>
        </p:spPr>
      </p:pic>
      <p:pic>
        <p:nvPicPr>
          <p:cNvPr id="16" name="Picture 15" descr="A black background with a black square&#10;&#10;Description automatically generated with medium confidence">
            <a:extLst>
              <a:ext uri="{FF2B5EF4-FFF2-40B4-BE49-F238E27FC236}">
                <a16:creationId xmlns:a16="http://schemas.microsoft.com/office/drawing/2014/main" id="{3CE76715-EA70-7AA5-98A0-583C9A5AAED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70706"/>
          <a:stretch/>
        </p:blipFill>
        <p:spPr>
          <a:xfrm>
            <a:off x="5868969" y="1567392"/>
            <a:ext cx="237428" cy="236307"/>
          </a:xfrm>
          <a:prstGeom prst="rect">
            <a:avLst/>
          </a:prstGeom>
        </p:spPr>
      </p:pic>
      <p:pic>
        <p:nvPicPr>
          <p:cNvPr id="426" name="Picture 1" descr="C:\Users\jaypeh\Desktop\Pics\misc\Trophy.png">
            <a:extLst>
              <a:ext uri="{FF2B5EF4-FFF2-40B4-BE49-F238E27FC236}">
                <a16:creationId xmlns:a16="http://schemas.microsoft.com/office/drawing/2014/main" id="{FE7AEC84-E8CD-1EE8-2593-8EBE33978A84}"/>
              </a:ext>
            </a:extLst>
          </p:cNvPr>
          <p:cNvPicPr>
            <a:picLocks noChangeAspect="1" noChangeArrowheads="1"/>
          </p:cNvPicPr>
          <p:nvPr/>
        </p:nvPicPr>
        <p:blipFill>
          <a:blip r:embed="rId3" cstate="print"/>
          <a:srcRect/>
          <a:stretch>
            <a:fillRect/>
          </a:stretch>
        </p:blipFill>
        <p:spPr bwMode="auto">
          <a:xfrm>
            <a:off x="4836863" y="4830986"/>
            <a:ext cx="466333" cy="477778"/>
          </a:xfrm>
          <a:prstGeom prst="rect">
            <a:avLst/>
          </a:prstGeom>
          <a:noFill/>
          <a:ln>
            <a:noFill/>
          </a:ln>
        </p:spPr>
      </p:pic>
      <p:pic>
        <p:nvPicPr>
          <p:cNvPr id="427" name="Picture 1" descr="C:\Users\jaypeh\Desktop\Pics\misc\Trophy.png">
            <a:extLst>
              <a:ext uri="{FF2B5EF4-FFF2-40B4-BE49-F238E27FC236}">
                <a16:creationId xmlns:a16="http://schemas.microsoft.com/office/drawing/2014/main" id="{45C7F0B6-8B21-5FDE-3B30-0089ACB6D8D2}"/>
              </a:ext>
            </a:extLst>
          </p:cNvPr>
          <p:cNvPicPr>
            <a:picLocks noChangeAspect="1" noChangeArrowheads="1"/>
          </p:cNvPicPr>
          <p:nvPr/>
        </p:nvPicPr>
        <p:blipFill>
          <a:blip r:embed="rId3" cstate="print"/>
          <a:srcRect/>
          <a:stretch>
            <a:fillRect/>
          </a:stretch>
        </p:blipFill>
        <p:spPr bwMode="auto">
          <a:xfrm>
            <a:off x="1949631" y="4605095"/>
            <a:ext cx="466333" cy="477778"/>
          </a:xfrm>
          <a:prstGeom prst="rect">
            <a:avLst/>
          </a:prstGeom>
          <a:noFill/>
          <a:ln>
            <a:noFill/>
          </a:ln>
        </p:spPr>
      </p:pic>
      <p:sp>
        <p:nvSpPr>
          <p:cNvPr id="11" name="Text Placeholder 4">
            <a:extLst>
              <a:ext uri="{FF2B5EF4-FFF2-40B4-BE49-F238E27FC236}">
                <a16:creationId xmlns:a16="http://schemas.microsoft.com/office/drawing/2014/main" id="{9EE6AD42-A752-D51E-3946-F09544C4080A}"/>
              </a:ext>
            </a:extLst>
          </p:cNvPr>
          <p:cNvSpPr txBox="1">
            <a:spLocks/>
          </p:cNvSpPr>
          <p:nvPr/>
        </p:nvSpPr>
        <p:spPr bwMode="auto">
          <a:xfrm>
            <a:off x="717153" y="5525561"/>
            <a:ext cx="8494776" cy="646331"/>
          </a:xfrm>
          <a:prstGeom prst="rect">
            <a:avLst/>
          </a:prstGeom>
          <a:noFill/>
          <a:ln w="9525">
            <a:noFill/>
            <a:miter lim="800000"/>
            <a:headEnd/>
            <a:tailEnd/>
          </a:ln>
        </p:spPr>
        <p:txBody>
          <a:bodyPr vert="horz" wrap="square" lIns="0" tIns="45720" rIns="0" bIns="45720" numCol="1" anchor="b" anchorCtr="0" compatLnSpc="1">
            <a:prstTxWarp prst="textNoShape">
              <a:avLst/>
            </a:prstTxWarp>
            <a:spAutoFit/>
          </a:bodyPr>
          <a:lstStyle>
            <a:lvl1pPr marL="284163" indent="-284163" algn="l" rtl="0" eaLnBrk="0" fontAlgn="base" hangingPunct="0">
              <a:spcBef>
                <a:spcPts val="200"/>
              </a:spcBef>
              <a:spcAft>
                <a:spcPts val="200"/>
              </a:spcAft>
              <a:buClr>
                <a:srgbClr val="BE050A"/>
              </a:buClr>
              <a:buFont typeface="Wingdings 2" panose="05020102010507070707" pitchFamily="18" charset="2"/>
              <a:buChar char="¡"/>
              <a:defRPr sz="1600">
                <a:solidFill>
                  <a:schemeClr val="tx1"/>
                </a:solidFill>
                <a:latin typeface="+mn-lt"/>
                <a:ea typeface="+mn-ea"/>
                <a:cs typeface="+mn-cs"/>
              </a:defRPr>
            </a:lvl1pPr>
            <a:lvl2pPr marL="684213" indent="-285750" algn="l" rtl="0" eaLnBrk="0" fontAlgn="base" hangingPunct="0">
              <a:spcBef>
                <a:spcPts val="200"/>
              </a:spcBef>
              <a:spcAft>
                <a:spcPts val="200"/>
              </a:spcAft>
              <a:buClr>
                <a:srgbClr val="626262"/>
              </a:buClr>
              <a:buFont typeface="Arial" panose="020B0604020202020204" pitchFamily="34" charset="0"/>
              <a:buChar char="―"/>
              <a:defRPr sz="1500">
                <a:solidFill>
                  <a:schemeClr val="tx1"/>
                </a:solidFill>
                <a:latin typeface="+mn-lt"/>
                <a:ea typeface="+mn-ea"/>
                <a:cs typeface="+mn-cs"/>
              </a:defRPr>
            </a:lvl2pPr>
            <a:lvl3pPr marL="1068388" indent="-269875" algn="l" rtl="0" eaLnBrk="0" fontAlgn="base" hangingPunct="0">
              <a:spcBef>
                <a:spcPts val="200"/>
              </a:spcBef>
              <a:spcAft>
                <a:spcPts val="200"/>
              </a:spcAft>
              <a:buFont typeface="Arial" panose="020B0604020202020204" pitchFamily="34" charset="0"/>
              <a:buChar char="‒"/>
              <a:defRPr sz="1500">
                <a:solidFill>
                  <a:schemeClr val="tx1"/>
                </a:solidFill>
                <a:latin typeface="+mn-lt"/>
                <a:ea typeface="+mn-ea"/>
                <a:cs typeface="+mn-cs"/>
              </a:defRPr>
            </a:lvl3pPr>
            <a:lvl4pPr marL="1484313" indent="-301625" algn="l" rtl="0" eaLnBrk="0" fontAlgn="base" hangingPunct="0">
              <a:spcBef>
                <a:spcPts val="200"/>
              </a:spcBef>
              <a:spcAft>
                <a:spcPts val="200"/>
              </a:spcAft>
              <a:buChar char="–"/>
              <a:defRPr sz="1500">
                <a:solidFill>
                  <a:schemeClr val="tx1"/>
                </a:solidFill>
                <a:latin typeface="+mn-lt"/>
                <a:ea typeface="+mn-ea"/>
                <a:cs typeface="+mn-cs"/>
              </a:defRPr>
            </a:lvl4pPr>
            <a:lvl5pPr marL="1827213" indent="-228600" algn="l" rtl="0" eaLnBrk="0" fontAlgn="base" hangingPunct="0">
              <a:spcBef>
                <a:spcPts val="200"/>
              </a:spcBef>
              <a:spcAft>
                <a:spcPts val="200"/>
              </a:spcAft>
              <a:buChar char="»"/>
              <a:defRPr sz="1500">
                <a:solidFill>
                  <a:schemeClr val="tx1"/>
                </a:solidFill>
                <a:latin typeface="+mn-lt"/>
                <a:ea typeface="+mn-ea"/>
                <a:cs typeface="+mn-cs"/>
              </a:defRPr>
            </a:lvl5pPr>
            <a:lvl6pPr marL="2284413" indent="-228600" algn="l" rtl="0" fontAlgn="base">
              <a:spcBef>
                <a:spcPct val="0"/>
              </a:spcBef>
              <a:spcAft>
                <a:spcPct val="30000"/>
              </a:spcAft>
              <a:buChar char="»"/>
              <a:defRPr sz="1500">
                <a:solidFill>
                  <a:schemeClr val="tx1"/>
                </a:solidFill>
                <a:latin typeface="+mn-lt"/>
                <a:ea typeface="+mn-ea"/>
                <a:cs typeface="+mn-cs"/>
              </a:defRPr>
            </a:lvl6pPr>
            <a:lvl7pPr marL="2741613" indent="-228600" algn="l" rtl="0" fontAlgn="base">
              <a:spcBef>
                <a:spcPct val="0"/>
              </a:spcBef>
              <a:spcAft>
                <a:spcPct val="30000"/>
              </a:spcAft>
              <a:buChar char="»"/>
              <a:defRPr sz="1500">
                <a:solidFill>
                  <a:schemeClr val="tx1"/>
                </a:solidFill>
                <a:latin typeface="+mn-lt"/>
                <a:ea typeface="+mn-ea"/>
                <a:cs typeface="+mn-cs"/>
              </a:defRPr>
            </a:lvl7pPr>
            <a:lvl8pPr marL="3198813" indent="-228600" algn="l" rtl="0" fontAlgn="base">
              <a:spcBef>
                <a:spcPct val="0"/>
              </a:spcBef>
              <a:spcAft>
                <a:spcPct val="30000"/>
              </a:spcAft>
              <a:buChar char="»"/>
              <a:defRPr sz="1500">
                <a:solidFill>
                  <a:schemeClr val="tx1"/>
                </a:solidFill>
                <a:latin typeface="+mn-lt"/>
                <a:ea typeface="+mn-ea"/>
                <a:cs typeface="+mn-cs"/>
              </a:defRPr>
            </a:lvl8pPr>
            <a:lvl9pPr marL="3656013" indent="-228600" algn="l" rtl="0" fontAlgn="base">
              <a:spcBef>
                <a:spcPct val="0"/>
              </a:spcBef>
              <a:spcAft>
                <a:spcPct val="30000"/>
              </a:spcAft>
              <a:buChar char="»"/>
              <a:defRPr sz="1500">
                <a:solidFill>
                  <a:schemeClr val="tx1"/>
                </a:solidFill>
                <a:latin typeface="+mn-lt"/>
                <a:ea typeface="+mn-ea"/>
                <a:cs typeface="+mn-cs"/>
              </a:defRPr>
            </a:lvl9pPr>
          </a:lstStyle>
          <a:p>
            <a:pPr marL="0" indent="0">
              <a:spcBef>
                <a:spcPts val="0"/>
              </a:spcBef>
              <a:spcAft>
                <a:spcPts val="0"/>
              </a:spcAft>
              <a:buClr>
                <a:schemeClr val="tx1"/>
              </a:buClr>
              <a:buNone/>
              <a:tabLst>
                <a:tab pos="228600" algn="l"/>
              </a:tabLst>
            </a:pPr>
            <a:r>
              <a:rPr lang="en-US" altLang="zh-TW" sz="600" b="0" i="1" kern="0" dirty="0"/>
              <a:t>Notes:</a:t>
            </a:r>
          </a:p>
          <a:p>
            <a:pPr marL="0" indent="0">
              <a:spcBef>
                <a:spcPts val="0"/>
              </a:spcBef>
              <a:spcAft>
                <a:spcPts val="0"/>
              </a:spcAft>
              <a:buClr>
                <a:schemeClr val="tx1"/>
              </a:buClr>
              <a:buNone/>
              <a:tabLst>
                <a:tab pos="228600" algn="l"/>
              </a:tabLst>
            </a:pPr>
            <a:r>
              <a:rPr lang="en-US" altLang="zh-TW" sz="600" b="0" i="1" kern="0" dirty="0"/>
              <a:t>1. All Equities in Asia ex-Jap excludes CH A shares, and DBS rank is based on DBS underwritten amount</a:t>
            </a:r>
          </a:p>
          <a:p>
            <a:pPr marL="0" indent="0">
              <a:spcBef>
                <a:spcPts val="0"/>
              </a:spcBef>
              <a:spcAft>
                <a:spcPts val="0"/>
              </a:spcAft>
              <a:buClr>
                <a:schemeClr val="tx1"/>
              </a:buClr>
              <a:buNone/>
              <a:tabLst>
                <a:tab pos="228600" algn="l"/>
              </a:tabLst>
            </a:pPr>
            <a:r>
              <a:rPr lang="en-US" altLang="zh-TW" sz="600" b="0" i="1" kern="0" dirty="0"/>
              <a:t>2. REITs/BTs in Asia ex-Jap includes C-REITs, and DBS rank is based on DBS underwritten amount</a:t>
            </a:r>
          </a:p>
          <a:p>
            <a:pPr marL="0" indent="0">
              <a:spcBef>
                <a:spcPts val="0"/>
              </a:spcBef>
              <a:spcAft>
                <a:spcPts val="0"/>
              </a:spcAft>
              <a:buClr>
                <a:schemeClr val="tx1"/>
              </a:buClr>
              <a:buNone/>
              <a:tabLst>
                <a:tab pos="228600" algn="l"/>
              </a:tabLst>
            </a:pPr>
            <a:r>
              <a:rPr lang="en-US" altLang="zh-TW" sz="600" b="0" i="1" kern="0" dirty="0"/>
              <a:t>3. CN league table is among FOREIGN equity houses only; data sources are from Wind and DBS internal records as of 31 Dec 2023</a:t>
            </a:r>
          </a:p>
          <a:p>
            <a:pPr marL="0" indent="0">
              <a:spcBef>
                <a:spcPts val="0"/>
              </a:spcBef>
              <a:spcAft>
                <a:spcPts val="0"/>
              </a:spcAft>
              <a:buClr>
                <a:schemeClr val="tx1"/>
              </a:buClr>
              <a:buNone/>
              <a:tabLst>
                <a:tab pos="228600" algn="l"/>
              </a:tabLst>
            </a:pPr>
            <a:r>
              <a:rPr lang="en-US" altLang="zh-TW" sz="600" b="0" i="1" kern="0" dirty="0"/>
              <a:t>4. Except for China, all data sources are based on Bloomberg and DBS internal records as of 31 Dec 2023</a:t>
            </a:r>
          </a:p>
          <a:p>
            <a:pPr marL="0" indent="0">
              <a:spcBef>
                <a:spcPts val="0"/>
              </a:spcBef>
              <a:spcAft>
                <a:spcPts val="0"/>
              </a:spcAft>
              <a:buClr>
                <a:schemeClr val="tx1"/>
              </a:buClr>
              <a:buNone/>
              <a:tabLst>
                <a:tab pos="228600" algn="l"/>
              </a:tabLst>
            </a:pPr>
            <a:r>
              <a:rPr lang="en-US" altLang="zh-TW" sz="600" b="0" i="1" kern="0" dirty="0"/>
              <a:t>5. China Tourism Group Duty Free Corporation US$2.068 billion IPO</a:t>
            </a:r>
          </a:p>
        </p:txBody>
      </p:sp>
      <p:sp>
        <p:nvSpPr>
          <p:cNvPr id="3" name="Slide Number Placeholder 2">
            <a:extLst>
              <a:ext uri="{FF2B5EF4-FFF2-40B4-BE49-F238E27FC236}">
                <a16:creationId xmlns:a16="http://schemas.microsoft.com/office/drawing/2014/main" id="{EFC62617-5246-D20F-CBE4-D5F51FDF44CC}"/>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12</a:t>
            </a:fld>
            <a:endParaRPr lang="en-US" altLang="en-US" b="0">
              <a:solidFill>
                <a:srgbClr val="000000"/>
              </a:solidFill>
            </a:endParaRPr>
          </a:p>
        </p:txBody>
      </p:sp>
    </p:spTree>
    <p:extLst>
      <p:ext uri="{BB962C8B-B14F-4D97-AF65-F5344CB8AC3E}">
        <p14:creationId xmlns:p14="http://schemas.microsoft.com/office/powerpoint/2010/main" val="1691529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3545D9E-5930-543E-A31F-825AAD8B6FC3}"/>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graphicFrame>
        <p:nvGraphicFramePr>
          <p:cNvPr id="2" name="Object 1" hidden="1">
            <a:extLst>
              <a:ext uri="{FF2B5EF4-FFF2-40B4-BE49-F238E27FC236}">
                <a16:creationId xmlns:a16="http://schemas.microsoft.com/office/drawing/2014/main" id="{34795CA1-4797-4F35-A38F-0DB9D408884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2" name="Object 1" hidden="1">
                        <a:extLst>
                          <a:ext uri="{FF2B5EF4-FFF2-40B4-BE49-F238E27FC236}">
                            <a16:creationId xmlns:a16="http://schemas.microsoft.com/office/drawing/2014/main" id="{34795CA1-4797-4F35-A38F-0DB9D408884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5E119C5-8391-7B1D-BFF0-EE9F20D4DB13}"/>
              </a:ext>
            </a:extLst>
          </p:cNvPr>
          <p:cNvSpPr>
            <a:spLocks noGrp="1"/>
          </p:cNvSpPr>
          <p:nvPr>
            <p:ph type="title"/>
          </p:nvPr>
        </p:nvSpPr>
        <p:spPr/>
        <p:txBody>
          <a:bodyPr/>
          <a:lstStyle/>
          <a:p>
            <a:r>
              <a:rPr lang="en-SG" sz="2000" b="1" dirty="0"/>
              <a:t>Backed by an Unrivalled Track Record of Awards and Accolades…</a:t>
            </a:r>
            <a:endParaRPr lang="en-US" b="1" dirty="0"/>
          </a:p>
        </p:txBody>
      </p:sp>
      <p:grpSp>
        <p:nvGrpSpPr>
          <p:cNvPr id="6" name="Group 5">
            <a:extLst>
              <a:ext uri="{FF2B5EF4-FFF2-40B4-BE49-F238E27FC236}">
                <a16:creationId xmlns:a16="http://schemas.microsoft.com/office/drawing/2014/main" id="{EC1168B3-5937-775D-3CF1-A9799D75604E}"/>
              </a:ext>
            </a:extLst>
          </p:cNvPr>
          <p:cNvGrpSpPr/>
          <p:nvPr/>
        </p:nvGrpSpPr>
        <p:grpSpPr>
          <a:xfrm>
            <a:off x="723900" y="1061451"/>
            <a:ext cx="8496293" cy="4978406"/>
            <a:chOff x="413058" y="1120960"/>
            <a:chExt cx="8317883" cy="4873863"/>
          </a:xfrm>
        </p:grpSpPr>
        <p:pic>
          <p:nvPicPr>
            <p:cNvPr id="7" name="Picture 6" descr="Picture1.png">
              <a:extLst>
                <a:ext uri="{FF2B5EF4-FFF2-40B4-BE49-F238E27FC236}">
                  <a16:creationId xmlns:a16="http://schemas.microsoft.com/office/drawing/2014/main" id="{B9D61C39-A695-69BD-DA80-D755AF8AD6B2}"/>
                </a:ext>
              </a:extLst>
            </p:cNvPr>
            <p:cNvPicPr>
              <a:picLocks noChangeAspect="1"/>
            </p:cNvPicPr>
            <p:nvPr/>
          </p:nvPicPr>
          <p:blipFill>
            <a:blip r:embed="rId6" cstate="print"/>
            <a:stretch>
              <a:fillRect/>
            </a:stretch>
          </p:blipFill>
          <p:spPr>
            <a:xfrm>
              <a:off x="1371472" y="5230855"/>
              <a:ext cx="883806" cy="763968"/>
            </a:xfrm>
            <a:prstGeom prst="rect">
              <a:avLst/>
            </a:prstGeom>
          </p:spPr>
        </p:pic>
        <p:pic>
          <p:nvPicPr>
            <p:cNvPr id="8" name="Picture 7" descr="Picture1.png">
              <a:extLst>
                <a:ext uri="{FF2B5EF4-FFF2-40B4-BE49-F238E27FC236}">
                  <a16:creationId xmlns:a16="http://schemas.microsoft.com/office/drawing/2014/main" id="{A8A0A4C0-FF5B-3FF9-312C-0E8A89A8D5D8}"/>
                </a:ext>
              </a:extLst>
            </p:cNvPr>
            <p:cNvPicPr>
              <a:picLocks noChangeAspect="1"/>
            </p:cNvPicPr>
            <p:nvPr/>
          </p:nvPicPr>
          <p:blipFill>
            <a:blip r:embed="rId6" cstate="print"/>
            <a:stretch>
              <a:fillRect/>
            </a:stretch>
          </p:blipFill>
          <p:spPr>
            <a:xfrm>
              <a:off x="2295486" y="5230855"/>
              <a:ext cx="883806" cy="763968"/>
            </a:xfrm>
            <a:prstGeom prst="rect">
              <a:avLst/>
            </a:prstGeom>
          </p:spPr>
        </p:pic>
        <p:pic>
          <p:nvPicPr>
            <p:cNvPr id="9" name="Picture 8" descr="Picture1.png">
              <a:extLst>
                <a:ext uri="{FF2B5EF4-FFF2-40B4-BE49-F238E27FC236}">
                  <a16:creationId xmlns:a16="http://schemas.microsoft.com/office/drawing/2014/main" id="{4F4A87CC-4AD4-E6DE-D87D-CCF04EF1CB75}"/>
                </a:ext>
              </a:extLst>
            </p:cNvPr>
            <p:cNvPicPr>
              <a:picLocks noChangeAspect="1"/>
            </p:cNvPicPr>
            <p:nvPr/>
          </p:nvPicPr>
          <p:blipFill>
            <a:blip r:embed="rId6" cstate="print"/>
            <a:stretch>
              <a:fillRect/>
            </a:stretch>
          </p:blipFill>
          <p:spPr>
            <a:xfrm>
              <a:off x="3219500" y="5230855"/>
              <a:ext cx="883806" cy="763968"/>
            </a:xfrm>
            <a:prstGeom prst="rect">
              <a:avLst/>
            </a:prstGeom>
          </p:spPr>
        </p:pic>
        <p:pic>
          <p:nvPicPr>
            <p:cNvPr id="10" name="Picture 9" descr="Picture1.png">
              <a:extLst>
                <a:ext uri="{FF2B5EF4-FFF2-40B4-BE49-F238E27FC236}">
                  <a16:creationId xmlns:a16="http://schemas.microsoft.com/office/drawing/2014/main" id="{51BA5D13-F098-A13C-20E0-6EA7D7ACFC12}"/>
                </a:ext>
              </a:extLst>
            </p:cNvPr>
            <p:cNvPicPr>
              <a:picLocks noChangeAspect="1"/>
            </p:cNvPicPr>
            <p:nvPr/>
          </p:nvPicPr>
          <p:blipFill>
            <a:blip r:embed="rId6" cstate="print"/>
            <a:stretch>
              <a:fillRect/>
            </a:stretch>
          </p:blipFill>
          <p:spPr>
            <a:xfrm>
              <a:off x="6915555" y="5230855"/>
              <a:ext cx="883806" cy="763968"/>
            </a:xfrm>
            <a:prstGeom prst="rect">
              <a:avLst/>
            </a:prstGeom>
          </p:spPr>
        </p:pic>
        <p:pic>
          <p:nvPicPr>
            <p:cNvPr id="11" name="Picture 10" descr="Picture1.png">
              <a:extLst>
                <a:ext uri="{FF2B5EF4-FFF2-40B4-BE49-F238E27FC236}">
                  <a16:creationId xmlns:a16="http://schemas.microsoft.com/office/drawing/2014/main" id="{8FB30A57-026B-A14C-F144-CCADB0A6030C}"/>
                </a:ext>
              </a:extLst>
            </p:cNvPr>
            <p:cNvPicPr>
              <a:picLocks noChangeAspect="1"/>
            </p:cNvPicPr>
            <p:nvPr/>
          </p:nvPicPr>
          <p:blipFill>
            <a:blip r:embed="rId6" cstate="print"/>
            <a:stretch>
              <a:fillRect/>
            </a:stretch>
          </p:blipFill>
          <p:spPr>
            <a:xfrm>
              <a:off x="7839572" y="5230855"/>
              <a:ext cx="883806" cy="763968"/>
            </a:xfrm>
            <a:prstGeom prst="rect">
              <a:avLst/>
            </a:prstGeom>
          </p:spPr>
        </p:pic>
        <p:pic>
          <p:nvPicPr>
            <p:cNvPr id="12" name="Picture 11" descr="Picture1.png">
              <a:extLst>
                <a:ext uri="{FF2B5EF4-FFF2-40B4-BE49-F238E27FC236}">
                  <a16:creationId xmlns:a16="http://schemas.microsoft.com/office/drawing/2014/main" id="{CE0FA2F0-4C6B-2D76-12A3-8B542BCA5E15}"/>
                </a:ext>
              </a:extLst>
            </p:cNvPr>
            <p:cNvPicPr>
              <a:picLocks noChangeAspect="1"/>
            </p:cNvPicPr>
            <p:nvPr/>
          </p:nvPicPr>
          <p:blipFill>
            <a:blip r:embed="rId6" cstate="print"/>
            <a:stretch>
              <a:fillRect/>
            </a:stretch>
          </p:blipFill>
          <p:spPr>
            <a:xfrm>
              <a:off x="5991542" y="5230855"/>
              <a:ext cx="883806" cy="763968"/>
            </a:xfrm>
            <a:prstGeom prst="rect">
              <a:avLst/>
            </a:prstGeom>
          </p:spPr>
        </p:pic>
        <p:pic>
          <p:nvPicPr>
            <p:cNvPr id="13" name="Picture 12" descr="Picture1.png">
              <a:extLst>
                <a:ext uri="{FF2B5EF4-FFF2-40B4-BE49-F238E27FC236}">
                  <a16:creationId xmlns:a16="http://schemas.microsoft.com/office/drawing/2014/main" id="{2FBBF9FE-BBF2-2D2F-B946-851249A24531}"/>
                </a:ext>
              </a:extLst>
            </p:cNvPr>
            <p:cNvPicPr>
              <a:picLocks noChangeAspect="1"/>
            </p:cNvPicPr>
            <p:nvPr/>
          </p:nvPicPr>
          <p:blipFill>
            <a:blip r:embed="rId6" cstate="print"/>
            <a:stretch>
              <a:fillRect/>
            </a:stretch>
          </p:blipFill>
          <p:spPr>
            <a:xfrm>
              <a:off x="5067528" y="5230855"/>
              <a:ext cx="883806" cy="763968"/>
            </a:xfrm>
            <a:prstGeom prst="rect">
              <a:avLst/>
            </a:prstGeom>
          </p:spPr>
        </p:pic>
        <p:pic>
          <p:nvPicPr>
            <p:cNvPr id="14" name="Picture 13" descr="Picture1.png">
              <a:extLst>
                <a:ext uri="{FF2B5EF4-FFF2-40B4-BE49-F238E27FC236}">
                  <a16:creationId xmlns:a16="http://schemas.microsoft.com/office/drawing/2014/main" id="{F5E2EE46-163D-2ACE-F0A5-ED870063431D}"/>
                </a:ext>
              </a:extLst>
            </p:cNvPr>
            <p:cNvPicPr>
              <a:picLocks noChangeAspect="1"/>
            </p:cNvPicPr>
            <p:nvPr/>
          </p:nvPicPr>
          <p:blipFill>
            <a:blip r:embed="rId6" cstate="print"/>
            <a:stretch>
              <a:fillRect/>
            </a:stretch>
          </p:blipFill>
          <p:spPr>
            <a:xfrm>
              <a:off x="4143514" y="5230855"/>
              <a:ext cx="883806" cy="763968"/>
            </a:xfrm>
            <a:prstGeom prst="rect">
              <a:avLst/>
            </a:prstGeom>
          </p:spPr>
        </p:pic>
        <p:pic>
          <p:nvPicPr>
            <p:cNvPr id="15" name="Picture 14" descr="Picture1.png">
              <a:extLst>
                <a:ext uri="{FF2B5EF4-FFF2-40B4-BE49-F238E27FC236}">
                  <a16:creationId xmlns:a16="http://schemas.microsoft.com/office/drawing/2014/main" id="{7C6D47D5-4E51-69A9-5DB7-D43384A8C851}"/>
                </a:ext>
              </a:extLst>
            </p:cNvPr>
            <p:cNvPicPr>
              <a:picLocks noChangeAspect="1"/>
            </p:cNvPicPr>
            <p:nvPr/>
          </p:nvPicPr>
          <p:blipFill>
            <a:blip r:embed="rId6" cstate="print"/>
            <a:stretch>
              <a:fillRect/>
            </a:stretch>
          </p:blipFill>
          <p:spPr>
            <a:xfrm>
              <a:off x="447459" y="5230855"/>
              <a:ext cx="883806" cy="763968"/>
            </a:xfrm>
            <a:prstGeom prst="rect">
              <a:avLst/>
            </a:prstGeom>
          </p:spPr>
        </p:pic>
        <p:sp>
          <p:nvSpPr>
            <p:cNvPr id="16" name="Rectangle 9">
              <a:extLst>
                <a:ext uri="{FF2B5EF4-FFF2-40B4-BE49-F238E27FC236}">
                  <a16:creationId xmlns:a16="http://schemas.microsoft.com/office/drawing/2014/main" id="{CBDFC417-BCEA-2141-4AAD-5492DD8ECD41}"/>
                </a:ext>
                <a:ext uri="{C183D7F6-B498-43B3-948B-1728B52AA6E4}">
                  <adec:decorative xmlns:adec="http://schemas.microsoft.com/office/drawing/2017/decorative" val="1"/>
                </a:ext>
              </a:extLst>
            </p:cNvPr>
            <p:cNvSpPr txBox="1">
              <a:spLocks noChangeArrowheads="1"/>
            </p:cNvSpPr>
            <p:nvPr/>
          </p:nvSpPr>
          <p:spPr bwMode="auto">
            <a:xfrm>
              <a:off x="413058" y="3182199"/>
              <a:ext cx="8317881" cy="228600"/>
            </a:xfrm>
            <a:prstGeom prst="rect">
              <a:avLst/>
            </a:prstGeom>
            <a:noFill/>
            <a:ln w="9525">
              <a:noFill/>
              <a:miter lim="800000"/>
              <a:headEnd/>
              <a:tailEnd/>
            </a:ln>
          </p:spPr>
          <p:txBody>
            <a:bodyPr/>
            <a:lstStyle/>
            <a:p>
              <a:pPr marL="171455" indent="-171455" algn="ctr" defTabSz="685817" eaLnBrk="0" hangingPunct="0">
                <a:spcBef>
                  <a:spcPct val="25000"/>
                </a:spcBef>
                <a:buClr>
                  <a:srgbClr val="BE050A"/>
                </a:buClr>
                <a:buFont typeface="Wingdings" pitchFamily="2" charset="2"/>
                <a:buChar char="ü"/>
                <a:tabLst>
                  <a:tab pos="0" algn="l"/>
                  <a:tab pos="342909" algn="l"/>
                  <a:tab pos="1028726" algn="l"/>
                </a:tabLst>
                <a:defRPr/>
              </a:pPr>
              <a:r>
                <a:rPr lang="en-US" sz="1100">
                  <a:solidFill>
                    <a:srgbClr val="000000"/>
                  </a:solidFill>
                  <a:latin typeface="Arial" panose="020B0604020202020204"/>
                </a:rPr>
                <a:t>DBS has clinched over 100 awards from various publishers in investment banking and equity capital markets including..</a:t>
              </a:r>
            </a:p>
          </p:txBody>
        </p:sp>
        <p:grpSp>
          <p:nvGrpSpPr>
            <p:cNvPr id="17" name="Group 16">
              <a:extLst>
                <a:ext uri="{FF2B5EF4-FFF2-40B4-BE49-F238E27FC236}">
                  <a16:creationId xmlns:a16="http://schemas.microsoft.com/office/drawing/2014/main" id="{02784F3C-7A78-B585-2335-10AC56721382}"/>
                </a:ext>
              </a:extLst>
            </p:cNvPr>
            <p:cNvGrpSpPr/>
            <p:nvPr/>
          </p:nvGrpSpPr>
          <p:grpSpPr>
            <a:xfrm>
              <a:off x="413060" y="1120960"/>
              <a:ext cx="8317881" cy="1999254"/>
              <a:chOff x="447481" y="1096068"/>
              <a:chExt cx="9011038" cy="2165859"/>
            </a:xfrm>
          </p:grpSpPr>
          <p:pic>
            <p:nvPicPr>
              <p:cNvPr id="86" name="Picture 85">
                <a:extLst>
                  <a:ext uri="{FF2B5EF4-FFF2-40B4-BE49-F238E27FC236}">
                    <a16:creationId xmlns:a16="http://schemas.microsoft.com/office/drawing/2014/main" id="{ADAA78B6-DCF4-507D-D8F1-2D6E0A13B946}"/>
                  </a:ext>
                  <a:ext uri="{C183D7F6-B498-43B3-948B-1728B52AA6E4}">
                    <adec:decorative xmlns:adec="http://schemas.microsoft.com/office/drawing/2017/decorative" val="1"/>
                  </a:ext>
                </a:extLst>
              </p:cNvPr>
              <p:cNvPicPr>
                <a:picLocks/>
              </p:cNvPicPr>
              <p:nvPr/>
            </p:nvPicPr>
            <p:blipFill rotWithShape="1">
              <a:blip r:embed="rId7">
                <a:extLst>
                  <a:ext uri="{28A0092B-C50C-407E-A947-70E740481C1C}">
                    <a14:useLocalDpi xmlns:a14="http://schemas.microsoft.com/office/drawing/2010/main" val="0"/>
                  </a:ext>
                </a:extLst>
              </a:blip>
              <a:srcRect r="21291" b="14282"/>
              <a:stretch/>
            </p:blipFill>
            <p:spPr>
              <a:xfrm flipH="1">
                <a:off x="455674" y="1096068"/>
                <a:ext cx="5210933" cy="2161554"/>
              </a:xfrm>
              <a:prstGeom prst="rect">
                <a:avLst/>
              </a:prstGeom>
            </p:spPr>
          </p:pic>
          <p:pic>
            <p:nvPicPr>
              <p:cNvPr id="87" name="Picture 86">
                <a:extLst>
                  <a:ext uri="{FF2B5EF4-FFF2-40B4-BE49-F238E27FC236}">
                    <a16:creationId xmlns:a16="http://schemas.microsoft.com/office/drawing/2014/main" id="{DBD4E22C-58BB-70FC-23E4-D00136D9F440}"/>
                  </a:ext>
                  <a:ext uri="{C183D7F6-B498-43B3-948B-1728B52AA6E4}">
                    <adec:decorative xmlns:adec="http://schemas.microsoft.com/office/drawing/2017/decorative" val="1"/>
                  </a:ext>
                </a:extLst>
              </p:cNvPr>
              <p:cNvPicPr>
                <a:picLocks/>
              </p:cNvPicPr>
              <p:nvPr/>
            </p:nvPicPr>
            <p:blipFill rotWithShape="1">
              <a:blip r:embed="rId7">
                <a:extLst>
                  <a:ext uri="{28A0092B-C50C-407E-A947-70E740481C1C}">
                    <a14:useLocalDpi xmlns:a14="http://schemas.microsoft.com/office/drawing/2010/main" val="0"/>
                  </a:ext>
                </a:extLst>
              </a:blip>
              <a:srcRect l="4783" r="21660" b="14282"/>
              <a:stretch/>
            </p:blipFill>
            <p:spPr>
              <a:xfrm>
                <a:off x="4588712" y="1096068"/>
                <a:ext cx="4869807" cy="2161554"/>
              </a:xfrm>
              <a:prstGeom prst="rect">
                <a:avLst/>
              </a:prstGeom>
            </p:spPr>
          </p:pic>
          <p:sp>
            <p:nvSpPr>
              <p:cNvPr id="88" name="Rectangle 87">
                <a:extLst>
                  <a:ext uri="{FF2B5EF4-FFF2-40B4-BE49-F238E27FC236}">
                    <a16:creationId xmlns:a16="http://schemas.microsoft.com/office/drawing/2014/main" id="{9E95F7FE-94A4-A506-B9E4-173E02F2BC95}"/>
                  </a:ext>
                  <a:ext uri="{C183D7F6-B498-43B3-948B-1728B52AA6E4}">
                    <adec:decorative xmlns:adec="http://schemas.microsoft.com/office/drawing/2017/decorative" val="1"/>
                  </a:ext>
                </a:extLst>
              </p:cNvPr>
              <p:cNvSpPr/>
              <p:nvPr/>
            </p:nvSpPr>
            <p:spPr>
              <a:xfrm>
                <a:off x="447481" y="1100373"/>
                <a:ext cx="9002845" cy="2161554"/>
              </a:xfrm>
              <a:prstGeom prst="rect">
                <a:avLst/>
              </a:prstGeom>
              <a:gradFill>
                <a:gsLst>
                  <a:gs pos="0">
                    <a:srgbClr val="382880">
                      <a:alpha val="0"/>
                    </a:srgbClr>
                  </a:gs>
                  <a:gs pos="39000">
                    <a:srgbClr val="002060">
                      <a:alpha val="50000"/>
                    </a:srgbClr>
                  </a:gs>
                  <a:gs pos="100000">
                    <a:srgbClr val="7030A0">
                      <a:alpha val="50000"/>
                    </a:srgbClr>
                  </a:gs>
                </a:gsLst>
                <a:lin ang="5400000" scaled="1"/>
              </a:gradFill>
              <a:ln w="12700" cap="flat" cmpd="sng" algn="ctr">
                <a:noFill/>
                <a:prstDash val="solid"/>
                <a:miter lim="800000"/>
              </a:ln>
              <a:effectLst/>
            </p:spPr>
            <p:txBody>
              <a:bodyPr rtlCol="0" anchor="ctr"/>
              <a:lstStyle/>
              <a:p>
                <a:pPr algn="ctr" defTabSz="685817" fontAlgn="auto">
                  <a:spcBef>
                    <a:spcPts val="0"/>
                  </a:spcBef>
                  <a:spcAft>
                    <a:spcPts val="0"/>
                  </a:spcAft>
                  <a:defRPr/>
                </a:pPr>
                <a:endParaRPr lang="en-SG" sz="1223" kern="0">
                  <a:solidFill>
                    <a:srgbClr val="FFFFFF"/>
                  </a:solidFill>
                  <a:latin typeface="Arial" panose="020B0604020202020204" pitchFamily="34" charset="0"/>
                </a:endParaRPr>
              </a:p>
            </p:txBody>
          </p:sp>
        </p:grpSp>
        <p:sp>
          <p:nvSpPr>
            <p:cNvPr id="18" name="Rectangle 17">
              <a:extLst>
                <a:ext uri="{FF2B5EF4-FFF2-40B4-BE49-F238E27FC236}">
                  <a16:creationId xmlns:a16="http://schemas.microsoft.com/office/drawing/2014/main" id="{F1387D62-5F23-A4FF-6790-92470A159147}"/>
                </a:ext>
              </a:extLst>
            </p:cNvPr>
            <p:cNvSpPr/>
            <p:nvPr/>
          </p:nvSpPr>
          <p:spPr bwMode="auto">
            <a:xfrm>
              <a:off x="413058" y="3512287"/>
              <a:ext cx="1793162" cy="199385"/>
            </a:xfrm>
            <a:prstGeom prst="rect">
              <a:avLst/>
            </a:prstGeom>
            <a:solidFill>
              <a:schemeClr val="accent1"/>
            </a:solidFill>
            <a:ln>
              <a:noFill/>
            </a:ln>
            <a:effectLst>
              <a:outerShdw blurRad="50800" dist="38100" dir="2700000" algn="tl" rotWithShape="0">
                <a:prstClr val="black">
                  <a:alpha val="40000"/>
                </a:prstClr>
              </a:outerShdw>
            </a:effectLst>
          </p:spPr>
          <p:txBody>
            <a:bodyPr vert="horz" wrap="square" lIns="68580" tIns="34290" rIns="68580" bIns="34290" numCol="1" rtlCol="0" anchor="ctr" anchorCtr="0" compatLnSpc="1">
              <a:prstTxWarp prst="textNoShape">
                <a:avLst/>
              </a:prstTxWarp>
            </a:bodyPr>
            <a:lstStyle/>
            <a:p>
              <a:pPr algn="ctr" defTabSz="685817" eaLnBrk="0" fontAlgn="auto" hangingPunct="0">
                <a:spcBef>
                  <a:spcPts val="0"/>
                </a:spcBef>
                <a:spcAft>
                  <a:spcPts val="0"/>
                </a:spcAft>
                <a:defRPr/>
              </a:pPr>
              <a:r>
                <a:rPr lang="en-SG" sz="923" b="0" kern="0">
                  <a:solidFill>
                    <a:srgbClr val="FFFFFF"/>
                  </a:solidFill>
                  <a:latin typeface="Arial" panose="020B0604020202020204"/>
                </a:rPr>
                <a:t>Regional</a:t>
              </a:r>
            </a:p>
          </p:txBody>
        </p:sp>
        <p:sp>
          <p:nvSpPr>
            <p:cNvPr id="19" name="Rectangle 18">
              <a:extLst>
                <a:ext uri="{FF2B5EF4-FFF2-40B4-BE49-F238E27FC236}">
                  <a16:creationId xmlns:a16="http://schemas.microsoft.com/office/drawing/2014/main" id="{6B54725F-1894-219F-1AA4-45296D5CC99C}"/>
                </a:ext>
              </a:extLst>
            </p:cNvPr>
            <p:cNvSpPr/>
            <p:nvPr/>
          </p:nvSpPr>
          <p:spPr bwMode="auto">
            <a:xfrm>
              <a:off x="2312376" y="3512287"/>
              <a:ext cx="3585532" cy="199385"/>
            </a:xfrm>
            <a:prstGeom prst="rect">
              <a:avLst/>
            </a:prstGeom>
            <a:solidFill>
              <a:schemeClr val="accent1"/>
            </a:solidFill>
            <a:ln>
              <a:noFill/>
            </a:ln>
            <a:effectLst>
              <a:outerShdw blurRad="50800" dist="38100" dir="2700000" algn="tl" rotWithShape="0">
                <a:prstClr val="black">
                  <a:alpha val="40000"/>
                </a:prstClr>
              </a:outerShdw>
            </a:effectLst>
          </p:spPr>
          <p:txBody>
            <a:bodyPr vert="horz" wrap="square" lIns="68580" tIns="34290" rIns="68580" bIns="34290" numCol="1" rtlCol="0" anchor="ctr" anchorCtr="0" compatLnSpc="1">
              <a:prstTxWarp prst="textNoShape">
                <a:avLst/>
              </a:prstTxWarp>
            </a:bodyPr>
            <a:lstStyle/>
            <a:p>
              <a:pPr algn="ctr" defTabSz="685817" eaLnBrk="0" fontAlgn="auto" hangingPunct="0">
                <a:spcBef>
                  <a:spcPts val="0"/>
                </a:spcBef>
                <a:spcAft>
                  <a:spcPts val="0"/>
                </a:spcAft>
                <a:defRPr/>
              </a:pPr>
              <a:r>
                <a:rPr lang="en-SG" sz="923" b="0" kern="0">
                  <a:solidFill>
                    <a:srgbClr val="FFFFFF"/>
                  </a:solidFill>
                  <a:latin typeface="Arial" panose="020B0604020202020204"/>
                </a:rPr>
                <a:t>Singapore</a:t>
              </a:r>
            </a:p>
          </p:txBody>
        </p:sp>
        <p:sp>
          <p:nvSpPr>
            <p:cNvPr id="20" name="Rectangle 19">
              <a:extLst>
                <a:ext uri="{FF2B5EF4-FFF2-40B4-BE49-F238E27FC236}">
                  <a16:creationId xmlns:a16="http://schemas.microsoft.com/office/drawing/2014/main" id="{8F0B1D9F-3C1E-AB94-1DE0-8D9B2E4A5EFD}"/>
                </a:ext>
              </a:extLst>
            </p:cNvPr>
            <p:cNvSpPr/>
            <p:nvPr/>
          </p:nvSpPr>
          <p:spPr bwMode="auto">
            <a:xfrm>
              <a:off x="6004065" y="3512287"/>
              <a:ext cx="2719314" cy="199385"/>
            </a:xfrm>
            <a:prstGeom prst="rect">
              <a:avLst/>
            </a:prstGeom>
            <a:solidFill>
              <a:schemeClr val="accent1"/>
            </a:solidFill>
            <a:ln>
              <a:noFill/>
            </a:ln>
            <a:effectLst>
              <a:outerShdw blurRad="50800" dist="38100" dir="2700000" algn="tl" rotWithShape="0">
                <a:prstClr val="black">
                  <a:alpha val="40000"/>
                </a:prstClr>
              </a:outerShdw>
            </a:effectLst>
          </p:spPr>
          <p:txBody>
            <a:bodyPr vert="horz" wrap="square" lIns="68580" tIns="34290" rIns="68580" bIns="34290" numCol="1" rtlCol="0" anchor="ctr" anchorCtr="0" compatLnSpc="1">
              <a:prstTxWarp prst="textNoShape">
                <a:avLst/>
              </a:prstTxWarp>
            </a:bodyPr>
            <a:lstStyle/>
            <a:p>
              <a:pPr algn="ctr" defTabSz="685817" eaLnBrk="0" fontAlgn="auto" hangingPunct="0">
                <a:spcBef>
                  <a:spcPts val="0"/>
                </a:spcBef>
                <a:spcAft>
                  <a:spcPts val="0"/>
                </a:spcAft>
                <a:defRPr/>
              </a:pPr>
              <a:r>
                <a:rPr lang="en-SG" sz="923" b="0" kern="0">
                  <a:solidFill>
                    <a:srgbClr val="FFFFFF"/>
                  </a:solidFill>
                  <a:latin typeface="Arial" panose="020B0604020202020204"/>
                </a:rPr>
                <a:t>North Asia &amp; Indonesia</a:t>
              </a:r>
            </a:p>
          </p:txBody>
        </p:sp>
        <p:grpSp>
          <p:nvGrpSpPr>
            <p:cNvPr id="21" name="Group 20">
              <a:extLst>
                <a:ext uri="{FF2B5EF4-FFF2-40B4-BE49-F238E27FC236}">
                  <a16:creationId xmlns:a16="http://schemas.microsoft.com/office/drawing/2014/main" id="{3AF3FFBB-CDC4-1CAA-7EAA-80C9330F1291}"/>
                </a:ext>
              </a:extLst>
            </p:cNvPr>
            <p:cNvGrpSpPr/>
            <p:nvPr/>
          </p:nvGrpSpPr>
          <p:grpSpPr>
            <a:xfrm>
              <a:off x="5226393" y="1401844"/>
              <a:ext cx="1178462" cy="1321962"/>
              <a:chOff x="5593706" y="1232914"/>
              <a:chExt cx="1276667" cy="1432125"/>
            </a:xfrm>
          </p:grpSpPr>
          <p:pic>
            <p:nvPicPr>
              <p:cNvPr id="83" name="Picture 82" descr="Picture1.png">
                <a:extLst>
                  <a:ext uri="{FF2B5EF4-FFF2-40B4-BE49-F238E27FC236}">
                    <a16:creationId xmlns:a16="http://schemas.microsoft.com/office/drawing/2014/main" id="{AE559C6D-016C-6167-E182-0336D1E17710}"/>
                  </a:ext>
                </a:extLst>
              </p:cNvPr>
              <p:cNvPicPr>
                <a:picLocks noChangeAspect="1"/>
              </p:cNvPicPr>
              <p:nvPr/>
            </p:nvPicPr>
            <p:blipFill>
              <a:blip r:embed="rId6" cstate="print"/>
              <a:stretch>
                <a:fillRect/>
              </a:stretch>
            </p:blipFill>
            <p:spPr>
              <a:xfrm>
                <a:off x="5593706" y="1493108"/>
                <a:ext cx="1276667" cy="1171931"/>
              </a:xfrm>
              <a:prstGeom prst="rect">
                <a:avLst/>
              </a:prstGeom>
            </p:spPr>
          </p:pic>
          <p:sp>
            <p:nvSpPr>
              <p:cNvPr id="84" name="Rectangle 127">
                <a:extLst>
                  <a:ext uri="{FF2B5EF4-FFF2-40B4-BE49-F238E27FC236}">
                    <a16:creationId xmlns:a16="http://schemas.microsoft.com/office/drawing/2014/main" id="{CB16ADD1-6F1F-C3EA-480F-6D4E1FFA5B78}"/>
                  </a:ext>
                </a:extLst>
              </p:cNvPr>
              <p:cNvSpPr>
                <a:spLocks noChangeArrowheads="1"/>
              </p:cNvSpPr>
              <p:nvPr/>
            </p:nvSpPr>
            <p:spPr bwMode="gray">
              <a:xfrm>
                <a:off x="5792670" y="1827551"/>
                <a:ext cx="878739" cy="435710"/>
              </a:xfrm>
              <a:prstGeom prst="rect">
                <a:avLst/>
              </a:prstGeom>
              <a:noFill/>
              <a:ln w="9525">
                <a:noFill/>
                <a:miter lim="800000"/>
                <a:headEnd/>
                <a:tailEnd/>
              </a:ln>
              <a:effectLst/>
            </p:spPr>
            <p:txBody>
              <a:bodyPr wrap="square" lIns="0" tIns="0" rIns="0" bIns="0" anchor="ctr" anchorCtr="0">
                <a:spAutoFit/>
              </a:bodyPr>
              <a:lstStyle/>
              <a:p>
                <a:pPr algn="ctr" defTabSz="685817">
                  <a:buClr>
                    <a:srgbClr val="C00000"/>
                  </a:buClr>
                  <a:tabLst>
                    <a:tab pos="1805534" algn="r"/>
                  </a:tabLst>
                  <a:defRPr/>
                </a:pPr>
                <a:r>
                  <a:rPr lang="en-US" altLang="zh-CN" sz="923">
                    <a:solidFill>
                      <a:srgbClr val="FFFFFF"/>
                    </a:solidFill>
                    <a:latin typeface="Arial" panose="020B0604020202020204"/>
                    <a:ea typeface="黑体" panose="02010609060101010101" pitchFamily="49" charset="-122"/>
                    <a:cs typeface="Arial" panose="020B0604020202020204" pitchFamily="34" charset="0"/>
                  </a:rPr>
                  <a:t>Best Equity Bank </a:t>
                </a:r>
                <a:br>
                  <a:rPr lang="en-US" altLang="zh-CN" sz="923">
                    <a:solidFill>
                      <a:srgbClr val="FFFFFF"/>
                    </a:solidFill>
                    <a:latin typeface="Arial" panose="020B0604020202020204"/>
                    <a:ea typeface="黑体" panose="02010609060101010101" pitchFamily="49" charset="-122"/>
                    <a:cs typeface="Arial" panose="020B0604020202020204" pitchFamily="34" charset="0"/>
                  </a:rPr>
                </a:br>
                <a:r>
                  <a:rPr lang="en-US" altLang="zh-CN" sz="923">
                    <a:solidFill>
                      <a:srgbClr val="FFFFFF"/>
                    </a:solidFill>
                    <a:latin typeface="Arial" panose="020B0604020202020204"/>
                    <a:ea typeface="黑体" panose="02010609060101010101" pitchFamily="49" charset="-122"/>
                    <a:cs typeface="Arial" panose="020B0604020202020204" pitchFamily="34" charset="0"/>
                  </a:rPr>
                  <a:t>(Asia Pacific)</a:t>
                </a:r>
              </a:p>
            </p:txBody>
          </p:sp>
          <p:pic>
            <p:nvPicPr>
              <p:cNvPr id="85" name="Picture 84">
                <a:extLst>
                  <a:ext uri="{FF2B5EF4-FFF2-40B4-BE49-F238E27FC236}">
                    <a16:creationId xmlns:a16="http://schemas.microsoft.com/office/drawing/2014/main" id="{1B5368EF-6E51-5D3B-5B6A-A23AFE6E30A7}"/>
                  </a:ext>
                </a:extLst>
              </p:cNvPr>
              <p:cNvPicPr>
                <a:picLocks noChangeAspect="1"/>
              </p:cNvPicPr>
              <p:nvPr/>
            </p:nvPicPr>
            <p:blipFill>
              <a:blip r:embed="rId8"/>
              <a:stretch>
                <a:fillRect/>
              </a:stretch>
            </p:blipFill>
            <p:spPr>
              <a:xfrm>
                <a:off x="5736471" y="1232914"/>
                <a:ext cx="991136" cy="324979"/>
              </a:xfrm>
              <a:prstGeom prst="rect">
                <a:avLst/>
              </a:prstGeom>
            </p:spPr>
          </p:pic>
        </p:grpSp>
        <p:grpSp>
          <p:nvGrpSpPr>
            <p:cNvPr id="22" name="Group 21">
              <a:extLst>
                <a:ext uri="{FF2B5EF4-FFF2-40B4-BE49-F238E27FC236}">
                  <a16:creationId xmlns:a16="http://schemas.microsoft.com/office/drawing/2014/main" id="{FCB292E7-6C4F-5EB8-A8D3-F08402A8F56F}"/>
                </a:ext>
              </a:extLst>
            </p:cNvPr>
            <p:cNvGrpSpPr/>
            <p:nvPr/>
          </p:nvGrpSpPr>
          <p:grpSpPr>
            <a:xfrm>
              <a:off x="1127007" y="1416796"/>
              <a:ext cx="1269759" cy="1340488"/>
              <a:chOff x="1220924" y="1249112"/>
              <a:chExt cx="1375572" cy="1452195"/>
            </a:xfrm>
          </p:grpSpPr>
          <p:pic>
            <p:nvPicPr>
              <p:cNvPr id="80" name="Picture 79" descr="Picture1.png">
                <a:extLst>
                  <a:ext uri="{FF2B5EF4-FFF2-40B4-BE49-F238E27FC236}">
                    <a16:creationId xmlns:a16="http://schemas.microsoft.com/office/drawing/2014/main" id="{5719140B-85FB-B83B-91E1-FFFA139EAD44}"/>
                  </a:ext>
                </a:extLst>
              </p:cNvPr>
              <p:cNvPicPr>
                <a:picLocks noChangeAspect="1"/>
              </p:cNvPicPr>
              <p:nvPr/>
            </p:nvPicPr>
            <p:blipFill>
              <a:blip r:embed="rId6" cstate="print"/>
              <a:stretch>
                <a:fillRect/>
              </a:stretch>
            </p:blipFill>
            <p:spPr>
              <a:xfrm>
                <a:off x="1220924" y="1453691"/>
                <a:ext cx="1375572" cy="1247616"/>
              </a:xfrm>
              <a:prstGeom prst="rect">
                <a:avLst/>
              </a:prstGeom>
            </p:spPr>
          </p:pic>
          <p:sp>
            <p:nvSpPr>
              <p:cNvPr id="81" name="TextBox 80">
                <a:extLst>
                  <a:ext uri="{FF2B5EF4-FFF2-40B4-BE49-F238E27FC236}">
                    <a16:creationId xmlns:a16="http://schemas.microsoft.com/office/drawing/2014/main" id="{D0817076-30B9-C2DB-7756-CB0A25BDD96B}"/>
                  </a:ext>
                </a:extLst>
              </p:cNvPr>
              <p:cNvSpPr txBox="1"/>
              <p:nvPr/>
            </p:nvSpPr>
            <p:spPr>
              <a:xfrm>
                <a:off x="1339547" y="1249112"/>
                <a:ext cx="1138327" cy="315434"/>
              </a:xfrm>
              <a:prstGeom prst="rect">
                <a:avLst/>
              </a:prstGeom>
              <a:noFill/>
            </p:spPr>
            <p:txBody>
              <a:bodyPr wrap="square" rtlCol="0">
                <a:spAutoFit/>
              </a:bodyPr>
              <a:lstStyle/>
              <a:p>
                <a:pPr algn="ctr" defTabSz="685817" eaLnBrk="0" hangingPunct="0">
                  <a:defRPr/>
                </a:pPr>
                <a:r>
                  <a:rPr lang="en-SG" sz="1108">
                    <a:solidFill>
                      <a:srgbClr val="FFFFFF"/>
                    </a:solidFill>
                    <a:latin typeface="Arial" panose="020B0604020202020204"/>
                    <a:cs typeface="Times New Roman" panose="02020603050405020304" pitchFamily="18" charset="0"/>
                  </a:rPr>
                  <a:t>The </a:t>
                </a:r>
                <a:r>
                  <a:rPr lang="en-SG" sz="1292">
                    <a:solidFill>
                      <a:srgbClr val="FFFFFF"/>
                    </a:solidFill>
                    <a:latin typeface="Arial" panose="020B0604020202020204"/>
                    <a:cs typeface="Times New Roman" panose="02020603050405020304" pitchFamily="18" charset="0"/>
                  </a:rPr>
                  <a:t>Banker</a:t>
                </a:r>
              </a:p>
            </p:txBody>
          </p:sp>
          <p:sp>
            <p:nvSpPr>
              <p:cNvPr id="82" name="Rectangle 81">
                <a:extLst>
                  <a:ext uri="{FF2B5EF4-FFF2-40B4-BE49-F238E27FC236}">
                    <a16:creationId xmlns:a16="http://schemas.microsoft.com/office/drawing/2014/main" id="{F3348E12-FCFC-36E4-98C0-255171CE67BB}"/>
                  </a:ext>
                </a:extLst>
              </p:cNvPr>
              <p:cNvSpPr>
                <a:spLocks noChangeArrowheads="1"/>
              </p:cNvSpPr>
              <p:nvPr/>
            </p:nvSpPr>
            <p:spPr bwMode="gray">
              <a:xfrm>
                <a:off x="1425633" y="1827550"/>
                <a:ext cx="966155" cy="435710"/>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Arial" panose="020B0604020202020204" pitchFamily="34" charset="0"/>
                  </a:rPr>
                  <a:t>Investment Bank of the Year</a:t>
                </a:r>
                <a:br>
                  <a:rPr lang="en-US" altLang="zh-TW" sz="923">
                    <a:solidFill>
                      <a:srgbClr val="FFFFFF"/>
                    </a:solidFill>
                    <a:latin typeface="Arial" panose="020B0604020202020204"/>
                    <a:ea typeface="DFPKaiShu-GB5" panose="03000500000000000000" pitchFamily="66" charset="-128"/>
                    <a:cs typeface="Arial" panose="020B0604020202020204" pitchFamily="34" charset="0"/>
                  </a:rPr>
                </a:br>
                <a:r>
                  <a:rPr lang="en-US" altLang="zh-TW" sz="923">
                    <a:solidFill>
                      <a:srgbClr val="FFFFFF"/>
                    </a:solidFill>
                    <a:latin typeface="Arial" panose="020B0604020202020204"/>
                    <a:ea typeface="DFPKaiShu-GB5" panose="03000500000000000000" pitchFamily="66" charset="-128"/>
                    <a:cs typeface="Arial" panose="020B0604020202020204" pitchFamily="34" charset="0"/>
                  </a:rPr>
                  <a:t>(Asia Pacific)</a:t>
                </a:r>
              </a:p>
            </p:txBody>
          </p:sp>
        </p:grpSp>
        <p:grpSp>
          <p:nvGrpSpPr>
            <p:cNvPr id="23" name="Group 22">
              <a:extLst>
                <a:ext uri="{FF2B5EF4-FFF2-40B4-BE49-F238E27FC236}">
                  <a16:creationId xmlns:a16="http://schemas.microsoft.com/office/drawing/2014/main" id="{B1F81FC5-9EF9-DC53-6830-AD11AC3294B2}"/>
                </a:ext>
              </a:extLst>
            </p:cNvPr>
            <p:cNvGrpSpPr/>
            <p:nvPr/>
          </p:nvGrpSpPr>
          <p:grpSpPr>
            <a:xfrm>
              <a:off x="2531760" y="1361422"/>
              <a:ext cx="1222726" cy="1381720"/>
              <a:chOff x="2727138" y="1189124"/>
              <a:chExt cx="1324620" cy="1496863"/>
            </a:xfrm>
          </p:grpSpPr>
          <p:pic>
            <p:nvPicPr>
              <p:cNvPr id="77" name="Picture 76" descr="Picture1.png">
                <a:extLst>
                  <a:ext uri="{FF2B5EF4-FFF2-40B4-BE49-F238E27FC236}">
                    <a16:creationId xmlns:a16="http://schemas.microsoft.com/office/drawing/2014/main" id="{8210F871-0B94-5FE6-6912-994ED45C9F03}"/>
                  </a:ext>
                </a:extLst>
              </p:cNvPr>
              <p:cNvPicPr>
                <a:picLocks noChangeAspect="1"/>
              </p:cNvPicPr>
              <p:nvPr/>
            </p:nvPicPr>
            <p:blipFill>
              <a:blip r:embed="rId6" cstate="print"/>
              <a:stretch>
                <a:fillRect/>
              </a:stretch>
            </p:blipFill>
            <p:spPr>
              <a:xfrm>
                <a:off x="2727138" y="1479066"/>
                <a:ext cx="1324620" cy="1206921"/>
              </a:xfrm>
              <a:prstGeom prst="rect">
                <a:avLst/>
              </a:prstGeom>
            </p:spPr>
          </p:pic>
          <p:pic>
            <p:nvPicPr>
              <p:cNvPr id="78" name="Picture 77">
                <a:extLst>
                  <a:ext uri="{FF2B5EF4-FFF2-40B4-BE49-F238E27FC236}">
                    <a16:creationId xmlns:a16="http://schemas.microsoft.com/office/drawing/2014/main" id="{FBE96432-1CA2-4C67-C866-D405DAA96503}"/>
                  </a:ext>
                </a:extLst>
              </p:cNvPr>
              <p:cNvPicPr>
                <a:picLocks noChangeAspect="1"/>
              </p:cNvPicPr>
              <p:nvPr/>
            </p:nvPicPr>
            <p:blipFill>
              <a:blip r:embed="rId8"/>
              <a:stretch>
                <a:fillRect/>
              </a:stretch>
            </p:blipFill>
            <p:spPr>
              <a:xfrm>
                <a:off x="2893880" y="1189124"/>
                <a:ext cx="991136" cy="324979"/>
              </a:xfrm>
              <a:prstGeom prst="rect">
                <a:avLst/>
              </a:prstGeom>
            </p:spPr>
          </p:pic>
          <p:sp>
            <p:nvSpPr>
              <p:cNvPr id="79" name="Rectangle 127">
                <a:extLst>
                  <a:ext uri="{FF2B5EF4-FFF2-40B4-BE49-F238E27FC236}">
                    <a16:creationId xmlns:a16="http://schemas.microsoft.com/office/drawing/2014/main" id="{661B0BFC-D2D2-4569-186E-08D6AFB0412F}"/>
                  </a:ext>
                </a:extLst>
              </p:cNvPr>
              <p:cNvSpPr>
                <a:spLocks noChangeArrowheads="1"/>
              </p:cNvSpPr>
              <p:nvPr/>
            </p:nvSpPr>
            <p:spPr bwMode="gray">
              <a:xfrm>
                <a:off x="2906126" y="1827551"/>
                <a:ext cx="966645" cy="435710"/>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Arial" panose="020B0604020202020204" pitchFamily="34" charset="0"/>
                  </a:rPr>
                  <a:t>Best </a:t>
                </a:r>
              </a:p>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Arial" panose="020B0604020202020204" pitchFamily="34" charset="0"/>
                  </a:rPr>
                  <a:t>Investment Bank </a:t>
                </a:r>
                <a:br>
                  <a:rPr lang="en-US" altLang="zh-TW" sz="923">
                    <a:solidFill>
                      <a:srgbClr val="FFFFFF"/>
                    </a:solidFill>
                    <a:latin typeface="Arial" panose="020B0604020202020204"/>
                    <a:ea typeface="DFPKaiShu-GB5" panose="03000500000000000000" pitchFamily="66" charset="-128"/>
                    <a:cs typeface="Arial" panose="020B0604020202020204" pitchFamily="34" charset="0"/>
                  </a:rPr>
                </a:br>
                <a:r>
                  <a:rPr lang="en-US" altLang="zh-TW" sz="923">
                    <a:solidFill>
                      <a:srgbClr val="FFFFFF"/>
                    </a:solidFill>
                    <a:latin typeface="Arial" panose="020B0604020202020204"/>
                    <a:ea typeface="DFPKaiShu-GB5" panose="03000500000000000000" pitchFamily="66" charset="-128"/>
                    <a:cs typeface="Arial" panose="020B0604020202020204" pitchFamily="34" charset="0"/>
                  </a:rPr>
                  <a:t>(Asia Pacific)</a:t>
                </a:r>
              </a:p>
            </p:txBody>
          </p:sp>
        </p:grpSp>
        <p:grpSp>
          <p:nvGrpSpPr>
            <p:cNvPr id="24" name="Group 23">
              <a:extLst>
                <a:ext uri="{FF2B5EF4-FFF2-40B4-BE49-F238E27FC236}">
                  <a16:creationId xmlns:a16="http://schemas.microsoft.com/office/drawing/2014/main" id="{D9FACB06-FBD3-0F0E-8DF9-30F35BA47675}"/>
                </a:ext>
              </a:extLst>
            </p:cNvPr>
            <p:cNvGrpSpPr/>
            <p:nvPr/>
          </p:nvGrpSpPr>
          <p:grpSpPr>
            <a:xfrm>
              <a:off x="6539847" y="1433668"/>
              <a:ext cx="1166566" cy="1294818"/>
              <a:chOff x="7084834" y="1267392"/>
              <a:chExt cx="1263780" cy="1402720"/>
            </a:xfrm>
          </p:grpSpPr>
          <p:pic>
            <p:nvPicPr>
              <p:cNvPr id="74" name="Picture 73" descr="Picture1.png">
                <a:extLst>
                  <a:ext uri="{FF2B5EF4-FFF2-40B4-BE49-F238E27FC236}">
                    <a16:creationId xmlns:a16="http://schemas.microsoft.com/office/drawing/2014/main" id="{34D961E1-D605-7994-3940-93390F0EBB18}"/>
                  </a:ext>
                </a:extLst>
              </p:cNvPr>
              <p:cNvPicPr>
                <a:picLocks noChangeAspect="1"/>
              </p:cNvPicPr>
              <p:nvPr/>
            </p:nvPicPr>
            <p:blipFill>
              <a:blip r:embed="rId6" cstate="print"/>
              <a:stretch>
                <a:fillRect/>
              </a:stretch>
            </p:blipFill>
            <p:spPr>
              <a:xfrm>
                <a:off x="7084834" y="1534915"/>
                <a:ext cx="1263780" cy="1135197"/>
              </a:xfrm>
              <a:prstGeom prst="rect">
                <a:avLst/>
              </a:prstGeom>
            </p:spPr>
          </p:pic>
          <p:sp>
            <p:nvSpPr>
              <p:cNvPr id="75" name="Rectangle 74">
                <a:extLst>
                  <a:ext uri="{FF2B5EF4-FFF2-40B4-BE49-F238E27FC236}">
                    <a16:creationId xmlns:a16="http://schemas.microsoft.com/office/drawing/2014/main" id="{1EB560DA-86D9-1730-182E-785085FC39F5}"/>
                  </a:ext>
                </a:extLst>
              </p:cNvPr>
              <p:cNvSpPr>
                <a:spLocks noChangeArrowheads="1"/>
              </p:cNvSpPr>
              <p:nvPr/>
            </p:nvSpPr>
            <p:spPr bwMode="gray">
              <a:xfrm>
                <a:off x="7271652" y="1754933"/>
                <a:ext cx="890144" cy="580946"/>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Arial" panose="020B0604020202020204" pitchFamily="34" charset="0"/>
                  </a:rPr>
                  <a:t>Best </a:t>
                </a:r>
              </a:p>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Arial" panose="020B0604020202020204" pitchFamily="34" charset="0"/>
                  </a:rPr>
                  <a:t>Innovative Investment </a:t>
                </a:r>
                <a:br>
                  <a:rPr lang="en-US" altLang="zh-TW" sz="923">
                    <a:solidFill>
                      <a:srgbClr val="FFFFFF"/>
                    </a:solidFill>
                    <a:latin typeface="Arial" panose="020B0604020202020204"/>
                    <a:ea typeface="DFPKaiShu-GB5" panose="03000500000000000000" pitchFamily="66" charset="-128"/>
                    <a:cs typeface="Arial" panose="020B0604020202020204" pitchFamily="34" charset="0"/>
                  </a:rPr>
                </a:br>
                <a:r>
                  <a:rPr lang="en-US" altLang="zh-TW" sz="923">
                    <a:solidFill>
                      <a:srgbClr val="FFFFFF"/>
                    </a:solidFill>
                    <a:latin typeface="Arial" panose="020B0604020202020204"/>
                    <a:ea typeface="DFPKaiShu-GB5" panose="03000500000000000000" pitchFamily="66" charset="-128"/>
                    <a:cs typeface="Arial" panose="020B0604020202020204" pitchFamily="34" charset="0"/>
                  </a:rPr>
                  <a:t>Bank in China</a:t>
                </a:r>
              </a:p>
            </p:txBody>
          </p:sp>
          <p:sp>
            <p:nvSpPr>
              <p:cNvPr id="76" name="TextBox 75">
                <a:extLst>
                  <a:ext uri="{FF2B5EF4-FFF2-40B4-BE49-F238E27FC236}">
                    <a16:creationId xmlns:a16="http://schemas.microsoft.com/office/drawing/2014/main" id="{DE59452D-5A4A-866A-FB37-77F40B179E91}"/>
                  </a:ext>
                </a:extLst>
              </p:cNvPr>
              <p:cNvSpPr txBox="1"/>
              <p:nvPr/>
            </p:nvSpPr>
            <p:spPr>
              <a:xfrm>
                <a:off x="7092953" y="1267392"/>
                <a:ext cx="1247542" cy="424890"/>
              </a:xfrm>
              <a:prstGeom prst="rect">
                <a:avLst/>
              </a:prstGeom>
              <a:noFill/>
            </p:spPr>
            <p:txBody>
              <a:bodyPr wrap="square" rtlCol="0" anchor="ctr">
                <a:spAutoFit/>
              </a:bodyPr>
              <a:lstStyle/>
              <a:p>
                <a:pPr algn="ctr" defTabSz="685817" eaLnBrk="0" hangingPunct="0">
                  <a:defRPr/>
                </a:pPr>
                <a:r>
                  <a:rPr lang="en-SG" sz="1050">
                    <a:solidFill>
                      <a:srgbClr val="FFFFFF"/>
                    </a:solidFill>
                    <a:latin typeface="Arial" panose="020B0604020202020204"/>
                    <a:cs typeface="Arial" panose="020B0604020202020204" pitchFamily="34" charset="0"/>
                  </a:rPr>
                  <a:t>The Securities Times</a:t>
                </a:r>
              </a:p>
            </p:txBody>
          </p:sp>
        </p:grpSp>
        <p:grpSp>
          <p:nvGrpSpPr>
            <p:cNvPr id="25" name="Group 24">
              <a:extLst>
                <a:ext uri="{FF2B5EF4-FFF2-40B4-BE49-F238E27FC236}">
                  <a16:creationId xmlns:a16="http://schemas.microsoft.com/office/drawing/2014/main" id="{28FD3E79-A2E0-C1C9-9768-B07BC1D7A362}"/>
                </a:ext>
              </a:extLst>
            </p:cNvPr>
            <p:cNvGrpSpPr/>
            <p:nvPr/>
          </p:nvGrpSpPr>
          <p:grpSpPr>
            <a:xfrm>
              <a:off x="3889481" y="1386323"/>
              <a:ext cx="1201917" cy="1342316"/>
              <a:chOff x="4181966" y="1216100"/>
              <a:chExt cx="1302077" cy="1454176"/>
            </a:xfrm>
          </p:grpSpPr>
          <p:pic>
            <p:nvPicPr>
              <p:cNvPr id="71" name="Picture 70" descr="Picture1.png">
                <a:extLst>
                  <a:ext uri="{FF2B5EF4-FFF2-40B4-BE49-F238E27FC236}">
                    <a16:creationId xmlns:a16="http://schemas.microsoft.com/office/drawing/2014/main" id="{CC48DDDA-D34F-BD0B-044B-660ABE044307}"/>
                  </a:ext>
                </a:extLst>
              </p:cNvPr>
              <p:cNvPicPr>
                <a:picLocks noChangeAspect="1"/>
              </p:cNvPicPr>
              <p:nvPr/>
            </p:nvPicPr>
            <p:blipFill>
              <a:blip r:embed="rId6" cstate="print"/>
              <a:stretch>
                <a:fillRect/>
              </a:stretch>
            </p:blipFill>
            <p:spPr>
              <a:xfrm>
                <a:off x="4181966" y="1454633"/>
                <a:ext cx="1302077" cy="1215643"/>
              </a:xfrm>
              <a:prstGeom prst="rect">
                <a:avLst/>
              </a:prstGeom>
            </p:spPr>
          </p:pic>
          <p:sp>
            <p:nvSpPr>
              <p:cNvPr id="72" name="Rectangle 71">
                <a:extLst>
                  <a:ext uri="{FF2B5EF4-FFF2-40B4-BE49-F238E27FC236}">
                    <a16:creationId xmlns:a16="http://schemas.microsoft.com/office/drawing/2014/main" id="{1A9D8002-754E-AF5F-54AD-224F5382DD5C}"/>
                  </a:ext>
                </a:extLst>
              </p:cNvPr>
              <p:cNvSpPr>
                <a:spLocks noChangeArrowheads="1"/>
              </p:cNvSpPr>
              <p:nvPr/>
            </p:nvSpPr>
            <p:spPr bwMode="gray">
              <a:xfrm>
                <a:off x="4372817" y="1827553"/>
                <a:ext cx="920375" cy="435711"/>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Arial" panose="020B0604020202020204" pitchFamily="34" charset="0"/>
                  </a:rPr>
                  <a:t>Best REIT </a:t>
                </a:r>
                <a:br>
                  <a:rPr lang="en-US" altLang="zh-TW" sz="923">
                    <a:solidFill>
                      <a:srgbClr val="FFFFFF"/>
                    </a:solidFill>
                    <a:latin typeface="Arial" panose="020B0604020202020204"/>
                    <a:ea typeface="DFPKaiShu-GB5" panose="03000500000000000000" pitchFamily="66" charset="-128"/>
                    <a:cs typeface="Arial" panose="020B0604020202020204" pitchFamily="34" charset="0"/>
                  </a:rPr>
                </a:br>
                <a:r>
                  <a:rPr lang="en-US" altLang="zh-TW" sz="923">
                    <a:solidFill>
                      <a:srgbClr val="FFFFFF"/>
                    </a:solidFill>
                    <a:latin typeface="Arial" panose="020B0604020202020204"/>
                    <a:ea typeface="DFPKaiShu-GB5" panose="03000500000000000000" pitchFamily="66" charset="-128"/>
                    <a:cs typeface="Arial" panose="020B0604020202020204" pitchFamily="34" charset="0"/>
                  </a:rPr>
                  <a:t>Adviser in the Region</a:t>
                </a:r>
              </a:p>
            </p:txBody>
          </p:sp>
          <p:pic>
            <p:nvPicPr>
              <p:cNvPr id="73" name="Picture 72" descr="A picture containing drawing&#10;&#10;Description automatically generated">
                <a:extLst>
                  <a:ext uri="{FF2B5EF4-FFF2-40B4-BE49-F238E27FC236}">
                    <a16:creationId xmlns:a16="http://schemas.microsoft.com/office/drawing/2014/main" id="{9C2D8F8B-3882-0000-FE87-B50BEF6E96A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587757" y="1216100"/>
                <a:ext cx="490494" cy="456195"/>
              </a:xfrm>
              <a:prstGeom prst="rect">
                <a:avLst/>
              </a:prstGeom>
            </p:spPr>
          </p:pic>
        </p:grpSp>
        <p:pic>
          <p:nvPicPr>
            <p:cNvPr id="26" name="Picture 25" descr="Picture1.png">
              <a:extLst>
                <a:ext uri="{FF2B5EF4-FFF2-40B4-BE49-F238E27FC236}">
                  <a16:creationId xmlns:a16="http://schemas.microsoft.com/office/drawing/2014/main" id="{5EF9EB30-6CE0-4900-7CED-3902698A3F69}"/>
                </a:ext>
              </a:extLst>
            </p:cNvPr>
            <p:cNvPicPr>
              <a:picLocks noChangeAspect="1"/>
            </p:cNvPicPr>
            <p:nvPr/>
          </p:nvPicPr>
          <p:blipFill>
            <a:blip r:embed="rId6" cstate="print"/>
            <a:stretch>
              <a:fillRect/>
            </a:stretch>
          </p:blipFill>
          <p:spPr>
            <a:xfrm>
              <a:off x="447459" y="4044144"/>
              <a:ext cx="883806" cy="763968"/>
            </a:xfrm>
            <a:prstGeom prst="rect">
              <a:avLst/>
            </a:prstGeom>
          </p:spPr>
        </p:pic>
        <p:sp>
          <p:nvSpPr>
            <p:cNvPr id="27" name="Rectangle 127">
              <a:extLst>
                <a:ext uri="{FF2B5EF4-FFF2-40B4-BE49-F238E27FC236}">
                  <a16:creationId xmlns:a16="http://schemas.microsoft.com/office/drawing/2014/main" id="{74E83922-B221-63F1-A389-6F09E1E25BD6}"/>
                </a:ext>
              </a:extLst>
            </p:cNvPr>
            <p:cNvSpPr>
              <a:spLocks noChangeArrowheads="1"/>
            </p:cNvSpPr>
            <p:nvPr/>
          </p:nvSpPr>
          <p:spPr bwMode="gray">
            <a:xfrm>
              <a:off x="557054" y="4233933"/>
              <a:ext cx="664615" cy="435785"/>
            </a:xfrm>
            <a:prstGeom prst="rect">
              <a:avLst/>
            </a:prstGeom>
            <a:noFill/>
            <a:ln w="9525">
              <a:noFill/>
              <a:miter lim="800000"/>
              <a:headEnd/>
              <a:tailEnd/>
            </a:ln>
            <a:effectLst/>
          </p:spPr>
          <p:txBody>
            <a:bodyPr wrap="square" lIns="0" tIns="0" rIns="0" bIns="0" anchor="ctr" anchorCtr="0">
              <a:spAutoFit/>
            </a:bodyPr>
            <a:lstStyle/>
            <a:p>
              <a:pPr algn="ctr" defTabSz="685817" eaLnBrk="0" fontAlgn="auto" hangingPunct="0">
                <a:spcBef>
                  <a:spcPts val="0"/>
                </a:spcBef>
                <a:spcAft>
                  <a:spcPts val="0"/>
                </a:spcAft>
                <a:buClr>
                  <a:srgbClr val="C00000"/>
                </a:buClr>
                <a:tabLst>
                  <a:tab pos="2657541" algn="r"/>
                </a:tabLst>
                <a:defRPr/>
              </a:pPr>
              <a:r>
                <a:rPr lang="en-US" altLang="zh-CN" sz="600" b="0" kern="0">
                  <a:solidFill>
                    <a:srgbClr val="000000"/>
                  </a:solidFill>
                  <a:latin typeface="Arial" panose="020B0604020202020204"/>
                  <a:ea typeface="黑体" panose="02010609060101010101" pitchFamily="49" charset="-122"/>
                  <a:cs typeface="Arial" panose="020B0604020202020204" pitchFamily="34" charset="0"/>
                </a:rPr>
                <a:t>2025</a:t>
              </a:r>
            </a:p>
            <a:p>
              <a:pPr algn="ctr" defTabSz="685817" eaLnBrk="0" fontAlgn="auto" hangingPunct="0">
                <a:spcBef>
                  <a:spcPts val="0"/>
                </a:spcBef>
                <a:spcAft>
                  <a:spcPts val="0"/>
                </a:spcAft>
                <a:buClr>
                  <a:srgbClr val="C00000"/>
                </a:buClr>
                <a:tabLst>
                  <a:tab pos="2657541" algn="r"/>
                </a:tabLst>
                <a:defRPr/>
              </a:pPr>
              <a:r>
                <a:rPr lang="en-US" altLang="zh-CN" sz="600" b="0" kern="0">
                  <a:solidFill>
                    <a:srgbClr val="000000"/>
                  </a:solidFill>
                  <a:latin typeface="Arial" panose="020B0604020202020204"/>
                  <a:ea typeface="黑体" panose="02010609060101010101" pitchFamily="49" charset="-122"/>
                  <a:cs typeface="Arial" panose="020B0604020202020204" pitchFamily="34" charset="0"/>
                </a:rPr>
                <a:t>Best Investment Bank</a:t>
              </a:r>
            </a:p>
            <a:p>
              <a:pPr algn="ctr" defTabSz="685817" eaLnBrk="0" fontAlgn="auto" hangingPunct="0">
                <a:spcBef>
                  <a:spcPts val="0"/>
                </a:spcBef>
                <a:spcAft>
                  <a:spcPts val="0"/>
                </a:spcAft>
                <a:buClr>
                  <a:srgbClr val="C00000"/>
                </a:buClr>
                <a:tabLst>
                  <a:tab pos="2657541" algn="r"/>
                </a:tabLst>
                <a:defRPr/>
              </a:pPr>
              <a:r>
                <a:rPr lang="en-US" altLang="zh-CN" sz="600" b="0" kern="0">
                  <a:solidFill>
                    <a:srgbClr val="000000"/>
                  </a:solidFill>
                  <a:latin typeface="Arial" panose="020B0604020202020204"/>
                  <a:ea typeface="黑体" panose="02010609060101010101" pitchFamily="49" charset="-122"/>
                  <a:cs typeface="Arial" panose="020B0604020202020204" pitchFamily="34" charset="0"/>
                </a:rPr>
                <a:t>(Asia Pacific)</a:t>
              </a:r>
            </a:p>
            <a:p>
              <a:pPr algn="ctr" defTabSz="685817" eaLnBrk="0" fontAlgn="auto" hangingPunct="0">
                <a:spcBef>
                  <a:spcPts val="0"/>
                </a:spcBef>
                <a:spcAft>
                  <a:spcPts val="0"/>
                </a:spcAft>
                <a:buClr>
                  <a:srgbClr val="C00000"/>
                </a:buClr>
                <a:tabLst>
                  <a:tab pos="2657541" algn="r"/>
                </a:tabLst>
                <a:defRPr/>
              </a:pPr>
              <a:r>
                <a:rPr lang="en-US" altLang="zh-CN" sz="600" b="0" kern="0">
                  <a:solidFill>
                    <a:srgbClr val="C00000"/>
                  </a:solidFill>
                  <a:latin typeface="Arial" panose="020B0604020202020204"/>
                  <a:ea typeface="黑体" panose="02010609060101010101" pitchFamily="49" charset="-122"/>
                  <a:cs typeface="Arial" panose="020B0604020202020204" pitchFamily="34" charset="0"/>
                </a:rPr>
                <a:t>5</a:t>
              </a:r>
              <a:r>
                <a:rPr lang="en-US" altLang="zh-CN" sz="600" b="0" kern="0" baseline="30000">
                  <a:solidFill>
                    <a:srgbClr val="C00000"/>
                  </a:solidFill>
                  <a:latin typeface="Arial" panose="020B0604020202020204"/>
                  <a:ea typeface="黑体" panose="02010609060101010101" pitchFamily="49" charset="-122"/>
                  <a:cs typeface="Arial" panose="020B0604020202020204" pitchFamily="34" charset="0"/>
                </a:rPr>
                <a:t>th</a:t>
              </a:r>
              <a:r>
                <a:rPr lang="en-US" altLang="zh-CN" sz="600" b="0" kern="0">
                  <a:solidFill>
                    <a:srgbClr val="C00000"/>
                  </a:solidFill>
                  <a:latin typeface="Arial" panose="020B0604020202020204"/>
                  <a:ea typeface="黑体" panose="02010609060101010101" pitchFamily="49" charset="-122"/>
                  <a:cs typeface="Arial" panose="020B0604020202020204" pitchFamily="34" charset="0"/>
                </a:rPr>
                <a:t> Win</a:t>
              </a:r>
            </a:p>
          </p:txBody>
        </p:sp>
        <p:pic>
          <p:nvPicPr>
            <p:cNvPr id="28" name="Picture 27" descr="Picture1.png">
              <a:extLst>
                <a:ext uri="{FF2B5EF4-FFF2-40B4-BE49-F238E27FC236}">
                  <a16:creationId xmlns:a16="http://schemas.microsoft.com/office/drawing/2014/main" id="{8A59BD8A-0A5C-3F40-F0D1-3262F29C7B62}"/>
                </a:ext>
              </a:extLst>
            </p:cNvPr>
            <p:cNvPicPr>
              <a:picLocks noChangeAspect="1"/>
            </p:cNvPicPr>
            <p:nvPr/>
          </p:nvPicPr>
          <p:blipFill>
            <a:blip r:embed="rId6" cstate="print"/>
            <a:stretch>
              <a:fillRect/>
            </a:stretch>
          </p:blipFill>
          <p:spPr>
            <a:xfrm>
              <a:off x="2295486" y="4044144"/>
              <a:ext cx="883806" cy="763968"/>
            </a:xfrm>
            <a:prstGeom prst="rect">
              <a:avLst/>
            </a:prstGeom>
          </p:spPr>
        </p:pic>
        <p:sp>
          <p:nvSpPr>
            <p:cNvPr id="29" name="Rectangle 127">
              <a:extLst>
                <a:ext uri="{FF2B5EF4-FFF2-40B4-BE49-F238E27FC236}">
                  <a16:creationId xmlns:a16="http://schemas.microsoft.com/office/drawing/2014/main" id="{843193C1-0731-0183-1BD0-F1BC300634AC}"/>
                </a:ext>
              </a:extLst>
            </p:cNvPr>
            <p:cNvSpPr>
              <a:spLocks noChangeArrowheads="1"/>
            </p:cNvSpPr>
            <p:nvPr/>
          </p:nvSpPr>
          <p:spPr bwMode="gray">
            <a:xfrm>
              <a:off x="2405082" y="4233933"/>
              <a:ext cx="664615" cy="435785"/>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US" altLang="zh-CN" sz="600" b="0">
                  <a:solidFill>
                    <a:srgbClr val="000000"/>
                  </a:solidFill>
                  <a:latin typeface="Arial" panose="020B0604020202020204"/>
                  <a:ea typeface="黑体" panose="02010609060101010101" pitchFamily="49" charset="-122"/>
                  <a:cs typeface="Arial" panose="020B0604020202020204" pitchFamily="34" charset="0"/>
                </a:rPr>
                <a:t>2025</a:t>
              </a:r>
            </a:p>
            <a:p>
              <a:pPr algn="ctr" defTabSz="685817" eaLnBrk="0" hangingPunct="0">
                <a:buClr>
                  <a:srgbClr val="C00000"/>
                </a:buClr>
                <a:tabLst>
                  <a:tab pos="2657541" algn="r"/>
                </a:tabLst>
                <a:defRPr/>
              </a:pPr>
              <a:r>
                <a:rPr lang="en-US" altLang="zh-CN" sz="600" b="0">
                  <a:solidFill>
                    <a:srgbClr val="000000"/>
                  </a:solidFill>
                  <a:latin typeface="Arial" panose="020B0604020202020204"/>
                  <a:ea typeface="黑体" panose="02010609060101010101" pitchFamily="49" charset="-122"/>
                  <a:cs typeface="Arial" panose="020B0604020202020204" pitchFamily="34" charset="0"/>
                </a:rPr>
                <a:t>Best Investment Bank</a:t>
              </a:r>
            </a:p>
            <a:p>
              <a:pPr algn="ctr" defTabSz="685817" eaLnBrk="0" hangingPunct="0">
                <a:buClr>
                  <a:srgbClr val="C00000"/>
                </a:buClr>
                <a:tabLst>
                  <a:tab pos="2657541" algn="r"/>
                </a:tabLst>
                <a:defRPr/>
              </a:pPr>
              <a:r>
                <a:rPr lang="en-US" altLang="zh-CN" sz="600" b="0">
                  <a:solidFill>
                    <a:srgbClr val="000000"/>
                  </a:solidFill>
                  <a:latin typeface="Arial" panose="020B0604020202020204"/>
                  <a:ea typeface="黑体" panose="02010609060101010101" pitchFamily="49" charset="-122"/>
                  <a:cs typeface="Arial" panose="020B0604020202020204" pitchFamily="34" charset="0"/>
                </a:rPr>
                <a:t>(Singapore</a:t>
              </a:r>
              <a:r>
                <a:rPr lang="en-US" altLang="zh-CN" sz="600" b="0">
                  <a:solidFill>
                    <a:srgbClr val="000000"/>
                  </a:solidFill>
                  <a:latin typeface="Arial" panose="020B0604020202020204"/>
                  <a:ea typeface="黑体" panose="02010609060101010101" pitchFamily="49" charset="-122"/>
                  <a:cs typeface="DFKaiShu-GB5" pitchFamily="65" charset="-128"/>
                </a:rPr>
                <a:t>)</a:t>
              </a:r>
            </a:p>
            <a:p>
              <a:pPr algn="ctr" defTabSz="685817" eaLnBrk="0" hangingPunct="0">
                <a:buClr>
                  <a:srgbClr val="C00000"/>
                </a:buClr>
                <a:tabLst>
                  <a:tab pos="2657541" algn="r"/>
                </a:tabLst>
                <a:defRPr/>
              </a:pPr>
              <a:r>
                <a:rPr lang="en-US" altLang="zh-CN" sz="600" b="0">
                  <a:solidFill>
                    <a:srgbClr val="CC0000"/>
                  </a:solidFill>
                  <a:latin typeface="Arial" panose="020B0604020202020204"/>
                  <a:ea typeface="黑体" panose="02010609060101010101" pitchFamily="49" charset="-122"/>
                  <a:cs typeface="DFKaiShu-GB5" pitchFamily="65" charset="-128"/>
                </a:rPr>
                <a:t>11</a:t>
              </a:r>
              <a:r>
                <a:rPr lang="en-US" altLang="zh-CN" sz="600" b="0" baseline="30000">
                  <a:solidFill>
                    <a:srgbClr val="CC0000"/>
                  </a:solidFill>
                  <a:latin typeface="Arial" panose="020B0604020202020204"/>
                  <a:ea typeface="黑体" panose="02010609060101010101" pitchFamily="49" charset="-122"/>
                  <a:cs typeface="DFKaiShu-GB5" pitchFamily="65" charset="-128"/>
                </a:rPr>
                <a:t>th</a:t>
              </a:r>
              <a:r>
                <a:rPr lang="en-US" altLang="zh-CN" sz="600" b="0">
                  <a:solidFill>
                    <a:srgbClr val="CC0000"/>
                  </a:solidFill>
                  <a:latin typeface="Arial" panose="020B0604020202020204"/>
                  <a:ea typeface="黑体" panose="02010609060101010101" pitchFamily="49" charset="-122"/>
                  <a:cs typeface="DFKaiShu-GB5" pitchFamily="65" charset="-128"/>
                </a:rPr>
                <a:t> Win</a:t>
              </a:r>
              <a:endParaRPr lang="en-US" altLang="zh-CN" sz="600" b="0">
                <a:solidFill>
                  <a:srgbClr val="C00000"/>
                </a:solidFill>
                <a:latin typeface="Arial" panose="020B0604020202020204"/>
                <a:ea typeface="黑体" panose="02010609060101010101" pitchFamily="49" charset="-122"/>
                <a:cs typeface="DFKaiShu-GB5" pitchFamily="65" charset="-128"/>
              </a:endParaRPr>
            </a:p>
          </p:txBody>
        </p:sp>
        <p:pic>
          <p:nvPicPr>
            <p:cNvPr id="30" name="Picture 29" descr="Picture1.png">
              <a:extLst>
                <a:ext uri="{FF2B5EF4-FFF2-40B4-BE49-F238E27FC236}">
                  <a16:creationId xmlns:a16="http://schemas.microsoft.com/office/drawing/2014/main" id="{314051D8-B733-616A-92F6-F816956BA8CC}"/>
                </a:ext>
              </a:extLst>
            </p:cNvPr>
            <p:cNvPicPr>
              <a:picLocks noChangeAspect="1"/>
            </p:cNvPicPr>
            <p:nvPr/>
          </p:nvPicPr>
          <p:blipFill>
            <a:blip r:embed="rId6" cstate="print"/>
            <a:stretch>
              <a:fillRect/>
            </a:stretch>
          </p:blipFill>
          <p:spPr>
            <a:xfrm>
              <a:off x="3219500" y="4044144"/>
              <a:ext cx="883806" cy="763968"/>
            </a:xfrm>
            <a:prstGeom prst="rect">
              <a:avLst/>
            </a:prstGeom>
          </p:spPr>
        </p:pic>
        <p:pic>
          <p:nvPicPr>
            <p:cNvPr id="31" name="Picture 12" descr="Image result for finance asia">
              <a:extLst>
                <a:ext uri="{FF2B5EF4-FFF2-40B4-BE49-F238E27FC236}">
                  <a16:creationId xmlns:a16="http://schemas.microsoft.com/office/drawing/2014/main" id="{0C7FAFA8-DFB2-DB7E-BF20-983DC384E25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374324" y="3925831"/>
              <a:ext cx="574159" cy="263901"/>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127">
              <a:extLst>
                <a:ext uri="{FF2B5EF4-FFF2-40B4-BE49-F238E27FC236}">
                  <a16:creationId xmlns:a16="http://schemas.microsoft.com/office/drawing/2014/main" id="{57CF518B-43F9-BE83-928A-02277F72273A}"/>
                </a:ext>
              </a:extLst>
            </p:cNvPr>
            <p:cNvSpPr>
              <a:spLocks noChangeArrowheads="1"/>
            </p:cNvSpPr>
            <p:nvPr/>
          </p:nvSpPr>
          <p:spPr bwMode="gray">
            <a:xfrm>
              <a:off x="3329096" y="4174825"/>
              <a:ext cx="664615" cy="553998"/>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2009-2025</a:t>
              </a:r>
              <a:endParaRPr lang="en-US" altLang="zh-CN" sz="600" b="0">
                <a:solidFill>
                  <a:srgbClr val="000000"/>
                </a:solidFill>
                <a:latin typeface="Arial" panose="020B0604020202020204"/>
                <a:ea typeface="黑体" panose="02010609060101010101" pitchFamily="49" charset="-122"/>
                <a:cs typeface="DFKaiShu-GB5" pitchFamily="65" charset="-128"/>
              </a:endParaRPr>
            </a:p>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Best Investment Bank</a:t>
              </a:r>
            </a:p>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(Singapore)</a:t>
              </a:r>
            </a:p>
            <a:p>
              <a:pPr algn="ctr" defTabSz="685817" eaLnBrk="0" hangingPunct="0">
                <a:buClr>
                  <a:srgbClr val="C00000"/>
                </a:buClr>
                <a:tabLst>
                  <a:tab pos="2657541" algn="r"/>
                </a:tabLst>
                <a:defRPr/>
              </a:pPr>
              <a:r>
                <a:rPr lang="en-US" altLang="zh-CN" sz="600" b="0">
                  <a:solidFill>
                    <a:srgbClr val="C00000"/>
                  </a:solidFill>
                  <a:latin typeface="Arial" panose="020B0604020202020204"/>
                  <a:ea typeface="黑体" panose="02010609060101010101" pitchFamily="49" charset="-122"/>
                  <a:cs typeface="DFKaiShu-GB5" pitchFamily="65" charset="-128"/>
                </a:rPr>
                <a:t>16</a:t>
              </a:r>
              <a:r>
                <a:rPr lang="en-US" altLang="zh-CN" sz="600" b="0" baseline="30000">
                  <a:solidFill>
                    <a:srgbClr val="C00000"/>
                  </a:solidFill>
                  <a:latin typeface="Arial" panose="020B0604020202020204"/>
                  <a:ea typeface="黑体" panose="02010609060101010101" pitchFamily="49" charset="-122"/>
                  <a:cs typeface="DFKaiShu-GB5" pitchFamily="65" charset="-128"/>
                </a:rPr>
                <a:t>th</a:t>
              </a:r>
              <a:r>
                <a:rPr lang="en-US" altLang="zh-CN" sz="600" b="0">
                  <a:solidFill>
                    <a:srgbClr val="C00000"/>
                  </a:solidFill>
                  <a:latin typeface="Arial" panose="020B0604020202020204"/>
                  <a:ea typeface="黑体" panose="02010609060101010101" pitchFamily="49" charset="-122"/>
                  <a:cs typeface="DFKaiShu-GB5" pitchFamily="65" charset="-128"/>
                </a:rPr>
                <a:t> Consecutive</a:t>
              </a:r>
            </a:p>
            <a:p>
              <a:pPr algn="ctr" defTabSz="685817" eaLnBrk="0" hangingPunct="0">
                <a:buClr>
                  <a:srgbClr val="C00000"/>
                </a:buClr>
                <a:tabLst>
                  <a:tab pos="2657541" algn="r"/>
                </a:tabLst>
                <a:defRPr/>
              </a:pPr>
              <a:r>
                <a:rPr lang="en-US" altLang="zh-CN" sz="600" b="0">
                  <a:solidFill>
                    <a:srgbClr val="C00000"/>
                  </a:solidFill>
                  <a:latin typeface="Arial" panose="020B0604020202020204"/>
                  <a:ea typeface="黑体" panose="02010609060101010101" pitchFamily="49" charset="-122"/>
                  <a:cs typeface="DFKaiShu-GB5" pitchFamily="65" charset="-128"/>
                </a:rPr>
                <a:t>Win</a:t>
              </a:r>
            </a:p>
          </p:txBody>
        </p:sp>
        <p:pic>
          <p:nvPicPr>
            <p:cNvPr id="33" name="Picture 32" descr="Picture1.png">
              <a:extLst>
                <a:ext uri="{FF2B5EF4-FFF2-40B4-BE49-F238E27FC236}">
                  <a16:creationId xmlns:a16="http://schemas.microsoft.com/office/drawing/2014/main" id="{C476B34F-5C2E-4659-38B8-C59043E7B2B4}"/>
                </a:ext>
              </a:extLst>
            </p:cNvPr>
            <p:cNvPicPr>
              <a:picLocks noChangeAspect="1"/>
            </p:cNvPicPr>
            <p:nvPr/>
          </p:nvPicPr>
          <p:blipFill>
            <a:blip r:embed="rId6" cstate="print"/>
            <a:stretch>
              <a:fillRect/>
            </a:stretch>
          </p:blipFill>
          <p:spPr>
            <a:xfrm>
              <a:off x="4143514" y="4044144"/>
              <a:ext cx="883806" cy="763968"/>
            </a:xfrm>
            <a:prstGeom prst="rect">
              <a:avLst/>
            </a:prstGeom>
          </p:spPr>
        </p:pic>
        <p:pic>
          <p:nvPicPr>
            <p:cNvPr id="34" name="Picture 33" descr="A red and blue logo&#10;&#10;Description automatically generated">
              <a:extLst>
                <a:ext uri="{FF2B5EF4-FFF2-40B4-BE49-F238E27FC236}">
                  <a16:creationId xmlns:a16="http://schemas.microsoft.com/office/drawing/2014/main" id="{73E3D107-4C24-FC2E-48DE-F4AE370E2CF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413700" y="3863865"/>
              <a:ext cx="343434" cy="325866"/>
            </a:xfrm>
            <a:prstGeom prst="rect">
              <a:avLst/>
            </a:prstGeom>
          </p:spPr>
        </p:pic>
        <p:sp>
          <p:nvSpPr>
            <p:cNvPr id="35" name="Rectangle 127">
              <a:extLst>
                <a:ext uri="{FF2B5EF4-FFF2-40B4-BE49-F238E27FC236}">
                  <a16:creationId xmlns:a16="http://schemas.microsoft.com/office/drawing/2014/main" id="{D441B769-DC24-FF83-1FE0-269E41F544C7}"/>
                </a:ext>
              </a:extLst>
            </p:cNvPr>
            <p:cNvSpPr>
              <a:spLocks noChangeArrowheads="1"/>
            </p:cNvSpPr>
            <p:nvPr/>
          </p:nvSpPr>
          <p:spPr bwMode="gray">
            <a:xfrm>
              <a:off x="4253109" y="4174825"/>
              <a:ext cx="664615" cy="553998"/>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US" altLang="zh-CN" sz="600" b="0">
                  <a:solidFill>
                    <a:srgbClr val="000000"/>
                  </a:solidFill>
                  <a:latin typeface="Arial" panose="020B0604020202020204"/>
                  <a:ea typeface="黑体" panose="02010609060101010101" pitchFamily="49" charset="-122"/>
                  <a:cs typeface="DFKaiShu-GB5" pitchFamily="65" charset="-128"/>
                </a:rPr>
                <a:t>2014-2023</a:t>
              </a:r>
            </a:p>
            <a:p>
              <a:pPr algn="ctr" defTabSz="685817" eaLnBrk="0" hangingPunct="0">
                <a:buClr>
                  <a:srgbClr val="C00000"/>
                </a:buClr>
                <a:tabLst>
                  <a:tab pos="2657541" algn="r"/>
                </a:tabLst>
                <a:defRPr/>
              </a:pPr>
              <a:r>
                <a:rPr lang="en-US" altLang="zh-CN" sz="600" b="0">
                  <a:solidFill>
                    <a:srgbClr val="000000"/>
                  </a:solidFill>
                  <a:latin typeface="Arial" panose="020B0604020202020204"/>
                  <a:ea typeface="黑体" panose="02010609060101010101" pitchFamily="49" charset="-122"/>
                  <a:cs typeface="DFKaiShu-GB5" pitchFamily="65" charset="-128"/>
                </a:rPr>
                <a:t>Best Equity Advisor/House (Singapore)</a:t>
              </a:r>
            </a:p>
            <a:p>
              <a:pPr algn="ctr" defTabSz="685817" eaLnBrk="0" hangingPunct="0">
                <a:buClr>
                  <a:srgbClr val="C00000"/>
                </a:buClr>
                <a:tabLst>
                  <a:tab pos="2657541" algn="r"/>
                </a:tabLst>
                <a:defRPr/>
              </a:pPr>
              <a:r>
                <a:rPr lang="en-US" altLang="zh-CN" sz="600" b="0">
                  <a:solidFill>
                    <a:srgbClr val="C00000"/>
                  </a:solidFill>
                  <a:latin typeface="Arial" panose="020B0604020202020204"/>
                  <a:ea typeface="黑体" panose="02010609060101010101" pitchFamily="49" charset="-122"/>
                </a:rPr>
                <a:t>10</a:t>
              </a:r>
              <a:r>
                <a:rPr lang="en-US" altLang="zh-CN" sz="600" b="0" baseline="30000">
                  <a:solidFill>
                    <a:srgbClr val="C00000"/>
                  </a:solidFill>
                  <a:latin typeface="Arial" panose="020B0604020202020204"/>
                  <a:ea typeface="黑体" panose="02010609060101010101" pitchFamily="49" charset="-122"/>
                </a:rPr>
                <a:t>th</a:t>
              </a:r>
              <a:r>
                <a:rPr lang="en-US" altLang="zh-CN" sz="600" b="0">
                  <a:solidFill>
                    <a:srgbClr val="C00000"/>
                  </a:solidFill>
                  <a:latin typeface="Arial" panose="020B0604020202020204"/>
                  <a:ea typeface="黑体" panose="02010609060101010101" pitchFamily="49" charset="-122"/>
                </a:rPr>
                <a:t> Consecutive</a:t>
              </a:r>
            </a:p>
            <a:p>
              <a:pPr algn="ctr" defTabSz="685817" eaLnBrk="0" hangingPunct="0">
                <a:buClr>
                  <a:srgbClr val="C00000"/>
                </a:buClr>
                <a:tabLst>
                  <a:tab pos="2657541" algn="r"/>
                </a:tabLst>
                <a:defRPr/>
              </a:pPr>
              <a:r>
                <a:rPr lang="en-US" altLang="zh-CN" sz="600" b="0">
                  <a:solidFill>
                    <a:srgbClr val="C00000"/>
                  </a:solidFill>
                  <a:latin typeface="Arial" panose="020B0604020202020204"/>
                  <a:ea typeface="黑体" panose="02010609060101010101" pitchFamily="49" charset="-122"/>
                </a:rPr>
                <a:t>Win</a:t>
              </a:r>
            </a:p>
          </p:txBody>
        </p:sp>
        <p:pic>
          <p:nvPicPr>
            <p:cNvPr id="36" name="Picture 35" descr="Picture1.png">
              <a:extLst>
                <a:ext uri="{FF2B5EF4-FFF2-40B4-BE49-F238E27FC236}">
                  <a16:creationId xmlns:a16="http://schemas.microsoft.com/office/drawing/2014/main" id="{E7F70206-4FEA-7B14-8698-936C3CA2E2C5}"/>
                </a:ext>
              </a:extLst>
            </p:cNvPr>
            <p:cNvPicPr>
              <a:picLocks noChangeAspect="1"/>
            </p:cNvPicPr>
            <p:nvPr/>
          </p:nvPicPr>
          <p:blipFill>
            <a:blip r:embed="rId6" cstate="print"/>
            <a:stretch>
              <a:fillRect/>
            </a:stretch>
          </p:blipFill>
          <p:spPr>
            <a:xfrm>
              <a:off x="6915555" y="4044144"/>
              <a:ext cx="883806" cy="763968"/>
            </a:xfrm>
            <a:prstGeom prst="rect">
              <a:avLst/>
            </a:prstGeom>
          </p:spPr>
        </p:pic>
        <p:pic>
          <p:nvPicPr>
            <p:cNvPr id="37" name="Picture 36">
              <a:extLst>
                <a:ext uri="{FF2B5EF4-FFF2-40B4-BE49-F238E27FC236}">
                  <a16:creationId xmlns:a16="http://schemas.microsoft.com/office/drawing/2014/main" id="{DB3E94AE-D46E-360F-D503-AE2B0A6098CC}"/>
                </a:ext>
              </a:extLst>
            </p:cNvPr>
            <p:cNvPicPr>
              <a:picLocks noChangeAspect="1"/>
            </p:cNvPicPr>
            <p:nvPr/>
          </p:nvPicPr>
          <p:blipFill>
            <a:blip r:embed="rId12"/>
            <a:stretch>
              <a:fillRect/>
            </a:stretch>
          </p:blipFill>
          <p:spPr>
            <a:xfrm>
              <a:off x="7206481" y="3855729"/>
              <a:ext cx="301956" cy="334003"/>
            </a:xfrm>
            <a:prstGeom prst="rect">
              <a:avLst/>
            </a:prstGeom>
          </p:spPr>
        </p:pic>
        <p:sp>
          <p:nvSpPr>
            <p:cNvPr id="38" name="Rectangle 127">
              <a:extLst>
                <a:ext uri="{FF2B5EF4-FFF2-40B4-BE49-F238E27FC236}">
                  <a16:creationId xmlns:a16="http://schemas.microsoft.com/office/drawing/2014/main" id="{B601F5C5-D7E0-2572-D13C-5724E7678A19}"/>
                </a:ext>
              </a:extLst>
            </p:cNvPr>
            <p:cNvSpPr>
              <a:spLocks noChangeArrowheads="1"/>
            </p:cNvSpPr>
            <p:nvPr/>
          </p:nvSpPr>
          <p:spPr bwMode="gray">
            <a:xfrm>
              <a:off x="7025151" y="4277509"/>
              <a:ext cx="664615" cy="348628"/>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2657541" algn="r"/>
                </a:tabLst>
                <a:defRPr/>
              </a:pPr>
              <a:r>
                <a:rPr lang="en-US" altLang="zh-CN" sz="600" b="0">
                  <a:solidFill>
                    <a:srgbClr val="000000"/>
                  </a:solidFill>
                  <a:latin typeface="Arial" panose="020B0604020202020204"/>
                  <a:ea typeface="黑体" panose="02010609060101010101" pitchFamily="49" charset="-122"/>
                  <a:cs typeface="Arial" panose="020B0604020202020204" pitchFamily="34" charset="0"/>
                </a:rPr>
                <a:t>2022</a:t>
              </a:r>
              <a:br>
                <a:rPr lang="en-US" altLang="zh-CN" sz="600" b="0">
                  <a:solidFill>
                    <a:srgbClr val="000000"/>
                  </a:solidFill>
                  <a:latin typeface="Arial" panose="020B0604020202020204"/>
                  <a:ea typeface="黑体" panose="02010609060101010101" pitchFamily="49" charset="-122"/>
                  <a:cs typeface="Arial" panose="020B0604020202020204" pitchFamily="34" charset="0"/>
                </a:rPr>
              </a:br>
              <a:r>
                <a:rPr lang="en-SG" altLang="zh-CN" sz="600" b="0">
                  <a:solidFill>
                    <a:srgbClr val="000000"/>
                  </a:solidFill>
                  <a:latin typeface="Arial" panose="020B0604020202020204"/>
                  <a:ea typeface="黑体" panose="02010609060101010101" pitchFamily="49" charset="-122"/>
                  <a:cs typeface="Arial" panose="020B0604020202020204" pitchFamily="34" charset="0"/>
                </a:rPr>
                <a:t>Best Investment Bank</a:t>
              </a:r>
            </a:p>
            <a:p>
              <a:pPr algn="ctr" defTabSz="685817">
                <a:spcBef>
                  <a:spcPts val="0"/>
                </a:spcBef>
                <a:spcAft>
                  <a:spcPts val="0"/>
                </a:spcAft>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Arial" panose="020B0604020202020204" pitchFamily="34" charset="0"/>
                </a:rPr>
                <a:t>(Hong Kong)</a:t>
              </a:r>
            </a:p>
          </p:txBody>
        </p:sp>
        <p:pic>
          <p:nvPicPr>
            <p:cNvPr id="39" name="Picture 38" descr="Picture1.png">
              <a:extLst>
                <a:ext uri="{FF2B5EF4-FFF2-40B4-BE49-F238E27FC236}">
                  <a16:creationId xmlns:a16="http://schemas.microsoft.com/office/drawing/2014/main" id="{F7979A8D-543D-7F1F-4231-07EE0C61FEFC}"/>
                </a:ext>
              </a:extLst>
            </p:cNvPr>
            <p:cNvPicPr>
              <a:picLocks noChangeAspect="1"/>
            </p:cNvPicPr>
            <p:nvPr/>
          </p:nvPicPr>
          <p:blipFill>
            <a:blip r:embed="rId6" cstate="print"/>
            <a:stretch>
              <a:fillRect/>
            </a:stretch>
          </p:blipFill>
          <p:spPr>
            <a:xfrm>
              <a:off x="7839572" y="4044144"/>
              <a:ext cx="883806" cy="763968"/>
            </a:xfrm>
            <a:prstGeom prst="rect">
              <a:avLst/>
            </a:prstGeom>
          </p:spPr>
        </p:pic>
        <p:pic>
          <p:nvPicPr>
            <p:cNvPr id="40" name="Picture 39" descr="A red and blue logo&#10;&#10;Description automatically generated">
              <a:extLst>
                <a:ext uri="{FF2B5EF4-FFF2-40B4-BE49-F238E27FC236}">
                  <a16:creationId xmlns:a16="http://schemas.microsoft.com/office/drawing/2014/main" id="{5DE3D9CC-E89B-2AC8-1BC8-E674F6F6D4C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109758" y="3863865"/>
              <a:ext cx="343434" cy="325866"/>
            </a:xfrm>
            <a:prstGeom prst="rect">
              <a:avLst/>
            </a:prstGeom>
          </p:spPr>
        </p:pic>
        <p:sp>
          <p:nvSpPr>
            <p:cNvPr id="41" name="Rectangle 127">
              <a:extLst>
                <a:ext uri="{FF2B5EF4-FFF2-40B4-BE49-F238E27FC236}">
                  <a16:creationId xmlns:a16="http://schemas.microsoft.com/office/drawing/2014/main" id="{EFB76232-AF89-0CB8-8811-91CD597E276D}"/>
                </a:ext>
              </a:extLst>
            </p:cNvPr>
            <p:cNvSpPr>
              <a:spLocks noChangeArrowheads="1"/>
            </p:cNvSpPr>
            <p:nvPr/>
          </p:nvSpPr>
          <p:spPr bwMode="gray">
            <a:xfrm>
              <a:off x="7949168" y="4313324"/>
              <a:ext cx="664615" cy="276999"/>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2023</a:t>
              </a:r>
              <a:endParaRPr lang="en-US" altLang="zh-CN" sz="600" b="0">
                <a:solidFill>
                  <a:srgbClr val="000000"/>
                </a:solidFill>
                <a:latin typeface="Arial" panose="020B0604020202020204"/>
                <a:ea typeface="黑体" panose="02010609060101010101" pitchFamily="49" charset="-122"/>
                <a:cs typeface="DFKaiShu-GB5" pitchFamily="65" charset="-128"/>
              </a:endParaRPr>
            </a:p>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Best IPO </a:t>
              </a:r>
            </a:p>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China Offshore</a:t>
              </a:r>
              <a:endParaRPr lang="en-SG" altLang="zh-CN" sz="600" b="0" baseline="30000">
                <a:solidFill>
                  <a:srgbClr val="000000"/>
                </a:solidFill>
                <a:latin typeface="Arial" panose="020B0604020202020204"/>
                <a:ea typeface="黑体" panose="02010609060101010101" pitchFamily="49" charset="-122"/>
                <a:cs typeface="DFKaiShu-GB5" pitchFamily="65" charset="-128"/>
              </a:endParaRPr>
            </a:p>
          </p:txBody>
        </p:sp>
        <p:pic>
          <p:nvPicPr>
            <p:cNvPr id="42" name="Picture 41" descr="Picture1.png">
              <a:extLst>
                <a:ext uri="{FF2B5EF4-FFF2-40B4-BE49-F238E27FC236}">
                  <a16:creationId xmlns:a16="http://schemas.microsoft.com/office/drawing/2014/main" id="{7B7FB0D4-DDF1-DD83-E38B-E15E344830EF}"/>
                </a:ext>
              </a:extLst>
            </p:cNvPr>
            <p:cNvPicPr>
              <a:picLocks noChangeAspect="1"/>
            </p:cNvPicPr>
            <p:nvPr/>
          </p:nvPicPr>
          <p:blipFill>
            <a:blip r:embed="rId6" cstate="print"/>
            <a:stretch>
              <a:fillRect/>
            </a:stretch>
          </p:blipFill>
          <p:spPr>
            <a:xfrm>
              <a:off x="5991542" y="4044144"/>
              <a:ext cx="883806" cy="763968"/>
            </a:xfrm>
            <a:prstGeom prst="rect">
              <a:avLst/>
            </a:prstGeom>
          </p:spPr>
        </p:pic>
        <p:pic>
          <p:nvPicPr>
            <p:cNvPr id="43" name="Picture 42">
              <a:extLst>
                <a:ext uri="{FF2B5EF4-FFF2-40B4-BE49-F238E27FC236}">
                  <a16:creationId xmlns:a16="http://schemas.microsoft.com/office/drawing/2014/main" id="{FE199794-D787-0685-EE49-9D49B3708AE5}"/>
                </a:ext>
              </a:extLst>
            </p:cNvPr>
            <p:cNvPicPr>
              <a:picLocks noChangeAspect="1"/>
            </p:cNvPicPr>
            <p:nvPr/>
          </p:nvPicPr>
          <p:blipFill>
            <a:blip r:embed="rId12"/>
            <a:stretch>
              <a:fillRect/>
            </a:stretch>
          </p:blipFill>
          <p:spPr>
            <a:xfrm>
              <a:off x="6282468" y="3855729"/>
              <a:ext cx="301956" cy="334003"/>
            </a:xfrm>
            <a:prstGeom prst="rect">
              <a:avLst/>
            </a:prstGeom>
          </p:spPr>
        </p:pic>
        <p:sp>
          <p:nvSpPr>
            <p:cNvPr id="44" name="Rectangle 127">
              <a:extLst>
                <a:ext uri="{FF2B5EF4-FFF2-40B4-BE49-F238E27FC236}">
                  <a16:creationId xmlns:a16="http://schemas.microsoft.com/office/drawing/2014/main" id="{E102178E-9A9F-3C74-B781-78EC4E6BDFA6}"/>
                </a:ext>
              </a:extLst>
            </p:cNvPr>
            <p:cNvSpPr>
              <a:spLocks noChangeArrowheads="1"/>
            </p:cNvSpPr>
            <p:nvPr/>
          </p:nvSpPr>
          <p:spPr bwMode="gray">
            <a:xfrm>
              <a:off x="6101137" y="4277509"/>
              <a:ext cx="664615" cy="348628"/>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2657541" algn="r"/>
                </a:tabLst>
                <a:defRPr/>
              </a:pPr>
              <a:r>
                <a:rPr lang="en-US" altLang="zh-CN" sz="600" b="0">
                  <a:solidFill>
                    <a:srgbClr val="000000"/>
                  </a:solidFill>
                  <a:latin typeface="Arial" panose="020B0604020202020204"/>
                  <a:ea typeface="黑体" panose="02010609060101010101" pitchFamily="49" charset="-122"/>
                  <a:cs typeface="Arial" panose="020B0604020202020204" pitchFamily="34" charset="0"/>
                </a:rPr>
                <a:t>2023</a:t>
              </a:r>
              <a:br>
                <a:rPr lang="en-US" altLang="zh-CN" sz="600" b="0">
                  <a:solidFill>
                    <a:srgbClr val="000000"/>
                  </a:solidFill>
                  <a:latin typeface="Arial" panose="020B0604020202020204"/>
                  <a:ea typeface="黑体" panose="02010609060101010101" pitchFamily="49" charset="-122"/>
                  <a:cs typeface="Arial" panose="020B0604020202020204" pitchFamily="34" charset="0"/>
                </a:rPr>
              </a:br>
              <a:r>
                <a:rPr lang="en-SG" altLang="zh-CN" sz="600" b="0">
                  <a:solidFill>
                    <a:srgbClr val="000000"/>
                  </a:solidFill>
                  <a:latin typeface="Arial" panose="020B0604020202020204"/>
                  <a:ea typeface="黑体" panose="02010609060101010101" pitchFamily="49" charset="-122"/>
                  <a:cs typeface="Arial" panose="020B0604020202020204" pitchFamily="34" charset="0"/>
                </a:rPr>
                <a:t>Best Investment Bank</a:t>
              </a:r>
            </a:p>
            <a:p>
              <a:pPr algn="ctr" defTabSz="685817">
                <a:spcBef>
                  <a:spcPts val="0"/>
                </a:spcBef>
                <a:spcAft>
                  <a:spcPts val="0"/>
                </a:spcAft>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Arial" panose="020B0604020202020204" pitchFamily="34" charset="0"/>
                </a:rPr>
                <a:t>(Indonesia)</a:t>
              </a:r>
            </a:p>
          </p:txBody>
        </p:sp>
        <p:pic>
          <p:nvPicPr>
            <p:cNvPr id="45" name="Picture 44" descr="Picture1.png">
              <a:extLst>
                <a:ext uri="{FF2B5EF4-FFF2-40B4-BE49-F238E27FC236}">
                  <a16:creationId xmlns:a16="http://schemas.microsoft.com/office/drawing/2014/main" id="{330B1F51-FD95-90F5-3FD7-D9D507DDCADD}"/>
                </a:ext>
              </a:extLst>
            </p:cNvPr>
            <p:cNvPicPr>
              <a:picLocks noChangeAspect="1"/>
            </p:cNvPicPr>
            <p:nvPr/>
          </p:nvPicPr>
          <p:blipFill>
            <a:blip r:embed="rId6" cstate="print"/>
            <a:stretch>
              <a:fillRect/>
            </a:stretch>
          </p:blipFill>
          <p:spPr>
            <a:xfrm>
              <a:off x="5067528" y="4044144"/>
              <a:ext cx="883806" cy="763968"/>
            </a:xfrm>
            <a:prstGeom prst="rect">
              <a:avLst/>
            </a:prstGeom>
          </p:spPr>
        </p:pic>
        <p:pic>
          <p:nvPicPr>
            <p:cNvPr id="46" name="Picture 12" descr="Image result for finance asia">
              <a:extLst>
                <a:ext uri="{FF2B5EF4-FFF2-40B4-BE49-F238E27FC236}">
                  <a16:creationId xmlns:a16="http://schemas.microsoft.com/office/drawing/2014/main" id="{0BE2A939-8D14-E0D2-24AA-66EFB7FB74A3}"/>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222351" y="3925831"/>
              <a:ext cx="574159" cy="263901"/>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127">
              <a:extLst>
                <a:ext uri="{FF2B5EF4-FFF2-40B4-BE49-F238E27FC236}">
                  <a16:creationId xmlns:a16="http://schemas.microsoft.com/office/drawing/2014/main" id="{03F9B8C6-222D-0220-FA94-BADCC783A80C}"/>
                </a:ext>
              </a:extLst>
            </p:cNvPr>
            <p:cNvSpPr>
              <a:spLocks noChangeArrowheads="1"/>
            </p:cNvSpPr>
            <p:nvPr/>
          </p:nvSpPr>
          <p:spPr bwMode="gray">
            <a:xfrm>
              <a:off x="5177123" y="4261297"/>
              <a:ext cx="664615" cy="369332"/>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2023</a:t>
              </a:r>
              <a:endParaRPr lang="en-US" altLang="zh-CN" sz="600" b="0">
                <a:solidFill>
                  <a:srgbClr val="000000"/>
                </a:solidFill>
                <a:latin typeface="Arial" panose="020B0604020202020204"/>
                <a:ea typeface="黑体" panose="02010609060101010101" pitchFamily="49" charset="-122"/>
                <a:cs typeface="DFKaiShu-GB5" pitchFamily="65" charset="-128"/>
              </a:endParaRPr>
            </a:p>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Best Equity Deal of the year (Singapore)</a:t>
              </a:r>
            </a:p>
          </p:txBody>
        </p:sp>
        <p:sp>
          <p:nvSpPr>
            <p:cNvPr id="48" name="Rectangle 127">
              <a:extLst>
                <a:ext uri="{FF2B5EF4-FFF2-40B4-BE49-F238E27FC236}">
                  <a16:creationId xmlns:a16="http://schemas.microsoft.com/office/drawing/2014/main" id="{2AA99DDB-F7A3-E496-93C5-268E90082ABB}"/>
                </a:ext>
              </a:extLst>
            </p:cNvPr>
            <p:cNvSpPr>
              <a:spLocks noChangeArrowheads="1"/>
            </p:cNvSpPr>
            <p:nvPr/>
          </p:nvSpPr>
          <p:spPr bwMode="gray">
            <a:xfrm>
              <a:off x="1481068" y="5373295"/>
              <a:ext cx="664615" cy="461665"/>
            </a:xfrm>
            <a:prstGeom prst="rect">
              <a:avLst/>
            </a:prstGeom>
            <a:noFill/>
            <a:ln w="9525">
              <a:noFill/>
              <a:miter lim="800000"/>
              <a:headEnd/>
              <a:tailEnd/>
            </a:ln>
            <a:effectLst/>
          </p:spPr>
          <p:txBody>
            <a:bodyPr wrap="square" lIns="0" tIns="0" rIns="0" bIns="0" anchor="ctr" anchorCtr="0">
              <a:spAutoFit/>
            </a:bodyPr>
            <a:lstStyle/>
            <a:p>
              <a:pPr algn="ctr" defTabSz="685817" eaLnBrk="0" fontAlgn="auto" hangingPunct="0">
                <a:spcBef>
                  <a:spcPts val="0"/>
                </a:spcBef>
                <a:spcAft>
                  <a:spcPts val="0"/>
                </a:spcAft>
                <a:buClr>
                  <a:srgbClr val="C00000"/>
                </a:buClr>
                <a:tabLst>
                  <a:tab pos="2657541" algn="r"/>
                </a:tabLst>
                <a:defRPr/>
              </a:pPr>
              <a:r>
                <a:rPr lang="en-SG" altLang="zh-CN" sz="600" b="0" kern="0">
                  <a:solidFill>
                    <a:srgbClr val="000000"/>
                  </a:solidFill>
                  <a:latin typeface="Arial" panose="020B0604020202020204"/>
                  <a:ea typeface="黑体" panose="02010609060101010101" pitchFamily="49" charset="-122"/>
                  <a:cs typeface="DFKaiShu-GB5" pitchFamily="65" charset="-128"/>
                </a:rPr>
                <a:t>2012-2023</a:t>
              </a:r>
              <a:endParaRPr lang="en-US" altLang="zh-CN" sz="600" b="0" kern="0">
                <a:solidFill>
                  <a:srgbClr val="000000"/>
                </a:solidFill>
                <a:latin typeface="Arial" panose="020B0604020202020204"/>
                <a:ea typeface="黑体" panose="02010609060101010101" pitchFamily="49" charset="-122"/>
                <a:cs typeface="DFKaiShu-GB5" pitchFamily="65" charset="-128"/>
              </a:endParaRPr>
            </a:p>
            <a:p>
              <a:pPr algn="ctr" defTabSz="685817" eaLnBrk="0" fontAlgn="auto" hangingPunct="0">
                <a:spcBef>
                  <a:spcPts val="0"/>
                </a:spcBef>
                <a:spcAft>
                  <a:spcPts val="0"/>
                </a:spcAft>
                <a:buClr>
                  <a:srgbClr val="C00000"/>
                </a:buClr>
                <a:tabLst>
                  <a:tab pos="2657541" algn="r"/>
                </a:tabLst>
                <a:defRPr/>
              </a:pPr>
              <a:r>
                <a:rPr lang="en-SG" altLang="zh-CN" sz="600" b="0" kern="0">
                  <a:solidFill>
                    <a:srgbClr val="000000"/>
                  </a:solidFill>
                  <a:latin typeface="Arial" panose="020B0604020202020204"/>
                  <a:ea typeface="黑体" panose="02010609060101010101" pitchFamily="49" charset="-122"/>
                  <a:cs typeface="DFKaiShu-GB5" pitchFamily="65" charset="-128"/>
                </a:rPr>
                <a:t>Best REIT Adviser </a:t>
              </a:r>
            </a:p>
            <a:p>
              <a:pPr algn="ctr" defTabSz="685817" eaLnBrk="0" fontAlgn="auto" hangingPunct="0">
                <a:spcBef>
                  <a:spcPts val="0"/>
                </a:spcBef>
                <a:spcAft>
                  <a:spcPts val="0"/>
                </a:spcAft>
                <a:buClr>
                  <a:srgbClr val="C00000"/>
                </a:buClr>
                <a:tabLst>
                  <a:tab pos="2657541" algn="r"/>
                </a:tabLst>
                <a:defRPr/>
              </a:pPr>
              <a:r>
                <a:rPr lang="en-SG" altLang="zh-CN" sz="600" b="0" kern="0">
                  <a:solidFill>
                    <a:srgbClr val="000000"/>
                  </a:solidFill>
                  <a:latin typeface="Arial" panose="020B0604020202020204"/>
                  <a:ea typeface="黑体" panose="02010609060101010101" pitchFamily="49" charset="-122"/>
                  <a:cs typeface="DFKaiShu-GB5" pitchFamily="65" charset="-128"/>
                </a:rPr>
                <a:t>in the Region</a:t>
              </a:r>
            </a:p>
            <a:p>
              <a:pPr algn="ctr" defTabSz="685817" eaLnBrk="0" fontAlgn="auto" hangingPunct="0">
                <a:spcBef>
                  <a:spcPts val="0"/>
                </a:spcBef>
                <a:spcAft>
                  <a:spcPts val="0"/>
                </a:spcAft>
                <a:buClr>
                  <a:srgbClr val="C00000"/>
                </a:buClr>
                <a:tabLst>
                  <a:tab pos="2657541" algn="r"/>
                </a:tabLst>
                <a:defRPr/>
              </a:pPr>
              <a:r>
                <a:rPr lang="en-US" altLang="zh-CN" sz="600" b="0" kern="0">
                  <a:solidFill>
                    <a:srgbClr val="C00000"/>
                  </a:solidFill>
                  <a:latin typeface="Arial" panose="020B0604020202020204"/>
                  <a:ea typeface="黑体" panose="02010609060101010101" pitchFamily="49" charset="-122"/>
                  <a:cs typeface="DFKaiShu-GB5" pitchFamily="65" charset="-128"/>
                </a:rPr>
                <a:t>12</a:t>
              </a:r>
              <a:r>
                <a:rPr lang="en-US" altLang="zh-CN" sz="600" b="0" kern="0" baseline="30000">
                  <a:solidFill>
                    <a:srgbClr val="C00000"/>
                  </a:solidFill>
                  <a:latin typeface="Arial" panose="020B0604020202020204"/>
                  <a:ea typeface="黑体" panose="02010609060101010101" pitchFamily="49" charset="-122"/>
                  <a:cs typeface="DFKaiShu-GB5" pitchFamily="65" charset="-128"/>
                </a:rPr>
                <a:t>th</a:t>
              </a:r>
              <a:r>
                <a:rPr lang="en-US" altLang="zh-CN" sz="600" b="0" kern="0">
                  <a:solidFill>
                    <a:srgbClr val="C00000"/>
                  </a:solidFill>
                  <a:latin typeface="Arial" panose="020B0604020202020204"/>
                  <a:ea typeface="黑体" panose="02010609060101010101" pitchFamily="49" charset="-122"/>
                  <a:cs typeface="DFKaiShu-GB5" pitchFamily="65" charset="-128"/>
                </a:rPr>
                <a:t>  Consecutive</a:t>
              </a:r>
            </a:p>
            <a:p>
              <a:pPr algn="ctr" defTabSz="685817" eaLnBrk="0" fontAlgn="auto" hangingPunct="0">
                <a:spcBef>
                  <a:spcPts val="0"/>
                </a:spcBef>
                <a:spcAft>
                  <a:spcPts val="0"/>
                </a:spcAft>
                <a:buClr>
                  <a:srgbClr val="C00000"/>
                </a:buClr>
                <a:tabLst>
                  <a:tab pos="2657541" algn="r"/>
                </a:tabLst>
                <a:defRPr/>
              </a:pPr>
              <a:r>
                <a:rPr lang="en-US" altLang="zh-CN" sz="600" b="0" kern="0">
                  <a:solidFill>
                    <a:srgbClr val="C00000"/>
                  </a:solidFill>
                  <a:latin typeface="Arial" panose="020B0604020202020204"/>
                  <a:ea typeface="黑体" panose="02010609060101010101" pitchFamily="49" charset="-122"/>
                  <a:cs typeface="DFKaiShu-GB5" pitchFamily="65" charset="-128"/>
                </a:rPr>
                <a:t>Win</a:t>
              </a:r>
            </a:p>
          </p:txBody>
        </p:sp>
        <p:sp>
          <p:nvSpPr>
            <p:cNvPr id="49" name="Rectangle 127">
              <a:extLst>
                <a:ext uri="{FF2B5EF4-FFF2-40B4-BE49-F238E27FC236}">
                  <a16:creationId xmlns:a16="http://schemas.microsoft.com/office/drawing/2014/main" id="{3981C840-CC75-2E0B-131A-DA3BC2C9DF9C}"/>
                </a:ext>
              </a:extLst>
            </p:cNvPr>
            <p:cNvSpPr>
              <a:spLocks noChangeArrowheads="1"/>
            </p:cNvSpPr>
            <p:nvPr/>
          </p:nvSpPr>
          <p:spPr bwMode="gray">
            <a:xfrm>
              <a:off x="3329096" y="5327128"/>
              <a:ext cx="664615" cy="553998"/>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US" altLang="zh-CN" sz="600" b="0">
                  <a:solidFill>
                    <a:srgbClr val="000000"/>
                  </a:solidFill>
                  <a:latin typeface="Arial" panose="020B0604020202020204"/>
                  <a:ea typeface="黑体" panose="02010609060101010101" pitchFamily="49" charset="-122"/>
                  <a:cs typeface="DFKaiShu-GB5" pitchFamily="65" charset="-128"/>
                </a:rPr>
                <a:t>2023</a:t>
              </a:r>
            </a:p>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Best Investment</a:t>
              </a:r>
              <a:br>
                <a:rPr lang="en-SG" altLang="zh-CN" sz="600" b="0">
                  <a:solidFill>
                    <a:srgbClr val="000000"/>
                  </a:solidFill>
                  <a:latin typeface="Arial" panose="020B0604020202020204"/>
                  <a:ea typeface="黑体" panose="02010609060101010101" pitchFamily="49" charset="-122"/>
                  <a:cs typeface="DFKaiShu-GB5" pitchFamily="65" charset="-128"/>
                </a:rPr>
              </a:br>
              <a:r>
                <a:rPr lang="en-SG" altLang="zh-CN" sz="600" b="0">
                  <a:solidFill>
                    <a:srgbClr val="000000"/>
                  </a:solidFill>
                  <a:latin typeface="Arial" panose="020B0604020202020204"/>
                  <a:ea typeface="黑体" panose="02010609060101010101" pitchFamily="49" charset="-122"/>
                  <a:cs typeface="DFKaiShu-GB5" pitchFamily="65" charset="-128"/>
                </a:rPr>
                <a:t>Bank</a:t>
              </a:r>
            </a:p>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(Singapore)</a:t>
              </a:r>
            </a:p>
            <a:p>
              <a:pPr algn="ctr" defTabSz="685817" eaLnBrk="0" hangingPunct="0">
                <a:buClr>
                  <a:srgbClr val="C00000"/>
                </a:buClr>
                <a:tabLst>
                  <a:tab pos="2657541" algn="r"/>
                </a:tabLst>
                <a:defRPr/>
              </a:pPr>
              <a:r>
                <a:rPr lang="en-US" altLang="zh-CN" sz="600" b="0">
                  <a:solidFill>
                    <a:srgbClr val="C00000"/>
                  </a:solidFill>
                  <a:latin typeface="Arial" panose="020B0604020202020204"/>
                  <a:ea typeface="黑体" panose="02010609060101010101" pitchFamily="49" charset="-122"/>
                  <a:cs typeface="DFKaiShu-GB5" pitchFamily="65" charset="-128"/>
                </a:rPr>
                <a:t>5</a:t>
              </a:r>
              <a:r>
                <a:rPr lang="en-US" altLang="zh-CN" sz="600" b="0" baseline="30000">
                  <a:solidFill>
                    <a:srgbClr val="C00000"/>
                  </a:solidFill>
                  <a:latin typeface="Arial" panose="020B0604020202020204"/>
                  <a:ea typeface="黑体" panose="02010609060101010101" pitchFamily="49" charset="-122"/>
                  <a:cs typeface="DFKaiShu-GB5" pitchFamily="65" charset="-128"/>
                </a:rPr>
                <a:t>th</a:t>
              </a:r>
              <a:r>
                <a:rPr lang="en-US" altLang="zh-CN" sz="600" b="0">
                  <a:solidFill>
                    <a:srgbClr val="C00000"/>
                  </a:solidFill>
                  <a:latin typeface="Arial" panose="020B0604020202020204"/>
                  <a:ea typeface="黑体" panose="02010609060101010101" pitchFamily="49" charset="-122"/>
                  <a:cs typeface="DFKaiShu-GB5" pitchFamily="65" charset="-128"/>
                </a:rPr>
                <a:t> Consecutive</a:t>
              </a:r>
            </a:p>
            <a:p>
              <a:pPr algn="ctr" defTabSz="685817" eaLnBrk="0" hangingPunct="0">
                <a:buClr>
                  <a:srgbClr val="C00000"/>
                </a:buClr>
                <a:tabLst>
                  <a:tab pos="2657541" algn="r"/>
                </a:tabLst>
                <a:defRPr/>
              </a:pPr>
              <a:r>
                <a:rPr lang="en-US" altLang="zh-CN" sz="600" b="0">
                  <a:solidFill>
                    <a:srgbClr val="C00000"/>
                  </a:solidFill>
                  <a:latin typeface="Arial" panose="020B0604020202020204"/>
                  <a:ea typeface="黑体" panose="02010609060101010101" pitchFamily="49" charset="-122"/>
                  <a:cs typeface="DFKaiShu-GB5" pitchFamily="65" charset="-128"/>
                </a:rPr>
                <a:t>Win</a:t>
              </a:r>
            </a:p>
          </p:txBody>
        </p:sp>
        <p:pic>
          <p:nvPicPr>
            <p:cNvPr id="50" name="Picture 49">
              <a:extLst>
                <a:ext uri="{FF2B5EF4-FFF2-40B4-BE49-F238E27FC236}">
                  <a16:creationId xmlns:a16="http://schemas.microsoft.com/office/drawing/2014/main" id="{3F7180C4-10DC-46F6-11AB-9F48D722342E}"/>
                </a:ext>
              </a:extLst>
            </p:cNvPr>
            <p:cNvPicPr>
              <a:picLocks noChangeAspect="1"/>
            </p:cNvPicPr>
            <p:nvPr/>
          </p:nvPicPr>
          <p:blipFill rotWithShape="1">
            <a:blip r:embed="rId13"/>
            <a:srcRect l="29648" t="23659" r="51751" b="56924"/>
            <a:stretch/>
          </p:blipFill>
          <p:spPr>
            <a:xfrm>
              <a:off x="3434580" y="5064476"/>
              <a:ext cx="453646" cy="262652"/>
            </a:xfrm>
            <a:prstGeom prst="rect">
              <a:avLst/>
            </a:prstGeom>
          </p:spPr>
        </p:pic>
        <p:sp>
          <p:nvSpPr>
            <p:cNvPr id="51" name="Rectangle 127">
              <a:extLst>
                <a:ext uri="{FF2B5EF4-FFF2-40B4-BE49-F238E27FC236}">
                  <a16:creationId xmlns:a16="http://schemas.microsoft.com/office/drawing/2014/main" id="{9ACFBF0C-E28E-DCD6-2EE8-F7C451624DFE}"/>
                </a:ext>
              </a:extLst>
            </p:cNvPr>
            <p:cNvSpPr>
              <a:spLocks noChangeArrowheads="1"/>
            </p:cNvSpPr>
            <p:nvPr/>
          </p:nvSpPr>
          <p:spPr bwMode="gray">
            <a:xfrm>
              <a:off x="4253109" y="5419460"/>
              <a:ext cx="664615" cy="369332"/>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2025</a:t>
              </a:r>
              <a:endParaRPr lang="en-US" altLang="zh-CN" sz="600" b="0">
                <a:solidFill>
                  <a:srgbClr val="000000"/>
                </a:solidFill>
                <a:latin typeface="Arial" panose="020B0604020202020204"/>
                <a:ea typeface="黑体" panose="02010609060101010101" pitchFamily="49" charset="-122"/>
                <a:cs typeface="DFKaiShu-GB5" pitchFamily="65" charset="-128"/>
              </a:endParaRPr>
            </a:p>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Best ECM House (Singapore)</a:t>
              </a:r>
            </a:p>
            <a:p>
              <a:pPr algn="ctr" defTabSz="685817" eaLnBrk="0" hangingPunct="0">
                <a:buClr>
                  <a:srgbClr val="C00000"/>
                </a:buClr>
                <a:tabLst>
                  <a:tab pos="2657541" algn="r"/>
                </a:tabLst>
                <a:defRPr/>
              </a:pPr>
              <a:r>
                <a:rPr lang="en-US" altLang="zh-CN" sz="600" b="0">
                  <a:solidFill>
                    <a:srgbClr val="C00000"/>
                  </a:solidFill>
                  <a:latin typeface="Arial" panose="020B0604020202020204"/>
                  <a:ea typeface="黑体" panose="02010609060101010101" pitchFamily="49" charset="-122"/>
                  <a:cs typeface="DFKaiShu-GB5" pitchFamily="65" charset="-128"/>
                </a:rPr>
                <a:t>15</a:t>
              </a:r>
              <a:r>
                <a:rPr lang="en-US" altLang="zh-CN" sz="600" b="0" baseline="30000">
                  <a:solidFill>
                    <a:srgbClr val="C00000"/>
                  </a:solidFill>
                  <a:latin typeface="Arial" panose="020B0604020202020204"/>
                  <a:ea typeface="黑体" panose="02010609060101010101" pitchFamily="49" charset="-122"/>
                  <a:cs typeface="DFKaiShu-GB5" pitchFamily="65" charset="-128"/>
                </a:rPr>
                <a:t>th</a:t>
              </a:r>
              <a:r>
                <a:rPr lang="en-US" altLang="zh-CN" sz="600" b="0">
                  <a:solidFill>
                    <a:srgbClr val="C00000"/>
                  </a:solidFill>
                  <a:latin typeface="Arial" panose="020B0604020202020204"/>
                  <a:ea typeface="黑体" panose="02010609060101010101" pitchFamily="49" charset="-122"/>
                  <a:cs typeface="DFKaiShu-GB5" pitchFamily="65" charset="-128"/>
                </a:rPr>
                <a:t> Win</a:t>
              </a:r>
            </a:p>
          </p:txBody>
        </p:sp>
        <p:pic>
          <p:nvPicPr>
            <p:cNvPr id="52" name="Picture 12" descr="Image result for finance asia">
              <a:extLst>
                <a:ext uri="{FF2B5EF4-FFF2-40B4-BE49-F238E27FC236}">
                  <a16:creationId xmlns:a16="http://schemas.microsoft.com/office/drawing/2014/main" id="{3E07019A-4D2A-1D64-F300-B781FADC9BA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298337" y="5104593"/>
              <a:ext cx="574159" cy="263901"/>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127">
              <a:extLst>
                <a:ext uri="{FF2B5EF4-FFF2-40B4-BE49-F238E27FC236}">
                  <a16:creationId xmlns:a16="http://schemas.microsoft.com/office/drawing/2014/main" id="{93F21E1D-5420-15A6-C670-B760703B0C9E}"/>
                </a:ext>
              </a:extLst>
            </p:cNvPr>
            <p:cNvSpPr>
              <a:spLocks noChangeArrowheads="1"/>
            </p:cNvSpPr>
            <p:nvPr/>
          </p:nvSpPr>
          <p:spPr bwMode="gray">
            <a:xfrm>
              <a:off x="5177123" y="5234794"/>
              <a:ext cx="664615" cy="738664"/>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spcBef>
                  <a:spcPts val="0"/>
                </a:spcBef>
                <a:spcAft>
                  <a:spcPts val="0"/>
                </a:spcAft>
                <a:buClr>
                  <a:srgbClr val="C00000"/>
                </a:buClr>
                <a:tabLst>
                  <a:tab pos="2657541" algn="r"/>
                </a:tabLst>
                <a:defRPr/>
              </a:pPr>
              <a:endParaRPr lang="en-US" altLang="zh-CN" sz="600" b="0">
                <a:solidFill>
                  <a:srgbClr val="000000"/>
                </a:solidFill>
                <a:latin typeface="Arial" panose="020B0604020202020204"/>
                <a:ea typeface="DFPKaiShu-GB5" panose="03000500000000000000" pitchFamily="66" charset="-128"/>
                <a:cs typeface="DFPKaiShu-GB5" panose="03000500000000000000" pitchFamily="66" charset="-128"/>
              </a:endParaRPr>
            </a:p>
            <a:p>
              <a:pPr algn="ctr" defTabSz="685817" eaLnBrk="0" hangingPunct="0">
                <a:spcBef>
                  <a:spcPts val="0"/>
                </a:spcBef>
                <a:spcAft>
                  <a:spcPts val="0"/>
                </a:spcAft>
                <a:buClr>
                  <a:srgbClr val="C00000"/>
                </a:buClr>
                <a:tabLst>
                  <a:tab pos="2657541" algn="r"/>
                </a:tabLst>
                <a:defRPr/>
              </a:pPr>
              <a:r>
                <a:rPr lang="en-US" altLang="zh-CN" sz="600" b="0">
                  <a:solidFill>
                    <a:srgbClr val="000000"/>
                  </a:solidFill>
                  <a:latin typeface="Arial" panose="020B0604020202020204"/>
                  <a:ea typeface="DFPKaiShu-GB5" panose="03000500000000000000" pitchFamily="66" charset="-128"/>
                  <a:cs typeface="DFPKaiShu-GB5" panose="03000500000000000000" pitchFamily="66" charset="-128"/>
                </a:rPr>
                <a:t>2007-2023</a:t>
              </a:r>
              <a:br>
                <a:rPr lang="en-US" altLang="zh-CN" sz="600" b="0">
                  <a:solidFill>
                    <a:srgbClr val="000000"/>
                  </a:solidFill>
                  <a:latin typeface="Arial" panose="020B0604020202020204"/>
                  <a:ea typeface="DFPKaiShu-GB5" panose="03000500000000000000" pitchFamily="66" charset="-128"/>
                  <a:cs typeface="DFPKaiShu-GB5" panose="03000500000000000000" pitchFamily="66" charset="-128"/>
                </a:rPr>
              </a:br>
              <a:r>
                <a:rPr lang="en-US" altLang="zh-TW" sz="600" b="0">
                  <a:solidFill>
                    <a:srgbClr val="000000"/>
                  </a:solidFill>
                  <a:latin typeface="Arial" panose="020B0604020202020204"/>
                  <a:ea typeface="DFPKaiShu-GB5" panose="03000500000000000000" pitchFamily="66" charset="-128"/>
                  <a:cs typeface="DFPKaiShu-GB5" panose="03000500000000000000" pitchFamily="66" charset="-128"/>
                </a:rPr>
                <a:t>Best Equity House</a:t>
              </a:r>
            </a:p>
            <a:p>
              <a:pPr algn="ctr" defTabSz="685817" eaLnBrk="0" hangingPunct="0">
                <a:spcBef>
                  <a:spcPts val="0"/>
                </a:spcBef>
                <a:spcAft>
                  <a:spcPts val="0"/>
                </a:spcAft>
                <a:buClr>
                  <a:srgbClr val="C00000"/>
                </a:buClr>
                <a:tabLst>
                  <a:tab pos="2657541" algn="r"/>
                </a:tabLst>
                <a:defRPr/>
              </a:pPr>
              <a:r>
                <a:rPr lang="en-US" altLang="zh-TW" sz="600" b="0">
                  <a:solidFill>
                    <a:srgbClr val="000000"/>
                  </a:solidFill>
                  <a:latin typeface="Arial" panose="020B0604020202020204"/>
                  <a:ea typeface="DFPKaiShu-GB5" panose="03000500000000000000" pitchFamily="66" charset="-128"/>
                  <a:cs typeface="DFPKaiShu-GB5" panose="03000500000000000000" pitchFamily="66" charset="-128"/>
                </a:rPr>
                <a:t>Best Investment Bank </a:t>
              </a:r>
              <a:r>
                <a:rPr lang="en-US" altLang="zh-CN" sz="600" b="0">
                  <a:solidFill>
                    <a:srgbClr val="000000"/>
                  </a:solidFill>
                  <a:latin typeface="Arial" panose="020B0604020202020204"/>
                  <a:ea typeface="DFPKaiShu-GB5" panose="03000500000000000000" pitchFamily="66" charset="-128"/>
                  <a:cs typeface="DFPKaiShu-GB5" panose="03000500000000000000" pitchFamily="66" charset="-128"/>
                </a:rPr>
                <a:t>(Singapore)</a:t>
              </a:r>
            </a:p>
            <a:p>
              <a:pPr algn="ctr" defTabSz="685817" eaLnBrk="0" hangingPunct="0">
                <a:buClr>
                  <a:srgbClr val="C00000"/>
                </a:buClr>
                <a:tabLst>
                  <a:tab pos="2657541" algn="r"/>
                </a:tabLst>
                <a:defRPr/>
              </a:pPr>
              <a:r>
                <a:rPr lang="en-US" altLang="zh-CN" sz="600" b="0">
                  <a:solidFill>
                    <a:srgbClr val="C00000"/>
                  </a:solidFill>
                  <a:latin typeface="Arial" panose="020B0604020202020204"/>
                  <a:ea typeface="黑体" panose="02010609060101010101" pitchFamily="49" charset="-122"/>
                  <a:cs typeface="DFKaiShu-GB5" pitchFamily="65" charset="-128"/>
                </a:rPr>
                <a:t>17</a:t>
              </a:r>
              <a:r>
                <a:rPr lang="en-US" altLang="zh-CN" sz="600" b="0" baseline="30000">
                  <a:solidFill>
                    <a:srgbClr val="C00000"/>
                  </a:solidFill>
                  <a:latin typeface="Arial" panose="020B0604020202020204"/>
                  <a:ea typeface="黑体" panose="02010609060101010101" pitchFamily="49" charset="-122"/>
                  <a:cs typeface="DFKaiShu-GB5" pitchFamily="65" charset="-128"/>
                </a:rPr>
                <a:t>th</a:t>
              </a:r>
              <a:r>
                <a:rPr lang="en-US" altLang="zh-CN" sz="600" b="0">
                  <a:solidFill>
                    <a:srgbClr val="C00000"/>
                  </a:solidFill>
                  <a:latin typeface="Arial" panose="020B0604020202020204"/>
                  <a:ea typeface="黑体" panose="02010609060101010101" pitchFamily="49" charset="-122"/>
                  <a:cs typeface="DFKaiShu-GB5" pitchFamily="65" charset="-128"/>
                </a:rPr>
                <a:t> Consecutive</a:t>
              </a:r>
              <a:br>
                <a:rPr lang="en-US" altLang="zh-CN" sz="600" b="0">
                  <a:solidFill>
                    <a:srgbClr val="C00000"/>
                  </a:solidFill>
                  <a:latin typeface="Arial" panose="020B0604020202020204"/>
                  <a:ea typeface="黑体" panose="02010609060101010101" pitchFamily="49" charset="-122"/>
                  <a:cs typeface="DFKaiShu-GB5" pitchFamily="65" charset="-128"/>
                </a:rPr>
              </a:br>
              <a:r>
                <a:rPr lang="en-US" altLang="zh-CN" sz="600" b="0">
                  <a:solidFill>
                    <a:srgbClr val="C00000"/>
                  </a:solidFill>
                  <a:latin typeface="Arial" panose="020B0604020202020204"/>
                  <a:ea typeface="黑体" panose="02010609060101010101" pitchFamily="49" charset="-122"/>
                  <a:cs typeface="DFKaiShu-GB5" pitchFamily="65" charset="-128"/>
                </a:rPr>
                <a:t>Win</a:t>
              </a:r>
            </a:p>
            <a:p>
              <a:pPr algn="ctr" defTabSz="685817" eaLnBrk="0" hangingPunct="0">
                <a:buClr>
                  <a:srgbClr val="C00000"/>
                </a:buClr>
                <a:tabLst>
                  <a:tab pos="2657541" algn="r"/>
                </a:tabLst>
                <a:defRPr/>
              </a:pPr>
              <a:endParaRPr lang="en-US" altLang="zh-CN" sz="600" b="0">
                <a:solidFill>
                  <a:srgbClr val="C00000"/>
                </a:solidFill>
                <a:latin typeface="Arial" panose="020B0604020202020204"/>
                <a:ea typeface="黑体" panose="02010609060101010101" pitchFamily="49" charset="-122"/>
                <a:cs typeface="DFKaiShu-GB5" pitchFamily="65" charset="-128"/>
              </a:endParaRPr>
            </a:p>
          </p:txBody>
        </p:sp>
        <p:sp>
          <p:nvSpPr>
            <p:cNvPr id="54" name="Rectangle 53">
              <a:extLst>
                <a:ext uri="{FF2B5EF4-FFF2-40B4-BE49-F238E27FC236}">
                  <a16:creationId xmlns:a16="http://schemas.microsoft.com/office/drawing/2014/main" id="{6AB9BEDA-794D-644F-B299-DD194A8E5CF9}"/>
                </a:ext>
              </a:extLst>
            </p:cNvPr>
            <p:cNvSpPr>
              <a:spLocks noChangeArrowheads="1"/>
            </p:cNvSpPr>
            <p:nvPr/>
          </p:nvSpPr>
          <p:spPr bwMode="gray">
            <a:xfrm>
              <a:off x="7025151" y="5386235"/>
              <a:ext cx="664615" cy="435785"/>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1805534" algn="r"/>
                </a:tabLst>
                <a:defRPr/>
              </a:pPr>
              <a:r>
                <a:rPr lang="en-US" altLang="zh-CN" sz="600" b="0">
                  <a:solidFill>
                    <a:srgbClr val="000000"/>
                  </a:solidFill>
                  <a:latin typeface="Arial" panose="020B0604020202020204"/>
                  <a:ea typeface="DFPKaiShu-GB5" panose="03000500000000000000" pitchFamily="66" charset="-128"/>
                  <a:cs typeface="Arial" panose="020B0604020202020204" pitchFamily="34" charset="0"/>
                </a:rPr>
                <a:t>2023</a:t>
              </a:r>
            </a:p>
            <a:p>
              <a:pPr algn="ctr" defTabSz="685817">
                <a:spcBef>
                  <a:spcPts val="0"/>
                </a:spcBef>
                <a:spcAft>
                  <a:spcPts val="0"/>
                </a:spcAft>
                <a:buClr>
                  <a:srgbClr val="C00000"/>
                </a:buClr>
                <a:tabLst>
                  <a:tab pos="1805534" algn="r"/>
                </a:tabLst>
                <a:defRPr/>
              </a:pPr>
              <a:r>
                <a:rPr lang="en-US" altLang="zh-TW" sz="600" b="0">
                  <a:solidFill>
                    <a:srgbClr val="000000"/>
                  </a:solidFill>
                  <a:latin typeface="Arial" panose="020B0604020202020204"/>
                  <a:ea typeface="DFPKaiShu-GB5" panose="03000500000000000000" pitchFamily="66" charset="-128"/>
                  <a:cs typeface="Arial" panose="020B0604020202020204" pitchFamily="34" charset="0"/>
                </a:rPr>
                <a:t>Best </a:t>
              </a:r>
            </a:p>
            <a:p>
              <a:pPr algn="ctr" defTabSz="685817">
                <a:spcBef>
                  <a:spcPts val="0"/>
                </a:spcBef>
                <a:spcAft>
                  <a:spcPts val="0"/>
                </a:spcAft>
                <a:buClr>
                  <a:srgbClr val="C00000"/>
                </a:buClr>
                <a:tabLst>
                  <a:tab pos="1805534" algn="r"/>
                </a:tabLst>
                <a:defRPr/>
              </a:pPr>
              <a:r>
                <a:rPr lang="en-US" altLang="zh-TW" sz="600" b="0">
                  <a:solidFill>
                    <a:srgbClr val="000000"/>
                  </a:solidFill>
                  <a:latin typeface="Arial" panose="020B0604020202020204"/>
                  <a:ea typeface="DFPKaiShu-GB5" panose="03000500000000000000" pitchFamily="66" charset="-128"/>
                  <a:cs typeface="Arial" panose="020B0604020202020204" pitchFamily="34" charset="0"/>
                </a:rPr>
                <a:t>Innovative Investment </a:t>
              </a:r>
              <a:br>
                <a:rPr lang="en-US" altLang="zh-TW" sz="600" b="0">
                  <a:solidFill>
                    <a:srgbClr val="000000"/>
                  </a:solidFill>
                  <a:latin typeface="Arial" panose="020B0604020202020204"/>
                  <a:ea typeface="DFPKaiShu-GB5" panose="03000500000000000000" pitchFamily="66" charset="-128"/>
                  <a:cs typeface="Arial" panose="020B0604020202020204" pitchFamily="34" charset="0"/>
                </a:rPr>
              </a:br>
              <a:r>
                <a:rPr lang="en-US" altLang="zh-TW" sz="600" b="0">
                  <a:solidFill>
                    <a:srgbClr val="000000"/>
                  </a:solidFill>
                  <a:latin typeface="Arial" panose="020B0604020202020204"/>
                  <a:ea typeface="DFPKaiShu-GB5" panose="03000500000000000000" pitchFamily="66" charset="-128"/>
                  <a:cs typeface="Arial" panose="020B0604020202020204" pitchFamily="34" charset="0"/>
                </a:rPr>
                <a:t>Bank in China</a:t>
              </a:r>
            </a:p>
          </p:txBody>
        </p:sp>
        <p:sp>
          <p:nvSpPr>
            <p:cNvPr id="55" name="TextBox 54">
              <a:extLst>
                <a:ext uri="{FF2B5EF4-FFF2-40B4-BE49-F238E27FC236}">
                  <a16:creationId xmlns:a16="http://schemas.microsoft.com/office/drawing/2014/main" id="{73645946-E0B7-C10C-9A8F-D7477D95E77D}"/>
                </a:ext>
              </a:extLst>
            </p:cNvPr>
            <p:cNvSpPr txBox="1"/>
            <p:nvPr/>
          </p:nvSpPr>
          <p:spPr>
            <a:xfrm>
              <a:off x="7070379" y="4984957"/>
              <a:ext cx="574159" cy="368602"/>
            </a:xfrm>
            <a:prstGeom prst="rect">
              <a:avLst/>
            </a:prstGeom>
            <a:noFill/>
          </p:spPr>
          <p:txBody>
            <a:bodyPr wrap="square" rtlCol="0">
              <a:spAutoFit/>
            </a:bodyPr>
            <a:lstStyle/>
            <a:p>
              <a:pPr algn="ctr" defTabSz="685817" eaLnBrk="0" hangingPunct="0">
                <a:defRPr/>
              </a:pPr>
              <a:r>
                <a:rPr lang="en-SG" sz="646">
                  <a:solidFill>
                    <a:srgbClr val="000000"/>
                  </a:solidFill>
                  <a:latin typeface="Arial" panose="020B0604020202020204"/>
                  <a:cs typeface="Arial" panose="020B0604020202020204" pitchFamily="34" charset="0"/>
                </a:rPr>
                <a:t>The Securities Times</a:t>
              </a:r>
            </a:p>
          </p:txBody>
        </p:sp>
        <p:sp>
          <p:nvSpPr>
            <p:cNvPr id="56" name="Rectangle 127">
              <a:extLst>
                <a:ext uri="{FF2B5EF4-FFF2-40B4-BE49-F238E27FC236}">
                  <a16:creationId xmlns:a16="http://schemas.microsoft.com/office/drawing/2014/main" id="{913FB3BB-D69C-1207-6AF7-FB5E6D8C7832}"/>
                </a:ext>
              </a:extLst>
            </p:cNvPr>
            <p:cNvSpPr>
              <a:spLocks noChangeArrowheads="1"/>
            </p:cNvSpPr>
            <p:nvPr/>
          </p:nvSpPr>
          <p:spPr bwMode="gray">
            <a:xfrm>
              <a:off x="7949168" y="5465627"/>
              <a:ext cx="664615" cy="276999"/>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2025</a:t>
              </a:r>
              <a:endParaRPr lang="en-US" altLang="zh-CN" sz="600" b="0">
                <a:solidFill>
                  <a:srgbClr val="000000"/>
                </a:solidFill>
                <a:latin typeface="Arial" panose="020B0604020202020204"/>
                <a:ea typeface="黑体" panose="02010609060101010101" pitchFamily="49" charset="-122"/>
                <a:cs typeface="DFKaiShu-GB5" pitchFamily="65" charset="-128"/>
              </a:endParaRPr>
            </a:p>
            <a:p>
              <a:pPr algn="ctr" defTabSz="685817" eaLnBrk="0" hangingPunct="0">
                <a:buClr>
                  <a:srgbClr val="C00000"/>
                </a:buClr>
                <a:tabLst>
                  <a:tab pos="2657541" algn="r"/>
                </a:tabLst>
                <a:defRPr/>
              </a:pPr>
              <a:r>
                <a:rPr lang="en-SG" altLang="zh-CN" sz="600" b="0">
                  <a:solidFill>
                    <a:srgbClr val="000000"/>
                  </a:solidFill>
                  <a:latin typeface="Arial" panose="020B0604020202020204"/>
                  <a:ea typeface="黑体" panose="02010609060101010101" pitchFamily="49" charset="-122"/>
                  <a:cs typeface="DFKaiShu-GB5" pitchFamily="65" charset="-128"/>
                </a:rPr>
                <a:t>Best ECM House – China (Mainland)</a:t>
              </a:r>
            </a:p>
          </p:txBody>
        </p:sp>
        <p:pic>
          <p:nvPicPr>
            <p:cNvPr id="57" name="Picture 12" descr="Image result for finance asia">
              <a:extLst>
                <a:ext uri="{FF2B5EF4-FFF2-40B4-BE49-F238E27FC236}">
                  <a16:creationId xmlns:a16="http://schemas.microsoft.com/office/drawing/2014/main" id="{0B5C920C-44DB-AC21-F76D-26406C4B71C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994396" y="5104593"/>
              <a:ext cx="574159" cy="263901"/>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127">
              <a:extLst>
                <a:ext uri="{FF2B5EF4-FFF2-40B4-BE49-F238E27FC236}">
                  <a16:creationId xmlns:a16="http://schemas.microsoft.com/office/drawing/2014/main" id="{0DBA10CB-315E-C83A-6BDB-8850AF0B29DC}"/>
                </a:ext>
              </a:extLst>
            </p:cNvPr>
            <p:cNvSpPr>
              <a:spLocks noChangeArrowheads="1"/>
            </p:cNvSpPr>
            <p:nvPr/>
          </p:nvSpPr>
          <p:spPr bwMode="gray">
            <a:xfrm>
              <a:off x="557054" y="5429813"/>
              <a:ext cx="664615" cy="348628"/>
            </a:xfrm>
            <a:prstGeom prst="rect">
              <a:avLst/>
            </a:prstGeom>
            <a:noFill/>
            <a:ln w="9525">
              <a:noFill/>
              <a:miter lim="800000"/>
              <a:headEnd/>
              <a:tailEnd/>
            </a:ln>
            <a:effectLst/>
          </p:spPr>
          <p:txBody>
            <a:bodyPr wrap="square" lIns="0" tIns="0" rIns="0" bIns="0" anchor="ctr" anchorCtr="0">
              <a:spAutoFit/>
            </a:bodyPr>
            <a:lstStyle/>
            <a:p>
              <a:pPr algn="ctr" defTabSz="685817" eaLnBrk="0" fontAlgn="auto" hangingPunct="0">
                <a:spcBef>
                  <a:spcPts val="0"/>
                </a:spcBef>
                <a:spcAft>
                  <a:spcPts val="0"/>
                </a:spcAft>
                <a:buClr>
                  <a:srgbClr val="C00000"/>
                </a:buClr>
                <a:tabLst>
                  <a:tab pos="2657541" algn="r"/>
                </a:tabLst>
                <a:defRPr/>
              </a:pPr>
              <a:r>
                <a:rPr lang="en-US" altLang="zh-CN" sz="600" b="0" kern="0">
                  <a:solidFill>
                    <a:srgbClr val="000000"/>
                  </a:solidFill>
                  <a:latin typeface="Arial" panose="020B0604020202020204"/>
                  <a:ea typeface="黑体" panose="02010609060101010101" pitchFamily="49" charset="-122"/>
                  <a:cs typeface="Arial" panose="020B0604020202020204" pitchFamily="34" charset="0"/>
                </a:rPr>
                <a:t>2025</a:t>
              </a:r>
            </a:p>
            <a:p>
              <a:pPr algn="ctr" defTabSz="685817" eaLnBrk="0" fontAlgn="auto" hangingPunct="0">
                <a:spcBef>
                  <a:spcPts val="0"/>
                </a:spcBef>
                <a:spcAft>
                  <a:spcPts val="0"/>
                </a:spcAft>
                <a:buClr>
                  <a:srgbClr val="C00000"/>
                </a:buClr>
                <a:tabLst>
                  <a:tab pos="2657541" algn="r"/>
                </a:tabLst>
                <a:defRPr/>
              </a:pPr>
              <a:r>
                <a:rPr lang="en-US" altLang="zh-CN" sz="600" b="0" kern="0">
                  <a:solidFill>
                    <a:srgbClr val="000000"/>
                  </a:solidFill>
                  <a:latin typeface="Arial" panose="020B0604020202020204"/>
                  <a:ea typeface="黑体" panose="02010609060101010101" pitchFamily="49" charset="-122"/>
                  <a:cs typeface="Arial" panose="020B0604020202020204" pitchFamily="34" charset="0"/>
                </a:rPr>
                <a:t>Best Equity Bank (Asia Pacific)</a:t>
              </a:r>
            </a:p>
            <a:p>
              <a:pPr algn="ctr" defTabSz="685817" eaLnBrk="0" fontAlgn="auto" hangingPunct="0">
                <a:spcBef>
                  <a:spcPts val="0"/>
                </a:spcBef>
                <a:spcAft>
                  <a:spcPts val="0"/>
                </a:spcAft>
                <a:buClr>
                  <a:srgbClr val="C00000"/>
                </a:buClr>
                <a:tabLst>
                  <a:tab pos="2657541" algn="r"/>
                </a:tabLst>
                <a:defRPr/>
              </a:pPr>
              <a:r>
                <a:rPr lang="en-US" altLang="zh-CN" sz="600" b="0" kern="0">
                  <a:solidFill>
                    <a:srgbClr val="C00000"/>
                  </a:solidFill>
                  <a:latin typeface="Arial" panose="020B0604020202020204"/>
                  <a:ea typeface="黑体" panose="02010609060101010101" pitchFamily="49" charset="-122"/>
                  <a:cs typeface="Arial" panose="020B0604020202020204" pitchFamily="34" charset="0"/>
                </a:rPr>
                <a:t>2</a:t>
              </a:r>
              <a:r>
                <a:rPr lang="en-US" altLang="zh-CN" sz="600" b="0" kern="0" baseline="30000">
                  <a:solidFill>
                    <a:srgbClr val="C00000"/>
                  </a:solidFill>
                  <a:latin typeface="Arial" panose="020B0604020202020204"/>
                  <a:ea typeface="黑体" panose="02010609060101010101" pitchFamily="49" charset="-122"/>
                  <a:cs typeface="Arial" panose="020B0604020202020204" pitchFamily="34" charset="0"/>
                </a:rPr>
                <a:t>nd</a:t>
              </a:r>
              <a:r>
                <a:rPr lang="en-US" altLang="zh-CN" sz="600" b="0" kern="0">
                  <a:solidFill>
                    <a:srgbClr val="C00000"/>
                  </a:solidFill>
                  <a:latin typeface="Arial" panose="020B0604020202020204"/>
                  <a:ea typeface="黑体" panose="02010609060101010101" pitchFamily="49" charset="-122"/>
                  <a:cs typeface="Arial" panose="020B0604020202020204" pitchFamily="34" charset="0"/>
                </a:rPr>
                <a:t> Consecutive Win</a:t>
              </a:r>
            </a:p>
          </p:txBody>
        </p:sp>
        <p:sp>
          <p:nvSpPr>
            <p:cNvPr id="59" name="Rectangle 127">
              <a:extLst>
                <a:ext uri="{FF2B5EF4-FFF2-40B4-BE49-F238E27FC236}">
                  <a16:creationId xmlns:a16="http://schemas.microsoft.com/office/drawing/2014/main" id="{EB8677E9-CB3A-0B51-E6EA-E8757ACE3876}"/>
                </a:ext>
              </a:extLst>
            </p:cNvPr>
            <p:cNvSpPr>
              <a:spLocks noChangeArrowheads="1"/>
            </p:cNvSpPr>
            <p:nvPr/>
          </p:nvSpPr>
          <p:spPr bwMode="gray">
            <a:xfrm>
              <a:off x="2405082" y="5373294"/>
              <a:ext cx="664615" cy="461665"/>
            </a:xfrm>
            <a:prstGeom prst="rect">
              <a:avLst/>
            </a:prstGeom>
            <a:noFill/>
            <a:ln w="9525">
              <a:noFill/>
              <a:miter lim="800000"/>
              <a:headEnd/>
              <a:tailEnd/>
            </a:ln>
            <a:effectLst/>
          </p:spPr>
          <p:txBody>
            <a:bodyPr wrap="square" lIns="0" tIns="0" rIns="0" bIns="0" anchor="ctr" anchorCtr="0">
              <a:spAutoFit/>
            </a:bodyPr>
            <a:lstStyle/>
            <a:p>
              <a:pPr algn="ctr" defTabSz="844083">
                <a:buClr>
                  <a:srgbClr val="C00000"/>
                </a:buClr>
                <a:tabLst>
                  <a:tab pos="3270820" algn="r"/>
                </a:tabLst>
              </a:pPr>
              <a:r>
                <a:rPr lang="en-US" altLang="zh-CN" sz="600" b="0">
                  <a:solidFill>
                    <a:srgbClr val="000000"/>
                  </a:solidFill>
                  <a:latin typeface="Arial"/>
                  <a:ea typeface="黑体"/>
                  <a:cs typeface="DFKaiShu-GB5" pitchFamily="65" charset="-128"/>
                </a:rPr>
                <a:t>2024</a:t>
              </a:r>
              <a:endParaRPr lang="en-US" altLang="zh-CN" sz="600" b="0">
                <a:solidFill>
                  <a:srgbClr val="000000"/>
                </a:solidFill>
                <a:ea typeface="黑体" panose="02010609060101010101" pitchFamily="49" charset="-122"/>
                <a:cs typeface="DFKaiShu-GB5" pitchFamily="65" charset="-128"/>
              </a:endParaRPr>
            </a:p>
            <a:p>
              <a:pPr algn="ctr" defTabSz="844083">
                <a:buClr>
                  <a:srgbClr val="C00000"/>
                </a:buClr>
                <a:tabLst>
                  <a:tab pos="3270820" algn="r"/>
                </a:tabLst>
              </a:pPr>
              <a:r>
                <a:rPr lang="en-US" altLang="zh-CN" sz="600" b="0">
                  <a:solidFill>
                    <a:srgbClr val="000000"/>
                  </a:solidFill>
                  <a:latin typeface="Arial"/>
                  <a:ea typeface="黑体"/>
                  <a:cs typeface="DFKaiShu-GB5" pitchFamily="65" charset="-128"/>
                </a:rPr>
                <a:t>Best Bank for Sustainable Finance</a:t>
              </a:r>
            </a:p>
            <a:p>
              <a:pPr algn="ctr" defTabSz="844083">
                <a:buClr>
                  <a:srgbClr val="C00000"/>
                </a:buClr>
                <a:tabLst>
                  <a:tab pos="3270820" algn="r"/>
                </a:tabLst>
              </a:pPr>
              <a:r>
                <a:rPr lang="en-US" altLang="zh-CN" sz="600" b="0">
                  <a:solidFill>
                    <a:srgbClr val="000000"/>
                  </a:solidFill>
                  <a:latin typeface="Arial"/>
                  <a:ea typeface="黑体"/>
                  <a:cs typeface="DFKaiShu-GB5" pitchFamily="65" charset="-128"/>
                </a:rPr>
                <a:t>(Singapore)</a:t>
              </a:r>
            </a:p>
          </p:txBody>
        </p:sp>
        <p:sp>
          <p:nvSpPr>
            <p:cNvPr id="60" name="Rectangle 127">
              <a:extLst>
                <a:ext uri="{FF2B5EF4-FFF2-40B4-BE49-F238E27FC236}">
                  <a16:creationId xmlns:a16="http://schemas.microsoft.com/office/drawing/2014/main" id="{BCAFDCE4-9DE1-2DCB-394B-4B181325F086}"/>
                </a:ext>
              </a:extLst>
            </p:cNvPr>
            <p:cNvSpPr>
              <a:spLocks noChangeArrowheads="1"/>
            </p:cNvSpPr>
            <p:nvPr/>
          </p:nvSpPr>
          <p:spPr bwMode="gray">
            <a:xfrm>
              <a:off x="6101137" y="5373294"/>
              <a:ext cx="664615" cy="461665"/>
            </a:xfrm>
            <a:prstGeom prst="rect">
              <a:avLst/>
            </a:prstGeom>
            <a:noFill/>
            <a:ln w="9525">
              <a:noFill/>
              <a:miter lim="800000"/>
              <a:headEnd/>
              <a:tailEnd/>
            </a:ln>
            <a:effectLst/>
          </p:spPr>
          <p:txBody>
            <a:bodyPr wrap="square" lIns="0" tIns="0" rIns="0" bIns="0" anchor="ctr" anchorCtr="0">
              <a:spAutoFit/>
            </a:bodyPr>
            <a:lstStyle/>
            <a:p>
              <a:pPr algn="ctr" defTabSz="844083">
                <a:buClr>
                  <a:srgbClr val="C00000"/>
                </a:buClr>
                <a:tabLst>
                  <a:tab pos="3270820" algn="r"/>
                </a:tabLst>
              </a:pPr>
              <a:r>
                <a:rPr lang="en-US" altLang="zh-CN" sz="600" b="0">
                  <a:solidFill>
                    <a:srgbClr val="000000"/>
                  </a:solidFill>
                  <a:latin typeface="Arial"/>
                  <a:ea typeface="黑体"/>
                  <a:cs typeface="DFKaiShu-GB5" pitchFamily="65" charset="-128"/>
                </a:rPr>
                <a:t>2024</a:t>
              </a:r>
              <a:endParaRPr lang="en-US" altLang="zh-CN" sz="600" b="0">
                <a:solidFill>
                  <a:srgbClr val="000000"/>
                </a:solidFill>
                <a:ea typeface="黑体" panose="02010609060101010101" pitchFamily="49" charset="-122"/>
                <a:cs typeface="DFKaiShu-GB5" pitchFamily="65" charset="-128"/>
              </a:endParaRPr>
            </a:p>
            <a:p>
              <a:pPr algn="ctr" defTabSz="844083">
                <a:buClr>
                  <a:srgbClr val="C00000"/>
                </a:buClr>
                <a:tabLst>
                  <a:tab pos="3270820" algn="r"/>
                </a:tabLst>
              </a:pPr>
              <a:r>
                <a:rPr lang="en-US" altLang="zh-CN" sz="600" b="0">
                  <a:solidFill>
                    <a:srgbClr val="000000"/>
                  </a:solidFill>
                  <a:latin typeface="Arial"/>
                  <a:ea typeface="黑体"/>
                  <a:cs typeface="DFKaiShu-GB5" pitchFamily="65" charset="-128"/>
                </a:rPr>
                <a:t>Best Bank for Sustainable Finance</a:t>
              </a:r>
            </a:p>
            <a:p>
              <a:pPr algn="ctr" defTabSz="844083">
                <a:buClr>
                  <a:srgbClr val="C00000"/>
                </a:buClr>
                <a:tabLst>
                  <a:tab pos="3270820" algn="r"/>
                </a:tabLst>
              </a:pPr>
              <a:r>
                <a:rPr lang="en-US" altLang="zh-CN" sz="600" b="0">
                  <a:solidFill>
                    <a:srgbClr val="000000"/>
                  </a:solidFill>
                  <a:latin typeface="Arial"/>
                  <a:ea typeface="黑体"/>
                  <a:cs typeface="DFKaiShu-GB5" pitchFamily="65" charset="-128"/>
                </a:rPr>
                <a:t>(India)</a:t>
              </a:r>
            </a:p>
          </p:txBody>
        </p:sp>
        <p:pic>
          <p:nvPicPr>
            <p:cNvPr id="61" name="Picture 60">
              <a:extLst>
                <a:ext uri="{FF2B5EF4-FFF2-40B4-BE49-F238E27FC236}">
                  <a16:creationId xmlns:a16="http://schemas.microsoft.com/office/drawing/2014/main" id="{48FC3BAE-9669-255F-41BC-847DDD0D8EE3}"/>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583170" y="5002955"/>
              <a:ext cx="312066" cy="365538"/>
            </a:xfrm>
            <a:prstGeom prst="rect">
              <a:avLst/>
            </a:prstGeom>
          </p:spPr>
        </p:pic>
        <p:pic>
          <p:nvPicPr>
            <p:cNvPr id="62" name="Picture 61">
              <a:extLst>
                <a:ext uri="{FF2B5EF4-FFF2-40B4-BE49-F238E27FC236}">
                  <a16:creationId xmlns:a16="http://schemas.microsoft.com/office/drawing/2014/main" id="{A8F9D10B-1FB9-3B0B-FBC3-ED0321CB13DF}"/>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655629" y="5025902"/>
              <a:ext cx="315495" cy="319645"/>
            </a:xfrm>
            <a:prstGeom prst="rect">
              <a:avLst/>
            </a:prstGeom>
          </p:spPr>
        </p:pic>
        <p:pic>
          <p:nvPicPr>
            <p:cNvPr id="63" name="Picture 62">
              <a:extLst>
                <a:ext uri="{FF2B5EF4-FFF2-40B4-BE49-F238E27FC236}">
                  <a16:creationId xmlns:a16="http://schemas.microsoft.com/office/drawing/2014/main" id="{3ED4FA0D-48AC-ACC2-12C8-0924BD6A6CA1}"/>
                </a:ext>
              </a:extLst>
            </p:cNvPr>
            <p:cNvPicPr>
              <a:picLocks noChangeAspect="1"/>
            </p:cNvPicPr>
            <p:nvPr/>
          </p:nvPicPr>
          <p:blipFill>
            <a:blip r:embed="rId16"/>
            <a:stretch>
              <a:fillRect/>
            </a:stretch>
          </p:blipFill>
          <p:spPr>
            <a:xfrm>
              <a:off x="5359892" y="5025902"/>
              <a:ext cx="299077" cy="299077"/>
            </a:xfrm>
            <a:prstGeom prst="rect">
              <a:avLst/>
            </a:prstGeom>
          </p:spPr>
        </p:pic>
        <p:pic>
          <p:nvPicPr>
            <p:cNvPr id="64" name="Picture 63">
              <a:extLst>
                <a:ext uri="{FF2B5EF4-FFF2-40B4-BE49-F238E27FC236}">
                  <a16:creationId xmlns:a16="http://schemas.microsoft.com/office/drawing/2014/main" id="{853D1D2F-ABDA-E041-03DE-DC320E322CAD}"/>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279225" y="5002955"/>
              <a:ext cx="312066" cy="365538"/>
            </a:xfrm>
            <a:prstGeom prst="rect">
              <a:avLst/>
            </a:prstGeom>
          </p:spPr>
        </p:pic>
        <p:pic>
          <p:nvPicPr>
            <p:cNvPr id="65" name="Picture 64" descr="Picture1.png">
              <a:extLst>
                <a:ext uri="{FF2B5EF4-FFF2-40B4-BE49-F238E27FC236}">
                  <a16:creationId xmlns:a16="http://schemas.microsoft.com/office/drawing/2014/main" id="{45886DBC-65EA-EF1C-B357-D38F13DB9A51}"/>
                </a:ext>
              </a:extLst>
            </p:cNvPr>
            <p:cNvPicPr>
              <a:picLocks noChangeAspect="1"/>
            </p:cNvPicPr>
            <p:nvPr/>
          </p:nvPicPr>
          <p:blipFill>
            <a:blip r:embed="rId6" cstate="print"/>
            <a:stretch>
              <a:fillRect/>
            </a:stretch>
          </p:blipFill>
          <p:spPr>
            <a:xfrm>
              <a:off x="1371470" y="4044144"/>
              <a:ext cx="883806" cy="763968"/>
            </a:xfrm>
            <a:prstGeom prst="rect">
              <a:avLst/>
            </a:prstGeom>
          </p:spPr>
        </p:pic>
        <p:pic>
          <p:nvPicPr>
            <p:cNvPr id="66" name="Picture 65">
              <a:extLst>
                <a:ext uri="{FF2B5EF4-FFF2-40B4-BE49-F238E27FC236}">
                  <a16:creationId xmlns:a16="http://schemas.microsoft.com/office/drawing/2014/main" id="{EFAC18E5-1A39-AB40-7F96-96B1CFFEBA53}"/>
                </a:ext>
              </a:extLst>
            </p:cNvPr>
            <p:cNvPicPr>
              <a:picLocks noChangeAspect="1"/>
            </p:cNvPicPr>
            <p:nvPr/>
          </p:nvPicPr>
          <p:blipFill rotWithShape="1">
            <a:blip r:embed="rId17"/>
            <a:srcRect l="-1" t="35921" r="1457" b="36008"/>
            <a:stretch/>
          </p:blipFill>
          <p:spPr>
            <a:xfrm>
              <a:off x="1475677" y="3922029"/>
              <a:ext cx="675394" cy="203562"/>
            </a:xfrm>
            <a:prstGeom prst="rect">
              <a:avLst/>
            </a:prstGeom>
          </p:spPr>
        </p:pic>
        <p:sp>
          <p:nvSpPr>
            <p:cNvPr id="67" name="Rectangle 127">
              <a:extLst>
                <a:ext uri="{FF2B5EF4-FFF2-40B4-BE49-F238E27FC236}">
                  <a16:creationId xmlns:a16="http://schemas.microsoft.com/office/drawing/2014/main" id="{2EC51177-4855-A7EB-BFED-BB25CD221411}"/>
                </a:ext>
              </a:extLst>
            </p:cNvPr>
            <p:cNvSpPr>
              <a:spLocks noChangeArrowheads="1"/>
            </p:cNvSpPr>
            <p:nvPr/>
          </p:nvSpPr>
          <p:spPr bwMode="gray">
            <a:xfrm>
              <a:off x="1481065" y="4174827"/>
              <a:ext cx="664615" cy="553998"/>
            </a:xfrm>
            <a:prstGeom prst="rect">
              <a:avLst/>
            </a:prstGeom>
            <a:noFill/>
            <a:ln w="9525">
              <a:noFill/>
              <a:miter lim="800000"/>
              <a:headEnd/>
              <a:tailEnd/>
            </a:ln>
            <a:effectLst/>
          </p:spPr>
          <p:txBody>
            <a:bodyPr wrap="square" lIns="0" tIns="0" rIns="0" bIns="0" anchor="ctr" anchorCtr="0">
              <a:spAutoFit/>
            </a:bodyPr>
            <a:lstStyle/>
            <a:p>
              <a:pPr algn="ctr" defTabSz="685817" eaLnBrk="0" fontAlgn="auto" hangingPunct="0">
                <a:spcBef>
                  <a:spcPts val="0"/>
                </a:spcBef>
                <a:spcAft>
                  <a:spcPts val="0"/>
                </a:spcAft>
                <a:buClr>
                  <a:srgbClr val="C00000"/>
                </a:buClr>
                <a:tabLst>
                  <a:tab pos="2657541" algn="r"/>
                </a:tabLst>
                <a:defRPr/>
              </a:pPr>
              <a:r>
                <a:rPr lang="en-SG" altLang="zh-CN" sz="600" b="0" kern="0">
                  <a:solidFill>
                    <a:srgbClr val="000000"/>
                  </a:solidFill>
                  <a:latin typeface="Arial" panose="020B0604020202020204"/>
                  <a:ea typeface="黑体" panose="02010609060101010101" pitchFamily="49" charset="-122"/>
                  <a:cs typeface="DFKaiShu-GB5" pitchFamily="65" charset="-128"/>
                </a:rPr>
                <a:t>2024</a:t>
              </a:r>
              <a:endParaRPr lang="en-US" altLang="zh-CN" sz="600" b="0" kern="0">
                <a:solidFill>
                  <a:srgbClr val="000000"/>
                </a:solidFill>
                <a:latin typeface="Arial" panose="020B0604020202020204"/>
                <a:ea typeface="黑体" panose="02010609060101010101" pitchFamily="49" charset="-122"/>
                <a:cs typeface="DFKaiShu-GB5" pitchFamily="65" charset="-128"/>
              </a:endParaRPr>
            </a:p>
            <a:p>
              <a:pPr algn="ctr" defTabSz="685817" eaLnBrk="0" fontAlgn="auto" hangingPunct="0">
                <a:spcBef>
                  <a:spcPts val="0"/>
                </a:spcBef>
                <a:spcAft>
                  <a:spcPts val="0"/>
                </a:spcAft>
                <a:buClr>
                  <a:srgbClr val="C00000"/>
                </a:buClr>
                <a:tabLst>
                  <a:tab pos="2657541" algn="r"/>
                </a:tabLst>
                <a:defRPr/>
              </a:pPr>
              <a:r>
                <a:rPr lang="en-SG" altLang="zh-CN" sz="600" b="0" kern="0">
                  <a:solidFill>
                    <a:srgbClr val="000000"/>
                  </a:solidFill>
                  <a:latin typeface="Arial" panose="020B0604020202020204"/>
                  <a:ea typeface="黑体" panose="02010609060101010101" pitchFamily="49" charset="-122"/>
                  <a:cs typeface="DFKaiShu-GB5" pitchFamily="65" charset="-128"/>
                </a:rPr>
                <a:t>Investment Bank </a:t>
              </a:r>
            </a:p>
            <a:p>
              <a:pPr algn="ctr" defTabSz="685817" eaLnBrk="0" fontAlgn="auto" hangingPunct="0">
                <a:spcBef>
                  <a:spcPts val="0"/>
                </a:spcBef>
                <a:spcAft>
                  <a:spcPts val="0"/>
                </a:spcAft>
                <a:buClr>
                  <a:srgbClr val="C00000"/>
                </a:buClr>
                <a:tabLst>
                  <a:tab pos="2657541" algn="r"/>
                </a:tabLst>
                <a:defRPr/>
              </a:pPr>
              <a:r>
                <a:rPr lang="en-SG" altLang="zh-CN" sz="600" b="0" kern="0">
                  <a:solidFill>
                    <a:srgbClr val="000000"/>
                  </a:solidFill>
                  <a:latin typeface="Arial" panose="020B0604020202020204"/>
                  <a:ea typeface="黑体" panose="02010609060101010101" pitchFamily="49" charset="-122"/>
                  <a:cs typeface="DFKaiShu-GB5" pitchFamily="65" charset="-128"/>
                </a:rPr>
                <a:t>of the Year </a:t>
              </a:r>
            </a:p>
            <a:p>
              <a:pPr algn="ctr" defTabSz="685817" eaLnBrk="0" fontAlgn="auto" hangingPunct="0">
                <a:spcBef>
                  <a:spcPts val="0"/>
                </a:spcBef>
                <a:spcAft>
                  <a:spcPts val="0"/>
                </a:spcAft>
                <a:buClr>
                  <a:srgbClr val="C00000"/>
                </a:buClr>
                <a:tabLst>
                  <a:tab pos="2657541" algn="r"/>
                </a:tabLst>
                <a:defRPr/>
              </a:pPr>
              <a:r>
                <a:rPr lang="en-SG" altLang="zh-CN" sz="600" b="0" kern="0">
                  <a:solidFill>
                    <a:srgbClr val="000000"/>
                  </a:solidFill>
                  <a:latin typeface="Arial" panose="020B0604020202020204"/>
                  <a:ea typeface="黑体" panose="02010609060101010101" pitchFamily="49" charset="-122"/>
                  <a:cs typeface="DFKaiShu-GB5" pitchFamily="65" charset="-128"/>
                </a:rPr>
                <a:t>(Asia Pacific)</a:t>
              </a:r>
            </a:p>
            <a:p>
              <a:pPr algn="ctr" defTabSz="685817" eaLnBrk="0" fontAlgn="auto" hangingPunct="0">
                <a:spcBef>
                  <a:spcPts val="0"/>
                </a:spcBef>
                <a:spcAft>
                  <a:spcPts val="0"/>
                </a:spcAft>
                <a:buClr>
                  <a:srgbClr val="C00000"/>
                </a:buClr>
                <a:tabLst>
                  <a:tab pos="2657541" algn="r"/>
                </a:tabLst>
                <a:defRPr/>
              </a:pPr>
              <a:r>
                <a:rPr lang="en-SG" altLang="zh-CN" sz="600" b="0" kern="0">
                  <a:solidFill>
                    <a:srgbClr val="CC0000"/>
                  </a:solidFill>
                  <a:latin typeface="Arial" panose="020B0604020202020204"/>
                  <a:ea typeface="黑体" panose="02010609060101010101" pitchFamily="49" charset="-122"/>
                  <a:cs typeface="DFKaiShu-GB5" pitchFamily="65" charset="-128"/>
                </a:rPr>
                <a:t>2</a:t>
              </a:r>
              <a:r>
                <a:rPr lang="en-SG" altLang="zh-CN" sz="600" b="0" kern="0" baseline="30000">
                  <a:solidFill>
                    <a:srgbClr val="CC0000"/>
                  </a:solidFill>
                  <a:latin typeface="Arial" panose="020B0604020202020204"/>
                  <a:ea typeface="黑体" panose="02010609060101010101" pitchFamily="49" charset="-122"/>
                  <a:cs typeface="DFKaiShu-GB5" pitchFamily="65" charset="-128"/>
                </a:rPr>
                <a:t>nd</a:t>
              </a:r>
              <a:r>
                <a:rPr lang="en-SG" altLang="zh-CN" sz="600" b="0" kern="0">
                  <a:solidFill>
                    <a:srgbClr val="CC0000"/>
                  </a:solidFill>
                  <a:latin typeface="Arial" panose="020B0604020202020204"/>
                  <a:ea typeface="黑体" panose="02010609060101010101" pitchFamily="49" charset="-122"/>
                  <a:cs typeface="DFKaiShu-GB5" pitchFamily="65" charset="-128"/>
                </a:rPr>
                <a:t> Consecutive </a:t>
              </a:r>
              <a:r>
                <a:rPr lang="en-US" altLang="zh-CN" sz="600" b="0" kern="0">
                  <a:solidFill>
                    <a:srgbClr val="CC0000"/>
                  </a:solidFill>
                  <a:latin typeface="Arial" panose="020B0604020202020204"/>
                  <a:ea typeface="黑体" panose="02010609060101010101" pitchFamily="49" charset="-122"/>
                  <a:cs typeface="DFKaiShu-GB5" pitchFamily="65" charset="-128"/>
                </a:rPr>
                <a:t>Win</a:t>
              </a:r>
            </a:p>
          </p:txBody>
        </p:sp>
        <p:pic>
          <p:nvPicPr>
            <p:cNvPr id="68" name="Picture 67" descr="A globe with text overlay&#10;&#10;AI-generated content may be incorrect.">
              <a:extLst>
                <a:ext uri="{FF2B5EF4-FFF2-40B4-BE49-F238E27FC236}">
                  <a16:creationId xmlns:a16="http://schemas.microsoft.com/office/drawing/2014/main" id="{8F9C9CCF-8C7F-0414-B699-EFFE0F036602}"/>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33065" y="3849369"/>
              <a:ext cx="312595" cy="365538"/>
            </a:xfrm>
            <a:prstGeom prst="rect">
              <a:avLst/>
            </a:prstGeom>
          </p:spPr>
        </p:pic>
        <p:pic>
          <p:nvPicPr>
            <p:cNvPr id="69" name="Picture 68" descr="A globe with text overlay&#10;&#10;AI-generated content may be incorrect.">
              <a:extLst>
                <a:ext uri="{FF2B5EF4-FFF2-40B4-BE49-F238E27FC236}">
                  <a16:creationId xmlns:a16="http://schemas.microsoft.com/office/drawing/2014/main" id="{D0008E8C-47F5-A26E-7A83-644A5DEEFE35}"/>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33065" y="5002955"/>
              <a:ext cx="312595" cy="365538"/>
            </a:xfrm>
            <a:prstGeom prst="rect">
              <a:avLst/>
            </a:prstGeom>
          </p:spPr>
        </p:pic>
        <p:pic>
          <p:nvPicPr>
            <p:cNvPr id="70" name="Picture 69" descr="A globe with text overlay&#10;&#10;AI-generated content may be incorrect.">
              <a:extLst>
                <a:ext uri="{FF2B5EF4-FFF2-40B4-BE49-F238E27FC236}">
                  <a16:creationId xmlns:a16="http://schemas.microsoft.com/office/drawing/2014/main" id="{ED7704C0-30B4-BBB6-AD6D-C931032610E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582641" y="3849369"/>
              <a:ext cx="312595" cy="365538"/>
            </a:xfrm>
            <a:prstGeom prst="rect">
              <a:avLst/>
            </a:prstGeom>
          </p:spPr>
        </p:pic>
      </p:grpSp>
      <p:sp>
        <p:nvSpPr>
          <p:cNvPr id="5" name="Slide Number Placeholder 4">
            <a:extLst>
              <a:ext uri="{FF2B5EF4-FFF2-40B4-BE49-F238E27FC236}">
                <a16:creationId xmlns:a16="http://schemas.microsoft.com/office/drawing/2014/main" id="{A740FA59-B06D-14E5-3F13-FA4091C1DAB5}"/>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13</a:t>
            </a:fld>
            <a:endParaRPr lang="en-US" altLang="en-US" b="0">
              <a:solidFill>
                <a:srgbClr val="000000"/>
              </a:solidFill>
            </a:endParaRPr>
          </a:p>
        </p:txBody>
      </p:sp>
    </p:spTree>
    <p:extLst>
      <p:ext uri="{BB962C8B-B14F-4D97-AF65-F5344CB8AC3E}">
        <p14:creationId xmlns:p14="http://schemas.microsoft.com/office/powerpoint/2010/main" val="2221240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37B72F6-DCF2-ABAF-8C13-F558B4FA1679}"/>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graphicFrame>
        <p:nvGraphicFramePr>
          <p:cNvPr id="2" name="Object 1" hidden="1">
            <a:extLst>
              <a:ext uri="{FF2B5EF4-FFF2-40B4-BE49-F238E27FC236}">
                <a16:creationId xmlns:a16="http://schemas.microsoft.com/office/drawing/2014/main" id="{34795CA1-4797-4F35-A38F-0DB9D408884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2" name="Object 1" hidden="1">
                        <a:extLst>
                          <a:ext uri="{FF2B5EF4-FFF2-40B4-BE49-F238E27FC236}">
                            <a16:creationId xmlns:a16="http://schemas.microsoft.com/office/drawing/2014/main" id="{34795CA1-4797-4F35-A38F-0DB9D408884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C12F589-815F-E899-3A1A-BAA6AA06AC5E}"/>
              </a:ext>
            </a:extLst>
          </p:cNvPr>
          <p:cNvSpPr>
            <a:spLocks noGrp="1"/>
          </p:cNvSpPr>
          <p:nvPr>
            <p:ph type="title"/>
          </p:nvPr>
        </p:nvSpPr>
        <p:spPr/>
        <p:txBody>
          <a:bodyPr/>
          <a:lstStyle/>
          <a:p>
            <a:r>
              <a:rPr lang="en-US" sz="2000" dirty="0"/>
              <a:t>…and History of Bringing Exceptional Transactions to Market</a:t>
            </a:r>
          </a:p>
        </p:txBody>
      </p:sp>
      <p:sp>
        <p:nvSpPr>
          <p:cNvPr id="23" name="TextBox 24">
            <a:extLst>
              <a:ext uri="{FF2B5EF4-FFF2-40B4-BE49-F238E27FC236}">
                <a16:creationId xmlns:a16="http://schemas.microsoft.com/office/drawing/2014/main" id="{19D624B0-AC7F-FC7D-3442-8E69B95AD799}"/>
              </a:ext>
            </a:extLst>
          </p:cNvPr>
          <p:cNvSpPr txBox="1">
            <a:spLocks noChangeArrowheads="1"/>
          </p:cNvSpPr>
          <p:nvPr/>
        </p:nvSpPr>
        <p:spPr bwMode="auto">
          <a:xfrm>
            <a:off x="4827842" y="1175660"/>
            <a:ext cx="2792158" cy="2108269"/>
          </a:xfrm>
          <a:prstGeom prst="rect">
            <a:avLst/>
          </a:prstGeom>
          <a:noFill/>
          <a:ln w="9525">
            <a:noFill/>
            <a:miter lim="800000"/>
            <a:headEnd/>
            <a:tailEnd/>
          </a:ln>
        </p:spPr>
        <p:txBody>
          <a:bodyPr wrap="square" lIns="0" tIns="0" rIns="0" bIns="0" anchor="t">
            <a:spAutoFit/>
          </a:bodyPr>
          <a:lstStyle/>
          <a:p>
            <a:pPr>
              <a:spcBef>
                <a:spcPts val="300"/>
              </a:spcBef>
              <a:spcAft>
                <a:spcPts val="300"/>
              </a:spcAft>
            </a:pPr>
            <a:r>
              <a:rPr lang="en-GB" sz="800" dirty="0">
                <a:solidFill>
                  <a:srgbClr val="C00000"/>
                </a:solidFill>
                <a:latin typeface="Arial" panose="020B0604020202020204"/>
                <a:cs typeface="Arial" panose="020B0604020202020204" pitchFamily="34" charset="0"/>
              </a:rPr>
              <a:t>The Asset </a:t>
            </a:r>
            <a:r>
              <a:rPr lang="en-US" sz="800" dirty="0">
                <a:solidFill>
                  <a:srgbClr val="C00000"/>
                </a:solidFill>
                <a:latin typeface="Arial" panose="020B0604020202020204"/>
                <a:cs typeface="Arial" panose="020B0604020202020204" pitchFamily="34" charset="0"/>
              </a:rPr>
              <a:t>Regional </a:t>
            </a:r>
            <a:r>
              <a:rPr lang="en-GB" sz="800" dirty="0">
                <a:solidFill>
                  <a:srgbClr val="C00000"/>
                </a:solidFill>
                <a:latin typeface="Arial" panose="020B0604020202020204"/>
                <a:cs typeface="Arial" panose="020B0604020202020204" pitchFamily="34" charset="0"/>
              </a:rPr>
              <a:t>Awards</a:t>
            </a:r>
            <a:endParaRPr lang="en-US" sz="800" dirty="0">
              <a:solidFill>
                <a:srgbClr val="000000"/>
              </a:solidFill>
              <a:latin typeface="Arial" panose="020B0604020202020204"/>
              <a:cs typeface="Arial" panose="020B0604020202020204" pitchFamily="34" charset="0"/>
            </a:endParaRPr>
          </a:p>
          <a:p>
            <a:pPr defTabSz="179388">
              <a:spcBef>
                <a:spcPts val="300"/>
              </a:spcBef>
              <a:spcAft>
                <a:spcPts val="300"/>
              </a:spcAft>
              <a:tabLst>
                <a:tab pos="88900" algn="l"/>
              </a:tabLst>
            </a:pPr>
            <a:r>
              <a:rPr lang="en-US" sz="800" dirty="0">
                <a:solidFill>
                  <a:srgbClr val="000000"/>
                </a:solidFill>
                <a:latin typeface="Arial" panose="020B0604020202020204"/>
                <a:cs typeface="Arial" panose="020B0604020202020204" pitchFamily="34" charset="0"/>
              </a:rPr>
              <a:t>Best REIT in Asia</a:t>
            </a:r>
            <a:br>
              <a:rPr lang="en-US" sz="800" dirty="0">
                <a:solidFill>
                  <a:srgbClr val="000000"/>
                </a:solidFill>
                <a:latin typeface="Arial" panose="020B0604020202020204"/>
                <a:cs typeface="Arial" panose="020B0604020202020204" pitchFamily="34" charset="0"/>
              </a:rPr>
            </a:br>
            <a:r>
              <a:rPr lang="en-US" sz="800" b="0" dirty="0">
                <a:solidFill>
                  <a:srgbClr val="000000"/>
                </a:solidFill>
                <a:latin typeface="Arial" panose="020B0604020202020204"/>
                <a:cs typeface="Arial" panose="020B0604020202020204" pitchFamily="34" charset="0"/>
              </a:rPr>
              <a:t>S$1.6b IPO of Mapletree Greater China Commercial Trust (2013)</a:t>
            </a:r>
          </a:p>
          <a:p>
            <a:pPr>
              <a:spcBef>
                <a:spcPts val="300"/>
              </a:spcBef>
              <a:spcAft>
                <a:spcPts val="300"/>
              </a:spcAft>
            </a:pPr>
            <a:r>
              <a:rPr lang="en-US" sz="800" dirty="0">
                <a:solidFill>
                  <a:srgbClr val="000000"/>
                </a:solidFill>
                <a:latin typeface="Arial" panose="020B0604020202020204"/>
                <a:cs typeface="Arial" panose="020B0604020202020204" pitchFamily="34" charset="0"/>
              </a:rPr>
              <a:t>Best REIT in Asia / Best Mid-Cap Equity</a:t>
            </a:r>
            <a:br>
              <a:rPr lang="en-US" sz="800" dirty="0">
                <a:solidFill>
                  <a:srgbClr val="000000"/>
                </a:solidFill>
                <a:latin typeface="Arial" panose="020B0604020202020204"/>
                <a:cs typeface="Arial" panose="020B0604020202020204" pitchFamily="34" charset="0"/>
              </a:rPr>
            </a:br>
            <a:r>
              <a:rPr lang="en-US" sz="800" b="0" dirty="0">
                <a:solidFill>
                  <a:srgbClr val="000000"/>
                </a:solidFill>
                <a:latin typeface="Arial" panose="020B0604020202020204"/>
                <a:cs typeface="Arial" panose="020B0604020202020204" pitchFamily="34" charset="0"/>
              </a:rPr>
              <a:t>S$718m IPO of Far East Hospitality Trust (2012)</a:t>
            </a:r>
            <a:endParaRPr lang="en-GB" sz="800" dirty="0">
              <a:solidFill>
                <a:srgbClr val="000000"/>
              </a:solidFill>
              <a:latin typeface="Arial" panose="020B0604020202020204"/>
              <a:cs typeface="Arial" panose="020B0604020202020204" pitchFamily="34" charset="0"/>
            </a:endParaRPr>
          </a:p>
          <a:p>
            <a:pPr>
              <a:spcBef>
                <a:spcPts val="300"/>
              </a:spcBef>
              <a:spcAft>
                <a:spcPts val="300"/>
              </a:spcAft>
            </a:pPr>
            <a:r>
              <a:rPr lang="en-SG" sz="800" dirty="0">
                <a:solidFill>
                  <a:srgbClr val="000000"/>
                </a:solidFill>
                <a:latin typeface="Arial" panose="020B0604020202020204"/>
                <a:cs typeface="Arial" panose="020B0604020202020204" pitchFamily="34" charset="0"/>
              </a:rPr>
              <a:t>Best</a:t>
            </a:r>
            <a:r>
              <a:rPr lang="en-US" sz="800" dirty="0">
                <a:solidFill>
                  <a:srgbClr val="000000"/>
                </a:solidFill>
                <a:latin typeface="Arial" panose="020B0604020202020204"/>
                <a:cs typeface="Arial" panose="020B0604020202020204" pitchFamily="34" charset="0"/>
              </a:rPr>
              <a:t> Equity (Indonesia)</a:t>
            </a:r>
            <a:br>
              <a:rPr lang="en-US" sz="800" dirty="0">
                <a:solidFill>
                  <a:srgbClr val="000000"/>
                </a:solidFill>
                <a:latin typeface="Arial" panose="020B0604020202020204"/>
                <a:cs typeface="Arial" panose="020B0604020202020204" pitchFamily="34" charset="0"/>
              </a:rPr>
            </a:br>
            <a:r>
              <a:rPr lang="en-US" sz="800" b="0" dirty="0">
                <a:solidFill>
                  <a:srgbClr val="000000"/>
                </a:solidFill>
                <a:latin typeface="Arial" panose="020B0604020202020204"/>
                <a:cs typeface="Arial" panose="020B0604020202020204" pitchFamily="34" charset="0"/>
              </a:rPr>
              <a:t>US$405m Secondary Placement of Sanara Menara Nusantara (2017)</a:t>
            </a:r>
            <a:endParaRPr lang="en-GB" sz="800" dirty="0">
              <a:solidFill>
                <a:srgbClr val="000000"/>
              </a:solidFill>
              <a:latin typeface="Arial" panose="020B0604020202020204"/>
              <a:cs typeface="Arial" panose="020B0604020202020204" pitchFamily="34" charset="0"/>
            </a:endParaRPr>
          </a:p>
          <a:p>
            <a:pPr>
              <a:spcBef>
                <a:spcPts val="300"/>
              </a:spcBef>
              <a:spcAft>
                <a:spcPts val="300"/>
              </a:spcAft>
            </a:pPr>
            <a:r>
              <a:rPr lang="en-GB" sz="800" dirty="0">
                <a:solidFill>
                  <a:srgbClr val="000000"/>
                </a:solidFill>
                <a:latin typeface="Arial" panose="020B0604020202020204"/>
                <a:cs typeface="Arial" panose="020B0604020202020204" pitchFamily="34" charset="0"/>
              </a:rPr>
              <a:t>Best Bank Capital (China)</a:t>
            </a:r>
            <a:br>
              <a:rPr lang="en-GB" sz="800" dirty="0">
                <a:solidFill>
                  <a:srgbClr val="000000"/>
                </a:solidFill>
                <a:latin typeface="Arial" panose="020B0604020202020204"/>
                <a:cs typeface="Arial" panose="020B0604020202020204" pitchFamily="34" charset="0"/>
              </a:rPr>
            </a:br>
            <a:r>
              <a:rPr lang="en-US" sz="800" b="0" dirty="0">
                <a:solidFill>
                  <a:srgbClr val="000000"/>
                </a:solidFill>
                <a:latin typeface="Arial" panose="020B0604020202020204"/>
                <a:cs typeface="Arial" panose="020B0604020202020204" pitchFamily="34" charset="0"/>
              </a:rPr>
              <a:t>US$7.25b Additional Tier 1 Capital Securities of </a:t>
            </a:r>
            <a:r>
              <a:rPr lang="en-GB" sz="800" b="0" dirty="0">
                <a:solidFill>
                  <a:srgbClr val="000000"/>
                </a:solidFill>
                <a:latin typeface="Arial" panose="020B0604020202020204"/>
                <a:cs typeface="Arial" panose="020B0604020202020204" pitchFamily="34" charset="0"/>
              </a:rPr>
              <a:t>Postal Savings Bank of China (2017)</a:t>
            </a:r>
            <a:endParaRPr lang="en-GB" sz="800" dirty="0">
              <a:solidFill>
                <a:srgbClr val="000000"/>
              </a:solidFill>
              <a:latin typeface="Arial" panose="020B0604020202020204"/>
              <a:cs typeface="Arial" panose="020B0604020202020204" pitchFamily="34" charset="0"/>
            </a:endParaRPr>
          </a:p>
          <a:p>
            <a:pPr>
              <a:spcBef>
                <a:spcPts val="300"/>
              </a:spcBef>
              <a:spcAft>
                <a:spcPts val="300"/>
              </a:spcAft>
            </a:pPr>
            <a:r>
              <a:rPr lang="en-GB" sz="800" dirty="0">
                <a:solidFill>
                  <a:srgbClr val="000000"/>
                </a:solidFill>
                <a:latin typeface="Arial" panose="020B0604020202020204"/>
                <a:cs typeface="Arial" panose="020B0604020202020204" pitchFamily="34" charset="0"/>
              </a:rPr>
              <a:t>Best IPO (Taiwan)</a:t>
            </a:r>
            <a:br>
              <a:rPr lang="en-GB" sz="800" dirty="0">
                <a:solidFill>
                  <a:srgbClr val="000000"/>
                </a:solidFill>
                <a:latin typeface="Arial" panose="020B0604020202020204"/>
                <a:cs typeface="Arial" panose="020B0604020202020204" pitchFamily="34" charset="0"/>
              </a:rPr>
            </a:br>
            <a:r>
              <a:rPr lang="en-US" sz="800" b="0" dirty="0">
                <a:solidFill>
                  <a:srgbClr val="000000"/>
                </a:solidFill>
                <a:latin typeface="Arial" panose="020B0604020202020204"/>
                <a:cs typeface="Arial" panose="020B0604020202020204" pitchFamily="34" charset="0"/>
              </a:rPr>
              <a:t>US$401m IPO of </a:t>
            </a:r>
            <a:r>
              <a:rPr lang="en-GB" sz="800" b="0" dirty="0">
                <a:solidFill>
                  <a:srgbClr val="000000"/>
                </a:solidFill>
                <a:latin typeface="Arial" panose="020B0604020202020204"/>
                <a:cs typeface="Arial" panose="020B0604020202020204" pitchFamily="34" charset="0"/>
              </a:rPr>
              <a:t>FIT Hong Teng (2017)</a:t>
            </a:r>
          </a:p>
        </p:txBody>
      </p:sp>
      <p:sp>
        <p:nvSpPr>
          <p:cNvPr id="24" name="object 9">
            <a:extLst>
              <a:ext uri="{FF2B5EF4-FFF2-40B4-BE49-F238E27FC236}">
                <a16:creationId xmlns:a16="http://schemas.microsoft.com/office/drawing/2014/main" id="{34D653A9-E072-5D40-B05E-07B6293831C6}"/>
              </a:ext>
            </a:extLst>
          </p:cNvPr>
          <p:cNvSpPr txBox="1"/>
          <p:nvPr/>
        </p:nvSpPr>
        <p:spPr>
          <a:xfrm>
            <a:off x="1614287" y="2219144"/>
            <a:ext cx="2591953" cy="3888244"/>
          </a:xfrm>
          <a:prstGeom prst="rect">
            <a:avLst/>
          </a:prstGeom>
        </p:spPr>
        <p:txBody>
          <a:bodyPr vert="horz" wrap="square" lIns="0" tIns="0" rIns="0" bIns="0" rtlCol="0">
            <a:spAutoFit/>
          </a:bodyPr>
          <a:lstStyle/>
          <a:p>
            <a:pPr marR="269240">
              <a:spcBef>
                <a:spcPts val="200"/>
              </a:spcBef>
              <a:spcAft>
                <a:spcPts val="200"/>
              </a:spcAft>
            </a:pPr>
            <a:r>
              <a:rPr lang="en-SG" sz="800" spc="-5" dirty="0">
                <a:solidFill>
                  <a:srgbClr val="C00000"/>
                </a:solidFill>
                <a:latin typeface="Arial" panose="020B0604020202020204"/>
                <a:cs typeface="Arial" panose="020B0604020202020204" pitchFamily="34" charset="0"/>
              </a:rPr>
              <a:t>Alpha Southeast </a:t>
            </a:r>
            <a:r>
              <a:rPr lang="en-SG" sz="800" spc="-10" dirty="0">
                <a:solidFill>
                  <a:srgbClr val="C00000"/>
                </a:solidFill>
                <a:latin typeface="Arial" panose="020B0604020202020204"/>
                <a:cs typeface="Arial" panose="020B0604020202020204" pitchFamily="34" charset="0"/>
              </a:rPr>
              <a:t>Asia </a:t>
            </a:r>
            <a:r>
              <a:rPr lang="en-SG" sz="800" spc="-5" dirty="0">
                <a:solidFill>
                  <a:srgbClr val="C00000"/>
                </a:solidFill>
                <a:latin typeface="Arial" panose="020B0604020202020204"/>
                <a:cs typeface="Arial" panose="020B0604020202020204" pitchFamily="34" charset="0"/>
              </a:rPr>
              <a:t>Deal &amp; Solution </a:t>
            </a:r>
            <a:r>
              <a:rPr lang="en-SG" sz="800" spc="-10" dirty="0">
                <a:solidFill>
                  <a:srgbClr val="C00000"/>
                </a:solidFill>
                <a:latin typeface="Arial" panose="020B0604020202020204"/>
                <a:cs typeface="Arial" panose="020B0604020202020204" pitchFamily="34" charset="0"/>
              </a:rPr>
              <a:t>Awards</a:t>
            </a:r>
            <a:endParaRPr lang="en-SG" sz="800" dirty="0">
              <a:solidFill>
                <a:srgbClr val="C00000"/>
              </a:solidFill>
              <a:latin typeface="Arial" panose="020B0604020202020204"/>
              <a:cs typeface="Arial" panose="020B0604020202020204" pitchFamily="34" charset="0"/>
            </a:endParaRPr>
          </a:p>
          <a:p>
            <a:pPr>
              <a:spcBef>
                <a:spcPts val="200"/>
              </a:spcBef>
              <a:spcAft>
                <a:spcPts val="200"/>
              </a:spcAft>
              <a:buClr>
                <a:srgbClr val="BF0000"/>
              </a:buClr>
            </a:pPr>
            <a:r>
              <a:rPr lang="en-SG" sz="800" spc="-10" dirty="0">
                <a:solidFill>
                  <a:srgbClr val="000000"/>
                </a:solidFill>
                <a:latin typeface="Arial" panose="020B0604020202020204"/>
                <a:cs typeface="Arial" panose="020B0604020202020204" pitchFamily="34" charset="0"/>
              </a:rPr>
              <a:t>Best </a:t>
            </a:r>
            <a:r>
              <a:rPr lang="en-SG" sz="800" spc="-5" dirty="0">
                <a:solidFill>
                  <a:srgbClr val="000000"/>
                </a:solidFill>
                <a:latin typeface="Arial" panose="020B0604020202020204"/>
                <a:cs typeface="Arial" panose="020B0604020202020204" pitchFamily="34" charset="0"/>
              </a:rPr>
              <a:t>Equity Deal Of The Year In The Philippines</a:t>
            </a:r>
            <a:br>
              <a:rPr lang="en-SG" sz="800" spc="-5" dirty="0">
                <a:solidFill>
                  <a:srgbClr val="000000"/>
                </a:solidFill>
                <a:latin typeface="Arial" panose="020B0604020202020204"/>
                <a:cs typeface="Arial" panose="020B0604020202020204" pitchFamily="34" charset="0"/>
              </a:rPr>
            </a:br>
            <a:r>
              <a:rPr lang="en-SG" sz="800" b="0" spc="-10" dirty="0">
                <a:solidFill>
                  <a:srgbClr val="000000"/>
                </a:solidFill>
                <a:latin typeface="Arial" panose="020B0604020202020204"/>
                <a:cs typeface="Arial" panose="020B0604020202020204" pitchFamily="34" charset="0"/>
              </a:rPr>
              <a:t>MREIT Inc.</a:t>
            </a:r>
            <a:r>
              <a:rPr lang="en-SG" sz="800" b="0" spc="-5" dirty="0">
                <a:solidFill>
                  <a:srgbClr val="000000"/>
                </a:solidFill>
                <a:latin typeface="Arial" panose="020B0604020202020204"/>
                <a:cs typeface="Arial" panose="020B0604020202020204" pitchFamily="34" charset="0"/>
              </a:rPr>
              <a:t> – USD305.8m</a:t>
            </a:r>
            <a:r>
              <a:rPr lang="en-SG" sz="800" b="0" spc="-10" dirty="0">
                <a:solidFill>
                  <a:srgbClr val="000000"/>
                </a:solidFill>
                <a:latin typeface="Arial" panose="020B0604020202020204"/>
                <a:cs typeface="Arial" panose="020B0604020202020204" pitchFamily="34" charset="0"/>
              </a:rPr>
              <a:t> (2021)</a:t>
            </a:r>
            <a:endParaRPr lang="en-SG" sz="800" spc="-10" dirty="0">
              <a:solidFill>
                <a:srgbClr val="000000"/>
              </a:solidFill>
              <a:latin typeface="Arial" panose="020B0604020202020204"/>
              <a:cs typeface="Arial" panose="020B0604020202020204" pitchFamily="34" charset="0"/>
            </a:endParaRPr>
          </a:p>
          <a:p>
            <a:pPr>
              <a:spcBef>
                <a:spcPts val="200"/>
              </a:spcBef>
              <a:spcAft>
                <a:spcPts val="200"/>
              </a:spcAft>
              <a:buClr>
                <a:srgbClr val="BF0000"/>
              </a:buClr>
            </a:pPr>
            <a:r>
              <a:rPr sz="800" spc="-10" dirty="0">
                <a:solidFill>
                  <a:srgbClr val="000000"/>
                </a:solidFill>
                <a:latin typeface="Arial" panose="020B0604020202020204"/>
                <a:cs typeface="Arial" panose="020B0604020202020204" pitchFamily="34" charset="0"/>
              </a:rPr>
              <a:t>Best </a:t>
            </a:r>
            <a:r>
              <a:rPr sz="800" spc="-5" dirty="0">
                <a:solidFill>
                  <a:srgbClr val="000000"/>
                </a:solidFill>
                <a:latin typeface="Arial" panose="020B0604020202020204"/>
                <a:cs typeface="Arial" panose="020B0604020202020204" pitchFamily="34" charset="0"/>
              </a:rPr>
              <a:t>Deal </a:t>
            </a:r>
            <a:r>
              <a:rPr sz="800" spc="-15" dirty="0">
                <a:solidFill>
                  <a:srgbClr val="000000"/>
                </a:solidFill>
                <a:latin typeface="Arial" panose="020B0604020202020204"/>
                <a:cs typeface="Arial" panose="020B0604020202020204" pitchFamily="34" charset="0"/>
              </a:rPr>
              <a:t>for </a:t>
            </a:r>
            <a:r>
              <a:rPr sz="800" spc="-5" dirty="0">
                <a:solidFill>
                  <a:srgbClr val="000000"/>
                </a:solidFill>
                <a:latin typeface="Arial" panose="020B0604020202020204"/>
                <a:cs typeface="Arial" panose="020B0604020202020204" pitchFamily="34" charset="0"/>
              </a:rPr>
              <a:t>Minority </a:t>
            </a:r>
            <a:r>
              <a:rPr sz="800" spc="-10" dirty="0">
                <a:solidFill>
                  <a:srgbClr val="000000"/>
                </a:solidFill>
                <a:latin typeface="Arial" panose="020B0604020202020204"/>
                <a:cs typeface="Arial" panose="020B0604020202020204" pitchFamily="34" charset="0"/>
              </a:rPr>
              <a:t>Shareholders</a:t>
            </a:r>
            <a:r>
              <a:rPr sz="800" spc="-80" dirty="0">
                <a:solidFill>
                  <a:srgbClr val="000000"/>
                </a:solidFill>
                <a:latin typeface="Arial" panose="020B0604020202020204"/>
                <a:cs typeface="Arial" panose="020B0604020202020204" pitchFamily="34" charset="0"/>
              </a:rPr>
              <a:t> </a:t>
            </a:r>
            <a:r>
              <a:rPr sz="800" dirty="0">
                <a:solidFill>
                  <a:srgbClr val="000000"/>
                </a:solidFill>
                <a:latin typeface="Arial" panose="020B0604020202020204"/>
                <a:cs typeface="Arial" panose="020B0604020202020204" pitchFamily="34" charset="0"/>
              </a:rPr>
              <a:t>In</a:t>
            </a:r>
            <a:r>
              <a:rPr lang="en-SG" sz="800" dirty="0">
                <a:solidFill>
                  <a:srgbClr val="000000"/>
                </a:solidFill>
                <a:latin typeface="Arial" panose="020B0604020202020204"/>
                <a:cs typeface="Arial" panose="020B0604020202020204" pitchFamily="34" charset="0"/>
              </a:rPr>
              <a:t> </a:t>
            </a:r>
            <a:r>
              <a:rPr sz="800" spc="-10" dirty="0">
                <a:solidFill>
                  <a:srgbClr val="000000"/>
                </a:solidFill>
                <a:latin typeface="Arial" panose="020B0604020202020204"/>
                <a:cs typeface="Arial" panose="020B0604020202020204" pitchFamily="34" charset="0"/>
              </a:rPr>
              <a:t>Southeast Asia</a:t>
            </a:r>
            <a:br>
              <a:rPr lang="en-US" sz="800" spc="-10" dirty="0">
                <a:solidFill>
                  <a:srgbClr val="000000"/>
                </a:solidFill>
                <a:latin typeface="Arial" panose="020B0604020202020204"/>
                <a:cs typeface="Arial" panose="020B0604020202020204" pitchFamily="34" charset="0"/>
              </a:rPr>
            </a:br>
            <a:r>
              <a:rPr lang="en-SG" sz="800" b="0" spc="-10" dirty="0">
                <a:solidFill>
                  <a:srgbClr val="000000"/>
                </a:solidFill>
                <a:latin typeface="Arial" panose="020B0604020202020204"/>
                <a:cs typeface="Arial" panose="020B0604020202020204" pitchFamily="34" charset="0"/>
              </a:rPr>
              <a:t>Singapore </a:t>
            </a:r>
            <a:r>
              <a:rPr lang="en-SG" sz="800" b="0" spc="-5" dirty="0">
                <a:solidFill>
                  <a:srgbClr val="000000"/>
                </a:solidFill>
                <a:latin typeface="Arial" panose="020B0604020202020204"/>
                <a:cs typeface="Arial" panose="020B0604020202020204" pitchFamily="34" charset="0"/>
              </a:rPr>
              <a:t>Airlines Limited – S$8.8b Rights</a:t>
            </a:r>
            <a:r>
              <a:rPr lang="en-SG" sz="800" b="0" spc="-25" dirty="0">
                <a:solidFill>
                  <a:srgbClr val="000000"/>
                </a:solidFill>
                <a:latin typeface="Arial" panose="020B0604020202020204"/>
                <a:cs typeface="Arial" panose="020B0604020202020204" pitchFamily="34" charset="0"/>
              </a:rPr>
              <a:t> I</a:t>
            </a:r>
            <a:r>
              <a:rPr lang="en-SG" sz="800" b="0" spc="-10" dirty="0">
                <a:solidFill>
                  <a:srgbClr val="000000"/>
                </a:solidFill>
                <a:latin typeface="Arial" panose="020B0604020202020204"/>
                <a:cs typeface="Arial" panose="020B0604020202020204" pitchFamily="34" charset="0"/>
              </a:rPr>
              <a:t>ssue (2020)</a:t>
            </a:r>
            <a:endParaRPr lang="en-SG" sz="800" b="0" dirty="0">
              <a:solidFill>
                <a:srgbClr val="000000"/>
              </a:solidFill>
              <a:latin typeface="Arial" panose="020B0604020202020204"/>
              <a:cs typeface="Arial" panose="020B0604020202020204" pitchFamily="34" charset="0"/>
            </a:endParaRPr>
          </a:p>
          <a:p>
            <a:pPr>
              <a:spcBef>
                <a:spcPts val="200"/>
              </a:spcBef>
              <a:spcAft>
                <a:spcPts val="200"/>
              </a:spcAft>
              <a:buClr>
                <a:srgbClr val="BF0000"/>
              </a:buClr>
            </a:pPr>
            <a:r>
              <a:rPr sz="800" spc="-10" dirty="0">
                <a:solidFill>
                  <a:srgbClr val="000000"/>
                </a:solidFill>
                <a:latin typeface="Arial" panose="020B0604020202020204"/>
                <a:cs typeface="Arial" panose="020B0604020202020204" pitchFamily="34" charset="0"/>
              </a:rPr>
              <a:t>Best </a:t>
            </a:r>
            <a:r>
              <a:rPr sz="800" spc="-5" dirty="0">
                <a:solidFill>
                  <a:srgbClr val="000000"/>
                </a:solidFill>
                <a:latin typeface="Arial" panose="020B0604020202020204"/>
                <a:cs typeface="Arial" panose="020B0604020202020204" pitchFamily="34" charset="0"/>
              </a:rPr>
              <a:t>Secondary Deal Of </a:t>
            </a:r>
            <a:r>
              <a:rPr sz="800" spc="-10" dirty="0">
                <a:solidFill>
                  <a:srgbClr val="000000"/>
                </a:solidFill>
                <a:latin typeface="Arial" panose="020B0604020202020204"/>
                <a:cs typeface="Arial" panose="020B0604020202020204" pitchFamily="34" charset="0"/>
              </a:rPr>
              <a:t>The </a:t>
            </a:r>
            <a:r>
              <a:rPr sz="800" spc="-25" dirty="0">
                <a:solidFill>
                  <a:srgbClr val="000000"/>
                </a:solidFill>
                <a:latin typeface="Arial" panose="020B0604020202020204"/>
                <a:cs typeface="Arial" panose="020B0604020202020204" pitchFamily="34" charset="0"/>
              </a:rPr>
              <a:t>Year</a:t>
            </a:r>
            <a:br>
              <a:rPr lang="en-US" sz="800" spc="-25" dirty="0">
                <a:solidFill>
                  <a:srgbClr val="000000"/>
                </a:solidFill>
                <a:latin typeface="Arial" panose="020B0604020202020204"/>
                <a:cs typeface="Arial" panose="020B0604020202020204" pitchFamily="34" charset="0"/>
              </a:rPr>
            </a:br>
            <a:r>
              <a:rPr sz="800" b="0" spc="-10" dirty="0">
                <a:solidFill>
                  <a:srgbClr val="000000"/>
                </a:solidFill>
                <a:latin typeface="Arial" panose="020B0604020202020204"/>
                <a:cs typeface="Arial" panose="020B0604020202020204" pitchFamily="34" charset="0"/>
              </a:rPr>
              <a:t>Singapore Airlines Limited </a:t>
            </a:r>
            <a:r>
              <a:rPr lang="en-SG" sz="800" b="0" spc="-10" dirty="0">
                <a:solidFill>
                  <a:srgbClr val="000000"/>
                </a:solidFill>
                <a:latin typeface="Arial" panose="020B0604020202020204"/>
                <a:cs typeface="Arial" panose="020B0604020202020204" pitchFamily="34" charset="0"/>
              </a:rPr>
              <a:t>– </a:t>
            </a:r>
            <a:r>
              <a:rPr sz="800" b="0" spc="-10" dirty="0">
                <a:solidFill>
                  <a:srgbClr val="000000"/>
                </a:solidFill>
                <a:latin typeface="Arial" panose="020B0604020202020204"/>
                <a:cs typeface="Arial" panose="020B0604020202020204" pitchFamily="34" charset="0"/>
              </a:rPr>
              <a:t>S</a:t>
            </a:r>
            <a:r>
              <a:rPr lang="en-SG" sz="800" b="0" spc="-10" dirty="0">
                <a:solidFill>
                  <a:srgbClr val="000000"/>
                </a:solidFill>
                <a:latin typeface="Arial" panose="020B0604020202020204"/>
                <a:cs typeface="Arial" panose="020B0604020202020204" pitchFamily="34" charset="0"/>
              </a:rPr>
              <a:t>$</a:t>
            </a:r>
            <a:r>
              <a:rPr sz="800" b="0" spc="-10" dirty="0">
                <a:solidFill>
                  <a:srgbClr val="000000"/>
                </a:solidFill>
                <a:latin typeface="Arial" panose="020B0604020202020204"/>
                <a:cs typeface="Arial" panose="020B0604020202020204" pitchFamily="34" charset="0"/>
              </a:rPr>
              <a:t>8.8</a:t>
            </a:r>
            <a:r>
              <a:rPr lang="en-SG" sz="800" b="0" spc="-10" dirty="0">
                <a:solidFill>
                  <a:srgbClr val="000000"/>
                </a:solidFill>
                <a:latin typeface="Arial" panose="020B0604020202020204"/>
                <a:cs typeface="Arial" panose="020B0604020202020204" pitchFamily="34" charset="0"/>
              </a:rPr>
              <a:t>b</a:t>
            </a:r>
            <a:r>
              <a:rPr sz="800" b="0" spc="-10" dirty="0">
                <a:solidFill>
                  <a:srgbClr val="000000"/>
                </a:solidFill>
                <a:latin typeface="Arial" panose="020B0604020202020204"/>
                <a:cs typeface="Arial" panose="020B0604020202020204" pitchFamily="34" charset="0"/>
              </a:rPr>
              <a:t> </a:t>
            </a:r>
            <a:r>
              <a:rPr lang="en-SG" sz="800" b="0" spc="-10" dirty="0">
                <a:solidFill>
                  <a:srgbClr val="000000"/>
                </a:solidFill>
                <a:latin typeface="Arial" panose="020B0604020202020204"/>
                <a:cs typeface="Arial" panose="020B0604020202020204" pitchFamily="34" charset="0"/>
              </a:rPr>
              <a:t>R</a:t>
            </a:r>
            <a:r>
              <a:rPr sz="800" b="0" spc="-10" dirty="0" err="1">
                <a:solidFill>
                  <a:srgbClr val="000000"/>
                </a:solidFill>
                <a:latin typeface="Arial" panose="020B0604020202020204"/>
                <a:cs typeface="Arial" panose="020B0604020202020204" pitchFamily="34" charset="0"/>
              </a:rPr>
              <a:t>ights</a:t>
            </a:r>
            <a:r>
              <a:rPr sz="800" b="0" spc="-10" dirty="0">
                <a:solidFill>
                  <a:srgbClr val="000000"/>
                </a:solidFill>
                <a:latin typeface="Arial" panose="020B0604020202020204"/>
                <a:cs typeface="Arial" panose="020B0604020202020204" pitchFamily="34" charset="0"/>
              </a:rPr>
              <a:t> </a:t>
            </a:r>
            <a:r>
              <a:rPr lang="en-SG" sz="800" b="0" spc="-10" dirty="0">
                <a:solidFill>
                  <a:srgbClr val="000000"/>
                </a:solidFill>
                <a:latin typeface="Arial" panose="020B0604020202020204"/>
                <a:cs typeface="Arial" panose="020B0604020202020204" pitchFamily="34" charset="0"/>
              </a:rPr>
              <a:t>I</a:t>
            </a:r>
            <a:r>
              <a:rPr sz="800" b="0" spc="-10" dirty="0" err="1">
                <a:solidFill>
                  <a:srgbClr val="000000"/>
                </a:solidFill>
                <a:latin typeface="Arial" panose="020B0604020202020204"/>
                <a:cs typeface="Arial" panose="020B0604020202020204" pitchFamily="34" charset="0"/>
              </a:rPr>
              <a:t>ssue</a:t>
            </a:r>
            <a:r>
              <a:rPr lang="en-SG" sz="800" b="0" spc="-10" dirty="0">
                <a:solidFill>
                  <a:srgbClr val="000000"/>
                </a:solidFill>
                <a:latin typeface="Arial" panose="020B0604020202020204"/>
                <a:cs typeface="Arial" panose="020B0604020202020204" pitchFamily="34" charset="0"/>
              </a:rPr>
              <a:t> (2020)</a:t>
            </a:r>
          </a:p>
          <a:p>
            <a:pPr>
              <a:spcBef>
                <a:spcPts val="200"/>
              </a:spcBef>
              <a:spcAft>
                <a:spcPts val="200"/>
              </a:spcAft>
              <a:buClr>
                <a:srgbClr val="BF0000"/>
              </a:buClr>
            </a:pPr>
            <a:r>
              <a:rPr sz="800" spc="-10" dirty="0">
                <a:solidFill>
                  <a:srgbClr val="000000"/>
                </a:solidFill>
                <a:latin typeface="Arial" panose="020B0604020202020204"/>
                <a:cs typeface="Arial" panose="020B0604020202020204" pitchFamily="34" charset="0"/>
              </a:rPr>
              <a:t>Best </a:t>
            </a:r>
            <a:r>
              <a:rPr sz="800" spc="-5" dirty="0">
                <a:solidFill>
                  <a:srgbClr val="000000"/>
                </a:solidFill>
                <a:latin typeface="Arial" panose="020B0604020202020204"/>
                <a:cs typeface="Arial" panose="020B0604020202020204" pitchFamily="34" charset="0"/>
              </a:rPr>
              <a:t>Equity Deal Of </a:t>
            </a:r>
            <a:r>
              <a:rPr sz="800" spc="-10" dirty="0">
                <a:solidFill>
                  <a:srgbClr val="000000"/>
                </a:solidFill>
                <a:latin typeface="Arial" panose="020B0604020202020204"/>
                <a:cs typeface="Arial" panose="020B0604020202020204" pitchFamily="34" charset="0"/>
              </a:rPr>
              <a:t>The </a:t>
            </a:r>
            <a:r>
              <a:rPr sz="800" spc="-25" dirty="0">
                <a:solidFill>
                  <a:srgbClr val="000000"/>
                </a:solidFill>
                <a:latin typeface="Arial" panose="020B0604020202020204"/>
                <a:cs typeface="Arial" panose="020B0604020202020204" pitchFamily="34" charset="0"/>
              </a:rPr>
              <a:t>Year</a:t>
            </a:r>
            <a:r>
              <a:rPr sz="800" spc="-45" dirty="0">
                <a:solidFill>
                  <a:srgbClr val="000000"/>
                </a:solidFill>
                <a:latin typeface="Arial" panose="020B0604020202020204"/>
                <a:cs typeface="Arial" panose="020B0604020202020204" pitchFamily="34" charset="0"/>
              </a:rPr>
              <a:t> </a:t>
            </a:r>
            <a:r>
              <a:rPr sz="800" spc="-5" dirty="0">
                <a:solidFill>
                  <a:srgbClr val="000000"/>
                </a:solidFill>
                <a:latin typeface="Arial" panose="020B0604020202020204"/>
                <a:cs typeface="Arial" panose="020B0604020202020204" pitchFamily="34" charset="0"/>
              </a:rPr>
              <a:t>In</a:t>
            </a:r>
            <a:r>
              <a:rPr lang="en-SG" sz="800" dirty="0">
                <a:solidFill>
                  <a:srgbClr val="000000"/>
                </a:solidFill>
                <a:latin typeface="Arial" panose="020B0604020202020204"/>
                <a:cs typeface="Arial" panose="020B0604020202020204" pitchFamily="34" charset="0"/>
              </a:rPr>
              <a:t> </a:t>
            </a:r>
            <a:r>
              <a:rPr sz="800" spc="-10" dirty="0">
                <a:solidFill>
                  <a:srgbClr val="000000"/>
                </a:solidFill>
                <a:latin typeface="Arial" panose="020B0604020202020204"/>
                <a:cs typeface="Arial" panose="020B0604020202020204" pitchFamily="34" charset="0"/>
              </a:rPr>
              <a:t>Singapore</a:t>
            </a:r>
            <a:br>
              <a:rPr lang="en-US" sz="800" spc="-10" dirty="0">
                <a:solidFill>
                  <a:srgbClr val="000000"/>
                </a:solidFill>
                <a:latin typeface="Arial" panose="020B0604020202020204"/>
                <a:cs typeface="Arial" panose="020B0604020202020204" pitchFamily="34" charset="0"/>
              </a:rPr>
            </a:br>
            <a:r>
              <a:rPr lang="en-SG" sz="800" b="0" spc="-10" dirty="0">
                <a:solidFill>
                  <a:srgbClr val="000000"/>
                </a:solidFill>
                <a:latin typeface="Arial" panose="020B0604020202020204"/>
                <a:cs typeface="Arial" panose="020B0604020202020204" pitchFamily="34" charset="0"/>
              </a:rPr>
              <a:t>Frasers Centrepoint Trust – S$1.3b Equity Fund Raising (2020)</a:t>
            </a:r>
          </a:p>
          <a:p>
            <a:pPr>
              <a:spcBef>
                <a:spcPts val="200"/>
              </a:spcBef>
              <a:spcAft>
                <a:spcPts val="200"/>
              </a:spcAft>
              <a:buClr>
                <a:srgbClr val="BF0000"/>
              </a:buClr>
            </a:pPr>
            <a:r>
              <a:rPr sz="800" spc="-10" dirty="0">
                <a:solidFill>
                  <a:srgbClr val="000000"/>
                </a:solidFill>
                <a:latin typeface="Arial" panose="020B0604020202020204"/>
                <a:cs typeface="Arial" panose="020B0604020202020204" pitchFamily="34" charset="0"/>
              </a:rPr>
              <a:t>Best </a:t>
            </a:r>
            <a:r>
              <a:rPr sz="800" spc="-5" dirty="0">
                <a:solidFill>
                  <a:srgbClr val="000000"/>
                </a:solidFill>
                <a:latin typeface="Arial" panose="020B0604020202020204"/>
                <a:cs typeface="Arial" panose="020B0604020202020204" pitchFamily="34" charset="0"/>
              </a:rPr>
              <a:t>REIT Deal Of </a:t>
            </a:r>
            <a:r>
              <a:rPr sz="800" spc="-10" dirty="0">
                <a:solidFill>
                  <a:srgbClr val="000000"/>
                </a:solidFill>
                <a:latin typeface="Arial" panose="020B0604020202020204"/>
                <a:cs typeface="Arial" panose="020B0604020202020204" pitchFamily="34" charset="0"/>
              </a:rPr>
              <a:t>The </a:t>
            </a:r>
            <a:r>
              <a:rPr sz="800" spc="-25" dirty="0">
                <a:solidFill>
                  <a:srgbClr val="000000"/>
                </a:solidFill>
                <a:latin typeface="Arial" panose="020B0604020202020204"/>
                <a:cs typeface="Arial" panose="020B0604020202020204" pitchFamily="34" charset="0"/>
              </a:rPr>
              <a:t>Year</a:t>
            </a:r>
            <a:br>
              <a:rPr lang="en-US" sz="800" spc="-25" dirty="0">
                <a:solidFill>
                  <a:srgbClr val="000000"/>
                </a:solidFill>
                <a:latin typeface="Arial" panose="020B0604020202020204"/>
                <a:cs typeface="Arial" panose="020B0604020202020204" pitchFamily="34" charset="0"/>
              </a:rPr>
            </a:br>
            <a:r>
              <a:rPr lang="en-SG" sz="800" b="0" spc="-10" dirty="0">
                <a:solidFill>
                  <a:srgbClr val="000000"/>
                </a:solidFill>
                <a:latin typeface="Arial" panose="020B0604020202020204"/>
                <a:cs typeface="Arial" panose="020B0604020202020204" pitchFamily="34" charset="0"/>
              </a:rPr>
              <a:t>Frasers Centrepoint Trust – S$1.3b Equity Fund Raising (2020)</a:t>
            </a:r>
            <a:endParaRPr lang="en-SG" sz="800" spc="-10" dirty="0">
              <a:solidFill>
                <a:srgbClr val="000000"/>
              </a:solidFill>
              <a:latin typeface="Arial" panose="020B0604020202020204"/>
              <a:cs typeface="Arial" panose="020B0604020202020204" pitchFamily="34" charset="0"/>
            </a:endParaRPr>
          </a:p>
          <a:p>
            <a:pPr>
              <a:spcBef>
                <a:spcPts val="200"/>
              </a:spcBef>
              <a:spcAft>
                <a:spcPts val="200"/>
              </a:spcAft>
              <a:buClr>
                <a:srgbClr val="BF0000"/>
              </a:buClr>
            </a:pPr>
            <a:r>
              <a:rPr sz="800" spc="-10" dirty="0">
                <a:solidFill>
                  <a:srgbClr val="000000"/>
                </a:solidFill>
                <a:latin typeface="Arial" panose="020B0604020202020204"/>
                <a:cs typeface="Arial" panose="020B0604020202020204" pitchFamily="34" charset="0"/>
              </a:rPr>
              <a:t>Best Equity</a:t>
            </a:r>
            <a:r>
              <a:rPr lang="en-SG" sz="800" spc="-10" dirty="0">
                <a:solidFill>
                  <a:srgbClr val="000000"/>
                </a:solidFill>
                <a:latin typeface="Arial" panose="020B0604020202020204"/>
                <a:cs typeface="Arial" panose="020B0604020202020204" pitchFamily="34" charset="0"/>
              </a:rPr>
              <a:t> </a:t>
            </a:r>
            <a:r>
              <a:rPr sz="800" spc="-10" dirty="0">
                <a:solidFill>
                  <a:srgbClr val="000000"/>
                </a:solidFill>
                <a:latin typeface="Arial" panose="020B0604020202020204"/>
                <a:cs typeface="Arial" panose="020B0604020202020204" pitchFamily="34" charset="0"/>
              </a:rPr>
              <a:t>/</a:t>
            </a:r>
            <a:r>
              <a:rPr lang="en-SG" sz="800" spc="-10" dirty="0">
                <a:solidFill>
                  <a:srgbClr val="000000"/>
                </a:solidFill>
                <a:latin typeface="Arial" panose="020B0604020202020204"/>
                <a:cs typeface="Arial" panose="020B0604020202020204" pitchFamily="34" charset="0"/>
              </a:rPr>
              <a:t> </a:t>
            </a:r>
            <a:r>
              <a:rPr sz="800" spc="-10" dirty="0">
                <a:solidFill>
                  <a:srgbClr val="000000"/>
                </a:solidFill>
                <a:latin typeface="Arial" panose="020B0604020202020204"/>
                <a:cs typeface="Arial" panose="020B0604020202020204" pitchFamily="34" charset="0"/>
              </a:rPr>
              <a:t>IPO </a:t>
            </a:r>
            <a:r>
              <a:rPr sz="800" spc="-5" dirty="0">
                <a:solidFill>
                  <a:srgbClr val="000000"/>
                </a:solidFill>
                <a:latin typeface="Arial" panose="020B0604020202020204"/>
                <a:cs typeface="Arial" panose="020B0604020202020204" pitchFamily="34" charset="0"/>
              </a:rPr>
              <a:t>Deal of the </a:t>
            </a:r>
            <a:r>
              <a:rPr sz="800" spc="-25" dirty="0">
                <a:solidFill>
                  <a:srgbClr val="000000"/>
                </a:solidFill>
                <a:latin typeface="Arial" panose="020B0604020202020204"/>
                <a:cs typeface="Arial" panose="020B0604020202020204" pitchFamily="34" charset="0"/>
              </a:rPr>
              <a:t>Year</a:t>
            </a:r>
            <a:r>
              <a:rPr sz="800" spc="-40" dirty="0">
                <a:solidFill>
                  <a:srgbClr val="000000"/>
                </a:solidFill>
                <a:latin typeface="Arial" panose="020B0604020202020204"/>
                <a:cs typeface="Arial" panose="020B0604020202020204" pitchFamily="34" charset="0"/>
              </a:rPr>
              <a:t> </a:t>
            </a:r>
            <a:r>
              <a:rPr sz="800" spc="-5" dirty="0">
                <a:solidFill>
                  <a:srgbClr val="000000"/>
                </a:solidFill>
                <a:latin typeface="Arial" panose="020B0604020202020204"/>
                <a:cs typeface="Arial" panose="020B0604020202020204" pitchFamily="34" charset="0"/>
              </a:rPr>
              <a:t>in</a:t>
            </a:r>
            <a:r>
              <a:rPr lang="en-SG" sz="800" dirty="0">
                <a:solidFill>
                  <a:srgbClr val="000000"/>
                </a:solidFill>
                <a:latin typeface="Arial" panose="020B0604020202020204"/>
                <a:cs typeface="Arial" panose="020B0604020202020204" pitchFamily="34" charset="0"/>
              </a:rPr>
              <a:t> </a:t>
            </a:r>
            <a:r>
              <a:rPr sz="800" spc="-10" dirty="0">
                <a:solidFill>
                  <a:srgbClr val="000000"/>
                </a:solidFill>
                <a:latin typeface="Arial" panose="020B0604020202020204"/>
                <a:cs typeface="Arial" panose="020B0604020202020204" pitchFamily="34" charset="0"/>
              </a:rPr>
              <a:t>Singapore</a:t>
            </a:r>
            <a:br>
              <a:rPr lang="en-US" sz="800" spc="-10" dirty="0">
                <a:solidFill>
                  <a:srgbClr val="000000"/>
                </a:solidFill>
                <a:latin typeface="Arial" panose="020B0604020202020204"/>
                <a:cs typeface="Arial" panose="020B0604020202020204" pitchFamily="34" charset="0"/>
              </a:rPr>
            </a:br>
            <a:r>
              <a:rPr sz="800" b="0" spc="-10" dirty="0">
                <a:solidFill>
                  <a:srgbClr val="000000"/>
                </a:solidFill>
                <a:latin typeface="Arial" panose="020B0604020202020204"/>
                <a:cs typeface="Arial" panose="020B0604020202020204" pitchFamily="34" charset="0"/>
              </a:rPr>
              <a:t>Keppel DC REIT </a:t>
            </a:r>
            <a:r>
              <a:rPr lang="en-SG" sz="800" b="0" spc="-10" dirty="0">
                <a:solidFill>
                  <a:srgbClr val="000000"/>
                </a:solidFill>
                <a:latin typeface="Arial" panose="020B0604020202020204"/>
                <a:cs typeface="Arial" panose="020B0604020202020204" pitchFamily="34" charset="0"/>
              </a:rPr>
              <a:t>– </a:t>
            </a:r>
            <a:r>
              <a:rPr sz="800" b="0" spc="-10" dirty="0">
                <a:solidFill>
                  <a:srgbClr val="000000"/>
                </a:solidFill>
                <a:latin typeface="Arial" panose="020B0604020202020204"/>
                <a:cs typeface="Arial" panose="020B0604020202020204" pitchFamily="34" charset="0"/>
              </a:rPr>
              <a:t>S</a:t>
            </a:r>
            <a:r>
              <a:rPr lang="en-SG" sz="800" b="0" spc="-10" dirty="0">
                <a:solidFill>
                  <a:srgbClr val="000000"/>
                </a:solidFill>
                <a:latin typeface="Arial" panose="020B0604020202020204"/>
                <a:cs typeface="Arial" panose="020B0604020202020204" pitchFamily="34" charset="0"/>
              </a:rPr>
              <a:t>$</a:t>
            </a:r>
            <a:r>
              <a:rPr sz="800" b="0" spc="-10" dirty="0">
                <a:solidFill>
                  <a:srgbClr val="000000"/>
                </a:solidFill>
                <a:latin typeface="Arial" panose="020B0604020202020204"/>
                <a:cs typeface="Arial" panose="020B0604020202020204" pitchFamily="34" charset="0"/>
              </a:rPr>
              <a:t>478</a:t>
            </a:r>
            <a:r>
              <a:rPr lang="en-SG" sz="800" b="0" spc="-10" dirty="0">
                <a:solidFill>
                  <a:srgbClr val="000000"/>
                </a:solidFill>
                <a:latin typeface="Arial" panose="020B0604020202020204"/>
                <a:cs typeface="Arial" panose="020B0604020202020204" pitchFamily="34" charset="0"/>
              </a:rPr>
              <a:t>m</a:t>
            </a:r>
            <a:r>
              <a:rPr sz="800" b="0" spc="-10" dirty="0">
                <a:solidFill>
                  <a:srgbClr val="000000"/>
                </a:solidFill>
                <a:latin typeface="Arial" panose="020B0604020202020204"/>
                <a:cs typeface="Arial" panose="020B0604020202020204" pitchFamily="34" charset="0"/>
              </a:rPr>
              <a:t> </a:t>
            </a:r>
            <a:r>
              <a:rPr lang="en-SG" sz="800" b="0" spc="-10" dirty="0">
                <a:solidFill>
                  <a:srgbClr val="000000"/>
                </a:solidFill>
                <a:latin typeface="Arial" panose="020B0604020202020204"/>
                <a:cs typeface="Arial" panose="020B0604020202020204" pitchFamily="34" charset="0"/>
              </a:rPr>
              <a:t>E</a:t>
            </a:r>
            <a:r>
              <a:rPr sz="800" b="0" spc="-10" dirty="0" err="1">
                <a:solidFill>
                  <a:srgbClr val="000000"/>
                </a:solidFill>
                <a:latin typeface="Arial" panose="020B0604020202020204"/>
                <a:cs typeface="Arial" panose="020B0604020202020204" pitchFamily="34" charset="0"/>
              </a:rPr>
              <a:t>quity</a:t>
            </a:r>
            <a:r>
              <a:rPr sz="800" b="0" spc="-10" dirty="0">
                <a:solidFill>
                  <a:srgbClr val="000000"/>
                </a:solidFill>
                <a:latin typeface="Arial" panose="020B0604020202020204"/>
                <a:cs typeface="Arial" panose="020B0604020202020204" pitchFamily="34" charset="0"/>
              </a:rPr>
              <a:t> </a:t>
            </a:r>
            <a:r>
              <a:rPr lang="en-SG" sz="800" b="0" spc="-10" dirty="0">
                <a:solidFill>
                  <a:srgbClr val="000000"/>
                </a:solidFill>
                <a:latin typeface="Arial" panose="020B0604020202020204"/>
                <a:cs typeface="Arial" panose="020B0604020202020204" pitchFamily="34" charset="0"/>
              </a:rPr>
              <a:t>F</a:t>
            </a:r>
            <a:r>
              <a:rPr sz="800" b="0" spc="-10" dirty="0">
                <a:solidFill>
                  <a:srgbClr val="000000"/>
                </a:solidFill>
                <a:latin typeface="Arial" panose="020B0604020202020204"/>
                <a:cs typeface="Arial" panose="020B0604020202020204" pitchFamily="34" charset="0"/>
              </a:rPr>
              <a:t>und</a:t>
            </a:r>
            <a:r>
              <a:rPr lang="en-SG" sz="800" b="0" spc="-10" dirty="0">
                <a:solidFill>
                  <a:srgbClr val="000000"/>
                </a:solidFill>
                <a:latin typeface="Arial" panose="020B0604020202020204"/>
                <a:cs typeface="Arial" panose="020B0604020202020204" pitchFamily="34" charset="0"/>
              </a:rPr>
              <a:t> R</a:t>
            </a:r>
            <a:r>
              <a:rPr sz="800" b="0" spc="-10" dirty="0" err="1">
                <a:solidFill>
                  <a:srgbClr val="000000"/>
                </a:solidFill>
                <a:latin typeface="Arial" panose="020B0604020202020204"/>
                <a:cs typeface="Arial" panose="020B0604020202020204" pitchFamily="34" charset="0"/>
              </a:rPr>
              <a:t>aising</a:t>
            </a:r>
            <a:r>
              <a:rPr lang="en-SG" sz="800" b="0" spc="-10" dirty="0">
                <a:solidFill>
                  <a:srgbClr val="000000"/>
                </a:solidFill>
                <a:latin typeface="Arial" panose="020B0604020202020204"/>
                <a:cs typeface="Arial" panose="020B0604020202020204" pitchFamily="34" charset="0"/>
              </a:rPr>
              <a:t> (2019)</a:t>
            </a:r>
          </a:p>
          <a:p>
            <a:pPr>
              <a:spcBef>
                <a:spcPts val="200"/>
              </a:spcBef>
              <a:spcAft>
                <a:spcPts val="200"/>
              </a:spcAft>
              <a:buClr>
                <a:srgbClr val="BF0000"/>
              </a:buClr>
            </a:pPr>
            <a:r>
              <a:rPr sz="800" spc="-10" dirty="0">
                <a:solidFill>
                  <a:srgbClr val="000000"/>
                </a:solidFill>
                <a:latin typeface="Arial" panose="020B0604020202020204"/>
                <a:cs typeface="Arial" panose="020B0604020202020204" pitchFamily="34" charset="0"/>
              </a:rPr>
              <a:t>Best </a:t>
            </a:r>
            <a:r>
              <a:rPr sz="800" spc="-5" dirty="0">
                <a:solidFill>
                  <a:srgbClr val="000000"/>
                </a:solidFill>
                <a:latin typeface="Arial" panose="020B0604020202020204"/>
                <a:cs typeface="Arial" panose="020B0604020202020204" pitchFamily="34" charset="0"/>
              </a:rPr>
              <a:t>IPO </a:t>
            </a:r>
            <a:r>
              <a:rPr sz="800" spc="-15" dirty="0">
                <a:solidFill>
                  <a:srgbClr val="000000"/>
                </a:solidFill>
                <a:latin typeface="Arial" panose="020B0604020202020204"/>
                <a:cs typeface="Arial" panose="020B0604020202020204" pitchFamily="34" charset="0"/>
              </a:rPr>
              <a:t>for </a:t>
            </a:r>
            <a:r>
              <a:rPr sz="800" spc="-10" dirty="0">
                <a:solidFill>
                  <a:srgbClr val="000000"/>
                </a:solidFill>
                <a:latin typeface="Arial" panose="020B0604020202020204"/>
                <a:cs typeface="Arial" panose="020B0604020202020204" pitchFamily="34" charset="0"/>
              </a:rPr>
              <a:t>Retail </a:t>
            </a:r>
            <a:r>
              <a:rPr sz="800" spc="-15" dirty="0">
                <a:solidFill>
                  <a:srgbClr val="000000"/>
                </a:solidFill>
                <a:latin typeface="Arial" panose="020B0604020202020204"/>
                <a:cs typeface="Arial" panose="020B0604020202020204" pitchFamily="34" charset="0"/>
              </a:rPr>
              <a:t>Investors </a:t>
            </a:r>
            <a:r>
              <a:rPr sz="800" spc="-5" dirty="0">
                <a:solidFill>
                  <a:srgbClr val="000000"/>
                </a:solidFill>
                <a:latin typeface="Arial" panose="020B0604020202020204"/>
                <a:cs typeface="Arial" panose="020B0604020202020204" pitchFamily="34" charset="0"/>
              </a:rPr>
              <a:t>in</a:t>
            </a:r>
            <a:r>
              <a:rPr sz="800" dirty="0">
                <a:solidFill>
                  <a:srgbClr val="000000"/>
                </a:solidFill>
                <a:latin typeface="Arial" panose="020B0604020202020204"/>
                <a:cs typeface="Arial" panose="020B0604020202020204" pitchFamily="34" charset="0"/>
              </a:rPr>
              <a:t> </a:t>
            </a:r>
            <a:r>
              <a:rPr sz="800" spc="-10" dirty="0">
                <a:solidFill>
                  <a:srgbClr val="000000"/>
                </a:solidFill>
                <a:latin typeface="Arial" panose="020B0604020202020204"/>
                <a:cs typeface="Arial" panose="020B0604020202020204" pitchFamily="34" charset="0"/>
              </a:rPr>
              <a:t>Southeast</a:t>
            </a:r>
            <a:r>
              <a:rPr lang="en-SG" sz="800" dirty="0">
                <a:solidFill>
                  <a:srgbClr val="000000"/>
                </a:solidFill>
                <a:latin typeface="Arial" panose="020B0604020202020204"/>
                <a:cs typeface="Arial" panose="020B0604020202020204" pitchFamily="34" charset="0"/>
              </a:rPr>
              <a:t> </a:t>
            </a:r>
            <a:r>
              <a:rPr sz="800" spc="-10" dirty="0">
                <a:solidFill>
                  <a:srgbClr val="000000"/>
                </a:solidFill>
                <a:latin typeface="Arial" panose="020B0604020202020204"/>
                <a:cs typeface="Arial" panose="020B0604020202020204" pitchFamily="34" charset="0"/>
              </a:rPr>
              <a:t>Asia</a:t>
            </a:r>
            <a:br>
              <a:rPr lang="en-US" sz="800" spc="-10" dirty="0">
                <a:solidFill>
                  <a:srgbClr val="000000"/>
                </a:solidFill>
                <a:latin typeface="Arial" panose="020B0604020202020204"/>
                <a:cs typeface="Arial" panose="020B0604020202020204" pitchFamily="34" charset="0"/>
              </a:rPr>
            </a:br>
            <a:r>
              <a:rPr lang="en-SG" sz="800" b="0" spc="-10" dirty="0">
                <a:solidFill>
                  <a:srgbClr val="000000"/>
                </a:solidFill>
                <a:latin typeface="Arial" panose="020B0604020202020204"/>
                <a:cs typeface="Arial" panose="020B0604020202020204" pitchFamily="34" charset="0"/>
              </a:rPr>
              <a:t>Keppel DC REIT – S$478m Equity Fund Raising (2019)</a:t>
            </a:r>
          </a:p>
          <a:p>
            <a:pPr>
              <a:spcBef>
                <a:spcPts val="200"/>
              </a:spcBef>
              <a:spcAft>
                <a:spcPts val="200"/>
              </a:spcAft>
              <a:buClr>
                <a:srgbClr val="BF0000"/>
              </a:buClr>
            </a:pPr>
            <a:r>
              <a:rPr sz="800" spc="-10" dirty="0">
                <a:solidFill>
                  <a:srgbClr val="000000"/>
                </a:solidFill>
                <a:latin typeface="Arial" panose="020B0604020202020204"/>
                <a:cs typeface="Arial" panose="020B0604020202020204" pitchFamily="34" charset="0"/>
              </a:rPr>
              <a:t>Best </a:t>
            </a:r>
            <a:r>
              <a:rPr sz="800" spc="-5" dirty="0">
                <a:solidFill>
                  <a:srgbClr val="000000"/>
                </a:solidFill>
                <a:latin typeface="Arial" panose="020B0604020202020204"/>
                <a:cs typeface="Arial" panose="020B0604020202020204" pitchFamily="34" charset="0"/>
              </a:rPr>
              <a:t>REIT IPO in </a:t>
            </a:r>
            <a:r>
              <a:rPr sz="800" spc="-10" dirty="0">
                <a:solidFill>
                  <a:srgbClr val="000000"/>
                </a:solidFill>
                <a:latin typeface="Arial" panose="020B0604020202020204"/>
                <a:cs typeface="Arial" panose="020B0604020202020204" pitchFamily="34" charset="0"/>
              </a:rPr>
              <a:t>Singapore</a:t>
            </a:r>
            <a:br>
              <a:rPr lang="en-US" sz="800" spc="-10" dirty="0">
                <a:solidFill>
                  <a:srgbClr val="000000"/>
                </a:solidFill>
                <a:latin typeface="Arial" panose="020B0604020202020204"/>
                <a:cs typeface="Arial" panose="020B0604020202020204" pitchFamily="34" charset="0"/>
              </a:rPr>
            </a:br>
            <a:r>
              <a:rPr sz="800" b="0" spc="-10" dirty="0">
                <a:solidFill>
                  <a:srgbClr val="000000"/>
                </a:solidFill>
                <a:latin typeface="Arial" panose="020B0604020202020204"/>
                <a:cs typeface="Arial" panose="020B0604020202020204" pitchFamily="34" charset="0"/>
              </a:rPr>
              <a:t>Prime US REIT</a:t>
            </a:r>
            <a:r>
              <a:rPr lang="en-SG" sz="800" b="0" spc="-10" dirty="0">
                <a:solidFill>
                  <a:srgbClr val="000000"/>
                </a:solidFill>
                <a:latin typeface="Arial" panose="020B0604020202020204"/>
                <a:cs typeface="Arial" panose="020B0604020202020204" pitchFamily="34" charset="0"/>
              </a:rPr>
              <a:t> – </a:t>
            </a:r>
            <a:r>
              <a:rPr sz="800" b="0" spc="-10" dirty="0">
                <a:solidFill>
                  <a:srgbClr val="000000"/>
                </a:solidFill>
                <a:latin typeface="Arial" panose="020B0604020202020204"/>
                <a:cs typeface="Arial" panose="020B0604020202020204" pitchFamily="34" charset="0"/>
              </a:rPr>
              <a:t>US$612</a:t>
            </a:r>
            <a:r>
              <a:rPr lang="en-SG" sz="800" b="0" spc="-10" dirty="0">
                <a:solidFill>
                  <a:srgbClr val="000000"/>
                </a:solidFill>
                <a:latin typeface="Arial" panose="020B0604020202020204"/>
                <a:cs typeface="Arial" panose="020B0604020202020204" pitchFamily="34" charset="0"/>
              </a:rPr>
              <a:t>m </a:t>
            </a:r>
            <a:r>
              <a:rPr sz="800" b="0" spc="-10" dirty="0">
                <a:solidFill>
                  <a:srgbClr val="000000"/>
                </a:solidFill>
                <a:latin typeface="Arial" panose="020B0604020202020204"/>
                <a:cs typeface="Arial" panose="020B0604020202020204" pitchFamily="34" charset="0"/>
              </a:rPr>
              <a:t>IPO</a:t>
            </a:r>
            <a:r>
              <a:rPr lang="en-SG" sz="800" b="0" spc="-10" dirty="0">
                <a:solidFill>
                  <a:srgbClr val="000000"/>
                </a:solidFill>
                <a:latin typeface="Arial" panose="020B0604020202020204"/>
                <a:cs typeface="Arial" panose="020B0604020202020204" pitchFamily="34" charset="0"/>
              </a:rPr>
              <a:t> (2019)</a:t>
            </a:r>
          </a:p>
          <a:p>
            <a:pPr>
              <a:spcBef>
                <a:spcPts val="200"/>
              </a:spcBef>
              <a:spcAft>
                <a:spcPts val="200"/>
              </a:spcAft>
              <a:buClr>
                <a:srgbClr val="BF0000"/>
              </a:buClr>
            </a:pPr>
            <a:r>
              <a:rPr sz="800" spc="-10" dirty="0">
                <a:solidFill>
                  <a:srgbClr val="000000"/>
                </a:solidFill>
                <a:latin typeface="Arial" panose="020B0604020202020204"/>
                <a:cs typeface="Arial" panose="020B0604020202020204" pitchFamily="34" charset="0"/>
              </a:rPr>
              <a:t>Best </a:t>
            </a:r>
            <a:r>
              <a:rPr sz="800" spc="-5" dirty="0">
                <a:solidFill>
                  <a:srgbClr val="000000"/>
                </a:solidFill>
                <a:latin typeface="Arial" panose="020B0604020202020204"/>
                <a:cs typeface="Arial" panose="020B0604020202020204" pitchFamily="34" charset="0"/>
              </a:rPr>
              <a:t>REIT Deal In </a:t>
            </a:r>
            <a:r>
              <a:rPr sz="800" spc="-10" dirty="0">
                <a:solidFill>
                  <a:srgbClr val="000000"/>
                </a:solidFill>
                <a:latin typeface="Arial" panose="020B0604020202020204"/>
                <a:cs typeface="Arial" panose="020B0604020202020204" pitchFamily="34" charset="0"/>
              </a:rPr>
              <a:t>Southeast Asia</a:t>
            </a:r>
            <a:br>
              <a:rPr lang="en-US" sz="800" spc="-10" dirty="0">
                <a:solidFill>
                  <a:srgbClr val="000000"/>
                </a:solidFill>
                <a:latin typeface="Arial" panose="020B0604020202020204"/>
                <a:cs typeface="Arial" panose="020B0604020202020204" pitchFamily="34" charset="0"/>
              </a:rPr>
            </a:br>
            <a:r>
              <a:rPr sz="800" b="0" spc="-10" dirty="0" err="1">
                <a:solidFill>
                  <a:srgbClr val="000000"/>
                </a:solidFill>
                <a:latin typeface="Arial" panose="020B0604020202020204"/>
                <a:cs typeface="Arial" panose="020B0604020202020204" pitchFamily="34" charset="0"/>
              </a:rPr>
              <a:t>Sasseur</a:t>
            </a:r>
            <a:r>
              <a:rPr sz="800" b="0" spc="-10" dirty="0">
                <a:solidFill>
                  <a:srgbClr val="000000"/>
                </a:solidFill>
                <a:latin typeface="Arial" panose="020B0604020202020204"/>
                <a:cs typeface="Arial" panose="020B0604020202020204" pitchFamily="34" charset="0"/>
              </a:rPr>
              <a:t> REIT</a:t>
            </a:r>
            <a:r>
              <a:rPr lang="en-SG" sz="800" b="0" spc="-10" dirty="0">
                <a:solidFill>
                  <a:srgbClr val="000000"/>
                </a:solidFill>
                <a:latin typeface="Arial" panose="020B0604020202020204"/>
                <a:cs typeface="Arial" panose="020B0604020202020204" pitchFamily="34" charset="0"/>
              </a:rPr>
              <a:t> – </a:t>
            </a:r>
            <a:r>
              <a:rPr sz="800" b="0" spc="-10" dirty="0">
                <a:solidFill>
                  <a:srgbClr val="000000"/>
                </a:solidFill>
                <a:latin typeface="Arial" panose="020B0604020202020204"/>
                <a:cs typeface="Arial" panose="020B0604020202020204" pitchFamily="34" charset="0"/>
              </a:rPr>
              <a:t>US$305</a:t>
            </a:r>
            <a:r>
              <a:rPr lang="en-SG" sz="800" b="0" spc="-10" dirty="0">
                <a:solidFill>
                  <a:srgbClr val="000000"/>
                </a:solidFill>
                <a:latin typeface="Arial" panose="020B0604020202020204"/>
                <a:cs typeface="Arial" panose="020B0604020202020204" pitchFamily="34" charset="0"/>
              </a:rPr>
              <a:t>m </a:t>
            </a:r>
            <a:r>
              <a:rPr sz="800" b="0" spc="-10" dirty="0">
                <a:solidFill>
                  <a:srgbClr val="000000"/>
                </a:solidFill>
                <a:latin typeface="Arial" panose="020B0604020202020204"/>
                <a:cs typeface="Arial" panose="020B0604020202020204" pitchFamily="34" charset="0"/>
              </a:rPr>
              <a:t>IPO</a:t>
            </a:r>
            <a:r>
              <a:rPr lang="en-SG" sz="800" b="0" spc="-10" dirty="0">
                <a:solidFill>
                  <a:srgbClr val="000000"/>
                </a:solidFill>
                <a:latin typeface="Arial" panose="020B0604020202020204"/>
                <a:cs typeface="Arial" panose="020B0604020202020204" pitchFamily="34" charset="0"/>
              </a:rPr>
              <a:t> (2018)</a:t>
            </a:r>
          </a:p>
          <a:p>
            <a:pPr marR="195580">
              <a:spcBef>
                <a:spcPts val="200"/>
              </a:spcBef>
              <a:spcAft>
                <a:spcPts val="200"/>
              </a:spcAft>
              <a:buClr>
                <a:srgbClr val="BF0000"/>
              </a:buClr>
            </a:pPr>
            <a:r>
              <a:rPr lang="en-SG" sz="800" spc="-10" dirty="0">
                <a:solidFill>
                  <a:srgbClr val="000000"/>
                </a:solidFill>
                <a:latin typeface="Arial" panose="020B0604020202020204"/>
                <a:cs typeface="Arial" panose="020B0604020202020204" pitchFamily="34" charset="0"/>
              </a:rPr>
              <a:t>(Marquee Award) Best IPO For Retail Investors in SEA</a:t>
            </a:r>
            <a:br>
              <a:rPr lang="en-SG" sz="800" spc="-10" dirty="0">
                <a:solidFill>
                  <a:srgbClr val="000000"/>
                </a:solidFill>
                <a:latin typeface="Arial" panose="020B0604020202020204"/>
                <a:cs typeface="Arial" panose="020B0604020202020204" pitchFamily="34" charset="0"/>
              </a:rPr>
            </a:br>
            <a:r>
              <a:rPr lang="en-SG" sz="800" b="0" spc="-10" dirty="0">
                <a:solidFill>
                  <a:srgbClr val="000000"/>
                </a:solidFill>
                <a:latin typeface="Arial" panose="020B0604020202020204"/>
                <a:cs typeface="Arial" panose="020B0604020202020204" pitchFamily="34" charset="0"/>
              </a:rPr>
              <a:t>Manulife US REIT – US$470m IPO (2016)</a:t>
            </a:r>
          </a:p>
          <a:p>
            <a:pPr>
              <a:spcBef>
                <a:spcPts val="200"/>
              </a:spcBef>
              <a:spcAft>
                <a:spcPts val="200"/>
              </a:spcAft>
              <a:buClr>
                <a:srgbClr val="BF0000"/>
              </a:buClr>
            </a:pPr>
            <a:r>
              <a:rPr lang="en-SG" sz="800" spc="-10" dirty="0">
                <a:solidFill>
                  <a:srgbClr val="000000"/>
                </a:solidFill>
                <a:latin typeface="Arial" panose="020B0604020202020204"/>
                <a:cs typeface="Arial" panose="020B0604020202020204" pitchFamily="34" charset="0"/>
              </a:rPr>
              <a:t>Best REIT and Equity Deal in SEA</a:t>
            </a:r>
            <a:br>
              <a:rPr lang="en-SG" sz="800" spc="-10" dirty="0">
                <a:solidFill>
                  <a:srgbClr val="000000"/>
                </a:solidFill>
                <a:latin typeface="Arial" panose="020B0604020202020204"/>
                <a:cs typeface="Arial" panose="020B0604020202020204" pitchFamily="34" charset="0"/>
              </a:rPr>
            </a:br>
            <a:r>
              <a:rPr lang="en-SG" sz="800" b="0" spc="-10" dirty="0">
                <a:solidFill>
                  <a:srgbClr val="000000"/>
                </a:solidFill>
                <a:latin typeface="Arial" panose="020B0604020202020204"/>
                <a:cs typeface="Arial" panose="020B0604020202020204" pitchFamily="34" charset="0"/>
              </a:rPr>
              <a:t>Mapletree Greater China Commercial Trust – S$1.6b IPO (2013)</a:t>
            </a:r>
          </a:p>
        </p:txBody>
      </p:sp>
      <p:sp>
        <p:nvSpPr>
          <p:cNvPr id="25" name="object 10">
            <a:extLst>
              <a:ext uri="{FF2B5EF4-FFF2-40B4-BE49-F238E27FC236}">
                <a16:creationId xmlns:a16="http://schemas.microsoft.com/office/drawing/2014/main" id="{25831629-EDE8-E676-AD28-1F5468D3D546}"/>
              </a:ext>
            </a:extLst>
          </p:cNvPr>
          <p:cNvSpPr/>
          <p:nvPr/>
        </p:nvSpPr>
        <p:spPr>
          <a:xfrm>
            <a:off x="784128" y="2211107"/>
            <a:ext cx="577303" cy="536284"/>
          </a:xfrm>
          <a:prstGeom prst="rect">
            <a:avLst/>
          </a:prstGeom>
          <a:blipFill>
            <a:blip r:embed="rId6" cstate="print"/>
            <a:stretch>
              <a:fillRect/>
            </a:stretch>
          </a:blipFill>
        </p:spPr>
        <p:txBody>
          <a:bodyPr wrap="square" lIns="0" tIns="0" rIns="0" bIns="0" rtlCol="0"/>
          <a:lstStyle/>
          <a:p>
            <a:endParaRPr>
              <a:solidFill>
                <a:srgbClr val="E6E6E6"/>
              </a:solidFill>
              <a:latin typeface="Arial" panose="020B0604020202020204"/>
              <a:cs typeface="Arial" panose="020B0604020202020204" pitchFamily="34" charset="0"/>
            </a:endParaRPr>
          </a:p>
        </p:txBody>
      </p:sp>
      <p:sp>
        <p:nvSpPr>
          <p:cNvPr id="26" name="object 5">
            <a:extLst>
              <a:ext uri="{FF2B5EF4-FFF2-40B4-BE49-F238E27FC236}">
                <a16:creationId xmlns:a16="http://schemas.microsoft.com/office/drawing/2014/main" id="{F0B21BEA-0B53-7B6D-5F4F-AAA4673DB74C}"/>
              </a:ext>
            </a:extLst>
          </p:cNvPr>
          <p:cNvSpPr/>
          <p:nvPr/>
        </p:nvSpPr>
        <p:spPr>
          <a:xfrm>
            <a:off x="681473" y="1175661"/>
            <a:ext cx="941515" cy="359770"/>
          </a:xfrm>
          <a:prstGeom prst="rect">
            <a:avLst/>
          </a:prstGeom>
          <a:blipFill>
            <a:blip r:embed="rId7" cstate="print"/>
            <a:stretch>
              <a:fillRect/>
            </a:stretch>
          </a:blipFill>
        </p:spPr>
        <p:txBody>
          <a:bodyPr wrap="square" lIns="0" tIns="0" rIns="0" bIns="0" rtlCol="0"/>
          <a:lstStyle/>
          <a:p>
            <a:endParaRPr>
              <a:solidFill>
                <a:srgbClr val="E6E6E6"/>
              </a:solidFill>
              <a:latin typeface="Arial" panose="020B0604020202020204"/>
              <a:cs typeface="Arial" panose="020B0604020202020204" pitchFamily="34" charset="0"/>
            </a:endParaRPr>
          </a:p>
        </p:txBody>
      </p:sp>
      <p:sp>
        <p:nvSpPr>
          <p:cNvPr id="27" name="object 7">
            <a:extLst>
              <a:ext uri="{FF2B5EF4-FFF2-40B4-BE49-F238E27FC236}">
                <a16:creationId xmlns:a16="http://schemas.microsoft.com/office/drawing/2014/main" id="{60B2B2C0-1D23-444B-3F08-204B021EA9B0}"/>
              </a:ext>
            </a:extLst>
          </p:cNvPr>
          <p:cNvSpPr txBox="1"/>
          <p:nvPr/>
        </p:nvSpPr>
        <p:spPr>
          <a:xfrm>
            <a:off x="7709778" y="3340738"/>
            <a:ext cx="1508760" cy="2092881"/>
          </a:xfrm>
          <a:prstGeom prst="rect">
            <a:avLst/>
          </a:prstGeom>
        </p:spPr>
        <p:txBody>
          <a:bodyPr vert="horz" wrap="square" lIns="0" tIns="0" rIns="0" bIns="0" rtlCol="0">
            <a:spAutoFit/>
          </a:bodyPr>
          <a:lstStyle/>
          <a:p>
            <a:pPr marL="12700">
              <a:spcBef>
                <a:spcPts val="0"/>
              </a:spcBef>
              <a:spcAft>
                <a:spcPts val="0"/>
              </a:spcAft>
            </a:pPr>
            <a:r>
              <a:rPr lang="en-SG" sz="800" spc="-10" dirty="0">
                <a:solidFill>
                  <a:srgbClr val="C00000"/>
                </a:solidFill>
                <a:latin typeface="Arial" panose="020B0604020202020204"/>
                <a:cs typeface="Arial" panose="020B0604020202020204" pitchFamily="34" charset="0"/>
              </a:rPr>
              <a:t>IFR Asia</a:t>
            </a:r>
            <a:r>
              <a:rPr lang="en-SG" sz="800" dirty="0">
                <a:solidFill>
                  <a:srgbClr val="C00000"/>
                </a:solidFill>
                <a:latin typeface="Arial" panose="020B0604020202020204"/>
                <a:cs typeface="Arial" panose="020B0604020202020204" pitchFamily="34" charset="0"/>
              </a:rPr>
              <a:t> </a:t>
            </a:r>
            <a:r>
              <a:rPr lang="en-SG" sz="800" spc="-10" dirty="0">
                <a:solidFill>
                  <a:srgbClr val="C00000"/>
                </a:solidFill>
                <a:latin typeface="Arial" panose="020B0604020202020204"/>
                <a:cs typeface="Arial" panose="020B0604020202020204" pitchFamily="34" charset="0"/>
              </a:rPr>
              <a:t>Awards</a:t>
            </a:r>
            <a:endParaRPr lang="en-SG" sz="800" dirty="0">
              <a:solidFill>
                <a:srgbClr val="C00000"/>
              </a:solidFill>
              <a:latin typeface="Arial" panose="020B0604020202020204"/>
              <a:cs typeface="Arial" panose="020B0604020202020204" pitchFamily="34" charset="0"/>
            </a:endParaRPr>
          </a:p>
          <a:p>
            <a:pPr marL="12065" marR="211454">
              <a:spcBef>
                <a:spcPts val="0"/>
              </a:spcBef>
              <a:spcAft>
                <a:spcPts val="0"/>
              </a:spcAft>
              <a:buClr>
                <a:srgbClr val="BD050A"/>
              </a:buClr>
              <a:buSzPct val="85000"/>
              <a:tabLst>
                <a:tab pos="154940" algn="l"/>
              </a:tabLst>
            </a:pPr>
            <a:endParaRPr lang="en-SG" sz="800" spc="-10" dirty="0">
              <a:solidFill>
                <a:srgbClr val="000000"/>
              </a:solidFill>
              <a:latin typeface="Arial" panose="020B0604020202020204"/>
              <a:cs typeface="Arial" panose="020B0604020202020204" pitchFamily="34" charset="0"/>
            </a:endParaRPr>
          </a:p>
          <a:p>
            <a:pPr marL="12065" marR="211454">
              <a:spcBef>
                <a:spcPts val="0"/>
              </a:spcBef>
              <a:spcAft>
                <a:spcPts val="0"/>
              </a:spcAft>
              <a:buClr>
                <a:srgbClr val="BD050A"/>
              </a:buClr>
              <a:buSzPct val="85000"/>
              <a:tabLst>
                <a:tab pos="154940" algn="l"/>
              </a:tabLst>
            </a:pPr>
            <a:r>
              <a:rPr lang="en-SG" sz="800" spc="-10" dirty="0">
                <a:solidFill>
                  <a:srgbClr val="000000"/>
                </a:solidFill>
                <a:latin typeface="Arial" panose="020B0604020202020204"/>
                <a:cs typeface="Arial" panose="020B0604020202020204" pitchFamily="34" charset="0"/>
              </a:rPr>
              <a:t>Singapore </a:t>
            </a:r>
            <a:r>
              <a:rPr lang="en-SG" sz="800" spc="-5" dirty="0">
                <a:solidFill>
                  <a:srgbClr val="000000"/>
                </a:solidFill>
                <a:latin typeface="Arial" panose="020B0604020202020204"/>
                <a:cs typeface="Arial" panose="020B0604020202020204" pitchFamily="34" charset="0"/>
              </a:rPr>
              <a:t>Capital </a:t>
            </a:r>
            <a:r>
              <a:rPr lang="en-SG" sz="800" spc="-10" dirty="0">
                <a:solidFill>
                  <a:srgbClr val="000000"/>
                </a:solidFill>
                <a:latin typeface="Arial" panose="020B0604020202020204"/>
                <a:cs typeface="Arial" panose="020B0604020202020204" pitchFamily="34" charset="0"/>
              </a:rPr>
              <a:t>Markets </a:t>
            </a:r>
            <a:r>
              <a:rPr lang="en-SG" sz="800" spc="-5" dirty="0">
                <a:solidFill>
                  <a:srgbClr val="000000"/>
                </a:solidFill>
                <a:latin typeface="Arial" panose="020B0604020202020204"/>
                <a:cs typeface="Arial" panose="020B0604020202020204" pitchFamily="34" charset="0"/>
              </a:rPr>
              <a:t>Deal </a:t>
            </a:r>
            <a:r>
              <a:rPr lang="en-SG" sz="800" dirty="0">
                <a:solidFill>
                  <a:srgbClr val="000000"/>
                </a:solidFill>
                <a:latin typeface="Arial" panose="020B0604020202020204"/>
                <a:cs typeface="Arial" panose="020B0604020202020204" pitchFamily="34" charset="0"/>
              </a:rPr>
              <a:t>of</a:t>
            </a:r>
            <a:r>
              <a:rPr lang="en-SG" sz="800" spc="-120" dirty="0">
                <a:solidFill>
                  <a:srgbClr val="000000"/>
                </a:solidFill>
                <a:latin typeface="Arial" panose="020B0604020202020204"/>
                <a:cs typeface="Arial" panose="020B0604020202020204" pitchFamily="34" charset="0"/>
              </a:rPr>
              <a:t> </a:t>
            </a:r>
            <a:r>
              <a:rPr lang="en-SG" sz="800" spc="-5" dirty="0">
                <a:solidFill>
                  <a:srgbClr val="000000"/>
                </a:solidFill>
                <a:latin typeface="Arial" panose="020B0604020202020204"/>
                <a:cs typeface="Arial" panose="020B0604020202020204" pitchFamily="34" charset="0"/>
              </a:rPr>
              <a:t>the </a:t>
            </a:r>
            <a:r>
              <a:rPr lang="en-SG" sz="800" spc="-25" dirty="0">
                <a:solidFill>
                  <a:srgbClr val="000000"/>
                </a:solidFill>
                <a:latin typeface="Arial" panose="020B0604020202020204"/>
                <a:cs typeface="Arial" panose="020B0604020202020204" pitchFamily="34" charset="0"/>
              </a:rPr>
              <a:t>Year</a:t>
            </a:r>
            <a:endParaRPr lang="en-SG" sz="800" spc="-5" dirty="0">
              <a:solidFill>
                <a:srgbClr val="000000"/>
              </a:solidFill>
              <a:latin typeface="Arial" panose="020B0604020202020204"/>
              <a:cs typeface="Arial" panose="020B0604020202020204" pitchFamily="34" charset="0"/>
            </a:endParaRPr>
          </a:p>
          <a:p>
            <a:pPr marL="12065" marR="211454">
              <a:spcBef>
                <a:spcPts val="0"/>
              </a:spcBef>
              <a:spcAft>
                <a:spcPts val="0"/>
              </a:spcAft>
              <a:buClr>
                <a:srgbClr val="BD050A"/>
              </a:buClr>
              <a:buSzPct val="85000"/>
              <a:tabLst>
                <a:tab pos="154940" algn="l"/>
              </a:tabLst>
            </a:pPr>
            <a:r>
              <a:rPr lang="en-SG" sz="800" b="0" spc="-10" dirty="0">
                <a:solidFill>
                  <a:srgbClr val="000000"/>
                </a:solidFill>
                <a:latin typeface="Arial" panose="020B0604020202020204"/>
                <a:cs typeface="Arial" panose="020B0604020202020204" pitchFamily="34" charset="0"/>
              </a:rPr>
              <a:t>US$1b </a:t>
            </a:r>
            <a:r>
              <a:rPr lang="en-SG" sz="800" b="0" spc="-15" dirty="0">
                <a:solidFill>
                  <a:srgbClr val="000000"/>
                </a:solidFill>
                <a:latin typeface="Arial" panose="020B0604020202020204"/>
                <a:cs typeface="Arial" panose="020B0604020202020204" pitchFamily="34" charset="0"/>
              </a:rPr>
              <a:t>covered </a:t>
            </a:r>
            <a:r>
              <a:rPr lang="en-SG" sz="800" b="0" spc="-5" dirty="0">
                <a:solidFill>
                  <a:srgbClr val="000000"/>
                </a:solidFill>
                <a:latin typeface="Arial" panose="020B0604020202020204"/>
                <a:cs typeface="Arial" panose="020B0604020202020204" pitchFamily="34" charset="0"/>
              </a:rPr>
              <a:t>bond of DBS (2015)</a:t>
            </a:r>
            <a:endParaRPr lang="en-SG" sz="800" b="0" dirty="0">
              <a:solidFill>
                <a:srgbClr val="000000"/>
              </a:solidFill>
              <a:latin typeface="Arial" panose="020B0604020202020204"/>
              <a:cs typeface="Arial" panose="020B0604020202020204" pitchFamily="34" charset="0"/>
            </a:endParaRPr>
          </a:p>
          <a:p>
            <a:pPr marL="12065" marR="267335">
              <a:spcBef>
                <a:spcPts val="0"/>
              </a:spcBef>
              <a:spcAft>
                <a:spcPts val="0"/>
              </a:spcAft>
              <a:buClr>
                <a:srgbClr val="BD050A"/>
              </a:buClr>
              <a:buSzPct val="85000"/>
              <a:tabLst>
                <a:tab pos="154940" algn="l"/>
              </a:tabLst>
            </a:pPr>
            <a:endParaRPr lang="en-SG" sz="800" spc="-10" dirty="0">
              <a:solidFill>
                <a:srgbClr val="000000"/>
              </a:solidFill>
              <a:latin typeface="Arial" panose="020B0604020202020204"/>
              <a:cs typeface="Arial" panose="020B0604020202020204" pitchFamily="34" charset="0"/>
            </a:endParaRPr>
          </a:p>
          <a:p>
            <a:pPr marL="12065" marR="267335">
              <a:spcBef>
                <a:spcPts val="0"/>
              </a:spcBef>
              <a:spcAft>
                <a:spcPts val="0"/>
              </a:spcAft>
              <a:buClr>
                <a:srgbClr val="BD050A"/>
              </a:buClr>
              <a:buSzPct val="85000"/>
              <a:tabLst>
                <a:tab pos="154940" algn="l"/>
              </a:tabLst>
            </a:pPr>
            <a:r>
              <a:rPr lang="en-SG" sz="800" spc="-10" dirty="0">
                <a:solidFill>
                  <a:srgbClr val="000000"/>
                </a:solidFill>
                <a:latin typeface="Arial" panose="020B0604020202020204"/>
                <a:cs typeface="Arial" panose="020B0604020202020204" pitchFamily="34" charset="0"/>
              </a:rPr>
              <a:t>Malaysia </a:t>
            </a:r>
            <a:r>
              <a:rPr lang="en-SG" sz="800" spc="-5" dirty="0">
                <a:solidFill>
                  <a:srgbClr val="000000"/>
                </a:solidFill>
                <a:latin typeface="Arial" panose="020B0604020202020204"/>
                <a:cs typeface="Arial" panose="020B0604020202020204" pitchFamily="34" charset="0"/>
              </a:rPr>
              <a:t>Capital </a:t>
            </a:r>
            <a:r>
              <a:rPr lang="en-SG" sz="800" spc="-10" dirty="0">
                <a:solidFill>
                  <a:srgbClr val="000000"/>
                </a:solidFill>
                <a:latin typeface="Arial" panose="020B0604020202020204"/>
                <a:cs typeface="Arial" panose="020B0604020202020204" pitchFamily="34" charset="0"/>
              </a:rPr>
              <a:t>Markets </a:t>
            </a:r>
            <a:r>
              <a:rPr lang="en-SG" sz="800" spc="-5" dirty="0">
                <a:solidFill>
                  <a:srgbClr val="000000"/>
                </a:solidFill>
                <a:latin typeface="Arial" panose="020B0604020202020204"/>
                <a:cs typeface="Arial" panose="020B0604020202020204" pitchFamily="34" charset="0"/>
              </a:rPr>
              <a:t>Deal of</a:t>
            </a:r>
            <a:r>
              <a:rPr lang="en-SG" sz="800" spc="-85" dirty="0">
                <a:solidFill>
                  <a:srgbClr val="000000"/>
                </a:solidFill>
                <a:latin typeface="Arial" panose="020B0604020202020204"/>
                <a:cs typeface="Arial" panose="020B0604020202020204" pitchFamily="34" charset="0"/>
              </a:rPr>
              <a:t> </a:t>
            </a:r>
            <a:r>
              <a:rPr lang="en-SG" sz="800" spc="-5" dirty="0">
                <a:solidFill>
                  <a:srgbClr val="000000"/>
                </a:solidFill>
                <a:latin typeface="Arial" panose="020B0604020202020204"/>
                <a:cs typeface="Arial" panose="020B0604020202020204" pitchFamily="34" charset="0"/>
              </a:rPr>
              <a:t>the </a:t>
            </a:r>
            <a:r>
              <a:rPr lang="en-SG" sz="800" spc="-25" dirty="0">
                <a:solidFill>
                  <a:srgbClr val="000000"/>
                </a:solidFill>
                <a:latin typeface="Arial" panose="020B0604020202020204"/>
                <a:cs typeface="Arial" panose="020B0604020202020204" pitchFamily="34" charset="0"/>
              </a:rPr>
              <a:t>Year</a:t>
            </a:r>
          </a:p>
          <a:p>
            <a:pPr marL="12065" marR="267335">
              <a:spcBef>
                <a:spcPts val="0"/>
              </a:spcBef>
              <a:spcAft>
                <a:spcPts val="0"/>
              </a:spcAft>
              <a:buClr>
                <a:srgbClr val="BD050A"/>
              </a:buClr>
              <a:buSzPct val="85000"/>
              <a:tabLst>
                <a:tab pos="154940" algn="l"/>
              </a:tabLst>
            </a:pPr>
            <a:r>
              <a:rPr lang="en-SG" sz="800" b="0" spc="-10" dirty="0">
                <a:solidFill>
                  <a:srgbClr val="000000"/>
                </a:solidFill>
                <a:latin typeface="Arial" panose="020B0604020202020204"/>
                <a:cs typeface="Arial" panose="020B0604020202020204" pitchFamily="34" charset="0"/>
              </a:rPr>
              <a:t>RM$6.73b </a:t>
            </a:r>
            <a:r>
              <a:rPr lang="en-SG" sz="800" b="0" spc="-5" dirty="0">
                <a:solidFill>
                  <a:srgbClr val="000000"/>
                </a:solidFill>
                <a:latin typeface="Arial" panose="020B0604020202020204"/>
                <a:cs typeface="Arial" panose="020B0604020202020204" pitchFamily="34" charset="0"/>
              </a:rPr>
              <a:t>IPO of IHH  Healthcare (2012)</a:t>
            </a:r>
            <a:endParaRPr lang="en-SG" sz="800" b="0" dirty="0">
              <a:solidFill>
                <a:srgbClr val="000000"/>
              </a:solidFill>
              <a:latin typeface="Arial" panose="020B0604020202020204"/>
              <a:cs typeface="Arial" panose="020B0604020202020204" pitchFamily="34" charset="0"/>
            </a:endParaRPr>
          </a:p>
          <a:p>
            <a:pPr marL="12065" marR="244475">
              <a:spcBef>
                <a:spcPts val="0"/>
              </a:spcBef>
              <a:spcAft>
                <a:spcPts val="0"/>
              </a:spcAft>
              <a:buClr>
                <a:srgbClr val="BD050A"/>
              </a:buClr>
              <a:buSzPct val="85000"/>
              <a:tabLst>
                <a:tab pos="154940" algn="l"/>
              </a:tabLst>
            </a:pPr>
            <a:endParaRPr lang="en-SG" sz="800" spc="-10" dirty="0">
              <a:solidFill>
                <a:srgbClr val="000000"/>
              </a:solidFill>
              <a:latin typeface="Arial" panose="020B0604020202020204"/>
              <a:cs typeface="Arial" panose="020B0604020202020204" pitchFamily="34" charset="0"/>
            </a:endParaRPr>
          </a:p>
          <a:p>
            <a:pPr marL="12065" marR="244475">
              <a:spcBef>
                <a:spcPts val="0"/>
              </a:spcBef>
              <a:spcAft>
                <a:spcPts val="0"/>
              </a:spcAft>
              <a:buClr>
                <a:srgbClr val="BD050A"/>
              </a:buClr>
              <a:buSzPct val="85000"/>
              <a:tabLst>
                <a:tab pos="154940" algn="l"/>
              </a:tabLst>
            </a:pPr>
            <a:r>
              <a:rPr lang="en-SG" sz="800" spc="-10" dirty="0">
                <a:solidFill>
                  <a:srgbClr val="000000"/>
                </a:solidFill>
                <a:latin typeface="Arial" panose="020B0604020202020204"/>
                <a:cs typeface="Arial" panose="020B0604020202020204" pitchFamily="34" charset="0"/>
              </a:rPr>
              <a:t>Asia-Pacific </a:t>
            </a:r>
            <a:r>
              <a:rPr lang="en-SG" sz="800" spc="-5" dirty="0">
                <a:solidFill>
                  <a:srgbClr val="000000"/>
                </a:solidFill>
                <a:latin typeface="Arial" panose="020B0604020202020204"/>
                <a:cs typeface="Arial" panose="020B0604020202020204" pitchFamily="34" charset="0"/>
              </a:rPr>
              <a:t>Securitisation Deal of the </a:t>
            </a:r>
            <a:r>
              <a:rPr lang="en-SG" sz="800" spc="-25" dirty="0">
                <a:solidFill>
                  <a:srgbClr val="000000"/>
                </a:solidFill>
                <a:latin typeface="Arial" panose="020B0604020202020204"/>
                <a:cs typeface="Arial" panose="020B0604020202020204" pitchFamily="34" charset="0"/>
              </a:rPr>
              <a:t>Year</a:t>
            </a:r>
          </a:p>
          <a:p>
            <a:pPr marL="12065" marR="244475">
              <a:spcBef>
                <a:spcPts val="0"/>
              </a:spcBef>
              <a:spcAft>
                <a:spcPts val="0"/>
              </a:spcAft>
              <a:buClr>
                <a:srgbClr val="BD050A"/>
              </a:buClr>
              <a:buSzPct val="85000"/>
              <a:tabLst>
                <a:tab pos="154940" algn="l"/>
              </a:tabLst>
            </a:pPr>
            <a:r>
              <a:rPr lang="en-SG" sz="800" b="0" spc="-10" dirty="0">
                <a:solidFill>
                  <a:srgbClr val="000000"/>
                </a:solidFill>
                <a:latin typeface="Arial" panose="020B0604020202020204"/>
                <a:cs typeface="Arial" panose="020B0604020202020204" pitchFamily="34" charset="0"/>
              </a:rPr>
              <a:t>Silver </a:t>
            </a:r>
            <a:r>
              <a:rPr lang="en-SG" sz="800" b="0" spc="-5" dirty="0">
                <a:solidFill>
                  <a:srgbClr val="000000"/>
                </a:solidFill>
                <a:latin typeface="Arial" panose="020B0604020202020204"/>
                <a:cs typeface="Arial" panose="020B0604020202020204" pitchFamily="34" charset="0"/>
              </a:rPr>
              <a:t>Oak's </a:t>
            </a:r>
            <a:r>
              <a:rPr lang="en-SG" sz="800" b="0" spc="-10" dirty="0">
                <a:solidFill>
                  <a:srgbClr val="000000"/>
                </a:solidFill>
                <a:latin typeface="Arial" panose="020B0604020202020204"/>
                <a:cs typeface="Arial" panose="020B0604020202020204" pitchFamily="34" charset="0"/>
              </a:rPr>
              <a:t>US$645m </a:t>
            </a:r>
            <a:r>
              <a:rPr lang="en-SG" sz="800" b="0" spc="-5" dirty="0">
                <a:solidFill>
                  <a:srgbClr val="000000"/>
                </a:solidFill>
                <a:latin typeface="Arial" panose="020B0604020202020204"/>
                <a:cs typeface="Arial" panose="020B0604020202020204" pitchFamily="34" charset="0"/>
              </a:rPr>
              <a:t>CMBS (2011)</a:t>
            </a:r>
            <a:endParaRPr lang="en-US" sz="800" dirty="0">
              <a:solidFill>
                <a:srgbClr val="000000"/>
              </a:solidFill>
              <a:latin typeface="Arial" panose="020B0604020202020204"/>
              <a:cs typeface="Arial" panose="020B0604020202020204" pitchFamily="34" charset="0"/>
            </a:endParaRPr>
          </a:p>
        </p:txBody>
      </p:sp>
      <p:sp>
        <p:nvSpPr>
          <p:cNvPr id="28" name="object 5">
            <a:extLst>
              <a:ext uri="{FF2B5EF4-FFF2-40B4-BE49-F238E27FC236}">
                <a16:creationId xmlns:a16="http://schemas.microsoft.com/office/drawing/2014/main" id="{EC5C407F-BE49-1279-BDE6-25E0374A1182}"/>
              </a:ext>
            </a:extLst>
          </p:cNvPr>
          <p:cNvSpPr/>
          <p:nvPr/>
        </p:nvSpPr>
        <p:spPr>
          <a:xfrm>
            <a:off x="7709778" y="2793811"/>
            <a:ext cx="450907" cy="413446"/>
          </a:xfrm>
          <a:prstGeom prst="rect">
            <a:avLst/>
          </a:prstGeom>
          <a:blipFill>
            <a:blip r:embed="rId8" cstate="print"/>
            <a:stretch>
              <a:fillRect/>
            </a:stretch>
          </a:blipFill>
        </p:spPr>
        <p:txBody>
          <a:bodyPr wrap="square" lIns="0" tIns="0" rIns="0" bIns="0" rtlCol="0"/>
          <a:lstStyle/>
          <a:p>
            <a:endParaRPr>
              <a:solidFill>
                <a:srgbClr val="E6E6E6"/>
              </a:solidFill>
              <a:latin typeface="Arial" panose="020B0604020202020204"/>
              <a:cs typeface="Arial" panose="020B0604020202020204" pitchFamily="34" charset="0"/>
            </a:endParaRPr>
          </a:p>
        </p:txBody>
      </p:sp>
      <p:sp>
        <p:nvSpPr>
          <p:cNvPr id="29" name="object 6">
            <a:extLst>
              <a:ext uri="{FF2B5EF4-FFF2-40B4-BE49-F238E27FC236}">
                <a16:creationId xmlns:a16="http://schemas.microsoft.com/office/drawing/2014/main" id="{8F3E4F3B-A458-EAEA-8B97-FAD41D811429}"/>
              </a:ext>
            </a:extLst>
          </p:cNvPr>
          <p:cNvSpPr/>
          <p:nvPr/>
        </p:nvSpPr>
        <p:spPr>
          <a:xfrm>
            <a:off x="7709778" y="1175660"/>
            <a:ext cx="901066" cy="167972"/>
          </a:xfrm>
          <a:prstGeom prst="rect">
            <a:avLst/>
          </a:prstGeom>
          <a:blipFill>
            <a:blip r:embed="rId9" cstate="print"/>
            <a:stretch>
              <a:fillRect/>
            </a:stretch>
          </a:blipFill>
        </p:spPr>
        <p:txBody>
          <a:bodyPr wrap="square" lIns="0" tIns="0" rIns="0" bIns="0" rtlCol="0"/>
          <a:lstStyle/>
          <a:p>
            <a:endParaRPr>
              <a:solidFill>
                <a:srgbClr val="E6E6E6"/>
              </a:solidFill>
              <a:latin typeface="Arial" panose="020B0604020202020204"/>
              <a:cs typeface="Arial" panose="020B0604020202020204" pitchFamily="34" charset="0"/>
            </a:endParaRPr>
          </a:p>
        </p:txBody>
      </p:sp>
      <p:pic>
        <p:nvPicPr>
          <p:cNvPr id="30" name="Picture 1" descr="C:\Users\wanyinglim\Desktop\LOGO\AAA-logo-generic.png">
            <a:extLst>
              <a:ext uri="{FF2B5EF4-FFF2-40B4-BE49-F238E27FC236}">
                <a16:creationId xmlns:a16="http://schemas.microsoft.com/office/drawing/2014/main" id="{E8F5FF77-F699-B888-B37F-0B5F756D62FD}"/>
              </a:ext>
            </a:extLst>
          </p:cNvPr>
          <p:cNvPicPr>
            <a:picLocks noChangeAspect="1" noChangeArrowheads="1"/>
          </p:cNvPicPr>
          <p:nvPr/>
        </p:nvPicPr>
        <p:blipFill>
          <a:blip r:embed="rId10" cstate="print"/>
          <a:srcRect/>
          <a:stretch>
            <a:fillRect/>
          </a:stretch>
        </p:blipFill>
        <p:spPr bwMode="auto">
          <a:xfrm>
            <a:off x="4282620" y="1175660"/>
            <a:ext cx="496081" cy="487722"/>
          </a:xfrm>
          <a:prstGeom prst="rect">
            <a:avLst/>
          </a:prstGeom>
          <a:noFill/>
        </p:spPr>
      </p:pic>
      <p:pic>
        <p:nvPicPr>
          <p:cNvPr id="31" name="Picture 1" descr="C:\Users\wanyinglim\Desktop\LOGO\AAA-logo-generic.png">
            <a:extLst>
              <a:ext uri="{FF2B5EF4-FFF2-40B4-BE49-F238E27FC236}">
                <a16:creationId xmlns:a16="http://schemas.microsoft.com/office/drawing/2014/main" id="{429C4DAB-210A-6ED1-9DF3-772452EFAC93}"/>
              </a:ext>
            </a:extLst>
          </p:cNvPr>
          <p:cNvPicPr>
            <a:picLocks noChangeAspect="1" noChangeArrowheads="1"/>
          </p:cNvPicPr>
          <p:nvPr/>
        </p:nvPicPr>
        <p:blipFill>
          <a:blip r:embed="rId10" cstate="print"/>
          <a:srcRect/>
          <a:stretch>
            <a:fillRect/>
          </a:stretch>
        </p:blipFill>
        <p:spPr bwMode="auto">
          <a:xfrm>
            <a:off x="4282620" y="3355545"/>
            <a:ext cx="496081" cy="487722"/>
          </a:xfrm>
          <a:prstGeom prst="rect">
            <a:avLst/>
          </a:prstGeom>
          <a:noFill/>
        </p:spPr>
      </p:pic>
      <p:sp>
        <p:nvSpPr>
          <p:cNvPr id="32" name="object 7">
            <a:extLst>
              <a:ext uri="{FF2B5EF4-FFF2-40B4-BE49-F238E27FC236}">
                <a16:creationId xmlns:a16="http://schemas.microsoft.com/office/drawing/2014/main" id="{68CF84BE-0AEB-15B7-7FFB-B271F31C4D6D}"/>
              </a:ext>
            </a:extLst>
          </p:cNvPr>
          <p:cNvSpPr txBox="1"/>
          <p:nvPr/>
        </p:nvSpPr>
        <p:spPr>
          <a:xfrm>
            <a:off x="1614287" y="1175660"/>
            <a:ext cx="2591953" cy="841256"/>
          </a:xfrm>
          <a:prstGeom prst="rect">
            <a:avLst/>
          </a:prstGeom>
        </p:spPr>
        <p:txBody>
          <a:bodyPr vert="horz" wrap="square" lIns="0" tIns="0" rIns="0" bIns="0" rtlCol="0">
            <a:spAutoFit/>
          </a:bodyPr>
          <a:lstStyle/>
          <a:p>
            <a:pPr marL="12700" marR="347980">
              <a:spcBef>
                <a:spcPts val="200"/>
              </a:spcBef>
              <a:spcAft>
                <a:spcPts val="200"/>
              </a:spcAft>
            </a:pPr>
            <a:r>
              <a:rPr lang="en-SG" sz="800" spc="-5" dirty="0">
                <a:solidFill>
                  <a:srgbClr val="C00000"/>
                </a:solidFill>
                <a:latin typeface="Arial" panose="020B0604020202020204"/>
                <a:cs typeface="Arial" panose="020B0604020202020204" pitchFamily="34" charset="0"/>
              </a:rPr>
              <a:t>ABF </a:t>
            </a:r>
            <a:r>
              <a:rPr lang="en-SG" sz="800" spc="-10" dirty="0">
                <a:solidFill>
                  <a:srgbClr val="C00000"/>
                </a:solidFill>
                <a:latin typeface="Arial" panose="020B0604020202020204"/>
                <a:cs typeface="Arial" panose="020B0604020202020204" pitchFamily="34" charset="0"/>
              </a:rPr>
              <a:t>Corporate </a:t>
            </a:r>
            <a:r>
              <a:rPr lang="en-SG" sz="800" spc="-5" dirty="0">
                <a:solidFill>
                  <a:srgbClr val="C00000"/>
                </a:solidFill>
                <a:latin typeface="Arial" panose="020B0604020202020204"/>
                <a:cs typeface="Arial" panose="020B0604020202020204" pitchFamily="34" charset="0"/>
              </a:rPr>
              <a:t>&amp; </a:t>
            </a:r>
            <a:r>
              <a:rPr lang="en-SG" sz="800" spc="-10" dirty="0">
                <a:solidFill>
                  <a:srgbClr val="C00000"/>
                </a:solidFill>
                <a:latin typeface="Arial" panose="020B0604020202020204"/>
                <a:cs typeface="Arial" panose="020B0604020202020204" pitchFamily="34" charset="0"/>
              </a:rPr>
              <a:t>Investment </a:t>
            </a:r>
            <a:r>
              <a:rPr lang="en-SG" sz="800" spc="-5" dirty="0">
                <a:solidFill>
                  <a:srgbClr val="C00000"/>
                </a:solidFill>
                <a:latin typeface="Arial" panose="020B0604020202020204"/>
                <a:cs typeface="Arial" panose="020B0604020202020204" pitchFamily="34" charset="0"/>
              </a:rPr>
              <a:t>Banking </a:t>
            </a:r>
            <a:r>
              <a:rPr lang="en-SG" sz="800" spc="-10" dirty="0">
                <a:solidFill>
                  <a:srgbClr val="C00000"/>
                </a:solidFill>
                <a:latin typeface="Arial" panose="020B0604020202020204"/>
                <a:cs typeface="Arial" panose="020B0604020202020204" pitchFamily="34" charset="0"/>
              </a:rPr>
              <a:t>Awards</a:t>
            </a:r>
            <a:endParaRPr lang="en-SG" sz="800" dirty="0">
              <a:solidFill>
                <a:srgbClr val="C00000"/>
              </a:solidFill>
              <a:latin typeface="Arial" panose="020B0604020202020204"/>
              <a:cs typeface="Arial" panose="020B0604020202020204" pitchFamily="34" charset="0"/>
            </a:endParaRPr>
          </a:p>
          <a:p>
            <a:pPr marL="12065" marR="313055">
              <a:spcBef>
                <a:spcPts val="200"/>
              </a:spcBef>
              <a:spcAft>
                <a:spcPts val="200"/>
              </a:spcAft>
              <a:buClr>
                <a:srgbClr val="BF0000"/>
              </a:buClr>
              <a:tabLst>
                <a:tab pos="154940" algn="l"/>
              </a:tabLst>
            </a:pPr>
            <a:r>
              <a:rPr sz="800" spc="-5" dirty="0">
                <a:solidFill>
                  <a:srgbClr val="000000"/>
                </a:solidFill>
                <a:latin typeface="Arial" panose="020B0604020202020204"/>
                <a:cs typeface="Arial" panose="020B0604020202020204" pitchFamily="34" charset="0"/>
              </a:rPr>
              <a:t>Equity Deal of the </a:t>
            </a:r>
            <a:r>
              <a:rPr sz="800" spc="-25" dirty="0">
                <a:solidFill>
                  <a:srgbClr val="000000"/>
                </a:solidFill>
                <a:latin typeface="Arial" panose="020B0604020202020204"/>
                <a:cs typeface="Arial" panose="020B0604020202020204" pitchFamily="34" charset="0"/>
              </a:rPr>
              <a:t>Year </a:t>
            </a:r>
            <a:r>
              <a:rPr sz="800" spc="-5" dirty="0">
                <a:solidFill>
                  <a:srgbClr val="000000"/>
                </a:solidFill>
                <a:latin typeface="Arial" panose="020B0604020202020204"/>
                <a:cs typeface="Arial" panose="020B0604020202020204" pitchFamily="34" charset="0"/>
              </a:rPr>
              <a:t>– </a:t>
            </a:r>
            <a:r>
              <a:rPr sz="800" spc="-10" dirty="0">
                <a:solidFill>
                  <a:srgbClr val="000000"/>
                </a:solidFill>
                <a:latin typeface="Arial" panose="020B0604020202020204"/>
                <a:cs typeface="Arial" panose="020B0604020202020204" pitchFamily="34" charset="0"/>
              </a:rPr>
              <a:t>Singapore</a:t>
            </a:r>
            <a:br>
              <a:rPr lang="en-US" sz="800" spc="-10" dirty="0">
                <a:solidFill>
                  <a:srgbClr val="000000"/>
                </a:solidFill>
                <a:latin typeface="Arial" panose="020B0604020202020204"/>
                <a:cs typeface="Arial" panose="020B0604020202020204" pitchFamily="34" charset="0"/>
              </a:rPr>
            </a:br>
            <a:r>
              <a:rPr sz="800" b="0" spc="-5" dirty="0">
                <a:solidFill>
                  <a:srgbClr val="000000"/>
                </a:solidFill>
                <a:latin typeface="Arial" panose="020B0604020202020204"/>
                <a:cs typeface="Arial" panose="020B0604020202020204" pitchFamily="34" charset="0"/>
              </a:rPr>
              <a:t>Lendlease Global</a:t>
            </a:r>
            <a:r>
              <a:rPr sz="800" b="0" spc="-110" dirty="0">
                <a:solidFill>
                  <a:srgbClr val="000000"/>
                </a:solidFill>
                <a:latin typeface="Arial" panose="020B0604020202020204"/>
                <a:cs typeface="Arial" panose="020B0604020202020204" pitchFamily="34" charset="0"/>
              </a:rPr>
              <a:t> </a:t>
            </a:r>
            <a:r>
              <a:rPr sz="800" b="0" spc="-5" dirty="0">
                <a:solidFill>
                  <a:srgbClr val="000000"/>
                </a:solidFill>
                <a:latin typeface="Arial" panose="020B0604020202020204"/>
                <a:cs typeface="Arial" panose="020B0604020202020204" pitchFamily="34" charset="0"/>
              </a:rPr>
              <a:t>Commercial  REIT </a:t>
            </a:r>
            <a:r>
              <a:rPr lang="en-SG" sz="800" b="0" spc="-5" dirty="0">
                <a:solidFill>
                  <a:srgbClr val="000000"/>
                </a:solidFill>
                <a:latin typeface="Arial" panose="020B0604020202020204"/>
                <a:cs typeface="Arial" panose="020B0604020202020204" pitchFamily="34" charset="0"/>
              </a:rPr>
              <a:t>– </a:t>
            </a:r>
            <a:r>
              <a:rPr sz="800" b="0" spc="-10" dirty="0">
                <a:solidFill>
                  <a:srgbClr val="000000"/>
                </a:solidFill>
                <a:latin typeface="Arial" panose="020B0604020202020204"/>
                <a:cs typeface="Arial" panose="020B0604020202020204" pitchFamily="34" charset="0"/>
              </a:rPr>
              <a:t>S</a:t>
            </a:r>
            <a:r>
              <a:rPr lang="en-SG" sz="800" b="0" spc="-10" dirty="0">
                <a:solidFill>
                  <a:srgbClr val="000000"/>
                </a:solidFill>
                <a:latin typeface="Arial" panose="020B0604020202020204"/>
                <a:cs typeface="Arial" panose="020B0604020202020204" pitchFamily="34" charset="0"/>
              </a:rPr>
              <a:t>$</a:t>
            </a:r>
            <a:r>
              <a:rPr sz="800" b="0" spc="-10" dirty="0">
                <a:solidFill>
                  <a:srgbClr val="000000"/>
                </a:solidFill>
                <a:latin typeface="Arial" panose="020B0604020202020204"/>
                <a:cs typeface="Arial" panose="020B0604020202020204" pitchFamily="34" charset="0"/>
              </a:rPr>
              <a:t>770m</a:t>
            </a:r>
            <a:r>
              <a:rPr sz="800" b="0" spc="-5" dirty="0">
                <a:solidFill>
                  <a:srgbClr val="000000"/>
                </a:solidFill>
                <a:latin typeface="Arial" panose="020B0604020202020204"/>
                <a:cs typeface="Arial" panose="020B0604020202020204" pitchFamily="34" charset="0"/>
              </a:rPr>
              <a:t> IPO</a:t>
            </a:r>
            <a:endParaRPr lang="en-SG" sz="800" spc="-10" dirty="0">
              <a:solidFill>
                <a:srgbClr val="000000"/>
              </a:solidFill>
              <a:latin typeface="Arial" panose="020B0604020202020204"/>
              <a:cs typeface="Arial" panose="020B0604020202020204" pitchFamily="34" charset="0"/>
            </a:endParaRPr>
          </a:p>
          <a:p>
            <a:pPr marL="12065">
              <a:spcBef>
                <a:spcPts val="200"/>
              </a:spcBef>
              <a:spcAft>
                <a:spcPts val="200"/>
              </a:spcAft>
              <a:buClr>
                <a:srgbClr val="BF0000"/>
              </a:buClr>
              <a:tabLst>
                <a:tab pos="154940" algn="l"/>
              </a:tabLst>
            </a:pPr>
            <a:r>
              <a:rPr sz="800" spc="-10" dirty="0">
                <a:solidFill>
                  <a:srgbClr val="000000"/>
                </a:solidFill>
                <a:latin typeface="Arial" panose="020B0604020202020204"/>
                <a:cs typeface="Arial" panose="020B0604020202020204" pitchFamily="34" charset="0"/>
              </a:rPr>
              <a:t>Corporate Client </a:t>
            </a:r>
            <a:r>
              <a:rPr sz="800" spc="-5" dirty="0">
                <a:solidFill>
                  <a:srgbClr val="000000"/>
                </a:solidFill>
                <a:latin typeface="Arial" panose="020B0604020202020204"/>
                <a:cs typeface="Arial" panose="020B0604020202020204" pitchFamily="34" charset="0"/>
              </a:rPr>
              <a:t>Initiative of the</a:t>
            </a:r>
            <a:r>
              <a:rPr sz="800" spc="-95" dirty="0">
                <a:solidFill>
                  <a:srgbClr val="000000"/>
                </a:solidFill>
                <a:latin typeface="Arial" panose="020B0604020202020204"/>
                <a:cs typeface="Arial" panose="020B0604020202020204" pitchFamily="34" charset="0"/>
              </a:rPr>
              <a:t> </a:t>
            </a:r>
            <a:r>
              <a:rPr sz="800" spc="-25" dirty="0">
                <a:solidFill>
                  <a:srgbClr val="000000"/>
                </a:solidFill>
                <a:latin typeface="Arial" panose="020B0604020202020204"/>
                <a:cs typeface="Arial" panose="020B0604020202020204" pitchFamily="34" charset="0"/>
              </a:rPr>
              <a:t>Year</a:t>
            </a:r>
            <a:r>
              <a:rPr lang="en-SG" sz="800" dirty="0">
                <a:solidFill>
                  <a:srgbClr val="000000"/>
                </a:solidFill>
                <a:latin typeface="Arial" panose="020B0604020202020204"/>
                <a:cs typeface="Arial" panose="020B0604020202020204" pitchFamily="34" charset="0"/>
              </a:rPr>
              <a:t> </a:t>
            </a:r>
            <a:r>
              <a:rPr sz="800" spc="-5" dirty="0">
                <a:solidFill>
                  <a:srgbClr val="000000"/>
                </a:solidFill>
                <a:latin typeface="Arial" panose="020B0604020202020204"/>
                <a:cs typeface="Arial" panose="020B0604020202020204" pitchFamily="34" charset="0"/>
              </a:rPr>
              <a:t>– </a:t>
            </a:r>
            <a:r>
              <a:rPr sz="800" spc="-10" dirty="0">
                <a:solidFill>
                  <a:srgbClr val="000000"/>
                </a:solidFill>
                <a:latin typeface="Arial" panose="020B0604020202020204"/>
                <a:cs typeface="Arial" panose="020B0604020202020204" pitchFamily="34" charset="0"/>
              </a:rPr>
              <a:t>Singapore</a:t>
            </a:r>
            <a:br>
              <a:rPr lang="en-US" sz="800" spc="-10" dirty="0">
                <a:solidFill>
                  <a:srgbClr val="000000"/>
                </a:solidFill>
                <a:latin typeface="Arial" panose="020B0604020202020204"/>
                <a:cs typeface="Arial" panose="020B0604020202020204" pitchFamily="34" charset="0"/>
              </a:rPr>
            </a:br>
            <a:r>
              <a:rPr sz="800" b="0" spc="-10" dirty="0" err="1">
                <a:solidFill>
                  <a:srgbClr val="000000"/>
                </a:solidFill>
                <a:latin typeface="Arial" panose="020B0604020202020204"/>
                <a:cs typeface="Arial" panose="020B0604020202020204" pitchFamily="34" charset="0"/>
              </a:rPr>
              <a:t>Singapor</a:t>
            </a:r>
            <a:r>
              <a:rPr lang="en-SG" sz="800" b="0" spc="-10" dirty="0">
                <a:solidFill>
                  <a:srgbClr val="000000"/>
                </a:solidFill>
                <a:latin typeface="Arial" panose="020B0604020202020204"/>
                <a:cs typeface="Arial" panose="020B0604020202020204" pitchFamily="34" charset="0"/>
              </a:rPr>
              <a:t>e </a:t>
            </a:r>
            <a:r>
              <a:rPr sz="800" b="0" spc="-5" dirty="0">
                <a:solidFill>
                  <a:srgbClr val="000000"/>
                </a:solidFill>
                <a:latin typeface="Arial" panose="020B0604020202020204"/>
                <a:cs typeface="Arial" panose="020B0604020202020204" pitchFamily="34" charset="0"/>
              </a:rPr>
              <a:t>Airline</a:t>
            </a:r>
            <a:r>
              <a:rPr lang="en-SG" sz="800" b="0" spc="-5" dirty="0">
                <a:solidFill>
                  <a:srgbClr val="000000"/>
                </a:solidFill>
                <a:latin typeface="Arial" panose="020B0604020202020204"/>
                <a:cs typeface="Arial" panose="020B0604020202020204" pitchFamily="34" charset="0"/>
              </a:rPr>
              <a:t>s</a:t>
            </a:r>
            <a:r>
              <a:rPr sz="800" b="0" spc="-5" dirty="0">
                <a:solidFill>
                  <a:srgbClr val="000000"/>
                </a:solidFill>
                <a:latin typeface="Arial" panose="020B0604020202020204"/>
                <a:cs typeface="Arial" panose="020B0604020202020204" pitchFamily="34" charset="0"/>
              </a:rPr>
              <a:t> </a:t>
            </a:r>
            <a:r>
              <a:rPr sz="800" b="0" spc="-10" dirty="0">
                <a:solidFill>
                  <a:srgbClr val="000000"/>
                </a:solidFill>
                <a:latin typeface="Arial" panose="020B0604020202020204"/>
                <a:cs typeface="Arial" panose="020B0604020202020204" pitchFamily="34" charset="0"/>
              </a:rPr>
              <a:t>Limited</a:t>
            </a:r>
            <a:r>
              <a:rPr lang="en-SG" sz="800" b="0" spc="-10" dirty="0">
                <a:solidFill>
                  <a:srgbClr val="000000"/>
                </a:solidFill>
                <a:latin typeface="Arial" panose="020B0604020202020204"/>
                <a:cs typeface="Arial" panose="020B0604020202020204" pitchFamily="34" charset="0"/>
              </a:rPr>
              <a:t> – </a:t>
            </a:r>
            <a:r>
              <a:rPr sz="800" b="0" spc="-5" dirty="0">
                <a:solidFill>
                  <a:srgbClr val="000000"/>
                </a:solidFill>
                <a:latin typeface="Arial" panose="020B0604020202020204"/>
                <a:cs typeface="Arial" panose="020B0604020202020204" pitchFamily="34" charset="0"/>
              </a:rPr>
              <a:t>S$8.8b</a:t>
            </a:r>
            <a:r>
              <a:rPr lang="en-SG" sz="800" b="0" spc="-5" dirty="0">
                <a:solidFill>
                  <a:srgbClr val="000000"/>
                </a:solidFill>
                <a:latin typeface="Arial" panose="020B0604020202020204"/>
                <a:cs typeface="Arial" panose="020B0604020202020204" pitchFamily="34" charset="0"/>
              </a:rPr>
              <a:t> Ri</a:t>
            </a:r>
            <a:r>
              <a:rPr sz="800" b="0" spc="-10" dirty="0" err="1">
                <a:solidFill>
                  <a:srgbClr val="000000"/>
                </a:solidFill>
                <a:latin typeface="Arial" panose="020B0604020202020204"/>
                <a:cs typeface="Arial" panose="020B0604020202020204" pitchFamily="34" charset="0"/>
              </a:rPr>
              <a:t>ghts</a:t>
            </a:r>
            <a:r>
              <a:rPr sz="800" b="0" spc="-40" dirty="0">
                <a:solidFill>
                  <a:srgbClr val="000000"/>
                </a:solidFill>
                <a:latin typeface="Arial" panose="020B0604020202020204"/>
                <a:cs typeface="Arial" panose="020B0604020202020204" pitchFamily="34" charset="0"/>
              </a:rPr>
              <a:t> </a:t>
            </a:r>
            <a:r>
              <a:rPr lang="en-SG" sz="800" b="0" spc="-40" dirty="0">
                <a:solidFill>
                  <a:srgbClr val="000000"/>
                </a:solidFill>
                <a:latin typeface="Arial" panose="020B0604020202020204"/>
                <a:cs typeface="Arial" panose="020B0604020202020204" pitchFamily="34" charset="0"/>
              </a:rPr>
              <a:t>I</a:t>
            </a:r>
            <a:r>
              <a:rPr sz="800" b="0" spc="-10" dirty="0" err="1">
                <a:solidFill>
                  <a:srgbClr val="000000"/>
                </a:solidFill>
                <a:latin typeface="Arial" panose="020B0604020202020204"/>
                <a:cs typeface="Arial" panose="020B0604020202020204" pitchFamily="34" charset="0"/>
              </a:rPr>
              <a:t>ssue</a:t>
            </a:r>
            <a:endParaRPr lang="en-SG" sz="800" b="0" spc="-10" dirty="0">
              <a:solidFill>
                <a:srgbClr val="000000"/>
              </a:solidFill>
              <a:latin typeface="Arial" panose="020B0604020202020204"/>
              <a:cs typeface="Arial" panose="020B0604020202020204" pitchFamily="34" charset="0"/>
            </a:endParaRPr>
          </a:p>
        </p:txBody>
      </p:sp>
      <p:sp>
        <p:nvSpPr>
          <p:cNvPr id="33" name="object 7">
            <a:extLst>
              <a:ext uri="{FF2B5EF4-FFF2-40B4-BE49-F238E27FC236}">
                <a16:creationId xmlns:a16="http://schemas.microsoft.com/office/drawing/2014/main" id="{EAA2C858-C059-409D-F57F-2C187A7D6562}"/>
              </a:ext>
            </a:extLst>
          </p:cNvPr>
          <p:cNvSpPr txBox="1"/>
          <p:nvPr/>
        </p:nvSpPr>
        <p:spPr>
          <a:xfrm>
            <a:off x="7709778" y="1473445"/>
            <a:ext cx="1508760" cy="984885"/>
          </a:xfrm>
          <a:prstGeom prst="rect">
            <a:avLst/>
          </a:prstGeom>
        </p:spPr>
        <p:txBody>
          <a:bodyPr vert="horz" wrap="square" lIns="0" tIns="0" rIns="0" bIns="0" rtlCol="0">
            <a:spAutoFit/>
          </a:bodyPr>
          <a:lstStyle/>
          <a:p>
            <a:pPr marL="18415" marR="445770">
              <a:spcBef>
                <a:spcPts val="0"/>
              </a:spcBef>
              <a:spcAft>
                <a:spcPts val="0"/>
              </a:spcAft>
            </a:pPr>
            <a:r>
              <a:rPr lang="en-SG" sz="800" spc="-5" dirty="0" err="1">
                <a:solidFill>
                  <a:srgbClr val="C00000"/>
                </a:solidFill>
                <a:latin typeface="Arial" panose="020B0604020202020204"/>
                <a:cs typeface="Arial" panose="020B0604020202020204" pitchFamily="34" charset="0"/>
              </a:rPr>
              <a:t>GlobalCapital</a:t>
            </a:r>
            <a:r>
              <a:rPr lang="en-SG" sz="800" spc="-5" dirty="0">
                <a:solidFill>
                  <a:srgbClr val="C00000"/>
                </a:solidFill>
                <a:latin typeface="Arial" panose="020B0604020202020204"/>
                <a:cs typeface="Arial" panose="020B0604020202020204" pitchFamily="34" charset="0"/>
              </a:rPr>
              <a:t> </a:t>
            </a:r>
            <a:r>
              <a:rPr lang="en-SG" sz="800" spc="-10" dirty="0">
                <a:solidFill>
                  <a:srgbClr val="C00000"/>
                </a:solidFill>
                <a:latin typeface="Arial" panose="020B0604020202020204"/>
                <a:cs typeface="Arial" panose="020B0604020202020204" pitchFamily="34" charset="0"/>
              </a:rPr>
              <a:t>Asia </a:t>
            </a:r>
            <a:r>
              <a:rPr lang="en-SG" sz="800" spc="-5" dirty="0">
                <a:solidFill>
                  <a:srgbClr val="C00000"/>
                </a:solidFill>
                <a:latin typeface="Arial" panose="020B0604020202020204"/>
                <a:cs typeface="Arial" panose="020B0604020202020204" pitchFamily="34" charset="0"/>
              </a:rPr>
              <a:t>Regional</a:t>
            </a:r>
            <a:r>
              <a:rPr lang="en-SG" sz="800" spc="-105" dirty="0">
                <a:solidFill>
                  <a:srgbClr val="C00000"/>
                </a:solidFill>
                <a:latin typeface="Arial" panose="020B0604020202020204"/>
                <a:cs typeface="Arial" panose="020B0604020202020204" pitchFamily="34" charset="0"/>
              </a:rPr>
              <a:t> </a:t>
            </a:r>
            <a:r>
              <a:rPr lang="en-SG" sz="800" spc="-5" dirty="0">
                <a:solidFill>
                  <a:srgbClr val="C00000"/>
                </a:solidFill>
                <a:latin typeface="Arial" panose="020B0604020202020204"/>
                <a:cs typeface="Arial" panose="020B0604020202020204" pitchFamily="34" charset="0"/>
              </a:rPr>
              <a:t>Capital </a:t>
            </a:r>
            <a:r>
              <a:rPr lang="en-SG" sz="800" spc="-10" dirty="0">
                <a:solidFill>
                  <a:srgbClr val="C00000"/>
                </a:solidFill>
                <a:latin typeface="Arial" panose="020B0604020202020204"/>
                <a:cs typeface="Arial" panose="020B0604020202020204" pitchFamily="34" charset="0"/>
              </a:rPr>
              <a:t>Markets</a:t>
            </a:r>
            <a:r>
              <a:rPr lang="en-SG" sz="800" spc="-45" dirty="0">
                <a:solidFill>
                  <a:srgbClr val="C00000"/>
                </a:solidFill>
                <a:latin typeface="Arial" panose="020B0604020202020204"/>
                <a:cs typeface="Arial" panose="020B0604020202020204" pitchFamily="34" charset="0"/>
              </a:rPr>
              <a:t> </a:t>
            </a:r>
            <a:r>
              <a:rPr lang="en-SG" sz="800" spc="-10" dirty="0">
                <a:solidFill>
                  <a:srgbClr val="C00000"/>
                </a:solidFill>
                <a:latin typeface="Arial" panose="020B0604020202020204"/>
                <a:cs typeface="Arial" panose="020B0604020202020204" pitchFamily="34" charset="0"/>
              </a:rPr>
              <a:t>Awards</a:t>
            </a:r>
            <a:endParaRPr lang="en-SG" sz="800" dirty="0">
              <a:solidFill>
                <a:srgbClr val="C00000"/>
              </a:solidFill>
              <a:latin typeface="Arial" panose="020B0604020202020204"/>
              <a:cs typeface="Arial" panose="020B0604020202020204" pitchFamily="34" charset="0"/>
            </a:endParaRPr>
          </a:p>
          <a:p>
            <a:pPr marL="17780" marR="5080">
              <a:spcBef>
                <a:spcPts val="0"/>
              </a:spcBef>
              <a:spcAft>
                <a:spcPts val="0"/>
              </a:spcAft>
              <a:buClr>
                <a:srgbClr val="BD050A"/>
              </a:buClr>
              <a:buSzPct val="85000"/>
              <a:tabLst>
                <a:tab pos="160655" algn="l"/>
              </a:tabLst>
            </a:pPr>
            <a:endParaRPr lang="en-SG" sz="800" spc="-10" dirty="0">
              <a:solidFill>
                <a:srgbClr val="000000"/>
              </a:solidFill>
              <a:latin typeface="Arial" panose="020B0604020202020204"/>
              <a:cs typeface="Arial" panose="020B0604020202020204" pitchFamily="34" charset="0"/>
            </a:endParaRPr>
          </a:p>
          <a:p>
            <a:pPr marL="17780" marR="5080">
              <a:spcBef>
                <a:spcPts val="0"/>
              </a:spcBef>
              <a:spcAft>
                <a:spcPts val="0"/>
              </a:spcAft>
              <a:buClr>
                <a:srgbClr val="BD050A"/>
              </a:buClr>
              <a:buSzPct val="85000"/>
              <a:tabLst>
                <a:tab pos="160655" algn="l"/>
              </a:tabLst>
            </a:pPr>
            <a:r>
              <a:rPr lang="en-SG" sz="800" spc="-10" dirty="0">
                <a:solidFill>
                  <a:srgbClr val="000000"/>
                </a:solidFill>
                <a:latin typeface="Arial" panose="020B0604020202020204"/>
                <a:cs typeface="Arial" panose="020B0604020202020204" pitchFamily="34" charset="0"/>
              </a:rPr>
              <a:t>Best Follow-on / ABB</a:t>
            </a:r>
          </a:p>
          <a:p>
            <a:pPr marL="17780" marR="5080">
              <a:spcBef>
                <a:spcPts val="0"/>
              </a:spcBef>
              <a:spcAft>
                <a:spcPts val="0"/>
              </a:spcAft>
              <a:buClr>
                <a:srgbClr val="BD050A"/>
              </a:buClr>
              <a:buSzPct val="85000"/>
              <a:tabLst>
                <a:tab pos="160655" algn="l"/>
              </a:tabLst>
            </a:pPr>
            <a:r>
              <a:rPr lang="en-SG" sz="800" spc="-5" dirty="0">
                <a:solidFill>
                  <a:srgbClr val="000000"/>
                </a:solidFill>
                <a:latin typeface="Arial" panose="020B0604020202020204"/>
                <a:cs typeface="Arial" panose="020B0604020202020204" pitchFamily="34" charset="0"/>
              </a:rPr>
              <a:t>in Asia</a:t>
            </a:r>
          </a:p>
          <a:p>
            <a:pPr marL="17780" marR="5080">
              <a:spcBef>
                <a:spcPts val="0"/>
              </a:spcBef>
              <a:spcAft>
                <a:spcPts val="0"/>
              </a:spcAft>
              <a:buClr>
                <a:srgbClr val="BD050A"/>
              </a:buClr>
              <a:buSzPct val="85000"/>
              <a:tabLst>
                <a:tab pos="160655" algn="l"/>
              </a:tabLst>
            </a:pPr>
            <a:r>
              <a:rPr lang="en-SG" sz="800" b="0" spc="-5" dirty="0">
                <a:solidFill>
                  <a:srgbClr val="000000"/>
                </a:solidFill>
                <a:latin typeface="Arial" panose="020B0604020202020204"/>
                <a:cs typeface="Arial" panose="020B0604020202020204" pitchFamily="34" charset="0"/>
              </a:rPr>
              <a:t>S$1b Follow On – </a:t>
            </a:r>
            <a:r>
              <a:rPr lang="en-SG" sz="800" b="0" spc="-10" dirty="0">
                <a:solidFill>
                  <a:srgbClr val="000000"/>
                </a:solidFill>
                <a:latin typeface="Arial" panose="020B0604020202020204"/>
                <a:cs typeface="Arial" panose="020B0604020202020204" pitchFamily="34" charset="0"/>
              </a:rPr>
              <a:t>Mapletree </a:t>
            </a:r>
            <a:r>
              <a:rPr lang="en-SG" sz="800" b="0" spc="-5" dirty="0">
                <a:solidFill>
                  <a:srgbClr val="000000"/>
                </a:solidFill>
                <a:latin typeface="Arial" panose="020B0604020202020204"/>
                <a:cs typeface="Arial" panose="020B0604020202020204" pitchFamily="34" charset="0"/>
              </a:rPr>
              <a:t>Commercial </a:t>
            </a:r>
            <a:r>
              <a:rPr lang="en-SG" sz="800" b="0" spc="-20" dirty="0">
                <a:solidFill>
                  <a:srgbClr val="000000"/>
                </a:solidFill>
                <a:latin typeface="Arial" panose="020B0604020202020204"/>
                <a:cs typeface="Arial" panose="020B0604020202020204" pitchFamily="34" charset="0"/>
              </a:rPr>
              <a:t>Trust</a:t>
            </a:r>
            <a:r>
              <a:rPr lang="en-SG" sz="800" b="0" spc="-100" dirty="0">
                <a:solidFill>
                  <a:srgbClr val="000000"/>
                </a:solidFill>
                <a:latin typeface="Arial" panose="020B0604020202020204"/>
                <a:cs typeface="Arial" panose="020B0604020202020204" pitchFamily="34" charset="0"/>
              </a:rPr>
              <a:t> </a:t>
            </a:r>
            <a:r>
              <a:rPr lang="en-SG" sz="800" b="0" spc="-5" dirty="0">
                <a:solidFill>
                  <a:srgbClr val="000000"/>
                </a:solidFill>
                <a:latin typeface="Arial" panose="020B0604020202020204"/>
                <a:cs typeface="Arial" panose="020B0604020202020204" pitchFamily="34" charset="0"/>
              </a:rPr>
              <a:t>(2016)</a:t>
            </a:r>
          </a:p>
        </p:txBody>
      </p:sp>
      <p:sp>
        <p:nvSpPr>
          <p:cNvPr id="34" name="TextBox 24">
            <a:extLst>
              <a:ext uri="{FF2B5EF4-FFF2-40B4-BE49-F238E27FC236}">
                <a16:creationId xmlns:a16="http://schemas.microsoft.com/office/drawing/2014/main" id="{F85317E2-42FE-2F1B-8D28-4D48024BF895}"/>
              </a:ext>
            </a:extLst>
          </p:cNvPr>
          <p:cNvSpPr txBox="1">
            <a:spLocks noChangeArrowheads="1"/>
          </p:cNvSpPr>
          <p:nvPr/>
        </p:nvSpPr>
        <p:spPr bwMode="auto">
          <a:xfrm>
            <a:off x="4827842" y="3355545"/>
            <a:ext cx="2792158" cy="2477601"/>
          </a:xfrm>
          <a:prstGeom prst="rect">
            <a:avLst/>
          </a:prstGeom>
          <a:noFill/>
          <a:ln w="9525">
            <a:noFill/>
            <a:miter lim="800000"/>
            <a:headEnd/>
            <a:tailEnd/>
          </a:ln>
        </p:spPr>
        <p:txBody>
          <a:bodyPr wrap="square" lIns="0" tIns="0" rIns="0" bIns="0" anchor="t">
            <a:spAutoFit/>
          </a:bodyPr>
          <a:lstStyle/>
          <a:p>
            <a:pPr>
              <a:spcBef>
                <a:spcPts val="300"/>
              </a:spcBef>
              <a:spcAft>
                <a:spcPts val="300"/>
              </a:spcAft>
            </a:pPr>
            <a:r>
              <a:rPr lang="en-GB" sz="800" dirty="0">
                <a:solidFill>
                  <a:srgbClr val="C00000"/>
                </a:solidFill>
                <a:latin typeface="Arial" panose="020B0604020202020204"/>
                <a:cs typeface="Arial" panose="020B0604020202020204" pitchFamily="34" charset="0"/>
              </a:rPr>
              <a:t>The Asset Country Awards</a:t>
            </a:r>
          </a:p>
          <a:p>
            <a:pPr>
              <a:spcBef>
                <a:spcPts val="300"/>
              </a:spcBef>
              <a:spcAft>
                <a:spcPts val="300"/>
              </a:spcAft>
              <a:buFont typeface="Wingdings" pitchFamily="2" charset="2"/>
              <a:buNone/>
            </a:pPr>
            <a:r>
              <a:rPr lang="en-GB" sz="800" dirty="0">
                <a:solidFill>
                  <a:srgbClr val="000000"/>
                </a:solidFill>
                <a:latin typeface="Arial" panose="020B0604020202020204"/>
                <a:cs typeface="Arial" panose="020B0604020202020204" pitchFamily="34" charset="0"/>
              </a:rPr>
              <a:t>Best Equity Deal, Singapore</a:t>
            </a:r>
            <a:br>
              <a:rPr lang="en-GB" sz="800" dirty="0">
                <a:solidFill>
                  <a:srgbClr val="000000"/>
                </a:solidFill>
                <a:latin typeface="Arial" panose="020B0604020202020204"/>
                <a:cs typeface="Arial" panose="020B0604020202020204" pitchFamily="34" charset="0"/>
              </a:rPr>
            </a:br>
            <a:r>
              <a:rPr lang="en-US" sz="800" b="0" dirty="0">
                <a:solidFill>
                  <a:srgbClr val="000000"/>
                </a:solidFill>
                <a:latin typeface="Arial" panose="020B0604020202020204"/>
                <a:cs typeface="Arial" panose="020B0604020202020204" pitchFamily="34" charset="0"/>
              </a:rPr>
              <a:t>S$928m IPO of Frasers Logistics &amp; Industrial Trust (2016)</a:t>
            </a:r>
            <a:br>
              <a:rPr lang="en-US" sz="800" b="0" dirty="0">
                <a:solidFill>
                  <a:srgbClr val="000000"/>
                </a:solidFill>
                <a:latin typeface="Arial" panose="020B0604020202020204"/>
                <a:cs typeface="Arial" panose="020B0604020202020204" pitchFamily="34" charset="0"/>
              </a:rPr>
            </a:br>
            <a:r>
              <a:rPr lang="en-GB" sz="800" b="0" dirty="0">
                <a:solidFill>
                  <a:srgbClr val="000000"/>
                </a:solidFill>
                <a:latin typeface="Arial" panose="020B0604020202020204"/>
                <a:cs typeface="Arial" panose="020B0604020202020204" pitchFamily="34" charset="0"/>
              </a:rPr>
              <a:t>S$508m IPO of Keppel DC REIT (2015)</a:t>
            </a:r>
          </a:p>
          <a:p>
            <a:pPr>
              <a:spcBef>
                <a:spcPts val="300"/>
              </a:spcBef>
              <a:spcAft>
                <a:spcPts val="300"/>
              </a:spcAft>
            </a:pPr>
            <a:r>
              <a:rPr lang="en-GB" sz="800" dirty="0">
                <a:solidFill>
                  <a:srgbClr val="000000"/>
                </a:solidFill>
                <a:latin typeface="Arial" panose="020B0604020202020204"/>
                <a:cs typeface="Arial" panose="020B0604020202020204" pitchFamily="34" charset="0"/>
              </a:rPr>
              <a:t>Best IPO, Singapore</a:t>
            </a:r>
            <a:br>
              <a:rPr lang="en-GB" sz="800" dirty="0">
                <a:solidFill>
                  <a:srgbClr val="000000"/>
                </a:solidFill>
                <a:latin typeface="Arial" panose="020B0604020202020204"/>
                <a:cs typeface="Arial" panose="020B0604020202020204" pitchFamily="34" charset="0"/>
              </a:rPr>
            </a:br>
            <a:r>
              <a:rPr lang="en-SG" sz="800" b="0" dirty="0">
                <a:solidFill>
                  <a:srgbClr val="000000"/>
                </a:solidFill>
                <a:latin typeface="Arial" panose="020B0604020202020204"/>
                <a:cs typeface="Arial" panose="020B0604020202020204" pitchFamily="34" charset="0"/>
              </a:rPr>
              <a:t>US$632m IPO of Prime US REIT (2019)</a:t>
            </a:r>
            <a:br>
              <a:rPr lang="en-SG" sz="800" b="0" dirty="0">
                <a:solidFill>
                  <a:srgbClr val="000000"/>
                </a:solidFill>
                <a:latin typeface="Arial" panose="020B0604020202020204"/>
                <a:cs typeface="Arial" panose="020B0604020202020204" pitchFamily="34" charset="0"/>
              </a:rPr>
            </a:br>
            <a:r>
              <a:rPr lang="en-US" sz="800" b="0" dirty="0">
                <a:solidFill>
                  <a:srgbClr val="000000"/>
                </a:solidFill>
                <a:latin typeface="Arial" panose="020B0604020202020204"/>
                <a:cs typeface="Arial" panose="020B0604020202020204" pitchFamily="34" charset="0"/>
              </a:rPr>
              <a:t>US$</a:t>
            </a:r>
            <a:r>
              <a:rPr lang="en-SG" sz="800" b="0" dirty="0">
                <a:solidFill>
                  <a:srgbClr val="000000"/>
                </a:solidFill>
                <a:latin typeface="Arial" panose="020B0604020202020204"/>
                <a:cs typeface="Arial" panose="020B0604020202020204" pitchFamily="34" charset="0"/>
              </a:rPr>
              <a:t>305m IPO of </a:t>
            </a:r>
            <a:r>
              <a:rPr lang="en-SG" sz="800" b="0" dirty="0" err="1">
                <a:solidFill>
                  <a:srgbClr val="000000"/>
                </a:solidFill>
                <a:latin typeface="Arial" panose="020B0604020202020204"/>
                <a:cs typeface="Arial" panose="020B0604020202020204" pitchFamily="34" charset="0"/>
              </a:rPr>
              <a:t>Sasseur</a:t>
            </a:r>
            <a:r>
              <a:rPr lang="en-SG" sz="800" b="0" dirty="0">
                <a:solidFill>
                  <a:srgbClr val="000000"/>
                </a:solidFill>
                <a:latin typeface="Arial" panose="020B0604020202020204"/>
                <a:cs typeface="Arial" panose="020B0604020202020204" pitchFamily="34" charset="0"/>
              </a:rPr>
              <a:t> REIT (2018)</a:t>
            </a:r>
            <a:br>
              <a:rPr lang="en-SG" sz="800" b="0" dirty="0">
                <a:solidFill>
                  <a:srgbClr val="000000"/>
                </a:solidFill>
                <a:latin typeface="Arial" panose="020B0604020202020204"/>
                <a:cs typeface="Arial" panose="020B0604020202020204" pitchFamily="34" charset="0"/>
              </a:rPr>
            </a:br>
            <a:r>
              <a:rPr lang="en-US" sz="800" b="0" dirty="0">
                <a:solidFill>
                  <a:srgbClr val="000000"/>
                </a:solidFill>
                <a:latin typeface="Arial" panose="020B0604020202020204"/>
                <a:cs typeface="Arial" panose="020B0604020202020204" pitchFamily="34" charset="0"/>
              </a:rPr>
              <a:t>S$2.35b IPO of </a:t>
            </a:r>
            <a:r>
              <a:rPr lang="en-US" sz="800" b="0" dirty="0" err="1">
                <a:solidFill>
                  <a:srgbClr val="000000"/>
                </a:solidFill>
                <a:latin typeface="Arial" panose="020B0604020202020204"/>
                <a:cs typeface="Arial" panose="020B0604020202020204" pitchFamily="34" charset="0"/>
              </a:rPr>
              <a:t>NetLink</a:t>
            </a:r>
            <a:r>
              <a:rPr lang="en-US" sz="800" b="0" dirty="0">
                <a:solidFill>
                  <a:srgbClr val="000000"/>
                </a:solidFill>
                <a:latin typeface="Arial" panose="020B0604020202020204"/>
                <a:cs typeface="Arial" panose="020B0604020202020204" pitchFamily="34" charset="0"/>
              </a:rPr>
              <a:t> NBN Trust</a:t>
            </a:r>
            <a:r>
              <a:rPr lang="en-GB" sz="800" b="0" dirty="0">
                <a:solidFill>
                  <a:srgbClr val="000000"/>
                </a:solidFill>
                <a:latin typeface="Arial" panose="020B0604020202020204"/>
                <a:cs typeface="Arial" panose="020B0604020202020204" pitchFamily="34" charset="0"/>
              </a:rPr>
              <a:t> (2017)</a:t>
            </a:r>
          </a:p>
          <a:p>
            <a:pPr>
              <a:spcBef>
                <a:spcPts val="300"/>
              </a:spcBef>
              <a:spcAft>
                <a:spcPts val="300"/>
              </a:spcAft>
            </a:pPr>
            <a:r>
              <a:rPr lang="en-GB" sz="800" dirty="0">
                <a:solidFill>
                  <a:srgbClr val="000000"/>
                </a:solidFill>
                <a:latin typeface="Arial" panose="020B0604020202020204"/>
                <a:cs typeface="Arial" panose="020B0604020202020204" pitchFamily="34" charset="0"/>
              </a:rPr>
              <a:t>Best IPO, Indonesia</a:t>
            </a:r>
            <a:br>
              <a:rPr lang="en-GB" sz="800" dirty="0">
                <a:solidFill>
                  <a:srgbClr val="000000"/>
                </a:solidFill>
                <a:latin typeface="Arial" panose="020B0604020202020204"/>
                <a:cs typeface="Arial" panose="020B0604020202020204" pitchFamily="34" charset="0"/>
              </a:rPr>
            </a:br>
            <a:r>
              <a:rPr lang="en-US" sz="800" b="0" dirty="0">
                <a:solidFill>
                  <a:srgbClr val="000000"/>
                </a:solidFill>
                <a:latin typeface="Arial" panose="020B0604020202020204"/>
                <a:cs typeface="Arial" panose="020B0604020202020204" pitchFamily="34" charset="0"/>
              </a:rPr>
              <a:t>US$143m IPO of </a:t>
            </a:r>
            <a:r>
              <a:rPr lang="en-US" sz="800" b="0" dirty="0" err="1">
                <a:solidFill>
                  <a:srgbClr val="000000"/>
                </a:solidFill>
                <a:latin typeface="Arial" panose="020B0604020202020204"/>
                <a:cs typeface="Arial" panose="020B0604020202020204" pitchFamily="34" charset="0"/>
              </a:rPr>
              <a:t>Medikaloka</a:t>
            </a:r>
            <a:r>
              <a:rPr lang="en-US" sz="800" b="0" dirty="0">
                <a:solidFill>
                  <a:srgbClr val="000000"/>
                </a:solidFill>
                <a:latin typeface="Arial" panose="020B0604020202020204"/>
                <a:cs typeface="Arial" panose="020B0604020202020204" pitchFamily="34" charset="0"/>
              </a:rPr>
              <a:t> </a:t>
            </a:r>
            <a:r>
              <a:rPr lang="en-GB" sz="800" b="0" dirty="0">
                <a:solidFill>
                  <a:srgbClr val="000000"/>
                </a:solidFill>
                <a:latin typeface="Arial" panose="020B0604020202020204"/>
                <a:cs typeface="Arial" panose="020B0604020202020204" pitchFamily="34" charset="0"/>
              </a:rPr>
              <a:t>(2018)</a:t>
            </a:r>
            <a:endParaRPr lang="en-GB" sz="800" dirty="0">
              <a:solidFill>
                <a:srgbClr val="000000"/>
              </a:solidFill>
              <a:latin typeface="Arial" panose="020B0604020202020204"/>
              <a:cs typeface="Arial" panose="020B0604020202020204" pitchFamily="34" charset="0"/>
            </a:endParaRPr>
          </a:p>
          <a:p>
            <a:pPr>
              <a:spcBef>
                <a:spcPts val="300"/>
              </a:spcBef>
              <a:spcAft>
                <a:spcPts val="300"/>
              </a:spcAft>
            </a:pPr>
            <a:r>
              <a:rPr lang="en-GB" sz="800" dirty="0">
                <a:solidFill>
                  <a:srgbClr val="000000"/>
                </a:solidFill>
                <a:latin typeface="Arial" panose="020B0604020202020204"/>
                <a:cs typeface="Arial" panose="020B0604020202020204" pitchFamily="34" charset="0"/>
              </a:rPr>
              <a:t>Multi-Product Financing Solution</a:t>
            </a:r>
            <a:br>
              <a:rPr lang="en-GB" sz="800" dirty="0">
                <a:solidFill>
                  <a:srgbClr val="000000"/>
                </a:solidFill>
                <a:latin typeface="Arial" panose="020B0604020202020204"/>
                <a:cs typeface="Arial" panose="020B0604020202020204" pitchFamily="34" charset="0"/>
              </a:rPr>
            </a:br>
            <a:r>
              <a:rPr lang="en-SG" sz="800" b="0" dirty="0">
                <a:solidFill>
                  <a:srgbClr val="000000"/>
                </a:solidFill>
                <a:latin typeface="Arial" panose="020B0604020202020204"/>
                <a:cs typeface="Arial" panose="020B0604020202020204" pitchFamily="34" charset="0"/>
              </a:rPr>
              <a:t>US$2.1b recapitalisation </a:t>
            </a:r>
            <a:r>
              <a:rPr lang="en-GB" sz="800" b="0" dirty="0">
                <a:solidFill>
                  <a:srgbClr val="000000"/>
                </a:solidFill>
                <a:latin typeface="Arial" panose="020B0604020202020204"/>
                <a:cs typeface="Arial" panose="020B0604020202020204" pitchFamily="34" charset="0"/>
              </a:rPr>
              <a:t>of Sembcorp Marine (2020)</a:t>
            </a:r>
            <a:br>
              <a:rPr lang="en-GB" sz="800" b="0" dirty="0">
                <a:solidFill>
                  <a:srgbClr val="000000"/>
                </a:solidFill>
                <a:latin typeface="Arial" panose="020B0604020202020204"/>
                <a:cs typeface="Arial" panose="020B0604020202020204" pitchFamily="34" charset="0"/>
              </a:rPr>
            </a:br>
            <a:r>
              <a:rPr lang="en-SG" sz="800" b="0" dirty="0">
                <a:solidFill>
                  <a:srgbClr val="000000"/>
                </a:solidFill>
                <a:latin typeface="Arial" panose="020B0604020202020204"/>
                <a:cs typeface="Arial" panose="020B0604020202020204" pitchFamily="34" charset="0"/>
              </a:rPr>
              <a:t>S$500m equity fund raising </a:t>
            </a:r>
            <a:r>
              <a:rPr lang="en-GB" sz="800" b="0" dirty="0">
                <a:solidFill>
                  <a:srgbClr val="000000"/>
                </a:solidFill>
                <a:latin typeface="Arial" panose="020B0604020202020204"/>
                <a:cs typeface="Arial" panose="020B0604020202020204" pitchFamily="34" charset="0"/>
              </a:rPr>
              <a:t>of Keppel Infrastructure Trust (2019)</a:t>
            </a:r>
            <a:endParaRPr lang="en-GB" sz="800" dirty="0">
              <a:solidFill>
                <a:srgbClr val="000000"/>
              </a:solidFill>
              <a:latin typeface="Arial" panose="020B0604020202020204"/>
              <a:cs typeface="Arial" panose="020B0604020202020204" pitchFamily="34" charset="0"/>
            </a:endParaRPr>
          </a:p>
          <a:p>
            <a:pPr>
              <a:spcBef>
                <a:spcPts val="300"/>
              </a:spcBef>
              <a:spcAft>
                <a:spcPts val="300"/>
              </a:spcAft>
            </a:pPr>
            <a:r>
              <a:rPr lang="en-US" sz="800" dirty="0">
                <a:solidFill>
                  <a:srgbClr val="000000"/>
                </a:solidFill>
                <a:latin typeface="Arial" panose="020B0604020202020204"/>
                <a:cs typeface="Arial" panose="020B0604020202020204" pitchFamily="34" charset="0"/>
              </a:rPr>
              <a:t>Best Follow On, Singapore</a:t>
            </a:r>
            <a:br>
              <a:rPr lang="en-US" sz="800" dirty="0">
                <a:solidFill>
                  <a:srgbClr val="000000"/>
                </a:solidFill>
                <a:latin typeface="Arial" panose="020B0604020202020204"/>
                <a:cs typeface="Arial" panose="020B0604020202020204" pitchFamily="34" charset="0"/>
              </a:rPr>
            </a:br>
            <a:r>
              <a:rPr lang="en-GB" sz="800" b="0" dirty="0">
                <a:solidFill>
                  <a:srgbClr val="000000"/>
                </a:solidFill>
                <a:latin typeface="Arial" panose="020B0604020202020204"/>
                <a:cs typeface="Arial" panose="020B0604020202020204" pitchFamily="34" charset="0"/>
              </a:rPr>
              <a:t>S$437m Follow On of Frasers Centrepoint Trust (2019)</a:t>
            </a:r>
            <a:br>
              <a:rPr lang="en-GB" sz="800" b="0" dirty="0">
                <a:solidFill>
                  <a:srgbClr val="000000"/>
                </a:solidFill>
                <a:latin typeface="Arial" panose="020B0604020202020204"/>
                <a:cs typeface="Arial" panose="020B0604020202020204" pitchFamily="34" charset="0"/>
              </a:rPr>
            </a:br>
            <a:r>
              <a:rPr lang="en-GB" sz="800" b="0" dirty="0">
                <a:solidFill>
                  <a:srgbClr val="000000"/>
                </a:solidFill>
                <a:latin typeface="Arial" panose="020B0604020202020204"/>
                <a:cs typeface="Arial" panose="020B0604020202020204" pitchFamily="34" charset="0"/>
              </a:rPr>
              <a:t>S$1b Follow On of Mapletree Commercial Trust (2016)</a:t>
            </a:r>
          </a:p>
        </p:txBody>
      </p:sp>
      <p:sp>
        <p:nvSpPr>
          <p:cNvPr id="6" name="Slide Number Placeholder 5">
            <a:extLst>
              <a:ext uri="{FF2B5EF4-FFF2-40B4-BE49-F238E27FC236}">
                <a16:creationId xmlns:a16="http://schemas.microsoft.com/office/drawing/2014/main" id="{C25677D4-F86A-1BA3-7E4A-A46C931169A5}"/>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14</a:t>
            </a:fld>
            <a:endParaRPr lang="en-US" altLang="en-US" b="0">
              <a:solidFill>
                <a:srgbClr val="000000"/>
              </a:solidFill>
            </a:endParaRPr>
          </a:p>
        </p:txBody>
      </p:sp>
    </p:spTree>
    <p:extLst>
      <p:ext uri="{BB962C8B-B14F-4D97-AF65-F5344CB8AC3E}">
        <p14:creationId xmlns:p14="http://schemas.microsoft.com/office/powerpoint/2010/main" val="3416886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552AFD3E-C077-01D8-C6A7-E70C637D165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6F24597-58A2-2E3E-AD06-8D311F0D36B2}"/>
              </a:ext>
            </a:extLst>
          </p:cNvPr>
          <p:cNvSpPr/>
          <p:nvPr/>
        </p:nvSpPr>
        <p:spPr>
          <a:xfrm>
            <a:off x="741220" y="2091586"/>
            <a:ext cx="8494776" cy="26703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altLang="zh-CN" sz="1200" dirty="0"/>
              <a:t>Statistics of A1 Listing Application made by non-PRC sole sponsor</a:t>
            </a:r>
            <a:endParaRPr lang="en-US" sz="1200" dirty="0"/>
          </a:p>
        </p:txBody>
      </p:sp>
      <p:graphicFrame>
        <p:nvGraphicFramePr>
          <p:cNvPr id="11" name="Table 10">
            <a:extLst>
              <a:ext uri="{FF2B5EF4-FFF2-40B4-BE49-F238E27FC236}">
                <a16:creationId xmlns:a16="http://schemas.microsoft.com/office/drawing/2014/main" id="{940106D5-605E-6FAE-36E9-229420707EF8}"/>
              </a:ext>
            </a:extLst>
          </p:cNvPr>
          <p:cNvGraphicFramePr>
            <a:graphicFrameLocks noGrp="1"/>
          </p:cNvGraphicFramePr>
          <p:nvPr>
            <p:extLst>
              <p:ext uri="{D42A27DB-BD31-4B8C-83A1-F6EECF244321}">
                <p14:modId xmlns:p14="http://schemas.microsoft.com/office/powerpoint/2010/main" val="4145622114"/>
              </p:ext>
            </p:extLst>
          </p:nvPr>
        </p:nvGraphicFramePr>
        <p:xfrm>
          <a:off x="723900" y="2417315"/>
          <a:ext cx="8496300" cy="3387647"/>
        </p:xfrm>
        <a:graphic>
          <a:graphicData uri="http://schemas.openxmlformats.org/drawingml/2006/table">
            <a:tbl>
              <a:tblPr>
                <a:tableStyleId>{5C22544A-7EE6-4342-B048-85BDC9FD1C3A}</a:tableStyleId>
              </a:tblPr>
              <a:tblGrid>
                <a:gridCol w="5071700">
                  <a:extLst>
                    <a:ext uri="{9D8B030D-6E8A-4147-A177-3AD203B41FA5}">
                      <a16:colId xmlns:a16="http://schemas.microsoft.com/office/drawing/2014/main" val="3658584670"/>
                    </a:ext>
                  </a:extLst>
                </a:gridCol>
                <a:gridCol w="1688752">
                  <a:extLst>
                    <a:ext uri="{9D8B030D-6E8A-4147-A177-3AD203B41FA5}">
                      <a16:colId xmlns:a16="http://schemas.microsoft.com/office/drawing/2014/main" val="3984929233"/>
                    </a:ext>
                  </a:extLst>
                </a:gridCol>
                <a:gridCol w="1735848">
                  <a:extLst>
                    <a:ext uri="{9D8B030D-6E8A-4147-A177-3AD203B41FA5}">
                      <a16:colId xmlns:a16="http://schemas.microsoft.com/office/drawing/2014/main" val="2737307165"/>
                    </a:ext>
                  </a:extLst>
                </a:gridCol>
              </a:tblGrid>
              <a:tr h="256883">
                <a:tc>
                  <a:txBody>
                    <a:bodyPr/>
                    <a:lstStyle/>
                    <a:p>
                      <a:pPr algn="l" fontAlgn="ctr">
                        <a:buNone/>
                      </a:pPr>
                      <a:r>
                        <a:rPr lang="en-US" sz="1000" b="1" i="0" u="none" strike="noStrike" dirty="0">
                          <a:solidFill>
                            <a:schemeClr val="bg1"/>
                          </a:solidFill>
                          <a:effectLst/>
                          <a:latin typeface="Arial" panose="020B0604020202020204" pitchFamily="34" charset="0"/>
                        </a:rPr>
                        <a:t>Issuer name</a:t>
                      </a:r>
                    </a:p>
                  </a:txBody>
                  <a:tcPr anchor="ctr">
                    <a:lnB w="12700" cap="flat" cmpd="sng" algn="ctr">
                      <a:solidFill>
                        <a:schemeClr val="bg1">
                          <a:lumMod val="85000"/>
                        </a:schemeClr>
                      </a:solidFill>
                      <a:prstDash val="solid"/>
                      <a:round/>
                      <a:headEnd type="none" w="med" len="med"/>
                      <a:tailEnd type="none" w="med" len="med"/>
                    </a:lnB>
                    <a:solidFill>
                      <a:schemeClr val="tx1">
                        <a:lumMod val="50000"/>
                        <a:lumOff val="50000"/>
                      </a:schemeClr>
                    </a:solidFill>
                  </a:tcPr>
                </a:tc>
                <a:tc>
                  <a:txBody>
                    <a:bodyPr/>
                    <a:lstStyle/>
                    <a:p>
                      <a:pPr algn="ctr" fontAlgn="ctr">
                        <a:buNone/>
                      </a:pPr>
                      <a:r>
                        <a:rPr lang="en-US" sz="1000" b="1" i="0" u="none" strike="noStrike">
                          <a:solidFill>
                            <a:schemeClr val="bg1"/>
                          </a:solidFill>
                          <a:effectLst/>
                          <a:latin typeface="Arial" panose="020B0604020202020204" pitchFamily="34" charset="0"/>
                        </a:rPr>
                        <a:t>Sponsor</a:t>
                      </a:r>
                    </a:p>
                  </a:txBody>
                  <a:tcPr anchor="ctr">
                    <a:lnB w="12700" cap="flat" cmpd="sng" algn="ctr">
                      <a:solidFill>
                        <a:schemeClr val="bg1">
                          <a:lumMod val="85000"/>
                        </a:schemeClr>
                      </a:solidFill>
                      <a:prstDash val="solid"/>
                      <a:round/>
                      <a:headEnd type="none" w="med" len="med"/>
                      <a:tailEnd type="none" w="med" len="med"/>
                    </a:lnB>
                    <a:solidFill>
                      <a:schemeClr val="tx1">
                        <a:lumMod val="50000"/>
                        <a:lumOff val="50000"/>
                      </a:schemeClr>
                    </a:solidFill>
                  </a:tcPr>
                </a:tc>
                <a:tc>
                  <a:txBody>
                    <a:bodyPr/>
                    <a:lstStyle/>
                    <a:p>
                      <a:pPr algn="ctr" fontAlgn="ctr">
                        <a:buNone/>
                      </a:pPr>
                      <a:r>
                        <a:rPr lang="en-US" sz="1000" b="1" i="0" u="none" strike="noStrike">
                          <a:solidFill>
                            <a:schemeClr val="bg1"/>
                          </a:solidFill>
                          <a:effectLst/>
                          <a:latin typeface="Arial" panose="020B0604020202020204" pitchFamily="34" charset="0"/>
                        </a:rPr>
                        <a:t>Submission date</a:t>
                      </a:r>
                    </a:p>
                  </a:txBody>
                  <a:tcPr anchor="ctr">
                    <a:lnB w="12700" cap="flat" cmpd="sng" algn="ctr">
                      <a:solidFill>
                        <a:schemeClr val="bg1">
                          <a:lumMod val="8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3346045777"/>
                  </a:ext>
                </a:extLst>
              </a:tr>
              <a:tr h="240828">
                <a:tc>
                  <a:txBody>
                    <a:bodyPr/>
                    <a:lstStyle/>
                    <a:p>
                      <a:pPr algn="l" fontAlgn="b">
                        <a:buNone/>
                      </a:pPr>
                      <a:r>
                        <a:rPr lang="en-US" sz="900" u="none" strike="noStrike">
                          <a:effectLst/>
                        </a:rPr>
                        <a:t>Zhejiang RockySaaS Technology Co., Ltd.</a:t>
                      </a:r>
                      <a:endParaRPr lang="en-US" sz="900" b="0" i="0" u="none" strike="noStrike">
                        <a:solidFill>
                          <a:srgbClr val="000000"/>
                        </a:solidFill>
                        <a:effectLst/>
                        <a:latin typeface="Arial" panose="020B0604020202020204" pitchFamily="34" charset="0"/>
                      </a:endParaRP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900" u="none" strike="noStrike">
                          <a:effectLst/>
                        </a:rPr>
                        <a:t>Rainbow Capital</a:t>
                      </a:r>
                      <a:endParaRPr lang="en-US" sz="900" b="0" i="0" u="none" strike="noStrike">
                        <a:solidFill>
                          <a:srgbClr val="000000"/>
                        </a:solidFill>
                        <a:effectLst/>
                        <a:latin typeface="Arial" panose="020B0604020202020204" pitchFamily="34" charset="0"/>
                      </a:endParaRP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900" u="none" strike="noStrike">
                          <a:effectLst/>
                        </a:rPr>
                        <a:t>24/01/2025</a:t>
                      </a:r>
                      <a:endParaRPr lang="en-US" sz="900" b="0" i="0" u="none" strike="noStrike">
                        <a:solidFill>
                          <a:srgbClr val="000000"/>
                        </a:solidFill>
                        <a:effectLst/>
                        <a:latin typeface="Arial" panose="020B0604020202020204" pitchFamily="34" charset="0"/>
                      </a:endParaRP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6710827"/>
                  </a:ext>
                </a:extLst>
              </a:tr>
              <a:tr h="240828">
                <a:tc>
                  <a:txBody>
                    <a:bodyPr/>
                    <a:lstStyle/>
                    <a:p>
                      <a:pPr algn="l" fontAlgn="b">
                        <a:buNone/>
                      </a:pPr>
                      <a:r>
                        <a:rPr lang="en-US" sz="900" u="none" strike="noStrike">
                          <a:effectLst/>
                        </a:rPr>
                        <a:t>Jiangsu Horizon Chain Supermarket Company Limited</a:t>
                      </a:r>
                      <a:endParaRPr lang="en-US" sz="900" b="0" i="0" u="none" strike="noStrike">
                        <a:solidFill>
                          <a:srgbClr val="000000"/>
                        </a:solidFill>
                        <a:effectLst/>
                        <a:latin typeface="Arial" panose="020B0604020202020204" pitchFamily="34" charset="0"/>
                      </a:endParaRP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Red Solar</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24/01/2025</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4762142"/>
                  </a:ext>
                </a:extLst>
              </a:tr>
              <a:tr h="240828">
                <a:tc>
                  <a:txBody>
                    <a:bodyPr/>
                    <a:lstStyle/>
                    <a:p>
                      <a:pPr algn="l" fontAlgn="ctr">
                        <a:buNone/>
                      </a:pPr>
                      <a:r>
                        <a:rPr lang="en-US" sz="900" u="none" strike="noStrike" dirty="0" err="1">
                          <a:effectLst/>
                        </a:rPr>
                        <a:t>Sunking</a:t>
                      </a:r>
                      <a:r>
                        <a:rPr lang="en-US" sz="900" u="none" strike="noStrike" dirty="0">
                          <a:effectLst/>
                        </a:rPr>
                        <a:t> Semiconductor Co., </a:t>
                      </a:r>
                      <a:r>
                        <a:rPr lang="en-US" sz="900" u="none" strike="noStrike" dirty="0" err="1">
                          <a:effectLst/>
                        </a:rPr>
                        <a:t>Limitd</a:t>
                      </a:r>
                      <a:endParaRPr lang="en-US" sz="900" b="0" i="0" u="none" strike="noStrike" dirty="0">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dirty="0" err="1">
                          <a:effectLst/>
                        </a:rPr>
                        <a:t>Goldlink</a:t>
                      </a:r>
                      <a:r>
                        <a:rPr lang="en-US" sz="900" u="none" strike="noStrike" dirty="0">
                          <a:effectLst/>
                        </a:rPr>
                        <a:t> Capital</a:t>
                      </a:r>
                      <a:endParaRPr lang="en-US" sz="900" b="0" i="0" u="none" strike="noStrike" dirty="0">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03/04/2025</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3747620"/>
                  </a:ext>
                </a:extLst>
              </a:tr>
              <a:tr h="240828">
                <a:tc>
                  <a:txBody>
                    <a:bodyPr/>
                    <a:lstStyle/>
                    <a:p>
                      <a:pPr algn="l" fontAlgn="ctr">
                        <a:buNone/>
                      </a:pPr>
                      <a:r>
                        <a:rPr lang="en-US" sz="900" b="1" u="none" strike="noStrike">
                          <a:effectLst/>
                        </a:rPr>
                        <a:t>Beijing Xunzhong Communication Technology Co., Ltd.</a:t>
                      </a:r>
                      <a:endParaRPr lang="en-US" sz="900" b="1" i="0" u="none" strike="noStrike">
                        <a:solidFill>
                          <a:srgbClr val="000000"/>
                        </a:solidFill>
                        <a:effectLst/>
                        <a:latin typeface="Arial" panose="020B0604020202020204" pitchFamily="34" charset="0"/>
                      </a:endParaRPr>
                    </a:p>
                  </a:txBody>
                  <a:tcPr anchor="ctr">
                    <a:lnL w="19050" cap="flat" cmpd="sng" algn="ctr">
                      <a:solidFill>
                        <a:srgbClr val="C00000"/>
                      </a:solidFill>
                      <a:prstDash val="sysDash"/>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1" u="none" strike="noStrike">
                          <a:effectLst/>
                        </a:rPr>
                        <a:t>DBS</a:t>
                      </a:r>
                      <a:endParaRPr lang="en-US" sz="900" b="1"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1" u="none" strike="noStrike">
                          <a:effectLst/>
                        </a:rPr>
                        <a:t>30/04/2025</a:t>
                      </a:r>
                      <a:endParaRPr lang="en-US" sz="900" b="1"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9050" cap="flat" cmpd="sng" algn="ctr">
                      <a:solidFill>
                        <a:srgbClr val="C00000"/>
                      </a:solidFill>
                      <a:prstDash val="sysDash"/>
                      <a:round/>
                      <a:headEnd type="none" w="med" len="med"/>
                      <a:tailEnd type="none" w="med" len="med"/>
                    </a:lnR>
                    <a:lnT w="19050" cap="flat" cmpd="sng" algn="ctr">
                      <a:solidFill>
                        <a:srgbClr val="C00000"/>
                      </a:solidFill>
                      <a:prstDash val="sysDash"/>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4985112"/>
                  </a:ext>
                </a:extLst>
              </a:tr>
              <a:tr h="240828">
                <a:tc>
                  <a:txBody>
                    <a:bodyPr/>
                    <a:lstStyle/>
                    <a:p>
                      <a:pPr algn="l" fontAlgn="ctr">
                        <a:buNone/>
                      </a:pPr>
                      <a:r>
                        <a:rPr lang="en-US" sz="900" u="none" strike="noStrike">
                          <a:effectLst/>
                        </a:rPr>
                        <a:t>Micro Connect International Finance Company Limited</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HSBC</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18/06/2025</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2581822"/>
                  </a:ext>
                </a:extLst>
              </a:tr>
              <a:tr h="240828">
                <a:tc>
                  <a:txBody>
                    <a:bodyPr/>
                    <a:lstStyle/>
                    <a:p>
                      <a:pPr algn="l" fontAlgn="ctr">
                        <a:buNone/>
                      </a:pPr>
                      <a:r>
                        <a:rPr lang="en-US" sz="900" u="none" strike="noStrike">
                          <a:effectLst/>
                        </a:rPr>
                        <a:t>Focus International Group Ltd.</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VBG Capital</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26/06/2025</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7951156"/>
                  </a:ext>
                </a:extLst>
              </a:tr>
              <a:tr h="240828">
                <a:tc>
                  <a:txBody>
                    <a:bodyPr/>
                    <a:lstStyle/>
                    <a:p>
                      <a:pPr algn="l" fontAlgn="b">
                        <a:buNone/>
                      </a:pPr>
                      <a:r>
                        <a:rPr lang="en-US" sz="900" u="none" strike="noStrike">
                          <a:effectLst/>
                        </a:rPr>
                        <a:t>Videotimes Technology Holdings Limited</a:t>
                      </a:r>
                      <a:endParaRPr lang="en-US" sz="900" b="0" i="0" u="none" strike="noStrike">
                        <a:solidFill>
                          <a:srgbClr val="000000"/>
                        </a:solidFill>
                        <a:effectLst/>
                        <a:latin typeface="Arial" panose="020B0604020202020204" pitchFamily="34" charset="0"/>
                      </a:endParaRP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900" u="none" strike="noStrike">
                          <a:effectLst/>
                        </a:rPr>
                        <a:t>Kingsway Capital</a:t>
                      </a:r>
                      <a:endParaRPr lang="en-US" sz="900" b="0" i="0" u="none" strike="noStrike">
                        <a:solidFill>
                          <a:srgbClr val="000000"/>
                        </a:solidFill>
                        <a:effectLst/>
                        <a:latin typeface="Arial" panose="020B0604020202020204" pitchFamily="34" charset="0"/>
                      </a:endParaRP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900" u="none" strike="noStrike">
                          <a:effectLst/>
                        </a:rPr>
                        <a:t>23/07/2025</a:t>
                      </a:r>
                      <a:endParaRPr lang="en-US" sz="900" b="0" i="0" u="none" strike="noStrike">
                        <a:solidFill>
                          <a:srgbClr val="000000"/>
                        </a:solidFill>
                        <a:effectLst/>
                        <a:latin typeface="Arial" panose="020B0604020202020204" pitchFamily="34" charset="0"/>
                      </a:endParaRP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5140250"/>
                  </a:ext>
                </a:extLst>
              </a:tr>
              <a:tr h="240828">
                <a:tc>
                  <a:txBody>
                    <a:bodyPr/>
                    <a:lstStyle/>
                    <a:p>
                      <a:pPr algn="l" fontAlgn="ctr">
                        <a:buNone/>
                      </a:pPr>
                      <a:r>
                        <a:rPr lang="en-US" sz="900" u="none" strike="noStrike">
                          <a:effectLst/>
                        </a:rPr>
                        <a:t>Herb Standard Holdings Limited</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Rainbow Capital</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27/07/2025</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3301756"/>
                  </a:ext>
                </a:extLst>
              </a:tr>
              <a:tr h="240828">
                <a:tc>
                  <a:txBody>
                    <a:bodyPr/>
                    <a:lstStyle/>
                    <a:p>
                      <a:pPr algn="l" fontAlgn="ctr">
                        <a:buNone/>
                      </a:pPr>
                      <a:r>
                        <a:rPr lang="en-US" sz="900" u="none" strike="noStrike">
                          <a:effectLst/>
                        </a:rPr>
                        <a:t>ShanH Technology Limited</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Zero2IPO Capital</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14/08/2025</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596119"/>
                  </a:ext>
                </a:extLst>
              </a:tr>
              <a:tr h="240828">
                <a:tc>
                  <a:txBody>
                    <a:bodyPr/>
                    <a:lstStyle/>
                    <a:p>
                      <a:pPr algn="l" fontAlgn="ctr">
                        <a:buNone/>
                      </a:pPr>
                      <a:r>
                        <a:rPr lang="en-US" sz="900" b="1" u="none" strike="noStrike">
                          <a:effectLst/>
                        </a:rPr>
                        <a:t>SIMCo Infrastructure Private Credit OFC</a:t>
                      </a:r>
                      <a:endParaRPr lang="en-US" sz="900" b="1" i="0" u="none" strike="noStrike">
                        <a:solidFill>
                          <a:srgbClr val="000000"/>
                        </a:solidFill>
                        <a:effectLst/>
                        <a:latin typeface="Arial" panose="020B0604020202020204" pitchFamily="34" charset="0"/>
                      </a:endParaRPr>
                    </a:p>
                  </a:txBody>
                  <a:tcPr anchor="ctr">
                    <a:lnL w="19050" cap="flat" cmpd="sng" algn="ctr">
                      <a:solidFill>
                        <a:srgbClr val="C00000"/>
                      </a:solidFill>
                      <a:prstDash val="sysDash"/>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1" u="none" strike="noStrike">
                          <a:effectLst/>
                        </a:rPr>
                        <a:t>DBS</a:t>
                      </a:r>
                      <a:endParaRPr lang="en-US" sz="900" b="1"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1" u="none" strike="noStrike">
                          <a:effectLst/>
                        </a:rPr>
                        <a:t>17/10/2025</a:t>
                      </a:r>
                      <a:endParaRPr lang="en-US" sz="900" b="1"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9050" cap="flat" cmpd="sng" algn="ctr">
                      <a:solidFill>
                        <a:srgbClr val="C00000"/>
                      </a:solidFill>
                      <a:prstDash val="sysDash"/>
                      <a:round/>
                      <a:headEnd type="none" w="med" len="med"/>
                      <a:tailEnd type="none" w="med" len="med"/>
                    </a:lnR>
                    <a:lnT w="19050" cap="flat" cmpd="sng" algn="ctr">
                      <a:solidFill>
                        <a:srgbClr val="C00000"/>
                      </a:solidFill>
                      <a:prstDash val="sysDash"/>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5343552"/>
                  </a:ext>
                </a:extLst>
              </a:tr>
              <a:tr h="240828">
                <a:tc>
                  <a:txBody>
                    <a:bodyPr/>
                    <a:lstStyle/>
                    <a:p>
                      <a:pPr algn="l" fontAlgn="ctr">
                        <a:buNone/>
                      </a:pPr>
                      <a:r>
                        <a:rPr lang="en-US" sz="900" u="none" strike="noStrike">
                          <a:effectLst/>
                        </a:rPr>
                        <a:t>Beijing Deltaphone Technology Co., Limited</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900" u="none" strike="noStrike">
                          <a:effectLst/>
                        </a:rPr>
                        <a:t>Sunny Fortune</a:t>
                      </a:r>
                      <a:endParaRPr lang="en-US" sz="900" b="0" i="0" u="none" strike="noStrike">
                        <a:solidFill>
                          <a:srgbClr val="000000"/>
                        </a:solidFill>
                        <a:effectLst/>
                        <a:latin typeface="Arial" panose="020B0604020202020204" pitchFamily="34" charset="0"/>
                      </a:endParaRP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900" u="none" strike="noStrike">
                          <a:effectLst/>
                        </a:rPr>
                        <a:t>14/11/2025</a:t>
                      </a:r>
                      <a:endParaRPr lang="en-US" sz="900" b="0" i="0" u="none" strike="noStrike">
                        <a:solidFill>
                          <a:srgbClr val="000000"/>
                        </a:solidFill>
                        <a:effectLst/>
                        <a:latin typeface="Arial" panose="020B0604020202020204" pitchFamily="34" charset="0"/>
                      </a:endParaRP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3890435"/>
                  </a:ext>
                </a:extLst>
              </a:tr>
              <a:tr h="240828">
                <a:tc>
                  <a:txBody>
                    <a:bodyPr/>
                    <a:lstStyle/>
                    <a:p>
                      <a:pPr algn="l" fontAlgn="ctr">
                        <a:buNone/>
                      </a:pPr>
                      <a:r>
                        <a:rPr lang="en-US" sz="900" u="none" strike="noStrike">
                          <a:effectLst/>
                        </a:rPr>
                        <a:t>Ningbo Haishangxian Information Technology Co., Ltd.</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Sunny Fortune</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u="none" strike="noStrike">
                          <a:effectLst/>
                        </a:rPr>
                        <a:t>27/11/2025</a:t>
                      </a:r>
                      <a:endParaRPr lang="en-US" sz="900" b="0"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922149"/>
                  </a:ext>
                </a:extLst>
              </a:tr>
              <a:tr h="240828">
                <a:tc>
                  <a:txBody>
                    <a:bodyPr/>
                    <a:lstStyle/>
                    <a:p>
                      <a:pPr algn="l" fontAlgn="ctr">
                        <a:buNone/>
                      </a:pPr>
                      <a:r>
                        <a:rPr lang="en-US" sz="900" b="1" u="none" strike="noStrike">
                          <a:effectLst/>
                        </a:rPr>
                        <a:t>Lung Fung Group Holdings Limited</a:t>
                      </a:r>
                      <a:endParaRPr lang="en-US" sz="900" b="1" i="0" u="none" strike="noStrike">
                        <a:solidFill>
                          <a:srgbClr val="000000"/>
                        </a:solidFill>
                        <a:effectLst/>
                        <a:latin typeface="Arial" panose="020B0604020202020204" pitchFamily="34" charset="0"/>
                      </a:endParaRPr>
                    </a:p>
                  </a:txBody>
                  <a:tcPr anchor="ctr">
                    <a:lnL w="19050" cap="flat" cmpd="sng" algn="ctr">
                      <a:solidFill>
                        <a:srgbClr val="C00000"/>
                      </a:solidFill>
                      <a:prstDash val="sysDash"/>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1" u="none" strike="noStrike">
                          <a:effectLst/>
                        </a:rPr>
                        <a:t>DBS</a:t>
                      </a:r>
                      <a:endParaRPr lang="en-US" sz="900" b="1" i="0" u="none" strike="noStrike">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C00000"/>
                      </a:solidFill>
                      <a:prstDash val="sysDash"/>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1" u="none" strike="noStrike" dirty="0">
                          <a:effectLst/>
                        </a:rPr>
                        <a:t>28/11/2025</a:t>
                      </a:r>
                      <a:endParaRPr lang="en-US" sz="900" b="1" i="0" u="none" strike="noStrike" dirty="0">
                        <a:solidFill>
                          <a:srgbClr val="000000"/>
                        </a:solidFill>
                        <a:effectLst/>
                        <a:latin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19050" cap="flat" cmpd="sng" algn="ctr">
                      <a:solidFill>
                        <a:srgbClr val="C00000"/>
                      </a:solidFill>
                      <a:prstDash val="sysDash"/>
                      <a:round/>
                      <a:headEnd type="none" w="med" len="med"/>
                      <a:tailEnd type="none" w="med" len="med"/>
                    </a:lnR>
                    <a:lnT w="19050" cap="flat" cmpd="sng" algn="ctr">
                      <a:solidFill>
                        <a:srgbClr val="C00000"/>
                      </a:solidFill>
                      <a:prstDash val="sysDash"/>
                      <a:round/>
                      <a:headEnd type="none" w="med" len="med"/>
                      <a:tailEnd type="none" w="med" len="med"/>
                    </a:lnT>
                    <a:lnB w="19050" cap="flat" cmpd="sng" algn="ctr">
                      <a:solidFill>
                        <a:srgbClr val="C00000"/>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8335884"/>
                  </a:ext>
                </a:extLst>
              </a:tr>
            </a:tbl>
          </a:graphicData>
        </a:graphic>
      </p:graphicFrame>
      <p:sp>
        <p:nvSpPr>
          <p:cNvPr id="2" name="Title 1">
            <a:extLst>
              <a:ext uri="{FF2B5EF4-FFF2-40B4-BE49-F238E27FC236}">
                <a16:creationId xmlns:a16="http://schemas.microsoft.com/office/drawing/2014/main" id="{F5C3DA58-9C6C-7070-0321-1ECFAF765C24}"/>
              </a:ext>
            </a:extLst>
          </p:cNvPr>
          <p:cNvSpPr>
            <a:spLocks noGrp="1"/>
          </p:cNvSpPr>
          <p:nvPr>
            <p:ph type="title"/>
          </p:nvPr>
        </p:nvSpPr>
        <p:spPr/>
        <p:txBody>
          <a:bodyPr/>
          <a:lstStyle/>
          <a:p>
            <a:r>
              <a:rPr lang="en-US" sz="2000" dirty="0"/>
              <a:t>DBS is the Most </a:t>
            </a:r>
            <a:r>
              <a:rPr lang="en-US" altLang="zh-TW" sz="2000" dirty="0"/>
              <a:t>A</a:t>
            </a:r>
            <a:r>
              <a:rPr lang="en-US" sz="2000" dirty="0"/>
              <a:t>ctive non-PRC Sponsor Bank in </a:t>
            </a:r>
            <a:r>
              <a:rPr lang="en-US" sz="2000" dirty="0" err="1"/>
              <a:t>HKEx</a:t>
            </a:r>
            <a:r>
              <a:rPr lang="en-US" sz="2000" dirty="0"/>
              <a:t> IPOs in 2025</a:t>
            </a:r>
          </a:p>
        </p:txBody>
      </p:sp>
      <p:sp>
        <p:nvSpPr>
          <p:cNvPr id="6" name="Text Box 2589">
            <a:extLst>
              <a:ext uri="{FF2B5EF4-FFF2-40B4-BE49-F238E27FC236}">
                <a16:creationId xmlns:a16="http://schemas.microsoft.com/office/drawing/2014/main" id="{F48AD5E5-9337-4DF9-B295-770F5F6D9F75}"/>
              </a:ext>
            </a:extLst>
          </p:cNvPr>
          <p:cNvSpPr txBox="1">
            <a:spLocks noChangeArrowheads="1"/>
          </p:cNvSpPr>
          <p:nvPr/>
        </p:nvSpPr>
        <p:spPr bwMode="gray">
          <a:xfrm>
            <a:off x="723899" y="1093320"/>
            <a:ext cx="8494776" cy="861774"/>
          </a:xfrm>
          <a:prstGeom prst="rect">
            <a:avLst/>
          </a:prstGeom>
          <a:solidFill>
            <a:srgbClr val="FEBFB3"/>
          </a:solid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t">
            <a:spAutoFit/>
          </a:bodyPr>
          <a:lstStyle>
            <a:defPPr>
              <a:defRPr lang="en-US"/>
            </a:defPPr>
            <a:lvl1pPr marL="209556" indent="-209556" fontAlgn="auto">
              <a:spcBef>
                <a:spcPts val="0"/>
              </a:spcBef>
              <a:spcAft>
                <a:spcPts val="0"/>
              </a:spcAft>
              <a:buClr>
                <a:srgbClr val="BE050A"/>
              </a:buClr>
              <a:buFont typeface="Wingdings 2" panose="05020102010507070707" pitchFamily="18" charset="2"/>
              <a:buChar char="¡"/>
              <a:tabLst>
                <a:tab pos="1266124" algn="l"/>
              </a:tabLst>
              <a:defRPr sz="1100" b="0" kern="0">
                <a:solidFill>
                  <a:sysClr val="windowText" lastClr="000000"/>
                </a:solidFill>
                <a:latin typeface="Arial" panose="020B0604020202020204" pitchFamily="34" charset="0"/>
                <a:ea typeface="DFKaiShu-GB5"/>
              </a:defRPr>
            </a:lvl1pPr>
          </a:lstStyle>
          <a:p>
            <a:pPr marL="209550" indent="-209550"/>
            <a:r>
              <a:rPr lang="en-US" altLang="zh-CN" dirty="0"/>
              <a:t>DBS, in the capacity of Sole Sponsor, submitted 3 A1 listing application in 2025, being the most active non-PRC bank in HK IPO Sponsor Market</a:t>
            </a:r>
            <a:endParaRPr lang="en-US" dirty="0"/>
          </a:p>
          <a:p>
            <a:pPr marL="209550" indent="-209550"/>
            <a:r>
              <a:rPr lang="en-US" altLang="zh-CN" dirty="0">
                <a:latin typeface="Arial"/>
                <a:cs typeface="Arial"/>
              </a:rPr>
              <a:t>DBS promises to deploy experienced team and sufficient resources to execute and run each IPO transaction, providing high-quality services to DBS’ clients</a:t>
            </a:r>
          </a:p>
        </p:txBody>
      </p:sp>
      <p:sp>
        <p:nvSpPr>
          <p:cNvPr id="8" name="Text Placeholder 4">
            <a:extLst>
              <a:ext uri="{FF2B5EF4-FFF2-40B4-BE49-F238E27FC236}">
                <a16:creationId xmlns:a16="http://schemas.microsoft.com/office/drawing/2014/main" id="{387F67C9-E3D2-31C2-8C74-316F09EAB52D}"/>
              </a:ext>
            </a:extLst>
          </p:cNvPr>
          <p:cNvSpPr txBox="1">
            <a:spLocks/>
          </p:cNvSpPr>
          <p:nvPr/>
        </p:nvSpPr>
        <p:spPr bwMode="auto">
          <a:xfrm>
            <a:off x="717153" y="5987226"/>
            <a:ext cx="8494776" cy="184666"/>
          </a:xfrm>
          <a:prstGeom prst="rect">
            <a:avLst/>
          </a:prstGeom>
          <a:noFill/>
          <a:ln w="9525">
            <a:noFill/>
            <a:miter lim="800000"/>
            <a:headEnd/>
            <a:tailEnd/>
          </a:ln>
        </p:spPr>
        <p:txBody>
          <a:bodyPr vert="horz" wrap="square" lIns="0" tIns="45720" rIns="0" bIns="45720" numCol="1" anchor="b" anchorCtr="0" compatLnSpc="1">
            <a:prstTxWarp prst="textNoShape">
              <a:avLst/>
            </a:prstTxWarp>
            <a:spAutoFit/>
          </a:bodyPr>
          <a:lstStyle>
            <a:lvl1pPr marL="284163" indent="-284163" algn="l" rtl="0" eaLnBrk="0" fontAlgn="base" hangingPunct="0">
              <a:spcBef>
                <a:spcPts val="200"/>
              </a:spcBef>
              <a:spcAft>
                <a:spcPts val="200"/>
              </a:spcAft>
              <a:buClr>
                <a:srgbClr val="BE050A"/>
              </a:buClr>
              <a:buFont typeface="Wingdings 2" panose="05020102010507070707" pitchFamily="18" charset="2"/>
              <a:buChar char="¡"/>
              <a:defRPr sz="1600">
                <a:solidFill>
                  <a:schemeClr val="tx1"/>
                </a:solidFill>
                <a:latin typeface="+mn-lt"/>
                <a:ea typeface="+mn-ea"/>
                <a:cs typeface="+mn-cs"/>
              </a:defRPr>
            </a:lvl1pPr>
            <a:lvl2pPr marL="684213" indent="-285750" algn="l" rtl="0" eaLnBrk="0" fontAlgn="base" hangingPunct="0">
              <a:spcBef>
                <a:spcPts val="200"/>
              </a:spcBef>
              <a:spcAft>
                <a:spcPts val="200"/>
              </a:spcAft>
              <a:buClr>
                <a:srgbClr val="626262"/>
              </a:buClr>
              <a:buFont typeface="Arial" panose="020B0604020202020204" pitchFamily="34" charset="0"/>
              <a:buChar char="―"/>
              <a:defRPr sz="1500">
                <a:solidFill>
                  <a:schemeClr val="tx1"/>
                </a:solidFill>
                <a:latin typeface="+mn-lt"/>
                <a:ea typeface="+mn-ea"/>
                <a:cs typeface="+mn-cs"/>
              </a:defRPr>
            </a:lvl2pPr>
            <a:lvl3pPr marL="1068388" indent="-269875" algn="l" rtl="0" eaLnBrk="0" fontAlgn="base" hangingPunct="0">
              <a:spcBef>
                <a:spcPts val="200"/>
              </a:spcBef>
              <a:spcAft>
                <a:spcPts val="200"/>
              </a:spcAft>
              <a:buFont typeface="Arial" panose="020B0604020202020204" pitchFamily="34" charset="0"/>
              <a:buChar char="‒"/>
              <a:defRPr sz="1500">
                <a:solidFill>
                  <a:schemeClr val="tx1"/>
                </a:solidFill>
                <a:latin typeface="+mn-lt"/>
                <a:ea typeface="+mn-ea"/>
                <a:cs typeface="+mn-cs"/>
              </a:defRPr>
            </a:lvl3pPr>
            <a:lvl4pPr marL="1484313" indent="-301625" algn="l" rtl="0" eaLnBrk="0" fontAlgn="base" hangingPunct="0">
              <a:spcBef>
                <a:spcPts val="200"/>
              </a:spcBef>
              <a:spcAft>
                <a:spcPts val="200"/>
              </a:spcAft>
              <a:buChar char="–"/>
              <a:defRPr sz="1500">
                <a:solidFill>
                  <a:schemeClr val="tx1"/>
                </a:solidFill>
                <a:latin typeface="+mn-lt"/>
                <a:ea typeface="+mn-ea"/>
                <a:cs typeface="+mn-cs"/>
              </a:defRPr>
            </a:lvl4pPr>
            <a:lvl5pPr marL="1827213" indent="-228600" algn="l" rtl="0" eaLnBrk="0" fontAlgn="base" hangingPunct="0">
              <a:spcBef>
                <a:spcPts val="200"/>
              </a:spcBef>
              <a:spcAft>
                <a:spcPts val="200"/>
              </a:spcAft>
              <a:buChar char="»"/>
              <a:defRPr sz="1500">
                <a:solidFill>
                  <a:schemeClr val="tx1"/>
                </a:solidFill>
                <a:latin typeface="+mn-lt"/>
                <a:ea typeface="+mn-ea"/>
                <a:cs typeface="+mn-cs"/>
              </a:defRPr>
            </a:lvl5pPr>
            <a:lvl6pPr marL="2284413" indent="-228600" algn="l" rtl="0" fontAlgn="base">
              <a:spcBef>
                <a:spcPct val="0"/>
              </a:spcBef>
              <a:spcAft>
                <a:spcPct val="30000"/>
              </a:spcAft>
              <a:buChar char="»"/>
              <a:defRPr sz="1500">
                <a:solidFill>
                  <a:schemeClr val="tx1"/>
                </a:solidFill>
                <a:latin typeface="+mn-lt"/>
                <a:ea typeface="+mn-ea"/>
                <a:cs typeface="+mn-cs"/>
              </a:defRPr>
            </a:lvl6pPr>
            <a:lvl7pPr marL="2741613" indent="-228600" algn="l" rtl="0" fontAlgn="base">
              <a:spcBef>
                <a:spcPct val="0"/>
              </a:spcBef>
              <a:spcAft>
                <a:spcPct val="30000"/>
              </a:spcAft>
              <a:buChar char="»"/>
              <a:defRPr sz="1500">
                <a:solidFill>
                  <a:schemeClr val="tx1"/>
                </a:solidFill>
                <a:latin typeface="+mn-lt"/>
                <a:ea typeface="+mn-ea"/>
                <a:cs typeface="+mn-cs"/>
              </a:defRPr>
            </a:lvl7pPr>
            <a:lvl8pPr marL="3198813" indent="-228600" algn="l" rtl="0" fontAlgn="base">
              <a:spcBef>
                <a:spcPct val="0"/>
              </a:spcBef>
              <a:spcAft>
                <a:spcPct val="30000"/>
              </a:spcAft>
              <a:buChar char="»"/>
              <a:defRPr sz="1500">
                <a:solidFill>
                  <a:schemeClr val="tx1"/>
                </a:solidFill>
                <a:latin typeface="+mn-lt"/>
                <a:ea typeface="+mn-ea"/>
                <a:cs typeface="+mn-cs"/>
              </a:defRPr>
            </a:lvl8pPr>
            <a:lvl9pPr marL="3656013" indent="-228600" algn="l" rtl="0" fontAlgn="base">
              <a:spcBef>
                <a:spcPct val="0"/>
              </a:spcBef>
              <a:spcAft>
                <a:spcPct val="30000"/>
              </a:spcAft>
              <a:buChar char="»"/>
              <a:defRPr sz="1500">
                <a:solidFill>
                  <a:schemeClr val="tx1"/>
                </a:solidFill>
                <a:latin typeface="+mn-lt"/>
                <a:ea typeface="+mn-ea"/>
                <a:cs typeface="+mn-cs"/>
              </a:defRPr>
            </a:lvl9pPr>
          </a:lstStyle>
          <a:p>
            <a:pPr marL="0" indent="0">
              <a:spcBef>
                <a:spcPts val="0"/>
              </a:spcBef>
              <a:spcAft>
                <a:spcPts val="0"/>
              </a:spcAft>
              <a:buNone/>
              <a:tabLst>
                <a:tab pos="228600" algn="l"/>
              </a:tabLst>
            </a:pPr>
            <a:r>
              <a:rPr lang="en-US" altLang="zh-TW" sz="600" b="0" i="1" kern="0"/>
              <a:t>Note: Above numbers do not include duplicated filings made in same year by same issuer and do not include confidential filings</a:t>
            </a:r>
          </a:p>
        </p:txBody>
      </p:sp>
      <p:sp>
        <p:nvSpPr>
          <p:cNvPr id="5" name="Slide Number Placeholder 4">
            <a:extLst>
              <a:ext uri="{FF2B5EF4-FFF2-40B4-BE49-F238E27FC236}">
                <a16:creationId xmlns:a16="http://schemas.microsoft.com/office/drawing/2014/main" id="{2F4BBC6A-AE01-283A-FF4E-F9013484736D}"/>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15</a:t>
            </a:fld>
            <a:endParaRPr lang="en-US" altLang="en-US" b="0">
              <a:solidFill>
                <a:srgbClr val="000000"/>
              </a:solidFill>
            </a:endParaRPr>
          </a:p>
        </p:txBody>
      </p:sp>
    </p:spTree>
    <p:extLst>
      <p:ext uri="{BB962C8B-B14F-4D97-AF65-F5344CB8AC3E}">
        <p14:creationId xmlns:p14="http://schemas.microsoft.com/office/powerpoint/2010/main" val="681150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AC996-AC1A-6C77-05ED-31BAA1A7B944}"/>
              </a:ext>
            </a:extLst>
          </p:cNvPr>
          <p:cNvSpPr>
            <a:spLocks noGrp="1"/>
          </p:cNvSpPr>
          <p:nvPr>
            <p:ph type="title"/>
          </p:nvPr>
        </p:nvSpPr>
        <p:spPr/>
        <p:txBody>
          <a:bodyPr/>
          <a:lstStyle/>
          <a:p>
            <a:r>
              <a:rPr lang="en-US" sz="2000" b="1" dirty="0"/>
              <a:t>Strong track record in introducing cornerstone and anchor Investors (selected recent projects)</a:t>
            </a:r>
            <a:endParaRPr lang="en-GB" sz="2000" b="1" dirty="0"/>
          </a:p>
        </p:txBody>
      </p:sp>
      <p:graphicFrame>
        <p:nvGraphicFramePr>
          <p:cNvPr id="5" name="Group 74">
            <a:extLst>
              <a:ext uri="{FF2B5EF4-FFF2-40B4-BE49-F238E27FC236}">
                <a16:creationId xmlns:a16="http://schemas.microsoft.com/office/drawing/2014/main" id="{46018F22-53B0-A915-6E4E-D80EE5B91D48}"/>
              </a:ext>
            </a:extLst>
          </p:cNvPr>
          <p:cNvGraphicFramePr>
            <a:graphicFrameLocks noGrp="1" noChangeAspect="1"/>
          </p:cNvGraphicFramePr>
          <p:nvPr>
            <p:custDataLst>
              <p:tags r:id="rId1"/>
            </p:custDataLst>
            <p:extLst>
              <p:ext uri="{D42A27DB-BD31-4B8C-83A1-F6EECF244321}">
                <p14:modId xmlns:p14="http://schemas.microsoft.com/office/powerpoint/2010/main" val="3186511737"/>
              </p:ext>
            </p:extLst>
          </p:nvPr>
        </p:nvGraphicFramePr>
        <p:xfrm>
          <a:off x="727111" y="4158123"/>
          <a:ext cx="8493176" cy="1962912"/>
        </p:xfrm>
        <a:graphic>
          <a:graphicData uri="http://schemas.openxmlformats.org/drawingml/2006/table">
            <a:tbl>
              <a:tblPr/>
              <a:tblGrid>
                <a:gridCol w="993638">
                  <a:extLst>
                    <a:ext uri="{9D8B030D-6E8A-4147-A177-3AD203B41FA5}">
                      <a16:colId xmlns:a16="http://schemas.microsoft.com/office/drawing/2014/main" val="20000"/>
                    </a:ext>
                  </a:extLst>
                </a:gridCol>
                <a:gridCol w="1858989">
                  <a:extLst>
                    <a:ext uri="{9D8B030D-6E8A-4147-A177-3AD203B41FA5}">
                      <a16:colId xmlns:a16="http://schemas.microsoft.com/office/drawing/2014/main" val="2498094068"/>
                    </a:ext>
                  </a:extLst>
                </a:gridCol>
                <a:gridCol w="1880183">
                  <a:extLst>
                    <a:ext uri="{9D8B030D-6E8A-4147-A177-3AD203B41FA5}">
                      <a16:colId xmlns:a16="http://schemas.microsoft.com/office/drawing/2014/main" val="181501301"/>
                    </a:ext>
                  </a:extLst>
                </a:gridCol>
                <a:gridCol w="1880183">
                  <a:extLst>
                    <a:ext uri="{9D8B030D-6E8A-4147-A177-3AD203B41FA5}">
                      <a16:colId xmlns:a16="http://schemas.microsoft.com/office/drawing/2014/main" val="20001"/>
                    </a:ext>
                  </a:extLst>
                </a:gridCol>
                <a:gridCol w="1880183">
                  <a:extLst>
                    <a:ext uri="{9D8B030D-6E8A-4147-A177-3AD203B41FA5}">
                      <a16:colId xmlns:a16="http://schemas.microsoft.com/office/drawing/2014/main" val="20002"/>
                    </a:ext>
                  </a:extLst>
                </a:gridCol>
              </a:tblGrid>
              <a:tr h="126836">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Issuer</a:t>
                      </a:r>
                      <a:endParaRPr kumimoji="0" lang="en-US" sz="8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CN" sz="800" b="0" i="0" u="none" strike="noStrike" cap="none" normalizeH="0" baseline="0">
                          <a:ln>
                            <a:noFill/>
                          </a:ln>
                          <a:solidFill>
                            <a:schemeClr val="tx1"/>
                          </a:solidFill>
                          <a:effectLst/>
                          <a:latin typeface="Arial" panose="020B0604020202020204" pitchFamily="34" charset="0"/>
                          <a:cs typeface="Arial" panose="020B0604020202020204" pitchFamily="34" charset="0"/>
                        </a:rPr>
                        <a:t>Far East Horizon</a:t>
                      </a:r>
                      <a:endPar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ja-JP" sz="800" b="0" i="0" u="none" strike="noStrike" cap="none" normalizeH="0" baseline="0">
                          <a:ln>
                            <a:noFill/>
                          </a:ln>
                          <a:solidFill>
                            <a:schemeClr val="tx1"/>
                          </a:solidFill>
                          <a:effectLst/>
                          <a:latin typeface="Arial" panose="020B0604020202020204" pitchFamily="34" charset="0"/>
                          <a:cs typeface="Arial" panose="020B0604020202020204" pitchFamily="34" charset="0"/>
                        </a:rPr>
                        <a:t>JLMAG</a:t>
                      </a:r>
                      <a:endPar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CN" sz="800" b="0" i="0" u="none" strike="noStrike" cap="none" normalizeH="0" baseline="0">
                          <a:ln>
                            <a:noFill/>
                          </a:ln>
                          <a:solidFill>
                            <a:schemeClr val="tx1"/>
                          </a:solidFill>
                          <a:effectLst/>
                          <a:latin typeface="Arial" panose="020B0604020202020204" pitchFamily="34" charset="0"/>
                          <a:cs typeface="Arial" panose="020B0604020202020204" pitchFamily="34" charset="0"/>
                        </a:rPr>
                        <a:t>Senstime</a:t>
                      </a:r>
                      <a:endPar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rPr>
                        <a:t>SF REIT</a:t>
                      </a:r>
                    </a:p>
                  </a:txBody>
                  <a:tcPr marL="18288" marR="18288" marT="18288" marB="1828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6836">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Industry</a:t>
                      </a:r>
                      <a:endParaRPr kumimoji="0" lang="en-US" sz="8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Financials</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Rare Earth Materials </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ja-JP" sz="800">
                          <a:latin typeface="Arial" panose="020B0604020202020204" pitchFamily="34" charset="0"/>
                          <a:cs typeface="Arial" panose="020B0604020202020204" pitchFamily="34" charset="0"/>
                        </a:rPr>
                        <a:t>Artificial Intelligence </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Logistics </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684600596"/>
                  </a:ext>
                </a:extLst>
              </a:tr>
              <a:tr h="126836">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Listing Date </a:t>
                      </a:r>
                      <a:endParaRPr kumimoji="0" lang="en-US" sz="8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Arial" panose="020B0604020202020204" pitchFamily="34" charset="0"/>
                          <a:cs typeface="Arial" panose="020B0604020202020204" pitchFamily="34" charset="0"/>
                        </a:rPr>
                        <a:t>May 25, 2023 </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Arial" panose="020B0604020202020204" pitchFamily="34" charset="0"/>
                          <a:cs typeface="Arial" panose="020B0604020202020204" pitchFamily="34" charset="0"/>
                        </a:rPr>
                        <a:t>January 14, 2022 </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rtl="0" eaLnBrk="1" fontAlgn="b" latinLnBrk="0" hangingPunct="1">
                        <a:lnSpc>
                          <a:spcPct val="85000"/>
                        </a:lnSpc>
                        <a:spcBef>
                          <a:spcPct val="0"/>
                        </a:spcBef>
                        <a:spcAft>
                          <a:spcPct val="0"/>
                        </a:spcAft>
                        <a:buClr>
                          <a:schemeClr val="accent1"/>
                        </a:buClr>
                        <a:buSzPct val="75000"/>
                        <a:buFont typeface="Arial" panose="020B0604020202020204" pitchFamily="34" charset="0"/>
                        <a:buNone/>
                      </a:pPr>
                      <a:r>
                        <a:rPr lang="en-US" sz="800">
                          <a:latin typeface="Arial" panose="020B0604020202020204" pitchFamily="34" charset="0"/>
                          <a:cs typeface="Arial" panose="020B0604020202020204" pitchFamily="34" charset="0"/>
                        </a:rPr>
                        <a:t>December 30, 2021 </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Arial" panose="020B0604020202020204" pitchFamily="34" charset="0"/>
                          <a:cs typeface="Arial" panose="020B0604020202020204" pitchFamily="34" charset="0"/>
                        </a:rPr>
                        <a:t>May 17, 2021 </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6836">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Listing Location </a:t>
                      </a:r>
                      <a:endParaRPr kumimoji="0" lang="en-US" sz="8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HKEX</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HKEX</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HKEX </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HKEX </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6593">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Offering Size </a:t>
                      </a:r>
                      <a:endParaRPr kumimoji="0" lang="en-US" sz="8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rPr>
                        <a:t>USD210 million</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rPr>
                        <a:t>USD544 million</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95000"/>
                        </a:lnSpc>
                        <a:spcBef>
                          <a:spcPct val="0"/>
                        </a:spcBef>
                        <a:spcAft>
                          <a:spcPct val="0"/>
                        </a:spcAft>
                        <a:buClr>
                          <a:schemeClr val="accent1"/>
                        </a:buClr>
                        <a:buSzPct val="75000"/>
                        <a:buFont typeface="Wingdings" pitchFamily="2" charset="2"/>
                        <a:buNone/>
                        <a:tabLst/>
                      </a:pPr>
                      <a:r>
                        <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rPr>
                        <a:t>HKD5.78 billion</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rPr>
                        <a:t>USD351 million</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2699">
                <a:tc>
                  <a:txBody>
                    <a:bodyPr/>
                    <a:lstStyle/>
                    <a:p>
                      <a:pPr marL="0" marR="0" lvl="0" indent="0" algn="l" defTabSz="914400" rtl="0" eaLnBrk="0" fontAlgn="base" latinLnBrk="0" hangingPunct="0">
                        <a:lnSpc>
                          <a:spcPct val="85000"/>
                        </a:lnSpc>
                        <a:spcBef>
                          <a:spcPct val="0"/>
                        </a:spcBef>
                        <a:spcAft>
                          <a:spcPct val="0"/>
                        </a:spcAft>
                        <a:buClr>
                          <a:schemeClr val="accent1"/>
                        </a:buClr>
                        <a:buSzTx/>
                        <a:buFont typeface="Arial" panose="020B0604020202020204" pitchFamily="34" charset="0"/>
                        <a:buNone/>
                        <a:tabLst/>
                      </a:pPr>
                      <a:r>
                        <a:rPr kumimoji="0" lang="en-US" altLang="zh-CN" sz="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Cornerstone/Anchor Investors Secured by DBS </a:t>
                      </a:r>
                      <a:endParaRPr kumimoji="0" lang="en-US" sz="8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85000"/>
                        </a:lnSpc>
                        <a:spcBef>
                          <a:spcPct val="0"/>
                        </a:spcBef>
                        <a:spcAft>
                          <a:spcPct val="0"/>
                        </a:spcAft>
                        <a:buClr>
                          <a:srgbClr val="FE7917"/>
                        </a:buClr>
                        <a:buSzPct val="75000"/>
                        <a:buFont typeface="Arial" panose="020B0604020202020204" pitchFamily="34" charset="0"/>
                        <a:buNone/>
                        <a:tabLst/>
                        <a:defRPr/>
                      </a:pPr>
                      <a:endParaRPr kumimoji="0" lang="en-US" sz="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endPar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
                          <a:schemeClr val="accent1"/>
                        </a:buClr>
                        <a:buSzPct val="75000"/>
                        <a:buFont typeface="Wingdings" pitchFamily="2" charset="2"/>
                        <a:buNone/>
                        <a:tabLst/>
                        <a:defRPr/>
                      </a:pPr>
                      <a:endPar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rgbClr val="FE7917"/>
                        </a:buClr>
                        <a:buSzPct val="75000"/>
                        <a:buFont typeface="Arial" panose="020B0604020202020204" pitchFamily="34" charset="0"/>
                        <a:buNone/>
                        <a:tabLst/>
                        <a:defRPr/>
                      </a:pPr>
                      <a:endParaRPr kumimoji="0" lang="en-US" sz="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8562">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Orderbook Demand </a:t>
                      </a:r>
                      <a:endParaRPr kumimoji="0" lang="en-US" sz="8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noProof="0">
                          <a:ln>
                            <a:noFill/>
                          </a:ln>
                          <a:solidFill>
                            <a:schemeClr val="tx1"/>
                          </a:solidFill>
                          <a:effectLst/>
                          <a:latin typeface="Arial" panose="020B0604020202020204" pitchFamily="34" charset="0"/>
                          <a:ea typeface="+mn-ea"/>
                          <a:cs typeface="Arial" panose="020B0604020202020204" pitchFamily="34" charset="0"/>
                        </a:rPr>
                        <a:t>DBS introduced 100% of the long-term institutional investors and 72% of the overall institutional investor demand </a:t>
                      </a:r>
                      <a:endParaRPr kumimoji="0" lang="en-US" sz="800" b="0" i="0" u="none" strike="noStrike" kern="1200" cap="none" normalizeH="0" baseline="0" noProof="0">
                        <a:ln>
                          <a:noFill/>
                        </a:ln>
                        <a:solidFill>
                          <a:schemeClr val="tx1"/>
                        </a:solidFill>
                        <a:effectLst/>
                        <a:latin typeface="Arial" panose="020B0604020202020204" pitchFamily="34" charset="0"/>
                        <a:ea typeface="+mn-ea"/>
                        <a:cs typeface="Arial" panose="020B0604020202020204" pitchFamily="34" charset="0"/>
                      </a:endParaRP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DBS brought in 65% of the cornerstone demand and approximately 50% of the overall orderbook demand </a:t>
                      </a:r>
                      <a:endParaRPr kumimoji="0" lang="en-US" sz="800" b="0" i="0"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endParaRP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DBS introduced strategic anchor investors and facilitated SenseTime's participation in its AI development layout in Southeast Asia </a:t>
                      </a:r>
                      <a:endParaRPr kumimoji="0" lang="zh-CN" altLang="en-US"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noProof="0">
                          <a:ln>
                            <a:noFill/>
                          </a:ln>
                          <a:solidFill>
                            <a:schemeClr val="tx1"/>
                          </a:solidFill>
                          <a:effectLst/>
                          <a:latin typeface="Arial" panose="020B0604020202020204" pitchFamily="34" charset="0"/>
                          <a:ea typeface="+mn-ea"/>
                          <a:cs typeface="Arial" panose="020B0604020202020204" pitchFamily="34" charset="0"/>
                        </a:rPr>
                        <a:t>DBS introduced 56% of the total allocation and 61% of the long-only investors</a:t>
                      </a:r>
                      <a:endParaRPr kumimoji="0" lang="en-US" sz="800" b="0" i="0" u="none" strike="noStrike" kern="1200" cap="none" normalizeH="0" baseline="0" noProof="0">
                        <a:ln>
                          <a:noFill/>
                        </a:ln>
                        <a:solidFill>
                          <a:schemeClr val="tx1"/>
                        </a:solidFill>
                        <a:effectLst/>
                        <a:latin typeface="Arial" panose="020B0604020202020204" pitchFamily="34" charset="0"/>
                        <a:ea typeface="+mn-ea"/>
                        <a:cs typeface="Arial" panose="020B0604020202020204" pitchFamily="34" charset="0"/>
                      </a:endParaRP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2699">
                <a:tc>
                  <a:txBody>
                    <a:bodyPr/>
                    <a:lstStyle/>
                    <a:p>
                      <a:pPr marL="0" marR="0" lvl="0" indent="0" algn="l" defTabSz="914400" rtl="0" eaLnBrk="0" fontAlgn="base" latinLnBrk="0" hangingPunct="0">
                        <a:lnSpc>
                          <a:spcPct val="85000"/>
                        </a:lnSpc>
                        <a:spcBef>
                          <a:spcPct val="0"/>
                        </a:spcBef>
                        <a:spcAft>
                          <a:spcPct val="0"/>
                        </a:spcAft>
                        <a:buClr>
                          <a:schemeClr val="accent1"/>
                        </a:buClr>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DBS's Role</a:t>
                      </a: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Joint Sponsor, Joint Global Coordinator, Joint Bookrunner, Joint Lead Manager</a:t>
                      </a: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Joint Global Coordinator, Bookrunner, Joint Lead Manager</a:t>
                      </a: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Joint Global Coordinator, Joint Bookrunner and Joint Lead Manager</a:t>
                      </a: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Sole Listing Agent, Joint Global Coordinator, Joint Bookrunner, Joint Lead Manager</a:t>
                      </a: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6" name="Group 74">
            <a:extLst>
              <a:ext uri="{FF2B5EF4-FFF2-40B4-BE49-F238E27FC236}">
                <a16:creationId xmlns:a16="http://schemas.microsoft.com/office/drawing/2014/main" id="{6DA027B3-99BF-7AF8-5E3B-6D8DD9704686}"/>
              </a:ext>
            </a:extLst>
          </p:cNvPr>
          <p:cNvGraphicFramePr>
            <a:graphicFrameLocks noGrp="1" noChangeAspect="1"/>
          </p:cNvGraphicFramePr>
          <p:nvPr>
            <p:custDataLst>
              <p:tags r:id="rId2"/>
            </p:custDataLst>
            <p:extLst>
              <p:ext uri="{D42A27DB-BD31-4B8C-83A1-F6EECF244321}">
                <p14:modId xmlns:p14="http://schemas.microsoft.com/office/powerpoint/2010/main" val="152840821"/>
              </p:ext>
            </p:extLst>
          </p:nvPr>
        </p:nvGraphicFramePr>
        <p:xfrm>
          <a:off x="723900" y="1399583"/>
          <a:ext cx="8496301" cy="2261616"/>
        </p:xfrm>
        <a:graphic>
          <a:graphicData uri="http://schemas.openxmlformats.org/drawingml/2006/table">
            <a:tbl>
              <a:tblPr/>
              <a:tblGrid>
                <a:gridCol w="1001839">
                  <a:extLst>
                    <a:ext uri="{9D8B030D-6E8A-4147-A177-3AD203B41FA5}">
                      <a16:colId xmlns:a16="http://schemas.microsoft.com/office/drawing/2014/main" val="20000"/>
                    </a:ext>
                  </a:extLst>
                </a:gridCol>
                <a:gridCol w="1494981">
                  <a:extLst>
                    <a:ext uri="{9D8B030D-6E8A-4147-A177-3AD203B41FA5}">
                      <a16:colId xmlns:a16="http://schemas.microsoft.com/office/drawing/2014/main" val="1598050282"/>
                    </a:ext>
                  </a:extLst>
                </a:gridCol>
                <a:gridCol w="1491597">
                  <a:extLst>
                    <a:ext uri="{9D8B030D-6E8A-4147-A177-3AD203B41FA5}">
                      <a16:colId xmlns:a16="http://schemas.microsoft.com/office/drawing/2014/main" val="1255439562"/>
                    </a:ext>
                  </a:extLst>
                </a:gridCol>
                <a:gridCol w="1502628">
                  <a:extLst>
                    <a:ext uri="{9D8B030D-6E8A-4147-A177-3AD203B41FA5}">
                      <a16:colId xmlns:a16="http://schemas.microsoft.com/office/drawing/2014/main" val="2060741662"/>
                    </a:ext>
                  </a:extLst>
                </a:gridCol>
                <a:gridCol w="1502628">
                  <a:extLst>
                    <a:ext uri="{9D8B030D-6E8A-4147-A177-3AD203B41FA5}">
                      <a16:colId xmlns:a16="http://schemas.microsoft.com/office/drawing/2014/main" val="2498094068"/>
                    </a:ext>
                  </a:extLst>
                </a:gridCol>
                <a:gridCol w="1502628">
                  <a:extLst>
                    <a:ext uri="{9D8B030D-6E8A-4147-A177-3AD203B41FA5}">
                      <a16:colId xmlns:a16="http://schemas.microsoft.com/office/drawing/2014/main" val="20001"/>
                    </a:ext>
                  </a:extLst>
                </a:gridCol>
              </a:tblGrid>
              <a:tr h="111327">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Issuer</a:t>
                      </a:r>
                      <a:endParaRPr kumimoji="0" lang="en-US" sz="8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rPr>
                        <a:t>CIG</a:t>
                      </a:r>
                    </a:p>
                  </a:txBody>
                  <a:tcPr marL="18288" marR="18288" marT="18288" marB="1828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CN" sz="800" b="0" i="0" u="none" strike="noStrike" cap="none" normalizeH="0" baseline="0">
                          <a:ln>
                            <a:noFill/>
                          </a:ln>
                          <a:solidFill>
                            <a:schemeClr val="tx1"/>
                          </a:solidFill>
                          <a:effectLst/>
                          <a:latin typeface="Arial" panose="020B0604020202020204" pitchFamily="34" charset="0"/>
                          <a:cs typeface="Arial" panose="020B0604020202020204" pitchFamily="34" charset="0"/>
                        </a:rPr>
                        <a:t>HESAI</a:t>
                      </a:r>
                      <a:endPar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CN" sz="800" b="0" i="0" u="none" strike="noStrike" cap="none" normalizeH="0" baseline="0">
                          <a:ln>
                            <a:noFill/>
                          </a:ln>
                          <a:solidFill>
                            <a:schemeClr val="tx1"/>
                          </a:solidFill>
                          <a:effectLst/>
                          <a:latin typeface="Arial" panose="020B0604020202020204" pitchFamily="34" charset="0"/>
                          <a:cs typeface="Arial" panose="020B0604020202020204" pitchFamily="34" charset="0"/>
                        </a:rPr>
                        <a:t>CommChina</a:t>
                      </a:r>
                      <a:endPar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TW" sz="800" b="0" i="0" u="none" strike="noStrike" cap="none" normalizeH="0" baseline="0">
                          <a:ln>
                            <a:noFill/>
                          </a:ln>
                          <a:solidFill>
                            <a:schemeClr val="tx1"/>
                          </a:solidFill>
                          <a:effectLst/>
                          <a:latin typeface="Arial" panose="020B0604020202020204" pitchFamily="34" charset="0"/>
                          <a:cs typeface="Arial" panose="020B0604020202020204" pitchFamily="34" charset="0"/>
                        </a:rPr>
                        <a:t>Geek+</a:t>
                      </a:r>
                      <a:endPar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CN" sz="800" b="0" i="0" u="none" strike="noStrike" cap="none" normalizeH="0" baseline="0">
                          <a:ln>
                            <a:noFill/>
                          </a:ln>
                          <a:solidFill>
                            <a:schemeClr val="tx1"/>
                          </a:solidFill>
                          <a:effectLst/>
                          <a:latin typeface="Arial" panose="020B0604020202020204" pitchFamily="34" charset="0"/>
                          <a:cs typeface="Arial" panose="020B0604020202020204" pitchFamily="34" charset="0"/>
                        </a:rPr>
                        <a:t>Nanshan Aluminum Intl.</a:t>
                      </a:r>
                      <a:endPar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1327">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Industry</a:t>
                      </a:r>
                      <a:endParaRPr kumimoji="0" lang="en-US" sz="8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Arial" panose="020B0604020202020204" pitchFamily="34" charset="0"/>
                          <a:cs typeface="Arial" panose="020B0604020202020204" pitchFamily="34" charset="0"/>
                        </a:rPr>
                        <a:t>Communications Technology</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Lidar</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ja-JP" sz="800">
                          <a:latin typeface="Arial" panose="020B0604020202020204" pitchFamily="34" charset="0"/>
                          <a:cs typeface="Arial" panose="020B0604020202020204" pitchFamily="34" charset="0"/>
                        </a:rPr>
                        <a:t>Cloud Communication Services </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Smart Warehouse/AI </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Aluminum Industry </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684600596"/>
                  </a:ext>
                </a:extLst>
              </a:tr>
              <a:tr h="111327">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Listing Date </a:t>
                      </a:r>
                      <a:endParaRPr kumimoji="0" lang="en-US" sz="8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Arial" panose="020B0604020202020204" pitchFamily="34" charset="0"/>
                          <a:cs typeface="Arial" panose="020B0604020202020204" pitchFamily="34" charset="0"/>
                        </a:rPr>
                        <a:t>October 28, 2025</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Arial" panose="020B0604020202020204" pitchFamily="34" charset="0"/>
                          <a:cs typeface="Arial" panose="020B0604020202020204" pitchFamily="34" charset="0"/>
                        </a:rPr>
                        <a:t>September 16, 2025 </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Arial" panose="020B0604020202020204" pitchFamily="34" charset="0"/>
                          <a:cs typeface="Arial" panose="020B0604020202020204" pitchFamily="34" charset="0"/>
                        </a:rPr>
                        <a:t>July 9, 2025 </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Arial" panose="020B0604020202020204" pitchFamily="34" charset="0"/>
                          <a:cs typeface="Arial" panose="020B0604020202020204" pitchFamily="34" charset="0"/>
                        </a:rPr>
                        <a:t>July 9, 2025 </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Arial" panose="020B0604020202020204" pitchFamily="34" charset="0"/>
                          <a:cs typeface="Arial" panose="020B0604020202020204" pitchFamily="34" charset="0"/>
                        </a:rPr>
                        <a:t>March 25, 2025 </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1997">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Listing Location </a:t>
                      </a:r>
                      <a:endParaRPr kumimoji="0" lang="en-US" sz="8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Arial" panose="020B0604020202020204" pitchFamily="34" charset="0"/>
                          <a:cs typeface="Arial" panose="020B0604020202020204" pitchFamily="34" charset="0"/>
                        </a:rPr>
                        <a:t>HKEX</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HKEX</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HKEX</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HKEX </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Arial" panose="020B0604020202020204" pitchFamily="34" charset="0"/>
                          <a:cs typeface="Arial" panose="020B0604020202020204" pitchFamily="34" charset="0"/>
                        </a:rPr>
                        <a:t>HKEX</a:t>
                      </a:r>
                      <a:endParaRPr lang="en-US" sz="800">
                        <a:latin typeface="Arial" panose="020B0604020202020204" pitchFamily="34" charset="0"/>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1327">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Offering Size </a:t>
                      </a:r>
                      <a:endParaRPr kumimoji="0" lang="en-US" sz="8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u="none" strike="noStrike">
                          <a:latin typeface="Arial" panose="020B0604020202020204" pitchFamily="34" charset="0"/>
                          <a:ea typeface="楷体" panose="02010609060101010101" pitchFamily="49" charset="-122"/>
                          <a:cs typeface="Arial" panose="020B0604020202020204" pitchFamily="34" charset="0"/>
                        </a:rPr>
                        <a:t>USD593 million</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u="none" strike="noStrike">
                          <a:latin typeface="Arial" panose="020B0604020202020204" pitchFamily="34" charset="0"/>
                          <a:ea typeface="楷体" panose="02010609060101010101" pitchFamily="49" charset="-122"/>
                          <a:cs typeface="Arial" panose="020B0604020202020204" pitchFamily="34" charset="0"/>
                        </a:rPr>
                        <a:t>USD534 million</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u="none" strike="noStrike">
                          <a:latin typeface="Arial" panose="020B0604020202020204" pitchFamily="34" charset="0"/>
                          <a:ea typeface="楷体" panose="02010609060101010101" pitchFamily="49" charset="-122"/>
                          <a:cs typeface="Arial" panose="020B0604020202020204" pitchFamily="34" charset="0"/>
                        </a:rPr>
                        <a:t>HKD413 million </a:t>
                      </a:r>
                      <a:endParaRPr lang="zh-CN" altLang="en-US" sz="800" u="none" strike="noStrike">
                        <a:latin typeface="Arial" panose="020B0604020202020204" pitchFamily="34" charset="0"/>
                        <a:ea typeface="楷体" panose="02010609060101010101" pitchFamily="49" charset="-122"/>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rPr>
                        <a:t>USD345 million</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rPr>
                        <a:t>USD302 million</a:t>
                      </a: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7579">
                <a:tc>
                  <a:txBody>
                    <a:bodyPr/>
                    <a:lstStyle/>
                    <a:p>
                      <a:pPr marL="0" marR="0" lvl="0" indent="0" algn="l" defTabSz="914400" rtl="0" eaLnBrk="0" fontAlgn="base" latinLnBrk="0" hangingPunct="0">
                        <a:lnSpc>
                          <a:spcPct val="85000"/>
                        </a:lnSpc>
                        <a:spcBef>
                          <a:spcPct val="0"/>
                        </a:spcBef>
                        <a:spcAft>
                          <a:spcPct val="0"/>
                        </a:spcAft>
                        <a:buClr>
                          <a:schemeClr val="accent1"/>
                        </a:buClr>
                        <a:buSzTx/>
                        <a:buFont typeface="Arial" panose="020B0604020202020204" pitchFamily="34" charset="0"/>
                        <a:buNone/>
                        <a:tabLst/>
                      </a:pPr>
                      <a:r>
                        <a:rPr kumimoji="0" lang="en-US" altLang="zh-CN" sz="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Cornerstone/Anchor Investors Secured by DBS </a:t>
                      </a:r>
                      <a:endParaRPr kumimoji="0" lang="en-US" sz="8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endPar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endPar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Tongzhou International Development Co., Ltd. </a:t>
                      </a:r>
                      <a:endPar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kumimoji="0" lang="zh-CN"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endPar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endPar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marL="18288" marR="18288" marT="18288" marB="18288"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5282">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Orderbook Demand </a:t>
                      </a:r>
                      <a:endParaRPr kumimoji="0" lang="en-US" sz="8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DBS received total orders of over US$1.8 bn </a:t>
                      </a:r>
                      <a:br>
                        <a:rPr kumimoji="0" lang="en-US"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(i.e. over 3.4x International Offering size)</a:t>
                      </a: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cap="none" normalizeH="0" baseline="0">
                          <a:ln>
                            <a:noFill/>
                          </a:ln>
                          <a:solidFill>
                            <a:schemeClr val="tx1"/>
                          </a:solidFill>
                          <a:effectLst/>
                          <a:latin typeface="Arial" panose="020B0604020202020204" pitchFamily="34" charset="0"/>
                          <a:cs typeface="Arial" panose="020B0604020202020204" pitchFamily="34" charset="0"/>
                        </a:rPr>
                        <a:t>DBS exclusively introduced the only cornerstone investor with Southeast Asian background, accounting for 7% of the cornerstone demand</a:t>
                      </a:r>
                      <a:endPar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cap="none" normalizeH="0" baseline="0">
                          <a:ln>
                            <a:noFill/>
                          </a:ln>
                          <a:solidFill>
                            <a:schemeClr val="tx1"/>
                          </a:solidFill>
                          <a:effectLst/>
                          <a:latin typeface="Arial" panose="020B0604020202020204" pitchFamily="34" charset="0"/>
                          <a:cs typeface="Arial" panose="020B0604020202020204" pitchFamily="34" charset="0"/>
                        </a:rPr>
                        <a:t>DBS brought in 100% of the cornerstone demand and approximately 7.85% of the overall orderbook demand</a:t>
                      </a:r>
                      <a:endParaRPr kumimoji="0" lang="en-US" sz="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DBS exclusively brought in long-term institutional investor demand that covered over 60% of the orderbook</a:t>
                      </a:r>
                      <a:endParaRPr kumimoji="0" lang="en-US"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DBS brought in over 80% of the foreign institutional investor demand</a:t>
                      </a:r>
                      <a:endParaRPr kumimoji="0" lang="en-US"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160">
                <a:tc>
                  <a:txBody>
                    <a:bodyPr/>
                    <a:lstStyle/>
                    <a:p>
                      <a:pPr marL="0" marR="0" lvl="0" indent="0" algn="l" defTabSz="914400" rtl="0" eaLnBrk="0" fontAlgn="base" latinLnBrk="0" hangingPunct="0">
                        <a:lnSpc>
                          <a:spcPct val="85000"/>
                        </a:lnSpc>
                        <a:spcBef>
                          <a:spcPct val="0"/>
                        </a:spcBef>
                        <a:spcAft>
                          <a:spcPct val="0"/>
                        </a:spcAft>
                        <a:buClr>
                          <a:schemeClr val="accent1"/>
                        </a:buClr>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Arial" panose="020B0604020202020204" pitchFamily="34" charset="0"/>
                          <a:cs typeface="Arial" panose="020B0604020202020204" pitchFamily="34" charset="0"/>
                        </a:rPr>
                        <a:t>DBS's Role</a:t>
                      </a:r>
                    </a:p>
                  </a:txBody>
                  <a:tcPr marL="18288" marR="18288" marT="18288" marB="18288" anchor="ctr" horzOverflow="overflow">
                    <a:lnL cap="flat">
                      <a:noFill/>
                    </a:lnL>
                    <a:lnR>
                      <a:noFill/>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Joint Global Coordinator, Joint Bookrunner, Joint Lead Manager</a:t>
                      </a: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Joint Global Coordinator, Joint Bookrunner, Joint Lead Manager</a:t>
                      </a: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0" fontAlgn="base" latinLnBrk="0" hangingPunct="0">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cap="none" normalizeH="0" baseline="0">
                          <a:ln>
                            <a:noFill/>
                          </a:ln>
                          <a:solidFill>
                            <a:schemeClr val="tx1"/>
                          </a:solidFill>
                          <a:effectLst/>
                          <a:latin typeface="Arial" panose="020B0604020202020204" pitchFamily="34" charset="0"/>
                          <a:cs typeface="Arial" panose="020B0604020202020204" pitchFamily="34" charset="0"/>
                        </a:rPr>
                        <a:t>Sole Sponsor, Overall Coordinator, Joint Global Coordinator, Joint Bookrunner and Joint Lead Manager</a:t>
                      </a: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Joint Global Coordinator, Joint Bookrunner, Joint Lead Manager</a:t>
                      </a: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Joint Global Coordinator, Bookrunner, Joint Lead Manager</a:t>
                      </a:r>
                    </a:p>
                  </a:txBody>
                  <a:tcPr marL="18288" marR="18288" marT="18288" marB="18288"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1" name="Mainlogo 1">
            <a:extLst>
              <a:ext uri="{FF2B5EF4-FFF2-40B4-BE49-F238E27FC236}">
                <a16:creationId xmlns:a16="http://schemas.microsoft.com/office/drawing/2014/main" id="{498525C5-7214-D8FF-B154-5B79EADB956B}"/>
              </a:ext>
            </a:extLst>
          </p:cNvPr>
          <p:cNvSpPr>
            <a:spLocks noChangeAspect="1"/>
          </p:cNvSpPr>
          <p:nvPr/>
        </p:nvSpPr>
        <p:spPr>
          <a:xfrm>
            <a:off x="3897098" y="3770042"/>
            <a:ext cx="1151280" cy="344177"/>
          </a:xfrm>
          <a:prstGeom prst="rect">
            <a:avLst/>
          </a:prstGeom>
          <a:blipFill>
            <a:blip r:embed="rId5"/>
            <a:stretch>
              <a:fillRect l="-28031" t="-12610" r="-26751"/>
            </a:stretch>
          </a:blipFill>
          <a:ln w="12700" cap="flat" cmpd="sng" algn="ctr">
            <a:noFill/>
            <a:prstDash val="solid"/>
            <a:miter lim="800000"/>
          </a:ln>
          <a:effectLst/>
        </p:spPr>
        <p:txBody>
          <a:bodyPr rtlCol="0" anchor="ctr"/>
          <a:lstStyle/>
          <a:p>
            <a:pPr algn="ctr">
              <a:defRPr/>
            </a:pPr>
            <a:endParaRPr lang="en-US" sz="1600" kern="0">
              <a:solidFill>
                <a:prstClr val="white"/>
              </a:solidFill>
              <a:latin typeface="Arial" panose="020B0604020202020204" pitchFamily="34" charset="0"/>
              <a:ea typeface="楷体" panose="02010609060101010101" pitchFamily="49" charset="-122"/>
              <a:cs typeface="Arial" panose="020B0604020202020204" pitchFamily="34" charset="0"/>
            </a:endParaRPr>
          </a:p>
        </p:txBody>
      </p:sp>
      <p:sp>
        <p:nvSpPr>
          <p:cNvPr id="42" name="TextBox 41">
            <a:extLst>
              <a:ext uri="{FF2B5EF4-FFF2-40B4-BE49-F238E27FC236}">
                <a16:creationId xmlns:a16="http://schemas.microsoft.com/office/drawing/2014/main" id="{F7AAF109-DDB1-3D7A-1F92-E5E229BEDA37}"/>
              </a:ext>
            </a:extLst>
          </p:cNvPr>
          <p:cNvSpPr txBox="1">
            <a:spLocks noChangeAspect="1"/>
          </p:cNvSpPr>
          <p:nvPr/>
        </p:nvSpPr>
        <p:spPr bwMode="gray">
          <a:xfrm>
            <a:off x="3568700" y="4828669"/>
            <a:ext cx="970814" cy="42498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algn="ctr" eaLnBrk="0" hangingPunct="0">
              <a:lnSpc>
                <a:spcPct val="95000"/>
              </a:lnSpc>
              <a:spcBef>
                <a:spcPts val="100"/>
              </a:spcBef>
              <a:spcAft>
                <a:spcPts val="100"/>
              </a:spcAft>
              <a:defRPr/>
            </a:pPr>
            <a:r>
              <a:rPr lang="en-US" sz="700" kern="0">
                <a:solidFill>
                  <a:srgbClr val="000000"/>
                </a:solidFill>
                <a:latin typeface="Arial" panose="020B0604020202020204" pitchFamily="34" charset="0"/>
                <a:ea typeface="楷体" panose="02010609060101010101" pitchFamily="49" charset="-122"/>
                <a:cs typeface="Arial" panose="020B0604020202020204" pitchFamily="34" charset="0"/>
              </a:rPr>
              <a:t>China SOE </a:t>
            </a:r>
          </a:p>
          <a:p>
            <a:pPr algn="ctr" eaLnBrk="0" hangingPunct="0">
              <a:lnSpc>
                <a:spcPct val="95000"/>
              </a:lnSpc>
              <a:spcBef>
                <a:spcPts val="100"/>
              </a:spcBef>
              <a:spcAft>
                <a:spcPts val="100"/>
              </a:spcAft>
              <a:defRPr/>
            </a:pPr>
            <a:r>
              <a:rPr lang="en-US" sz="700" kern="0">
                <a:solidFill>
                  <a:srgbClr val="000000"/>
                </a:solidFill>
                <a:latin typeface="Arial" panose="020B0604020202020204" pitchFamily="34" charset="0"/>
                <a:ea typeface="楷体" panose="02010609060101010101" pitchFamily="49" charset="-122"/>
                <a:cs typeface="Arial" panose="020B0604020202020204" pitchFamily="34" charset="0"/>
              </a:rPr>
              <a:t>Mixed Ownership Reform Fund</a:t>
            </a:r>
          </a:p>
        </p:txBody>
      </p:sp>
      <p:pic>
        <p:nvPicPr>
          <p:cNvPr id="43" name="Picture 6" descr="CITIC Annual Report 2020">
            <a:extLst>
              <a:ext uri="{FF2B5EF4-FFF2-40B4-BE49-F238E27FC236}">
                <a16:creationId xmlns:a16="http://schemas.microsoft.com/office/drawing/2014/main" id="{14F2107C-B012-BE6F-96F2-62D210FB8E86}"/>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614572" y="4917943"/>
            <a:ext cx="437873" cy="14609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A7D1E0BE-0987-EAB6-F48C-7EB2C17E3F33}"/>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7585015" y="4907572"/>
            <a:ext cx="312076" cy="105903"/>
          </a:xfrm>
          <a:prstGeom prst="rect">
            <a:avLst/>
          </a:prstGeom>
        </p:spPr>
      </p:pic>
      <p:pic>
        <p:nvPicPr>
          <p:cNvPr id="45" name="Picture 44">
            <a:extLst>
              <a:ext uri="{FF2B5EF4-FFF2-40B4-BE49-F238E27FC236}">
                <a16:creationId xmlns:a16="http://schemas.microsoft.com/office/drawing/2014/main" id="{66045166-6B9D-09D7-CA2C-2FB20C658FD6}"/>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Layer>
                </a14:imgProps>
              </a:ext>
            </a:extLst>
          </a:blip>
          <a:stretch>
            <a:fillRect/>
          </a:stretch>
        </p:blipFill>
        <p:spPr>
          <a:xfrm>
            <a:off x="7562978" y="5080164"/>
            <a:ext cx="373097" cy="118136"/>
          </a:xfrm>
          <a:prstGeom prst="rect">
            <a:avLst/>
          </a:prstGeom>
        </p:spPr>
      </p:pic>
      <p:pic>
        <p:nvPicPr>
          <p:cNvPr id="46" name="Picture 6" descr="China Life Insurance Co.Ltd | LinkedIn">
            <a:extLst>
              <a:ext uri="{FF2B5EF4-FFF2-40B4-BE49-F238E27FC236}">
                <a16:creationId xmlns:a16="http://schemas.microsoft.com/office/drawing/2014/main" id="{2BC0CD45-5DD9-E961-66C9-5DC1E1B85758}"/>
              </a:ext>
            </a:extLst>
          </p:cNvPr>
          <p:cNvPicPr>
            <a:picLocks noChangeAspect="1" noChangeArrowheads="1"/>
          </p:cNvPicPr>
          <p:nvPr/>
        </p:nvPicPr>
        <p:blipFill>
          <a:blip r:embed="rId12" cstate="print">
            <a:extLst>
              <a:ext uri="{BEBA8EAE-BF5A-486C-A8C5-ECC9F3942E4B}">
                <a14:imgProps xmlns:a14="http://schemas.microsoft.com/office/drawing/2010/main">
                  <a14:imgLayer r:embed="rId1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042643" y="4890726"/>
            <a:ext cx="282026" cy="28202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0" descr="Cohen &amp; Steers (@cohenandsteers) / Twitter">
            <a:extLst>
              <a:ext uri="{FF2B5EF4-FFF2-40B4-BE49-F238E27FC236}">
                <a16:creationId xmlns:a16="http://schemas.microsoft.com/office/drawing/2014/main" id="{4A6C2562-AB63-A143-F153-02CCC22C527C}"/>
              </a:ext>
            </a:extLst>
          </p:cNvPr>
          <p:cNvPicPr>
            <a:picLocks noChangeAspect="1" noChangeArrowheads="1"/>
          </p:cNvPicPr>
          <p:nvPr/>
        </p:nvPicPr>
        <p:blipFill rotWithShape="1">
          <a:blip r:embed="rId14" cstate="print">
            <a:extLst>
              <a:ext uri="{BEBA8EAE-BF5A-486C-A8C5-ECC9F3942E4B}">
                <a14:imgProps xmlns:a14="http://schemas.microsoft.com/office/drawing/2010/main">
                  <a14:imgLayer r:embed="rId15">
                    <a14:imgEffect>
                      <a14:saturation sat="0"/>
                    </a14:imgEffect>
                  </a14:imgLayer>
                </a14:imgProps>
              </a:ext>
              <a:ext uri="{28A0092B-C50C-407E-A947-70E740481C1C}">
                <a14:useLocalDpi xmlns:a14="http://schemas.microsoft.com/office/drawing/2010/main" val="0"/>
              </a:ext>
            </a:extLst>
          </a:blip>
          <a:srcRect t="28603" b="29001"/>
          <a:stretch/>
        </p:blipFill>
        <p:spPr bwMode="auto">
          <a:xfrm>
            <a:off x="8377565" y="4903305"/>
            <a:ext cx="327203" cy="13872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78CDD401-08ED-7CFF-77CD-270739B16CB8}"/>
              </a:ext>
            </a:extLst>
          </p:cNvPr>
          <p:cNvPicPr>
            <a:picLocks noChangeAspect="1"/>
          </p:cNvPicPr>
          <p:nvPr/>
        </p:nvPicPr>
        <p:blipFill>
          <a:blip r:embed="rId16"/>
          <a:stretch>
            <a:fillRect/>
          </a:stretch>
        </p:blipFill>
        <p:spPr>
          <a:xfrm>
            <a:off x="5855054" y="3828969"/>
            <a:ext cx="760996" cy="271444"/>
          </a:xfrm>
          <a:prstGeom prst="rect">
            <a:avLst/>
          </a:prstGeom>
        </p:spPr>
      </p:pic>
      <p:pic>
        <p:nvPicPr>
          <p:cNvPr id="49" name="Picture 48">
            <a:extLst>
              <a:ext uri="{FF2B5EF4-FFF2-40B4-BE49-F238E27FC236}">
                <a16:creationId xmlns:a16="http://schemas.microsoft.com/office/drawing/2014/main" id="{BDF14A41-595F-C650-4625-73587C47A971}"/>
              </a:ext>
            </a:extLst>
          </p:cNvPr>
          <p:cNvPicPr>
            <a:picLocks noChangeAspect="1"/>
          </p:cNvPicPr>
          <p:nvPr/>
        </p:nvPicPr>
        <p:blipFill>
          <a:blip r:embed="rId17">
            <a:biLevel thresh="50000"/>
          </a:blip>
          <a:stretch>
            <a:fillRect/>
          </a:stretch>
        </p:blipFill>
        <p:spPr>
          <a:xfrm>
            <a:off x="6119581" y="4936413"/>
            <a:ext cx="478494" cy="190902"/>
          </a:xfrm>
          <a:prstGeom prst="rect">
            <a:avLst/>
          </a:prstGeom>
        </p:spPr>
      </p:pic>
      <p:pic>
        <p:nvPicPr>
          <p:cNvPr id="50" name="Picture 49">
            <a:extLst>
              <a:ext uri="{FF2B5EF4-FFF2-40B4-BE49-F238E27FC236}">
                <a16:creationId xmlns:a16="http://schemas.microsoft.com/office/drawing/2014/main" id="{26B17D2E-931F-59FA-ADF7-C10B30E8437A}"/>
              </a:ext>
            </a:extLst>
          </p:cNvPr>
          <p:cNvPicPr>
            <a:picLocks noChangeAspect="1"/>
          </p:cNvPicPr>
          <p:nvPr/>
        </p:nvPicPr>
        <p:blipFill rotWithShape="1">
          <a:blip r:embed="rId18"/>
          <a:srcRect l="26127" t="32312" r="25503" b="31873"/>
          <a:stretch/>
        </p:blipFill>
        <p:spPr>
          <a:xfrm>
            <a:off x="7757957" y="3803723"/>
            <a:ext cx="819099" cy="305901"/>
          </a:xfrm>
          <a:prstGeom prst="rect">
            <a:avLst/>
          </a:prstGeom>
        </p:spPr>
      </p:pic>
      <p:pic>
        <p:nvPicPr>
          <p:cNvPr id="51" name="Picture 50">
            <a:extLst>
              <a:ext uri="{FF2B5EF4-FFF2-40B4-BE49-F238E27FC236}">
                <a16:creationId xmlns:a16="http://schemas.microsoft.com/office/drawing/2014/main" id="{3AA32DA3-B639-CAA5-2095-7C36E0FEC24A}"/>
              </a:ext>
            </a:extLst>
          </p:cNvPr>
          <p:cNvPicPr>
            <a:picLocks noChangeAspect="1"/>
          </p:cNvPicPr>
          <p:nvPr/>
        </p:nvPicPr>
        <p:blipFill>
          <a:blip r:embed="rId19"/>
          <a:stretch>
            <a:fillRect/>
          </a:stretch>
        </p:blipFill>
        <p:spPr>
          <a:xfrm>
            <a:off x="5061417" y="1044912"/>
            <a:ext cx="659255" cy="313289"/>
          </a:xfrm>
          <a:prstGeom prst="rect">
            <a:avLst/>
          </a:prstGeom>
        </p:spPr>
      </p:pic>
      <p:pic>
        <p:nvPicPr>
          <p:cNvPr id="52" name="Picture 51">
            <a:extLst>
              <a:ext uri="{FF2B5EF4-FFF2-40B4-BE49-F238E27FC236}">
                <a16:creationId xmlns:a16="http://schemas.microsoft.com/office/drawing/2014/main" id="{8FC03987-3DC9-B0C1-2E42-FD94F66CD7EB}"/>
              </a:ext>
            </a:extLst>
          </p:cNvPr>
          <p:cNvPicPr>
            <a:picLocks noChangeAspect="1"/>
          </p:cNvPicPr>
          <p:nvPr/>
        </p:nvPicPr>
        <p:blipFill>
          <a:blip r:embed="rId20">
            <a:clrChange>
              <a:clrFrom>
                <a:srgbClr val="FFFFFF"/>
              </a:clrFrom>
              <a:clrTo>
                <a:srgbClr val="FFFFFF">
                  <a:alpha val="0"/>
                </a:srgbClr>
              </a:clrTo>
            </a:clrChange>
          </a:blip>
          <a:stretch>
            <a:fillRect/>
          </a:stretch>
        </p:blipFill>
        <p:spPr>
          <a:xfrm>
            <a:off x="2480467" y="3707138"/>
            <a:ext cx="418131" cy="431839"/>
          </a:xfrm>
          <a:prstGeom prst="rect">
            <a:avLst/>
          </a:prstGeom>
        </p:spPr>
      </p:pic>
      <p:pic>
        <p:nvPicPr>
          <p:cNvPr id="53" name="Picture 52">
            <a:extLst>
              <a:ext uri="{FF2B5EF4-FFF2-40B4-BE49-F238E27FC236}">
                <a16:creationId xmlns:a16="http://schemas.microsoft.com/office/drawing/2014/main" id="{FE32D70A-FFE2-AB90-F5E9-52C7014D15AD}"/>
              </a:ext>
            </a:extLst>
          </p:cNvPr>
          <p:cNvPicPr>
            <a:picLocks noChangeAspect="1"/>
          </p:cNvPicPr>
          <p:nvPr/>
        </p:nvPicPr>
        <p:blipFill>
          <a:blip r:embed="rId21">
            <a:clrChange>
              <a:clrFrom>
                <a:srgbClr val="F7F7F7"/>
              </a:clrFrom>
              <a:clrTo>
                <a:srgbClr val="F7F7F7">
                  <a:alpha val="0"/>
                </a:srgbClr>
              </a:clrTo>
            </a:clrChange>
            <a:duotone>
              <a:schemeClr val="accent5">
                <a:shade val="45000"/>
                <a:satMod val="135000"/>
              </a:schemeClr>
              <a:prstClr val="white"/>
            </a:duotone>
          </a:blip>
          <a:stretch>
            <a:fillRect/>
          </a:stretch>
        </p:blipFill>
        <p:spPr>
          <a:xfrm>
            <a:off x="2122750" y="4893576"/>
            <a:ext cx="319497" cy="293937"/>
          </a:xfrm>
          <a:prstGeom prst="rect">
            <a:avLst/>
          </a:prstGeom>
        </p:spPr>
      </p:pic>
      <p:pic>
        <p:nvPicPr>
          <p:cNvPr id="54" name="Picture 53">
            <a:extLst>
              <a:ext uri="{FF2B5EF4-FFF2-40B4-BE49-F238E27FC236}">
                <a16:creationId xmlns:a16="http://schemas.microsoft.com/office/drawing/2014/main" id="{19FC1660-1DF6-377E-B25A-A0DB66FE430D}"/>
              </a:ext>
            </a:extLst>
          </p:cNvPr>
          <p:cNvPicPr>
            <a:picLocks noChangeAspect="1"/>
          </p:cNvPicPr>
          <p:nvPr/>
        </p:nvPicPr>
        <p:blipFill>
          <a:blip r:embed="rId22">
            <a:clrChange>
              <a:clrFrom>
                <a:srgbClr val="F7F7F7"/>
              </a:clrFrom>
              <a:clrTo>
                <a:srgbClr val="F7F7F7">
                  <a:alpha val="0"/>
                </a:srgbClr>
              </a:clrTo>
            </a:clrChange>
            <a:biLevel thresh="75000"/>
          </a:blip>
          <a:stretch>
            <a:fillRect/>
          </a:stretch>
        </p:blipFill>
        <p:spPr>
          <a:xfrm>
            <a:off x="2515882" y="4946976"/>
            <a:ext cx="301658" cy="198935"/>
          </a:xfrm>
          <a:prstGeom prst="rect">
            <a:avLst/>
          </a:prstGeom>
        </p:spPr>
      </p:pic>
      <p:pic>
        <p:nvPicPr>
          <p:cNvPr id="55" name="Picture 54">
            <a:extLst>
              <a:ext uri="{FF2B5EF4-FFF2-40B4-BE49-F238E27FC236}">
                <a16:creationId xmlns:a16="http://schemas.microsoft.com/office/drawing/2014/main" id="{37736016-BB28-4E3A-B694-7BACC114DBF9}"/>
              </a:ext>
            </a:extLst>
          </p:cNvPr>
          <p:cNvPicPr>
            <a:picLocks noChangeAspect="1"/>
          </p:cNvPicPr>
          <p:nvPr/>
        </p:nvPicPr>
        <p:blipFill>
          <a:blip r:embed="rId23">
            <a:clrChange>
              <a:clrFrom>
                <a:srgbClr val="F7F7F7"/>
              </a:clrFrom>
              <a:clrTo>
                <a:srgbClr val="F7F7F7">
                  <a:alpha val="0"/>
                </a:srgbClr>
              </a:clrTo>
            </a:clrChange>
            <a:biLevel thresh="50000"/>
          </a:blip>
          <a:stretch>
            <a:fillRect/>
          </a:stretch>
        </p:blipFill>
        <p:spPr>
          <a:xfrm>
            <a:off x="2897226" y="4976267"/>
            <a:ext cx="448738" cy="150615"/>
          </a:xfrm>
          <a:prstGeom prst="rect">
            <a:avLst/>
          </a:prstGeom>
        </p:spPr>
      </p:pic>
      <p:pic>
        <p:nvPicPr>
          <p:cNvPr id="56" name="Picture 55">
            <a:extLst>
              <a:ext uri="{FF2B5EF4-FFF2-40B4-BE49-F238E27FC236}">
                <a16:creationId xmlns:a16="http://schemas.microsoft.com/office/drawing/2014/main" id="{5C769D9E-E7C3-9346-C717-2F28C0B9A52F}"/>
              </a:ext>
            </a:extLst>
          </p:cNvPr>
          <p:cNvPicPr>
            <a:picLocks noChangeAspect="1"/>
          </p:cNvPicPr>
          <p:nvPr/>
        </p:nvPicPr>
        <p:blipFill>
          <a:blip r:embed="rId24"/>
          <a:srcRect l="4350"/>
          <a:stretch/>
        </p:blipFill>
        <p:spPr>
          <a:xfrm>
            <a:off x="7825980" y="1086510"/>
            <a:ext cx="1091837" cy="261628"/>
          </a:xfrm>
          <a:prstGeom prst="rect">
            <a:avLst/>
          </a:prstGeom>
        </p:spPr>
      </p:pic>
      <p:pic>
        <p:nvPicPr>
          <p:cNvPr id="57" name="Picture 56">
            <a:extLst>
              <a:ext uri="{FF2B5EF4-FFF2-40B4-BE49-F238E27FC236}">
                <a16:creationId xmlns:a16="http://schemas.microsoft.com/office/drawing/2014/main" id="{41D68E37-A278-5B4C-4E6D-8F6C9A463959}"/>
              </a:ext>
            </a:extLst>
          </p:cNvPr>
          <p:cNvPicPr>
            <a:picLocks noChangeAspect="1"/>
          </p:cNvPicPr>
          <p:nvPr/>
        </p:nvPicPr>
        <p:blipFill>
          <a:blip r:embed="rId25">
            <a:clrChange>
              <a:clrFrom>
                <a:srgbClr val="F7F7F7"/>
              </a:clrFrom>
              <a:clrTo>
                <a:srgbClr val="F7F7F7">
                  <a:alpha val="0"/>
                </a:srgbClr>
              </a:clrTo>
            </a:clrChange>
            <a:duotone>
              <a:prstClr val="black"/>
              <a:schemeClr val="tx2">
                <a:tint val="45000"/>
                <a:satMod val="400000"/>
              </a:schemeClr>
            </a:duotone>
          </a:blip>
          <a:stretch>
            <a:fillRect/>
          </a:stretch>
        </p:blipFill>
        <p:spPr>
          <a:xfrm>
            <a:off x="7781037" y="2212280"/>
            <a:ext cx="361342" cy="150977"/>
          </a:xfrm>
          <a:prstGeom prst="rect">
            <a:avLst/>
          </a:prstGeom>
        </p:spPr>
      </p:pic>
      <p:pic>
        <p:nvPicPr>
          <p:cNvPr id="58" name="Picture 57">
            <a:extLst>
              <a:ext uri="{FF2B5EF4-FFF2-40B4-BE49-F238E27FC236}">
                <a16:creationId xmlns:a16="http://schemas.microsoft.com/office/drawing/2014/main" id="{F62A4BC3-2698-571F-800A-3413C85C47A2}"/>
              </a:ext>
            </a:extLst>
          </p:cNvPr>
          <p:cNvPicPr>
            <a:picLocks noChangeAspect="1"/>
          </p:cNvPicPr>
          <p:nvPr/>
        </p:nvPicPr>
        <p:blipFill>
          <a:blip r:embed="rId26">
            <a:clrChange>
              <a:clrFrom>
                <a:srgbClr val="F5F5F5"/>
              </a:clrFrom>
              <a:clrTo>
                <a:srgbClr val="F5F5F5">
                  <a:alpha val="0"/>
                </a:srgbClr>
              </a:clrTo>
            </a:clrChange>
            <a:duotone>
              <a:schemeClr val="accent5">
                <a:shade val="45000"/>
                <a:satMod val="135000"/>
              </a:schemeClr>
              <a:prstClr val="white"/>
            </a:duotone>
          </a:blip>
          <a:stretch>
            <a:fillRect/>
          </a:stretch>
        </p:blipFill>
        <p:spPr>
          <a:xfrm>
            <a:off x="8147705" y="2212280"/>
            <a:ext cx="456861" cy="146806"/>
          </a:xfrm>
          <a:prstGeom prst="rect">
            <a:avLst/>
          </a:prstGeom>
        </p:spPr>
      </p:pic>
      <p:pic>
        <p:nvPicPr>
          <p:cNvPr id="59" name="Picture 58">
            <a:extLst>
              <a:ext uri="{FF2B5EF4-FFF2-40B4-BE49-F238E27FC236}">
                <a16:creationId xmlns:a16="http://schemas.microsoft.com/office/drawing/2014/main" id="{F9904069-5D3E-E4C7-0432-3F7EA3CB1EDF}"/>
              </a:ext>
            </a:extLst>
          </p:cNvPr>
          <p:cNvPicPr>
            <a:picLocks noChangeAspect="1"/>
          </p:cNvPicPr>
          <p:nvPr/>
        </p:nvPicPr>
        <p:blipFill>
          <a:blip r:embed="rId27">
            <a:clrChange>
              <a:clrFrom>
                <a:srgbClr val="F7F7F7"/>
              </a:clrFrom>
              <a:clrTo>
                <a:srgbClr val="F7F7F7">
                  <a:alpha val="0"/>
                </a:srgbClr>
              </a:clrTo>
            </a:clrChange>
            <a:biLevel thresh="50000"/>
          </a:blip>
          <a:stretch>
            <a:fillRect/>
          </a:stretch>
        </p:blipFill>
        <p:spPr>
          <a:xfrm>
            <a:off x="8621131" y="2179923"/>
            <a:ext cx="289189" cy="179163"/>
          </a:xfrm>
          <a:prstGeom prst="rect">
            <a:avLst/>
          </a:prstGeom>
        </p:spPr>
      </p:pic>
      <p:pic>
        <p:nvPicPr>
          <p:cNvPr id="60" name="Picture 59">
            <a:extLst>
              <a:ext uri="{FF2B5EF4-FFF2-40B4-BE49-F238E27FC236}">
                <a16:creationId xmlns:a16="http://schemas.microsoft.com/office/drawing/2014/main" id="{8BDA11DE-E2D7-C6B3-5C40-293784FA6166}"/>
              </a:ext>
            </a:extLst>
          </p:cNvPr>
          <p:cNvPicPr>
            <a:picLocks noChangeAspect="1"/>
          </p:cNvPicPr>
          <p:nvPr/>
        </p:nvPicPr>
        <p:blipFill>
          <a:blip r:embed="rId28"/>
          <a:stretch>
            <a:fillRect/>
          </a:stretch>
        </p:blipFill>
        <p:spPr>
          <a:xfrm>
            <a:off x="6488104" y="1040544"/>
            <a:ext cx="926897" cy="303544"/>
          </a:xfrm>
          <a:prstGeom prst="rect">
            <a:avLst/>
          </a:prstGeom>
        </p:spPr>
      </p:pic>
      <p:pic>
        <p:nvPicPr>
          <p:cNvPr id="61" name="Picture 60">
            <a:extLst>
              <a:ext uri="{FF2B5EF4-FFF2-40B4-BE49-F238E27FC236}">
                <a16:creationId xmlns:a16="http://schemas.microsoft.com/office/drawing/2014/main" id="{76E9B4DE-6A6A-C730-4484-4F47FEA21132}"/>
              </a:ext>
            </a:extLst>
          </p:cNvPr>
          <p:cNvPicPr>
            <a:picLocks noChangeAspect="1"/>
          </p:cNvPicPr>
          <p:nvPr/>
        </p:nvPicPr>
        <p:blipFill>
          <a:blip r:embed="rId29">
            <a:clrChange>
              <a:clrFrom>
                <a:srgbClr val="F7F7F7"/>
              </a:clrFrom>
              <a:clrTo>
                <a:srgbClr val="F7F7F7">
                  <a:alpha val="0"/>
                </a:srgbClr>
              </a:clrTo>
            </a:clrChange>
            <a:biLevel thresh="75000"/>
          </a:blip>
          <a:stretch>
            <a:fillRect/>
          </a:stretch>
        </p:blipFill>
        <p:spPr>
          <a:xfrm>
            <a:off x="6337858" y="2143848"/>
            <a:ext cx="475098" cy="122061"/>
          </a:xfrm>
          <a:prstGeom prst="rect">
            <a:avLst/>
          </a:prstGeom>
        </p:spPr>
      </p:pic>
      <p:pic>
        <p:nvPicPr>
          <p:cNvPr id="62" name="Picture 61">
            <a:extLst>
              <a:ext uri="{FF2B5EF4-FFF2-40B4-BE49-F238E27FC236}">
                <a16:creationId xmlns:a16="http://schemas.microsoft.com/office/drawing/2014/main" id="{D82EBDB2-4416-2171-FD60-8B2401AFAB11}"/>
              </a:ext>
            </a:extLst>
          </p:cNvPr>
          <p:cNvPicPr>
            <a:picLocks noChangeAspect="1"/>
          </p:cNvPicPr>
          <p:nvPr/>
        </p:nvPicPr>
        <p:blipFill>
          <a:blip r:embed="rId30">
            <a:clrChange>
              <a:clrFrom>
                <a:srgbClr val="F7F7F7"/>
              </a:clrFrom>
              <a:clrTo>
                <a:srgbClr val="F7F7F7">
                  <a:alpha val="0"/>
                </a:srgbClr>
              </a:clrTo>
            </a:clrChange>
            <a:biLevel thresh="75000"/>
          </a:blip>
          <a:stretch>
            <a:fillRect/>
          </a:stretch>
        </p:blipFill>
        <p:spPr>
          <a:xfrm>
            <a:off x="6970221" y="2281286"/>
            <a:ext cx="459182" cy="143683"/>
          </a:xfrm>
          <a:prstGeom prst="rect">
            <a:avLst/>
          </a:prstGeom>
        </p:spPr>
      </p:pic>
      <p:pic>
        <p:nvPicPr>
          <p:cNvPr id="63" name="Picture 62">
            <a:extLst>
              <a:ext uri="{FF2B5EF4-FFF2-40B4-BE49-F238E27FC236}">
                <a16:creationId xmlns:a16="http://schemas.microsoft.com/office/drawing/2014/main" id="{DA0EBA7F-EF3A-BCEA-7007-34C5845312A9}"/>
              </a:ext>
            </a:extLst>
          </p:cNvPr>
          <p:cNvPicPr>
            <a:picLocks noChangeAspect="1"/>
          </p:cNvPicPr>
          <p:nvPr/>
        </p:nvPicPr>
        <p:blipFill>
          <a:blip r:embed="rId31">
            <a:clrChange>
              <a:clrFrom>
                <a:srgbClr val="F7F7F7"/>
              </a:clrFrom>
              <a:clrTo>
                <a:srgbClr val="F7F7F7">
                  <a:alpha val="0"/>
                </a:srgbClr>
              </a:clrTo>
            </a:clrChange>
          </a:blip>
          <a:stretch>
            <a:fillRect/>
          </a:stretch>
        </p:blipFill>
        <p:spPr>
          <a:xfrm>
            <a:off x="6337858" y="2295605"/>
            <a:ext cx="610938" cy="106854"/>
          </a:xfrm>
          <a:prstGeom prst="rect">
            <a:avLst/>
          </a:prstGeom>
        </p:spPr>
      </p:pic>
      <p:pic>
        <p:nvPicPr>
          <p:cNvPr id="64" name="Picture 63">
            <a:extLst>
              <a:ext uri="{FF2B5EF4-FFF2-40B4-BE49-F238E27FC236}">
                <a16:creationId xmlns:a16="http://schemas.microsoft.com/office/drawing/2014/main" id="{AAA5F813-9930-C2FB-7218-3CE428B83515}"/>
              </a:ext>
            </a:extLst>
          </p:cNvPr>
          <p:cNvPicPr>
            <a:picLocks noChangeAspect="1"/>
          </p:cNvPicPr>
          <p:nvPr/>
        </p:nvPicPr>
        <p:blipFill>
          <a:blip r:embed="rId32">
            <a:clrChange>
              <a:clrFrom>
                <a:srgbClr val="F7F7F7"/>
              </a:clrFrom>
              <a:clrTo>
                <a:srgbClr val="F7F7F7">
                  <a:alpha val="0"/>
                </a:srgbClr>
              </a:clrTo>
            </a:clrChange>
            <a:biLevel thresh="75000"/>
          </a:blip>
          <a:stretch>
            <a:fillRect/>
          </a:stretch>
        </p:blipFill>
        <p:spPr>
          <a:xfrm>
            <a:off x="6841583" y="2138791"/>
            <a:ext cx="484377" cy="151063"/>
          </a:xfrm>
          <a:prstGeom prst="rect">
            <a:avLst/>
          </a:prstGeom>
        </p:spPr>
      </p:pic>
      <p:pic>
        <p:nvPicPr>
          <p:cNvPr id="65" name="Picture 64">
            <a:extLst>
              <a:ext uri="{FF2B5EF4-FFF2-40B4-BE49-F238E27FC236}">
                <a16:creationId xmlns:a16="http://schemas.microsoft.com/office/drawing/2014/main" id="{51B2F41E-07A0-F12A-9880-9D870997008D}"/>
              </a:ext>
            </a:extLst>
          </p:cNvPr>
          <p:cNvPicPr>
            <a:picLocks noChangeAspect="1"/>
          </p:cNvPicPr>
          <p:nvPr/>
        </p:nvPicPr>
        <p:blipFill>
          <a:blip r:embed="rId33">
            <a:clrChange>
              <a:clrFrom>
                <a:srgbClr val="F7F7F7"/>
              </a:clrFrom>
              <a:clrTo>
                <a:srgbClr val="F7F7F7">
                  <a:alpha val="0"/>
                </a:srgbClr>
              </a:clrTo>
            </a:clrChange>
            <a:biLevel thresh="50000"/>
          </a:blip>
          <a:stretch>
            <a:fillRect/>
          </a:stretch>
        </p:blipFill>
        <p:spPr>
          <a:xfrm>
            <a:off x="4476244" y="5058893"/>
            <a:ext cx="708039" cy="143177"/>
          </a:xfrm>
          <a:prstGeom prst="rect">
            <a:avLst/>
          </a:prstGeom>
        </p:spPr>
      </p:pic>
      <p:pic>
        <p:nvPicPr>
          <p:cNvPr id="66" name="Picture 65">
            <a:extLst>
              <a:ext uri="{FF2B5EF4-FFF2-40B4-BE49-F238E27FC236}">
                <a16:creationId xmlns:a16="http://schemas.microsoft.com/office/drawing/2014/main" id="{B5409A6B-7582-1740-BCAE-8222FD7F36C7}"/>
              </a:ext>
            </a:extLst>
          </p:cNvPr>
          <p:cNvPicPr>
            <a:picLocks noChangeAspect="1"/>
          </p:cNvPicPr>
          <p:nvPr/>
        </p:nvPicPr>
        <p:blipFill>
          <a:blip r:embed="rId34">
            <a:clrChange>
              <a:clrFrom>
                <a:srgbClr val="F7F7F7"/>
              </a:clrFrom>
              <a:clrTo>
                <a:srgbClr val="F7F7F7">
                  <a:alpha val="0"/>
                </a:srgbClr>
              </a:clrTo>
            </a:clrChange>
            <a:biLevel thresh="75000"/>
          </a:blip>
          <a:stretch>
            <a:fillRect/>
          </a:stretch>
        </p:blipFill>
        <p:spPr>
          <a:xfrm>
            <a:off x="8377565" y="5084941"/>
            <a:ext cx="398370" cy="113502"/>
          </a:xfrm>
          <a:prstGeom prst="rect">
            <a:avLst/>
          </a:prstGeom>
        </p:spPr>
      </p:pic>
      <p:pic>
        <p:nvPicPr>
          <p:cNvPr id="67" name="Picture 66">
            <a:extLst>
              <a:ext uri="{FF2B5EF4-FFF2-40B4-BE49-F238E27FC236}">
                <a16:creationId xmlns:a16="http://schemas.microsoft.com/office/drawing/2014/main" id="{26F289F2-01E6-150B-1EC3-06DEB57656DA}"/>
              </a:ext>
            </a:extLst>
          </p:cNvPr>
          <p:cNvPicPr>
            <a:picLocks noChangeAspect="1"/>
          </p:cNvPicPr>
          <p:nvPr/>
        </p:nvPicPr>
        <p:blipFill>
          <a:blip r:embed="rId35">
            <a:clrChange>
              <a:clrFrom>
                <a:srgbClr val="FFFFFF"/>
              </a:clrFrom>
              <a:clrTo>
                <a:srgbClr val="FFFFFF">
                  <a:alpha val="0"/>
                </a:srgbClr>
              </a:clrTo>
            </a:clrChange>
          </a:blip>
          <a:stretch>
            <a:fillRect/>
          </a:stretch>
        </p:blipFill>
        <p:spPr>
          <a:xfrm>
            <a:off x="3768111" y="1036320"/>
            <a:ext cx="312397" cy="336898"/>
          </a:xfrm>
          <a:prstGeom prst="rect">
            <a:avLst/>
          </a:prstGeom>
        </p:spPr>
      </p:pic>
      <p:pic>
        <p:nvPicPr>
          <p:cNvPr id="68" name="Picture 67">
            <a:extLst>
              <a:ext uri="{FF2B5EF4-FFF2-40B4-BE49-F238E27FC236}">
                <a16:creationId xmlns:a16="http://schemas.microsoft.com/office/drawing/2014/main" id="{5205DABF-F9FE-DC5B-6EEF-B77ECBDCAAF6}"/>
              </a:ext>
            </a:extLst>
          </p:cNvPr>
          <p:cNvPicPr>
            <a:picLocks noChangeAspect="1"/>
          </p:cNvPicPr>
          <p:nvPr/>
        </p:nvPicPr>
        <p:blipFill>
          <a:blip r:embed="rId36"/>
          <a:stretch>
            <a:fillRect/>
          </a:stretch>
        </p:blipFill>
        <p:spPr>
          <a:xfrm>
            <a:off x="3842676" y="2133475"/>
            <a:ext cx="287887" cy="284710"/>
          </a:xfrm>
          <a:prstGeom prst="rect">
            <a:avLst/>
          </a:prstGeom>
        </p:spPr>
      </p:pic>
      <p:pic>
        <p:nvPicPr>
          <p:cNvPr id="69" name="Picture 2" descr="Taikang Insurance Group Company 2025 Profile: Valuation, Funding &amp;  Investors | PitchBook">
            <a:extLst>
              <a:ext uri="{FF2B5EF4-FFF2-40B4-BE49-F238E27FC236}">
                <a16:creationId xmlns:a16="http://schemas.microsoft.com/office/drawing/2014/main" id="{244EDA99-CA46-A5E2-3397-A4013A6D0E00}"/>
              </a:ext>
            </a:extLst>
          </p:cNvPr>
          <p:cNvPicPr>
            <a:picLocks noChangeAspect="1" noChangeArrowheads="1"/>
          </p:cNvPicPr>
          <p:nvPr/>
        </p:nvPicPr>
        <p:blipFill rotWithShape="1">
          <a:blip r:embed="rId37" cstate="print">
            <a:extLst>
              <a:ext uri="{28A0092B-C50C-407E-A947-70E740481C1C}">
                <a14:useLocalDpi xmlns:a14="http://schemas.microsoft.com/office/drawing/2010/main" val="0"/>
              </a:ext>
            </a:extLst>
          </a:blip>
          <a:srcRect t="28040" b="24451"/>
          <a:stretch>
            <a:fillRect/>
          </a:stretch>
        </p:blipFill>
        <p:spPr bwMode="auto">
          <a:xfrm>
            <a:off x="1946700" y="2161607"/>
            <a:ext cx="450598" cy="214074"/>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4" descr="Barings — fundsnet">
            <a:extLst>
              <a:ext uri="{FF2B5EF4-FFF2-40B4-BE49-F238E27FC236}">
                <a16:creationId xmlns:a16="http://schemas.microsoft.com/office/drawing/2014/main" id="{0B6479D3-761A-8950-9972-B9C7C95AACB6}"/>
              </a:ext>
            </a:extLst>
          </p:cNvPr>
          <p:cNvPicPr>
            <a:picLocks noChangeAspect="1" noChangeArrowheads="1"/>
          </p:cNvPicPr>
          <p:nvPr/>
        </p:nvPicPr>
        <p:blipFill>
          <a:blip r:embed="rId38" cstate="print">
            <a:extLst>
              <a:ext uri="{28A0092B-C50C-407E-A947-70E740481C1C}">
                <a14:useLocalDpi xmlns:a14="http://schemas.microsoft.com/office/drawing/2010/main" val="0"/>
              </a:ext>
            </a:extLst>
          </a:blip>
          <a:srcRect/>
          <a:stretch>
            <a:fillRect/>
          </a:stretch>
        </p:blipFill>
        <p:spPr bwMode="auto">
          <a:xfrm>
            <a:off x="2506785" y="2213605"/>
            <a:ext cx="438760" cy="116469"/>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剑桥科技赴港IPO：前五大供应商数据“打架” 前次募投项目“非变即延”耗时五年仍未完工_手机新浪网">
            <a:extLst>
              <a:ext uri="{FF2B5EF4-FFF2-40B4-BE49-F238E27FC236}">
                <a16:creationId xmlns:a16="http://schemas.microsoft.com/office/drawing/2014/main" id="{DC79644B-75AE-7A2B-28F6-FBF8E0D090A5}"/>
              </a:ext>
            </a:extLst>
          </p:cNvPr>
          <p:cNvPicPr>
            <a:picLocks noChangeAspect="1" noChangeArrowheads="1"/>
          </p:cNvPicPr>
          <p:nvPr/>
        </p:nvPicPr>
        <p:blipFill rotWithShape="1">
          <a:blip r:embed="rId39" cstate="print">
            <a:extLst>
              <a:ext uri="{28A0092B-C50C-407E-A947-70E740481C1C}">
                <a14:useLocalDpi xmlns:a14="http://schemas.microsoft.com/office/drawing/2010/main" val="0"/>
              </a:ext>
            </a:extLst>
          </a:blip>
          <a:srcRect t="31612" b="44017"/>
          <a:stretch>
            <a:fillRect/>
          </a:stretch>
        </p:blipFill>
        <p:spPr bwMode="auto">
          <a:xfrm>
            <a:off x="1979641" y="1142091"/>
            <a:ext cx="1039242" cy="18972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EE23B5CC-16C7-EF4E-C552-37B5BE3358C7}"/>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16</a:t>
            </a:fld>
            <a:endParaRPr lang="en-US" altLang="en-US" b="0">
              <a:solidFill>
                <a:srgbClr val="000000"/>
              </a:solidFill>
            </a:endParaRPr>
          </a:p>
        </p:txBody>
      </p:sp>
    </p:spTree>
    <p:extLst>
      <p:ext uri="{BB962C8B-B14F-4D97-AF65-F5344CB8AC3E}">
        <p14:creationId xmlns:p14="http://schemas.microsoft.com/office/powerpoint/2010/main" val="1585034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2">
            <a:extLst>
              <a:ext uri="{FF2B5EF4-FFF2-40B4-BE49-F238E27FC236}">
                <a16:creationId xmlns:a16="http://schemas.microsoft.com/office/drawing/2014/main" id="{238D2A20-D42B-B753-53DC-B54D20DB7989}"/>
              </a:ext>
            </a:extLst>
          </p:cNvPr>
          <p:cNvSpPr>
            <a:spLocks noGrp="1"/>
          </p:cNvSpPr>
          <p:nvPr>
            <p:ph type="title"/>
          </p:nvPr>
        </p:nvSpPr>
        <p:spPr>
          <a:xfrm>
            <a:off x="717154" y="381000"/>
            <a:ext cx="7357384" cy="577850"/>
          </a:xfrm>
        </p:spPr>
        <p:txBody>
          <a:bodyPr/>
          <a:lstStyle/>
          <a:p>
            <a:r>
              <a:rPr lang="en-US" altLang="zh-TW" sz="2000" dirty="0"/>
              <a:t>DBS brought in 80%+ foreign </a:t>
            </a:r>
            <a:r>
              <a:rPr lang="en-US" altLang="zh-TW" sz="2000" dirty="0" err="1"/>
              <a:t>insti</a:t>
            </a:r>
            <a:r>
              <a:rPr lang="en-US" altLang="zh-TW" sz="2000" dirty="0"/>
              <a:t> demand and all of the Southeast Asian LO orders </a:t>
            </a:r>
            <a:endParaRPr lang="en-US" sz="2000" b="1" dirty="0"/>
          </a:p>
        </p:txBody>
      </p:sp>
      <p:graphicFrame>
        <p:nvGraphicFramePr>
          <p:cNvPr id="23" name="Group 60">
            <a:extLst>
              <a:ext uri="{FF2B5EF4-FFF2-40B4-BE49-F238E27FC236}">
                <a16:creationId xmlns:a16="http://schemas.microsoft.com/office/drawing/2014/main" id="{D1837A7C-5516-CB56-B075-F3F77A020B73}"/>
              </a:ext>
            </a:extLst>
          </p:cNvPr>
          <p:cNvGraphicFramePr>
            <a:graphicFrameLocks noGrp="1"/>
          </p:cNvGraphicFramePr>
          <p:nvPr>
            <p:extLst>
              <p:ext uri="{D42A27DB-BD31-4B8C-83A1-F6EECF244321}">
                <p14:modId xmlns:p14="http://schemas.microsoft.com/office/powerpoint/2010/main" val="3752428223"/>
              </p:ext>
            </p:extLst>
          </p:nvPr>
        </p:nvGraphicFramePr>
        <p:xfrm>
          <a:off x="725485" y="1303122"/>
          <a:ext cx="4197096" cy="2151276"/>
        </p:xfrm>
        <a:graphic>
          <a:graphicData uri="http://schemas.openxmlformats.org/drawingml/2006/table">
            <a:tbl>
              <a:tblPr/>
              <a:tblGrid>
                <a:gridCol w="1393396">
                  <a:extLst>
                    <a:ext uri="{9D8B030D-6E8A-4147-A177-3AD203B41FA5}">
                      <a16:colId xmlns:a16="http://schemas.microsoft.com/office/drawing/2014/main" val="20000"/>
                    </a:ext>
                  </a:extLst>
                </a:gridCol>
                <a:gridCol w="2803700">
                  <a:extLst>
                    <a:ext uri="{9D8B030D-6E8A-4147-A177-3AD203B41FA5}">
                      <a16:colId xmlns:a16="http://schemas.microsoft.com/office/drawing/2014/main" val="20001"/>
                    </a:ext>
                  </a:extLst>
                </a:gridCol>
              </a:tblGrid>
              <a:tr h="199647">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0" marR="0" lvl="0" indent="0" algn="l" defTabSz="914400" rtl="0" eaLnBrk="1" fontAlgn="base" latinLnBrk="0" hangingPunct="1">
                        <a:lnSpc>
                          <a:spcPct val="100000"/>
                        </a:lnSpc>
                        <a:spcBef>
                          <a:spcPct val="0"/>
                        </a:spcBef>
                        <a:spcAft>
                          <a:spcPct val="100000"/>
                        </a:spcAft>
                        <a:buClr>
                          <a:schemeClr val="accent1"/>
                        </a:buClr>
                        <a:buSzTx/>
                        <a:buFont typeface="Wingdings" pitchFamily="2" charset="2"/>
                        <a:buNone/>
                        <a:tabLst/>
                      </a:pPr>
                      <a:r>
                        <a:rPr kumimoji="0" lang="en-US" altLang="zh-CN" sz="900" b="1" i="0" u="none" strike="noStrike" cap="none" normalizeH="0" baseline="0">
                          <a:ln>
                            <a:noFill/>
                          </a:ln>
                          <a:solidFill>
                            <a:schemeClr val="tx1"/>
                          </a:solidFill>
                          <a:effectLst/>
                          <a:latin typeface="+mj-lt"/>
                          <a:ea typeface="+mn-ea"/>
                          <a:cs typeface="Arial" panose="020B0604020202020204" pitchFamily="34" charset="0"/>
                        </a:rPr>
                        <a:t>Issuer</a:t>
                      </a:r>
                      <a:endParaRPr kumimoji="0" lang="en-US" altLang="zh-TW" sz="900" b="1" i="0" u="none" strike="noStrike" cap="none" normalizeH="0" baseline="0">
                        <a:ln>
                          <a:noFill/>
                        </a:ln>
                        <a:solidFill>
                          <a:schemeClr val="tx1"/>
                        </a:solidFill>
                        <a:effectLst/>
                        <a:latin typeface="+mj-lt"/>
                        <a:ea typeface="+mn-ea"/>
                        <a:cs typeface="Arial" panose="020B0604020202020204" pitchFamily="34" charset="0"/>
                      </a:endParaRPr>
                    </a:p>
                  </a:txBody>
                  <a:tcPr marL="18288" marR="18288" marT="9144" marB="9144" anchor="ctr" horzOverflow="overflow">
                    <a:lnL>
                      <a:noFill/>
                    </a:lnL>
                    <a:lnR>
                      <a:noFill/>
                    </a:lnR>
                    <a:lnT>
                      <a:noFill/>
                    </a:lnT>
                    <a:lnB w="6350" cap="flat" cmpd="sng" algn="ctr">
                      <a:solidFill>
                        <a:srgbClr val="FFFFFF">
                          <a:lumMod val="75000"/>
                        </a:srgbClr>
                      </a:solidFill>
                      <a:prstDash val="solid"/>
                      <a:round/>
                      <a:headEnd type="none" w="med" len="med"/>
                      <a:tailEnd type="none" w="med" len="med"/>
                    </a:lnB>
                    <a:lnTlToBr>
                      <a:noFill/>
                    </a:lnTlToBr>
                    <a:lnBlToTr>
                      <a:noFill/>
                    </a:lnBlToTr>
                    <a:noFill/>
                  </a:tcPr>
                </a:tc>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171450" marR="0" lvl="0" indent="-171450" algn="l" defTabSz="914400" rtl="0" eaLnBrk="0" fontAlgn="base" latinLnBrk="0" hangingPunct="0">
                        <a:lnSpc>
                          <a:spcPct val="100000"/>
                        </a:lnSpc>
                        <a:spcBef>
                          <a:spcPct val="0"/>
                        </a:spcBef>
                        <a:spcAft>
                          <a:spcPts val="0"/>
                        </a:spcAft>
                        <a:buClr>
                          <a:schemeClr val="accent1"/>
                        </a:buClr>
                        <a:buSzPct val="100000"/>
                        <a:buFont typeface="Wingdings 2" panose="05020102010507070707" pitchFamily="18" charset="2"/>
                        <a:buChar char="¡"/>
                        <a:tabLst/>
                        <a:defRPr/>
                      </a:pPr>
                      <a:r>
                        <a:rPr lang="en-US" altLang="zh-TW" sz="900">
                          <a:latin typeface="Arial" panose="020B0604020202020204" pitchFamily="34" charset="0"/>
                        </a:rPr>
                        <a:t>Nanshan Aluminium International Holdings Limited</a:t>
                      </a:r>
                      <a:endParaRPr lang="en-US" altLang="zh-TW" sz="900" kern="1200">
                        <a:solidFill>
                          <a:schemeClr val="tx1"/>
                        </a:solidFill>
                        <a:latin typeface="KaiTi" panose="02010609060101010101" pitchFamily="49" charset="-122"/>
                        <a:ea typeface="KaiTi" panose="02010609060101010101" pitchFamily="49" charset="-122"/>
                        <a:cs typeface="+mn-cs"/>
                      </a:endParaRPr>
                    </a:p>
                  </a:txBody>
                  <a:tcPr marL="9144" marR="9144" marT="9144" marB="9144" anchor="ctr" horzOverflow="overflow">
                    <a:lnL>
                      <a:noFill/>
                    </a:lnL>
                    <a:lnR>
                      <a:noFill/>
                    </a:lnR>
                    <a:lnT>
                      <a:noFill/>
                    </a:lnT>
                    <a:lnB w="6350" cap="flat" cmpd="sng" algn="ctr">
                      <a:solidFill>
                        <a:srgbClr val="FFFFFF">
                          <a:lumMod val="75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7957">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0" marR="0" lvl="0" indent="0" algn="l" defTabSz="914400" rtl="0" eaLnBrk="1" fontAlgn="base" latinLnBrk="0" hangingPunct="1">
                        <a:lnSpc>
                          <a:spcPct val="100000"/>
                        </a:lnSpc>
                        <a:spcBef>
                          <a:spcPct val="0"/>
                        </a:spcBef>
                        <a:spcAft>
                          <a:spcPct val="30000"/>
                        </a:spcAft>
                        <a:buClr>
                          <a:schemeClr val="accent1"/>
                        </a:buClr>
                        <a:buSzTx/>
                        <a:buFont typeface="Wingdings" pitchFamily="2" charset="2"/>
                        <a:buNone/>
                        <a:tabLst/>
                      </a:pPr>
                      <a:r>
                        <a:rPr kumimoji="0" lang="en-US" altLang="zh-CN" sz="900" b="1" i="0" u="none" strike="noStrike" cap="none" normalizeH="0" baseline="0">
                          <a:ln>
                            <a:noFill/>
                          </a:ln>
                          <a:solidFill>
                            <a:schemeClr val="tx1"/>
                          </a:solidFill>
                          <a:effectLst/>
                          <a:latin typeface="+mj-lt"/>
                          <a:ea typeface="+mn-ea"/>
                          <a:cs typeface="Arial" panose="020B0604020202020204" pitchFamily="34" charset="0"/>
                        </a:rPr>
                        <a:t>Issue Type</a:t>
                      </a:r>
                      <a:endParaRPr kumimoji="0" lang="en-US" altLang="zh-TW" sz="900" b="1" i="0" u="none" strike="noStrike" cap="none" normalizeH="0" baseline="0">
                        <a:ln>
                          <a:noFill/>
                        </a:ln>
                        <a:solidFill>
                          <a:schemeClr val="tx1"/>
                        </a:solidFill>
                        <a:effectLst/>
                        <a:latin typeface="+mj-lt"/>
                        <a:ea typeface="+mn-ea"/>
                        <a:cs typeface="Arial" panose="020B0604020202020204" pitchFamily="34" charset="0"/>
                      </a:endParaRPr>
                    </a:p>
                  </a:txBody>
                  <a:tcPr marL="18288" marR="18288"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171450" marR="0" lvl="0" indent="-171450" algn="l" defTabSz="914400" rtl="0" eaLnBrk="0" fontAlgn="base" latinLnBrk="0" hangingPunct="0">
                        <a:lnSpc>
                          <a:spcPct val="100000"/>
                        </a:lnSpc>
                        <a:spcBef>
                          <a:spcPct val="0"/>
                        </a:spcBef>
                        <a:spcAft>
                          <a:spcPts val="0"/>
                        </a:spcAft>
                        <a:buClr>
                          <a:schemeClr val="accent1"/>
                        </a:buClr>
                        <a:buSzPct val="100000"/>
                        <a:buFont typeface="Wingdings 2" panose="05020102010507070707" pitchFamily="18" charset="2"/>
                        <a:buChar char="¡"/>
                        <a:tabLst/>
                        <a:defRPr/>
                      </a:pPr>
                      <a:r>
                        <a:rPr lang="en-US" altLang="zh-CN" sz="900" b="0" kern="1200">
                          <a:solidFill>
                            <a:schemeClr val="tx1"/>
                          </a:solidFill>
                          <a:latin typeface="+mj-lt"/>
                          <a:ea typeface="KaiTi" panose="02010609060101010101" pitchFamily="49" charset="-122"/>
                          <a:cs typeface="+mn-cs"/>
                        </a:rPr>
                        <a:t>Initial Public Offering </a:t>
                      </a:r>
                      <a:endParaRPr lang="en-US" altLang="zh-TW" sz="900" b="0" kern="1200">
                        <a:solidFill>
                          <a:schemeClr val="tx1"/>
                        </a:solidFill>
                        <a:latin typeface="+mj-lt"/>
                        <a:ea typeface="KaiTi" panose="02010609060101010101" pitchFamily="49" charset="-122"/>
                        <a:cs typeface="+mn-cs"/>
                      </a:endParaRPr>
                    </a:p>
                  </a:txBody>
                  <a:tcPr marL="9144" marR="9144"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7957">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0" marR="0" lvl="0" indent="0" algn="l" defTabSz="914400" rtl="0" eaLnBrk="1" fontAlgn="base" latinLnBrk="0" hangingPunct="1">
                        <a:lnSpc>
                          <a:spcPct val="100000"/>
                        </a:lnSpc>
                        <a:spcBef>
                          <a:spcPct val="0"/>
                        </a:spcBef>
                        <a:spcAft>
                          <a:spcPct val="30000"/>
                        </a:spcAft>
                        <a:buClr>
                          <a:schemeClr val="accent1"/>
                        </a:buClr>
                        <a:buSzTx/>
                        <a:buFont typeface="Wingdings" pitchFamily="2" charset="2"/>
                        <a:buNone/>
                        <a:tabLst/>
                      </a:pPr>
                      <a:r>
                        <a:rPr kumimoji="0" lang="en-US" altLang="zh-TW" sz="900" b="1" i="0" u="none" strike="noStrike" cap="none" normalizeH="0" baseline="0">
                          <a:ln>
                            <a:noFill/>
                          </a:ln>
                          <a:solidFill>
                            <a:schemeClr val="tx1"/>
                          </a:solidFill>
                          <a:effectLst/>
                          <a:latin typeface="+mj-lt"/>
                          <a:ea typeface="+mn-ea"/>
                          <a:cs typeface="Arial" panose="020B0604020202020204" pitchFamily="34" charset="0"/>
                        </a:rPr>
                        <a:t>Issue Price</a:t>
                      </a:r>
                    </a:p>
                  </a:txBody>
                  <a:tcPr marL="18288" marR="18288"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171450" marR="0" lvl="0" indent="-171450" algn="l" defTabSz="914400" rtl="0" eaLnBrk="0" fontAlgn="base" latinLnBrk="0" hangingPunct="0">
                        <a:lnSpc>
                          <a:spcPct val="100000"/>
                        </a:lnSpc>
                        <a:spcBef>
                          <a:spcPct val="0"/>
                        </a:spcBef>
                        <a:spcAft>
                          <a:spcPts val="0"/>
                        </a:spcAft>
                        <a:buClr>
                          <a:schemeClr val="accent1"/>
                        </a:buClr>
                        <a:buSzPct val="100000"/>
                        <a:buFont typeface="Wingdings 2" panose="05020102010507070707" pitchFamily="18" charset="2"/>
                        <a:buChar char="¡"/>
                        <a:tabLst/>
                        <a:defRPr/>
                      </a:pPr>
                      <a:r>
                        <a:rPr lang="en-US" altLang="zh-CN" sz="900" kern="1200">
                          <a:solidFill>
                            <a:schemeClr val="tx1"/>
                          </a:solidFill>
                          <a:latin typeface="+mj-lt"/>
                          <a:ea typeface="KaiTi" panose="02010609060101010101" pitchFamily="49" charset="-122"/>
                          <a:cs typeface="+mn-cs"/>
                        </a:rPr>
                        <a:t>HK$26.60 per share </a:t>
                      </a:r>
                      <a:endParaRPr lang="zh-CN" altLang="en-US" sz="900" kern="1200">
                        <a:solidFill>
                          <a:schemeClr val="tx1"/>
                        </a:solidFill>
                        <a:latin typeface="+mj-lt"/>
                        <a:ea typeface="KaiTi" panose="02010609060101010101" pitchFamily="49" charset="-122"/>
                        <a:cs typeface="+mn-cs"/>
                      </a:endParaRPr>
                    </a:p>
                  </a:txBody>
                  <a:tcPr marL="9144" marR="9144"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7957">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0" marR="0" lvl="0" indent="0" algn="l" defTabSz="914400" rtl="0" eaLnBrk="1" fontAlgn="base" latinLnBrk="0" hangingPunct="1">
                        <a:lnSpc>
                          <a:spcPct val="100000"/>
                        </a:lnSpc>
                        <a:spcBef>
                          <a:spcPct val="0"/>
                        </a:spcBef>
                        <a:spcAft>
                          <a:spcPct val="100000"/>
                        </a:spcAft>
                        <a:buClr>
                          <a:schemeClr val="accent1"/>
                        </a:buClr>
                        <a:buSzTx/>
                        <a:buFont typeface="Wingdings" pitchFamily="2" charset="2"/>
                        <a:buNone/>
                        <a:tabLst/>
                      </a:pPr>
                      <a:r>
                        <a:rPr kumimoji="0" lang="en-US" altLang="zh-TW" sz="900" b="1" i="0" u="none" strike="noStrike" cap="none" normalizeH="0" baseline="0">
                          <a:ln>
                            <a:noFill/>
                          </a:ln>
                          <a:solidFill>
                            <a:schemeClr val="tx1"/>
                          </a:solidFill>
                          <a:effectLst/>
                          <a:latin typeface="+mj-lt"/>
                          <a:ea typeface="+mn-ea"/>
                          <a:cs typeface="Arial" panose="020B0604020202020204" pitchFamily="34" charset="0"/>
                        </a:rPr>
                        <a:t>Issue Size</a:t>
                      </a:r>
                    </a:p>
                  </a:txBody>
                  <a:tcPr marL="18288" marR="18288"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171450" marR="0" lvl="0" indent="-171450" algn="l" defTabSz="914400" rtl="0" eaLnBrk="0" fontAlgn="base" latinLnBrk="0" hangingPunct="0">
                        <a:lnSpc>
                          <a:spcPct val="100000"/>
                        </a:lnSpc>
                        <a:spcBef>
                          <a:spcPct val="0"/>
                        </a:spcBef>
                        <a:spcAft>
                          <a:spcPts val="0"/>
                        </a:spcAft>
                        <a:buClr>
                          <a:schemeClr val="accent1"/>
                        </a:buClr>
                        <a:buSzPct val="100000"/>
                        <a:buFont typeface="Wingdings 2" panose="05020102010507070707" pitchFamily="18" charset="2"/>
                        <a:buChar char="¡"/>
                        <a:tabLst/>
                        <a:defRPr/>
                      </a:pPr>
                      <a:r>
                        <a:rPr lang="en-GB" altLang="zh-CN" sz="900" kern="1200" baseline="0">
                          <a:solidFill>
                            <a:schemeClr val="tx1"/>
                          </a:solidFill>
                          <a:latin typeface="+mj-lt"/>
                          <a:ea typeface="KaiTi" panose="02010609060101010101" pitchFamily="49" charset="-122"/>
                          <a:cs typeface="+mn-cs"/>
                        </a:rPr>
                        <a:t>HK$2.347 billion </a:t>
                      </a:r>
                      <a:endParaRPr lang="en-US" altLang="zh-TW" sz="900" kern="1200">
                        <a:solidFill>
                          <a:schemeClr val="tx1"/>
                        </a:solidFill>
                        <a:latin typeface="+mj-lt"/>
                        <a:ea typeface="KaiTi" panose="02010609060101010101" pitchFamily="49" charset="-122"/>
                        <a:cs typeface="+mn-cs"/>
                      </a:endParaRPr>
                    </a:p>
                  </a:txBody>
                  <a:tcPr marL="9144" marR="9144"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90625">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0" marR="0" lvl="0" indent="0" algn="l" defTabSz="914400" rtl="0" eaLnBrk="1" fontAlgn="base" latinLnBrk="0" hangingPunct="1">
                        <a:lnSpc>
                          <a:spcPct val="100000"/>
                        </a:lnSpc>
                        <a:spcBef>
                          <a:spcPct val="0"/>
                        </a:spcBef>
                        <a:spcAft>
                          <a:spcPct val="100000"/>
                        </a:spcAft>
                        <a:buClr>
                          <a:schemeClr val="accent1"/>
                        </a:buClr>
                        <a:buSzTx/>
                        <a:buFont typeface="Wingdings" pitchFamily="2" charset="2"/>
                        <a:buNone/>
                        <a:tabLst/>
                      </a:pPr>
                      <a:r>
                        <a:rPr kumimoji="0" lang="en-US" altLang="zh-CN" sz="900" b="1" i="0" u="none" strike="noStrike" cap="none" normalizeH="0" baseline="0">
                          <a:ln>
                            <a:noFill/>
                          </a:ln>
                          <a:solidFill>
                            <a:schemeClr val="tx1"/>
                          </a:solidFill>
                          <a:effectLst/>
                          <a:latin typeface="+mj-lt"/>
                          <a:ea typeface="+mn-ea"/>
                          <a:cs typeface="Arial" panose="020B0604020202020204" pitchFamily="34" charset="0"/>
                        </a:rPr>
                        <a:t>No. of Offering Shares</a:t>
                      </a:r>
                    </a:p>
                  </a:txBody>
                  <a:tcPr marL="18288" marR="18288"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171450" marR="0" lvl="0" indent="-171450" algn="l" defTabSz="914400" rtl="0" eaLnBrk="0" fontAlgn="base" latinLnBrk="0" hangingPunct="0">
                        <a:lnSpc>
                          <a:spcPct val="100000"/>
                        </a:lnSpc>
                        <a:spcBef>
                          <a:spcPct val="0"/>
                        </a:spcBef>
                        <a:spcAft>
                          <a:spcPts val="0"/>
                        </a:spcAft>
                        <a:buClr>
                          <a:schemeClr val="accent1"/>
                        </a:buClr>
                        <a:buSzPct val="100000"/>
                        <a:buFont typeface="Wingdings 2" panose="05020102010507070707" pitchFamily="18" charset="2"/>
                        <a:buChar char="¡"/>
                        <a:tabLst/>
                        <a:defRPr/>
                      </a:pPr>
                      <a:r>
                        <a:rPr lang="en-US" altLang="zh-CN" sz="900" kern="1200">
                          <a:solidFill>
                            <a:schemeClr val="tx1"/>
                          </a:solidFill>
                          <a:latin typeface="+mj-lt"/>
                          <a:ea typeface="KaiTi" panose="02010609060101010101" pitchFamily="49" charset="-122"/>
                          <a:cs typeface="Arial"/>
                        </a:rPr>
                        <a:t>88,235,300 shares </a:t>
                      </a:r>
                      <a:endParaRPr lang="en-US" altLang="zh-TW" sz="900" kern="1200">
                        <a:solidFill>
                          <a:schemeClr val="tx1"/>
                        </a:solidFill>
                        <a:latin typeface="+mj-lt"/>
                        <a:ea typeface="KaiTi" panose="02010609060101010101" pitchFamily="49" charset="-122"/>
                        <a:cs typeface="+mn-cs"/>
                      </a:endParaRPr>
                    </a:p>
                  </a:txBody>
                  <a:tcPr marL="9144" marR="9144"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960">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0" marR="0" lvl="0" indent="0" algn="l" defTabSz="914400" rtl="0" eaLnBrk="1" fontAlgn="base" latinLnBrk="0" hangingPunct="1">
                        <a:lnSpc>
                          <a:spcPct val="100000"/>
                        </a:lnSpc>
                        <a:spcBef>
                          <a:spcPct val="0"/>
                        </a:spcBef>
                        <a:spcAft>
                          <a:spcPct val="100000"/>
                        </a:spcAft>
                        <a:buClr>
                          <a:schemeClr val="accent1"/>
                        </a:buClr>
                        <a:buSzTx/>
                        <a:buFont typeface="Wingdings" pitchFamily="2" charset="2"/>
                        <a:buNone/>
                        <a:tabLst/>
                      </a:pPr>
                      <a:r>
                        <a:rPr kumimoji="0" lang="en-US" altLang="zh-TW" sz="900" b="1" i="0" u="none" strike="noStrike" cap="none" normalizeH="0" baseline="0">
                          <a:ln>
                            <a:noFill/>
                          </a:ln>
                          <a:solidFill>
                            <a:schemeClr val="tx1"/>
                          </a:solidFill>
                          <a:effectLst/>
                          <a:latin typeface="+mj-lt"/>
                          <a:ea typeface="+mn-ea"/>
                          <a:cs typeface="Arial" panose="020B0604020202020204" pitchFamily="34" charset="0"/>
                        </a:rPr>
                        <a:t>- International Placement</a:t>
                      </a:r>
                    </a:p>
                  </a:txBody>
                  <a:tcPr marL="18288" marR="18288"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171450" marR="0" lvl="0" indent="-171450" algn="l" defTabSz="914400" rtl="0" eaLnBrk="0" fontAlgn="base" latinLnBrk="0" hangingPunct="0">
                        <a:lnSpc>
                          <a:spcPct val="100000"/>
                        </a:lnSpc>
                        <a:spcBef>
                          <a:spcPct val="0"/>
                        </a:spcBef>
                        <a:spcAft>
                          <a:spcPts val="0"/>
                        </a:spcAft>
                        <a:buClr>
                          <a:schemeClr val="accent1"/>
                        </a:buClr>
                        <a:buSzPct val="100000"/>
                        <a:buFont typeface="Wingdings 2" panose="05020102010507070707" pitchFamily="18" charset="2"/>
                        <a:buChar char="¡"/>
                        <a:tabLst/>
                        <a:defRPr/>
                      </a:pPr>
                      <a:r>
                        <a:rPr lang="en-US" altLang="zh-CN" sz="900" kern="1200">
                          <a:solidFill>
                            <a:schemeClr val="tx1"/>
                          </a:solidFill>
                          <a:latin typeface="+mj-lt"/>
                          <a:ea typeface="KaiTi" panose="02010609060101010101" pitchFamily="49" charset="-122"/>
                          <a:cs typeface="Arial"/>
                        </a:rPr>
                        <a:t>79,411,700 shares (90%) </a:t>
                      </a:r>
                      <a:endParaRPr lang="en-US" altLang="zh-TW" sz="900" kern="1200">
                        <a:solidFill>
                          <a:schemeClr val="tx1"/>
                        </a:solidFill>
                        <a:latin typeface="KaiTi" panose="02010609060101010101" pitchFamily="49" charset="-122"/>
                        <a:ea typeface="KaiTi" panose="02010609060101010101" pitchFamily="49" charset="-122"/>
                        <a:cs typeface="+mn-cs"/>
                      </a:endParaRPr>
                    </a:p>
                  </a:txBody>
                  <a:tcPr marL="9144" marR="9144"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3294">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0" marR="0" lvl="0" indent="0" algn="l" defTabSz="914400" rtl="0" eaLnBrk="1" fontAlgn="base" latinLnBrk="0" hangingPunct="1">
                        <a:lnSpc>
                          <a:spcPct val="100000"/>
                        </a:lnSpc>
                        <a:spcBef>
                          <a:spcPct val="0"/>
                        </a:spcBef>
                        <a:spcAft>
                          <a:spcPct val="100000"/>
                        </a:spcAft>
                        <a:buClr>
                          <a:schemeClr val="accent1"/>
                        </a:buClr>
                        <a:buSzTx/>
                        <a:buFontTx/>
                        <a:buNone/>
                        <a:tabLst/>
                      </a:pPr>
                      <a:r>
                        <a:rPr kumimoji="0" lang="en-US" altLang="zh-TW" sz="900" b="1" i="0" u="none" strike="noStrike" cap="none" normalizeH="0" baseline="0">
                          <a:ln>
                            <a:noFill/>
                          </a:ln>
                          <a:solidFill>
                            <a:schemeClr val="tx1"/>
                          </a:solidFill>
                          <a:effectLst/>
                          <a:latin typeface="+mj-lt"/>
                          <a:ea typeface="+mn-ea"/>
                          <a:cs typeface="Arial" panose="020B0604020202020204" pitchFamily="34" charset="0"/>
                        </a:rPr>
                        <a:t>- HK Public Offering</a:t>
                      </a:r>
                    </a:p>
                  </a:txBody>
                  <a:tcPr marL="18288" marR="18288"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171450" marR="0" lvl="0" indent="-171450" algn="l" defTabSz="914400" rtl="0" eaLnBrk="0" fontAlgn="base" latinLnBrk="0" hangingPunct="0">
                        <a:lnSpc>
                          <a:spcPct val="100000"/>
                        </a:lnSpc>
                        <a:spcBef>
                          <a:spcPct val="0"/>
                        </a:spcBef>
                        <a:spcAft>
                          <a:spcPts val="0"/>
                        </a:spcAft>
                        <a:buClr>
                          <a:schemeClr val="accent1"/>
                        </a:buClr>
                        <a:buSzPct val="100000"/>
                        <a:buFont typeface="Wingdings 2" panose="05020102010507070707" pitchFamily="18" charset="2"/>
                        <a:buChar char="¡"/>
                        <a:tabLst/>
                        <a:defRPr/>
                      </a:pPr>
                      <a:r>
                        <a:rPr lang="en-US" altLang="zh-CN" sz="900" kern="1200">
                          <a:solidFill>
                            <a:schemeClr val="tx1"/>
                          </a:solidFill>
                          <a:latin typeface="+mj-lt"/>
                          <a:ea typeface="KaiTi" panose="02010609060101010101" pitchFamily="49" charset="-122"/>
                          <a:cs typeface="Arial"/>
                        </a:rPr>
                        <a:t>8,823,600 shares (10%) </a:t>
                      </a:r>
                      <a:endParaRPr lang="en-US" altLang="zh-TW" sz="900" kern="1200">
                        <a:solidFill>
                          <a:schemeClr val="tx1"/>
                        </a:solidFill>
                        <a:latin typeface="+mj-lt"/>
                        <a:ea typeface="KaiTi" panose="02010609060101010101" pitchFamily="49" charset="-122"/>
                        <a:cs typeface="+mn-cs"/>
                      </a:endParaRPr>
                    </a:p>
                  </a:txBody>
                  <a:tcPr marL="9144" marR="9144"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90625">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0" marR="0" lvl="0" indent="0" algn="l" defTabSz="914400" rtl="0" eaLnBrk="0" fontAlgn="base" latinLnBrk="0" hangingPunct="0">
                        <a:lnSpc>
                          <a:spcPct val="100000"/>
                        </a:lnSpc>
                        <a:spcBef>
                          <a:spcPts val="0"/>
                        </a:spcBef>
                        <a:spcAft>
                          <a:spcPts val="0"/>
                        </a:spcAft>
                        <a:buClr>
                          <a:schemeClr val="accent1"/>
                        </a:buClr>
                        <a:buSzTx/>
                        <a:buFont typeface="Wingdings" pitchFamily="2" charset="2"/>
                        <a:buNone/>
                        <a:tabLst/>
                        <a:defRPr/>
                      </a:pPr>
                      <a:r>
                        <a:rPr kumimoji="0" lang="en-US" altLang="zh-TW" sz="900" b="1" i="0" u="none" strike="noStrike" kern="1200" cap="none" normalizeH="0" baseline="0">
                          <a:ln>
                            <a:noFill/>
                          </a:ln>
                          <a:solidFill>
                            <a:schemeClr val="tx1"/>
                          </a:solidFill>
                          <a:effectLst/>
                          <a:latin typeface="+mj-lt"/>
                          <a:ea typeface="+mj-ea"/>
                          <a:cs typeface="Arial" panose="020B0604020202020204" pitchFamily="34" charset="0"/>
                        </a:rPr>
                        <a:t>Listing Venue</a:t>
                      </a:r>
                    </a:p>
                  </a:txBody>
                  <a:tcPr marL="9144" marR="9144" marT="0" marB="0"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171450" marR="0" lvl="0" indent="-171450" algn="l" defTabSz="914400" rtl="0" eaLnBrk="0" fontAlgn="base" latinLnBrk="0" hangingPunct="0">
                        <a:lnSpc>
                          <a:spcPct val="100000"/>
                        </a:lnSpc>
                        <a:spcBef>
                          <a:spcPct val="0"/>
                        </a:spcBef>
                        <a:spcAft>
                          <a:spcPts val="0"/>
                        </a:spcAft>
                        <a:buClr>
                          <a:schemeClr val="accent1"/>
                        </a:buClr>
                        <a:buSzPct val="100000"/>
                        <a:buFont typeface="Wingdings 2" panose="05020102010507070707" pitchFamily="18" charset="2"/>
                        <a:buChar char="¡"/>
                        <a:tabLst/>
                        <a:defRPr/>
                      </a:pPr>
                      <a:r>
                        <a:rPr lang="en-US" altLang="zh-CN" sz="900" kern="1200" noProof="0">
                          <a:solidFill>
                            <a:schemeClr val="tx1"/>
                          </a:solidFill>
                          <a:latin typeface="+mj-lt"/>
                          <a:ea typeface="KaiTi" panose="02010609060101010101" pitchFamily="49" charset="-122"/>
                          <a:cs typeface="Arial"/>
                        </a:rPr>
                        <a:t>Main Board of the Hong Kong Stock Exchange </a:t>
                      </a:r>
                      <a:endParaRPr lang="zh-CN" altLang="en-US" sz="900" kern="1200" noProof="0">
                        <a:solidFill>
                          <a:schemeClr val="tx1"/>
                        </a:solidFill>
                        <a:latin typeface="+mj-lt"/>
                        <a:ea typeface="KaiTi" panose="02010609060101010101" pitchFamily="49" charset="-122"/>
                        <a:cs typeface="Arial"/>
                      </a:endParaRPr>
                    </a:p>
                  </a:txBody>
                  <a:tcPr marL="9144" marR="9144"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3294">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0" marR="0" lvl="0" indent="0" algn="l" defTabSz="914400" rtl="0" eaLnBrk="0" fontAlgn="base" latinLnBrk="0" hangingPunct="0">
                        <a:lnSpc>
                          <a:spcPct val="100000"/>
                        </a:lnSpc>
                        <a:spcBef>
                          <a:spcPts val="0"/>
                        </a:spcBef>
                        <a:spcAft>
                          <a:spcPts val="0"/>
                        </a:spcAft>
                        <a:buClr>
                          <a:schemeClr val="accent1"/>
                        </a:buClr>
                        <a:buSzTx/>
                        <a:buFont typeface="Wingdings" pitchFamily="2" charset="2"/>
                        <a:buNone/>
                        <a:tabLst/>
                        <a:defRPr/>
                      </a:pPr>
                      <a:r>
                        <a:rPr kumimoji="0" lang="en-US" altLang="zh-CN" sz="900" b="1" i="0" u="none" strike="noStrike" kern="1200" cap="none" normalizeH="0" baseline="0">
                          <a:ln>
                            <a:noFill/>
                          </a:ln>
                          <a:solidFill>
                            <a:schemeClr val="tx1"/>
                          </a:solidFill>
                          <a:effectLst/>
                          <a:latin typeface="+mj-lt"/>
                          <a:ea typeface="+mj-ea"/>
                          <a:cs typeface="Arial" panose="020B0604020202020204" pitchFamily="34" charset="0"/>
                        </a:rPr>
                        <a:t>Listing Date</a:t>
                      </a:r>
                      <a:endParaRPr kumimoji="0" lang="en-US" altLang="zh-TW" sz="900" b="1" i="0" u="none" strike="noStrike" kern="1200" cap="none" normalizeH="0" baseline="0">
                        <a:ln>
                          <a:noFill/>
                        </a:ln>
                        <a:solidFill>
                          <a:schemeClr val="tx1"/>
                        </a:solidFill>
                        <a:effectLst/>
                        <a:latin typeface="+mj-lt"/>
                        <a:ea typeface="+mj-ea"/>
                        <a:cs typeface="Arial" panose="020B0604020202020204" pitchFamily="34" charset="0"/>
                      </a:endParaRPr>
                    </a:p>
                  </a:txBody>
                  <a:tcPr marL="9144" marR="9144" marT="0" marB="0"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171450" marR="0" lvl="0" indent="-171450" algn="l" defTabSz="914400" rtl="0" eaLnBrk="0" fontAlgn="base" latinLnBrk="0" hangingPunct="0">
                        <a:lnSpc>
                          <a:spcPct val="100000"/>
                        </a:lnSpc>
                        <a:spcBef>
                          <a:spcPct val="0"/>
                        </a:spcBef>
                        <a:spcAft>
                          <a:spcPts val="0"/>
                        </a:spcAft>
                        <a:buClr>
                          <a:schemeClr val="accent1"/>
                        </a:buClr>
                        <a:buSzPct val="100000"/>
                        <a:buFont typeface="Wingdings 2" panose="05020102010507070707" pitchFamily="18" charset="2"/>
                        <a:buChar char="¡"/>
                        <a:tabLst/>
                        <a:defRPr/>
                      </a:pPr>
                      <a:r>
                        <a:rPr lang="en-US" altLang="zh-CN" sz="900" kern="1200">
                          <a:solidFill>
                            <a:schemeClr val="tx1"/>
                          </a:solidFill>
                          <a:latin typeface="+mj-lt"/>
                          <a:ea typeface="KaiTi" panose="02010609060101010101" pitchFamily="49" charset="-122"/>
                          <a:cs typeface="Arial"/>
                        </a:rPr>
                        <a:t>March 25, 2025 </a:t>
                      </a:r>
                      <a:endParaRPr lang="en-US" altLang="zh-TW" sz="900" kern="1200">
                        <a:solidFill>
                          <a:schemeClr val="tx1"/>
                        </a:solidFill>
                        <a:latin typeface="+mj-lt"/>
                        <a:ea typeface="KaiTi" panose="02010609060101010101" pitchFamily="49" charset="-122"/>
                        <a:cs typeface="+mn-cs"/>
                      </a:endParaRPr>
                    </a:p>
                  </a:txBody>
                  <a:tcPr marL="9144" marR="9144"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4960">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0" marR="0" lvl="0" indent="0" algn="l" defTabSz="914400" rtl="0" eaLnBrk="0" fontAlgn="base" latinLnBrk="0" hangingPunct="0">
                        <a:lnSpc>
                          <a:spcPct val="100000"/>
                        </a:lnSpc>
                        <a:spcBef>
                          <a:spcPts val="0"/>
                        </a:spcBef>
                        <a:spcAft>
                          <a:spcPts val="0"/>
                        </a:spcAft>
                        <a:buClr>
                          <a:schemeClr val="accent1"/>
                        </a:buClr>
                        <a:buSzTx/>
                        <a:buFont typeface="Wingdings" pitchFamily="2" charset="2"/>
                        <a:buNone/>
                        <a:tabLst/>
                        <a:defRPr/>
                      </a:pPr>
                      <a:r>
                        <a:rPr kumimoji="0" lang="en-US" altLang="zh-TW" sz="900" b="1" i="0" u="none" strike="noStrike" kern="1200" cap="none" normalizeH="0" baseline="0">
                          <a:ln>
                            <a:noFill/>
                          </a:ln>
                          <a:solidFill>
                            <a:schemeClr val="tx1"/>
                          </a:solidFill>
                          <a:effectLst/>
                          <a:latin typeface="+mj-lt"/>
                          <a:ea typeface="+mj-ea"/>
                          <a:cs typeface="Arial" panose="020B0604020202020204" pitchFamily="34" charset="0"/>
                        </a:rPr>
                        <a:t>DBS’ Role</a:t>
                      </a:r>
                    </a:p>
                  </a:txBody>
                  <a:tcPr marL="9144" marR="9144" marT="0" marB="0"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tc>
                  <a:txBody>
                    <a:bodyPr/>
                    <a:lstStyle>
                      <a:lvl1pPr marL="0" algn="l" defTabSz="742950" rtl="0" eaLnBrk="1" latinLnBrk="0" hangingPunct="1">
                        <a:defRPr sz="1463" kern="1200">
                          <a:solidFill>
                            <a:schemeClr val="tx1"/>
                          </a:solidFill>
                          <a:latin typeface="Calibri"/>
                          <a:ea typeface="DFKaiShu-GB5"/>
                        </a:defRPr>
                      </a:lvl1pPr>
                      <a:lvl2pPr marL="371475" algn="l" defTabSz="742950" rtl="0" eaLnBrk="1" latinLnBrk="0" hangingPunct="1">
                        <a:defRPr sz="1463" kern="1200">
                          <a:solidFill>
                            <a:schemeClr val="tx1"/>
                          </a:solidFill>
                          <a:latin typeface="Calibri"/>
                          <a:ea typeface="DFKaiShu-GB5"/>
                        </a:defRPr>
                      </a:lvl2pPr>
                      <a:lvl3pPr marL="742950" algn="l" defTabSz="742950" rtl="0" eaLnBrk="1" latinLnBrk="0" hangingPunct="1">
                        <a:defRPr sz="1463" kern="1200">
                          <a:solidFill>
                            <a:schemeClr val="tx1"/>
                          </a:solidFill>
                          <a:latin typeface="Calibri"/>
                          <a:ea typeface="DFKaiShu-GB5"/>
                        </a:defRPr>
                      </a:lvl3pPr>
                      <a:lvl4pPr marL="1114425" algn="l" defTabSz="742950" rtl="0" eaLnBrk="1" latinLnBrk="0" hangingPunct="1">
                        <a:defRPr sz="1463" kern="1200">
                          <a:solidFill>
                            <a:schemeClr val="tx1"/>
                          </a:solidFill>
                          <a:latin typeface="Calibri"/>
                          <a:ea typeface="DFKaiShu-GB5"/>
                        </a:defRPr>
                      </a:lvl4pPr>
                      <a:lvl5pPr marL="1485900" algn="l" defTabSz="742950" rtl="0" eaLnBrk="1" latinLnBrk="0" hangingPunct="1">
                        <a:defRPr sz="1463" kern="1200">
                          <a:solidFill>
                            <a:schemeClr val="tx1"/>
                          </a:solidFill>
                          <a:latin typeface="Calibri"/>
                          <a:ea typeface="DFKaiShu-GB5"/>
                        </a:defRPr>
                      </a:lvl5pPr>
                      <a:lvl6pPr marL="1857375" algn="l" defTabSz="742950" rtl="0" eaLnBrk="1" latinLnBrk="0" hangingPunct="1">
                        <a:defRPr sz="1463" kern="1200">
                          <a:solidFill>
                            <a:schemeClr val="tx1"/>
                          </a:solidFill>
                          <a:latin typeface="Calibri"/>
                          <a:ea typeface="DFKaiShu-GB5"/>
                        </a:defRPr>
                      </a:lvl6pPr>
                      <a:lvl7pPr marL="2228850" algn="l" defTabSz="742950" rtl="0" eaLnBrk="1" latinLnBrk="0" hangingPunct="1">
                        <a:defRPr sz="1463" kern="1200">
                          <a:solidFill>
                            <a:schemeClr val="tx1"/>
                          </a:solidFill>
                          <a:latin typeface="Calibri"/>
                          <a:ea typeface="DFKaiShu-GB5"/>
                        </a:defRPr>
                      </a:lvl7pPr>
                      <a:lvl8pPr marL="2600325" algn="l" defTabSz="742950" rtl="0" eaLnBrk="1" latinLnBrk="0" hangingPunct="1">
                        <a:defRPr sz="1463" kern="1200">
                          <a:solidFill>
                            <a:schemeClr val="tx1"/>
                          </a:solidFill>
                          <a:latin typeface="Calibri"/>
                          <a:ea typeface="DFKaiShu-GB5"/>
                        </a:defRPr>
                      </a:lvl8pPr>
                      <a:lvl9pPr marL="2971800" algn="l" defTabSz="742950" rtl="0" eaLnBrk="1" latinLnBrk="0" hangingPunct="1">
                        <a:defRPr sz="1463" kern="1200">
                          <a:solidFill>
                            <a:schemeClr val="tx1"/>
                          </a:solidFill>
                          <a:latin typeface="Calibri"/>
                          <a:ea typeface="DFKaiShu-GB5"/>
                        </a:defRPr>
                      </a:lvl9pPr>
                    </a:lstStyle>
                    <a:p>
                      <a:pPr marL="171450" marR="0" lvl="0" indent="-171450" algn="l" defTabSz="914400" rtl="0" eaLnBrk="0" fontAlgn="base" latinLnBrk="0" hangingPunct="0">
                        <a:lnSpc>
                          <a:spcPct val="100000"/>
                        </a:lnSpc>
                        <a:spcBef>
                          <a:spcPct val="0"/>
                        </a:spcBef>
                        <a:spcAft>
                          <a:spcPct val="0"/>
                        </a:spcAft>
                        <a:buClr>
                          <a:schemeClr val="accent1"/>
                        </a:buClr>
                        <a:buSzTx/>
                        <a:buFont typeface="Wingdings 2" panose="05020102010507070707" pitchFamily="18" charset="2"/>
                        <a:buChar char="¡"/>
                        <a:tabLst/>
                        <a:defRPr/>
                      </a:pPr>
                      <a:r>
                        <a:rPr lang="en-US" altLang="zh-CN" sz="900" b="0" kern="1200">
                          <a:solidFill>
                            <a:schemeClr val="tx1"/>
                          </a:solidFill>
                          <a:latin typeface="+mj-lt"/>
                          <a:ea typeface="KaiTi" panose="02010609060101010101" pitchFamily="49" charset="-122"/>
                          <a:cs typeface="Arial"/>
                        </a:rPr>
                        <a:t>Joint Global Coordinator, Joint Bookrunner, and Joint Lead Manager</a:t>
                      </a:r>
                    </a:p>
                  </a:txBody>
                  <a:tcPr marL="9144" marR="9144" marT="9144" marB="9144" anchor="ctr" horzOverflow="overflow">
                    <a:lnL>
                      <a:noFill/>
                    </a:lnL>
                    <a:lnR>
                      <a:noFill/>
                    </a:lnR>
                    <a:lnT w="6350" cap="flat" cmpd="sng" algn="ctr">
                      <a:solidFill>
                        <a:srgbClr val="FFFFFF">
                          <a:lumMod val="75000"/>
                        </a:srgbClr>
                      </a:solidFill>
                      <a:prstDash val="solid"/>
                      <a:round/>
                      <a:headEnd type="none" w="med" len="med"/>
                      <a:tailEnd type="none" w="med" len="med"/>
                    </a:lnT>
                    <a:lnB w="6350" cap="flat" cmpd="sng" algn="ctr">
                      <a:solidFill>
                        <a:srgbClr val="FFFFFF">
                          <a:lumMod val="75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38439377"/>
                  </a:ext>
                </a:extLst>
              </a:tr>
            </a:tbl>
          </a:graphicData>
        </a:graphic>
      </p:graphicFrame>
      <p:sp>
        <p:nvSpPr>
          <p:cNvPr id="20" name="Text Box 5">
            <a:extLst>
              <a:ext uri="{FF2B5EF4-FFF2-40B4-BE49-F238E27FC236}">
                <a16:creationId xmlns:a16="http://schemas.microsoft.com/office/drawing/2014/main" id="{3A7F571B-6664-B020-FA69-968015C11B8C}"/>
              </a:ext>
            </a:extLst>
          </p:cNvPr>
          <p:cNvSpPr txBox="1">
            <a:spLocks noChangeArrowheads="1"/>
          </p:cNvSpPr>
          <p:nvPr/>
        </p:nvSpPr>
        <p:spPr bwMode="gray">
          <a:xfrm>
            <a:off x="723900" y="3563790"/>
            <a:ext cx="2092173" cy="228600"/>
          </a:xfrm>
          <a:prstGeom prst="rect">
            <a:avLst/>
          </a:prstGeom>
          <a:solidFill>
            <a:srgbClr val="C00000"/>
          </a:solidFill>
          <a:ln w="9525" cap="flat" cmpd="sng" algn="ctr">
            <a:noFill/>
            <a:prstDash val="solid"/>
            <a:headEnd/>
            <a:tailEnd/>
          </a:ln>
          <a:effectLst>
            <a:outerShdw blurRad="40000" dist="23000" dir="5400000" rotWithShape="0">
              <a:srgbClr val="000000">
                <a:alpha val="35000"/>
              </a:srgbClr>
            </a:outerShdw>
          </a:effectLst>
        </p:spPr>
        <p:txBody>
          <a:bodyPr anchor="ctr"/>
          <a:lstStyle>
            <a:defPPr>
              <a:defRPr lang="en-US"/>
            </a:defPPr>
            <a:lvl1pPr marR="0" lvl="0" indent="0" algn="ctr" eaLnBrk="0" fontAlgn="base" hangingPunct="0">
              <a:lnSpc>
                <a:spcPct val="100000"/>
              </a:lnSpc>
              <a:spcBef>
                <a:spcPct val="50000"/>
              </a:spcBef>
              <a:spcAft>
                <a:spcPct val="0"/>
              </a:spcAft>
              <a:buClrTx/>
              <a:buSzTx/>
              <a:buFontTx/>
              <a:buNone/>
              <a:tabLst/>
              <a:defRPr kumimoji="0" sz="1000" b="1" i="0" u="none" strike="noStrike" kern="0" cap="none" spc="0" normalizeH="0" baseline="0">
                <a:ln>
                  <a:noFill/>
                </a:ln>
                <a:solidFill>
                  <a:srgbClr val="FFFFFF"/>
                </a:solidFill>
                <a:effectLst/>
                <a:uLnTx/>
                <a:uFillTx/>
                <a:latin typeface="Calibri"/>
                <a:ea typeface="DFKaiShu-GB5"/>
              </a:defRPr>
            </a:lvl1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mj-lt"/>
                <a:ea typeface="DFKaiShu-GB5"/>
                <a:cs typeface="+mn-cs"/>
              </a:rPr>
              <a:t>Over-subscription</a:t>
            </a:r>
          </a:p>
        </p:txBody>
      </p:sp>
      <p:sp>
        <p:nvSpPr>
          <p:cNvPr id="21" name="Text Box 5">
            <a:extLst>
              <a:ext uri="{FF2B5EF4-FFF2-40B4-BE49-F238E27FC236}">
                <a16:creationId xmlns:a16="http://schemas.microsoft.com/office/drawing/2014/main" id="{8ACBEE2F-4B3B-F127-D7DC-13D10EE2B301}"/>
              </a:ext>
            </a:extLst>
          </p:cNvPr>
          <p:cNvSpPr txBox="1">
            <a:spLocks noChangeArrowheads="1"/>
          </p:cNvSpPr>
          <p:nvPr/>
        </p:nvSpPr>
        <p:spPr bwMode="gray">
          <a:xfrm>
            <a:off x="2955849" y="3566493"/>
            <a:ext cx="3108960" cy="228600"/>
          </a:xfrm>
          <a:prstGeom prst="rect">
            <a:avLst/>
          </a:prstGeom>
          <a:solidFill>
            <a:srgbClr val="C00000"/>
          </a:solidFill>
          <a:ln w="9525" cap="flat" cmpd="sng" algn="ctr">
            <a:noFill/>
            <a:prstDash val="solid"/>
            <a:headEnd/>
            <a:tailEnd/>
          </a:ln>
          <a:effectLst>
            <a:outerShdw blurRad="40000" dist="23000" dir="5400000" rotWithShape="0">
              <a:srgbClr val="000000">
                <a:alpha val="35000"/>
              </a:srgbClr>
            </a:outerShdw>
          </a:effectLst>
        </p:spPr>
        <p:txBody>
          <a:bodyPr anchor="ctr"/>
          <a:lstStyle>
            <a:defPPr>
              <a:defRPr lang="en-US"/>
            </a:defPPr>
            <a:lvl1pPr marR="0" lvl="0" indent="0" algn="ctr" eaLnBrk="0" fontAlgn="base" hangingPunct="0">
              <a:lnSpc>
                <a:spcPct val="100000"/>
              </a:lnSpc>
              <a:spcBef>
                <a:spcPct val="50000"/>
              </a:spcBef>
              <a:spcAft>
                <a:spcPct val="0"/>
              </a:spcAft>
              <a:buClrTx/>
              <a:buSzTx/>
              <a:buFontTx/>
              <a:buNone/>
              <a:tabLst/>
              <a:defRPr kumimoji="0" sz="1000" b="1" i="0" u="none" strike="noStrike" kern="0" cap="none" spc="0" normalizeH="0" baseline="0">
                <a:ln>
                  <a:noFill/>
                </a:ln>
                <a:solidFill>
                  <a:srgbClr val="FFFFFF"/>
                </a:solidFill>
                <a:effectLst/>
                <a:uLnTx/>
                <a:uFillTx/>
                <a:latin typeface="Calibri"/>
                <a:ea typeface="DFKaiShu-GB5"/>
              </a:defRPr>
            </a:lvl1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mj-lt"/>
                <a:ea typeface="DFKaiShu-GB5"/>
                <a:cs typeface="+mn-cs"/>
              </a:rPr>
              <a:t>DBS Driving Market Demand</a:t>
            </a:r>
          </a:p>
        </p:txBody>
      </p:sp>
      <p:sp>
        <p:nvSpPr>
          <p:cNvPr id="22" name="TextBox 21">
            <a:extLst>
              <a:ext uri="{FF2B5EF4-FFF2-40B4-BE49-F238E27FC236}">
                <a16:creationId xmlns:a16="http://schemas.microsoft.com/office/drawing/2014/main" id="{912BA5EF-AD21-6FD2-3C29-7D10BDF095EC}"/>
              </a:ext>
            </a:extLst>
          </p:cNvPr>
          <p:cNvSpPr txBox="1"/>
          <p:nvPr/>
        </p:nvSpPr>
        <p:spPr>
          <a:xfrm>
            <a:off x="5078253" y="1303868"/>
            <a:ext cx="4141947" cy="2285241"/>
          </a:xfrm>
          <a:prstGeom prst="rect">
            <a:avLst/>
          </a:prstGeom>
          <a:noFill/>
        </p:spPr>
        <p:txBody>
          <a:bodyPr wrap="square" lIns="0" tIns="45720" rIns="0" bIns="45720" anchor="t">
            <a:spAutoFit/>
          </a:bodyPr>
          <a:lstStyle/>
          <a:p>
            <a:pPr marL="171450" indent="-171450" algn="just" fontAlgn="auto">
              <a:spcBef>
                <a:spcPts val="100"/>
              </a:spcBef>
              <a:spcAft>
                <a:spcPts val="100"/>
              </a:spcAft>
              <a:buClr>
                <a:srgbClr val="BE050A"/>
              </a:buClr>
              <a:buSzPct val="100000"/>
              <a:buFont typeface="Wingdings 2" panose="05020102010507070707" pitchFamily="18" charset="2"/>
              <a:buChar char="¡"/>
              <a:defRPr/>
            </a:pPr>
            <a:r>
              <a:rPr lang="en-US" altLang="zh-TW" sz="900" b="0" dirty="0">
                <a:solidFill>
                  <a:srgbClr val="000000"/>
                </a:solidFill>
                <a:latin typeface="+mj-lt"/>
                <a:ea typeface="DFKaiShu-GB5"/>
                <a:cs typeface="Arial"/>
              </a:rPr>
              <a:t>Nanshan </a:t>
            </a:r>
            <a:r>
              <a:rPr lang="en-US" altLang="zh-TW" sz="900" b="0" dirty="0" err="1">
                <a:solidFill>
                  <a:srgbClr val="000000"/>
                </a:solidFill>
                <a:latin typeface="+mj-lt"/>
                <a:ea typeface="DFKaiShu-GB5"/>
                <a:cs typeface="Arial"/>
              </a:rPr>
              <a:t>Aluminium</a:t>
            </a:r>
            <a:r>
              <a:rPr lang="en-US" altLang="zh-TW" sz="900" b="0" dirty="0">
                <a:solidFill>
                  <a:srgbClr val="000000"/>
                </a:solidFill>
                <a:latin typeface="+mj-lt"/>
                <a:ea typeface="DFKaiShu-GB5"/>
                <a:cs typeface="Arial"/>
              </a:rPr>
              <a:t> is one the </a:t>
            </a:r>
            <a:r>
              <a:rPr lang="en-US" altLang="zh-TW" sz="900" dirty="0">
                <a:solidFill>
                  <a:srgbClr val="000000"/>
                </a:solidFill>
                <a:latin typeface="+mj-lt"/>
                <a:ea typeface="DFKaiShu-GB5"/>
                <a:cs typeface="Arial"/>
              </a:rPr>
              <a:t>top three largest alumina producers in Southeast Asia </a:t>
            </a:r>
            <a:r>
              <a:rPr lang="en-US" altLang="zh-TW" sz="900" b="0" dirty="0">
                <a:solidFill>
                  <a:srgbClr val="000000"/>
                </a:solidFill>
                <a:latin typeface="+mj-lt"/>
                <a:ea typeface="DFKaiShu-GB5"/>
                <a:cs typeface="Arial"/>
              </a:rPr>
              <a:t>(“SEA”). In 2023, Nanshan </a:t>
            </a:r>
            <a:r>
              <a:rPr lang="en-US" altLang="zh-TW" sz="900" b="0" dirty="0" err="1">
                <a:solidFill>
                  <a:srgbClr val="000000"/>
                </a:solidFill>
                <a:latin typeface="+mj-lt"/>
                <a:ea typeface="DFKaiShu-GB5"/>
                <a:cs typeface="Arial"/>
              </a:rPr>
              <a:t>Aluminium</a:t>
            </a:r>
            <a:r>
              <a:rPr lang="en-US" altLang="zh-TW" sz="900" b="0" dirty="0">
                <a:solidFill>
                  <a:srgbClr val="000000"/>
                </a:solidFill>
                <a:latin typeface="+mj-lt"/>
                <a:ea typeface="DFKaiShu-GB5"/>
                <a:cs typeface="Arial"/>
              </a:rPr>
              <a:t> ranked 1st in Indonesia and SEA in terms of designed annual production capacity</a:t>
            </a:r>
          </a:p>
          <a:p>
            <a:pPr marL="171450" indent="-171450" algn="just" fontAlgn="auto">
              <a:spcBef>
                <a:spcPts val="100"/>
              </a:spcBef>
              <a:spcAft>
                <a:spcPts val="100"/>
              </a:spcAft>
              <a:buClr>
                <a:srgbClr val="BE050A"/>
              </a:buClr>
              <a:buSzPct val="100000"/>
              <a:buFont typeface="Wingdings 2" panose="05020102010507070707" pitchFamily="18" charset="2"/>
              <a:buChar char="¡"/>
              <a:defRPr/>
            </a:pPr>
            <a:r>
              <a:rPr lang="en-US" altLang="zh-TW" sz="900" b="0" dirty="0">
                <a:solidFill>
                  <a:srgbClr val="000000"/>
                </a:solidFill>
                <a:latin typeface="+mj-lt"/>
                <a:ea typeface="DFKaiShu-GB5"/>
                <a:cs typeface="Arial"/>
              </a:rPr>
              <a:t>In terms of actual production volume, Nanshan </a:t>
            </a:r>
            <a:r>
              <a:rPr lang="en-US" altLang="zh-TW" sz="900" b="0" dirty="0" err="1">
                <a:solidFill>
                  <a:srgbClr val="000000"/>
                </a:solidFill>
                <a:latin typeface="+mj-lt"/>
                <a:ea typeface="DFKaiShu-GB5"/>
                <a:cs typeface="Arial"/>
              </a:rPr>
              <a:t>Aluminium</a:t>
            </a:r>
            <a:r>
              <a:rPr lang="en-US" altLang="zh-TW" sz="900" b="0" dirty="0">
                <a:solidFill>
                  <a:srgbClr val="000000"/>
                </a:solidFill>
                <a:latin typeface="+mj-lt"/>
                <a:ea typeface="DFKaiShu-GB5"/>
                <a:cs typeface="Arial"/>
              </a:rPr>
              <a:t> accounted for </a:t>
            </a:r>
            <a:r>
              <a:rPr lang="en-US" altLang="zh-TW" sz="900" dirty="0">
                <a:solidFill>
                  <a:srgbClr val="000000"/>
                </a:solidFill>
                <a:latin typeface="+mj-lt"/>
                <a:ea typeface="DFKaiShu-GB5"/>
                <a:cs typeface="Arial"/>
              </a:rPr>
              <a:t>34.9% of market share </a:t>
            </a:r>
            <a:r>
              <a:rPr lang="en-US" altLang="zh-TW" sz="900" b="0" dirty="0">
                <a:solidFill>
                  <a:srgbClr val="000000"/>
                </a:solidFill>
                <a:latin typeface="+mj-lt"/>
                <a:ea typeface="DFKaiShu-GB5"/>
                <a:cs typeface="Arial"/>
              </a:rPr>
              <a:t>in the SEA alumina industry and was </a:t>
            </a:r>
            <a:r>
              <a:rPr lang="en-US" altLang="zh-TW" sz="900" dirty="0">
                <a:solidFill>
                  <a:srgbClr val="000000"/>
                </a:solidFill>
                <a:latin typeface="+mj-lt"/>
                <a:ea typeface="DFKaiShu-GB5"/>
                <a:cs typeface="Arial"/>
              </a:rPr>
              <a:t>2nd </a:t>
            </a:r>
            <a:r>
              <a:rPr lang="en-US" altLang="zh-TW" sz="900" b="0" dirty="0">
                <a:solidFill>
                  <a:srgbClr val="000000"/>
                </a:solidFill>
                <a:latin typeface="+mj-lt"/>
                <a:ea typeface="DFKaiShu-GB5"/>
                <a:cs typeface="Arial"/>
              </a:rPr>
              <a:t>largest alumina producer in the SEA market</a:t>
            </a:r>
          </a:p>
          <a:p>
            <a:pPr marL="171450" indent="-171450" algn="just" fontAlgn="auto">
              <a:spcBef>
                <a:spcPts val="100"/>
              </a:spcBef>
              <a:spcAft>
                <a:spcPts val="100"/>
              </a:spcAft>
              <a:buClr>
                <a:srgbClr val="BE050A"/>
              </a:buClr>
              <a:buSzPct val="100000"/>
              <a:buFont typeface="Wingdings 2" panose="05020102010507070707" pitchFamily="18" charset="2"/>
              <a:buChar char="¡"/>
              <a:defRPr/>
            </a:pPr>
            <a:r>
              <a:rPr lang="en-US" altLang="zh-TW" sz="900" b="0" dirty="0">
                <a:solidFill>
                  <a:srgbClr val="000000"/>
                </a:solidFill>
                <a:latin typeface="+mj-lt"/>
                <a:ea typeface="DFKaiShu-GB5"/>
                <a:cs typeface="Arial"/>
              </a:rPr>
              <a:t>Nanshan </a:t>
            </a:r>
            <a:r>
              <a:rPr lang="en-US" altLang="zh-TW" sz="900" b="0" dirty="0" err="1">
                <a:solidFill>
                  <a:srgbClr val="000000"/>
                </a:solidFill>
                <a:latin typeface="+mj-lt"/>
                <a:ea typeface="DFKaiShu-GB5"/>
                <a:cs typeface="Arial"/>
              </a:rPr>
              <a:t>Aluminium</a:t>
            </a:r>
            <a:r>
              <a:rPr lang="en-US" altLang="zh-TW" sz="900" b="0" dirty="0">
                <a:solidFill>
                  <a:srgbClr val="000000"/>
                </a:solidFill>
                <a:latin typeface="+mj-lt"/>
                <a:ea typeface="DFKaiShu-GB5"/>
                <a:cs typeface="Arial"/>
              </a:rPr>
              <a:t> has a strong shareholder base, controlling shareholder Shandong Nanshan </a:t>
            </a:r>
            <a:r>
              <a:rPr lang="en-US" altLang="zh-TW" sz="900" b="0" dirty="0" err="1">
                <a:solidFill>
                  <a:srgbClr val="000000"/>
                </a:solidFill>
                <a:latin typeface="+mj-lt"/>
                <a:ea typeface="DFKaiShu-GB5"/>
                <a:cs typeface="Arial"/>
              </a:rPr>
              <a:t>Aluminium</a:t>
            </a:r>
            <a:r>
              <a:rPr lang="en-US" altLang="zh-TW" sz="900" b="0" dirty="0">
                <a:solidFill>
                  <a:srgbClr val="000000"/>
                </a:solidFill>
                <a:latin typeface="+mj-lt"/>
                <a:ea typeface="DFKaiShu-GB5"/>
                <a:cs typeface="Arial"/>
              </a:rPr>
              <a:t> Co., Ltd. (600219.SH) has deeply engaged in the aluminum industry for decades and has established a complete industrial chain, actively supporting the development of Nanshan </a:t>
            </a:r>
            <a:r>
              <a:rPr lang="en-US" altLang="zh-TW" sz="900" b="0" dirty="0" err="1">
                <a:solidFill>
                  <a:srgbClr val="000000"/>
                </a:solidFill>
                <a:latin typeface="+mj-lt"/>
                <a:ea typeface="DFKaiShu-GB5"/>
                <a:cs typeface="Arial"/>
              </a:rPr>
              <a:t>Aluminium</a:t>
            </a:r>
            <a:r>
              <a:rPr lang="en-US" altLang="zh-TW" sz="900" b="0" dirty="0">
                <a:solidFill>
                  <a:srgbClr val="000000"/>
                </a:solidFill>
                <a:latin typeface="+mj-lt"/>
                <a:ea typeface="DFKaiShu-GB5"/>
                <a:cs typeface="Arial"/>
              </a:rPr>
              <a:t> with technical and professional knowledge</a:t>
            </a:r>
          </a:p>
          <a:p>
            <a:pPr marL="171450" indent="-171450" algn="just" fontAlgn="auto">
              <a:spcBef>
                <a:spcPts val="100"/>
              </a:spcBef>
              <a:spcAft>
                <a:spcPts val="100"/>
              </a:spcAft>
              <a:buClr>
                <a:srgbClr val="BE050A"/>
              </a:buClr>
              <a:buSzPct val="100000"/>
              <a:buFont typeface="Wingdings 2" panose="05020102010507070707" pitchFamily="18" charset="2"/>
              <a:buChar char="¡"/>
              <a:defRPr/>
            </a:pPr>
            <a:r>
              <a:rPr lang="en-US" altLang="zh-TW" sz="900" b="0" dirty="0">
                <a:solidFill>
                  <a:srgbClr val="000000"/>
                </a:solidFill>
                <a:latin typeface="+mj-lt"/>
                <a:ea typeface="DFKaiShu-GB5"/>
                <a:cs typeface="Arial"/>
              </a:rPr>
              <a:t>Major shareholder Press Metal, is the largest integrated </a:t>
            </a:r>
            <a:r>
              <a:rPr lang="en-US" altLang="zh-TW" sz="900" b="0" dirty="0" err="1">
                <a:solidFill>
                  <a:srgbClr val="000000"/>
                </a:solidFill>
                <a:latin typeface="+mj-lt"/>
                <a:ea typeface="DFKaiShu-GB5"/>
                <a:cs typeface="Arial"/>
              </a:rPr>
              <a:t>aluminium</a:t>
            </a:r>
            <a:r>
              <a:rPr lang="en-US" altLang="zh-TW" sz="900" b="0" dirty="0">
                <a:solidFill>
                  <a:srgbClr val="000000"/>
                </a:solidFill>
                <a:latin typeface="+mj-lt"/>
                <a:ea typeface="DFKaiShu-GB5"/>
                <a:cs typeface="Arial"/>
              </a:rPr>
              <a:t> company in SEA with an annual alumina demand of 2 million+ tons. Nanshan </a:t>
            </a:r>
            <a:r>
              <a:rPr lang="en-US" altLang="zh-TW" sz="900" b="0" dirty="0" err="1">
                <a:solidFill>
                  <a:srgbClr val="000000"/>
                </a:solidFill>
                <a:latin typeface="+mj-lt"/>
                <a:ea typeface="DFKaiShu-GB5"/>
                <a:cs typeface="Arial"/>
              </a:rPr>
              <a:t>Aluminium</a:t>
            </a:r>
            <a:r>
              <a:rPr lang="en-US" altLang="zh-TW" sz="900" b="0" dirty="0">
                <a:solidFill>
                  <a:srgbClr val="000000"/>
                </a:solidFill>
                <a:latin typeface="+mj-lt"/>
                <a:ea typeface="DFKaiShu-GB5"/>
                <a:cs typeface="Arial"/>
              </a:rPr>
              <a:t> has established a stable and long-term relationship with Press Metal, ensuring stable source of its revenue</a:t>
            </a:r>
          </a:p>
        </p:txBody>
      </p:sp>
      <p:graphicFrame>
        <p:nvGraphicFramePr>
          <p:cNvPr id="24" name="Chart 23">
            <a:extLst>
              <a:ext uri="{FF2B5EF4-FFF2-40B4-BE49-F238E27FC236}">
                <a16:creationId xmlns:a16="http://schemas.microsoft.com/office/drawing/2014/main" id="{A0D636BA-9F4E-C75D-B28A-D8D9128D0E6A}"/>
              </a:ext>
            </a:extLst>
          </p:cNvPr>
          <p:cNvGraphicFramePr/>
          <p:nvPr>
            <p:extLst>
              <p:ext uri="{D42A27DB-BD31-4B8C-83A1-F6EECF244321}">
                <p14:modId xmlns:p14="http://schemas.microsoft.com/office/powerpoint/2010/main" val="3827299305"/>
              </p:ext>
            </p:extLst>
          </p:nvPr>
        </p:nvGraphicFramePr>
        <p:xfrm>
          <a:off x="735234" y="4227249"/>
          <a:ext cx="2080839" cy="1906331"/>
        </p:xfrm>
        <a:graphic>
          <a:graphicData uri="http://schemas.openxmlformats.org/drawingml/2006/chart">
            <c:chart xmlns:c="http://schemas.openxmlformats.org/drawingml/2006/chart" xmlns:r="http://schemas.openxmlformats.org/officeDocument/2006/relationships" r:id="rId4"/>
          </a:graphicData>
        </a:graphic>
      </p:graphicFrame>
      <p:sp>
        <p:nvSpPr>
          <p:cNvPr id="25" name="TextBox 24">
            <a:extLst>
              <a:ext uri="{FF2B5EF4-FFF2-40B4-BE49-F238E27FC236}">
                <a16:creationId xmlns:a16="http://schemas.microsoft.com/office/drawing/2014/main" id="{D7B6097B-D5FE-0B74-D230-A52E7F248C29}"/>
              </a:ext>
            </a:extLst>
          </p:cNvPr>
          <p:cNvSpPr txBox="1"/>
          <p:nvPr/>
        </p:nvSpPr>
        <p:spPr>
          <a:xfrm>
            <a:off x="940884" y="3815682"/>
            <a:ext cx="737381" cy="292388"/>
          </a:xfrm>
          <a:prstGeom prst="rect">
            <a:avLst/>
          </a:prstGeom>
          <a:noFill/>
        </p:spPr>
        <p:txBody>
          <a:bodyPr wrap="none" lIns="0" tIns="0" rIns="0" bIns="0" rtlCol="0">
            <a:spAutoFit/>
          </a:bodyPr>
          <a:lstStyle/>
          <a:p>
            <a:pPr algn="ctr" fontAlgn="auto">
              <a:spcBef>
                <a:spcPts val="0"/>
              </a:spcBef>
              <a:spcAft>
                <a:spcPts val="0"/>
              </a:spcAft>
            </a:pPr>
            <a:r>
              <a:rPr lang="en-US" sz="1000">
                <a:solidFill>
                  <a:srgbClr val="C00000"/>
                </a:solidFill>
                <a:latin typeface="+mj-lt"/>
                <a:ea typeface="DFKaiShu-GB5"/>
                <a:cs typeface="+mn-cs"/>
              </a:rPr>
              <a:t>1.67x</a:t>
            </a:r>
            <a:br>
              <a:rPr lang="en-US" sz="900">
                <a:solidFill>
                  <a:srgbClr val="C00000"/>
                </a:solidFill>
                <a:latin typeface="+mj-lt"/>
                <a:ea typeface="DFKaiShu-GB5"/>
                <a:cs typeface="+mn-cs"/>
              </a:rPr>
            </a:br>
            <a:r>
              <a:rPr lang="en-US" sz="900">
                <a:solidFill>
                  <a:srgbClr val="C00000"/>
                </a:solidFill>
                <a:latin typeface="+mj-lt"/>
                <a:ea typeface="DFKaiShu-GB5"/>
                <a:cs typeface="+mn-cs"/>
              </a:rPr>
              <a:t>Subscription </a:t>
            </a:r>
          </a:p>
        </p:txBody>
      </p:sp>
      <p:sp>
        <p:nvSpPr>
          <p:cNvPr id="26" name="TextBox 25">
            <a:extLst>
              <a:ext uri="{FF2B5EF4-FFF2-40B4-BE49-F238E27FC236}">
                <a16:creationId xmlns:a16="http://schemas.microsoft.com/office/drawing/2014/main" id="{814C732B-6F3B-4739-DA0E-3D6F15B688DC}"/>
              </a:ext>
            </a:extLst>
          </p:cNvPr>
          <p:cNvSpPr txBox="1"/>
          <p:nvPr/>
        </p:nvSpPr>
        <p:spPr>
          <a:xfrm>
            <a:off x="1864933" y="3815682"/>
            <a:ext cx="737381" cy="292388"/>
          </a:xfrm>
          <a:prstGeom prst="rect">
            <a:avLst/>
          </a:prstGeom>
          <a:noFill/>
        </p:spPr>
        <p:txBody>
          <a:bodyPr wrap="none" lIns="0" tIns="0" rIns="0" bIns="0" rtlCol="0">
            <a:spAutoFit/>
          </a:bodyPr>
          <a:lstStyle/>
          <a:p>
            <a:pPr algn="ctr" fontAlgn="auto">
              <a:spcBef>
                <a:spcPts val="0"/>
              </a:spcBef>
              <a:spcAft>
                <a:spcPts val="0"/>
              </a:spcAft>
            </a:pPr>
            <a:r>
              <a:rPr lang="en-US" sz="1000">
                <a:solidFill>
                  <a:srgbClr val="C00000"/>
                </a:solidFill>
                <a:latin typeface="+mj-lt"/>
                <a:ea typeface="DFKaiShu-GB5"/>
                <a:cs typeface="+mn-cs"/>
              </a:rPr>
              <a:t>3.89x</a:t>
            </a:r>
            <a:br>
              <a:rPr lang="en-US" sz="900">
                <a:solidFill>
                  <a:srgbClr val="C00000"/>
                </a:solidFill>
                <a:latin typeface="+mj-lt"/>
                <a:ea typeface="DFKaiShu-GB5"/>
                <a:cs typeface="+mn-cs"/>
              </a:rPr>
            </a:br>
            <a:r>
              <a:rPr lang="en-US" sz="900">
                <a:solidFill>
                  <a:srgbClr val="C00000"/>
                </a:solidFill>
                <a:latin typeface="+mj-lt"/>
                <a:ea typeface="DFKaiShu-GB5"/>
                <a:cs typeface="+mn-cs"/>
              </a:rPr>
              <a:t>Subscription </a:t>
            </a:r>
            <a:endParaRPr lang="en-US" sz="900" b="0">
              <a:solidFill>
                <a:srgbClr val="C00000"/>
              </a:solidFill>
              <a:latin typeface="+mj-lt"/>
              <a:ea typeface="DFKaiShu-GB5"/>
              <a:cs typeface="+mn-cs"/>
            </a:endParaRPr>
          </a:p>
        </p:txBody>
      </p:sp>
      <p:sp>
        <p:nvSpPr>
          <p:cNvPr id="27" name="Text Box 5">
            <a:extLst>
              <a:ext uri="{FF2B5EF4-FFF2-40B4-BE49-F238E27FC236}">
                <a16:creationId xmlns:a16="http://schemas.microsoft.com/office/drawing/2014/main" id="{02A0F786-A210-69CA-70DB-40D0B2822D05}"/>
              </a:ext>
            </a:extLst>
          </p:cNvPr>
          <p:cNvSpPr txBox="1">
            <a:spLocks noChangeArrowheads="1"/>
          </p:cNvSpPr>
          <p:nvPr/>
        </p:nvSpPr>
        <p:spPr bwMode="gray">
          <a:xfrm>
            <a:off x="725616" y="1061460"/>
            <a:ext cx="4194193" cy="228600"/>
          </a:xfrm>
          <a:prstGeom prst="rect">
            <a:avLst/>
          </a:prstGeom>
          <a:solidFill>
            <a:srgbClr val="C00000"/>
          </a:solidFill>
          <a:ln w="9525" cap="flat" cmpd="sng" algn="ctr">
            <a:solidFill>
              <a:srgbClr val="BE050A">
                <a:shade val="95000"/>
                <a:satMod val="105000"/>
              </a:srgbClr>
            </a:solidFill>
            <a:prstDash val="solid"/>
            <a:headEnd/>
            <a:tailEnd/>
          </a:ln>
          <a:effectLst>
            <a:outerShdw blurRad="40000" dist="23000" dir="5400000" rotWithShape="0">
              <a:srgbClr val="000000">
                <a:alpha val="35000"/>
              </a:srgbClr>
            </a:outerShdw>
          </a:effectLst>
        </p:spPr>
        <p:txBody>
          <a:bodyPr anchor="ctr"/>
          <a:lstStyle>
            <a:defPPr>
              <a:defRPr lang="en-US"/>
            </a:defPPr>
            <a:lvl1pPr marR="0" lvl="0" indent="0" algn="ctr" eaLnBrk="0" fontAlgn="base" hangingPunct="0">
              <a:lnSpc>
                <a:spcPct val="100000"/>
              </a:lnSpc>
              <a:spcBef>
                <a:spcPct val="50000"/>
              </a:spcBef>
              <a:spcAft>
                <a:spcPct val="0"/>
              </a:spcAft>
              <a:buClrTx/>
              <a:buSzTx/>
              <a:buFontTx/>
              <a:buNone/>
              <a:tabLst/>
              <a:defRPr kumimoji="0" sz="1000" b="1" i="0" u="none" strike="noStrike" kern="0" cap="none" spc="0" normalizeH="0" baseline="0">
                <a:ln>
                  <a:noFill/>
                </a:ln>
                <a:solidFill>
                  <a:srgbClr val="FFFFFF"/>
                </a:solidFill>
                <a:effectLst/>
                <a:uLnTx/>
                <a:uFillTx/>
                <a:latin typeface="Calibri"/>
                <a:ea typeface="DFKaiShu-GB5"/>
              </a:defRPr>
            </a:lvl1pPr>
          </a:lstStyle>
          <a:p>
            <a:pPr>
              <a:defRPr/>
            </a:pPr>
            <a:r>
              <a:rPr lang="en-US" altLang="zh-CN">
                <a:latin typeface="+mj-lt"/>
                <a:cs typeface="Arial" panose="020B0604020202020204" pitchFamily="34" charset="0"/>
              </a:rPr>
              <a:t>Issue Summary</a:t>
            </a:r>
          </a:p>
        </p:txBody>
      </p:sp>
      <p:sp>
        <p:nvSpPr>
          <p:cNvPr id="28" name="Text Box 5">
            <a:extLst>
              <a:ext uri="{FF2B5EF4-FFF2-40B4-BE49-F238E27FC236}">
                <a16:creationId xmlns:a16="http://schemas.microsoft.com/office/drawing/2014/main" id="{E7ADD0F5-1B4C-4F2F-3552-8359B33D94ED}"/>
              </a:ext>
            </a:extLst>
          </p:cNvPr>
          <p:cNvSpPr txBox="1">
            <a:spLocks noChangeArrowheads="1"/>
          </p:cNvSpPr>
          <p:nvPr/>
        </p:nvSpPr>
        <p:spPr bwMode="gray">
          <a:xfrm>
            <a:off x="5084472" y="1061460"/>
            <a:ext cx="4138085" cy="228600"/>
          </a:xfrm>
          <a:prstGeom prst="rect">
            <a:avLst/>
          </a:prstGeom>
          <a:solidFill>
            <a:srgbClr val="C00000"/>
          </a:solidFill>
          <a:ln w="9525" cap="flat" cmpd="sng" algn="ctr">
            <a:solidFill>
              <a:srgbClr val="BE050A">
                <a:shade val="95000"/>
                <a:satMod val="105000"/>
              </a:srgbClr>
            </a:solidFill>
            <a:prstDash val="solid"/>
            <a:headEnd/>
            <a:tailEnd/>
          </a:ln>
          <a:effectLst>
            <a:outerShdw blurRad="40000" dist="23000" dir="5400000" rotWithShape="0">
              <a:srgbClr val="000000">
                <a:alpha val="35000"/>
              </a:srgbClr>
            </a:outerShdw>
          </a:effectLst>
        </p:spPr>
        <p:txBody>
          <a:bodyPr anchor="ctr"/>
          <a:lstStyle>
            <a:defPPr>
              <a:defRPr lang="en-US"/>
            </a:defPPr>
            <a:lvl1pPr marR="0" lvl="0" indent="0" algn="ctr" eaLnBrk="0" fontAlgn="base" hangingPunct="0">
              <a:lnSpc>
                <a:spcPct val="100000"/>
              </a:lnSpc>
              <a:spcBef>
                <a:spcPct val="50000"/>
              </a:spcBef>
              <a:spcAft>
                <a:spcPct val="0"/>
              </a:spcAft>
              <a:buClrTx/>
              <a:buSzTx/>
              <a:buFontTx/>
              <a:buNone/>
              <a:tabLst/>
              <a:defRPr kumimoji="0" sz="1000" b="1" i="0" u="none" strike="noStrike" kern="0" cap="none" spc="0" normalizeH="0" baseline="0">
                <a:ln>
                  <a:noFill/>
                </a:ln>
                <a:solidFill>
                  <a:srgbClr val="FFFFFF"/>
                </a:solidFill>
                <a:effectLst/>
                <a:uLnTx/>
                <a:uFillTx/>
                <a:latin typeface="Calibri"/>
                <a:ea typeface="DFKaiShu-GB5"/>
              </a:defRPr>
            </a:lvl1pPr>
          </a:lstStyle>
          <a:p>
            <a:pPr>
              <a:spcAft>
                <a:spcPts val="600"/>
              </a:spcAft>
              <a:defRPr/>
            </a:pPr>
            <a:r>
              <a:rPr lang="en-US" altLang="zh-CN">
                <a:latin typeface="+mj-lt"/>
                <a:cs typeface="Arial" panose="020B0604020202020204" pitchFamily="34" charset="0"/>
              </a:rPr>
              <a:t>Issue Highlights</a:t>
            </a:r>
          </a:p>
        </p:txBody>
      </p:sp>
      <p:sp>
        <p:nvSpPr>
          <p:cNvPr id="29" name="TextBox 28">
            <a:extLst>
              <a:ext uri="{FF2B5EF4-FFF2-40B4-BE49-F238E27FC236}">
                <a16:creationId xmlns:a16="http://schemas.microsoft.com/office/drawing/2014/main" id="{B7D4EE62-BBA7-B78C-2213-1CDC32666B04}"/>
              </a:ext>
            </a:extLst>
          </p:cNvPr>
          <p:cNvSpPr txBox="1"/>
          <p:nvPr/>
        </p:nvSpPr>
        <p:spPr>
          <a:xfrm>
            <a:off x="6177293" y="3777537"/>
            <a:ext cx="3042907" cy="2385268"/>
          </a:xfrm>
          <a:prstGeom prst="rect">
            <a:avLst/>
          </a:prstGeom>
          <a:noFill/>
        </p:spPr>
        <p:txBody>
          <a:bodyPr wrap="square" lIns="0" rIns="0">
            <a:spAutoFit/>
          </a:bodyPr>
          <a:lstStyle/>
          <a:p>
            <a:pPr marL="171450" indent="-171450" algn="just" fontAlgn="auto">
              <a:spcBef>
                <a:spcPts val="100"/>
              </a:spcBef>
              <a:spcAft>
                <a:spcPts val="100"/>
              </a:spcAft>
              <a:buClr>
                <a:srgbClr val="BE050A"/>
              </a:buClr>
              <a:buSzPct val="100000"/>
              <a:buFont typeface="Wingdings 2" panose="05020102010507070707" pitchFamily="18" charset="2"/>
              <a:buChar char="¡"/>
              <a:defRPr/>
            </a:pPr>
            <a:r>
              <a:rPr lang="en-US" altLang="zh-CN" sz="900" b="0">
                <a:solidFill>
                  <a:srgbClr val="000000"/>
                </a:solidFill>
                <a:latin typeface="+mj-lt"/>
                <a:ea typeface="DFKaiShu-GB5"/>
                <a:cs typeface="+mn-cs"/>
              </a:rPr>
              <a:t>On top of acting as </a:t>
            </a:r>
            <a:r>
              <a:rPr lang="en-US" altLang="zh-CN" sz="900">
                <a:solidFill>
                  <a:srgbClr val="C00000"/>
                </a:solidFill>
                <a:latin typeface="+mj-lt"/>
                <a:ea typeface="DFKaiShu-GB5"/>
                <a:cs typeface="+mn-cs"/>
              </a:rPr>
              <a:t>Joint Global Coordinator</a:t>
            </a:r>
            <a:r>
              <a:rPr lang="en-US" altLang="zh-CN" sz="900" b="0">
                <a:solidFill>
                  <a:srgbClr val="000000"/>
                </a:solidFill>
                <a:latin typeface="+mj-lt"/>
                <a:ea typeface="DFKaiShu-GB5"/>
                <a:cs typeface="+mn-cs"/>
              </a:rPr>
              <a:t>, DBS also acted as </a:t>
            </a:r>
            <a:r>
              <a:rPr lang="en-US" altLang="zh-CN" sz="900">
                <a:solidFill>
                  <a:srgbClr val="C00000"/>
                </a:solidFill>
                <a:latin typeface="+mj-lt"/>
                <a:ea typeface="DFKaiShu-GB5"/>
                <a:cs typeface="+mn-cs"/>
              </a:rPr>
              <a:t>Receiving Bank </a:t>
            </a:r>
            <a:r>
              <a:rPr lang="en-US" altLang="zh-CN" sz="900" b="0">
                <a:solidFill>
                  <a:srgbClr val="000000"/>
                </a:solidFill>
                <a:latin typeface="+mj-lt"/>
                <a:ea typeface="DFKaiShu-GB5"/>
                <a:cs typeface="+mn-cs"/>
              </a:rPr>
              <a:t>as well as </a:t>
            </a:r>
            <a:r>
              <a:rPr lang="en-US" altLang="zh-CN" sz="900">
                <a:solidFill>
                  <a:srgbClr val="C00000"/>
                </a:solidFill>
                <a:latin typeface="+mj-lt"/>
                <a:ea typeface="DFKaiShu-GB5"/>
                <a:cs typeface="+mn-cs"/>
              </a:rPr>
              <a:t>issued research report </a:t>
            </a:r>
            <a:r>
              <a:rPr lang="en-US" altLang="zh-CN" sz="900" b="0">
                <a:solidFill>
                  <a:srgbClr val="000000"/>
                </a:solidFill>
                <a:latin typeface="+mj-lt"/>
                <a:ea typeface="DFKaiShu-GB5"/>
                <a:cs typeface="+mn-cs"/>
              </a:rPr>
              <a:t>for the IPO, providing comprehensive support as one-bank for the successful IPO issuance</a:t>
            </a:r>
          </a:p>
          <a:p>
            <a:pPr marL="171450" indent="-171450" algn="just" fontAlgn="auto">
              <a:spcBef>
                <a:spcPts val="100"/>
              </a:spcBef>
              <a:spcAft>
                <a:spcPts val="100"/>
              </a:spcAft>
              <a:buClr>
                <a:srgbClr val="BE050A"/>
              </a:buClr>
              <a:buSzPct val="100000"/>
              <a:buFont typeface="Wingdings 2" panose="05020102010507070707" pitchFamily="18" charset="2"/>
              <a:buChar char="¡"/>
              <a:defRPr/>
            </a:pPr>
            <a:r>
              <a:rPr lang="en-US" altLang="zh-CN" sz="900" b="0">
                <a:solidFill>
                  <a:srgbClr val="000000"/>
                </a:solidFill>
                <a:latin typeface="+mj-lt"/>
                <a:ea typeface="DFKaiShu-GB5"/>
                <a:cs typeface="+mn-cs"/>
              </a:rPr>
              <a:t>Together with Nanshan </a:t>
            </a:r>
            <a:r>
              <a:rPr lang="en-US" altLang="zh-CN" sz="900" b="0" err="1">
                <a:solidFill>
                  <a:srgbClr val="000000"/>
                </a:solidFill>
                <a:latin typeface="+mj-lt"/>
                <a:ea typeface="DFKaiShu-GB5"/>
                <a:cs typeface="+mn-cs"/>
              </a:rPr>
              <a:t>Aluminium</a:t>
            </a:r>
            <a:r>
              <a:rPr lang="en-US" altLang="zh-CN" sz="900" b="0">
                <a:solidFill>
                  <a:srgbClr val="000000"/>
                </a:solidFill>
                <a:latin typeface="+mj-lt"/>
                <a:ea typeface="DFKaiShu-GB5"/>
                <a:cs typeface="+mn-cs"/>
              </a:rPr>
              <a:t>, DBS has formed a marketing strategy </a:t>
            </a:r>
            <a:r>
              <a:rPr lang="en-US" altLang="zh-CN" sz="900">
                <a:solidFill>
                  <a:srgbClr val="C00000"/>
                </a:solidFill>
                <a:latin typeface="+mj-lt"/>
                <a:ea typeface="DFKaiShu-GB5"/>
                <a:cs typeface="+mn-cs"/>
              </a:rPr>
              <a:t>focusing on professional investors in Southeast Asia</a:t>
            </a:r>
            <a:r>
              <a:rPr lang="en-US" altLang="zh-CN" sz="900" b="0">
                <a:solidFill>
                  <a:srgbClr val="000000"/>
                </a:solidFill>
                <a:latin typeface="+mj-lt"/>
                <a:ea typeface="DFKaiShu-GB5"/>
                <a:cs typeface="+mn-cs"/>
              </a:rPr>
              <a:t>, introducing </a:t>
            </a:r>
            <a:r>
              <a:rPr lang="en-US" altLang="zh-CN" sz="900">
                <a:solidFill>
                  <a:srgbClr val="C00000"/>
                </a:solidFill>
                <a:latin typeface="+mj-lt"/>
                <a:ea typeface="DFKaiShu-GB5"/>
                <a:cs typeface="+mn-cs"/>
              </a:rPr>
              <a:t>90+ </a:t>
            </a:r>
            <a:r>
              <a:rPr lang="en-US" altLang="zh-CN" sz="900" b="0">
                <a:solidFill>
                  <a:srgbClr val="000000"/>
                </a:solidFill>
                <a:latin typeface="+mj-lt"/>
                <a:ea typeface="DFKaiShu-GB5"/>
                <a:cs typeface="+mn-cs"/>
              </a:rPr>
              <a:t>reputable long-term Southeast Asian funds and strategic corporate investors for the IPO</a:t>
            </a:r>
          </a:p>
          <a:p>
            <a:pPr marL="171450" indent="-171450" algn="just" fontAlgn="auto">
              <a:spcBef>
                <a:spcPts val="100"/>
              </a:spcBef>
              <a:spcAft>
                <a:spcPts val="100"/>
              </a:spcAft>
              <a:buClr>
                <a:srgbClr val="BE050A"/>
              </a:buClr>
              <a:buSzPct val="100000"/>
              <a:buFont typeface="Wingdings 2" panose="05020102010507070707" pitchFamily="18" charset="2"/>
              <a:buChar char="¡"/>
              <a:defRPr/>
            </a:pPr>
            <a:r>
              <a:rPr lang="en-US" altLang="zh-CN" sz="900" b="0">
                <a:solidFill>
                  <a:srgbClr val="000000"/>
                </a:solidFill>
                <a:latin typeface="+mj-lt"/>
                <a:ea typeface="DFKaiShu-GB5"/>
                <a:cs typeface="+mn-cs"/>
              </a:rPr>
              <a:t>DBS has arranged </a:t>
            </a:r>
            <a:r>
              <a:rPr lang="en-US" altLang="zh-CN" sz="900">
                <a:solidFill>
                  <a:srgbClr val="C00000"/>
                </a:solidFill>
                <a:latin typeface="+mj-lt"/>
                <a:ea typeface="DFKaiShu-GB5"/>
                <a:cs typeface="+mn-cs"/>
              </a:rPr>
              <a:t>30+ management roadshows</a:t>
            </a:r>
            <a:r>
              <a:rPr lang="en-US" altLang="zh-CN" sz="900" b="0">
                <a:solidFill>
                  <a:srgbClr val="000000"/>
                </a:solidFill>
                <a:latin typeface="+mj-lt"/>
                <a:ea typeface="DFKaiShu-GB5"/>
                <a:cs typeface="+mn-cs"/>
              </a:rPr>
              <a:t> and pre-deal analyst meetings, laying a solid foundation for the successful issuance through in-depth pre-deal investor education</a:t>
            </a:r>
          </a:p>
          <a:p>
            <a:pPr marL="171450" indent="-171450" algn="just" fontAlgn="auto">
              <a:spcBef>
                <a:spcPts val="100"/>
              </a:spcBef>
              <a:spcAft>
                <a:spcPts val="100"/>
              </a:spcAft>
              <a:buClr>
                <a:srgbClr val="BE050A"/>
              </a:buClr>
              <a:buSzPct val="100000"/>
              <a:buFont typeface="Wingdings 2" panose="05020102010507070707" pitchFamily="18" charset="2"/>
              <a:buChar char="¡"/>
              <a:defRPr/>
            </a:pPr>
            <a:r>
              <a:rPr lang="en-US" altLang="zh-CN" sz="900" b="0">
                <a:solidFill>
                  <a:srgbClr val="000000"/>
                </a:solidFill>
                <a:latin typeface="+mj-lt"/>
                <a:ea typeface="DFKaiShu-GB5"/>
                <a:cs typeface="+mn-cs"/>
              </a:rPr>
              <a:t>Leveraging on the bank’s extensive private bank network, DBS brought in strong </a:t>
            </a:r>
            <a:r>
              <a:rPr lang="en-US" altLang="zh-CN" sz="900">
                <a:solidFill>
                  <a:srgbClr val="C00000"/>
                </a:solidFill>
                <a:latin typeface="+mj-lt"/>
                <a:ea typeface="DFKaiShu-GB5"/>
                <a:cs typeface="+mn-cs"/>
              </a:rPr>
              <a:t>high-net-worth client </a:t>
            </a:r>
            <a:r>
              <a:rPr lang="en-US" altLang="zh-CN" sz="900" b="0">
                <a:solidFill>
                  <a:srgbClr val="000000"/>
                </a:solidFill>
                <a:latin typeface="+mj-lt"/>
                <a:ea typeface="DFKaiShu-GB5"/>
                <a:cs typeface="+mn-cs"/>
              </a:rPr>
              <a:t>order demand to the IPO</a:t>
            </a:r>
          </a:p>
        </p:txBody>
      </p:sp>
      <p:sp>
        <p:nvSpPr>
          <p:cNvPr id="30" name="TextBox 29">
            <a:extLst>
              <a:ext uri="{FF2B5EF4-FFF2-40B4-BE49-F238E27FC236}">
                <a16:creationId xmlns:a16="http://schemas.microsoft.com/office/drawing/2014/main" id="{040D2BEA-5C13-89E3-D5AB-EC4C2CF079EB}"/>
              </a:ext>
            </a:extLst>
          </p:cNvPr>
          <p:cNvSpPr txBox="1"/>
          <p:nvPr/>
        </p:nvSpPr>
        <p:spPr>
          <a:xfrm>
            <a:off x="2974519" y="5103811"/>
            <a:ext cx="1483795" cy="944785"/>
          </a:xfrm>
          <a:prstGeom prst="rect">
            <a:avLst/>
          </a:prstGeom>
          <a:noFill/>
          <a:ln>
            <a:solidFill>
              <a:srgbClr val="000000">
                <a:lumMod val="50000"/>
                <a:lumOff val="50000"/>
              </a:srgbClr>
            </a:solidFill>
            <a:prstDash val="dash"/>
          </a:ln>
        </p:spPr>
        <p:txBody>
          <a:bodyPr wrap="square">
            <a:noAutofit/>
          </a:bodyPr>
          <a:lstStyle/>
          <a:p>
            <a:pPr marL="0" marR="0" lvl="0" indent="0" defTabSz="914400" eaLnBrk="1" fontAlgn="auto" latinLnBrk="0" hangingPunct="1">
              <a:lnSpc>
                <a:spcPct val="100000"/>
              </a:lnSpc>
              <a:spcBef>
                <a:spcPts val="300"/>
              </a:spcBef>
              <a:spcAft>
                <a:spcPts val="300"/>
              </a:spcAft>
              <a:buClr>
                <a:srgbClr val="BE050A"/>
              </a:buClr>
              <a:buSzPct val="100000"/>
              <a:buFontTx/>
              <a:buNone/>
              <a:tabLst/>
              <a:defRPr/>
            </a:pPr>
            <a:r>
              <a:rPr kumimoji="0" lang="en-US" altLang="zh-TW" sz="900" b="0" i="0" u="none" strike="noStrike" kern="0" cap="none" spc="0" normalizeH="0" baseline="0" noProof="0">
                <a:ln>
                  <a:noFill/>
                </a:ln>
                <a:solidFill>
                  <a:srgbClr val="000000"/>
                </a:solidFill>
                <a:effectLst/>
                <a:uLnTx/>
                <a:uFillTx/>
                <a:latin typeface="+mj-lt"/>
                <a:ea typeface="DFKaiShu-GB5"/>
                <a:cs typeface="+mn-cs"/>
              </a:rPr>
              <a:t>DBS generated </a:t>
            </a:r>
            <a:r>
              <a:rPr kumimoji="0" lang="en-US" altLang="zh-TW" sz="900" b="0" i="0" u="none" strike="noStrike" kern="0" cap="none" spc="0" normalizeH="0" baseline="0" noProof="0">
                <a:ln>
                  <a:noFill/>
                </a:ln>
                <a:solidFill>
                  <a:srgbClr val="C00000"/>
                </a:solidFill>
                <a:effectLst/>
                <a:uLnTx/>
                <a:uFillTx/>
                <a:latin typeface="+mj-lt"/>
                <a:ea typeface="DFKaiShu-GB5"/>
                <a:cs typeface="+mn-cs"/>
              </a:rPr>
              <a:t>100% Southeast Asia long-only investor orders</a:t>
            </a:r>
            <a:r>
              <a:rPr kumimoji="0" lang="en-US" altLang="zh-TW" sz="900" b="0" i="0" u="none" strike="noStrike" kern="0" cap="none" spc="0" normalizeH="0" baseline="0" noProof="0">
                <a:ln>
                  <a:noFill/>
                </a:ln>
                <a:solidFill>
                  <a:srgbClr val="000000"/>
                </a:solidFill>
                <a:effectLst/>
                <a:uLnTx/>
                <a:uFillTx/>
                <a:latin typeface="+mj-lt"/>
                <a:ea typeface="DFKaiShu-GB5"/>
                <a:cs typeface="+mn-cs"/>
              </a:rPr>
              <a:t>, including reputable asset management firms from Singapore and Malaysia</a:t>
            </a:r>
          </a:p>
        </p:txBody>
      </p:sp>
      <p:graphicFrame>
        <p:nvGraphicFramePr>
          <p:cNvPr id="31" name="Chart 30">
            <a:extLst>
              <a:ext uri="{FF2B5EF4-FFF2-40B4-BE49-F238E27FC236}">
                <a16:creationId xmlns:a16="http://schemas.microsoft.com/office/drawing/2014/main" id="{242AE626-FCE6-8D14-897A-0E4C7169A1C9}"/>
              </a:ext>
            </a:extLst>
          </p:cNvPr>
          <p:cNvGraphicFramePr/>
          <p:nvPr>
            <p:extLst>
              <p:ext uri="{D42A27DB-BD31-4B8C-83A1-F6EECF244321}">
                <p14:modId xmlns:p14="http://schemas.microsoft.com/office/powerpoint/2010/main" val="511921650"/>
              </p:ext>
            </p:extLst>
          </p:nvPr>
        </p:nvGraphicFramePr>
        <p:xfrm>
          <a:off x="2974519" y="4088578"/>
          <a:ext cx="1483795" cy="992886"/>
        </p:xfrm>
        <a:graphic>
          <a:graphicData uri="http://schemas.openxmlformats.org/drawingml/2006/chart">
            <c:chart xmlns:c="http://schemas.openxmlformats.org/drawingml/2006/chart" xmlns:r="http://schemas.openxmlformats.org/officeDocument/2006/relationships" r:id="rId5"/>
          </a:graphicData>
        </a:graphic>
      </p:graphicFrame>
      <p:sp>
        <p:nvSpPr>
          <p:cNvPr id="32" name="TextBox 31">
            <a:extLst>
              <a:ext uri="{FF2B5EF4-FFF2-40B4-BE49-F238E27FC236}">
                <a16:creationId xmlns:a16="http://schemas.microsoft.com/office/drawing/2014/main" id="{C33D963B-2093-A4AA-75DC-983F6E89227B}"/>
              </a:ext>
            </a:extLst>
          </p:cNvPr>
          <p:cNvSpPr txBox="1"/>
          <p:nvPr/>
        </p:nvSpPr>
        <p:spPr>
          <a:xfrm>
            <a:off x="4570798" y="5103810"/>
            <a:ext cx="1483795" cy="944785"/>
          </a:xfrm>
          <a:prstGeom prst="rect">
            <a:avLst/>
          </a:prstGeom>
          <a:noFill/>
          <a:ln>
            <a:solidFill>
              <a:srgbClr val="000000">
                <a:lumMod val="50000"/>
                <a:lumOff val="50000"/>
              </a:srgbClr>
            </a:solidFill>
            <a:prstDash val="dash"/>
          </a:ln>
        </p:spPr>
        <p:txBody>
          <a:bodyPr wrap="square">
            <a:noAutofit/>
          </a:bodyPr>
          <a:lstStyle/>
          <a:p>
            <a:pPr marL="0" marR="0" lvl="0" indent="0" defTabSz="914400" eaLnBrk="1" fontAlgn="auto" latinLnBrk="0" hangingPunct="1">
              <a:lnSpc>
                <a:spcPct val="100000"/>
              </a:lnSpc>
              <a:spcBef>
                <a:spcPts val="300"/>
              </a:spcBef>
              <a:spcAft>
                <a:spcPts val="300"/>
              </a:spcAft>
              <a:buClr>
                <a:srgbClr val="BE050A"/>
              </a:buClr>
              <a:buSzPct val="100000"/>
              <a:buFontTx/>
              <a:buNone/>
              <a:tabLst/>
              <a:defRPr/>
            </a:pPr>
            <a:r>
              <a:rPr kumimoji="0" lang="en-US" altLang="zh-TW" sz="900" b="0" i="0" u="none" strike="noStrike" kern="0" cap="none" spc="0" normalizeH="0" baseline="0" noProof="0">
                <a:ln>
                  <a:noFill/>
                </a:ln>
                <a:solidFill>
                  <a:srgbClr val="000000"/>
                </a:solidFill>
                <a:effectLst/>
                <a:uLnTx/>
                <a:uFillTx/>
                <a:latin typeface="+mj-lt"/>
                <a:ea typeface="DFKaiShu-GB5"/>
                <a:cs typeface="+mn-cs"/>
              </a:rPr>
              <a:t>DBS investor orders </a:t>
            </a:r>
            <a:r>
              <a:rPr kumimoji="0" lang="en-US" altLang="zh-TW" sz="900" b="0" i="0" u="none" strike="noStrike" kern="0" cap="none" spc="0" normalizeH="0" baseline="0" noProof="0">
                <a:ln>
                  <a:noFill/>
                </a:ln>
                <a:solidFill>
                  <a:srgbClr val="C00000"/>
                </a:solidFill>
                <a:effectLst/>
                <a:uLnTx/>
                <a:uFillTx/>
                <a:latin typeface="+mj-lt"/>
                <a:ea typeface="DFKaiShu-GB5"/>
                <a:cs typeface="+mn-cs"/>
              </a:rPr>
              <a:t>accounted for 1/3 of the book</a:t>
            </a:r>
            <a:r>
              <a:rPr kumimoji="0" lang="en-US" altLang="zh-TW" sz="900" b="0" i="0" u="none" strike="noStrike" kern="0" cap="none" spc="0" normalizeH="0" baseline="0" noProof="0">
                <a:ln>
                  <a:noFill/>
                </a:ln>
                <a:solidFill>
                  <a:srgbClr val="000000"/>
                </a:solidFill>
                <a:effectLst/>
                <a:uLnTx/>
                <a:uFillTx/>
                <a:latin typeface="+mj-lt"/>
                <a:ea typeface="DFKaiShu-GB5"/>
                <a:cs typeface="+mn-cs"/>
              </a:rPr>
              <a:t>, with final IPO allocation towards long-only investors brought by DBS</a:t>
            </a:r>
          </a:p>
        </p:txBody>
      </p:sp>
      <p:sp>
        <p:nvSpPr>
          <p:cNvPr id="33" name="TextBox 32">
            <a:extLst>
              <a:ext uri="{FF2B5EF4-FFF2-40B4-BE49-F238E27FC236}">
                <a16:creationId xmlns:a16="http://schemas.microsoft.com/office/drawing/2014/main" id="{DBACA32B-A81F-1218-6368-8D590CABC5C8}"/>
              </a:ext>
            </a:extLst>
          </p:cNvPr>
          <p:cNvSpPr txBox="1"/>
          <p:nvPr/>
        </p:nvSpPr>
        <p:spPr>
          <a:xfrm>
            <a:off x="2974519" y="3781717"/>
            <a:ext cx="1483795" cy="369332"/>
          </a:xfrm>
          <a:prstGeom prst="rect">
            <a:avLst/>
          </a:prstGeom>
          <a:noFill/>
        </p:spPr>
        <p:txBody>
          <a:bodyPr wrap="square" lIns="0" rIns="0" rtlCol="0" anchor="b" anchorCtr="0">
            <a:spAutoFit/>
          </a:bodyPr>
          <a:lstStyle/>
          <a:p>
            <a:pPr algn="ctr" fontAlgn="auto">
              <a:spcBef>
                <a:spcPts val="0"/>
              </a:spcBef>
              <a:spcAft>
                <a:spcPts val="0"/>
              </a:spcAft>
            </a:pPr>
            <a:r>
              <a:rPr lang="en-US" altLang="zh-CN" sz="900">
                <a:solidFill>
                  <a:srgbClr val="000000"/>
                </a:solidFill>
                <a:latin typeface="+mj-lt"/>
                <a:ea typeface="DFKaiShu-GB5"/>
                <a:cs typeface="+mn-cs"/>
              </a:rPr>
              <a:t>SEA long-only </a:t>
            </a:r>
          </a:p>
          <a:p>
            <a:pPr algn="ctr" fontAlgn="auto">
              <a:spcBef>
                <a:spcPts val="0"/>
              </a:spcBef>
              <a:spcAft>
                <a:spcPts val="0"/>
              </a:spcAft>
            </a:pPr>
            <a:r>
              <a:rPr lang="en-US" altLang="zh-CN" sz="900">
                <a:solidFill>
                  <a:srgbClr val="000000"/>
                </a:solidFill>
                <a:latin typeface="+mj-lt"/>
                <a:ea typeface="DFKaiShu-GB5"/>
                <a:cs typeface="+mn-cs"/>
              </a:rPr>
              <a:t>investor orders </a:t>
            </a:r>
            <a:endParaRPr lang="zh-CN" altLang="en-US" sz="900">
              <a:solidFill>
                <a:srgbClr val="000000"/>
              </a:solidFill>
              <a:latin typeface="+mj-lt"/>
              <a:ea typeface="DFKaiShu-GB5"/>
              <a:cs typeface="+mn-cs"/>
            </a:endParaRPr>
          </a:p>
        </p:txBody>
      </p:sp>
      <p:graphicFrame>
        <p:nvGraphicFramePr>
          <p:cNvPr id="34" name="Chart 33">
            <a:extLst>
              <a:ext uri="{FF2B5EF4-FFF2-40B4-BE49-F238E27FC236}">
                <a16:creationId xmlns:a16="http://schemas.microsoft.com/office/drawing/2014/main" id="{D76A0E7E-2450-36D9-4A7C-F107B9397F41}"/>
              </a:ext>
            </a:extLst>
          </p:cNvPr>
          <p:cNvGraphicFramePr/>
          <p:nvPr>
            <p:extLst>
              <p:ext uri="{D42A27DB-BD31-4B8C-83A1-F6EECF244321}">
                <p14:modId xmlns:p14="http://schemas.microsoft.com/office/powerpoint/2010/main" val="1093071814"/>
              </p:ext>
            </p:extLst>
          </p:nvPr>
        </p:nvGraphicFramePr>
        <p:xfrm>
          <a:off x="4570798" y="4088578"/>
          <a:ext cx="1483795" cy="992886"/>
        </p:xfrm>
        <a:graphic>
          <a:graphicData uri="http://schemas.openxmlformats.org/drawingml/2006/chart">
            <c:chart xmlns:c="http://schemas.openxmlformats.org/drawingml/2006/chart" xmlns:r="http://schemas.openxmlformats.org/officeDocument/2006/relationships" r:id="rId6"/>
          </a:graphicData>
        </a:graphic>
      </p:graphicFrame>
      <p:sp>
        <p:nvSpPr>
          <p:cNvPr id="35" name="TextBox 34">
            <a:extLst>
              <a:ext uri="{FF2B5EF4-FFF2-40B4-BE49-F238E27FC236}">
                <a16:creationId xmlns:a16="http://schemas.microsoft.com/office/drawing/2014/main" id="{99100927-82EF-4B45-2A08-12107E1262C9}"/>
              </a:ext>
            </a:extLst>
          </p:cNvPr>
          <p:cNvSpPr txBox="1"/>
          <p:nvPr/>
        </p:nvSpPr>
        <p:spPr>
          <a:xfrm>
            <a:off x="4570798" y="3781717"/>
            <a:ext cx="1483795" cy="369332"/>
          </a:xfrm>
          <a:prstGeom prst="rect">
            <a:avLst/>
          </a:prstGeom>
          <a:noFill/>
        </p:spPr>
        <p:txBody>
          <a:bodyPr wrap="square" lIns="0" rIns="0" rtlCol="0" anchor="b" anchorCtr="0">
            <a:spAutoFit/>
          </a:bodyPr>
          <a:lstStyle/>
          <a:p>
            <a:pPr algn="ctr" fontAlgn="auto">
              <a:spcBef>
                <a:spcPts val="0"/>
              </a:spcBef>
              <a:spcAft>
                <a:spcPts val="0"/>
              </a:spcAft>
            </a:pPr>
            <a:r>
              <a:rPr lang="en-US" altLang="zh-TW" sz="900">
                <a:solidFill>
                  <a:srgbClr val="000000"/>
                </a:solidFill>
                <a:latin typeface="+mj-lt"/>
                <a:ea typeface="DFKaiShu-GB5"/>
                <a:cs typeface="+mn-cs"/>
              </a:rPr>
              <a:t>DBS investor orders </a:t>
            </a:r>
          </a:p>
          <a:p>
            <a:pPr algn="ctr" fontAlgn="auto">
              <a:spcBef>
                <a:spcPts val="0"/>
              </a:spcBef>
              <a:spcAft>
                <a:spcPts val="0"/>
              </a:spcAft>
            </a:pPr>
            <a:r>
              <a:rPr lang="en-US" altLang="zh-TW" sz="900">
                <a:solidFill>
                  <a:srgbClr val="000000"/>
                </a:solidFill>
                <a:latin typeface="+mj-lt"/>
                <a:ea typeface="DFKaiShu-GB5"/>
                <a:cs typeface="+mn-cs"/>
              </a:rPr>
              <a:t>as a % of order book</a:t>
            </a:r>
          </a:p>
        </p:txBody>
      </p:sp>
      <p:sp>
        <p:nvSpPr>
          <p:cNvPr id="36" name="Text Box 5">
            <a:extLst>
              <a:ext uri="{FF2B5EF4-FFF2-40B4-BE49-F238E27FC236}">
                <a16:creationId xmlns:a16="http://schemas.microsoft.com/office/drawing/2014/main" id="{5F7738B0-110E-A7B2-2706-4A52448012E4}"/>
              </a:ext>
            </a:extLst>
          </p:cNvPr>
          <p:cNvSpPr txBox="1">
            <a:spLocks noChangeArrowheads="1"/>
          </p:cNvSpPr>
          <p:nvPr/>
        </p:nvSpPr>
        <p:spPr bwMode="gray">
          <a:xfrm>
            <a:off x="6194750" y="3562580"/>
            <a:ext cx="3017520" cy="228600"/>
          </a:xfrm>
          <a:prstGeom prst="rect">
            <a:avLst/>
          </a:prstGeom>
          <a:solidFill>
            <a:srgbClr val="C00000"/>
          </a:solidFill>
          <a:ln w="9525" cap="flat" cmpd="sng" algn="ctr">
            <a:noFill/>
            <a:prstDash val="solid"/>
            <a:headEnd/>
            <a:tailEnd/>
          </a:ln>
          <a:effectLst>
            <a:outerShdw blurRad="40000" dist="23000" dir="5400000" rotWithShape="0">
              <a:srgbClr val="000000">
                <a:alpha val="35000"/>
              </a:srgbClr>
            </a:outerShdw>
          </a:effectLst>
        </p:spPr>
        <p:txBody>
          <a:bodyPr anchor="ctr"/>
          <a:lstStyle>
            <a:defPPr>
              <a:defRPr lang="en-US"/>
            </a:defPPr>
            <a:lvl1pPr marR="0" lvl="0" indent="0" algn="ctr" eaLnBrk="0" fontAlgn="base" hangingPunct="0">
              <a:lnSpc>
                <a:spcPct val="100000"/>
              </a:lnSpc>
              <a:spcBef>
                <a:spcPct val="50000"/>
              </a:spcBef>
              <a:spcAft>
                <a:spcPct val="0"/>
              </a:spcAft>
              <a:buClrTx/>
              <a:buSzTx/>
              <a:buFontTx/>
              <a:buNone/>
              <a:tabLst/>
              <a:defRPr kumimoji="0" sz="1000" b="1" i="0" u="none" strike="noStrike" kern="0" cap="none" spc="0" normalizeH="0" baseline="0">
                <a:ln>
                  <a:noFill/>
                </a:ln>
                <a:solidFill>
                  <a:srgbClr val="FFFFFF"/>
                </a:solidFill>
                <a:effectLst/>
                <a:uLnTx/>
                <a:uFillTx/>
                <a:latin typeface="Calibri"/>
                <a:ea typeface="DFKaiShu-GB5"/>
              </a:defRPr>
            </a:lvl1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mj-lt"/>
                <a:ea typeface="DFKaiShu-GB5"/>
                <a:cs typeface="+mn-cs"/>
              </a:rPr>
              <a:t>DBS’ Contribution to the IPO</a:t>
            </a:r>
          </a:p>
        </p:txBody>
      </p:sp>
      <p:cxnSp>
        <p:nvCxnSpPr>
          <p:cNvPr id="37" name="Straight Connector 36">
            <a:extLst>
              <a:ext uri="{FF2B5EF4-FFF2-40B4-BE49-F238E27FC236}">
                <a16:creationId xmlns:a16="http://schemas.microsoft.com/office/drawing/2014/main" id="{04BAE4E9-3EA3-C518-10F2-7A59CE1EB05B}"/>
              </a:ext>
            </a:extLst>
          </p:cNvPr>
          <p:cNvCxnSpPr/>
          <p:nvPr/>
        </p:nvCxnSpPr>
        <p:spPr>
          <a:xfrm>
            <a:off x="3160345" y="4112101"/>
            <a:ext cx="1069904" cy="0"/>
          </a:xfrm>
          <a:prstGeom prst="line">
            <a:avLst/>
          </a:prstGeom>
          <a:noFill/>
          <a:ln w="9525" cap="flat" cmpd="sng" algn="ctr">
            <a:solidFill>
              <a:srgbClr val="B2B2B2">
                <a:lumMod val="50000"/>
              </a:srgbClr>
            </a:solidFill>
            <a:prstDash val="solid"/>
          </a:ln>
          <a:effectLst/>
        </p:spPr>
      </p:cxnSp>
      <p:cxnSp>
        <p:nvCxnSpPr>
          <p:cNvPr id="40" name="Straight Connector 39">
            <a:extLst>
              <a:ext uri="{FF2B5EF4-FFF2-40B4-BE49-F238E27FC236}">
                <a16:creationId xmlns:a16="http://schemas.microsoft.com/office/drawing/2014/main" id="{BBC7B7C0-471E-C91F-24FD-586A7DEB125C}"/>
              </a:ext>
            </a:extLst>
          </p:cNvPr>
          <p:cNvCxnSpPr/>
          <p:nvPr/>
        </p:nvCxnSpPr>
        <p:spPr>
          <a:xfrm>
            <a:off x="4815523" y="4112101"/>
            <a:ext cx="1069904" cy="0"/>
          </a:xfrm>
          <a:prstGeom prst="line">
            <a:avLst/>
          </a:prstGeom>
          <a:noFill/>
          <a:ln w="9525" cap="flat" cmpd="sng" algn="ctr">
            <a:solidFill>
              <a:srgbClr val="B2B2B2">
                <a:lumMod val="50000"/>
              </a:srgbClr>
            </a:solidFill>
            <a:prstDash val="solid"/>
          </a:ln>
          <a:effectLst/>
        </p:spPr>
      </p:cxnSp>
      <p:pic>
        <p:nvPicPr>
          <p:cNvPr id="4" name="Picture 3">
            <a:extLst>
              <a:ext uri="{FF2B5EF4-FFF2-40B4-BE49-F238E27FC236}">
                <a16:creationId xmlns:a16="http://schemas.microsoft.com/office/drawing/2014/main" id="{CA01B6BC-917E-4BE2-1452-8B1657847120}"/>
              </a:ext>
            </a:extLst>
          </p:cNvPr>
          <p:cNvPicPr>
            <a:picLocks noChangeAspect="1"/>
          </p:cNvPicPr>
          <p:nvPr/>
        </p:nvPicPr>
        <p:blipFill>
          <a:blip r:embed="rId7"/>
          <a:srcRect t="25483" b="16439"/>
          <a:stretch>
            <a:fillRect/>
          </a:stretch>
        </p:blipFill>
        <p:spPr>
          <a:xfrm>
            <a:off x="8074537" y="414184"/>
            <a:ext cx="1637127" cy="397314"/>
          </a:xfrm>
          <a:prstGeom prst="rect">
            <a:avLst/>
          </a:prstGeom>
        </p:spPr>
      </p:pic>
      <p:sp>
        <p:nvSpPr>
          <p:cNvPr id="3" name="Slide Number Placeholder 2">
            <a:extLst>
              <a:ext uri="{FF2B5EF4-FFF2-40B4-BE49-F238E27FC236}">
                <a16:creationId xmlns:a16="http://schemas.microsoft.com/office/drawing/2014/main" id="{84EE5154-C5AD-DD0A-E783-4612EEC0807C}"/>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17</a:t>
            </a:fld>
            <a:endParaRPr lang="en-US" altLang="en-US" b="0">
              <a:solidFill>
                <a:srgbClr val="000000"/>
              </a:solidFill>
            </a:endParaRPr>
          </a:p>
        </p:txBody>
      </p:sp>
    </p:spTree>
    <p:custDataLst>
      <p:tags r:id="rId1"/>
    </p:custDataLst>
    <p:extLst>
      <p:ext uri="{BB962C8B-B14F-4D97-AF65-F5344CB8AC3E}">
        <p14:creationId xmlns:p14="http://schemas.microsoft.com/office/powerpoint/2010/main" val="394212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6DE876-A1A5-F301-954D-C30BDBBC5DE7}"/>
              </a:ext>
            </a:extLst>
          </p:cNvPr>
          <p:cNvSpPr>
            <a:spLocks noGrp="1"/>
          </p:cNvSpPr>
          <p:nvPr>
            <p:ph type="title"/>
          </p:nvPr>
        </p:nvSpPr>
        <p:spPr/>
        <p:txBody>
          <a:bodyPr/>
          <a:lstStyle/>
          <a:p>
            <a:r>
              <a:rPr lang="en-US" sz="2000" dirty="0"/>
              <a:t>Selected Hong Kong ECM Transactions</a:t>
            </a:r>
          </a:p>
        </p:txBody>
      </p:sp>
      <p:sp>
        <p:nvSpPr>
          <p:cNvPr id="4" name="Rectangle 15">
            <a:extLst>
              <a:ext uri="{FF2B5EF4-FFF2-40B4-BE49-F238E27FC236}">
                <a16:creationId xmlns:a16="http://schemas.microsoft.com/office/drawing/2014/main" id="{DFAAEE30-AD8B-459D-A710-5C5B00F7F637}"/>
              </a:ext>
            </a:extLst>
          </p:cNvPr>
          <p:cNvSpPr>
            <a:spLocks noChangeArrowheads="1"/>
          </p:cNvSpPr>
          <p:nvPr/>
        </p:nvSpPr>
        <p:spPr bwMode="gray">
          <a:xfrm>
            <a:off x="1039791" y="1085850"/>
            <a:ext cx="7840662" cy="274320"/>
          </a:xfrm>
          <a:prstGeom prst="rect">
            <a:avLst/>
          </a:prstGeom>
          <a:gradFill rotWithShape="1">
            <a:gsLst>
              <a:gs pos="0">
                <a:srgbClr val="760000"/>
              </a:gs>
              <a:gs pos="45000">
                <a:srgbClr val="AB0000"/>
              </a:gs>
              <a:gs pos="100000">
                <a:srgbClr val="CC0000"/>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p>
            <a:pPr algn="ctr" eaLnBrk="0" hangingPunct="0">
              <a:spcBef>
                <a:spcPts val="0"/>
              </a:spcBef>
              <a:defRPr/>
            </a:pPr>
            <a:r>
              <a:rPr lang="en-US" altLang="zh-TW" sz="1100" kern="0" dirty="0">
                <a:solidFill>
                  <a:srgbClr val="FFFFFF"/>
                </a:solidFill>
                <a:latin typeface="Calibri"/>
                <a:ea typeface="DFKaiShu-GB5"/>
                <a:cs typeface="+mn-cs"/>
              </a:rPr>
              <a:t>IPO</a:t>
            </a:r>
          </a:p>
        </p:txBody>
      </p:sp>
      <p:sp>
        <p:nvSpPr>
          <p:cNvPr id="1069" name="Rectangle 406">
            <a:extLst>
              <a:ext uri="{FF2B5EF4-FFF2-40B4-BE49-F238E27FC236}">
                <a16:creationId xmlns:a16="http://schemas.microsoft.com/office/drawing/2014/main" id="{0E6796A8-7F25-B040-D56F-E507968F014B}"/>
              </a:ext>
            </a:extLst>
          </p:cNvPr>
          <p:cNvSpPr>
            <a:spLocks noChangeArrowheads="1"/>
          </p:cNvSpPr>
          <p:nvPr/>
        </p:nvSpPr>
        <p:spPr bwMode="auto">
          <a:xfrm>
            <a:off x="2182289" y="4483354"/>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081" name="Rectangle 408">
            <a:extLst>
              <a:ext uri="{FF2B5EF4-FFF2-40B4-BE49-F238E27FC236}">
                <a16:creationId xmlns:a16="http://schemas.microsoft.com/office/drawing/2014/main" id="{F2BBD0CD-145B-A1C9-B7F8-796D1F4B5A30}"/>
              </a:ext>
            </a:extLst>
          </p:cNvPr>
          <p:cNvSpPr>
            <a:spLocks noChangeArrowheads="1"/>
          </p:cNvSpPr>
          <p:nvPr/>
        </p:nvSpPr>
        <p:spPr bwMode="auto">
          <a:xfrm>
            <a:off x="2182289" y="5394973"/>
            <a:ext cx="1060704" cy="19389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Bookrunner and Joint Lead Manager</a:t>
            </a:r>
            <a:endParaRPr lang="zh-CN" altLang="en-US" sz="700" b="0" dirty="0">
              <a:solidFill>
                <a:srgbClr val="000000"/>
              </a:solidFill>
              <a:latin typeface="Calibri" panose="020F0502020204030204" pitchFamily="34" charset="0"/>
              <a:ea typeface="STKaiti"/>
              <a:cs typeface="DFPKaiShu-GB5" panose="03000500000000000000" pitchFamily="66" charset="-128"/>
            </a:endParaRPr>
          </a:p>
        </p:txBody>
      </p:sp>
      <p:sp>
        <p:nvSpPr>
          <p:cNvPr id="1082" name="Rectangle 409">
            <a:extLst>
              <a:ext uri="{FF2B5EF4-FFF2-40B4-BE49-F238E27FC236}">
                <a16:creationId xmlns:a16="http://schemas.microsoft.com/office/drawing/2014/main" id="{C06D00D5-8A50-0143-06B1-83CAEF447106}"/>
              </a:ext>
            </a:extLst>
          </p:cNvPr>
          <p:cNvSpPr>
            <a:spLocks noChangeArrowheads="1"/>
          </p:cNvSpPr>
          <p:nvPr/>
        </p:nvSpPr>
        <p:spPr bwMode="auto">
          <a:xfrm>
            <a:off x="2186861" y="4977812"/>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US$270m</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083" name="Rectangle 412">
            <a:extLst>
              <a:ext uri="{FF2B5EF4-FFF2-40B4-BE49-F238E27FC236}">
                <a16:creationId xmlns:a16="http://schemas.microsoft.com/office/drawing/2014/main" id="{D3FC49CE-69D3-DDC5-2EA4-2C28E43744A2}"/>
              </a:ext>
            </a:extLst>
          </p:cNvPr>
          <p:cNvSpPr>
            <a:spLocks noChangeArrowheads="1"/>
          </p:cNvSpPr>
          <p:nvPr/>
        </p:nvSpPr>
        <p:spPr bwMode="auto">
          <a:xfrm>
            <a:off x="2423300" y="5752844"/>
            <a:ext cx="578685"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cs typeface="DFPKaiShu-GB5" panose="03000500000000000000" pitchFamily="66" charset="-128"/>
              </a:rPr>
              <a:t>December</a:t>
            </a:r>
            <a:r>
              <a:rPr lang="en-GB" altLang="zh-CN" sz="700" b="0" dirty="0">
                <a:solidFill>
                  <a:srgbClr val="000000"/>
                </a:solidFill>
                <a:latin typeface="Calibri" panose="020F0502020204030204" pitchFamily="34" charset="0"/>
                <a:ea typeface="DFKaiShu-GB5"/>
                <a:cs typeface="DFPKaiShu-GB5" panose="03000500000000000000" pitchFamily="66" charset="-128"/>
              </a:rPr>
              <a:t> 2023</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128" name="Picture 127">
            <a:extLst>
              <a:ext uri="{FF2B5EF4-FFF2-40B4-BE49-F238E27FC236}">
                <a16:creationId xmlns:a16="http://schemas.microsoft.com/office/drawing/2014/main" id="{A9958BE0-A208-E36A-A5B5-CEF8608C773C}"/>
              </a:ext>
            </a:extLst>
          </p:cNvPr>
          <p:cNvPicPr>
            <a:picLocks noChangeAspect="1"/>
          </p:cNvPicPr>
          <p:nvPr/>
        </p:nvPicPr>
        <p:blipFill>
          <a:blip r:embed="rId2"/>
          <a:stretch>
            <a:fillRect/>
          </a:stretch>
        </p:blipFill>
        <p:spPr>
          <a:xfrm>
            <a:off x="2316277" y="4536148"/>
            <a:ext cx="792728" cy="360000"/>
          </a:xfrm>
          <a:prstGeom prst="rect">
            <a:avLst/>
          </a:prstGeom>
        </p:spPr>
      </p:pic>
      <p:sp>
        <p:nvSpPr>
          <p:cNvPr id="129" name="Rectangle 406">
            <a:extLst>
              <a:ext uri="{FF2B5EF4-FFF2-40B4-BE49-F238E27FC236}">
                <a16:creationId xmlns:a16="http://schemas.microsoft.com/office/drawing/2014/main" id="{7825DA43-3636-44DB-388A-2513F76412D3}"/>
              </a:ext>
            </a:extLst>
          </p:cNvPr>
          <p:cNvSpPr>
            <a:spLocks noChangeArrowheads="1"/>
          </p:cNvSpPr>
          <p:nvPr/>
        </p:nvSpPr>
        <p:spPr bwMode="auto">
          <a:xfrm>
            <a:off x="1049213" y="4483354"/>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30" name="Rectangle 408">
            <a:extLst>
              <a:ext uri="{FF2B5EF4-FFF2-40B4-BE49-F238E27FC236}">
                <a16:creationId xmlns:a16="http://schemas.microsoft.com/office/drawing/2014/main" id="{7A0495BC-87C8-C894-2A3B-4DC8926F886E}"/>
              </a:ext>
            </a:extLst>
          </p:cNvPr>
          <p:cNvSpPr>
            <a:spLocks noChangeArrowheads="1"/>
          </p:cNvSpPr>
          <p:nvPr/>
        </p:nvSpPr>
        <p:spPr bwMode="auto">
          <a:xfrm>
            <a:off x="1052296" y="5298022"/>
            <a:ext cx="1060704" cy="38779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Overall Coordinator, Joint Global Coordinator, Joint Bookrunner and Joint Lead Manager</a:t>
            </a:r>
            <a:endParaRPr lang="zh-CN" altLang="en-US" sz="700" b="0" dirty="0">
              <a:solidFill>
                <a:srgbClr val="000000"/>
              </a:solidFill>
              <a:latin typeface="Calibri" panose="020F0502020204030204" pitchFamily="34" charset="0"/>
              <a:ea typeface="STKaiti"/>
              <a:cs typeface="DFPKaiShu-GB5" panose="03000500000000000000" pitchFamily="66" charset="-128"/>
            </a:endParaRPr>
          </a:p>
        </p:txBody>
      </p:sp>
      <p:sp>
        <p:nvSpPr>
          <p:cNvPr id="131" name="Rectangle 409">
            <a:extLst>
              <a:ext uri="{FF2B5EF4-FFF2-40B4-BE49-F238E27FC236}">
                <a16:creationId xmlns:a16="http://schemas.microsoft.com/office/drawing/2014/main" id="{7879B232-F400-B7AA-21BA-70A9930BDBB1}"/>
              </a:ext>
            </a:extLst>
          </p:cNvPr>
          <p:cNvSpPr>
            <a:spLocks noChangeArrowheads="1"/>
          </p:cNvSpPr>
          <p:nvPr/>
        </p:nvSpPr>
        <p:spPr bwMode="auto">
          <a:xfrm>
            <a:off x="1056868" y="4977812"/>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US$84m</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32" name="Rectangle 412">
            <a:extLst>
              <a:ext uri="{FF2B5EF4-FFF2-40B4-BE49-F238E27FC236}">
                <a16:creationId xmlns:a16="http://schemas.microsoft.com/office/drawing/2014/main" id="{0E1F71DC-B7D5-4829-799F-7301E9BB2EA1}"/>
              </a:ext>
            </a:extLst>
          </p:cNvPr>
          <p:cNvSpPr>
            <a:spLocks noChangeArrowheads="1"/>
          </p:cNvSpPr>
          <p:nvPr/>
        </p:nvSpPr>
        <p:spPr bwMode="auto">
          <a:xfrm>
            <a:off x="1293307" y="5752844"/>
            <a:ext cx="578685"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December 2023</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133" name="Picture 132">
            <a:extLst>
              <a:ext uri="{FF2B5EF4-FFF2-40B4-BE49-F238E27FC236}">
                <a16:creationId xmlns:a16="http://schemas.microsoft.com/office/drawing/2014/main" id="{CECBD921-1999-3827-47BE-B7F737471BFC}"/>
              </a:ext>
            </a:extLst>
          </p:cNvPr>
          <p:cNvPicPr>
            <a:picLocks noChangeAspect="1"/>
          </p:cNvPicPr>
          <p:nvPr/>
        </p:nvPicPr>
        <p:blipFill rotWithShape="1">
          <a:blip r:embed="rId3"/>
          <a:srcRect l="7168" t="32743" r="7187" b="38166"/>
          <a:stretch/>
        </p:blipFill>
        <p:spPr>
          <a:xfrm>
            <a:off x="1104852" y="4570000"/>
            <a:ext cx="955592" cy="216000"/>
          </a:xfrm>
          <a:prstGeom prst="rect">
            <a:avLst/>
          </a:prstGeom>
        </p:spPr>
      </p:pic>
      <p:sp>
        <p:nvSpPr>
          <p:cNvPr id="61" name="Rectangle 406">
            <a:extLst>
              <a:ext uri="{FF2B5EF4-FFF2-40B4-BE49-F238E27FC236}">
                <a16:creationId xmlns:a16="http://schemas.microsoft.com/office/drawing/2014/main" id="{0E23C9C2-5649-B8A5-D277-15A6E7FA9811}"/>
              </a:ext>
            </a:extLst>
          </p:cNvPr>
          <p:cNvSpPr>
            <a:spLocks noChangeArrowheads="1"/>
          </p:cNvSpPr>
          <p:nvPr/>
        </p:nvSpPr>
        <p:spPr bwMode="auto">
          <a:xfrm>
            <a:off x="3301555" y="4483354"/>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b="0" kern="0" dirty="0">
              <a:solidFill>
                <a:prstClr val="black"/>
              </a:solidFill>
              <a:latin typeface="Calibri" panose="020F0502020204030204" pitchFamily="34" charset="0"/>
              <a:ea typeface="DFKaiShu-GB5"/>
              <a:cs typeface="Calibri" panose="020F0502020204030204" pitchFamily="34" charset="0"/>
            </a:endParaRPr>
          </a:p>
        </p:txBody>
      </p:sp>
      <p:sp>
        <p:nvSpPr>
          <p:cNvPr id="63" name="Rectangle 408">
            <a:extLst>
              <a:ext uri="{FF2B5EF4-FFF2-40B4-BE49-F238E27FC236}">
                <a16:creationId xmlns:a16="http://schemas.microsoft.com/office/drawing/2014/main" id="{8FBEA8FB-1FB0-9BA7-7CEA-009E83E55DF8}"/>
              </a:ext>
            </a:extLst>
          </p:cNvPr>
          <p:cNvSpPr>
            <a:spLocks noChangeArrowheads="1"/>
          </p:cNvSpPr>
          <p:nvPr/>
        </p:nvSpPr>
        <p:spPr bwMode="auto">
          <a:xfrm>
            <a:off x="3301555" y="5249547"/>
            <a:ext cx="1060704" cy="48474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DFKaiShu-GB5"/>
                <a:cs typeface="DFPKaiShu-GB5" panose="03000500000000000000" pitchFamily="66" charset="-128"/>
              </a:rPr>
              <a:t>Joint Sponsor, Joint Overall Coordinator, Joint Global Coordinator, Joint Bookrunner and Joint Lead Manager</a:t>
            </a:r>
          </a:p>
        </p:txBody>
      </p:sp>
      <p:sp>
        <p:nvSpPr>
          <p:cNvPr id="1028" name="Rectangle 409">
            <a:extLst>
              <a:ext uri="{FF2B5EF4-FFF2-40B4-BE49-F238E27FC236}">
                <a16:creationId xmlns:a16="http://schemas.microsoft.com/office/drawing/2014/main" id="{2D795E64-7E2A-35D0-1C8B-F28A8B88F832}"/>
              </a:ext>
            </a:extLst>
          </p:cNvPr>
          <p:cNvSpPr>
            <a:spLocks noChangeArrowheads="1"/>
          </p:cNvSpPr>
          <p:nvPr/>
        </p:nvSpPr>
        <p:spPr bwMode="auto">
          <a:xfrm>
            <a:off x="3301555" y="4977812"/>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US$29m</a:t>
            </a:r>
          </a:p>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IPO</a:t>
            </a:r>
          </a:p>
        </p:txBody>
      </p:sp>
      <p:pic>
        <p:nvPicPr>
          <p:cNvPr id="1032" name="Picture 1031">
            <a:extLst>
              <a:ext uri="{FF2B5EF4-FFF2-40B4-BE49-F238E27FC236}">
                <a16:creationId xmlns:a16="http://schemas.microsoft.com/office/drawing/2014/main" id="{17010B80-7B5E-89E9-1C55-195D7748CFCF}"/>
              </a:ext>
            </a:extLst>
          </p:cNvPr>
          <p:cNvPicPr>
            <a:picLocks noChangeAspect="1"/>
          </p:cNvPicPr>
          <p:nvPr/>
        </p:nvPicPr>
        <p:blipFill>
          <a:blip r:embed="rId4"/>
          <a:stretch>
            <a:fillRect/>
          </a:stretch>
        </p:blipFill>
        <p:spPr>
          <a:xfrm>
            <a:off x="3396808" y="4534182"/>
            <a:ext cx="870198" cy="360000"/>
          </a:xfrm>
          <a:prstGeom prst="rect">
            <a:avLst/>
          </a:prstGeom>
        </p:spPr>
      </p:pic>
      <p:sp>
        <p:nvSpPr>
          <p:cNvPr id="1058" name="Rectangle 412">
            <a:extLst>
              <a:ext uri="{FF2B5EF4-FFF2-40B4-BE49-F238E27FC236}">
                <a16:creationId xmlns:a16="http://schemas.microsoft.com/office/drawing/2014/main" id="{94A0F76B-A5C8-80C5-0C0F-95C90C52B6BE}"/>
              </a:ext>
            </a:extLst>
          </p:cNvPr>
          <p:cNvSpPr>
            <a:spLocks noChangeArrowheads="1"/>
          </p:cNvSpPr>
          <p:nvPr/>
        </p:nvSpPr>
        <p:spPr bwMode="auto">
          <a:xfrm>
            <a:off x="3542566" y="5752844"/>
            <a:ext cx="578685"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cs typeface="DFPKaiShu-GB5" panose="03000500000000000000" pitchFamily="66" charset="-128"/>
              </a:rPr>
              <a:t>December</a:t>
            </a:r>
            <a:r>
              <a:rPr lang="en-GB" altLang="zh-CN" sz="700" b="0" dirty="0">
                <a:solidFill>
                  <a:srgbClr val="000000"/>
                </a:solidFill>
                <a:latin typeface="Calibri" panose="020F0502020204030204" pitchFamily="34" charset="0"/>
                <a:ea typeface="DFKaiShu-GB5"/>
                <a:cs typeface="DFPKaiShu-GB5" panose="03000500000000000000" pitchFamily="66" charset="-128"/>
              </a:rPr>
              <a:t> 2023</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sp>
        <p:nvSpPr>
          <p:cNvPr id="157" name="Rectangle 406">
            <a:extLst>
              <a:ext uri="{FF2B5EF4-FFF2-40B4-BE49-F238E27FC236}">
                <a16:creationId xmlns:a16="http://schemas.microsoft.com/office/drawing/2014/main" id="{01F4766A-8D61-E125-C10A-2802FE905596}"/>
              </a:ext>
            </a:extLst>
          </p:cNvPr>
          <p:cNvSpPr>
            <a:spLocks noChangeArrowheads="1"/>
          </p:cNvSpPr>
          <p:nvPr/>
        </p:nvSpPr>
        <p:spPr bwMode="auto">
          <a:xfrm>
            <a:off x="5570255" y="4483354"/>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b="0" kern="0" dirty="0">
              <a:solidFill>
                <a:prstClr val="black"/>
              </a:solidFill>
              <a:latin typeface="Calibri" panose="020F0502020204030204" pitchFamily="34" charset="0"/>
              <a:ea typeface="DFKaiShu-GB5"/>
              <a:cs typeface="Calibri" panose="020F0502020204030204" pitchFamily="34" charset="0"/>
            </a:endParaRPr>
          </a:p>
        </p:txBody>
      </p:sp>
      <p:sp>
        <p:nvSpPr>
          <p:cNvPr id="158" name="Rectangle 412">
            <a:extLst>
              <a:ext uri="{FF2B5EF4-FFF2-40B4-BE49-F238E27FC236}">
                <a16:creationId xmlns:a16="http://schemas.microsoft.com/office/drawing/2014/main" id="{58F1C5E7-34DD-E9E6-A28F-C2314D89E513}"/>
              </a:ext>
            </a:extLst>
          </p:cNvPr>
          <p:cNvSpPr>
            <a:spLocks noChangeArrowheads="1"/>
          </p:cNvSpPr>
          <p:nvPr/>
        </p:nvSpPr>
        <p:spPr bwMode="auto">
          <a:xfrm>
            <a:off x="5937699" y="5752844"/>
            <a:ext cx="360675" cy="107722"/>
          </a:xfrm>
          <a:prstGeom prst="rect">
            <a:avLst/>
          </a:prstGeom>
          <a:noFill/>
          <a:ln w="9525">
            <a:noFill/>
            <a:miter lim="800000"/>
            <a:headEnd/>
            <a:tailEnd/>
          </a:ln>
        </p:spPr>
        <p:txBody>
          <a:bodyPr wrap="none" lIns="0" tIns="0" rIns="0" bIns="0" anchor="ctr">
            <a:spAutoFit/>
          </a:bodyPr>
          <a:lstStyle/>
          <a:p>
            <a:pPr algn="ctr" eaLnBrk="0" fontAlgn="base" hangingPunct="0">
              <a:spcBef>
                <a:spcPct val="0"/>
              </a:spcBef>
              <a:spcAft>
                <a:spcPct val="0"/>
              </a:spcAft>
              <a:defRPr/>
            </a:pPr>
            <a:r>
              <a:rPr lang="en-US" altLang="zh-TW" sz="700" b="0" dirty="0">
                <a:solidFill>
                  <a:srgbClr val="000000"/>
                </a:solidFill>
                <a:latin typeface="Calibri" panose="020F0502020204030204" pitchFamily="34" charset="0"/>
                <a:ea typeface="DFKaiShu-GB5"/>
                <a:cs typeface="Calibri" pitchFamily="34" charset="0"/>
              </a:rPr>
              <a:t>May 2023</a:t>
            </a:r>
          </a:p>
        </p:txBody>
      </p:sp>
      <p:sp>
        <p:nvSpPr>
          <p:cNvPr id="159" name="Rectangle 408">
            <a:extLst>
              <a:ext uri="{FF2B5EF4-FFF2-40B4-BE49-F238E27FC236}">
                <a16:creationId xmlns:a16="http://schemas.microsoft.com/office/drawing/2014/main" id="{BA786722-3653-67FA-8F55-6931CCEF350E}"/>
              </a:ext>
            </a:extLst>
          </p:cNvPr>
          <p:cNvSpPr>
            <a:spLocks noChangeArrowheads="1"/>
          </p:cNvSpPr>
          <p:nvPr/>
        </p:nvSpPr>
        <p:spPr bwMode="auto">
          <a:xfrm>
            <a:off x="5587683" y="5229862"/>
            <a:ext cx="1060704" cy="48474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DFKaiShu-GB5"/>
                <a:cs typeface="DFPKaiShu-GB5" panose="03000500000000000000" pitchFamily="66" charset="-128"/>
              </a:rPr>
              <a:t>Joint Sponsor, Joint Overall Coordinator, Joint Global Coordinator, Joint Bookrunner and Joint Lead Manager</a:t>
            </a:r>
          </a:p>
        </p:txBody>
      </p:sp>
      <p:sp>
        <p:nvSpPr>
          <p:cNvPr id="160" name="Rectangle 409">
            <a:extLst>
              <a:ext uri="{FF2B5EF4-FFF2-40B4-BE49-F238E27FC236}">
                <a16:creationId xmlns:a16="http://schemas.microsoft.com/office/drawing/2014/main" id="{A81438D9-40E2-CEDE-21F6-8A2EF3371027}"/>
              </a:ext>
            </a:extLst>
          </p:cNvPr>
          <p:cNvSpPr>
            <a:spLocks noChangeArrowheads="1"/>
          </p:cNvSpPr>
          <p:nvPr/>
        </p:nvSpPr>
        <p:spPr bwMode="auto">
          <a:xfrm>
            <a:off x="5587683" y="4985553"/>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US$210m</a:t>
            </a:r>
          </a:p>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IPO</a:t>
            </a:r>
          </a:p>
        </p:txBody>
      </p:sp>
      <p:pic>
        <p:nvPicPr>
          <p:cNvPr id="161" name="Picture 160">
            <a:extLst>
              <a:ext uri="{FF2B5EF4-FFF2-40B4-BE49-F238E27FC236}">
                <a16:creationId xmlns:a16="http://schemas.microsoft.com/office/drawing/2014/main" id="{85B70CF1-2F17-DE11-5D9C-36C3F37C6691}"/>
              </a:ext>
            </a:extLst>
          </p:cNvPr>
          <p:cNvPicPr>
            <a:picLocks noChangeAspect="1"/>
          </p:cNvPicPr>
          <p:nvPr/>
        </p:nvPicPr>
        <p:blipFill rotWithShape="1">
          <a:blip r:embed="rId5"/>
          <a:srcRect t="4138"/>
          <a:stretch/>
        </p:blipFill>
        <p:spPr>
          <a:xfrm>
            <a:off x="5891465" y="4500691"/>
            <a:ext cx="453143" cy="448636"/>
          </a:xfrm>
          <a:prstGeom prst="rect">
            <a:avLst/>
          </a:prstGeom>
        </p:spPr>
      </p:pic>
      <p:sp>
        <p:nvSpPr>
          <p:cNvPr id="8" name="Rectangle 406">
            <a:extLst>
              <a:ext uri="{FF2B5EF4-FFF2-40B4-BE49-F238E27FC236}">
                <a16:creationId xmlns:a16="http://schemas.microsoft.com/office/drawing/2014/main" id="{4D64FCBE-0A5C-976F-A508-CFACD30A1E0E}"/>
              </a:ext>
            </a:extLst>
          </p:cNvPr>
          <p:cNvSpPr>
            <a:spLocks noChangeArrowheads="1"/>
          </p:cNvSpPr>
          <p:nvPr/>
        </p:nvSpPr>
        <p:spPr bwMode="auto">
          <a:xfrm>
            <a:off x="4435905" y="4483354"/>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4" name="Rectangle 408">
            <a:extLst>
              <a:ext uri="{FF2B5EF4-FFF2-40B4-BE49-F238E27FC236}">
                <a16:creationId xmlns:a16="http://schemas.microsoft.com/office/drawing/2014/main" id="{C22B5DC1-191F-5EDB-B939-18920C648303}"/>
              </a:ext>
            </a:extLst>
          </p:cNvPr>
          <p:cNvSpPr>
            <a:spLocks noChangeArrowheads="1"/>
          </p:cNvSpPr>
          <p:nvPr/>
        </p:nvSpPr>
        <p:spPr bwMode="auto">
          <a:xfrm>
            <a:off x="4457690" y="5375288"/>
            <a:ext cx="1060704" cy="19389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5" name="Rectangle 409">
            <a:extLst>
              <a:ext uri="{FF2B5EF4-FFF2-40B4-BE49-F238E27FC236}">
                <a16:creationId xmlns:a16="http://schemas.microsoft.com/office/drawing/2014/main" id="{F1402E32-C70D-1C43-0B92-16A07C2A8269}"/>
              </a:ext>
            </a:extLst>
          </p:cNvPr>
          <p:cNvSpPr>
            <a:spLocks noChangeArrowheads="1"/>
          </p:cNvSpPr>
          <p:nvPr/>
        </p:nvSpPr>
        <p:spPr bwMode="auto">
          <a:xfrm>
            <a:off x="4462262" y="498555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US$500m</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8" name="Rectangle 412">
            <a:extLst>
              <a:ext uri="{FF2B5EF4-FFF2-40B4-BE49-F238E27FC236}">
                <a16:creationId xmlns:a16="http://schemas.microsoft.com/office/drawing/2014/main" id="{B60ADC07-4BEA-AECB-16D3-72A23F166172}"/>
              </a:ext>
            </a:extLst>
          </p:cNvPr>
          <p:cNvSpPr>
            <a:spLocks noChangeArrowheads="1"/>
          </p:cNvSpPr>
          <p:nvPr/>
        </p:nvSpPr>
        <p:spPr bwMode="auto">
          <a:xfrm>
            <a:off x="4737974" y="5752844"/>
            <a:ext cx="500138"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October 2023</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25" name="Picture 24">
            <a:extLst>
              <a:ext uri="{FF2B5EF4-FFF2-40B4-BE49-F238E27FC236}">
                <a16:creationId xmlns:a16="http://schemas.microsoft.com/office/drawing/2014/main" id="{920D0E0D-26A1-FA8D-0AA7-4741566EE360}"/>
              </a:ext>
            </a:extLst>
          </p:cNvPr>
          <p:cNvPicPr>
            <a:picLocks noChangeAspect="1"/>
          </p:cNvPicPr>
          <p:nvPr/>
        </p:nvPicPr>
        <p:blipFill>
          <a:blip r:embed="rId6"/>
          <a:stretch>
            <a:fillRect/>
          </a:stretch>
        </p:blipFill>
        <p:spPr>
          <a:xfrm>
            <a:off x="4611693" y="4634267"/>
            <a:ext cx="752701" cy="178663"/>
          </a:xfrm>
          <a:prstGeom prst="rect">
            <a:avLst/>
          </a:prstGeom>
        </p:spPr>
      </p:pic>
      <p:sp>
        <p:nvSpPr>
          <p:cNvPr id="140" name="Rectangle 406">
            <a:extLst>
              <a:ext uri="{FF2B5EF4-FFF2-40B4-BE49-F238E27FC236}">
                <a16:creationId xmlns:a16="http://schemas.microsoft.com/office/drawing/2014/main" id="{EBCA5B3F-8490-1D40-E97B-9094E7C7C074}"/>
              </a:ext>
            </a:extLst>
          </p:cNvPr>
          <p:cNvSpPr>
            <a:spLocks noChangeArrowheads="1"/>
          </p:cNvSpPr>
          <p:nvPr/>
        </p:nvSpPr>
        <p:spPr bwMode="auto">
          <a:xfrm>
            <a:off x="7830048" y="299330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42" name="Rectangle 408">
            <a:extLst>
              <a:ext uri="{FF2B5EF4-FFF2-40B4-BE49-F238E27FC236}">
                <a16:creationId xmlns:a16="http://schemas.microsoft.com/office/drawing/2014/main" id="{01B71FEC-2BCC-5148-E6FE-8A362851E6FE}"/>
              </a:ext>
            </a:extLst>
          </p:cNvPr>
          <p:cNvSpPr>
            <a:spLocks noChangeArrowheads="1"/>
          </p:cNvSpPr>
          <p:nvPr/>
        </p:nvSpPr>
        <p:spPr bwMode="auto">
          <a:xfrm>
            <a:off x="7836214" y="3904921"/>
            <a:ext cx="1060704" cy="19389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43" name="Rectangle 409">
            <a:extLst>
              <a:ext uri="{FF2B5EF4-FFF2-40B4-BE49-F238E27FC236}">
                <a16:creationId xmlns:a16="http://schemas.microsoft.com/office/drawing/2014/main" id="{5C527C43-DBA4-6301-70D3-405AA0B00490}"/>
              </a:ext>
            </a:extLst>
          </p:cNvPr>
          <p:cNvSpPr>
            <a:spLocks noChangeArrowheads="1"/>
          </p:cNvSpPr>
          <p:nvPr/>
        </p:nvSpPr>
        <p:spPr bwMode="auto">
          <a:xfrm>
            <a:off x="7840786" y="3487760"/>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US$85m</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44" name="Rectangle 412">
            <a:extLst>
              <a:ext uri="{FF2B5EF4-FFF2-40B4-BE49-F238E27FC236}">
                <a16:creationId xmlns:a16="http://schemas.microsoft.com/office/drawing/2014/main" id="{E8878C0E-D0D3-C8F3-089C-47FFD264BDD9}"/>
              </a:ext>
            </a:extLst>
          </p:cNvPr>
          <p:cNvSpPr>
            <a:spLocks noChangeArrowheads="1"/>
          </p:cNvSpPr>
          <p:nvPr/>
        </p:nvSpPr>
        <p:spPr bwMode="auto">
          <a:xfrm>
            <a:off x="8198252" y="4262792"/>
            <a:ext cx="336631"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July 2024</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145" name="Picture 2" descr="image">
            <a:extLst>
              <a:ext uri="{FF2B5EF4-FFF2-40B4-BE49-F238E27FC236}">
                <a16:creationId xmlns:a16="http://schemas.microsoft.com/office/drawing/2014/main" id="{449192FD-1173-C6B3-FB14-209AFF6D530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66516" y="3119813"/>
            <a:ext cx="800100" cy="222068"/>
          </a:xfrm>
          <a:prstGeom prst="rect">
            <a:avLst/>
          </a:prstGeom>
          <a:noFill/>
          <a:extLst>
            <a:ext uri="{909E8E84-426E-40DD-AFC4-6F175D3DCCD1}">
              <a14:hiddenFill xmlns:a14="http://schemas.microsoft.com/office/drawing/2010/main">
                <a:solidFill>
                  <a:srgbClr val="FFFFFF"/>
                </a:solidFill>
              </a14:hiddenFill>
            </a:ext>
          </a:extLst>
        </p:spPr>
      </p:pic>
      <p:sp>
        <p:nvSpPr>
          <p:cNvPr id="134" name="Rectangle 406">
            <a:extLst>
              <a:ext uri="{FF2B5EF4-FFF2-40B4-BE49-F238E27FC236}">
                <a16:creationId xmlns:a16="http://schemas.microsoft.com/office/drawing/2014/main" id="{7BF7775B-7FB8-1D18-5E1D-ACC0CB3B2974}"/>
              </a:ext>
            </a:extLst>
          </p:cNvPr>
          <p:cNvSpPr>
            <a:spLocks noChangeArrowheads="1"/>
          </p:cNvSpPr>
          <p:nvPr/>
        </p:nvSpPr>
        <p:spPr bwMode="auto">
          <a:xfrm>
            <a:off x="6701392" y="299330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36" name="Rectangle 408">
            <a:extLst>
              <a:ext uri="{FF2B5EF4-FFF2-40B4-BE49-F238E27FC236}">
                <a16:creationId xmlns:a16="http://schemas.microsoft.com/office/drawing/2014/main" id="{6F311CB3-B6D5-4C1B-6DD6-07D293DEF7AE}"/>
              </a:ext>
            </a:extLst>
          </p:cNvPr>
          <p:cNvSpPr>
            <a:spLocks noChangeArrowheads="1"/>
          </p:cNvSpPr>
          <p:nvPr/>
        </p:nvSpPr>
        <p:spPr bwMode="auto">
          <a:xfrm>
            <a:off x="6710641" y="3953394"/>
            <a:ext cx="1060704" cy="96950"/>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37" name="Rectangle 409">
            <a:extLst>
              <a:ext uri="{FF2B5EF4-FFF2-40B4-BE49-F238E27FC236}">
                <a16:creationId xmlns:a16="http://schemas.microsoft.com/office/drawing/2014/main" id="{17C27B49-5D44-FF79-522F-99A3E1C0FFD0}"/>
              </a:ext>
            </a:extLst>
          </p:cNvPr>
          <p:cNvSpPr>
            <a:spLocks noChangeArrowheads="1"/>
          </p:cNvSpPr>
          <p:nvPr/>
        </p:nvSpPr>
        <p:spPr bwMode="auto">
          <a:xfrm>
            <a:off x="6715213" y="3487760"/>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Up to US$700m</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Proposed IPO</a:t>
            </a:r>
          </a:p>
        </p:txBody>
      </p:sp>
      <p:sp>
        <p:nvSpPr>
          <p:cNvPr id="138" name="Rectangle 412">
            <a:extLst>
              <a:ext uri="{FF2B5EF4-FFF2-40B4-BE49-F238E27FC236}">
                <a16:creationId xmlns:a16="http://schemas.microsoft.com/office/drawing/2014/main" id="{350E62F5-4368-38A7-DA2F-2125ADAD3274}"/>
              </a:ext>
            </a:extLst>
          </p:cNvPr>
          <p:cNvSpPr>
            <a:spLocks noChangeArrowheads="1"/>
          </p:cNvSpPr>
          <p:nvPr/>
        </p:nvSpPr>
        <p:spPr bwMode="auto">
          <a:xfrm>
            <a:off x="6990925" y="4262792"/>
            <a:ext cx="500138"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October 2024</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139" name="Picture 138">
            <a:extLst>
              <a:ext uri="{FF2B5EF4-FFF2-40B4-BE49-F238E27FC236}">
                <a16:creationId xmlns:a16="http://schemas.microsoft.com/office/drawing/2014/main" id="{1AFF2E9C-B690-3B30-EABC-C30920BCFFF4}"/>
              </a:ext>
            </a:extLst>
          </p:cNvPr>
          <p:cNvPicPr>
            <a:picLocks noChangeAspect="1"/>
          </p:cNvPicPr>
          <p:nvPr/>
        </p:nvPicPr>
        <p:blipFill>
          <a:blip r:embed="rId8"/>
          <a:stretch>
            <a:fillRect/>
          </a:stretch>
        </p:blipFill>
        <p:spPr>
          <a:xfrm>
            <a:off x="6796889" y="3044157"/>
            <a:ext cx="888211" cy="381148"/>
          </a:xfrm>
          <a:prstGeom prst="rect">
            <a:avLst/>
          </a:prstGeom>
        </p:spPr>
      </p:pic>
      <p:sp>
        <p:nvSpPr>
          <p:cNvPr id="1105" name="Rectangle 406">
            <a:extLst>
              <a:ext uri="{FF2B5EF4-FFF2-40B4-BE49-F238E27FC236}">
                <a16:creationId xmlns:a16="http://schemas.microsoft.com/office/drawing/2014/main" id="{99E31260-82F1-EC07-5202-53A19FBBA0DB}"/>
              </a:ext>
            </a:extLst>
          </p:cNvPr>
          <p:cNvSpPr>
            <a:spLocks noChangeArrowheads="1"/>
          </p:cNvSpPr>
          <p:nvPr/>
        </p:nvSpPr>
        <p:spPr bwMode="auto">
          <a:xfrm>
            <a:off x="2162485" y="2983769"/>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106" name="Rectangle 408">
            <a:extLst>
              <a:ext uri="{FF2B5EF4-FFF2-40B4-BE49-F238E27FC236}">
                <a16:creationId xmlns:a16="http://schemas.microsoft.com/office/drawing/2014/main" id="{EF6E36D3-1404-3D45-FE80-279AB6D3A1FE}"/>
              </a:ext>
            </a:extLst>
          </p:cNvPr>
          <p:cNvSpPr>
            <a:spLocks noChangeArrowheads="1"/>
          </p:cNvSpPr>
          <p:nvPr/>
        </p:nvSpPr>
        <p:spPr bwMode="auto">
          <a:xfrm>
            <a:off x="2162485" y="3866598"/>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Global Coordinator, Joint Bookrunner and Joint Lead Manager</a:t>
            </a:r>
            <a:endParaRPr lang="zh-CN" altLang="en-US" sz="700" b="0" dirty="0">
              <a:solidFill>
                <a:srgbClr val="000000"/>
              </a:solidFill>
              <a:latin typeface="Calibri" panose="020F0502020204030204" pitchFamily="34" charset="0"/>
              <a:ea typeface="STKaiti"/>
              <a:cs typeface="DFPKaiShu-GB5" panose="03000500000000000000" pitchFamily="66" charset="-128"/>
            </a:endParaRPr>
          </a:p>
        </p:txBody>
      </p:sp>
      <p:sp>
        <p:nvSpPr>
          <p:cNvPr id="1107" name="Rectangle 409">
            <a:extLst>
              <a:ext uri="{FF2B5EF4-FFF2-40B4-BE49-F238E27FC236}">
                <a16:creationId xmlns:a16="http://schemas.microsoft.com/office/drawing/2014/main" id="{F8674047-1ECD-651A-25B1-3C00B182CC7E}"/>
              </a:ext>
            </a:extLst>
          </p:cNvPr>
          <p:cNvSpPr>
            <a:spLocks noChangeArrowheads="1"/>
          </p:cNvSpPr>
          <p:nvPr/>
        </p:nvSpPr>
        <p:spPr bwMode="auto">
          <a:xfrm>
            <a:off x="2167057" y="3449652"/>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US$302m</a:t>
            </a:r>
            <a:br>
              <a:rPr lang="en-US" altLang="zh-CN" sz="700" dirty="0">
                <a:solidFill>
                  <a:srgbClr val="000000"/>
                </a:solidFill>
                <a:latin typeface="Calibri" panose="020F0502020204030204" pitchFamily="34" charset="0"/>
                <a:ea typeface="STKaiti"/>
                <a:cs typeface="DFPKaiShu-GB5" panose="03000500000000000000" pitchFamily="66" charset="-128"/>
              </a:rPr>
            </a:b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108" name="Rectangle 412">
            <a:extLst>
              <a:ext uri="{FF2B5EF4-FFF2-40B4-BE49-F238E27FC236}">
                <a16:creationId xmlns:a16="http://schemas.microsoft.com/office/drawing/2014/main" id="{53A7808A-CA64-2830-32E6-7495376C6B7F}"/>
              </a:ext>
            </a:extLst>
          </p:cNvPr>
          <p:cNvSpPr>
            <a:spLocks noChangeArrowheads="1"/>
          </p:cNvSpPr>
          <p:nvPr/>
        </p:nvSpPr>
        <p:spPr bwMode="auto">
          <a:xfrm>
            <a:off x="2474028" y="4253259"/>
            <a:ext cx="437620"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March 2025</a:t>
            </a:r>
          </a:p>
        </p:txBody>
      </p:sp>
      <p:pic>
        <p:nvPicPr>
          <p:cNvPr id="1109" name="Picture 1108">
            <a:extLst>
              <a:ext uri="{FF2B5EF4-FFF2-40B4-BE49-F238E27FC236}">
                <a16:creationId xmlns:a16="http://schemas.microsoft.com/office/drawing/2014/main" id="{2AB19091-B655-B0A9-E90F-DDB3D1DED645}"/>
              </a:ext>
            </a:extLst>
          </p:cNvPr>
          <p:cNvPicPr>
            <a:picLocks noChangeAspect="1"/>
          </p:cNvPicPr>
          <p:nvPr/>
        </p:nvPicPr>
        <p:blipFill>
          <a:blip r:embed="rId9"/>
          <a:srcRect l="4350"/>
          <a:stretch/>
        </p:blipFill>
        <p:spPr>
          <a:xfrm>
            <a:off x="2189927" y="3134311"/>
            <a:ext cx="1005820" cy="241017"/>
          </a:xfrm>
          <a:prstGeom prst="rect">
            <a:avLst/>
          </a:prstGeom>
        </p:spPr>
      </p:pic>
      <p:sp>
        <p:nvSpPr>
          <p:cNvPr id="1100" name="Rectangle 406">
            <a:extLst>
              <a:ext uri="{FF2B5EF4-FFF2-40B4-BE49-F238E27FC236}">
                <a16:creationId xmlns:a16="http://schemas.microsoft.com/office/drawing/2014/main" id="{5E6BCD82-6AE6-9E1B-ED76-BC4376B0C363}"/>
              </a:ext>
            </a:extLst>
          </p:cNvPr>
          <p:cNvSpPr>
            <a:spLocks noChangeArrowheads="1"/>
          </p:cNvSpPr>
          <p:nvPr/>
        </p:nvSpPr>
        <p:spPr bwMode="auto">
          <a:xfrm>
            <a:off x="3300940" y="2983769"/>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101" name="Rectangle 408">
            <a:extLst>
              <a:ext uri="{FF2B5EF4-FFF2-40B4-BE49-F238E27FC236}">
                <a16:creationId xmlns:a16="http://schemas.microsoft.com/office/drawing/2014/main" id="{8FCE599C-3C68-719E-A713-4EA98BD19C07}"/>
              </a:ext>
            </a:extLst>
          </p:cNvPr>
          <p:cNvSpPr>
            <a:spLocks noChangeArrowheads="1"/>
          </p:cNvSpPr>
          <p:nvPr/>
        </p:nvSpPr>
        <p:spPr bwMode="auto">
          <a:xfrm>
            <a:off x="3300940" y="3819364"/>
            <a:ext cx="1060704" cy="38779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Sponsor, Joint Overall Coordinator, Joint Bookrunner and Joint Lead Manager</a:t>
            </a:r>
            <a:endParaRPr lang="zh-CN" altLang="en-US" sz="700" b="0" dirty="0">
              <a:solidFill>
                <a:srgbClr val="000000"/>
              </a:solidFill>
              <a:latin typeface="Calibri" panose="020F0502020204030204" pitchFamily="34" charset="0"/>
              <a:ea typeface="STKaiti"/>
              <a:cs typeface="DFPKaiShu-GB5" panose="03000500000000000000" pitchFamily="66" charset="-128"/>
            </a:endParaRPr>
          </a:p>
        </p:txBody>
      </p:sp>
      <p:sp>
        <p:nvSpPr>
          <p:cNvPr id="1102" name="Rectangle 409">
            <a:extLst>
              <a:ext uri="{FF2B5EF4-FFF2-40B4-BE49-F238E27FC236}">
                <a16:creationId xmlns:a16="http://schemas.microsoft.com/office/drawing/2014/main" id="{8B7870F5-4AD0-F7E4-5573-17B334EA2ABC}"/>
              </a:ext>
            </a:extLst>
          </p:cNvPr>
          <p:cNvSpPr>
            <a:spLocks noChangeArrowheads="1"/>
          </p:cNvSpPr>
          <p:nvPr/>
        </p:nvSpPr>
        <p:spPr bwMode="auto">
          <a:xfrm>
            <a:off x="3305512" y="3450894"/>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Proposed IPO</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(Undergoing Listing Review)</a:t>
            </a:r>
          </a:p>
        </p:txBody>
      </p:sp>
      <p:sp>
        <p:nvSpPr>
          <p:cNvPr id="1103" name="Rectangle 412">
            <a:extLst>
              <a:ext uri="{FF2B5EF4-FFF2-40B4-BE49-F238E27FC236}">
                <a16:creationId xmlns:a16="http://schemas.microsoft.com/office/drawing/2014/main" id="{AF1921BF-3989-ABB8-D95D-DD2D78FA6F16}"/>
              </a:ext>
            </a:extLst>
          </p:cNvPr>
          <p:cNvSpPr>
            <a:spLocks noChangeArrowheads="1"/>
          </p:cNvSpPr>
          <p:nvPr/>
        </p:nvSpPr>
        <p:spPr bwMode="auto">
          <a:xfrm>
            <a:off x="3567600" y="4254501"/>
            <a:ext cx="527388"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February 2025</a:t>
            </a:r>
          </a:p>
        </p:txBody>
      </p:sp>
      <p:pic>
        <p:nvPicPr>
          <p:cNvPr id="1104" name="Picture 1103">
            <a:extLst>
              <a:ext uri="{FF2B5EF4-FFF2-40B4-BE49-F238E27FC236}">
                <a16:creationId xmlns:a16="http://schemas.microsoft.com/office/drawing/2014/main" id="{680DDFCC-2EE0-9527-E18F-6F6F77239037}"/>
              </a:ext>
            </a:extLst>
          </p:cNvPr>
          <p:cNvPicPr>
            <a:picLocks noChangeAspect="1"/>
          </p:cNvPicPr>
          <p:nvPr/>
        </p:nvPicPr>
        <p:blipFill>
          <a:blip r:embed="rId10"/>
          <a:stretch>
            <a:fillRect/>
          </a:stretch>
        </p:blipFill>
        <p:spPr>
          <a:xfrm>
            <a:off x="3383712" y="3068486"/>
            <a:ext cx="895160" cy="305457"/>
          </a:xfrm>
          <a:prstGeom prst="rect">
            <a:avLst/>
          </a:prstGeom>
        </p:spPr>
      </p:pic>
      <p:sp>
        <p:nvSpPr>
          <p:cNvPr id="146" name="Rectangle 406">
            <a:extLst>
              <a:ext uri="{FF2B5EF4-FFF2-40B4-BE49-F238E27FC236}">
                <a16:creationId xmlns:a16="http://schemas.microsoft.com/office/drawing/2014/main" id="{19102992-A443-E12F-E90B-203E21A00D6D}"/>
              </a:ext>
            </a:extLst>
          </p:cNvPr>
          <p:cNvSpPr>
            <a:spLocks noChangeArrowheads="1"/>
          </p:cNvSpPr>
          <p:nvPr/>
        </p:nvSpPr>
        <p:spPr bwMode="auto">
          <a:xfrm>
            <a:off x="5567092" y="2983769"/>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47" name="Rectangle 408">
            <a:extLst>
              <a:ext uri="{FF2B5EF4-FFF2-40B4-BE49-F238E27FC236}">
                <a16:creationId xmlns:a16="http://schemas.microsoft.com/office/drawing/2014/main" id="{60BF86DA-D12E-80B2-168C-906C1F22B584}"/>
              </a:ext>
            </a:extLst>
          </p:cNvPr>
          <p:cNvSpPr>
            <a:spLocks noChangeArrowheads="1"/>
          </p:cNvSpPr>
          <p:nvPr/>
        </p:nvSpPr>
        <p:spPr bwMode="auto">
          <a:xfrm>
            <a:off x="5579424" y="3798437"/>
            <a:ext cx="1060704" cy="38779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Overall Coordinator, Joint Global Coordinator, Joint Bookrunner and Joint Lead Manager</a:t>
            </a:r>
            <a:endParaRPr lang="zh-CN" altLang="en-US" sz="700" b="0" dirty="0">
              <a:solidFill>
                <a:srgbClr val="000000"/>
              </a:solidFill>
              <a:latin typeface="Calibri" panose="020F0502020204030204" pitchFamily="34" charset="0"/>
              <a:ea typeface="STKaiti"/>
              <a:cs typeface="DFPKaiShu-GB5" panose="03000500000000000000" pitchFamily="66" charset="-128"/>
            </a:endParaRPr>
          </a:p>
        </p:txBody>
      </p:sp>
      <p:sp>
        <p:nvSpPr>
          <p:cNvPr id="148" name="Rectangle 409">
            <a:extLst>
              <a:ext uri="{FF2B5EF4-FFF2-40B4-BE49-F238E27FC236}">
                <a16:creationId xmlns:a16="http://schemas.microsoft.com/office/drawing/2014/main" id="{A027E6B1-E60B-2F36-7DA7-B2FBB2600911}"/>
              </a:ext>
            </a:extLst>
          </p:cNvPr>
          <p:cNvSpPr>
            <a:spLocks noChangeArrowheads="1"/>
          </p:cNvSpPr>
          <p:nvPr/>
        </p:nvSpPr>
        <p:spPr bwMode="auto">
          <a:xfrm>
            <a:off x="5583996" y="3478227"/>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US$60m</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49" name="Rectangle 412">
            <a:extLst>
              <a:ext uri="{FF2B5EF4-FFF2-40B4-BE49-F238E27FC236}">
                <a16:creationId xmlns:a16="http://schemas.microsoft.com/office/drawing/2014/main" id="{CCABCAD2-19A2-8D7D-9D72-B50A2C0B6D4F}"/>
              </a:ext>
            </a:extLst>
          </p:cNvPr>
          <p:cNvSpPr>
            <a:spLocks noChangeArrowheads="1"/>
          </p:cNvSpPr>
          <p:nvPr/>
        </p:nvSpPr>
        <p:spPr bwMode="auto">
          <a:xfrm>
            <a:off x="5816429" y="4253259"/>
            <a:ext cx="586699"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November 2024</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150" name="Picture 149">
            <a:extLst>
              <a:ext uri="{FF2B5EF4-FFF2-40B4-BE49-F238E27FC236}">
                <a16:creationId xmlns:a16="http://schemas.microsoft.com/office/drawing/2014/main" id="{DF67CC1F-EC7F-8DE4-ECFC-8F9DCBF66D4B}"/>
              </a:ext>
            </a:extLst>
          </p:cNvPr>
          <p:cNvPicPr>
            <a:picLocks noChangeAspect="1"/>
          </p:cNvPicPr>
          <p:nvPr/>
        </p:nvPicPr>
        <p:blipFill>
          <a:blip r:embed="rId11"/>
          <a:stretch>
            <a:fillRect/>
          </a:stretch>
        </p:blipFill>
        <p:spPr>
          <a:xfrm>
            <a:off x="5596640" y="3244112"/>
            <a:ext cx="1026272" cy="215444"/>
          </a:xfrm>
          <a:prstGeom prst="rect">
            <a:avLst/>
          </a:prstGeom>
        </p:spPr>
      </p:pic>
      <p:pic>
        <p:nvPicPr>
          <p:cNvPr id="151" name="Picture 150">
            <a:extLst>
              <a:ext uri="{FF2B5EF4-FFF2-40B4-BE49-F238E27FC236}">
                <a16:creationId xmlns:a16="http://schemas.microsoft.com/office/drawing/2014/main" id="{442B6A39-FC70-8754-D882-E0AA6359C02B}"/>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702048" y="3074085"/>
            <a:ext cx="815456" cy="158619"/>
          </a:xfrm>
          <a:prstGeom prst="rect">
            <a:avLst/>
          </a:prstGeom>
          <a:noFill/>
        </p:spPr>
      </p:pic>
      <p:sp>
        <p:nvSpPr>
          <p:cNvPr id="152" name="Rectangle 406">
            <a:extLst>
              <a:ext uri="{FF2B5EF4-FFF2-40B4-BE49-F238E27FC236}">
                <a16:creationId xmlns:a16="http://schemas.microsoft.com/office/drawing/2014/main" id="{30EAE72D-323E-68AC-39A9-4FFEDDE1A1C2}"/>
              </a:ext>
            </a:extLst>
          </p:cNvPr>
          <p:cNvSpPr>
            <a:spLocks noChangeArrowheads="1"/>
          </p:cNvSpPr>
          <p:nvPr/>
        </p:nvSpPr>
        <p:spPr bwMode="auto">
          <a:xfrm>
            <a:off x="4434016" y="2983769"/>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53" name="Rectangle 408">
            <a:extLst>
              <a:ext uri="{FF2B5EF4-FFF2-40B4-BE49-F238E27FC236}">
                <a16:creationId xmlns:a16="http://schemas.microsoft.com/office/drawing/2014/main" id="{6FBE2C4C-CFF7-D8A4-9140-B89E0E562011}"/>
              </a:ext>
            </a:extLst>
          </p:cNvPr>
          <p:cNvSpPr>
            <a:spLocks noChangeArrowheads="1"/>
          </p:cNvSpPr>
          <p:nvPr/>
        </p:nvSpPr>
        <p:spPr bwMode="auto">
          <a:xfrm>
            <a:off x="4449431" y="3895388"/>
            <a:ext cx="1060704" cy="19389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54" name="Rectangle 409">
            <a:extLst>
              <a:ext uri="{FF2B5EF4-FFF2-40B4-BE49-F238E27FC236}">
                <a16:creationId xmlns:a16="http://schemas.microsoft.com/office/drawing/2014/main" id="{8C939D3B-C457-8453-6D50-8FDB53F3F462}"/>
              </a:ext>
            </a:extLst>
          </p:cNvPr>
          <p:cNvSpPr>
            <a:spLocks noChangeArrowheads="1"/>
          </p:cNvSpPr>
          <p:nvPr/>
        </p:nvSpPr>
        <p:spPr bwMode="auto">
          <a:xfrm>
            <a:off x="4454003" y="3478227"/>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US$749m</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55" name="Rectangle 412">
            <a:extLst>
              <a:ext uri="{FF2B5EF4-FFF2-40B4-BE49-F238E27FC236}">
                <a16:creationId xmlns:a16="http://schemas.microsoft.com/office/drawing/2014/main" id="{89A84A14-495F-BA2C-8413-360B41757AE2}"/>
              </a:ext>
            </a:extLst>
          </p:cNvPr>
          <p:cNvSpPr>
            <a:spLocks noChangeArrowheads="1"/>
          </p:cNvSpPr>
          <p:nvPr/>
        </p:nvSpPr>
        <p:spPr bwMode="auto">
          <a:xfrm>
            <a:off x="4683229" y="4253259"/>
            <a:ext cx="593111"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cs typeface="DFPKaiShu-GB5" panose="03000500000000000000" pitchFamily="66" charset="-128"/>
              </a:rPr>
              <a:t>November</a:t>
            </a:r>
            <a:r>
              <a:rPr lang="en-GB" altLang="zh-CN" sz="700" b="0" dirty="0">
                <a:solidFill>
                  <a:srgbClr val="000000"/>
                </a:solidFill>
                <a:latin typeface="Calibri" panose="020F0502020204030204" pitchFamily="34" charset="0"/>
                <a:ea typeface="DFKaiShu-GB5"/>
                <a:cs typeface="DFPKaiShu-GB5" panose="03000500000000000000" pitchFamily="66" charset="-128"/>
              </a:rPr>
              <a:t> 2024</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156" name="Picture 155">
            <a:extLst>
              <a:ext uri="{FF2B5EF4-FFF2-40B4-BE49-F238E27FC236}">
                <a16:creationId xmlns:a16="http://schemas.microsoft.com/office/drawing/2014/main" id="{2475C3B0-1AD4-C952-8F34-EA02DE715C8C}"/>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4821" t="22974" r="4150" b="22843"/>
          <a:stretch/>
        </p:blipFill>
        <p:spPr>
          <a:xfrm>
            <a:off x="4612520" y="3068729"/>
            <a:ext cx="734529" cy="327914"/>
          </a:xfrm>
          <a:prstGeom prst="rect">
            <a:avLst/>
          </a:prstGeom>
        </p:spPr>
      </p:pic>
      <p:sp>
        <p:nvSpPr>
          <p:cNvPr id="1110" name="Rectangle 406">
            <a:extLst>
              <a:ext uri="{FF2B5EF4-FFF2-40B4-BE49-F238E27FC236}">
                <a16:creationId xmlns:a16="http://schemas.microsoft.com/office/drawing/2014/main" id="{1A64831D-B298-38D0-E629-B3958CDE20F6}"/>
              </a:ext>
            </a:extLst>
          </p:cNvPr>
          <p:cNvSpPr>
            <a:spLocks noChangeArrowheads="1"/>
          </p:cNvSpPr>
          <p:nvPr/>
        </p:nvSpPr>
        <p:spPr bwMode="auto">
          <a:xfrm>
            <a:off x="1051297" y="299330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111" name="Rectangle 408">
            <a:extLst>
              <a:ext uri="{FF2B5EF4-FFF2-40B4-BE49-F238E27FC236}">
                <a16:creationId xmlns:a16="http://schemas.microsoft.com/office/drawing/2014/main" id="{4D739CC1-113E-E5A9-0FC6-144943ED2721}"/>
              </a:ext>
            </a:extLst>
          </p:cNvPr>
          <p:cNvSpPr>
            <a:spLocks noChangeArrowheads="1"/>
          </p:cNvSpPr>
          <p:nvPr/>
        </p:nvSpPr>
        <p:spPr bwMode="auto">
          <a:xfrm>
            <a:off x="1062084" y="3876131"/>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Global Coordinator, Joint Bookrunner and Joint Lead Manager</a:t>
            </a:r>
          </a:p>
        </p:txBody>
      </p:sp>
      <p:sp>
        <p:nvSpPr>
          <p:cNvPr id="1112" name="Rectangle 409">
            <a:extLst>
              <a:ext uri="{FF2B5EF4-FFF2-40B4-BE49-F238E27FC236}">
                <a16:creationId xmlns:a16="http://schemas.microsoft.com/office/drawing/2014/main" id="{23BAD1CE-9E41-516C-B16F-B2CFFCD05F22}"/>
              </a:ext>
            </a:extLst>
          </p:cNvPr>
          <p:cNvSpPr>
            <a:spLocks noChangeArrowheads="1"/>
          </p:cNvSpPr>
          <p:nvPr/>
        </p:nvSpPr>
        <p:spPr bwMode="auto">
          <a:xfrm>
            <a:off x="1066656" y="3497285"/>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US$345m</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113" name="Rectangle 412">
            <a:extLst>
              <a:ext uri="{FF2B5EF4-FFF2-40B4-BE49-F238E27FC236}">
                <a16:creationId xmlns:a16="http://schemas.microsoft.com/office/drawing/2014/main" id="{B77887BD-E2BF-9710-142A-4656E7FF29D1}"/>
              </a:ext>
            </a:extLst>
          </p:cNvPr>
          <p:cNvSpPr>
            <a:spLocks noChangeArrowheads="1"/>
          </p:cNvSpPr>
          <p:nvPr/>
        </p:nvSpPr>
        <p:spPr bwMode="auto">
          <a:xfrm>
            <a:off x="1424122" y="4262792"/>
            <a:ext cx="336631"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July 2025</a:t>
            </a:r>
          </a:p>
        </p:txBody>
      </p:sp>
      <p:pic>
        <p:nvPicPr>
          <p:cNvPr id="1114" name="Picture 1113">
            <a:extLst>
              <a:ext uri="{FF2B5EF4-FFF2-40B4-BE49-F238E27FC236}">
                <a16:creationId xmlns:a16="http://schemas.microsoft.com/office/drawing/2014/main" id="{0FE24DDC-34A5-2CD4-1D08-A1903632E239}"/>
              </a:ext>
            </a:extLst>
          </p:cNvPr>
          <p:cNvPicPr>
            <a:picLocks noChangeAspect="1"/>
          </p:cNvPicPr>
          <p:nvPr/>
        </p:nvPicPr>
        <p:blipFill>
          <a:blip r:embed="rId14"/>
          <a:stretch>
            <a:fillRect/>
          </a:stretch>
        </p:blipFill>
        <p:spPr>
          <a:xfrm>
            <a:off x="1165499" y="3068486"/>
            <a:ext cx="853874" cy="279631"/>
          </a:xfrm>
          <a:prstGeom prst="rect">
            <a:avLst/>
          </a:prstGeom>
        </p:spPr>
      </p:pic>
      <p:sp>
        <p:nvSpPr>
          <p:cNvPr id="1095" name="Rectangle 406">
            <a:extLst>
              <a:ext uri="{FF2B5EF4-FFF2-40B4-BE49-F238E27FC236}">
                <a16:creationId xmlns:a16="http://schemas.microsoft.com/office/drawing/2014/main" id="{A517A3BD-EF82-7E8D-2F03-D1D9D32366DF}"/>
              </a:ext>
            </a:extLst>
          </p:cNvPr>
          <p:cNvSpPr>
            <a:spLocks noChangeArrowheads="1"/>
          </p:cNvSpPr>
          <p:nvPr/>
        </p:nvSpPr>
        <p:spPr bwMode="auto">
          <a:xfrm>
            <a:off x="7813869" y="1478518"/>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096" name="Rectangle 408">
            <a:extLst>
              <a:ext uri="{FF2B5EF4-FFF2-40B4-BE49-F238E27FC236}">
                <a16:creationId xmlns:a16="http://schemas.microsoft.com/office/drawing/2014/main" id="{E8DC6703-9357-5121-7D0F-45C278A99218}"/>
              </a:ext>
            </a:extLst>
          </p:cNvPr>
          <p:cNvSpPr>
            <a:spLocks noChangeArrowheads="1"/>
          </p:cNvSpPr>
          <p:nvPr/>
        </p:nvSpPr>
        <p:spPr bwMode="auto">
          <a:xfrm>
            <a:off x="7830048" y="2264396"/>
            <a:ext cx="1060704" cy="48474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Sole Sponsor, Overall Coordinator, Joint Global Coordinator, Joint Bookrunner and Joint Lead Manager</a:t>
            </a:r>
            <a:endParaRPr lang="zh-CN" altLang="en-US" sz="700" b="0" dirty="0">
              <a:solidFill>
                <a:srgbClr val="000000"/>
              </a:solidFill>
              <a:latin typeface="Calibri" panose="020F0502020204030204" pitchFamily="34" charset="0"/>
              <a:ea typeface="STKaiti"/>
              <a:cs typeface="DFPKaiShu-GB5" panose="03000500000000000000" pitchFamily="66" charset="-128"/>
            </a:endParaRPr>
          </a:p>
        </p:txBody>
      </p:sp>
      <p:sp>
        <p:nvSpPr>
          <p:cNvPr id="1097" name="Rectangle 409">
            <a:extLst>
              <a:ext uri="{FF2B5EF4-FFF2-40B4-BE49-F238E27FC236}">
                <a16:creationId xmlns:a16="http://schemas.microsoft.com/office/drawing/2014/main" id="{2A179225-3D4D-1270-13F8-691D296A2A43}"/>
              </a:ext>
            </a:extLst>
          </p:cNvPr>
          <p:cNvSpPr>
            <a:spLocks noChangeArrowheads="1"/>
          </p:cNvSpPr>
          <p:nvPr/>
        </p:nvSpPr>
        <p:spPr bwMode="auto">
          <a:xfrm>
            <a:off x="7834620" y="1982501"/>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US$53m</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098" name="Rectangle 412">
            <a:extLst>
              <a:ext uri="{FF2B5EF4-FFF2-40B4-BE49-F238E27FC236}">
                <a16:creationId xmlns:a16="http://schemas.microsoft.com/office/drawing/2014/main" id="{17EEA54C-DA29-A886-7406-5D0AD975F850}"/>
              </a:ext>
            </a:extLst>
          </p:cNvPr>
          <p:cNvSpPr>
            <a:spLocks noChangeArrowheads="1"/>
          </p:cNvSpPr>
          <p:nvPr/>
        </p:nvSpPr>
        <p:spPr bwMode="auto">
          <a:xfrm>
            <a:off x="8192086" y="2748008"/>
            <a:ext cx="336631"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July 2025</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1099" name="Picture 1098">
            <a:extLst>
              <a:ext uri="{FF2B5EF4-FFF2-40B4-BE49-F238E27FC236}">
                <a16:creationId xmlns:a16="http://schemas.microsoft.com/office/drawing/2014/main" id="{E9DC6646-8F3F-5F49-5D3D-C2A49D55FAB2}"/>
              </a:ext>
            </a:extLst>
          </p:cNvPr>
          <p:cNvPicPr>
            <a:picLocks noChangeAspect="1"/>
          </p:cNvPicPr>
          <p:nvPr/>
        </p:nvPicPr>
        <p:blipFill>
          <a:blip r:embed="rId15"/>
          <a:stretch>
            <a:fillRect/>
          </a:stretch>
        </p:blipFill>
        <p:spPr>
          <a:xfrm>
            <a:off x="7959223" y="1519073"/>
            <a:ext cx="802354" cy="383558"/>
          </a:xfrm>
          <a:prstGeom prst="rect">
            <a:avLst/>
          </a:prstGeom>
        </p:spPr>
      </p:pic>
      <p:sp>
        <p:nvSpPr>
          <p:cNvPr id="1120" name="Rectangle 406">
            <a:extLst>
              <a:ext uri="{FF2B5EF4-FFF2-40B4-BE49-F238E27FC236}">
                <a16:creationId xmlns:a16="http://schemas.microsoft.com/office/drawing/2014/main" id="{79253B78-262C-60C7-F9FA-116DF05684E5}"/>
              </a:ext>
            </a:extLst>
          </p:cNvPr>
          <p:cNvSpPr>
            <a:spLocks noChangeArrowheads="1"/>
          </p:cNvSpPr>
          <p:nvPr/>
        </p:nvSpPr>
        <p:spPr bwMode="auto">
          <a:xfrm>
            <a:off x="6701259"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121" name="Rectangle 408">
            <a:extLst>
              <a:ext uri="{FF2B5EF4-FFF2-40B4-BE49-F238E27FC236}">
                <a16:creationId xmlns:a16="http://schemas.microsoft.com/office/drawing/2014/main" id="{33DC8280-E832-67ED-D88D-C241E92984BB}"/>
              </a:ext>
            </a:extLst>
          </p:cNvPr>
          <p:cNvSpPr>
            <a:spLocks noChangeArrowheads="1"/>
          </p:cNvSpPr>
          <p:nvPr/>
        </p:nvSpPr>
        <p:spPr bwMode="auto">
          <a:xfrm>
            <a:off x="6722830" y="2455037"/>
            <a:ext cx="1060704" cy="96950"/>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Lead Manager</a:t>
            </a:r>
          </a:p>
        </p:txBody>
      </p:sp>
      <p:sp>
        <p:nvSpPr>
          <p:cNvPr id="1122" name="Rectangle 409">
            <a:extLst>
              <a:ext uri="{FF2B5EF4-FFF2-40B4-BE49-F238E27FC236}">
                <a16:creationId xmlns:a16="http://schemas.microsoft.com/office/drawing/2014/main" id="{D1B996F1-E51A-E86B-6E0F-7265795EB98F}"/>
              </a:ext>
            </a:extLst>
          </p:cNvPr>
          <p:cNvSpPr>
            <a:spLocks noChangeArrowheads="1"/>
          </p:cNvSpPr>
          <p:nvPr/>
        </p:nvSpPr>
        <p:spPr bwMode="auto">
          <a:xfrm>
            <a:off x="6727402" y="197924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US$442m</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123" name="Rectangle 412">
            <a:extLst>
              <a:ext uri="{FF2B5EF4-FFF2-40B4-BE49-F238E27FC236}">
                <a16:creationId xmlns:a16="http://schemas.microsoft.com/office/drawing/2014/main" id="{CC03207B-3151-35F0-C67A-5041478A1545}"/>
              </a:ext>
            </a:extLst>
          </p:cNvPr>
          <p:cNvSpPr>
            <a:spLocks noChangeArrowheads="1"/>
          </p:cNvSpPr>
          <p:nvPr/>
        </p:nvSpPr>
        <p:spPr bwMode="auto">
          <a:xfrm>
            <a:off x="7084868" y="2744750"/>
            <a:ext cx="336631"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July 2025</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1124" name="Picture 1123">
            <a:extLst>
              <a:ext uri="{FF2B5EF4-FFF2-40B4-BE49-F238E27FC236}">
                <a16:creationId xmlns:a16="http://schemas.microsoft.com/office/drawing/2014/main" id="{894B1107-281D-81CE-69B5-C4E4D5CBEC58}"/>
              </a:ext>
            </a:extLst>
          </p:cNvPr>
          <p:cNvPicPr>
            <a:picLocks noChangeAspect="1"/>
          </p:cNvPicPr>
          <p:nvPr/>
        </p:nvPicPr>
        <p:blipFill>
          <a:blip r:embed="rId16"/>
          <a:stretch>
            <a:fillRect/>
          </a:stretch>
        </p:blipFill>
        <p:spPr>
          <a:xfrm>
            <a:off x="6916630" y="1609888"/>
            <a:ext cx="673107" cy="228995"/>
          </a:xfrm>
          <a:prstGeom prst="rect">
            <a:avLst/>
          </a:prstGeom>
        </p:spPr>
      </p:pic>
      <p:sp>
        <p:nvSpPr>
          <p:cNvPr id="1125" name="Rectangle 406">
            <a:extLst>
              <a:ext uri="{FF2B5EF4-FFF2-40B4-BE49-F238E27FC236}">
                <a16:creationId xmlns:a16="http://schemas.microsoft.com/office/drawing/2014/main" id="{8AA4A971-4CA2-4313-17D9-4E480487C8F2}"/>
              </a:ext>
            </a:extLst>
          </p:cNvPr>
          <p:cNvSpPr>
            <a:spLocks noChangeArrowheads="1"/>
          </p:cNvSpPr>
          <p:nvPr/>
        </p:nvSpPr>
        <p:spPr bwMode="auto">
          <a:xfrm>
            <a:off x="5565874"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126" name="Rectangle 408">
            <a:extLst>
              <a:ext uri="{FF2B5EF4-FFF2-40B4-BE49-F238E27FC236}">
                <a16:creationId xmlns:a16="http://schemas.microsoft.com/office/drawing/2014/main" id="{8A90F773-678F-E954-BCDE-60230A703276}"/>
              </a:ext>
            </a:extLst>
          </p:cNvPr>
          <p:cNvSpPr>
            <a:spLocks noChangeArrowheads="1"/>
          </p:cNvSpPr>
          <p:nvPr/>
        </p:nvSpPr>
        <p:spPr bwMode="auto">
          <a:xfrm>
            <a:off x="5592837" y="2358089"/>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Global Coordinator, Joint Bookrunner and Joint Lead Manager</a:t>
            </a:r>
          </a:p>
        </p:txBody>
      </p:sp>
      <p:sp>
        <p:nvSpPr>
          <p:cNvPr id="1127" name="Rectangle 409">
            <a:extLst>
              <a:ext uri="{FF2B5EF4-FFF2-40B4-BE49-F238E27FC236}">
                <a16:creationId xmlns:a16="http://schemas.microsoft.com/office/drawing/2014/main" id="{619BE80A-6613-CDA9-91D9-B37C7DC12D43}"/>
              </a:ext>
            </a:extLst>
          </p:cNvPr>
          <p:cNvSpPr>
            <a:spLocks noChangeArrowheads="1"/>
          </p:cNvSpPr>
          <p:nvPr/>
        </p:nvSpPr>
        <p:spPr bwMode="auto">
          <a:xfrm>
            <a:off x="5597409" y="197924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US$534 million</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a:t>
            </a:r>
          </a:p>
        </p:txBody>
      </p:sp>
      <p:sp>
        <p:nvSpPr>
          <p:cNvPr id="1128" name="Rectangle 412">
            <a:extLst>
              <a:ext uri="{FF2B5EF4-FFF2-40B4-BE49-F238E27FC236}">
                <a16:creationId xmlns:a16="http://schemas.microsoft.com/office/drawing/2014/main" id="{625D4DA2-9120-E1A8-838F-C9CBA1126AC8}"/>
              </a:ext>
            </a:extLst>
          </p:cNvPr>
          <p:cNvSpPr>
            <a:spLocks noChangeArrowheads="1"/>
          </p:cNvSpPr>
          <p:nvPr/>
        </p:nvSpPr>
        <p:spPr bwMode="auto">
          <a:xfrm>
            <a:off x="5821025" y="2744750"/>
            <a:ext cx="604333"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September 2025</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1129" name="Picture 1128">
            <a:extLst>
              <a:ext uri="{FF2B5EF4-FFF2-40B4-BE49-F238E27FC236}">
                <a16:creationId xmlns:a16="http://schemas.microsoft.com/office/drawing/2014/main" id="{C0FD4B0E-168B-0744-52CA-7D1E3442F209}"/>
              </a:ext>
            </a:extLst>
          </p:cNvPr>
          <p:cNvPicPr>
            <a:picLocks noChangeAspect="1"/>
          </p:cNvPicPr>
          <p:nvPr/>
        </p:nvPicPr>
        <p:blipFill>
          <a:blip r:embed="rId17"/>
          <a:stretch>
            <a:fillRect/>
          </a:stretch>
        </p:blipFill>
        <p:spPr>
          <a:xfrm>
            <a:off x="5948202" y="1519073"/>
            <a:ext cx="349977" cy="403562"/>
          </a:xfrm>
          <a:prstGeom prst="rect">
            <a:avLst/>
          </a:prstGeom>
        </p:spPr>
      </p:pic>
      <p:sp>
        <p:nvSpPr>
          <p:cNvPr id="21" name="Rectangle 406">
            <a:extLst>
              <a:ext uri="{FF2B5EF4-FFF2-40B4-BE49-F238E27FC236}">
                <a16:creationId xmlns:a16="http://schemas.microsoft.com/office/drawing/2014/main" id="{E15FA833-977C-9ACC-F961-D5BD6E1D4D32}"/>
              </a:ext>
            </a:extLst>
          </p:cNvPr>
          <p:cNvSpPr>
            <a:spLocks noChangeArrowheads="1"/>
          </p:cNvSpPr>
          <p:nvPr/>
        </p:nvSpPr>
        <p:spPr bwMode="auto">
          <a:xfrm>
            <a:off x="4430489"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b="0" kern="0" dirty="0">
              <a:solidFill>
                <a:prstClr val="black"/>
              </a:solidFill>
              <a:latin typeface="Calibri" panose="020F0502020204030204" pitchFamily="34" charset="0"/>
              <a:ea typeface="DFKaiShu-GB5"/>
              <a:cs typeface="Calibri" panose="020F0502020204030204" pitchFamily="34" charset="0"/>
            </a:endParaRPr>
          </a:p>
        </p:txBody>
      </p:sp>
      <p:sp>
        <p:nvSpPr>
          <p:cNvPr id="22" name="Rectangle 412">
            <a:extLst>
              <a:ext uri="{FF2B5EF4-FFF2-40B4-BE49-F238E27FC236}">
                <a16:creationId xmlns:a16="http://schemas.microsoft.com/office/drawing/2014/main" id="{FB5DC53F-88CD-3963-4104-A16F5E0A3531}"/>
              </a:ext>
            </a:extLst>
          </p:cNvPr>
          <p:cNvSpPr>
            <a:spLocks noChangeArrowheads="1"/>
          </p:cNvSpPr>
          <p:nvPr/>
        </p:nvSpPr>
        <p:spPr bwMode="auto">
          <a:xfrm>
            <a:off x="4710772" y="2744750"/>
            <a:ext cx="500138" cy="107722"/>
          </a:xfrm>
          <a:prstGeom prst="rect">
            <a:avLst/>
          </a:prstGeom>
          <a:noFill/>
          <a:ln w="9525">
            <a:noFill/>
            <a:miter lim="800000"/>
            <a:headEnd/>
            <a:tailEnd/>
          </a:ln>
        </p:spPr>
        <p:txBody>
          <a:bodyPr wrap="none" lIns="0" tIns="0" rIns="0" bIns="0" anchor="ctr">
            <a:spAutoFit/>
          </a:bodyPr>
          <a:lstStyle/>
          <a:p>
            <a:pPr algn="ctr" eaLnBrk="0" fontAlgn="base" hangingPunct="0">
              <a:spcBef>
                <a:spcPct val="0"/>
              </a:spcBef>
              <a:spcAft>
                <a:spcPct val="0"/>
              </a:spcAft>
              <a:defRPr/>
            </a:pPr>
            <a:r>
              <a:rPr lang="en-US" altLang="zh-TW" sz="700" b="0" dirty="0">
                <a:solidFill>
                  <a:srgbClr val="000000"/>
                </a:solidFill>
                <a:latin typeface="Calibri" panose="020F0502020204030204" pitchFamily="34" charset="0"/>
                <a:ea typeface="DFKaiShu-GB5"/>
                <a:cs typeface="Calibri" pitchFamily="34" charset="0"/>
              </a:rPr>
              <a:t>October 2025</a:t>
            </a:r>
          </a:p>
        </p:txBody>
      </p:sp>
      <p:sp>
        <p:nvSpPr>
          <p:cNvPr id="23" name="Rectangle 408">
            <a:extLst>
              <a:ext uri="{FF2B5EF4-FFF2-40B4-BE49-F238E27FC236}">
                <a16:creationId xmlns:a16="http://schemas.microsoft.com/office/drawing/2014/main" id="{ABA9F7C3-7412-0874-8684-F50F4A816334}"/>
              </a:ext>
            </a:extLst>
          </p:cNvPr>
          <p:cNvSpPr>
            <a:spLocks noChangeArrowheads="1"/>
          </p:cNvSpPr>
          <p:nvPr/>
        </p:nvSpPr>
        <p:spPr bwMode="auto">
          <a:xfrm>
            <a:off x="4430489" y="2359810"/>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Global Coordinator, Joint Bookrunner and Joint Lead Manager</a:t>
            </a:r>
          </a:p>
        </p:txBody>
      </p:sp>
      <p:sp>
        <p:nvSpPr>
          <p:cNvPr id="24" name="Rectangle 409">
            <a:extLst>
              <a:ext uri="{FF2B5EF4-FFF2-40B4-BE49-F238E27FC236}">
                <a16:creationId xmlns:a16="http://schemas.microsoft.com/office/drawing/2014/main" id="{B8B536D0-7897-3B76-E845-76C2F3180412}"/>
              </a:ext>
            </a:extLst>
          </p:cNvPr>
          <p:cNvSpPr>
            <a:spLocks noChangeArrowheads="1"/>
          </p:cNvSpPr>
          <p:nvPr/>
        </p:nvSpPr>
        <p:spPr bwMode="auto">
          <a:xfrm>
            <a:off x="4430489" y="1979243"/>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US$593 million</a:t>
            </a:r>
          </a:p>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IPO</a:t>
            </a:r>
          </a:p>
        </p:txBody>
      </p:sp>
      <p:pic>
        <p:nvPicPr>
          <p:cNvPr id="27" name="Picture 2" descr="剑桥科技赴港IPO：前五大供应商数据“打架” 前次募投项目“非变即延”耗时五年仍未完工_手机新浪网">
            <a:extLst>
              <a:ext uri="{FF2B5EF4-FFF2-40B4-BE49-F238E27FC236}">
                <a16:creationId xmlns:a16="http://schemas.microsoft.com/office/drawing/2014/main" id="{273DA5E9-AFDB-2AE4-7094-BDB725516361}"/>
              </a:ext>
            </a:extLst>
          </p:cNvPr>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t="31612" b="44017"/>
          <a:stretch>
            <a:fillRect/>
          </a:stretch>
        </p:blipFill>
        <p:spPr bwMode="auto">
          <a:xfrm>
            <a:off x="4491794" y="1689437"/>
            <a:ext cx="945053" cy="172531"/>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406">
            <a:extLst>
              <a:ext uri="{FF2B5EF4-FFF2-40B4-BE49-F238E27FC236}">
                <a16:creationId xmlns:a16="http://schemas.microsoft.com/office/drawing/2014/main" id="{4B2628D9-2CDD-05A5-9B58-8328C8672109}"/>
              </a:ext>
            </a:extLst>
          </p:cNvPr>
          <p:cNvSpPr>
            <a:spLocks noChangeArrowheads="1"/>
          </p:cNvSpPr>
          <p:nvPr/>
        </p:nvSpPr>
        <p:spPr bwMode="auto">
          <a:xfrm>
            <a:off x="2170503"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6" name="Rectangle 408">
            <a:extLst>
              <a:ext uri="{FF2B5EF4-FFF2-40B4-BE49-F238E27FC236}">
                <a16:creationId xmlns:a16="http://schemas.microsoft.com/office/drawing/2014/main" id="{11FB0EB1-C7DF-5C43-D8B7-D86ACB137A93}"/>
              </a:ext>
            </a:extLst>
          </p:cNvPr>
          <p:cNvSpPr>
            <a:spLocks noChangeArrowheads="1"/>
          </p:cNvSpPr>
          <p:nvPr/>
        </p:nvSpPr>
        <p:spPr bwMode="auto">
          <a:xfrm>
            <a:off x="2197466" y="2358089"/>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Global Coordinator, Joint Bookrunner and Joint Lead Manager</a:t>
            </a:r>
          </a:p>
        </p:txBody>
      </p:sp>
      <p:sp>
        <p:nvSpPr>
          <p:cNvPr id="17" name="Rectangle 409">
            <a:extLst>
              <a:ext uri="{FF2B5EF4-FFF2-40B4-BE49-F238E27FC236}">
                <a16:creationId xmlns:a16="http://schemas.microsoft.com/office/drawing/2014/main" id="{5D762D34-FC04-7298-C939-3955A9C63154}"/>
              </a:ext>
            </a:extLst>
          </p:cNvPr>
          <p:cNvSpPr>
            <a:spLocks noChangeArrowheads="1"/>
          </p:cNvSpPr>
          <p:nvPr/>
        </p:nvSpPr>
        <p:spPr bwMode="auto">
          <a:xfrm>
            <a:off x="2202038" y="197924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US$132 million</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De-SPAC IPO </a:t>
            </a:r>
          </a:p>
        </p:txBody>
      </p:sp>
      <p:sp>
        <p:nvSpPr>
          <p:cNvPr id="19" name="Rectangle 412">
            <a:extLst>
              <a:ext uri="{FF2B5EF4-FFF2-40B4-BE49-F238E27FC236}">
                <a16:creationId xmlns:a16="http://schemas.microsoft.com/office/drawing/2014/main" id="{8CACB43A-3EE3-DEED-7D2F-ED23CBEE9F97}"/>
              </a:ext>
            </a:extLst>
          </p:cNvPr>
          <p:cNvSpPr>
            <a:spLocks noChangeArrowheads="1"/>
          </p:cNvSpPr>
          <p:nvPr/>
        </p:nvSpPr>
        <p:spPr bwMode="auto">
          <a:xfrm>
            <a:off x="2438477" y="2744750"/>
            <a:ext cx="578685"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December 2025</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sp>
        <p:nvSpPr>
          <p:cNvPr id="26" name="Rectangle 406">
            <a:extLst>
              <a:ext uri="{FF2B5EF4-FFF2-40B4-BE49-F238E27FC236}">
                <a16:creationId xmlns:a16="http://schemas.microsoft.com/office/drawing/2014/main" id="{0D3417E2-566D-9855-69DA-EE827471B726}"/>
              </a:ext>
            </a:extLst>
          </p:cNvPr>
          <p:cNvSpPr>
            <a:spLocks noChangeArrowheads="1"/>
          </p:cNvSpPr>
          <p:nvPr/>
        </p:nvSpPr>
        <p:spPr bwMode="auto">
          <a:xfrm>
            <a:off x="3305891"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b="0" kern="0" dirty="0">
              <a:solidFill>
                <a:prstClr val="black"/>
              </a:solidFill>
              <a:latin typeface="Calibri" panose="020F0502020204030204" pitchFamily="34" charset="0"/>
              <a:ea typeface="DFKaiShu-GB5"/>
              <a:cs typeface="Calibri" panose="020F0502020204030204" pitchFamily="34" charset="0"/>
            </a:endParaRPr>
          </a:p>
        </p:txBody>
      </p:sp>
      <p:sp>
        <p:nvSpPr>
          <p:cNvPr id="28" name="Rectangle 412">
            <a:extLst>
              <a:ext uri="{FF2B5EF4-FFF2-40B4-BE49-F238E27FC236}">
                <a16:creationId xmlns:a16="http://schemas.microsoft.com/office/drawing/2014/main" id="{1F13FBA2-7125-A22D-7A04-9B51A3C44DF6}"/>
              </a:ext>
            </a:extLst>
          </p:cNvPr>
          <p:cNvSpPr>
            <a:spLocks noChangeArrowheads="1"/>
          </p:cNvSpPr>
          <p:nvPr/>
        </p:nvSpPr>
        <p:spPr bwMode="auto">
          <a:xfrm>
            <a:off x="3542893" y="2744750"/>
            <a:ext cx="586700" cy="107722"/>
          </a:xfrm>
          <a:prstGeom prst="rect">
            <a:avLst/>
          </a:prstGeom>
          <a:noFill/>
          <a:ln w="9525">
            <a:noFill/>
            <a:miter lim="800000"/>
            <a:headEnd/>
            <a:tailEnd/>
          </a:ln>
        </p:spPr>
        <p:txBody>
          <a:bodyPr wrap="none" lIns="0" tIns="0" rIns="0" bIns="0" anchor="ctr">
            <a:spAutoFit/>
          </a:bodyPr>
          <a:lstStyle/>
          <a:p>
            <a:pPr algn="ctr" eaLnBrk="0" fontAlgn="base" hangingPunct="0">
              <a:spcBef>
                <a:spcPct val="0"/>
              </a:spcBef>
              <a:spcAft>
                <a:spcPct val="0"/>
              </a:spcAft>
              <a:defRPr/>
            </a:pPr>
            <a:r>
              <a:rPr lang="en-US" altLang="zh-TW" sz="700" b="0" dirty="0">
                <a:solidFill>
                  <a:srgbClr val="000000"/>
                </a:solidFill>
                <a:latin typeface="Calibri" panose="020F0502020204030204" pitchFamily="34" charset="0"/>
                <a:ea typeface="DFKaiShu-GB5"/>
                <a:cs typeface="Calibri" pitchFamily="34" charset="0"/>
              </a:rPr>
              <a:t>November 2025</a:t>
            </a:r>
          </a:p>
        </p:txBody>
      </p:sp>
      <p:sp>
        <p:nvSpPr>
          <p:cNvPr id="29" name="Rectangle 408">
            <a:extLst>
              <a:ext uri="{FF2B5EF4-FFF2-40B4-BE49-F238E27FC236}">
                <a16:creationId xmlns:a16="http://schemas.microsoft.com/office/drawing/2014/main" id="{1324E471-0A0B-AD1C-F124-4189AB1E5D62}"/>
              </a:ext>
            </a:extLst>
          </p:cNvPr>
          <p:cNvSpPr>
            <a:spLocks noChangeArrowheads="1"/>
          </p:cNvSpPr>
          <p:nvPr/>
        </p:nvSpPr>
        <p:spPr bwMode="auto">
          <a:xfrm>
            <a:off x="3305891" y="2311335"/>
            <a:ext cx="1060704" cy="38779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Overall Coordinator, Joint Global Coordinator, Joint Bookrunner and Joint Lead Manager</a:t>
            </a:r>
          </a:p>
        </p:txBody>
      </p:sp>
      <p:sp>
        <p:nvSpPr>
          <p:cNvPr id="30" name="Rectangle 409">
            <a:extLst>
              <a:ext uri="{FF2B5EF4-FFF2-40B4-BE49-F238E27FC236}">
                <a16:creationId xmlns:a16="http://schemas.microsoft.com/office/drawing/2014/main" id="{99986AE8-FB19-5C75-85E2-E148C8CFDEFE}"/>
              </a:ext>
            </a:extLst>
          </p:cNvPr>
          <p:cNvSpPr>
            <a:spLocks noChangeArrowheads="1"/>
          </p:cNvSpPr>
          <p:nvPr/>
        </p:nvSpPr>
        <p:spPr bwMode="auto">
          <a:xfrm>
            <a:off x="3305891" y="1979243"/>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US$23 million</a:t>
            </a:r>
          </a:p>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IPO</a:t>
            </a:r>
          </a:p>
        </p:txBody>
      </p:sp>
      <p:pic>
        <p:nvPicPr>
          <p:cNvPr id="1026" name="Picture 2" descr="金岩高新，新增保荐人，递交IPO招股书，拟赴香港上市| 新三板企业香港上市">
            <a:extLst>
              <a:ext uri="{FF2B5EF4-FFF2-40B4-BE49-F238E27FC236}">
                <a16:creationId xmlns:a16="http://schemas.microsoft.com/office/drawing/2014/main" id="{EDF614C2-5D6F-00DF-4C30-97A09FF23206}"/>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3403712" y="1606551"/>
            <a:ext cx="830943" cy="23986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AC234E25-5181-34B3-9A03-2B493F285C57}"/>
              </a:ext>
            </a:extLst>
          </p:cNvPr>
          <p:cNvPicPr>
            <a:picLocks noChangeAspect="1"/>
          </p:cNvPicPr>
          <p:nvPr/>
        </p:nvPicPr>
        <p:blipFill>
          <a:blip r:embed="rId20"/>
          <a:stretch>
            <a:fillRect/>
          </a:stretch>
        </p:blipFill>
        <p:spPr>
          <a:xfrm>
            <a:off x="2538243" y="1541145"/>
            <a:ext cx="394970" cy="394970"/>
          </a:xfrm>
          <a:prstGeom prst="rect">
            <a:avLst/>
          </a:prstGeom>
        </p:spPr>
      </p:pic>
      <p:sp>
        <p:nvSpPr>
          <p:cNvPr id="32" name="Rectangle 406">
            <a:extLst>
              <a:ext uri="{FF2B5EF4-FFF2-40B4-BE49-F238E27FC236}">
                <a16:creationId xmlns:a16="http://schemas.microsoft.com/office/drawing/2014/main" id="{6E69BEB8-D728-68D5-2DAE-CB07B9B10EA7}"/>
              </a:ext>
            </a:extLst>
          </p:cNvPr>
          <p:cNvSpPr>
            <a:spLocks noChangeArrowheads="1"/>
          </p:cNvSpPr>
          <p:nvPr/>
        </p:nvSpPr>
        <p:spPr bwMode="auto">
          <a:xfrm>
            <a:off x="1051297"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dirty="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33" name="Rectangle 408">
            <a:extLst>
              <a:ext uri="{FF2B5EF4-FFF2-40B4-BE49-F238E27FC236}">
                <a16:creationId xmlns:a16="http://schemas.microsoft.com/office/drawing/2014/main" id="{08623BF9-DECB-96B9-0334-3000ED51E308}"/>
              </a:ext>
            </a:extLst>
          </p:cNvPr>
          <p:cNvSpPr>
            <a:spLocks noChangeArrowheads="1"/>
          </p:cNvSpPr>
          <p:nvPr/>
        </p:nvSpPr>
        <p:spPr bwMode="auto">
          <a:xfrm>
            <a:off x="1078260" y="2406564"/>
            <a:ext cx="1060704" cy="19389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STKaiti"/>
                <a:cs typeface="DFPKaiShu-GB5" panose="03000500000000000000" pitchFamily="66" charset="-128"/>
              </a:rPr>
              <a:t>Joint Bookrunner and</a:t>
            </a:r>
            <a:br>
              <a:rPr lang="en-US" altLang="zh-CN" sz="700" b="0" dirty="0">
                <a:solidFill>
                  <a:srgbClr val="000000"/>
                </a:solidFill>
                <a:latin typeface="Calibri" panose="020F0502020204030204" pitchFamily="34" charset="0"/>
                <a:ea typeface="STKaiti"/>
                <a:cs typeface="DFPKaiShu-GB5" panose="03000500000000000000" pitchFamily="66" charset="-128"/>
              </a:rPr>
            </a:br>
            <a:r>
              <a:rPr lang="en-US" altLang="zh-CN" sz="700" b="0" dirty="0">
                <a:solidFill>
                  <a:srgbClr val="000000"/>
                </a:solidFill>
                <a:latin typeface="Calibri" panose="020F0502020204030204" pitchFamily="34" charset="0"/>
                <a:ea typeface="STKaiti"/>
                <a:cs typeface="DFPKaiShu-GB5" panose="03000500000000000000" pitchFamily="66" charset="-128"/>
              </a:rPr>
              <a:t>Joint Lead Manager</a:t>
            </a:r>
          </a:p>
        </p:txBody>
      </p:sp>
      <p:sp>
        <p:nvSpPr>
          <p:cNvPr id="35" name="Rectangle 409">
            <a:extLst>
              <a:ext uri="{FF2B5EF4-FFF2-40B4-BE49-F238E27FC236}">
                <a16:creationId xmlns:a16="http://schemas.microsoft.com/office/drawing/2014/main" id="{6B38D194-91F3-17F1-1E39-D494AB6D8CA2}"/>
              </a:ext>
            </a:extLst>
          </p:cNvPr>
          <p:cNvSpPr>
            <a:spLocks noChangeArrowheads="1"/>
          </p:cNvSpPr>
          <p:nvPr/>
        </p:nvSpPr>
        <p:spPr bwMode="auto">
          <a:xfrm>
            <a:off x="1082832" y="197924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US$361 million</a:t>
            </a:r>
          </a:p>
          <a:p>
            <a:pPr algn="ctr">
              <a:spcBef>
                <a:spcPct val="0"/>
              </a:spcBef>
              <a:defRPr/>
            </a:pPr>
            <a:r>
              <a:rPr lang="en-US" altLang="zh-CN" sz="700" dirty="0">
                <a:solidFill>
                  <a:srgbClr val="000000"/>
                </a:solidFill>
                <a:latin typeface="Calibri" panose="020F0502020204030204" pitchFamily="34" charset="0"/>
                <a:ea typeface="STKaiti"/>
                <a:cs typeface="DFPKaiShu-GB5" panose="03000500000000000000" pitchFamily="66" charset="-128"/>
              </a:rPr>
              <a:t>IPO </a:t>
            </a:r>
          </a:p>
        </p:txBody>
      </p:sp>
      <p:sp>
        <p:nvSpPr>
          <p:cNvPr id="36" name="Rectangle 412">
            <a:extLst>
              <a:ext uri="{FF2B5EF4-FFF2-40B4-BE49-F238E27FC236}">
                <a16:creationId xmlns:a16="http://schemas.microsoft.com/office/drawing/2014/main" id="{B011DAE2-D3BA-FD72-D7C2-061B56B24CDE}"/>
              </a:ext>
            </a:extLst>
          </p:cNvPr>
          <p:cNvSpPr>
            <a:spLocks noChangeArrowheads="1"/>
          </p:cNvSpPr>
          <p:nvPr/>
        </p:nvSpPr>
        <p:spPr bwMode="auto">
          <a:xfrm>
            <a:off x="1344920" y="2744750"/>
            <a:ext cx="527387" cy="107722"/>
          </a:xfrm>
          <a:prstGeom prst="rect">
            <a:avLst/>
          </a:prstGeom>
          <a:noFill/>
          <a:ln w="9525">
            <a:noFill/>
            <a:miter lim="800000"/>
            <a:headEnd/>
            <a:tailEnd/>
          </a:ln>
        </p:spPr>
        <p:txBody>
          <a:bodyPr wrap="none" lIns="0" tIns="0" rIns="0" bIns="0" anchor="ctr">
            <a:spAutoFit/>
          </a:bodyPr>
          <a:lstStyle/>
          <a:p>
            <a:pPr algn="ctr">
              <a:defRPr/>
            </a:pPr>
            <a:r>
              <a:rPr lang="en-GB" altLang="zh-CN" sz="700" b="0" dirty="0">
                <a:solidFill>
                  <a:srgbClr val="000000"/>
                </a:solidFill>
                <a:latin typeface="Calibri" panose="020F0502020204030204" pitchFamily="34" charset="0"/>
                <a:ea typeface="DFKaiShu-GB5"/>
                <a:cs typeface="DFPKaiShu-GB5" panose="03000500000000000000" pitchFamily="66" charset="-128"/>
              </a:rPr>
              <a:t>February 2026</a:t>
            </a:r>
            <a:endParaRPr lang="en-US" altLang="zh-TW" sz="700" b="0" dirty="0">
              <a:solidFill>
                <a:srgbClr val="000000"/>
              </a:solidFill>
              <a:latin typeface="Calibri" panose="020F0502020204030204" pitchFamily="34" charset="0"/>
              <a:ea typeface="DFKaiShu-GB5"/>
              <a:cs typeface="DFPKaiShu-GB5" panose="03000500000000000000" pitchFamily="66" charset="-128"/>
            </a:endParaRPr>
          </a:p>
        </p:txBody>
      </p:sp>
      <p:pic>
        <p:nvPicPr>
          <p:cNvPr id="2" name="Picture 1">
            <a:extLst>
              <a:ext uri="{FF2B5EF4-FFF2-40B4-BE49-F238E27FC236}">
                <a16:creationId xmlns:a16="http://schemas.microsoft.com/office/drawing/2014/main" id="{5B6F387B-F710-174A-677E-80B81308B021}"/>
              </a:ext>
            </a:extLst>
          </p:cNvPr>
          <p:cNvPicPr>
            <a:picLocks noChangeAspect="1"/>
          </p:cNvPicPr>
          <p:nvPr/>
        </p:nvPicPr>
        <p:blipFill>
          <a:blip r:embed="rId21" cstate="print">
            <a:extLst>
              <a:ext uri="{28A0092B-C50C-407E-A947-70E740481C1C}">
                <a14:useLocalDpi xmlns:a14="http://schemas.microsoft.com/office/drawing/2010/main" val="0"/>
              </a:ext>
            </a:extLst>
          </a:blip>
          <a:srcRect t="16739" b="12906"/>
          <a:stretch>
            <a:fillRect/>
          </a:stretch>
        </p:blipFill>
        <p:spPr>
          <a:xfrm>
            <a:off x="1130508" y="1585695"/>
            <a:ext cx="902282" cy="317400"/>
          </a:xfrm>
          <a:prstGeom prst="rect">
            <a:avLst/>
          </a:prstGeom>
        </p:spPr>
      </p:pic>
      <p:sp>
        <p:nvSpPr>
          <p:cNvPr id="6" name="Slide Number Placeholder 3">
            <a:extLst>
              <a:ext uri="{FF2B5EF4-FFF2-40B4-BE49-F238E27FC236}">
                <a16:creationId xmlns:a16="http://schemas.microsoft.com/office/drawing/2014/main" id="{53227D36-0A17-C74A-43F8-C054FE57CD88}"/>
              </a:ext>
            </a:extLst>
          </p:cNvPr>
          <p:cNvSpPr>
            <a:spLocks noGrp="1"/>
          </p:cNvSpPr>
          <p:nvPr>
            <p:ph type="sldNum" sz="quarter" idx="4"/>
          </p:nvPr>
        </p:nvSpPr>
        <p:spPr>
          <a:xfrm>
            <a:off x="8555964" y="6370638"/>
            <a:ext cx="1155700" cy="381000"/>
          </a:xfrm>
        </p:spPr>
        <p:txBody>
          <a:bodyPr/>
          <a:lstStyle/>
          <a:p>
            <a:pPr>
              <a:spcBef>
                <a:spcPct val="0"/>
              </a:spcBef>
              <a:defRPr/>
            </a:pPr>
            <a:fld id="{EFB97E77-A14C-4D4A-B483-93BB0C8192BC}" type="slidenum">
              <a:rPr lang="en-US" altLang="en-US" b="0" smtClean="0">
                <a:solidFill>
                  <a:srgbClr val="000000"/>
                </a:solidFill>
              </a:rPr>
              <a:pPr>
                <a:spcBef>
                  <a:spcPct val="0"/>
                </a:spcBef>
                <a:defRPr/>
              </a:pPr>
              <a:t>18</a:t>
            </a:fld>
            <a:endParaRPr lang="en-US" altLang="en-US" b="0" dirty="0">
              <a:solidFill>
                <a:srgbClr val="000000"/>
              </a:solidFill>
            </a:endParaRPr>
          </a:p>
        </p:txBody>
      </p:sp>
      <p:sp>
        <p:nvSpPr>
          <p:cNvPr id="7" name="Rectangle 406">
            <a:extLst>
              <a:ext uri="{FF2B5EF4-FFF2-40B4-BE49-F238E27FC236}">
                <a16:creationId xmlns:a16="http://schemas.microsoft.com/office/drawing/2014/main" id="{4682061D-6FF8-0BB9-826D-57EE8E271330}"/>
              </a:ext>
            </a:extLst>
          </p:cNvPr>
          <p:cNvSpPr>
            <a:spLocks noChangeArrowheads="1"/>
          </p:cNvSpPr>
          <p:nvPr/>
        </p:nvSpPr>
        <p:spPr bwMode="auto">
          <a:xfrm>
            <a:off x="6706436" y="4483354"/>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b="0" kern="0" dirty="0">
              <a:solidFill>
                <a:prstClr val="black"/>
              </a:solidFill>
              <a:latin typeface="Calibri" panose="020F0502020204030204" pitchFamily="34" charset="0"/>
              <a:ea typeface="DFKaiShu-GB5"/>
              <a:cs typeface="Calibri" panose="020F0502020204030204" pitchFamily="34" charset="0"/>
            </a:endParaRPr>
          </a:p>
        </p:txBody>
      </p:sp>
      <p:sp>
        <p:nvSpPr>
          <p:cNvPr id="9" name="Rectangle 408">
            <a:extLst>
              <a:ext uri="{FF2B5EF4-FFF2-40B4-BE49-F238E27FC236}">
                <a16:creationId xmlns:a16="http://schemas.microsoft.com/office/drawing/2014/main" id="{A19EF94F-DAFC-BA2D-5199-8F7D37895274}"/>
              </a:ext>
            </a:extLst>
          </p:cNvPr>
          <p:cNvSpPr>
            <a:spLocks noChangeArrowheads="1"/>
          </p:cNvSpPr>
          <p:nvPr/>
        </p:nvSpPr>
        <p:spPr bwMode="auto">
          <a:xfrm>
            <a:off x="6719507" y="5423761"/>
            <a:ext cx="1060704" cy="96950"/>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DFKaiShu-GB5"/>
                <a:cs typeface="DFPKaiShu-GB5" panose="03000500000000000000" pitchFamily="66" charset="-128"/>
              </a:rPr>
              <a:t>Joint Lead Manager</a:t>
            </a:r>
          </a:p>
        </p:txBody>
      </p:sp>
      <p:sp>
        <p:nvSpPr>
          <p:cNvPr id="10" name="Rectangle 409">
            <a:extLst>
              <a:ext uri="{FF2B5EF4-FFF2-40B4-BE49-F238E27FC236}">
                <a16:creationId xmlns:a16="http://schemas.microsoft.com/office/drawing/2014/main" id="{34FAB99F-ABC5-F434-9D9E-4EBDB7D7E3F7}"/>
              </a:ext>
            </a:extLst>
          </p:cNvPr>
          <p:cNvSpPr>
            <a:spLocks noChangeArrowheads="1"/>
          </p:cNvSpPr>
          <p:nvPr/>
        </p:nvSpPr>
        <p:spPr bwMode="auto">
          <a:xfrm>
            <a:off x="6719507" y="4985553"/>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US$75.5m</a:t>
            </a:r>
          </a:p>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IPO</a:t>
            </a:r>
          </a:p>
        </p:txBody>
      </p:sp>
      <p:sp>
        <p:nvSpPr>
          <p:cNvPr id="11" name="Rectangle 412">
            <a:extLst>
              <a:ext uri="{FF2B5EF4-FFF2-40B4-BE49-F238E27FC236}">
                <a16:creationId xmlns:a16="http://schemas.microsoft.com/office/drawing/2014/main" id="{7CB538ED-F95D-234B-8450-3F9957317805}"/>
              </a:ext>
            </a:extLst>
          </p:cNvPr>
          <p:cNvSpPr>
            <a:spLocks noChangeArrowheads="1"/>
          </p:cNvSpPr>
          <p:nvPr/>
        </p:nvSpPr>
        <p:spPr bwMode="auto">
          <a:xfrm>
            <a:off x="7031050" y="5752844"/>
            <a:ext cx="437620" cy="107722"/>
          </a:xfrm>
          <a:prstGeom prst="rect">
            <a:avLst/>
          </a:prstGeom>
          <a:noFill/>
          <a:ln w="9525">
            <a:noFill/>
            <a:miter lim="800000"/>
            <a:headEnd/>
            <a:tailEnd/>
          </a:ln>
        </p:spPr>
        <p:txBody>
          <a:bodyPr wrap="none" lIns="0" tIns="0" rIns="0" bIns="0" anchor="ctr">
            <a:spAutoFit/>
          </a:bodyPr>
          <a:lstStyle/>
          <a:p>
            <a:pPr algn="ctr" eaLnBrk="0" fontAlgn="base" hangingPunct="0">
              <a:spcBef>
                <a:spcPct val="0"/>
              </a:spcBef>
              <a:spcAft>
                <a:spcPct val="0"/>
              </a:spcAft>
              <a:defRPr/>
            </a:pPr>
            <a:r>
              <a:rPr lang="en-US" altLang="zh-TW" sz="700" b="0" dirty="0">
                <a:solidFill>
                  <a:srgbClr val="000000"/>
                </a:solidFill>
                <a:latin typeface="Calibri" panose="020F0502020204030204" pitchFamily="34" charset="0"/>
                <a:ea typeface="DFKaiShu-GB5"/>
                <a:cs typeface="Calibri" pitchFamily="34" charset="0"/>
              </a:rPr>
              <a:t>March 2023</a:t>
            </a:r>
          </a:p>
        </p:txBody>
      </p:sp>
      <p:pic>
        <p:nvPicPr>
          <p:cNvPr id="12" name="Picture 170">
            <a:extLst>
              <a:ext uri="{FF2B5EF4-FFF2-40B4-BE49-F238E27FC236}">
                <a16:creationId xmlns:a16="http://schemas.microsoft.com/office/drawing/2014/main" id="{A5B1FAC1-562B-9277-74C4-7DE2261A77D8}"/>
              </a:ext>
            </a:extLst>
          </p:cNvPr>
          <p:cNvPicPr>
            <a:picLocks noChangeAspect="1"/>
          </p:cNvPicPr>
          <p:nvPr/>
        </p:nvPicPr>
        <p:blipFill>
          <a:blip r:embed="rId22"/>
          <a:stretch>
            <a:fillRect/>
          </a:stretch>
        </p:blipFill>
        <p:spPr>
          <a:xfrm>
            <a:off x="6753517" y="4567950"/>
            <a:ext cx="992685" cy="311295"/>
          </a:xfrm>
          <a:prstGeom prst="rect">
            <a:avLst/>
          </a:prstGeom>
        </p:spPr>
      </p:pic>
      <p:sp>
        <p:nvSpPr>
          <p:cNvPr id="31" name="Rectangle 406">
            <a:extLst>
              <a:ext uri="{FF2B5EF4-FFF2-40B4-BE49-F238E27FC236}">
                <a16:creationId xmlns:a16="http://schemas.microsoft.com/office/drawing/2014/main" id="{61C1D385-23E1-D048-7A5F-314D6F5641A6}"/>
              </a:ext>
            </a:extLst>
          </p:cNvPr>
          <p:cNvSpPr>
            <a:spLocks noChangeArrowheads="1"/>
          </p:cNvSpPr>
          <p:nvPr/>
        </p:nvSpPr>
        <p:spPr bwMode="auto">
          <a:xfrm>
            <a:off x="7840786" y="4483354"/>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b="0" kern="0" dirty="0">
              <a:solidFill>
                <a:prstClr val="black"/>
              </a:solidFill>
              <a:latin typeface="Calibri" panose="020F0502020204030204" pitchFamily="34" charset="0"/>
              <a:ea typeface="DFKaiShu-GB5"/>
              <a:cs typeface="Calibri" panose="020F0502020204030204" pitchFamily="34" charset="0"/>
            </a:endParaRPr>
          </a:p>
        </p:txBody>
      </p:sp>
      <p:sp>
        <p:nvSpPr>
          <p:cNvPr id="37" name="Rectangle 408">
            <a:extLst>
              <a:ext uri="{FF2B5EF4-FFF2-40B4-BE49-F238E27FC236}">
                <a16:creationId xmlns:a16="http://schemas.microsoft.com/office/drawing/2014/main" id="{EC41ABC1-9F8B-6BB3-50BD-2147DD1EEC82}"/>
              </a:ext>
            </a:extLst>
          </p:cNvPr>
          <p:cNvSpPr>
            <a:spLocks noChangeArrowheads="1"/>
          </p:cNvSpPr>
          <p:nvPr/>
        </p:nvSpPr>
        <p:spPr bwMode="auto">
          <a:xfrm>
            <a:off x="7849500" y="5229862"/>
            <a:ext cx="1060704" cy="48474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dirty="0">
                <a:solidFill>
                  <a:srgbClr val="000000"/>
                </a:solidFill>
                <a:latin typeface="Calibri" panose="020F0502020204030204" pitchFamily="34" charset="0"/>
                <a:ea typeface="DFKaiShu-GB5"/>
                <a:cs typeface="DFPKaiShu-GB5" panose="03000500000000000000" pitchFamily="66" charset="-128"/>
              </a:rPr>
              <a:t>Joint Sponsor, Joint Overall Coordinator, Joint Global Coordinator, Joint Bookrunner and Joint Lead Manager</a:t>
            </a:r>
          </a:p>
        </p:txBody>
      </p:sp>
      <p:sp>
        <p:nvSpPr>
          <p:cNvPr id="38" name="Rectangle 409">
            <a:extLst>
              <a:ext uri="{FF2B5EF4-FFF2-40B4-BE49-F238E27FC236}">
                <a16:creationId xmlns:a16="http://schemas.microsoft.com/office/drawing/2014/main" id="{62EF7897-18F2-AFE5-3727-9DF8CF905765}"/>
              </a:ext>
            </a:extLst>
          </p:cNvPr>
          <p:cNvSpPr>
            <a:spLocks noChangeArrowheads="1"/>
          </p:cNvSpPr>
          <p:nvPr/>
        </p:nvSpPr>
        <p:spPr bwMode="auto">
          <a:xfrm>
            <a:off x="7849500" y="4985553"/>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US$25.2m</a:t>
            </a:r>
          </a:p>
          <a:p>
            <a:pPr algn="ctr">
              <a:spcBef>
                <a:spcPct val="0"/>
              </a:spcBef>
              <a:defRPr/>
            </a:pPr>
            <a:r>
              <a:rPr lang="en-US" altLang="zh-CN" sz="700" dirty="0">
                <a:solidFill>
                  <a:srgbClr val="000000"/>
                </a:solidFill>
                <a:latin typeface="Calibri" panose="020F0502020204030204" pitchFamily="34" charset="0"/>
                <a:ea typeface="DFKaiShu-GB5"/>
                <a:cs typeface="DFPKaiShu-GB5" panose="03000500000000000000" pitchFamily="66" charset="-128"/>
              </a:rPr>
              <a:t>IPO</a:t>
            </a:r>
          </a:p>
        </p:txBody>
      </p:sp>
      <p:pic>
        <p:nvPicPr>
          <p:cNvPr id="39" name="Picture 164">
            <a:extLst>
              <a:ext uri="{FF2B5EF4-FFF2-40B4-BE49-F238E27FC236}">
                <a16:creationId xmlns:a16="http://schemas.microsoft.com/office/drawing/2014/main" id="{3B5838E9-1934-FC74-25BA-092635C47446}"/>
              </a:ext>
            </a:extLst>
          </p:cNvPr>
          <p:cNvPicPr>
            <a:picLocks noChangeAspect="1"/>
          </p:cNvPicPr>
          <p:nvPr/>
        </p:nvPicPr>
        <p:blipFill>
          <a:blip r:embed="rId23"/>
          <a:stretch>
            <a:fillRect/>
          </a:stretch>
        </p:blipFill>
        <p:spPr>
          <a:xfrm>
            <a:off x="7968372" y="4578369"/>
            <a:ext cx="822960" cy="290456"/>
          </a:xfrm>
          <a:prstGeom prst="rect">
            <a:avLst/>
          </a:prstGeom>
        </p:spPr>
      </p:pic>
      <p:sp>
        <p:nvSpPr>
          <p:cNvPr id="40" name="Rectangle 412">
            <a:extLst>
              <a:ext uri="{FF2B5EF4-FFF2-40B4-BE49-F238E27FC236}">
                <a16:creationId xmlns:a16="http://schemas.microsoft.com/office/drawing/2014/main" id="{9D9A5B9E-D394-8A89-9E43-4E2D92459586}"/>
              </a:ext>
            </a:extLst>
          </p:cNvPr>
          <p:cNvSpPr>
            <a:spLocks noChangeArrowheads="1"/>
          </p:cNvSpPr>
          <p:nvPr/>
        </p:nvSpPr>
        <p:spPr bwMode="auto">
          <a:xfrm>
            <a:off x="8090511" y="5752844"/>
            <a:ext cx="578685" cy="107722"/>
          </a:xfrm>
          <a:prstGeom prst="rect">
            <a:avLst/>
          </a:prstGeom>
          <a:noFill/>
          <a:ln w="9525">
            <a:noFill/>
            <a:miter lim="800000"/>
            <a:headEnd/>
            <a:tailEnd/>
          </a:ln>
        </p:spPr>
        <p:txBody>
          <a:bodyPr wrap="none" lIns="0" tIns="0" rIns="0" bIns="0" anchor="ctr">
            <a:spAutoFit/>
          </a:bodyPr>
          <a:lstStyle/>
          <a:p>
            <a:pPr algn="ctr" eaLnBrk="0" fontAlgn="base" hangingPunct="0">
              <a:spcBef>
                <a:spcPct val="0"/>
              </a:spcBef>
              <a:spcAft>
                <a:spcPct val="0"/>
              </a:spcAft>
              <a:defRPr/>
            </a:pPr>
            <a:r>
              <a:rPr lang="en-US" altLang="zh-TW" sz="700" b="0" dirty="0">
                <a:solidFill>
                  <a:srgbClr val="000000"/>
                </a:solidFill>
                <a:latin typeface="Calibri" panose="020F0502020204030204" pitchFamily="34" charset="0"/>
                <a:ea typeface="DFKaiShu-GB5"/>
                <a:cs typeface="Calibri" pitchFamily="34" charset="0"/>
              </a:rPr>
              <a:t>December 2022</a:t>
            </a:r>
          </a:p>
        </p:txBody>
      </p:sp>
    </p:spTree>
    <p:extLst>
      <p:ext uri="{BB962C8B-B14F-4D97-AF65-F5344CB8AC3E}">
        <p14:creationId xmlns:p14="http://schemas.microsoft.com/office/powerpoint/2010/main" val="2754615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7FBFE36-E93A-ADAC-2841-F0E6BE251025}"/>
              </a:ext>
            </a:extLst>
          </p:cNvPr>
          <p:cNvSpPr>
            <a:spLocks noGrp="1"/>
          </p:cNvSpPr>
          <p:nvPr>
            <p:ph type="title"/>
          </p:nvPr>
        </p:nvSpPr>
        <p:spPr/>
        <p:txBody>
          <a:bodyPr/>
          <a:lstStyle/>
          <a:p>
            <a:r>
              <a:rPr lang="en-US" sz="2000" dirty="0"/>
              <a:t>Selected Southeast Asia ECM Transactions</a:t>
            </a:r>
          </a:p>
        </p:txBody>
      </p:sp>
      <p:sp>
        <p:nvSpPr>
          <p:cNvPr id="2" name="Rectangle 1">
            <a:extLst>
              <a:ext uri="{FF2B5EF4-FFF2-40B4-BE49-F238E27FC236}">
                <a16:creationId xmlns:a16="http://schemas.microsoft.com/office/drawing/2014/main" id="{F6F970C2-E40B-E69C-B9A8-FB10C4317B83}"/>
              </a:ext>
            </a:extLst>
          </p:cNvPr>
          <p:cNvSpPr/>
          <p:nvPr/>
        </p:nvSpPr>
        <p:spPr bwMode="auto">
          <a:xfrm>
            <a:off x="7959786" y="1032103"/>
            <a:ext cx="946236" cy="246888"/>
          </a:xfrm>
          <a:prstGeom prst="rect">
            <a:avLst/>
          </a:prstGeom>
          <a:gradFill rotWithShape="1">
            <a:gsLst>
              <a:gs pos="0">
                <a:srgbClr val="760000"/>
              </a:gs>
              <a:gs pos="45000">
                <a:srgbClr val="AB0000"/>
              </a:gs>
              <a:gs pos="100000">
                <a:srgbClr val="CC0000"/>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p>
            <a:pPr algn="ctr" eaLnBrk="0" hangingPunct="0">
              <a:spcBef>
                <a:spcPts val="0"/>
              </a:spcBef>
              <a:defRPr/>
            </a:pPr>
            <a:r>
              <a:rPr lang="en-US" altLang="zh-TW" sz="1050" kern="0">
                <a:solidFill>
                  <a:srgbClr val="FFFFFF"/>
                </a:solidFill>
                <a:latin typeface="Calibri"/>
                <a:ea typeface="DFKaiShu-GB5"/>
                <a:cs typeface="+mn-cs"/>
              </a:rPr>
              <a:t>Advisor</a:t>
            </a:r>
            <a:r>
              <a:rPr lang="en-US" altLang="zh-CN" sz="1050" kern="0">
                <a:solidFill>
                  <a:srgbClr val="FFFFFF"/>
                </a:solidFill>
                <a:latin typeface="Calibri"/>
                <a:ea typeface="DFKaiShu-GB5"/>
                <a:cs typeface="+mn-cs"/>
              </a:rPr>
              <a:t>y/</a:t>
            </a:r>
            <a:r>
              <a:rPr lang="en-US" altLang="zh-TW" sz="1050" kern="0">
                <a:solidFill>
                  <a:srgbClr val="FFFFFF"/>
                </a:solidFill>
                <a:latin typeface="Calibri"/>
                <a:ea typeface="DFKaiShu-GB5"/>
                <a:cs typeface="+mn-cs"/>
              </a:rPr>
              <a:t>Others</a:t>
            </a:r>
            <a:endParaRPr lang="en-US" altLang="en-US" sz="1050" kern="0">
              <a:solidFill>
                <a:srgbClr val="FFFFFF"/>
              </a:solidFill>
              <a:latin typeface="Calibri"/>
              <a:ea typeface="DFKaiShu-GB5"/>
              <a:cs typeface="+mn-cs"/>
            </a:endParaRPr>
          </a:p>
        </p:txBody>
      </p:sp>
      <p:sp>
        <p:nvSpPr>
          <p:cNvPr id="4" name="Rectangle 3">
            <a:extLst>
              <a:ext uri="{FF2B5EF4-FFF2-40B4-BE49-F238E27FC236}">
                <a16:creationId xmlns:a16="http://schemas.microsoft.com/office/drawing/2014/main" id="{BF9F2C56-5326-2D61-A721-6673A60AA3F4}"/>
              </a:ext>
            </a:extLst>
          </p:cNvPr>
          <p:cNvSpPr/>
          <p:nvPr/>
        </p:nvSpPr>
        <p:spPr bwMode="auto">
          <a:xfrm>
            <a:off x="1042988" y="1032103"/>
            <a:ext cx="2898648" cy="246888"/>
          </a:xfrm>
          <a:prstGeom prst="rect">
            <a:avLst/>
          </a:prstGeom>
          <a:gradFill rotWithShape="1">
            <a:gsLst>
              <a:gs pos="0">
                <a:srgbClr val="760000"/>
              </a:gs>
              <a:gs pos="45000">
                <a:srgbClr val="AB0000"/>
              </a:gs>
              <a:gs pos="100000">
                <a:srgbClr val="CC0000"/>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p>
            <a:pPr algn="ctr" eaLnBrk="0" hangingPunct="0">
              <a:spcBef>
                <a:spcPts val="0"/>
              </a:spcBef>
              <a:defRPr/>
            </a:pPr>
            <a:r>
              <a:rPr lang="en-US" altLang="en-US" sz="1050" kern="0" dirty="0">
                <a:solidFill>
                  <a:srgbClr val="FFFFFF"/>
                </a:solidFill>
                <a:latin typeface="Calibri"/>
                <a:ea typeface="DFKaiShu-GB5"/>
                <a:cs typeface="+mn-cs"/>
              </a:rPr>
              <a:t>IPO</a:t>
            </a:r>
          </a:p>
        </p:txBody>
      </p:sp>
      <p:sp>
        <p:nvSpPr>
          <p:cNvPr id="5" name="Rectangle 4">
            <a:extLst>
              <a:ext uri="{FF2B5EF4-FFF2-40B4-BE49-F238E27FC236}">
                <a16:creationId xmlns:a16="http://schemas.microsoft.com/office/drawing/2014/main" id="{370EF8A8-650D-FC1A-9D33-A2EFBBE15699}"/>
              </a:ext>
            </a:extLst>
          </p:cNvPr>
          <p:cNvSpPr/>
          <p:nvPr/>
        </p:nvSpPr>
        <p:spPr bwMode="auto">
          <a:xfrm>
            <a:off x="3999165" y="1027761"/>
            <a:ext cx="3916700" cy="246888"/>
          </a:xfrm>
          <a:prstGeom prst="rect">
            <a:avLst/>
          </a:prstGeom>
          <a:gradFill rotWithShape="1">
            <a:gsLst>
              <a:gs pos="0">
                <a:srgbClr val="760000"/>
              </a:gs>
              <a:gs pos="45000">
                <a:srgbClr val="AB0000"/>
              </a:gs>
              <a:gs pos="100000">
                <a:srgbClr val="CC0000"/>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p>
            <a:pPr algn="ctr" eaLnBrk="0" hangingPunct="0">
              <a:spcBef>
                <a:spcPts val="0"/>
              </a:spcBef>
              <a:defRPr/>
            </a:pPr>
            <a:r>
              <a:rPr lang="en-US" altLang="zh-TW" sz="1050" kern="0">
                <a:solidFill>
                  <a:srgbClr val="FFFFFF"/>
                </a:solidFill>
                <a:latin typeface="Calibri"/>
                <a:ea typeface="DFKaiShu-GB5"/>
                <a:cs typeface="+mn-cs"/>
              </a:rPr>
              <a:t>Rights Issue/Placement</a:t>
            </a:r>
            <a:endParaRPr lang="en-US" altLang="en-US" sz="1050" kern="0">
              <a:solidFill>
                <a:srgbClr val="FFFFFF"/>
              </a:solidFill>
              <a:latin typeface="Calibri"/>
              <a:ea typeface="DFKaiShu-GB5"/>
              <a:cs typeface="+mn-cs"/>
            </a:endParaRPr>
          </a:p>
        </p:txBody>
      </p:sp>
      <p:sp>
        <p:nvSpPr>
          <p:cNvPr id="60" name="Rectangle 174">
            <a:extLst>
              <a:ext uri="{FF2B5EF4-FFF2-40B4-BE49-F238E27FC236}">
                <a16:creationId xmlns:a16="http://schemas.microsoft.com/office/drawing/2014/main" id="{BC2AEE82-70E7-9211-C980-96B4D294740E}"/>
              </a:ext>
            </a:extLst>
          </p:cNvPr>
          <p:cNvSpPr>
            <a:spLocks noChangeArrowheads="1"/>
          </p:cNvSpPr>
          <p:nvPr/>
        </p:nvSpPr>
        <p:spPr bwMode="auto">
          <a:xfrm>
            <a:off x="2026714" y="4961198"/>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61" name="Rectangle 176">
            <a:extLst>
              <a:ext uri="{FF2B5EF4-FFF2-40B4-BE49-F238E27FC236}">
                <a16:creationId xmlns:a16="http://schemas.microsoft.com/office/drawing/2014/main" id="{861BBEB8-D2D3-F0A6-5D5D-C06E1D8F7FA3}"/>
              </a:ext>
            </a:extLst>
          </p:cNvPr>
          <p:cNvSpPr>
            <a:spLocks noChangeArrowheads="1"/>
          </p:cNvSpPr>
          <p:nvPr/>
        </p:nvSpPr>
        <p:spPr bwMode="auto">
          <a:xfrm>
            <a:off x="2026714" y="5684604"/>
            <a:ext cx="914400" cy="83100"/>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a:solidFill>
                  <a:srgbClr val="000000"/>
                </a:solidFill>
                <a:latin typeface="+mj-lt"/>
                <a:ea typeface="DFKaiShu-GB5"/>
                <a:cs typeface="Calibri" panose="020F0502020204030204" pitchFamily="34" charset="0"/>
              </a:rPr>
              <a:t>Joint Lead Underwriter</a:t>
            </a:r>
            <a:endParaRPr lang="zh-CN" altLang="en-US" sz="600" b="0">
              <a:solidFill>
                <a:srgbClr val="000000"/>
              </a:solidFill>
              <a:latin typeface="+mj-lt"/>
              <a:ea typeface="DFKaiShu-GB5"/>
              <a:cs typeface="Calibri" panose="020F0502020204030204" pitchFamily="34" charset="0"/>
            </a:endParaRPr>
          </a:p>
        </p:txBody>
      </p:sp>
      <p:sp>
        <p:nvSpPr>
          <p:cNvPr id="62" name="Rectangle 177">
            <a:extLst>
              <a:ext uri="{FF2B5EF4-FFF2-40B4-BE49-F238E27FC236}">
                <a16:creationId xmlns:a16="http://schemas.microsoft.com/office/drawing/2014/main" id="{945379A4-28F3-51E6-C01E-585A0BD96FAD}"/>
              </a:ext>
            </a:extLst>
          </p:cNvPr>
          <p:cNvSpPr>
            <a:spLocks noChangeArrowheads="1"/>
          </p:cNvSpPr>
          <p:nvPr/>
        </p:nvSpPr>
        <p:spPr bwMode="auto">
          <a:xfrm>
            <a:off x="2026714" y="5362957"/>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US$31.8m</a:t>
            </a:r>
            <a:endParaRPr lang="en-US" altLang="zh-CN" sz="600" dirty="0">
              <a:solidFill>
                <a:srgbClr val="000000"/>
              </a:solidFill>
              <a:latin typeface="+mj-lt"/>
              <a:ea typeface="DFKaiShu-GB5"/>
              <a:cs typeface="DFKaiShu-GB5" panose="03000509000000000000" pitchFamily="65" charset="-128"/>
            </a:endParaRPr>
          </a:p>
          <a:p>
            <a:pPr algn="ctr" eaLnBrk="0" hangingPunct="0">
              <a:spcBef>
                <a:spcPts val="0"/>
              </a:spcBef>
              <a:defRPr/>
            </a:pPr>
            <a:r>
              <a:rPr lang="en-US" altLang="zh-CN" sz="600" dirty="0">
                <a:solidFill>
                  <a:srgbClr val="000000"/>
                </a:solidFill>
                <a:latin typeface="+mj-lt"/>
                <a:ea typeface="DFKaiShu-GB5"/>
                <a:cs typeface="DFKaiShu-GB5" panose="03000509000000000000" pitchFamily="65" charset="-128"/>
              </a:rPr>
              <a:t>TH IPO</a:t>
            </a:r>
            <a:endParaRPr lang="en-US" altLang="zh-TW" sz="600" dirty="0">
              <a:solidFill>
                <a:srgbClr val="000000"/>
              </a:solidFill>
              <a:latin typeface="+mj-lt"/>
              <a:ea typeface="DFKaiShu-GB5"/>
              <a:cs typeface="DFKaiShu-GB5" panose="03000509000000000000" pitchFamily="65" charset="-128"/>
            </a:endParaRPr>
          </a:p>
        </p:txBody>
      </p:sp>
      <p:sp>
        <p:nvSpPr>
          <p:cNvPr id="63" name="Rectangle 180">
            <a:extLst>
              <a:ext uri="{FF2B5EF4-FFF2-40B4-BE49-F238E27FC236}">
                <a16:creationId xmlns:a16="http://schemas.microsoft.com/office/drawing/2014/main" id="{3401761C-A861-51C5-25BD-EF60EF922C67}"/>
              </a:ext>
            </a:extLst>
          </p:cNvPr>
          <p:cNvSpPr>
            <a:spLocks noChangeArrowheads="1"/>
          </p:cNvSpPr>
          <p:nvPr/>
        </p:nvSpPr>
        <p:spPr bwMode="auto">
          <a:xfrm>
            <a:off x="2026714" y="5938297"/>
            <a:ext cx="914400" cy="92513"/>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September 2022</a:t>
            </a:r>
            <a:endParaRPr lang="zh-TW" altLang="en-US" sz="600" b="0" dirty="0">
              <a:solidFill>
                <a:srgbClr val="000000"/>
              </a:solidFill>
              <a:latin typeface="+mj-lt"/>
              <a:ea typeface="DFKaiShu-GB5"/>
              <a:cs typeface="Calibri" panose="020F0502020204030204" pitchFamily="34" charset="0"/>
            </a:endParaRPr>
          </a:p>
        </p:txBody>
      </p:sp>
      <p:pic>
        <p:nvPicPr>
          <p:cNvPr id="2242" name="Picture 2241">
            <a:extLst>
              <a:ext uri="{FF2B5EF4-FFF2-40B4-BE49-F238E27FC236}">
                <a16:creationId xmlns:a16="http://schemas.microsoft.com/office/drawing/2014/main" id="{37A25476-27FE-18AC-9BF5-308B2F4E3097}"/>
              </a:ext>
            </a:extLst>
          </p:cNvPr>
          <p:cNvPicPr>
            <a:picLocks noChangeAspect="1"/>
          </p:cNvPicPr>
          <p:nvPr/>
        </p:nvPicPr>
        <p:blipFill>
          <a:blip r:embed="rId2"/>
          <a:stretch>
            <a:fillRect/>
          </a:stretch>
        </p:blipFill>
        <p:spPr>
          <a:xfrm>
            <a:off x="2242792" y="5021723"/>
            <a:ext cx="482247" cy="342802"/>
          </a:xfrm>
          <a:prstGeom prst="rect">
            <a:avLst/>
          </a:prstGeom>
        </p:spPr>
      </p:pic>
      <p:sp>
        <p:nvSpPr>
          <p:cNvPr id="2248" name="Rectangle 174">
            <a:extLst>
              <a:ext uri="{FF2B5EF4-FFF2-40B4-BE49-F238E27FC236}">
                <a16:creationId xmlns:a16="http://schemas.microsoft.com/office/drawing/2014/main" id="{C3EC231A-F62F-E906-5544-8BEF2448CAD2}"/>
              </a:ext>
            </a:extLst>
          </p:cNvPr>
          <p:cNvSpPr>
            <a:spLocks noChangeArrowheads="1"/>
          </p:cNvSpPr>
          <p:nvPr/>
        </p:nvSpPr>
        <p:spPr bwMode="auto">
          <a:xfrm>
            <a:off x="3023298" y="4961198"/>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2249" name="Rectangle 176">
            <a:extLst>
              <a:ext uri="{FF2B5EF4-FFF2-40B4-BE49-F238E27FC236}">
                <a16:creationId xmlns:a16="http://schemas.microsoft.com/office/drawing/2014/main" id="{665975F1-12BC-27A2-580D-E4C598413BC1}"/>
              </a:ext>
            </a:extLst>
          </p:cNvPr>
          <p:cNvSpPr>
            <a:spLocks noChangeArrowheads="1"/>
          </p:cNvSpPr>
          <p:nvPr/>
        </p:nvSpPr>
        <p:spPr bwMode="auto">
          <a:xfrm>
            <a:off x="3023298" y="5601506"/>
            <a:ext cx="914400" cy="332399"/>
          </a:xfrm>
          <a:prstGeom prst="rect">
            <a:avLst/>
          </a:prstGeom>
          <a:noFill/>
          <a:ln w="9525">
            <a:noFill/>
            <a:miter lim="800000"/>
            <a:headEnd/>
            <a:tailEnd/>
          </a:ln>
        </p:spPr>
        <p:txBody>
          <a:bodyPr wrap="square" lIns="0" tIns="0" rIns="0" bIns="0" anchor="t" anchorCtr="0">
            <a:spAutoFit/>
          </a:bodyPr>
          <a:lstStyle/>
          <a:p>
            <a:pPr algn="ctr" fontAlgn="auto">
              <a:lnSpc>
                <a:spcPct val="90000"/>
              </a:lnSpc>
              <a:spcBef>
                <a:spcPts val="0"/>
              </a:spcBef>
              <a:spcAft>
                <a:spcPts val="0"/>
              </a:spcAft>
              <a:buClr>
                <a:srgbClr val="BE050A"/>
              </a:buClr>
              <a:defRPr/>
            </a:pPr>
            <a:r>
              <a:rPr lang="en-US" altLang="zh-CN" sz="600" b="0">
                <a:solidFill>
                  <a:srgbClr val="000000"/>
                </a:solidFill>
                <a:latin typeface="+mj-lt"/>
                <a:ea typeface="DFKaiShu-GB5"/>
                <a:cs typeface="Calibri" panose="020F0502020204030204" pitchFamily="34" charset="0"/>
              </a:rPr>
              <a:t>Joint Issue Manager, Joint Global Coordinator, Joint Bookrunner and Underwriter</a:t>
            </a:r>
            <a:endParaRPr lang="zh-CN" altLang="en-US" sz="600" b="0">
              <a:solidFill>
                <a:srgbClr val="000000"/>
              </a:solidFill>
              <a:latin typeface="+mj-lt"/>
              <a:ea typeface="DFKaiShu-GB5"/>
              <a:cs typeface="Calibri" panose="020F0502020204030204" pitchFamily="34" charset="0"/>
            </a:endParaRPr>
          </a:p>
        </p:txBody>
      </p:sp>
      <p:sp>
        <p:nvSpPr>
          <p:cNvPr id="2250" name="Rectangle 177">
            <a:extLst>
              <a:ext uri="{FF2B5EF4-FFF2-40B4-BE49-F238E27FC236}">
                <a16:creationId xmlns:a16="http://schemas.microsoft.com/office/drawing/2014/main" id="{31E97E71-F0A9-4921-4784-41030C6B89B7}"/>
              </a:ext>
            </a:extLst>
          </p:cNvPr>
          <p:cNvSpPr>
            <a:spLocks noChangeArrowheads="1"/>
          </p:cNvSpPr>
          <p:nvPr/>
        </p:nvSpPr>
        <p:spPr bwMode="auto">
          <a:xfrm>
            <a:off x="3023298" y="5357219"/>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Us$120m</a:t>
            </a:r>
            <a:endParaRPr lang="en-US" altLang="zh-CN" sz="600" dirty="0">
              <a:solidFill>
                <a:srgbClr val="000000"/>
              </a:solidFill>
              <a:latin typeface="+mj-lt"/>
              <a:ea typeface="DFKaiShu-GB5"/>
              <a:cs typeface="DFKaiShu-GB5" panose="03000509000000000000" pitchFamily="65" charset="-128"/>
            </a:endParaRPr>
          </a:p>
          <a:p>
            <a:pPr algn="ctr" eaLnBrk="0" hangingPunct="0">
              <a:spcBef>
                <a:spcPts val="0"/>
              </a:spcBef>
              <a:defRPr/>
            </a:pPr>
            <a:r>
              <a:rPr lang="en-US" altLang="zh-CN" sz="600" dirty="0">
                <a:solidFill>
                  <a:srgbClr val="000000"/>
                </a:solidFill>
                <a:latin typeface="+mj-lt"/>
                <a:ea typeface="DFKaiShu-GB5"/>
                <a:cs typeface="DFKaiShu-GB5" panose="03000509000000000000" pitchFamily="65" charset="-128"/>
              </a:rPr>
              <a:t>SG SPAC</a:t>
            </a:r>
            <a:endParaRPr lang="en-US" altLang="zh-TW" sz="600" dirty="0">
              <a:solidFill>
                <a:srgbClr val="000000"/>
              </a:solidFill>
              <a:latin typeface="+mj-lt"/>
              <a:ea typeface="DFKaiShu-GB5"/>
              <a:cs typeface="DFKaiShu-GB5" panose="03000509000000000000" pitchFamily="65" charset="-128"/>
            </a:endParaRPr>
          </a:p>
        </p:txBody>
      </p:sp>
      <p:sp>
        <p:nvSpPr>
          <p:cNvPr id="2251" name="Rectangle 180">
            <a:extLst>
              <a:ext uri="{FF2B5EF4-FFF2-40B4-BE49-F238E27FC236}">
                <a16:creationId xmlns:a16="http://schemas.microsoft.com/office/drawing/2014/main" id="{AC8AC327-1C41-7273-06A7-5191051983C6}"/>
              </a:ext>
            </a:extLst>
          </p:cNvPr>
          <p:cNvSpPr>
            <a:spLocks noChangeArrowheads="1"/>
          </p:cNvSpPr>
          <p:nvPr/>
        </p:nvSpPr>
        <p:spPr bwMode="auto">
          <a:xfrm>
            <a:off x="3023298" y="5938401"/>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January 2022</a:t>
            </a:r>
            <a:endParaRPr lang="zh-TW" altLang="en-US" sz="600" b="0" dirty="0">
              <a:solidFill>
                <a:srgbClr val="000000"/>
              </a:solidFill>
              <a:latin typeface="+mj-lt"/>
              <a:ea typeface="DFKaiShu-GB5"/>
              <a:cs typeface="Calibri" panose="020F0502020204030204" pitchFamily="34" charset="0"/>
            </a:endParaRPr>
          </a:p>
        </p:txBody>
      </p:sp>
      <p:pic>
        <p:nvPicPr>
          <p:cNvPr id="2252" name="Picture 2" descr="Singapore&amp;#39;s Novo Tellus Files for Blank-Check IPO | DealFlow&amp;#39;s SPAC News">
            <a:extLst>
              <a:ext uri="{FF2B5EF4-FFF2-40B4-BE49-F238E27FC236}">
                <a16:creationId xmlns:a16="http://schemas.microsoft.com/office/drawing/2014/main" id="{EB555B43-E05B-7642-4EC5-0683E22ADD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57284" y="5090542"/>
            <a:ext cx="446428" cy="193688"/>
          </a:xfrm>
          <a:prstGeom prst="rect">
            <a:avLst/>
          </a:prstGeom>
          <a:noFill/>
          <a:extLst>
            <a:ext uri="{909E8E84-426E-40DD-AFC4-6F175D3DCCD1}">
              <a14:hiddenFill xmlns:a14="http://schemas.microsoft.com/office/drawing/2010/main">
                <a:solidFill>
                  <a:srgbClr val="FFFFFF"/>
                </a:solidFill>
              </a14:hiddenFill>
            </a:ext>
          </a:extLst>
        </p:spPr>
      </p:pic>
      <p:sp>
        <p:nvSpPr>
          <p:cNvPr id="2253" name="Rectangle 174">
            <a:extLst>
              <a:ext uri="{FF2B5EF4-FFF2-40B4-BE49-F238E27FC236}">
                <a16:creationId xmlns:a16="http://schemas.microsoft.com/office/drawing/2014/main" id="{F1A15531-B181-1D6A-02CC-986D2E052EC4}"/>
              </a:ext>
            </a:extLst>
          </p:cNvPr>
          <p:cNvSpPr>
            <a:spLocks noChangeArrowheads="1"/>
          </p:cNvSpPr>
          <p:nvPr/>
        </p:nvSpPr>
        <p:spPr bwMode="auto">
          <a:xfrm>
            <a:off x="1030129" y="4961198"/>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2254" name="Rectangle 176">
            <a:extLst>
              <a:ext uri="{FF2B5EF4-FFF2-40B4-BE49-F238E27FC236}">
                <a16:creationId xmlns:a16="http://schemas.microsoft.com/office/drawing/2014/main" id="{84DA5F9F-3CD0-48D2-A769-B66F1178A26F}"/>
              </a:ext>
            </a:extLst>
          </p:cNvPr>
          <p:cNvSpPr>
            <a:spLocks noChangeArrowheads="1"/>
          </p:cNvSpPr>
          <p:nvPr/>
        </p:nvSpPr>
        <p:spPr bwMode="auto">
          <a:xfrm>
            <a:off x="1030129" y="5643056"/>
            <a:ext cx="914400" cy="166199"/>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dirty="0">
                <a:solidFill>
                  <a:srgbClr val="000000"/>
                </a:solidFill>
                <a:latin typeface="+mj-lt"/>
                <a:ea typeface="DFKaiShu-GB5"/>
                <a:cs typeface="Calibri" panose="020F0502020204030204" pitchFamily="34" charset="0"/>
              </a:rPr>
              <a:t>Joint Bookrunner and Underwriter</a:t>
            </a:r>
            <a:endParaRPr lang="zh-CN" altLang="en-US" sz="600" b="0" dirty="0">
              <a:solidFill>
                <a:srgbClr val="000000"/>
              </a:solidFill>
              <a:latin typeface="+mj-lt"/>
              <a:ea typeface="DFKaiShu-GB5"/>
              <a:cs typeface="Calibri" panose="020F0502020204030204" pitchFamily="34" charset="0"/>
            </a:endParaRPr>
          </a:p>
        </p:txBody>
      </p:sp>
      <p:sp>
        <p:nvSpPr>
          <p:cNvPr id="2255" name="Rectangle 177">
            <a:extLst>
              <a:ext uri="{FF2B5EF4-FFF2-40B4-BE49-F238E27FC236}">
                <a16:creationId xmlns:a16="http://schemas.microsoft.com/office/drawing/2014/main" id="{6CD93552-CFA7-E75E-FC6C-EDA0E7DAF1F0}"/>
              </a:ext>
            </a:extLst>
          </p:cNvPr>
          <p:cNvSpPr>
            <a:spLocks noChangeArrowheads="1"/>
          </p:cNvSpPr>
          <p:nvPr/>
        </p:nvSpPr>
        <p:spPr bwMode="auto">
          <a:xfrm>
            <a:off x="1030129" y="5307969"/>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US$510m</a:t>
            </a:r>
            <a:endParaRPr lang="en-US" altLang="zh-CN" sz="600" dirty="0">
              <a:solidFill>
                <a:srgbClr val="000000"/>
              </a:solidFill>
              <a:latin typeface="+mj-lt"/>
              <a:ea typeface="DFKaiShu-GB5"/>
              <a:cs typeface="DFKaiShu-GB5" panose="03000509000000000000" pitchFamily="65" charset="-128"/>
            </a:endParaRPr>
          </a:p>
          <a:p>
            <a:pPr algn="ctr" eaLnBrk="0" hangingPunct="0">
              <a:spcBef>
                <a:spcPts val="0"/>
              </a:spcBef>
              <a:defRPr/>
            </a:pPr>
            <a:r>
              <a:rPr lang="en-US" altLang="zh-CN" sz="600" dirty="0">
                <a:solidFill>
                  <a:srgbClr val="000000"/>
                </a:solidFill>
                <a:latin typeface="+mj-lt"/>
                <a:ea typeface="DFKaiShu-GB5"/>
                <a:cs typeface="DFKaiShu-GB5" panose="03000509000000000000" pitchFamily="65" charset="-128"/>
              </a:rPr>
              <a:t>IN IPO</a:t>
            </a:r>
            <a:endParaRPr lang="en-US" altLang="zh-TW" sz="600" dirty="0">
              <a:solidFill>
                <a:srgbClr val="000000"/>
              </a:solidFill>
              <a:latin typeface="+mj-lt"/>
              <a:ea typeface="DFKaiShu-GB5"/>
              <a:cs typeface="DFKaiShu-GB5" panose="03000509000000000000" pitchFamily="65" charset="-128"/>
            </a:endParaRPr>
          </a:p>
        </p:txBody>
      </p:sp>
      <p:sp>
        <p:nvSpPr>
          <p:cNvPr id="2256" name="Rectangle 180">
            <a:extLst>
              <a:ext uri="{FF2B5EF4-FFF2-40B4-BE49-F238E27FC236}">
                <a16:creationId xmlns:a16="http://schemas.microsoft.com/office/drawing/2014/main" id="{C45C1372-0C43-5BB8-2F3D-2F2616058998}"/>
              </a:ext>
            </a:extLst>
          </p:cNvPr>
          <p:cNvSpPr>
            <a:spLocks noChangeArrowheads="1"/>
          </p:cNvSpPr>
          <p:nvPr/>
        </p:nvSpPr>
        <p:spPr bwMode="auto">
          <a:xfrm>
            <a:off x="1030129" y="5957292"/>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November 2022</a:t>
            </a:r>
            <a:endParaRPr lang="zh-TW" altLang="en-US" sz="600" b="0" dirty="0">
              <a:solidFill>
                <a:srgbClr val="000000"/>
              </a:solidFill>
              <a:latin typeface="+mj-lt"/>
              <a:ea typeface="DFKaiShu-GB5"/>
              <a:cs typeface="Calibri" panose="020F0502020204030204" pitchFamily="34" charset="0"/>
            </a:endParaRPr>
          </a:p>
        </p:txBody>
      </p:sp>
      <p:sp>
        <p:nvSpPr>
          <p:cNvPr id="2257" name="Mainlogo 8">
            <a:extLst>
              <a:ext uri="{FF2B5EF4-FFF2-40B4-BE49-F238E27FC236}">
                <a16:creationId xmlns:a16="http://schemas.microsoft.com/office/drawing/2014/main" id="{FBC8425C-C31E-F1C4-554C-2CA3B3368CCF}"/>
              </a:ext>
            </a:extLst>
          </p:cNvPr>
          <p:cNvSpPr/>
          <p:nvPr/>
        </p:nvSpPr>
        <p:spPr>
          <a:xfrm>
            <a:off x="1132912" y="5027680"/>
            <a:ext cx="708834" cy="241599"/>
          </a:xfrm>
          <a:prstGeom prst="rect">
            <a:avLst/>
          </a:prstGeom>
          <a:blipFill>
            <a:blip r:embed="rId4"/>
            <a:stretch>
              <a:fillRect/>
            </a:stretch>
          </a:blipFill>
          <a:ln w="12700" cap="flat" cmpd="sng" algn="ctr">
            <a:noFill/>
            <a:prstDash val="solid"/>
            <a:miter lim="800000"/>
          </a:ln>
          <a:effectLst/>
        </p:spPr>
        <p:txBody>
          <a:bodyPr rtlCol="0" anchor="ctr"/>
          <a:lstStyle/>
          <a:p>
            <a:pPr algn="ctr" fontAlgn="auto">
              <a:spcBef>
                <a:spcPts val="0"/>
              </a:spcBef>
              <a:spcAft>
                <a:spcPts val="0"/>
              </a:spcAft>
              <a:defRPr/>
            </a:pPr>
            <a:endParaRPr lang="en-US" sz="1600" b="0" kern="0">
              <a:solidFill>
                <a:prstClr val="white"/>
              </a:solidFill>
              <a:latin typeface="+mj-lt"/>
              <a:cs typeface="+mn-cs"/>
            </a:endParaRPr>
          </a:p>
        </p:txBody>
      </p:sp>
      <p:sp>
        <p:nvSpPr>
          <p:cNvPr id="2268" name="Rectangle 174">
            <a:extLst>
              <a:ext uri="{FF2B5EF4-FFF2-40B4-BE49-F238E27FC236}">
                <a16:creationId xmlns:a16="http://schemas.microsoft.com/office/drawing/2014/main" id="{00BC9E47-FCDC-D80D-7E5C-1C18B1005F2C}"/>
              </a:ext>
            </a:extLst>
          </p:cNvPr>
          <p:cNvSpPr>
            <a:spLocks noChangeArrowheads="1"/>
          </p:cNvSpPr>
          <p:nvPr/>
        </p:nvSpPr>
        <p:spPr bwMode="auto">
          <a:xfrm>
            <a:off x="7990943" y="4942333"/>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2269" name="Rectangle 176">
            <a:extLst>
              <a:ext uri="{FF2B5EF4-FFF2-40B4-BE49-F238E27FC236}">
                <a16:creationId xmlns:a16="http://schemas.microsoft.com/office/drawing/2014/main" id="{582B47F0-EE2B-1107-7059-DF3C2557EED2}"/>
              </a:ext>
            </a:extLst>
          </p:cNvPr>
          <p:cNvSpPr>
            <a:spLocks noChangeArrowheads="1"/>
          </p:cNvSpPr>
          <p:nvPr/>
        </p:nvSpPr>
        <p:spPr bwMode="auto">
          <a:xfrm>
            <a:off x="7990943" y="5633821"/>
            <a:ext cx="914400" cy="184666"/>
          </a:xfrm>
          <a:prstGeom prst="rect">
            <a:avLst/>
          </a:prstGeom>
          <a:noFill/>
          <a:ln w="9525">
            <a:noFill/>
            <a:miter lim="800000"/>
            <a:headEnd/>
            <a:tailEnd/>
          </a:ln>
        </p:spPr>
        <p:txBody>
          <a:bodyPr lIns="0" tIns="0" rIns="0" bIns="0" anchor="t" anchorCtr="0">
            <a:spAutoFit/>
          </a:bodyPr>
          <a:lstStyle/>
          <a:p>
            <a:pPr algn="ctr" fontAlgn="auto">
              <a:spcBef>
                <a:spcPts val="0"/>
              </a:spcBef>
              <a:spcAft>
                <a:spcPts val="0"/>
              </a:spcAft>
              <a:defRPr/>
            </a:pPr>
            <a:r>
              <a:rPr lang="en-US" altLang="zh-CN" sz="600" b="0">
                <a:solidFill>
                  <a:srgbClr val="000000"/>
                </a:solidFill>
                <a:latin typeface="+mj-lt"/>
                <a:ea typeface="DFKaiShu-GB5"/>
                <a:cs typeface="+mn-cs"/>
              </a:rPr>
              <a:t>Sole Financial Adviser to FCOT Manager</a:t>
            </a:r>
          </a:p>
        </p:txBody>
      </p:sp>
      <p:sp>
        <p:nvSpPr>
          <p:cNvPr id="2270" name="Rectangle 180">
            <a:extLst>
              <a:ext uri="{FF2B5EF4-FFF2-40B4-BE49-F238E27FC236}">
                <a16:creationId xmlns:a16="http://schemas.microsoft.com/office/drawing/2014/main" id="{0DFFFCBD-D130-8FC9-E954-064BE1B4A2E4}"/>
              </a:ext>
            </a:extLst>
          </p:cNvPr>
          <p:cNvSpPr>
            <a:spLocks noChangeArrowheads="1"/>
          </p:cNvSpPr>
          <p:nvPr/>
        </p:nvSpPr>
        <p:spPr bwMode="auto">
          <a:xfrm>
            <a:off x="7990943" y="5932485"/>
            <a:ext cx="914400" cy="80671"/>
          </a:xfrm>
          <a:prstGeom prst="rect">
            <a:avLst/>
          </a:prstGeom>
          <a:noFill/>
          <a:ln w="9525">
            <a:noFill/>
            <a:miter lim="800000"/>
            <a:headEnd/>
            <a:tailEnd/>
          </a:ln>
        </p:spPr>
        <p:txBody>
          <a:bodyPr wrap="none" lIns="0" tIns="0" rIns="0" bIns="0">
            <a:noAutofit/>
          </a:bodyPr>
          <a:lstStyle/>
          <a:p>
            <a:pPr algn="ctr" fontAlgn="auto">
              <a:lnSpc>
                <a:spcPct val="90000"/>
              </a:lnSpc>
              <a:spcBef>
                <a:spcPts val="0"/>
              </a:spcBef>
              <a:spcAft>
                <a:spcPts val="0"/>
              </a:spcAft>
              <a:defRPr/>
            </a:pPr>
            <a:r>
              <a:rPr lang="en-US" altLang="zh-TW" sz="600" b="0" dirty="0">
                <a:solidFill>
                  <a:srgbClr val="000000"/>
                </a:solidFill>
                <a:latin typeface="+mj-lt"/>
                <a:ea typeface="新細明體" pitchFamily="18" charset="-120"/>
                <a:cs typeface="Calibri" panose="020F0502020204030204" pitchFamily="34" charset="0"/>
              </a:rPr>
              <a:t>April 2020</a:t>
            </a:r>
          </a:p>
        </p:txBody>
      </p:sp>
      <p:sp>
        <p:nvSpPr>
          <p:cNvPr id="2271" name="Rectangle 177">
            <a:extLst>
              <a:ext uri="{FF2B5EF4-FFF2-40B4-BE49-F238E27FC236}">
                <a16:creationId xmlns:a16="http://schemas.microsoft.com/office/drawing/2014/main" id="{DFD3FE6E-A928-D6FA-94BE-79B4C8AE6D66}"/>
              </a:ext>
            </a:extLst>
          </p:cNvPr>
          <p:cNvSpPr>
            <a:spLocks noChangeArrowheads="1"/>
          </p:cNvSpPr>
          <p:nvPr/>
        </p:nvSpPr>
        <p:spPr bwMode="auto">
          <a:xfrm>
            <a:off x="7990943" y="5332364"/>
            <a:ext cx="914400" cy="276999"/>
          </a:xfrm>
          <a:prstGeom prst="rect">
            <a:avLst/>
          </a:prstGeom>
          <a:noFill/>
          <a:ln w="9525">
            <a:noFill/>
            <a:miter lim="800000"/>
            <a:headEnd/>
            <a:tailEnd/>
          </a:ln>
        </p:spPr>
        <p:txBody>
          <a:bodyPr wrap="square" lIns="0" tIns="0" rIns="0" bIns="0">
            <a:spAutoFit/>
          </a:bodyPr>
          <a:lstStyle/>
          <a:p>
            <a:pPr algn="ctr" eaLnBrk="0" hangingPunct="0">
              <a:spcBef>
                <a:spcPts val="0"/>
              </a:spcBef>
              <a:defRPr/>
            </a:pPr>
            <a:r>
              <a:rPr lang="en-US" altLang="zh-TW" sz="600" dirty="0">
                <a:solidFill>
                  <a:srgbClr val="000000"/>
                </a:solidFill>
                <a:latin typeface="+mj-lt"/>
                <a:ea typeface="DFKaiShu-GB5"/>
                <a:cs typeface="+mn-cs"/>
              </a:rPr>
              <a:t>US$535bn transaction value</a:t>
            </a:r>
          </a:p>
          <a:p>
            <a:pPr algn="ctr" eaLnBrk="0" hangingPunct="0">
              <a:spcBef>
                <a:spcPts val="0"/>
              </a:spcBef>
              <a:defRPr/>
            </a:pPr>
            <a:r>
              <a:rPr lang="en-US" altLang="zh-TW" sz="600" dirty="0">
                <a:solidFill>
                  <a:srgbClr val="000000"/>
                </a:solidFill>
                <a:latin typeface="+mj-lt"/>
                <a:ea typeface="DFKaiShu-GB5"/>
                <a:cs typeface="+mn-cs"/>
              </a:rPr>
              <a:t>Merger of FCOT and FLT</a:t>
            </a:r>
          </a:p>
        </p:txBody>
      </p:sp>
      <p:pic>
        <p:nvPicPr>
          <p:cNvPr id="2272" name="Picture 2271">
            <a:extLst>
              <a:ext uri="{FF2B5EF4-FFF2-40B4-BE49-F238E27FC236}">
                <a16:creationId xmlns:a16="http://schemas.microsoft.com/office/drawing/2014/main" id="{6117B743-F1F6-F452-7EE2-1F36BE46E1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12965" y="5074895"/>
            <a:ext cx="470356" cy="176926"/>
          </a:xfrm>
          <a:prstGeom prst="rect">
            <a:avLst/>
          </a:prstGeom>
        </p:spPr>
      </p:pic>
      <p:sp>
        <p:nvSpPr>
          <p:cNvPr id="2273" name="Rectangle 174">
            <a:extLst>
              <a:ext uri="{FF2B5EF4-FFF2-40B4-BE49-F238E27FC236}">
                <a16:creationId xmlns:a16="http://schemas.microsoft.com/office/drawing/2014/main" id="{6DC0BCD6-60CB-C212-EB45-464511D0B3D7}"/>
              </a:ext>
            </a:extLst>
          </p:cNvPr>
          <p:cNvSpPr>
            <a:spLocks noChangeArrowheads="1"/>
          </p:cNvSpPr>
          <p:nvPr/>
        </p:nvSpPr>
        <p:spPr bwMode="auto">
          <a:xfrm>
            <a:off x="7990943" y="2541593"/>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spcBef>
                <a:spcPct val="50000"/>
              </a:spcBef>
              <a:defRPr/>
            </a:pPr>
            <a:endParaRPr lang="zh-TW" altLang="en-US" sz="800" b="0" kern="0">
              <a:solidFill>
                <a:prstClr val="black"/>
              </a:solidFill>
              <a:latin typeface="+mj-lt"/>
              <a:ea typeface="STKaiti"/>
              <a:cs typeface="Calibri" panose="020F0502020204030204" pitchFamily="34" charset="0"/>
            </a:endParaRPr>
          </a:p>
        </p:txBody>
      </p:sp>
      <p:sp>
        <p:nvSpPr>
          <p:cNvPr id="2274" name="Rectangle 180">
            <a:extLst>
              <a:ext uri="{FF2B5EF4-FFF2-40B4-BE49-F238E27FC236}">
                <a16:creationId xmlns:a16="http://schemas.microsoft.com/office/drawing/2014/main" id="{286F4EB3-80C0-D798-DAB7-6CF11205E9D9}"/>
              </a:ext>
            </a:extLst>
          </p:cNvPr>
          <p:cNvSpPr>
            <a:spLocks noChangeArrowheads="1"/>
          </p:cNvSpPr>
          <p:nvPr/>
        </p:nvSpPr>
        <p:spPr bwMode="auto">
          <a:xfrm>
            <a:off x="7990943" y="3535620"/>
            <a:ext cx="914400" cy="91249"/>
          </a:xfrm>
          <a:prstGeom prst="rect">
            <a:avLst/>
          </a:prstGeom>
          <a:noFill/>
          <a:ln w="9525">
            <a:noFill/>
            <a:miter lim="800000"/>
            <a:headEnd/>
            <a:tailEnd/>
          </a:ln>
        </p:spPr>
        <p:txBody>
          <a:bodyPr wrap="none" lIns="0" tIns="0" rIns="0" bIns="0" anchor="ctr">
            <a:noAutofit/>
          </a:bodyPr>
          <a:lstStyle/>
          <a:p>
            <a:pPr algn="ctr" eaLnBrk="0" hangingPunct="0">
              <a:spcBef>
                <a:spcPct val="50000"/>
              </a:spcBef>
              <a:defRPr/>
            </a:pPr>
            <a:r>
              <a:rPr lang="en-US" altLang="zh-TW" sz="600" b="0" dirty="0">
                <a:solidFill>
                  <a:srgbClr val="000000"/>
                </a:solidFill>
                <a:latin typeface="+mj-lt"/>
                <a:ea typeface="STKaiti"/>
                <a:cs typeface="Calibri" panose="020F0502020204030204" pitchFamily="34" charset="0"/>
              </a:rPr>
              <a:t>September 2021</a:t>
            </a:r>
            <a:endParaRPr lang="zh-TW" altLang="en-US" sz="600" b="0" dirty="0">
              <a:solidFill>
                <a:srgbClr val="000000"/>
              </a:solidFill>
              <a:latin typeface="+mj-lt"/>
              <a:ea typeface="STKaiti"/>
              <a:cs typeface="Calibri" panose="020F0502020204030204" pitchFamily="34" charset="0"/>
            </a:endParaRPr>
          </a:p>
        </p:txBody>
      </p:sp>
      <p:sp>
        <p:nvSpPr>
          <p:cNvPr id="2275" name="Rectangle 177">
            <a:extLst>
              <a:ext uri="{FF2B5EF4-FFF2-40B4-BE49-F238E27FC236}">
                <a16:creationId xmlns:a16="http://schemas.microsoft.com/office/drawing/2014/main" id="{3CFDCD8B-40A6-F50A-C9B1-9A83743A473B}"/>
              </a:ext>
            </a:extLst>
          </p:cNvPr>
          <p:cNvSpPr>
            <a:spLocks noChangeArrowheads="1"/>
          </p:cNvSpPr>
          <p:nvPr/>
        </p:nvSpPr>
        <p:spPr bwMode="auto">
          <a:xfrm>
            <a:off x="7990943" y="2883962"/>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CN" sz="600" dirty="0">
                <a:solidFill>
                  <a:srgbClr val="000000"/>
                </a:solidFill>
                <a:latin typeface="+mj-lt"/>
                <a:ea typeface="DFKaiShu-GB5" panose="03000509000000000000" pitchFamily="65" charset="-128"/>
                <a:cs typeface="Calibri" panose="020F0502020204030204" pitchFamily="34" charset="0"/>
              </a:rPr>
              <a:t>US$1.1b</a:t>
            </a:r>
            <a:endParaRPr lang="en-US" altLang="zh-TW" sz="600" dirty="0">
              <a:solidFill>
                <a:srgbClr val="000000"/>
              </a:solidFill>
              <a:latin typeface="+mj-lt"/>
              <a:ea typeface="DFKaiShu-GB5" panose="03000509000000000000" pitchFamily="65" charset="-128"/>
              <a:cs typeface="Calibri" panose="020F0502020204030204" pitchFamily="34" charset="0"/>
            </a:endParaRPr>
          </a:p>
          <a:p>
            <a:pPr algn="ctr" eaLnBrk="0" hangingPunct="0">
              <a:spcBef>
                <a:spcPts val="0"/>
              </a:spcBef>
              <a:defRPr/>
            </a:pPr>
            <a:r>
              <a:rPr lang="en-US" altLang="zh-TW" sz="600" dirty="0">
                <a:solidFill>
                  <a:srgbClr val="000000"/>
                </a:solidFill>
                <a:latin typeface="+mj-lt"/>
                <a:ea typeface="DFKaiShu-GB5" panose="03000509000000000000" pitchFamily="65" charset="-128"/>
                <a:cs typeface="Calibri" panose="020F0502020204030204" pitchFamily="34" charset="0"/>
              </a:rPr>
              <a:t>Rights</a:t>
            </a:r>
            <a:r>
              <a:rPr lang="zh-CN" altLang="en-US" sz="600" dirty="0">
                <a:solidFill>
                  <a:srgbClr val="000000"/>
                </a:solidFill>
                <a:latin typeface="+mj-lt"/>
                <a:ea typeface="DFKaiShu-GB5" panose="03000509000000000000" pitchFamily="65" charset="-128"/>
                <a:cs typeface="Calibri" panose="020F0502020204030204" pitchFamily="34" charset="0"/>
              </a:rPr>
              <a:t> </a:t>
            </a:r>
            <a:r>
              <a:rPr lang="en-US" altLang="zh-CN" sz="600" dirty="0">
                <a:solidFill>
                  <a:srgbClr val="000000"/>
                </a:solidFill>
                <a:latin typeface="+mj-lt"/>
                <a:ea typeface="DFKaiShu-GB5" panose="03000509000000000000" pitchFamily="65" charset="-128"/>
                <a:cs typeface="Calibri" panose="020F0502020204030204" pitchFamily="34" charset="0"/>
              </a:rPr>
              <a:t>Issue</a:t>
            </a:r>
            <a:endParaRPr lang="en-US" altLang="zh-TW" sz="600" dirty="0">
              <a:solidFill>
                <a:srgbClr val="000000"/>
              </a:solidFill>
              <a:latin typeface="+mj-lt"/>
              <a:ea typeface="DFKaiShu-GB5" panose="03000509000000000000" pitchFamily="65" charset="-128"/>
              <a:cs typeface="Calibri" panose="020F0502020204030204" pitchFamily="34" charset="0"/>
            </a:endParaRPr>
          </a:p>
        </p:txBody>
      </p:sp>
      <p:sp>
        <p:nvSpPr>
          <p:cNvPr id="2276" name="Rectangle 176">
            <a:extLst>
              <a:ext uri="{FF2B5EF4-FFF2-40B4-BE49-F238E27FC236}">
                <a16:creationId xmlns:a16="http://schemas.microsoft.com/office/drawing/2014/main" id="{0AB8A7FB-5643-5E88-DC23-94349F230C3C}"/>
              </a:ext>
            </a:extLst>
          </p:cNvPr>
          <p:cNvSpPr>
            <a:spLocks noChangeArrowheads="1"/>
          </p:cNvSpPr>
          <p:nvPr/>
        </p:nvSpPr>
        <p:spPr bwMode="auto">
          <a:xfrm>
            <a:off x="7990943" y="3131814"/>
            <a:ext cx="914400" cy="184666"/>
          </a:xfrm>
          <a:prstGeom prst="rect">
            <a:avLst/>
          </a:prstGeom>
          <a:noFill/>
          <a:ln w="9525">
            <a:noFill/>
            <a:miter lim="800000"/>
            <a:headEnd/>
            <a:tailEnd/>
          </a:ln>
        </p:spPr>
        <p:txBody>
          <a:bodyPr lIns="0" tIns="0" rIns="0" bIns="0" anchor="ctr">
            <a:spAutoFit/>
          </a:bodyPr>
          <a:lstStyle/>
          <a:p>
            <a:pPr algn="ctr" fontAlgn="auto">
              <a:spcBef>
                <a:spcPts val="0"/>
              </a:spcBef>
              <a:spcAft>
                <a:spcPts val="0"/>
              </a:spcAft>
              <a:defRPr/>
            </a:pPr>
            <a:r>
              <a:rPr lang="en-SG" sz="600" b="0" kern="0" dirty="0">
                <a:solidFill>
                  <a:prstClr val="black"/>
                </a:solidFill>
                <a:latin typeface="+mj-lt"/>
                <a:cs typeface="Calibri" panose="020F0502020204030204" pitchFamily="34" charset="0"/>
              </a:rPr>
              <a:t>Sole Financial Adviser, Manager and Underwriter</a:t>
            </a:r>
            <a:endParaRPr lang="en-GB" sz="600" b="0" kern="0" dirty="0">
              <a:solidFill>
                <a:prstClr val="black"/>
              </a:solidFill>
              <a:latin typeface="+mj-lt"/>
              <a:cs typeface="Calibri" panose="020F0502020204030204" pitchFamily="34" charset="0"/>
            </a:endParaRPr>
          </a:p>
        </p:txBody>
      </p:sp>
      <p:pic>
        <p:nvPicPr>
          <p:cNvPr id="2277" name="Picture 2276">
            <a:extLst>
              <a:ext uri="{FF2B5EF4-FFF2-40B4-BE49-F238E27FC236}">
                <a16:creationId xmlns:a16="http://schemas.microsoft.com/office/drawing/2014/main" id="{1087A41A-2417-7663-5D51-D606E4B22897}"/>
              </a:ext>
            </a:extLst>
          </p:cNvPr>
          <p:cNvPicPr>
            <a:picLocks noChangeAspect="1"/>
          </p:cNvPicPr>
          <p:nvPr/>
        </p:nvPicPr>
        <p:blipFill>
          <a:blip r:embed="rId6"/>
          <a:stretch>
            <a:fillRect/>
          </a:stretch>
        </p:blipFill>
        <p:spPr>
          <a:xfrm>
            <a:off x="8107037" y="2578282"/>
            <a:ext cx="682215" cy="292378"/>
          </a:xfrm>
          <a:prstGeom prst="rect">
            <a:avLst/>
          </a:prstGeom>
        </p:spPr>
      </p:pic>
      <p:sp>
        <p:nvSpPr>
          <p:cNvPr id="2278" name="Rectangle 174">
            <a:extLst>
              <a:ext uri="{FF2B5EF4-FFF2-40B4-BE49-F238E27FC236}">
                <a16:creationId xmlns:a16="http://schemas.microsoft.com/office/drawing/2014/main" id="{4D33BCFF-36A0-25F4-5A09-F6E932900A1C}"/>
              </a:ext>
            </a:extLst>
          </p:cNvPr>
          <p:cNvSpPr>
            <a:spLocks noChangeArrowheads="1"/>
          </p:cNvSpPr>
          <p:nvPr/>
        </p:nvSpPr>
        <p:spPr bwMode="auto">
          <a:xfrm>
            <a:off x="7990943" y="3751396"/>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spcBef>
                <a:spcPct val="50000"/>
              </a:spcBef>
              <a:defRPr/>
            </a:pPr>
            <a:endParaRPr lang="zh-TW" altLang="en-US" sz="800" b="0" kern="0">
              <a:solidFill>
                <a:prstClr val="black"/>
              </a:solidFill>
              <a:latin typeface="+mj-lt"/>
              <a:ea typeface="STKaiti"/>
              <a:cs typeface="Calibri" panose="020F0502020204030204" pitchFamily="34" charset="0"/>
            </a:endParaRPr>
          </a:p>
        </p:txBody>
      </p:sp>
      <p:sp>
        <p:nvSpPr>
          <p:cNvPr id="2279" name="Rectangle 180">
            <a:extLst>
              <a:ext uri="{FF2B5EF4-FFF2-40B4-BE49-F238E27FC236}">
                <a16:creationId xmlns:a16="http://schemas.microsoft.com/office/drawing/2014/main" id="{68655C87-A54D-B490-C0C3-EA1EC47A7D2C}"/>
              </a:ext>
            </a:extLst>
          </p:cNvPr>
          <p:cNvSpPr>
            <a:spLocks noChangeArrowheads="1"/>
          </p:cNvSpPr>
          <p:nvPr/>
        </p:nvSpPr>
        <p:spPr bwMode="auto">
          <a:xfrm>
            <a:off x="7990943" y="4728557"/>
            <a:ext cx="914400" cy="91249"/>
          </a:xfrm>
          <a:prstGeom prst="rect">
            <a:avLst/>
          </a:prstGeom>
          <a:noFill/>
          <a:ln w="9525">
            <a:noFill/>
            <a:miter lim="800000"/>
            <a:headEnd/>
            <a:tailEnd/>
          </a:ln>
        </p:spPr>
        <p:txBody>
          <a:bodyPr wrap="none" lIns="0" tIns="0" rIns="0" bIns="0" anchor="ctr">
            <a:noAutofit/>
          </a:bodyPr>
          <a:lstStyle/>
          <a:p>
            <a:pPr algn="ctr" eaLnBrk="0" hangingPunct="0">
              <a:spcBef>
                <a:spcPct val="50000"/>
              </a:spcBef>
              <a:defRPr/>
            </a:pPr>
            <a:r>
              <a:rPr lang="en-US" altLang="zh-TW" sz="600" b="0" dirty="0">
                <a:solidFill>
                  <a:srgbClr val="000000"/>
                </a:solidFill>
                <a:latin typeface="+mj-lt"/>
                <a:ea typeface="STKaiti"/>
                <a:cs typeface="Calibri" panose="020F0502020204030204" pitchFamily="34" charset="0"/>
              </a:rPr>
              <a:t>September 2020</a:t>
            </a:r>
            <a:endParaRPr lang="zh-TW" altLang="en-US" sz="600" b="0" dirty="0">
              <a:solidFill>
                <a:srgbClr val="000000"/>
              </a:solidFill>
              <a:latin typeface="+mj-lt"/>
              <a:ea typeface="STKaiti"/>
              <a:cs typeface="Calibri" panose="020F0502020204030204" pitchFamily="34" charset="0"/>
            </a:endParaRPr>
          </a:p>
        </p:txBody>
      </p:sp>
      <p:sp>
        <p:nvSpPr>
          <p:cNvPr id="2280" name="Rectangle 177">
            <a:extLst>
              <a:ext uri="{FF2B5EF4-FFF2-40B4-BE49-F238E27FC236}">
                <a16:creationId xmlns:a16="http://schemas.microsoft.com/office/drawing/2014/main" id="{DFDC560E-06EA-287E-F616-DCE61B082BD7}"/>
              </a:ext>
            </a:extLst>
          </p:cNvPr>
          <p:cNvSpPr>
            <a:spLocks noChangeArrowheads="1"/>
          </p:cNvSpPr>
          <p:nvPr/>
        </p:nvSpPr>
        <p:spPr bwMode="auto">
          <a:xfrm>
            <a:off x="7990943" y="4143228"/>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CN" sz="600" dirty="0">
                <a:solidFill>
                  <a:srgbClr val="000000"/>
                </a:solidFill>
                <a:latin typeface="+mj-lt"/>
                <a:ea typeface="DFKaiShu-GB5" panose="03000509000000000000" pitchFamily="65" charset="-128"/>
                <a:cs typeface="Calibri" panose="020F0502020204030204" pitchFamily="34" charset="0"/>
              </a:rPr>
              <a:t>US$1.5b</a:t>
            </a:r>
            <a:endParaRPr lang="en-US" altLang="zh-TW" sz="600" dirty="0">
              <a:solidFill>
                <a:srgbClr val="000000"/>
              </a:solidFill>
              <a:latin typeface="+mj-lt"/>
              <a:ea typeface="DFKaiShu-GB5" panose="03000509000000000000" pitchFamily="65" charset="-128"/>
              <a:cs typeface="Calibri" panose="020F0502020204030204" pitchFamily="34" charset="0"/>
            </a:endParaRPr>
          </a:p>
          <a:p>
            <a:pPr algn="ctr" eaLnBrk="0" hangingPunct="0">
              <a:spcBef>
                <a:spcPts val="0"/>
              </a:spcBef>
              <a:defRPr/>
            </a:pPr>
            <a:r>
              <a:rPr lang="en-US" altLang="zh-CN" sz="600" dirty="0">
                <a:solidFill>
                  <a:srgbClr val="000000"/>
                </a:solidFill>
                <a:latin typeface="+mj-lt"/>
                <a:ea typeface="DFKaiShu-GB5" panose="03000509000000000000" pitchFamily="65" charset="-128"/>
                <a:cs typeface="Calibri" panose="020F0502020204030204" pitchFamily="34" charset="0"/>
              </a:rPr>
              <a:t>Rights Issue</a:t>
            </a:r>
            <a:endParaRPr lang="en-US" altLang="zh-TW" sz="600" dirty="0">
              <a:solidFill>
                <a:srgbClr val="000000"/>
              </a:solidFill>
              <a:latin typeface="+mj-lt"/>
              <a:ea typeface="DFKaiShu-GB5" panose="03000509000000000000" pitchFamily="65" charset="-128"/>
              <a:cs typeface="Calibri" panose="020F0502020204030204" pitchFamily="34" charset="0"/>
            </a:endParaRPr>
          </a:p>
        </p:txBody>
      </p:sp>
      <p:sp>
        <p:nvSpPr>
          <p:cNvPr id="2281" name="Rectangle 176">
            <a:extLst>
              <a:ext uri="{FF2B5EF4-FFF2-40B4-BE49-F238E27FC236}">
                <a16:creationId xmlns:a16="http://schemas.microsoft.com/office/drawing/2014/main" id="{AD22FE76-24F8-5B02-5A54-4BDB8943C584}"/>
              </a:ext>
            </a:extLst>
          </p:cNvPr>
          <p:cNvSpPr>
            <a:spLocks noChangeArrowheads="1"/>
          </p:cNvSpPr>
          <p:nvPr/>
        </p:nvSpPr>
        <p:spPr bwMode="auto">
          <a:xfrm>
            <a:off x="7990943" y="4369497"/>
            <a:ext cx="914400" cy="276999"/>
          </a:xfrm>
          <a:prstGeom prst="rect">
            <a:avLst/>
          </a:prstGeom>
          <a:noFill/>
          <a:ln w="9525">
            <a:noFill/>
            <a:miter lim="800000"/>
            <a:headEnd/>
            <a:tailEnd/>
          </a:ln>
        </p:spPr>
        <p:txBody>
          <a:bodyPr wrap="square" lIns="0" tIns="0" rIns="0" bIns="0" anchor="ctr">
            <a:spAutoFit/>
          </a:bodyPr>
          <a:lstStyle/>
          <a:p>
            <a:pPr algn="ctr" fontAlgn="auto">
              <a:spcBef>
                <a:spcPts val="0"/>
              </a:spcBef>
              <a:spcAft>
                <a:spcPts val="0"/>
              </a:spcAft>
              <a:defRPr/>
            </a:pPr>
            <a:r>
              <a:rPr lang="en-SG" sz="600" b="0" kern="0">
                <a:solidFill>
                  <a:prstClr val="black"/>
                </a:solidFill>
                <a:latin typeface="+mj-lt"/>
                <a:cs typeface="Calibri" panose="020F0502020204030204" pitchFamily="34" charset="0"/>
              </a:rPr>
              <a:t>Sole Financial Adviser, Lead Manager and Underwriter</a:t>
            </a:r>
            <a:endParaRPr lang="en-GB" sz="600" b="0" kern="0">
              <a:solidFill>
                <a:prstClr val="black"/>
              </a:solidFill>
              <a:latin typeface="+mj-lt"/>
              <a:cs typeface="Calibri" panose="020F0502020204030204" pitchFamily="34" charset="0"/>
            </a:endParaRPr>
          </a:p>
        </p:txBody>
      </p:sp>
      <p:pic>
        <p:nvPicPr>
          <p:cNvPr id="2282" name="Picture 2281">
            <a:extLst>
              <a:ext uri="{FF2B5EF4-FFF2-40B4-BE49-F238E27FC236}">
                <a16:creationId xmlns:a16="http://schemas.microsoft.com/office/drawing/2014/main" id="{8C82DCC6-A1B0-1729-B9C5-DD61A4D53C4A}"/>
              </a:ext>
            </a:extLst>
          </p:cNvPr>
          <p:cNvPicPr>
            <a:picLocks noChangeAspect="1"/>
          </p:cNvPicPr>
          <p:nvPr/>
        </p:nvPicPr>
        <p:blipFill>
          <a:blip r:embed="rId6"/>
          <a:stretch>
            <a:fillRect/>
          </a:stretch>
        </p:blipFill>
        <p:spPr>
          <a:xfrm>
            <a:off x="8101615" y="3824884"/>
            <a:ext cx="693059" cy="297025"/>
          </a:xfrm>
          <a:prstGeom prst="rect">
            <a:avLst/>
          </a:prstGeom>
        </p:spPr>
      </p:pic>
      <p:sp>
        <p:nvSpPr>
          <p:cNvPr id="2283" name="Rectangle 174">
            <a:extLst>
              <a:ext uri="{FF2B5EF4-FFF2-40B4-BE49-F238E27FC236}">
                <a16:creationId xmlns:a16="http://schemas.microsoft.com/office/drawing/2014/main" id="{AE053F52-AA5B-C691-DC7D-CBF71CCF9057}"/>
              </a:ext>
            </a:extLst>
          </p:cNvPr>
          <p:cNvSpPr>
            <a:spLocks noChangeArrowheads="1"/>
          </p:cNvSpPr>
          <p:nvPr/>
        </p:nvSpPr>
        <p:spPr bwMode="auto">
          <a:xfrm>
            <a:off x="7991622" y="1338053"/>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spcBef>
                <a:spcPct val="50000"/>
              </a:spcBef>
              <a:defRPr/>
            </a:pPr>
            <a:endParaRPr lang="zh-TW" altLang="en-US" sz="800" b="0" kern="0">
              <a:solidFill>
                <a:prstClr val="black"/>
              </a:solidFill>
              <a:latin typeface="Calibri"/>
              <a:ea typeface="STKaiti"/>
              <a:cs typeface="Calibri" panose="020F0502020204030204" pitchFamily="34" charset="0"/>
            </a:endParaRPr>
          </a:p>
        </p:txBody>
      </p:sp>
      <p:sp>
        <p:nvSpPr>
          <p:cNvPr id="2284" name="Rectangle 180">
            <a:extLst>
              <a:ext uri="{FF2B5EF4-FFF2-40B4-BE49-F238E27FC236}">
                <a16:creationId xmlns:a16="http://schemas.microsoft.com/office/drawing/2014/main" id="{BD5E7DB3-05A1-A35F-5BAB-0D4AA004824F}"/>
              </a:ext>
            </a:extLst>
          </p:cNvPr>
          <p:cNvSpPr>
            <a:spLocks noChangeArrowheads="1"/>
          </p:cNvSpPr>
          <p:nvPr/>
        </p:nvSpPr>
        <p:spPr bwMode="auto">
          <a:xfrm>
            <a:off x="7991622" y="2341813"/>
            <a:ext cx="914400" cy="91249"/>
          </a:xfrm>
          <a:prstGeom prst="rect">
            <a:avLst/>
          </a:prstGeom>
          <a:noFill/>
          <a:ln w="9525">
            <a:noFill/>
            <a:miter lim="800000"/>
            <a:headEnd/>
            <a:tailEnd/>
          </a:ln>
        </p:spPr>
        <p:txBody>
          <a:bodyPr wrap="none" lIns="0" tIns="0" rIns="0" bIns="0" anchor="ctr">
            <a:noAutofit/>
          </a:bodyPr>
          <a:lstStyle/>
          <a:p>
            <a:pPr algn="ctr" eaLnBrk="0" hangingPunct="0">
              <a:spcBef>
                <a:spcPct val="50000"/>
              </a:spcBef>
              <a:defRPr/>
            </a:pPr>
            <a:r>
              <a:rPr lang="en-US" altLang="zh-TW" sz="600" b="0" dirty="0">
                <a:solidFill>
                  <a:srgbClr val="000000"/>
                </a:solidFill>
                <a:latin typeface="+mj-lt"/>
                <a:ea typeface="STKaiti"/>
                <a:cs typeface="Calibri" panose="020F0502020204030204" pitchFamily="34" charset="0"/>
              </a:rPr>
              <a:t>March 2023</a:t>
            </a:r>
            <a:endParaRPr lang="zh-TW" altLang="en-US" sz="600" b="0" dirty="0">
              <a:solidFill>
                <a:srgbClr val="000000"/>
              </a:solidFill>
              <a:latin typeface="+mj-lt"/>
              <a:ea typeface="STKaiti"/>
              <a:cs typeface="Calibri" panose="020F0502020204030204" pitchFamily="34" charset="0"/>
            </a:endParaRPr>
          </a:p>
        </p:txBody>
      </p:sp>
      <p:sp>
        <p:nvSpPr>
          <p:cNvPr id="2285" name="Mainlogo 2">
            <a:extLst>
              <a:ext uri="{FF2B5EF4-FFF2-40B4-BE49-F238E27FC236}">
                <a16:creationId xmlns:a16="http://schemas.microsoft.com/office/drawing/2014/main" id="{93A0C088-4C23-7471-A08C-71155522E4B6}"/>
              </a:ext>
            </a:extLst>
          </p:cNvPr>
          <p:cNvSpPr/>
          <p:nvPr/>
        </p:nvSpPr>
        <p:spPr>
          <a:xfrm>
            <a:off x="8018412" y="1381495"/>
            <a:ext cx="860820" cy="238267"/>
          </a:xfrm>
          <a:prstGeom prst="rect">
            <a:avLst/>
          </a:prstGeom>
          <a:blipFill>
            <a:blip r:embed="rId7"/>
            <a:stretch>
              <a:fillRect/>
            </a:stretch>
          </a:blipFill>
          <a:ln w="12700" cap="flat" cmpd="sng" algn="ctr">
            <a:noFill/>
            <a:prstDash val="solid"/>
            <a:miter lim="800000"/>
          </a:ln>
          <a:effectLst/>
        </p:spPr>
        <p:txBody>
          <a:bodyPr rtlCol="0" anchor="ctr"/>
          <a:lstStyle/>
          <a:p>
            <a:pPr algn="ctr" fontAlgn="auto">
              <a:spcBef>
                <a:spcPts val="0"/>
              </a:spcBef>
              <a:spcAft>
                <a:spcPts val="0"/>
              </a:spcAft>
              <a:defRPr/>
            </a:pPr>
            <a:endParaRPr lang="en-US" sz="1600" b="0" kern="0">
              <a:solidFill>
                <a:prstClr val="white"/>
              </a:solidFill>
              <a:latin typeface="Calibri" panose="020F0502020204030204" pitchFamily="34" charset="0"/>
              <a:cs typeface="+mn-cs"/>
            </a:endParaRPr>
          </a:p>
        </p:txBody>
      </p:sp>
      <p:sp>
        <p:nvSpPr>
          <p:cNvPr id="2286" name="Rectangle 177">
            <a:extLst>
              <a:ext uri="{FF2B5EF4-FFF2-40B4-BE49-F238E27FC236}">
                <a16:creationId xmlns:a16="http://schemas.microsoft.com/office/drawing/2014/main" id="{2AC02AB3-46AF-A0D2-06F5-D95C8DB6510D}"/>
              </a:ext>
            </a:extLst>
          </p:cNvPr>
          <p:cNvSpPr>
            <a:spLocks noChangeArrowheads="1"/>
          </p:cNvSpPr>
          <p:nvPr/>
        </p:nvSpPr>
        <p:spPr bwMode="auto">
          <a:xfrm>
            <a:off x="7991622" y="1727955"/>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CN" sz="600" dirty="0">
                <a:solidFill>
                  <a:srgbClr val="000000"/>
                </a:solidFill>
                <a:latin typeface="Calibri" panose="020F0502020204030204" pitchFamily="34" charset="0"/>
                <a:ea typeface="Calibri" panose="020F0502020204030204" pitchFamily="34" charset="0"/>
                <a:cs typeface="Calibri" panose="020F0502020204030204" pitchFamily="34" charset="0"/>
              </a:rPr>
              <a:t>US$580m</a:t>
            </a:r>
            <a:endParaRPr lang="en-US" altLang="zh-TW" sz="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ctr" eaLnBrk="0" hangingPunct="0">
              <a:spcBef>
                <a:spcPts val="0"/>
              </a:spcBef>
              <a:defRPr/>
            </a:pPr>
            <a:r>
              <a:rPr lang="en-US" altLang="zh-CN" sz="600" dirty="0">
                <a:solidFill>
                  <a:srgbClr val="000000"/>
                </a:solidFill>
                <a:latin typeface="Calibri" panose="020F0502020204030204" pitchFamily="34" charset="0"/>
                <a:ea typeface="Calibri" panose="020F0502020204030204" pitchFamily="34" charset="0"/>
                <a:cs typeface="Calibri" panose="020F0502020204030204" pitchFamily="34" charset="0"/>
              </a:rPr>
              <a:t>Rights Issue</a:t>
            </a:r>
            <a:endParaRPr lang="en-US" altLang="zh-TW" sz="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287" name="Rectangle 176">
            <a:extLst>
              <a:ext uri="{FF2B5EF4-FFF2-40B4-BE49-F238E27FC236}">
                <a16:creationId xmlns:a16="http://schemas.microsoft.com/office/drawing/2014/main" id="{64801B69-0251-E9E5-6B1D-C9FF27A58C37}"/>
              </a:ext>
            </a:extLst>
          </p:cNvPr>
          <p:cNvSpPr>
            <a:spLocks noChangeArrowheads="1"/>
          </p:cNvSpPr>
          <p:nvPr/>
        </p:nvSpPr>
        <p:spPr bwMode="auto">
          <a:xfrm>
            <a:off x="7991622" y="1970780"/>
            <a:ext cx="914400" cy="276999"/>
          </a:xfrm>
          <a:prstGeom prst="rect">
            <a:avLst/>
          </a:prstGeom>
          <a:noFill/>
          <a:ln w="9525">
            <a:noFill/>
            <a:miter lim="800000"/>
            <a:headEnd/>
            <a:tailEnd/>
          </a:ln>
        </p:spPr>
        <p:txBody>
          <a:bodyPr wrap="square" lIns="0" tIns="0" rIns="0" bIns="0" anchor="ctr">
            <a:spAutoFit/>
          </a:bodyPr>
          <a:lstStyle/>
          <a:p>
            <a:pPr algn="ctr" fontAlgn="auto">
              <a:spcBef>
                <a:spcPts val="0"/>
              </a:spcBef>
              <a:spcAft>
                <a:spcPts val="0"/>
              </a:spcAft>
              <a:defRPr/>
            </a:pPr>
            <a:r>
              <a:rPr lang="en-SG" sz="600" b="0" kern="0">
                <a:solidFill>
                  <a:prstClr val="black"/>
                </a:solidFill>
                <a:latin typeface="+mj-lt"/>
                <a:cs typeface="Calibri" panose="020F0502020204030204" pitchFamily="34" charset="0"/>
              </a:rPr>
              <a:t>Lead Financial Advisor, Joint Underwriter and Co-Lead Manager</a:t>
            </a:r>
            <a:endParaRPr lang="en-GB" sz="600" b="0" kern="0">
              <a:solidFill>
                <a:prstClr val="black"/>
              </a:solidFill>
              <a:latin typeface="+mj-lt"/>
              <a:cs typeface="Calibri" panose="020F0502020204030204" pitchFamily="34" charset="0"/>
            </a:endParaRPr>
          </a:p>
        </p:txBody>
      </p:sp>
      <p:sp>
        <p:nvSpPr>
          <p:cNvPr id="2258" name="Rectangle 174">
            <a:extLst>
              <a:ext uri="{FF2B5EF4-FFF2-40B4-BE49-F238E27FC236}">
                <a16:creationId xmlns:a16="http://schemas.microsoft.com/office/drawing/2014/main" id="{CF93DA34-187B-0BF2-24CC-F086DFD79CF7}"/>
              </a:ext>
            </a:extLst>
          </p:cNvPr>
          <p:cNvSpPr>
            <a:spLocks noChangeArrowheads="1"/>
          </p:cNvSpPr>
          <p:nvPr/>
        </p:nvSpPr>
        <p:spPr bwMode="auto">
          <a:xfrm>
            <a:off x="3023298" y="3751396"/>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2259" name="Rectangle 176">
            <a:extLst>
              <a:ext uri="{FF2B5EF4-FFF2-40B4-BE49-F238E27FC236}">
                <a16:creationId xmlns:a16="http://schemas.microsoft.com/office/drawing/2014/main" id="{679BCD39-9F09-D6F6-2F6F-25CC9372FA9C}"/>
              </a:ext>
            </a:extLst>
          </p:cNvPr>
          <p:cNvSpPr>
            <a:spLocks noChangeArrowheads="1"/>
          </p:cNvSpPr>
          <p:nvPr/>
        </p:nvSpPr>
        <p:spPr bwMode="auto">
          <a:xfrm>
            <a:off x="3021869" y="4424897"/>
            <a:ext cx="914400" cy="166199"/>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dirty="0">
                <a:solidFill>
                  <a:srgbClr val="000000"/>
                </a:solidFill>
                <a:latin typeface="+mj-lt"/>
                <a:ea typeface="DFKaiShu-GB5"/>
                <a:cs typeface="Calibri" panose="020F0502020204030204" pitchFamily="34" charset="0"/>
              </a:rPr>
              <a:t>Domestic Underwriter and Joint Bookrunner</a:t>
            </a:r>
            <a:endParaRPr lang="zh-CN" altLang="en-US" sz="600" b="0" dirty="0">
              <a:solidFill>
                <a:srgbClr val="000000"/>
              </a:solidFill>
              <a:latin typeface="+mj-lt"/>
              <a:ea typeface="DFKaiShu-GB5"/>
              <a:cs typeface="Calibri" panose="020F0502020204030204" pitchFamily="34" charset="0"/>
            </a:endParaRPr>
          </a:p>
        </p:txBody>
      </p:sp>
      <p:sp>
        <p:nvSpPr>
          <p:cNvPr id="2260" name="Rectangle 177">
            <a:extLst>
              <a:ext uri="{FF2B5EF4-FFF2-40B4-BE49-F238E27FC236}">
                <a16:creationId xmlns:a16="http://schemas.microsoft.com/office/drawing/2014/main" id="{12FFEF2D-9439-F2FA-D91E-11E97CE62CAC}"/>
              </a:ext>
            </a:extLst>
          </p:cNvPr>
          <p:cNvSpPr>
            <a:spLocks noChangeArrowheads="1"/>
          </p:cNvSpPr>
          <p:nvPr/>
        </p:nvSpPr>
        <p:spPr bwMode="auto">
          <a:xfrm>
            <a:off x="3023298" y="4098167"/>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US$640m</a:t>
            </a:r>
            <a:endParaRPr lang="en-US" altLang="zh-CN" sz="600" dirty="0">
              <a:solidFill>
                <a:srgbClr val="000000"/>
              </a:solidFill>
              <a:latin typeface="+mj-lt"/>
              <a:ea typeface="DFKaiShu-GB5"/>
              <a:cs typeface="DFKaiShu-GB5" panose="03000509000000000000" pitchFamily="65" charset="-128"/>
            </a:endParaRPr>
          </a:p>
          <a:p>
            <a:pPr algn="ctr" eaLnBrk="0" hangingPunct="0">
              <a:spcBef>
                <a:spcPts val="0"/>
              </a:spcBef>
              <a:defRPr/>
            </a:pPr>
            <a:r>
              <a:rPr lang="en-US" altLang="zh-CN" sz="600" dirty="0">
                <a:solidFill>
                  <a:srgbClr val="000000"/>
                </a:solidFill>
                <a:latin typeface="+mj-lt"/>
                <a:ea typeface="DFKaiShu-GB5"/>
                <a:cs typeface="DFKaiShu-GB5" panose="03000509000000000000" pitchFamily="65" charset="-128"/>
              </a:rPr>
              <a:t>IN IPO</a:t>
            </a:r>
            <a:endParaRPr lang="en-US" altLang="zh-TW" sz="600" dirty="0">
              <a:solidFill>
                <a:srgbClr val="000000"/>
              </a:solidFill>
              <a:latin typeface="+mj-lt"/>
              <a:ea typeface="DFKaiShu-GB5"/>
              <a:cs typeface="DFKaiShu-GB5" panose="03000509000000000000" pitchFamily="65" charset="-128"/>
            </a:endParaRPr>
          </a:p>
        </p:txBody>
      </p:sp>
      <p:sp>
        <p:nvSpPr>
          <p:cNvPr id="2261" name="Rectangle 180">
            <a:extLst>
              <a:ext uri="{FF2B5EF4-FFF2-40B4-BE49-F238E27FC236}">
                <a16:creationId xmlns:a16="http://schemas.microsoft.com/office/drawing/2014/main" id="{9CCD0D39-14B9-74B5-496E-AB74B9D5A1A3}"/>
              </a:ext>
            </a:extLst>
          </p:cNvPr>
          <p:cNvSpPr>
            <a:spLocks noChangeArrowheads="1"/>
          </p:cNvSpPr>
          <p:nvPr/>
        </p:nvSpPr>
        <p:spPr bwMode="auto">
          <a:xfrm>
            <a:off x="3023298" y="4751740"/>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April 2023</a:t>
            </a:r>
            <a:endParaRPr lang="zh-TW" altLang="en-US" sz="600" b="0" dirty="0">
              <a:solidFill>
                <a:srgbClr val="000000"/>
              </a:solidFill>
              <a:latin typeface="+mj-lt"/>
              <a:ea typeface="DFKaiShu-GB5"/>
              <a:cs typeface="Calibri" panose="020F0502020204030204" pitchFamily="34" charset="0"/>
            </a:endParaRPr>
          </a:p>
        </p:txBody>
      </p:sp>
      <p:pic>
        <p:nvPicPr>
          <p:cNvPr id="2262" name="Picture 2261">
            <a:extLst>
              <a:ext uri="{FF2B5EF4-FFF2-40B4-BE49-F238E27FC236}">
                <a16:creationId xmlns:a16="http://schemas.microsoft.com/office/drawing/2014/main" id="{558A8603-72EF-2430-6427-9595B09C84B1}"/>
              </a:ext>
            </a:extLst>
          </p:cNvPr>
          <p:cNvPicPr>
            <a:picLocks noChangeAspect="1"/>
          </p:cNvPicPr>
          <p:nvPr/>
        </p:nvPicPr>
        <p:blipFill>
          <a:blip r:embed="rId8"/>
          <a:stretch>
            <a:fillRect/>
          </a:stretch>
        </p:blipFill>
        <p:spPr>
          <a:xfrm>
            <a:off x="3155581" y="3803871"/>
            <a:ext cx="649837" cy="269613"/>
          </a:xfrm>
          <a:prstGeom prst="rect">
            <a:avLst/>
          </a:prstGeom>
        </p:spPr>
      </p:pic>
      <p:sp>
        <p:nvSpPr>
          <p:cNvPr id="132" name="Rectangle 174">
            <a:extLst>
              <a:ext uri="{FF2B5EF4-FFF2-40B4-BE49-F238E27FC236}">
                <a16:creationId xmlns:a16="http://schemas.microsoft.com/office/drawing/2014/main" id="{7C44F92C-DBB8-5058-1AEF-A237410BD5E6}"/>
              </a:ext>
            </a:extLst>
          </p:cNvPr>
          <p:cNvSpPr>
            <a:spLocks noChangeArrowheads="1"/>
          </p:cNvSpPr>
          <p:nvPr/>
        </p:nvSpPr>
        <p:spPr bwMode="auto">
          <a:xfrm>
            <a:off x="2014201" y="3751396"/>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133" name="Rectangle 176">
            <a:extLst>
              <a:ext uri="{FF2B5EF4-FFF2-40B4-BE49-F238E27FC236}">
                <a16:creationId xmlns:a16="http://schemas.microsoft.com/office/drawing/2014/main" id="{80E5CD48-E2AC-C7DF-1D0B-4FA9ABD7A605}"/>
              </a:ext>
            </a:extLst>
          </p:cNvPr>
          <p:cNvSpPr>
            <a:spLocks noChangeArrowheads="1"/>
          </p:cNvSpPr>
          <p:nvPr/>
        </p:nvSpPr>
        <p:spPr bwMode="auto">
          <a:xfrm>
            <a:off x="2012772" y="4323330"/>
            <a:ext cx="914400" cy="461665"/>
          </a:xfrm>
          <a:prstGeom prst="rect">
            <a:avLst/>
          </a:prstGeom>
          <a:noFill/>
          <a:ln w="9525">
            <a:noFill/>
            <a:miter lim="800000"/>
            <a:headEnd/>
            <a:tailEnd/>
          </a:ln>
        </p:spPr>
        <p:txBody>
          <a:bodyPr lIns="0" tIns="0" rIns="0" bIns="0" anchor="t" anchorCtr="0">
            <a:spAutoFit/>
          </a:bodyPr>
          <a:lstStyle/>
          <a:p>
            <a:pPr algn="ctr" fontAlgn="auto">
              <a:spcBef>
                <a:spcPts val="0"/>
              </a:spcBef>
              <a:spcAft>
                <a:spcPts val="0"/>
              </a:spcAft>
              <a:defRPr/>
            </a:pPr>
            <a:r>
              <a:rPr lang="en-SG" sz="600" b="0" kern="0" dirty="0">
                <a:solidFill>
                  <a:prstClr val="black"/>
                </a:solidFill>
                <a:latin typeface="+mj-lt"/>
                <a:cs typeface="Calibri" panose="020F0502020204030204" pitchFamily="34" charset="0"/>
              </a:rPr>
              <a:t>Joint Global Coordinator, International Selling Agent,  Lead Managing Underwriter and Bookrunner</a:t>
            </a:r>
            <a:endParaRPr lang="en-GB" sz="600" b="0" kern="0" dirty="0">
              <a:solidFill>
                <a:prstClr val="black"/>
              </a:solidFill>
              <a:latin typeface="+mj-lt"/>
              <a:cs typeface="Calibri" panose="020F0502020204030204" pitchFamily="34" charset="0"/>
            </a:endParaRPr>
          </a:p>
        </p:txBody>
      </p:sp>
      <p:sp>
        <p:nvSpPr>
          <p:cNvPr id="134" name="Rectangle 177">
            <a:extLst>
              <a:ext uri="{FF2B5EF4-FFF2-40B4-BE49-F238E27FC236}">
                <a16:creationId xmlns:a16="http://schemas.microsoft.com/office/drawing/2014/main" id="{7C919035-D54A-1AD2-D88F-71294B43B759}"/>
              </a:ext>
            </a:extLst>
          </p:cNvPr>
          <p:cNvSpPr>
            <a:spLocks noChangeArrowheads="1"/>
          </p:cNvSpPr>
          <p:nvPr/>
        </p:nvSpPr>
        <p:spPr bwMode="auto">
          <a:xfrm>
            <a:off x="2014201" y="4117465"/>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US$680m</a:t>
            </a:r>
            <a:endParaRPr lang="en-US" altLang="zh-CN" sz="600" dirty="0">
              <a:solidFill>
                <a:srgbClr val="000000"/>
              </a:solidFill>
              <a:latin typeface="+mj-lt"/>
              <a:ea typeface="DFKaiShu-GB5"/>
              <a:cs typeface="DFKaiShu-GB5" panose="03000509000000000000" pitchFamily="65" charset="-128"/>
            </a:endParaRPr>
          </a:p>
          <a:p>
            <a:pPr algn="ctr" eaLnBrk="0" hangingPunct="0">
              <a:spcBef>
                <a:spcPts val="0"/>
              </a:spcBef>
              <a:defRPr/>
            </a:pPr>
            <a:r>
              <a:rPr lang="en-US" altLang="zh-CN" sz="600" dirty="0">
                <a:solidFill>
                  <a:srgbClr val="000000"/>
                </a:solidFill>
                <a:latin typeface="+mj-lt"/>
                <a:ea typeface="DFKaiShu-GB5"/>
                <a:cs typeface="DFKaiShu-GB5" panose="03000509000000000000" pitchFamily="65" charset="-128"/>
              </a:rPr>
              <a:t>IN IPO</a:t>
            </a:r>
            <a:endParaRPr lang="en-US" altLang="zh-TW" sz="600" dirty="0">
              <a:solidFill>
                <a:srgbClr val="000000"/>
              </a:solidFill>
              <a:latin typeface="+mj-lt"/>
              <a:ea typeface="DFKaiShu-GB5"/>
              <a:cs typeface="DFKaiShu-GB5" panose="03000509000000000000" pitchFamily="65" charset="-128"/>
            </a:endParaRPr>
          </a:p>
        </p:txBody>
      </p:sp>
      <p:pic>
        <p:nvPicPr>
          <p:cNvPr id="135" name="Picture 134">
            <a:extLst>
              <a:ext uri="{FF2B5EF4-FFF2-40B4-BE49-F238E27FC236}">
                <a16:creationId xmlns:a16="http://schemas.microsoft.com/office/drawing/2014/main" id="{D2519912-4F3B-BB7C-238B-676C7C3C9416}"/>
              </a:ext>
            </a:extLst>
          </p:cNvPr>
          <p:cNvPicPr>
            <a:picLocks noChangeAspect="1"/>
          </p:cNvPicPr>
          <p:nvPr/>
        </p:nvPicPr>
        <p:blipFill>
          <a:blip r:embed="rId9"/>
          <a:stretch>
            <a:fillRect/>
          </a:stretch>
        </p:blipFill>
        <p:spPr>
          <a:xfrm>
            <a:off x="2116392" y="3829568"/>
            <a:ext cx="710018" cy="256815"/>
          </a:xfrm>
          <a:prstGeom prst="rect">
            <a:avLst/>
          </a:prstGeom>
        </p:spPr>
      </p:pic>
      <p:sp>
        <p:nvSpPr>
          <p:cNvPr id="136" name="Rectangle 180">
            <a:extLst>
              <a:ext uri="{FF2B5EF4-FFF2-40B4-BE49-F238E27FC236}">
                <a16:creationId xmlns:a16="http://schemas.microsoft.com/office/drawing/2014/main" id="{F4D9F2A0-7952-16B7-DEBE-F160F324C1A9}"/>
              </a:ext>
            </a:extLst>
          </p:cNvPr>
          <p:cNvSpPr>
            <a:spLocks noChangeArrowheads="1"/>
          </p:cNvSpPr>
          <p:nvPr/>
        </p:nvSpPr>
        <p:spPr bwMode="auto">
          <a:xfrm>
            <a:off x="2014201" y="4755783"/>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July 2023</a:t>
            </a:r>
            <a:endParaRPr lang="zh-TW" altLang="en-US" sz="600" b="0" dirty="0">
              <a:solidFill>
                <a:srgbClr val="000000"/>
              </a:solidFill>
              <a:latin typeface="+mj-lt"/>
              <a:ea typeface="DFKaiShu-GB5"/>
              <a:cs typeface="Calibri" panose="020F0502020204030204" pitchFamily="34" charset="0"/>
            </a:endParaRPr>
          </a:p>
        </p:txBody>
      </p:sp>
      <p:sp>
        <p:nvSpPr>
          <p:cNvPr id="137" name="Rectangle 174">
            <a:extLst>
              <a:ext uri="{FF2B5EF4-FFF2-40B4-BE49-F238E27FC236}">
                <a16:creationId xmlns:a16="http://schemas.microsoft.com/office/drawing/2014/main" id="{CDFEA920-7A4B-42BA-05F2-F5C2ADFA8FAB}"/>
              </a:ext>
            </a:extLst>
          </p:cNvPr>
          <p:cNvSpPr>
            <a:spLocks noChangeArrowheads="1"/>
          </p:cNvSpPr>
          <p:nvPr/>
        </p:nvSpPr>
        <p:spPr bwMode="auto">
          <a:xfrm>
            <a:off x="1030129" y="3751396"/>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138" name="Rectangle 176">
            <a:extLst>
              <a:ext uri="{FF2B5EF4-FFF2-40B4-BE49-F238E27FC236}">
                <a16:creationId xmlns:a16="http://schemas.microsoft.com/office/drawing/2014/main" id="{0D29B189-89F7-1FEF-2106-1669B424FBBB}"/>
              </a:ext>
            </a:extLst>
          </p:cNvPr>
          <p:cNvSpPr>
            <a:spLocks noChangeArrowheads="1"/>
          </p:cNvSpPr>
          <p:nvPr/>
        </p:nvSpPr>
        <p:spPr bwMode="auto">
          <a:xfrm>
            <a:off x="1028700" y="4369497"/>
            <a:ext cx="914400" cy="276999"/>
          </a:xfrm>
          <a:prstGeom prst="rect">
            <a:avLst/>
          </a:prstGeom>
          <a:noFill/>
          <a:ln w="9525">
            <a:noFill/>
            <a:miter lim="800000"/>
            <a:headEnd/>
            <a:tailEnd/>
          </a:ln>
        </p:spPr>
        <p:txBody>
          <a:bodyPr lIns="0" tIns="0" rIns="0" bIns="0" anchor="t" anchorCtr="0">
            <a:spAutoFit/>
          </a:bodyPr>
          <a:lstStyle/>
          <a:p>
            <a:pPr algn="ctr" fontAlgn="auto">
              <a:spcBef>
                <a:spcPts val="0"/>
              </a:spcBef>
              <a:spcAft>
                <a:spcPts val="0"/>
              </a:spcAft>
              <a:defRPr/>
            </a:pPr>
            <a:r>
              <a:rPr lang="en-US" sz="600" b="0" kern="0" dirty="0">
                <a:solidFill>
                  <a:prstClr val="black"/>
                </a:solidFill>
                <a:latin typeface="+mj-lt"/>
                <a:cs typeface="Calibri" panose="020F0502020204030204" pitchFamily="34" charset="0"/>
              </a:rPr>
              <a:t>Sole Bookrunner, Financial Advisor, and Placement Agent</a:t>
            </a:r>
          </a:p>
        </p:txBody>
      </p:sp>
      <p:sp>
        <p:nvSpPr>
          <p:cNvPr id="139" name="Rectangle 177">
            <a:extLst>
              <a:ext uri="{FF2B5EF4-FFF2-40B4-BE49-F238E27FC236}">
                <a16:creationId xmlns:a16="http://schemas.microsoft.com/office/drawing/2014/main" id="{6A37C36D-C927-57E1-C24A-BFCF8190350B}"/>
              </a:ext>
            </a:extLst>
          </p:cNvPr>
          <p:cNvSpPr>
            <a:spLocks noChangeArrowheads="1"/>
          </p:cNvSpPr>
          <p:nvPr/>
        </p:nvSpPr>
        <p:spPr bwMode="auto">
          <a:xfrm>
            <a:off x="1030129" y="4107940"/>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US$230m</a:t>
            </a:r>
            <a:endParaRPr lang="en-US" altLang="zh-CN" sz="600" dirty="0">
              <a:solidFill>
                <a:srgbClr val="000000"/>
              </a:solidFill>
              <a:latin typeface="+mj-lt"/>
              <a:ea typeface="DFKaiShu-GB5"/>
              <a:cs typeface="DFKaiShu-GB5" panose="03000509000000000000" pitchFamily="65" charset="-128"/>
            </a:endParaRPr>
          </a:p>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Singapore </a:t>
            </a:r>
            <a:r>
              <a:rPr lang="en-US" altLang="zh-CN" sz="600" dirty="0">
                <a:solidFill>
                  <a:srgbClr val="000000"/>
                </a:solidFill>
                <a:latin typeface="+mj-lt"/>
                <a:ea typeface="DFKaiShu-GB5"/>
                <a:cs typeface="DFKaiShu-GB5" panose="03000509000000000000" pitchFamily="65" charset="-128"/>
              </a:rPr>
              <a:t>De-SPAC</a:t>
            </a:r>
            <a:endParaRPr lang="en-US" altLang="zh-TW" sz="600" dirty="0">
              <a:solidFill>
                <a:srgbClr val="000000"/>
              </a:solidFill>
              <a:latin typeface="+mj-lt"/>
              <a:ea typeface="DFKaiShu-GB5"/>
              <a:cs typeface="DFKaiShu-GB5" panose="03000509000000000000" pitchFamily="65" charset="-128"/>
            </a:endParaRPr>
          </a:p>
        </p:txBody>
      </p:sp>
      <p:sp>
        <p:nvSpPr>
          <p:cNvPr id="140" name="Rectangle 180">
            <a:extLst>
              <a:ext uri="{FF2B5EF4-FFF2-40B4-BE49-F238E27FC236}">
                <a16:creationId xmlns:a16="http://schemas.microsoft.com/office/drawing/2014/main" id="{4B2539D0-783D-E6CC-B7B8-00B84511A5CE}"/>
              </a:ext>
            </a:extLst>
          </p:cNvPr>
          <p:cNvSpPr>
            <a:spLocks noChangeArrowheads="1"/>
          </p:cNvSpPr>
          <p:nvPr/>
        </p:nvSpPr>
        <p:spPr bwMode="auto">
          <a:xfrm>
            <a:off x="1030129" y="4755783"/>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December 2023</a:t>
            </a:r>
            <a:endParaRPr lang="zh-TW" altLang="en-US" sz="600" b="0" dirty="0">
              <a:solidFill>
                <a:srgbClr val="000000"/>
              </a:solidFill>
              <a:latin typeface="+mj-lt"/>
              <a:ea typeface="DFKaiShu-GB5"/>
              <a:cs typeface="Calibri" panose="020F0502020204030204" pitchFamily="34" charset="0"/>
            </a:endParaRPr>
          </a:p>
        </p:txBody>
      </p:sp>
      <p:pic>
        <p:nvPicPr>
          <p:cNvPr id="141" name="Picture 140">
            <a:extLst>
              <a:ext uri="{FF2B5EF4-FFF2-40B4-BE49-F238E27FC236}">
                <a16:creationId xmlns:a16="http://schemas.microsoft.com/office/drawing/2014/main" id="{34799CDC-1C05-983D-2DD2-8D062B78166E}"/>
              </a:ext>
            </a:extLst>
          </p:cNvPr>
          <p:cNvPicPr>
            <a:picLocks noChangeAspect="1"/>
          </p:cNvPicPr>
          <p:nvPr/>
        </p:nvPicPr>
        <p:blipFill>
          <a:blip r:embed="rId10"/>
          <a:stretch>
            <a:fillRect/>
          </a:stretch>
        </p:blipFill>
        <p:spPr>
          <a:xfrm>
            <a:off x="1252714" y="3839398"/>
            <a:ext cx="452514" cy="154463"/>
          </a:xfrm>
          <a:prstGeom prst="rect">
            <a:avLst/>
          </a:prstGeom>
        </p:spPr>
      </p:pic>
      <p:sp>
        <p:nvSpPr>
          <p:cNvPr id="205" name="Rectangle 174">
            <a:extLst>
              <a:ext uri="{FF2B5EF4-FFF2-40B4-BE49-F238E27FC236}">
                <a16:creationId xmlns:a16="http://schemas.microsoft.com/office/drawing/2014/main" id="{0AB46C98-657C-5C8C-803A-F8F9800FE0A9}"/>
              </a:ext>
            </a:extLst>
          </p:cNvPr>
          <p:cNvSpPr>
            <a:spLocks noChangeArrowheads="1"/>
          </p:cNvSpPr>
          <p:nvPr/>
        </p:nvSpPr>
        <p:spPr bwMode="auto">
          <a:xfrm>
            <a:off x="3023298" y="2541593"/>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206" name="Rectangle 176">
            <a:extLst>
              <a:ext uri="{FF2B5EF4-FFF2-40B4-BE49-F238E27FC236}">
                <a16:creationId xmlns:a16="http://schemas.microsoft.com/office/drawing/2014/main" id="{DB8E7142-B3A3-8189-897F-13912FFE0E4D}"/>
              </a:ext>
            </a:extLst>
          </p:cNvPr>
          <p:cNvSpPr>
            <a:spLocks noChangeArrowheads="1"/>
          </p:cNvSpPr>
          <p:nvPr/>
        </p:nvSpPr>
        <p:spPr bwMode="auto">
          <a:xfrm>
            <a:off x="3009521" y="3131814"/>
            <a:ext cx="914400" cy="184666"/>
          </a:xfrm>
          <a:prstGeom prst="rect">
            <a:avLst/>
          </a:prstGeom>
          <a:noFill/>
          <a:ln w="9525">
            <a:noFill/>
            <a:miter lim="800000"/>
            <a:headEnd/>
            <a:tailEnd/>
          </a:ln>
        </p:spPr>
        <p:txBody>
          <a:bodyPr lIns="0" tIns="0" rIns="0" bIns="0" anchor="t" anchorCtr="0">
            <a:spAutoFit/>
          </a:bodyPr>
          <a:lstStyle/>
          <a:p>
            <a:pPr algn="ctr" fontAlgn="auto">
              <a:spcBef>
                <a:spcPts val="0"/>
              </a:spcBef>
              <a:spcAft>
                <a:spcPts val="0"/>
              </a:spcAft>
              <a:defRPr/>
            </a:pPr>
            <a:r>
              <a:rPr lang="en-US" sz="600" b="0" kern="0" dirty="0">
                <a:solidFill>
                  <a:prstClr val="black"/>
                </a:solidFill>
                <a:latin typeface="+mj-lt"/>
                <a:cs typeface="Calibri" panose="020F0502020204030204" pitchFamily="34" charset="0"/>
              </a:rPr>
              <a:t>Joint Bookrunner and Underwriter</a:t>
            </a:r>
          </a:p>
        </p:txBody>
      </p:sp>
      <p:sp>
        <p:nvSpPr>
          <p:cNvPr id="207" name="Rectangle 177">
            <a:extLst>
              <a:ext uri="{FF2B5EF4-FFF2-40B4-BE49-F238E27FC236}">
                <a16:creationId xmlns:a16="http://schemas.microsoft.com/office/drawing/2014/main" id="{EB834B5E-3953-CA6E-C076-8C483FDD6785}"/>
              </a:ext>
            </a:extLst>
          </p:cNvPr>
          <p:cNvSpPr>
            <a:spLocks noChangeArrowheads="1"/>
          </p:cNvSpPr>
          <p:nvPr/>
        </p:nvSpPr>
        <p:spPr bwMode="auto">
          <a:xfrm>
            <a:off x="3009521" y="2898705"/>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US$824.1m</a:t>
            </a:r>
          </a:p>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SG IPO</a:t>
            </a:r>
          </a:p>
        </p:txBody>
      </p:sp>
      <p:sp>
        <p:nvSpPr>
          <p:cNvPr id="208" name="Rectangle 180">
            <a:extLst>
              <a:ext uri="{FF2B5EF4-FFF2-40B4-BE49-F238E27FC236}">
                <a16:creationId xmlns:a16="http://schemas.microsoft.com/office/drawing/2014/main" id="{941EEBC7-13A8-3BD9-B3C4-3AE0E553ED25}"/>
              </a:ext>
            </a:extLst>
          </p:cNvPr>
          <p:cNvSpPr>
            <a:spLocks noChangeArrowheads="1"/>
          </p:cNvSpPr>
          <p:nvPr/>
        </p:nvSpPr>
        <p:spPr bwMode="auto">
          <a:xfrm>
            <a:off x="3009521" y="3546548"/>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July 2025</a:t>
            </a:r>
          </a:p>
        </p:txBody>
      </p:sp>
      <p:pic>
        <p:nvPicPr>
          <p:cNvPr id="209" name="Picture 208">
            <a:extLst>
              <a:ext uri="{FF2B5EF4-FFF2-40B4-BE49-F238E27FC236}">
                <a16:creationId xmlns:a16="http://schemas.microsoft.com/office/drawing/2014/main" id="{723597F6-412B-81A3-4FF6-2A7EF524802F}"/>
              </a:ext>
            </a:extLst>
          </p:cNvPr>
          <p:cNvPicPr>
            <a:picLocks noChangeAspect="1"/>
          </p:cNvPicPr>
          <p:nvPr/>
        </p:nvPicPr>
        <p:blipFill>
          <a:blip r:embed="rId11"/>
          <a:srcRect t="39033" b="40009"/>
          <a:stretch/>
        </p:blipFill>
        <p:spPr>
          <a:xfrm>
            <a:off x="3066671" y="2617376"/>
            <a:ext cx="774382" cy="162294"/>
          </a:xfrm>
          <a:prstGeom prst="rect">
            <a:avLst/>
          </a:prstGeom>
        </p:spPr>
      </p:pic>
      <p:sp>
        <p:nvSpPr>
          <p:cNvPr id="215" name="Rectangle 174">
            <a:extLst>
              <a:ext uri="{FF2B5EF4-FFF2-40B4-BE49-F238E27FC236}">
                <a16:creationId xmlns:a16="http://schemas.microsoft.com/office/drawing/2014/main" id="{E67BA506-D54B-5267-BEB9-324446FF360C}"/>
              </a:ext>
            </a:extLst>
          </p:cNvPr>
          <p:cNvSpPr>
            <a:spLocks noChangeArrowheads="1"/>
          </p:cNvSpPr>
          <p:nvPr/>
        </p:nvSpPr>
        <p:spPr bwMode="auto">
          <a:xfrm>
            <a:off x="2002036" y="2541593"/>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216" name="Rectangle 176">
            <a:extLst>
              <a:ext uri="{FF2B5EF4-FFF2-40B4-BE49-F238E27FC236}">
                <a16:creationId xmlns:a16="http://schemas.microsoft.com/office/drawing/2014/main" id="{201E7EA5-32EA-C939-4CC6-AE8802937BAE}"/>
              </a:ext>
            </a:extLst>
          </p:cNvPr>
          <p:cNvSpPr>
            <a:spLocks noChangeArrowheads="1"/>
          </p:cNvSpPr>
          <p:nvPr/>
        </p:nvSpPr>
        <p:spPr bwMode="auto">
          <a:xfrm>
            <a:off x="2002036" y="3131814"/>
            <a:ext cx="914400" cy="369332"/>
          </a:xfrm>
          <a:prstGeom prst="rect">
            <a:avLst/>
          </a:prstGeom>
          <a:noFill/>
          <a:ln w="9525">
            <a:noFill/>
            <a:miter lim="800000"/>
            <a:headEnd/>
            <a:tailEnd/>
          </a:ln>
        </p:spPr>
        <p:txBody>
          <a:bodyPr lIns="0" tIns="0" rIns="0" bIns="0" anchor="t" anchorCtr="0">
            <a:spAutoFit/>
          </a:bodyPr>
          <a:lstStyle/>
          <a:p>
            <a:pPr algn="ctr" fontAlgn="auto">
              <a:spcBef>
                <a:spcPts val="0"/>
              </a:spcBef>
              <a:spcAft>
                <a:spcPts val="0"/>
              </a:spcAft>
              <a:defRPr/>
            </a:pPr>
            <a:r>
              <a:rPr lang="en-US" sz="600" b="0" kern="0">
                <a:solidFill>
                  <a:prstClr val="black"/>
                </a:solidFill>
                <a:latin typeface="+mj-lt"/>
                <a:cs typeface="Calibri" panose="020F0502020204030204" pitchFamily="34" charset="0"/>
              </a:rPr>
              <a:t>Joint Issue Managers and Global Coordinators, Joint Bookrunners and Underwriters</a:t>
            </a:r>
          </a:p>
        </p:txBody>
      </p:sp>
      <p:sp>
        <p:nvSpPr>
          <p:cNvPr id="217" name="Rectangle 177">
            <a:extLst>
              <a:ext uri="{FF2B5EF4-FFF2-40B4-BE49-F238E27FC236}">
                <a16:creationId xmlns:a16="http://schemas.microsoft.com/office/drawing/2014/main" id="{AEA1FDF1-AA85-3DCC-F098-7A95536C7762}"/>
              </a:ext>
            </a:extLst>
          </p:cNvPr>
          <p:cNvSpPr>
            <a:spLocks noChangeArrowheads="1"/>
          </p:cNvSpPr>
          <p:nvPr/>
        </p:nvSpPr>
        <p:spPr bwMode="auto">
          <a:xfrm>
            <a:off x="2002036" y="2895086"/>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S$771.1m</a:t>
            </a:r>
          </a:p>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SG IPO</a:t>
            </a:r>
          </a:p>
        </p:txBody>
      </p:sp>
      <p:sp>
        <p:nvSpPr>
          <p:cNvPr id="218" name="Rectangle 180">
            <a:extLst>
              <a:ext uri="{FF2B5EF4-FFF2-40B4-BE49-F238E27FC236}">
                <a16:creationId xmlns:a16="http://schemas.microsoft.com/office/drawing/2014/main" id="{5D29C90A-C4A0-B530-0777-D60C1E7CEEB1}"/>
              </a:ext>
            </a:extLst>
          </p:cNvPr>
          <p:cNvSpPr>
            <a:spLocks noChangeArrowheads="1"/>
          </p:cNvSpPr>
          <p:nvPr/>
        </p:nvSpPr>
        <p:spPr bwMode="auto">
          <a:xfrm>
            <a:off x="2002036" y="3545980"/>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September 2025</a:t>
            </a:r>
          </a:p>
        </p:txBody>
      </p:sp>
      <p:pic>
        <p:nvPicPr>
          <p:cNvPr id="219" name="Picture 218">
            <a:extLst>
              <a:ext uri="{FF2B5EF4-FFF2-40B4-BE49-F238E27FC236}">
                <a16:creationId xmlns:a16="http://schemas.microsoft.com/office/drawing/2014/main" id="{9420A20F-127B-08A6-5E27-D7A512570CEA}"/>
              </a:ext>
            </a:extLst>
          </p:cNvPr>
          <p:cNvPicPr>
            <a:picLocks noChangeAspect="1"/>
          </p:cNvPicPr>
          <p:nvPr/>
        </p:nvPicPr>
        <p:blipFill>
          <a:blip r:embed="rId12"/>
          <a:stretch>
            <a:fillRect/>
          </a:stretch>
        </p:blipFill>
        <p:spPr>
          <a:xfrm>
            <a:off x="2136300" y="2612093"/>
            <a:ext cx="695168" cy="217743"/>
          </a:xfrm>
          <a:prstGeom prst="rect">
            <a:avLst/>
          </a:prstGeom>
        </p:spPr>
      </p:pic>
      <p:grpSp>
        <p:nvGrpSpPr>
          <p:cNvPr id="10" name="Group 9">
            <a:extLst>
              <a:ext uri="{FF2B5EF4-FFF2-40B4-BE49-F238E27FC236}">
                <a16:creationId xmlns:a16="http://schemas.microsoft.com/office/drawing/2014/main" id="{71B2C791-3120-1A5A-3D6D-B5A9B6DC7B41}"/>
              </a:ext>
            </a:extLst>
          </p:cNvPr>
          <p:cNvGrpSpPr/>
          <p:nvPr/>
        </p:nvGrpSpPr>
        <p:grpSpPr>
          <a:xfrm>
            <a:off x="5019019" y="4961198"/>
            <a:ext cx="2886887" cy="1115568"/>
            <a:chOff x="3642395" y="4961198"/>
            <a:chExt cx="2886887" cy="1115568"/>
          </a:xfrm>
        </p:grpSpPr>
        <p:sp>
          <p:nvSpPr>
            <p:cNvPr id="2263" name="Rectangle 174">
              <a:extLst>
                <a:ext uri="{FF2B5EF4-FFF2-40B4-BE49-F238E27FC236}">
                  <a16:creationId xmlns:a16="http://schemas.microsoft.com/office/drawing/2014/main" id="{03C00006-0C63-84E6-FB0C-79C9A5926F57}"/>
                </a:ext>
              </a:extLst>
            </p:cNvPr>
            <p:cNvSpPr>
              <a:spLocks noChangeArrowheads="1"/>
            </p:cNvSpPr>
            <p:nvPr/>
          </p:nvSpPr>
          <p:spPr bwMode="auto">
            <a:xfrm>
              <a:off x="5614882" y="4961198"/>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spcBef>
                  <a:spcPct val="50000"/>
                </a:spcBef>
                <a:defRPr/>
              </a:pPr>
              <a:endParaRPr lang="zh-TW" altLang="en-US" sz="600" b="0" kern="0">
                <a:solidFill>
                  <a:prstClr val="black"/>
                </a:solidFill>
                <a:latin typeface="+mj-lt"/>
                <a:ea typeface="DFKaiShu-GB5" panose="03000509000000000000" pitchFamily="65" charset="-128"/>
                <a:cs typeface="Calibri" panose="020F0502020204030204" pitchFamily="34" charset="0"/>
              </a:endParaRPr>
            </a:p>
          </p:txBody>
        </p:sp>
        <p:pic>
          <p:nvPicPr>
            <p:cNvPr id="2264" name="Picture 2263">
              <a:extLst>
                <a:ext uri="{FF2B5EF4-FFF2-40B4-BE49-F238E27FC236}">
                  <a16:creationId xmlns:a16="http://schemas.microsoft.com/office/drawing/2014/main" id="{0ABE2484-5854-007A-C4A0-C8EED4E841FB}"/>
                </a:ext>
              </a:extLst>
            </p:cNvPr>
            <p:cNvPicPr>
              <a:picLocks noChangeAspect="1"/>
            </p:cNvPicPr>
            <p:nvPr/>
          </p:nvPicPr>
          <p:blipFill>
            <a:blip r:embed="rId13"/>
            <a:stretch>
              <a:fillRect/>
            </a:stretch>
          </p:blipFill>
          <p:spPr>
            <a:xfrm>
              <a:off x="5756861" y="5022674"/>
              <a:ext cx="630443" cy="298274"/>
            </a:xfrm>
            <a:prstGeom prst="rect">
              <a:avLst/>
            </a:prstGeom>
          </p:spPr>
        </p:pic>
        <p:sp>
          <p:nvSpPr>
            <p:cNvPr id="2265" name="Rectangle 177">
              <a:extLst>
                <a:ext uri="{FF2B5EF4-FFF2-40B4-BE49-F238E27FC236}">
                  <a16:creationId xmlns:a16="http://schemas.microsoft.com/office/drawing/2014/main" id="{5E90DE3D-5474-CBB1-7428-0E119A2C2498}"/>
                </a:ext>
              </a:extLst>
            </p:cNvPr>
            <p:cNvSpPr>
              <a:spLocks noChangeArrowheads="1"/>
            </p:cNvSpPr>
            <p:nvPr/>
          </p:nvSpPr>
          <p:spPr bwMode="auto">
            <a:xfrm>
              <a:off x="5614882" y="5341644"/>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CN" sz="600" dirty="0">
                  <a:solidFill>
                    <a:srgbClr val="000000"/>
                  </a:solidFill>
                  <a:latin typeface="+mj-lt"/>
                  <a:ea typeface="DFKaiShu-GB5" panose="03000509000000000000" pitchFamily="65" charset="-128"/>
                  <a:cs typeface="Calibri" panose="020F0502020204030204" pitchFamily="34" charset="0"/>
                </a:rPr>
                <a:t>US$110m</a:t>
              </a:r>
              <a:endParaRPr lang="en-US" altLang="zh-TW" sz="600" dirty="0">
                <a:solidFill>
                  <a:srgbClr val="000000"/>
                </a:solidFill>
                <a:latin typeface="+mj-lt"/>
                <a:ea typeface="DFKaiShu-GB5" panose="03000509000000000000" pitchFamily="65" charset="-128"/>
                <a:cs typeface="Calibri" panose="020F0502020204030204" pitchFamily="34" charset="0"/>
              </a:endParaRPr>
            </a:p>
            <a:p>
              <a:pPr algn="ctr" eaLnBrk="0" hangingPunct="0">
                <a:spcBef>
                  <a:spcPts val="0"/>
                </a:spcBef>
                <a:defRPr/>
              </a:pPr>
              <a:r>
                <a:rPr lang="en-US" altLang="zh-TW" sz="600" dirty="0">
                  <a:solidFill>
                    <a:srgbClr val="000000"/>
                  </a:solidFill>
                  <a:latin typeface="+mj-lt"/>
                  <a:ea typeface="DFKaiShu-GB5" panose="03000509000000000000" pitchFamily="65" charset="-128"/>
                  <a:cs typeface="Calibri" panose="020F0502020204030204" pitchFamily="34" charset="0"/>
                </a:rPr>
                <a:t>Private Placement</a:t>
              </a:r>
            </a:p>
          </p:txBody>
        </p:sp>
        <p:sp>
          <p:nvSpPr>
            <p:cNvPr id="2266" name="Rectangle 176">
              <a:extLst>
                <a:ext uri="{FF2B5EF4-FFF2-40B4-BE49-F238E27FC236}">
                  <a16:creationId xmlns:a16="http://schemas.microsoft.com/office/drawing/2014/main" id="{3CA45646-73C4-902F-5F29-02474B710F88}"/>
                </a:ext>
              </a:extLst>
            </p:cNvPr>
            <p:cNvSpPr>
              <a:spLocks noChangeArrowheads="1"/>
            </p:cNvSpPr>
            <p:nvPr/>
          </p:nvSpPr>
          <p:spPr bwMode="auto">
            <a:xfrm>
              <a:off x="5614882" y="5641573"/>
              <a:ext cx="914400" cy="169163"/>
            </a:xfrm>
            <a:prstGeom prst="rect">
              <a:avLst/>
            </a:prstGeom>
            <a:noFill/>
            <a:ln w="9525">
              <a:noFill/>
              <a:miter lim="800000"/>
              <a:headEnd/>
              <a:tailEnd/>
            </a:ln>
          </p:spPr>
          <p:txBody>
            <a:bodyPr wrap="square" lIns="0" tIns="0" rIns="0" bIns="0" anchor="ctr">
              <a:spAutoFit/>
            </a:bodyPr>
            <a:lstStyle/>
            <a:p>
              <a:pPr algn="ctr" eaLnBrk="0" hangingPunct="0">
                <a:lnSpc>
                  <a:spcPct val="90000"/>
                </a:lnSpc>
                <a:spcBef>
                  <a:spcPts val="0"/>
                </a:spcBef>
                <a:spcAft>
                  <a:spcPts val="0"/>
                </a:spcAft>
                <a:buClr>
                  <a:srgbClr val="BE050A"/>
                </a:buClr>
                <a:defRPr/>
              </a:pPr>
              <a:r>
                <a:rPr lang="en-US" altLang="zh-TW" sz="600" b="0">
                  <a:solidFill>
                    <a:srgbClr val="000000"/>
                  </a:solidFill>
                  <a:latin typeface="+mj-lt"/>
                  <a:ea typeface="DFKaiShu-GB5" panose="03000509000000000000" pitchFamily="65" charset="-128"/>
                  <a:cs typeface="Calibri" panose="020F0502020204030204" pitchFamily="34" charset="0"/>
                </a:rPr>
                <a:t>Joint Global Coordinator and Underwriter</a:t>
              </a:r>
            </a:p>
          </p:txBody>
        </p:sp>
        <p:sp>
          <p:nvSpPr>
            <p:cNvPr id="2267" name="Rectangle 180">
              <a:extLst>
                <a:ext uri="{FF2B5EF4-FFF2-40B4-BE49-F238E27FC236}">
                  <a16:creationId xmlns:a16="http://schemas.microsoft.com/office/drawing/2014/main" id="{556CD875-580F-5E9C-2B6A-C0189E347549}"/>
                </a:ext>
              </a:extLst>
            </p:cNvPr>
            <p:cNvSpPr>
              <a:spLocks noChangeArrowheads="1"/>
            </p:cNvSpPr>
            <p:nvPr/>
          </p:nvSpPr>
          <p:spPr bwMode="auto">
            <a:xfrm>
              <a:off x="5614882" y="5952295"/>
              <a:ext cx="914400" cy="92333"/>
            </a:xfrm>
            <a:prstGeom prst="rect">
              <a:avLst/>
            </a:prstGeom>
            <a:noFill/>
            <a:ln w="9525">
              <a:noFill/>
              <a:miter lim="800000"/>
              <a:headEnd/>
              <a:tailEnd/>
            </a:ln>
          </p:spPr>
          <p:txBody>
            <a:bodyPr wrap="square" lIns="0" tIns="0" rIns="0" bIns="0">
              <a:spAutoFit/>
            </a:bodyPr>
            <a:lstStyle/>
            <a:p>
              <a:pPr algn="ctr" eaLnBrk="0" hangingPunct="0">
                <a:spcBef>
                  <a:spcPct val="50000"/>
                </a:spcBef>
                <a:defRPr/>
              </a:pPr>
              <a:r>
                <a:rPr lang="en-US" altLang="zh-TW" sz="600" b="0" dirty="0">
                  <a:solidFill>
                    <a:srgbClr val="000000"/>
                  </a:solidFill>
                  <a:latin typeface="+mj-lt"/>
                  <a:ea typeface="DFKaiShu-GB5" panose="03000509000000000000" pitchFamily="65" charset="-128"/>
                  <a:cs typeface="Calibri" panose="020F0502020204030204" pitchFamily="34" charset="0"/>
                </a:rPr>
                <a:t>July 2023</a:t>
              </a:r>
              <a:endParaRPr lang="zh-TW" altLang="en-US" sz="600" b="0" dirty="0">
                <a:solidFill>
                  <a:srgbClr val="000000"/>
                </a:solidFill>
                <a:latin typeface="+mj-lt"/>
                <a:ea typeface="DFKaiShu-GB5" panose="03000509000000000000" pitchFamily="65" charset="-128"/>
                <a:cs typeface="Calibri" panose="020F0502020204030204" pitchFamily="34" charset="0"/>
              </a:endParaRPr>
            </a:p>
          </p:txBody>
        </p:sp>
        <p:sp>
          <p:nvSpPr>
            <p:cNvPr id="2288" name="Rectangle 174">
              <a:extLst>
                <a:ext uri="{FF2B5EF4-FFF2-40B4-BE49-F238E27FC236}">
                  <a16:creationId xmlns:a16="http://schemas.microsoft.com/office/drawing/2014/main" id="{2ADB424A-EF7C-BEC6-4E28-70A7DC38BB69}"/>
                </a:ext>
              </a:extLst>
            </p:cNvPr>
            <p:cNvSpPr>
              <a:spLocks noChangeArrowheads="1"/>
            </p:cNvSpPr>
            <p:nvPr/>
          </p:nvSpPr>
          <p:spPr bwMode="auto">
            <a:xfrm>
              <a:off x="4646039" y="4961198"/>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spcBef>
                  <a:spcPct val="50000"/>
                </a:spcBef>
                <a:defRPr/>
              </a:pPr>
              <a:endParaRPr lang="zh-TW" altLang="en-US" sz="600" b="0" kern="0">
                <a:solidFill>
                  <a:prstClr val="black"/>
                </a:solidFill>
                <a:latin typeface="+mj-lt"/>
                <a:ea typeface="DFKaiShu-GB5" panose="03000509000000000000" pitchFamily="65" charset="-128"/>
                <a:cs typeface="Calibri" panose="020F0502020204030204" pitchFamily="34" charset="0"/>
              </a:endParaRPr>
            </a:p>
          </p:txBody>
        </p:sp>
        <p:sp>
          <p:nvSpPr>
            <p:cNvPr id="2289" name="Mainlogo 1">
              <a:extLst>
                <a:ext uri="{FF2B5EF4-FFF2-40B4-BE49-F238E27FC236}">
                  <a16:creationId xmlns:a16="http://schemas.microsoft.com/office/drawing/2014/main" id="{C4E1AB4D-E3FC-F5BC-B0CB-E19A42443C5B}"/>
                </a:ext>
              </a:extLst>
            </p:cNvPr>
            <p:cNvSpPr/>
            <p:nvPr/>
          </p:nvSpPr>
          <p:spPr>
            <a:xfrm>
              <a:off x="4676579" y="5045981"/>
              <a:ext cx="853321" cy="209970"/>
            </a:xfrm>
            <a:prstGeom prst="rect">
              <a:avLst/>
            </a:prstGeom>
            <a:blipFill>
              <a:blip r:embed="rId14"/>
              <a:stretch>
                <a:fillRect/>
              </a:stretch>
            </a:blipFill>
            <a:ln w="12700" cap="flat" cmpd="sng" algn="ctr">
              <a:noFill/>
              <a:prstDash val="solid"/>
              <a:miter lim="800000"/>
            </a:ln>
            <a:effectLst/>
          </p:spPr>
          <p:txBody>
            <a:bodyPr rtlCol="0" anchor="ctr"/>
            <a:lstStyle/>
            <a:p>
              <a:pPr algn="ctr" fontAlgn="auto">
                <a:spcBef>
                  <a:spcPts val="0"/>
                </a:spcBef>
                <a:spcAft>
                  <a:spcPts val="0"/>
                </a:spcAft>
                <a:defRPr/>
              </a:pPr>
              <a:endParaRPr lang="en-US" sz="1600" b="0" kern="0">
                <a:solidFill>
                  <a:prstClr val="white"/>
                </a:solidFill>
                <a:latin typeface="+mj-lt"/>
                <a:cs typeface="+mn-cs"/>
              </a:endParaRPr>
            </a:p>
          </p:txBody>
        </p:sp>
        <p:sp>
          <p:nvSpPr>
            <p:cNvPr id="2290" name="Rectangle 177">
              <a:extLst>
                <a:ext uri="{FF2B5EF4-FFF2-40B4-BE49-F238E27FC236}">
                  <a16:creationId xmlns:a16="http://schemas.microsoft.com/office/drawing/2014/main" id="{07C1EFAE-6E67-FCDD-654B-6A3C5DF3D101}"/>
                </a:ext>
              </a:extLst>
            </p:cNvPr>
            <p:cNvSpPr>
              <a:spLocks noChangeArrowheads="1"/>
            </p:cNvSpPr>
            <p:nvPr/>
          </p:nvSpPr>
          <p:spPr bwMode="auto">
            <a:xfrm>
              <a:off x="4646039" y="5310457"/>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CN" sz="600" dirty="0">
                  <a:solidFill>
                    <a:srgbClr val="000000"/>
                  </a:solidFill>
                  <a:latin typeface="+mj-lt"/>
                  <a:ea typeface="DFKaiShu-GB5" panose="03000509000000000000" pitchFamily="65" charset="-128"/>
                  <a:cs typeface="Calibri" panose="020F0502020204030204" pitchFamily="34" charset="0"/>
                </a:rPr>
                <a:t>US$220m</a:t>
              </a:r>
            </a:p>
            <a:p>
              <a:pPr algn="ctr" eaLnBrk="0" hangingPunct="0">
                <a:spcBef>
                  <a:spcPts val="0"/>
                </a:spcBef>
                <a:defRPr/>
              </a:pPr>
              <a:r>
                <a:rPr lang="en-US" altLang="zh-TW" sz="600" dirty="0">
                  <a:solidFill>
                    <a:srgbClr val="000000"/>
                  </a:solidFill>
                  <a:latin typeface="+mj-lt"/>
                  <a:ea typeface="DFKaiShu-GB5" panose="03000509000000000000" pitchFamily="65" charset="-128"/>
                  <a:cs typeface="Calibri" panose="020F0502020204030204" pitchFamily="34" charset="0"/>
                </a:rPr>
                <a:t>Private Placement</a:t>
              </a:r>
            </a:p>
          </p:txBody>
        </p:sp>
        <p:sp>
          <p:nvSpPr>
            <p:cNvPr id="2291" name="Rectangle 176">
              <a:extLst>
                <a:ext uri="{FF2B5EF4-FFF2-40B4-BE49-F238E27FC236}">
                  <a16:creationId xmlns:a16="http://schemas.microsoft.com/office/drawing/2014/main" id="{E63CB2E6-B1C6-8561-C545-631F75AB8B23}"/>
                </a:ext>
              </a:extLst>
            </p:cNvPr>
            <p:cNvSpPr>
              <a:spLocks noChangeArrowheads="1"/>
            </p:cNvSpPr>
            <p:nvPr/>
          </p:nvSpPr>
          <p:spPr bwMode="auto">
            <a:xfrm>
              <a:off x="4646039" y="5587655"/>
              <a:ext cx="914400" cy="276999"/>
            </a:xfrm>
            <a:prstGeom prst="rect">
              <a:avLst/>
            </a:prstGeom>
            <a:noFill/>
            <a:ln w="9525">
              <a:noFill/>
              <a:miter lim="800000"/>
              <a:headEnd/>
              <a:tailEnd/>
            </a:ln>
          </p:spPr>
          <p:txBody>
            <a:bodyPr wrap="square" lIns="0" tIns="0" rIns="0" bIns="0" anchor="ctr">
              <a:spAutoFit/>
            </a:bodyPr>
            <a:lstStyle/>
            <a:p>
              <a:pPr algn="ctr" fontAlgn="auto">
                <a:spcBef>
                  <a:spcPts val="0"/>
                </a:spcBef>
                <a:spcAft>
                  <a:spcPts val="0"/>
                </a:spcAft>
                <a:defRPr/>
              </a:pPr>
              <a:r>
                <a:rPr lang="en-SG" sz="600" b="0" kern="0">
                  <a:solidFill>
                    <a:prstClr val="black"/>
                  </a:solidFill>
                  <a:latin typeface="+mj-lt"/>
                  <a:cs typeface="Calibri" panose="020F0502020204030204" pitchFamily="34" charset="0"/>
                </a:rPr>
                <a:t>Joint Lead Managers, Joint Bookrunners and Underwriter</a:t>
              </a:r>
              <a:endParaRPr lang="en-GB" sz="600" b="0" kern="0">
                <a:solidFill>
                  <a:prstClr val="black"/>
                </a:solidFill>
                <a:latin typeface="+mj-lt"/>
                <a:cs typeface="Calibri" panose="020F0502020204030204" pitchFamily="34" charset="0"/>
              </a:endParaRPr>
            </a:p>
          </p:txBody>
        </p:sp>
        <p:sp>
          <p:nvSpPr>
            <p:cNvPr id="2292" name="Rectangle 180">
              <a:extLst>
                <a:ext uri="{FF2B5EF4-FFF2-40B4-BE49-F238E27FC236}">
                  <a16:creationId xmlns:a16="http://schemas.microsoft.com/office/drawing/2014/main" id="{0137340B-925A-02B6-634A-C432AFFDC370}"/>
                </a:ext>
              </a:extLst>
            </p:cNvPr>
            <p:cNvSpPr>
              <a:spLocks noChangeArrowheads="1"/>
            </p:cNvSpPr>
            <p:nvPr/>
          </p:nvSpPr>
          <p:spPr bwMode="auto">
            <a:xfrm>
              <a:off x="4646039" y="5963796"/>
              <a:ext cx="914400" cy="92333"/>
            </a:xfrm>
            <a:prstGeom prst="rect">
              <a:avLst/>
            </a:prstGeom>
            <a:noFill/>
            <a:ln w="9525">
              <a:noFill/>
              <a:miter lim="800000"/>
              <a:headEnd/>
              <a:tailEnd/>
            </a:ln>
          </p:spPr>
          <p:txBody>
            <a:bodyPr wrap="square" lIns="0" tIns="0" rIns="0" bIns="0">
              <a:spAutoFit/>
            </a:bodyPr>
            <a:lstStyle/>
            <a:p>
              <a:pPr algn="ctr" eaLnBrk="0" hangingPunct="0">
                <a:spcBef>
                  <a:spcPct val="50000"/>
                </a:spcBef>
                <a:defRPr/>
              </a:pPr>
              <a:r>
                <a:rPr lang="en-US" altLang="zh-TW" sz="600" b="0" dirty="0">
                  <a:solidFill>
                    <a:srgbClr val="000000"/>
                  </a:solidFill>
                  <a:latin typeface="+mj-lt"/>
                  <a:ea typeface="DFKaiShu-GB5" panose="03000509000000000000" pitchFamily="65" charset="-128"/>
                  <a:cs typeface="Calibri" panose="020F0502020204030204" pitchFamily="34" charset="0"/>
                </a:rPr>
                <a:t>September 2023</a:t>
              </a:r>
              <a:endParaRPr lang="zh-TW" altLang="en-US" sz="600" b="0" dirty="0">
                <a:solidFill>
                  <a:srgbClr val="000000"/>
                </a:solidFill>
                <a:latin typeface="+mj-lt"/>
                <a:ea typeface="DFKaiShu-GB5" panose="03000509000000000000" pitchFamily="65" charset="-128"/>
                <a:cs typeface="Calibri" panose="020F0502020204030204" pitchFamily="34" charset="0"/>
              </a:endParaRPr>
            </a:p>
          </p:txBody>
        </p:sp>
        <p:sp>
          <p:nvSpPr>
            <p:cNvPr id="2293" name="Rectangle 174">
              <a:extLst>
                <a:ext uri="{FF2B5EF4-FFF2-40B4-BE49-F238E27FC236}">
                  <a16:creationId xmlns:a16="http://schemas.microsoft.com/office/drawing/2014/main" id="{BCAE8DC7-B620-7D1A-BD07-024DC43E5A3E}"/>
                </a:ext>
              </a:extLst>
            </p:cNvPr>
            <p:cNvSpPr>
              <a:spLocks noChangeArrowheads="1"/>
            </p:cNvSpPr>
            <p:nvPr/>
          </p:nvSpPr>
          <p:spPr bwMode="auto">
            <a:xfrm>
              <a:off x="3646782" y="4961198"/>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2294" name="Rectangle 176">
              <a:extLst>
                <a:ext uri="{FF2B5EF4-FFF2-40B4-BE49-F238E27FC236}">
                  <a16:creationId xmlns:a16="http://schemas.microsoft.com/office/drawing/2014/main" id="{D9013DD2-2F68-255F-2879-E6E35741E6D2}"/>
                </a:ext>
              </a:extLst>
            </p:cNvPr>
            <p:cNvSpPr>
              <a:spLocks noChangeArrowheads="1"/>
            </p:cNvSpPr>
            <p:nvPr/>
          </p:nvSpPr>
          <p:spPr bwMode="auto">
            <a:xfrm>
              <a:off x="3642395" y="5684604"/>
              <a:ext cx="923174" cy="83100"/>
            </a:xfrm>
            <a:prstGeom prst="rect">
              <a:avLst/>
            </a:prstGeom>
            <a:noFill/>
            <a:ln w="9525">
              <a:noFill/>
              <a:miter lim="800000"/>
              <a:headEnd/>
              <a:tailEnd/>
            </a:ln>
          </p:spPr>
          <p:txBody>
            <a:bodyPr lIns="0" tIns="0" rIns="0" bIns="0" anchor="ctr">
              <a:spAutoFit/>
            </a:bodyPr>
            <a:lstStyle/>
            <a:p>
              <a:pPr algn="ctr" fontAlgn="auto">
                <a:lnSpc>
                  <a:spcPct val="90000"/>
                </a:lnSpc>
                <a:spcBef>
                  <a:spcPts val="0"/>
                </a:spcBef>
                <a:spcAft>
                  <a:spcPts val="0"/>
                </a:spcAft>
                <a:buClr>
                  <a:srgbClr val="BE050A"/>
                </a:buClr>
                <a:defRPr/>
              </a:pPr>
              <a:r>
                <a:rPr lang="en-US" altLang="zh-CN" sz="600" b="0">
                  <a:solidFill>
                    <a:srgbClr val="000000"/>
                  </a:solidFill>
                  <a:latin typeface="+mj-lt"/>
                  <a:ea typeface="DFKaiShu-GB5"/>
                  <a:cs typeface="Calibri" panose="020F0502020204030204" pitchFamily="34" charset="0"/>
                </a:rPr>
                <a:t>Joint Underwriter</a:t>
              </a:r>
            </a:p>
          </p:txBody>
        </p:sp>
        <p:sp>
          <p:nvSpPr>
            <p:cNvPr id="2295" name="Rectangle 180">
              <a:extLst>
                <a:ext uri="{FF2B5EF4-FFF2-40B4-BE49-F238E27FC236}">
                  <a16:creationId xmlns:a16="http://schemas.microsoft.com/office/drawing/2014/main" id="{CD1C9160-875A-EFB2-CB5B-34B2C974F46B}"/>
                </a:ext>
              </a:extLst>
            </p:cNvPr>
            <p:cNvSpPr>
              <a:spLocks noChangeArrowheads="1"/>
            </p:cNvSpPr>
            <p:nvPr/>
          </p:nvSpPr>
          <p:spPr bwMode="auto">
            <a:xfrm>
              <a:off x="3642395" y="5966495"/>
              <a:ext cx="923174" cy="89634"/>
            </a:xfrm>
            <a:prstGeom prst="rect">
              <a:avLst/>
            </a:prstGeom>
            <a:noFill/>
            <a:ln w="9525">
              <a:noFill/>
              <a:miter lim="800000"/>
              <a:headEnd/>
              <a:tailEnd/>
            </a:ln>
          </p:spPr>
          <p:txBody>
            <a:bodyPr wrap="none" lIns="0" tIns="0" rIns="0" bIns="0">
              <a:noAutofit/>
            </a:bodyPr>
            <a:lstStyle/>
            <a:p>
              <a:pPr lvl="0" algn="ctr">
                <a:defRPr/>
              </a:pPr>
              <a:r>
                <a:rPr lang="en-US" altLang="zh-TW" sz="600" b="0" dirty="0">
                  <a:solidFill>
                    <a:srgbClr val="000000"/>
                  </a:solidFill>
                  <a:latin typeface="+mj-lt"/>
                  <a:cs typeface="Calibri" panose="020F0502020204030204" pitchFamily="34" charset="0"/>
                </a:rPr>
                <a:t>January</a:t>
              </a:r>
              <a:r>
                <a:rPr lang="en-US" altLang="zh-TW" sz="600" dirty="0">
                  <a:solidFill>
                    <a:srgbClr val="000000"/>
                  </a:solidFill>
                  <a:latin typeface="+mj-lt"/>
                  <a:cs typeface="Calibri" panose="020F0502020204030204" pitchFamily="34" charset="0"/>
                </a:rPr>
                <a:t> </a:t>
              </a:r>
              <a:r>
                <a:rPr lang="en-US" altLang="zh-TW" sz="600" b="0" dirty="0">
                  <a:solidFill>
                    <a:srgbClr val="000000"/>
                  </a:solidFill>
                  <a:latin typeface="+mj-lt"/>
                  <a:ea typeface="DFKaiShu-GB5"/>
                  <a:cs typeface="Calibri" panose="020F0502020204030204" pitchFamily="34" charset="0"/>
                </a:rPr>
                <a:t>2024</a:t>
              </a:r>
              <a:endParaRPr lang="zh-TW" altLang="en-US" sz="600" b="0" dirty="0">
                <a:solidFill>
                  <a:srgbClr val="000000"/>
                </a:solidFill>
                <a:latin typeface="+mj-lt"/>
                <a:ea typeface="DFKaiShu-GB5"/>
                <a:cs typeface="Calibri" panose="020F0502020204030204" pitchFamily="34" charset="0"/>
              </a:endParaRPr>
            </a:p>
          </p:txBody>
        </p:sp>
        <p:sp>
          <p:nvSpPr>
            <p:cNvPr id="2296" name="Rectangle 177">
              <a:extLst>
                <a:ext uri="{FF2B5EF4-FFF2-40B4-BE49-F238E27FC236}">
                  <a16:creationId xmlns:a16="http://schemas.microsoft.com/office/drawing/2014/main" id="{48408D01-A463-5A03-48F8-46F39866EBCF}"/>
                </a:ext>
              </a:extLst>
            </p:cNvPr>
            <p:cNvSpPr>
              <a:spLocks noChangeArrowheads="1"/>
            </p:cNvSpPr>
            <p:nvPr/>
          </p:nvSpPr>
          <p:spPr bwMode="auto">
            <a:xfrm>
              <a:off x="3642395" y="5310457"/>
              <a:ext cx="923174"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mn-cs"/>
                </a:rPr>
                <a:t>US$150m</a:t>
              </a:r>
            </a:p>
            <a:p>
              <a:pPr algn="ctr" eaLnBrk="0" hangingPunct="0">
                <a:spcBef>
                  <a:spcPts val="0"/>
                </a:spcBef>
                <a:defRPr/>
              </a:pPr>
              <a:r>
                <a:rPr lang="en-US" altLang="zh-TW" sz="600" dirty="0">
                  <a:solidFill>
                    <a:srgbClr val="000000"/>
                  </a:solidFill>
                  <a:latin typeface="+mj-lt"/>
                  <a:ea typeface="DFKaiShu-GB5"/>
                  <a:cs typeface="+mn-cs"/>
                </a:rPr>
                <a:t>Placement</a:t>
              </a:r>
            </a:p>
          </p:txBody>
        </p:sp>
        <p:pic>
          <p:nvPicPr>
            <p:cNvPr id="2297" name="Picture 2296">
              <a:extLst>
                <a:ext uri="{FF2B5EF4-FFF2-40B4-BE49-F238E27FC236}">
                  <a16:creationId xmlns:a16="http://schemas.microsoft.com/office/drawing/2014/main" id="{05B734B0-8DC3-8458-149C-7562DB40C232}"/>
                </a:ext>
              </a:extLst>
            </p:cNvPr>
            <p:cNvPicPr>
              <a:picLocks noChangeAspect="1"/>
            </p:cNvPicPr>
            <p:nvPr/>
          </p:nvPicPr>
          <p:blipFill>
            <a:blip r:embed="rId15"/>
            <a:srcRect/>
            <a:stretch/>
          </p:blipFill>
          <p:spPr>
            <a:xfrm>
              <a:off x="3729969" y="4982819"/>
              <a:ext cx="697560" cy="336294"/>
            </a:xfrm>
            <a:prstGeom prst="rect">
              <a:avLst/>
            </a:prstGeom>
          </p:spPr>
        </p:pic>
      </p:grpSp>
      <p:grpSp>
        <p:nvGrpSpPr>
          <p:cNvPr id="15" name="Group 14">
            <a:extLst>
              <a:ext uri="{FF2B5EF4-FFF2-40B4-BE49-F238E27FC236}">
                <a16:creationId xmlns:a16="http://schemas.microsoft.com/office/drawing/2014/main" id="{61A028EE-ED48-6EFF-2DA1-74DB88B54449}"/>
              </a:ext>
            </a:extLst>
          </p:cNvPr>
          <p:cNvGrpSpPr/>
          <p:nvPr/>
        </p:nvGrpSpPr>
        <p:grpSpPr>
          <a:xfrm>
            <a:off x="4027782" y="4961198"/>
            <a:ext cx="923174" cy="1115568"/>
            <a:chOff x="6606118" y="3751396"/>
            <a:chExt cx="923174" cy="1115568"/>
          </a:xfrm>
        </p:grpSpPr>
        <p:sp>
          <p:nvSpPr>
            <p:cNvPr id="2298" name="Rectangle 174">
              <a:extLst>
                <a:ext uri="{FF2B5EF4-FFF2-40B4-BE49-F238E27FC236}">
                  <a16:creationId xmlns:a16="http://schemas.microsoft.com/office/drawing/2014/main" id="{8498DDDE-4E95-DAF3-9EDA-52D1FFE18D79}"/>
                </a:ext>
              </a:extLst>
            </p:cNvPr>
            <p:cNvSpPr>
              <a:spLocks noChangeArrowheads="1"/>
            </p:cNvSpPr>
            <p:nvPr/>
          </p:nvSpPr>
          <p:spPr bwMode="auto">
            <a:xfrm>
              <a:off x="6610505" y="3751396"/>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2299" name="Rectangle 176">
              <a:extLst>
                <a:ext uri="{FF2B5EF4-FFF2-40B4-BE49-F238E27FC236}">
                  <a16:creationId xmlns:a16="http://schemas.microsoft.com/office/drawing/2014/main" id="{D5E977C3-24FB-AFA2-928C-AC0E5145B820}"/>
                </a:ext>
              </a:extLst>
            </p:cNvPr>
            <p:cNvSpPr>
              <a:spLocks noChangeArrowheads="1"/>
            </p:cNvSpPr>
            <p:nvPr/>
          </p:nvSpPr>
          <p:spPr bwMode="auto">
            <a:xfrm>
              <a:off x="6606118" y="4424896"/>
              <a:ext cx="923174" cy="166199"/>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a:solidFill>
                    <a:srgbClr val="000000"/>
                  </a:solidFill>
                  <a:latin typeface="+mj-lt"/>
                  <a:ea typeface="DFKaiShu-GB5"/>
                  <a:cs typeface="Calibri" panose="020F0502020204030204" pitchFamily="34" charset="0"/>
                </a:rPr>
                <a:t>Joint Bookrunners and Underwriters</a:t>
              </a:r>
            </a:p>
          </p:txBody>
        </p:sp>
        <p:sp>
          <p:nvSpPr>
            <p:cNvPr id="2300" name="Rectangle 180">
              <a:extLst>
                <a:ext uri="{FF2B5EF4-FFF2-40B4-BE49-F238E27FC236}">
                  <a16:creationId xmlns:a16="http://schemas.microsoft.com/office/drawing/2014/main" id="{47162E97-8656-0FD9-6EBD-2FFD52BBBF8F}"/>
                </a:ext>
              </a:extLst>
            </p:cNvPr>
            <p:cNvSpPr>
              <a:spLocks noChangeArrowheads="1"/>
            </p:cNvSpPr>
            <p:nvPr/>
          </p:nvSpPr>
          <p:spPr bwMode="auto">
            <a:xfrm>
              <a:off x="6606118" y="4756693"/>
              <a:ext cx="923174" cy="89634"/>
            </a:xfrm>
            <a:prstGeom prst="rect">
              <a:avLst/>
            </a:prstGeom>
            <a:noFill/>
            <a:ln w="9525">
              <a:noFill/>
              <a:miter lim="800000"/>
              <a:headEnd/>
              <a:tailEnd/>
            </a:ln>
          </p:spPr>
          <p:txBody>
            <a:bodyPr wrap="none" lIns="0" tIns="0" rIns="0" bIns="0">
              <a:noAutofit/>
            </a:bodyPr>
            <a:lstStyle/>
            <a:p>
              <a:pPr algn="ctr" fontAlgn="auto">
                <a:spcBef>
                  <a:spcPts val="0"/>
                </a:spcBef>
                <a:spcAft>
                  <a:spcPts val="0"/>
                </a:spcAft>
                <a:defRPr/>
              </a:pPr>
              <a:r>
                <a:rPr lang="en-US" altLang="zh-TW" sz="600" b="0" dirty="0">
                  <a:solidFill>
                    <a:srgbClr val="000000"/>
                  </a:solidFill>
                  <a:latin typeface="+mj-lt"/>
                  <a:ea typeface="DFKaiShu-GB5"/>
                  <a:cs typeface="Calibri" panose="020F0502020204030204" pitchFamily="34" charset="0"/>
                </a:rPr>
                <a:t>February 2024</a:t>
              </a:r>
              <a:endParaRPr lang="zh-TW" altLang="en-US" sz="600" b="0" dirty="0">
                <a:solidFill>
                  <a:srgbClr val="000000"/>
                </a:solidFill>
                <a:latin typeface="+mj-lt"/>
                <a:ea typeface="DFKaiShu-GB5"/>
                <a:cs typeface="Calibri" panose="020F0502020204030204" pitchFamily="34" charset="0"/>
              </a:endParaRPr>
            </a:p>
          </p:txBody>
        </p:sp>
        <p:sp>
          <p:nvSpPr>
            <p:cNvPr id="2301" name="Rectangle 177">
              <a:extLst>
                <a:ext uri="{FF2B5EF4-FFF2-40B4-BE49-F238E27FC236}">
                  <a16:creationId xmlns:a16="http://schemas.microsoft.com/office/drawing/2014/main" id="{E5D37BA0-6EB4-2600-87F0-DDE80AB045FC}"/>
                </a:ext>
              </a:extLst>
            </p:cNvPr>
            <p:cNvSpPr>
              <a:spLocks noChangeArrowheads="1"/>
            </p:cNvSpPr>
            <p:nvPr/>
          </p:nvSpPr>
          <p:spPr bwMode="auto">
            <a:xfrm>
              <a:off x="6606118" y="4100655"/>
              <a:ext cx="923174"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mn-cs"/>
                </a:rPr>
                <a:t>US$120m</a:t>
              </a:r>
            </a:p>
            <a:p>
              <a:pPr algn="ctr" eaLnBrk="0" hangingPunct="0">
                <a:spcBef>
                  <a:spcPts val="0"/>
                </a:spcBef>
                <a:defRPr/>
              </a:pPr>
              <a:r>
                <a:rPr lang="en-US" altLang="zh-TW" sz="600" dirty="0">
                  <a:solidFill>
                    <a:srgbClr val="000000"/>
                  </a:solidFill>
                  <a:latin typeface="+mj-lt"/>
                  <a:ea typeface="DFKaiShu-GB5"/>
                  <a:cs typeface="+mn-cs"/>
                </a:rPr>
                <a:t>Placement</a:t>
              </a:r>
            </a:p>
          </p:txBody>
        </p:sp>
        <p:sp>
          <p:nvSpPr>
            <p:cNvPr id="2302" name="Mainlogo 1">
              <a:extLst>
                <a:ext uri="{FF2B5EF4-FFF2-40B4-BE49-F238E27FC236}">
                  <a16:creationId xmlns:a16="http://schemas.microsoft.com/office/drawing/2014/main" id="{18B05A85-79B1-1C21-E554-9BD0A6E7EF24}"/>
                </a:ext>
              </a:extLst>
            </p:cNvPr>
            <p:cNvSpPr/>
            <p:nvPr/>
          </p:nvSpPr>
          <p:spPr>
            <a:xfrm>
              <a:off x="6696997" y="3801637"/>
              <a:ext cx="703401" cy="279055"/>
            </a:xfrm>
            <a:prstGeom prst="rect">
              <a:avLst/>
            </a:prstGeom>
            <a:blipFill>
              <a:blip r:embed="rId16"/>
              <a:stretch>
                <a:fillRect l="-28767" t="3528" r="-40274" b="-6128"/>
              </a:stretch>
            </a:blipFill>
            <a:ln w="12700" cap="flat" cmpd="sng" algn="ctr">
              <a:noFill/>
              <a:prstDash val="solid"/>
              <a:miter lim="800000"/>
            </a:ln>
            <a:effectLst/>
          </p:spPr>
          <p:txBody>
            <a:bodyPr rtlCol="0" anchor="ctr"/>
            <a:lstStyle/>
            <a:p>
              <a:pPr algn="ctr" fontAlgn="auto">
                <a:spcBef>
                  <a:spcPts val="0"/>
                </a:spcBef>
                <a:spcAft>
                  <a:spcPts val="0"/>
                </a:spcAft>
                <a:defRPr/>
              </a:pPr>
              <a:endParaRPr lang="en-US" sz="1600" b="0" kern="0">
                <a:solidFill>
                  <a:prstClr val="white"/>
                </a:solidFill>
                <a:latin typeface="+mj-lt"/>
                <a:cs typeface="+mn-cs"/>
              </a:endParaRPr>
            </a:p>
          </p:txBody>
        </p:sp>
      </p:grpSp>
      <p:sp>
        <p:nvSpPr>
          <p:cNvPr id="151" name="Rectangle 174">
            <a:extLst>
              <a:ext uri="{FF2B5EF4-FFF2-40B4-BE49-F238E27FC236}">
                <a16:creationId xmlns:a16="http://schemas.microsoft.com/office/drawing/2014/main" id="{7A45373C-6E94-645B-F1DF-B68BC96BC423}"/>
              </a:ext>
            </a:extLst>
          </p:cNvPr>
          <p:cNvSpPr>
            <a:spLocks noChangeArrowheads="1"/>
          </p:cNvSpPr>
          <p:nvPr/>
        </p:nvSpPr>
        <p:spPr bwMode="auto">
          <a:xfrm>
            <a:off x="4027782" y="3751396"/>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152" name="Rectangle 176">
            <a:extLst>
              <a:ext uri="{FF2B5EF4-FFF2-40B4-BE49-F238E27FC236}">
                <a16:creationId xmlns:a16="http://schemas.microsoft.com/office/drawing/2014/main" id="{72A721A7-14E8-1B55-EB8D-6F4667D917A4}"/>
              </a:ext>
            </a:extLst>
          </p:cNvPr>
          <p:cNvSpPr>
            <a:spLocks noChangeArrowheads="1"/>
          </p:cNvSpPr>
          <p:nvPr/>
        </p:nvSpPr>
        <p:spPr bwMode="auto">
          <a:xfrm>
            <a:off x="4021966" y="4466445"/>
            <a:ext cx="923174" cy="83100"/>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dirty="0">
                <a:solidFill>
                  <a:srgbClr val="000000"/>
                </a:solidFill>
                <a:latin typeface="+mj-lt"/>
                <a:ea typeface="DFKaiShu-GB5"/>
                <a:cs typeface="Calibri" panose="020F0502020204030204" pitchFamily="34" charset="0"/>
              </a:rPr>
              <a:t>Underwriter</a:t>
            </a:r>
          </a:p>
        </p:txBody>
      </p:sp>
      <p:sp>
        <p:nvSpPr>
          <p:cNvPr id="153" name="Rectangle 180">
            <a:extLst>
              <a:ext uri="{FF2B5EF4-FFF2-40B4-BE49-F238E27FC236}">
                <a16:creationId xmlns:a16="http://schemas.microsoft.com/office/drawing/2014/main" id="{CAA9B812-7F3C-5320-8CA4-612800E23767}"/>
              </a:ext>
            </a:extLst>
          </p:cNvPr>
          <p:cNvSpPr>
            <a:spLocks noChangeArrowheads="1"/>
          </p:cNvSpPr>
          <p:nvPr/>
        </p:nvSpPr>
        <p:spPr bwMode="auto">
          <a:xfrm>
            <a:off x="4023395" y="4756693"/>
            <a:ext cx="923174" cy="89634"/>
          </a:xfrm>
          <a:prstGeom prst="rect">
            <a:avLst/>
          </a:prstGeom>
          <a:noFill/>
          <a:ln w="9525">
            <a:noFill/>
            <a:miter lim="800000"/>
            <a:headEnd/>
            <a:tailEnd/>
          </a:ln>
        </p:spPr>
        <p:txBody>
          <a:bodyPr wrap="none" lIns="0" tIns="0" rIns="0" bIns="0">
            <a:noAutofit/>
          </a:bodyPr>
          <a:lstStyle/>
          <a:p>
            <a:pPr lvl="0" algn="ctr">
              <a:defRPr/>
            </a:pPr>
            <a:r>
              <a:rPr lang="en-US" altLang="zh-TW" sz="600" b="0" dirty="0">
                <a:solidFill>
                  <a:srgbClr val="000000"/>
                </a:solidFill>
                <a:latin typeface="+mj-lt"/>
                <a:cs typeface="Calibri" panose="020F0502020204030204" pitchFamily="34" charset="0"/>
              </a:rPr>
              <a:t>November</a:t>
            </a:r>
            <a:r>
              <a:rPr lang="en-US" altLang="zh-CN" sz="600" b="0" dirty="0">
                <a:solidFill>
                  <a:srgbClr val="000000"/>
                </a:solidFill>
                <a:latin typeface="+mj-lt"/>
                <a:ea typeface="DFKaiShu-GB5"/>
                <a:cs typeface="Calibri" panose="020F0502020204030204" pitchFamily="34" charset="0"/>
              </a:rPr>
              <a:t> </a:t>
            </a:r>
            <a:r>
              <a:rPr lang="en-US" altLang="zh-TW" sz="600" b="0" dirty="0">
                <a:solidFill>
                  <a:srgbClr val="000000"/>
                </a:solidFill>
                <a:latin typeface="+mj-lt"/>
                <a:ea typeface="DFKaiShu-GB5"/>
                <a:cs typeface="Calibri" panose="020F0502020204030204" pitchFamily="34" charset="0"/>
              </a:rPr>
              <a:t>2024</a:t>
            </a:r>
            <a:endParaRPr lang="zh-TW" altLang="en-US" sz="600" b="0" dirty="0">
              <a:solidFill>
                <a:srgbClr val="000000"/>
              </a:solidFill>
              <a:latin typeface="+mj-lt"/>
              <a:ea typeface="DFKaiShu-GB5"/>
              <a:cs typeface="Calibri" panose="020F0502020204030204" pitchFamily="34" charset="0"/>
            </a:endParaRPr>
          </a:p>
        </p:txBody>
      </p:sp>
      <p:sp>
        <p:nvSpPr>
          <p:cNvPr id="154" name="Rectangle 177">
            <a:extLst>
              <a:ext uri="{FF2B5EF4-FFF2-40B4-BE49-F238E27FC236}">
                <a16:creationId xmlns:a16="http://schemas.microsoft.com/office/drawing/2014/main" id="{35986C89-4DD5-0D8A-8B54-9ED0FD41F3E0}"/>
              </a:ext>
            </a:extLst>
          </p:cNvPr>
          <p:cNvSpPr>
            <a:spLocks noChangeArrowheads="1"/>
          </p:cNvSpPr>
          <p:nvPr/>
        </p:nvSpPr>
        <p:spPr bwMode="auto">
          <a:xfrm>
            <a:off x="4023395" y="4092692"/>
            <a:ext cx="923174"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mn-cs"/>
              </a:rPr>
              <a:t>US$520m</a:t>
            </a:r>
          </a:p>
          <a:p>
            <a:pPr algn="ctr" eaLnBrk="0" hangingPunct="0">
              <a:spcBef>
                <a:spcPts val="0"/>
              </a:spcBef>
              <a:defRPr/>
            </a:pPr>
            <a:r>
              <a:rPr lang="en-US" altLang="zh-TW" sz="600" dirty="0">
                <a:solidFill>
                  <a:srgbClr val="000000"/>
                </a:solidFill>
                <a:latin typeface="+mj-lt"/>
                <a:ea typeface="DFKaiShu-GB5"/>
                <a:cs typeface="+mn-cs"/>
              </a:rPr>
              <a:t>Preferential Offering</a:t>
            </a:r>
          </a:p>
        </p:txBody>
      </p:sp>
      <p:pic>
        <p:nvPicPr>
          <p:cNvPr id="155" name="Picture 154">
            <a:extLst>
              <a:ext uri="{FF2B5EF4-FFF2-40B4-BE49-F238E27FC236}">
                <a16:creationId xmlns:a16="http://schemas.microsoft.com/office/drawing/2014/main" id="{04E8715D-D559-D604-4C30-154E9C272351}"/>
              </a:ext>
            </a:extLst>
          </p:cNvPr>
          <p:cNvPicPr>
            <a:picLocks noChangeAspect="1"/>
          </p:cNvPicPr>
          <p:nvPr/>
        </p:nvPicPr>
        <p:blipFill>
          <a:blip r:embed="rId17"/>
          <a:stretch>
            <a:fillRect/>
          </a:stretch>
        </p:blipFill>
        <p:spPr>
          <a:xfrm>
            <a:off x="4140280" y="3868872"/>
            <a:ext cx="699942" cy="112631"/>
          </a:xfrm>
          <a:prstGeom prst="rect">
            <a:avLst/>
          </a:prstGeom>
        </p:spPr>
      </p:pic>
      <p:grpSp>
        <p:nvGrpSpPr>
          <p:cNvPr id="18" name="Group 17">
            <a:extLst>
              <a:ext uri="{FF2B5EF4-FFF2-40B4-BE49-F238E27FC236}">
                <a16:creationId xmlns:a16="http://schemas.microsoft.com/office/drawing/2014/main" id="{98BEBE37-A2C2-09B2-D334-D4AC72C22F5A}"/>
              </a:ext>
            </a:extLst>
          </p:cNvPr>
          <p:cNvGrpSpPr/>
          <p:nvPr/>
        </p:nvGrpSpPr>
        <p:grpSpPr>
          <a:xfrm>
            <a:off x="6008073" y="3751396"/>
            <a:ext cx="1897833" cy="1115568"/>
            <a:chOff x="4635836" y="3751396"/>
            <a:chExt cx="1897833" cy="1115568"/>
          </a:xfrm>
        </p:grpSpPr>
        <p:sp>
          <p:nvSpPr>
            <p:cNvPr id="2303" name="Rectangle 174">
              <a:extLst>
                <a:ext uri="{FF2B5EF4-FFF2-40B4-BE49-F238E27FC236}">
                  <a16:creationId xmlns:a16="http://schemas.microsoft.com/office/drawing/2014/main" id="{F651F0D8-DF8B-9956-C23B-13CED578FA3B}"/>
                </a:ext>
              </a:extLst>
            </p:cNvPr>
            <p:cNvSpPr>
              <a:spLocks noChangeArrowheads="1"/>
            </p:cNvSpPr>
            <p:nvPr/>
          </p:nvSpPr>
          <p:spPr bwMode="auto">
            <a:xfrm>
              <a:off x="5614882" y="3751396"/>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128" name="Rectangle 176">
              <a:extLst>
                <a:ext uri="{FF2B5EF4-FFF2-40B4-BE49-F238E27FC236}">
                  <a16:creationId xmlns:a16="http://schemas.microsoft.com/office/drawing/2014/main" id="{475F281D-52CE-AF18-FC8B-AF892D713003}"/>
                </a:ext>
              </a:extLst>
            </p:cNvPr>
            <p:cNvSpPr>
              <a:spLocks noChangeArrowheads="1"/>
            </p:cNvSpPr>
            <p:nvPr/>
          </p:nvSpPr>
          <p:spPr bwMode="auto">
            <a:xfrm>
              <a:off x="5610495" y="4383346"/>
              <a:ext cx="923174" cy="249299"/>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a:solidFill>
                    <a:srgbClr val="000000"/>
                  </a:solidFill>
                  <a:latin typeface="+mj-lt"/>
                  <a:ea typeface="DFKaiShu-GB5"/>
                  <a:cs typeface="Calibri" panose="020F0502020204030204" pitchFamily="34" charset="0"/>
                </a:rPr>
                <a:t>Joint Lead Manager, Bookrunners and Underwriter</a:t>
              </a:r>
            </a:p>
          </p:txBody>
        </p:sp>
        <p:sp>
          <p:nvSpPr>
            <p:cNvPr id="129" name="Rectangle 180">
              <a:extLst>
                <a:ext uri="{FF2B5EF4-FFF2-40B4-BE49-F238E27FC236}">
                  <a16:creationId xmlns:a16="http://schemas.microsoft.com/office/drawing/2014/main" id="{DE326004-957C-66BC-7CF5-E9756E81EFA9}"/>
                </a:ext>
              </a:extLst>
            </p:cNvPr>
            <p:cNvSpPr>
              <a:spLocks noChangeArrowheads="1"/>
            </p:cNvSpPr>
            <p:nvPr/>
          </p:nvSpPr>
          <p:spPr bwMode="auto">
            <a:xfrm>
              <a:off x="5610495" y="4756693"/>
              <a:ext cx="923174" cy="89634"/>
            </a:xfrm>
            <a:prstGeom prst="rect">
              <a:avLst/>
            </a:prstGeom>
            <a:noFill/>
            <a:ln w="9525">
              <a:noFill/>
              <a:miter lim="800000"/>
              <a:headEnd/>
              <a:tailEnd/>
            </a:ln>
          </p:spPr>
          <p:txBody>
            <a:bodyPr wrap="none" lIns="0" tIns="0" rIns="0" bIns="0">
              <a:noAutofit/>
            </a:bodyPr>
            <a:lstStyle/>
            <a:p>
              <a:pPr algn="ctr" fontAlgn="auto">
                <a:spcBef>
                  <a:spcPts val="0"/>
                </a:spcBef>
                <a:spcAft>
                  <a:spcPts val="0"/>
                </a:spcAft>
                <a:defRPr/>
              </a:pPr>
              <a:r>
                <a:rPr lang="en-US" altLang="zh-CN" sz="600" b="0" dirty="0">
                  <a:solidFill>
                    <a:srgbClr val="000000"/>
                  </a:solidFill>
                  <a:latin typeface="+mj-lt"/>
                  <a:ea typeface="DFKaiShu-GB5"/>
                  <a:cs typeface="Calibri" panose="020F0502020204030204" pitchFamily="34" charset="0"/>
                </a:rPr>
                <a:t>August</a:t>
              </a:r>
              <a:r>
                <a:rPr lang="en-US" altLang="zh-TW" sz="600" b="0" dirty="0">
                  <a:solidFill>
                    <a:srgbClr val="000000"/>
                  </a:solidFill>
                  <a:latin typeface="+mj-lt"/>
                  <a:ea typeface="DFKaiShu-GB5"/>
                  <a:cs typeface="Calibri" panose="020F0502020204030204" pitchFamily="34" charset="0"/>
                </a:rPr>
                <a:t> 2024</a:t>
              </a:r>
              <a:endParaRPr lang="zh-TW" altLang="en-US" sz="600" b="0" dirty="0">
                <a:solidFill>
                  <a:srgbClr val="000000"/>
                </a:solidFill>
                <a:latin typeface="+mj-lt"/>
                <a:ea typeface="DFKaiShu-GB5"/>
                <a:cs typeface="Calibri" panose="020F0502020204030204" pitchFamily="34" charset="0"/>
              </a:endParaRPr>
            </a:p>
          </p:txBody>
        </p:sp>
        <p:sp>
          <p:nvSpPr>
            <p:cNvPr id="130" name="Rectangle 177">
              <a:extLst>
                <a:ext uri="{FF2B5EF4-FFF2-40B4-BE49-F238E27FC236}">
                  <a16:creationId xmlns:a16="http://schemas.microsoft.com/office/drawing/2014/main" id="{64660D1F-1443-7B2F-8441-85F9C1D9197E}"/>
                </a:ext>
              </a:extLst>
            </p:cNvPr>
            <p:cNvSpPr>
              <a:spLocks noChangeArrowheads="1"/>
            </p:cNvSpPr>
            <p:nvPr/>
          </p:nvSpPr>
          <p:spPr bwMode="auto">
            <a:xfrm>
              <a:off x="5610495" y="4100655"/>
              <a:ext cx="923174"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mn-cs"/>
                </a:rPr>
                <a:t>US$153m</a:t>
              </a:r>
            </a:p>
            <a:p>
              <a:pPr algn="ctr" eaLnBrk="0" hangingPunct="0">
                <a:spcBef>
                  <a:spcPts val="0"/>
                </a:spcBef>
                <a:defRPr/>
              </a:pPr>
              <a:r>
                <a:rPr lang="en-US" altLang="zh-TW" sz="600" dirty="0">
                  <a:solidFill>
                    <a:srgbClr val="000000"/>
                  </a:solidFill>
                  <a:latin typeface="+mj-lt"/>
                  <a:ea typeface="DFKaiShu-GB5"/>
                  <a:cs typeface="+mn-cs"/>
                </a:rPr>
                <a:t>Placement</a:t>
              </a:r>
            </a:p>
          </p:txBody>
        </p:sp>
        <p:pic>
          <p:nvPicPr>
            <p:cNvPr id="131" name="Picture 130" descr="Text&#10;&#10;Description automatically generated with medium confidence">
              <a:extLst>
                <a:ext uri="{FF2B5EF4-FFF2-40B4-BE49-F238E27FC236}">
                  <a16:creationId xmlns:a16="http://schemas.microsoft.com/office/drawing/2014/main" id="{BB2F785E-F18C-9140-3C30-6EF412493C09}"/>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736213" y="3878556"/>
              <a:ext cx="668679" cy="125216"/>
            </a:xfrm>
            <a:prstGeom prst="rect">
              <a:avLst/>
            </a:prstGeom>
          </p:spPr>
        </p:pic>
        <p:sp>
          <p:nvSpPr>
            <p:cNvPr id="156" name="Rectangle 174">
              <a:extLst>
                <a:ext uri="{FF2B5EF4-FFF2-40B4-BE49-F238E27FC236}">
                  <a16:creationId xmlns:a16="http://schemas.microsoft.com/office/drawing/2014/main" id="{F430D540-5383-58D2-F587-FEEBA4376ECB}"/>
                </a:ext>
              </a:extLst>
            </p:cNvPr>
            <p:cNvSpPr>
              <a:spLocks noChangeArrowheads="1"/>
            </p:cNvSpPr>
            <p:nvPr/>
          </p:nvSpPr>
          <p:spPr bwMode="auto">
            <a:xfrm>
              <a:off x="4641652" y="3751396"/>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157" name="Rectangle 176">
              <a:extLst>
                <a:ext uri="{FF2B5EF4-FFF2-40B4-BE49-F238E27FC236}">
                  <a16:creationId xmlns:a16="http://schemas.microsoft.com/office/drawing/2014/main" id="{676C34F9-DA37-0F64-3096-A811C08E3F1F}"/>
                </a:ext>
              </a:extLst>
            </p:cNvPr>
            <p:cNvSpPr>
              <a:spLocks noChangeArrowheads="1"/>
            </p:cNvSpPr>
            <p:nvPr/>
          </p:nvSpPr>
          <p:spPr bwMode="auto">
            <a:xfrm>
              <a:off x="4635836" y="4424896"/>
              <a:ext cx="923174" cy="166199"/>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dirty="0">
                  <a:solidFill>
                    <a:srgbClr val="000000"/>
                  </a:solidFill>
                  <a:latin typeface="+mj-lt"/>
                  <a:ea typeface="DFKaiShu-GB5"/>
                  <a:cs typeface="Calibri" panose="020F0502020204030204" pitchFamily="34" charset="0"/>
                </a:rPr>
                <a:t>Lead Manager and Underwriter</a:t>
              </a:r>
            </a:p>
          </p:txBody>
        </p:sp>
        <p:sp>
          <p:nvSpPr>
            <p:cNvPr id="158" name="Rectangle 180">
              <a:extLst>
                <a:ext uri="{FF2B5EF4-FFF2-40B4-BE49-F238E27FC236}">
                  <a16:creationId xmlns:a16="http://schemas.microsoft.com/office/drawing/2014/main" id="{95344B3C-A931-ADAB-F97A-B6E8A714716A}"/>
                </a:ext>
              </a:extLst>
            </p:cNvPr>
            <p:cNvSpPr>
              <a:spLocks noChangeArrowheads="1"/>
            </p:cNvSpPr>
            <p:nvPr/>
          </p:nvSpPr>
          <p:spPr bwMode="auto">
            <a:xfrm>
              <a:off x="4637265" y="4756693"/>
              <a:ext cx="923174" cy="89634"/>
            </a:xfrm>
            <a:prstGeom prst="rect">
              <a:avLst/>
            </a:prstGeom>
            <a:noFill/>
            <a:ln w="9525">
              <a:noFill/>
              <a:miter lim="800000"/>
              <a:headEnd/>
              <a:tailEnd/>
            </a:ln>
          </p:spPr>
          <p:txBody>
            <a:bodyPr wrap="none" lIns="0" tIns="0" rIns="0" bIns="0">
              <a:noAutofit/>
            </a:bodyPr>
            <a:lstStyle/>
            <a:p>
              <a:pPr lvl="0" algn="ctr">
                <a:defRPr/>
              </a:pPr>
              <a:r>
                <a:rPr lang="en-US" altLang="zh-TW" sz="600" b="0" dirty="0">
                  <a:solidFill>
                    <a:srgbClr val="000000"/>
                  </a:solidFill>
                  <a:latin typeface="+mj-lt"/>
                  <a:cs typeface="Calibri" panose="020F0502020204030204" pitchFamily="34" charset="0"/>
                </a:rPr>
                <a:t>November</a:t>
              </a:r>
              <a:r>
                <a:rPr lang="en-US" altLang="zh-TW" sz="600" b="0" dirty="0">
                  <a:solidFill>
                    <a:srgbClr val="000000"/>
                  </a:solidFill>
                  <a:latin typeface="+mj-lt"/>
                  <a:ea typeface="DFKaiShu-GB5"/>
                  <a:cs typeface="Calibri" panose="020F0502020204030204" pitchFamily="34" charset="0"/>
                </a:rPr>
                <a:t> 2024</a:t>
              </a:r>
              <a:endParaRPr lang="zh-TW" altLang="en-US" sz="600" b="0" dirty="0">
                <a:solidFill>
                  <a:srgbClr val="000000"/>
                </a:solidFill>
                <a:latin typeface="+mj-lt"/>
                <a:ea typeface="DFKaiShu-GB5"/>
                <a:cs typeface="Calibri" panose="020F0502020204030204" pitchFamily="34" charset="0"/>
              </a:endParaRPr>
            </a:p>
          </p:txBody>
        </p:sp>
        <p:sp>
          <p:nvSpPr>
            <p:cNvPr id="159" name="Rectangle 177">
              <a:extLst>
                <a:ext uri="{FF2B5EF4-FFF2-40B4-BE49-F238E27FC236}">
                  <a16:creationId xmlns:a16="http://schemas.microsoft.com/office/drawing/2014/main" id="{80BD63C5-1578-AC62-A4AC-0D70E1391441}"/>
                </a:ext>
              </a:extLst>
            </p:cNvPr>
            <p:cNvSpPr>
              <a:spLocks noChangeArrowheads="1"/>
            </p:cNvSpPr>
            <p:nvPr/>
          </p:nvSpPr>
          <p:spPr bwMode="auto">
            <a:xfrm>
              <a:off x="4637265" y="4098549"/>
              <a:ext cx="923174"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mn-cs"/>
                </a:rPr>
                <a:t>US$140m</a:t>
              </a:r>
            </a:p>
            <a:p>
              <a:pPr algn="ctr" eaLnBrk="0" hangingPunct="0">
                <a:spcBef>
                  <a:spcPts val="0"/>
                </a:spcBef>
                <a:defRPr/>
              </a:pPr>
              <a:r>
                <a:rPr lang="en-US" altLang="zh-TW" sz="600" dirty="0">
                  <a:solidFill>
                    <a:srgbClr val="000000"/>
                  </a:solidFill>
                  <a:latin typeface="+mj-lt"/>
                  <a:ea typeface="DFKaiShu-GB5"/>
                  <a:cs typeface="+mn-cs"/>
                </a:rPr>
                <a:t>Placement</a:t>
              </a:r>
            </a:p>
          </p:txBody>
        </p:sp>
        <p:pic>
          <p:nvPicPr>
            <p:cNvPr id="160" name="Picture 159" descr="A blue circle with blue dots&#10;&#10;Description automatically generated">
              <a:extLst>
                <a:ext uri="{FF2B5EF4-FFF2-40B4-BE49-F238E27FC236}">
                  <a16:creationId xmlns:a16="http://schemas.microsoft.com/office/drawing/2014/main" id="{E500025D-D32A-CA9D-5DB3-01603457626E}"/>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4915031" y="3778478"/>
              <a:ext cx="360000" cy="360000"/>
            </a:xfrm>
            <a:prstGeom prst="rect">
              <a:avLst/>
            </a:prstGeom>
          </p:spPr>
        </p:pic>
      </p:grpSp>
      <p:grpSp>
        <p:nvGrpSpPr>
          <p:cNvPr id="31" name="Group 30">
            <a:extLst>
              <a:ext uri="{FF2B5EF4-FFF2-40B4-BE49-F238E27FC236}">
                <a16:creationId xmlns:a16="http://schemas.microsoft.com/office/drawing/2014/main" id="{FFABE428-CC9C-C06D-ED6D-450AE9C66F22}"/>
              </a:ext>
            </a:extLst>
          </p:cNvPr>
          <p:cNvGrpSpPr/>
          <p:nvPr/>
        </p:nvGrpSpPr>
        <p:grpSpPr>
          <a:xfrm>
            <a:off x="5019018" y="3751396"/>
            <a:ext cx="923174" cy="1115568"/>
            <a:chOff x="6606118" y="2541593"/>
            <a:chExt cx="923174" cy="1115568"/>
          </a:xfrm>
        </p:grpSpPr>
        <p:sp>
          <p:nvSpPr>
            <p:cNvPr id="163" name="Rectangle 174">
              <a:extLst>
                <a:ext uri="{FF2B5EF4-FFF2-40B4-BE49-F238E27FC236}">
                  <a16:creationId xmlns:a16="http://schemas.microsoft.com/office/drawing/2014/main" id="{1F0F3686-739F-3497-40EB-B732A6612F82}"/>
                </a:ext>
              </a:extLst>
            </p:cNvPr>
            <p:cNvSpPr>
              <a:spLocks noChangeArrowheads="1"/>
            </p:cNvSpPr>
            <p:nvPr/>
          </p:nvSpPr>
          <p:spPr bwMode="auto">
            <a:xfrm>
              <a:off x="6610505" y="2541593"/>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164" name="Rectangle 176">
              <a:extLst>
                <a:ext uri="{FF2B5EF4-FFF2-40B4-BE49-F238E27FC236}">
                  <a16:creationId xmlns:a16="http://schemas.microsoft.com/office/drawing/2014/main" id="{280B7871-D4F1-754F-067B-D0042A50AADA}"/>
                </a:ext>
              </a:extLst>
            </p:cNvPr>
            <p:cNvSpPr>
              <a:spLocks noChangeArrowheads="1"/>
            </p:cNvSpPr>
            <p:nvPr/>
          </p:nvSpPr>
          <p:spPr bwMode="auto">
            <a:xfrm>
              <a:off x="6606118" y="3131814"/>
              <a:ext cx="923174" cy="166199"/>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a:solidFill>
                    <a:srgbClr val="000000"/>
                  </a:solidFill>
                  <a:latin typeface="+mj-lt"/>
                  <a:ea typeface="DFKaiShu-GB5"/>
                  <a:cs typeface="Calibri" panose="020F0502020204030204" pitchFamily="34" charset="0"/>
                </a:rPr>
                <a:t>Joint Bookrunner and Underwriter</a:t>
              </a:r>
            </a:p>
          </p:txBody>
        </p:sp>
        <p:sp>
          <p:nvSpPr>
            <p:cNvPr id="165" name="Rectangle 180">
              <a:extLst>
                <a:ext uri="{FF2B5EF4-FFF2-40B4-BE49-F238E27FC236}">
                  <a16:creationId xmlns:a16="http://schemas.microsoft.com/office/drawing/2014/main" id="{215F96DB-D1D8-D38B-0658-6B7142D33558}"/>
                </a:ext>
              </a:extLst>
            </p:cNvPr>
            <p:cNvSpPr>
              <a:spLocks noChangeArrowheads="1"/>
            </p:cNvSpPr>
            <p:nvPr/>
          </p:nvSpPr>
          <p:spPr bwMode="auto">
            <a:xfrm>
              <a:off x="6606118" y="3546890"/>
              <a:ext cx="923174" cy="89634"/>
            </a:xfrm>
            <a:prstGeom prst="rect">
              <a:avLst/>
            </a:prstGeom>
            <a:noFill/>
            <a:ln w="9525">
              <a:noFill/>
              <a:miter lim="800000"/>
              <a:headEnd/>
              <a:tailEnd/>
            </a:ln>
          </p:spPr>
          <p:txBody>
            <a:bodyPr wrap="none" lIns="0" tIns="0" rIns="0" bIns="0">
              <a:noAutofit/>
            </a:bodyPr>
            <a:lstStyle/>
            <a:p>
              <a:pPr algn="ctr" fontAlgn="auto">
                <a:spcBef>
                  <a:spcPts val="0"/>
                </a:spcBef>
                <a:spcAft>
                  <a:spcPts val="0"/>
                </a:spcAft>
                <a:defRPr/>
              </a:pPr>
              <a:r>
                <a:rPr lang="en-US" altLang="zh-CN" sz="600" b="0" dirty="0">
                  <a:solidFill>
                    <a:srgbClr val="000000"/>
                  </a:solidFill>
                  <a:latin typeface="+mj-lt"/>
                  <a:ea typeface="DFKaiShu-GB5"/>
                  <a:cs typeface="Calibri" panose="020F0502020204030204" pitchFamily="34" charset="0"/>
                </a:rPr>
                <a:t>March 2025</a:t>
              </a:r>
            </a:p>
          </p:txBody>
        </p:sp>
        <p:sp>
          <p:nvSpPr>
            <p:cNvPr id="166" name="Rectangle 177">
              <a:extLst>
                <a:ext uri="{FF2B5EF4-FFF2-40B4-BE49-F238E27FC236}">
                  <a16:creationId xmlns:a16="http://schemas.microsoft.com/office/drawing/2014/main" id="{10C9AAB8-8E83-7F42-6C7A-7CC065A8F027}"/>
                </a:ext>
              </a:extLst>
            </p:cNvPr>
            <p:cNvSpPr>
              <a:spLocks noChangeArrowheads="1"/>
            </p:cNvSpPr>
            <p:nvPr/>
          </p:nvSpPr>
          <p:spPr bwMode="auto">
            <a:xfrm>
              <a:off x="6606118" y="2882889"/>
              <a:ext cx="923174"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mn-cs"/>
                </a:rPr>
                <a:t>US$164m</a:t>
              </a:r>
            </a:p>
            <a:p>
              <a:pPr algn="ctr" eaLnBrk="0" hangingPunct="0">
                <a:spcBef>
                  <a:spcPts val="0"/>
                </a:spcBef>
                <a:defRPr/>
              </a:pPr>
              <a:r>
                <a:rPr lang="en-US" altLang="zh-TW" sz="600" dirty="0">
                  <a:solidFill>
                    <a:srgbClr val="000000"/>
                  </a:solidFill>
                  <a:latin typeface="+mj-lt"/>
                  <a:ea typeface="DFKaiShu-GB5"/>
                  <a:cs typeface="+mn-cs"/>
                </a:rPr>
                <a:t>Placement</a:t>
              </a:r>
            </a:p>
          </p:txBody>
        </p:sp>
        <p:pic>
          <p:nvPicPr>
            <p:cNvPr id="167" name="Picture 166">
              <a:extLst>
                <a:ext uri="{FF2B5EF4-FFF2-40B4-BE49-F238E27FC236}">
                  <a16:creationId xmlns:a16="http://schemas.microsoft.com/office/drawing/2014/main" id="{EC5ADFD9-26DD-E8A0-0D7E-3F4A97D62F69}"/>
                </a:ext>
              </a:extLst>
            </p:cNvPr>
            <p:cNvPicPr>
              <a:picLocks noChangeAspect="1" noChangeArrowheads="1"/>
            </p:cNvPicPr>
            <p:nvPr/>
          </p:nvPicPr>
          <p:blipFill rotWithShape="1">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t="29164" b="30041"/>
            <a:stretch/>
          </p:blipFill>
          <p:spPr bwMode="auto">
            <a:xfrm>
              <a:off x="6689417" y="2579777"/>
              <a:ext cx="710667" cy="28991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4" name="Group 43">
            <a:extLst>
              <a:ext uri="{FF2B5EF4-FFF2-40B4-BE49-F238E27FC236}">
                <a16:creationId xmlns:a16="http://schemas.microsoft.com/office/drawing/2014/main" id="{F682A248-6A7F-159C-C763-1892B6F319E1}"/>
              </a:ext>
            </a:extLst>
          </p:cNvPr>
          <p:cNvGrpSpPr/>
          <p:nvPr/>
        </p:nvGrpSpPr>
        <p:grpSpPr>
          <a:xfrm>
            <a:off x="5006721" y="2541593"/>
            <a:ext cx="923174" cy="1115568"/>
            <a:chOff x="3638008" y="2541593"/>
            <a:chExt cx="923174" cy="1115568"/>
          </a:xfrm>
        </p:grpSpPr>
        <p:sp>
          <p:nvSpPr>
            <p:cNvPr id="210" name="Rectangle 209">
              <a:extLst>
                <a:ext uri="{FF2B5EF4-FFF2-40B4-BE49-F238E27FC236}">
                  <a16:creationId xmlns:a16="http://schemas.microsoft.com/office/drawing/2014/main" id="{F0E5351F-4731-ADC0-36A9-5CA100FD776A}"/>
                </a:ext>
              </a:extLst>
            </p:cNvPr>
            <p:cNvSpPr>
              <a:spLocks noChangeArrowheads="1"/>
            </p:cNvSpPr>
            <p:nvPr/>
          </p:nvSpPr>
          <p:spPr bwMode="auto">
            <a:xfrm>
              <a:off x="3642395" y="2541593"/>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211" name="Rectangle 176">
              <a:extLst>
                <a:ext uri="{FF2B5EF4-FFF2-40B4-BE49-F238E27FC236}">
                  <a16:creationId xmlns:a16="http://schemas.microsoft.com/office/drawing/2014/main" id="{7AA72930-8C33-12BB-523A-BA154BAE943E}"/>
                </a:ext>
              </a:extLst>
            </p:cNvPr>
            <p:cNvSpPr>
              <a:spLocks noChangeArrowheads="1"/>
            </p:cNvSpPr>
            <p:nvPr/>
          </p:nvSpPr>
          <p:spPr bwMode="auto">
            <a:xfrm>
              <a:off x="3638008" y="3131814"/>
              <a:ext cx="923174" cy="166199"/>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a:solidFill>
                    <a:srgbClr val="000000"/>
                  </a:solidFill>
                  <a:latin typeface="+mj-lt"/>
                  <a:ea typeface="DFKaiShu-GB5"/>
                  <a:cs typeface="Calibri" panose="020F0502020204030204" pitchFamily="34" charset="0"/>
                </a:rPr>
                <a:t>Joint Bookrunner and Underwriter</a:t>
              </a:r>
            </a:p>
          </p:txBody>
        </p:sp>
        <p:sp>
          <p:nvSpPr>
            <p:cNvPr id="212" name="Rectangle 180">
              <a:extLst>
                <a:ext uri="{FF2B5EF4-FFF2-40B4-BE49-F238E27FC236}">
                  <a16:creationId xmlns:a16="http://schemas.microsoft.com/office/drawing/2014/main" id="{AD3C1F3D-0160-5BC6-70E5-D58CCC5A1493}"/>
                </a:ext>
              </a:extLst>
            </p:cNvPr>
            <p:cNvSpPr>
              <a:spLocks noChangeArrowheads="1"/>
            </p:cNvSpPr>
            <p:nvPr/>
          </p:nvSpPr>
          <p:spPr bwMode="auto">
            <a:xfrm>
              <a:off x="3638008" y="3546890"/>
              <a:ext cx="923174" cy="89634"/>
            </a:xfrm>
            <a:prstGeom prst="rect">
              <a:avLst/>
            </a:prstGeom>
            <a:noFill/>
            <a:ln w="9525">
              <a:noFill/>
              <a:miter lim="800000"/>
              <a:headEnd/>
              <a:tailEnd/>
            </a:ln>
          </p:spPr>
          <p:txBody>
            <a:bodyPr wrap="none" lIns="0" tIns="0" rIns="0" bIns="0">
              <a:noAutofit/>
            </a:bodyPr>
            <a:lstStyle/>
            <a:p>
              <a:pPr algn="ctr" fontAlgn="auto">
                <a:spcBef>
                  <a:spcPts val="0"/>
                </a:spcBef>
                <a:spcAft>
                  <a:spcPts val="0"/>
                </a:spcAft>
                <a:defRPr/>
              </a:pPr>
              <a:r>
                <a:rPr lang="en-US" altLang="zh-TW" sz="600" b="0" dirty="0">
                  <a:solidFill>
                    <a:srgbClr val="000000"/>
                  </a:solidFill>
                  <a:latin typeface="+mj-lt"/>
                  <a:ea typeface="DFKaiShu-GB5"/>
                  <a:cs typeface="Calibri" panose="020F0502020204030204" pitchFamily="34" charset="0"/>
                </a:rPr>
                <a:t>October</a:t>
              </a:r>
              <a:r>
                <a:rPr lang="en-US" altLang="zh-CN" sz="600" b="0" dirty="0">
                  <a:solidFill>
                    <a:srgbClr val="000000"/>
                  </a:solidFill>
                  <a:latin typeface="+mj-lt"/>
                  <a:ea typeface="DFKaiShu-GB5"/>
                  <a:cs typeface="Calibri" panose="020F0502020204030204" pitchFamily="34" charset="0"/>
                </a:rPr>
                <a:t> 2025</a:t>
              </a:r>
            </a:p>
          </p:txBody>
        </p:sp>
        <p:sp>
          <p:nvSpPr>
            <p:cNvPr id="213" name="Rectangle 177">
              <a:extLst>
                <a:ext uri="{FF2B5EF4-FFF2-40B4-BE49-F238E27FC236}">
                  <a16:creationId xmlns:a16="http://schemas.microsoft.com/office/drawing/2014/main" id="{5D7FA173-C06B-2040-7314-166167A8BFB0}"/>
                </a:ext>
              </a:extLst>
            </p:cNvPr>
            <p:cNvSpPr>
              <a:spLocks noChangeArrowheads="1"/>
            </p:cNvSpPr>
            <p:nvPr/>
          </p:nvSpPr>
          <p:spPr bwMode="auto">
            <a:xfrm>
              <a:off x="3638008" y="2882889"/>
              <a:ext cx="923174"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mn-cs"/>
                </a:rPr>
                <a:t>S$113m</a:t>
              </a:r>
            </a:p>
            <a:p>
              <a:pPr algn="ctr" eaLnBrk="0" hangingPunct="0">
                <a:spcBef>
                  <a:spcPts val="0"/>
                </a:spcBef>
                <a:defRPr/>
              </a:pPr>
              <a:r>
                <a:rPr lang="en-US" altLang="zh-TW" sz="600" dirty="0">
                  <a:solidFill>
                    <a:srgbClr val="000000"/>
                  </a:solidFill>
                  <a:latin typeface="+mj-lt"/>
                  <a:ea typeface="DFKaiShu-GB5"/>
                  <a:cs typeface="+mn-cs"/>
                </a:rPr>
                <a:t>Placement</a:t>
              </a:r>
            </a:p>
          </p:txBody>
        </p:sp>
        <p:pic>
          <p:nvPicPr>
            <p:cNvPr id="176" name="Picture 175">
              <a:extLst>
                <a:ext uri="{FF2B5EF4-FFF2-40B4-BE49-F238E27FC236}">
                  <a16:creationId xmlns:a16="http://schemas.microsoft.com/office/drawing/2014/main" id="{1A40AC44-7F6C-CC08-E3AD-B60578DF9327}"/>
                </a:ext>
              </a:extLst>
            </p:cNvPr>
            <p:cNvPicPr>
              <a:picLocks noChangeAspect="1"/>
            </p:cNvPicPr>
            <p:nvPr/>
          </p:nvPicPr>
          <p:blipFill>
            <a:blip r:embed="rId21"/>
            <a:srcRect t="24502" b="34058"/>
            <a:stretch/>
          </p:blipFill>
          <p:spPr>
            <a:xfrm>
              <a:off x="3688357" y="2657129"/>
              <a:ext cx="769874" cy="167752"/>
            </a:xfrm>
            <a:prstGeom prst="rect">
              <a:avLst/>
            </a:prstGeom>
          </p:spPr>
        </p:pic>
      </p:grpSp>
      <p:grpSp>
        <p:nvGrpSpPr>
          <p:cNvPr id="32" name="Group 31">
            <a:extLst>
              <a:ext uri="{FF2B5EF4-FFF2-40B4-BE49-F238E27FC236}">
                <a16:creationId xmlns:a16="http://schemas.microsoft.com/office/drawing/2014/main" id="{BD633C82-EE90-98EF-55C6-97DEE416AFB6}"/>
              </a:ext>
            </a:extLst>
          </p:cNvPr>
          <p:cNvGrpSpPr/>
          <p:nvPr/>
        </p:nvGrpSpPr>
        <p:grpSpPr>
          <a:xfrm>
            <a:off x="6019028" y="2541593"/>
            <a:ext cx="1900038" cy="1115568"/>
            <a:chOff x="4633631" y="2541593"/>
            <a:chExt cx="1900038" cy="1115568"/>
          </a:xfrm>
        </p:grpSpPr>
        <p:sp>
          <p:nvSpPr>
            <p:cNvPr id="168" name="Rectangle 167">
              <a:extLst>
                <a:ext uri="{FF2B5EF4-FFF2-40B4-BE49-F238E27FC236}">
                  <a16:creationId xmlns:a16="http://schemas.microsoft.com/office/drawing/2014/main" id="{3D42D0FD-3640-8C2C-FE97-9CB397588023}"/>
                </a:ext>
              </a:extLst>
            </p:cNvPr>
            <p:cNvSpPr>
              <a:spLocks noChangeArrowheads="1"/>
            </p:cNvSpPr>
            <p:nvPr/>
          </p:nvSpPr>
          <p:spPr bwMode="auto">
            <a:xfrm>
              <a:off x="5614882" y="2541593"/>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169" name="Rectangle 176">
              <a:extLst>
                <a:ext uri="{FF2B5EF4-FFF2-40B4-BE49-F238E27FC236}">
                  <a16:creationId xmlns:a16="http://schemas.microsoft.com/office/drawing/2014/main" id="{1467D8E8-0A23-92E7-8BE8-FEEBA7E46568}"/>
                </a:ext>
              </a:extLst>
            </p:cNvPr>
            <p:cNvSpPr>
              <a:spLocks noChangeArrowheads="1"/>
            </p:cNvSpPr>
            <p:nvPr/>
          </p:nvSpPr>
          <p:spPr bwMode="auto">
            <a:xfrm>
              <a:off x="5610495" y="3131814"/>
              <a:ext cx="923174" cy="166199"/>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a:solidFill>
                    <a:srgbClr val="000000"/>
                  </a:solidFill>
                  <a:latin typeface="+mj-lt"/>
                  <a:ea typeface="DFKaiShu-GB5"/>
                  <a:cs typeface="Calibri" panose="020F0502020204030204" pitchFamily="34" charset="0"/>
                </a:rPr>
                <a:t>Joint Bookrunner and Underwriter</a:t>
              </a:r>
            </a:p>
          </p:txBody>
        </p:sp>
        <p:sp>
          <p:nvSpPr>
            <p:cNvPr id="170" name="Rectangle 180">
              <a:extLst>
                <a:ext uri="{FF2B5EF4-FFF2-40B4-BE49-F238E27FC236}">
                  <a16:creationId xmlns:a16="http://schemas.microsoft.com/office/drawing/2014/main" id="{97A86521-75F6-E62F-15B2-CB6AE0CB582B}"/>
                </a:ext>
              </a:extLst>
            </p:cNvPr>
            <p:cNvSpPr>
              <a:spLocks noChangeArrowheads="1"/>
            </p:cNvSpPr>
            <p:nvPr/>
          </p:nvSpPr>
          <p:spPr bwMode="auto">
            <a:xfrm>
              <a:off x="5610495" y="3546890"/>
              <a:ext cx="923174" cy="89634"/>
            </a:xfrm>
            <a:prstGeom prst="rect">
              <a:avLst/>
            </a:prstGeom>
            <a:noFill/>
            <a:ln w="9525">
              <a:noFill/>
              <a:miter lim="800000"/>
              <a:headEnd/>
              <a:tailEnd/>
            </a:ln>
          </p:spPr>
          <p:txBody>
            <a:bodyPr wrap="none" lIns="0" tIns="0" rIns="0" bIns="0">
              <a:noAutofit/>
            </a:bodyPr>
            <a:lstStyle/>
            <a:p>
              <a:pPr algn="ctr" fontAlgn="auto">
                <a:spcBef>
                  <a:spcPts val="0"/>
                </a:spcBef>
                <a:spcAft>
                  <a:spcPts val="0"/>
                </a:spcAft>
                <a:defRPr/>
              </a:pPr>
              <a:r>
                <a:rPr lang="en-US" altLang="zh-CN" sz="600" b="0">
                  <a:solidFill>
                    <a:srgbClr val="000000"/>
                  </a:solidFill>
                  <a:latin typeface="+mj-lt"/>
                  <a:ea typeface="DFKaiShu-GB5"/>
                  <a:cs typeface="Calibri" panose="020F0502020204030204" pitchFamily="34" charset="0"/>
                </a:rPr>
                <a:t>August 2025</a:t>
              </a:r>
            </a:p>
          </p:txBody>
        </p:sp>
        <p:sp>
          <p:nvSpPr>
            <p:cNvPr id="171" name="Rectangle 177">
              <a:extLst>
                <a:ext uri="{FF2B5EF4-FFF2-40B4-BE49-F238E27FC236}">
                  <a16:creationId xmlns:a16="http://schemas.microsoft.com/office/drawing/2014/main" id="{084DBDC4-59E3-7888-0841-F1DFA609D540}"/>
                </a:ext>
              </a:extLst>
            </p:cNvPr>
            <p:cNvSpPr>
              <a:spLocks noChangeArrowheads="1"/>
            </p:cNvSpPr>
            <p:nvPr/>
          </p:nvSpPr>
          <p:spPr bwMode="auto">
            <a:xfrm>
              <a:off x="5610495" y="2882889"/>
              <a:ext cx="923174"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mn-cs"/>
                </a:rPr>
                <a:t>S$600m</a:t>
              </a:r>
            </a:p>
            <a:p>
              <a:pPr algn="ctr" eaLnBrk="0" hangingPunct="0">
                <a:spcBef>
                  <a:spcPts val="0"/>
                </a:spcBef>
                <a:defRPr/>
              </a:pPr>
              <a:r>
                <a:rPr lang="en-US" altLang="zh-TW" sz="600" dirty="0">
                  <a:solidFill>
                    <a:srgbClr val="000000"/>
                  </a:solidFill>
                  <a:latin typeface="+mj-lt"/>
                  <a:ea typeface="DFKaiShu-GB5"/>
                  <a:cs typeface="+mn-cs"/>
                </a:rPr>
                <a:t>Placement</a:t>
              </a:r>
            </a:p>
          </p:txBody>
        </p:sp>
        <p:pic>
          <p:nvPicPr>
            <p:cNvPr id="172" name="Picture 171">
              <a:extLst>
                <a:ext uri="{FF2B5EF4-FFF2-40B4-BE49-F238E27FC236}">
                  <a16:creationId xmlns:a16="http://schemas.microsoft.com/office/drawing/2014/main" id="{5625E5DA-EDD0-27FC-9674-77499BA4EF0D}"/>
                </a:ext>
              </a:extLst>
            </p:cNvPr>
            <p:cNvPicPr>
              <a:picLocks noChangeAspect="1"/>
            </p:cNvPicPr>
            <p:nvPr/>
          </p:nvPicPr>
          <p:blipFill>
            <a:blip r:embed="rId22"/>
            <a:stretch>
              <a:fillRect/>
            </a:stretch>
          </p:blipFill>
          <p:spPr>
            <a:xfrm>
              <a:off x="5825686" y="2606572"/>
              <a:ext cx="484883" cy="252576"/>
            </a:xfrm>
            <a:prstGeom prst="rect">
              <a:avLst/>
            </a:prstGeom>
          </p:spPr>
        </p:pic>
        <p:sp>
          <p:nvSpPr>
            <p:cNvPr id="196" name="Rectangle 174">
              <a:extLst>
                <a:ext uri="{FF2B5EF4-FFF2-40B4-BE49-F238E27FC236}">
                  <a16:creationId xmlns:a16="http://schemas.microsoft.com/office/drawing/2014/main" id="{EAC34705-08B2-83CF-7B7A-8E6AA570DF82}"/>
                </a:ext>
              </a:extLst>
            </p:cNvPr>
            <p:cNvSpPr>
              <a:spLocks noChangeArrowheads="1"/>
            </p:cNvSpPr>
            <p:nvPr/>
          </p:nvSpPr>
          <p:spPr bwMode="auto">
            <a:xfrm>
              <a:off x="4638018" y="2541593"/>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201" name="Rectangle 176">
              <a:extLst>
                <a:ext uri="{FF2B5EF4-FFF2-40B4-BE49-F238E27FC236}">
                  <a16:creationId xmlns:a16="http://schemas.microsoft.com/office/drawing/2014/main" id="{B57C7CE6-D066-5C6F-7D2C-A3AF97557322}"/>
                </a:ext>
              </a:extLst>
            </p:cNvPr>
            <p:cNvSpPr>
              <a:spLocks noChangeArrowheads="1"/>
            </p:cNvSpPr>
            <p:nvPr/>
          </p:nvSpPr>
          <p:spPr bwMode="auto">
            <a:xfrm>
              <a:off x="4633631" y="3131814"/>
              <a:ext cx="923174" cy="166199"/>
            </a:xfrm>
            <a:prstGeom prst="rect">
              <a:avLst/>
            </a:prstGeom>
            <a:noFill/>
            <a:ln w="9525">
              <a:noFill/>
              <a:miter lim="800000"/>
              <a:headEnd/>
              <a:tailEnd/>
            </a:ln>
          </p:spPr>
          <p:txBody>
            <a:bodyPr lIns="0" tIns="0" rIns="0" bIns="0" anchor="t" anchorCtr="0">
              <a:spAutoFit/>
            </a:bodyPr>
            <a:lstStyle/>
            <a:p>
              <a:pPr algn="ctr" fontAlgn="auto">
                <a:lnSpc>
                  <a:spcPct val="90000"/>
                </a:lnSpc>
                <a:spcBef>
                  <a:spcPts val="0"/>
                </a:spcBef>
                <a:spcAft>
                  <a:spcPts val="0"/>
                </a:spcAft>
                <a:buClr>
                  <a:srgbClr val="BE050A"/>
                </a:buClr>
                <a:defRPr/>
              </a:pPr>
              <a:r>
                <a:rPr lang="en-US" altLang="zh-CN" sz="600" b="0">
                  <a:solidFill>
                    <a:srgbClr val="000000"/>
                  </a:solidFill>
                  <a:latin typeface="+mj-lt"/>
                  <a:ea typeface="DFKaiShu-GB5"/>
                  <a:cs typeface="Calibri" panose="020F0502020204030204" pitchFamily="34" charset="0"/>
                </a:rPr>
                <a:t>Joint Bookrunner and Underwriter</a:t>
              </a:r>
            </a:p>
          </p:txBody>
        </p:sp>
        <p:sp>
          <p:nvSpPr>
            <p:cNvPr id="202" name="Rectangle 180">
              <a:extLst>
                <a:ext uri="{FF2B5EF4-FFF2-40B4-BE49-F238E27FC236}">
                  <a16:creationId xmlns:a16="http://schemas.microsoft.com/office/drawing/2014/main" id="{EAB2257B-1CE9-BAD5-EEEB-919099C72625}"/>
                </a:ext>
              </a:extLst>
            </p:cNvPr>
            <p:cNvSpPr>
              <a:spLocks noChangeArrowheads="1"/>
            </p:cNvSpPr>
            <p:nvPr/>
          </p:nvSpPr>
          <p:spPr bwMode="auto">
            <a:xfrm>
              <a:off x="4633631" y="3546890"/>
              <a:ext cx="923174" cy="89634"/>
            </a:xfrm>
            <a:prstGeom prst="rect">
              <a:avLst/>
            </a:prstGeom>
            <a:noFill/>
            <a:ln w="9525">
              <a:noFill/>
              <a:miter lim="800000"/>
              <a:headEnd/>
              <a:tailEnd/>
            </a:ln>
          </p:spPr>
          <p:txBody>
            <a:bodyPr wrap="none" lIns="0" tIns="0" rIns="0" bIns="0">
              <a:noAutofit/>
            </a:bodyPr>
            <a:lstStyle/>
            <a:p>
              <a:pPr algn="ctr" fontAlgn="auto">
                <a:spcBef>
                  <a:spcPts val="0"/>
                </a:spcBef>
                <a:spcAft>
                  <a:spcPts val="0"/>
                </a:spcAft>
                <a:defRPr/>
              </a:pPr>
              <a:r>
                <a:rPr lang="en-US" altLang="zh-CN" sz="600" b="0" dirty="0">
                  <a:solidFill>
                    <a:srgbClr val="000000"/>
                  </a:solidFill>
                  <a:latin typeface="+mj-lt"/>
                  <a:ea typeface="DFKaiShu-GB5"/>
                  <a:cs typeface="Calibri" panose="020F0502020204030204" pitchFamily="34" charset="0"/>
                </a:rPr>
                <a:t>September 2025</a:t>
              </a:r>
            </a:p>
          </p:txBody>
        </p:sp>
        <p:sp>
          <p:nvSpPr>
            <p:cNvPr id="203" name="Rectangle 177">
              <a:extLst>
                <a:ext uri="{FF2B5EF4-FFF2-40B4-BE49-F238E27FC236}">
                  <a16:creationId xmlns:a16="http://schemas.microsoft.com/office/drawing/2014/main" id="{C431EC48-A755-92E4-D920-9972DECA7C24}"/>
                </a:ext>
              </a:extLst>
            </p:cNvPr>
            <p:cNvSpPr>
              <a:spLocks noChangeArrowheads="1"/>
            </p:cNvSpPr>
            <p:nvPr/>
          </p:nvSpPr>
          <p:spPr bwMode="auto">
            <a:xfrm>
              <a:off x="4633631" y="2882889"/>
              <a:ext cx="923174"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mn-cs"/>
                </a:rPr>
                <a:t>US$25m</a:t>
              </a:r>
            </a:p>
            <a:p>
              <a:pPr algn="ctr" eaLnBrk="0" hangingPunct="0">
                <a:spcBef>
                  <a:spcPts val="0"/>
                </a:spcBef>
                <a:defRPr/>
              </a:pPr>
              <a:r>
                <a:rPr lang="en-US" altLang="zh-TW" sz="600" dirty="0">
                  <a:solidFill>
                    <a:srgbClr val="000000"/>
                  </a:solidFill>
                  <a:latin typeface="+mj-lt"/>
                  <a:ea typeface="DFKaiShu-GB5"/>
                  <a:cs typeface="+mn-cs"/>
                </a:rPr>
                <a:t>Placement</a:t>
              </a:r>
            </a:p>
          </p:txBody>
        </p:sp>
        <p:pic>
          <p:nvPicPr>
            <p:cNvPr id="178" name="Picture 2" descr="Prime US REIT">
              <a:extLst>
                <a:ext uri="{FF2B5EF4-FFF2-40B4-BE49-F238E27FC236}">
                  <a16:creationId xmlns:a16="http://schemas.microsoft.com/office/drawing/2014/main" id="{8F0844BA-59C7-B99B-43C2-EAA9110AD5CE}"/>
                </a:ext>
              </a:extLst>
            </p:cNvPr>
            <p:cNvPicPr>
              <a:picLocks noChangeAspect="1" noChangeArrowheads="1"/>
            </p:cNvPicPr>
            <p:nvPr/>
          </p:nvPicPr>
          <p:blipFill rotWithShape="1">
            <a:blip r:embed="rId23">
              <a:extLst>
                <a:ext uri="{28A0092B-C50C-407E-A947-70E740481C1C}">
                  <a14:useLocalDpi xmlns:a14="http://schemas.microsoft.com/office/drawing/2010/main" val="0"/>
                </a:ext>
              </a:extLst>
            </a:blip>
            <a:srcRect l="24004" t="31890" r="29371" b="33757"/>
            <a:stretch/>
          </p:blipFill>
          <p:spPr bwMode="auto">
            <a:xfrm>
              <a:off x="4713022" y="2599985"/>
              <a:ext cx="661312" cy="243624"/>
            </a:xfrm>
            <a:prstGeom prst="rect">
              <a:avLst/>
            </a:prstGeom>
            <a:noFill/>
            <a:extLst>
              <a:ext uri="{909E8E84-426E-40DD-AFC4-6F175D3DCCD1}">
                <a14:hiddenFill xmlns:a14="http://schemas.microsoft.com/office/drawing/2010/main">
                  <a:solidFill>
                    <a:srgbClr val="FFFFFF"/>
                  </a:solidFill>
                </a14:hiddenFill>
              </a:ext>
            </a:extLst>
          </p:spPr>
        </p:pic>
      </p:grpSp>
      <p:sp>
        <p:nvSpPr>
          <p:cNvPr id="149" name="Rectangle 174">
            <a:extLst>
              <a:ext uri="{FF2B5EF4-FFF2-40B4-BE49-F238E27FC236}">
                <a16:creationId xmlns:a16="http://schemas.microsoft.com/office/drawing/2014/main" id="{541D87A8-34BA-E390-B958-DE3314924A7D}"/>
              </a:ext>
            </a:extLst>
          </p:cNvPr>
          <p:cNvSpPr>
            <a:spLocks noChangeArrowheads="1"/>
          </p:cNvSpPr>
          <p:nvPr/>
        </p:nvSpPr>
        <p:spPr bwMode="auto">
          <a:xfrm>
            <a:off x="1028700" y="2541593"/>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161" name="Rectangle 176">
            <a:extLst>
              <a:ext uri="{FF2B5EF4-FFF2-40B4-BE49-F238E27FC236}">
                <a16:creationId xmlns:a16="http://schemas.microsoft.com/office/drawing/2014/main" id="{6F723571-F689-5A10-EBC8-68F98B5C47A3}"/>
              </a:ext>
            </a:extLst>
          </p:cNvPr>
          <p:cNvSpPr>
            <a:spLocks noChangeArrowheads="1"/>
          </p:cNvSpPr>
          <p:nvPr/>
        </p:nvSpPr>
        <p:spPr bwMode="auto">
          <a:xfrm>
            <a:off x="1028700" y="3131814"/>
            <a:ext cx="914400" cy="184666"/>
          </a:xfrm>
          <a:prstGeom prst="rect">
            <a:avLst/>
          </a:prstGeom>
          <a:noFill/>
          <a:ln w="9525">
            <a:noFill/>
            <a:miter lim="800000"/>
            <a:headEnd/>
            <a:tailEnd/>
          </a:ln>
        </p:spPr>
        <p:txBody>
          <a:bodyPr lIns="0" tIns="0" rIns="0" bIns="0" anchor="t" anchorCtr="0">
            <a:spAutoFit/>
          </a:bodyPr>
          <a:lstStyle/>
          <a:p>
            <a:pPr algn="ctr" fontAlgn="auto">
              <a:spcBef>
                <a:spcPts val="0"/>
              </a:spcBef>
              <a:spcAft>
                <a:spcPts val="0"/>
              </a:spcAft>
              <a:defRPr/>
            </a:pPr>
            <a:r>
              <a:rPr lang="en-US" sz="600" b="0" kern="0" dirty="0">
                <a:solidFill>
                  <a:prstClr val="black"/>
                </a:solidFill>
                <a:latin typeface="+mj-lt"/>
                <a:cs typeface="Calibri" panose="020F0502020204030204" pitchFamily="34" charset="0"/>
              </a:rPr>
              <a:t>Joint Bookrunner and Underwriter</a:t>
            </a:r>
          </a:p>
        </p:txBody>
      </p:sp>
      <p:sp>
        <p:nvSpPr>
          <p:cNvPr id="173" name="Rectangle 177">
            <a:extLst>
              <a:ext uri="{FF2B5EF4-FFF2-40B4-BE49-F238E27FC236}">
                <a16:creationId xmlns:a16="http://schemas.microsoft.com/office/drawing/2014/main" id="{DDEC514E-8D8B-CAD0-2832-18B874D8F527}"/>
              </a:ext>
            </a:extLst>
          </p:cNvPr>
          <p:cNvSpPr>
            <a:spLocks noChangeArrowheads="1"/>
          </p:cNvSpPr>
          <p:nvPr/>
        </p:nvSpPr>
        <p:spPr bwMode="auto">
          <a:xfrm>
            <a:off x="1028700" y="2895086"/>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S$110.6m </a:t>
            </a:r>
          </a:p>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SG IPO</a:t>
            </a:r>
          </a:p>
        </p:txBody>
      </p:sp>
      <p:sp>
        <p:nvSpPr>
          <p:cNvPr id="174" name="Rectangle 180">
            <a:extLst>
              <a:ext uri="{FF2B5EF4-FFF2-40B4-BE49-F238E27FC236}">
                <a16:creationId xmlns:a16="http://schemas.microsoft.com/office/drawing/2014/main" id="{8C955F92-25F5-2E38-B739-D0C8EAD32EEC}"/>
              </a:ext>
            </a:extLst>
          </p:cNvPr>
          <p:cNvSpPr>
            <a:spLocks noChangeArrowheads="1"/>
          </p:cNvSpPr>
          <p:nvPr/>
        </p:nvSpPr>
        <p:spPr bwMode="auto">
          <a:xfrm>
            <a:off x="1028700" y="3545980"/>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November 2025</a:t>
            </a:r>
          </a:p>
        </p:txBody>
      </p:sp>
      <p:pic>
        <p:nvPicPr>
          <p:cNvPr id="177" name="Picture 176">
            <a:extLst>
              <a:ext uri="{FF2B5EF4-FFF2-40B4-BE49-F238E27FC236}">
                <a16:creationId xmlns:a16="http://schemas.microsoft.com/office/drawing/2014/main" id="{2D3DEED1-5BF5-8CDA-221E-5EFCF236CB18}"/>
              </a:ext>
            </a:extLst>
          </p:cNvPr>
          <p:cNvPicPr>
            <a:picLocks noChangeAspect="1"/>
          </p:cNvPicPr>
          <p:nvPr/>
        </p:nvPicPr>
        <p:blipFill>
          <a:blip r:embed="rId24"/>
          <a:srcRect t="34370" b="35259"/>
          <a:stretch>
            <a:fillRect/>
          </a:stretch>
        </p:blipFill>
        <p:spPr>
          <a:xfrm>
            <a:off x="1202445" y="2629473"/>
            <a:ext cx="584200" cy="177424"/>
          </a:xfrm>
          <a:prstGeom prst="rect">
            <a:avLst/>
          </a:prstGeom>
        </p:spPr>
      </p:pic>
      <p:sp>
        <p:nvSpPr>
          <p:cNvPr id="143" name="Rectangle 174">
            <a:extLst>
              <a:ext uri="{FF2B5EF4-FFF2-40B4-BE49-F238E27FC236}">
                <a16:creationId xmlns:a16="http://schemas.microsoft.com/office/drawing/2014/main" id="{9A6BFE60-43DA-0413-8F70-6A509571C293}"/>
              </a:ext>
            </a:extLst>
          </p:cNvPr>
          <p:cNvSpPr>
            <a:spLocks noChangeArrowheads="1"/>
          </p:cNvSpPr>
          <p:nvPr/>
        </p:nvSpPr>
        <p:spPr bwMode="auto">
          <a:xfrm>
            <a:off x="3023298" y="1331790"/>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Calibri" panose="020F0502020204030204" pitchFamily="34" charset="0"/>
              <a:cs typeface="Calibri" panose="020F0502020204030204" pitchFamily="34" charset="0"/>
            </a:endParaRPr>
          </a:p>
        </p:txBody>
      </p:sp>
      <p:sp>
        <p:nvSpPr>
          <p:cNvPr id="144" name="Rectangle 176">
            <a:extLst>
              <a:ext uri="{FF2B5EF4-FFF2-40B4-BE49-F238E27FC236}">
                <a16:creationId xmlns:a16="http://schemas.microsoft.com/office/drawing/2014/main" id="{49E7FFF8-BB7F-3224-2726-C8ADFB8C9399}"/>
              </a:ext>
            </a:extLst>
          </p:cNvPr>
          <p:cNvSpPr>
            <a:spLocks noChangeArrowheads="1"/>
          </p:cNvSpPr>
          <p:nvPr/>
        </p:nvSpPr>
        <p:spPr bwMode="auto">
          <a:xfrm>
            <a:off x="3023298" y="1970779"/>
            <a:ext cx="914400" cy="184666"/>
          </a:xfrm>
          <a:prstGeom prst="rect">
            <a:avLst/>
          </a:prstGeom>
          <a:noFill/>
          <a:ln w="9525">
            <a:noFill/>
            <a:miter lim="800000"/>
            <a:headEnd/>
            <a:tailEnd/>
          </a:ln>
        </p:spPr>
        <p:txBody>
          <a:bodyPr lIns="0" tIns="0" rIns="0" bIns="0" anchor="t" anchorCtr="0">
            <a:spAutoFit/>
          </a:bodyPr>
          <a:lstStyle/>
          <a:p>
            <a:pPr algn="ctr" fontAlgn="auto">
              <a:spcBef>
                <a:spcPts val="0"/>
              </a:spcBef>
              <a:spcAft>
                <a:spcPts val="0"/>
              </a:spcAft>
              <a:defRPr/>
            </a:pPr>
            <a:r>
              <a:rPr lang="en-US" sz="600" b="0" kern="0" dirty="0">
                <a:solidFill>
                  <a:prstClr val="black"/>
                </a:solidFill>
                <a:latin typeface="+mj-lt"/>
                <a:cs typeface="Calibri" panose="020F0502020204030204" pitchFamily="34" charset="0"/>
              </a:rPr>
              <a:t>Joint Issue Manager and Global Coordinator </a:t>
            </a:r>
          </a:p>
        </p:txBody>
      </p:sp>
      <p:sp>
        <p:nvSpPr>
          <p:cNvPr id="145" name="Rectangle 177">
            <a:extLst>
              <a:ext uri="{FF2B5EF4-FFF2-40B4-BE49-F238E27FC236}">
                <a16:creationId xmlns:a16="http://schemas.microsoft.com/office/drawing/2014/main" id="{9D502670-51DD-DB31-520E-A46616B0D9B7}"/>
              </a:ext>
            </a:extLst>
          </p:cNvPr>
          <p:cNvSpPr>
            <a:spLocks noChangeArrowheads="1"/>
          </p:cNvSpPr>
          <p:nvPr/>
        </p:nvSpPr>
        <p:spPr bwMode="auto">
          <a:xfrm>
            <a:off x="3023298" y="1685283"/>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US$430m </a:t>
            </a:r>
          </a:p>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SG IPO</a:t>
            </a:r>
          </a:p>
        </p:txBody>
      </p:sp>
      <p:sp>
        <p:nvSpPr>
          <p:cNvPr id="146" name="Rectangle 180">
            <a:extLst>
              <a:ext uri="{FF2B5EF4-FFF2-40B4-BE49-F238E27FC236}">
                <a16:creationId xmlns:a16="http://schemas.microsoft.com/office/drawing/2014/main" id="{FC6F7F4B-6C47-C7EB-CE41-6D599C64CC03}"/>
              </a:ext>
            </a:extLst>
          </p:cNvPr>
          <p:cNvSpPr>
            <a:spLocks noChangeArrowheads="1"/>
          </p:cNvSpPr>
          <p:nvPr/>
        </p:nvSpPr>
        <p:spPr bwMode="auto">
          <a:xfrm>
            <a:off x="3023298" y="2336177"/>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December 2025</a:t>
            </a:r>
          </a:p>
        </p:txBody>
      </p:sp>
      <p:pic>
        <p:nvPicPr>
          <p:cNvPr id="179" name="Picture 178">
            <a:extLst>
              <a:ext uri="{FF2B5EF4-FFF2-40B4-BE49-F238E27FC236}">
                <a16:creationId xmlns:a16="http://schemas.microsoft.com/office/drawing/2014/main" id="{C2025959-4A26-45F8-2792-B7833A462105}"/>
              </a:ext>
            </a:extLst>
          </p:cNvPr>
          <p:cNvPicPr>
            <a:picLocks noChangeAspect="1"/>
          </p:cNvPicPr>
          <p:nvPr/>
        </p:nvPicPr>
        <p:blipFill>
          <a:blip r:embed="rId25"/>
          <a:srcRect l="15964" t="37883" r="13294" b="42011"/>
          <a:stretch>
            <a:fillRect/>
          </a:stretch>
        </p:blipFill>
        <p:spPr>
          <a:xfrm>
            <a:off x="3128435" y="1447116"/>
            <a:ext cx="725657" cy="137244"/>
          </a:xfrm>
          <a:prstGeom prst="rect">
            <a:avLst/>
          </a:prstGeom>
        </p:spPr>
      </p:pic>
      <p:sp>
        <p:nvSpPr>
          <p:cNvPr id="27" name="Rectangle 174">
            <a:extLst>
              <a:ext uri="{FF2B5EF4-FFF2-40B4-BE49-F238E27FC236}">
                <a16:creationId xmlns:a16="http://schemas.microsoft.com/office/drawing/2014/main" id="{E65F7C6D-FB20-CE06-378A-92C74C073C80}"/>
              </a:ext>
            </a:extLst>
          </p:cNvPr>
          <p:cNvSpPr>
            <a:spLocks noChangeArrowheads="1"/>
          </p:cNvSpPr>
          <p:nvPr/>
        </p:nvSpPr>
        <p:spPr bwMode="auto">
          <a:xfrm>
            <a:off x="2009639" y="1331790"/>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dirty="0">
              <a:solidFill>
                <a:prstClr val="black"/>
              </a:solidFill>
              <a:latin typeface="Calibri" panose="020F0502020204030204" pitchFamily="34" charset="0"/>
              <a:cs typeface="Calibri" panose="020F0502020204030204" pitchFamily="34" charset="0"/>
            </a:endParaRPr>
          </a:p>
        </p:txBody>
      </p:sp>
      <p:sp>
        <p:nvSpPr>
          <p:cNvPr id="28" name="Rectangle 176">
            <a:extLst>
              <a:ext uri="{FF2B5EF4-FFF2-40B4-BE49-F238E27FC236}">
                <a16:creationId xmlns:a16="http://schemas.microsoft.com/office/drawing/2014/main" id="{0446EDEC-4636-9946-2527-2659793F04BF}"/>
              </a:ext>
            </a:extLst>
          </p:cNvPr>
          <p:cNvSpPr>
            <a:spLocks noChangeArrowheads="1"/>
          </p:cNvSpPr>
          <p:nvPr/>
        </p:nvSpPr>
        <p:spPr bwMode="auto">
          <a:xfrm>
            <a:off x="2009639" y="1970779"/>
            <a:ext cx="914400" cy="369332"/>
          </a:xfrm>
          <a:prstGeom prst="rect">
            <a:avLst/>
          </a:prstGeom>
          <a:noFill/>
          <a:ln w="9525">
            <a:noFill/>
            <a:miter lim="800000"/>
            <a:headEnd/>
            <a:tailEnd/>
          </a:ln>
        </p:spPr>
        <p:txBody>
          <a:bodyPr lIns="0" tIns="0" rIns="0" bIns="0" anchor="t" anchorCtr="0">
            <a:spAutoFit/>
          </a:bodyPr>
          <a:lstStyle/>
          <a:p>
            <a:pPr algn="ctr" fontAlgn="auto">
              <a:spcBef>
                <a:spcPts val="0"/>
              </a:spcBef>
              <a:spcAft>
                <a:spcPts val="0"/>
              </a:spcAft>
              <a:defRPr/>
            </a:pPr>
            <a:r>
              <a:rPr lang="en-US" sz="600" b="0" kern="0" dirty="0">
                <a:solidFill>
                  <a:prstClr val="black"/>
                </a:solidFill>
                <a:latin typeface="+mj-lt"/>
                <a:cs typeface="Calibri" panose="020F0502020204030204" pitchFamily="34" charset="0"/>
              </a:rPr>
              <a:t>Joint Issue Manager, Global Coordinator, Bookrunner and Underwriter </a:t>
            </a:r>
          </a:p>
        </p:txBody>
      </p:sp>
      <p:sp>
        <p:nvSpPr>
          <p:cNvPr id="29" name="Rectangle 177">
            <a:extLst>
              <a:ext uri="{FF2B5EF4-FFF2-40B4-BE49-F238E27FC236}">
                <a16:creationId xmlns:a16="http://schemas.microsoft.com/office/drawing/2014/main" id="{EE25AE81-5081-3A8E-DF59-7BB1C6D38E7A}"/>
              </a:ext>
            </a:extLst>
          </p:cNvPr>
          <p:cNvSpPr>
            <a:spLocks noChangeArrowheads="1"/>
          </p:cNvSpPr>
          <p:nvPr/>
        </p:nvSpPr>
        <p:spPr bwMode="auto">
          <a:xfrm>
            <a:off x="2009639" y="1685283"/>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US$889.2m </a:t>
            </a:r>
          </a:p>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SG IPO</a:t>
            </a:r>
          </a:p>
        </p:txBody>
      </p:sp>
      <p:sp>
        <p:nvSpPr>
          <p:cNvPr id="30" name="Rectangle 180">
            <a:extLst>
              <a:ext uri="{FF2B5EF4-FFF2-40B4-BE49-F238E27FC236}">
                <a16:creationId xmlns:a16="http://schemas.microsoft.com/office/drawing/2014/main" id="{60F102AD-515B-253F-3BD7-6DDEC05E8B67}"/>
              </a:ext>
            </a:extLst>
          </p:cNvPr>
          <p:cNvSpPr>
            <a:spLocks noChangeArrowheads="1"/>
          </p:cNvSpPr>
          <p:nvPr/>
        </p:nvSpPr>
        <p:spPr bwMode="auto">
          <a:xfrm>
            <a:off x="2009639" y="2336177"/>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March 2026</a:t>
            </a:r>
          </a:p>
        </p:txBody>
      </p:sp>
      <p:pic>
        <p:nvPicPr>
          <p:cNvPr id="1026" name="Picture 2" descr="UI Boustead REIT IPO: Prospectus &amp; Summary - My Stocks Investing">
            <a:extLst>
              <a:ext uri="{FF2B5EF4-FFF2-40B4-BE49-F238E27FC236}">
                <a16:creationId xmlns:a16="http://schemas.microsoft.com/office/drawing/2014/main" id="{03EB99E4-5D39-4AFE-3400-95DD220F643C}"/>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2242049" y="1403986"/>
            <a:ext cx="487680" cy="266299"/>
          </a:xfrm>
          <a:prstGeom prst="rect">
            <a:avLst/>
          </a:prstGeom>
          <a:noFill/>
          <a:extLst>
            <a:ext uri="{909E8E84-426E-40DD-AFC4-6F175D3DCCD1}">
              <a14:hiddenFill xmlns:a14="http://schemas.microsoft.com/office/drawing/2010/main">
                <a:solidFill>
                  <a:srgbClr val="FFFFFF"/>
                </a:solidFill>
              </a14:hiddenFill>
            </a:ext>
          </a:extLst>
        </p:spPr>
      </p:pic>
      <p:sp>
        <p:nvSpPr>
          <p:cNvPr id="142" name="Rectangle 174">
            <a:extLst>
              <a:ext uri="{FF2B5EF4-FFF2-40B4-BE49-F238E27FC236}">
                <a16:creationId xmlns:a16="http://schemas.microsoft.com/office/drawing/2014/main" id="{3D0DE3AC-7AC6-D2A0-BD45-AC07391ABB4C}"/>
              </a:ext>
            </a:extLst>
          </p:cNvPr>
          <p:cNvSpPr>
            <a:spLocks noChangeArrowheads="1"/>
          </p:cNvSpPr>
          <p:nvPr/>
        </p:nvSpPr>
        <p:spPr bwMode="auto">
          <a:xfrm>
            <a:off x="1028700" y="1331790"/>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dirty="0">
              <a:solidFill>
                <a:prstClr val="black"/>
              </a:solidFill>
              <a:latin typeface="Calibri" panose="020F0502020204030204" pitchFamily="34" charset="0"/>
              <a:cs typeface="Calibri" panose="020F0502020204030204" pitchFamily="34" charset="0"/>
            </a:endParaRPr>
          </a:p>
        </p:txBody>
      </p:sp>
      <p:sp>
        <p:nvSpPr>
          <p:cNvPr id="147" name="Rectangle 176">
            <a:extLst>
              <a:ext uri="{FF2B5EF4-FFF2-40B4-BE49-F238E27FC236}">
                <a16:creationId xmlns:a16="http://schemas.microsoft.com/office/drawing/2014/main" id="{95D96006-763D-B2C8-59E8-8024796AE939}"/>
              </a:ext>
            </a:extLst>
          </p:cNvPr>
          <p:cNvSpPr>
            <a:spLocks noChangeArrowheads="1"/>
          </p:cNvSpPr>
          <p:nvPr/>
        </p:nvSpPr>
        <p:spPr bwMode="auto">
          <a:xfrm>
            <a:off x="1028700" y="1970780"/>
            <a:ext cx="914400" cy="92333"/>
          </a:xfrm>
          <a:prstGeom prst="rect">
            <a:avLst/>
          </a:prstGeom>
          <a:noFill/>
          <a:ln w="9525">
            <a:noFill/>
            <a:miter lim="800000"/>
            <a:headEnd/>
            <a:tailEnd/>
          </a:ln>
        </p:spPr>
        <p:txBody>
          <a:bodyPr lIns="0" tIns="0" rIns="0" bIns="0" anchor="t" anchorCtr="0">
            <a:spAutoFit/>
          </a:bodyPr>
          <a:lstStyle/>
          <a:p>
            <a:pPr algn="ctr" fontAlgn="auto">
              <a:spcBef>
                <a:spcPts val="0"/>
              </a:spcBef>
              <a:spcAft>
                <a:spcPts val="0"/>
              </a:spcAft>
              <a:defRPr/>
            </a:pPr>
            <a:r>
              <a:rPr lang="en-US" sz="600" b="0" kern="0" dirty="0">
                <a:solidFill>
                  <a:prstClr val="black"/>
                </a:solidFill>
                <a:latin typeface="+mj-lt"/>
                <a:cs typeface="Calibri" panose="020F0502020204030204" pitchFamily="34" charset="0"/>
              </a:rPr>
              <a:t>Joint Bookrunners</a:t>
            </a:r>
          </a:p>
        </p:txBody>
      </p:sp>
      <p:sp>
        <p:nvSpPr>
          <p:cNvPr id="148" name="Rectangle 177">
            <a:extLst>
              <a:ext uri="{FF2B5EF4-FFF2-40B4-BE49-F238E27FC236}">
                <a16:creationId xmlns:a16="http://schemas.microsoft.com/office/drawing/2014/main" id="{A07EF654-1A8D-05F3-F54F-9186DEEA7BF4}"/>
              </a:ext>
            </a:extLst>
          </p:cNvPr>
          <p:cNvSpPr>
            <a:spLocks noChangeArrowheads="1"/>
          </p:cNvSpPr>
          <p:nvPr/>
        </p:nvSpPr>
        <p:spPr bwMode="auto">
          <a:xfrm>
            <a:off x="1028700" y="1685283"/>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TW" sz="600" dirty="0">
                <a:solidFill>
                  <a:srgbClr val="000000"/>
                </a:solidFill>
                <a:latin typeface="+mj-lt"/>
                <a:ea typeface="DFKaiShu-GB5"/>
                <a:cs typeface="DFKaiShu-GB5" panose="03000509000000000000" pitchFamily="65" charset="-128"/>
              </a:rPr>
              <a:t>S$929.9m</a:t>
            </a:r>
            <a:br>
              <a:rPr lang="en-US" altLang="zh-TW" sz="600" dirty="0">
                <a:solidFill>
                  <a:srgbClr val="000000"/>
                </a:solidFill>
                <a:latin typeface="+mj-lt"/>
                <a:ea typeface="DFKaiShu-GB5"/>
                <a:cs typeface="DFKaiShu-GB5" panose="03000509000000000000" pitchFamily="65" charset="-128"/>
              </a:rPr>
            </a:br>
            <a:r>
              <a:rPr lang="en-US" altLang="zh-TW" sz="600" dirty="0">
                <a:solidFill>
                  <a:srgbClr val="000000"/>
                </a:solidFill>
                <a:latin typeface="+mj-lt"/>
                <a:ea typeface="DFKaiShu-GB5"/>
                <a:cs typeface="DFKaiShu-GB5" panose="03000509000000000000" pitchFamily="65" charset="-128"/>
              </a:rPr>
              <a:t>Malaysia IPO</a:t>
            </a:r>
          </a:p>
        </p:txBody>
      </p:sp>
      <p:sp>
        <p:nvSpPr>
          <p:cNvPr id="175" name="Rectangle 180">
            <a:extLst>
              <a:ext uri="{FF2B5EF4-FFF2-40B4-BE49-F238E27FC236}">
                <a16:creationId xmlns:a16="http://schemas.microsoft.com/office/drawing/2014/main" id="{A2191F1F-1CD2-47DB-5198-771F0C33F1E7}"/>
              </a:ext>
            </a:extLst>
          </p:cNvPr>
          <p:cNvSpPr>
            <a:spLocks noChangeArrowheads="1"/>
          </p:cNvSpPr>
          <p:nvPr/>
        </p:nvSpPr>
        <p:spPr bwMode="auto">
          <a:xfrm>
            <a:off x="1028700" y="2336177"/>
            <a:ext cx="914400" cy="89634"/>
          </a:xfrm>
          <a:prstGeom prst="rect">
            <a:avLst/>
          </a:prstGeom>
          <a:noFill/>
          <a:ln w="9525">
            <a:noFill/>
            <a:miter lim="800000"/>
            <a:headEnd/>
            <a:tailEnd/>
          </a:ln>
        </p:spPr>
        <p:txBody>
          <a:bodyPr wrap="none" lIns="0" tIns="0" rIns="0" bIns="0">
            <a:noAutofit/>
          </a:bodyPr>
          <a:lstStyle/>
          <a:p>
            <a:pPr algn="ctr" eaLnBrk="0" hangingPunct="0">
              <a:spcBef>
                <a:spcPct val="50000"/>
              </a:spcBef>
              <a:defRPr/>
            </a:pPr>
            <a:r>
              <a:rPr lang="en-US" altLang="zh-TW" sz="600" b="0" dirty="0">
                <a:solidFill>
                  <a:srgbClr val="000000"/>
                </a:solidFill>
                <a:latin typeface="+mj-lt"/>
                <a:ea typeface="DFKaiShu-GB5"/>
                <a:cs typeface="Calibri" panose="020F0502020204030204" pitchFamily="34" charset="0"/>
              </a:rPr>
              <a:t>March 2026</a:t>
            </a:r>
          </a:p>
        </p:txBody>
      </p:sp>
      <p:pic>
        <p:nvPicPr>
          <p:cNvPr id="181" name="Picture 180">
            <a:extLst>
              <a:ext uri="{FF2B5EF4-FFF2-40B4-BE49-F238E27FC236}">
                <a16:creationId xmlns:a16="http://schemas.microsoft.com/office/drawing/2014/main" id="{EE7791BA-A124-5737-EF11-3D44FCB43D46}"/>
              </a:ext>
            </a:extLst>
          </p:cNvPr>
          <p:cNvPicPr>
            <a:picLocks noChangeAspect="1"/>
          </p:cNvPicPr>
          <p:nvPr/>
        </p:nvPicPr>
        <p:blipFill>
          <a:blip r:embed="rId27"/>
          <a:stretch>
            <a:fillRect/>
          </a:stretch>
        </p:blipFill>
        <p:spPr>
          <a:xfrm>
            <a:off x="1142907" y="1417956"/>
            <a:ext cx="701227" cy="207645"/>
          </a:xfrm>
          <a:prstGeom prst="rect">
            <a:avLst/>
          </a:prstGeom>
        </p:spPr>
      </p:pic>
      <p:grpSp>
        <p:nvGrpSpPr>
          <p:cNvPr id="36" name="Group 35">
            <a:extLst>
              <a:ext uri="{FF2B5EF4-FFF2-40B4-BE49-F238E27FC236}">
                <a16:creationId xmlns:a16="http://schemas.microsoft.com/office/drawing/2014/main" id="{666504EF-32F9-4A22-0C39-EEF468BDE969}"/>
              </a:ext>
            </a:extLst>
          </p:cNvPr>
          <p:cNvGrpSpPr/>
          <p:nvPr/>
        </p:nvGrpSpPr>
        <p:grpSpPr>
          <a:xfrm>
            <a:off x="5015495" y="1331790"/>
            <a:ext cx="914400" cy="1115568"/>
            <a:chOff x="4634495" y="1331790"/>
            <a:chExt cx="914400" cy="1115568"/>
          </a:xfrm>
        </p:grpSpPr>
        <p:sp>
          <p:nvSpPr>
            <p:cNvPr id="11" name="Rectangle 174">
              <a:extLst>
                <a:ext uri="{FF2B5EF4-FFF2-40B4-BE49-F238E27FC236}">
                  <a16:creationId xmlns:a16="http://schemas.microsoft.com/office/drawing/2014/main" id="{6C77E9EC-1A1E-4B18-F892-D333E3EA90BB}"/>
                </a:ext>
              </a:extLst>
            </p:cNvPr>
            <p:cNvSpPr>
              <a:spLocks noChangeArrowheads="1"/>
            </p:cNvSpPr>
            <p:nvPr/>
          </p:nvSpPr>
          <p:spPr bwMode="auto">
            <a:xfrm>
              <a:off x="4634495" y="1331790"/>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spcBef>
                  <a:spcPct val="50000"/>
                </a:spcBef>
                <a:defRPr/>
              </a:pPr>
              <a:endParaRPr lang="zh-TW" altLang="en-US" sz="600" b="0" kern="0">
                <a:solidFill>
                  <a:prstClr val="black"/>
                </a:solidFill>
                <a:latin typeface="Calibri" panose="020F0502020204030204" pitchFamily="34" charset="0"/>
                <a:ea typeface="DFKaiShu-GB5" panose="03000509000000000000" pitchFamily="65" charset="-128"/>
                <a:cs typeface="Calibri" panose="020F0502020204030204" pitchFamily="34" charset="0"/>
              </a:endParaRPr>
            </a:p>
          </p:txBody>
        </p:sp>
        <p:sp>
          <p:nvSpPr>
            <p:cNvPr id="12" name="Rectangle 176">
              <a:extLst>
                <a:ext uri="{FF2B5EF4-FFF2-40B4-BE49-F238E27FC236}">
                  <a16:creationId xmlns:a16="http://schemas.microsoft.com/office/drawing/2014/main" id="{96F33683-C068-D505-71ED-8E48864CB8E6}"/>
                </a:ext>
              </a:extLst>
            </p:cNvPr>
            <p:cNvSpPr>
              <a:spLocks noChangeArrowheads="1"/>
            </p:cNvSpPr>
            <p:nvPr/>
          </p:nvSpPr>
          <p:spPr bwMode="auto">
            <a:xfrm>
              <a:off x="4634495" y="1924613"/>
              <a:ext cx="914400" cy="276999"/>
            </a:xfrm>
            <a:prstGeom prst="rect">
              <a:avLst/>
            </a:prstGeom>
            <a:noFill/>
            <a:ln w="9525">
              <a:noFill/>
              <a:miter lim="800000"/>
              <a:headEnd/>
              <a:tailEnd/>
            </a:ln>
          </p:spPr>
          <p:txBody>
            <a:bodyPr wrap="square" lIns="0" tIns="0" rIns="0" bIns="0" anchor="ctr">
              <a:spAutoFit/>
            </a:bodyPr>
            <a:lstStyle/>
            <a:p>
              <a:pPr algn="ctr" fontAlgn="auto">
                <a:spcBef>
                  <a:spcPts val="0"/>
                </a:spcBef>
                <a:spcAft>
                  <a:spcPts val="0"/>
                </a:spcAft>
                <a:defRPr/>
              </a:pPr>
              <a:r>
                <a:rPr lang="en-US" sz="600" b="0" kern="0" dirty="0">
                  <a:solidFill>
                    <a:prstClr val="black"/>
                  </a:solidFill>
                  <a:latin typeface="+mj-lt"/>
                  <a:cs typeface="Calibri" panose="020F0502020204030204" pitchFamily="34" charset="0"/>
                </a:rPr>
                <a:t>Joint Global Co-</a:t>
              </a:r>
              <a:r>
                <a:rPr lang="en-US" sz="600" b="0" kern="0" dirty="0" err="1">
                  <a:solidFill>
                    <a:prstClr val="black"/>
                  </a:solidFill>
                  <a:latin typeface="+mj-lt"/>
                  <a:cs typeface="Calibri" panose="020F0502020204030204" pitchFamily="34" charset="0"/>
                </a:rPr>
                <a:t>ordinator</a:t>
              </a:r>
              <a:r>
                <a:rPr lang="en-US" sz="600" b="0" kern="0" dirty="0">
                  <a:solidFill>
                    <a:prstClr val="black"/>
                  </a:solidFill>
                  <a:latin typeface="+mj-lt"/>
                  <a:cs typeface="Calibri" panose="020F0502020204030204" pitchFamily="34" charset="0"/>
                </a:rPr>
                <a:t>, Bookrunner and Underwriter</a:t>
              </a:r>
              <a:endParaRPr lang="en-GB" sz="600" b="0" kern="0" dirty="0">
                <a:solidFill>
                  <a:prstClr val="black"/>
                </a:solidFill>
                <a:latin typeface="+mj-lt"/>
                <a:cs typeface="Calibri" panose="020F0502020204030204" pitchFamily="34" charset="0"/>
              </a:endParaRPr>
            </a:p>
          </p:txBody>
        </p:sp>
        <p:sp>
          <p:nvSpPr>
            <p:cNvPr id="13" name="Rectangle 180">
              <a:extLst>
                <a:ext uri="{FF2B5EF4-FFF2-40B4-BE49-F238E27FC236}">
                  <a16:creationId xmlns:a16="http://schemas.microsoft.com/office/drawing/2014/main" id="{47BA5218-1FD5-D251-AB70-0F59D22166A3}"/>
                </a:ext>
              </a:extLst>
            </p:cNvPr>
            <p:cNvSpPr>
              <a:spLocks noChangeArrowheads="1"/>
            </p:cNvSpPr>
            <p:nvPr/>
          </p:nvSpPr>
          <p:spPr bwMode="auto">
            <a:xfrm>
              <a:off x="4634495" y="2324731"/>
              <a:ext cx="914400" cy="92333"/>
            </a:xfrm>
            <a:prstGeom prst="rect">
              <a:avLst/>
            </a:prstGeom>
            <a:noFill/>
            <a:ln w="9525">
              <a:noFill/>
              <a:miter lim="800000"/>
              <a:headEnd/>
              <a:tailEnd/>
            </a:ln>
          </p:spPr>
          <p:txBody>
            <a:bodyPr wrap="square" lIns="0" tIns="0" rIns="0" bIns="0">
              <a:spAutoFit/>
            </a:bodyPr>
            <a:lstStyle/>
            <a:p>
              <a:pPr algn="ctr" eaLnBrk="0" hangingPunct="0">
                <a:spcBef>
                  <a:spcPct val="50000"/>
                </a:spcBef>
                <a:defRPr/>
              </a:pPr>
              <a:r>
                <a:rPr lang="en-US" altLang="zh-TW" sz="600" b="0" dirty="0">
                  <a:solidFill>
                    <a:srgbClr val="000000"/>
                  </a:solidFill>
                  <a:latin typeface="+mj-lt"/>
                  <a:ea typeface="DFKaiShu-GB5" panose="03000509000000000000" pitchFamily="65" charset="-128"/>
                  <a:cs typeface="Calibri" panose="020F0502020204030204" pitchFamily="34" charset="0"/>
                </a:rPr>
                <a:t>Ma</a:t>
              </a:r>
              <a:r>
                <a:rPr lang="en-US" altLang="zh-TW" sz="600" b="0" dirty="0" err="1">
                  <a:solidFill>
                    <a:srgbClr val="000000"/>
                  </a:solidFill>
                  <a:latin typeface="+mj-lt"/>
                  <a:ea typeface="DFKaiShu-GB5" panose="03000509000000000000" pitchFamily="65" charset="-128"/>
                  <a:cs typeface="Calibri" panose="020F0502020204030204" pitchFamily="34" charset="0"/>
                </a:rPr>
                <a:t>rch</a:t>
              </a:r>
              <a:r>
                <a:rPr lang="en-US" altLang="zh-TW" sz="600" b="0" dirty="0">
                  <a:solidFill>
                    <a:srgbClr val="000000"/>
                  </a:solidFill>
                  <a:latin typeface="+mj-lt"/>
                  <a:ea typeface="DFKaiShu-GB5" panose="03000509000000000000" pitchFamily="65" charset="-128"/>
                  <a:cs typeface="Calibri" panose="020F0502020204030204" pitchFamily="34" charset="0"/>
                </a:rPr>
                <a:t> 2026</a:t>
              </a:r>
              <a:endParaRPr lang="zh-TW" altLang="en-US" sz="600" b="0" dirty="0">
                <a:solidFill>
                  <a:srgbClr val="000000"/>
                </a:solidFill>
                <a:latin typeface="+mj-lt"/>
                <a:ea typeface="DFKaiShu-GB5" panose="03000509000000000000" pitchFamily="65" charset="-128"/>
                <a:cs typeface="Calibri" panose="020F0502020204030204" pitchFamily="34" charset="0"/>
              </a:endParaRPr>
            </a:p>
          </p:txBody>
        </p:sp>
        <p:sp>
          <p:nvSpPr>
            <p:cNvPr id="14" name="Rectangle 177">
              <a:extLst>
                <a:ext uri="{FF2B5EF4-FFF2-40B4-BE49-F238E27FC236}">
                  <a16:creationId xmlns:a16="http://schemas.microsoft.com/office/drawing/2014/main" id="{DF2E6B33-92B2-8DD7-0333-A19BB04875F0}"/>
                </a:ext>
              </a:extLst>
            </p:cNvPr>
            <p:cNvSpPr>
              <a:spLocks noChangeArrowheads="1"/>
            </p:cNvSpPr>
            <p:nvPr/>
          </p:nvSpPr>
          <p:spPr bwMode="auto">
            <a:xfrm>
              <a:off x="4634495" y="1712236"/>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CN" sz="600" dirty="0">
                  <a:solidFill>
                    <a:srgbClr val="000000"/>
                  </a:solidFill>
                  <a:latin typeface="Calibri" panose="020F0502020204030204" pitchFamily="34" charset="0"/>
                  <a:ea typeface="DFKaiShu-GB5" panose="03000509000000000000" pitchFamily="65" charset="-128"/>
                  <a:cs typeface="Calibri" panose="020F0502020204030204" pitchFamily="34" charset="0"/>
                </a:rPr>
                <a:t>S$600m</a:t>
              </a:r>
            </a:p>
            <a:p>
              <a:pPr algn="ctr" eaLnBrk="0" hangingPunct="0">
                <a:spcBef>
                  <a:spcPts val="0"/>
                </a:spcBef>
                <a:defRPr/>
              </a:pPr>
              <a:r>
                <a:rPr lang="en-US" altLang="zh-CN" sz="600" dirty="0">
                  <a:solidFill>
                    <a:srgbClr val="000000"/>
                  </a:solidFill>
                  <a:latin typeface="Calibri" panose="020F0502020204030204" pitchFamily="34" charset="0"/>
                  <a:ea typeface="DFKaiShu-GB5" panose="03000509000000000000" pitchFamily="65" charset="-128"/>
                  <a:cs typeface="Calibri" panose="020F0502020204030204" pitchFamily="34" charset="0"/>
                </a:rPr>
                <a:t>Private Placement</a:t>
              </a:r>
            </a:p>
          </p:txBody>
        </p:sp>
        <p:pic>
          <p:nvPicPr>
            <p:cNvPr id="1048" name="Picture 1047">
              <a:extLst>
                <a:ext uri="{FF2B5EF4-FFF2-40B4-BE49-F238E27FC236}">
                  <a16:creationId xmlns:a16="http://schemas.microsoft.com/office/drawing/2014/main" id="{B56D9E08-4C87-08AC-1C9E-039DD205EB40}"/>
                </a:ext>
              </a:extLst>
            </p:cNvPr>
            <p:cNvPicPr>
              <a:picLocks noChangeAspect="1"/>
            </p:cNvPicPr>
            <p:nvPr/>
          </p:nvPicPr>
          <p:blipFill>
            <a:blip r:embed="rId28"/>
            <a:stretch>
              <a:fillRect/>
            </a:stretch>
          </p:blipFill>
          <p:spPr>
            <a:xfrm>
              <a:off x="4812462" y="1387476"/>
              <a:ext cx="526097" cy="267224"/>
            </a:xfrm>
            <a:prstGeom prst="rect">
              <a:avLst/>
            </a:prstGeom>
          </p:spPr>
        </p:pic>
      </p:grpSp>
      <p:grpSp>
        <p:nvGrpSpPr>
          <p:cNvPr id="34" name="Group 33">
            <a:extLst>
              <a:ext uri="{FF2B5EF4-FFF2-40B4-BE49-F238E27FC236}">
                <a16:creationId xmlns:a16="http://schemas.microsoft.com/office/drawing/2014/main" id="{D7CB2044-E074-C243-A060-D61ACA18BF2E}"/>
              </a:ext>
            </a:extLst>
          </p:cNvPr>
          <p:cNvGrpSpPr/>
          <p:nvPr/>
        </p:nvGrpSpPr>
        <p:grpSpPr>
          <a:xfrm>
            <a:off x="6010366" y="1331790"/>
            <a:ext cx="1908701" cy="1115568"/>
            <a:chOff x="4628491" y="1331790"/>
            <a:chExt cx="1908701" cy="1115568"/>
          </a:xfrm>
        </p:grpSpPr>
        <p:sp>
          <p:nvSpPr>
            <p:cNvPr id="16" name="Rectangle 174">
              <a:extLst>
                <a:ext uri="{FF2B5EF4-FFF2-40B4-BE49-F238E27FC236}">
                  <a16:creationId xmlns:a16="http://schemas.microsoft.com/office/drawing/2014/main" id="{9F8CE4B8-F1B8-56A3-8800-814E82E4C951}"/>
                </a:ext>
              </a:extLst>
            </p:cNvPr>
            <p:cNvSpPr>
              <a:spLocks noChangeArrowheads="1"/>
            </p:cNvSpPr>
            <p:nvPr/>
          </p:nvSpPr>
          <p:spPr bwMode="auto">
            <a:xfrm>
              <a:off x="4628491" y="1331790"/>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spcBef>
                  <a:spcPct val="50000"/>
                </a:spcBef>
                <a:defRPr/>
              </a:pPr>
              <a:endParaRPr lang="zh-TW" altLang="en-US" sz="600" b="0" kern="0">
                <a:solidFill>
                  <a:prstClr val="black"/>
                </a:solidFill>
                <a:latin typeface="Calibri" panose="020F0502020204030204" pitchFamily="34" charset="0"/>
                <a:ea typeface="DFKaiShu-GB5" panose="03000509000000000000" pitchFamily="65" charset="-128"/>
                <a:cs typeface="Calibri" panose="020F0502020204030204" pitchFamily="34" charset="0"/>
              </a:endParaRPr>
            </a:p>
          </p:txBody>
        </p:sp>
        <p:sp>
          <p:nvSpPr>
            <p:cNvPr id="17" name="Rectangle 180">
              <a:extLst>
                <a:ext uri="{FF2B5EF4-FFF2-40B4-BE49-F238E27FC236}">
                  <a16:creationId xmlns:a16="http://schemas.microsoft.com/office/drawing/2014/main" id="{02948057-F4A8-96C8-1CB1-0CED17D947F9}"/>
                </a:ext>
              </a:extLst>
            </p:cNvPr>
            <p:cNvSpPr>
              <a:spLocks noChangeArrowheads="1"/>
            </p:cNvSpPr>
            <p:nvPr/>
          </p:nvSpPr>
          <p:spPr bwMode="auto">
            <a:xfrm>
              <a:off x="4628491" y="2324309"/>
              <a:ext cx="914400" cy="92333"/>
            </a:xfrm>
            <a:prstGeom prst="rect">
              <a:avLst/>
            </a:prstGeom>
            <a:noFill/>
            <a:ln w="9525">
              <a:noFill/>
              <a:miter lim="800000"/>
              <a:headEnd/>
              <a:tailEnd/>
            </a:ln>
          </p:spPr>
          <p:txBody>
            <a:bodyPr wrap="square" lIns="0" tIns="0" rIns="0" bIns="0">
              <a:spAutoFit/>
            </a:bodyPr>
            <a:lstStyle/>
            <a:p>
              <a:pPr algn="ctr" eaLnBrk="0" hangingPunct="0">
                <a:spcBef>
                  <a:spcPct val="50000"/>
                </a:spcBef>
                <a:defRPr/>
              </a:pPr>
              <a:r>
                <a:rPr lang="en-US" altLang="zh-TW" sz="600" b="0" dirty="0">
                  <a:solidFill>
                    <a:srgbClr val="000000"/>
                  </a:solidFill>
                  <a:latin typeface="+mj-lt"/>
                  <a:ea typeface="DFKaiShu-GB5" panose="03000509000000000000" pitchFamily="65" charset="-128"/>
                  <a:cs typeface="Calibri" panose="020F0502020204030204" pitchFamily="34" charset="0"/>
                </a:rPr>
                <a:t>March 2026</a:t>
              </a:r>
            </a:p>
          </p:txBody>
        </p:sp>
        <p:sp>
          <p:nvSpPr>
            <p:cNvPr id="19" name="Rectangle 176">
              <a:extLst>
                <a:ext uri="{FF2B5EF4-FFF2-40B4-BE49-F238E27FC236}">
                  <a16:creationId xmlns:a16="http://schemas.microsoft.com/office/drawing/2014/main" id="{ACD2EE6D-AA3E-FFA4-3211-0AAA59E90E67}"/>
                </a:ext>
              </a:extLst>
            </p:cNvPr>
            <p:cNvSpPr>
              <a:spLocks noChangeArrowheads="1"/>
            </p:cNvSpPr>
            <p:nvPr/>
          </p:nvSpPr>
          <p:spPr bwMode="auto">
            <a:xfrm>
              <a:off x="4628491" y="2012328"/>
              <a:ext cx="914400" cy="83100"/>
            </a:xfrm>
            <a:prstGeom prst="rect">
              <a:avLst/>
            </a:prstGeom>
            <a:noFill/>
            <a:ln w="9525">
              <a:noFill/>
              <a:miter lim="800000"/>
              <a:headEnd/>
              <a:tailEnd/>
            </a:ln>
          </p:spPr>
          <p:txBody>
            <a:bodyPr wrap="square" lIns="0" tIns="0" rIns="0" bIns="0" anchor="ctr">
              <a:spAutoFit/>
            </a:bodyPr>
            <a:lstStyle/>
            <a:p>
              <a:pPr algn="ctr">
                <a:lnSpc>
                  <a:spcPct val="90000"/>
                </a:lnSpc>
                <a:spcBef>
                  <a:spcPts val="0"/>
                </a:spcBef>
                <a:spcAft>
                  <a:spcPts val="0"/>
                </a:spcAft>
                <a:buClr>
                  <a:srgbClr val="BE050A"/>
                </a:buClr>
                <a:defRPr/>
              </a:pPr>
              <a:r>
                <a:rPr lang="en-US" altLang="zh-CN" sz="600" b="0" dirty="0">
                  <a:solidFill>
                    <a:srgbClr val="000000"/>
                  </a:solidFill>
                  <a:latin typeface="Calibri"/>
                  <a:ea typeface="DFKaiShu-GB5"/>
                  <a:cs typeface="Calibri" panose="020F0502020204030204" pitchFamily="34" charset="0"/>
                </a:rPr>
                <a:t>Joint Underwrite</a:t>
              </a:r>
            </a:p>
          </p:txBody>
        </p:sp>
        <p:sp>
          <p:nvSpPr>
            <p:cNvPr id="21" name="Rectangle 177">
              <a:extLst>
                <a:ext uri="{FF2B5EF4-FFF2-40B4-BE49-F238E27FC236}">
                  <a16:creationId xmlns:a16="http://schemas.microsoft.com/office/drawing/2014/main" id="{E8E2795A-4A8D-EC1B-5230-C7ECE313439B}"/>
                </a:ext>
              </a:extLst>
            </p:cNvPr>
            <p:cNvSpPr>
              <a:spLocks noChangeArrowheads="1"/>
            </p:cNvSpPr>
            <p:nvPr/>
          </p:nvSpPr>
          <p:spPr bwMode="auto">
            <a:xfrm>
              <a:off x="4628491" y="1712236"/>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CN" sz="600" dirty="0">
                  <a:solidFill>
                    <a:srgbClr val="000000"/>
                  </a:solidFill>
                  <a:latin typeface="Calibri"/>
                  <a:ea typeface="DFKaiShu-GB5"/>
                </a:rPr>
                <a:t>S$303m</a:t>
              </a:r>
            </a:p>
            <a:p>
              <a:pPr algn="ctr">
                <a:spcBef>
                  <a:spcPts val="0"/>
                </a:spcBef>
                <a:defRPr/>
              </a:pPr>
              <a:r>
                <a:rPr lang="en-US" altLang="zh-TW" sz="600" dirty="0">
                  <a:solidFill>
                    <a:srgbClr val="000000"/>
                  </a:solidFill>
                  <a:latin typeface="Calibri" panose="020F0502020204030204" pitchFamily="34" charset="0"/>
                  <a:ea typeface="DFKaiShu-GB5" panose="03000509000000000000" pitchFamily="65" charset="-128"/>
                  <a:cs typeface="Calibri" panose="020F0502020204030204" pitchFamily="34" charset="0"/>
                </a:rPr>
                <a:t>Rights Issue</a:t>
              </a:r>
            </a:p>
          </p:txBody>
        </p:sp>
        <p:sp>
          <p:nvSpPr>
            <p:cNvPr id="6" name="Rectangle 174">
              <a:extLst>
                <a:ext uri="{FF2B5EF4-FFF2-40B4-BE49-F238E27FC236}">
                  <a16:creationId xmlns:a16="http://schemas.microsoft.com/office/drawing/2014/main" id="{2B0E1D61-D91E-98AE-B3F2-F920A300CA62}"/>
                </a:ext>
              </a:extLst>
            </p:cNvPr>
            <p:cNvSpPr>
              <a:spLocks noChangeArrowheads="1"/>
            </p:cNvSpPr>
            <p:nvPr/>
          </p:nvSpPr>
          <p:spPr bwMode="auto">
            <a:xfrm>
              <a:off x="5622792" y="1331790"/>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Calibri" panose="020F0502020204030204" pitchFamily="34" charset="0"/>
                <a:cs typeface="Calibri" panose="020F0502020204030204" pitchFamily="34" charset="0"/>
              </a:endParaRPr>
            </a:p>
          </p:txBody>
        </p:sp>
        <p:sp>
          <p:nvSpPr>
            <p:cNvPr id="7" name="Rectangle 180">
              <a:extLst>
                <a:ext uri="{FF2B5EF4-FFF2-40B4-BE49-F238E27FC236}">
                  <a16:creationId xmlns:a16="http://schemas.microsoft.com/office/drawing/2014/main" id="{4BE272EE-AB58-3C6D-F345-023DC430F0CA}"/>
                </a:ext>
              </a:extLst>
            </p:cNvPr>
            <p:cNvSpPr>
              <a:spLocks noChangeArrowheads="1"/>
            </p:cNvSpPr>
            <p:nvPr/>
          </p:nvSpPr>
          <p:spPr bwMode="auto">
            <a:xfrm>
              <a:off x="5622792" y="2327430"/>
              <a:ext cx="914400" cy="89634"/>
            </a:xfrm>
            <a:prstGeom prst="rect">
              <a:avLst/>
            </a:prstGeom>
            <a:noFill/>
            <a:ln w="9525">
              <a:noFill/>
              <a:miter lim="800000"/>
              <a:headEnd/>
              <a:tailEnd/>
            </a:ln>
          </p:spPr>
          <p:txBody>
            <a:bodyPr wrap="none" lIns="0" tIns="0" rIns="0" bIns="0" anchor="ctr">
              <a:noAutofit/>
            </a:bodyPr>
            <a:lstStyle/>
            <a:p>
              <a:pPr algn="ctr" fontAlgn="auto">
                <a:spcBef>
                  <a:spcPts val="0"/>
                </a:spcBef>
                <a:spcAft>
                  <a:spcPts val="0"/>
                </a:spcAft>
                <a:defRPr/>
              </a:pPr>
              <a:r>
                <a:rPr lang="en-US" altLang="zh-TW" sz="600" b="0" dirty="0">
                  <a:solidFill>
                    <a:srgbClr val="000000"/>
                  </a:solidFill>
                  <a:latin typeface="+mj-lt"/>
                  <a:ea typeface="新細明體" pitchFamily="18" charset="-120"/>
                  <a:cs typeface="Calibri" panose="020F0502020204030204" pitchFamily="34" charset="0"/>
                </a:rPr>
                <a:t>February 2026</a:t>
              </a:r>
            </a:p>
          </p:txBody>
        </p:sp>
        <p:sp>
          <p:nvSpPr>
            <p:cNvPr id="8" name="Rectangle 177">
              <a:extLst>
                <a:ext uri="{FF2B5EF4-FFF2-40B4-BE49-F238E27FC236}">
                  <a16:creationId xmlns:a16="http://schemas.microsoft.com/office/drawing/2014/main" id="{709D06A8-D7A6-A1CC-1F68-A0DFA3E52F5B}"/>
                </a:ext>
              </a:extLst>
            </p:cNvPr>
            <p:cNvSpPr>
              <a:spLocks noChangeArrowheads="1"/>
            </p:cNvSpPr>
            <p:nvPr/>
          </p:nvSpPr>
          <p:spPr bwMode="auto">
            <a:xfrm>
              <a:off x="5622792" y="1717308"/>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CN" sz="600" dirty="0">
                  <a:solidFill>
                    <a:srgbClr val="000000"/>
                  </a:solidFill>
                  <a:latin typeface="Calibri"/>
                  <a:ea typeface="DFKaiShu-GB5"/>
                  <a:cs typeface="+mn-cs"/>
                </a:rPr>
                <a:t>S$150m</a:t>
              </a:r>
            </a:p>
            <a:p>
              <a:pPr algn="ctr" eaLnBrk="0" hangingPunct="0">
                <a:spcBef>
                  <a:spcPts val="0"/>
                </a:spcBef>
                <a:defRPr/>
              </a:pPr>
              <a:r>
                <a:rPr lang="en-US" altLang="zh-TW" sz="600" dirty="0">
                  <a:solidFill>
                    <a:srgbClr val="000000"/>
                  </a:solidFill>
                  <a:latin typeface="Calibri"/>
                  <a:ea typeface="DFKaiShu-GB5"/>
                  <a:cs typeface="+mn-cs"/>
                </a:rPr>
                <a:t>Private </a:t>
              </a:r>
              <a:r>
                <a:rPr lang="en-US" altLang="zh-CN" sz="600" dirty="0">
                  <a:solidFill>
                    <a:srgbClr val="000000"/>
                  </a:solidFill>
                  <a:latin typeface="Calibri"/>
                  <a:ea typeface="DFKaiShu-GB5"/>
                  <a:cs typeface="+mn-cs"/>
                </a:rPr>
                <a:t>Placement</a:t>
              </a:r>
            </a:p>
          </p:txBody>
        </p:sp>
        <p:sp>
          <p:nvSpPr>
            <p:cNvPr id="9" name="Rectangle 408">
              <a:extLst>
                <a:ext uri="{FF2B5EF4-FFF2-40B4-BE49-F238E27FC236}">
                  <a16:creationId xmlns:a16="http://schemas.microsoft.com/office/drawing/2014/main" id="{6B0B611B-B0C5-CF04-DA85-403230BA3580}"/>
                </a:ext>
              </a:extLst>
            </p:cNvPr>
            <p:cNvSpPr>
              <a:spLocks noChangeArrowheads="1"/>
            </p:cNvSpPr>
            <p:nvPr/>
          </p:nvSpPr>
          <p:spPr bwMode="auto">
            <a:xfrm>
              <a:off x="5622792" y="1970779"/>
              <a:ext cx="914400" cy="184666"/>
            </a:xfrm>
            <a:prstGeom prst="rect">
              <a:avLst/>
            </a:prstGeom>
            <a:noFill/>
            <a:ln w="9525" algn="ctr">
              <a:noFill/>
              <a:miter lim="800000"/>
              <a:headEnd/>
              <a:tailEnd/>
            </a:ln>
          </p:spPr>
          <p:txBody>
            <a:bodyPr wrap="square" lIns="0" tIns="0" rIns="0" bIns="0" anchor="ctr">
              <a:spAutoFit/>
            </a:bodyPr>
            <a:lstStyle/>
            <a:p>
              <a:pPr algn="ctr" fontAlgn="auto">
                <a:spcBef>
                  <a:spcPts val="0"/>
                </a:spcBef>
                <a:spcAft>
                  <a:spcPts val="0"/>
                </a:spcAft>
                <a:defRPr/>
              </a:pPr>
              <a:r>
                <a:rPr lang="en-US" altLang="zh-TW" sz="600" b="0" dirty="0">
                  <a:solidFill>
                    <a:srgbClr val="000000"/>
                  </a:solidFill>
                  <a:latin typeface="Calibri"/>
                  <a:ea typeface="DFKaiShu-GB5" panose="03000509000000000000" pitchFamily="65" charset="-128"/>
                  <a:cs typeface="DFKaiShu-GB5" panose="03000509000000000000" pitchFamily="65" charset="-128"/>
                </a:rPr>
                <a:t>Joint Global Coordinator, Bookrunner and Underwriter</a:t>
              </a:r>
            </a:p>
          </p:txBody>
        </p:sp>
        <p:pic>
          <p:nvPicPr>
            <p:cNvPr id="1049" name="Picture 1048">
              <a:extLst>
                <a:ext uri="{FF2B5EF4-FFF2-40B4-BE49-F238E27FC236}">
                  <a16:creationId xmlns:a16="http://schemas.microsoft.com/office/drawing/2014/main" id="{53DE71C4-9E49-5A82-9167-881D6AF08CE7}"/>
                </a:ext>
              </a:extLst>
            </p:cNvPr>
            <p:cNvPicPr>
              <a:picLocks noChangeAspect="1"/>
            </p:cNvPicPr>
            <p:nvPr/>
          </p:nvPicPr>
          <p:blipFill>
            <a:blip r:embed="rId28"/>
            <a:stretch>
              <a:fillRect/>
            </a:stretch>
          </p:blipFill>
          <p:spPr>
            <a:xfrm>
              <a:off x="4842828" y="1387476"/>
              <a:ext cx="526097" cy="267224"/>
            </a:xfrm>
            <a:prstGeom prst="rect">
              <a:avLst/>
            </a:prstGeom>
          </p:spPr>
        </p:pic>
        <p:pic>
          <p:nvPicPr>
            <p:cNvPr id="1050" name="Picture 1049">
              <a:extLst>
                <a:ext uri="{FF2B5EF4-FFF2-40B4-BE49-F238E27FC236}">
                  <a16:creationId xmlns:a16="http://schemas.microsoft.com/office/drawing/2014/main" id="{ED1FBE3D-44C6-1E66-3910-E2038C5D839E}"/>
                </a:ext>
              </a:extLst>
            </p:cNvPr>
            <p:cNvPicPr>
              <a:picLocks noChangeAspect="1"/>
            </p:cNvPicPr>
            <p:nvPr/>
          </p:nvPicPr>
          <p:blipFill>
            <a:blip r:embed="rId29"/>
            <a:stretch>
              <a:fillRect/>
            </a:stretch>
          </p:blipFill>
          <p:spPr>
            <a:xfrm>
              <a:off x="5779230" y="1351978"/>
              <a:ext cx="634270" cy="322169"/>
            </a:xfrm>
            <a:prstGeom prst="rect">
              <a:avLst/>
            </a:prstGeom>
          </p:spPr>
        </p:pic>
      </p:grpSp>
      <p:sp>
        <p:nvSpPr>
          <p:cNvPr id="38" name="Rectangle 174">
            <a:extLst>
              <a:ext uri="{FF2B5EF4-FFF2-40B4-BE49-F238E27FC236}">
                <a16:creationId xmlns:a16="http://schemas.microsoft.com/office/drawing/2014/main" id="{E09BBB22-07A5-C847-0EFF-2F1DCA0DC53A}"/>
              </a:ext>
            </a:extLst>
          </p:cNvPr>
          <p:cNvSpPr>
            <a:spLocks noChangeArrowheads="1"/>
          </p:cNvSpPr>
          <p:nvPr/>
        </p:nvSpPr>
        <p:spPr bwMode="auto">
          <a:xfrm>
            <a:off x="4023395" y="1331790"/>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spcBef>
                <a:spcPct val="50000"/>
              </a:spcBef>
              <a:defRPr/>
            </a:pPr>
            <a:endParaRPr lang="zh-TW" altLang="en-US" sz="600" b="0" kern="0">
              <a:solidFill>
                <a:prstClr val="black"/>
              </a:solidFill>
              <a:latin typeface="Calibri" panose="020F0502020204030204" pitchFamily="34" charset="0"/>
              <a:ea typeface="DFKaiShu-GB5" panose="03000509000000000000" pitchFamily="65" charset="-128"/>
              <a:cs typeface="Calibri" panose="020F0502020204030204" pitchFamily="34" charset="0"/>
            </a:endParaRPr>
          </a:p>
        </p:txBody>
      </p:sp>
      <p:sp>
        <p:nvSpPr>
          <p:cNvPr id="39" name="Rectangle 176">
            <a:extLst>
              <a:ext uri="{FF2B5EF4-FFF2-40B4-BE49-F238E27FC236}">
                <a16:creationId xmlns:a16="http://schemas.microsoft.com/office/drawing/2014/main" id="{6BF132D8-6E84-39F4-1F87-63022BBD451F}"/>
              </a:ext>
            </a:extLst>
          </p:cNvPr>
          <p:cNvSpPr>
            <a:spLocks noChangeArrowheads="1"/>
          </p:cNvSpPr>
          <p:nvPr/>
        </p:nvSpPr>
        <p:spPr bwMode="auto">
          <a:xfrm>
            <a:off x="4023395" y="1970779"/>
            <a:ext cx="914400" cy="184666"/>
          </a:xfrm>
          <a:prstGeom prst="rect">
            <a:avLst/>
          </a:prstGeom>
          <a:noFill/>
          <a:ln w="9525">
            <a:noFill/>
            <a:miter lim="800000"/>
            <a:headEnd/>
            <a:tailEnd/>
          </a:ln>
        </p:spPr>
        <p:txBody>
          <a:bodyPr wrap="square" lIns="0" tIns="0" rIns="0" bIns="0" anchor="ctr">
            <a:spAutoFit/>
          </a:bodyPr>
          <a:lstStyle/>
          <a:p>
            <a:pPr algn="ctr" fontAlgn="auto">
              <a:spcBef>
                <a:spcPts val="0"/>
              </a:spcBef>
              <a:spcAft>
                <a:spcPts val="0"/>
              </a:spcAft>
              <a:defRPr/>
            </a:pPr>
            <a:r>
              <a:rPr lang="en-US" sz="600" b="0" kern="0" dirty="0">
                <a:solidFill>
                  <a:prstClr val="black"/>
                </a:solidFill>
                <a:latin typeface="+mj-lt"/>
                <a:cs typeface="Calibri" panose="020F0502020204030204" pitchFamily="34" charset="0"/>
              </a:rPr>
              <a:t>Joint Bookrunner and Underwriter </a:t>
            </a:r>
            <a:endParaRPr lang="en-GB" sz="600" b="0" kern="0" dirty="0">
              <a:solidFill>
                <a:prstClr val="black"/>
              </a:solidFill>
              <a:latin typeface="+mj-lt"/>
              <a:cs typeface="Calibri" panose="020F0502020204030204" pitchFamily="34" charset="0"/>
            </a:endParaRPr>
          </a:p>
        </p:txBody>
      </p:sp>
      <p:sp>
        <p:nvSpPr>
          <p:cNvPr id="40" name="Rectangle 180">
            <a:extLst>
              <a:ext uri="{FF2B5EF4-FFF2-40B4-BE49-F238E27FC236}">
                <a16:creationId xmlns:a16="http://schemas.microsoft.com/office/drawing/2014/main" id="{B9225EF3-32A8-5243-AA86-7C706BBC4A26}"/>
              </a:ext>
            </a:extLst>
          </p:cNvPr>
          <p:cNvSpPr>
            <a:spLocks noChangeArrowheads="1"/>
          </p:cNvSpPr>
          <p:nvPr/>
        </p:nvSpPr>
        <p:spPr bwMode="auto">
          <a:xfrm>
            <a:off x="4023395" y="2330828"/>
            <a:ext cx="914400" cy="92333"/>
          </a:xfrm>
          <a:prstGeom prst="rect">
            <a:avLst/>
          </a:prstGeom>
          <a:noFill/>
          <a:ln w="9525">
            <a:noFill/>
            <a:miter lim="800000"/>
            <a:headEnd/>
            <a:tailEnd/>
          </a:ln>
        </p:spPr>
        <p:txBody>
          <a:bodyPr wrap="square" lIns="0" tIns="0" rIns="0" bIns="0">
            <a:spAutoFit/>
          </a:bodyPr>
          <a:lstStyle/>
          <a:p>
            <a:pPr algn="ctr" eaLnBrk="0" hangingPunct="0">
              <a:spcBef>
                <a:spcPct val="50000"/>
              </a:spcBef>
              <a:defRPr/>
            </a:pPr>
            <a:r>
              <a:rPr lang="en-US" altLang="zh-TW" sz="600" b="0" dirty="0">
                <a:solidFill>
                  <a:srgbClr val="000000"/>
                </a:solidFill>
                <a:latin typeface="+mj-lt"/>
                <a:ea typeface="DFKaiShu-GB5" panose="03000509000000000000" pitchFamily="65" charset="-128"/>
                <a:cs typeface="Calibri" panose="020F0502020204030204" pitchFamily="34" charset="0"/>
              </a:rPr>
              <a:t>April 2026</a:t>
            </a:r>
            <a:endParaRPr lang="zh-TW" altLang="en-US" sz="600" b="0" dirty="0">
              <a:solidFill>
                <a:srgbClr val="000000"/>
              </a:solidFill>
              <a:latin typeface="+mj-lt"/>
              <a:ea typeface="DFKaiShu-GB5" panose="03000509000000000000" pitchFamily="65" charset="-128"/>
              <a:cs typeface="Calibri" panose="020F0502020204030204" pitchFamily="34" charset="0"/>
            </a:endParaRPr>
          </a:p>
        </p:txBody>
      </p:sp>
      <p:sp>
        <p:nvSpPr>
          <p:cNvPr id="41" name="Rectangle 177">
            <a:extLst>
              <a:ext uri="{FF2B5EF4-FFF2-40B4-BE49-F238E27FC236}">
                <a16:creationId xmlns:a16="http://schemas.microsoft.com/office/drawing/2014/main" id="{3AB9E8E2-36D6-E2E0-BB7A-CCAA8CCBBB10}"/>
              </a:ext>
            </a:extLst>
          </p:cNvPr>
          <p:cNvSpPr>
            <a:spLocks noChangeArrowheads="1"/>
          </p:cNvSpPr>
          <p:nvPr/>
        </p:nvSpPr>
        <p:spPr bwMode="auto">
          <a:xfrm>
            <a:off x="4023395" y="1712236"/>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CN" sz="600" dirty="0">
                <a:solidFill>
                  <a:srgbClr val="000000"/>
                </a:solidFill>
                <a:latin typeface="+mj-lt"/>
                <a:ea typeface="DFKaiShu-GB5" panose="03000509000000000000" pitchFamily="65" charset="-128"/>
                <a:cs typeface="Calibri" panose="020F0502020204030204" pitchFamily="34" charset="0"/>
              </a:rPr>
              <a:t> S$750m</a:t>
            </a:r>
          </a:p>
          <a:p>
            <a:pPr algn="ctr" eaLnBrk="0" hangingPunct="0">
              <a:spcBef>
                <a:spcPts val="0"/>
              </a:spcBef>
              <a:defRPr/>
            </a:pPr>
            <a:r>
              <a:rPr lang="en-US" altLang="zh-CN" sz="600" dirty="0">
                <a:solidFill>
                  <a:srgbClr val="000000"/>
                </a:solidFill>
                <a:latin typeface="+mj-lt"/>
                <a:ea typeface="DFKaiShu-GB5" panose="03000509000000000000" pitchFamily="65" charset="-128"/>
                <a:cs typeface="Calibri" panose="020F0502020204030204" pitchFamily="34" charset="0"/>
              </a:rPr>
              <a:t>Placement</a:t>
            </a:r>
          </a:p>
        </p:txBody>
      </p:sp>
      <p:pic>
        <p:nvPicPr>
          <p:cNvPr id="43" name="Picture 42">
            <a:extLst>
              <a:ext uri="{FF2B5EF4-FFF2-40B4-BE49-F238E27FC236}">
                <a16:creationId xmlns:a16="http://schemas.microsoft.com/office/drawing/2014/main" id="{19163A57-F119-6CF5-630D-DC8D62D29AEC}"/>
              </a:ext>
            </a:extLst>
          </p:cNvPr>
          <p:cNvPicPr>
            <a:picLocks noChangeAspect="1"/>
          </p:cNvPicPr>
          <p:nvPr/>
        </p:nvPicPr>
        <p:blipFill>
          <a:blip r:embed="rId30"/>
          <a:srcRect l="12250" t="17391" r="13379" b="18015"/>
          <a:stretch>
            <a:fillRect/>
          </a:stretch>
        </p:blipFill>
        <p:spPr>
          <a:xfrm>
            <a:off x="4218052" y="1409320"/>
            <a:ext cx="485013" cy="250439"/>
          </a:xfrm>
          <a:prstGeom prst="rect">
            <a:avLst/>
          </a:prstGeom>
        </p:spPr>
      </p:pic>
      <p:grpSp>
        <p:nvGrpSpPr>
          <p:cNvPr id="45" name="Group 44">
            <a:extLst>
              <a:ext uri="{FF2B5EF4-FFF2-40B4-BE49-F238E27FC236}">
                <a16:creationId xmlns:a16="http://schemas.microsoft.com/office/drawing/2014/main" id="{C7F42702-A76F-6EA1-AF7E-032605AA7EE7}"/>
              </a:ext>
            </a:extLst>
          </p:cNvPr>
          <p:cNvGrpSpPr/>
          <p:nvPr/>
        </p:nvGrpSpPr>
        <p:grpSpPr>
          <a:xfrm>
            <a:off x="4023395" y="2541593"/>
            <a:ext cx="914400" cy="1115568"/>
            <a:chOff x="6623666" y="1331790"/>
            <a:chExt cx="914400" cy="1115568"/>
          </a:xfrm>
        </p:grpSpPr>
        <p:sp>
          <p:nvSpPr>
            <p:cNvPr id="46" name="Rectangle 174">
              <a:extLst>
                <a:ext uri="{FF2B5EF4-FFF2-40B4-BE49-F238E27FC236}">
                  <a16:creationId xmlns:a16="http://schemas.microsoft.com/office/drawing/2014/main" id="{540797CF-7910-41AC-74B3-EAF51E70F2E5}"/>
                </a:ext>
              </a:extLst>
            </p:cNvPr>
            <p:cNvSpPr>
              <a:spLocks noChangeArrowheads="1"/>
            </p:cNvSpPr>
            <p:nvPr/>
          </p:nvSpPr>
          <p:spPr bwMode="auto">
            <a:xfrm>
              <a:off x="6623666" y="1331790"/>
              <a:ext cx="914400" cy="11155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zh-TW" altLang="en-US" sz="600" b="0" kern="0">
                <a:solidFill>
                  <a:prstClr val="black"/>
                </a:solidFill>
                <a:latin typeface="+mj-lt"/>
                <a:cs typeface="Calibri" panose="020F0502020204030204" pitchFamily="34" charset="0"/>
              </a:endParaRPr>
            </a:p>
          </p:txBody>
        </p:sp>
        <p:sp>
          <p:nvSpPr>
            <p:cNvPr id="47" name="Rectangle 180">
              <a:extLst>
                <a:ext uri="{FF2B5EF4-FFF2-40B4-BE49-F238E27FC236}">
                  <a16:creationId xmlns:a16="http://schemas.microsoft.com/office/drawing/2014/main" id="{31BF0DE1-4ADA-E2F6-812D-530EEC376430}"/>
                </a:ext>
              </a:extLst>
            </p:cNvPr>
            <p:cNvSpPr>
              <a:spLocks noChangeArrowheads="1"/>
            </p:cNvSpPr>
            <p:nvPr/>
          </p:nvSpPr>
          <p:spPr bwMode="auto">
            <a:xfrm>
              <a:off x="6623666" y="2341655"/>
              <a:ext cx="914400" cy="89634"/>
            </a:xfrm>
            <a:prstGeom prst="rect">
              <a:avLst/>
            </a:prstGeom>
            <a:noFill/>
            <a:ln w="9525">
              <a:noFill/>
              <a:miter lim="800000"/>
              <a:headEnd/>
              <a:tailEnd/>
            </a:ln>
          </p:spPr>
          <p:txBody>
            <a:bodyPr wrap="none" lIns="0" tIns="0" rIns="0" bIns="0" anchor="ctr">
              <a:noAutofit/>
            </a:bodyPr>
            <a:lstStyle/>
            <a:p>
              <a:pPr algn="ctr" fontAlgn="auto">
                <a:spcBef>
                  <a:spcPts val="0"/>
                </a:spcBef>
                <a:spcAft>
                  <a:spcPts val="0"/>
                </a:spcAft>
                <a:defRPr/>
              </a:pPr>
              <a:r>
                <a:rPr lang="en-US" altLang="zh-TW" sz="600" b="0" dirty="0">
                  <a:solidFill>
                    <a:srgbClr val="000000"/>
                  </a:solidFill>
                  <a:latin typeface="+mj-lt"/>
                  <a:ea typeface="新細明體" pitchFamily="18" charset="-120"/>
                  <a:cs typeface="Calibri" panose="020F0502020204030204" pitchFamily="34" charset="0"/>
                </a:rPr>
                <a:t>February 2026</a:t>
              </a:r>
            </a:p>
          </p:txBody>
        </p:sp>
        <p:sp>
          <p:nvSpPr>
            <p:cNvPr id="48" name="Rectangle 177">
              <a:extLst>
                <a:ext uri="{FF2B5EF4-FFF2-40B4-BE49-F238E27FC236}">
                  <a16:creationId xmlns:a16="http://schemas.microsoft.com/office/drawing/2014/main" id="{B3884F12-7A7C-2CC3-1313-542F31F0E188}"/>
                </a:ext>
              </a:extLst>
            </p:cNvPr>
            <p:cNvSpPr>
              <a:spLocks noChangeArrowheads="1"/>
            </p:cNvSpPr>
            <p:nvPr/>
          </p:nvSpPr>
          <p:spPr bwMode="auto">
            <a:xfrm>
              <a:off x="6623666" y="1717308"/>
              <a:ext cx="914400" cy="184666"/>
            </a:xfrm>
            <a:prstGeom prst="rect">
              <a:avLst/>
            </a:prstGeom>
            <a:noFill/>
            <a:ln w="9525">
              <a:noFill/>
              <a:miter lim="800000"/>
              <a:headEnd/>
              <a:tailEnd/>
            </a:ln>
          </p:spPr>
          <p:txBody>
            <a:bodyPr lIns="0" tIns="0" rIns="0" bIns="0">
              <a:spAutoFit/>
            </a:bodyPr>
            <a:lstStyle/>
            <a:p>
              <a:pPr algn="ctr" eaLnBrk="0" hangingPunct="0">
                <a:spcBef>
                  <a:spcPts val="0"/>
                </a:spcBef>
                <a:defRPr/>
              </a:pPr>
              <a:r>
                <a:rPr lang="en-US" altLang="zh-CN" sz="600" dirty="0">
                  <a:solidFill>
                    <a:srgbClr val="000000"/>
                  </a:solidFill>
                  <a:latin typeface="+mj-lt"/>
                  <a:ea typeface="DFKaiShu-GB5"/>
                </a:rPr>
                <a:t>S$196.6m</a:t>
              </a:r>
            </a:p>
            <a:p>
              <a:pPr algn="ctr" eaLnBrk="0" hangingPunct="0">
                <a:spcBef>
                  <a:spcPts val="0"/>
                </a:spcBef>
                <a:defRPr/>
              </a:pPr>
              <a:r>
                <a:rPr lang="en-US" altLang="zh-CN" sz="600" dirty="0">
                  <a:solidFill>
                    <a:srgbClr val="000000"/>
                  </a:solidFill>
                  <a:latin typeface="+mj-lt"/>
                  <a:ea typeface="DFKaiShu-GB5"/>
                </a:rPr>
                <a:t>Rights Issue</a:t>
              </a:r>
            </a:p>
          </p:txBody>
        </p:sp>
        <p:sp>
          <p:nvSpPr>
            <p:cNvPr id="49" name="Rectangle 408">
              <a:extLst>
                <a:ext uri="{FF2B5EF4-FFF2-40B4-BE49-F238E27FC236}">
                  <a16:creationId xmlns:a16="http://schemas.microsoft.com/office/drawing/2014/main" id="{61135CC3-348B-0504-1E92-3B6C29DFC5D1}"/>
                </a:ext>
              </a:extLst>
            </p:cNvPr>
            <p:cNvSpPr>
              <a:spLocks noChangeArrowheads="1"/>
            </p:cNvSpPr>
            <p:nvPr/>
          </p:nvSpPr>
          <p:spPr bwMode="auto">
            <a:xfrm>
              <a:off x="6623666" y="1970779"/>
              <a:ext cx="914400" cy="92333"/>
            </a:xfrm>
            <a:prstGeom prst="rect">
              <a:avLst/>
            </a:prstGeom>
            <a:noFill/>
            <a:ln w="9525" algn="ctr">
              <a:noFill/>
              <a:miter lim="800000"/>
              <a:headEnd/>
              <a:tailEnd/>
            </a:ln>
          </p:spPr>
          <p:txBody>
            <a:bodyPr wrap="square" lIns="0" tIns="0" rIns="0" bIns="0" anchor="ctr">
              <a:spAutoFit/>
            </a:bodyPr>
            <a:lstStyle/>
            <a:p>
              <a:pPr algn="ctr" fontAlgn="auto">
                <a:spcBef>
                  <a:spcPts val="0"/>
                </a:spcBef>
                <a:spcAft>
                  <a:spcPts val="0"/>
                </a:spcAft>
                <a:defRPr/>
              </a:pPr>
              <a:r>
                <a:rPr lang="en-US" altLang="zh-TW" sz="600" b="0" dirty="0">
                  <a:solidFill>
                    <a:srgbClr val="000000"/>
                  </a:solidFill>
                  <a:latin typeface="+mj-lt"/>
                  <a:ea typeface="DFKaiShu-GB5" panose="03000509000000000000" pitchFamily="65" charset="-128"/>
                  <a:cs typeface="DFKaiShu-GB5" panose="03000509000000000000" pitchFamily="65" charset="-128"/>
                </a:rPr>
                <a:t>Joint Underwriter </a:t>
              </a:r>
            </a:p>
          </p:txBody>
        </p:sp>
        <p:pic>
          <p:nvPicPr>
            <p:cNvPr id="50" name="Picture 49">
              <a:extLst>
                <a:ext uri="{FF2B5EF4-FFF2-40B4-BE49-F238E27FC236}">
                  <a16:creationId xmlns:a16="http://schemas.microsoft.com/office/drawing/2014/main" id="{064D3394-51B1-6B46-8786-1197DE45546D}"/>
                </a:ext>
              </a:extLst>
            </p:cNvPr>
            <p:cNvPicPr>
              <a:picLocks noChangeAspect="1"/>
            </p:cNvPicPr>
            <p:nvPr/>
          </p:nvPicPr>
          <p:blipFill>
            <a:blip r:embed="rId31"/>
            <a:stretch>
              <a:fillRect/>
            </a:stretch>
          </p:blipFill>
          <p:spPr>
            <a:xfrm>
              <a:off x="6706045" y="1409643"/>
              <a:ext cx="675830" cy="247743"/>
            </a:xfrm>
            <a:prstGeom prst="rect">
              <a:avLst/>
            </a:prstGeom>
          </p:spPr>
        </p:pic>
      </p:grpSp>
      <p:sp>
        <p:nvSpPr>
          <p:cNvPr id="22" name="Slide Number Placeholder 3">
            <a:extLst>
              <a:ext uri="{FF2B5EF4-FFF2-40B4-BE49-F238E27FC236}">
                <a16:creationId xmlns:a16="http://schemas.microsoft.com/office/drawing/2014/main" id="{14F698F8-9411-1FE5-33D3-EA7516C1058A}"/>
              </a:ext>
            </a:extLst>
          </p:cNvPr>
          <p:cNvSpPr>
            <a:spLocks noGrp="1"/>
          </p:cNvSpPr>
          <p:nvPr>
            <p:ph type="sldNum" sz="quarter" idx="4"/>
          </p:nvPr>
        </p:nvSpPr>
        <p:spPr>
          <a:xfrm>
            <a:off x="8555964" y="6370638"/>
            <a:ext cx="1155700" cy="381000"/>
          </a:xfrm>
        </p:spPr>
        <p:txBody>
          <a:bodyPr/>
          <a:lstStyle/>
          <a:p>
            <a:pPr>
              <a:spcBef>
                <a:spcPct val="0"/>
              </a:spcBef>
              <a:defRPr/>
            </a:pPr>
            <a:fld id="{EFB97E77-A14C-4D4A-B483-93BB0C8192BC}" type="slidenum">
              <a:rPr lang="en-US" altLang="en-US" b="0" smtClean="0">
                <a:solidFill>
                  <a:srgbClr val="000000"/>
                </a:solidFill>
              </a:rPr>
              <a:pPr>
                <a:spcBef>
                  <a:spcPct val="0"/>
                </a:spcBef>
                <a:defRPr/>
              </a:pPr>
              <a:t>19</a:t>
            </a:fld>
            <a:endParaRPr lang="en-US" altLang="en-US" b="0" dirty="0">
              <a:solidFill>
                <a:srgbClr val="000000"/>
              </a:solidFill>
            </a:endParaRPr>
          </a:p>
        </p:txBody>
      </p:sp>
    </p:spTree>
    <p:extLst>
      <p:ext uri="{BB962C8B-B14F-4D97-AF65-F5344CB8AC3E}">
        <p14:creationId xmlns:p14="http://schemas.microsoft.com/office/powerpoint/2010/main" val="1461354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04396-BDA0-E6AC-88D3-E6CE6A613D90}"/>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8274489F-E1D5-1BAC-8FDE-EC75924F2439}"/>
              </a:ext>
            </a:extLst>
          </p:cNvPr>
          <p:cNvSpPr>
            <a:spLocks noGrp="1"/>
          </p:cNvSpPr>
          <p:nvPr>
            <p:ph type="subTitle" idx="1"/>
          </p:nvPr>
        </p:nvSpPr>
        <p:spPr/>
        <p:txBody>
          <a:bodyPr/>
          <a:lstStyle/>
          <a:p>
            <a:r>
              <a:rPr lang="en-US" altLang="zh-TW" b="1" dirty="0"/>
              <a:t>Section I – DBS: The World’s Best</a:t>
            </a:r>
            <a:endParaRPr lang="en-US" b="1" dirty="0"/>
          </a:p>
        </p:txBody>
      </p:sp>
      <p:sp>
        <p:nvSpPr>
          <p:cNvPr id="3" name="Title 2">
            <a:extLst>
              <a:ext uri="{FF2B5EF4-FFF2-40B4-BE49-F238E27FC236}">
                <a16:creationId xmlns:a16="http://schemas.microsoft.com/office/drawing/2014/main" id="{0EFA205F-B3CC-1387-C468-E92D0794B621}"/>
              </a:ext>
            </a:extLst>
          </p:cNvPr>
          <p:cNvSpPr>
            <a:spLocks noGrp="1"/>
          </p:cNvSpPr>
          <p:nvPr>
            <p:ph type="ctrTitle"/>
          </p:nvPr>
        </p:nvSpPr>
        <p:spPr>
          <a:xfrm>
            <a:off x="2242944" y="4131897"/>
            <a:ext cx="7200000" cy="492443"/>
          </a:xfrm>
        </p:spPr>
        <p:txBody>
          <a:bodyPr/>
          <a:lstStyle/>
          <a:p>
            <a:r>
              <a:rPr lang="en-US" dirty="0"/>
              <a:t>3.DBS Research Capabilities</a:t>
            </a:r>
          </a:p>
        </p:txBody>
      </p:sp>
      <p:sp>
        <p:nvSpPr>
          <p:cNvPr id="4" name="Slide Number Placeholder 3">
            <a:extLst>
              <a:ext uri="{FF2B5EF4-FFF2-40B4-BE49-F238E27FC236}">
                <a16:creationId xmlns:a16="http://schemas.microsoft.com/office/drawing/2014/main" id="{7A32B1DC-67C5-22C0-3E13-6D5C280CC0D9}"/>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20</a:t>
            </a:fld>
            <a:endParaRPr lang="en-US" altLang="en-US" b="0">
              <a:solidFill>
                <a:srgbClr val="000000"/>
              </a:solidFill>
            </a:endParaRPr>
          </a:p>
        </p:txBody>
      </p:sp>
    </p:spTree>
    <p:extLst>
      <p:ext uri="{BB962C8B-B14F-4D97-AF65-F5344CB8AC3E}">
        <p14:creationId xmlns:p14="http://schemas.microsoft.com/office/powerpoint/2010/main" val="2322624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1A43C-9234-D7CA-E286-1A0A3F437485}"/>
              </a:ext>
            </a:extLst>
          </p:cNvPr>
          <p:cNvSpPr>
            <a:spLocks noGrp="1"/>
          </p:cNvSpPr>
          <p:nvPr>
            <p:ph type="title"/>
          </p:nvPr>
        </p:nvSpPr>
        <p:spPr/>
        <p:txBody>
          <a:bodyPr/>
          <a:lstStyle/>
          <a:p>
            <a:r>
              <a:rPr lang="en-SG" sz="2000" b="1" dirty="0"/>
              <a:t>DBS Research Capabilities</a:t>
            </a:r>
            <a:endParaRPr lang="en-US" sz="2000" b="1" dirty="0"/>
          </a:p>
        </p:txBody>
      </p:sp>
      <p:sp>
        <p:nvSpPr>
          <p:cNvPr id="329" name="Rectangle 328">
            <a:extLst>
              <a:ext uri="{FF2B5EF4-FFF2-40B4-BE49-F238E27FC236}">
                <a16:creationId xmlns:a16="http://schemas.microsoft.com/office/drawing/2014/main" id="{47855605-1C7F-CD33-2868-8FC74B9880BA}"/>
              </a:ext>
            </a:extLst>
          </p:cNvPr>
          <p:cNvSpPr>
            <a:spLocks noChangeArrowheads="1"/>
          </p:cNvSpPr>
          <p:nvPr/>
        </p:nvSpPr>
        <p:spPr bwMode="auto">
          <a:xfrm>
            <a:off x="723899" y="4222267"/>
            <a:ext cx="4086228" cy="216606"/>
          </a:xfrm>
          <a:prstGeom prst="rect">
            <a:avLst/>
          </a:prstGeom>
          <a:gradFill>
            <a:gsLst>
              <a:gs pos="0">
                <a:srgbClr val="760000"/>
              </a:gs>
              <a:gs pos="45000">
                <a:srgbClr val="AB0000"/>
              </a:gs>
              <a:gs pos="100000">
                <a:srgbClr val="CC0000"/>
              </a:gs>
            </a:gsLst>
          </a:gradFill>
          <a:ln>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altLang="zh-TW" sz="900" b="1" i="0" u="none" strike="noStrike" kern="1200" cap="none" spc="0" normalizeH="0" baseline="0" noProof="0">
                <a:ln>
                  <a:noFill/>
                </a:ln>
                <a:solidFill>
                  <a:srgbClr val="FFFFFF"/>
                </a:solidFill>
                <a:effectLst/>
                <a:uLnTx/>
                <a:uFillTx/>
                <a:latin typeface="+mj-lt"/>
                <a:ea typeface="微軟正黑體" panose="020B0604030504040204" pitchFamily="34" charset="-120"/>
                <a:cs typeface="+mn-cs"/>
              </a:rPr>
              <a:t>Timothy Wong, Group Head of Research</a:t>
            </a:r>
            <a:endParaRPr kumimoji="0" lang="zh-CN" altLang="en-US" sz="900" b="1" i="0" u="none" strike="noStrike" kern="1200" cap="none" spc="0" normalizeH="0" baseline="0" noProof="0">
              <a:ln>
                <a:noFill/>
              </a:ln>
              <a:solidFill>
                <a:srgbClr val="FFFFFF"/>
              </a:solidFill>
              <a:effectLst/>
              <a:uLnTx/>
              <a:uFillTx/>
              <a:latin typeface="+mj-lt"/>
              <a:ea typeface="黑体" panose="02010609060101010101" pitchFamily="49" charset="-122"/>
              <a:cs typeface="+mn-cs"/>
            </a:endParaRPr>
          </a:p>
        </p:txBody>
      </p:sp>
      <p:sp>
        <p:nvSpPr>
          <p:cNvPr id="330" name="Rectangle 3">
            <a:extLst>
              <a:ext uri="{FF2B5EF4-FFF2-40B4-BE49-F238E27FC236}">
                <a16:creationId xmlns:a16="http://schemas.microsoft.com/office/drawing/2014/main" id="{6A258889-5BBC-BE18-F3B2-238651E54D06}"/>
              </a:ext>
            </a:extLst>
          </p:cNvPr>
          <p:cNvSpPr>
            <a:spLocks noChangeArrowheads="1"/>
          </p:cNvSpPr>
          <p:nvPr/>
        </p:nvSpPr>
        <p:spPr bwMode="auto">
          <a:xfrm>
            <a:off x="1365868" y="4510942"/>
            <a:ext cx="3444261" cy="1443561"/>
          </a:xfrm>
          <a:prstGeom prst="rect">
            <a:avLst/>
          </a:prstGeom>
          <a:noFill/>
          <a:ln w="9525">
            <a:noFill/>
            <a:miter lim="800000"/>
            <a:headEnd/>
            <a:tailEnd/>
          </a:ln>
        </p:spPr>
        <p:txBody>
          <a:bodyPr wrap="square" lIns="0" tIns="0" rIns="0" bIns="0">
            <a:spAutoFit/>
          </a:bodyPr>
          <a:lstStyle/>
          <a:p>
            <a:pPr marL="171450" marR="0" lvl="0" indent="-171450" algn="l" defTabSz="914400" rtl="0" eaLnBrk="1" fontAlgn="auto" latinLnBrk="0" hangingPunct="1">
              <a:lnSpc>
                <a:spcPct val="95000"/>
              </a:lnSpc>
              <a:spcBef>
                <a:spcPct val="0"/>
              </a:spcBef>
              <a:spcAft>
                <a:spcPct val="0"/>
              </a:spcAft>
              <a:buClr>
                <a:srgbClr val="BE050A"/>
              </a:buClr>
              <a:buSzTx/>
              <a:buFont typeface="Wingdings 2" panose="05020102010507070707" pitchFamily="18" charset="2"/>
              <a:buChar char="¡"/>
              <a:tabLst/>
              <a:defRPr/>
            </a:pPr>
            <a:r>
              <a:rPr kumimoji="0" lang="en-US" altLang="zh-TW" sz="900" b="0" i="0" u="none" strike="noStrike" kern="1200" cap="none" spc="0" normalizeH="0" baseline="0" noProof="0">
                <a:ln>
                  <a:noFill/>
                </a:ln>
                <a:solidFill>
                  <a:srgbClr val="000000"/>
                </a:solidFill>
                <a:effectLst/>
                <a:uLnTx/>
                <a:uFillTx/>
                <a:latin typeface="+mj-lt"/>
                <a:ea typeface="微軟正黑體" panose="020B0604030504040204" pitchFamily="34" charset="-120"/>
                <a:cs typeface="DFKaiShu-GB5" pitchFamily="65" charset="-128"/>
              </a:rPr>
              <a:t>Timothy Wong is Managing Director and Regional Head for DBS Group Research. Under his leadership, DBS research team has consistently earned prestigious awards throughout the years</a:t>
            </a:r>
          </a:p>
          <a:p>
            <a:pPr marL="171450" marR="0" lvl="0" indent="-171450" algn="just" defTabSz="914400" rtl="0" eaLnBrk="1" fontAlgn="auto" latinLnBrk="0" hangingPunct="1">
              <a:lnSpc>
                <a:spcPct val="95000"/>
              </a:lnSpc>
              <a:spcBef>
                <a:spcPct val="0"/>
              </a:spcBef>
              <a:spcAft>
                <a:spcPct val="0"/>
              </a:spcAft>
              <a:buClr>
                <a:srgbClr val="BE050A"/>
              </a:buClr>
              <a:buSzTx/>
              <a:buFont typeface="Wingdings 2" panose="05020102010507070707" pitchFamily="18" charset="2"/>
              <a:buChar char="¡"/>
              <a:tabLst/>
              <a:defRPr/>
            </a:pPr>
            <a:r>
              <a:rPr kumimoji="0" lang="en-US" altLang="zh-TW" sz="900" b="0" i="0" u="none" strike="noStrike" kern="1200" cap="none" spc="0" normalizeH="0" baseline="0" noProof="0">
                <a:ln>
                  <a:noFill/>
                </a:ln>
                <a:solidFill>
                  <a:srgbClr val="000000"/>
                </a:solidFill>
                <a:effectLst/>
                <a:uLnTx/>
                <a:uFillTx/>
                <a:latin typeface="+mj-lt"/>
                <a:ea typeface="微軟正黑體" panose="020B0604030504040204" pitchFamily="34" charset="-120"/>
                <a:cs typeface="DFKaiShu-GB5" pitchFamily="65" charset="-128"/>
              </a:rPr>
              <a:t>Timothy contributes actively to the development of the financial services industry in Singapore , serving as a member of the Capital Markets Committee convened by the Monetary Authority of Singapore (MAS) in 2008, the Singapore Exchange Securities Committee from 2009-2013, and most recently as a member of the MAS FRC Technical Committee on High Frequency Trading research. He was conferred the title of Fellow of the Institute of Banking and Finance (IBF) for Financial Markets in 2014</a:t>
            </a:r>
            <a:endParaRPr kumimoji="0" lang="en-GB" altLang="zh-TW" sz="900" b="1" i="0" u="none" strike="noStrike" kern="1200" cap="none" spc="0" normalizeH="0" baseline="0" noProof="0">
              <a:ln>
                <a:noFill/>
              </a:ln>
              <a:solidFill>
                <a:srgbClr val="000000"/>
              </a:solidFill>
              <a:effectLst/>
              <a:uLnTx/>
              <a:uFillTx/>
              <a:latin typeface="+mj-lt"/>
              <a:ea typeface="微軟正黑體" panose="020B0604030504040204" pitchFamily="34" charset="-120"/>
              <a:cs typeface="DFKaiShu-GB5" pitchFamily="65" charset="-128"/>
            </a:endParaRPr>
          </a:p>
        </p:txBody>
      </p:sp>
      <p:pic>
        <p:nvPicPr>
          <p:cNvPr id="331" name="Picture 330" descr="TimWONG with jacket-crop">
            <a:extLst>
              <a:ext uri="{FF2B5EF4-FFF2-40B4-BE49-F238E27FC236}">
                <a16:creationId xmlns:a16="http://schemas.microsoft.com/office/drawing/2014/main" id="{EDC75AB8-34F2-FE86-0857-8E2B4525A6E1}"/>
              </a:ext>
            </a:extLst>
          </p:cNvPr>
          <p:cNvPicPr/>
          <p:nvPr/>
        </p:nvPicPr>
        <p:blipFill>
          <a:blip r:embed="rId3" cstate="print"/>
          <a:srcRect l="9317" t="2574" r="4715" b="22495"/>
          <a:stretch>
            <a:fillRect/>
          </a:stretch>
        </p:blipFill>
        <p:spPr bwMode="auto">
          <a:xfrm>
            <a:off x="723899" y="4505809"/>
            <a:ext cx="568591" cy="748525"/>
          </a:xfrm>
          <a:prstGeom prst="rect">
            <a:avLst/>
          </a:prstGeom>
          <a:noFill/>
          <a:ln w="9525">
            <a:noFill/>
            <a:miter lim="800000"/>
            <a:headEnd/>
            <a:tailEnd/>
          </a:ln>
        </p:spPr>
      </p:pic>
      <p:sp>
        <p:nvSpPr>
          <p:cNvPr id="369" name="Rectangle 368">
            <a:extLst>
              <a:ext uri="{FF2B5EF4-FFF2-40B4-BE49-F238E27FC236}">
                <a16:creationId xmlns:a16="http://schemas.microsoft.com/office/drawing/2014/main" id="{912EB1FA-657F-7337-CAFD-35C1734C9989}"/>
              </a:ext>
            </a:extLst>
          </p:cNvPr>
          <p:cNvSpPr>
            <a:spLocks noChangeArrowheads="1"/>
          </p:cNvSpPr>
          <p:nvPr/>
        </p:nvSpPr>
        <p:spPr bwMode="auto">
          <a:xfrm>
            <a:off x="5144361" y="4222267"/>
            <a:ext cx="4075839" cy="216606"/>
          </a:xfrm>
          <a:prstGeom prst="rect">
            <a:avLst/>
          </a:prstGeom>
          <a:gradFill>
            <a:gsLst>
              <a:gs pos="0">
                <a:srgbClr val="760000"/>
              </a:gs>
              <a:gs pos="45000">
                <a:srgbClr val="AB0000"/>
              </a:gs>
              <a:gs pos="100000">
                <a:srgbClr val="CC0000"/>
              </a:gs>
            </a:gsLst>
          </a:gradFill>
          <a:ln>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altLang="zh-CN" sz="900" b="1" i="0" u="none" strike="noStrike" kern="1200" cap="none" spc="0" normalizeH="0" baseline="0" noProof="0">
                <a:ln>
                  <a:noFill/>
                </a:ln>
                <a:solidFill>
                  <a:srgbClr val="FFFFFF"/>
                </a:solidFill>
                <a:effectLst/>
                <a:uLnTx/>
                <a:uFillTx/>
                <a:latin typeface="+mj-lt"/>
                <a:ea typeface="黑体" panose="02010609060101010101" pitchFamily="49" charset="-122"/>
                <a:cs typeface="+mn-cs"/>
              </a:rPr>
              <a:t>Dennis Lam, Head of Research</a:t>
            </a:r>
            <a:endParaRPr kumimoji="0" lang="zh-CN" altLang="en-US" sz="900" b="1" i="0" u="none" strike="noStrike" kern="1200" cap="none" spc="0" normalizeH="0" baseline="0" noProof="0">
              <a:ln>
                <a:noFill/>
              </a:ln>
              <a:solidFill>
                <a:srgbClr val="FFFFFF"/>
              </a:solidFill>
              <a:effectLst/>
              <a:uLnTx/>
              <a:uFillTx/>
              <a:latin typeface="+mj-lt"/>
              <a:ea typeface="黑体" panose="02010609060101010101" pitchFamily="49" charset="-122"/>
              <a:cs typeface="+mn-cs"/>
            </a:endParaRPr>
          </a:p>
        </p:txBody>
      </p:sp>
      <p:sp>
        <p:nvSpPr>
          <p:cNvPr id="370" name="Rectangle 3">
            <a:extLst>
              <a:ext uri="{FF2B5EF4-FFF2-40B4-BE49-F238E27FC236}">
                <a16:creationId xmlns:a16="http://schemas.microsoft.com/office/drawing/2014/main" id="{54E2F7AF-1271-1431-C4FB-4D57A8BA46B8}"/>
              </a:ext>
            </a:extLst>
          </p:cNvPr>
          <p:cNvSpPr>
            <a:spLocks noChangeArrowheads="1"/>
          </p:cNvSpPr>
          <p:nvPr/>
        </p:nvSpPr>
        <p:spPr bwMode="auto">
          <a:xfrm>
            <a:off x="5900925" y="4510945"/>
            <a:ext cx="3319275" cy="1443561"/>
          </a:xfrm>
          <a:prstGeom prst="rect">
            <a:avLst/>
          </a:prstGeom>
          <a:noFill/>
          <a:ln w="9525">
            <a:noFill/>
            <a:miter lim="800000"/>
            <a:headEnd/>
            <a:tailEnd/>
          </a:ln>
        </p:spPr>
        <p:txBody>
          <a:bodyPr wrap="square" lIns="0" tIns="0" rIns="0" bIns="0">
            <a:spAutoFit/>
          </a:bodyPr>
          <a:lstStyle/>
          <a:p>
            <a:pPr marL="174625" marR="0" lvl="0" indent="-174625" algn="l" defTabSz="914400" rtl="0" eaLnBrk="1" fontAlgn="base" latinLnBrk="0" hangingPunct="1">
              <a:lnSpc>
                <a:spcPct val="95000"/>
              </a:lnSpc>
              <a:spcBef>
                <a:spcPct val="0"/>
              </a:spcBef>
              <a:spcAft>
                <a:spcPct val="0"/>
              </a:spcAft>
              <a:buClr>
                <a:srgbClr val="BE050A"/>
              </a:buClr>
              <a:buSzTx/>
              <a:buFont typeface="Wingdings 2" panose="05020102010507070707" pitchFamily="18" charset="2"/>
              <a:buChar char="¡"/>
              <a:tabLst/>
              <a:defRPr/>
            </a:pPr>
            <a:r>
              <a:rPr kumimoji="0" lang="en-US" sz="900" b="0" i="0" u="none" strike="noStrike" kern="1200" cap="none" spc="0" normalizeH="0" baseline="0" noProof="0">
                <a:ln>
                  <a:noFill/>
                </a:ln>
                <a:solidFill>
                  <a:srgbClr val="000000"/>
                </a:solidFill>
                <a:effectLst/>
                <a:uLnTx/>
                <a:uFillTx/>
                <a:latin typeface="+mj-lt"/>
                <a:ea typeface="+mn-ea"/>
                <a:cs typeface="DFKaiShu-GB5" pitchFamily="65" charset="-128"/>
              </a:rPr>
              <a:t>Dennis Lam has over 21 years of equities research experience.  He has previously worked on both the sell and buy side at Bear Stearns Asia, Kim Eng Securities and Pacific Capital Mgt</a:t>
            </a:r>
          </a:p>
          <a:p>
            <a:pPr marL="174625" marR="0" lvl="0" indent="-174625" algn="l" defTabSz="914400" rtl="0" eaLnBrk="1" fontAlgn="base" latinLnBrk="0" hangingPunct="1">
              <a:lnSpc>
                <a:spcPct val="95000"/>
              </a:lnSpc>
              <a:spcBef>
                <a:spcPct val="0"/>
              </a:spcBef>
              <a:spcAft>
                <a:spcPct val="0"/>
              </a:spcAft>
              <a:buClr>
                <a:srgbClr val="BE050A"/>
              </a:buClr>
              <a:buSzTx/>
              <a:buFont typeface="Wingdings 2" panose="05020102010507070707" pitchFamily="18" charset="2"/>
              <a:buChar char="¡"/>
              <a:tabLst/>
              <a:defRPr/>
            </a:pPr>
            <a:r>
              <a:rPr kumimoji="0" lang="en-US" sz="900" b="0" i="0" u="none" strike="noStrike" kern="1200" cap="none" spc="0" normalizeH="0" baseline="0" noProof="0">
                <a:ln>
                  <a:noFill/>
                </a:ln>
                <a:solidFill>
                  <a:srgbClr val="000000"/>
                </a:solidFill>
                <a:effectLst/>
                <a:uLnTx/>
                <a:uFillTx/>
                <a:latin typeface="+mj-lt"/>
                <a:ea typeface="+mn-ea"/>
                <a:cs typeface="DFKaiShu-GB5" pitchFamily="65" charset="-128"/>
              </a:rPr>
              <a:t>Dennis was a Runner-up for Institutional Investor All-China Research Team 2014. Dennis has covered a diverse variety of industries, including textiles, technology, insurance, renewables, consumers, industrials in the past 20 years</a:t>
            </a:r>
          </a:p>
          <a:p>
            <a:pPr marL="174625" marR="0" lvl="0" indent="-174625" algn="l" defTabSz="914400" rtl="0" eaLnBrk="1" fontAlgn="base" latinLnBrk="0" hangingPunct="1">
              <a:lnSpc>
                <a:spcPct val="95000"/>
              </a:lnSpc>
              <a:spcBef>
                <a:spcPct val="0"/>
              </a:spcBef>
              <a:spcAft>
                <a:spcPct val="0"/>
              </a:spcAft>
              <a:buClr>
                <a:srgbClr val="BE050A"/>
              </a:buClr>
              <a:buSzTx/>
              <a:buFont typeface="Wingdings 2" panose="05020102010507070707" pitchFamily="18" charset="2"/>
              <a:buChar char="¡"/>
              <a:tabLst/>
              <a:defRPr/>
            </a:pPr>
            <a:r>
              <a:rPr kumimoji="0" lang="en-US" sz="900" b="0" i="0" u="none" strike="noStrike" kern="1200" cap="none" spc="0" normalizeH="0" baseline="0" noProof="0">
                <a:ln>
                  <a:noFill/>
                </a:ln>
                <a:solidFill>
                  <a:srgbClr val="000000"/>
                </a:solidFill>
                <a:effectLst/>
                <a:uLnTx/>
                <a:uFillTx/>
                <a:latin typeface="+mj-lt"/>
                <a:ea typeface="+mn-ea"/>
                <a:cs typeface="DFKaiShu-GB5" pitchFamily="65" charset="-128"/>
              </a:rPr>
              <a:t>Dennis obtained a Honours Bachelor of Science from the University of Toronto, in Molecular Biology and Molecular Genetics (Specialist) and Economics (Major)</a:t>
            </a:r>
          </a:p>
        </p:txBody>
      </p:sp>
      <p:pic>
        <p:nvPicPr>
          <p:cNvPr id="371" name="Picture 370" descr="A person wearing glasses&#10;&#10;Description automatically generated with low confidence">
            <a:extLst>
              <a:ext uri="{FF2B5EF4-FFF2-40B4-BE49-F238E27FC236}">
                <a16:creationId xmlns:a16="http://schemas.microsoft.com/office/drawing/2014/main" id="{072ED0AC-A4D8-83B0-5F6E-568A8647CE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44362" y="4513862"/>
            <a:ext cx="683185" cy="748525"/>
          </a:xfrm>
          <a:prstGeom prst="rect">
            <a:avLst/>
          </a:prstGeom>
        </p:spPr>
      </p:pic>
      <p:sp>
        <p:nvSpPr>
          <p:cNvPr id="334" name="Rectangle 10">
            <a:extLst>
              <a:ext uri="{FF2B5EF4-FFF2-40B4-BE49-F238E27FC236}">
                <a16:creationId xmlns:a16="http://schemas.microsoft.com/office/drawing/2014/main" id="{BB2A5A39-7FBB-74BF-090F-E3005A9A38D5}"/>
              </a:ext>
            </a:extLst>
          </p:cNvPr>
          <p:cNvSpPr>
            <a:spLocks noChangeArrowheads="1"/>
          </p:cNvSpPr>
          <p:nvPr/>
        </p:nvSpPr>
        <p:spPr bwMode="gray">
          <a:xfrm>
            <a:off x="723898" y="1960437"/>
            <a:ext cx="1181163" cy="246999"/>
          </a:xfrm>
          <a:prstGeom prst="rect">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a:noFill/>
          </a:ln>
        </p:spPr>
        <p:txBody>
          <a:bodyPr wrap="square" lIns="0" tIns="0" rIns="0" bIns="0" rtlCol="0" anchor="ctr">
            <a:noAutofit/>
          </a:bodyPr>
          <a:lstStyle/>
          <a:p>
            <a:pPr marL="88900" marR="90170" lvl="0" indent="0" algn="ctr" defTabSz="914400" rtl="0" eaLnBrk="1" fontAlgn="base" latinLnBrk="0" hangingPunct="1">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Region</a:t>
            </a:r>
            <a:endParaRPr kumimoji="0" lang="zh-CN" altLang="en-US"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endParaRPr>
          </a:p>
        </p:txBody>
      </p:sp>
      <p:sp>
        <p:nvSpPr>
          <p:cNvPr id="335" name="Rectangle 12">
            <a:extLst>
              <a:ext uri="{FF2B5EF4-FFF2-40B4-BE49-F238E27FC236}">
                <a16:creationId xmlns:a16="http://schemas.microsoft.com/office/drawing/2014/main" id="{C075FE93-F6C1-CE75-D78F-A40FC00D7753}"/>
              </a:ext>
            </a:extLst>
          </p:cNvPr>
          <p:cNvSpPr>
            <a:spLocks noChangeArrowheads="1"/>
          </p:cNvSpPr>
          <p:nvPr/>
        </p:nvSpPr>
        <p:spPr bwMode="gray">
          <a:xfrm>
            <a:off x="2914895" y="1960437"/>
            <a:ext cx="941527" cy="246999"/>
          </a:xfrm>
          <a:prstGeom prst="rect">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a:noFill/>
          </a:ln>
        </p:spPr>
        <p:txBody>
          <a:bodyPr wrap="square" lIns="0" tIns="0" rIns="0" bIns="0" rtlCol="0" anchor="ctr">
            <a:noAutofit/>
          </a:bodyPr>
          <a:lstStyle/>
          <a:p>
            <a:pPr marL="88900" marR="90170" lvl="0" indent="0" algn="ctr" defTabSz="914400" rtl="0" eaLnBrk="1" fontAlgn="base" latinLnBrk="0" hangingPunct="1">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No</a:t>
            </a:r>
            <a:r>
              <a:rPr kumimoji="0" lang="zh-CN" altLang="zh-CN"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a:t>
            </a:r>
            <a:r>
              <a:rPr kumimoji="0" lang="zh-CN" altLang="en-US"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 </a:t>
            </a:r>
            <a:r>
              <a:rPr kumimoji="0" lang="en-US" altLang="zh-CN"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of</a:t>
            </a:r>
            <a:r>
              <a:rPr kumimoji="0" lang="zh-CN" altLang="en-US"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 </a:t>
            </a:r>
            <a:r>
              <a:rPr kumimoji="0" lang="en-US" altLang="zh-CN"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Analysts</a:t>
            </a:r>
          </a:p>
        </p:txBody>
      </p:sp>
      <p:sp>
        <p:nvSpPr>
          <p:cNvPr id="336" name="Rectangle 13">
            <a:extLst>
              <a:ext uri="{FF2B5EF4-FFF2-40B4-BE49-F238E27FC236}">
                <a16:creationId xmlns:a16="http://schemas.microsoft.com/office/drawing/2014/main" id="{F9E4CB9A-EC6B-05A5-4BA0-B1510D813FE0}"/>
              </a:ext>
            </a:extLst>
          </p:cNvPr>
          <p:cNvSpPr>
            <a:spLocks noChangeArrowheads="1"/>
          </p:cNvSpPr>
          <p:nvPr/>
        </p:nvSpPr>
        <p:spPr bwMode="gray">
          <a:xfrm>
            <a:off x="1944786" y="1960437"/>
            <a:ext cx="930385" cy="246999"/>
          </a:xfrm>
          <a:prstGeom prst="rect">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a:noFill/>
          </a:ln>
        </p:spPr>
        <p:txBody>
          <a:bodyPr wrap="square" lIns="0" tIns="0" rIns="0" bIns="0" rtlCol="0" anchor="ctr">
            <a:noAutofit/>
          </a:bodyPr>
          <a:lstStyle/>
          <a:p>
            <a:pPr marL="88900" marR="90170" lvl="0" indent="0" algn="ctr" defTabSz="914400" rtl="0" eaLnBrk="1" fontAlgn="base" latinLnBrk="0" hangingPunct="1">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No.</a:t>
            </a:r>
            <a:r>
              <a:rPr kumimoji="0" lang="zh-CN" altLang="en-US"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 </a:t>
            </a:r>
            <a:r>
              <a:rPr kumimoji="0" lang="en-US" altLang="zh-CN"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of</a:t>
            </a:r>
            <a:r>
              <a:rPr kumimoji="0" lang="zh-CN" altLang="en-US"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 </a:t>
            </a:r>
            <a:r>
              <a:rPr kumimoji="0" lang="en-US" altLang="zh-CN" sz="800" b="1" i="0" u="none" strike="noStrike" kern="1200" cap="none" spc="0" normalizeH="0" baseline="0" noProof="0">
                <a:ln>
                  <a:noFill/>
                </a:ln>
                <a:solidFill>
                  <a:srgbClr val="FFFFFF"/>
                </a:solidFill>
                <a:effectLst/>
                <a:uLnTx/>
                <a:uFillTx/>
                <a:latin typeface="+mj-lt"/>
                <a:ea typeface="SimSun" pitchFamily="2" charset="-122"/>
                <a:cs typeface="Arial" panose="020B0604020202020204" pitchFamily="34" charset="0"/>
              </a:rPr>
              <a:t>Stocks Covered</a:t>
            </a:r>
          </a:p>
        </p:txBody>
      </p:sp>
      <p:sp>
        <p:nvSpPr>
          <p:cNvPr id="337" name="Rectangle 15">
            <a:extLst>
              <a:ext uri="{FF2B5EF4-FFF2-40B4-BE49-F238E27FC236}">
                <a16:creationId xmlns:a16="http://schemas.microsoft.com/office/drawing/2014/main" id="{80B6AEAB-673C-7AF0-00E6-A0124CAC45AE}"/>
              </a:ext>
            </a:extLst>
          </p:cNvPr>
          <p:cNvSpPr>
            <a:spLocks noChangeArrowheads="1"/>
          </p:cNvSpPr>
          <p:nvPr/>
        </p:nvSpPr>
        <p:spPr bwMode="gray">
          <a:xfrm>
            <a:off x="723899" y="1687628"/>
            <a:ext cx="3132523" cy="216606"/>
          </a:xfrm>
          <a:prstGeom prst="rect">
            <a:avLst/>
          </a:prstGeom>
          <a:gradFill>
            <a:gsLst>
              <a:gs pos="0">
                <a:srgbClr val="760000"/>
              </a:gs>
              <a:gs pos="45000">
                <a:srgbClr val="AB0000"/>
              </a:gs>
              <a:gs pos="100000">
                <a:srgbClr val="CC0000"/>
              </a:gs>
            </a:gsLst>
          </a:gradFill>
          <a:ln>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altLang="zh-TW" sz="900" b="1" i="0" u="none" strike="noStrike" kern="1200" cap="none" spc="0" normalizeH="0" baseline="0" noProof="0">
                <a:ln>
                  <a:noFill/>
                </a:ln>
                <a:solidFill>
                  <a:srgbClr val="FFFFFF"/>
                </a:solidFill>
                <a:effectLst/>
                <a:uLnTx/>
                <a:uFillTx/>
                <a:latin typeface="+mj-lt"/>
                <a:ea typeface="微軟正黑體" panose="020B0604030504040204" pitchFamily="34" charset="-120"/>
                <a:cs typeface="+mn-cs"/>
              </a:rPr>
              <a:t>DBS</a:t>
            </a:r>
            <a:r>
              <a:rPr kumimoji="0" lang="en-US" altLang="zh-CN" sz="900" b="1" i="0" u="none" strike="noStrike" kern="1200" cap="none" spc="0" normalizeH="0" baseline="0" noProof="0">
                <a:ln>
                  <a:noFill/>
                </a:ln>
                <a:solidFill>
                  <a:srgbClr val="FFFFFF"/>
                </a:solidFill>
                <a:effectLst/>
                <a:uLnTx/>
                <a:uFillTx/>
                <a:latin typeface="+mj-lt"/>
                <a:ea typeface="黑体" panose="02010609060101010101" pitchFamily="49" charset="-122"/>
                <a:cs typeface="+mn-cs"/>
              </a:rPr>
              <a:t> Research Coverage</a:t>
            </a:r>
            <a:endParaRPr kumimoji="0" lang="en-US" altLang="zh-TW" sz="900" b="1" i="0" u="none" strike="noStrike" kern="1200" cap="none" spc="0" normalizeH="0" baseline="0" noProof="0">
              <a:ln>
                <a:noFill/>
              </a:ln>
              <a:solidFill>
                <a:srgbClr val="FFFFFF"/>
              </a:solidFill>
              <a:effectLst/>
              <a:uLnTx/>
              <a:uFillTx/>
              <a:latin typeface="+mj-lt"/>
              <a:ea typeface="微軟正黑體" panose="020B0604030504040204" pitchFamily="34" charset="-120"/>
              <a:cs typeface="+mn-cs"/>
            </a:endParaRPr>
          </a:p>
        </p:txBody>
      </p:sp>
      <p:sp>
        <p:nvSpPr>
          <p:cNvPr id="372" name="Text Box 8">
            <a:extLst>
              <a:ext uri="{FF2B5EF4-FFF2-40B4-BE49-F238E27FC236}">
                <a16:creationId xmlns:a16="http://schemas.microsoft.com/office/drawing/2014/main" id="{3F694D02-5D9C-49CE-C5F8-B01EED948744}"/>
              </a:ext>
            </a:extLst>
          </p:cNvPr>
          <p:cNvSpPr txBox="1">
            <a:spLocks noChangeArrowheads="1"/>
          </p:cNvSpPr>
          <p:nvPr/>
        </p:nvSpPr>
        <p:spPr bwMode="gray">
          <a:xfrm>
            <a:off x="727994" y="2310445"/>
            <a:ext cx="3110475" cy="1492716"/>
          </a:xfrm>
          <a:prstGeom prst="rect">
            <a:avLst/>
          </a:prstGeom>
          <a:noFill/>
          <a:ln w="12700" algn="ctr">
            <a:noFill/>
            <a:miter lim="800000"/>
            <a:headEnd/>
            <a:tailEnd/>
          </a:ln>
        </p:spPr>
        <p:txBody>
          <a:bodyPr wrap="square" lIns="18288" tIns="0" rIns="18288" bIns="0">
            <a:spAutoFit/>
          </a:bodyPr>
          <a:lstStyle/>
          <a:p>
            <a:pPr lvl="0" eaLnBrk="0" hangingPunct="0">
              <a:spcBef>
                <a:spcPts val="200"/>
              </a:spcBef>
              <a:spcAft>
                <a:spcPts val="200"/>
              </a:spcAft>
              <a:tabLst>
                <a:tab pos="1884363" algn="r"/>
                <a:tab pos="2743200" algn="r"/>
              </a:tabLst>
              <a:defRPr/>
            </a:pPr>
            <a:r>
              <a:rPr lang="en-US" altLang="zh-CN" sz="1100" b="0">
                <a:solidFill>
                  <a:srgbClr val="000000"/>
                </a:solidFill>
                <a:latin typeface="+mj-lt"/>
                <a:ea typeface="DFKaiShu-GB5"/>
                <a:cs typeface="DFKaiShuW5-B5" pitchFamily="65" charset="-128"/>
              </a:rPr>
              <a:t>Singapore	78	17</a:t>
            </a:r>
          </a:p>
          <a:p>
            <a:pPr lvl="0" eaLnBrk="0" hangingPunct="0">
              <a:spcBef>
                <a:spcPts val="200"/>
              </a:spcBef>
              <a:spcAft>
                <a:spcPts val="200"/>
              </a:spcAft>
              <a:tabLst>
                <a:tab pos="1884363" algn="r"/>
                <a:tab pos="2743200" algn="r"/>
              </a:tabLst>
              <a:defRPr/>
            </a:pPr>
            <a:r>
              <a:rPr lang="en-US" altLang="zh-CN" sz="1100" b="0">
                <a:solidFill>
                  <a:srgbClr val="000000"/>
                </a:solidFill>
                <a:latin typeface="+mj-lt"/>
                <a:ea typeface="DFKaiShu-GB5"/>
                <a:cs typeface="DFKaiShuW5-B5" pitchFamily="65" charset="-128"/>
              </a:rPr>
              <a:t>China/Hong Kong	182	28</a:t>
            </a:r>
          </a:p>
          <a:p>
            <a:pPr lvl="0" eaLnBrk="0" hangingPunct="0">
              <a:spcBef>
                <a:spcPts val="200"/>
              </a:spcBef>
              <a:spcAft>
                <a:spcPts val="200"/>
              </a:spcAft>
              <a:tabLst>
                <a:tab pos="1884363" algn="r"/>
                <a:tab pos="2743200" algn="r"/>
              </a:tabLst>
              <a:defRPr/>
            </a:pPr>
            <a:r>
              <a:rPr lang="en-US" altLang="zh-CN" sz="1100" b="0">
                <a:solidFill>
                  <a:srgbClr val="000000"/>
                </a:solidFill>
                <a:latin typeface="+mj-lt"/>
                <a:ea typeface="DFKaiShu-GB5"/>
                <a:cs typeface="DFKaiShuW5-B5" pitchFamily="65" charset="-128"/>
              </a:rPr>
              <a:t>Thailand	78	5</a:t>
            </a:r>
          </a:p>
          <a:p>
            <a:pPr lvl="0" eaLnBrk="0" hangingPunct="0">
              <a:spcBef>
                <a:spcPts val="200"/>
              </a:spcBef>
              <a:spcAft>
                <a:spcPts val="200"/>
              </a:spcAft>
              <a:tabLst>
                <a:tab pos="1884363" algn="r"/>
                <a:tab pos="2743200" algn="r"/>
              </a:tabLst>
              <a:defRPr/>
            </a:pPr>
            <a:r>
              <a:rPr lang="en-US" altLang="zh-CN" sz="1100" b="0">
                <a:solidFill>
                  <a:srgbClr val="000000"/>
                </a:solidFill>
                <a:latin typeface="+mj-lt"/>
                <a:ea typeface="DFKaiShu-GB5"/>
                <a:cs typeface="DFKaiShuW5-B5" pitchFamily="65" charset="-128"/>
              </a:rPr>
              <a:t>Indonesia	37	5</a:t>
            </a:r>
          </a:p>
          <a:p>
            <a:pPr lvl="0" eaLnBrk="0" hangingPunct="0">
              <a:spcBef>
                <a:spcPts val="200"/>
              </a:spcBef>
              <a:spcAft>
                <a:spcPts val="200"/>
              </a:spcAft>
              <a:tabLst>
                <a:tab pos="1884363" algn="r"/>
                <a:tab pos="2743200" algn="r"/>
              </a:tabLst>
              <a:defRPr/>
            </a:pPr>
            <a:r>
              <a:rPr lang="en-US" altLang="zh-CN" sz="1100" b="0">
                <a:solidFill>
                  <a:srgbClr val="000000"/>
                </a:solidFill>
                <a:latin typeface="+mj-lt"/>
                <a:ea typeface="DFKaiShu-GB5"/>
                <a:cs typeface="DFKaiShuW5-B5" pitchFamily="65" charset="-128"/>
              </a:rPr>
              <a:t>Philippines	27	6</a:t>
            </a:r>
          </a:p>
          <a:p>
            <a:pPr eaLnBrk="0" hangingPunct="0">
              <a:spcBef>
                <a:spcPts val="200"/>
              </a:spcBef>
              <a:spcAft>
                <a:spcPts val="200"/>
              </a:spcAft>
              <a:tabLst>
                <a:tab pos="1884363" algn="r"/>
                <a:tab pos="2743200" algn="r"/>
              </a:tabLst>
              <a:defRPr/>
            </a:pPr>
            <a:r>
              <a:rPr lang="en-US" altLang="zh-CN" sz="1100" b="0">
                <a:solidFill>
                  <a:srgbClr val="000000"/>
                </a:solidFill>
                <a:latin typeface="+mj-lt"/>
                <a:ea typeface="DFKaiShu-GB5"/>
                <a:cs typeface="DFKaiShuW5-B5" pitchFamily="65" charset="-128"/>
              </a:rPr>
              <a:t>Clovers*	 234*	-</a:t>
            </a:r>
          </a:p>
          <a:p>
            <a:pPr lvl="0" eaLnBrk="0" hangingPunct="0">
              <a:spcBef>
                <a:spcPts val="200"/>
              </a:spcBef>
              <a:spcAft>
                <a:spcPts val="200"/>
              </a:spcAft>
              <a:tabLst>
                <a:tab pos="1884363" algn="r"/>
                <a:tab pos="2743200" algn="r"/>
              </a:tabLst>
              <a:defRPr/>
            </a:pPr>
            <a:r>
              <a:rPr lang="en-US" altLang="zh-CN" sz="1100" b="0">
                <a:solidFill>
                  <a:srgbClr val="000000"/>
                </a:solidFill>
                <a:latin typeface="+mj-lt"/>
                <a:ea typeface="DFKaiShu-GB5"/>
                <a:cs typeface="DFKaiShuW5-B5" pitchFamily="65" charset="-128"/>
              </a:rPr>
              <a:t>Total	636	61*</a:t>
            </a:r>
            <a:endParaRPr kumimoji="0" lang="en-US" altLang="zh-CN" sz="1100" b="0" i="0" u="none" strike="noStrike" kern="1200" cap="none" spc="0" normalizeH="0" baseline="0" noProof="0">
              <a:ln>
                <a:noFill/>
              </a:ln>
              <a:solidFill>
                <a:srgbClr val="000000"/>
              </a:solidFill>
              <a:effectLst/>
              <a:uLnTx/>
              <a:uFillTx/>
              <a:latin typeface="+mj-lt"/>
              <a:ea typeface="DFKaiShu-GB5"/>
              <a:cs typeface="DFKaiShuW5-B5" pitchFamily="65" charset="-128"/>
            </a:endParaRPr>
          </a:p>
        </p:txBody>
      </p:sp>
      <p:cxnSp>
        <p:nvCxnSpPr>
          <p:cNvPr id="373" name="Straight Connector 372">
            <a:extLst>
              <a:ext uri="{FF2B5EF4-FFF2-40B4-BE49-F238E27FC236}">
                <a16:creationId xmlns:a16="http://schemas.microsoft.com/office/drawing/2014/main" id="{AA9210A6-049B-08D5-A28F-2E76A640F565}"/>
              </a:ext>
            </a:extLst>
          </p:cNvPr>
          <p:cNvCxnSpPr>
            <a:cxnSpLocks/>
          </p:cNvCxnSpPr>
          <p:nvPr/>
        </p:nvCxnSpPr>
        <p:spPr bwMode="auto">
          <a:xfrm>
            <a:off x="1822409" y="3581619"/>
            <a:ext cx="1933716" cy="0"/>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8A52819F-B006-877D-A3D4-A3D66E4E82ED}"/>
              </a:ext>
            </a:extLst>
          </p:cNvPr>
          <p:cNvSpPr txBox="1"/>
          <p:nvPr/>
        </p:nvSpPr>
        <p:spPr>
          <a:xfrm>
            <a:off x="754485" y="3816230"/>
            <a:ext cx="3136410" cy="307777"/>
          </a:xfrm>
          <a:prstGeom prst="rect">
            <a:avLst/>
          </a:prstGeom>
          <a:noFill/>
        </p:spPr>
        <p:txBody>
          <a:bodyPr wrap="square" lIns="0" rIns="0" rtlCol="0">
            <a:spAutoFit/>
          </a:bodyPr>
          <a:lstStyle/>
          <a:p>
            <a:r>
              <a:rPr lang="en-US" altLang="zh-CN" sz="700" b="0" i="1">
                <a:solidFill>
                  <a:schemeClr val="tx1"/>
                </a:solidFill>
                <a:latin typeface="+mj-lt"/>
                <a:ea typeface="KaiTi" panose="02010609060101010101" pitchFamily="49" charset="-122"/>
              </a:rPr>
              <a:t>* Clovers coverage is mainly coverage of US, EU, Japan, India, China/Hong Kong stocks using a data-driven approach for financial analysis</a:t>
            </a:r>
            <a:endParaRPr lang="en-US" sz="700" b="0" i="1">
              <a:solidFill>
                <a:schemeClr val="tx1"/>
              </a:solidFill>
              <a:latin typeface="+mj-lt"/>
              <a:ea typeface="KaiTi" panose="02010609060101010101" pitchFamily="49" charset="-122"/>
            </a:endParaRPr>
          </a:p>
        </p:txBody>
      </p:sp>
      <p:sp>
        <p:nvSpPr>
          <p:cNvPr id="7" name="Text Box 2589">
            <a:extLst>
              <a:ext uri="{FF2B5EF4-FFF2-40B4-BE49-F238E27FC236}">
                <a16:creationId xmlns:a16="http://schemas.microsoft.com/office/drawing/2014/main" id="{AB9B1D7F-4352-C47C-38DC-199F74383496}"/>
              </a:ext>
            </a:extLst>
          </p:cNvPr>
          <p:cNvSpPr txBox="1">
            <a:spLocks noChangeArrowheads="1"/>
          </p:cNvSpPr>
          <p:nvPr/>
        </p:nvSpPr>
        <p:spPr bwMode="gray">
          <a:xfrm>
            <a:off x="723899" y="1093320"/>
            <a:ext cx="8494776" cy="523220"/>
          </a:xfrm>
          <a:prstGeom prst="rect">
            <a:avLst/>
          </a:prstGeom>
          <a:solidFill>
            <a:srgbClr val="FEBFB3"/>
          </a:solidFill>
          <a:ln w="9525" cap="flat" cmpd="sng" algn="ctr">
            <a:noFill/>
            <a:prstDash val="solid"/>
            <a:headEnd/>
            <a:tailEnd/>
          </a:ln>
          <a:effectLst>
            <a:outerShdw blurRad="40000" dist="23000" dir="5400000" rotWithShape="0">
              <a:srgbClr val="000000">
                <a:alpha val="35000"/>
              </a:srgbClr>
            </a:outerShdw>
          </a:effectLst>
        </p:spPr>
        <p:txBody>
          <a:bodyPr wrap="square" tIns="91440" bIns="91440">
            <a:spAutoFit/>
          </a:bodyPr>
          <a:lstStyle>
            <a:defPPr>
              <a:defRPr lang="en-US"/>
            </a:defPPr>
            <a:lvl1pPr marL="209556" indent="-209556" fontAlgn="auto">
              <a:spcBef>
                <a:spcPts val="0"/>
              </a:spcBef>
              <a:spcAft>
                <a:spcPts val="0"/>
              </a:spcAft>
              <a:buClr>
                <a:srgbClr val="BE050A"/>
              </a:buClr>
              <a:buFont typeface="Wingdings 2" panose="05020102010507070707" pitchFamily="18" charset="2"/>
              <a:buChar char="¡"/>
              <a:tabLst>
                <a:tab pos="1266124" algn="l"/>
              </a:tabLst>
              <a:defRPr sz="1100" b="0" kern="0">
                <a:solidFill>
                  <a:sysClr val="windowText" lastClr="000000"/>
                </a:solidFill>
                <a:latin typeface="Arial" panose="020B0604020202020204" pitchFamily="34" charset="0"/>
                <a:ea typeface="DFKaiShu-GB5"/>
              </a:defRPr>
            </a:lvl1pPr>
          </a:lstStyle>
          <a:p>
            <a:r>
              <a:rPr lang="en-US" altLang="zh-CN">
                <a:latin typeface="+mj-lt"/>
              </a:rPr>
              <a:t>DBS Research is amongst the most reputable houses in the market, winning </a:t>
            </a:r>
            <a:r>
              <a:rPr lang="en-US" altLang="zh-CN" b="1">
                <a:solidFill>
                  <a:schemeClr val="accent1"/>
                </a:solidFill>
                <a:latin typeface="+mj-lt"/>
              </a:rPr>
              <a:t>numerous prestigious awards every year and consistently ranked as one of the best research houses</a:t>
            </a:r>
          </a:p>
        </p:txBody>
      </p:sp>
      <p:sp>
        <p:nvSpPr>
          <p:cNvPr id="9" name="Text Placeholder 4">
            <a:extLst>
              <a:ext uri="{FF2B5EF4-FFF2-40B4-BE49-F238E27FC236}">
                <a16:creationId xmlns:a16="http://schemas.microsoft.com/office/drawing/2014/main" id="{9B25C2D9-3B31-75F9-45EA-9B3BD2416FA5}"/>
              </a:ext>
            </a:extLst>
          </p:cNvPr>
          <p:cNvSpPr txBox="1">
            <a:spLocks/>
          </p:cNvSpPr>
          <p:nvPr/>
        </p:nvSpPr>
        <p:spPr bwMode="auto">
          <a:xfrm>
            <a:off x="717153" y="5987226"/>
            <a:ext cx="8494776" cy="184666"/>
          </a:xfrm>
          <a:prstGeom prst="rect">
            <a:avLst/>
          </a:prstGeom>
          <a:noFill/>
          <a:ln w="9525">
            <a:noFill/>
            <a:miter lim="800000"/>
            <a:headEnd/>
            <a:tailEnd/>
          </a:ln>
        </p:spPr>
        <p:txBody>
          <a:bodyPr vert="horz" wrap="square" lIns="0" tIns="45720" rIns="0" bIns="45720" numCol="1" anchor="b" anchorCtr="0" compatLnSpc="1">
            <a:prstTxWarp prst="textNoShape">
              <a:avLst/>
            </a:prstTxWarp>
            <a:spAutoFit/>
          </a:bodyPr>
          <a:lstStyle>
            <a:lvl1pPr marL="284163" indent="-284163" algn="l" rtl="0" eaLnBrk="0" fontAlgn="base" hangingPunct="0">
              <a:spcBef>
                <a:spcPts val="200"/>
              </a:spcBef>
              <a:spcAft>
                <a:spcPts val="200"/>
              </a:spcAft>
              <a:buClr>
                <a:srgbClr val="BE050A"/>
              </a:buClr>
              <a:buFont typeface="Wingdings 2" panose="05020102010507070707" pitchFamily="18" charset="2"/>
              <a:buChar char="¡"/>
              <a:defRPr sz="1600">
                <a:solidFill>
                  <a:schemeClr val="tx1"/>
                </a:solidFill>
                <a:latin typeface="+mn-lt"/>
                <a:ea typeface="+mn-ea"/>
                <a:cs typeface="+mn-cs"/>
              </a:defRPr>
            </a:lvl1pPr>
            <a:lvl2pPr marL="684213" indent="-285750" algn="l" rtl="0" eaLnBrk="0" fontAlgn="base" hangingPunct="0">
              <a:spcBef>
                <a:spcPts val="200"/>
              </a:spcBef>
              <a:spcAft>
                <a:spcPts val="200"/>
              </a:spcAft>
              <a:buClr>
                <a:srgbClr val="626262"/>
              </a:buClr>
              <a:buFont typeface="Arial" panose="020B0604020202020204" pitchFamily="34" charset="0"/>
              <a:buChar char="―"/>
              <a:defRPr sz="1500">
                <a:solidFill>
                  <a:schemeClr val="tx1"/>
                </a:solidFill>
                <a:latin typeface="+mn-lt"/>
                <a:ea typeface="+mn-ea"/>
                <a:cs typeface="+mn-cs"/>
              </a:defRPr>
            </a:lvl2pPr>
            <a:lvl3pPr marL="1068388" indent="-269875" algn="l" rtl="0" eaLnBrk="0" fontAlgn="base" hangingPunct="0">
              <a:spcBef>
                <a:spcPts val="200"/>
              </a:spcBef>
              <a:spcAft>
                <a:spcPts val="200"/>
              </a:spcAft>
              <a:buFont typeface="Arial" panose="020B0604020202020204" pitchFamily="34" charset="0"/>
              <a:buChar char="‒"/>
              <a:defRPr sz="1500">
                <a:solidFill>
                  <a:schemeClr val="tx1"/>
                </a:solidFill>
                <a:latin typeface="+mn-lt"/>
                <a:ea typeface="+mn-ea"/>
                <a:cs typeface="+mn-cs"/>
              </a:defRPr>
            </a:lvl3pPr>
            <a:lvl4pPr marL="1484313" indent="-301625" algn="l" rtl="0" eaLnBrk="0" fontAlgn="base" hangingPunct="0">
              <a:spcBef>
                <a:spcPts val="200"/>
              </a:spcBef>
              <a:spcAft>
                <a:spcPts val="200"/>
              </a:spcAft>
              <a:buChar char="–"/>
              <a:defRPr sz="1500">
                <a:solidFill>
                  <a:schemeClr val="tx1"/>
                </a:solidFill>
                <a:latin typeface="+mn-lt"/>
                <a:ea typeface="+mn-ea"/>
                <a:cs typeface="+mn-cs"/>
              </a:defRPr>
            </a:lvl4pPr>
            <a:lvl5pPr marL="1827213" indent="-228600" algn="l" rtl="0" eaLnBrk="0" fontAlgn="base" hangingPunct="0">
              <a:spcBef>
                <a:spcPts val="200"/>
              </a:spcBef>
              <a:spcAft>
                <a:spcPts val="200"/>
              </a:spcAft>
              <a:buChar char="»"/>
              <a:defRPr sz="1500">
                <a:solidFill>
                  <a:schemeClr val="tx1"/>
                </a:solidFill>
                <a:latin typeface="+mn-lt"/>
                <a:ea typeface="+mn-ea"/>
                <a:cs typeface="+mn-cs"/>
              </a:defRPr>
            </a:lvl5pPr>
            <a:lvl6pPr marL="2284413" indent="-228600" algn="l" rtl="0" fontAlgn="base">
              <a:spcBef>
                <a:spcPct val="0"/>
              </a:spcBef>
              <a:spcAft>
                <a:spcPct val="30000"/>
              </a:spcAft>
              <a:buChar char="»"/>
              <a:defRPr sz="1500">
                <a:solidFill>
                  <a:schemeClr val="tx1"/>
                </a:solidFill>
                <a:latin typeface="+mn-lt"/>
                <a:ea typeface="+mn-ea"/>
                <a:cs typeface="+mn-cs"/>
              </a:defRPr>
            </a:lvl6pPr>
            <a:lvl7pPr marL="2741613" indent="-228600" algn="l" rtl="0" fontAlgn="base">
              <a:spcBef>
                <a:spcPct val="0"/>
              </a:spcBef>
              <a:spcAft>
                <a:spcPct val="30000"/>
              </a:spcAft>
              <a:buChar char="»"/>
              <a:defRPr sz="1500">
                <a:solidFill>
                  <a:schemeClr val="tx1"/>
                </a:solidFill>
                <a:latin typeface="+mn-lt"/>
                <a:ea typeface="+mn-ea"/>
                <a:cs typeface="+mn-cs"/>
              </a:defRPr>
            </a:lvl7pPr>
            <a:lvl8pPr marL="3198813" indent="-228600" algn="l" rtl="0" fontAlgn="base">
              <a:spcBef>
                <a:spcPct val="0"/>
              </a:spcBef>
              <a:spcAft>
                <a:spcPct val="30000"/>
              </a:spcAft>
              <a:buChar char="»"/>
              <a:defRPr sz="1500">
                <a:solidFill>
                  <a:schemeClr val="tx1"/>
                </a:solidFill>
                <a:latin typeface="+mn-lt"/>
                <a:ea typeface="+mn-ea"/>
                <a:cs typeface="+mn-cs"/>
              </a:defRPr>
            </a:lvl8pPr>
            <a:lvl9pPr marL="3656013" indent="-228600" algn="l" rtl="0" fontAlgn="base">
              <a:spcBef>
                <a:spcPct val="0"/>
              </a:spcBef>
              <a:spcAft>
                <a:spcPct val="30000"/>
              </a:spcAft>
              <a:buChar char="»"/>
              <a:defRPr sz="1500">
                <a:solidFill>
                  <a:schemeClr val="tx1"/>
                </a:solidFill>
                <a:latin typeface="+mn-lt"/>
                <a:ea typeface="+mn-ea"/>
                <a:cs typeface="+mn-cs"/>
              </a:defRPr>
            </a:lvl9pPr>
          </a:lstStyle>
          <a:p>
            <a:pPr marL="0" indent="0">
              <a:spcBef>
                <a:spcPts val="0"/>
              </a:spcBef>
              <a:spcAft>
                <a:spcPts val="0"/>
              </a:spcAft>
              <a:buNone/>
              <a:tabLst>
                <a:tab pos="228600" algn="l"/>
              </a:tabLst>
            </a:pPr>
            <a:r>
              <a:rPr lang="en-US" altLang="zh-TW" sz="600" b="0" i="1" kern="0" dirty="0">
                <a:latin typeface="+mj-lt"/>
              </a:rPr>
              <a:t>Source: DBS Vickers, Asia Money</a:t>
            </a:r>
          </a:p>
        </p:txBody>
      </p:sp>
      <p:sp>
        <p:nvSpPr>
          <p:cNvPr id="332" name="Rectangle 15">
            <a:extLst>
              <a:ext uri="{FF2B5EF4-FFF2-40B4-BE49-F238E27FC236}">
                <a16:creationId xmlns:a16="http://schemas.microsoft.com/office/drawing/2014/main" id="{FE7F2172-2F66-07B3-8149-DC531335D345}"/>
              </a:ext>
            </a:extLst>
          </p:cNvPr>
          <p:cNvSpPr>
            <a:spLocks noChangeArrowheads="1"/>
          </p:cNvSpPr>
          <p:nvPr/>
        </p:nvSpPr>
        <p:spPr bwMode="gray">
          <a:xfrm>
            <a:off x="3975798" y="3415687"/>
            <a:ext cx="5244401" cy="216606"/>
          </a:xfrm>
          <a:prstGeom prst="rect">
            <a:avLst/>
          </a:prstGeom>
          <a:gradFill>
            <a:gsLst>
              <a:gs pos="0">
                <a:srgbClr val="760000"/>
              </a:gs>
              <a:gs pos="45000">
                <a:srgbClr val="AB0000"/>
              </a:gs>
              <a:gs pos="100000">
                <a:srgbClr val="CC0000"/>
              </a:gs>
            </a:gsLst>
          </a:gradFill>
          <a:ln>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altLang="zh-TW" sz="900" b="1" i="0" u="none" strike="noStrike" kern="1200" cap="none" spc="0" normalizeH="0" baseline="0" noProof="0">
                <a:ln>
                  <a:noFill/>
                </a:ln>
                <a:solidFill>
                  <a:srgbClr val="FFFFFF"/>
                </a:solidFill>
                <a:effectLst/>
                <a:uLnTx/>
                <a:uFillTx/>
                <a:latin typeface="+mj-lt"/>
                <a:ea typeface="微軟正黑體" panose="020B0604030504040204" pitchFamily="34" charset="-120"/>
                <a:cs typeface="+mn-cs"/>
              </a:rPr>
              <a:t>Latest Awards: China/Hong Kong</a:t>
            </a:r>
          </a:p>
        </p:txBody>
      </p:sp>
      <p:sp>
        <p:nvSpPr>
          <p:cNvPr id="333" name="Rectangle 15">
            <a:extLst>
              <a:ext uri="{FF2B5EF4-FFF2-40B4-BE49-F238E27FC236}">
                <a16:creationId xmlns:a16="http://schemas.microsoft.com/office/drawing/2014/main" id="{ED346480-8003-18AF-AB42-BFC5B370637A}"/>
              </a:ext>
            </a:extLst>
          </p:cNvPr>
          <p:cNvSpPr>
            <a:spLocks noChangeArrowheads="1"/>
          </p:cNvSpPr>
          <p:nvPr/>
        </p:nvSpPr>
        <p:spPr bwMode="gray">
          <a:xfrm>
            <a:off x="3955906" y="1687628"/>
            <a:ext cx="5264294" cy="216606"/>
          </a:xfrm>
          <a:prstGeom prst="rect">
            <a:avLst/>
          </a:prstGeom>
          <a:gradFill>
            <a:gsLst>
              <a:gs pos="0">
                <a:srgbClr val="760000"/>
              </a:gs>
              <a:gs pos="45000">
                <a:srgbClr val="AB0000"/>
              </a:gs>
              <a:gs pos="100000">
                <a:srgbClr val="CC0000"/>
              </a:gs>
            </a:gsLst>
          </a:gradFill>
          <a:ln>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altLang="zh-TW" sz="900">
                <a:solidFill>
                  <a:srgbClr val="FFFFFF"/>
                </a:solidFill>
                <a:latin typeface="+mj-lt"/>
                <a:ea typeface="微軟正黑體" panose="020B0604030504040204" pitchFamily="34" charset="-120"/>
              </a:rPr>
              <a:t>Latest </a:t>
            </a:r>
            <a:r>
              <a:rPr kumimoji="0" lang="en-US" altLang="zh-TW" sz="900" b="1" i="0" u="none" strike="noStrike" kern="1200" cap="none" spc="0" normalizeH="0" baseline="0" noProof="0">
                <a:ln>
                  <a:noFill/>
                </a:ln>
                <a:solidFill>
                  <a:srgbClr val="FFFFFF"/>
                </a:solidFill>
                <a:effectLst/>
                <a:uLnTx/>
                <a:uFillTx/>
                <a:latin typeface="+mj-lt"/>
                <a:ea typeface="微軟正黑體" panose="020B0604030504040204" pitchFamily="34" charset="-120"/>
                <a:cs typeface="+mn-cs"/>
              </a:rPr>
              <a:t>Awards: Singapore</a:t>
            </a:r>
          </a:p>
        </p:txBody>
      </p:sp>
      <p:sp>
        <p:nvSpPr>
          <p:cNvPr id="365" name="Rectangle 364">
            <a:extLst>
              <a:ext uri="{FF2B5EF4-FFF2-40B4-BE49-F238E27FC236}">
                <a16:creationId xmlns:a16="http://schemas.microsoft.com/office/drawing/2014/main" id="{D0BE8C85-A6AF-94A0-D7F8-D40C5FF28361}"/>
              </a:ext>
            </a:extLst>
          </p:cNvPr>
          <p:cNvSpPr/>
          <p:nvPr/>
        </p:nvSpPr>
        <p:spPr>
          <a:xfrm>
            <a:off x="3950889" y="1905978"/>
            <a:ext cx="5269309" cy="1656607"/>
          </a:xfrm>
          <a:prstGeom prst="rect">
            <a:avLst/>
          </a:prstGeom>
        </p:spPr>
        <p:txBody>
          <a:bodyPr wrap="square">
            <a:spAutoFit/>
          </a:bodyPr>
          <a:lstStyle/>
          <a:p>
            <a:pPr marL="174625" indent="-174625" eaLnBrk="0" fontAlgn="auto"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#1 Local Brokerage (2023)</a:t>
            </a:r>
          </a:p>
          <a:p>
            <a:pPr marL="174625" indent="-174625" eaLnBrk="0" fontAlgn="auto" hangingPunct="0">
              <a:lnSpc>
                <a:spcPct val="95000"/>
              </a:lnSpc>
              <a:buClr>
                <a:srgbClr val="BE050A"/>
              </a:buClr>
              <a:buFont typeface="Wingdings 2" panose="05020102010507070707" pitchFamily="18" charset="2"/>
              <a:buChar char="¡"/>
              <a:defRPr/>
            </a:pPr>
            <a:r>
              <a:rPr kumimoji="0" lang="en-US" sz="900" b="0" i="0" u="none" strike="noStrike" kern="0" cap="none" spc="0" normalizeH="0" baseline="0" noProof="0">
                <a:ln>
                  <a:noFill/>
                </a:ln>
                <a:solidFill>
                  <a:sysClr val="windowText" lastClr="000000"/>
                </a:solidFill>
                <a:effectLst/>
                <a:uLnTx/>
                <a:uFillTx/>
                <a:latin typeface="+mj-lt"/>
                <a:ea typeface="+mn-ea"/>
                <a:cs typeface="Arial" panose="020B0604020202020204" pitchFamily="34" charset="0"/>
              </a:rPr>
              <a:t>Asia Money: </a:t>
            </a:r>
            <a:r>
              <a:rPr lang="en-US" sz="900" b="0" kern="0">
                <a:solidFill>
                  <a:sysClr val="windowText" lastClr="000000"/>
                </a:solidFill>
                <a:latin typeface="+mj-lt"/>
                <a:cs typeface="Arial" panose="020B0604020202020204" pitchFamily="34" charset="0"/>
              </a:rPr>
              <a:t>#1 Best Corporate Access Team (2023)</a:t>
            </a:r>
          </a:p>
          <a:p>
            <a:pPr marL="174625" indent="-174625" eaLnBrk="0" fontAlgn="auto"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#2 Best Overall Research (2023)</a:t>
            </a:r>
          </a:p>
          <a:p>
            <a:pPr marL="174625" indent="-174625" eaLnBrk="0" fontAlgn="auto"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#3 Best Brokerage for ESG Research (2023)</a:t>
            </a:r>
          </a:p>
          <a:p>
            <a:pPr marL="174625" indent="-174625" eaLnBrk="0" fontAlgn="auto"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#2 Best Sector for Consumer Staples (2023)</a:t>
            </a:r>
          </a:p>
          <a:p>
            <a:pPr marL="174625" indent="-174625" eaLnBrk="0" fontAlgn="auto"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#2 Best Sector for Financials (Non-banking) (2023)</a:t>
            </a:r>
          </a:p>
          <a:p>
            <a:pPr marL="174625" indent="-174625" eaLnBrk="0" fontAlgn="auto"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#2 Best Sector for Healthcare (2023)</a:t>
            </a:r>
          </a:p>
          <a:p>
            <a:pPr marL="174625" indent="-174625" eaLnBrk="0" fontAlgn="auto"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#3 Best Sector for Energy (2023)</a:t>
            </a:r>
          </a:p>
          <a:p>
            <a:pPr marL="174625" indent="-174625" eaLnBrk="0" fontAlgn="auto"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#3 Best Sector for Utilies (2023)</a:t>
            </a:r>
          </a:p>
          <a:p>
            <a:pPr marL="174625" indent="-174625" eaLnBrk="0" fontAlgn="auto"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#3 Best Sector for Small/Mid Caps (2023)</a:t>
            </a:r>
          </a:p>
          <a:p>
            <a:pPr marL="174625" indent="-174625" eaLnBrk="0" fontAlgn="auto"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#3 Best Sector for Software &amp; Internet Services(2023)</a:t>
            </a:r>
          </a:p>
          <a:p>
            <a:pPr marL="171450" indent="-171450" eaLnBrk="0" fontAlgn="auto" hangingPunct="0">
              <a:lnSpc>
                <a:spcPct val="95000"/>
              </a:lnSpc>
              <a:buClr>
                <a:srgbClr val="BE050A"/>
              </a:buClr>
              <a:buFont typeface="Wingdings 2" panose="05020102010507070707" pitchFamily="18" charset="2"/>
              <a:buChar char="¡"/>
              <a:defRPr/>
            </a:pPr>
            <a:endParaRPr lang="en-US" sz="800" b="0" kern="0">
              <a:solidFill>
                <a:sysClr val="windowText" lastClr="000000"/>
              </a:solidFill>
              <a:latin typeface="+mj-lt"/>
              <a:cs typeface="Arial" panose="020B0604020202020204" pitchFamily="34" charset="0"/>
            </a:endParaRPr>
          </a:p>
        </p:txBody>
      </p:sp>
      <p:sp>
        <p:nvSpPr>
          <p:cNvPr id="367" name="Rectangle 366">
            <a:extLst>
              <a:ext uri="{FF2B5EF4-FFF2-40B4-BE49-F238E27FC236}">
                <a16:creationId xmlns:a16="http://schemas.microsoft.com/office/drawing/2014/main" id="{88A2CA12-69A4-5C18-D4DB-DF6D5F0B9925}"/>
              </a:ext>
            </a:extLst>
          </p:cNvPr>
          <p:cNvSpPr/>
          <p:nvPr/>
        </p:nvSpPr>
        <p:spPr>
          <a:xfrm>
            <a:off x="3949002" y="3617853"/>
            <a:ext cx="5219228" cy="618631"/>
          </a:xfrm>
          <a:prstGeom prst="rect">
            <a:avLst/>
          </a:prstGeom>
        </p:spPr>
        <p:txBody>
          <a:bodyPr wrap="square">
            <a:spAutoFit/>
          </a:bodyPr>
          <a:lstStyle/>
          <a:p>
            <a:pPr marL="174625" marR="0" lvl="0" indent="-174625" algn="l" defTabSz="914400" rtl="0" eaLnBrk="0" fontAlgn="base" latinLnBrk="0" hangingPunct="0">
              <a:lnSpc>
                <a:spcPct val="95000"/>
              </a:lnSpc>
              <a:spcBef>
                <a:spcPct val="0"/>
              </a:spcBef>
              <a:spcAft>
                <a:spcPct val="0"/>
              </a:spcAft>
              <a:buClr>
                <a:srgbClr val="BE050A"/>
              </a:buClr>
              <a:buSzTx/>
              <a:buFont typeface="Wingdings 2" panose="05020102010507070707" pitchFamily="18" charset="2"/>
              <a:buChar char="¡"/>
              <a:tabLst/>
              <a:defRPr/>
            </a:pPr>
            <a:r>
              <a:rPr kumimoji="0" lang="en-US" sz="900" b="0" i="0" u="none" strike="noStrike" kern="0" cap="none" spc="0" normalizeH="0" baseline="0" noProof="0">
                <a:ln>
                  <a:noFill/>
                </a:ln>
                <a:solidFill>
                  <a:sysClr val="windowText" lastClr="000000"/>
                </a:solidFill>
                <a:effectLst/>
                <a:uLnTx/>
                <a:uFillTx/>
                <a:latin typeface="+mj-lt"/>
                <a:ea typeface="+mn-ea"/>
                <a:cs typeface="Arial" panose="020B0604020202020204" pitchFamily="34" charset="0"/>
              </a:rPr>
              <a:t>Asia Money</a:t>
            </a:r>
            <a:r>
              <a:rPr kumimoji="0" lang="en-US" altLang="zh-TW" sz="900" b="0" i="0" u="none" strike="noStrike" kern="0" cap="none" spc="0" normalizeH="0" baseline="0" noProof="0">
                <a:ln>
                  <a:noFill/>
                </a:ln>
                <a:solidFill>
                  <a:sysClr val="windowText" lastClr="000000"/>
                </a:solidFill>
                <a:effectLst/>
                <a:uLnTx/>
                <a:uFillTx/>
                <a:latin typeface="+mj-lt"/>
                <a:ea typeface="微軟正黑體" panose="020B0604030504040204" pitchFamily="34" charset="-120"/>
                <a:cs typeface="Arial" panose="020B0604020202020204" pitchFamily="34" charset="0"/>
              </a:rPr>
              <a:t>: </a:t>
            </a:r>
            <a:r>
              <a:rPr lang="en-US" sz="900" b="0" kern="0">
                <a:solidFill>
                  <a:sysClr val="windowText" lastClr="000000"/>
                </a:solidFill>
                <a:latin typeface="+mj-lt"/>
                <a:cs typeface="Arial" panose="020B0604020202020204" pitchFamily="34" charset="0"/>
              </a:rPr>
              <a:t>#3 Best Sector Team for Software &amp; Internet Services – Hong Kong (2023)</a:t>
            </a:r>
          </a:p>
          <a:p>
            <a:pPr marL="174625" indent="-174625" eaLnBrk="0"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#3 Best Sector Team for Transportation &amp; Logistics – Hong Kong (2023)</a:t>
            </a:r>
            <a:endParaRPr lang="en-US" sz="900" b="0">
              <a:latin typeface="+mj-lt"/>
            </a:endParaRPr>
          </a:p>
          <a:p>
            <a:pPr marL="174625" indent="-174625" eaLnBrk="0"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#3 Best Sector Team for Environmental Protection – China (2023)</a:t>
            </a:r>
          </a:p>
          <a:p>
            <a:pPr marL="174625" indent="-174625" eaLnBrk="0" hangingPunct="0">
              <a:lnSpc>
                <a:spcPct val="95000"/>
              </a:lnSpc>
              <a:buClr>
                <a:srgbClr val="BE050A"/>
              </a:buClr>
              <a:buFont typeface="Wingdings 2" panose="05020102010507070707" pitchFamily="18" charset="2"/>
              <a:buChar char="¡"/>
              <a:defRPr/>
            </a:pPr>
            <a:r>
              <a:rPr lang="en-US" sz="900" b="0" kern="0">
                <a:solidFill>
                  <a:sysClr val="windowText" lastClr="000000"/>
                </a:solidFill>
                <a:latin typeface="+mj-lt"/>
                <a:cs typeface="Arial" panose="020B0604020202020204" pitchFamily="34" charset="0"/>
              </a:rPr>
              <a:t>Asia Money: #3 Best Sector Team for Software &amp; Internet Services – China (2023)</a:t>
            </a:r>
            <a:endParaRPr lang="en-US" altLang="zh-TW" sz="900" b="0" kern="0">
              <a:solidFill>
                <a:sysClr val="windowText" lastClr="000000"/>
              </a:solidFill>
              <a:latin typeface="+mj-lt"/>
              <a:cs typeface="Arial" panose="020B0604020202020204" pitchFamily="34" charset="0"/>
            </a:endParaRPr>
          </a:p>
        </p:txBody>
      </p:sp>
      <p:sp>
        <p:nvSpPr>
          <p:cNvPr id="3" name="Slide Number Placeholder 2">
            <a:extLst>
              <a:ext uri="{FF2B5EF4-FFF2-40B4-BE49-F238E27FC236}">
                <a16:creationId xmlns:a16="http://schemas.microsoft.com/office/drawing/2014/main" id="{34909BEE-3759-7BC4-C86D-A092D66023ED}"/>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21</a:t>
            </a:fld>
            <a:endParaRPr lang="en-US" altLang="en-US" b="0">
              <a:solidFill>
                <a:srgbClr val="000000"/>
              </a:solidFill>
            </a:endParaRPr>
          </a:p>
        </p:txBody>
      </p:sp>
    </p:spTree>
    <p:extLst>
      <p:ext uri="{BB962C8B-B14F-4D97-AF65-F5344CB8AC3E}">
        <p14:creationId xmlns:p14="http://schemas.microsoft.com/office/powerpoint/2010/main" val="2197591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1A43C-9234-D7CA-E286-1A0A3F437485}"/>
              </a:ext>
            </a:extLst>
          </p:cNvPr>
          <p:cNvSpPr>
            <a:spLocks noGrp="1"/>
          </p:cNvSpPr>
          <p:nvPr>
            <p:ph type="title"/>
          </p:nvPr>
        </p:nvSpPr>
        <p:spPr/>
        <p:txBody>
          <a:bodyPr/>
          <a:lstStyle/>
          <a:p>
            <a:r>
              <a:rPr lang="en-US" sz="2000" b="1" dirty="0"/>
              <a:t>Breadth of DBS Research Report Distribution</a:t>
            </a:r>
          </a:p>
        </p:txBody>
      </p:sp>
      <p:pic>
        <p:nvPicPr>
          <p:cNvPr id="3" name="Picture 44">
            <a:extLst>
              <a:ext uri="{FF2B5EF4-FFF2-40B4-BE49-F238E27FC236}">
                <a16:creationId xmlns:a16="http://schemas.microsoft.com/office/drawing/2014/main" id="{6387022A-2A70-3CAD-A591-A3577F4C51EF}"/>
              </a:ext>
            </a:extLst>
          </p:cNvPr>
          <p:cNvPicPr>
            <a:picLocks noChangeAspect="1" noChangeArrowheads="1"/>
          </p:cNvPicPr>
          <p:nvPr/>
        </p:nvPicPr>
        <p:blipFill>
          <a:blip r:embed="rId3" cstate="print">
            <a:lum bright="10000"/>
            <a:extLst>
              <a:ext uri="{28A0092B-C50C-407E-A947-70E740481C1C}">
                <a14:useLocalDpi xmlns:a14="http://schemas.microsoft.com/office/drawing/2010/main" val="0"/>
              </a:ext>
            </a:extLst>
          </a:blip>
          <a:srcRect/>
          <a:stretch>
            <a:fillRect/>
          </a:stretch>
        </p:blipFill>
        <p:spPr bwMode="gray">
          <a:xfrm>
            <a:off x="1638299" y="2714625"/>
            <a:ext cx="6753226" cy="3438194"/>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5">
            <a:extLst>
              <a:ext uri="{FF2B5EF4-FFF2-40B4-BE49-F238E27FC236}">
                <a16:creationId xmlns:a16="http://schemas.microsoft.com/office/drawing/2014/main" id="{5A127578-66E5-6CC9-41BF-019AAAED793A}"/>
              </a:ext>
            </a:extLst>
          </p:cNvPr>
          <p:cNvSpPr/>
          <p:nvPr/>
        </p:nvSpPr>
        <p:spPr>
          <a:xfrm>
            <a:off x="6246496" y="3527564"/>
            <a:ext cx="1294893" cy="2138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defRPr/>
            </a:pPr>
            <a:r>
              <a:rPr lang="en-US" sz="1000" b="0">
                <a:solidFill>
                  <a:srgbClr val="E59B9D">
                    <a:lumMod val="50000"/>
                  </a:srgbClr>
                </a:solidFill>
                <a:latin typeface="Arial" panose="020B0604020202020204" pitchFamily="34" charset="0"/>
                <a:ea typeface="DFKai-SB" pitchFamily="65" charset="-120"/>
              </a:rPr>
              <a:t>United States</a:t>
            </a:r>
          </a:p>
          <a:p>
            <a:pPr fontAlgn="auto">
              <a:spcBef>
                <a:spcPts val="0"/>
              </a:spcBef>
              <a:spcAft>
                <a:spcPts val="0"/>
              </a:spcAft>
              <a:defRPr/>
            </a:pPr>
            <a:r>
              <a:rPr lang="en-US" sz="1000" b="0">
                <a:solidFill>
                  <a:srgbClr val="000000"/>
                </a:solidFill>
                <a:latin typeface="Arial" panose="020B0604020202020204" pitchFamily="34" charset="0"/>
                <a:ea typeface="DFKai-SB" pitchFamily="65" charset="-120"/>
              </a:rPr>
              <a:t>≈ 150 Institutions</a:t>
            </a:r>
          </a:p>
        </p:txBody>
      </p:sp>
      <p:sp>
        <p:nvSpPr>
          <p:cNvPr id="7" name="Rectangle 6">
            <a:extLst>
              <a:ext uri="{FF2B5EF4-FFF2-40B4-BE49-F238E27FC236}">
                <a16:creationId xmlns:a16="http://schemas.microsoft.com/office/drawing/2014/main" id="{59323845-44E7-B52F-7B18-31688D6CC532}"/>
              </a:ext>
            </a:extLst>
          </p:cNvPr>
          <p:cNvSpPr/>
          <p:nvPr/>
        </p:nvSpPr>
        <p:spPr>
          <a:xfrm>
            <a:off x="4038601" y="4455299"/>
            <a:ext cx="1294893" cy="2138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defRPr/>
            </a:pPr>
            <a:r>
              <a:rPr lang="en-US" sz="1000" b="0">
                <a:solidFill>
                  <a:srgbClr val="E59B9D">
                    <a:lumMod val="50000"/>
                  </a:srgbClr>
                </a:solidFill>
                <a:latin typeface="Arial" panose="020B0604020202020204" pitchFamily="34" charset="0"/>
                <a:ea typeface="DFKai-SB" pitchFamily="65" charset="-120"/>
              </a:rPr>
              <a:t>* Hong Kong</a:t>
            </a:r>
          </a:p>
          <a:p>
            <a:pPr fontAlgn="auto">
              <a:spcBef>
                <a:spcPts val="0"/>
              </a:spcBef>
              <a:spcAft>
                <a:spcPts val="0"/>
              </a:spcAft>
              <a:defRPr/>
            </a:pPr>
            <a:r>
              <a:rPr lang="en-US" sz="1000" b="0">
                <a:solidFill>
                  <a:srgbClr val="000000"/>
                </a:solidFill>
                <a:latin typeface="Arial" panose="020B0604020202020204" pitchFamily="34" charset="0"/>
                <a:ea typeface="DFKai-SB" pitchFamily="65" charset="-120"/>
              </a:rPr>
              <a:t>≈300 Institutions</a:t>
            </a:r>
          </a:p>
        </p:txBody>
      </p:sp>
      <p:sp>
        <p:nvSpPr>
          <p:cNvPr id="8" name="Rectangle 7">
            <a:extLst>
              <a:ext uri="{FF2B5EF4-FFF2-40B4-BE49-F238E27FC236}">
                <a16:creationId xmlns:a16="http://schemas.microsoft.com/office/drawing/2014/main" id="{83D05695-F99D-54FB-7FCA-38291A6231E4}"/>
              </a:ext>
            </a:extLst>
          </p:cNvPr>
          <p:cNvSpPr/>
          <p:nvPr/>
        </p:nvSpPr>
        <p:spPr>
          <a:xfrm>
            <a:off x="3824606" y="4775339"/>
            <a:ext cx="1294893" cy="2138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defRPr/>
            </a:pPr>
            <a:r>
              <a:rPr lang="en-US" sz="1000" b="0">
                <a:solidFill>
                  <a:srgbClr val="E59B9D">
                    <a:lumMod val="50000"/>
                  </a:srgbClr>
                </a:solidFill>
                <a:latin typeface="Arial" panose="020B0604020202020204" pitchFamily="34" charset="0"/>
                <a:ea typeface="DFKai-SB" pitchFamily="65" charset="-120"/>
              </a:rPr>
              <a:t>*Singapore </a:t>
            </a:r>
          </a:p>
          <a:p>
            <a:pPr fontAlgn="auto">
              <a:spcBef>
                <a:spcPts val="0"/>
              </a:spcBef>
              <a:spcAft>
                <a:spcPts val="0"/>
              </a:spcAft>
              <a:defRPr/>
            </a:pPr>
            <a:r>
              <a:rPr lang="en-US" sz="1000" b="0">
                <a:solidFill>
                  <a:srgbClr val="000000"/>
                </a:solidFill>
                <a:latin typeface="Arial" panose="020B0604020202020204" pitchFamily="34" charset="0"/>
                <a:ea typeface="DFKai-SB" pitchFamily="65" charset="-120"/>
              </a:rPr>
              <a:t>≈100 Institutions</a:t>
            </a:r>
          </a:p>
        </p:txBody>
      </p:sp>
      <p:sp>
        <p:nvSpPr>
          <p:cNvPr id="9" name="Rectangle 8">
            <a:extLst>
              <a:ext uri="{FF2B5EF4-FFF2-40B4-BE49-F238E27FC236}">
                <a16:creationId xmlns:a16="http://schemas.microsoft.com/office/drawing/2014/main" id="{1258E6D4-441E-9BC4-C6D0-1FF1AB38CCB6}"/>
              </a:ext>
            </a:extLst>
          </p:cNvPr>
          <p:cNvSpPr/>
          <p:nvPr/>
        </p:nvSpPr>
        <p:spPr>
          <a:xfrm>
            <a:off x="2794636" y="4432439"/>
            <a:ext cx="1294893" cy="2138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fontAlgn="auto">
              <a:spcBef>
                <a:spcPts val="0"/>
              </a:spcBef>
              <a:spcAft>
                <a:spcPts val="0"/>
              </a:spcAft>
              <a:defRPr/>
            </a:pPr>
            <a:r>
              <a:rPr lang="en-US" sz="1000" b="0">
                <a:solidFill>
                  <a:srgbClr val="E59B9D">
                    <a:lumMod val="50000"/>
                  </a:srgbClr>
                </a:solidFill>
                <a:latin typeface="Arial" panose="020B0604020202020204" pitchFamily="34" charset="0"/>
                <a:ea typeface="DFKai-SB" pitchFamily="65" charset="-120"/>
              </a:rPr>
              <a:t>Other Parts of Asia</a:t>
            </a:r>
          </a:p>
          <a:p>
            <a:pPr algn="r" fontAlgn="auto">
              <a:spcBef>
                <a:spcPts val="0"/>
              </a:spcBef>
              <a:spcAft>
                <a:spcPts val="0"/>
              </a:spcAft>
              <a:defRPr/>
            </a:pPr>
            <a:r>
              <a:rPr lang="en-US" sz="1000" b="0">
                <a:solidFill>
                  <a:srgbClr val="000000"/>
                </a:solidFill>
                <a:latin typeface="Arial" panose="020B0604020202020204" pitchFamily="34" charset="0"/>
                <a:ea typeface="DFKai-SB" pitchFamily="65" charset="-120"/>
              </a:rPr>
              <a:t>≈100 Institutions</a:t>
            </a:r>
          </a:p>
        </p:txBody>
      </p:sp>
      <p:sp>
        <p:nvSpPr>
          <p:cNvPr id="10" name="Rectangle 9">
            <a:extLst>
              <a:ext uri="{FF2B5EF4-FFF2-40B4-BE49-F238E27FC236}">
                <a16:creationId xmlns:a16="http://schemas.microsoft.com/office/drawing/2014/main" id="{E9770D49-8687-B055-DB0D-616588AB18A5}"/>
              </a:ext>
            </a:extLst>
          </p:cNvPr>
          <p:cNvSpPr/>
          <p:nvPr/>
        </p:nvSpPr>
        <p:spPr>
          <a:xfrm>
            <a:off x="1605916" y="3815219"/>
            <a:ext cx="1294893" cy="2138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fontAlgn="auto">
              <a:spcBef>
                <a:spcPts val="0"/>
              </a:spcBef>
              <a:spcAft>
                <a:spcPts val="0"/>
              </a:spcAft>
              <a:defRPr/>
            </a:pPr>
            <a:r>
              <a:rPr lang="en-US" sz="1000" b="0">
                <a:solidFill>
                  <a:srgbClr val="E59B9D">
                    <a:lumMod val="50000"/>
                  </a:srgbClr>
                </a:solidFill>
                <a:latin typeface="Arial" panose="020B0604020202020204" pitchFamily="34" charset="0"/>
                <a:ea typeface="DFKai-SB" pitchFamily="65" charset="-120"/>
              </a:rPr>
              <a:t>* UK and the EU</a:t>
            </a:r>
          </a:p>
          <a:p>
            <a:pPr algn="r" fontAlgn="auto">
              <a:spcBef>
                <a:spcPts val="0"/>
              </a:spcBef>
              <a:spcAft>
                <a:spcPts val="0"/>
              </a:spcAft>
              <a:defRPr/>
            </a:pPr>
            <a:r>
              <a:rPr lang="en-US" sz="1000" b="0">
                <a:solidFill>
                  <a:srgbClr val="000000"/>
                </a:solidFill>
                <a:latin typeface="Arial" panose="020B0604020202020204" pitchFamily="34" charset="0"/>
                <a:ea typeface="DFKai-SB" pitchFamily="65" charset="-120"/>
              </a:rPr>
              <a:t>≈100 Institutions</a:t>
            </a:r>
          </a:p>
        </p:txBody>
      </p:sp>
      <p:sp>
        <p:nvSpPr>
          <p:cNvPr id="11" name="Rectangle 10">
            <a:extLst>
              <a:ext uri="{FF2B5EF4-FFF2-40B4-BE49-F238E27FC236}">
                <a16:creationId xmlns:a16="http://schemas.microsoft.com/office/drawing/2014/main" id="{D957814D-47C0-2EFD-FF65-F51195AA8B92}"/>
              </a:ext>
            </a:extLst>
          </p:cNvPr>
          <p:cNvSpPr/>
          <p:nvPr/>
        </p:nvSpPr>
        <p:spPr>
          <a:xfrm>
            <a:off x="2783394" y="2872510"/>
            <a:ext cx="4277248" cy="3948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defRPr/>
            </a:pPr>
            <a:r>
              <a:rPr lang="en-US" sz="1400" dirty="0">
                <a:solidFill>
                  <a:srgbClr val="C00000"/>
                </a:solidFill>
                <a:latin typeface="Arial" panose="020B0604020202020204" pitchFamily="34" charset="0"/>
                <a:ea typeface="DFKai-SB" pitchFamily="65" charset="-120"/>
              </a:rPr>
              <a:t>Active Hong Kong ECM Deal-players Receiving DBS’ HK Transaction-specific Reports</a:t>
            </a:r>
          </a:p>
        </p:txBody>
      </p:sp>
      <p:sp>
        <p:nvSpPr>
          <p:cNvPr id="14" name="Text Box 2589">
            <a:extLst>
              <a:ext uri="{FF2B5EF4-FFF2-40B4-BE49-F238E27FC236}">
                <a16:creationId xmlns:a16="http://schemas.microsoft.com/office/drawing/2014/main" id="{638C39FD-3859-B4CF-11A8-C052351457E6}"/>
              </a:ext>
            </a:extLst>
          </p:cNvPr>
          <p:cNvSpPr txBox="1">
            <a:spLocks noChangeArrowheads="1"/>
          </p:cNvSpPr>
          <p:nvPr/>
        </p:nvSpPr>
        <p:spPr bwMode="gray">
          <a:xfrm>
            <a:off x="723899" y="1093320"/>
            <a:ext cx="8494776" cy="1369606"/>
          </a:xfrm>
          <a:prstGeom prst="rect">
            <a:avLst/>
          </a:prstGeom>
          <a:solidFill>
            <a:srgbClr val="FEBFB3"/>
          </a:solidFill>
          <a:ln w="9525" cap="flat" cmpd="sng" algn="ctr">
            <a:noFill/>
            <a:prstDash val="solid"/>
            <a:headEnd/>
            <a:tailEnd/>
          </a:ln>
          <a:effectLst>
            <a:outerShdw blurRad="40000" dist="23000" dir="5400000" rotWithShape="0">
              <a:srgbClr val="000000">
                <a:alpha val="35000"/>
              </a:srgbClr>
            </a:outerShdw>
          </a:effectLst>
        </p:spPr>
        <p:txBody>
          <a:bodyPr wrap="square" tIns="91440" bIns="91440">
            <a:spAutoFit/>
          </a:bodyPr>
          <a:lstStyle>
            <a:defPPr>
              <a:defRPr lang="en-US"/>
            </a:defPPr>
            <a:lvl1pPr marL="209556" indent="-209556" fontAlgn="auto">
              <a:spcBef>
                <a:spcPts val="0"/>
              </a:spcBef>
              <a:spcAft>
                <a:spcPts val="0"/>
              </a:spcAft>
              <a:buClr>
                <a:srgbClr val="BE050A"/>
              </a:buClr>
              <a:buFont typeface="Wingdings 2" panose="05020102010507070707" pitchFamily="18" charset="2"/>
              <a:buChar char="¡"/>
              <a:tabLst>
                <a:tab pos="1266124" algn="l"/>
              </a:tabLst>
              <a:defRPr sz="1100" b="0" kern="0">
                <a:solidFill>
                  <a:sysClr val="windowText" lastClr="000000"/>
                </a:solidFill>
                <a:latin typeface="Arial" panose="020B0604020202020204" pitchFamily="34" charset="0"/>
                <a:ea typeface="DFKaiShu-GB5"/>
              </a:defRPr>
            </a:lvl1pPr>
          </a:lstStyle>
          <a:p>
            <a:r>
              <a:rPr lang="en-US" altLang="zh-CN" dirty="0"/>
              <a:t>DBS Vickers Research is amongst the most reputable in the market, together with our global sales force, we have an extensive reach to institutional investors in all major markets, distributing </a:t>
            </a:r>
            <a:r>
              <a:rPr lang="en-US" altLang="zh-CN" b="1" dirty="0">
                <a:solidFill>
                  <a:schemeClr val="accent1"/>
                </a:solidFill>
              </a:rPr>
              <a:t>on-going reports to over 2,000 accounts </a:t>
            </a:r>
            <a:r>
              <a:rPr lang="en-US" altLang="zh-CN" dirty="0"/>
              <a:t>worldwide on a daily basis </a:t>
            </a:r>
          </a:p>
          <a:p>
            <a:r>
              <a:rPr lang="en-US" altLang="zh-CN" dirty="0"/>
              <a:t>For transaction specific report for a large Hong Kong issuance, DBS Vickers distributes research reports to approximately </a:t>
            </a:r>
            <a:r>
              <a:rPr lang="en-US" altLang="zh-CN" b="1" dirty="0">
                <a:solidFill>
                  <a:schemeClr val="accent1"/>
                </a:solidFill>
              </a:rPr>
              <a:t>750 institutional investors that are active Hong Kong deal-players</a:t>
            </a:r>
          </a:p>
          <a:p>
            <a:r>
              <a:rPr lang="en-US" altLang="zh-CN" dirty="0"/>
              <a:t>On top of which, we also leverage on DBS’ well-established Corporate and Private Banking franchise, distributing reports to a </a:t>
            </a:r>
            <a:r>
              <a:rPr lang="en-US" altLang="zh-CN" b="1" dirty="0">
                <a:solidFill>
                  <a:schemeClr val="accent1"/>
                </a:solidFill>
              </a:rPr>
              <a:t>wide spectrum of potential corporate and high net worth investors</a:t>
            </a:r>
            <a:r>
              <a:rPr lang="en-US" altLang="zh-CN" dirty="0"/>
              <a:t> for specific transactions </a:t>
            </a:r>
          </a:p>
        </p:txBody>
      </p:sp>
      <p:sp>
        <p:nvSpPr>
          <p:cNvPr id="4" name="Slide Number Placeholder 3">
            <a:extLst>
              <a:ext uri="{FF2B5EF4-FFF2-40B4-BE49-F238E27FC236}">
                <a16:creationId xmlns:a16="http://schemas.microsoft.com/office/drawing/2014/main" id="{E6BFEB0A-1325-9AAA-C690-2931A3C2160B}"/>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22</a:t>
            </a:fld>
            <a:endParaRPr lang="en-US" altLang="en-US" b="0">
              <a:solidFill>
                <a:srgbClr val="000000"/>
              </a:solidFill>
            </a:endParaRPr>
          </a:p>
        </p:txBody>
      </p:sp>
    </p:spTree>
    <p:extLst>
      <p:ext uri="{BB962C8B-B14F-4D97-AF65-F5344CB8AC3E}">
        <p14:creationId xmlns:p14="http://schemas.microsoft.com/office/powerpoint/2010/main" val="3734088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8C585-97F9-4087-F75C-B93840E92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084D4-967E-3EE5-C0FE-E722A8ABA6AF}"/>
              </a:ext>
            </a:extLst>
          </p:cNvPr>
          <p:cNvSpPr>
            <a:spLocks noGrp="1"/>
          </p:cNvSpPr>
          <p:nvPr>
            <p:ph type="title"/>
          </p:nvPr>
        </p:nvSpPr>
        <p:spPr/>
        <p:txBody>
          <a:bodyPr/>
          <a:lstStyle/>
          <a:p>
            <a:r>
              <a:rPr lang="en-US" altLang="zh-CN" sz="2000" dirty="0">
                <a:latin typeface="+mn-lt"/>
                <a:ea typeface="+mn-ea"/>
              </a:rPr>
              <a:t>DBS</a:t>
            </a:r>
            <a:r>
              <a:rPr lang="zh-CN" altLang="en-US" sz="2000" dirty="0">
                <a:latin typeface="+mn-lt"/>
                <a:ea typeface="+mn-ea"/>
              </a:rPr>
              <a:t> </a:t>
            </a:r>
            <a:r>
              <a:rPr lang="en-US" altLang="zh-CN" sz="2000" dirty="0">
                <a:latin typeface="+mn-lt"/>
                <a:ea typeface="+mn-ea"/>
              </a:rPr>
              <a:t>Analyst</a:t>
            </a:r>
            <a:r>
              <a:rPr lang="zh-CN" altLang="en-US" sz="2000" dirty="0">
                <a:latin typeface="+mn-lt"/>
                <a:ea typeface="+mn-ea"/>
              </a:rPr>
              <a:t> </a:t>
            </a:r>
            <a:r>
              <a:rPr lang="en-US" altLang="zh-CN" sz="2000" dirty="0">
                <a:latin typeface="+mn-lt"/>
                <a:ea typeface="+mn-ea"/>
              </a:rPr>
              <a:t>Focusing</a:t>
            </a:r>
            <a:r>
              <a:rPr lang="zh-CN" altLang="en-US" sz="2000" dirty="0">
                <a:latin typeface="+mn-lt"/>
                <a:ea typeface="+mn-ea"/>
              </a:rPr>
              <a:t> </a:t>
            </a:r>
            <a:r>
              <a:rPr lang="en-US" altLang="zh-CN" sz="2000" dirty="0">
                <a:latin typeface="+mn-lt"/>
                <a:ea typeface="+mn-ea"/>
              </a:rPr>
              <a:t>on</a:t>
            </a:r>
            <a:r>
              <a:rPr lang="zh-CN" altLang="en-US" sz="2000" dirty="0">
                <a:latin typeface="+mn-lt"/>
                <a:ea typeface="+mn-ea"/>
              </a:rPr>
              <a:t> </a:t>
            </a:r>
            <a:r>
              <a:rPr lang="en-US" altLang="zh-CN" sz="2000" dirty="0">
                <a:latin typeface="+mn-lt"/>
                <a:ea typeface="+mn-ea"/>
              </a:rPr>
              <a:t>Healthcare Sector</a:t>
            </a:r>
            <a:endParaRPr lang="en-US" sz="2000" dirty="0">
              <a:latin typeface="+mn-lt"/>
              <a:ea typeface="+mn-ea"/>
            </a:endParaRPr>
          </a:p>
        </p:txBody>
      </p:sp>
      <p:sp>
        <p:nvSpPr>
          <p:cNvPr id="11" name="Slide Number Placeholder 10">
            <a:extLst>
              <a:ext uri="{FF2B5EF4-FFF2-40B4-BE49-F238E27FC236}">
                <a16:creationId xmlns:a16="http://schemas.microsoft.com/office/drawing/2014/main" id="{EC581F99-1DDA-4F60-DF4E-11B9DE782F8A}"/>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23</a:t>
            </a:fld>
            <a:endParaRPr lang="en-US" altLang="en-US" b="0">
              <a:solidFill>
                <a:srgbClr val="000000"/>
              </a:solidFill>
            </a:endParaRPr>
          </a:p>
        </p:txBody>
      </p:sp>
      <p:grpSp>
        <p:nvGrpSpPr>
          <p:cNvPr id="39" name="Group 38">
            <a:extLst>
              <a:ext uri="{FF2B5EF4-FFF2-40B4-BE49-F238E27FC236}">
                <a16:creationId xmlns:a16="http://schemas.microsoft.com/office/drawing/2014/main" id="{868716BA-CA6F-25B6-E75C-79E86C8682B1}"/>
              </a:ext>
            </a:extLst>
          </p:cNvPr>
          <p:cNvGrpSpPr/>
          <p:nvPr/>
        </p:nvGrpSpPr>
        <p:grpSpPr>
          <a:xfrm>
            <a:off x="5397959" y="5242784"/>
            <a:ext cx="3517442" cy="971505"/>
            <a:chOff x="6546847" y="5194848"/>
            <a:chExt cx="3881508" cy="1174844"/>
          </a:xfrm>
        </p:grpSpPr>
        <p:pic>
          <p:nvPicPr>
            <p:cNvPr id="42" name="Picture 41" descr="A picture containing design, font, graphics&#10;&#10;Description automatically generated">
              <a:extLst>
                <a:ext uri="{FF2B5EF4-FFF2-40B4-BE49-F238E27FC236}">
                  <a16:creationId xmlns:a16="http://schemas.microsoft.com/office/drawing/2014/main" id="{AA4C546E-ED9F-4A1E-BC74-41436702777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258" t="10412" r="12133" b="18010"/>
            <a:stretch/>
          </p:blipFill>
          <p:spPr>
            <a:xfrm>
              <a:off x="8085039" y="5636356"/>
              <a:ext cx="617870" cy="617604"/>
            </a:xfrm>
            <a:prstGeom prst="rect">
              <a:avLst/>
            </a:prstGeom>
          </p:spPr>
        </p:pic>
        <p:pic>
          <p:nvPicPr>
            <p:cNvPr id="43" name="Picture 42" descr="A black background with green text&#10;&#10;Description automatically generated with low confidence">
              <a:extLst>
                <a:ext uri="{FF2B5EF4-FFF2-40B4-BE49-F238E27FC236}">
                  <a16:creationId xmlns:a16="http://schemas.microsoft.com/office/drawing/2014/main" id="{94CA08C5-AEE6-9AED-B6F7-734E9F4A33E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38680" y="5523449"/>
              <a:ext cx="811207" cy="846243"/>
            </a:xfrm>
            <a:prstGeom prst="rect">
              <a:avLst/>
            </a:prstGeom>
          </p:spPr>
        </p:pic>
        <p:pic>
          <p:nvPicPr>
            <p:cNvPr id="44" name="Picture 43" descr="Sinopharm Group – SupChina">
              <a:extLst>
                <a:ext uri="{FF2B5EF4-FFF2-40B4-BE49-F238E27FC236}">
                  <a16:creationId xmlns:a16="http://schemas.microsoft.com/office/drawing/2014/main" id="{91DF8ACF-6D40-521F-42BB-DAB7BAB31C0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9679" t="9823" r="17226" b="9536"/>
            <a:stretch/>
          </p:blipFill>
          <p:spPr bwMode="auto">
            <a:xfrm>
              <a:off x="9670373" y="5698536"/>
              <a:ext cx="656878" cy="48801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Introduction-华润医疗控股有限公司 CR Medical">
              <a:extLst>
                <a:ext uri="{FF2B5EF4-FFF2-40B4-BE49-F238E27FC236}">
                  <a16:creationId xmlns:a16="http://schemas.microsoft.com/office/drawing/2014/main" id="{79D8AA70-A9E4-BB6F-42BC-D3C3EFE9A48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09911" y="5286926"/>
              <a:ext cx="811205" cy="337731"/>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6" descr="BeiGene - Crunchbase Company Profile &amp;amp; Funding">
              <a:extLst>
                <a:ext uri="{FF2B5EF4-FFF2-40B4-BE49-F238E27FC236}">
                  <a16:creationId xmlns:a16="http://schemas.microsoft.com/office/drawing/2014/main" id="{7B8B6847-62A6-DE04-DE32-386382FD11F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12907" y="5194848"/>
              <a:ext cx="629810" cy="52188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2" descr="Microport-logo-fi-1 - Cardiovascular News">
              <a:extLst>
                <a:ext uri="{FF2B5EF4-FFF2-40B4-BE49-F238E27FC236}">
                  <a16:creationId xmlns:a16="http://schemas.microsoft.com/office/drawing/2014/main" id="{B65EE92E-95B8-85BC-7FB2-CE82B92BFA05}"/>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23901" b="33359"/>
            <a:stretch/>
          </p:blipFill>
          <p:spPr bwMode="auto">
            <a:xfrm>
              <a:off x="7306914" y="5321603"/>
              <a:ext cx="811206" cy="26837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4" descr="Weigao Group - Home | Facebook">
              <a:extLst>
                <a:ext uri="{FF2B5EF4-FFF2-40B4-BE49-F238E27FC236}">
                  <a16:creationId xmlns:a16="http://schemas.microsoft.com/office/drawing/2014/main" id="{E0BD93F3-CBD9-DC98-5110-C51003EEC74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877074" y="5218804"/>
              <a:ext cx="551281" cy="441509"/>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CSPC Pharmaceutical">
              <a:extLst>
                <a:ext uri="{FF2B5EF4-FFF2-40B4-BE49-F238E27FC236}">
                  <a16:creationId xmlns:a16="http://schemas.microsoft.com/office/drawing/2014/main" id="{5B24A761-17EB-BF6E-3C9E-F71AC4B5711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850313" y="5703769"/>
              <a:ext cx="728269" cy="482779"/>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Universal Medical Financial | 2666 HK - Stock Price, Analysis,  Announcements, Data &amp; News | Smartkarma">
              <a:extLst>
                <a:ext uri="{FF2B5EF4-FFF2-40B4-BE49-F238E27FC236}">
                  <a16:creationId xmlns:a16="http://schemas.microsoft.com/office/drawing/2014/main" id="{2731B5D3-D370-E0AF-2158-9DA8A0311B2D}"/>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546847" y="5716735"/>
              <a:ext cx="535469" cy="44371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6" descr="创业慧康」创业慧康科技股份有限公司招聘- 职友集">
              <a:extLst>
                <a:ext uri="{FF2B5EF4-FFF2-40B4-BE49-F238E27FC236}">
                  <a16:creationId xmlns:a16="http://schemas.microsoft.com/office/drawing/2014/main" id="{1AF64F21-339F-6CBB-822F-D33BD4F97F8A}"/>
                </a:ext>
              </a:extLst>
            </p:cNvPr>
            <p:cNvPicPr>
              <a:picLocks noChangeAspect="1" noChangeArrowheads="1"/>
            </p:cNvPicPr>
            <p:nvPr/>
          </p:nvPicPr>
          <p:blipFill rotWithShape="1">
            <a:blip r:embed="rId12" cstate="email">
              <a:extLst>
                <a:ext uri="{28A0092B-C50C-407E-A947-70E740481C1C}">
                  <a14:useLocalDpi xmlns:a14="http://schemas.microsoft.com/office/drawing/2010/main"/>
                </a:ext>
              </a:extLst>
            </a:blip>
            <a:srcRect t="28378" b="26673"/>
            <a:stretch/>
          </p:blipFill>
          <p:spPr bwMode="auto">
            <a:xfrm>
              <a:off x="6546847" y="5331337"/>
              <a:ext cx="668276" cy="248909"/>
            </a:xfrm>
            <a:prstGeom prst="rect">
              <a:avLst/>
            </a:prstGeom>
            <a:noFill/>
            <a:extLst>
              <a:ext uri="{909E8E84-426E-40DD-AFC4-6F175D3DCCD1}">
                <a14:hiddenFill xmlns:a14="http://schemas.microsoft.com/office/drawing/2010/main">
                  <a:solidFill>
                    <a:srgbClr val="FFFFFF"/>
                  </a:solidFill>
                </a14:hiddenFill>
              </a:ext>
            </a:extLst>
          </p:spPr>
        </p:pic>
      </p:grpSp>
      <p:sp>
        <p:nvSpPr>
          <p:cNvPr id="52" name="Rectangle 15">
            <a:extLst>
              <a:ext uri="{FF2B5EF4-FFF2-40B4-BE49-F238E27FC236}">
                <a16:creationId xmlns:a16="http://schemas.microsoft.com/office/drawing/2014/main" id="{505E5D8D-0DD9-A5FE-3141-4273F4A40095}"/>
              </a:ext>
            </a:extLst>
          </p:cNvPr>
          <p:cNvSpPr>
            <a:spLocks noChangeArrowheads="1"/>
          </p:cNvSpPr>
          <p:nvPr/>
        </p:nvSpPr>
        <p:spPr bwMode="gray">
          <a:xfrm>
            <a:off x="1036778" y="1771853"/>
            <a:ext cx="4251978" cy="246217"/>
          </a:xfrm>
          <a:prstGeom prst="rect">
            <a:avLst/>
          </a:prstGeom>
          <a:gradFill>
            <a:gsLst>
              <a:gs pos="0">
                <a:srgbClr val="760000"/>
              </a:gs>
              <a:gs pos="45000">
                <a:srgbClr val="AB0000"/>
              </a:gs>
              <a:gs pos="100000">
                <a:srgbClr val="CC0000"/>
              </a:gs>
            </a:gsLst>
          </a:gradFill>
          <a:ln>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spcBef>
                <a:spcPct val="0"/>
              </a:spcBef>
            </a:pPr>
            <a:r>
              <a:rPr lang="en-US" altLang="zh-CN" sz="1100" kern="0">
                <a:solidFill>
                  <a:srgbClr val="FFFFFF"/>
                </a:solidFill>
                <a:latin typeface="Arial" panose="020B0604020202020204" pitchFamily="34" charset="0"/>
                <a:ea typeface="+mj-ea"/>
                <a:cs typeface="Arial" panose="020B0604020202020204" pitchFamily="34" charset="0"/>
              </a:rPr>
              <a:t>DBS Star Healthcare Sector Analysts</a:t>
            </a:r>
            <a:endParaRPr lang="en-US" altLang="zh-TW" sz="1100" kern="0">
              <a:solidFill>
                <a:srgbClr val="FFFFFF"/>
              </a:solidFill>
              <a:latin typeface="Arial" panose="020B0604020202020204" pitchFamily="34" charset="0"/>
              <a:ea typeface="+mj-ea"/>
              <a:cs typeface="Arial" panose="020B0604020202020204" pitchFamily="34" charset="0"/>
            </a:endParaRPr>
          </a:p>
        </p:txBody>
      </p:sp>
      <p:sp>
        <p:nvSpPr>
          <p:cNvPr id="53" name="Rectangle 15">
            <a:extLst>
              <a:ext uri="{FF2B5EF4-FFF2-40B4-BE49-F238E27FC236}">
                <a16:creationId xmlns:a16="http://schemas.microsoft.com/office/drawing/2014/main" id="{1F69F738-D75B-81EE-3802-E32C1ADCCE17}"/>
              </a:ext>
            </a:extLst>
          </p:cNvPr>
          <p:cNvSpPr>
            <a:spLocks noChangeArrowheads="1"/>
          </p:cNvSpPr>
          <p:nvPr/>
        </p:nvSpPr>
        <p:spPr bwMode="gray">
          <a:xfrm>
            <a:off x="5397958" y="1771853"/>
            <a:ext cx="3517442" cy="245800"/>
          </a:xfrm>
          <a:prstGeom prst="rect">
            <a:avLst/>
          </a:prstGeom>
          <a:gradFill>
            <a:gsLst>
              <a:gs pos="0">
                <a:srgbClr val="760000"/>
              </a:gs>
              <a:gs pos="45000">
                <a:srgbClr val="AB0000"/>
              </a:gs>
              <a:gs pos="100000">
                <a:srgbClr val="CC0000"/>
              </a:gs>
            </a:gsLst>
          </a:gradFill>
          <a:ln>
            <a:headEnd/>
            <a:tailEnd/>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spcBef>
                <a:spcPts val="0"/>
              </a:spcBef>
            </a:pPr>
            <a:r>
              <a:rPr lang="en-US" altLang="zh-CN" sz="1100" dirty="0">
                <a:solidFill>
                  <a:schemeClr val="bg1"/>
                </a:solidFill>
                <a:latin typeface="Arial" panose="020B0604020202020204" pitchFamily="34" charset="0"/>
                <a:ea typeface="+mj-ea"/>
                <a:cs typeface="Arial" panose="020B0604020202020204" pitchFamily="34" charset="0"/>
              </a:rPr>
              <a:t>Selected Healthcare Stocks Covered by DBS</a:t>
            </a:r>
            <a:endParaRPr lang="zh-CN" altLang="en-US" sz="1100" dirty="0">
              <a:solidFill>
                <a:schemeClr val="bg1"/>
              </a:solidFill>
              <a:latin typeface="Arial" panose="020B0604020202020204" pitchFamily="34" charset="0"/>
              <a:ea typeface="+mj-ea"/>
              <a:cs typeface="Arial" panose="020B0604020202020204" pitchFamily="34" charset="0"/>
            </a:endParaRPr>
          </a:p>
        </p:txBody>
      </p:sp>
      <p:graphicFrame>
        <p:nvGraphicFramePr>
          <p:cNvPr id="54" name="Table 53">
            <a:extLst>
              <a:ext uri="{FF2B5EF4-FFF2-40B4-BE49-F238E27FC236}">
                <a16:creationId xmlns:a16="http://schemas.microsoft.com/office/drawing/2014/main" id="{4DFE3FC4-61E5-74BB-5680-36925E10A1F8}"/>
              </a:ext>
            </a:extLst>
          </p:cNvPr>
          <p:cNvGraphicFramePr>
            <a:graphicFrameLocks noGrp="1"/>
          </p:cNvGraphicFramePr>
          <p:nvPr>
            <p:extLst>
              <p:ext uri="{D42A27DB-BD31-4B8C-83A1-F6EECF244321}">
                <p14:modId xmlns:p14="http://schemas.microsoft.com/office/powerpoint/2010/main" val="1598783244"/>
              </p:ext>
            </p:extLst>
          </p:nvPr>
        </p:nvGraphicFramePr>
        <p:xfrm>
          <a:off x="5397959" y="2050641"/>
          <a:ext cx="3517442" cy="3204535"/>
        </p:xfrm>
        <a:graphic>
          <a:graphicData uri="http://schemas.openxmlformats.org/drawingml/2006/table">
            <a:tbl>
              <a:tblPr firstRow="1" bandRow="1">
                <a:tableStyleId>{5C22544A-7EE6-4342-B048-85BDC9FD1C3A}</a:tableStyleId>
              </a:tblPr>
              <a:tblGrid>
                <a:gridCol w="412100">
                  <a:extLst>
                    <a:ext uri="{9D8B030D-6E8A-4147-A177-3AD203B41FA5}">
                      <a16:colId xmlns:a16="http://schemas.microsoft.com/office/drawing/2014/main" val="1235789269"/>
                    </a:ext>
                  </a:extLst>
                </a:gridCol>
                <a:gridCol w="1437567">
                  <a:extLst>
                    <a:ext uri="{9D8B030D-6E8A-4147-A177-3AD203B41FA5}">
                      <a16:colId xmlns:a16="http://schemas.microsoft.com/office/drawing/2014/main" val="2196379299"/>
                    </a:ext>
                  </a:extLst>
                </a:gridCol>
                <a:gridCol w="1667775">
                  <a:extLst>
                    <a:ext uri="{9D8B030D-6E8A-4147-A177-3AD203B41FA5}">
                      <a16:colId xmlns:a16="http://schemas.microsoft.com/office/drawing/2014/main" val="908105982"/>
                    </a:ext>
                  </a:extLst>
                </a:gridCol>
              </a:tblGrid>
              <a:tr h="188620">
                <a:tc>
                  <a:txBody>
                    <a:bodyPr/>
                    <a:lstStyle/>
                    <a:p>
                      <a:pPr algn="ctr"/>
                      <a:r>
                        <a:rPr lang="en-US" sz="800">
                          <a:latin typeface="Arial" panose="020B0604020202020204" pitchFamily="34" charset="0"/>
                          <a:cs typeface="Arial" panose="020B0604020202020204" pitchFamily="34" charset="0"/>
                        </a:rPr>
                        <a:t>#</a:t>
                      </a:r>
                    </a:p>
                  </a:txBody>
                  <a:tcPr marL="68580" marR="68580" marT="0" marB="0" anchor="ctr">
                    <a:solidFill>
                      <a:schemeClr val="tx1">
                        <a:lumMod val="85000"/>
                        <a:lumOff val="15000"/>
                      </a:schemeClr>
                    </a:solidFill>
                  </a:tcPr>
                </a:tc>
                <a:tc>
                  <a:txBody>
                    <a:bodyPr/>
                    <a:lstStyle/>
                    <a:p>
                      <a:pPr algn="ctr"/>
                      <a:r>
                        <a:rPr lang="en-US" altLang="zh-CN" sz="800">
                          <a:latin typeface="Arial" panose="020B0604020202020204" pitchFamily="34" charset="0"/>
                          <a:cs typeface="Arial" panose="020B0604020202020204" pitchFamily="34" charset="0"/>
                        </a:rPr>
                        <a:t>Company Name</a:t>
                      </a:r>
                      <a:endParaRPr lang="en-US" sz="800">
                        <a:latin typeface="Arial" panose="020B0604020202020204" pitchFamily="34" charset="0"/>
                        <a:cs typeface="Arial" panose="020B0604020202020204" pitchFamily="34" charset="0"/>
                      </a:endParaRPr>
                    </a:p>
                  </a:txBody>
                  <a:tcPr marL="68580" marR="68580" marT="0" marB="0" anchor="ctr">
                    <a:solidFill>
                      <a:schemeClr val="tx1">
                        <a:lumMod val="85000"/>
                        <a:lumOff val="15000"/>
                      </a:schemeClr>
                    </a:solidFill>
                  </a:tcPr>
                </a:tc>
                <a:tc>
                  <a:txBody>
                    <a:bodyPr/>
                    <a:lstStyle/>
                    <a:p>
                      <a:pPr algn="ctr"/>
                      <a:r>
                        <a:rPr lang="en-US" sz="800">
                          <a:latin typeface="Arial" panose="020B0604020202020204" pitchFamily="34" charset="0"/>
                          <a:cs typeface="Arial" panose="020B0604020202020204" pitchFamily="34" charset="0"/>
                        </a:rPr>
                        <a:t>Listing</a:t>
                      </a:r>
                      <a:r>
                        <a:rPr lang="zh-CN" altLang="en-US" sz="800">
                          <a:latin typeface="Arial" panose="020B0604020202020204" pitchFamily="34" charset="0"/>
                          <a:cs typeface="Arial" panose="020B0604020202020204" pitchFamily="34" charset="0"/>
                        </a:rPr>
                        <a:t> </a:t>
                      </a:r>
                      <a:r>
                        <a:rPr lang="en-US" altLang="zh-CN" sz="800">
                          <a:latin typeface="Arial" panose="020B0604020202020204" pitchFamily="34" charset="0"/>
                          <a:cs typeface="Arial" panose="020B0604020202020204" pitchFamily="34" charset="0"/>
                        </a:rPr>
                        <a:t>Location</a:t>
                      </a:r>
                      <a:endParaRPr lang="en-US" sz="800">
                        <a:latin typeface="Arial" panose="020B0604020202020204" pitchFamily="34" charset="0"/>
                        <a:cs typeface="Arial" panose="020B0604020202020204" pitchFamily="34" charset="0"/>
                      </a:endParaRPr>
                    </a:p>
                  </a:txBody>
                  <a:tcPr marL="68580" marR="68580" marT="0" marB="0" anchor="ctr">
                    <a:solidFill>
                      <a:schemeClr val="tx1">
                        <a:lumMod val="85000"/>
                        <a:lumOff val="15000"/>
                      </a:schemeClr>
                    </a:solidFill>
                  </a:tcPr>
                </a:tc>
                <a:extLst>
                  <a:ext uri="{0D108BD9-81ED-4DB2-BD59-A6C34878D82A}">
                    <a16:rowId xmlns:a16="http://schemas.microsoft.com/office/drawing/2014/main" val="2086935850"/>
                  </a:ext>
                </a:extLst>
              </a:tr>
              <a:tr h="188620">
                <a:tc>
                  <a:txBody>
                    <a:bodyPr/>
                    <a:lstStyle/>
                    <a:p>
                      <a:pPr algn="ctr"/>
                      <a:r>
                        <a:rPr lang="en-US" sz="800">
                          <a:latin typeface="Arial" panose="020B0604020202020204" pitchFamily="34" charset="0"/>
                          <a:cs typeface="Arial" panose="020B0604020202020204" pitchFamily="34" charset="0"/>
                        </a:rPr>
                        <a:t>1</a:t>
                      </a:r>
                    </a:p>
                  </a:txBody>
                  <a:tcPr marL="68580" marR="68580" marT="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China</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Resources</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Pharmaceutical</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r>
                        <a:rPr lang="en-US" sz="800" b="0" i="0" u="none" strike="noStrike">
                          <a:solidFill>
                            <a:srgbClr val="000000"/>
                          </a:solidFill>
                          <a:effectLst/>
                          <a:latin typeface="Arial" panose="020B0604020202020204" pitchFamily="34" charset="0"/>
                          <a:cs typeface="Arial" panose="020B0604020202020204" pitchFamily="34" charset="0"/>
                        </a:rPr>
                        <a:t>Hong</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Kong</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26657596"/>
                  </a:ext>
                </a:extLst>
              </a:tr>
              <a:tr h="188620">
                <a:tc>
                  <a:txBody>
                    <a:bodyPr/>
                    <a:lstStyle/>
                    <a:p>
                      <a:pPr algn="ctr"/>
                      <a:r>
                        <a:rPr lang="en-US" sz="800">
                          <a:latin typeface="Arial" panose="020B0604020202020204" pitchFamily="34" charset="0"/>
                          <a:cs typeface="Arial" panose="020B0604020202020204" pitchFamily="34" charset="0"/>
                        </a:rPr>
                        <a:t>2</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CSPC</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Pharmaceutical</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Group</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rial" panose="020B0604020202020204" pitchFamily="34" charset="0"/>
                          <a:cs typeface="Arial" panose="020B0604020202020204" pitchFamily="34" charset="0"/>
                        </a:rPr>
                        <a:t>Hong</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Kong</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689159941"/>
                  </a:ext>
                </a:extLst>
              </a:tr>
              <a:tr h="188620">
                <a:tc>
                  <a:txBody>
                    <a:bodyPr/>
                    <a:lstStyle/>
                    <a:p>
                      <a:pPr algn="ctr"/>
                      <a:r>
                        <a:rPr lang="en-US" sz="800">
                          <a:latin typeface="Arial" panose="020B0604020202020204" pitchFamily="34" charset="0"/>
                          <a:cs typeface="Arial" panose="020B0604020202020204" pitchFamily="34" charset="0"/>
                        </a:rPr>
                        <a:t>3</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Tong</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Ren</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Tang</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Technologies</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rial" panose="020B0604020202020204" pitchFamily="34" charset="0"/>
                          <a:cs typeface="Arial" panose="020B0604020202020204" pitchFamily="34" charset="0"/>
                        </a:rPr>
                        <a:t>Hong</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Kong</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827134256"/>
                  </a:ext>
                </a:extLst>
              </a:tr>
              <a:tr h="188620">
                <a:tc>
                  <a:txBody>
                    <a:bodyPr/>
                    <a:lstStyle/>
                    <a:p>
                      <a:pPr algn="ctr"/>
                      <a:r>
                        <a:rPr lang="en-US" sz="800">
                          <a:latin typeface="Arial" panose="020B0604020202020204" pitchFamily="34" charset="0"/>
                          <a:cs typeface="Arial" panose="020B0604020202020204" pitchFamily="34" charset="0"/>
                        </a:rPr>
                        <a:t>4</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err="1">
                          <a:solidFill>
                            <a:srgbClr val="000000"/>
                          </a:solidFill>
                          <a:effectLst/>
                          <a:latin typeface="Arial" panose="020B0604020202020204" pitchFamily="34" charset="0"/>
                          <a:cs typeface="Arial" panose="020B0604020202020204" pitchFamily="34" charset="0"/>
                        </a:rPr>
                        <a:t>MicroPort</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Scientific</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rial" panose="020B0604020202020204" pitchFamily="34" charset="0"/>
                          <a:cs typeface="Arial" panose="020B0604020202020204" pitchFamily="34" charset="0"/>
                        </a:rPr>
                        <a:t>Hong</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Kong</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146070540"/>
                  </a:ext>
                </a:extLst>
              </a:tr>
              <a:tr h="188620">
                <a:tc>
                  <a:txBody>
                    <a:bodyPr/>
                    <a:lstStyle/>
                    <a:p>
                      <a:pPr algn="ctr"/>
                      <a:r>
                        <a:rPr lang="en-US" sz="800">
                          <a:latin typeface="Arial" panose="020B0604020202020204" pitchFamily="34" charset="0"/>
                          <a:cs typeface="Arial" panose="020B0604020202020204" pitchFamily="34" charset="0"/>
                        </a:rPr>
                        <a:t>5</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err="1">
                          <a:solidFill>
                            <a:srgbClr val="000000"/>
                          </a:solidFill>
                          <a:effectLst/>
                          <a:latin typeface="Arial" panose="020B0604020202020204" pitchFamily="34" charset="0"/>
                          <a:cs typeface="Arial" panose="020B0604020202020204" pitchFamily="34" charset="0"/>
                        </a:rPr>
                        <a:t>Weigao</a:t>
                      </a:r>
                      <a:r>
                        <a:rPr lang="en-US" sz="800" b="0" i="0" u="none" strike="noStrike">
                          <a:solidFill>
                            <a:srgbClr val="000000"/>
                          </a:solidFill>
                          <a:effectLst/>
                          <a:latin typeface="Arial" panose="020B0604020202020204" pitchFamily="34" charset="0"/>
                          <a:cs typeface="Arial" panose="020B0604020202020204" pitchFamily="34" charset="0"/>
                        </a:rPr>
                        <a:t> Group</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rial" panose="020B0604020202020204" pitchFamily="34" charset="0"/>
                          <a:cs typeface="Arial" panose="020B0604020202020204" pitchFamily="34" charset="0"/>
                        </a:rPr>
                        <a:t>Hong</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Kong</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952523569"/>
                  </a:ext>
                </a:extLst>
              </a:tr>
              <a:tr h="188620">
                <a:tc>
                  <a:txBody>
                    <a:bodyPr/>
                    <a:lstStyle/>
                    <a:p>
                      <a:pPr algn="ctr"/>
                      <a:r>
                        <a:rPr lang="en-US" sz="800">
                          <a:latin typeface="Arial" panose="020B0604020202020204" pitchFamily="34" charset="0"/>
                          <a:cs typeface="Arial" panose="020B0604020202020204" pitchFamily="34" charset="0"/>
                        </a:rPr>
                        <a:t>6</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China National </a:t>
                      </a:r>
                    </a:p>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Pharmaceutical Group</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rial" panose="020B0604020202020204" pitchFamily="34" charset="0"/>
                          <a:cs typeface="Arial" panose="020B0604020202020204" pitchFamily="34" charset="0"/>
                        </a:rPr>
                        <a:t>Hong</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Kong</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33414206"/>
                  </a:ext>
                </a:extLst>
              </a:tr>
              <a:tr h="188620">
                <a:tc>
                  <a:txBody>
                    <a:bodyPr/>
                    <a:lstStyle/>
                    <a:p>
                      <a:pPr algn="ctr"/>
                      <a:r>
                        <a:rPr lang="en-US" sz="800">
                          <a:latin typeface="Arial" panose="020B0604020202020204" pitchFamily="34" charset="0"/>
                          <a:cs typeface="Arial" panose="020B0604020202020204" pitchFamily="34" charset="0"/>
                        </a:rPr>
                        <a:t>7</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3SBio Inc.</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Arial" panose="020B0604020202020204" pitchFamily="34" charset="0"/>
                          <a:ea typeface="+mn-ea"/>
                          <a:cs typeface="Arial" panose="020B0604020202020204" pitchFamily="34" charset="0"/>
                        </a:rPr>
                        <a:t>Mainland</a:t>
                      </a:r>
                      <a:r>
                        <a:rPr lang="zh-CN" altLang="en-US" sz="800" b="0" i="0" u="none" strike="noStrike" kern="1200" noProof="0">
                          <a:solidFill>
                            <a:srgbClr val="000000"/>
                          </a:solidFill>
                          <a:effectLst/>
                          <a:latin typeface="Arial" panose="020B0604020202020204" pitchFamily="34" charset="0"/>
                          <a:ea typeface="+mn-ea"/>
                          <a:cs typeface="Arial" panose="020B0604020202020204" pitchFamily="34" charset="0"/>
                        </a:rPr>
                        <a:t> </a:t>
                      </a:r>
                      <a:r>
                        <a:rPr lang="en-US" altLang="zh-CN" sz="800" b="0" i="0" u="none" strike="noStrike" kern="1200" noProof="0">
                          <a:solidFill>
                            <a:srgbClr val="000000"/>
                          </a:solidFill>
                          <a:effectLst/>
                          <a:latin typeface="Arial" panose="020B0604020202020204" pitchFamily="34" charset="0"/>
                          <a:ea typeface="+mn-ea"/>
                          <a:cs typeface="Arial" panose="020B0604020202020204" pitchFamily="34" charset="0"/>
                        </a:rPr>
                        <a:t>China / Hong Kong / US</a:t>
                      </a:r>
                      <a:endParaRPr lang="en-US" sz="800" b="0" i="0" u="none" strike="noStrike" kern="1200" noProof="0">
                        <a:solidFill>
                          <a:srgbClr val="000000"/>
                        </a:solidFill>
                        <a:effectLst/>
                        <a:latin typeface="Arial" panose="020B0604020202020204" pitchFamily="34" charset="0"/>
                        <a:ea typeface="+mn-ea"/>
                        <a:cs typeface="Arial" panose="020B0604020202020204" pitchFamily="34" charset="0"/>
                      </a:endParaRP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60879602"/>
                  </a:ext>
                </a:extLst>
              </a:tr>
              <a:tr h="188620">
                <a:tc>
                  <a:txBody>
                    <a:bodyPr/>
                    <a:lstStyle/>
                    <a:p>
                      <a:pPr algn="ctr"/>
                      <a:r>
                        <a:rPr lang="en-US" sz="800">
                          <a:latin typeface="Arial" panose="020B0604020202020204" pitchFamily="34" charset="0"/>
                          <a:cs typeface="Arial" panose="020B0604020202020204" pitchFamily="34" charset="0"/>
                        </a:rPr>
                        <a:t>8</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BeiGene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rPr>
                        <a:t>Mainland</a:t>
                      </a:r>
                      <a:r>
                        <a:rPr kumimoji="0" lang="zh-CN" altLang="en-US"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rPr>
                        <a:t> </a:t>
                      </a:r>
                      <a:r>
                        <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rPr>
                        <a:t>China</a:t>
                      </a:r>
                      <a:endParaRPr kumimoji="0" lang="en-US"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endParaRP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128697287"/>
                  </a:ext>
                </a:extLst>
              </a:tr>
              <a:tr h="188620">
                <a:tc>
                  <a:txBody>
                    <a:bodyPr/>
                    <a:lstStyle/>
                    <a:p>
                      <a:pPr algn="ctr"/>
                      <a:r>
                        <a:rPr lang="en-US" sz="800">
                          <a:latin typeface="Arial" panose="020B0604020202020204" pitchFamily="34" charset="0"/>
                          <a:cs typeface="Arial" panose="020B0604020202020204" pitchFamily="34" charset="0"/>
                        </a:rPr>
                        <a:t>9</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err="1">
                          <a:solidFill>
                            <a:srgbClr val="000000"/>
                          </a:solidFill>
                          <a:effectLst/>
                          <a:latin typeface="Arial" panose="020B0604020202020204" pitchFamily="34" charset="0"/>
                          <a:cs typeface="Arial" panose="020B0604020202020204" pitchFamily="34" charset="0"/>
                        </a:rPr>
                        <a:t>Sansure</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Biotech</a:t>
                      </a:r>
                      <a:r>
                        <a:rPr lang="en-US" sz="800" b="0" i="0" u="none" strike="noStrike">
                          <a:solidFill>
                            <a:srgbClr val="000000"/>
                          </a:solidFill>
                          <a:effectLst/>
                          <a:latin typeface="Arial" panose="020B0604020202020204" pitchFamily="34" charset="0"/>
                          <a:cs typeface="Arial" panose="020B0604020202020204" pitchFamily="34" charset="0"/>
                        </a:rPr>
                        <a:t> </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rPr>
                        <a:t>Mainland</a:t>
                      </a:r>
                      <a:r>
                        <a:rPr kumimoji="0" lang="zh-CN" altLang="en-US"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rPr>
                        <a:t> </a:t>
                      </a:r>
                      <a:r>
                        <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rPr>
                        <a:t>China</a:t>
                      </a:r>
                      <a:endParaRPr kumimoji="0" lang="en-US"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endParaRP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826941000"/>
                  </a:ext>
                </a:extLst>
              </a:tr>
              <a:tr h="188620">
                <a:tc>
                  <a:txBody>
                    <a:bodyPr/>
                    <a:lstStyle/>
                    <a:p>
                      <a:pPr algn="ctr"/>
                      <a:r>
                        <a:rPr lang="en-US" sz="800">
                          <a:latin typeface="Arial" panose="020B0604020202020204" pitchFamily="34" charset="0"/>
                          <a:cs typeface="Arial" panose="020B0604020202020204" pitchFamily="34" charset="0"/>
                        </a:rPr>
                        <a:t>10</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Liuzhou</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Pharmaceutical</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rPr>
                        <a:t>Mainland</a:t>
                      </a:r>
                      <a:r>
                        <a:rPr kumimoji="0" lang="zh-CN" altLang="en-US"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rPr>
                        <a:t> </a:t>
                      </a:r>
                      <a:r>
                        <a:rPr kumimoji="0" lang="en-US" altLang="zh-CN"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rPr>
                        <a:t>China</a:t>
                      </a:r>
                      <a:endParaRPr kumimoji="0" lang="en-US" sz="800" b="0" i="0" u="none" strike="noStrike" kern="1200" cap="none" spc="0" normalizeH="0" baseline="0" noProof="0">
                        <a:ln>
                          <a:noFill/>
                        </a:ln>
                        <a:solidFill>
                          <a:srgbClr val="000000"/>
                        </a:solidFill>
                        <a:effectLst/>
                        <a:uLnTx/>
                        <a:uFillTx/>
                        <a:latin typeface="Arial" panose="020B0604020202020204" pitchFamily="34" charset="0"/>
                        <a:ea typeface="STKaiti"/>
                        <a:cs typeface="Arial" panose="020B0604020202020204" pitchFamily="34" charset="0"/>
                      </a:endParaRP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970306223"/>
                  </a:ext>
                </a:extLst>
              </a:tr>
              <a:tr h="188620">
                <a:tc>
                  <a:txBody>
                    <a:bodyPr/>
                    <a:lstStyle/>
                    <a:p>
                      <a:pPr algn="ctr"/>
                      <a:r>
                        <a:rPr lang="en-US" sz="800">
                          <a:latin typeface="Arial" panose="020B0604020202020204" pitchFamily="34" charset="0"/>
                          <a:cs typeface="Arial" panose="020B0604020202020204" pitchFamily="34" charset="0"/>
                        </a:rPr>
                        <a:t>11</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err="1">
                          <a:solidFill>
                            <a:srgbClr val="000000"/>
                          </a:solidFill>
                          <a:effectLst/>
                          <a:latin typeface="Arial" panose="020B0604020202020204" pitchFamily="34" charset="0"/>
                          <a:cs typeface="Arial" panose="020B0604020202020204" pitchFamily="34" charset="0"/>
                        </a:rPr>
                        <a:t>Yikon</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Medical</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DFKaiShuW5-B5"/>
                          <a:cs typeface="Arial" panose="020B0604020202020204" pitchFamily="34" charset="0"/>
                        </a:rPr>
                        <a:t>Singapore</a:t>
                      </a: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353021879"/>
                  </a:ext>
                </a:extLst>
              </a:tr>
              <a:tr h="188620">
                <a:tc>
                  <a:txBody>
                    <a:bodyPr/>
                    <a:lstStyle/>
                    <a:p>
                      <a:pPr algn="ctr"/>
                      <a:r>
                        <a:rPr lang="en-US" sz="800">
                          <a:latin typeface="Arial" panose="020B0604020202020204" pitchFamily="34" charset="0"/>
                          <a:cs typeface="Arial" panose="020B0604020202020204" pitchFamily="34" charset="0"/>
                        </a:rPr>
                        <a:t>12</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IHH Healthcare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DFKaiShuW5-B5"/>
                          <a:cs typeface="Arial" panose="020B0604020202020204" pitchFamily="34" charset="0"/>
                        </a:rPr>
                        <a:t>Singapore</a:t>
                      </a: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940419495"/>
                  </a:ext>
                </a:extLst>
              </a:tr>
              <a:tr h="188620">
                <a:tc>
                  <a:txBody>
                    <a:bodyPr/>
                    <a:lstStyle/>
                    <a:p>
                      <a:pPr algn="ctr"/>
                      <a:r>
                        <a:rPr lang="en-US" sz="800">
                          <a:latin typeface="Arial" panose="020B0604020202020204" pitchFamily="34" charset="0"/>
                          <a:cs typeface="Arial" panose="020B0604020202020204" pitchFamily="34" charset="0"/>
                        </a:rPr>
                        <a:t>13</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Raffles</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Medical</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Group</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DFKaiShuW5-B5"/>
                          <a:cs typeface="Arial" panose="020B0604020202020204" pitchFamily="34" charset="0"/>
                        </a:rPr>
                        <a:t>Singapore</a:t>
                      </a: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990593647"/>
                  </a:ext>
                </a:extLst>
              </a:tr>
              <a:tr h="188620">
                <a:tc>
                  <a:txBody>
                    <a:bodyPr/>
                    <a:lstStyle/>
                    <a:p>
                      <a:pPr algn="ctr"/>
                      <a:r>
                        <a:rPr lang="en-US" sz="800">
                          <a:latin typeface="Arial" panose="020B0604020202020204" pitchFamily="34" charset="0"/>
                          <a:cs typeface="Arial" panose="020B0604020202020204" pitchFamily="34" charset="0"/>
                        </a:rPr>
                        <a:t>14</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Bangkok Dusit </a:t>
                      </a:r>
                    </a:p>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Medical Services</a:t>
                      </a: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DFKaiShuW5-B5"/>
                          <a:cs typeface="Arial" panose="020B0604020202020204" pitchFamily="34" charset="0"/>
                        </a:rPr>
                        <a:t>Thailand</a:t>
                      </a: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493585000"/>
                  </a:ext>
                </a:extLst>
              </a:tr>
              <a:tr h="188620">
                <a:tc>
                  <a:txBody>
                    <a:bodyPr/>
                    <a:lstStyle/>
                    <a:p>
                      <a:pPr algn="ctr"/>
                      <a:r>
                        <a:rPr lang="en-US" sz="800">
                          <a:latin typeface="Arial" panose="020B0604020202020204" pitchFamily="34" charset="0"/>
                          <a:cs typeface="Arial" panose="020B0604020202020204" pitchFamily="34" charset="0"/>
                        </a:rPr>
                        <a:t>15</a:t>
                      </a:r>
                    </a:p>
                  </a:txBody>
                  <a:tcPr marL="68580" marR="68580"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r>
                        <a:rPr lang="en-US" sz="800" b="0" i="0" u="none" strike="noStrike">
                          <a:solidFill>
                            <a:srgbClr val="000000"/>
                          </a:solidFill>
                          <a:effectLst/>
                          <a:latin typeface="Arial" panose="020B0604020202020204" pitchFamily="34" charset="0"/>
                          <a:cs typeface="Arial" panose="020B0604020202020204" pitchFamily="34" charset="0"/>
                        </a:rPr>
                        <a:t>Ramkhamhaeng</a:t>
                      </a:r>
                      <a:r>
                        <a:rPr lang="zh-CN" altLang="en-US" sz="800" b="0" i="0" u="none" strike="noStrike">
                          <a:solidFill>
                            <a:srgbClr val="000000"/>
                          </a:solidFill>
                          <a:effectLst/>
                          <a:latin typeface="Arial" panose="020B0604020202020204" pitchFamily="34" charset="0"/>
                          <a:cs typeface="Arial" panose="020B0604020202020204" pitchFamily="34" charset="0"/>
                        </a:rPr>
                        <a:t> </a:t>
                      </a:r>
                      <a:r>
                        <a:rPr lang="en-US" altLang="zh-CN" sz="800" b="0" i="0" u="none" strike="noStrike">
                          <a:solidFill>
                            <a:srgbClr val="000000"/>
                          </a:solidFill>
                          <a:effectLst/>
                          <a:latin typeface="Arial" panose="020B0604020202020204" pitchFamily="34" charset="0"/>
                          <a:cs typeface="Arial" panose="020B0604020202020204" pitchFamily="34" charset="0"/>
                        </a:rPr>
                        <a:t>Hospital</a:t>
                      </a:r>
                      <a:endParaRPr lang="en-US" sz="800" b="0" i="0" u="none" strike="noStrike">
                        <a:solidFill>
                          <a:srgbClr val="000000"/>
                        </a:solidFill>
                        <a:effectLst/>
                        <a:latin typeface="Arial" panose="020B0604020202020204" pitchFamily="34" charset="0"/>
                        <a:cs typeface="Arial" panose="020B0604020202020204" pitchFamily="34" charset="0"/>
                      </a:endParaRP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DFKaiShuW5-B5"/>
                          <a:cs typeface="Arial" panose="020B0604020202020204" pitchFamily="34" charset="0"/>
                        </a:rPr>
                        <a:t>Thailand</a:t>
                      </a:r>
                    </a:p>
                  </a:txBody>
                  <a:tcPr marL="5715" marR="5715" marT="5715"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253122936"/>
                  </a:ext>
                </a:extLst>
              </a:tr>
            </a:tbl>
          </a:graphicData>
        </a:graphic>
      </p:graphicFrame>
      <p:sp>
        <p:nvSpPr>
          <p:cNvPr id="55" name="Rectangle 54">
            <a:extLst>
              <a:ext uri="{FF2B5EF4-FFF2-40B4-BE49-F238E27FC236}">
                <a16:creationId xmlns:a16="http://schemas.microsoft.com/office/drawing/2014/main" id="{08015600-94C4-BF83-A34F-C0E244C6E7E5}"/>
              </a:ext>
            </a:extLst>
          </p:cNvPr>
          <p:cNvSpPr>
            <a:spLocks noChangeArrowheads="1"/>
          </p:cNvSpPr>
          <p:nvPr/>
        </p:nvSpPr>
        <p:spPr bwMode="auto">
          <a:xfrm>
            <a:off x="2322202" y="2117514"/>
            <a:ext cx="2966555" cy="2192908"/>
          </a:xfrm>
          <a:prstGeom prst="rect">
            <a:avLst/>
          </a:prstGeom>
          <a:noFill/>
          <a:ln w="9525">
            <a:noFill/>
            <a:miter lim="800000"/>
            <a:headEnd/>
            <a:tailEnd/>
          </a:ln>
        </p:spPr>
        <p:txBody>
          <a:bodyPr wrap="square" lIns="0" tIns="0" rIns="0" bIns="0">
            <a:spAutoFit/>
          </a:bodyPr>
          <a:lstStyle/>
          <a:p>
            <a:pPr marL="231775" indent="-231775" algn="just" defTabSz="685800" eaLnBrk="0" hangingPunct="0">
              <a:spcBef>
                <a:spcPts val="0"/>
              </a:spcBef>
              <a:spcAft>
                <a:spcPts val="450"/>
              </a:spcAft>
              <a:buClr>
                <a:srgbClr val="BE050A"/>
              </a:buClr>
              <a:buFont typeface="Wingdings" panose="05000000000000000000" pitchFamily="2" charset="2"/>
              <a:buChar char="§"/>
              <a:defRPr/>
            </a:pPr>
            <a:r>
              <a:rPr lang="en-US" altLang="zh-CN" sz="1000" b="0" dirty="0">
                <a:solidFill>
                  <a:srgbClr val="000000"/>
                </a:solidFill>
                <a:latin typeface="Calibri" panose="020F0502020204030204" pitchFamily="34" charset="0"/>
                <a:ea typeface="+mj-ea"/>
                <a:cs typeface="Calibri" panose="020F0502020204030204" pitchFamily="34" charset="0"/>
              </a:rPr>
              <a:t>Mark Joined DBS in 2010 as an Equity Research Analyst, currently serving as Head of Greater China Healthcare Research</a:t>
            </a:r>
          </a:p>
          <a:p>
            <a:pPr marL="231775" indent="-231775" algn="just" defTabSz="685800" eaLnBrk="0" hangingPunct="0">
              <a:spcBef>
                <a:spcPts val="0"/>
              </a:spcBef>
              <a:spcAft>
                <a:spcPts val="450"/>
              </a:spcAft>
              <a:buClr>
                <a:srgbClr val="BE050A"/>
              </a:buClr>
              <a:buFont typeface="Wingdings" panose="05000000000000000000" pitchFamily="2" charset="2"/>
              <a:buChar char="§"/>
              <a:defRPr/>
            </a:pPr>
            <a:r>
              <a:rPr lang="en-US" altLang="zh-CN" sz="1000" b="0" dirty="0">
                <a:solidFill>
                  <a:srgbClr val="000000"/>
                </a:solidFill>
                <a:latin typeface="Calibri" panose="020F0502020204030204" pitchFamily="34" charset="0"/>
                <a:ea typeface="+mj-ea"/>
                <a:cs typeface="Calibri" panose="020F0502020204030204" pitchFamily="34" charset="0"/>
              </a:rPr>
              <a:t>Prior to joining DBS, Mark worked as a financial journalist for 10 years</a:t>
            </a:r>
          </a:p>
          <a:p>
            <a:pPr marL="231775" indent="-231775" algn="just" defTabSz="685800" eaLnBrk="0" hangingPunct="0">
              <a:spcBef>
                <a:spcPts val="0"/>
              </a:spcBef>
              <a:spcAft>
                <a:spcPts val="450"/>
              </a:spcAft>
              <a:buClr>
                <a:srgbClr val="BE050A"/>
              </a:buClr>
              <a:buFont typeface="Wingdings" panose="05000000000000000000" pitchFamily="2" charset="2"/>
              <a:buChar char="§"/>
              <a:defRPr/>
            </a:pPr>
            <a:r>
              <a:rPr lang="en-US" altLang="zh-CN" sz="1000" b="0" dirty="0">
                <a:solidFill>
                  <a:srgbClr val="000000"/>
                </a:solidFill>
                <a:latin typeface="Calibri" panose="020F0502020204030204" pitchFamily="34" charset="0"/>
                <a:ea typeface="+mj-ea"/>
                <a:cs typeface="Calibri" panose="020F0502020204030204" pitchFamily="34" charset="0"/>
              </a:rPr>
              <a:t>Ranked top 2 in the 2015 Thomson Reuters StarMine Analyst Awards; Top 10 in the HKSFA Best Research Report Competition in both 2016 and 2018. He also received the “Hong Kong Small &amp; Mid-Cap Best Research” Award from Asia Money in 2013. Mark is a CFA </a:t>
            </a:r>
            <a:r>
              <a:rPr lang="en-US" altLang="zh-CN" sz="1000" b="0" dirty="0" err="1">
                <a:solidFill>
                  <a:srgbClr val="000000"/>
                </a:solidFill>
                <a:latin typeface="Calibri" panose="020F0502020204030204" pitchFamily="34" charset="0"/>
                <a:ea typeface="+mj-ea"/>
                <a:cs typeface="Calibri" panose="020F0502020204030204" pitchFamily="34" charset="0"/>
              </a:rPr>
              <a:t>charterholder</a:t>
            </a:r>
            <a:endParaRPr lang="en-US" altLang="zh-CN" sz="1000" b="0" dirty="0">
              <a:solidFill>
                <a:srgbClr val="000000"/>
              </a:solidFill>
              <a:latin typeface="Calibri" panose="020F0502020204030204" pitchFamily="34" charset="0"/>
              <a:ea typeface="+mj-ea"/>
              <a:cs typeface="Calibri" panose="020F0502020204030204" pitchFamily="34" charset="0"/>
            </a:endParaRPr>
          </a:p>
          <a:p>
            <a:pPr marL="231775" indent="-231775" algn="just" defTabSz="685800" eaLnBrk="0" hangingPunct="0">
              <a:spcBef>
                <a:spcPts val="0"/>
              </a:spcBef>
              <a:spcAft>
                <a:spcPts val="450"/>
              </a:spcAft>
              <a:buClr>
                <a:srgbClr val="BE050A"/>
              </a:buClr>
              <a:buFont typeface="Wingdings" panose="05000000000000000000" pitchFamily="2" charset="2"/>
              <a:buChar char="§"/>
              <a:defRPr/>
            </a:pPr>
            <a:r>
              <a:rPr lang="en-US" altLang="zh-CN" sz="1000" b="0" dirty="0">
                <a:solidFill>
                  <a:srgbClr val="000000"/>
                </a:solidFill>
                <a:latin typeface="Calibri" panose="020F0502020204030204" pitchFamily="34" charset="0"/>
                <a:ea typeface="+mj-ea"/>
                <a:cs typeface="Calibri" panose="020F0502020204030204" pitchFamily="34" charset="0"/>
              </a:rPr>
              <a:t>Mark holds a Bachelor of Social Sciences in Communication from Hong Kong Baptist University</a:t>
            </a:r>
          </a:p>
        </p:txBody>
      </p:sp>
      <p:grpSp>
        <p:nvGrpSpPr>
          <p:cNvPr id="56" name="Group 55">
            <a:extLst>
              <a:ext uri="{FF2B5EF4-FFF2-40B4-BE49-F238E27FC236}">
                <a16:creationId xmlns:a16="http://schemas.microsoft.com/office/drawing/2014/main" id="{58A450B5-65B7-25DD-29AB-3F16CE50A2C6}"/>
              </a:ext>
            </a:extLst>
          </p:cNvPr>
          <p:cNvGrpSpPr/>
          <p:nvPr/>
        </p:nvGrpSpPr>
        <p:grpSpPr>
          <a:xfrm>
            <a:off x="929640" y="2156132"/>
            <a:ext cx="1143243" cy="1851364"/>
            <a:chOff x="631083" y="2055796"/>
            <a:chExt cx="1143243" cy="1851364"/>
          </a:xfrm>
        </p:grpSpPr>
        <p:sp>
          <p:nvSpPr>
            <p:cNvPr id="57" name="Rectangle 56">
              <a:extLst>
                <a:ext uri="{FF2B5EF4-FFF2-40B4-BE49-F238E27FC236}">
                  <a16:creationId xmlns:a16="http://schemas.microsoft.com/office/drawing/2014/main" id="{25FA145C-9A26-445E-1A16-489EFD2B2ED4}"/>
                </a:ext>
              </a:extLst>
            </p:cNvPr>
            <p:cNvSpPr/>
            <p:nvPr/>
          </p:nvSpPr>
          <p:spPr>
            <a:xfrm>
              <a:off x="631083" y="3168496"/>
              <a:ext cx="1143243" cy="738664"/>
            </a:xfrm>
            <a:prstGeom prst="rect">
              <a:avLst/>
            </a:prstGeom>
          </p:spPr>
          <p:txBody>
            <a:bodyPr wrap="square">
              <a:spAutoFit/>
            </a:bodyPr>
            <a:lstStyle/>
            <a:p>
              <a:pPr algn="ctr" defTabSz="685800" eaLnBrk="0" hangingPunct="0">
                <a:defRPr/>
              </a:pPr>
              <a:r>
                <a:rPr lang="en-US" sz="1050">
                  <a:solidFill>
                    <a:srgbClr val="000000"/>
                  </a:solidFill>
                  <a:latin typeface="Calibri" panose="020F0502020204030204" pitchFamily="34" charset="0"/>
                  <a:ea typeface="+mj-ea"/>
                  <a:cs typeface="Calibri" panose="020F0502020204030204" pitchFamily="34" charset="0"/>
                </a:rPr>
                <a:t>Mark Kong</a:t>
              </a:r>
            </a:p>
            <a:p>
              <a:pPr algn="ctr" defTabSz="685800" eaLnBrk="0" hangingPunct="0">
                <a:defRPr/>
              </a:pPr>
              <a:r>
                <a:rPr lang="en-US" altLang="zh-CN" sz="1050" b="0">
                  <a:solidFill>
                    <a:srgbClr val="000000"/>
                  </a:solidFill>
                  <a:latin typeface="Calibri" panose="020F0502020204030204" pitchFamily="34" charset="0"/>
                  <a:ea typeface="+mj-ea"/>
                  <a:cs typeface="Calibri" panose="020F0502020204030204" pitchFamily="34" charset="0"/>
                </a:rPr>
                <a:t>Head of Greater China Healthcare Research</a:t>
              </a:r>
              <a:endParaRPr lang="en-US" sz="1050" b="0">
                <a:solidFill>
                  <a:srgbClr val="000000"/>
                </a:solidFill>
                <a:latin typeface="Calibri" panose="020F0502020204030204" pitchFamily="34" charset="0"/>
                <a:ea typeface="+mj-ea"/>
                <a:cs typeface="Calibri" panose="020F0502020204030204" pitchFamily="34" charset="0"/>
              </a:endParaRPr>
            </a:p>
          </p:txBody>
        </p:sp>
        <p:pic>
          <p:nvPicPr>
            <p:cNvPr id="58" name="Picture 6" descr="analyst">
              <a:extLst>
                <a:ext uri="{FF2B5EF4-FFF2-40B4-BE49-F238E27FC236}">
                  <a16:creationId xmlns:a16="http://schemas.microsoft.com/office/drawing/2014/main" id="{A155083F-A95E-00A9-933A-4531B79E7EA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7399" y="2055796"/>
              <a:ext cx="983345" cy="11003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9" name="Group 58">
            <a:extLst>
              <a:ext uri="{FF2B5EF4-FFF2-40B4-BE49-F238E27FC236}">
                <a16:creationId xmlns:a16="http://schemas.microsoft.com/office/drawing/2014/main" id="{FB2558C2-83CA-10C4-DB47-8D9579C0BF47}"/>
              </a:ext>
            </a:extLst>
          </p:cNvPr>
          <p:cNvGrpSpPr/>
          <p:nvPr/>
        </p:nvGrpSpPr>
        <p:grpSpPr>
          <a:xfrm>
            <a:off x="4147189" y="4478297"/>
            <a:ext cx="914400" cy="1653770"/>
            <a:chOff x="4766740" y="4123288"/>
            <a:chExt cx="914400" cy="1653770"/>
          </a:xfrm>
        </p:grpSpPr>
        <p:pic>
          <p:nvPicPr>
            <p:cNvPr id="60" name="Picture 8" descr="profile">
              <a:extLst>
                <a:ext uri="{FF2B5EF4-FFF2-40B4-BE49-F238E27FC236}">
                  <a16:creationId xmlns:a16="http://schemas.microsoft.com/office/drawing/2014/main" id="{9D5168DD-F27B-C2D5-6963-AB73F107A514}"/>
                </a:ext>
              </a:extLst>
            </p:cNvPr>
            <p:cNvPicPr>
              <a:picLocks noChangeAspect="1" noChangeArrowheads="1"/>
            </p:cNvPicPr>
            <p:nvPr/>
          </p:nvPicPr>
          <p:blipFill rotWithShape="1">
            <a:blip r:embed="rId14" cstate="email">
              <a:extLst>
                <a:ext uri="{28A0092B-C50C-407E-A947-70E740481C1C}">
                  <a14:useLocalDpi xmlns:a14="http://schemas.microsoft.com/office/drawing/2010/main"/>
                </a:ext>
              </a:extLst>
            </a:blip>
            <a:srcRect l="17714" t="13834" r="20273" b="11101"/>
            <a:stretch/>
          </p:blipFill>
          <p:spPr bwMode="auto">
            <a:xfrm>
              <a:off x="4766740" y="4123288"/>
              <a:ext cx="914400" cy="1141597"/>
            </a:xfrm>
            <a:prstGeom prst="rect">
              <a:avLst/>
            </a:prstGeom>
            <a:noFill/>
            <a:extLst>
              <a:ext uri="{909E8E84-426E-40DD-AFC4-6F175D3DCCD1}">
                <a14:hiddenFill xmlns:a14="http://schemas.microsoft.com/office/drawing/2010/main">
                  <a:solidFill>
                    <a:srgbClr val="FFFFFF"/>
                  </a:solidFill>
                </a14:hiddenFill>
              </a:ext>
            </a:extLst>
          </p:spPr>
        </p:pic>
        <p:sp>
          <p:nvSpPr>
            <p:cNvPr id="61" name="Rectangle 60">
              <a:extLst>
                <a:ext uri="{FF2B5EF4-FFF2-40B4-BE49-F238E27FC236}">
                  <a16:creationId xmlns:a16="http://schemas.microsoft.com/office/drawing/2014/main" id="{DEE49C80-76DA-4623-D4AD-13C8A9A10CF1}"/>
                </a:ext>
              </a:extLst>
            </p:cNvPr>
            <p:cNvSpPr/>
            <p:nvPr/>
          </p:nvSpPr>
          <p:spPr>
            <a:xfrm>
              <a:off x="4845472" y="5348736"/>
              <a:ext cx="756937" cy="428322"/>
            </a:xfrm>
            <a:prstGeom prst="rect">
              <a:avLst/>
            </a:prstGeom>
          </p:spPr>
          <p:txBody>
            <a:bodyPr wrap="none">
              <a:spAutoFit/>
            </a:bodyPr>
            <a:lstStyle/>
            <a:p>
              <a:pPr algn="ctr"/>
              <a:r>
                <a:rPr lang="en-US" altLang="zh-CN" sz="1050" dirty="0">
                  <a:solidFill>
                    <a:schemeClr val="tx1"/>
                  </a:solidFill>
                  <a:latin typeface="Calibri" panose="020F0502020204030204" pitchFamily="34" charset="0"/>
                  <a:ea typeface="+mj-ea"/>
                  <a:cs typeface="Calibri" panose="020F0502020204030204" pitchFamily="34" charset="0"/>
                </a:rPr>
                <a:t>Nico Chen</a:t>
              </a:r>
              <a:endParaRPr lang="en-US" sz="1050" dirty="0">
                <a:solidFill>
                  <a:schemeClr val="tx1"/>
                </a:solidFill>
                <a:latin typeface="Calibri" panose="020F0502020204030204" pitchFamily="34" charset="0"/>
                <a:ea typeface="+mj-ea"/>
                <a:cs typeface="Calibri" panose="020F0502020204030204" pitchFamily="34" charset="0"/>
              </a:endParaRPr>
            </a:p>
            <a:p>
              <a:pPr algn="ctr">
                <a:spcBef>
                  <a:spcPts val="100"/>
                </a:spcBef>
              </a:pPr>
              <a:r>
                <a:rPr lang="en-US" altLang="zh-CN" sz="1050" b="0" dirty="0">
                  <a:solidFill>
                    <a:schemeClr val="tx1"/>
                  </a:solidFill>
                  <a:latin typeface="Calibri" panose="020F0502020204030204" pitchFamily="34" charset="0"/>
                  <a:ea typeface="+mj-ea"/>
                  <a:cs typeface="Calibri" panose="020F0502020204030204" pitchFamily="34" charset="0"/>
                </a:rPr>
                <a:t>Analyst</a:t>
              </a:r>
            </a:p>
          </p:txBody>
        </p:sp>
      </p:grpSp>
      <p:grpSp>
        <p:nvGrpSpPr>
          <p:cNvPr id="62" name="Group 61">
            <a:extLst>
              <a:ext uri="{FF2B5EF4-FFF2-40B4-BE49-F238E27FC236}">
                <a16:creationId xmlns:a16="http://schemas.microsoft.com/office/drawing/2014/main" id="{1AB3C3DA-4EE5-DA30-7E0A-AA676D6D6A12}"/>
              </a:ext>
            </a:extLst>
          </p:cNvPr>
          <p:cNvGrpSpPr/>
          <p:nvPr/>
        </p:nvGrpSpPr>
        <p:grpSpPr>
          <a:xfrm>
            <a:off x="2598015" y="4487137"/>
            <a:ext cx="965329" cy="1656647"/>
            <a:chOff x="3213766" y="4158901"/>
            <a:chExt cx="965329" cy="1625006"/>
          </a:xfrm>
        </p:grpSpPr>
        <p:pic>
          <p:nvPicPr>
            <p:cNvPr id="63" name="Picture 6" descr="http://mydbs.net/uploadedimages/466206.jpg">
              <a:extLst>
                <a:ext uri="{FF2B5EF4-FFF2-40B4-BE49-F238E27FC236}">
                  <a16:creationId xmlns:a16="http://schemas.microsoft.com/office/drawing/2014/main" id="{4C6022E5-961B-1805-8371-25BB0ACC6E9A}"/>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241723" y="4158901"/>
              <a:ext cx="909412" cy="1106196"/>
            </a:xfrm>
            <a:prstGeom prst="rect">
              <a:avLst/>
            </a:prstGeom>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4" name="Rectangle 63">
              <a:extLst>
                <a:ext uri="{FF2B5EF4-FFF2-40B4-BE49-F238E27FC236}">
                  <a16:creationId xmlns:a16="http://schemas.microsoft.com/office/drawing/2014/main" id="{055ACCB2-AB35-59D2-5796-42BC23D18BFE}"/>
                </a:ext>
              </a:extLst>
            </p:cNvPr>
            <p:cNvSpPr/>
            <p:nvPr/>
          </p:nvSpPr>
          <p:spPr>
            <a:xfrm>
              <a:off x="3213766" y="5355585"/>
              <a:ext cx="965329" cy="428322"/>
            </a:xfrm>
            <a:prstGeom prst="rect">
              <a:avLst/>
            </a:prstGeom>
          </p:spPr>
          <p:txBody>
            <a:bodyPr wrap="none">
              <a:spAutoFit/>
            </a:bodyPr>
            <a:lstStyle/>
            <a:p>
              <a:pPr algn="ctr"/>
              <a:r>
                <a:rPr lang="en-US" altLang="zh-CN" sz="1050" dirty="0">
                  <a:solidFill>
                    <a:schemeClr val="tx1"/>
                  </a:solidFill>
                  <a:latin typeface="Calibri" panose="020F0502020204030204" pitchFamily="34" charset="0"/>
                  <a:ea typeface="+mj-ea"/>
                  <a:cs typeface="Calibri" panose="020F0502020204030204" pitchFamily="34" charset="0"/>
                </a:rPr>
                <a:t>Rachel</a:t>
              </a:r>
              <a:r>
                <a:rPr lang="zh-CN" altLang="en-US" sz="1050" dirty="0">
                  <a:solidFill>
                    <a:schemeClr val="tx1"/>
                  </a:solidFill>
                  <a:latin typeface="Calibri" panose="020F0502020204030204" pitchFamily="34" charset="0"/>
                  <a:ea typeface="+mj-ea"/>
                  <a:cs typeface="Calibri" panose="020F0502020204030204" pitchFamily="34" charset="0"/>
                </a:rPr>
                <a:t> </a:t>
              </a:r>
              <a:r>
                <a:rPr lang="en-US" altLang="zh-CN" sz="1050" dirty="0">
                  <a:solidFill>
                    <a:schemeClr val="tx1"/>
                  </a:solidFill>
                  <a:latin typeface="Calibri" panose="020F0502020204030204" pitchFamily="34" charset="0"/>
                  <a:ea typeface="+mj-ea"/>
                  <a:cs typeface="Calibri" panose="020F0502020204030204" pitchFamily="34" charset="0"/>
                </a:rPr>
                <a:t>Tan</a:t>
              </a:r>
              <a:endParaRPr lang="en-US" sz="1050" dirty="0">
                <a:solidFill>
                  <a:schemeClr val="tx1"/>
                </a:solidFill>
                <a:latin typeface="Calibri" panose="020F0502020204030204" pitchFamily="34" charset="0"/>
                <a:ea typeface="+mj-ea"/>
                <a:cs typeface="Calibri" panose="020F0502020204030204" pitchFamily="34" charset="0"/>
              </a:endParaRPr>
            </a:p>
            <a:p>
              <a:pPr algn="ctr">
                <a:spcBef>
                  <a:spcPts val="100"/>
                </a:spcBef>
              </a:pPr>
              <a:r>
                <a:rPr lang="en-US" altLang="zh-CN" sz="1050" b="0" dirty="0">
                  <a:solidFill>
                    <a:schemeClr val="tx1"/>
                  </a:solidFill>
                  <a:latin typeface="Calibri" panose="020F0502020204030204" pitchFamily="34" charset="0"/>
                  <a:ea typeface="+mj-ea"/>
                  <a:cs typeface="Calibri" panose="020F0502020204030204" pitchFamily="34" charset="0"/>
                </a:rPr>
                <a:t>Senior Analyst</a:t>
              </a:r>
            </a:p>
          </p:txBody>
        </p:sp>
      </p:grpSp>
      <p:grpSp>
        <p:nvGrpSpPr>
          <p:cNvPr id="65" name="Group 64">
            <a:extLst>
              <a:ext uri="{FF2B5EF4-FFF2-40B4-BE49-F238E27FC236}">
                <a16:creationId xmlns:a16="http://schemas.microsoft.com/office/drawing/2014/main" id="{B4A9556F-4E7A-FD06-A3F7-5D709CF49545}"/>
              </a:ext>
            </a:extLst>
          </p:cNvPr>
          <p:cNvGrpSpPr/>
          <p:nvPr/>
        </p:nvGrpSpPr>
        <p:grpSpPr>
          <a:xfrm>
            <a:off x="910384" y="4487137"/>
            <a:ext cx="1162499" cy="1648454"/>
            <a:chOff x="1542167" y="4123288"/>
            <a:chExt cx="1162499" cy="1648454"/>
          </a:xfrm>
        </p:grpSpPr>
        <p:pic>
          <p:nvPicPr>
            <p:cNvPr id="66" name="Picture 10" descr="profile">
              <a:extLst>
                <a:ext uri="{FF2B5EF4-FFF2-40B4-BE49-F238E27FC236}">
                  <a16:creationId xmlns:a16="http://schemas.microsoft.com/office/drawing/2014/main" id="{B7A42780-6CC8-7122-5F1B-CEE1FE5E5089}"/>
                </a:ext>
              </a:extLst>
            </p:cNvPr>
            <p:cNvPicPr>
              <a:picLocks noChangeAspect="1" noChangeArrowheads="1"/>
            </p:cNvPicPr>
            <p:nvPr/>
          </p:nvPicPr>
          <p:blipFill rotWithShape="1">
            <a:blip r:embed="rId16" cstate="email">
              <a:extLst>
                <a:ext uri="{28A0092B-C50C-407E-A947-70E740481C1C}">
                  <a14:useLocalDpi xmlns:a14="http://schemas.microsoft.com/office/drawing/2010/main"/>
                </a:ext>
              </a:extLst>
            </a:blip>
            <a:srcRect l="15275" t="10894" r="19246" b="9867"/>
            <a:stretch/>
          </p:blipFill>
          <p:spPr bwMode="auto">
            <a:xfrm>
              <a:off x="1666216" y="4123288"/>
              <a:ext cx="914400" cy="1136933"/>
            </a:xfrm>
            <a:prstGeom prst="rect">
              <a:avLst/>
            </a:prstGeom>
            <a:noFill/>
            <a:extLst>
              <a:ext uri="{909E8E84-426E-40DD-AFC4-6F175D3DCCD1}">
                <a14:hiddenFill xmlns:a14="http://schemas.microsoft.com/office/drawing/2010/main">
                  <a:solidFill>
                    <a:srgbClr val="FFFFFF"/>
                  </a:solidFill>
                </a14:hiddenFill>
              </a:ext>
            </a:extLst>
          </p:spPr>
        </p:pic>
        <p:sp>
          <p:nvSpPr>
            <p:cNvPr id="67" name="Rectangle 66">
              <a:extLst>
                <a:ext uri="{FF2B5EF4-FFF2-40B4-BE49-F238E27FC236}">
                  <a16:creationId xmlns:a16="http://schemas.microsoft.com/office/drawing/2014/main" id="{D7CDE4EB-2C90-ACAA-F6B4-E4F922848182}"/>
                </a:ext>
              </a:extLst>
            </p:cNvPr>
            <p:cNvSpPr/>
            <p:nvPr/>
          </p:nvSpPr>
          <p:spPr>
            <a:xfrm>
              <a:off x="1542167" y="5343420"/>
              <a:ext cx="1162499" cy="428322"/>
            </a:xfrm>
            <a:prstGeom prst="rect">
              <a:avLst/>
            </a:prstGeom>
          </p:spPr>
          <p:txBody>
            <a:bodyPr wrap="none">
              <a:spAutoFit/>
            </a:bodyPr>
            <a:lstStyle/>
            <a:p>
              <a:pPr algn="ctr"/>
              <a:r>
                <a:rPr lang="en-US" altLang="zh-CN" sz="1050" dirty="0">
                  <a:solidFill>
                    <a:schemeClr val="tx1"/>
                  </a:solidFill>
                  <a:latin typeface="Calibri" panose="020F0502020204030204" pitchFamily="34" charset="0"/>
                  <a:ea typeface="+mj-ea"/>
                  <a:cs typeface="Calibri" panose="020F0502020204030204" pitchFamily="34" charset="0"/>
                </a:rPr>
                <a:t>Phoenix Zhang</a:t>
              </a:r>
              <a:endParaRPr lang="en-US" sz="1050" dirty="0">
                <a:solidFill>
                  <a:schemeClr val="tx1"/>
                </a:solidFill>
                <a:latin typeface="Calibri" panose="020F0502020204030204" pitchFamily="34" charset="0"/>
                <a:ea typeface="+mj-ea"/>
                <a:cs typeface="Calibri" panose="020F0502020204030204" pitchFamily="34" charset="0"/>
              </a:endParaRPr>
            </a:p>
            <a:p>
              <a:pPr algn="ctr">
                <a:spcBef>
                  <a:spcPts val="100"/>
                </a:spcBef>
              </a:pPr>
              <a:r>
                <a:rPr lang="en-US" altLang="zh-CN" sz="1050" b="0" dirty="0">
                  <a:solidFill>
                    <a:schemeClr val="tx1"/>
                  </a:solidFill>
                  <a:latin typeface="Calibri" panose="020F0502020204030204" pitchFamily="34" charset="0"/>
                  <a:ea typeface="+mj-ea"/>
                  <a:cs typeface="Calibri" panose="020F0502020204030204" pitchFamily="34" charset="0"/>
                </a:rPr>
                <a:t>Research Director</a:t>
              </a:r>
            </a:p>
          </p:txBody>
        </p:sp>
      </p:grpSp>
      <p:sp>
        <p:nvSpPr>
          <p:cNvPr id="68" name="Text Box 2589">
            <a:extLst>
              <a:ext uri="{FF2B5EF4-FFF2-40B4-BE49-F238E27FC236}">
                <a16:creationId xmlns:a16="http://schemas.microsoft.com/office/drawing/2014/main" id="{37D1727F-609B-D786-13A9-EF7966BB806E}"/>
              </a:ext>
            </a:extLst>
          </p:cNvPr>
          <p:cNvSpPr txBox="1">
            <a:spLocks noChangeArrowheads="1"/>
          </p:cNvSpPr>
          <p:nvPr/>
        </p:nvSpPr>
        <p:spPr bwMode="gray">
          <a:xfrm>
            <a:off x="717153" y="1034840"/>
            <a:ext cx="8494051" cy="647514"/>
          </a:xfrm>
          <a:prstGeom prst="rect">
            <a:avLst/>
          </a:prstGeom>
          <a:solidFill>
            <a:srgbClr val="FEBFB3"/>
          </a:solidFill>
          <a:ln w="9525" cap="flat" cmpd="sng" algn="ctr">
            <a:noFill/>
            <a:prstDash val="solid"/>
            <a:headEnd/>
            <a:tailEnd/>
          </a:ln>
          <a:effectLst>
            <a:outerShdw blurRad="40000" dist="23000" dir="5400000" rotWithShape="0">
              <a:srgbClr val="000000">
                <a:alpha val="35000"/>
              </a:srgbClr>
            </a:outerShdw>
          </a:effectLst>
        </p:spPr>
        <p:txBody>
          <a:bodyPr wrap="square" lIns="84406" tIns="84406" rIns="84406" bIns="84406" anchor="t" anchorCtr="0">
            <a:spAutoFit/>
          </a:bodyPr>
          <a:lstStyle/>
          <a:p>
            <a:pPr marL="174625" indent="-174625">
              <a:spcBef>
                <a:spcPts val="0"/>
              </a:spcBef>
              <a:spcAft>
                <a:spcPts val="300"/>
              </a:spcAft>
              <a:buClr>
                <a:srgbClr val="BE050A"/>
              </a:buClr>
              <a:buFont typeface="Wingdings" pitchFamily="2" charset="2"/>
              <a:buChar char="n"/>
              <a:defRPr/>
            </a:pPr>
            <a:r>
              <a:rPr lang="en-US" altLang="zh-CN" sz="900" b="0" dirty="0">
                <a:solidFill>
                  <a:srgbClr val="000000"/>
                </a:solidFill>
                <a:latin typeface="Arial" panose="020B0604020202020204" pitchFamily="34" charset="0"/>
                <a:ea typeface="+mj-ea"/>
                <a:cs typeface="Arial" panose="020B0604020202020204" pitchFamily="34" charset="0"/>
              </a:rPr>
              <a:t>Healthcare has long been a core strength of DBS research, consistently ranking among the top players in the market and building a strong first-mover advantage over the years</a:t>
            </a:r>
            <a:endParaRPr lang="zh-CN" altLang="en-US" sz="900" b="0" dirty="0">
              <a:solidFill>
                <a:srgbClr val="000000"/>
              </a:solidFill>
              <a:latin typeface="Arial" panose="020B0604020202020204" pitchFamily="34" charset="0"/>
              <a:ea typeface="+mj-ea"/>
              <a:cs typeface="Arial" panose="020B0604020202020204" pitchFamily="34" charset="0"/>
            </a:endParaRPr>
          </a:p>
          <a:p>
            <a:pPr marL="174625" indent="-174625">
              <a:spcBef>
                <a:spcPts val="0"/>
              </a:spcBef>
              <a:spcAft>
                <a:spcPts val="300"/>
              </a:spcAft>
              <a:buClr>
                <a:srgbClr val="BE050A"/>
              </a:buClr>
              <a:buFont typeface="Wingdings" pitchFamily="2" charset="2"/>
              <a:buChar char="n"/>
              <a:defRPr/>
            </a:pPr>
            <a:r>
              <a:rPr lang="en-US" altLang="zh-CN" sz="900" b="0" dirty="0">
                <a:solidFill>
                  <a:srgbClr val="000000"/>
                </a:solidFill>
                <a:latin typeface="Arial" panose="020B0604020202020204" pitchFamily="34" charset="0"/>
                <a:ea typeface="+mj-ea"/>
                <a:cs typeface="Arial" panose="020B0604020202020204" pitchFamily="34" charset="0"/>
              </a:rPr>
              <a:t>Led by Mark Kong, our sector analysts cover biopharmaceutical stocks across the Greater China region</a:t>
            </a:r>
            <a:endParaRPr lang="zh-CN" altLang="en-US" sz="900" b="0" dirty="0">
              <a:solidFill>
                <a:srgbClr val="000000"/>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526176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AFBEE-35A9-68F6-7B05-33C76D044E9C}"/>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BA04D145-5B1B-6F70-57E5-04C6627B97CA}"/>
              </a:ext>
            </a:extLst>
          </p:cNvPr>
          <p:cNvSpPr>
            <a:spLocks noGrp="1"/>
          </p:cNvSpPr>
          <p:nvPr>
            <p:ph type="subTitle" idx="1"/>
          </p:nvPr>
        </p:nvSpPr>
        <p:spPr/>
        <p:txBody>
          <a:bodyPr/>
          <a:lstStyle/>
          <a:p>
            <a:r>
              <a:rPr lang="en-US" altLang="zh-TW" b="1" dirty="0"/>
              <a:t>Section II </a:t>
            </a:r>
            <a:r>
              <a:rPr lang="en-US" dirty="0"/>
              <a:t>–</a:t>
            </a:r>
            <a:r>
              <a:rPr lang="en-US" altLang="zh-TW" b="1" dirty="0"/>
              <a:t> Hong Kong Equity Market Update</a:t>
            </a:r>
            <a:endParaRPr lang="en-US" b="1" dirty="0"/>
          </a:p>
        </p:txBody>
      </p:sp>
      <p:sp>
        <p:nvSpPr>
          <p:cNvPr id="4" name="Slide Number Placeholder 3">
            <a:extLst>
              <a:ext uri="{FF2B5EF4-FFF2-40B4-BE49-F238E27FC236}">
                <a16:creationId xmlns:a16="http://schemas.microsoft.com/office/drawing/2014/main" id="{64CC1EE4-2DB3-3808-7B4F-3C80FC5EA1CE}"/>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24</a:t>
            </a:fld>
            <a:endParaRPr lang="en-US" altLang="en-US" b="0">
              <a:solidFill>
                <a:srgbClr val="000000"/>
              </a:solidFill>
            </a:endParaRPr>
          </a:p>
        </p:txBody>
      </p:sp>
    </p:spTree>
    <p:extLst>
      <p:ext uri="{BB962C8B-B14F-4D97-AF65-F5344CB8AC3E}">
        <p14:creationId xmlns:p14="http://schemas.microsoft.com/office/powerpoint/2010/main" val="1722000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5C74CA2-02EF-F439-3BFC-B9C44687C0A4}"/>
              </a:ext>
            </a:extLst>
          </p:cNvPr>
          <p:cNvSpPr>
            <a:spLocks noGrp="1"/>
          </p:cNvSpPr>
          <p:nvPr>
            <p:ph type="title"/>
          </p:nvPr>
        </p:nvSpPr>
        <p:spPr/>
        <p:txBody>
          <a:bodyPr/>
          <a:lstStyle/>
          <a:p>
            <a:r>
              <a:rPr lang="en-US" sz="2000" dirty="0"/>
              <a:t>HK is the #1 IPO Market Globally and 2nd Most Active Geography for All ECM Issuance</a:t>
            </a:r>
          </a:p>
        </p:txBody>
      </p:sp>
      <p:sp>
        <p:nvSpPr>
          <p:cNvPr id="15" name="TextBox 14">
            <a:extLst>
              <a:ext uri="{FF2B5EF4-FFF2-40B4-BE49-F238E27FC236}">
                <a16:creationId xmlns:a16="http://schemas.microsoft.com/office/drawing/2014/main" id="{B8B1CB4F-6DF0-5600-C0E8-F97F44837FCE}"/>
              </a:ext>
            </a:extLst>
          </p:cNvPr>
          <p:cNvSpPr txBox="1">
            <a:spLocks noChangeArrowheads="1"/>
          </p:cNvSpPr>
          <p:nvPr/>
        </p:nvSpPr>
        <p:spPr bwMode="auto">
          <a:xfrm>
            <a:off x="708658" y="1211076"/>
            <a:ext cx="2732621" cy="274320"/>
          </a:xfrm>
          <a:prstGeom prst="rect">
            <a:avLst/>
          </a:prstGeom>
          <a:solidFill>
            <a:srgbClr val="C00000"/>
          </a:solidFill>
          <a:ln w="9525" cap="flat" cmpd="sng" algn="ctr">
            <a:solidFill>
              <a:srgbClr val="C00000"/>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dirty="0">
                <a:cs typeface="Arial" panose="020B0604020202020204" pitchFamily="34" charset="0"/>
              </a:rPr>
              <a:t>#1 in IPO Volume</a:t>
            </a:r>
          </a:p>
        </p:txBody>
      </p:sp>
      <p:sp>
        <p:nvSpPr>
          <p:cNvPr id="16" name="TextBox 15">
            <a:extLst>
              <a:ext uri="{FF2B5EF4-FFF2-40B4-BE49-F238E27FC236}">
                <a16:creationId xmlns:a16="http://schemas.microsoft.com/office/drawing/2014/main" id="{79F4463B-2DA2-1C87-7E46-8FB157970152}"/>
              </a:ext>
            </a:extLst>
          </p:cNvPr>
          <p:cNvSpPr txBox="1"/>
          <p:nvPr/>
        </p:nvSpPr>
        <p:spPr>
          <a:xfrm>
            <a:off x="678922" y="5719754"/>
            <a:ext cx="7845552" cy="461665"/>
          </a:xfrm>
          <a:prstGeom prst="rect">
            <a:avLst/>
          </a:prstGeom>
          <a:noFill/>
        </p:spPr>
        <p:txBody>
          <a:bodyPr wrap="square" lIns="0" anchor="b" anchorCtr="0">
            <a:spAutoFit/>
          </a:bodyPr>
          <a:lstStyle/>
          <a:p>
            <a:r>
              <a:rPr lang="en-US" altLang="zh-CN" sz="600" b="0" i="1" dirty="0">
                <a:solidFill>
                  <a:schemeClr val="tx1"/>
                </a:solidFill>
                <a:cs typeface="Arial" panose="020B0604020202020204" pitchFamily="34" charset="0"/>
              </a:rPr>
              <a:t>Sources: Dealogic as of 31 Mar 2026 </a:t>
            </a:r>
          </a:p>
          <a:p>
            <a:pPr>
              <a:tabLst>
                <a:tab pos="457200" algn="l"/>
                <a:tab pos="685800" algn="l"/>
              </a:tabLst>
            </a:pPr>
            <a:r>
              <a:rPr lang="en-US" altLang="zh-CN" sz="600" b="0" i="1" dirty="0">
                <a:solidFill>
                  <a:schemeClr val="tx1"/>
                </a:solidFill>
                <a:cs typeface="Arial" panose="020B0604020202020204" pitchFamily="34" charset="0"/>
              </a:rPr>
              <a:t>Notes:	</a:t>
            </a:r>
            <a:r>
              <a:rPr lang="en-US" altLang="zh-TW" sz="600" b="0" i="1" dirty="0">
                <a:solidFill>
                  <a:schemeClr val="tx1"/>
                </a:solidFill>
                <a:cs typeface="Arial" panose="020B0604020202020204" pitchFamily="34" charset="0"/>
              </a:rPr>
              <a:t>1.	</a:t>
            </a:r>
            <a:r>
              <a:rPr lang="en-US" altLang="zh-CN" sz="600" b="0" i="1" dirty="0">
                <a:solidFill>
                  <a:schemeClr val="tx1"/>
                </a:solidFill>
                <a:cs typeface="Arial" panose="020B0604020202020204" pitchFamily="34" charset="0"/>
              </a:rPr>
              <a:t>Excludes SPAC ECM transactions</a:t>
            </a:r>
          </a:p>
          <a:p>
            <a:pPr>
              <a:tabLst>
                <a:tab pos="457200" algn="l"/>
                <a:tab pos="685800" algn="l"/>
              </a:tabLst>
            </a:pPr>
            <a:r>
              <a:rPr lang="en-US" altLang="zh-CN" sz="600" b="0" i="1" dirty="0">
                <a:solidFill>
                  <a:schemeClr val="tx1"/>
                </a:solidFill>
                <a:cs typeface="Arial" panose="020B0604020202020204" pitchFamily="34" charset="0"/>
              </a:rPr>
              <a:t>	2.	Respective exchanges comprise all boards / markets consolidated under the exchange</a:t>
            </a:r>
          </a:p>
          <a:p>
            <a:pPr>
              <a:tabLst>
                <a:tab pos="457200" algn="l"/>
                <a:tab pos="685800" algn="l"/>
              </a:tabLst>
            </a:pPr>
            <a:r>
              <a:rPr lang="en-US" altLang="zh-CN" sz="600" b="0" i="1" dirty="0">
                <a:solidFill>
                  <a:schemeClr val="tx1"/>
                </a:solidFill>
                <a:cs typeface="Arial" panose="020B0604020202020204" pitchFamily="34" charset="0"/>
              </a:rPr>
              <a:t>	3.	The deal value of ECM transactions by HK / US dual-listed issuers is fully attributed to both HK and the US exchanges</a:t>
            </a:r>
          </a:p>
        </p:txBody>
      </p:sp>
      <p:sp>
        <p:nvSpPr>
          <p:cNvPr id="17" name="TextBox 16">
            <a:extLst>
              <a:ext uri="{FF2B5EF4-FFF2-40B4-BE49-F238E27FC236}">
                <a16:creationId xmlns:a16="http://schemas.microsoft.com/office/drawing/2014/main" id="{8460C3B6-AE55-F0EC-F89C-33C2141EFE42}"/>
              </a:ext>
            </a:extLst>
          </p:cNvPr>
          <p:cNvSpPr txBox="1">
            <a:spLocks noChangeArrowheads="1"/>
          </p:cNvSpPr>
          <p:nvPr/>
        </p:nvSpPr>
        <p:spPr bwMode="auto">
          <a:xfrm>
            <a:off x="3558666" y="1211076"/>
            <a:ext cx="2758615" cy="274320"/>
          </a:xfrm>
          <a:prstGeom prst="rect">
            <a:avLst/>
          </a:prstGeom>
          <a:solidFill>
            <a:srgbClr val="C00000"/>
          </a:solidFill>
          <a:ln w="9525" cap="flat" cmpd="sng" algn="ctr">
            <a:solidFill>
              <a:srgbClr val="C00000"/>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dirty="0">
                <a:cs typeface="Arial" panose="020B0604020202020204" pitchFamily="34" charset="0"/>
              </a:rPr>
              <a:t>Top 3 in All ECM Volume</a:t>
            </a:r>
          </a:p>
        </p:txBody>
      </p:sp>
      <p:sp>
        <p:nvSpPr>
          <p:cNvPr id="18" name="TextBox 17">
            <a:extLst>
              <a:ext uri="{FF2B5EF4-FFF2-40B4-BE49-F238E27FC236}">
                <a16:creationId xmlns:a16="http://schemas.microsoft.com/office/drawing/2014/main" id="{516B2274-861B-9AE7-7012-1E6C957E8750}"/>
              </a:ext>
            </a:extLst>
          </p:cNvPr>
          <p:cNvSpPr txBox="1">
            <a:spLocks noChangeArrowheads="1"/>
          </p:cNvSpPr>
          <p:nvPr/>
        </p:nvSpPr>
        <p:spPr bwMode="auto">
          <a:xfrm>
            <a:off x="6434667" y="1211076"/>
            <a:ext cx="2758615" cy="274320"/>
          </a:xfrm>
          <a:prstGeom prst="rect">
            <a:avLst/>
          </a:prstGeom>
          <a:solidFill>
            <a:srgbClr val="C00000"/>
          </a:solidFill>
          <a:ln w="9525" cap="flat" cmpd="sng" algn="ctr">
            <a:solidFill>
              <a:srgbClr val="C00000"/>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dirty="0">
                <a:cs typeface="Arial" panose="020B0604020202020204" pitchFamily="34" charset="0"/>
              </a:rPr>
              <a:t>Top 3 in Follow-on Issuance</a:t>
            </a:r>
          </a:p>
        </p:txBody>
      </p:sp>
      <p:sp>
        <p:nvSpPr>
          <p:cNvPr id="2" name="Slide Number Placeholder 10">
            <a:extLst>
              <a:ext uri="{FF2B5EF4-FFF2-40B4-BE49-F238E27FC236}">
                <a16:creationId xmlns:a16="http://schemas.microsoft.com/office/drawing/2014/main" id="{744901E6-3764-A206-3C64-AD3381C4DCA5}"/>
              </a:ext>
            </a:extLst>
          </p:cNvPr>
          <p:cNvSpPr>
            <a:spLocks noGrp="1"/>
          </p:cNvSpPr>
          <p:nvPr>
            <p:ph type="sldNum" sz="quarter" idx="4"/>
          </p:nvPr>
        </p:nvSpPr>
        <p:spPr>
          <a:xfrm>
            <a:off x="8555964" y="6370638"/>
            <a:ext cx="1155700" cy="381000"/>
          </a:xfrm>
        </p:spPr>
        <p:txBody>
          <a:bodyPr/>
          <a:lstStyle/>
          <a:p>
            <a:pPr>
              <a:spcBef>
                <a:spcPct val="0"/>
              </a:spcBef>
              <a:defRPr/>
            </a:pPr>
            <a:fld id="{EFB97E77-A14C-4D4A-B483-93BB0C8192BC}" type="slidenum">
              <a:rPr lang="en-US" altLang="en-US" b="0" smtClean="0">
                <a:solidFill>
                  <a:srgbClr val="000000"/>
                </a:solidFill>
              </a:rPr>
              <a:pPr>
                <a:spcBef>
                  <a:spcPct val="0"/>
                </a:spcBef>
                <a:defRPr/>
              </a:pPr>
              <a:t>25</a:t>
            </a:fld>
            <a:endParaRPr lang="en-US" altLang="en-US" b="0">
              <a:solidFill>
                <a:srgbClr val="000000"/>
              </a:solidFill>
            </a:endParaRPr>
          </a:p>
        </p:txBody>
      </p:sp>
      <p:graphicFrame>
        <p:nvGraphicFramePr>
          <p:cNvPr id="11" name="表格 10">
            <a:extLst>
              <a:ext uri="{FF2B5EF4-FFF2-40B4-BE49-F238E27FC236}">
                <a16:creationId xmlns:a16="http://schemas.microsoft.com/office/drawing/2014/main" id="{AD6A7F0F-22F0-C8AB-9846-65140C714663}"/>
              </a:ext>
            </a:extLst>
          </p:cNvPr>
          <p:cNvGraphicFramePr>
            <a:graphicFrameLocks noGrp="1"/>
          </p:cNvGraphicFramePr>
          <p:nvPr>
            <p:extLst>
              <p:ext uri="{D42A27DB-BD31-4B8C-83A1-F6EECF244321}">
                <p14:modId xmlns:p14="http://schemas.microsoft.com/office/powerpoint/2010/main" val="3777952025"/>
              </p:ext>
            </p:extLst>
          </p:nvPr>
        </p:nvGraphicFramePr>
        <p:xfrm>
          <a:off x="700153" y="1580731"/>
          <a:ext cx="8493130" cy="3096499"/>
        </p:xfrm>
        <a:graphic>
          <a:graphicData uri="http://schemas.openxmlformats.org/drawingml/2006/table">
            <a:tbl>
              <a:tblPr/>
              <a:tblGrid>
                <a:gridCol w="685706">
                  <a:extLst>
                    <a:ext uri="{9D8B030D-6E8A-4147-A177-3AD203B41FA5}">
                      <a16:colId xmlns:a16="http://schemas.microsoft.com/office/drawing/2014/main" val="1641324960"/>
                    </a:ext>
                  </a:extLst>
                </a:gridCol>
                <a:gridCol w="685706">
                  <a:extLst>
                    <a:ext uri="{9D8B030D-6E8A-4147-A177-3AD203B41FA5}">
                      <a16:colId xmlns:a16="http://schemas.microsoft.com/office/drawing/2014/main" val="1095822400"/>
                    </a:ext>
                  </a:extLst>
                </a:gridCol>
                <a:gridCol w="685706">
                  <a:extLst>
                    <a:ext uri="{9D8B030D-6E8A-4147-A177-3AD203B41FA5}">
                      <a16:colId xmlns:a16="http://schemas.microsoft.com/office/drawing/2014/main" val="2623627801"/>
                    </a:ext>
                  </a:extLst>
                </a:gridCol>
                <a:gridCol w="685706">
                  <a:extLst>
                    <a:ext uri="{9D8B030D-6E8A-4147-A177-3AD203B41FA5}">
                      <a16:colId xmlns:a16="http://schemas.microsoft.com/office/drawing/2014/main" val="3005921290"/>
                    </a:ext>
                  </a:extLst>
                </a:gridCol>
                <a:gridCol w="132329">
                  <a:extLst>
                    <a:ext uri="{9D8B030D-6E8A-4147-A177-3AD203B41FA5}">
                      <a16:colId xmlns:a16="http://schemas.microsoft.com/office/drawing/2014/main" val="3855126012"/>
                    </a:ext>
                  </a:extLst>
                </a:gridCol>
                <a:gridCol w="685706">
                  <a:extLst>
                    <a:ext uri="{9D8B030D-6E8A-4147-A177-3AD203B41FA5}">
                      <a16:colId xmlns:a16="http://schemas.microsoft.com/office/drawing/2014/main" val="1077598868"/>
                    </a:ext>
                  </a:extLst>
                </a:gridCol>
                <a:gridCol w="685706">
                  <a:extLst>
                    <a:ext uri="{9D8B030D-6E8A-4147-A177-3AD203B41FA5}">
                      <a16:colId xmlns:a16="http://schemas.microsoft.com/office/drawing/2014/main" val="1230306749"/>
                    </a:ext>
                  </a:extLst>
                </a:gridCol>
                <a:gridCol w="685706">
                  <a:extLst>
                    <a:ext uri="{9D8B030D-6E8A-4147-A177-3AD203B41FA5}">
                      <a16:colId xmlns:a16="http://schemas.microsoft.com/office/drawing/2014/main" val="1716112197"/>
                    </a:ext>
                  </a:extLst>
                </a:gridCol>
                <a:gridCol w="685706">
                  <a:extLst>
                    <a:ext uri="{9D8B030D-6E8A-4147-A177-3AD203B41FA5}">
                      <a16:colId xmlns:a16="http://schemas.microsoft.com/office/drawing/2014/main" val="2612655952"/>
                    </a:ext>
                  </a:extLst>
                </a:gridCol>
                <a:gridCol w="132329">
                  <a:extLst>
                    <a:ext uri="{9D8B030D-6E8A-4147-A177-3AD203B41FA5}">
                      <a16:colId xmlns:a16="http://schemas.microsoft.com/office/drawing/2014/main" val="187091298"/>
                    </a:ext>
                  </a:extLst>
                </a:gridCol>
                <a:gridCol w="685706">
                  <a:extLst>
                    <a:ext uri="{9D8B030D-6E8A-4147-A177-3AD203B41FA5}">
                      <a16:colId xmlns:a16="http://schemas.microsoft.com/office/drawing/2014/main" val="2762461556"/>
                    </a:ext>
                  </a:extLst>
                </a:gridCol>
                <a:gridCol w="685706">
                  <a:extLst>
                    <a:ext uri="{9D8B030D-6E8A-4147-A177-3AD203B41FA5}">
                      <a16:colId xmlns:a16="http://schemas.microsoft.com/office/drawing/2014/main" val="2859556631"/>
                    </a:ext>
                  </a:extLst>
                </a:gridCol>
                <a:gridCol w="685706">
                  <a:extLst>
                    <a:ext uri="{9D8B030D-6E8A-4147-A177-3AD203B41FA5}">
                      <a16:colId xmlns:a16="http://schemas.microsoft.com/office/drawing/2014/main" val="544837532"/>
                    </a:ext>
                  </a:extLst>
                </a:gridCol>
                <a:gridCol w="685706">
                  <a:extLst>
                    <a:ext uri="{9D8B030D-6E8A-4147-A177-3AD203B41FA5}">
                      <a16:colId xmlns:a16="http://schemas.microsoft.com/office/drawing/2014/main" val="1181967821"/>
                    </a:ext>
                  </a:extLst>
                </a:gridCol>
              </a:tblGrid>
              <a:tr h="245410">
                <a:tc rowSpan="2">
                  <a:txBody>
                    <a:bodyPr/>
                    <a:lstStyle/>
                    <a:p>
                      <a:pPr algn="ctr" rtl="0" fontAlgn="ctr">
                        <a:buNone/>
                      </a:pPr>
                      <a:r>
                        <a:rPr lang="en-US" sz="800" b="1" i="0" u="none" strike="noStrike">
                          <a:solidFill>
                            <a:srgbClr val="000000"/>
                          </a:solidFill>
                          <a:effectLst/>
                          <a:latin typeface="Arial" panose="020B0604020202020204" pitchFamily="34" charset="0"/>
                        </a:rPr>
                        <a:t>Ranking</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AD0A9"/>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Exchange</a:t>
                      </a:r>
                      <a:r>
                        <a:rPr lang="en-US" sz="800" b="1" i="0" u="none" strike="noStrike" baseline="30000">
                          <a:solidFill>
                            <a:srgbClr val="000000"/>
                          </a:solidFill>
                          <a:effectLst/>
                          <a:latin typeface="Arial" panose="020B0604020202020204" pitchFamily="34" charset="0"/>
                        </a:rPr>
                        <a:t>2</a:t>
                      </a:r>
                      <a:endParaRPr lang="en-US" sz="800" b="1" i="0" u="none" strike="noStrike">
                        <a:solidFill>
                          <a:srgbClr val="000000"/>
                        </a:solidFill>
                        <a:effectLst/>
                        <a:latin typeface="Arial" panose="020B06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AD0A9"/>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No. of Deals    (#)</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AD0A9"/>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Deal Value (US$mm)</a:t>
                      </a:r>
                      <a:r>
                        <a:rPr lang="en-US" sz="800" b="1" i="0" u="none" strike="noStrike" baseline="30000">
                          <a:solidFill>
                            <a:srgbClr val="000000"/>
                          </a:solidFill>
                          <a:effectLst/>
                          <a:latin typeface="Arial" panose="020B0604020202020204" pitchFamily="34" charset="0"/>
                        </a:rPr>
                        <a:t>1,3</a:t>
                      </a:r>
                      <a:endParaRPr lang="en-US" sz="800" b="1" i="0" u="none" strike="noStrike">
                        <a:solidFill>
                          <a:srgbClr val="000000"/>
                        </a:solidFill>
                        <a:effectLst/>
                        <a:latin typeface="Arial" panose="020B06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AD0A9"/>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Ranking</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AD0A9"/>
                    </a:solidFill>
                  </a:tcPr>
                </a:tc>
                <a:tc rowSpan="2">
                  <a:txBody>
                    <a:bodyPr/>
                    <a:lstStyle/>
                    <a:p>
                      <a:pPr algn="ctr" rtl="0" fontAlgn="ctr">
                        <a:buNone/>
                      </a:pPr>
                      <a:r>
                        <a:rPr lang="en-US" sz="800" b="1" i="0" u="none" strike="noStrike" dirty="0">
                          <a:solidFill>
                            <a:srgbClr val="000000"/>
                          </a:solidFill>
                          <a:effectLst/>
                          <a:latin typeface="Arial" panose="020B0604020202020204" pitchFamily="34" charset="0"/>
                        </a:rPr>
                        <a:t>Exchange</a:t>
                      </a:r>
                      <a:r>
                        <a:rPr lang="en-US" sz="800" b="1" i="0" u="none" strike="noStrike" baseline="30000" dirty="0">
                          <a:solidFill>
                            <a:srgbClr val="000000"/>
                          </a:solidFill>
                          <a:effectLst/>
                          <a:latin typeface="Arial" panose="020B0604020202020204" pitchFamily="34" charset="0"/>
                        </a:rPr>
                        <a:t>2</a:t>
                      </a:r>
                      <a:endParaRPr lang="en-US" sz="800" b="1" i="0" u="none" strike="noStrike" dirty="0">
                        <a:solidFill>
                          <a:srgbClr val="000000"/>
                        </a:solidFill>
                        <a:effectLst/>
                        <a:latin typeface="Arial" panose="020B06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AD0A9"/>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No. of Deals    (#)</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AD0A9"/>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Deal Value (US$mm)</a:t>
                      </a:r>
                      <a:r>
                        <a:rPr lang="en-US" sz="800" b="1" i="0" u="none" strike="noStrike" baseline="30000">
                          <a:solidFill>
                            <a:srgbClr val="000000"/>
                          </a:solidFill>
                          <a:effectLst/>
                          <a:latin typeface="Arial" panose="020B0604020202020204" pitchFamily="34" charset="0"/>
                        </a:rPr>
                        <a:t>1,3</a:t>
                      </a:r>
                      <a:endParaRPr lang="en-US" sz="800" b="1" i="0" u="none" strike="noStrike">
                        <a:solidFill>
                          <a:srgbClr val="000000"/>
                        </a:solidFill>
                        <a:effectLst/>
                        <a:latin typeface="Arial" panose="020B06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AD0A9"/>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a:noFill/>
                    </a:lnR>
                    <a:lnT>
                      <a:noFill/>
                    </a:lnT>
                    <a:lnB>
                      <a:noFill/>
                    </a:lnB>
                    <a:no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Ranking</a:t>
                      </a:r>
                    </a:p>
                  </a:txBody>
                  <a:tcPr marL="7218" marR="7218" marT="7218" marB="0" anchor="ctr">
                    <a:lnL>
                      <a:noFill/>
                    </a:lnL>
                    <a:lnR>
                      <a:noFill/>
                    </a:lnR>
                    <a:lnT>
                      <a:noFill/>
                    </a:lnT>
                    <a:lnB w="19050" cap="flat" cmpd="sng" algn="ctr">
                      <a:solidFill>
                        <a:srgbClr val="FFFFFF"/>
                      </a:solidFill>
                      <a:prstDash val="solid"/>
                      <a:round/>
                      <a:headEnd type="none" w="med" len="med"/>
                      <a:tailEnd type="none" w="med" len="med"/>
                    </a:lnB>
                    <a:solidFill>
                      <a:srgbClr val="FAD0A9"/>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Exchange</a:t>
                      </a:r>
                      <a:r>
                        <a:rPr lang="en-US" sz="800" b="1" i="0" u="none" strike="noStrike" baseline="30000">
                          <a:solidFill>
                            <a:srgbClr val="000000"/>
                          </a:solidFill>
                          <a:effectLst/>
                          <a:latin typeface="Arial" panose="020B0604020202020204" pitchFamily="34" charset="0"/>
                        </a:rPr>
                        <a:t>2</a:t>
                      </a:r>
                      <a:endParaRPr lang="en-US" sz="800" b="1" i="0" u="none" strike="noStrike">
                        <a:solidFill>
                          <a:srgbClr val="000000"/>
                        </a:solidFill>
                        <a:effectLst/>
                        <a:latin typeface="Arial" panose="020B0604020202020204" pitchFamily="34" charset="0"/>
                      </a:endParaRPr>
                    </a:p>
                  </a:txBody>
                  <a:tcPr marL="7218" marR="7218" marT="7218" marB="0" anchor="ctr">
                    <a:lnL>
                      <a:noFill/>
                    </a:lnL>
                    <a:lnR>
                      <a:noFill/>
                    </a:lnR>
                    <a:lnT>
                      <a:noFill/>
                    </a:lnT>
                    <a:lnB w="19050" cap="flat" cmpd="sng" algn="ctr">
                      <a:solidFill>
                        <a:srgbClr val="FFFFFF"/>
                      </a:solidFill>
                      <a:prstDash val="solid"/>
                      <a:round/>
                      <a:headEnd type="none" w="med" len="med"/>
                      <a:tailEnd type="none" w="med" len="med"/>
                    </a:lnB>
                    <a:solidFill>
                      <a:srgbClr val="FAD0A9"/>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No. of Deals (#)</a:t>
                      </a:r>
                    </a:p>
                  </a:txBody>
                  <a:tcPr marL="7218" marR="7218" marT="7218" marB="0" anchor="ctr">
                    <a:lnL>
                      <a:noFill/>
                    </a:lnL>
                    <a:lnR>
                      <a:noFill/>
                    </a:lnR>
                    <a:lnT>
                      <a:noFill/>
                    </a:lnT>
                    <a:lnB w="19050" cap="flat" cmpd="sng" algn="ctr">
                      <a:solidFill>
                        <a:srgbClr val="FFFFFF"/>
                      </a:solidFill>
                      <a:prstDash val="solid"/>
                      <a:round/>
                      <a:headEnd type="none" w="med" len="med"/>
                      <a:tailEnd type="none" w="med" len="med"/>
                    </a:lnB>
                    <a:solidFill>
                      <a:srgbClr val="FAD0A9"/>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Deal Value (US$mm)</a:t>
                      </a:r>
                      <a:r>
                        <a:rPr lang="en-US" sz="800" b="1" i="0" u="none" strike="noStrike" baseline="30000">
                          <a:solidFill>
                            <a:srgbClr val="000000"/>
                          </a:solidFill>
                          <a:effectLst/>
                          <a:latin typeface="Arial" panose="020B0604020202020204" pitchFamily="34" charset="0"/>
                        </a:rPr>
                        <a:t>1,3</a:t>
                      </a:r>
                      <a:endParaRPr lang="en-US" sz="800" b="1" i="0" u="none" strike="noStrike">
                        <a:solidFill>
                          <a:srgbClr val="000000"/>
                        </a:solidFill>
                        <a:effectLst/>
                        <a:latin typeface="Arial" panose="020B0604020202020204" pitchFamily="34" charset="0"/>
                      </a:endParaRPr>
                    </a:p>
                  </a:txBody>
                  <a:tcPr marL="7218" marR="7218" marT="7218" marB="0" anchor="ctr">
                    <a:lnL>
                      <a:noFill/>
                    </a:lnL>
                    <a:lnR>
                      <a:noFill/>
                    </a:lnR>
                    <a:lnT>
                      <a:noFill/>
                    </a:lnT>
                    <a:lnB w="19050" cap="flat" cmpd="sng" algn="ctr">
                      <a:solidFill>
                        <a:srgbClr val="FFFFFF"/>
                      </a:solidFill>
                      <a:prstDash val="solid"/>
                      <a:round/>
                      <a:headEnd type="none" w="med" len="med"/>
                      <a:tailEnd type="none" w="med" len="med"/>
                    </a:lnB>
                    <a:solidFill>
                      <a:srgbClr val="FAD0A9"/>
                    </a:solidFill>
                  </a:tcPr>
                </a:tc>
                <a:extLst>
                  <a:ext uri="{0D108BD9-81ED-4DB2-BD59-A6C34878D82A}">
                    <a16:rowId xmlns:a16="http://schemas.microsoft.com/office/drawing/2014/main" val="3288733438"/>
                  </a:ext>
                </a:extLst>
              </a:tr>
              <a:tr h="19488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a:noFill/>
                    </a:lnR>
                    <a:lnT>
                      <a:noFill/>
                    </a:lnT>
                    <a:lnB>
                      <a:noFill/>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406503637"/>
                  </a:ext>
                </a:extLst>
              </a:tr>
              <a:tr h="259846">
                <a:tc>
                  <a:txBody>
                    <a:bodyPr/>
                    <a:lstStyle/>
                    <a:p>
                      <a:pPr algn="ctr" rtl="0" fontAlgn="ctr">
                        <a:buNone/>
                      </a:pPr>
                      <a:r>
                        <a:rPr lang="en-US" sz="800" b="1" i="0" u="none" strike="noStrike">
                          <a:solidFill>
                            <a:srgbClr val="000000"/>
                          </a:solidFill>
                          <a:effectLst/>
                          <a:latin typeface="Arial" panose="020B0604020202020204" pitchFamily="34" charset="0"/>
                        </a:rPr>
                        <a:t>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ctr" rtl="0" fontAlgn="ctr">
                        <a:buNone/>
                      </a:pPr>
                      <a:r>
                        <a:rPr lang="en-US" sz="800" b="1" i="0" u="none" strike="noStrike">
                          <a:solidFill>
                            <a:srgbClr val="000000"/>
                          </a:solidFill>
                          <a:effectLst/>
                          <a:latin typeface="Arial" panose="020B0604020202020204" pitchFamily="34" charset="0"/>
                        </a:rPr>
                        <a:t>Hong Kong (HKEX)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ctr" rtl="0" fontAlgn="ctr">
                        <a:buNone/>
                      </a:pPr>
                      <a:r>
                        <a:rPr lang="en-US" sz="800" b="1" i="0" u="none" strike="noStrike">
                          <a:solidFill>
                            <a:srgbClr val="000000"/>
                          </a:solidFill>
                          <a:effectLst/>
                          <a:latin typeface="Arial" panose="020B0604020202020204" pitchFamily="34" charset="0"/>
                        </a:rPr>
                        <a:t>38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ctr" rtl="0" fontAlgn="ctr">
                        <a:buNone/>
                      </a:pPr>
                      <a:r>
                        <a:rPr lang="en-US" sz="800" b="1" i="0" u="none" strike="noStrike">
                          <a:solidFill>
                            <a:srgbClr val="000000"/>
                          </a:solidFill>
                          <a:effectLst/>
                          <a:latin typeface="Arial" panose="020B0604020202020204" pitchFamily="34" charset="0"/>
                        </a:rPr>
                        <a:t>13,257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NASDAQ</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311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61,148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NASDAQ</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292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55,240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extLst>
                  <a:ext uri="{0D108BD9-81ED-4DB2-BD59-A6C34878D82A}">
                    <a16:rowId xmlns:a16="http://schemas.microsoft.com/office/drawing/2014/main" val="1254335248"/>
                  </a:ext>
                </a:extLst>
              </a:tr>
              <a:tr h="252628">
                <a:tc>
                  <a:txBody>
                    <a:bodyPr/>
                    <a:lstStyle/>
                    <a:p>
                      <a:pPr algn="ctr" rtl="0" fontAlgn="ctr">
                        <a:buNone/>
                      </a:pPr>
                      <a:r>
                        <a:rPr lang="en-US" sz="800" b="1" i="0" u="none" strike="noStrike">
                          <a:solidFill>
                            <a:srgbClr val="000000"/>
                          </a:solidFill>
                          <a:effectLst/>
                          <a:latin typeface="Arial" panose="020B0604020202020204" pitchFamily="34" charset="0"/>
                        </a:rPr>
                        <a:t>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NASDAQ</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5,908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New York (NYSE)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50,337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New York (NYSE)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108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44,788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761605557"/>
                  </a:ext>
                </a:extLst>
              </a:tr>
              <a:tr h="252628">
                <a:tc>
                  <a:txBody>
                    <a:bodyPr/>
                    <a:lstStyle/>
                    <a:p>
                      <a:pPr algn="ctr" rtl="0" fontAlgn="ctr">
                        <a:buNone/>
                      </a:pPr>
                      <a:r>
                        <a:rPr lang="en-US" sz="800" b="1" i="0" u="none" strike="noStrike">
                          <a:solidFill>
                            <a:srgbClr val="000000"/>
                          </a:solidFill>
                          <a:effectLst/>
                          <a:latin typeface="Arial" panose="020B0604020202020204" pitchFamily="34" charset="0"/>
                        </a:rPr>
                        <a:t>3</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India (NSE/BSE)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77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5,601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CCFD3"/>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1" i="0" u="none" strike="noStrike">
                          <a:solidFill>
                            <a:srgbClr val="000000"/>
                          </a:solidFill>
                          <a:effectLst/>
                          <a:latin typeface="Arial" panose="020B0604020202020204" pitchFamily="34" charset="0"/>
                        </a:rPr>
                        <a:t>3</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ctr" rtl="0" fontAlgn="ctr">
                        <a:buNone/>
                      </a:pPr>
                      <a:r>
                        <a:rPr lang="en-US" sz="800" b="1" i="0" u="none" strike="noStrike">
                          <a:solidFill>
                            <a:srgbClr val="000000"/>
                          </a:solidFill>
                          <a:effectLst/>
                          <a:latin typeface="Arial" panose="020B0604020202020204" pitchFamily="34" charset="0"/>
                        </a:rPr>
                        <a:t>Hong Kong (HKEX)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ctr" rtl="0" fontAlgn="ctr">
                        <a:buNone/>
                      </a:pPr>
                      <a:r>
                        <a:rPr lang="en-US" sz="800" b="1" i="0" u="none" strike="noStrike">
                          <a:solidFill>
                            <a:srgbClr val="000000"/>
                          </a:solidFill>
                          <a:effectLst/>
                          <a:latin typeface="Arial" panose="020B0604020202020204" pitchFamily="34" charset="0"/>
                        </a:rPr>
                        <a:t>157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ctr" rtl="0" fontAlgn="ctr">
                        <a:buNone/>
                      </a:pPr>
                      <a:r>
                        <a:rPr lang="en-US" sz="800" b="1" i="0" u="none" strike="noStrike">
                          <a:solidFill>
                            <a:srgbClr val="000000"/>
                          </a:solidFill>
                          <a:effectLst/>
                          <a:latin typeface="Arial" panose="020B0604020202020204" pitchFamily="34" charset="0"/>
                        </a:rPr>
                        <a:t>30,551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1" i="0" u="none" strike="noStrike">
                          <a:solidFill>
                            <a:srgbClr val="000000"/>
                          </a:solidFill>
                          <a:effectLst/>
                          <a:latin typeface="Arial" panose="020B0604020202020204" pitchFamily="34" charset="0"/>
                        </a:rPr>
                        <a:t>3</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ctr" rtl="0" fontAlgn="ctr">
                        <a:buNone/>
                      </a:pPr>
                      <a:r>
                        <a:rPr lang="en-US" sz="800" b="1" i="0" u="none" strike="noStrike">
                          <a:solidFill>
                            <a:srgbClr val="000000"/>
                          </a:solidFill>
                          <a:effectLst/>
                          <a:latin typeface="Arial" panose="020B0604020202020204" pitchFamily="34" charset="0"/>
                        </a:rPr>
                        <a:t>Hong Kong (HKEX)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ctr" rtl="0" fontAlgn="ctr">
                        <a:buNone/>
                      </a:pPr>
                      <a:r>
                        <a:rPr lang="en-US" sz="800" b="1" i="0" u="none" strike="noStrike">
                          <a:solidFill>
                            <a:srgbClr val="000000"/>
                          </a:solidFill>
                          <a:effectLst/>
                          <a:latin typeface="Arial" panose="020B0604020202020204" pitchFamily="34" charset="0"/>
                        </a:rPr>
                        <a:t>119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tc>
                  <a:txBody>
                    <a:bodyPr/>
                    <a:lstStyle/>
                    <a:p>
                      <a:pPr algn="ctr" rtl="0" fontAlgn="ctr">
                        <a:buNone/>
                      </a:pPr>
                      <a:r>
                        <a:rPr lang="en-US" sz="800" b="1" i="0" u="none" strike="noStrike">
                          <a:solidFill>
                            <a:srgbClr val="000000"/>
                          </a:solidFill>
                          <a:effectLst/>
                          <a:latin typeface="Arial" panose="020B0604020202020204" pitchFamily="34" charset="0"/>
                        </a:rPr>
                        <a:t>17,295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CC"/>
                    </a:solidFill>
                  </a:tcPr>
                </a:tc>
                <a:extLst>
                  <a:ext uri="{0D108BD9-81ED-4DB2-BD59-A6C34878D82A}">
                    <a16:rowId xmlns:a16="http://schemas.microsoft.com/office/drawing/2014/main" val="1969570841"/>
                  </a:ext>
                </a:extLst>
              </a:tr>
              <a:tr h="252628">
                <a:tc>
                  <a:txBody>
                    <a:bodyPr/>
                    <a:lstStyle/>
                    <a:p>
                      <a:pPr algn="ctr" rtl="0" fontAlgn="ctr">
                        <a:buNone/>
                      </a:pPr>
                      <a:r>
                        <a:rPr lang="en-US" sz="800" b="0" i="0" u="none" strike="noStrike">
                          <a:solidFill>
                            <a:srgbClr val="000000"/>
                          </a:solidFill>
                          <a:effectLst/>
                          <a:latin typeface="Arial" panose="020B0604020202020204" pitchFamily="34" charset="0"/>
                        </a:rPr>
                        <a:t>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New York (NYSE)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5,549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E7E9EB"/>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Euronext</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79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15,370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Japan </a:t>
                      </a:r>
                    </a:p>
                    <a:p>
                      <a:pPr algn="ctr" rtl="0" fontAlgn="ctr">
                        <a:buNone/>
                      </a:pPr>
                      <a:r>
                        <a:rPr lang="en-US" sz="800" b="0" i="0" u="none" strike="noStrike" dirty="0">
                          <a:solidFill>
                            <a:srgbClr val="000000"/>
                          </a:solidFill>
                          <a:effectLst/>
                          <a:latin typeface="Arial" panose="020B0604020202020204" pitchFamily="34" charset="0"/>
                        </a:rPr>
                        <a:t>(JPX)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50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12,705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4230880241"/>
                  </a:ext>
                </a:extLst>
              </a:tr>
              <a:tr h="252628">
                <a:tc>
                  <a:txBody>
                    <a:bodyPr/>
                    <a:lstStyle/>
                    <a:p>
                      <a:pPr algn="ctr" rtl="0" fontAlgn="ctr">
                        <a:buNone/>
                      </a:pPr>
                      <a:r>
                        <a:rPr lang="en-US" sz="800" b="0" i="0" u="none" strike="noStrike">
                          <a:solidFill>
                            <a:srgbClr val="000000"/>
                          </a:solidFill>
                          <a:effectLst/>
                          <a:latin typeface="Arial" panose="020B0604020202020204" pitchFamily="34" charset="0"/>
                        </a:rPr>
                        <a:t>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Euronext</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5,144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CCFD3"/>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Japan </a:t>
                      </a:r>
                    </a:p>
                    <a:p>
                      <a:pPr algn="ctr" rtl="0" fontAlgn="ctr">
                        <a:buNone/>
                      </a:pPr>
                      <a:r>
                        <a:rPr lang="en-US" sz="800" b="0" i="0" u="none" strike="noStrike" dirty="0">
                          <a:solidFill>
                            <a:srgbClr val="000000"/>
                          </a:solidFill>
                          <a:effectLst/>
                          <a:latin typeface="Arial" panose="020B0604020202020204" pitchFamily="34" charset="0"/>
                        </a:rPr>
                        <a:t>(JPX)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12,999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1" i="0" u="none" strike="noStrike">
                          <a:solidFill>
                            <a:srgbClr val="000000"/>
                          </a:solidFill>
                          <a:effectLst/>
                          <a:latin typeface="Arial" panose="020B0604020202020204" pitchFamily="34" charset="0"/>
                        </a:rPr>
                        <a:t>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Switzerland (SIX)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12,246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extLst>
                  <a:ext uri="{0D108BD9-81ED-4DB2-BD59-A6C34878D82A}">
                    <a16:rowId xmlns:a16="http://schemas.microsoft.com/office/drawing/2014/main" val="3512192250"/>
                  </a:ext>
                </a:extLst>
              </a:tr>
              <a:tr h="252628">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Shanghai (SSE)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2,162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India (NSE/BSE)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12,608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Euronext</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72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10,235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3530574538"/>
                  </a:ext>
                </a:extLst>
              </a:tr>
              <a:tr h="252628">
                <a:tc>
                  <a:txBody>
                    <a:bodyPr/>
                    <a:lstStyle/>
                    <a:p>
                      <a:pPr algn="ctr" rtl="0" fontAlgn="ctr">
                        <a:buNone/>
                      </a:pPr>
                      <a:r>
                        <a:rPr lang="en-US" sz="800" b="0" i="0" u="none" strike="noStrike">
                          <a:solidFill>
                            <a:srgbClr val="000000"/>
                          </a:solidFill>
                          <a:effectLst/>
                          <a:latin typeface="Arial" panose="020B0604020202020204" pitchFamily="34" charset="0"/>
                        </a:rPr>
                        <a:t>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Shenzhen (SZSE)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1,141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Switzerland (SIX)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12,246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India (NSE/BSE)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50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7,008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extLst>
                  <a:ext uri="{0D108BD9-81ED-4DB2-BD59-A6C34878D82A}">
                    <a16:rowId xmlns:a16="http://schemas.microsoft.com/office/drawing/2014/main" val="1561681165"/>
                  </a:ext>
                </a:extLst>
              </a:tr>
              <a:tr h="252628">
                <a:tc>
                  <a:txBody>
                    <a:bodyPr/>
                    <a:lstStyle/>
                    <a:p>
                      <a:pPr algn="ctr" rtl="0" fontAlgn="ctr">
                        <a:buNone/>
                      </a:pPr>
                      <a:r>
                        <a:rPr lang="en-US" sz="800" b="0" i="0" u="none" strike="noStrike">
                          <a:solidFill>
                            <a:srgbClr val="000000"/>
                          </a:solidFill>
                          <a:effectLst/>
                          <a:latin typeface="Arial" panose="020B0604020202020204" pitchFamily="34" charset="0"/>
                        </a:rPr>
                        <a:t>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Singapore (SGX)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3</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967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Canada </a:t>
                      </a:r>
                    </a:p>
                    <a:p>
                      <a:pPr algn="ctr" rtl="0" fontAlgn="ctr">
                        <a:buNone/>
                      </a:pPr>
                      <a:r>
                        <a:rPr lang="en-US" sz="800" b="0" i="0" u="none" strike="noStrike" dirty="0">
                          <a:solidFill>
                            <a:srgbClr val="000000"/>
                          </a:solidFill>
                          <a:effectLst/>
                          <a:latin typeface="Arial" panose="020B0604020202020204" pitchFamily="34" charset="0"/>
                        </a:rPr>
                        <a:t>(TSX)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176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7,768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Canada </a:t>
                      </a:r>
                    </a:p>
                    <a:p>
                      <a:pPr algn="ctr" rtl="0" fontAlgn="ctr">
                        <a:buNone/>
                      </a:pPr>
                      <a:r>
                        <a:rPr lang="en-US" sz="800" b="0" i="0" u="none" strike="noStrike" dirty="0">
                          <a:solidFill>
                            <a:srgbClr val="000000"/>
                          </a:solidFill>
                          <a:effectLst/>
                          <a:latin typeface="Arial" panose="020B0604020202020204" pitchFamily="34" charset="0"/>
                        </a:rPr>
                        <a:t>(TSX)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168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7,006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2824275139"/>
                  </a:ext>
                </a:extLst>
              </a:tr>
              <a:tr h="252628">
                <a:tc>
                  <a:txBody>
                    <a:bodyPr/>
                    <a:lstStyle/>
                    <a:p>
                      <a:pPr algn="ctr" rtl="0" fontAlgn="ctr">
                        <a:buNone/>
                      </a:pPr>
                      <a:r>
                        <a:rPr lang="en-US" sz="800" b="0" i="0" u="none" strike="noStrike">
                          <a:solidFill>
                            <a:srgbClr val="000000"/>
                          </a:solidFill>
                          <a:effectLst/>
                          <a:latin typeface="Arial" panose="020B0604020202020204" pitchFamily="34" charset="0"/>
                        </a:rPr>
                        <a:t>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Malaysia (Bursa)</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852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Shanghai (SSE)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40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7,454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London </a:t>
                      </a:r>
                    </a:p>
                    <a:p>
                      <a:pPr algn="ctr" rtl="0" fontAlgn="ctr">
                        <a:buNone/>
                      </a:pPr>
                      <a:r>
                        <a:rPr lang="en-US" sz="800" b="0" i="0" u="none" strike="noStrike" dirty="0">
                          <a:solidFill>
                            <a:srgbClr val="000000"/>
                          </a:solidFill>
                          <a:effectLst/>
                          <a:latin typeface="Arial" panose="020B0604020202020204" pitchFamily="34" charset="0"/>
                        </a:rPr>
                        <a:t>(LSE)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112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6,351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extLst>
                  <a:ext uri="{0D108BD9-81ED-4DB2-BD59-A6C34878D82A}">
                    <a16:rowId xmlns:a16="http://schemas.microsoft.com/office/drawing/2014/main" val="4168131905"/>
                  </a:ext>
                </a:extLst>
              </a:tr>
              <a:tr h="375334">
                <a:tc>
                  <a:txBody>
                    <a:bodyPr/>
                    <a:lstStyle/>
                    <a:p>
                      <a:pPr algn="ctr" rtl="0" fontAlgn="ctr">
                        <a:buNone/>
                      </a:pPr>
                      <a:r>
                        <a:rPr lang="en-US" sz="800" b="0" i="0" u="none" strike="noStrike">
                          <a:solidFill>
                            <a:srgbClr val="000000"/>
                          </a:solidFill>
                          <a:effectLst/>
                          <a:latin typeface="Arial" panose="020B0604020202020204" pitchFamily="34" charset="0"/>
                        </a:rPr>
                        <a:t>10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Beijing </a:t>
                      </a:r>
                    </a:p>
                    <a:p>
                      <a:pPr algn="ctr" rtl="0" fontAlgn="ctr">
                        <a:buNone/>
                      </a:pPr>
                      <a:r>
                        <a:rPr lang="en-US" sz="800" b="0" i="0" u="none" strike="noStrike" dirty="0">
                          <a:solidFill>
                            <a:srgbClr val="000000"/>
                          </a:solidFill>
                          <a:effectLst/>
                          <a:latin typeface="Arial" panose="020B0604020202020204" pitchFamily="34" charset="0"/>
                        </a:rPr>
                        <a:t>(BSE)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830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10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London </a:t>
                      </a:r>
                    </a:p>
                    <a:p>
                      <a:pPr algn="ctr" rtl="0" fontAlgn="ctr">
                        <a:buNone/>
                      </a:pPr>
                      <a:r>
                        <a:rPr lang="en-US" sz="800" b="0" i="0" u="none" strike="noStrike" dirty="0">
                          <a:solidFill>
                            <a:srgbClr val="000000"/>
                          </a:solidFill>
                          <a:effectLst/>
                          <a:latin typeface="Arial" panose="020B0604020202020204" pitchFamily="34" charset="0"/>
                        </a:rPr>
                        <a:t>(LSE)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114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6,368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10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Australia (ASX/NSX/SSX)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206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5,453</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702441939"/>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09601" y="941480"/>
            <a:ext cx="3755898" cy="4392930"/>
          </a:xfrm>
          <a:prstGeom prst="rect">
            <a:avLst/>
          </a:prstGeom>
        </p:spPr>
      </p:pic>
      <p:sp>
        <p:nvSpPr>
          <p:cNvPr id="4" name="object 4"/>
          <p:cNvSpPr/>
          <p:nvPr/>
        </p:nvSpPr>
        <p:spPr>
          <a:xfrm>
            <a:off x="734667" y="1301144"/>
            <a:ext cx="3069590" cy="3693160"/>
          </a:xfrm>
          <a:custGeom>
            <a:avLst/>
            <a:gdLst/>
            <a:ahLst/>
            <a:cxnLst/>
            <a:rect l="l" t="t" r="r" b="b"/>
            <a:pathLst>
              <a:path w="3069590" h="3693160">
                <a:moveTo>
                  <a:pt x="3069463" y="0"/>
                </a:moveTo>
                <a:lnTo>
                  <a:pt x="0" y="0"/>
                </a:lnTo>
                <a:lnTo>
                  <a:pt x="0" y="3693160"/>
                </a:lnTo>
                <a:lnTo>
                  <a:pt x="3069463" y="3693160"/>
                </a:lnTo>
                <a:lnTo>
                  <a:pt x="3069463" y="0"/>
                </a:lnTo>
                <a:close/>
              </a:path>
            </a:pathLst>
          </a:custGeom>
          <a:solidFill>
            <a:srgbClr val="FFFFFF"/>
          </a:solidFill>
          <a:ln>
            <a:solidFill>
              <a:srgbClr val="C00000"/>
            </a:solidFill>
          </a:ln>
        </p:spPr>
        <p:txBody>
          <a:bodyPr wrap="square" lIns="0" tIns="0" rIns="0" bIns="0" rtlCol="0"/>
          <a:lstStyle/>
          <a:p>
            <a:endParaRPr/>
          </a:p>
        </p:txBody>
      </p:sp>
      <p:sp>
        <p:nvSpPr>
          <p:cNvPr id="5" name="object 5"/>
          <p:cNvSpPr/>
          <p:nvPr/>
        </p:nvSpPr>
        <p:spPr>
          <a:xfrm>
            <a:off x="734667" y="1301144"/>
            <a:ext cx="3069590" cy="3693160"/>
          </a:xfrm>
          <a:custGeom>
            <a:avLst/>
            <a:gdLst/>
            <a:ahLst/>
            <a:cxnLst/>
            <a:rect l="l" t="t" r="r" b="b"/>
            <a:pathLst>
              <a:path w="3069590" h="3693160">
                <a:moveTo>
                  <a:pt x="0" y="3693160"/>
                </a:moveTo>
                <a:lnTo>
                  <a:pt x="3069463" y="3693160"/>
                </a:lnTo>
                <a:lnTo>
                  <a:pt x="3069463" y="0"/>
                </a:lnTo>
                <a:lnTo>
                  <a:pt x="0" y="0"/>
                </a:lnTo>
                <a:lnTo>
                  <a:pt x="0" y="3693160"/>
                </a:lnTo>
                <a:close/>
              </a:path>
            </a:pathLst>
          </a:custGeom>
          <a:ln w="6350">
            <a:solidFill>
              <a:srgbClr val="C00000"/>
            </a:solidFill>
          </a:ln>
        </p:spPr>
        <p:txBody>
          <a:bodyPr wrap="square" lIns="0" tIns="0" rIns="0" bIns="0" rtlCol="0"/>
          <a:lstStyle/>
          <a:p>
            <a:endParaRPr/>
          </a:p>
        </p:txBody>
      </p:sp>
      <p:sp>
        <p:nvSpPr>
          <p:cNvPr id="50" name="Title 49">
            <a:extLst>
              <a:ext uri="{FF2B5EF4-FFF2-40B4-BE49-F238E27FC236}">
                <a16:creationId xmlns:a16="http://schemas.microsoft.com/office/drawing/2014/main" id="{DB48FF2E-8A68-6591-51C9-EA6AD727F2CE}"/>
              </a:ext>
            </a:extLst>
          </p:cNvPr>
          <p:cNvSpPr>
            <a:spLocks noGrp="1"/>
          </p:cNvSpPr>
          <p:nvPr>
            <p:ph type="title"/>
          </p:nvPr>
        </p:nvSpPr>
        <p:spPr/>
        <p:txBody>
          <a:bodyPr/>
          <a:lstStyle/>
          <a:p>
            <a:r>
              <a:rPr lang="en-US" sz="2000" dirty="0"/>
              <a:t>Hong Kong – #1 IPO Venue Globally in 2026 Q1</a:t>
            </a:r>
          </a:p>
        </p:txBody>
      </p:sp>
      <p:pic>
        <p:nvPicPr>
          <p:cNvPr id="13" name="object 13"/>
          <p:cNvPicPr/>
          <p:nvPr/>
        </p:nvPicPr>
        <p:blipFill>
          <a:blip r:embed="rId3" cstate="print"/>
          <a:stretch>
            <a:fillRect/>
          </a:stretch>
        </p:blipFill>
        <p:spPr>
          <a:xfrm>
            <a:off x="3829812" y="2599656"/>
            <a:ext cx="5453634" cy="2718181"/>
          </a:xfrm>
          <a:prstGeom prst="rect">
            <a:avLst/>
          </a:prstGeom>
        </p:spPr>
      </p:pic>
      <p:pic>
        <p:nvPicPr>
          <p:cNvPr id="17" name="object 17"/>
          <p:cNvPicPr/>
          <p:nvPr/>
        </p:nvPicPr>
        <p:blipFill>
          <a:blip r:embed="rId4" cstate="print"/>
          <a:stretch>
            <a:fillRect/>
          </a:stretch>
        </p:blipFill>
        <p:spPr>
          <a:xfrm>
            <a:off x="3828289" y="970486"/>
            <a:ext cx="5453634" cy="1960498"/>
          </a:xfrm>
          <a:prstGeom prst="rect">
            <a:avLst/>
          </a:prstGeom>
        </p:spPr>
      </p:pic>
      <p:sp>
        <p:nvSpPr>
          <p:cNvPr id="18" name="object 18"/>
          <p:cNvSpPr/>
          <p:nvPr/>
        </p:nvSpPr>
        <p:spPr>
          <a:xfrm>
            <a:off x="4199130" y="1306656"/>
            <a:ext cx="4732655" cy="1308735"/>
          </a:xfrm>
          <a:custGeom>
            <a:avLst/>
            <a:gdLst/>
            <a:ahLst/>
            <a:cxnLst/>
            <a:rect l="l" t="t" r="r" b="b"/>
            <a:pathLst>
              <a:path w="4732655" h="1308735">
                <a:moveTo>
                  <a:pt x="4732147" y="0"/>
                </a:moveTo>
                <a:lnTo>
                  <a:pt x="0" y="0"/>
                </a:lnTo>
                <a:lnTo>
                  <a:pt x="0" y="1308481"/>
                </a:lnTo>
                <a:lnTo>
                  <a:pt x="4732147" y="1308481"/>
                </a:lnTo>
                <a:lnTo>
                  <a:pt x="4732147" y="0"/>
                </a:lnTo>
                <a:close/>
              </a:path>
            </a:pathLst>
          </a:custGeom>
          <a:solidFill>
            <a:srgbClr val="FFFFFF"/>
          </a:solidFill>
          <a:ln>
            <a:solidFill>
              <a:srgbClr val="C00000"/>
            </a:solidFill>
          </a:ln>
        </p:spPr>
        <p:txBody>
          <a:bodyPr wrap="square" lIns="0" tIns="0" rIns="0" bIns="0" rtlCol="0"/>
          <a:lstStyle/>
          <a:p>
            <a:endParaRPr/>
          </a:p>
        </p:txBody>
      </p:sp>
      <p:sp>
        <p:nvSpPr>
          <p:cNvPr id="19" name="object 19"/>
          <p:cNvSpPr/>
          <p:nvPr/>
        </p:nvSpPr>
        <p:spPr>
          <a:xfrm>
            <a:off x="4199130" y="1306656"/>
            <a:ext cx="4732655" cy="1308735"/>
          </a:xfrm>
          <a:custGeom>
            <a:avLst/>
            <a:gdLst/>
            <a:ahLst/>
            <a:cxnLst/>
            <a:rect l="l" t="t" r="r" b="b"/>
            <a:pathLst>
              <a:path w="4732655" h="1308735">
                <a:moveTo>
                  <a:pt x="0" y="1308481"/>
                </a:moveTo>
                <a:lnTo>
                  <a:pt x="4732147" y="1308481"/>
                </a:lnTo>
                <a:lnTo>
                  <a:pt x="4732147" y="0"/>
                </a:lnTo>
                <a:lnTo>
                  <a:pt x="0" y="0"/>
                </a:lnTo>
                <a:lnTo>
                  <a:pt x="0" y="1308481"/>
                </a:lnTo>
                <a:close/>
              </a:path>
            </a:pathLst>
          </a:custGeom>
          <a:ln w="6349">
            <a:solidFill>
              <a:srgbClr val="C00000"/>
            </a:solidFill>
          </a:ln>
        </p:spPr>
        <p:txBody>
          <a:bodyPr wrap="square" lIns="0" tIns="0" rIns="0" bIns="0" rtlCol="0"/>
          <a:lstStyle/>
          <a:p>
            <a:endParaRPr/>
          </a:p>
        </p:txBody>
      </p:sp>
      <p:sp>
        <p:nvSpPr>
          <p:cNvPr id="20" name="object 20"/>
          <p:cNvSpPr txBox="1"/>
          <p:nvPr/>
        </p:nvSpPr>
        <p:spPr>
          <a:xfrm>
            <a:off x="963472" y="483906"/>
            <a:ext cx="3277870" cy="136576"/>
          </a:xfrm>
          <a:prstGeom prst="rect">
            <a:avLst/>
          </a:prstGeom>
        </p:spPr>
        <p:txBody>
          <a:bodyPr vert="horz" wrap="square" lIns="0" tIns="13335" rIns="0" bIns="0" rtlCol="0">
            <a:spAutoFit/>
          </a:bodyPr>
          <a:lstStyle/>
          <a:p>
            <a:pPr>
              <a:spcBef>
                <a:spcPts val="105"/>
              </a:spcBef>
              <a:tabLst>
                <a:tab pos="3235960" algn="l"/>
              </a:tabLst>
            </a:pPr>
            <a:r>
              <a:rPr sz="1200" spc="-75" baseline="3472" dirty="0">
                <a:solidFill>
                  <a:srgbClr val="FFFFFF"/>
                </a:solidFill>
                <a:latin typeface="Arial"/>
                <a:cs typeface="Arial"/>
              </a:rPr>
              <a:t>.</a:t>
            </a:r>
            <a:r>
              <a:rPr sz="1200" baseline="3472" dirty="0">
                <a:solidFill>
                  <a:srgbClr val="FFFFFF"/>
                </a:solidFill>
                <a:latin typeface="Arial"/>
                <a:cs typeface="Arial"/>
              </a:rPr>
              <a:t>	</a:t>
            </a:r>
            <a:r>
              <a:rPr sz="800" spc="-50" dirty="0">
                <a:solidFill>
                  <a:srgbClr val="FFFFFF"/>
                </a:solidFill>
                <a:latin typeface="Arial"/>
                <a:cs typeface="Arial"/>
              </a:rPr>
              <a:t>.</a:t>
            </a:r>
            <a:endParaRPr sz="800">
              <a:latin typeface="Arial"/>
              <a:cs typeface="Arial"/>
            </a:endParaRPr>
          </a:p>
        </p:txBody>
      </p:sp>
      <p:sp>
        <p:nvSpPr>
          <p:cNvPr id="21" name="object 21"/>
          <p:cNvSpPr txBox="1"/>
          <p:nvPr/>
        </p:nvSpPr>
        <p:spPr>
          <a:xfrm>
            <a:off x="4574666" y="1975029"/>
            <a:ext cx="965200" cy="586740"/>
          </a:xfrm>
          <a:prstGeom prst="rect">
            <a:avLst/>
          </a:prstGeom>
        </p:spPr>
        <p:txBody>
          <a:bodyPr vert="horz" wrap="square" lIns="0" tIns="38100" rIns="0" bIns="0" rtlCol="0">
            <a:spAutoFit/>
          </a:bodyPr>
          <a:lstStyle/>
          <a:p>
            <a:pPr algn="ctr">
              <a:spcBef>
                <a:spcPts val="300"/>
              </a:spcBef>
            </a:pPr>
            <a:r>
              <a:rPr sz="1400" spc="-25" dirty="0">
                <a:solidFill>
                  <a:srgbClr val="FF0000"/>
                </a:solidFill>
                <a:latin typeface="Arial"/>
                <a:cs typeface="Arial"/>
              </a:rPr>
              <a:t>21%</a:t>
            </a:r>
            <a:endParaRPr sz="1400" dirty="0">
              <a:solidFill>
                <a:srgbClr val="FF0000"/>
              </a:solidFill>
              <a:latin typeface="Arial"/>
              <a:cs typeface="Arial"/>
            </a:endParaRPr>
          </a:p>
          <a:p>
            <a:pPr marL="24765" marR="30480" indent="-1905" algn="ctr">
              <a:spcBef>
                <a:spcPts val="135"/>
              </a:spcBef>
            </a:pPr>
            <a:r>
              <a:rPr sz="1000" dirty="0">
                <a:solidFill>
                  <a:srgbClr val="12426B"/>
                </a:solidFill>
                <a:latin typeface="Arial"/>
                <a:cs typeface="Arial"/>
              </a:rPr>
              <a:t>IPOs</a:t>
            </a:r>
            <a:r>
              <a:rPr sz="1000" spc="-35" dirty="0">
                <a:solidFill>
                  <a:srgbClr val="12426B"/>
                </a:solidFill>
                <a:latin typeface="Arial"/>
                <a:cs typeface="Arial"/>
              </a:rPr>
              <a:t> </a:t>
            </a:r>
            <a:r>
              <a:rPr sz="1000" spc="-10" dirty="0">
                <a:solidFill>
                  <a:srgbClr val="12426B"/>
                </a:solidFill>
                <a:latin typeface="Arial"/>
                <a:cs typeface="Arial"/>
              </a:rPr>
              <a:t>Including </a:t>
            </a:r>
            <a:r>
              <a:rPr sz="1000" dirty="0">
                <a:solidFill>
                  <a:srgbClr val="12426B"/>
                </a:solidFill>
                <a:latin typeface="Arial"/>
                <a:cs typeface="Arial"/>
              </a:rPr>
              <a:t>Upsize</a:t>
            </a:r>
            <a:r>
              <a:rPr sz="1000" spc="-35" dirty="0">
                <a:solidFill>
                  <a:srgbClr val="12426B"/>
                </a:solidFill>
                <a:latin typeface="Arial"/>
                <a:cs typeface="Arial"/>
              </a:rPr>
              <a:t> </a:t>
            </a:r>
            <a:r>
              <a:rPr sz="1000" spc="-10" dirty="0">
                <a:solidFill>
                  <a:srgbClr val="12426B"/>
                </a:solidFill>
                <a:latin typeface="Arial"/>
                <a:cs typeface="Arial"/>
              </a:rPr>
              <a:t>Option</a:t>
            </a:r>
            <a:r>
              <a:rPr sz="975" spc="-15" baseline="25641" dirty="0">
                <a:solidFill>
                  <a:srgbClr val="12426B"/>
                </a:solidFill>
                <a:latin typeface="Arial"/>
                <a:cs typeface="Arial"/>
              </a:rPr>
              <a:t>4</a:t>
            </a:r>
            <a:endParaRPr sz="975" baseline="25641" dirty="0">
              <a:latin typeface="Arial"/>
              <a:cs typeface="Arial"/>
            </a:endParaRPr>
          </a:p>
        </p:txBody>
      </p:sp>
      <p:sp>
        <p:nvSpPr>
          <p:cNvPr id="22" name="object 22"/>
          <p:cNvSpPr txBox="1"/>
          <p:nvPr/>
        </p:nvSpPr>
        <p:spPr>
          <a:xfrm>
            <a:off x="6044693" y="2007568"/>
            <a:ext cx="1053465" cy="546100"/>
          </a:xfrm>
          <a:prstGeom prst="rect">
            <a:avLst/>
          </a:prstGeom>
        </p:spPr>
        <p:txBody>
          <a:bodyPr vert="horz" wrap="square" lIns="0" tIns="13335" rIns="0" bIns="0" rtlCol="0">
            <a:spAutoFit/>
          </a:bodyPr>
          <a:lstStyle/>
          <a:p>
            <a:pPr marR="1905" algn="ctr">
              <a:spcBef>
                <a:spcPts val="105"/>
              </a:spcBef>
            </a:pPr>
            <a:r>
              <a:rPr sz="1400" spc="-10" dirty="0">
                <a:solidFill>
                  <a:srgbClr val="FF0000"/>
                </a:solidFill>
                <a:latin typeface="Arial"/>
                <a:cs typeface="Arial"/>
              </a:rPr>
              <a:t>US$38mm</a:t>
            </a:r>
            <a:endParaRPr sz="1400" dirty="0">
              <a:solidFill>
                <a:srgbClr val="FF0000"/>
              </a:solidFill>
              <a:latin typeface="Arial"/>
              <a:cs typeface="Arial"/>
            </a:endParaRPr>
          </a:p>
          <a:p>
            <a:pPr marL="25400" marR="30480" algn="ctr">
              <a:spcBef>
                <a:spcPts val="15"/>
              </a:spcBef>
            </a:pPr>
            <a:r>
              <a:rPr sz="1000" dirty="0">
                <a:solidFill>
                  <a:srgbClr val="12426B"/>
                </a:solidFill>
                <a:latin typeface="Arial"/>
                <a:cs typeface="Arial"/>
              </a:rPr>
              <a:t>Average</a:t>
            </a:r>
            <a:r>
              <a:rPr sz="1000" spc="-50" dirty="0">
                <a:solidFill>
                  <a:srgbClr val="12426B"/>
                </a:solidFill>
                <a:latin typeface="Arial"/>
                <a:cs typeface="Arial"/>
              </a:rPr>
              <a:t> </a:t>
            </a:r>
            <a:r>
              <a:rPr sz="1000" spc="-10" dirty="0">
                <a:solidFill>
                  <a:srgbClr val="12426B"/>
                </a:solidFill>
                <a:latin typeface="Arial"/>
                <a:cs typeface="Arial"/>
              </a:rPr>
              <a:t>Current </a:t>
            </a:r>
            <a:r>
              <a:rPr sz="1000" dirty="0">
                <a:solidFill>
                  <a:srgbClr val="12426B"/>
                </a:solidFill>
                <a:latin typeface="Arial"/>
                <a:cs typeface="Arial"/>
              </a:rPr>
              <a:t>3M</a:t>
            </a:r>
            <a:r>
              <a:rPr sz="1000" spc="-15" dirty="0">
                <a:solidFill>
                  <a:srgbClr val="12426B"/>
                </a:solidFill>
                <a:latin typeface="Arial"/>
                <a:cs typeface="Arial"/>
              </a:rPr>
              <a:t> </a:t>
            </a:r>
            <a:r>
              <a:rPr sz="1000" spc="-10" dirty="0">
                <a:solidFill>
                  <a:srgbClr val="12426B"/>
                </a:solidFill>
                <a:latin typeface="Arial"/>
                <a:cs typeface="Arial"/>
              </a:rPr>
              <a:t>ADT</a:t>
            </a:r>
            <a:r>
              <a:rPr sz="975" spc="-15" baseline="25641" dirty="0">
                <a:solidFill>
                  <a:srgbClr val="12426B"/>
                </a:solidFill>
                <a:latin typeface="Arial"/>
                <a:cs typeface="Arial"/>
              </a:rPr>
              <a:t>2,5</a:t>
            </a:r>
            <a:endParaRPr sz="975" baseline="25641" dirty="0">
              <a:latin typeface="Arial"/>
              <a:cs typeface="Arial"/>
            </a:endParaRPr>
          </a:p>
        </p:txBody>
      </p:sp>
      <p:sp>
        <p:nvSpPr>
          <p:cNvPr id="23" name="object 23"/>
          <p:cNvSpPr txBox="1"/>
          <p:nvPr/>
        </p:nvSpPr>
        <p:spPr>
          <a:xfrm>
            <a:off x="7555994" y="2010616"/>
            <a:ext cx="1080135" cy="543560"/>
          </a:xfrm>
          <a:prstGeom prst="rect">
            <a:avLst/>
          </a:prstGeom>
        </p:spPr>
        <p:txBody>
          <a:bodyPr vert="horz" wrap="square" lIns="0" tIns="12065" rIns="0" bIns="0" rtlCol="0">
            <a:spAutoFit/>
          </a:bodyPr>
          <a:lstStyle/>
          <a:p>
            <a:pPr marR="5080" algn="ctr">
              <a:lnSpc>
                <a:spcPts val="1190"/>
              </a:lnSpc>
              <a:spcBef>
                <a:spcPts val="95"/>
              </a:spcBef>
            </a:pPr>
            <a:r>
              <a:rPr sz="1000" spc="-10" dirty="0">
                <a:solidFill>
                  <a:srgbClr val="12426B"/>
                </a:solidFill>
                <a:latin typeface="Arial"/>
                <a:cs typeface="Arial"/>
              </a:rPr>
              <a:t>Substantial</a:t>
            </a:r>
            <a:endParaRPr sz="1000" dirty="0">
              <a:latin typeface="Arial"/>
              <a:cs typeface="Arial"/>
            </a:endParaRPr>
          </a:p>
          <a:p>
            <a:pPr marR="5080" algn="ctr">
              <a:lnSpc>
                <a:spcPts val="1670"/>
              </a:lnSpc>
            </a:pPr>
            <a:r>
              <a:rPr sz="1400" spc="-10" dirty="0">
                <a:solidFill>
                  <a:srgbClr val="FF0000"/>
                </a:solidFill>
                <a:latin typeface="Arial"/>
                <a:cs typeface="Arial"/>
              </a:rPr>
              <a:t>International</a:t>
            </a:r>
            <a:endParaRPr sz="1400" dirty="0">
              <a:solidFill>
                <a:srgbClr val="FF0000"/>
              </a:solidFill>
              <a:latin typeface="Arial"/>
              <a:cs typeface="Arial"/>
            </a:endParaRPr>
          </a:p>
          <a:p>
            <a:pPr marR="2540" algn="ctr">
              <a:spcBef>
                <a:spcPts val="15"/>
              </a:spcBef>
            </a:pPr>
            <a:r>
              <a:rPr sz="1000" spc="-10" dirty="0">
                <a:solidFill>
                  <a:srgbClr val="12426B"/>
                </a:solidFill>
                <a:latin typeface="Arial"/>
                <a:cs typeface="Arial"/>
              </a:rPr>
              <a:t>Participation</a:t>
            </a:r>
            <a:endParaRPr sz="1000" dirty="0">
              <a:latin typeface="Arial"/>
              <a:cs typeface="Arial"/>
            </a:endParaRPr>
          </a:p>
        </p:txBody>
      </p:sp>
      <p:sp>
        <p:nvSpPr>
          <p:cNvPr id="24" name="object 24"/>
          <p:cNvSpPr/>
          <p:nvPr/>
        </p:nvSpPr>
        <p:spPr>
          <a:xfrm>
            <a:off x="4678173" y="1402286"/>
            <a:ext cx="216535" cy="161290"/>
          </a:xfrm>
          <a:custGeom>
            <a:avLst/>
            <a:gdLst/>
            <a:ahLst/>
            <a:cxnLst/>
            <a:rect l="l" t="t" r="r" b="b"/>
            <a:pathLst>
              <a:path w="216535" h="161290">
                <a:moveTo>
                  <a:pt x="108076" y="0"/>
                </a:moveTo>
                <a:lnTo>
                  <a:pt x="0" y="160781"/>
                </a:lnTo>
                <a:lnTo>
                  <a:pt x="216026" y="160781"/>
                </a:lnTo>
                <a:lnTo>
                  <a:pt x="108076" y="0"/>
                </a:lnTo>
                <a:close/>
              </a:path>
            </a:pathLst>
          </a:custGeom>
          <a:solidFill>
            <a:srgbClr val="00B480"/>
          </a:solidFill>
        </p:spPr>
        <p:txBody>
          <a:bodyPr wrap="square" lIns="0" tIns="0" rIns="0" bIns="0" rtlCol="0"/>
          <a:lstStyle/>
          <a:p>
            <a:endParaRPr/>
          </a:p>
        </p:txBody>
      </p:sp>
      <p:sp>
        <p:nvSpPr>
          <p:cNvPr id="25" name="object 25"/>
          <p:cNvSpPr txBox="1"/>
          <p:nvPr/>
        </p:nvSpPr>
        <p:spPr>
          <a:xfrm>
            <a:off x="4329938" y="1326687"/>
            <a:ext cx="2899410" cy="579326"/>
          </a:xfrm>
          <a:prstGeom prst="rect">
            <a:avLst/>
          </a:prstGeom>
        </p:spPr>
        <p:txBody>
          <a:bodyPr vert="horz" wrap="square" lIns="0" tIns="38100" rIns="0" bIns="0" rtlCol="0">
            <a:spAutoFit/>
          </a:bodyPr>
          <a:lstStyle/>
          <a:p>
            <a:pPr marL="637540">
              <a:spcBef>
                <a:spcPts val="300"/>
              </a:spcBef>
              <a:tabLst>
                <a:tab pos="2087245" algn="l"/>
              </a:tabLst>
            </a:pPr>
            <a:r>
              <a:rPr sz="2100" spc="-37" baseline="-3968" dirty="0">
                <a:solidFill>
                  <a:srgbClr val="00AF50"/>
                </a:solidFill>
                <a:latin typeface="Arial"/>
                <a:cs typeface="Arial"/>
              </a:rPr>
              <a:t>29%</a:t>
            </a:r>
            <a:r>
              <a:rPr sz="2100" baseline="-3968" dirty="0">
                <a:solidFill>
                  <a:srgbClr val="00AF50"/>
                </a:solidFill>
                <a:latin typeface="Arial"/>
                <a:cs typeface="Arial"/>
              </a:rPr>
              <a:t>	</a:t>
            </a:r>
            <a:r>
              <a:rPr sz="1400" spc="-25" dirty="0">
                <a:solidFill>
                  <a:srgbClr val="FF0000"/>
                </a:solidFill>
                <a:latin typeface="Arial"/>
                <a:cs typeface="Arial"/>
              </a:rPr>
              <a:t>14x</a:t>
            </a:r>
            <a:endParaRPr sz="1400" dirty="0">
              <a:solidFill>
                <a:srgbClr val="FF0000"/>
              </a:solidFill>
              <a:latin typeface="Arial"/>
              <a:cs typeface="Arial"/>
            </a:endParaRPr>
          </a:p>
          <a:p>
            <a:pPr marL="25400" marR="30480" indent="100330">
              <a:lnSpc>
                <a:spcPct val="110400"/>
              </a:lnSpc>
              <a:spcBef>
                <a:spcPts val="10"/>
              </a:spcBef>
              <a:tabLst>
                <a:tab pos="1608455" algn="l"/>
                <a:tab pos="1824989" algn="l"/>
              </a:tabLst>
            </a:pPr>
            <a:r>
              <a:rPr sz="1500" baseline="-8333" dirty="0">
                <a:solidFill>
                  <a:srgbClr val="12426B"/>
                </a:solidFill>
                <a:latin typeface="Arial"/>
                <a:cs typeface="Arial"/>
              </a:rPr>
              <a:t>Average</a:t>
            </a:r>
            <a:r>
              <a:rPr sz="1500" spc="-44" baseline="-8333" dirty="0">
                <a:solidFill>
                  <a:srgbClr val="12426B"/>
                </a:solidFill>
                <a:latin typeface="Arial"/>
                <a:cs typeface="Arial"/>
              </a:rPr>
              <a:t> </a:t>
            </a:r>
            <a:r>
              <a:rPr sz="1500" baseline="-8333" dirty="0">
                <a:solidFill>
                  <a:srgbClr val="12426B"/>
                </a:solidFill>
                <a:latin typeface="Arial"/>
                <a:cs typeface="Arial"/>
              </a:rPr>
              <a:t>Share</a:t>
            </a:r>
            <a:r>
              <a:rPr sz="1500" spc="-75" baseline="-8333" dirty="0">
                <a:solidFill>
                  <a:srgbClr val="12426B"/>
                </a:solidFill>
                <a:latin typeface="Arial"/>
                <a:cs typeface="Arial"/>
              </a:rPr>
              <a:t> </a:t>
            </a:r>
            <a:r>
              <a:rPr sz="1500" spc="-30" baseline="-8333" dirty="0">
                <a:solidFill>
                  <a:srgbClr val="12426B"/>
                </a:solidFill>
                <a:latin typeface="Arial"/>
                <a:cs typeface="Arial"/>
              </a:rPr>
              <a:t>Price</a:t>
            </a:r>
            <a:r>
              <a:rPr sz="1500" baseline="-8333" dirty="0">
                <a:solidFill>
                  <a:srgbClr val="12426B"/>
                </a:solidFill>
                <a:latin typeface="Arial"/>
                <a:cs typeface="Arial"/>
              </a:rPr>
              <a:t>	</a:t>
            </a:r>
            <a:r>
              <a:rPr sz="1000" dirty="0">
                <a:solidFill>
                  <a:srgbClr val="12426B"/>
                </a:solidFill>
                <a:latin typeface="Arial"/>
                <a:cs typeface="Arial"/>
              </a:rPr>
              <a:t>Average</a:t>
            </a:r>
            <a:r>
              <a:rPr sz="1000" spc="-50" dirty="0">
                <a:solidFill>
                  <a:srgbClr val="12426B"/>
                </a:solidFill>
                <a:latin typeface="Arial"/>
                <a:cs typeface="Arial"/>
              </a:rPr>
              <a:t> </a:t>
            </a:r>
            <a:r>
              <a:rPr sz="1000" spc="-10" dirty="0">
                <a:solidFill>
                  <a:srgbClr val="12426B"/>
                </a:solidFill>
                <a:latin typeface="Arial"/>
                <a:cs typeface="Arial"/>
              </a:rPr>
              <a:t>Institutional 1-</a:t>
            </a:r>
            <a:r>
              <a:rPr sz="1000" dirty="0">
                <a:solidFill>
                  <a:srgbClr val="12426B"/>
                </a:solidFill>
                <a:latin typeface="Arial"/>
                <a:cs typeface="Arial"/>
              </a:rPr>
              <a:t>month</a:t>
            </a:r>
            <a:r>
              <a:rPr sz="1000" spc="-35" dirty="0">
                <a:solidFill>
                  <a:srgbClr val="12426B"/>
                </a:solidFill>
                <a:latin typeface="Arial"/>
                <a:cs typeface="Arial"/>
              </a:rPr>
              <a:t> </a:t>
            </a:r>
            <a:r>
              <a:rPr sz="1000" spc="-10" dirty="0">
                <a:solidFill>
                  <a:srgbClr val="12426B"/>
                </a:solidFill>
                <a:latin typeface="Arial"/>
                <a:cs typeface="Arial"/>
              </a:rPr>
              <a:t>Performance</a:t>
            </a:r>
            <a:r>
              <a:rPr sz="975" spc="-15" baseline="25641" dirty="0">
                <a:solidFill>
                  <a:srgbClr val="12426B"/>
                </a:solidFill>
                <a:latin typeface="Arial"/>
                <a:cs typeface="Arial"/>
              </a:rPr>
              <a:t>2,3</a:t>
            </a:r>
            <a:r>
              <a:rPr sz="975" baseline="25641" dirty="0">
                <a:solidFill>
                  <a:srgbClr val="12426B"/>
                </a:solidFill>
                <a:latin typeface="Arial"/>
                <a:cs typeface="Arial"/>
              </a:rPr>
              <a:t>		</a:t>
            </a:r>
            <a:r>
              <a:rPr sz="1500" spc="-15" baseline="5555" dirty="0">
                <a:solidFill>
                  <a:srgbClr val="12426B"/>
                </a:solidFill>
                <a:latin typeface="Arial"/>
                <a:cs typeface="Arial"/>
              </a:rPr>
              <a:t>Subscription</a:t>
            </a:r>
            <a:r>
              <a:rPr sz="975" spc="-15" baseline="34188" dirty="0">
                <a:solidFill>
                  <a:srgbClr val="12426B"/>
                </a:solidFill>
                <a:latin typeface="Arial"/>
                <a:cs typeface="Arial"/>
              </a:rPr>
              <a:t>2</a:t>
            </a:r>
            <a:endParaRPr sz="975" baseline="34188" dirty="0">
              <a:latin typeface="Arial"/>
              <a:cs typeface="Arial"/>
            </a:endParaRPr>
          </a:p>
        </p:txBody>
      </p:sp>
      <p:sp>
        <p:nvSpPr>
          <p:cNvPr id="26" name="object 26"/>
          <p:cNvSpPr txBox="1"/>
          <p:nvPr/>
        </p:nvSpPr>
        <p:spPr>
          <a:xfrm>
            <a:off x="7625080" y="1326948"/>
            <a:ext cx="944244" cy="586740"/>
          </a:xfrm>
          <a:prstGeom prst="rect">
            <a:avLst/>
          </a:prstGeom>
        </p:spPr>
        <p:txBody>
          <a:bodyPr vert="horz" wrap="square" lIns="0" tIns="38100" rIns="0" bIns="0" rtlCol="0">
            <a:spAutoFit/>
          </a:bodyPr>
          <a:lstStyle/>
          <a:p>
            <a:pPr marR="6350" algn="ctr">
              <a:spcBef>
                <a:spcPts val="300"/>
              </a:spcBef>
            </a:pPr>
            <a:r>
              <a:rPr sz="1400" spc="-20" dirty="0">
                <a:solidFill>
                  <a:srgbClr val="FF0000"/>
                </a:solidFill>
                <a:latin typeface="Arial"/>
                <a:cs typeface="Arial"/>
              </a:rPr>
              <a:t>862x</a:t>
            </a:r>
            <a:endParaRPr sz="1400" dirty="0">
              <a:solidFill>
                <a:srgbClr val="FF0000"/>
              </a:solidFill>
              <a:latin typeface="Arial"/>
              <a:cs typeface="Arial"/>
            </a:endParaRPr>
          </a:p>
          <a:p>
            <a:pPr marL="25400" marR="30480" algn="ctr">
              <a:spcBef>
                <a:spcPts val="135"/>
              </a:spcBef>
            </a:pPr>
            <a:r>
              <a:rPr sz="1000" dirty="0">
                <a:solidFill>
                  <a:srgbClr val="12426B"/>
                </a:solidFill>
                <a:latin typeface="Arial"/>
                <a:cs typeface="Arial"/>
              </a:rPr>
              <a:t>Average</a:t>
            </a:r>
            <a:r>
              <a:rPr sz="1000" spc="-30" dirty="0">
                <a:solidFill>
                  <a:srgbClr val="12426B"/>
                </a:solidFill>
                <a:latin typeface="Arial"/>
                <a:cs typeface="Arial"/>
              </a:rPr>
              <a:t> </a:t>
            </a:r>
            <a:r>
              <a:rPr sz="1000" spc="-10" dirty="0">
                <a:solidFill>
                  <a:srgbClr val="12426B"/>
                </a:solidFill>
                <a:latin typeface="Arial"/>
                <a:cs typeface="Arial"/>
              </a:rPr>
              <a:t>Retail Subscription</a:t>
            </a:r>
            <a:r>
              <a:rPr sz="975" spc="-15" baseline="25641" dirty="0">
                <a:solidFill>
                  <a:srgbClr val="12426B"/>
                </a:solidFill>
                <a:latin typeface="Arial"/>
                <a:cs typeface="Arial"/>
              </a:rPr>
              <a:t>2</a:t>
            </a:r>
            <a:endParaRPr sz="975" baseline="25641" dirty="0">
              <a:latin typeface="Arial"/>
              <a:cs typeface="Arial"/>
            </a:endParaRPr>
          </a:p>
        </p:txBody>
      </p:sp>
      <p:graphicFrame>
        <p:nvGraphicFramePr>
          <p:cNvPr id="32" name="object 32"/>
          <p:cNvGraphicFramePr>
            <a:graphicFrameLocks noGrp="1"/>
          </p:cNvGraphicFramePr>
          <p:nvPr>
            <p:extLst>
              <p:ext uri="{D42A27DB-BD31-4B8C-83A1-F6EECF244321}">
                <p14:modId xmlns:p14="http://schemas.microsoft.com/office/powerpoint/2010/main" val="1382783288"/>
              </p:ext>
            </p:extLst>
          </p:nvPr>
        </p:nvGraphicFramePr>
        <p:xfrm>
          <a:off x="4197352" y="2940208"/>
          <a:ext cx="4731385" cy="2046605"/>
        </p:xfrm>
        <a:graphic>
          <a:graphicData uri="http://schemas.openxmlformats.org/drawingml/2006/table">
            <a:tbl>
              <a:tblPr firstRow="1" bandRow="1">
                <a:tableStyleId>{2D5ABB26-0587-4C30-8999-92F81FD0307C}</a:tableStyleId>
              </a:tblPr>
              <a:tblGrid>
                <a:gridCol w="1278255">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2913380">
                  <a:extLst>
                    <a:ext uri="{9D8B030D-6E8A-4147-A177-3AD203B41FA5}">
                      <a16:colId xmlns:a16="http://schemas.microsoft.com/office/drawing/2014/main" val="20002"/>
                    </a:ext>
                  </a:extLst>
                </a:gridCol>
              </a:tblGrid>
              <a:tr h="269240">
                <a:tc>
                  <a:txBody>
                    <a:bodyPr/>
                    <a:lstStyle/>
                    <a:p>
                      <a:pPr>
                        <a:lnSpc>
                          <a:spcPts val="915"/>
                        </a:lnSpc>
                        <a:tabLst>
                          <a:tab pos="799465" algn="l"/>
                        </a:tabLst>
                      </a:pPr>
                      <a:r>
                        <a:rPr sz="1200" baseline="24305" dirty="0">
                          <a:solidFill>
                            <a:schemeClr val="tx1"/>
                          </a:solidFill>
                          <a:latin typeface="Arial"/>
                          <a:cs typeface="Arial"/>
                        </a:rPr>
                        <a:t>.</a:t>
                      </a:r>
                      <a:r>
                        <a:rPr sz="1200" spc="382" baseline="24305" dirty="0">
                          <a:solidFill>
                            <a:schemeClr val="tx1"/>
                          </a:solidFill>
                          <a:latin typeface="Arial"/>
                          <a:cs typeface="Arial"/>
                        </a:rPr>
                        <a:t>  </a:t>
                      </a:r>
                      <a:r>
                        <a:rPr sz="700" b="1" u="sng" spc="-10" dirty="0">
                          <a:solidFill>
                            <a:schemeClr val="tx1"/>
                          </a:solidFill>
                          <a:uFill>
                            <a:solidFill>
                              <a:srgbClr val="12426B"/>
                            </a:solidFill>
                          </a:uFill>
                          <a:latin typeface="Arial"/>
                          <a:cs typeface="Arial"/>
                        </a:rPr>
                        <a:t>Company</a:t>
                      </a:r>
                      <a:r>
                        <a:rPr sz="700" b="1" u="none" dirty="0">
                          <a:solidFill>
                            <a:schemeClr val="tx1"/>
                          </a:solidFill>
                          <a:latin typeface="Arial"/>
                          <a:cs typeface="Arial"/>
                        </a:rPr>
                        <a:t>	</a:t>
                      </a:r>
                      <a:r>
                        <a:rPr sz="700" b="1" u="sng" dirty="0">
                          <a:solidFill>
                            <a:schemeClr val="tx1"/>
                          </a:solidFill>
                          <a:uFill>
                            <a:solidFill>
                              <a:srgbClr val="12426B"/>
                            </a:solidFill>
                          </a:uFill>
                          <a:latin typeface="Arial"/>
                          <a:cs typeface="Arial"/>
                        </a:rPr>
                        <a:t>Deal</a:t>
                      </a:r>
                      <a:r>
                        <a:rPr sz="700" b="1" u="sng" spc="-10" dirty="0">
                          <a:solidFill>
                            <a:schemeClr val="tx1"/>
                          </a:solidFill>
                          <a:uFill>
                            <a:solidFill>
                              <a:srgbClr val="12426B"/>
                            </a:solidFill>
                          </a:uFill>
                          <a:latin typeface="Arial"/>
                          <a:cs typeface="Arial"/>
                        </a:rPr>
                        <a:t> </a:t>
                      </a:r>
                      <a:r>
                        <a:rPr sz="700" b="1" u="sng" spc="-20" dirty="0">
                          <a:solidFill>
                            <a:schemeClr val="tx1"/>
                          </a:solidFill>
                          <a:uFill>
                            <a:solidFill>
                              <a:srgbClr val="12426B"/>
                            </a:solidFill>
                          </a:uFill>
                          <a:latin typeface="Arial"/>
                          <a:cs typeface="Arial"/>
                        </a:rPr>
                        <a:t>Size</a:t>
                      </a:r>
                      <a:endParaRPr sz="700" dirty="0">
                        <a:solidFill>
                          <a:schemeClr val="tx1"/>
                        </a:solidFill>
                        <a:latin typeface="Arial"/>
                        <a:cs typeface="Arial"/>
                      </a:endParaRPr>
                    </a:p>
                    <a:p>
                      <a:pPr marL="782955">
                        <a:lnSpc>
                          <a:spcPct val="100000"/>
                        </a:lnSpc>
                        <a:spcBef>
                          <a:spcPts val="35"/>
                        </a:spcBef>
                      </a:pPr>
                      <a:r>
                        <a:rPr sz="700" spc="-10" dirty="0">
                          <a:solidFill>
                            <a:schemeClr val="tx1"/>
                          </a:solidFill>
                          <a:latin typeface="Arial"/>
                          <a:cs typeface="Arial"/>
                        </a:rPr>
                        <a:t>US$1.5bn</a:t>
                      </a:r>
                      <a:endParaRPr sz="700" dirty="0">
                        <a:solidFill>
                          <a:schemeClr val="tx1"/>
                        </a:solidFill>
                        <a:latin typeface="Arial"/>
                        <a:cs typeface="Arial"/>
                      </a:endParaRPr>
                    </a:p>
                  </a:txBody>
                  <a:tcPr marL="0" marR="0" marT="0" marB="0">
                    <a:lnL w="12700" cap="flat" cmpd="sng" algn="ctr">
                      <a:solidFill>
                        <a:srgbClr val="C00000"/>
                      </a:solidFill>
                      <a:prstDash val="solid"/>
                      <a:round/>
                      <a:headEnd type="none" w="med" len="med"/>
                      <a:tailEnd type="none" w="med" len="med"/>
                    </a:lnL>
                    <a:lnT w="12700" cap="flat" cmpd="sng" algn="ctr">
                      <a:solidFill>
                        <a:srgbClr val="C00000"/>
                      </a:solidFill>
                      <a:prstDash val="solid"/>
                      <a:round/>
                      <a:headEnd type="none" w="med" len="med"/>
                      <a:tailEnd type="none" w="med" len="med"/>
                    </a:lnT>
                    <a:lnB w="3175">
                      <a:solidFill>
                        <a:srgbClr val="000000"/>
                      </a:solidFill>
                      <a:prstDash val="lgDash"/>
                    </a:lnB>
                    <a:solidFill>
                      <a:srgbClr val="FFFFFF"/>
                    </a:solidFill>
                  </a:tcPr>
                </a:tc>
                <a:tc>
                  <a:txBody>
                    <a:bodyPr/>
                    <a:lstStyle/>
                    <a:p>
                      <a:pPr marL="3810" algn="ctr">
                        <a:lnSpc>
                          <a:spcPct val="100000"/>
                        </a:lnSpc>
                        <a:spcBef>
                          <a:spcPts val="55"/>
                        </a:spcBef>
                      </a:pPr>
                      <a:r>
                        <a:rPr sz="700" b="1" u="sng" spc="-10" dirty="0">
                          <a:solidFill>
                            <a:schemeClr val="tx1"/>
                          </a:solidFill>
                          <a:uFill>
                            <a:solidFill>
                              <a:srgbClr val="12426B"/>
                            </a:solidFill>
                          </a:uFill>
                          <a:latin typeface="Arial"/>
                          <a:cs typeface="Arial"/>
                        </a:rPr>
                        <a:t>Sector</a:t>
                      </a:r>
                      <a:endParaRPr sz="700">
                        <a:solidFill>
                          <a:schemeClr val="tx1"/>
                        </a:solidFill>
                        <a:latin typeface="Arial"/>
                        <a:cs typeface="Arial"/>
                      </a:endParaRPr>
                    </a:p>
                    <a:p>
                      <a:pPr algn="ctr">
                        <a:lnSpc>
                          <a:spcPct val="100000"/>
                        </a:lnSpc>
                        <a:spcBef>
                          <a:spcPts val="20"/>
                        </a:spcBef>
                      </a:pPr>
                      <a:r>
                        <a:rPr sz="700" spc="-10" dirty="0">
                          <a:solidFill>
                            <a:schemeClr val="tx1"/>
                          </a:solidFill>
                          <a:latin typeface="Arial"/>
                          <a:cs typeface="Arial"/>
                        </a:rPr>
                        <a:t>Consumer</a:t>
                      </a:r>
                      <a:endParaRPr sz="700">
                        <a:solidFill>
                          <a:schemeClr val="tx1"/>
                        </a:solidFill>
                        <a:latin typeface="Arial"/>
                        <a:cs typeface="Arial"/>
                      </a:endParaRPr>
                    </a:p>
                  </a:txBody>
                  <a:tcPr marL="0" marR="0" marT="6985" marB="0">
                    <a:lnT w="12700" cap="flat" cmpd="sng" algn="ctr">
                      <a:solidFill>
                        <a:srgbClr val="C00000"/>
                      </a:solidFill>
                      <a:prstDash val="solid"/>
                      <a:round/>
                      <a:headEnd type="none" w="med" len="med"/>
                      <a:tailEnd type="none" w="med" len="med"/>
                    </a:lnT>
                    <a:lnB w="3175">
                      <a:solidFill>
                        <a:srgbClr val="000000"/>
                      </a:solidFill>
                      <a:prstDash val="lgDash"/>
                    </a:lnB>
                    <a:solidFill>
                      <a:srgbClr val="FFFFFF"/>
                    </a:solidFill>
                  </a:tcPr>
                </a:tc>
                <a:tc>
                  <a:txBody>
                    <a:bodyPr/>
                    <a:lstStyle/>
                    <a:p>
                      <a:pPr marL="67310">
                        <a:lnSpc>
                          <a:spcPct val="100000"/>
                        </a:lnSpc>
                        <a:spcBef>
                          <a:spcPts val="55"/>
                        </a:spcBef>
                      </a:pPr>
                      <a:r>
                        <a:rPr sz="700" b="1" u="sng" dirty="0">
                          <a:solidFill>
                            <a:schemeClr val="tx1"/>
                          </a:solidFill>
                          <a:uFill>
                            <a:solidFill>
                              <a:srgbClr val="12426B"/>
                            </a:solidFill>
                          </a:uFill>
                          <a:latin typeface="Arial"/>
                          <a:cs typeface="Arial"/>
                        </a:rPr>
                        <a:t>Deal</a:t>
                      </a:r>
                      <a:r>
                        <a:rPr sz="700" b="1" u="sng" spc="-10" dirty="0">
                          <a:solidFill>
                            <a:schemeClr val="tx1"/>
                          </a:solidFill>
                          <a:uFill>
                            <a:solidFill>
                              <a:srgbClr val="12426B"/>
                            </a:solidFill>
                          </a:uFill>
                          <a:latin typeface="Arial"/>
                          <a:cs typeface="Arial"/>
                        </a:rPr>
                        <a:t> Highlights</a:t>
                      </a:r>
                      <a:endParaRPr sz="700">
                        <a:solidFill>
                          <a:schemeClr val="tx1"/>
                        </a:solidFill>
                        <a:latin typeface="Arial"/>
                        <a:cs typeface="Arial"/>
                      </a:endParaRPr>
                    </a:p>
                    <a:p>
                      <a:pPr marL="68580">
                        <a:lnSpc>
                          <a:spcPct val="100000"/>
                        </a:lnSpc>
                        <a:spcBef>
                          <a:spcPts val="20"/>
                        </a:spcBef>
                      </a:pPr>
                      <a:r>
                        <a:rPr sz="700" b="1" dirty="0">
                          <a:solidFill>
                            <a:schemeClr val="tx1"/>
                          </a:solidFill>
                          <a:latin typeface="Arial"/>
                          <a:cs typeface="Arial"/>
                        </a:rPr>
                        <a:t>Second</a:t>
                      </a:r>
                      <a:r>
                        <a:rPr sz="700" b="1" spc="-15" dirty="0">
                          <a:solidFill>
                            <a:schemeClr val="tx1"/>
                          </a:solidFill>
                          <a:latin typeface="Arial"/>
                          <a:cs typeface="Arial"/>
                        </a:rPr>
                        <a:t> </a:t>
                      </a:r>
                      <a:r>
                        <a:rPr sz="700" b="1" dirty="0">
                          <a:solidFill>
                            <a:schemeClr val="tx1"/>
                          </a:solidFill>
                          <a:latin typeface="Arial"/>
                          <a:cs typeface="Arial"/>
                        </a:rPr>
                        <a:t>largest</a:t>
                      </a:r>
                      <a:r>
                        <a:rPr sz="700" b="1" spc="5" dirty="0">
                          <a:solidFill>
                            <a:schemeClr val="tx1"/>
                          </a:solidFill>
                          <a:latin typeface="Arial"/>
                          <a:cs typeface="Arial"/>
                        </a:rPr>
                        <a:t> </a:t>
                      </a:r>
                      <a:r>
                        <a:rPr sz="700" dirty="0">
                          <a:solidFill>
                            <a:schemeClr val="tx1"/>
                          </a:solidFill>
                          <a:latin typeface="Arial"/>
                          <a:cs typeface="Arial"/>
                        </a:rPr>
                        <a:t>consumer</a:t>
                      </a:r>
                      <a:r>
                        <a:rPr sz="700" spc="5" dirty="0">
                          <a:solidFill>
                            <a:schemeClr val="tx1"/>
                          </a:solidFill>
                          <a:latin typeface="Arial"/>
                          <a:cs typeface="Arial"/>
                        </a:rPr>
                        <a:t> </a:t>
                      </a:r>
                      <a:r>
                        <a:rPr sz="700" dirty="0">
                          <a:solidFill>
                            <a:schemeClr val="tx1"/>
                          </a:solidFill>
                          <a:latin typeface="Arial"/>
                          <a:cs typeface="Arial"/>
                        </a:rPr>
                        <a:t>IPO</a:t>
                      </a:r>
                      <a:r>
                        <a:rPr sz="700" spc="5" dirty="0">
                          <a:solidFill>
                            <a:schemeClr val="tx1"/>
                          </a:solidFill>
                          <a:latin typeface="Arial"/>
                          <a:cs typeface="Arial"/>
                        </a:rPr>
                        <a:t> </a:t>
                      </a:r>
                      <a:r>
                        <a:rPr sz="700" dirty="0">
                          <a:solidFill>
                            <a:schemeClr val="tx1"/>
                          </a:solidFill>
                          <a:latin typeface="Arial"/>
                          <a:cs typeface="Arial"/>
                        </a:rPr>
                        <a:t>in</a:t>
                      </a:r>
                      <a:r>
                        <a:rPr sz="700" spc="-25" dirty="0">
                          <a:solidFill>
                            <a:schemeClr val="tx1"/>
                          </a:solidFill>
                          <a:latin typeface="Arial"/>
                          <a:cs typeface="Arial"/>
                        </a:rPr>
                        <a:t> </a:t>
                      </a:r>
                      <a:r>
                        <a:rPr sz="700" dirty="0">
                          <a:solidFill>
                            <a:schemeClr val="tx1"/>
                          </a:solidFill>
                          <a:latin typeface="Arial"/>
                          <a:cs typeface="Arial"/>
                        </a:rPr>
                        <a:t>Asia</a:t>
                      </a:r>
                      <a:r>
                        <a:rPr sz="700" spc="-15" dirty="0">
                          <a:solidFill>
                            <a:schemeClr val="tx1"/>
                          </a:solidFill>
                          <a:latin typeface="Arial"/>
                          <a:cs typeface="Arial"/>
                        </a:rPr>
                        <a:t> </a:t>
                      </a:r>
                      <a:r>
                        <a:rPr sz="700" dirty="0">
                          <a:solidFill>
                            <a:schemeClr val="tx1"/>
                          </a:solidFill>
                          <a:latin typeface="Arial"/>
                          <a:cs typeface="Arial"/>
                        </a:rPr>
                        <a:t>in</a:t>
                      </a:r>
                      <a:r>
                        <a:rPr sz="700" spc="-30" dirty="0">
                          <a:solidFill>
                            <a:schemeClr val="tx1"/>
                          </a:solidFill>
                          <a:latin typeface="Arial"/>
                          <a:cs typeface="Arial"/>
                        </a:rPr>
                        <a:t> </a:t>
                      </a:r>
                      <a:r>
                        <a:rPr sz="700" dirty="0">
                          <a:solidFill>
                            <a:schemeClr val="tx1"/>
                          </a:solidFill>
                          <a:latin typeface="Arial"/>
                          <a:cs typeface="Arial"/>
                        </a:rPr>
                        <a:t>the</a:t>
                      </a:r>
                      <a:r>
                        <a:rPr sz="700" spc="-5" dirty="0">
                          <a:solidFill>
                            <a:schemeClr val="tx1"/>
                          </a:solidFill>
                          <a:latin typeface="Arial"/>
                          <a:cs typeface="Arial"/>
                        </a:rPr>
                        <a:t> </a:t>
                      </a:r>
                      <a:r>
                        <a:rPr sz="700" dirty="0">
                          <a:solidFill>
                            <a:schemeClr val="tx1"/>
                          </a:solidFill>
                          <a:latin typeface="Arial"/>
                          <a:cs typeface="Arial"/>
                        </a:rPr>
                        <a:t>last</a:t>
                      </a:r>
                      <a:r>
                        <a:rPr sz="700" spc="-15" dirty="0">
                          <a:solidFill>
                            <a:schemeClr val="tx1"/>
                          </a:solidFill>
                          <a:latin typeface="Arial"/>
                          <a:cs typeface="Arial"/>
                        </a:rPr>
                        <a:t> </a:t>
                      </a:r>
                      <a:r>
                        <a:rPr sz="700" dirty="0">
                          <a:solidFill>
                            <a:schemeClr val="tx1"/>
                          </a:solidFill>
                          <a:latin typeface="Arial"/>
                          <a:cs typeface="Arial"/>
                        </a:rPr>
                        <a:t>5</a:t>
                      </a:r>
                      <a:r>
                        <a:rPr sz="700" spc="-20" dirty="0">
                          <a:solidFill>
                            <a:schemeClr val="tx1"/>
                          </a:solidFill>
                          <a:latin typeface="Arial"/>
                          <a:cs typeface="Arial"/>
                        </a:rPr>
                        <a:t> years</a:t>
                      </a:r>
                      <a:endParaRPr sz="700">
                        <a:solidFill>
                          <a:schemeClr val="tx1"/>
                        </a:solidFill>
                        <a:latin typeface="Arial"/>
                        <a:cs typeface="Arial"/>
                      </a:endParaRPr>
                    </a:p>
                  </a:txBody>
                  <a:tcPr marL="0" marR="0" marT="6985" marB="0">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3175">
                      <a:solidFill>
                        <a:srgbClr val="000000"/>
                      </a:solidFill>
                      <a:prstDash val="lgDash"/>
                    </a:lnB>
                    <a:solidFill>
                      <a:srgbClr val="FFFFFF"/>
                    </a:solidFill>
                  </a:tcPr>
                </a:tc>
                <a:extLst>
                  <a:ext uri="{0D108BD9-81ED-4DB2-BD59-A6C34878D82A}">
                    <a16:rowId xmlns:a16="http://schemas.microsoft.com/office/drawing/2014/main" val="10000"/>
                  </a:ext>
                </a:extLst>
              </a:tr>
              <a:tr h="197485">
                <a:tc>
                  <a:txBody>
                    <a:bodyPr/>
                    <a:lstStyle/>
                    <a:p>
                      <a:pPr marR="94615" algn="r">
                        <a:lnSpc>
                          <a:spcPct val="100000"/>
                        </a:lnSpc>
                        <a:spcBef>
                          <a:spcPts val="390"/>
                        </a:spcBef>
                      </a:pPr>
                      <a:r>
                        <a:rPr sz="700" spc="-10" dirty="0">
                          <a:solidFill>
                            <a:schemeClr val="tx1"/>
                          </a:solidFill>
                          <a:latin typeface="Arial"/>
                          <a:cs typeface="Arial"/>
                        </a:rPr>
                        <a:t>US$1.4bn</a:t>
                      </a:r>
                      <a:endParaRPr sz="700">
                        <a:solidFill>
                          <a:schemeClr val="tx1"/>
                        </a:solidFill>
                        <a:latin typeface="Arial"/>
                        <a:cs typeface="Arial"/>
                      </a:endParaRPr>
                    </a:p>
                  </a:txBody>
                  <a:tcPr marL="0" marR="0" marT="49530" marB="0">
                    <a:lnL w="12700" cap="flat" cmpd="sng" algn="ctr">
                      <a:solidFill>
                        <a:srgbClr val="C00000"/>
                      </a:solidFill>
                      <a:prstDash val="solid"/>
                      <a:round/>
                      <a:headEnd type="none" w="med" len="med"/>
                      <a:tailEnd type="none" w="med" len="med"/>
                    </a:lnL>
                    <a:lnT w="3175">
                      <a:solidFill>
                        <a:srgbClr val="000000"/>
                      </a:solidFill>
                      <a:prstDash val="lgDash"/>
                    </a:lnT>
                    <a:lnB w="3175">
                      <a:solidFill>
                        <a:srgbClr val="000000"/>
                      </a:solidFill>
                      <a:prstDash val="lgDash"/>
                    </a:lnB>
                    <a:solidFill>
                      <a:srgbClr val="FFFFFF"/>
                    </a:solidFill>
                  </a:tcPr>
                </a:tc>
                <a:tc>
                  <a:txBody>
                    <a:bodyPr/>
                    <a:lstStyle/>
                    <a:p>
                      <a:pPr algn="ctr">
                        <a:lnSpc>
                          <a:spcPct val="100000"/>
                        </a:lnSpc>
                        <a:spcBef>
                          <a:spcPts val="350"/>
                        </a:spcBef>
                      </a:pPr>
                      <a:r>
                        <a:rPr sz="700" spc="-10" dirty="0">
                          <a:solidFill>
                            <a:schemeClr val="tx1"/>
                          </a:solidFill>
                          <a:latin typeface="Arial"/>
                          <a:cs typeface="Arial"/>
                        </a:rPr>
                        <a:t>Consumer</a:t>
                      </a:r>
                      <a:endParaRPr sz="700" dirty="0">
                        <a:solidFill>
                          <a:schemeClr val="tx1"/>
                        </a:solidFill>
                        <a:latin typeface="Arial"/>
                        <a:cs typeface="Arial"/>
                      </a:endParaRPr>
                    </a:p>
                  </a:txBody>
                  <a:tcPr marL="0" marR="0" marT="44450" marB="0">
                    <a:lnT w="3175">
                      <a:solidFill>
                        <a:srgbClr val="000000"/>
                      </a:solidFill>
                      <a:prstDash val="lgDash"/>
                    </a:lnT>
                    <a:lnB w="3175">
                      <a:solidFill>
                        <a:srgbClr val="000000"/>
                      </a:solidFill>
                      <a:prstDash val="lgDash"/>
                    </a:lnB>
                    <a:solidFill>
                      <a:srgbClr val="FFFFFF"/>
                    </a:solidFill>
                  </a:tcPr>
                </a:tc>
                <a:tc>
                  <a:txBody>
                    <a:bodyPr/>
                    <a:lstStyle/>
                    <a:p>
                      <a:pPr marL="68580">
                        <a:lnSpc>
                          <a:spcPct val="100000"/>
                        </a:lnSpc>
                        <a:spcBef>
                          <a:spcPts val="350"/>
                        </a:spcBef>
                      </a:pPr>
                      <a:r>
                        <a:rPr sz="700" b="1" dirty="0">
                          <a:solidFill>
                            <a:schemeClr val="tx1"/>
                          </a:solidFill>
                          <a:latin typeface="Arial"/>
                          <a:cs typeface="Arial"/>
                        </a:rPr>
                        <a:t>Largest</a:t>
                      </a:r>
                      <a:r>
                        <a:rPr sz="700" b="1" spc="5" dirty="0">
                          <a:solidFill>
                            <a:schemeClr val="tx1"/>
                          </a:solidFill>
                          <a:latin typeface="Arial"/>
                          <a:cs typeface="Arial"/>
                        </a:rPr>
                        <a:t> </a:t>
                      </a:r>
                      <a:r>
                        <a:rPr sz="700" dirty="0">
                          <a:solidFill>
                            <a:schemeClr val="tx1"/>
                          </a:solidFill>
                          <a:latin typeface="Arial"/>
                          <a:cs typeface="Arial"/>
                        </a:rPr>
                        <a:t>beverage IPO</a:t>
                      </a:r>
                      <a:r>
                        <a:rPr sz="700" spc="5" dirty="0">
                          <a:solidFill>
                            <a:schemeClr val="tx1"/>
                          </a:solidFill>
                          <a:latin typeface="Arial"/>
                          <a:cs typeface="Arial"/>
                        </a:rPr>
                        <a:t> </a:t>
                      </a:r>
                      <a:r>
                        <a:rPr sz="700" dirty="0">
                          <a:solidFill>
                            <a:schemeClr val="tx1"/>
                          </a:solidFill>
                          <a:latin typeface="Arial"/>
                          <a:cs typeface="Arial"/>
                        </a:rPr>
                        <a:t>in</a:t>
                      </a:r>
                      <a:r>
                        <a:rPr sz="700" spc="-20" dirty="0">
                          <a:solidFill>
                            <a:schemeClr val="tx1"/>
                          </a:solidFill>
                          <a:latin typeface="Arial"/>
                          <a:cs typeface="Arial"/>
                        </a:rPr>
                        <a:t> </a:t>
                      </a:r>
                      <a:r>
                        <a:rPr sz="700" dirty="0">
                          <a:solidFill>
                            <a:schemeClr val="tx1"/>
                          </a:solidFill>
                          <a:latin typeface="Arial"/>
                          <a:cs typeface="Arial"/>
                        </a:rPr>
                        <a:t>Asia</a:t>
                      </a:r>
                      <a:r>
                        <a:rPr sz="700" spc="-25" dirty="0">
                          <a:solidFill>
                            <a:schemeClr val="tx1"/>
                          </a:solidFill>
                          <a:latin typeface="Arial"/>
                          <a:cs typeface="Arial"/>
                        </a:rPr>
                        <a:t> </a:t>
                      </a:r>
                      <a:r>
                        <a:rPr sz="700" dirty="0">
                          <a:solidFill>
                            <a:schemeClr val="tx1"/>
                          </a:solidFill>
                          <a:latin typeface="Arial"/>
                          <a:cs typeface="Arial"/>
                        </a:rPr>
                        <a:t>in</a:t>
                      </a:r>
                      <a:r>
                        <a:rPr sz="700" spc="-25" dirty="0">
                          <a:solidFill>
                            <a:schemeClr val="tx1"/>
                          </a:solidFill>
                          <a:latin typeface="Arial"/>
                          <a:cs typeface="Arial"/>
                        </a:rPr>
                        <a:t> </a:t>
                      </a:r>
                      <a:r>
                        <a:rPr sz="700" spc="-10" dirty="0">
                          <a:solidFill>
                            <a:schemeClr val="tx1"/>
                          </a:solidFill>
                          <a:latin typeface="Arial"/>
                          <a:cs typeface="Arial"/>
                        </a:rPr>
                        <a:t>2026YTD</a:t>
                      </a:r>
                      <a:endParaRPr sz="700">
                        <a:solidFill>
                          <a:schemeClr val="tx1"/>
                        </a:solidFill>
                        <a:latin typeface="Arial"/>
                        <a:cs typeface="Arial"/>
                      </a:endParaRPr>
                    </a:p>
                  </a:txBody>
                  <a:tcPr marL="0" marR="0" marT="44450" marB="0">
                    <a:lnR w="12700" cap="flat" cmpd="sng" algn="ctr">
                      <a:solidFill>
                        <a:srgbClr val="C00000"/>
                      </a:solidFill>
                      <a:prstDash val="solid"/>
                      <a:round/>
                      <a:headEnd type="none" w="med" len="med"/>
                      <a:tailEnd type="none" w="med" len="med"/>
                    </a:lnR>
                    <a:lnT w="3175">
                      <a:solidFill>
                        <a:srgbClr val="000000"/>
                      </a:solidFill>
                      <a:prstDash val="lgDash"/>
                    </a:lnT>
                    <a:lnB w="3175">
                      <a:solidFill>
                        <a:srgbClr val="000000"/>
                      </a:solidFill>
                      <a:prstDash val="lgDash"/>
                    </a:lnB>
                    <a:solidFill>
                      <a:srgbClr val="FFFFFF"/>
                    </a:solidFill>
                  </a:tcPr>
                </a:tc>
                <a:extLst>
                  <a:ext uri="{0D108BD9-81ED-4DB2-BD59-A6C34878D82A}">
                    <a16:rowId xmlns:a16="http://schemas.microsoft.com/office/drawing/2014/main" val="10001"/>
                  </a:ext>
                </a:extLst>
              </a:tr>
              <a:tr h="197485">
                <a:tc>
                  <a:txBody>
                    <a:bodyPr/>
                    <a:lstStyle/>
                    <a:p>
                      <a:pPr marR="94615" algn="r">
                        <a:lnSpc>
                          <a:spcPct val="100000"/>
                        </a:lnSpc>
                        <a:spcBef>
                          <a:spcPts val="390"/>
                        </a:spcBef>
                      </a:pPr>
                      <a:r>
                        <a:rPr sz="700" spc="-10" dirty="0">
                          <a:solidFill>
                            <a:schemeClr val="tx1"/>
                          </a:solidFill>
                          <a:latin typeface="Arial"/>
                          <a:cs typeface="Arial"/>
                        </a:rPr>
                        <a:t>US$1.0bn</a:t>
                      </a:r>
                      <a:endParaRPr sz="700">
                        <a:solidFill>
                          <a:schemeClr val="tx1"/>
                        </a:solidFill>
                        <a:latin typeface="Arial"/>
                        <a:cs typeface="Arial"/>
                      </a:endParaRPr>
                    </a:p>
                  </a:txBody>
                  <a:tcPr marL="0" marR="0" marT="49530" marB="0">
                    <a:lnL w="12700" cap="flat" cmpd="sng" algn="ctr">
                      <a:solidFill>
                        <a:srgbClr val="C00000"/>
                      </a:solidFill>
                      <a:prstDash val="solid"/>
                      <a:round/>
                      <a:headEnd type="none" w="med" len="med"/>
                      <a:tailEnd type="none" w="med" len="med"/>
                    </a:lnL>
                    <a:lnT w="3175">
                      <a:solidFill>
                        <a:srgbClr val="000000"/>
                      </a:solidFill>
                      <a:prstDash val="lgDash"/>
                    </a:lnT>
                    <a:lnB w="3175">
                      <a:solidFill>
                        <a:srgbClr val="000000"/>
                      </a:solidFill>
                      <a:prstDash val="lgDash"/>
                    </a:lnB>
                    <a:solidFill>
                      <a:srgbClr val="FFFFFF"/>
                    </a:solidFill>
                  </a:tcPr>
                </a:tc>
                <a:tc>
                  <a:txBody>
                    <a:bodyPr/>
                    <a:lstStyle/>
                    <a:p>
                      <a:pPr algn="ctr">
                        <a:lnSpc>
                          <a:spcPct val="100000"/>
                        </a:lnSpc>
                        <a:spcBef>
                          <a:spcPts val="350"/>
                        </a:spcBef>
                      </a:pPr>
                      <a:r>
                        <a:rPr sz="700" spc="-25" dirty="0">
                          <a:solidFill>
                            <a:schemeClr val="tx1"/>
                          </a:solidFill>
                          <a:latin typeface="Arial"/>
                          <a:cs typeface="Arial"/>
                        </a:rPr>
                        <a:t>TMT</a:t>
                      </a:r>
                      <a:endParaRPr sz="700">
                        <a:solidFill>
                          <a:schemeClr val="tx1"/>
                        </a:solidFill>
                        <a:latin typeface="Arial"/>
                        <a:cs typeface="Arial"/>
                      </a:endParaRPr>
                    </a:p>
                  </a:txBody>
                  <a:tcPr marL="0" marR="0" marT="44450" marB="0">
                    <a:lnT w="3175">
                      <a:solidFill>
                        <a:srgbClr val="000000"/>
                      </a:solidFill>
                      <a:prstDash val="lgDash"/>
                    </a:lnT>
                    <a:lnB w="3175">
                      <a:solidFill>
                        <a:srgbClr val="000000"/>
                      </a:solidFill>
                      <a:prstDash val="lgDash"/>
                    </a:lnB>
                    <a:solidFill>
                      <a:srgbClr val="FFFFFF"/>
                    </a:solidFill>
                  </a:tcPr>
                </a:tc>
                <a:tc>
                  <a:txBody>
                    <a:bodyPr/>
                    <a:lstStyle/>
                    <a:p>
                      <a:pPr marL="68580">
                        <a:lnSpc>
                          <a:spcPct val="100000"/>
                        </a:lnSpc>
                        <a:spcBef>
                          <a:spcPts val="350"/>
                        </a:spcBef>
                      </a:pPr>
                      <a:r>
                        <a:rPr sz="700" b="1" dirty="0">
                          <a:solidFill>
                            <a:schemeClr val="tx1"/>
                          </a:solidFill>
                          <a:latin typeface="Arial"/>
                          <a:cs typeface="Arial"/>
                        </a:rPr>
                        <a:t>Largest</a:t>
                      </a:r>
                      <a:r>
                        <a:rPr sz="700" b="1" spc="15" dirty="0">
                          <a:solidFill>
                            <a:schemeClr val="tx1"/>
                          </a:solidFill>
                          <a:latin typeface="Arial"/>
                          <a:cs typeface="Arial"/>
                        </a:rPr>
                        <a:t> </a:t>
                      </a:r>
                      <a:r>
                        <a:rPr sz="700" spc="-10" dirty="0">
                          <a:solidFill>
                            <a:schemeClr val="tx1"/>
                          </a:solidFill>
                          <a:latin typeface="Arial"/>
                          <a:cs typeface="Arial"/>
                        </a:rPr>
                        <a:t>semiconductor</a:t>
                      </a:r>
                      <a:r>
                        <a:rPr sz="700" spc="25" dirty="0">
                          <a:solidFill>
                            <a:schemeClr val="tx1"/>
                          </a:solidFill>
                          <a:latin typeface="Arial"/>
                          <a:cs typeface="Arial"/>
                        </a:rPr>
                        <a:t> </a:t>
                      </a:r>
                      <a:r>
                        <a:rPr sz="700" dirty="0">
                          <a:solidFill>
                            <a:schemeClr val="tx1"/>
                          </a:solidFill>
                          <a:latin typeface="Arial"/>
                          <a:cs typeface="Arial"/>
                        </a:rPr>
                        <a:t>HK</a:t>
                      </a:r>
                      <a:r>
                        <a:rPr sz="700" spc="-10" dirty="0">
                          <a:solidFill>
                            <a:schemeClr val="tx1"/>
                          </a:solidFill>
                          <a:latin typeface="Arial"/>
                          <a:cs typeface="Arial"/>
                        </a:rPr>
                        <a:t> </a:t>
                      </a:r>
                      <a:r>
                        <a:rPr sz="700" dirty="0">
                          <a:solidFill>
                            <a:schemeClr val="tx1"/>
                          </a:solidFill>
                          <a:latin typeface="Arial"/>
                          <a:cs typeface="Arial"/>
                        </a:rPr>
                        <a:t>IPO</a:t>
                      </a:r>
                      <a:r>
                        <a:rPr sz="700" spc="5" dirty="0">
                          <a:solidFill>
                            <a:schemeClr val="tx1"/>
                          </a:solidFill>
                          <a:latin typeface="Arial"/>
                          <a:cs typeface="Arial"/>
                        </a:rPr>
                        <a:t> </a:t>
                      </a:r>
                      <a:r>
                        <a:rPr sz="700" dirty="0">
                          <a:solidFill>
                            <a:schemeClr val="tx1"/>
                          </a:solidFill>
                          <a:latin typeface="Arial"/>
                          <a:cs typeface="Arial"/>
                        </a:rPr>
                        <a:t>in</a:t>
                      </a:r>
                      <a:r>
                        <a:rPr sz="700" spc="-5" dirty="0">
                          <a:solidFill>
                            <a:schemeClr val="tx1"/>
                          </a:solidFill>
                          <a:latin typeface="Arial"/>
                          <a:cs typeface="Arial"/>
                        </a:rPr>
                        <a:t> </a:t>
                      </a:r>
                      <a:r>
                        <a:rPr sz="700" dirty="0">
                          <a:solidFill>
                            <a:schemeClr val="tx1"/>
                          </a:solidFill>
                          <a:latin typeface="Arial"/>
                          <a:cs typeface="Arial"/>
                        </a:rPr>
                        <a:t>the</a:t>
                      </a:r>
                      <a:r>
                        <a:rPr sz="700" spc="5" dirty="0">
                          <a:solidFill>
                            <a:schemeClr val="tx1"/>
                          </a:solidFill>
                          <a:latin typeface="Arial"/>
                          <a:cs typeface="Arial"/>
                        </a:rPr>
                        <a:t> </a:t>
                      </a:r>
                      <a:r>
                        <a:rPr sz="700" dirty="0">
                          <a:solidFill>
                            <a:schemeClr val="tx1"/>
                          </a:solidFill>
                          <a:latin typeface="Arial"/>
                          <a:cs typeface="Arial"/>
                        </a:rPr>
                        <a:t>last</a:t>
                      </a:r>
                      <a:r>
                        <a:rPr sz="700" spc="-10" dirty="0">
                          <a:solidFill>
                            <a:schemeClr val="tx1"/>
                          </a:solidFill>
                          <a:latin typeface="Arial"/>
                          <a:cs typeface="Arial"/>
                        </a:rPr>
                        <a:t> </a:t>
                      </a:r>
                      <a:r>
                        <a:rPr sz="700" dirty="0">
                          <a:solidFill>
                            <a:schemeClr val="tx1"/>
                          </a:solidFill>
                          <a:latin typeface="Arial"/>
                          <a:cs typeface="Arial"/>
                        </a:rPr>
                        <a:t>20</a:t>
                      </a:r>
                      <a:r>
                        <a:rPr sz="700" spc="-5" dirty="0">
                          <a:solidFill>
                            <a:schemeClr val="tx1"/>
                          </a:solidFill>
                          <a:latin typeface="Arial"/>
                          <a:cs typeface="Arial"/>
                        </a:rPr>
                        <a:t> </a:t>
                      </a:r>
                      <a:r>
                        <a:rPr sz="700" spc="-20" dirty="0">
                          <a:solidFill>
                            <a:schemeClr val="tx1"/>
                          </a:solidFill>
                          <a:latin typeface="Arial"/>
                          <a:cs typeface="Arial"/>
                        </a:rPr>
                        <a:t>years</a:t>
                      </a:r>
                      <a:endParaRPr sz="700" dirty="0">
                        <a:solidFill>
                          <a:schemeClr val="tx1"/>
                        </a:solidFill>
                        <a:latin typeface="Arial"/>
                        <a:cs typeface="Arial"/>
                      </a:endParaRPr>
                    </a:p>
                  </a:txBody>
                  <a:tcPr marL="0" marR="0" marT="44450" marB="0">
                    <a:lnR w="12700" cap="flat" cmpd="sng" algn="ctr">
                      <a:solidFill>
                        <a:srgbClr val="C00000"/>
                      </a:solidFill>
                      <a:prstDash val="solid"/>
                      <a:round/>
                      <a:headEnd type="none" w="med" len="med"/>
                      <a:tailEnd type="none" w="med" len="med"/>
                    </a:lnR>
                    <a:lnT w="3175">
                      <a:solidFill>
                        <a:srgbClr val="000000"/>
                      </a:solidFill>
                      <a:prstDash val="lgDash"/>
                    </a:lnT>
                    <a:lnB w="3175">
                      <a:solidFill>
                        <a:srgbClr val="000000"/>
                      </a:solidFill>
                      <a:prstDash val="lgDash"/>
                    </a:lnB>
                    <a:solidFill>
                      <a:srgbClr val="FFFFFF"/>
                    </a:solidFill>
                  </a:tcPr>
                </a:tc>
                <a:extLst>
                  <a:ext uri="{0D108BD9-81ED-4DB2-BD59-A6C34878D82A}">
                    <a16:rowId xmlns:a16="http://schemas.microsoft.com/office/drawing/2014/main" val="10002"/>
                  </a:ext>
                </a:extLst>
              </a:tr>
              <a:tr h="198120">
                <a:tc>
                  <a:txBody>
                    <a:bodyPr/>
                    <a:lstStyle/>
                    <a:p>
                      <a:pPr marR="58419" algn="r">
                        <a:lnSpc>
                          <a:spcPct val="100000"/>
                        </a:lnSpc>
                        <a:spcBef>
                          <a:spcPts val="390"/>
                        </a:spcBef>
                      </a:pPr>
                      <a:r>
                        <a:rPr sz="700" spc="-10" dirty="0">
                          <a:solidFill>
                            <a:schemeClr val="tx1"/>
                          </a:solidFill>
                          <a:latin typeface="Arial"/>
                          <a:cs typeface="Arial"/>
                        </a:rPr>
                        <a:t>US$711mm</a:t>
                      </a:r>
                      <a:endParaRPr sz="700">
                        <a:solidFill>
                          <a:schemeClr val="tx1"/>
                        </a:solidFill>
                        <a:latin typeface="Arial"/>
                        <a:cs typeface="Arial"/>
                      </a:endParaRPr>
                    </a:p>
                  </a:txBody>
                  <a:tcPr marL="0" marR="0" marT="49530" marB="0">
                    <a:lnL w="12700" cap="flat" cmpd="sng" algn="ctr">
                      <a:solidFill>
                        <a:srgbClr val="C00000"/>
                      </a:solidFill>
                      <a:prstDash val="solid"/>
                      <a:round/>
                      <a:headEnd type="none" w="med" len="med"/>
                      <a:tailEnd type="none" w="med" len="med"/>
                    </a:lnL>
                    <a:lnT w="3175">
                      <a:solidFill>
                        <a:srgbClr val="000000"/>
                      </a:solidFill>
                      <a:prstDash val="lgDash"/>
                    </a:lnT>
                    <a:lnB w="3175">
                      <a:solidFill>
                        <a:srgbClr val="000000"/>
                      </a:solidFill>
                      <a:prstDash val="lgDash"/>
                    </a:lnB>
                    <a:solidFill>
                      <a:srgbClr val="FFFFFF"/>
                    </a:solidFill>
                  </a:tcPr>
                </a:tc>
                <a:tc>
                  <a:txBody>
                    <a:bodyPr/>
                    <a:lstStyle/>
                    <a:p>
                      <a:pPr algn="ctr">
                        <a:lnSpc>
                          <a:spcPct val="100000"/>
                        </a:lnSpc>
                        <a:spcBef>
                          <a:spcPts val="350"/>
                        </a:spcBef>
                      </a:pPr>
                      <a:r>
                        <a:rPr sz="700" spc="-25" dirty="0">
                          <a:solidFill>
                            <a:schemeClr val="tx1"/>
                          </a:solidFill>
                          <a:latin typeface="Arial"/>
                          <a:cs typeface="Arial"/>
                        </a:rPr>
                        <a:t>TMT</a:t>
                      </a:r>
                      <a:endParaRPr sz="700">
                        <a:solidFill>
                          <a:schemeClr val="tx1"/>
                        </a:solidFill>
                        <a:latin typeface="Arial"/>
                        <a:cs typeface="Arial"/>
                      </a:endParaRPr>
                    </a:p>
                  </a:txBody>
                  <a:tcPr marL="0" marR="0" marT="44450" marB="0">
                    <a:lnT w="3175">
                      <a:solidFill>
                        <a:srgbClr val="000000"/>
                      </a:solidFill>
                      <a:prstDash val="lgDash"/>
                    </a:lnT>
                    <a:lnB w="3175">
                      <a:solidFill>
                        <a:srgbClr val="000000"/>
                      </a:solidFill>
                      <a:prstDash val="lgDash"/>
                    </a:lnB>
                    <a:solidFill>
                      <a:srgbClr val="FFFFFF"/>
                    </a:solidFill>
                  </a:tcPr>
                </a:tc>
                <a:tc>
                  <a:txBody>
                    <a:bodyPr/>
                    <a:lstStyle/>
                    <a:p>
                      <a:pPr marL="68580">
                        <a:lnSpc>
                          <a:spcPct val="100000"/>
                        </a:lnSpc>
                        <a:spcBef>
                          <a:spcPts val="350"/>
                        </a:spcBef>
                      </a:pPr>
                      <a:r>
                        <a:rPr sz="700" b="1" dirty="0">
                          <a:solidFill>
                            <a:schemeClr val="tx1"/>
                          </a:solidFill>
                          <a:latin typeface="Arial"/>
                          <a:cs typeface="Arial"/>
                        </a:rPr>
                        <a:t>Largest</a:t>
                      </a:r>
                      <a:r>
                        <a:rPr sz="700" b="1" spc="-5" dirty="0">
                          <a:solidFill>
                            <a:schemeClr val="tx1"/>
                          </a:solidFill>
                          <a:latin typeface="Arial"/>
                          <a:cs typeface="Arial"/>
                        </a:rPr>
                        <a:t> </a:t>
                      </a:r>
                      <a:r>
                        <a:rPr sz="700" b="1" dirty="0">
                          <a:solidFill>
                            <a:schemeClr val="tx1"/>
                          </a:solidFill>
                          <a:latin typeface="Arial"/>
                          <a:cs typeface="Arial"/>
                        </a:rPr>
                        <a:t>ever</a:t>
                      </a:r>
                      <a:r>
                        <a:rPr sz="700" b="1" spc="10" dirty="0">
                          <a:solidFill>
                            <a:schemeClr val="tx1"/>
                          </a:solidFill>
                          <a:latin typeface="Arial"/>
                          <a:cs typeface="Arial"/>
                        </a:rPr>
                        <a:t> </a:t>
                      </a:r>
                      <a:r>
                        <a:rPr sz="700" b="1" dirty="0">
                          <a:solidFill>
                            <a:schemeClr val="tx1"/>
                          </a:solidFill>
                          <a:latin typeface="Arial"/>
                          <a:cs typeface="Arial"/>
                        </a:rPr>
                        <a:t>IPO</a:t>
                      </a:r>
                      <a:r>
                        <a:rPr sz="700" b="1" spc="-10" dirty="0">
                          <a:solidFill>
                            <a:schemeClr val="tx1"/>
                          </a:solidFill>
                          <a:latin typeface="Arial"/>
                          <a:cs typeface="Arial"/>
                        </a:rPr>
                        <a:t> </a:t>
                      </a:r>
                      <a:r>
                        <a:rPr sz="700" dirty="0">
                          <a:solidFill>
                            <a:schemeClr val="tx1"/>
                          </a:solidFill>
                          <a:latin typeface="Arial"/>
                          <a:cs typeface="Arial"/>
                        </a:rPr>
                        <a:t>globally</a:t>
                      </a:r>
                      <a:r>
                        <a:rPr sz="700" spc="-20" dirty="0">
                          <a:solidFill>
                            <a:schemeClr val="tx1"/>
                          </a:solidFill>
                          <a:latin typeface="Arial"/>
                          <a:cs typeface="Arial"/>
                        </a:rPr>
                        <a:t> </a:t>
                      </a:r>
                      <a:r>
                        <a:rPr sz="700" dirty="0">
                          <a:solidFill>
                            <a:schemeClr val="tx1"/>
                          </a:solidFill>
                          <a:latin typeface="Arial"/>
                          <a:cs typeface="Arial"/>
                        </a:rPr>
                        <a:t>for</a:t>
                      </a:r>
                      <a:r>
                        <a:rPr sz="700" spc="-10" dirty="0">
                          <a:solidFill>
                            <a:schemeClr val="tx1"/>
                          </a:solidFill>
                          <a:latin typeface="Arial"/>
                          <a:cs typeface="Arial"/>
                        </a:rPr>
                        <a:t> </a:t>
                      </a:r>
                      <a:r>
                        <a:rPr sz="700" dirty="0">
                          <a:solidFill>
                            <a:schemeClr val="tx1"/>
                          </a:solidFill>
                          <a:latin typeface="Arial"/>
                          <a:cs typeface="Arial"/>
                        </a:rPr>
                        <a:t>a</a:t>
                      </a:r>
                      <a:r>
                        <a:rPr sz="700" spc="-15" dirty="0">
                          <a:solidFill>
                            <a:schemeClr val="tx1"/>
                          </a:solidFill>
                          <a:latin typeface="Arial"/>
                          <a:cs typeface="Arial"/>
                        </a:rPr>
                        <a:t> </a:t>
                      </a:r>
                      <a:r>
                        <a:rPr sz="700" dirty="0">
                          <a:solidFill>
                            <a:schemeClr val="tx1"/>
                          </a:solidFill>
                          <a:latin typeface="Arial"/>
                          <a:cs typeface="Arial"/>
                        </a:rPr>
                        <a:t>PCB</a:t>
                      </a:r>
                      <a:r>
                        <a:rPr sz="675" baseline="24691" dirty="0">
                          <a:solidFill>
                            <a:schemeClr val="tx1"/>
                          </a:solidFill>
                          <a:latin typeface="Arial"/>
                          <a:cs typeface="Arial"/>
                        </a:rPr>
                        <a:t>6</a:t>
                      </a:r>
                      <a:r>
                        <a:rPr sz="675" spc="52" baseline="24691" dirty="0">
                          <a:solidFill>
                            <a:schemeClr val="tx1"/>
                          </a:solidFill>
                          <a:latin typeface="Arial"/>
                          <a:cs typeface="Arial"/>
                        </a:rPr>
                        <a:t> </a:t>
                      </a:r>
                      <a:r>
                        <a:rPr sz="700" dirty="0">
                          <a:solidFill>
                            <a:schemeClr val="tx1"/>
                          </a:solidFill>
                          <a:latin typeface="Arial"/>
                          <a:cs typeface="Arial"/>
                        </a:rPr>
                        <a:t>equipment </a:t>
                      </a:r>
                      <a:r>
                        <a:rPr sz="700" spc="-10" dirty="0">
                          <a:solidFill>
                            <a:schemeClr val="tx1"/>
                          </a:solidFill>
                          <a:latin typeface="Arial"/>
                          <a:cs typeface="Arial"/>
                        </a:rPr>
                        <a:t>company</a:t>
                      </a:r>
                      <a:endParaRPr sz="700">
                        <a:solidFill>
                          <a:schemeClr val="tx1"/>
                        </a:solidFill>
                        <a:latin typeface="Arial"/>
                        <a:cs typeface="Arial"/>
                      </a:endParaRPr>
                    </a:p>
                  </a:txBody>
                  <a:tcPr marL="0" marR="0" marT="44450" marB="0">
                    <a:lnR w="12700" cap="flat" cmpd="sng" algn="ctr">
                      <a:solidFill>
                        <a:srgbClr val="C00000"/>
                      </a:solidFill>
                      <a:prstDash val="solid"/>
                      <a:round/>
                      <a:headEnd type="none" w="med" len="med"/>
                      <a:tailEnd type="none" w="med" len="med"/>
                    </a:lnR>
                    <a:lnT w="3175">
                      <a:solidFill>
                        <a:srgbClr val="000000"/>
                      </a:solidFill>
                      <a:prstDash val="lgDash"/>
                    </a:lnT>
                    <a:lnB w="3175">
                      <a:solidFill>
                        <a:srgbClr val="000000"/>
                      </a:solidFill>
                      <a:prstDash val="lgDash"/>
                    </a:lnB>
                    <a:solidFill>
                      <a:srgbClr val="FFFFFF"/>
                    </a:solidFill>
                  </a:tcPr>
                </a:tc>
                <a:extLst>
                  <a:ext uri="{0D108BD9-81ED-4DB2-BD59-A6C34878D82A}">
                    <a16:rowId xmlns:a16="http://schemas.microsoft.com/office/drawing/2014/main" val="10003"/>
                  </a:ext>
                </a:extLst>
              </a:tr>
              <a:tr h="197485">
                <a:tc>
                  <a:txBody>
                    <a:bodyPr/>
                    <a:lstStyle/>
                    <a:p>
                      <a:pPr marR="58419" algn="r">
                        <a:lnSpc>
                          <a:spcPct val="100000"/>
                        </a:lnSpc>
                        <a:spcBef>
                          <a:spcPts val="390"/>
                        </a:spcBef>
                      </a:pPr>
                      <a:r>
                        <a:rPr sz="700" spc="-10" dirty="0">
                          <a:solidFill>
                            <a:schemeClr val="tx1"/>
                          </a:solidFill>
                          <a:latin typeface="Arial"/>
                          <a:cs typeface="Arial"/>
                        </a:rPr>
                        <a:t>US$711mm</a:t>
                      </a:r>
                      <a:endParaRPr sz="700">
                        <a:solidFill>
                          <a:schemeClr val="tx1"/>
                        </a:solidFill>
                        <a:latin typeface="Arial"/>
                        <a:cs typeface="Arial"/>
                      </a:endParaRPr>
                    </a:p>
                  </a:txBody>
                  <a:tcPr marL="0" marR="0" marT="49530" marB="0">
                    <a:lnL w="12700" cap="flat" cmpd="sng" algn="ctr">
                      <a:solidFill>
                        <a:srgbClr val="C00000"/>
                      </a:solidFill>
                      <a:prstDash val="solid"/>
                      <a:round/>
                      <a:headEnd type="none" w="med" len="med"/>
                      <a:tailEnd type="none" w="med" len="med"/>
                    </a:lnL>
                    <a:lnT w="3175">
                      <a:solidFill>
                        <a:srgbClr val="000000"/>
                      </a:solidFill>
                      <a:prstDash val="lgDash"/>
                    </a:lnT>
                    <a:lnB w="3175">
                      <a:solidFill>
                        <a:srgbClr val="000000"/>
                      </a:solidFill>
                      <a:prstDash val="lgDash"/>
                    </a:lnB>
                    <a:solidFill>
                      <a:srgbClr val="FFFFFF"/>
                    </a:solidFill>
                  </a:tcPr>
                </a:tc>
                <a:tc>
                  <a:txBody>
                    <a:bodyPr/>
                    <a:lstStyle/>
                    <a:p>
                      <a:pPr algn="ctr">
                        <a:lnSpc>
                          <a:spcPct val="100000"/>
                        </a:lnSpc>
                        <a:spcBef>
                          <a:spcPts val="350"/>
                        </a:spcBef>
                      </a:pPr>
                      <a:r>
                        <a:rPr sz="700" spc="-25" dirty="0">
                          <a:solidFill>
                            <a:schemeClr val="tx1"/>
                          </a:solidFill>
                          <a:latin typeface="Arial"/>
                          <a:cs typeface="Arial"/>
                        </a:rPr>
                        <a:t>TMT</a:t>
                      </a:r>
                      <a:endParaRPr sz="700">
                        <a:solidFill>
                          <a:schemeClr val="tx1"/>
                        </a:solidFill>
                        <a:latin typeface="Arial"/>
                        <a:cs typeface="Arial"/>
                      </a:endParaRPr>
                    </a:p>
                  </a:txBody>
                  <a:tcPr marL="0" marR="0" marT="44450" marB="0">
                    <a:lnT w="3175">
                      <a:solidFill>
                        <a:srgbClr val="000000"/>
                      </a:solidFill>
                      <a:prstDash val="lgDash"/>
                    </a:lnT>
                    <a:lnB w="3175">
                      <a:solidFill>
                        <a:srgbClr val="000000"/>
                      </a:solidFill>
                      <a:prstDash val="lgDash"/>
                    </a:lnB>
                    <a:solidFill>
                      <a:srgbClr val="FFFFFF"/>
                    </a:solidFill>
                  </a:tcPr>
                </a:tc>
                <a:tc>
                  <a:txBody>
                    <a:bodyPr/>
                    <a:lstStyle/>
                    <a:p>
                      <a:pPr marL="68580">
                        <a:lnSpc>
                          <a:spcPct val="100000"/>
                        </a:lnSpc>
                        <a:spcBef>
                          <a:spcPts val="350"/>
                        </a:spcBef>
                      </a:pPr>
                      <a:r>
                        <a:rPr sz="700" b="1" dirty="0">
                          <a:solidFill>
                            <a:schemeClr val="tx1"/>
                          </a:solidFill>
                          <a:latin typeface="Arial"/>
                          <a:cs typeface="Arial"/>
                        </a:rPr>
                        <a:t>Largest</a:t>
                      </a:r>
                      <a:r>
                        <a:rPr sz="700" b="1" spc="-5" dirty="0">
                          <a:solidFill>
                            <a:schemeClr val="tx1"/>
                          </a:solidFill>
                          <a:latin typeface="Arial"/>
                          <a:cs typeface="Arial"/>
                        </a:rPr>
                        <a:t> </a:t>
                      </a:r>
                      <a:r>
                        <a:rPr sz="700" b="1" dirty="0">
                          <a:solidFill>
                            <a:schemeClr val="tx1"/>
                          </a:solidFill>
                          <a:latin typeface="Arial"/>
                          <a:cs typeface="Arial"/>
                        </a:rPr>
                        <a:t>ever</a:t>
                      </a:r>
                      <a:r>
                        <a:rPr sz="700" b="1" spc="5" dirty="0">
                          <a:solidFill>
                            <a:schemeClr val="tx1"/>
                          </a:solidFill>
                          <a:latin typeface="Arial"/>
                          <a:cs typeface="Arial"/>
                        </a:rPr>
                        <a:t> </a:t>
                      </a:r>
                      <a:r>
                        <a:rPr sz="700" dirty="0">
                          <a:solidFill>
                            <a:schemeClr val="tx1"/>
                          </a:solidFill>
                          <a:latin typeface="Arial"/>
                          <a:cs typeface="Arial"/>
                        </a:rPr>
                        <a:t>LLM</a:t>
                      </a:r>
                      <a:r>
                        <a:rPr sz="675" baseline="24691" dirty="0">
                          <a:solidFill>
                            <a:schemeClr val="tx1"/>
                          </a:solidFill>
                          <a:latin typeface="Arial"/>
                          <a:cs typeface="Arial"/>
                        </a:rPr>
                        <a:t>7 </a:t>
                      </a:r>
                      <a:r>
                        <a:rPr sz="700" dirty="0">
                          <a:solidFill>
                            <a:schemeClr val="tx1"/>
                          </a:solidFill>
                          <a:latin typeface="Arial"/>
                          <a:cs typeface="Arial"/>
                        </a:rPr>
                        <a:t>IPO</a:t>
                      </a:r>
                      <a:r>
                        <a:rPr sz="700" spc="-5" dirty="0">
                          <a:solidFill>
                            <a:schemeClr val="tx1"/>
                          </a:solidFill>
                          <a:latin typeface="Arial"/>
                          <a:cs typeface="Arial"/>
                        </a:rPr>
                        <a:t> </a:t>
                      </a:r>
                      <a:r>
                        <a:rPr sz="700" dirty="0">
                          <a:solidFill>
                            <a:schemeClr val="tx1"/>
                          </a:solidFill>
                          <a:latin typeface="Arial"/>
                          <a:cs typeface="Arial"/>
                        </a:rPr>
                        <a:t>and</a:t>
                      </a:r>
                      <a:r>
                        <a:rPr sz="700" spc="-10" dirty="0">
                          <a:solidFill>
                            <a:schemeClr val="tx1"/>
                          </a:solidFill>
                          <a:latin typeface="Arial"/>
                          <a:cs typeface="Arial"/>
                        </a:rPr>
                        <a:t> </a:t>
                      </a:r>
                      <a:r>
                        <a:rPr sz="700" b="1" dirty="0">
                          <a:solidFill>
                            <a:schemeClr val="tx1"/>
                          </a:solidFill>
                          <a:latin typeface="Arial"/>
                          <a:cs typeface="Arial"/>
                        </a:rPr>
                        <a:t>one</a:t>
                      </a:r>
                      <a:r>
                        <a:rPr sz="700" b="1" spc="-30" dirty="0">
                          <a:solidFill>
                            <a:schemeClr val="tx1"/>
                          </a:solidFill>
                          <a:latin typeface="Arial"/>
                          <a:cs typeface="Arial"/>
                        </a:rPr>
                        <a:t> </a:t>
                      </a:r>
                      <a:r>
                        <a:rPr sz="700" b="1" dirty="0">
                          <a:solidFill>
                            <a:schemeClr val="tx1"/>
                          </a:solidFill>
                          <a:latin typeface="Arial"/>
                          <a:cs typeface="Arial"/>
                        </a:rPr>
                        <a:t>of</a:t>
                      </a:r>
                      <a:r>
                        <a:rPr sz="700" b="1" spc="-10" dirty="0">
                          <a:solidFill>
                            <a:schemeClr val="tx1"/>
                          </a:solidFill>
                          <a:latin typeface="Arial"/>
                          <a:cs typeface="Arial"/>
                        </a:rPr>
                        <a:t> </a:t>
                      </a:r>
                      <a:r>
                        <a:rPr sz="700" b="1" dirty="0">
                          <a:solidFill>
                            <a:schemeClr val="tx1"/>
                          </a:solidFill>
                          <a:latin typeface="Arial"/>
                          <a:cs typeface="Arial"/>
                        </a:rPr>
                        <a:t>the</a:t>
                      </a:r>
                      <a:r>
                        <a:rPr sz="700" b="1" spc="-15" dirty="0">
                          <a:solidFill>
                            <a:schemeClr val="tx1"/>
                          </a:solidFill>
                          <a:latin typeface="Arial"/>
                          <a:cs typeface="Arial"/>
                        </a:rPr>
                        <a:t> </a:t>
                      </a:r>
                      <a:r>
                        <a:rPr sz="700" b="1" dirty="0">
                          <a:solidFill>
                            <a:schemeClr val="tx1"/>
                          </a:solidFill>
                          <a:latin typeface="Arial"/>
                          <a:cs typeface="Arial"/>
                        </a:rPr>
                        <a:t>first</a:t>
                      </a:r>
                      <a:r>
                        <a:rPr sz="700" b="1" spc="5" dirty="0">
                          <a:solidFill>
                            <a:schemeClr val="tx1"/>
                          </a:solidFill>
                          <a:latin typeface="Arial"/>
                          <a:cs typeface="Arial"/>
                        </a:rPr>
                        <a:t> </a:t>
                      </a:r>
                      <a:r>
                        <a:rPr sz="700" b="1" dirty="0">
                          <a:solidFill>
                            <a:schemeClr val="tx1"/>
                          </a:solidFill>
                          <a:latin typeface="Arial"/>
                          <a:cs typeface="Arial"/>
                        </a:rPr>
                        <a:t>batch</a:t>
                      </a:r>
                      <a:r>
                        <a:rPr sz="700" b="1" spc="-10" dirty="0">
                          <a:solidFill>
                            <a:schemeClr val="tx1"/>
                          </a:solidFill>
                          <a:latin typeface="Arial"/>
                          <a:cs typeface="Arial"/>
                        </a:rPr>
                        <a:t> </a:t>
                      </a:r>
                      <a:r>
                        <a:rPr sz="700" spc="-10" dirty="0">
                          <a:solidFill>
                            <a:schemeClr val="tx1"/>
                          </a:solidFill>
                          <a:latin typeface="Arial"/>
                          <a:cs typeface="Arial"/>
                        </a:rPr>
                        <a:t>globally</a:t>
                      </a:r>
                      <a:endParaRPr sz="700" dirty="0">
                        <a:solidFill>
                          <a:schemeClr val="tx1"/>
                        </a:solidFill>
                        <a:latin typeface="Arial"/>
                        <a:cs typeface="Arial"/>
                      </a:endParaRPr>
                    </a:p>
                  </a:txBody>
                  <a:tcPr marL="0" marR="0" marT="44450" marB="0">
                    <a:lnR w="12700" cap="flat" cmpd="sng" algn="ctr">
                      <a:solidFill>
                        <a:srgbClr val="C00000"/>
                      </a:solidFill>
                      <a:prstDash val="solid"/>
                      <a:round/>
                      <a:headEnd type="none" w="med" len="med"/>
                      <a:tailEnd type="none" w="med" len="med"/>
                    </a:lnR>
                    <a:lnT w="3175">
                      <a:solidFill>
                        <a:srgbClr val="000000"/>
                      </a:solidFill>
                      <a:prstDash val="lgDash"/>
                    </a:lnT>
                    <a:lnB w="3175">
                      <a:solidFill>
                        <a:srgbClr val="000000"/>
                      </a:solidFill>
                      <a:prstDash val="lgDash"/>
                    </a:lnB>
                    <a:solidFill>
                      <a:srgbClr val="FFFFFF"/>
                    </a:solidFill>
                  </a:tcPr>
                </a:tc>
                <a:extLst>
                  <a:ext uri="{0D108BD9-81ED-4DB2-BD59-A6C34878D82A}">
                    <a16:rowId xmlns:a16="http://schemas.microsoft.com/office/drawing/2014/main" val="10004"/>
                  </a:ext>
                </a:extLst>
              </a:tr>
              <a:tr h="197485">
                <a:tc>
                  <a:txBody>
                    <a:bodyPr/>
                    <a:lstStyle/>
                    <a:p>
                      <a:pPr marR="58419" algn="r">
                        <a:lnSpc>
                          <a:spcPct val="100000"/>
                        </a:lnSpc>
                        <a:spcBef>
                          <a:spcPts val="390"/>
                        </a:spcBef>
                      </a:pPr>
                      <a:r>
                        <a:rPr sz="700" spc="-10" dirty="0">
                          <a:solidFill>
                            <a:schemeClr val="tx1"/>
                          </a:solidFill>
                          <a:latin typeface="Arial"/>
                          <a:cs typeface="Arial"/>
                        </a:rPr>
                        <a:t>US$691mm</a:t>
                      </a:r>
                      <a:endParaRPr sz="700">
                        <a:solidFill>
                          <a:schemeClr val="tx1"/>
                        </a:solidFill>
                        <a:latin typeface="Arial"/>
                        <a:cs typeface="Arial"/>
                      </a:endParaRPr>
                    </a:p>
                  </a:txBody>
                  <a:tcPr marL="0" marR="0" marT="49530" marB="0">
                    <a:lnL w="12700" cap="flat" cmpd="sng" algn="ctr">
                      <a:solidFill>
                        <a:srgbClr val="C00000"/>
                      </a:solidFill>
                      <a:prstDash val="solid"/>
                      <a:round/>
                      <a:headEnd type="none" w="med" len="med"/>
                      <a:tailEnd type="none" w="med" len="med"/>
                    </a:lnL>
                    <a:lnT w="3175">
                      <a:solidFill>
                        <a:srgbClr val="000000"/>
                      </a:solidFill>
                      <a:prstDash val="lgDash"/>
                    </a:lnT>
                    <a:lnB w="3175">
                      <a:solidFill>
                        <a:srgbClr val="000000"/>
                      </a:solidFill>
                      <a:prstDash val="lgDash"/>
                    </a:lnB>
                    <a:solidFill>
                      <a:srgbClr val="FFFFFF"/>
                    </a:solidFill>
                  </a:tcPr>
                </a:tc>
                <a:tc>
                  <a:txBody>
                    <a:bodyPr/>
                    <a:lstStyle/>
                    <a:p>
                      <a:pPr algn="ctr">
                        <a:lnSpc>
                          <a:spcPct val="100000"/>
                        </a:lnSpc>
                        <a:spcBef>
                          <a:spcPts val="350"/>
                        </a:spcBef>
                      </a:pPr>
                      <a:r>
                        <a:rPr sz="700" spc="-25" dirty="0">
                          <a:solidFill>
                            <a:schemeClr val="tx1"/>
                          </a:solidFill>
                          <a:latin typeface="Arial"/>
                          <a:cs typeface="Arial"/>
                        </a:rPr>
                        <a:t>TMT</a:t>
                      </a:r>
                      <a:endParaRPr sz="700">
                        <a:solidFill>
                          <a:schemeClr val="tx1"/>
                        </a:solidFill>
                        <a:latin typeface="Arial"/>
                        <a:cs typeface="Arial"/>
                      </a:endParaRPr>
                    </a:p>
                  </a:txBody>
                  <a:tcPr marL="0" marR="0" marT="44450" marB="0">
                    <a:lnT w="3175">
                      <a:solidFill>
                        <a:srgbClr val="000000"/>
                      </a:solidFill>
                      <a:prstDash val="lgDash"/>
                    </a:lnT>
                    <a:lnB w="3175">
                      <a:solidFill>
                        <a:srgbClr val="000000"/>
                      </a:solidFill>
                      <a:prstDash val="lgDash"/>
                    </a:lnB>
                    <a:solidFill>
                      <a:srgbClr val="FFFFFF"/>
                    </a:solidFill>
                  </a:tcPr>
                </a:tc>
                <a:tc>
                  <a:txBody>
                    <a:bodyPr/>
                    <a:lstStyle/>
                    <a:p>
                      <a:pPr marL="68580">
                        <a:lnSpc>
                          <a:spcPct val="100000"/>
                        </a:lnSpc>
                        <a:spcBef>
                          <a:spcPts val="350"/>
                        </a:spcBef>
                      </a:pPr>
                      <a:r>
                        <a:rPr sz="700" b="1" dirty="0">
                          <a:solidFill>
                            <a:schemeClr val="tx1"/>
                          </a:solidFill>
                          <a:latin typeface="Arial"/>
                          <a:cs typeface="Arial"/>
                        </a:rPr>
                        <a:t>Second</a:t>
                      </a:r>
                      <a:r>
                        <a:rPr sz="700" b="1" spc="-10" dirty="0">
                          <a:solidFill>
                            <a:schemeClr val="tx1"/>
                          </a:solidFill>
                          <a:latin typeface="Arial"/>
                          <a:cs typeface="Arial"/>
                        </a:rPr>
                        <a:t> </a:t>
                      </a:r>
                      <a:r>
                        <a:rPr sz="700" b="1" dirty="0">
                          <a:solidFill>
                            <a:schemeClr val="tx1"/>
                          </a:solidFill>
                          <a:latin typeface="Arial"/>
                          <a:cs typeface="Arial"/>
                        </a:rPr>
                        <a:t>largest</a:t>
                      </a:r>
                      <a:r>
                        <a:rPr sz="700" b="1" spc="15" dirty="0">
                          <a:solidFill>
                            <a:schemeClr val="tx1"/>
                          </a:solidFill>
                          <a:latin typeface="Arial"/>
                          <a:cs typeface="Arial"/>
                        </a:rPr>
                        <a:t> </a:t>
                      </a:r>
                      <a:r>
                        <a:rPr sz="700" spc="-10" dirty="0">
                          <a:solidFill>
                            <a:schemeClr val="tx1"/>
                          </a:solidFill>
                          <a:latin typeface="Arial"/>
                          <a:cs typeface="Arial"/>
                        </a:rPr>
                        <a:t>semiconductor</a:t>
                      </a:r>
                      <a:r>
                        <a:rPr sz="700" spc="25" dirty="0">
                          <a:solidFill>
                            <a:schemeClr val="tx1"/>
                          </a:solidFill>
                          <a:latin typeface="Arial"/>
                          <a:cs typeface="Arial"/>
                        </a:rPr>
                        <a:t> </a:t>
                      </a:r>
                      <a:r>
                        <a:rPr sz="700" dirty="0">
                          <a:solidFill>
                            <a:schemeClr val="tx1"/>
                          </a:solidFill>
                          <a:latin typeface="Arial"/>
                          <a:cs typeface="Arial"/>
                        </a:rPr>
                        <a:t>IPO</a:t>
                      </a:r>
                      <a:r>
                        <a:rPr sz="700" spc="10" dirty="0">
                          <a:solidFill>
                            <a:schemeClr val="tx1"/>
                          </a:solidFill>
                          <a:latin typeface="Arial"/>
                          <a:cs typeface="Arial"/>
                        </a:rPr>
                        <a:t> </a:t>
                      </a:r>
                      <a:r>
                        <a:rPr sz="700" spc="-10" dirty="0">
                          <a:solidFill>
                            <a:schemeClr val="tx1"/>
                          </a:solidFill>
                          <a:latin typeface="Arial"/>
                          <a:cs typeface="Arial"/>
                        </a:rPr>
                        <a:t>globally</a:t>
                      </a:r>
                      <a:endParaRPr sz="700" dirty="0">
                        <a:solidFill>
                          <a:schemeClr val="tx1"/>
                        </a:solidFill>
                        <a:latin typeface="Arial"/>
                        <a:cs typeface="Arial"/>
                      </a:endParaRPr>
                    </a:p>
                  </a:txBody>
                  <a:tcPr marL="0" marR="0" marT="44450" marB="0">
                    <a:lnR w="12700" cap="flat" cmpd="sng" algn="ctr">
                      <a:solidFill>
                        <a:srgbClr val="C00000"/>
                      </a:solidFill>
                      <a:prstDash val="solid"/>
                      <a:round/>
                      <a:headEnd type="none" w="med" len="med"/>
                      <a:tailEnd type="none" w="med" len="med"/>
                    </a:lnR>
                    <a:lnT w="3175">
                      <a:solidFill>
                        <a:srgbClr val="000000"/>
                      </a:solidFill>
                      <a:prstDash val="lgDash"/>
                    </a:lnT>
                    <a:lnB w="3175">
                      <a:solidFill>
                        <a:srgbClr val="000000"/>
                      </a:solidFill>
                      <a:prstDash val="lgDash"/>
                    </a:lnB>
                    <a:solidFill>
                      <a:srgbClr val="FFFFFF"/>
                    </a:solidFill>
                  </a:tcPr>
                </a:tc>
                <a:extLst>
                  <a:ext uri="{0D108BD9-81ED-4DB2-BD59-A6C34878D82A}">
                    <a16:rowId xmlns:a16="http://schemas.microsoft.com/office/drawing/2014/main" val="10005"/>
                  </a:ext>
                </a:extLst>
              </a:tr>
              <a:tr h="198120">
                <a:tc>
                  <a:txBody>
                    <a:bodyPr/>
                    <a:lstStyle/>
                    <a:p>
                      <a:pPr marR="57785" algn="r">
                        <a:lnSpc>
                          <a:spcPct val="100000"/>
                        </a:lnSpc>
                        <a:spcBef>
                          <a:spcPts val="390"/>
                        </a:spcBef>
                      </a:pPr>
                      <a:r>
                        <a:rPr sz="700" spc="-10" dirty="0">
                          <a:solidFill>
                            <a:schemeClr val="tx1"/>
                          </a:solidFill>
                          <a:latin typeface="Arial"/>
                          <a:cs typeface="Arial"/>
                        </a:rPr>
                        <a:t>US$683mm</a:t>
                      </a:r>
                      <a:endParaRPr sz="700">
                        <a:solidFill>
                          <a:schemeClr val="tx1"/>
                        </a:solidFill>
                        <a:latin typeface="Arial"/>
                        <a:cs typeface="Arial"/>
                      </a:endParaRPr>
                    </a:p>
                  </a:txBody>
                  <a:tcPr marL="0" marR="0" marT="49530" marB="0">
                    <a:lnL w="12700" cap="flat" cmpd="sng" algn="ctr">
                      <a:solidFill>
                        <a:srgbClr val="C00000"/>
                      </a:solidFill>
                      <a:prstDash val="solid"/>
                      <a:round/>
                      <a:headEnd type="none" w="med" len="med"/>
                      <a:tailEnd type="none" w="med" len="med"/>
                    </a:lnL>
                    <a:lnT w="3175">
                      <a:solidFill>
                        <a:srgbClr val="000000"/>
                      </a:solidFill>
                      <a:prstDash val="lgDash"/>
                    </a:lnT>
                    <a:lnB w="3175">
                      <a:solidFill>
                        <a:srgbClr val="000000"/>
                      </a:solidFill>
                      <a:prstDash val="lgDash"/>
                    </a:lnB>
                    <a:solidFill>
                      <a:srgbClr val="FFFFFF"/>
                    </a:solidFill>
                  </a:tcPr>
                </a:tc>
                <a:tc>
                  <a:txBody>
                    <a:bodyPr/>
                    <a:lstStyle/>
                    <a:p>
                      <a:pPr algn="ctr">
                        <a:lnSpc>
                          <a:spcPct val="100000"/>
                        </a:lnSpc>
                        <a:spcBef>
                          <a:spcPts val="350"/>
                        </a:spcBef>
                      </a:pPr>
                      <a:r>
                        <a:rPr sz="700" spc="-25" dirty="0">
                          <a:solidFill>
                            <a:schemeClr val="tx1"/>
                          </a:solidFill>
                          <a:latin typeface="Arial"/>
                          <a:cs typeface="Arial"/>
                        </a:rPr>
                        <a:t>TMT</a:t>
                      </a:r>
                      <a:endParaRPr sz="700">
                        <a:solidFill>
                          <a:schemeClr val="tx1"/>
                        </a:solidFill>
                        <a:latin typeface="Arial"/>
                        <a:cs typeface="Arial"/>
                      </a:endParaRPr>
                    </a:p>
                  </a:txBody>
                  <a:tcPr marL="0" marR="0" marT="44450" marB="0">
                    <a:lnT w="3175">
                      <a:solidFill>
                        <a:srgbClr val="000000"/>
                      </a:solidFill>
                      <a:prstDash val="lgDash"/>
                    </a:lnT>
                    <a:lnB w="3175">
                      <a:solidFill>
                        <a:srgbClr val="000000"/>
                      </a:solidFill>
                      <a:prstDash val="lgDash"/>
                    </a:lnB>
                    <a:solidFill>
                      <a:srgbClr val="FFFFFF"/>
                    </a:solidFill>
                  </a:tcPr>
                </a:tc>
                <a:tc>
                  <a:txBody>
                    <a:bodyPr/>
                    <a:lstStyle/>
                    <a:p>
                      <a:pPr marL="68580">
                        <a:lnSpc>
                          <a:spcPct val="100000"/>
                        </a:lnSpc>
                        <a:spcBef>
                          <a:spcPts val="350"/>
                        </a:spcBef>
                      </a:pPr>
                      <a:r>
                        <a:rPr sz="700" b="1" dirty="0">
                          <a:solidFill>
                            <a:schemeClr val="tx1"/>
                          </a:solidFill>
                          <a:latin typeface="Arial"/>
                          <a:cs typeface="Arial"/>
                        </a:rPr>
                        <a:t>Third</a:t>
                      </a:r>
                      <a:r>
                        <a:rPr sz="700" b="1" spc="-10" dirty="0">
                          <a:solidFill>
                            <a:schemeClr val="tx1"/>
                          </a:solidFill>
                          <a:latin typeface="Arial"/>
                          <a:cs typeface="Arial"/>
                        </a:rPr>
                        <a:t> </a:t>
                      </a:r>
                      <a:r>
                        <a:rPr sz="700" b="1" dirty="0">
                          <a:solidFill>
                            <a:schemeClr val="tx1"/>
                          </a:solidFill>
                          <a:latin typeface="Arial"/>
                          <a:cs typeface="Arial"/>
                        </a:rPr>
                        <a:t>largest</a:t>
                      </a:r>
                      <a:r>
                        <a:rPr sz="700" b="1" spc="25" dirty="0">
                          <a:solidFill>
                            <a:schemeClr val="tx1"/>
                          </a:solidFill>
                          <a:latin typeface="Arial"/>
                          <a:cs typeface="Arial"/>
                        </a:rPr>
                        <a:t> </a:t>
                      </a:r>
                      <a:r>
                        <a:rPr sz="700" spc="-10" dirty="0">
                          <a:solidFill>
                            <a:schemeClr val="tx1"/>
                          </a:solidFill>
                          <a:latin typeface="Arial"/>
                          <a:cs typeface="Arial"/>
                        </a:rPr>
                        <a:t>semiconductor</a:t>
                      </a:r>
                      <a:r>
                        <a:rPr sz="700" spc="25" dirty="0">
                          <a:solidFill>
                            <a:schemeClr val="tx1"/>
                          </a:solidFill>
                          <a:latin typeface="Arial"/>
                          <a:cs typeface="Arial"/>
                        </a:rPr>
                        <a:t> </a:t>
                      </a:r>
                      <a:r>
                        <a:rPr sz="700" dirty="0">
                          <a:solidFill>
                            <a:schemeClr val="tx1"/>
                          </a:solidFill>
                          <a:latin typeface="Arial"/>
                          <a:cs typeface="Arial"/>
                        </a:rPr>
                        <a:t>IPO</a:t>
                      </a:r>
                      <a:r>
                        <a:rPr sz="700" spc="-5" dirty="0">
                          <a:solidFill>
                            <a:schemeClr val="tx1"/>
                          </a:solidFill>
                          <a:latin typeface="Arial"/>
                          <a:cs typeface="Arial"/>
                        </a:rPr>
                        <a:t> </a:t>
                      </a:r>
                      <a:r>
                        <a:rPr sz="700" spc="-10" dirty="0">
                          <a:solidFill>
                            <a:schemeClr val="tx1"/>
                          </a:solidFill>
                          <a:latin typeface="Arial"/>
                          <a:cs typeface="Arial"/>
                        </a:rPr>
                        <a:t>globally</a:t>
                      </a:r>
                      <a:endParaRPr sz="700" dirty="0">
                        <a:solidFill>
                          <a:schemeClr val="tx1"/>
                        </a:solidFill>
                        <a:latin typeface="Arial"/>
                        <a:cs typeface="Arial"/>
                      </a:endParaRPr>
                    </a:p>
                  </a:txBody>
                  <a:tcPr marL="0" marR="0" marT="44450" marB="0">
                    <a:lnR w="12700" cap="flat" cmpd="sng" algn="ctr">
                      <a:solidFill>
                        <a:srgbClr val="C00000"/>
                      </a:solidFill>
                      <a:prstDash val="solid"/>
                      <a:round/>
                      <a:headEnd type="none" w="med" len="med"/>
                      <a:tailEnd type="none" w="med" len="med"/>
                    </a:lnR>
                    <a:lnT w="3175">
                      <a:solidFill>
                        <a:srgbClr val="000000"/>
                      </a:solidFill>
                      <a:prstDash val="lgDash"/>
                    </a:lnT>
                    <a:lnB w="3175">
                      <a:solidFill>
                        <a:srgbClr val="000000"/>
                      </a:solidFill>
                      <a:prstDash val="lgDash"/>
                    </a:lnB>
                    <a:solidFill>
                      <a:srgbClr val="FFFFFF"/>
                    </a:solidFill>
                  </a:tcPr>
                </a:tc>
                <a:extLst>
                  <a:ext uri="{0D108BD9-81ED-4DB2-BD59-A6C34878D82A}">
                    <a16:rowId xmlns:a16="http://schemas.microsoft.com/office/drawing/2014/main" val="10006"/>
                  </a:ext>
                </a:extLst>
              </a:tr>
              <a:tr h="197485">
                <a:tc>
                  <a:txBody>
                    <a:bodyPr/>
                    <a:lstStyle/>
                    <a:p>
                      <a:pPr marR="58419" algn="r">
                        <a:lnSpc>
                          <a:spcPct val="100000"/>
                        </a:lnSpc>
                        <a:spcBef>
                          <a:spcPts val="390"/>
                        </a:spcBef>
                      </a:pPr>
                      <a:r>
                        <a:rPr sz="700" spc="-10" dirty="0">
                          <a:solidFill>
                            <a:schemeClr val="tx1"/>
                          </a:solidFill>
                          <a:latin typeface="Arial"/>
                          <a:cs typeface="Arial"/>
                        </a:rPr>
                        <a:t>US$642mm</a:t>
                      </a:r>
                      <a:endParaRPr sz="700">
                        <a:solidFill>
                          <a:schemeClr val="tx1"/>
                        </a:solidFill>
                        <a:latin typeface="Arial"/>
                        <a:cs typeface="Arial"/>
                      </a:endParaRPr>
                    </a:p>
                  </a:txBody>
                  <a:tcPr marL="0" marR="0" marT="49530" marB="0">
                    <a:lnL w="12700" cap="flat" cmpd="sng" algn="ctr">
                      <a:solidFill>
                        <a:srgbClr val="C00000"/>
                      </a:solidFill>
                      <a:prstDash val="solid"/>
                      <a:round/>
                      <a:headEnd type="none" w="med" len="med"/>
                      <a:tailEnd type="none" w="med" len="med"/>
                    </a:lnL>
                    <a:lnT w="3175">
                      <a:solidFill>
                        <a:srgbClr val="000000"/>
                      </a:solidFill>
                      <a:prstDash val="lgDash"/>
                    </a:lnT>
                    <a:lnB w="3175">
                      <a:solidFill>
                        <a:srgbClr val="000000"/>
                      </a:solidFill>
                      <a:prstDash val="lgDash"/>
                    </a:lnB>
                    <a:solidFill>
                      <a:srgbClr val="FFFFFF"/>
                    </a:solidFill>
                  </a:tcPr>
                </a:tc>
                <a:tc>
                  <a:txBody>
                    <a:bodyPr/>
                    <a:lstStyle/>
                    <a:p>
                      <a:pPr algn="ctr">
                        <a:lnSpc>
                          <a:spcPct val="100000"/>
                        </a:lnSpc>
                        <a:spcBef>
                          <a:spcPts val="350"/>
                        </a:spcBef>
                      </a:pPr>
                      <a:r>
                        <a:rPr sz="700" spc="-25" dirty="0">
                          <a:solidFill>
                            <a:schemeClr val="tx1"/>
                          </a:solidFill>
                          <a:latin typeface="Arial"/>
                          <a:cs typeface="Arial"/>
                        </a:rPr>
                        <a:t>TMT</a:t>
                      </a:r>
                      <a:endParaRPr sz="700">
                        <a:solidFill>
                          <a:schemeClr val="tx1"/>
                        </a:solidFill>
                        <a:latin typeface="Arial"/>
                        <a:cs typeface="Arial"/>
                      </a:endParaRPr>
                    </a:p>
                  </a:txBody>
                  <a:tcPr marL="0" marR="0" marT="44450" marB="0">
                    <a:lnT w="3175">
                      <a:solidFill>
                        <a:srgbClr val="000000"/>
                      </a:solidFill>
                      <a:prstDash val="lgDash"/>
                    </a:lnT>
                    <a:lnB w="3175">
                      <a:solidFill>
                        <a:srgbClr val="000000"/>
                      </a:solidFill>
                      <a:prstDash val="lgDash"/>
                    </a:lnB>
                    <a:solidFill>
                      <a:srgbClr val="FFFFFF"/>
                    </a:solidFill>
                  </a:tcPr>
                </a:tc>
                <a:tc>
                  <a:txBody>
                    <a:bodyPr/>
                    <a:lstStyle/>
                    <a:p>
                      <a:pPr marL="68580">
                        <a:lnSpc>
                          <a:spcPct val="100000"/>
                        </a:lnSpc>
                        <a:spcBef>
                          <a:spcPts val="350"/>
                        </a:spcBef>
                      </a:pPr>
                      <a:r>
                        <a:rPr sz="700" b="1" dirty="0">
                          <a:solidFill>
                            <a:schemeClr val="tx1"/>
                          </a:solidFill>
                          <a:latin typeface="Arial"/>
                          <a:cs typeface="Arial"/>
                        </a:rPr>
                        <a:t>Second</a:t>
                      </a:r>
                      <a:r>
                        <a:rPr sz="700" b="1" spc="-20" dirty="0">
                          <a:solidFill>
                            <a:schemeClr val="tx1"/>
                          </a:solidFill>
                          <a:latin typeface="Arial"/>
                          <a:cs typeface="Arial"/>
                        </a:rPr>
                        <a:t> </a:t>
                      </a:r>
                      <a:r>
                        <a:rPr sz="700" b="1" dirty="0">
                          <a:solidFill>
                            <a:schemeClr val="tx1"/>
                          </a:solidFill>
                          <a:latin typeface="Arial"/>
                          <a:cs typeface="Arial"/>
                        </a:rPr>
                        <a:t>largest </a:t>
                      </a:r>
                      <a:r>
                        <a:rPr sz="700" dirty="0">
                          <a:solidFill>
                            <a:schemeClr val="tx1"/>
                          </a:solidFill>
                          <a:latin typeface="Arial"/>
                          <a:cs typeface="Arial"/>
                        </a:rPr>
                        <a:t>LLM</a:t>
                      </a:r>
                      <a:r>
                        <a:rPr sz="675" baseline="24691" dirty="0">
                          <a:solidFill>
                            <a:schemeClr val="tx1"/>
                          </a:solidFill>
                          <a:latin typeface="Arial"/>
                          <a:cs typeface="Arial"/>
                        </a:rPr>
                        <a:t>7</a:t>
                      </a:r>
                      <a:r>
                        <a:rPr sz="675" spc="15" baseline="24691" dirty="0">
                          <a:solidFill>
                            <a:schemeClr val="tx1"/>
                          </a:solidFill>
                          <a:latin typeface="Arial"/>
                          <a:cs typeface="Arial"/>
                        </a:rPr>
                        <a:t> </a:t>
                      </a:r>
                      <a:r>
                        <a:rPr sz="700" dirty="0">
                          <a:solidFill>
                            <a:schemeClr val="tx1"/>
                          </a:solidFill>
                          <a:latin typeface="Arial"/>
                          <a:cs typeface="Arial"/>
                        </a:rPr>
                        <a:t>IPO</a:t>
                      </a:r>
                      <a:r>
                        <a:rPr sz="700" spc="-5" dirty="0">
                          <a:solidFill>
                            <a:schemeClr val="tx1"/>
                          </a:solidFill>
                          <a:latin typeface="Arial"/>
                          <a:cs typeface="Arial"/>
                        </a:rPr>
                        <a:t> </a:t>
                      </a:r>
                      <a:r>
                        <a:rPr sz="700" dirty="0">
                          <a:solidFill>
                            <a:schemeClr val="tx1"/>
                          </a:solidFill>
                          <a:latin typeface="Arial"/>
                          <a:cs typeface="Arial"/>
                        </a:rPr>
                        <a:t>and</a:t>
                      </a:r>
                      <a:r>
                        <a:rPr sz="700" spc="-20" dirty="0">
                          <a:solidFill>
                            <a:schemeClr val="tx1"/>
                          </a:solidFill>
                          <a:latin typeface="Arial"/>
                          <a:cs typeface="Arial"/>
                        </a:rPr>
                        <a:t> </a:t>
                      </a:r>
                      <a:r>
                        <a:rPr sz="700" b="1" dirty="0">
                          <a:solidFill>
                            <a:schemeClr val="tx1"/>
                          </a:solidFill>
                          <a:latin typeface="Arial"/>
                          <a:cs typeface="Arial"/>
                        </a:rPr>
                        <a:t>one</a:t>
                      </a:r>
                      <a:r>
                        <a:rPr sz="700" b="1" spc="-15" dirty="0">
                          <a:solidFill>
                            <a:schemeClr val="tx1"/>
                          </a:solidFill>
                          <a:latin typeface="Arial"/>
                          <a:cs typeface="Arial"/>
                        </a:rPr>
                        <a:t> </a:t>
                      </a:r>
                      <a:r>
                        <a:rPr sz="700" b="1" dirty="0">
                          <a:solidFill>
                            <a:schemeClr val="tx1"/>
                          </a:solidFill>
                          <a:latin typeface="Arial"/>
                          <a:cs typeface="Arial"/>
                        </a:rPr>
                        <a:t>of</a:t>
                      </a:r>
                      <a:r>
                        <a:rPr sz="700" b="1" spc="-10" dirty="0">
                          <a:solidFill>
                            <a:schemeClr val="tx1"/>
                          </a:solidFill>
                          <a:latin typeface="Arial"/>
                          <a:cs typeface="Arial"/>
                        </a:rPr>
                        <a:t> </a:t>
                      </a:r>
                      <a:r>
                        <a:rPr sz="700" b="1" dirty="0">
                          <a:solidFill>
                            <a:schemeClr val="tx1"/>
                          </a:solidFill>
                          <a:latin typeface="Arial"/>
                          <a:cs typeface="Arial"/>
                        </a:rPr>
                        <a:t>the</a:t>
                      </a:r>
                      <a:r>
                        <a:rPr sz="700" b="1" spc="-15" dirty="0">
                          <a:solidFill>
                            <a:schemeClr val="tx1"/>
                          </a:solidFill>
                          <a:latin typeface="Arial"/>
                          <a:cs typeface="Arial"/>
                        </a:rPr>
                        <a:t> </a:t>
                      </a:r>
                      <a:r>
                        <a:rPr sz="700" b="1" dirty="0">
                          <a:solidFill>
                            <a:schemeClr val="tx1"/>
                          </a:solidFill>
                          <a:latin typeface="Arial"/>
                          <a:cs typeface="Arial"/>
                        </a:rPr>
                        <a:t>first</a:t>
                      </a:r>
                      <a:r>
                        <a:rPr sz="700" b="1" spc="-5" dirty="0">
                          <a:solidFill>
                            <a:schemeClr val="tx1"/>
                          </a:solidFill>
                          <a:latin typeface="Arial"/>
                          <a:cs typeface="Arial"/>
                        </a:rPr>
                        <a:t> </a:t>
                      </a:r>
                      <a:r>
                        <a:rPr sz="700" b="1" dirty="0">
                          <a:solidFill>
                            <a:schemeClr val="tx1"/>
                          </a:solidFill>
                          <a:latin typeface="Arial"/>
                          <a:cs typeface="Arial"/>
                        </a:rPr>
                        <a:t>batch </a:t>
                      </a:r>
                      <a:r>
                        <a:rPr sz="700" spc="-10" dirty="0">
                          <a:solidFill>
                            <a:schemeClr val="tx1"/>
                          </a:solidFill>
                          <a:latin typeface="Arial"/>
                          <a:cs typeface="Arial"/>
                        </a:rPr>
                        <a:t>globally</a:t>
                      </a:r>
                      <a:endParaRPr sz="700" dirty="0">
                        <a:solidFill>
                          <a:schemeClr val="tx1"/>
                        </a:solidFill>
                        <a:latin typeface="Arial"/>
                        <a:cs typeface="Arial"/>
                      </a:endParaRPr>
                    </a:p>
                  </a:txBody>
                  <a:tcPr marL="0" marR="0" marT="44450" marB="0">
                    <a:lnR w="12700" cap="flat" cmpd="sng" algn="ctr">
                      <a:solidFill>
                        <a:srgbClr val="C00000"/>
                      </a:solidFill>
                      <a:prstDash val="solid"/>
                      <a:round/>
                      <a:headEnd type="none" w="med" len="med"/>
                      <a:tailEnd type="none" w="med" len="med"/>
                    </a:lnR>
                    <a:lnT w="3175">
                      <a:solidFill>
                        <a:srgbClr val="000000"/>
                      </a:solidFill>
                      <a:prstDash val="lgDash"/>
                    </a:lnT>
                    <a:lnB w="3175">
                      <a:solidFill>
                        <a:srgbClr val="000000"/>
                      </a:solidFill>
                      <a:prstDash val="lgDash"/>
                    </a:lnB>
                    <a:solidFill>
                      <a:srgbClr val="FFFFFF"/>
                    </a:solidFill>
                  </a:tcPr>
                </a:tc>
                <a:extLst>
                  <a:ext uri="{0D108BD9-81ED-4DB2-BD59-A6C34878D82A}">
                    <a16:rowId xmlns:a16="http://schemas.microsoft.com/office/drawing/2014/main" val="10007"/>
                  </a:ext>
                </a:extLst>
              </a:tr>
              <a:tr h="198120">
                <a:tc>
                  <a:txBody>
                    <a:bodyPr/>
                    <a:lstStyle/>
                    <a:p>
                      <a:pPr marR="58419" algn="r">
                        <a:lnSpc>
                          <a:spcPct val="100000"/>
                        </a:lnSpc>
                        <a:spcBef>
                          <a:spcPts val="390"/>
                        </a:spcBef>
                      </a:pPr>
                      <a:r>
                        <a:rPr sz="700" spc="-10" dirty="0">
                          <a:solidFill>
                            <a:schemeClr val="tx1"/>
                          </a:solidFill>
                          <a:latin typeface="Arial"/>
                          <a:cs typeface="Arial"/>
                        </a:rPr>
                        <a:t>US$633mm</a:t>
                      </a:r>
                      <a:endParaRPr sz="700">
                        <a:solidFill>
                          <a:schemeClr val="tx1"/>
                        </a:solidFill>
                        <a:latin typeface="Arial"/>
                        <a:cs typeface="Arial"/>
                      </a:endParaRPr>
                    </a:p>
                  </a:txBody>
                  <a:tcPr marL="0" marR="0" marT="49530" marB="0">
                    <a:lnL w="12700" cap="flat" cmpd="sng" algn="ctr">
                      <a:solidFill>
                        <a:srgbClr val="C00000"/>
                      </a:solidFill>
                      <a:prstDash val="solid"/>
                      <a:round/>
                      <a:headEnd type="none" w="med" len="med"/>
                      <a:tailEnd type="none" w="med" len="med"/>
                    </a:lnL>
                    <a:lnT w="3175">
                      <a:solidFill>
                        <a:srgbClr val="000000"/>
                      </a:solidFill>
                      <a:prstDash val="lgDash"/>
                    </a:lnT>
                    <a:lnB w="3175">
                      <a:solidFill>
                        <a:srgbClr val="000000"/>
                      </a:solidFill>
                      <a:prstDash val="lgDash"/>
                    </a:lnB>
                    <a:solidFill>
                      <a:srgbClr val="FFFFFF"/>
                    </a:solidFill>
                  </a:tcPr>
                </a:tc>
                <a:tc>
                  <a:txBody>
                    <a:bodyPr/>
                    <a:lstStyle/>
                    <a:p>
                      <a:pPr algn="ctr">
                        <a:lnSpc>
                          <a:spcPct val="100000"/>
                        </a:lnSpc>
                        <a:spcBef>
                          <a:spcPts val="350"/>
                        </a:spcBef>
                      </a:pPr>
                      <a:r>
                        <a:rPr sz="700" spc="-10" dirty="0">
                          <a:solidFill>
                            <a:schemeClr val="tx1"/>
                          </a:solidFill>
                          <a:latin typeface="Arial"/>
                          <a:cs typeface="Arial"/>
                        </a:rPr>
                        <a:t>Industrials</a:t>
                      </a:r>
                      <a:endParaRPr sz="700">
                        <a:solidFill>
                          <a:schemeClr val="tx1"/>
                        </a:solidFill>
                        <a:latin typeface="Arial"/>
                        <a:cs typeface="Arial"/>
                      </a:endParaRPr>
                    </a:p>
                  </a:txBody>
                  <a:tcPr marL="0" marR="0" marT="44450" marB="0">
                    <a:lnT w="3175">
                      <a:solidFill>
                        <a:srgbClr val="000000"/>
                      </a:solidFill>
                      <a:prstDash val="lgDash"/>
                    </a:lnT>
                    <a:lnB w="3175">
                      <a:solidFill>
                        <a:srgbClr val="000000"/>
                      </a:solidFill>
                      <a:prstDash val="lgDash"/>
                    </a:lnB>
                    <a:solidFill>
                      <a:srgbClr val="FFFFFF"/>
                    </a:solidFill>
                  </a:tcPr>
                </a:tc>
                <a:tc>
                  <a:txBody>
                    <a:bodyPr/>
                    <a:lstStyle/>
                    <a:p>
                      <a:pPr marL="68580">
                        <a:lnSpc>
                          <a:spcPct val="100000"/>
                        </a:lnSpc>
                        <a:spcBef>
                          <a:spcPts val="350"/>
                        </a:spcBef>
                      </a:pPr>
                      <a:r>
                        <a:rPr sz="700" b="1" dirty="0">
                          <a:solidFill>
                            <a:schemeClr val="tx1"/>
                          </a:solidFill>
                          <a:latin typeface="Arial"/>
                          <a:cs typeface="Arial"/>
                        </a:rPr>
                        <a:t>Second</a:t>
                      </a:r>
                      <a:r>
                        <a:rPr sz="700" b="1" spc="-20" dirty="0">
                          <a:solidFill>
                            <a:schemeClr val="tx1"/>
                          </a:solidFill>
                          <a:latin typeface="Arial"/>
                          <a:cs typeface="Arial"/>
                        </a:rPr>
                        <a:t> </a:t>
                      </a:r>
                      <a:r>
                        <a:rPr sz="700" b="1" dirty="0">
                          <a:solidFill>
                            <a:schemeClr val="tx1"/>
                          </a:solidFill>
                          <a:latin typeface="Arial"/>
                          <a:cs typeface="Arial"/>
                        </a:rPr>
                        <a:t>largest</a:t>
                      </a:r>
                      <a:r>
                        <a:rPr sz="700" b="1" spc="-5" dirty="0">
                          <a:solidFill>
                            <a:schemeClr val="tx1"/>
                          </a:solidFill>
                          <a:latin typeface="Arial"/>
                          <a:cs typeface="Arial"/>
                        </a:rPr>
                        <a:t> </a:t>
                      </a:r>
                      <a:r>
                        <a:rPr sz="700" dirty="0">
                          <a:solidFill>
                            <a:schemeClr val="tx1"/>
                          </a:solidFill>
                          <a:latin typeface="Arial"/>
                          <a:cs typeface="Arial"/>
                        </a:rPr>
                        <a:t>battery manufacturing</a:t>
                      </a:r>
                      <a:r>
                        <a:rPr sz="700" spc="10" dirty="0">
                          <a:solidFill>
                            <a:schemeClr val="tx1"/>
                          </a:solidFill>
                          <a:latin typeface="Arial"/>
                          <a:cs typeface="Arial"/>
                        </a:rPr>
                        <a:t> </a:t>
                      </a:r>
                      <a:r>
                        <a:rPr sz="700" dirty="0">
                          <a:solidFill>
                            <a:schemeClr val="tx1"/>
                          </a:solidFill>
                          <a:latin typeface="Arial"/>
                          <a:cs typeface="Arial"/>
                        </a:rPr>
                        <a:t>IPO</a:t>
                      </a:r>
                      <a:r>
                        <a:rPr sz="700" spc="-15" dirty="0">
                          <a:solidFill>
                            <a:schemeClr val="tx1"/>
                          </a:solidFill>
                          <a:latin typeface="Arial"/>
                          <a:cs typeface="Arial"/>
                        </a:rPr>
                        <a:t> </a:t>
                      </a:r>
                      <a:r>
                        <a:rPr sz="700" dirty="0">
                          <a:solidFill>
                            <a:schemeClr val="tx1"/>
                          </a:solidFill>
                          <a:latin typeface="Arial"/>
                          <a:cs typeface="Arial"/>
                        </a:rPr>
                        <a:t>in</a:t>
                      </a:r>
                      <a:r>
                        <a:rPr sz="700" spc="-20" dirty="0">
                          <a:solidFill>
                            <a:schemeClr val="tx1"/>
                          </a:solidFill>
                          <a:latin typeface="Arial"/>
                          <a:cs typeface="Arial"/>
                        </a:rPr>
                        <a:t> </a:t>
                      </a:r>
                      <a:r>
                        <a:rPr sz="700" dirty="0">
                          <a:solidFill>
                            <a:schemeClr val="tx1"/>
                          </a:solidFill>
                          <a:latin typeface="Arial"/>
                          <a:cs typeface="Arial"/>
                        </a:rPr>
                        <a:t>the</a:t>
                      </a:r>
                      <a:r>
                        <a:rPr sz="700" spc="-20" dirty="0">
                          <a:solidFill>
                            <a:schemeClr val="tx1"/>
                          </a:solidFill>
                          <a:latin typeface="Arial"/>
                          <a:cs typeface="Arial"/>
                        </a:rPr>
                        <a:t> </a:t>
                      </a:r>
                      <a:r>
                        <a:rPr sz="700" dirty="0">
                          <a:solidFill>
                            <a:schemeClr val="tx1"/>
                          </a:solidFill>
                          <a:latin typeface="Arial"/>
                          <a:cs typeface="Arial"/>
                        </a:rPr>
                        <a:t>last</a:t>
                      </a:r>
                      <a:r>
                        <a:rPr sz="700" spc="-20" dirty="0">
                          <a:solidFill>
                            <a:schemeClr val="tx1"/>
                          </a:solidFill>
                          <a:latin typeface="Arial"/>
                          <a:cs typeface="Arial"/>
                        </a:rPr>
                        <a:t> </a:t>
                      </a:r>
                      <a:r>
                        <a:rPr sz="700" dirty="0">
                          <a:solidFill>
                            <a:schemeClr val="tx1"/>
                          </a:solidFill>
                          <a:latin typeface="Arial"/>
                          <a:cs typeface="Arial"/>
                        </a:rPr>
                        <a:t>3</a:t>
                      </a:r>
                      <a:r>
                        <a:rPr sz="700" spc="-25" dirty="0">
                          <a:solidFill>
                            <a:schemeClr val="tx1"/>
                          </a:solidFill>
                          <a:latin typeface="Arial"/>
                          <a:cs typeface="Arial"/>
                        </a:rPr>
                        <a:t> </a:t>
                      </a:r>
                      <a:r>
                        <a:rPr sz="700" spc="-20" dirty="0">
                          <a:solidFill>
                            <a:schemeClr val="tx1"/>
                          </a:solidFill>
                          <a:latin typeface="Arial"/>
                          <a:cs typeface="Arial"/>
                        </a:rPr>
                        <a:t>years</a:t>
                      </a:r>
                      <a:endParaRPr sz="700" dirty="0">
                        <a:solidFill>
                          <a:schemeClr val="tx1"/>
                        </a:solidFill>
                        <a:latin typeface="Arial"/>
                        <a:cs typeface="Arial"/>
                      </a:endParaRPr>
                    </a:p>
                  </a:txBody>
                  <a:tcPr marL="0" marR="0" marT="44450" marB="0">
                    <a:lnR w="12700" cap="flat" cmpd="sng" algn="ctr">
                      <a:solidFill>
                        <a:srgbClr val="C00000"/>
                      </a:solidFill>
                      <a:prstDash val="solid"/>
                      <a:round/>
                      <a:headEnd type="none" w="med" len="med"/>
                      <a:tailEnd type="none" w="med" len="med"/>
                    </a:lnR>
                    <a:lnT w="3175">
                      <a:solidFill>
                        <a:srgbClr val="000000"/>
                      </a:solidFill>
                      <a:prstDash val="lgDash"/>
                    </a:lnT>
                    <a:lnB w="3175">
                      <a:solidFill>
                        <a:srgbClr val="000000"/>
                      </a:solidFill>
                      <a:prstDash val="lgDash"/>
                    </a:lnB>
                    <a:solidFill>
                      <a:srgbClr val="FFFFFF"/>
                    </a:solidFill>
                  </a:tcPr>
                </a:tc>
                <a:extLst>
                  <a:ext uri="{0D108BD9-81ED-4DB2-BD59-A6C34878D82A}">
                    <a16:rowId xmlns:a16="http://schemas.microsoft.com/office/drawing/2014/main" val="10008"/>
                  </a:ext>
                </a:extLst>
              </a:tr>
              <a:tr h="195580">
                <a:tc>
                  <a:txBody>
                    <a:bodyPr/>
                    <a:lstStyle/>
                    <a:p>
                      <a:pPr marR="58419" algn="r">
                        <a:lnSpc>
                          <a:spcPct val="100000"/>
                        </a:lnSpc>
                        <a:spcBef>
                          <a:spcPts val="390"/>
                        </a:spcBef>
                      </a:pPr>
                      <a:r>
                        <a:rPr sz="700" spc="-10" dirty="0">
                          <a:solidFill>
                            <a:schemeClr val="tx1"/>
                          </a:solidFill>
                          <a:latin typeface="Arial"/>
                          <a:cs typeface="Arial"/>
                        </a:rPr>
                        <a:t>US$541mm</a:t>
                      </a:r>
                      <a:endParaRPr sz="700">
                        <a:solidFill>
                          <a:schemeClr val="tx1"/>
                        </a:solidFill>
                        <a:latin typeface="Arial"/>
                        <a:cs typeface="Arial"/>
                      </a:endParaRPr>
                    </a:p>
                  </a:txBody>
                  <a:tcPr marL="0" marR="0" marT="49530" marB="0">
                    <a:lnL w="12700" cap="flat" cmpd="sng" algn="ctr">
                      <a:solidFill>
                        <a:srgbClr val="C00000"/>
                      </a:solidFill>
                      <a:prstDash val="solid"/>
                      <a:round/>
                      <a:headEnd type="none" w="med" len="med"/>
                      <a:tailEnd type="none" w="med" len="med"/>
                    </a:lnL>
                    <a:lnT w="3175">
                      <a:solidFill>
                        <a:srgbClr val="000000"/>
                      </a:solidFill>
                      <a:prstDash val="lgDash"/>
                    </a:lnT>
                    <a:lnB w="12700" cap="flat" cmpd="sng" algn="ctr">
                      <a:solidFill>
                        <a:srgbClr val="C00000"/>
                      </a:solidFill>
                      <a:prstDash val="solid"/>
                      <a:round/>
                      <a:headEnd type="none" w="med" len="med"/>
                      <a:tailEnd type="none" w="med" len="med"/>
                    </a:lnB>
                    <a:solidFill>
                      <a:srgbClr val="FFFFFF"/>
                    </a:solidFill>
                  </a:tcPr>
                </a:tc>
                <a:tc>
                  <a:txBody>
                    <a:bodyPr/>
                    <a:lstStyle/>
                    <a:p>
                      <a:pPr algn="ctr">
                        <a:lnSpc>
                          <a:spcPct val="100000"/>
                        </a:lnSpc>
                        <a:spcBef>
                          <a:spcPts val="350"/>
                        </a:spcBef>
                      </a:pPr>
                      <a:r>
                        <a:rPr sz="700" spc="-10" dirty="0">
                          <a:solidFill>
                            <a:schemeClr val="tx1"/>
                          </a:solidFill>
                          <a:latin typeface="Arial"/>
                          <a:cs typeface="Arial"/>
                        </a:rPr>
                        <a:t>Consumer</a:t>
                      </a:r>
                      <a:endParaRPr sz="700">
                        <a:solidFill>
                          <a:schemeClr val="tx1"/>
                        </a:solidFill>
                        <a:latin typeface="Arial"/>
                        <a:cs typeface="Arial"/>
                      </a:endParaRPr>
                    </a:p>
                  </a:txBody>
                  <a:tcPr marL="0" marR="0" marT="44450" marB="0">
                    <a:lnT w="3175">
                      <a:solidFill>
                        <a:srgbClr val="000000"/>
                      </a:solidFill>
                      <a:prstDash val="lgDash"/>
                    </a:lnT>
                    <a:lnB w="12700" cap="flat" cmpd="sng" algn="ctr">
                      <a:solidFill>
                        <a:srgbClr val="C00000"/>
                      </a:solidFill>
                      <a:prstDash val="solid"/>
                      <a:round/>
                      <a:headEnd type="none" w="med" len="med"/>
                      <a:tailEnd type="none" w="med" len="med"/>
                    </a:lnB>
                    <a:solidFill>
                      <a:srgbClr val="FFFFFF"/>
                    </a:solidFill>
                  </a:tcPr>
                </a:tc>
                <a:tc>
                  <a:txBody>
                    <a:bodyPr/>
                    <a:lstStyle/>
                    <a:p>
                      <a:pPr marL="68580">
                        <a:lnSpc>
                          <a:spcPct val="100000"/>
                        </a:lnSpc>
                        <a:spcBef>
                          <a:spcPts val="350"/>
                        </a:spcBef>
                      </a:pPr>
                      <a:r>
                        <a:rPr sz="700" b="1" dirty="0">
                          <a:solidFill>
                            <a:schemeClr val="tx1"/>
                          </a:solidFill>
                          <a:latin typeface="Arial"/>
                          <a:cs typeface="Arial"/>
                        </a:rPr>
                        <a:t>Largest</a:t>
                      </a:r>
                      <a:r>
                        <a:rPr sz="700" b="1" spc="-5" dirty="0">
                          <a:solidFill>
                            <a:schemeClr val="tx1"/>
                          </a:solidFill>
                          <a:latin typeface="Arial"/>
                          <a:cs typeface="Arial"/>
                        </a:rPr>
                        <a:t> </a:t>
                      </a:r>
                      <a:r>
                        <a:rPr sz="700" dirty="0">
                          <a:solidFill>
                            <a:schemeClr val="tx1"/>
                          </a:solidFill>
                          <a:latin typeface="Arial"/>
                          <a:cs typeface="Arial"/>
                        </a:rPr>
                        <a:t>discount</a:t>
                      </a:r>
                      <a:r>
                        <a:rPr sz="700" spc="-15" dirty="0">
                          <a:solidFill>
                            <a:schemeClr val="tx1"/>
                          </a:solidFill>
                          <a:latin typeface="Arial"/>
                          <a:cs typeface="Arial"/>
                        </a:rPr>
                        <a:t> </a:t>
                      </a:r>
                      <a:r>
                        <a:rPr sz="700" dirty="0">
                          <a:solidFill>
                            <a:schemeClr val="tx1"/>
                          </a:solidFill>
                          <a:latin typeface="Arial"/>
                          <a:cs typeface="Arial"/>
                        </a:rPr>
                        <a:t>snack</a:t>
                      </a:r>
                      <a:r>
                        <a:rPr sz="700" spc="-15" dirty="0">
                          <a:solidFill>
                            <a:schemeClr val="tx1"/>
                          </a:solidFill>
                          <a:latin typeface="Arial"/>
                          <a:cs typeface="Arial"/>
                        </a:rPr>
                        <a:t> </a:t>
                      </a:r>
                      <a:r>
                        <a:rPr sz="700" dirty="0">
                          <a:solidFill>
                            <a:schemeClr val="tx1"/>
                          </a:solidFill>
                          <a:latin typeface="Arial"/>
                          <a:cs typeface="Arial"/>
                        </a:rPr>
                        <a:t>chain</a:t>
                      </a:r>
                      <a:r>
                        <a:rPr sz="700" spc="-25" dirty="0">
                          <a:solidFill>
                            <a:schemeClr val="tx1"/>
                          </a:solidFill>
                          <a:latin typeface="Arial"/>
                          <a:cs typeface="Arial"/>
                        </a:rPr>
                        <a:t> </a:t>
                      </a:r>
                      <a:r>
                        <a:rPr sz="700" dirty="0">
                          <a:solidFill>
                            <a:schemeClr val="tx1"/>
                          </a:solidFill>
                          <a:latin typeface="Arial"/>
                          <a:cs typeface="Arial"/>
                        </a:rPr>
                        <a:t>HK</a:t>
                      </a:r>
                      <a:r>
                        <a:rPr sz="700" spc="-35" dirty="0">
                          <a:solidFill>
                            <a:schemeClr val="tx1"/>
                          </a:solidFill>
                          <a:latin typeface="Arial"/>
                          <a:cs typeface="Arial"/>
                        </a:rPr>
                        <a:t> </a:t>
                      </a:r>
                      <a:r>
                        <a:rPr sz="700" spc="-25" dirty="0">
                          <a:solidFill>
                            <a:schemeClr val="tx1"/>
                          </a:solidFill>
                          <a:latin typeface="Arial"/>
                          <a:cs typeface="Arial"/>
                        </a:rPr>
                        <a:t>IPO</a:t>
                      </a:r>
                      <a:endParaRPr sz="700" dirty="0">
                        <a:solidFill>
                          <a:schemeClr val="tx1"/>
                        </a:solidFill>
                        <a:latin typeface="Arial"/>
                        <a:cs typeface="Arial"/>
                      </a:endParaRPr>
                    </a:p>
                  </a:txBody>
                  <a:tcPr marL="0" marR="0" marT="44450" marB="0">
                    <a:lnR w="12700" cap="flat" cmpd="sng" algn="ctr">
                      <a:solidFill>
                        <a:srgbClr val="C00000"/>
                      </a:solidFill>
                      <a:prstDash val="solid"/>
                      <a:round/>
                      <a:headEnd type="none" w="med" len="med"/>
                      <a:tailEnd type="none" w="med" len="med"/>
                    </a:lnR>
                    <a:lnT w="3175">
                      <a:solidFill>
                        <a:srgbClr val="000000"/>
                      </a:solidFill>
                      <a:prstDash val="lgDash"/>
                    </a:lnT>
                    <a:lnB w="12700" cap="flat" cmpd="sng" algn="ctr">
                      <a:solidFill>
                        <a:srgbClr val="C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pic>
        <p:nvPicPr>
          <p:cNvPr id="33" name="object 33"/>
          <p:cNvPicPr/>
          <p:nvPr/>
        </p:nvPicPr>
        <p:blipFill>
          <a:blip r:embed="rId5" cstate="print"/>
          <a:stretch>
            <a:fillRect/>
          </a:stretch>
        </p:blipFill>
        <p:spPr>
          <a:xfrm>
            <a:off x="4383532" y="3086336"/>
            <a:ext cx="331228" cy="108174"/>
          </a:xfrm>
          <a:prstGeom prst="rect">
            <a:avLst/>
          </a:prstGeom>
        </p:spPr>
      </p:pic>
      <p:pic>
        <p:nvPicPr>
          <p:cNvPr id="34" name="object 34" descr="Eastroc Beverage (Hong Kong) Co.,Limited - Gulfood 2026"/>
          <p:cNvPicPr/>
          <p:nvPr/>
        </p:nvPicPr>
        <p:blipFill>
          <a:blip r:embed="rId6" cstate="print"/>
          <a:stretch>
            <a:fillRect/>
          </a:stretch>
        </p:blipFill>
        <p:spPr>
          <a:xfrm>
            <a:off x="4431919" y="3240129"/>
            <a:ext cx="234378" cy="150596"/>
          </a:xfrm>
          <a:prstGeom prst="rect">
            <a:avLst/>
          </a:prstGeom>
        </p:spPr>
      </p:pic>
      <p:pic>
        <p:nvPicPr>
          <p:cNvPr id="35" name="object 35"/>
          <p:cNvPicPr/>
          <p:nvPr/>
        </p:nvPicPr>
        <p:blipFill>
          <a:blip r:embed="rId7" cstate="print"/>
          <a:stretch>
            <a:fillRect/>
          </a:stretch>
        </p:blipFill>
        <p:spPr>
          <a:xfrm>
            <a:off x="4339590" y="3447370"/>
            <a:ext cx="419100" cy="129667"/>
          </a:xfrm>
          <a:prstGeom prst="rect">
            <a:avLst/>
          </a:prstGeom>
        </p:spPr>
      </p:pic>
      <p:pic>
        <p:nvPicPr>
          <p:cNvPr id="36" name="object 36"/>
          <p:cNvPicPr/>
          <p:nvPr/>
        </p:nvPicPr>
        <p:blipFill>
          <a:blip r:embed="rId8" cstate="print"/>
          <a:stretch>
            <a:fillRect/>
          </a:stretch>
        </p:blipFill>
        <p:spPr>
          <a:xfrm>
            <a:off x="4333749" y="3651459"/>
            <a:ext cx="430885" cy="129667"/>
          </a:xfrm>
          <a:prstGeom prst="rect">
            <a:avLst/>
          </a:prstGeom>
        </p:spPr>
      </p:pic>
      <p:pic>
        <p:nvPicPr>
          <p:cNvPr id="38" name="object 38" descr="MiniMax Scales AI and Deduplication with Zilliz Cloud"/>
          <p:cNvPicPr/>
          <p:nvPr/>
        </p:nvPicPr>
        <p:blipFill>
          <a:blip r:embed="rId9" cstate="print"/>
          <a:stretch>
            <a:fillRect/>
          </a:stretch>
        </p:blipFill>
        <p:spPr>
          <a:xfrm>
            <a:off x="4277486" y="3845996"/>
            <a:ext cx="543318" cy="132867"/>
          </a:xfrm>
          <a:prstGeom prst="rect">
            <a:avLst/>
          </a:prstGeom>
        </p:spPr>
      </p:pic>
      <p:pic>
        <p:nvPicPr>
          <p:cNvPr id="39" name="object 39" descr="GigaDevice - Wikipedia"/>
          <p:cNvPicPr/>
          <p:nvPr/>
        </p:nvPicPr>
        <p:blipFill>
          <a:blip r:embed="rId10" cstate="print"/>
          <a:stretch>
            <a:fillRect/>
          </a:stretch>
        </p:blipFill>
        <p:spPr>
          <a:xfrm>
            <a:off x="4431918" y="4016912"/>
            <a:ext cx="234378" cy="181914"/>
          </a:xfrm>
          <a:prstGeom prst="rect">
            <a:avLst/>
          </a:prstGeom>
        </p:spPr>
      </p:pic>
      <p:pic>
        <p:nvPicPr>
          <p:cNvPr id="40" name="object 40" descr="The New OMNIVISION Unveiled―Expanded Product Portfolio Now Offers More Than  Vision"/>
          <p:cNvPicPr/>
          <p:nvPr/>
        </p:nvPicPr>
        <p:blipFill>
          <a:blip r:embed="rId11" cstate="print"/>
          <a:stretch>
            <a:fillRect/>
          </a:stretch>
        </p:blipFill>
        <p:spPr>
          <a:xfrm>
            <a:off x="4228084" y="4257229"/>
            <a:ext cx="642238" cy="91357"/>
          </a:xfrm>
          <a:prstGeom prst="rect">
            <a:avLst/>
          </a:prstGeom>
        </p:spPr>
      </p:pic>
      <p:pic>
        <p:nvPicPr>
          <p:cNvPr id="41" name="object 41"/>
          <p:cNvPicPr/>
          <p:nvPr/>
        </p:nvPicPr>
        <p:blipFill>
          <a:blip r:embed="rId12" cstate="print"/>
          <a:stretch>
            <a:fillRect/>
          </a:stretch>
        </p:blipFill>
        <p:spPr>
          <a:xfrm>
            <a:off x="4336160" y="4425206"/>
            <a:ext cx="425894" cy="146113"/>
          </a:xfrm>
          <a:prstGeom prst="rect">
            <a:avLst/>
          </a:prstGeom>
        </p:spPr>
      </p:pic>
      <p:pic>
        <p:nvPicPr>
          <p:cNvPr id="42" name="object 42" descr="Lead Intelligent Equipment Logo &amp; Brand Assets (SVG, PNG and vector) -  Brandfetch"/>
          <p:cNvPicPr/>
          <p:nvPr/>
        </p:nvPicPr>
        <p:blipFill>
          <a:blip r:embed="rId13" cstate="print"/>
          <a:stretch>
            <a:fillRect/>
          </a:stretch>
        </p:blipFill>
        <p:spPr>
          <a:xfrm>
            <a:off x="4352925" y="4620418"/>
            <a:ext cx="392468" cy="146113"/>
          </a:xfrm>
          <a:prstGeom prst="rect">
            <a:avLst/>
          </a:prstGeom>
        </p:spPr>
      </p:pic>
      <p:pic>
        <p:nvPicPr>
          <p:cNvPr id="43" name="object 43" descr="鸣鸣很忙-FoodTalks食品公司库"/>
          <p:cNvPicPr/>
          <p:nvPr/>
        </p:nvPicPr>
        <p:blipFill>
          <a:blip r:embed="rId14" cstate="print"/>
          <a:stretch>
            <a:fillRect/>
          </a:stretch>
        </p:blipFill>
        <p:spPr>
          <a:xfrm>
            <a:off x="4407791" y="4815629"/>
            <a:ext cx="282803" cy="147269"/>
          </a:xfrm>
          <a:prstGeom prst="rect">
            <a:avLst/>
          </a:prstGeom>
        </p:spPr>
      </p:pic>
      <p:sp>
        <p:nvSpPr>
          <p:cNvPr id="44" name="object 44"/>
          <p:cNvSpPr txBox="1"/>
          <p:nvPr/>
        </p:nvSpPr>
        <p:spPr>
          <a:xfrm>
            <a:off x="2479293" y="2867614"/>
            <a:ext cx="991235" cy="605155"/>
          </a:xfrm>
          <a:prstGeom prst="rect">
            <a:avLst/>
          </a:prstGeom>
        </p:spPr>
        <p:txBody>
          <a:bodyPr vert="horz" wrap="square" lIns="0" tIns="12065" rIns="0" bIns="0" rtlCol="0">
            <a:spAutoFit/>
          </a:bodyPr>
          <a:lstStyle/>
          <a:p>
            <a:pPr marR="5080" algn="ctr">
              <a:spcBef>
                <a:spcPts val="95"/>
              </a:spcBef>
            </a:pPr>
            <a:r>
              <a:rPr sz="1600" dirty="0">
                <a:solidFill>
                  <a:srgbClr val="FF0000"/>
                </a:solidFill>
                <a:latin typeface="Arial"/>
                <a:cs typeface="Arial"/>
              </a:rPr>
              <a:t>3</a:t>
            </a:r>
            <a:r>
              <a:rPr sz="1600" spc="-150" dirty="0">
                <a:solidFill>
                  <a:srgbClr val="24C9D2"/>
                </a:solidFill>
                <a:latin typeface="Arial"/>
                <a:cs typeface="Arial"/>
              </a:rPr>
              <a:t> </a:t>
            </a:r>
            <a:r>
              <a:rPr sz="1100" dirty="0">
                <a:solidFill>
                  <a:srgbClr val="12426B"/>
                </a:solidFill>
                <a:latin typeface="Arial"/>
                <a:cs typeface="Arial"/>
              </a:rPr>
              <a:t>out</a:t>
            </a:r>
            <a:r>
              <a:rPr sz="1100" spc="-20" dirty="0">
                <a:solidFill>
                  <a:srgbClr val="12426B"/>
                </a:solidFill>
                <a:latin typeface="Arial"/>
                <a:cs typeface="Arial"/>
              </a:rPr>
              <a:t> </a:t>
            </a:r>
            <a:r>
              <a:rPr sz="1100" spc="-25" dirty="0">
                <a:solidFill>
                  <a:srgbClr val="12426B"/>
                </a:solidFill>
                <a:latin typeface="Arial"/>
                <a:cs typeface="Arial"/>
              </a:rPr>
              <a:t>of</a:t>
            </a:r>
            <a:endParaRPr sz="1100" dirty="0">
              <a:latin typeface="Arial"/>
              <a:cs typeface="Arial"/>
            </a:endParaRPr>
          </a:p>
          <a:p>
            <a:pPr marR="5080" algn="ctr">
              <a:spcBef>
                <a:spcPts val="5"/>
              </a:spcBef>
            </a:pPr>
            <a:r>
              <a:rPr sz="1100" dirty="0">
                <a:solidFill>
                  <a:srgbClr val="12426B"/>
                </a:solidFill>
                <a:latin typeface="Arial"/>
                <a:cs typeface="Arial"/>
              </a:rPr>
              <a:t>5</a:t>
            </a:r>
            <a:r>
              <a:rPr sz="1100" spc="-30" dirty="0">
                <a:solidFill>
                  <a:srgbClr val="12426B"/>
                </a:solidFill>
                <a:latin typeface="Arial"/>
                <a:cs typeface="Arial"/>
              </a:rPr>
              <a:t> </a:t>
            </a:r>
            <a:r>
              <a:rPr sz="1100" dirty="0">
                <a:solidFill>
                  <a:srgbClr val="12426B"/>
                </a:solidFill>
                <a:latin typeface="Arial"/>
                <a:cs typeface="Arial"/>
              </a:rPr>
              <a:t>Largest</a:t>
            </a:r>
            <a:r>
              <a:rPr sz="1100" spc="-35" dirty="0">
                <a:solidFill>
                  <a:srgbClr val="12426B"/>
                </a:solidFill>
                <a:latin typeface="Arial"/>
                <a:cs typeface="Arial"/>
              </a:rPr>
              <a:t> </a:t>
            </a:r>
            <a:r>
              <a:rPr sz="1100" spc="-20" dirty="0">
                <a:solidFill>
                  <a:srgbClr val="12426B"/>
                </a:solidFill>
                <a:latin typeface="Arial"/>
                <a:cs typeface="Arial"/>
              </a:rPr>
              <a:t>IPOs </a:t>
            </a:r>
            <a:r>
              <a:rPr sz="1100" spc="-10" dirty="0">
                <a:solidFill>
                  <a:srgbClr val="12426B"/>
                </a:solidFill>
                <a:latin typeface="Arial"/>
                <a:cs typeface="Arial"/>
              </a:rPr>
              <a:t>Globally</a:t>
            </a:r>
            <a:endParaRPr sz="1100" dirty="0">
              <a:latin typeface="Arial"/>
              <a:cs typeface="Arial"/>
            </a:endParaRPr>
          </a:p>
        </p:txBody>
      </p:sp>
      <p:sp>
        <p:nvSpPr>
          <p:cNvPr id="45" name="object 45"/>
          <p:cNvSpPr txBox="1"/>
          <p:nvPr/>
        </p:nvSpPr>
        <p:spPr>
          <a:xfrm>
            <a:off x="988160" y="2868628"/>
            <a:ext cx="1049655" cy="683260"/>
          </a:xfrm>
          <a:prstGeom prst="rect">
            <a:avLst/>
          </a:prstGeom>
        </p:spPr>
        <p:txBody>
          <a:bodyPr vert="horz" wrap="square" lIns="0" tIns="12065" rIns="0" bIns="0" rtlCol="0">
            <a:spAutoFit/>
          </a:bodyPr>
          <a:lstStyle/>
          <a:p>
            <a:pPr marR="5080" algn="ctr">
              <a:spcBef>
                <a:spcPts val="95"/>
              </a:spcBef>
            </a:pPr>
            <a:r>
              <a:rPr sz="1600" spc="-10" dirty="0">
                <a:solidFill>
                  <a:srgbClr val="FF0000"/>
                </a:solidFill>
                <a:latin typeface="Arial"/>
                <a:cs typeface="Arial"/>
              </a:rPr>
              <a:t>US$13.3bn</a:t>
            </a:r>
            <a:endParaRPr sz="1600" dirty="0">
              <a:solidFill>
                <a:srgbClr val="FF0000"/>
              </a:solidFill>
              <a:latin typeface="Arial"/>
              <a:cs typeface="Arial"/>
            </a:endParaRPr>
          </a:p>
          <a:p>
            <a:pPr marR="3175" algn="ctr">
              <a:spcBef>
                <a:spcPts val="5"/>
              </a:spcBef>
            </a:pPr>
            <a:r>
              <a:rPr sz="1100" dirty="0">
                <a:solidFill>
                  <a:srgbClr val="12426B"/>
                </a:solidFill>
                <a:latin typeface="Arial"/>
                <a:cs typeface="Arial"/>
              </a:rPr>
              <a:t>IPO</a:t>
            </a:r>
            <a:r>
              <a:rPr sz="1100" spc="-35" dirty="0">
                <a:solidFill>
                  <a:srgbClr val="12426B"/>
                </a:solidFill>
                <a:latin typeface="Arial"/>
                <a:cs typeface="Arial"/>
              </a:rPr>
              <a:t> </a:t>
            </a:r>
            <a:r>
              <a:rPr sz="1100" spc="-10" dirty="0">
                <a:solidFill>
                  <a:srgbClr val="12426B"/>
                </a:solidFill>
                <a:latin typeface="Arial"/>
                <a:cs typeface="Arial"/>
              </a:rPr>
              <a:t>Proceeds</a:t>
            </a:r>
            <a:endParaRPr sz="1100" dirty="0">
              <a:latin typeface="Arial"/>
              <a:cs typeface="Arial"/>
            </a:endParaRPr>
          </a:p>
          <a:p>
            <a:pPr marR="3810" algn="ctr">
              <a:spcBef>
                <a:spcPts val="15"/>
              </a:spcBef>
            </a:pPr>
            <a:r>
              <a:rPr sz="800" dirty="0">
                <a:solidFill>
                  <a:srgbClr val="12426B"/>
                </a:solidFill>
                <a:latin typeface="Arial"/>
                <a:cs typeface="Arial"/>
              </a:rPr>
              <a:t>(</a:t>
            </a:r>
            <a:r>
              <a:rPr sz="800" dirty="0">
                <a:solidFill>
                  <a:srgbClr val="FF0000"/>
                </a:solidFill>
                <a:latin typeface="Arial"/>
                <a:cs typeface="Arial"/>
              </a:rPr>
              <a:t>35%</a:t>
            </a:r>
            <a:r>
              <a:rPr sz="800" spc="-10" dirty="0">
                <a:solidFill>
                  <a:srgbClr val="FF0000"/>
                </a:solidFill>
                <a:latin typeface="Arial"/>
                <a:cs typeface="Arial"/>
              </a:rPr>
              <a:t> </a:t>
            </a:r>
            <a:r>
              <a:rPr sz="800" dirty="0">
                <a:solidFill>
                  <a:srgbClr val="12426B"/>
                </a:solidFill>
                <a:latin typeface="Arial"/>
                <a:cs typeface="Arial"/>
              </a:rPr>
              <a:t>of</a:t>
            </a:r>
            <a:r>
              <a:rPr sz="800" spc="-25" dirty="0">
                <a:solidFill>
                  <a:srgbClr val="12426B"/>
                </a:solidFill>
                <a:latin typeface="Arial"/>
                <a:cs typeface="Arial"/>
              </a:rPr>
              <a:t> </a:t>
            </a:r>
            <a:r>
              <a:rPr sz="800" dirty="0">
                <a:solidFill>
                  <a:srgbClr val="12426B"/>
                </a:solidFill>
                <a:latin typeface="Arial"/>
                <a:cs typeface="Arial"/>
              </a:rPr>
              <a:t>2025</a:t>
            </a:r>
            <a:r>
              <a:rPr sz="800" spc="5" dirty="0">
                <a:solidFill>
                  <a:srgbClr val="12426B"/>
                </a:solidFill>
                <a:latin typeface="Arial"/>
                <a:cs typeface="Arial"/>
              </a:rPr>
              <a:t> </a:t>
            </a:r>
            <a:r>
              <a:rPr sz="800" spc="-25" dirty="0">
                <a:solidFill>
                  <a:srgbClr val="12426B"/>
                </a:solidFill>
                <a:latin typeface="Arial"/>
                <a:cs typeface="Arial"/>
              </a:rPr>
              <a:t>IPO</a:t>
            </a:r>
            <a:endParaRPr sz="800" dirty="0">
              <a:latin typeface="Arial"/>
              <a:cs typeface="Arial"/>
            </a:endParaRPr>
          </a:p>
          <a:p>
            <a:pPr marR="3175" algn="ctr"/>
            <a:r>
              <a:rPr sz="800" spc="-10" dirty="0">
                <a:solidFill>
                  <a:srgbClr val="12426B"/>
                </a:solidFill>
                <a:latin typeface="Arial"/>
                <a:cs typeface="Arial"/>
              </a:rPr>
              <a:t>Proceeds)</a:t>
            </a:r>
            <a:endParaRPr sz="800" dirty="0">
              <a:latin typeface="Arial"/>
              <a:cs typeface="Arial"/>
            </a:endParaRPr>
          </a:p>
        </p:txBody>
      </p:sp>
      <p:sp>
        <p:nvSpPr>
          <p:cNvPr id="46" name="object 46"/>
          <p:cNvSpPr txBox="1"/>
          <p:nvPr/>
        </p:nvSpPr>
        <p:spPr>
          <a:xfrm>
            <a:off x="2575811" y="4180132"/>
            <a:ext cx="797560" cy="438150"/>
          </a:xfrm>
          <a:prstGeom prst="rect">
            <a:avLst/>
          </a:prstGeom>
        </p:spPr>
        <p:txBody>
          <a:bodyPr vert="horz" wrap="square" lIns="0" tIns="12065" rIns="0" bIns="0" rtlCol="0">
            <a:spAutoFit/>
          </a:bodyPr>
          <a:lstStyle/>
          <a:p>
            <a:pPr marL="25400" algn="ctr">
              <a:spcBef>
                <a:spcPts val="95"/>
              </a:spcBef>
            </a:pPr>
            <a:r>
              <a:rPr sz="1600" spc="-25" dirty="0">
                <a:solidFill>
                  <a:srgbClr val="FF0000"/>
                </a:solidFill>
                <a:latin typeface="Arial"/>
                <a:cs typeface="Arial"/>
              </a:rPr>
              <a:t>15</a:t>
            </a:r>
            <a:endParaRPr sz="1600" dirty="0">
              <a:solidFill>
                <a:srgbClr val="FF0000"/>
              </a:solidFill>
              <a:latin typeface="Arial"/>
              <a:cs typeface="Arial"/>
            </a:endParaRPr>
          </a:p>
          <a:p>
            <a:pPr marR="5080" algn="ctr">
              <a:spcBef>
                <a:spcPts val="5"/>
              </a:spcBef>
            </a:pPr>
            <a:r>
              <a:rPr sz="1100" spc="-30" dirty="0">
                <a:solidFill>
                  <a:srgbClr val="12426B"/>
                </a:solidFill>
                <a:latin typeface="Arial"/>
                <a:cs typeface="Arial"/>
              </a:rPr>
              <a:t>A-</a:t>
            </a:r>
            <a:r>
              <a:rPr sz="1100" spc="-10" dirty="0">
                <a:solidFill>
                  <a:srgbClr val="12426B"/>
                </a:solidFill>
                <a:latin typeface="Arial"/>
                <a:cs typeface="Arial"/>
              </a:rPr>
              <a:t>to-</a:t>
            </a:r>
            <a:r>
              <a:rPr sz="1100" dirty="0">
                <a:solidFill>
                  <a:srgbClr val="12426B"/>
                </a:solidFill>
                <a:latin typeface="Arial"/>
                <a:cs typeface="Arial"/>
              </a:rPr>
              <a:t>H</a:t>
            </a:r>
            <a:r>
              <a:rPr sz="1100" spc="25" dirty="0">
                <a:solidFill>
                  <a:srgbClr val="12426B"/>
                </a:solidFill>
                <a:latin typeface="Arial"/>
                <a:cs typeface="Arial"/>
              </a:rPr>
              <a:t> </a:t>
            </a:r>
            <a:r>
              <a:rPr sz="1100" spc="-20" dirty="0">
                <a:solidFill>
                  <a:srgbClr val="12426B"/>
                </a:solidFill>
                <a:latin typeface="Arial"/>
                <a:cs typeface="Arial"/>
              </a:rPr>
              <a:t>IPOs</a:t>
            </a:r>
            <a:endParaRPr sz="1100" dirty="0">
              <a:latin typeface="Arial"/>
              <a:cs typeface="Arial"/>
            </a:endParaRPr>
          </a:p>
        </p:txBody>
      </p:sp>
      <p:sp>
        <p:nvSpPr>
          <p:cNvPr id="47" name="object 47"/>
          <p:cNvSpPr txBox="1"/>
          <p:nvPr/>
        </p:nvSpPr>
        <p:spPr>
          <a:xfrm>
            <a:off x="869898" y="4102587"/>
            <a:ext cx="1431925" cy="574040"/>
          </a:xfrm>
          <a:prstGeom prst="rect">
            <a:avLst/>
          </a:prstGeom>
        </p:spPr>
        <p:txBody>
          <a:bodyPr vert="horz" wrap="square" lIns="0" tIns="73025" rIns="0" bIns="0" rtlCol="0">
            <a:spAutoFit/>
          </a:bodyPr>
          <a:lstStyle/>
          <a:p>
            <a:pPr marR="10160" algn="ctr">
              <a:spcBef>
                <a:spcPts val="575"/>
              </a:spcBef>
            </a:pPr>
            <a:r>
              <a:rPr sz="800" dirty="0">
                <a:solidFill>
                  <a:srgbClr val="FF0000"/>
                </a:solidFill>
                <a:latin typeface="Arial"/>
                <a:cs typeface="Arial"/>
              </a:rPr>
              <a:t>55% </a:t>
            </a:r>
            <a:r>
              <a:rPr sz="800" dirty="0">
                <a:solidFill>
                  <a:srgbClr val="12426B"/>
                </a:solidFill>
                <a:latin typeface="Arial"/>
                <a:cs typeface="Arial"/>
              </a:rPr>
              <a:t>TMT</a:t>
            </a:r>
            <a:r>
              <a:rPr sz="800" spc="-30" dirty="0">
                <a:solidFill>
                  <a:srgbClr val="12426B"/>
                </a:solidFill>
                <a:latin typeface="Arial"/>
                <a:cs typeface="Arial"/>
              </a:rPr>
              <a:t> </a:t>
            </a:r>
            <a:r>
              <a:rPr sz="800" dirty="0">
                <a:solidFill>
                  <a:srgbClr val="12426B"/>
                </a:solidFill>
                <a:latin typeface="Arial"/>
                <a:cs typeface="Arial"/>
              </a:rPr>
              <a:t>/</a:t>
            </a:r>
            <a:r>
              <a:rPr sz="800" spc="-5" dirty="0">
                <a:solidFill>
                  <a:srgbClr val="12426B"/>
                </a:solidFill>
                <a:latin typeface="Arial"/>
                <a:cs typeface="Arial"/>
              </a:rPr>
              <a:t> </a:t>
            </a:r>
            <a:r>
              <a:rPr sz="800" spc="-25" dirty="0">
                <a:solidFill>
                  <a:srgbClr val="12426B"/>
                </a:solidFill>
                <a:latin typeface="Arial"/>
                <a:cs typeface="Arial"/>
              </a:rPr>
              <a:t>AI</a:t>
            </a:r>
            <a:endParaRPr sz="800" dirty="0">
              <a:latin typeface="Arial"/>
              <a:cs typeface="Arial"/>
            </a:endParaRPr>
          </a:p>
          <a:p>
            <a:pPr marR="8890" algn="ctr">
              <a:spcBef>
                <a:spcPts val="480"/>
              </a:spcBef>
            </a:pPr>
            <a:r>
              <a:rPr sz="800" dirty="0">
                <a:solidFill>
                  <a:srgbClr val="FF0000"/>
                </a:solidFill>
                <a:latin typeface="Arial"/>
                <a:cs typeface="Arial"/>
              </a:rPr>
              <a:t>27%</a:t>
            </a:r>
            <a:r>
              <a:rPr sz="800" spc="-15" dirty="0">
                <a:solidFill>
                  <a:srgbClr val="FF0000"/>
                </a:solidFill>
                <a:latin typeface="Arial"/>
                <a:cs typeface="Arial"/>
              </a:rPr>
              <a:t> </a:t>
            </a:r>
            <a:r>
              <a:rPr sz="800" spc="-10" dirty="0">
                <a:solidFill>
                  <a:srgbClr val="12426B"/>
                </a:solidFill>
                <a:latin typeface="Arial"/>
                <a:cs typeface="Arial"/>
              </a:rPr>
              <a:t>Consumer</a:t>
            </a:r>
            <a:endParaRPr sz="800" dirty="0">
              <a:latin typeface="Arial"/>
              <a:cs typeface="Arial"/>
            </a:endParaRPr>
          </a:p>
          <a:p>
            <a:pPr marR="5080" algn="ctr">
              <a:spcBef>
                <a:spcPts val="480"/>
              </a:spcBef>
            </a:pPr>
            <a:r>
              <a:rPr sz="800" dirty="0">
                <a:solidFill>
                  <a:srgbClr val="FF0000"/>
                </a:solidFill>
                <a:latin typeface="Arial"/>
                <a:cs typeface="Arial"/>
              </a:rPr>
              <a:t>14%</a:t>
            </a:r>
            <a:r>
              <a:rPr sz="800" spc="15" dirty="0">
                <a:solidFill>
                  <a:srgbClr val="FF0000"/>
                </a:solidFill>
                <a:latin typeface="Arial"/>
                <a:cs typeface="Arial"/>
              </a:rPr>
              <a:t> </a:t>
            </a:r>
            <a:r>
              <a:rPr sz="800" spc="-10" dirty="0">
                <a:solidFill>
                  <a:srgbClr val="12426B"/>
                </a:solidFill>
                <a:latin typeface="Arial"/>
                <a:cs typeface="Arial"/>
              </a:rPr>
              <a:t>Industrials</a:t>
            </a:r>
            <a:r>
              <a:rPr sz="800" spc="-5" dirty="0">
                <a:solidFill>
                  <a:srgbClr val="12426B"/>
                </a:solidFill>
                <a:latin typeface="Arial"/>
                <a:cs typeface="Arial"/>
              </a:rPr>
              <a:t> </a:t>
            </a:r>
            <a:r>
              <a:rPr sz="800" dirty="0">
                <a:solidFill>
                  <a:srgbClr val="12426B"/>
                </a:solidFill>
                <a:latin typeface="Arial"/>
                <a:cs typeface="Arial"/>
              </a:rPr>
              <a:t>/</a:t>
            </a:r>
            <a:r>
              <a:rPr sz="800" spc="15" dirty="0">
                <a:solidFill>
                  <a:srgbClr val="12426B"/>
                </a:solidFill>
                <a:latin typeface="Arial"/>
                <a:cs typeface="Arial"/>
              </a:rPr>
              <a:t> </a:t>
            </a:r>
            <a:r>
              <a:rPr sz="800" dirty="0">
                <a:solidFill>
                  <a:srgbClr val="12426B"/>
                </a:solidFill>
                <a:latin typeface="Arial"/>
                <a:cs typeface="Arial"/>
              </a:rPr>
              <a:t>New</a:t>
            </a:r>
            <a:r>
              <a:rPr sz="800" spc="5" dirty="0">
                <a:solidFill>
                  <a:srgbClr val="12426B"/>
                </a:solidFill>
                <a:latin typeface="Arial"/>
                <a:cs typeface="Arial"/>
              </a:rPr>
              <a:t> </a:t>
            </a:r>
            <a:r>
              <a:rPr sz="800" spc="-10" dirty="0">
                <a:solidFill>
                  <a:srgbClr val="12426B"/>
                </a:solidFill>
                <a:latin typeface="Arial"/>
                <a:cs typeface="Arial"/>
              </a:rPr>
              <a:t>Energy</a:t>
            </a:r>
            <a:endParaRPr sz="800" dirty="0">
              <a:latin typeface="Arial"/>
              <a:cs typeface="Arial"/>
            </a:endParaRPr>
          </a:p>
        </p:txBody>
      </p:sp>
      <p:sp>
        <p:nvSpPr>
          <p:cNvPr id="48" name="object 48"/>
          <p:cNvSpPr txBox="1"/>
          <p:nvPr/>
        </p:nvSpPr>
        <p:spPr>
          <a:xfrm>
            <a:off x="1115463" y="1639268"/>
            <a:ext cx="847090" cy="605790"/>
          </a:xfrm>
          <a:prstGeom prst="rect">
            <a:avLst/>
          </a:prstGeom>
        </p:spPr>
        <p:txBody>
          <a:bodyPr vert="horz" wrap="square" lIns="0" tIns="12065" rIns="0" bIns="0" rtlCol="0">
            <a:spAutoFit/>
          </a:bodyPr>
          <a:lstStyle/>
          <a:p>
            <a:pPr marR="5080" algn="ctr">
              <a:spcBef>
                <a:spcPts val="95"/>
              </a:spcBef>
            </a:pPr>
            <a:r>
              <a:rPr sz="1600" spc="-25" dirty="0">
                <a:solidFill>
                  <a:srgbClr val="FF0000"/>
                </a:solidFill>
                <a:latin typeface="Arial"/>
                <a:cs typeface="Arial"/>
              </a:rPr>
              <a:t>#1</a:t>
            </a:r>
            <a:endParaRPr sz="1600" dirty="0">
              <a:solidFill>
                <a:srgbClr val="FF0000"/>
              </a:solidFill>
              <a:latin typeface="Arial"/>
              <a:cs typeface="Arial"/>
            </a:endParaRPr>
          </a:p>
          <a:p>
            <a:pPr marR="5080" algn="ctr">
              <a:spcBef>
                <a:spcPts val="5"/>
              </a:spcBef>
            </a:pPr>
            <a:r>
              <a:rPr sz="1100" dirty="0">
                <a:solidFill>
                  <a:srgbClr val="12426B"/>
                </a:solidFill>
                <a:latin typeface="Arial"/>
                <a:cs typeface="Arial"/>
              </a:rPr>
              <a:t>IPO</a:t>
            </a:r>
            <a:r>
              <a:rPr sz="1100" spc="-30" dirty="0">
                <a:solidFill>
                  <a:srgbClr val="12426B"/>
                </a:solidFill>
                <a:latin typeface="Arial"/>
                <a:cs typeface="Arial"/>
              </a:rPr>
              <a:t> </a:t>
            </a:r>
            <a:r>
              <a:rPr sz="1100" spc="-10" dirty="0">
                <a:solidFill>
                  <a:srgbClr val="12426B"/>
                </a:solidFill>
                <a:latin typeface="Arial"/>
                <a:cs typeface="Arial"/>
              </a:rPr>
              <a:t>Volume</a:t>
            </a:r>
            <a:endParaRPr sz="1100" dirty="0">
              <a:latin typeface="Arial"/>
              <a:cs typeface="Arial"/>
            </a:endParaRPr>
          </a:p>
          <a:p>
            <a:pPr marR="5715" algn="ctr">
              <a:spcBef>
                <a:spcPts val="5"/>
              </a:spcBef>
            </a:pPr>
            <a:r>
              <a:rPr sz="1100" spc="-10" dirty="0">
                <a:solidFill>
                  <a:srgbClr val="12426B"/>
                </a:solidFill>
                <a:latin typeface="Arial"/>
                <a:cs typeface="Arial"/>
              </a:rPr>
              <a:t>Globally</a:t>
            </a:r>
            <a:r>
              <a:rPr sz="1050" spc="-15" baseline="27777" dirty="0">
                <a:solidFill>
                  <a:srgbClr val="12426B"/>
                </a:solidFill>
                <a:latin typeface="Arial"/>
                <a:cs typeface="Arial"/>
              </a:rPr>
              <a:t>1</a:t>
            </a:r>
            <a:endParaRPr sz="1050" baseline="27777" dirty="0">
              <a:latin typeface="Arial"/>
              <a:cs typeface="Arial"/>
            </a:endParaRPr>
          </a:p>
        </p:txBody>
      </p:sp>
      <p:sp>
        <p:nvSpPr>
          <p:cNvPr id="49" name="object 49"/>
          <p:cNvSpPr txBox="1"/>
          <p:nvPr/>
        </p:nvSpPr>
        <p:spPr>
          <a:xfrm>
            <a:off x="2133598" y="1639268"/>
            <a:ext cx="1544955" cy="605790"/>
          </a:xfrm>
          <a:prstGeom prst="rect">
            <a:avLst/>
          </a:prstGeom>
        </p:spPr>
        <p:txBody>
          <a:bodyPr vert="horz" wrap="square" lIns="0" tIns="12065" rIns="0" bIns="0" rtlCol="0">
            <a:spAutoFit/>
          </a:bodyPr>
          <a:lstStyle/>
          <a:p>
            <a:pPr marR="5080" algn="ctr">
              <a:spcBef>
                <a:spcPts val="95"/>
              </a:spcBef>
            </a:pPr>
            <a:r>
              <a:rPr sz="1600" dirty="0">
                <a:solidFill>
                  <a:srgbClr val="FF0000"/>
                </a:solidFill>
                <a:latin typeface="Arial"/>
                <a:cs typeface="Arial"/>
              </a:rPr>
              <a:t>Second</a:t>
            </a:r>
            <a:r>
              <a:rPr sz="1600" spc="-25" dirty="0">
                <a:solidFill>
                  <a:srgbClr val="FF0000"/>
                </a:solidFill>
                <a:latin typeface="Arial"/>
                <a:cs typeface="Arial"/>
              </a:rPr>
              <a:t> </a:t>
            </a:r>
            <a:r>
              <a:rPr sz="1600" spc="-10" dirty="0">
                <a:solidFill>
                  <a:srgbClr val="FF0000"/>
                </a:solidFill>
                <a:latin typeface="Arial"/>
                <a:cs typeface="Arial"/>
              </a:rPr>
              <a:t>Highest</a:t>
            </a:r>
            <a:endParaRPr sz="1600" dirty="0">
              <a:solidFill>
                <a:srgbClr val="FF0000"/>
              </a:solidFill>
              <a:latin typeface="Arial"/>
              <a:cs typeface="Arial"/>
            </a:endParaRPr>
          </a:p>
          <a:p>
            <a:pPr marR="5080" algn="ctr">
              <a:spcBef>
                <a:spcPts val="5"/>
              </a:spcBef>
            </a:pPr>
            <a:r>
              <a:rPr sz="1100" dirty="0">
                <a:solidFill>
                  <a:srgbClr val="12426B"/>
                </a:solidFill>
                <a:latin typeface="Arial"/>
                <a:cs typeface="Arial"/>
              </a:rPr>
              <a:t>Q1</a:t>
            </a:r>
            <a:r>
              <a:rPr sz="1100" spc="-15" dirty="0">
                <a:solidFill>
                  <a:srgbClr val="12426B"/>
                </a:solidFill>
                <a:latin typeface="Arial"/>
                <a:cs typeface="Arial"/>
              </a:rPr>
              <a:t> </a:t>
            </a:r>
            <a:r>
              <a:rPr sz="1100" dirty="0">
                <a:solidFill>
                  <a:srgbClr val="12426B"/>
                </a:solidFill>
                <a:latin typeface="Arial"/>
                <a:cs typeface="Arial"/>
              </a:rPr>
              <a:t>IPO</a:t>
            </a:r>
            <a:r>
              <a:rPr sz="1100" spc="-25" dirty="0">
                <a:solidFill>
                  <a:srgbClr val="12426B"/>
                </a:solidFill>
                <a:latin typeface="Arial"/>
                <a:cs typeface="Arial"/>
              </a:rPr>
              <a:t> </a:t>
            </a:r>
            <a:r>
              <a:rPr sz="1100" spc="-10" dirty="0">
                <a:solidFill>
                  <a:srgbClr val="12426B"/>
                </a:solidFill>
                <a:latin typeface="Arial"/>
                <a:cs typeface="Arial"/>
              </a:rPr>
              <a:t>Volume</a:t>
            </a:r>
            <a:endParaRPr sz="1100" dirty="0">
              <a:latin typeface="Arial"/>
              <a:cs typeface="Arial"/>
            </a:endParaRPr>
          </a:p>
          <a:p>
            <a:pPr marR="1905" algn="ctr">
              <a:spcBef>
                <a:spcPts val="5"/>
              </a:spcBef>
            </a:pPr>
            <a:r>
              <a:rPr sz="1100" dirty="0">
                <a:solidFill>
                  <a:srgbClr val="12426B"/>
                </a:solidFill>
                <a:latin typeface="Arial"/>
                <a:cs typeface="Arial"/>
              </a:rPr>
              <a:t>in</a:t>
            </a:r>
            <a:r>
              <a:rPr sz="1100" spc="-20" dirty="0">
                <a:solidFill>
                  <a:srgbClr val="12426B"/>
                </a:solidFill>
                <a:latin typeface="Arial"/>
                <a:cs typeface="Arial"/>
              </a:rPr>
              <a:t> </a:t>
            </a:r>
            <a:r>
              <a:rPr sz="1100" spc="-10" dirty="0">
                <a:solidFill>
                  <a:srgbClr val="12426B"/>
                </a:solidFill>
                <a:latin typeface="Arial"/>
                <a:cs typeface="Arial"/>
              </a:rPr>
              <a:t>History</a:t>
            </a:r>
            <a:endParaRPr sz="1100" dirty="0">
              <a:latin typeface="Arial"/>
              <a:cs typeface="Arial"/>
            </a:endParaRPr>
          </a:p>
        </p:txBody>
      </p:sp>
      <p:sp>
        <p:nvSpPr>
          <p:cNvPr id="52" name="TextBox 51">
            <a:extLst>
              <a:ext uri="{FF2B5EF4-FFF2-40B4-BE49-F238E27FC236}">
                <a16:creationId xmlns:a16="http://schemas.microsoft.com/office/drawing/2014/main" id="{4CC2DC99-402E-A813-C75F-2281EAA18C06}"/>
              </a:ext>
            </a:extLst>
          </p:cNvPr>
          <p:cNvSpPr txBox="1">
            <a:spLocks noChangeArrowheads="1"/>
          </p:cNvSpPr>
          <p:nvPr/>
        </p:nvSpPr>
        <p:spPr bwMode="auto">
          <a:xfrm>
            <a:off x="734667" y="1075944"/>
            <a:ext cx="3072384" cy="228600"/>
          </a:xfrm>
          <a:prstGeom prst="rect">
            <a:avLst/>
          </a:prstGeom>
          <a:solidFill>
            <a:srgbClr val="C00000"/>
          </a:soli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en-US" sz="1100" dirty="0">
                <a:cs typeface="Arial" panose="020B0604020202020204" pitchFamily="34" charset="0"/>
              </a:rPr>
              <a:t>Top IPO Venue With Multiple Drivers</a:t>
            </a:r>
          </a:p>
        </p:txBody>
      </p:sp>
      <p:sp>
        <p:nvSpPr>
          <p:cNvPr id="53" name="TextBox 52">
            <a:extLst>
              <a:ext uri="{FF2B5EF4-FFF2-40B4-BE49-F238E27FC236}">
                <a16:creationId xmlns:a16="http://schemas.microsoft.com/office/drawing/2014/main" id="{8FC9B310-8DC5-9F3E-E878-D95681CA7C4F}"/>
              </a:ext>
            </a:extLst>
          </p:cNvPr>
          <p:cNvSpPr txBox="1">
            <a:spLocks noChangeArrowheads="1"/>
          </p:cNvSpPr>
          <p:nvPr/>
        </p:nvSpPr>
        <p:spPr bwMode="auto">
          <a:xfrm>
            <a:off x="4194810" y="1075944"/>
            <a:ext cx="4736974" cy="228600"/>
          </a:xfrm>
          <a:prstGeom prst="rect">
            <a:avLst/>
          </a:prstGeom>
          <a:solidFill>
            <a:srgbClr val="C00000"/>
          </a:soli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en-US" sz="1100" dirty="0">
                <a:cs typeface="Arial" panose="020B0604020202020204" pitchFamily="34" charset="0"/>
              </a:rPr>
              <a:t>Overwhelming Investor Interest With Robust Aftermarket Performance</a:t>
            </a:r>
          </a:p>
        </p:txBody>
      </p:sp>
      <p:sp>
        <p:nvSpPr>
          <p:cNvPr id="54" name="TextBox 53">
            <a:extLst>
              <a:ext uri="{FF2B5EF4-FFF2-40B4-BE49-F238E27FC236}">
                <a16:creationId xmlns:a16="http://schemas.microsoft.com/office/drawing/2014/main" id="{E1A2DD55-370A-B9BF-6F5C-501B1DC0AF7D}"/>
              </a:ext>
            </a:extLst>
          </p:cNvPr>
          <p:cNvSpPr txBox="1">
            <a:spLocks noChangeArrowheads="1"/>
          </p:cNvSpPr>
          <p:nvPr/>
        </p:nvSpPr>
        <p:spPr bwMode="auto">
          <a:xfrm>
            <a:off x="4194810" y="2703576"/>
            <a:ext cx="4736974" cy="228600"/>
          </a:xfrm>
          <a:prstGeom prst="rect">
            <a:avLst/>
          </a:prstGeom>
          <a:solidFill>
            <a:srgbClr val="C00000"/>
          </a:soli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en-US" sz="1100" dirty="0">
                <a:cs typeface="Arial" panose="020B0604020202020204" pitchFamily="34" charset="0"/>
              </a:rPr>
              <a:t>Multiple Successes With 10 US$500mm+ HK IPOs Priced in 2026 Q1</a:t>
            </a:r>
          </a:p>
        </p:txBody>
      </p:sp>
      <p:sp>
        <p:nvSpPr>
          <p:cNvPr id="56" name="TextBox 55">
            <a:extLst>
              <a:ext uri="{FF2B5EF4-FFF2-40B4-BE49-F238E27FC236}">
                <a16:creationId xmlns:a16="http://schemas.microsoft.com/office/drawing/2014/main" id="{A584D5D1-C17A-A2CB-B997-92D05D4A7585}"/>
              </a:ext>
            </a:extLst>
          </p:cNvPr>
          <p:cNvSpPr txBox="1"/>
          <p:nvPr/>
        </p:nvSpPr>
        <p:spPr>
          <a:xfrm>
            <a:off x="738187" y="5350422"/>
            <a:ext cx="7845552" cy="830997"/>
          </a:xfrm>
          <a:prstGeom prst="rect">
            <a:avLst/>
          </a:prstGeom>
          <a:noFill/>
        </p:spPr>
        <p:txBody>
          <a:bodyPr wrap="square" lIns="0" anchor="b" anchorCtr="0">
            <a:spAutoFit/>
          </a:bodyPr>
          <a:lstStyle/>
          <a:p>
            <a:r>
              <a:rPr lang="en-US" altLang="zh-CN" sz="600" b="0" i="1" dirty="0">
                <a:solidFill>
                  <a:schemeClr val="tx1"/>
                </a:solidFill>
                <a:cs typeface="Arial" panose="020B0604020202020204" pitchFamily="34" charset="0"/>
              </a:rPr>
              <a:t>Sources: Bloomberg and Dealogic as of 31 Mar 2026 </a:t>
            </a:r>
          </a:p>
          <a:p>
            <a:pPr>
              <a:tabLst>
                <a:tab pos="401638" algn="l"/>
                <a:tab pos="512763" algn="l"/>
              </a:tabLst>
            </a:pPr>
            <a:r>
              <a:rPr lang="en-US" altLang="zh-CN" sz="600" b="0" i="1" dirty="0">
                <a:solidFill>
                  <a:schemeClr val="tx1"/>
                </a:solidFill>
                <a:cs typeface="Arial" panose="020B0604020202020204" pitchFamily="34" charset="0"/>
              </a:rPr>
              <a:t>Notes:	1.	Excludes SPAC IPOs</a:t>
            </a:r>
          </a:p>
          <a:p>
            <a:pPr>
              <a:tabLst>
                <a:tab pos="401638" algn="l"/>
                <a:tab pos="512763" algn="l"/>
              </a:tabLst>
            </a:pPr>
            <a:r>
              <a:rPr lang="en-US" altLang="zh-CN" sz="600" b="0" i="1" dirty="0">
                <a:solidFill>
                  <a:schemeClr val="tx1"/>
                </a:solidFill>
                <a:cs typeface="Arial" panose="020B0604020202020204" pitchFamily="34" charset="0"/>
              </a:rPr>
              <a:t>	2.	Includes HK IPOs with deal size of US$100mm or above</a:t>
            </a:r>
          </a:p>
          <a:p>
            <a:pPr>
              <a:tabLst>
                <a:tab pos="401638" algn="l"/>
                <a:tab pos="512763" algn="l"/>
              </a:tabLst>
            </a:pPr>
            <a:r>
              <a:rPr lang="en-US" altLang="zh-CN" sz="600" b="0" i="1" dirty="0">
                <a:solidFill>
                  <a:schemeClr val="tx1"/>
                </a:solidFill>
                <a:cs typeface="Arial" panose="020B0604020202020204" pitchFamily="34" charset="0"/>
              </a:rPr>
              <a:t>	3.	Represents aftermarket performance since listing if less than 1 month of listing history</a:t>
            </a:r>
          </a:p>
          <a:p>
            <a:pPr>
              <a:tabLst>
                <a:tab pos="401638" algn="l"/>
                <a:tab pos="512763" algn="l"/>
              </a:tabLst>
            </a:pPr>
            <a:r>
              <a:rPr lang="en-US" altLang="zh-CN" sz="600" b="0" i="1" dirty="0">
                <a:solidFill>
                  <a:schemeClr val="tx1"/>
                </a:solidFill>
                <a:cs typeface="Arial" panose="020B0604020202020204" pitchFamily="34" charset="0"/>
              </a:rPr>
              <a:t>	4.	Includes HK IPOs with deal size of US$50mm or above</a:t>
            </a:r>
          </a:p>
          <a:p>
            <a:pPr>
              <a:tabLst>
                <a:tab pos="401638" algn="l"/>
                <a:tab pos="512763" algn="l"/>
              </a:tabLst>
            </a:pPr>
            <a:r>
              <a:rPr lang="en-US" altLang="zh-CN" sz="600" b="0" i="1" dirty="0">
                <a:solidFill>
                  <a:schemeClr val="tx1"/>
                </a:solidFill>
                <a:cs typeface="Arial" panose="020B0604020202020204" pitchFamily="34" charset="0"/>
              </a:rPr>
              <a:t>	5.	ADT since listing if less than 3 month of listing history</a:t>
            </a:r>
          </a:p>
          <a:p>
            <a:pPr>
              <a:tabLst>
                <a:tab pos="401638" algn="l"/>
                <a:tab pos="512763" algn="l"/>
              </a:tabLst>
            </a:pPr>
            <a:r>
              <a:rPr lang="en-US" altLang="zh-CN" sz="600" b="0" i="1" dirty="0">
                <a:solidFill>
                  <a:schemeClr val="tx1"/>
                </a:solidFill>
                <a:cs typeface="Arial" panose="020B0604020202020204" pitchFamily="34" charset="0"/>
              </a:rPr>
              <a:t>	6.	PCB: Printed Circuit Board</a:t>
            </a:r>
          </a:p>
          <a:p>
            <a:pPr>
              <a:tabLst>
                <a:tab pos="401638" algn="l"/>
                <a:tab pos="512763" algn="l"/>
              </a:tabLst>
            </a:pPr>
            <a:r>
              <a:rPr lang="en-US" altLang="zh-CN" sz="600" b="0" i="1" dirty="0">
                <a:solidFill>
                  <a:schemeClr val="tx1"/>
                </a:solidFill>
                <a:cs typeface="Arial" panose="020B0604020202020204" pitchFamily="34" charset="0"/>
              </a:rPr>
              <a:t>	7.	LLM: Large Language Model</a:t>
            </a:r>
          </a:p>
        </p:txBody>
      </p:sp>
      <p:sp>
        <p:nvSpPr>
          <p:cNvPr id="2" name="Slide Number Placeholder 10">
            <a:extLst>
              <a:ext uri="{FF2B5EF4-FFF2-40B4-BE49-F238E27FC236}">
                <a16:creationId xmlns:a16="http://schemas.microsoft.com/office/drawing/2014/main" id="{08BCFA67-DC03-09F2-5C25-685488BB1711}"/>
              </a:ext>
            </a:extLst>
          </p:cNvPr>
          <p:cNvSpPr>
            <a:spLocks noGrp="1"/>
          </p:cNvSpPr>
          <p:nvPr>
            <p:ph type="sldNum" sz="quarter" idx="4"/>
          </p:nvPr>
        </p:nvSpPr>
        <p:spPr>
          <a:xfrm>
            <a:off x="8555964" y="6370638"/>
            <a:ext cx="1155700" cy="381000"/>
          </a:xfrm>
        </p:spPr>
        <p:txBody>
          <a:bodyPr/>
          <a:lstStyle/>
          <a:p>
            <a:pPr>
              <a:spcBef>
                <a:spcPct val="0"/>
              </a:spcBef>
              <a:defRPr/>
            </a:pPr>
            <a:fld id="{EFB97E77-A14C-4D4A-B483-93BB0C8192BC}" type="slidenum">
              <a:rPr lang="en-US" altLang="en-US" b="0" smtClean="0">
                <a:solidFill>
                  <a:srgbClr val="000000"/>
                </a:solidFill>
              </a:rPr>
              <a:pPr>
                <a:spcBef>
                  <a:spcPct val="0"/>
                </a:spcBef>
                <a:defRPr/>
              </a:pPr>
              <a:t>26</a:t>
            </a:fld>
            <a:endParaRPr lang="en-US" altLang="en-US" b="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AEF64-F573-7078-5CCA-92550CA0DF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E5718-3AE4-0F0B-F60A-B8CD8D3C8E4B}"/>
              </a:ext>
            </a:extLst>
          </p:cNvPr>
          <p:cNvSpPr>
            <a:spLocks noGrp="1"/>
          </p:cNvSpPr>
          <p:nvPr>
            <p:ph type="title"/>
          </p:nvPr>
        </p:nvSpPr>
        <p:spPr/>
        <p:txBody>
          <a:bodyPr/>
          <a:lstStyle/>
          <a:p>
            <a:r>
              <a:rPr lang="en-US" sz="2000" dirty="0"/>
              <a:t>Sector Thematics – Broad Sector Breadth Continued to Drive ECM Issuance</a:t>
            </a:r>
          </a:p>
        </p:txBody>
      </p:sp>
      <p:sp>
        <p:nvSpPr>
          <p:cNvPr id="3" name="TextBox 2">
            <a:extLst>
              <a:ext uri="{FF2B5EF4-FFF2-40B4-BE49-F238E27FC236}">
                <a16:creationId xmlns:a16="http://schemas.microsoft.com/office/drawing/2014/main" id="{CA5467CC-D089-1D53-1B78-FEBFBAFDAF97}"/>
              </a:ext>
            </a:extLst>
          </p:cNvPr>
          <p:cNvSpPr txBox="1"/>
          <p:nvPr/>
        </p:nvSpPr>
        <p:spPr>
          <a:xfrm>
            <a:off x="747756" y="5529428"/>
            <a:ext cx="7845552" cy="923330"/>
          </a:xfrm>
          <a:prstGeom prst="rect">
            <a:avLst/>
          </a:prstGeom>
          <a:noFill/>
        </p:spPr>
        <p:txBody>
          <a:bodyPr wrap="square" lIns="0" anchor="b" anchorCtr="0">
            <a:spAutoFit/>
          </a:bodyPr>
          <a:lstStyle/>
          <a:p>
            <a:r>
              <a:rPr lang="en-US" altLang="zh-CN" sz="600" b="0" i="1" dirty="0">
                <a:solidFill>
                  <a:schemeClr val="tx1"/>
                </a:solidFill>
                <a:cs typeface="Arial" panose="020B0604020202020204" pitchFamily="34" charset="0"/>
              </a:rPr>
              <a:t>Sources: Dealogic and Bloomberg as of 31 Mar 2026</a:t>
            </a:r>
          </a:p>
          <a:p>
            <a:r>
              <a:rPr lang="en-US" altLang="zh-CN" sz="600" b="0" i="1" dirty="0">
                <a:solidFill>
                  <a:schemeClr val="tx1"/>
                </a:solidFill>
                <a:cs typeface="Arial" panose="020B0604020202020204" pitchFamily="34" charset="0"/>
              </a:rPr>
              <a:t>Notes:</a:t>
            </a:r>
          </a:p>
          <a:p>
            <a:pPr>
              <a:tabLst>
                <a:tab pos="401638" algn="l"/>
                <a:tab pos="573088" algn="l"/>
                <a:tab pos="3541713" algn="l"/>
                <a:tab pos="3773488" algn="l"/>
              </a:tabLst>
            </a:pPr>
            <a:r>
              <a:rPr lang="en-US" altLang="zh-CN" sz="600" b="0" i="1" dirty="0">
                <a:solidFill>
                  <a:schemeClr val="tx1"/>
                </a:solidFill>
                <a:cs typeface="Arial" panose="020B0604020202020204" pitchFamily="34" charset="0"/>
              </a:rPr>
              <a:t>1.For all HK IPOs with deal size of US$100mm or above	</a:t>
            </a:r>
          </a:p>
          <a:p>
            <a:pPr>
              <a:tabLst>
                <a:tab pos="401638" algn="l"/>
                <a:tab pos="573088" algn="l"/>
                <a:tab pos="3541713" algn="l"/>
                <a:tab pos="3773488" algn="l"/>
              </a:tabLst>
            </a:pPr>
            <a:r>
              <a:rPr lang="en-US" altLang="zh-CN" sz="600" b="0" i="1" dirty="0">
                <a:solidFill>
                  <a:schemeClr val="tx1"/>
                </a:solidFill>
                <a:cs typeface="Arial" panose="020B0604020202020204" pitchFamily="34" charset="0"/>
              </a:rPr>
              <a:t>2.Healthcare ECM issuance is inclusive of biotech ECM issuance</a:t>
            </a:r>
          </a:p>
          <a:p>
            <a:pPr>
              <a:tabLst>
                <a:tab pos="401638" algn="l"/>
                <a:tab pos="573088" algn="l"/>
                <a:tab pos="3541713" algn="l"/>
                <a:tab pos="3773488" algn="l"/>
              </a:tabLst>
            </a:pPr>
            <a:r>
              <a:rPr lang="en-US" altLang="zh-CN" sz="600" b="0" i="1" dirty="0">
                <a:solidFill>
                  <a:schemeClr val="tx1"/>
                </a:solidFill>
                <a:cs typeface="Arial" panose="020B0604020202020204" pitchFamily="34" charset="0"/>
              </a:rPr>
              <a:t>3. Refers to % issuers that completed follow-ons of US$50mm or above in 2026 with multiple issuance since 2025</a:t>
            </a:r>
          </a:p>
          <a:p>
            <a:pPr>
              <a:tabLst>
                <a:tab pos="401638" algn="l"/>
                <a:tab pos="573088" algn="l"/>
                <a:tab pos="3541713" algn="l"/>
                <a:tab pos="3773488" algn="l"/>
              </a:tabLst>
            </a:pPr>
            <a:r>
              <a:rPr lang="en-US" altLang="zh-CN" sz="600" b="0" i="1" dirty="0">
                <a:solidFill>
                  <a:schemeClr val="tx1"/>
                </a:solidFill>
                <a:cs typeface="Arial" panose="020B0604020202020204" pitchFamily="34" charset="0"/>
              </a:rPr>
              <a:t>4.CB: Convertible bond</a:t>
            </a:r>
          </a:p>
          <a:p>
            <a:endParaRPr lang="en-US" altLang="zh-CN" sz="600" b="0" i="1" dirty="0">
              <a:solidFill>
                <a:schemeClr val="tx1"/>
              </a:solidFill>
              <a:cs typeface="Arial" panose="020B0604020202020204" pitchFamily="34" charset="0"/>
            </a:endParaRPr>
          </a:p>
          <a:p>
            <a:endParaRPr lang="en-US" altLang="zh-CN" sz="600" b="0" i="1" dirty="0">
              <a:solidFill>
                <a:schemeClr val="tx1"/>
              </a:solidFill>
              <a:cs typeface="Arial" panose="020B0604020202020204" pitchFamily="34" charset="0"/>
            </a:endParaRPr>
          </a:p>
          <a:p>
            <a:endParaRPr lang="en-US" altLang="zh-CN" sz="600" b="0" i="1" dirty="0">
              <a:solidFill>
                <a:schemeClr val="tx1"/>
              </a:solidFill>
              <a:cs typeface="Arial" panose="020B0604020202020204" pitchFamily="34" charset="0"/>
            </a:endParaRPr>
          </a:p>
        </p:txBody>
      </p:sp>
      <p:pic>
        <p:nvPicPr>
          <p:cNvPr id="6" name="object 3">
            <a:extLst>
              <a:ext uri="{FF2B5EF4-FFF2-40B4-BE49-F238E27FC236}">
                <a16:creationId xmlns:a16="http://schemas.microsoft.com/office/drawing/2014/main" id="{85E6AE74-5ECB-BFF4-A591-A61AC03437DF}"/>
              </a:ext>
            </a:extLst>
          </p:cNvPr>
          <p:cNvPicPr/>
          <p:nvPr/>
        </p:nvPicPr>
        <p:blipFill>
          <a:blip r:embed="rId2" cstate="print"/>
          <a:stretch>
            <a:fillRect/>
          </a:stretch>
        </p:blipFill>
        <p:spPr>
          <a:xfrm>
            <a:off x="6001754" y="1387805"/>
            <a:ext cx="3083322" cy="3816872"/>
          </a:xfrm>
          <a:prstGeom prst="rect">
            <a:avLst/>
          </a:prstGeom>
        </p:spPr>
      </p:pic>
      <p:sp>
        <p:nvSpPr>
          <p:cNvPr id="7" name="object 4">
            <a:extLst>
              <a:ext uri="{FF2B5EF4-FFF2-40B4-BE49-F238E27FC236}">
                <a16:creationId xmlns:a16="http://schemas.microsoft.com/office/drawing/2014/main" id="{EA75DE24-3668-8878-C17B-1277702BFFC2}"/>
              </a:ext>
            </a:extLst>
          </p:cNvPr>
          <p:cNvSpPr/>
          <p:nvPr/>
        </p:nvSpPr>
        <p:spPr>
          <a:xfrm>
            <a:off x="6255651" y="1648673"/>
            <a:ext cx="2613817" cy="3314618"/>
          </a:xfrm>
          <a:custGeom>
            <a:avLst/>
            <a:gdLst/>
            <a:ahLst/>
            <a:cxnLst/>
            <a:rect l="l" t="t" r="r" b="b"/>
            <a:pathLst>
              <a:path w="2778125" h="3522979">
                <a:moveTo>
                  <a:pt x="2777617" y="0"/>
                </a:moveTo>
                <a:lnTo>
                  <a:pt x="0" y="0"/>
                </a:lnTo>
                <a:lnTo>
                  <a:pt x="0" y="3522853"/>
                </a:lnTo>
                <a:lnTo>
                  <a:pt x="2777617" y="3522853"/>
                </a:lnTo>
                <a:lnTo>
                  <a:pt x="2777617" y="0"/>
                </a:lnTo>
                <a:close/>
              </a:path>
            </a:pathLst>
          </a:custGeom>
          <a:solidFill>
            <a:srgbClr val="FFFFFF"/>
          </a:solidFill>
        </p:spPr>
        <p:txBody>
          <a:bodyPr wrap="square" lIns="0" tIns="0" rIns="0" bIns="0" rtlCol="0"/>
          <a:lstStyle/>
          <a:p>
            <a:endParaRPr sz="1600"/>
          </a:p>
        </p:txBody>
      </p:sp>
      <p:sp>
        <p:nvSpPr>
          <p:cNvPr id="8" name="object 5">
            <a:extLst>
              <a:ext uri="{FF2B5EF4-FFF2-40B4-BE49-F238E27FC236}">
                <a16:creationId xmlns:a16="http://schemas.microsoft.com/office/drawing/2014/main" id="{89FEBCDB-CF59-3A1C-D996-6CB82F9E3FAF}"/>
              </a:ext>
            </a:extLst>
          </p:cNvPr>
          <p:cNvSpPr/>
          <p:nvPr/>
        </p:nvSpPr>
        <p:spPr>
          <a:xfrm>
            <a:off x="6255651" y="1648674"/>
            <a:ext cx="2613817" cy="3314618"/>
          </a:xfrm>
          <a:custGeom>
            <a:avLst/>
            <a:gdLst/>
            <a:ahLst/>
            <a:cxnLst/>
            <a:rect l="l" t="t" r="r" b="b"/>
            <a:pathLst>
              <a:path w="2778125" h="3522979">
                <a:moveTo>
                  <a:pt x="0" y="3522853"/>
                </a:moveTo>
                <a:lnTo>
                  <a:pt x="2777617" y="3522853"/>
                </a:lnTo>
                <a:lnTo>
                  <a:pt x="2777617" y="0"/>
                </a:lnTo>
                <a:lnTo>
                  <a:pt x="0" y="0"/>
                </a:lnTo>
                <a:lnTo>
                  <a:pt x="0" y="3522853"/>
                </a:lnTo>
                <a:close/>
              </a:path>
            </a:pathLst>
          </a:custGeom>
          <a:ln w="6350">
            <a:solidFill>
              <a:schemeClr val="accent3"/>
            </a:solidFill>
          </a:ln>
        </p:spPr>
        <p:txBody>
          <a:bodyPr wrap="square" lIns="0" tIns="0" rIns="0" bIns="0" rtlCol="0"/>
          <a:lstStyle/>
          <a:p>
            <a:endParaRPr sz="1600"/>
          </a:p>
        </p:txBody>
      </p:sp>
      <p:sp>
        <p:nvSpPr>
          <p:cNvPr id="9" name="object 6">
            <a:extLst>
              <a:ext uri="{FF2B5EF4-FFF2-40B4-BE49-F238E27FC236}">
                <a16:creationId xmlns:a16="http://schemas.microsoft.com/office/drawing/2014/main" id="{38248FD8-814A-1886-BADD-E918EABFFE99}"/>
              </a:ext>
            </a:extLst>
          </p:cNvPr>
          <p:cNvSpPr txBox="1"/>
          <p:nvPr/>
        </p:nvSpPr>
        <p:spPr>
          <a:xfrm>
            <a:off x="6244658" y="1591271"/>
            <a:ext cx="50783" cy="121187"/>
          </a:xfrm>
          <a:prstGeom prst="rect">
            <a:avLst/>
          </a:prstGeom>
        </p:spPr>
        <p:txBody>
          <a:bodyPr vert="horz" wrap="square" lIns="0" tIns="13335" rIns="0" bIns="0" rtlCol="0">
            <a:spAutoFit/>
          </a:bodyPr>
          <a:lstStyle/>
          <a:p>
            <a:pPr marL="12700">
              <a:spcBef>
                <a:spcPts val="105"/>
              </a:spcBef>
            </a:pPr>
            <a:r>
              <a:rPr sz="700" spc="-50" dirty="0">
                <a:solidFill>
                  <a:srgbClr val="FFFFFF"/>
                </a:solidFill>
                <a:cs typeface="Arial"/>
              </a:rPr>
              <a:t>.</a:t>
            </a:r>
            <a:endParaRPr sz="700">
              <a:cs typeface="Arial"/>
            </a:endParaRPr>
          </a:p>
        </p:txBody>
      </p:sp>
      <p:pic>
        <p:nvPicPr>
          <p:cNvPr id="11" name="object 8">
            <a:extLst>
              <a:ext uri="{FF2B5EF4-FFF2-40B4-BE49-F238E27FC236}">
                <a16:creationId xmlns:a16="http://schemas.microsoft.com/office/drawing/2014/main" id="{9BF66F38-FE81-56AD-A4BC-CDDCFDE12CD2}"/>
              </a:ext>
            </a:extLst>
          </p:cNvPr>
          <p:cNvPicPr/>
          <p:nvPr/>
        </p:nvPicPr>
        <p:blipFill>
          <a:blip r:embed="rId3" cstate="print"/>
          <a:stretch>
            <a:fillRect/>
          </a:stretch>
        </p:blipFill>
        <p:spPr>
          <a:xfrm>
            <a:off x="3321724" y="1312137"/>
            <a:ext cx="3205287" cy="3969657"/>
          </a:xfrm>
          <a:prstGeom prst="rect">
            <a:avLst/>
          </a:prstGeom>
        </p:spPr>
      </p:pic>
      <p:sp>
        <p:nvSpPr>
          <p:cNvPr id="12" name="object 9">
            <a:extLst>
              <a:ext uri="{FF2B5EF4-FFF2-40B4-BE49-F238E27FC236}">
                <a16:creationId xmlns:a16="http://schemas.microsoft.com/office/drawing/2014/main" id="{4B8B400B-3653-0E26-F810-83CD559101B0}"/>
              </a:ext>
            </a:extLst>
          </p:cNvPr>
          <p:cNvSpPr/>
          <p:nvPr/>
        </p:nvSpPr>
        <p:spPr>
          <a:xfrm>
            <a:off x="3651632" y="1648899"/>
            <a:ext cx="2565424" cy="3314618"/>
          </a:xfrm>
          <a:custGeom>
            <a:avLst/>
            <a:gdLst/>
            <a:ahLst/>
            <a:cxnLst/>
            <a:rect l="l" t="t" r="r" b="b"/>
            <a:pathLst>
              <a:path w="2726690" h="3522979">
                <a:moveTo>
                  <a:pt x="2726690" y="0"/>
                </a:moveTo>
                <a:lnTo>
                  <a:pt x="0" y="0"/>
                </a:lnTo>
                <a:lnTo>
                  <a:pt x="0" y="3522853"/>
                </a:lnTo>
                <a:lnTo>
                  <a:pt x="2726690" y="3522853"/>
                </a:lnTo>
                <a:lnTo>
                  <a:pt x="2726690" y="0"/>
                </a:lnTo>
                <a:close/>
              </a:path>
            </a:pathLst>
          </a:custGeom>
          <a:solidFill>
            <a:srgbClr val="FFFFFF"/>
          </a:solidFill>
          <a:ln>
            <a:solidFill>
              <a:schemeClr val="accent2"/>
            </a:solidFill>
          </a:ln>
        </p:spPr>
        <p:txBody>
          <a:bodyPr wrap="square" lIns="0" tIns="0" rIns="0" bIns="0" rtlCol="0"/>
          <a:lstStyle/>
          <a:p>
            <a:endParaRPr sz="1600"/>
          </a:p>
        </p:txBody>
      </p:sp>
      <p:sp>
        <p:nvSpPr>
          <p:cNvPr id="13" name="object 10">
            <a:extLst>
              <a:ext uri="{FF2B5EF4-FFF2-40B4-BE49-F238E27FC236}">
                <a16:creationId xmlns:a16="http://schemas.microsoft.com/office/drawing/2014/main" id="{4DDA1430-FF26-10E5-B896-061EA09EDB26}"/>
              </a:ext>
            </a:extLst>
          </p:cNvPr>
          <p:cNvSpPr/>
          <p:nvPr/>
        </p:nvSpPr>
        <p:spPr>
          <a:xfrm>
            <a:off x="3651632" y="1648899"/>
            <a:ext cx="2565424" cy="3314618"/>
          </a:xfrm>
          <a:custGeom>
            <a:avLst/>
            <a:gdLst/>
            <a:ahLst/>
            <a:cxnLst/>
            <a:rect l="l" t="t" r="r" b="b"/>
            <a:pathLst>
              <a:path w="2726690" h="3522979">
                <a:moveTo>
                  <a:pt x="0" y="3522853"/>
                </a:moveTo>
                <a:lnTo>
                  <a:pt x="2726690" y="3522853"/>
                </a:lnTo>
                <a:lnTo>
                  <a:pt x="2726690" y="0"/>
                </a:lnTo>
                <a:lnTo>
                  <a:pt x="0" y="0"/>
                </a:lnTo>
                <a:lnTo>
                  <a:pt x="0" y="3522853"/>
                </a:lnTo>
                <a:close/>
              </a:path>
            </a:pathLst>
          </a:custGeom>
          <a:ln w="6350">
            <a:solidFill>
              <a:srgbClr val="FFB81C"/>
            </a:solidFill>
          </a:ln>
        </p:spPr>
        <p:txBody>
          <a:bodyPr wrap="square" lIns="0" tIns="0" rIns="0" bIns="0" rtlCol="0"/>
          <a:lstStyle/>
          <a:p>
            <a:endParaRPr sz="1600"/>
          </a:p>
        </p:txBody>
      </p:sp>
      <p:sp>
        <p:nvSpPr>
          <p:cNvPr id="14" name="object 11">
            <a:extLst>
              <a:ext uri="{FF2B5EF4-FFF2-40B4-BE49-F238E27FC236}">
                <a16:creationId xmlns:a16="http://schemas.microsoft.com/office/drawing/2014/main" id="{346F3848-CCFE-C129-8CC7-67CC75A0FB30}"/>
              </a:ext>
            </a:extLst>
          </p:cNvPr>
          <p:cNvSpPr txBox="1"/>
          <p:nvPr/>
        </p:nvSpPr>
        <p:spPr>
          <a:xfrm>
            <a:off x="3640161" y="1590984"/>
            <a:ext cx="50783" cy="121187"/>
          </a:xfrm>
          <a:prstGeom prst="rect">
            <a:avLst/>
          </a:prstGeom>
        </p:spPr>
        <p:txBody>
          <a:bodyPr vert="horz" wrap="square" lIns="0" tIns="13335" rIns="0" bIns="0" rtlCol="0">
            <a:spAutoFit/>
          </a:bodyPr>
          <a:lstStyle/>
          <a:p>
            <a:pPr marL="12700">
              <a:spcBef>
                <a:spcPts val="105"/>
              </a:spcBef>
            </a:pPr>
            <a:r>
              <a:rPr sz="700" spc="-50" dirty="0">
                <a:solidFill>
                  <a:srgbClr val="FFFFFF"/>
                </a:solidFill>
                <a:cs typeface="Arial"/>
              </a:rPr>
              <a:t>.</a:t>
            </a:r>
            <a:endParaRPr sz="700">
              <a:cs typeface="Arial"/>
            </a:endParaRPr>
          </a:p>
        </p:txBody>
      </p:sp>
      <p:pic>
        <p:nvPicPr>
          <p:cNvPr id="16" name="object 13">
            <a:extLst>
              <a:ext uri="{FF2B5EF4-FFF2-40B4-BE49-F238E27FC236}">
                <a16:creationId xmlns:a16="http://schemas.microsoft.com/office/drawing/2014/main" id="{492C46FC-680F-6057-DBD0-A851DDC44E5B}"/>
              </a:ext>
            </a:extLst>
          </p:cNvPr>
          <p:cNvPicPr/>
          <p:nvPr/>
        </p:nvPicPr>
        <p:blipFill>
          <a:blip r:embed="rId4" cstate="print"/>
          <a:stretch>
            <a:fillRect/>
          </a:stretch>
        </p:blipFill>
        <p:spPr>
          <a:xfrm>
            <a:off x="704918" y="1312137"/>
            <a:ext cx="3225481" cy="3969657"/>
          </a:xfrm>
          <a:prstGeom prst="rect">
            <a:avLst/>
          </a:prstGeom>
        </p:spPr>
      </p:pic>
      <p:sp>
        <p:nvSpPr>
          <p:cNvPr id="17" name="object 14">
            <a:extLst>
              <a:ext uri="{FF2B5EF4-FFF2-40B4-BE49-F238E27FC236}">
                <a16:creationId xmlns:a16="http://schemas.microsoft.com/office/drawing/2014/main" id="{81839C2E-B96F-8507-B970-D294CF3133C3}"/>
              </a:ext>
            </a:extLst>
          </p:cNvPr>
          <p:cNvSpPr/>
          <p:nvPr/>
        </p:nvSpPr>
        <p:spPr>
          <a:xfrm>
            <a:off x="1034802" y="1648887"/>
            <a:ext cx="2585738" cy="3314618"/>
          </a:xfrm>
          <a:custGeom>
            <a:avLst/>
            <a:gdLst/>
            <a:ahLst/>
            <a:cxnLst/>
            <a:rect l="l" t="t" r="r" b="b"/>
            <a:pathLst>
              <a:path w="2748279" h="3522979">
                <a:moveTo>
                  <a:pt x="2748026" y="0"/>
                </a:moveTo>
                <a:lnTo>
                  <a:pt x="0" y="0"/>
                </a:lnTo>
                <a:lnTo>
                  <a:pt x="0" y="3522853"/>
                </a:lnTo>
                <a:lnTo>
                  <a:pt x="2748026" y="3522853"/>
                </a:lnTo>
                <a:lnTo>
                  <a:pt x="2748026" y="0"/>
                </a:lnTo>
                <a:close/>
              </a:path>
            </a:pathLst>
          </a:custGeom>
          <a:solidFill>
            <a:srgbClr val="FFFFFF"/>
          </a:solidFill>
        </p:spPr>
        <p:txBody>
          <a:bodyPr wrap="square" lIns="0" tIns="0" rIns="0" bIns="0" rtlCol="0"/>
          <a:lstStyle/>
          <a:p>
            <a:endParaRPr sz="1600"/>
          </a:p>
        </p:txBody>
      </p:sp>
      <p:sp>
        <p:nvSpPr>
          <p:cNvPr id="18" name="object 15">
            <a:extLst>
              <a:ext uri="{FF2B5EF4-FFF2-40B4-BE49-F238E27FC236}">
                <a16:creationId xmlns:a16="http://schemas.microsoft.com/office/drawing/2014/main" id="{C6D4E3BF-C5E2-AF81-626B-F479D7063E37}"/>
              </a:ext>
            </a:extLst>
          </p:cNvPr>
          <p:cNvSpPr/>
          <p:nvPr/>
        </p:nvSpPr>
        <p:spPr>
          <a:xfrm>
            <a:off x="1034802" y="1648887"/>
            <a:ext cx="2585738" cy="3314618"/>
          </a:xfrm>
          <a:custGeom>
            <a:avLst/>
            <a:gdLst/>
            <a:ahLst/>
            <a:cxnLst/>
            <a:rect l="l" t="t" r="r" b="b"/>
            <a:pathLst>
              <a:path w="2748279" h="3522979">
                <a:moveTo>
                  <a:pt x="0" y="3522853"/>
                </a:moveTo>
                <a:lnTo>
                  <a:pt x="2748026" y="3522853"/>
                </a:lnTo>
                <a:lnTo>
                  <a:pt x="2748026" y="0"/>
                </a:lnTo>
                <a:lnTo>
                  <a:pt x="0" y="0"/>
                </a:lnTo>
                <a:lnTo>
                  <a:pt x="0" y="3522853"/>
                </a:lnTo>
                <a:close/>
              </a:path>
            </a:pathLst>
          </a:custGeom>
          <a:ln w="6350">
            <a:solidFill>
              <a:srgbClr val="C00000"/>
            </a:solidFill>
          </a:ln>
        </p:spPr>
        <p:txBody>
          <a:bodyPr wrap="square" lIns="0" tIns="0" rIns="0" bIns="0" rtlCol="0"/>
          <a:lstStyle/>
          <a:p>
            <a:endParaRPr sz="1600"/>
          </a:p>
        </p:txBody>
      </p:sp>
      <p:sp>
        <p:nvSpPr>
          <p:cNvPr id="19" name="object 16">
            <a:extLst>
              <a:ext uri="{FF2B5EF4-FFF2-40B4-BE49-F238E27FC236}">
                <a16:creationId xmlns:a16="http://schemas.microsoft.com/office/drawing/2014/main" id="{8F4EF895-45BD-F5F6-3D67-9A055D5D4D79}"/>
              </a:ext>
            </a:extLst>
          </p:cNvPr>
          <p:cNvSpPr txBox="1"/>
          <p:nvPr/>
        </p:nvSpPr>
        <p:spPr>
          <a:xfrm>
            <a:off x="1023045" y="1591271"/>
            <a:ext cx="50783" cy="121187"/>
          </a:xfrm>
          <a:prstGeom prst="rect">
            <a:avLst/>
          </a:prstGeom>
        </p:spPr>
        <p:txBody>
          <a:bodyPr vert="horz" wrap="square" lIns="0" tIns="13335" rIns="0" bIns="0" rtlCol="0">
            <a:spAutoFit/>
          </a:bodyPr>
          <a:lstStyle/>
          <a:p>
            <a:pPr marL="12700">
              <a:spcBef>
                <a:spcPts val="105"/>
              </a:spcBef>
            </a:pPr>
            <a:r>
              <a:rPr sz="700" spc="-50" dirty="0">
                <a:solidFill>
                  <a:srgbClr val="FFFFFF"/>
                </a:solidFill>
                <a:cs typeface="Arial"/>
              </a:rPr>
              <a:t>.</a:t>
            </a:r>
            <a:endParaRPr sz="700">
              <a:cs typeface="Arial"/>
            </a:endParaRPr>
          </a:p>
        </p:txBody>
      </p:sp>
      <p:sp>
        <p:nvSpPr>
          <p:cNvPr id="32" name="object 36">
            <a:extLst>
              <a:ext uri="{FF2B5EF4-FFF2-40B4-BE49-F238E27FC236}">
                <a16:creationId xmlns:a16="http://schemas.microsoft.com/office/drawing/2014/main" id="{A4FA3C37-AAF4-ECA0-81B4-8743B6BB5C0F}"/>
              </a:ext>
            </a:extLst>
          </p:cNvPr>
          <p:cNvSpPr txBox="1"/>
          <p:nvPr/>
        </p:nvSpPr>
        <p:spPr>
          <a:xfrm>
            <a:off x="1334767" y="1710520"/>
            <a:ext cx="623732" cy="267381"/>
          </a:xfrm>
          <a:prstGeom prst="rect">
            <a:avLst/>
          </a:prstGeom>
        </p:spPr>
        <p:txBody>
          <a:bodyPr vert="horz" wrap="square" lIns="0" tIns="13335" rIns="0" bIns="0" rtlCol="0">
            <a:spAutoFit/>
          </a:bodyPr>
          <a:lstStyle/>
          <a:p>
            <a:pPr marL="12700">
              <a:spcBef>
                <a:spcPts val="105"/>
              </a:spcBef>
            </a:pPr>
            <a:r>
              <a:rPr sz="1050" spc="-10" dirty="0">
                <a:solidFill>
                  <a:srgbClr val="24C9D2"/>
                </a:solidFill>
                <a:cs typeface="Arial"/>
              </a:rPr>
              <a:t>US$3.5bn</a:t>
            </a:r>
            <a:endParaRPr sz="1050">
              <a:cs typeface="Arial"/>
            </a:endParaRPr>
          </a:p>
          <a:p>
            <a:pPr marL="30480">
              <a:spcBef>
                <a:spcPts val="15"/>
              </a:spcBef>
            </a:pPr>
            <a:r>
              <a:rPr sz="600" dirty="0">
                <a:solidFill>
                  <a:srgbClr val="12426B"/>
                </a:solidFill>
                <a:cs typeface="Arial"/>
              </a:rPr>
              <a:t>IPO</a:t>
            </a:r>
            <a:r>
              <a:rPr sz="600" spc="-10" dirty="0">
                <a:solidFill>
                  <a:srgbClr val="12426B"/>
                </a:solidFill>
                <a:cs typeface="Arial"/>
              </a:rPr>
              <a:t> Fundraise</a:t>
            </a:r>
            <a:endParaRPr sz="600">
              <a:cs typeface="Arial"/>
            </a:endParaRPr>
          </a:p>
        </p:txBody>
      </p:sp>
      <p:sp>
        <p:nvSpPr>
          <p:cNvPr id="33" name="object 37">
            <a:extLst>
              <a:ext uri="{FF2B5EF4-FFF2-40B4-BE49-F238E27FC236}">
                <a16:creationId xmlns:a16="http://schemas.microsoft.com/office/drawing/2014/main" id="{1BD982E1-3137-C71B-E946-E2C94308D4A3}"/>
              </a:ext>
            </a:extLst>
          </p:cNvPr>
          <p:cNvSpPr txBox="1"/>
          <p:nvPr/>
        </p:nvSpPr>
        <p:spPr>
          <a:xfrm>
            <a:off x="1334767" y="2082489"/>
            <a:ext cx="623732" cy="267381"/>
          </a:xfrm>
          <a:prstGeom prst="rect">
            <a:avLst/>
          </a:prstGeom>
        </p:spPr>
        <p:txBody>
          <a:bodyPr vert="horz" wrap="square" lIns="0" tIns="13335" rIns="0" bIns="0" rtlCol="0">
            <a:spAutoFit/>
          </a:bodyPr>
          <a:lstStyle/>
          <a:p>
            <a:pPr marL="12700">
              <a:spcBef>
                <a:spcPts val="105"/>
              </a:spcBef>
            </a:pPr>
            <a:r>
              <a:rPr sz="1050" spc="-10" dirty="0">
                <a:solidFill>
                  <a:srgbClr val="24C9D2"/>
                </a:solidFill>
                <a:cs typeface="Arial"/>
              </a:rPr>
              <a:t>US$4.1bn</a:t>
            </a:r>
            <a:endParaRPr sz="1050">
              <a:cs typeface="Arial"/>
            </a:endParaRPr>
          </a:p>
          <a:p>
            <a:pPr marL="32384">
              <a:spcBef>
                <a:spcPts val="15"/>
              </a:spcBef>
            </a:pPr>
            <a:r>
              <a:rPr sz="600" dirty="0">
                <a:solidFill>
                  <a:srgbClr val="12426B"/>
                </a:solidFill>
                <a:cs typeface="Arial"/>
              </a:rPr>
              <a:t>ECM</a:t>
            </a:r>
            <a:r>
              <a:rPr sz="600" spc="-15" dirty="0">
                <a:solidFill>
                  <a:srgbClr val="12426B"/>
                </a:solidFill>
                <a:cs typeface="Arial"/>
              </a:rPr>
              <a:t> </a:t>
            </a:r>
            <a:r>
              <a:rPr sz="600" spc="-10" dirty="0">
                <a:solidFill>
                  <a:srgbClr val="12426B"/>
                </a:solidFill>
                <a:cs typeface="Arial"/>
              </a:rPr>
              <a:t>Issuance</a:t>
            </a:r>
            <a:endParaRPr sz="600">
              <a:cs typeface="Arial"/>
            </a:endParaRPr>
          </a:p>
        </p:txBody>
      </p:sp>
      <p:sp>
        <p:nvSpPr>
          <p:cNvPr id="34" name="object 38">
            <a:extLst>
              <a:ext uri="{FF2B5EF4-FFF2-40B4-BE49-F238E27FC236}">
                <a16:creationId xmlns:a16="http://schemas.microsoft.com/office/drawing/2014/main" id="{4DC14676-41FB-A398-ED20-058C1C246D28}"/>
              </a:ext>
            </a:extLst>
          </p:cNvPr>
          <p:cNvSpPr txBox="1"/>
          <p:nvPr/>
        </p:nvSpPr>
        <p:spPr>
          <a:xfrm>
            <a:off x="2588777" y="1701440"/>
            <a:ext cx="636278" cy="267381"/>
          </a:xfrm>
          <a:prstGeom prst="rect">
            <a:avLst/>
          </a:prstGeom>
        </p:spPr>
        <p:txBody>
          <a:bodyPr vert="horz" wrap="square" lIns="0" tIns="13335" rIns="0" bIns="0" rtlCol="0">
            <a:spAutoFit/>
          </a:bodyPr>
          <a:lstStyle/>
          <a:p>
            <a:pPr marL="635" algn="ctr">
              <a:spcBef>
                <a:spcPts val="105"/>
              </a:spcBef>
            </a:pPr>
            <a:r>
              <a:rPr sz="1050" spc="-25" dirty="0">
                <a:solidFill>
                  <a:srgbClr val="24C9D2"/>
                </a:solidFill>
                <a:cs typeface="Arial"/>
              </a:rPr>
              <a:t>27%</a:t>
            </a:r>
            <a:endParaRPr sz="1050">
              <a:cs typeface="Arial"/>
            </a:endParaRPr>
          </a:p>
          <a:p>
            <a:pPr algn="ctr">
              <a:spcBef>
                <a:spcPts val="15"/>
              </a:spcBef>
            </a:pPr>
            <a:r>
              <a:rPr sz="600" dirty="0">
                <a:solidFill>
                  <a:srgbClr val="12426B"/>
                </a:solidFill>
                <a:cs typeface="Arial"/>
              </a:rPr>
              <a:t>HK</a:t>
            </a:r>
            <a:r>
              <a:rPr sz="600" spc="-15" dirty="0">
                <a:solidFill>
                  <a:srgbClr val="12426B"/>
                </a:solidFill>
                <a:cs typeface="Arial"/>
              </a:rPr>
              <a:t> </a:t>
            </a:r>
            <a:r>
              <a:rPr sz="600" dirty="0">
                <a:solidFill>
                  <a:srgbClr val="12426B"/>
                </a:solidFill>
                <a:cs typeface="Arial"/>
              </a:rPr>
              <a:t>IPO </a:t>
            </a:r>
            <a:r>
              <a:rPr sz="600" spc="-10" dirty="0">
                <a:solidFill>
                  <a:srgbClr val="12426B"/>
                </a:solidFill>
                <a:cs typeface="Arial"/>
              </a:rPr>
              <a:t>Volume</a:t>
            </a:r>
            <a:endParaRPr sz="600">
              <a:cs typeface="Arial"/>
            </a:endParaRPr>
          </a:p>
        </p:txBody>
      </p:sp>
      <p:sp>
        <p:nvSpPr>
          <p:cNvPr id="35" name="object 39">
            <a:extLst>
              <a:ext uri="{FF2B5EF4-FFF2-40B4-BE49-F238E27FC236}">
                <a16:creationId xmlns:a16="http://schemas.microsoft.com/office/drawing/2014/main" id="{EE59BB50-873D-C94C-C415-B564EF4AA028}"/>
              </a:ext>
            </a:extLst>
          </p:cNvPr>
          <p:cNvSpPr txBox="1"/>
          <p:nvPr/>
        </p:nvSpPr>
        <p:spPr>
          <a:xfrm>
            <a:off x="2568705" y="2073289"/>
            <a:ext cx="676307" cy="267381"/>
          </a:xfrm>
          <a:prstGeom prst="rect">
            <a:avLst/>
          </a:prstGeom>
        </p:spPr>
        <p:txBody>
          <a:bodyPr vert="horz" wrap="square" lIns="0" tIns="13335" rIns="0" bIns="0" rtlCol="0">
            <a:spAutoFit/>
          </a:bodyPr>
          <a:lstStyle/>
          <a:p>
            <a:pPr marL="635" algn="ctr">
              <a:spcBef>
                <a:spcPts val="105"/>
              </a:spcBef>
            </a:pPr>
            <a:r>
              <a:rPr sz="1050" spc="-25" dirty="0">
                <a:solidFill>
                  <a:srgbClr val="24C9D2"/>
                </a:solidFill>
                <a:cs typeface="Arial"/>
              </a:rPr>
              <a:t>13%</a:t>
            </a:r>
            <a:endParaRPr sz="1050">
              <a:cs typeface="Arial"/>
            </a:endParaRPr>
          </a:p>
          <a:p>
            <a:pPr algn="ctr">
              <a:spcBef>
                <a:spcPts val="15"/>
              </a:spcBef>
            </a:pPr>
            <a:r>
              <a:rPr sz="600" dirty="0">
                <a:solidFill>
                  <a:srgbClr val="12426B"/>
                </a:solidFill>
                <a:cs typeface="Arial"/>
              </a:rPr>
              <a:t>HK</a:t>
            </a:r>
            <a:r>
              <a:rPr sz="600" spc="-15" dirty="0">
                <a:solidFill>
                  <a:srgbClr val="12426B"/>
                </a:solidFill>
                <a:cs typeface="Arial"/>
              </a:rPr>
              <a:t> </a:t>
            </a:r>
            <a:r>
              <a:rPr sz="600" dirty="0">
                <a:solidFill>
                  <a:srgbClr val="12426B"/>
                </a:solidFill>
                <a:cs typeface="Arial"/>
              </a:rPr>
              <a:t>ECM</a:t>
            </a:r>
            <a:r>
              <a:rPr sz="600" spc="-5" dirty="0">
                <a:solidFill>
                  <a:srgbClr val="12426B"/>
                </a:solidFill>
                <a:cs typeface="Arial"/>
              </a:rPr>
              <a:t> </a:t>
            </a:r>
            <a:r>
              <a:rPr sz="600" spc="-10" dirty="0">
                <a:solidFill>
                  <a:srgbClr val="12426B"/>
                </a:solidFill>
                <a:cs typeface="Arial"/>
              </a:rPr>
              <a:t>Volume</a:t>
            </a:r>
            <a:endParaRPr sz="600">
              <a:cs typeface="Arial"/>
            </a:endParaRPr>
          </a:p>
        </p:txBody>
      </p:sp>
      <p:sp>
        <p:nvSpPr>
          <p:cNvPr id="36" name="object 40">
            <a:extLst>
              <a:ext uri="{FF2B5EF4-FFF2-40B4-BE49-F238E27FC236}">
                <a16:creationId xmlns:a16="http://schemas.microsoft.com/office/drawing/2014/main" id="{E0B10413-23BC-0040-4673-30C3A6E1B785}"/>
              </a:ext>
            </a:extLst>
          </p:cNvPr>
          <p:cNvSpPr txBox="1"/>
          <p:nvPr/>
        </p:nvSpPr>
        <p:spPr>
          <a:xfrm>
            <a:off x="6662150" y="1891785"/>
            <a:ext cx="623732" cy="267381"/>
          </a:xfrm>
          <a:prstGeom prst="rect">
            <a:avLst/>
          </a:prstGeom>
        </p:spPr>
        <p:txBody>
          <a:bodyPr vert="horz" wrap="square" lIns="0" tIns="13335" rIns="0" bIns="0" rtlCol="0">
            <a:spAutoFit/>
          </a:bodyPr>
          <a:lstStyle/>
          <a:p>
            <a:pPr marL="12700">
              <a:spcBef>
                <a:spcPts val="105"/>
              </a:spcBef>
            </a:pPr>
            <a:r>
              <a:rPr sz="1050" spc="-10" dirty="0">
                <a:solidFill>
                  <a:srgbClr val="41748D"/>
                </a:solidFill>
                <a:cs typeface="Arial"/>
              </a:rPr>
              <a:t>US$3.6bn</a:t>
            </a:r>
            <a:endParaRPr sz="1050">
              <a:cs typeface="Arial"/>
            </a:endParaRPr>
          </a:p>
          <a:p>
            <a:pPr marL="32384">
              <a:spcBef>
                <a:spcPts val="15"/>
              </a:spcBef>
            </a:pPr>
            <a:r>
              <a:rPr sz="600" dirty="0">
                <a:solidFill>
                  <a:srgbClr val="1F3946"/>
                </a:solidFill>
                <a:cs typeface="Arial"/>
              </a:rPr>
              <a:t>ECM</a:t>
            </a:r>
            <a:r>
              <a:rPr sz="600" spc="-15" dirty="0">
                <a:solidFill>
                  <a:srgbClr val="1F3946"/>
                </a:solidFill>
                <a:cs typeface="Arial"/>
              </a:rPr>
              <a:t> </a:t>
            </a:r>
            <a:r>
              <a:rPr sz="600" spc="-10" dirty="0">
                <a:solidFill>
                  <a:srgbClr val="1F3946"/>
                </a:solidFill>
                <a:cs typeface="Arial"/>
              </a:rPr>
              <a:t>Issuance</a:t>
            </a:r>
            <a:endParaRPr sz="600">
              <a:cs typeface="Arial"/>
            </a:endParaRPr>
          </a:p>
        </p:txBody>
      </p:sp>
      <p:sp>
        <p:nvSpPr>
          <p:cNvPr id="37" name="object 41">
            <a:extLst>
              <a:ext uri="{FF2B5EF4-FFF2-40B4-BE49-F238E27FC236}">
                <a16:creationId xmlns:a16="http://schemas.microsoft.com/office/drawing/2014/main" id="{BCE2FA25-4B62-11F3-1DF9-606A101618DE}"/>
              </a:ext>
            </a:extLst>
          </p:cNvPr>
          <p:cNvSpPr txBox="1"/>
          <p:nvPr/>
        </p:nvSpPr>
        <p:spPr>
          <a:xfrm>
            <a:off x="7798610" y="1885810"/>
            <a:ext cx="676307" cy="267381"/>
          </a:xfrm>
          <a:prstGeom prst="rect">
            <a:avLst/>
          </a:prstGeom>
        </p:spPr>
        <p:txBody>
          <a:bodyPr vert="horz" wrap="square" lIns="0" tIns="13335" rIns="0" bIns="0" rtlCol="0">
            <a:spAutoFit/>
          </a:bodyPr>
          <a:lstStyle/>
          <a:p>
            <a:pPr marL="1270" algn="ctr">
              <a:spcBef>
                <a:spcPts val="105"/>
              </a:spcBef>
            </a:pPr>
            <a:r>
              <a:rPr sz="1050" spc="-25" dirty="0">
                <a:solidFill>
                  <a:srgbClr val="41748D"/>
                </a:solidFill>
                <a:cs typeface="Arial"/>
              </a:rPr>
              <a:t>12%</a:t>
            </a:r>
            <a:endParaRPr sz="1050">
              <a:cs typeface="Arial"/>
            </a:endParaRPr>
          </a:p>
          <a:p>
            <a:pPr algn="ctr">
              <a:spcBef>
                <a:spcPts val="15"/>
              </a:spcBef>
            </a:pPr>
            <a:r>
              <a:rPr sz="600" dirty="0">
                <a:solidFill>
                  <a:srgbClr val="1F3946"/>
                </a:solidFill>
                <a:cs typeface="Arial"/>
              </a:rPr>
              <a:t>HK</a:t>
            </a:r>
            <a:r>
              <a:rPr sz="600" spc="-15" dirty="0">
                <a:solidFill>
                  <a:srgbClr val="1F3946"/>
                </a:solidFill>
                <a:cs typeface="Arial"/>
              </a:rPr>
              <a:t> </a:t>
            </a:r>
            <a:r>
              <a:rPr sz="600" dirty="0">
                <a:solidFill>
                  <a:srgbClr val="1F3946"/>
                </a:solidFill>
                <a:cs typeface="Arial"/>
              </a:rPr>
              <a:t>ECM</a:t>
            </a:r>
            <a:r>
              <a:rPr sz="600" spc="-5" dirty="0">
                <a:solidFill>
                  <a:srgbClr val="1F3946"/>
                </a:solidFill>
                <a:cs typeface="Arial"/>
              </a:rPr>
              <a:t> </a:t>
            </a:r>
            <a:r>
              <a:rPr sz="600" spc="-10" dirty="0">
                <a:solidFill>
                  <a:srgbClr val="1F3946"/>
                </a:solidFill>
                <a:cs typeface="Arial"/>
              </a:rPr>
              <a:t>Volume</a:t>
            </a:r>
            <a:endParaRPr sz="600">
              <a:cs typeface="Arial"/>
            </a:endParaRPr>
          </a:p>
        </p:txBody>
      </p:sp>
      <p:sp>
        <p:nvSpPr>
          <p:cNvPr id="38" name="object 42">
            <a:extLst>
              <a:ext uri="{FF2B5EF4-FFF2-40B4-BE49-F238E27FC236}">
                <a16:creationId xmlns:a16="http://schemas.microsoft.com/office/drawing/2014/main" id="{2D56FF8A-38B5-C322-1304-8A2A5DEA326F}"/>
              </a:ext>
            </a:extLst>
          </p:cNvPr>
          <p:cNvSpPr txBox="1"/>
          <p:nvPr/>
        </p:nvSpPr>
        <p:spPr>
          <a:xfrm>
            <a:off x="3791194" y="1882894"/>
            <a:ext cx="1124987" cy="359714"/>
          </a:xfrm>
          <a:prstGeom prst="rect">
            <a:avLst/>
          </a:prstGeom>
        </p:spPr>
        <p:txBody>
          <a:bodyPr vert="horz" wrap="square" lIns="0" tIns="13335" rIns="0" bIns="0" rtlCol="0">
            <a:spAutoFit/>
          </a:bodyPr>
          <a:lstStyle/>
          <a:p>
            <a:pPr algn="ctr">
              <a:spcBef>
                <a:spcPts val="105"/>
              </a:spcBef>
            </a:pPr>
            <a:r>
              <a:rPr sz="1050" dirty="0">
                <a:solidFill>
                  <a:srgbClr val="FFB81C"/>
                </a:solidFill>
                <a:cs typeface="Arial"/>
              </a:rPr>
              <a:t>US$3.0bn</a:t>
            </a:r>
            <a:r>
              <a:rPr sz="1050" spc="-30" dirty="0">
                <a:solidFill>
                  <a:srgbClr val="FFB81C"/>
                </a:solidFill>
                <a:cs typeface="Arial"/>
              </a:rPr>
              <a:t> </a:t>
            </a:r>
            <a:r>
              <a:rPr sz="1050" dirty="0">
                <a:solidFill>
                  <a:srgbClr val="FFB81C"/>
                </a:solidFill>
                <a:cs typeface="Arial"/>
              </a:rPr>
              <a:t>/</a:t>
            </a:r>
            <a:r>
              <a:rPr sz="1050" spc="-45" dirty="0">
                <a:solidFill>
                  <a:srgbClr val="FFB81C"/>
                </a:solidFill>
                <a:cs typeface="Arial"/>
              </a:rPr>
              <a:t> </a:t>
            </a:r>
            <a:r>
              <a:rPr sz="1050" spc="-20" dirty="0">
                <a:solidFill>
                  <a:srgbClr val="FFB81C"/>
                </a:solidFill>
                <a:cs typeface="Arial"/>
              </a:rPr>
              <a:t>1.5bn</a:t>
            </a:r>
            <a:endParaRPr sz="1050">
              <a:cs typeface="Arial"/>
            </a:endParaRPr>
          </a:p>
          <a:p>
            <a:pPr marL="153670" marR="147320" algn="ctr">
              <a:spcBef>
                <a:spcPts val="20"/>
              </a:spcBef>
            </a:pPr>
            <a:r>
              <a:rPr sz="600" dirty="0">
                <a:solidFill>
                  <a:srgbClr val="8D6000"/>
                </a:solidFill>
                <a:cs typeface="Arial"/>
              </a:rPr>
              <a:t>Healthcare</a:t>
            </a:r>
            <a:r>
              <a:rPr sz="600" baseline="24691" dirty="0">
                <a:solidFill>
                  <a:srgbClr val="8D6000"/>
                </a:solidFill>
                <a:cs typeface="Arial"/>
              </a:rPr>
              <a:t>2</a:t>
            </a:r>
            <a:r>
              <a:rPr sz="600" spc="97" baseline="24691" dirty="0">
                <a:solidFill>
                  <a:srgbClr val="8D6000"/>
                </a:solidFill>
                <a:cs typeface="Arial"/>
              </a:rPr>
              <a:t> </a:t>
            </a:r>
            <a:r>
              <a:rPr sz="600" dirty="0">
                <a:solidFill>
                  <a:srgbClr val="8D6000"/>
                </a:solidFill>
                <a:cs typeface="Arial"/>
              </a:rPr>
              <a:t>/</a:t>
            </a:r>
            <a:r>
              <a:rPr sz="600" spc="-15" dirty="0">
                <a:solidFill>
                  <a:srgbClr val="8D6000"/>
                </a:solidFill>
                <a:cs typeface="Arial"/>
              </a:rPr>
              <a:t> </a:t>
            </a:r>
            <a:r>
              <a:rPr sz="600" spc="-10" dirty="0">
                <a:solidFill>
                  <a:srgbClr val="8D6000"/>
                </a:solidFill>
                <a:cs typeface="Arial"/>
              </a:rPr>
              <a:t>Biotech</a:t>
            </a:r>
            <a:r>
              <a:rPr sz="600" spc="500" dirty="0">
                <a:solidFill>
                  <a:srgbClr val="8D6000"/>
                </a:solidFill>
                <a:cs typeface="Arial"/>
              </a:rPr>
              <a:t> </a:t>
            </a:r>
            <a:r>
              <a:rPr sz="600" dirty="0">
                <a:solidFill>
                  <a:srgbClr val="8D6000"/>
                </a:solidFill>
                <a:cs typeface="Arial"/>
              </a:rPr>
              <a:t>ECM</a:t>
            </a:r>
            <a:r>
              <a:rPr sz="600" spc="-15" dirty="0">
                <a:solidFill>
                  <a:srgbClr val="8D6000"/>
                </a:solidFill>
                <a:cs typeface="Arial"/>
              </a:rPr>
              <a:t> </a:t>
            </a:r>
            <a:r>
              <a:rPr sz="600" spc="-10" dirty="0">
                <a:solidFill>
                  <a:srgbClr val="8D6000"/>
                </a:solidFill>
                <a:cs typeface="Arial"/>
              </a:rPr>
              <a:t>Issuance</a:t>
            </a:r>
            <a:endParaRPr sz="600">
              <a:cs typeface="Arial"/>
            </a:endParaRPr>
          </a:p>
        </p:txBody>
      </p:sp>
      <p:sp>
        <p:nvSpPr>
          <p:cNvPr id="39" name="object 43">
            <a:extLst>
              <a:ext uri="{FF2B5EF4-FFF2-40B4-BE49-F238E27FC236}">
                <a16:creationId xmlns:a16="http://schemas.microsoft.com/office/drawing/2014/main" id="{9D546FB6-B532-CFBA-F7C2-3C8A6B1E71A7}"/>
              </a:ext>
            </a:extLst>
          </p:cNvPr>
          <p:cNvSpPr txBox="1"/>
          <p:nvPr/>
        </p:nvSpPr>
        <p:spPr>
          <a:xfrm>
            <a:off x="5128992" y="1882894"/>
            <a:ext cx="905725" cy="359714"/>
          </a:xfrm>
          <a:prstGeom prst="rect">
            <a:avLst/>
          </a:prstGeom>
        </p:spPr>
        <p:txBody>
          <a:bodyPr vert="horz" wrap="square" lIns="0" tIns="13335" rIns="0" bIns="0" rtlCol="0">
            <a:spAutoFit/>
          </a:bodyPr>
          <a:lstStyle/>
          <a:p>
            <a:pPr marL="1905" algn="ctr">
              <a:spcBef>
                <a:spcPts val="105"/>
              </a:spcBef>
            </a:pPr>
            <a:r>
              <a:rPr sz="1050" dirty="0">
                <a:solidFill>
                  <a:srgbClr val="FFB81C"/>
                </a:solidFill>
                <a:cs typeface="Arial"/>
              </a:rPr>
              <a:t>10%</a:t>
            </a:r>
            <a:r>
              <a:rPr sz="1050" spc="-25" dirty="0">
                <a:solidFill>
                  <a:srgbClr val="FFB81C"/>
                </a:solidFill>
                <a:cs typeface="Arial"/>
              </a:rPr>
              <a:t> </a:t>
            </a:r>
            <a:r>
              <a:rPr sz="1050" dirty="0">
                <a:solidFill>
                  <a:srgbClr val="FFB81C"/>
                </a:solidFill>
                <a:cs typeface="Arial"/>
              </a:rPr>
              <a:t>/</a:t>
            </a:r>
            <a:r>
              <a:rPr sz="1050" spc="-25" dirty="0">
                <a:solidFill>
                  <a:srgbClr val="FFB81C"/>
                </a:solidFill>
                <a:cs typeface="Arial"/>
              </a:rPr>
              <a:t> 5%</a:t>
            </a:r>
            <a:endParaRPr sz="1050">
              <a:cs typeface="Arial"/>
            </a:endParaRPr>
          </a:p>
          <a:p>
            <a:pPr marL="38100" marR="30480" indent="-635" algn="ctr">
              <a:spcBef>
                <a:spcPts val="20"/>
              </a:spcBef>
            </a:pPr>
            <a:r>
              <a:rPr sz="600" dirty="0">
                <a:solidFill>
                  <a:srgbClr val="8D6000"/>
                </a:solidFill>
                <a:cs typeface="Arial"/>
              </a:rPr>
              <a:t>HK</a:t>
            </a:r>
            <a:r>
              <a:rPr sz="600" spc="-20" dirty="0">
                <a:solidFill>
                  <a:srgbClr val="8D6000"/>
                </a:solidFill>
                <a:cs typeface="Arial"/>
              </a:rPr>
              <a:t> </a:t>
            </a:r>
            <a:r>
              <a:rPr sz="600" dirty="0">
                <a:solidFill>
                  <a:srgbClr val="8D6000"/>
                </a:solidFill>
                <a:cs typeface="Arial"/>
              </a:rPr>
              <a:t>ECM</a:t>
            </a:r>
            <a:r>
              <a:rPr sz="600" spc="-15" dirty="0">
                <a:solidFill>
                  <a:srgbClr val="8D6000"/>
                </a:solidFill>
                <a:cs typeface="Arial"/>
              </a:rPr>
              <a:t> </a:t>
            </a:r>
            <a:r>
              <a:rPr sz="600" dirty="0">
                <a:solidFill>
                  <a:srgbClr val="8D6000"/>
                </a:solidFill>
                <a:cs typeface="Arial"/>
              </a:rPr>
              <a:t>Volume</a:t>
            </a:r>
            <a:r>
              <a:rPr sz="600" spc="-5" dirty="0">
                <a:solidFill>
                  <a:srgbClr val="8D6000"/>
                </a:solidFill>
                <a:cs typeface="Arial"/>
              </a:rPr>
              <a:t> </a:t>
            </a:r>
            <a:r>
              <a:rPr sz="600" spc="-25" dirty="0">
                <a:solidFill>
                  <a:srgbClr val="8D6000"/>
                </a:solidFill>
                <a:cs typeface="Arial"/>
              </a:rPr>
              <a:t>For</a:t>
            </a:r>
            <a:r>
              <a:rPr sz="600" spc="500" dirty="0">
                <a:solidFill>
                  <a:srgbClr val="8D6000"/>
                </a:solidFill>
                <a:cs typeface="Arial"/>
              </a:rPr>
              <a:t> </a:t>
            </a:r>
            <a:r>
              <a:rPr sz="600" dirty="0">
                <a:solidFill>
                  <a:srgbClr val="8D6000"/>
                </a:solidFill>
                <a:cs typeface="Arial"/>
              </a:rPr>
              <a:t>Healthcare</a:t>
            </a:r>
            <a:r>
              <a:rPr sz="600" baseline="24691" dirty="0">
                <a:solidFill>
                  <a:srgbClr val="8D6000"/>
                </a:solidFill>
                <a:cs typeface="Arial"/>
              </a:rPr>
              <a:t>2</a:t>
            </a:r>
            <a:r>
              <a:rPr sz="600" spc="97" baseline="24691" dirty="0">
                <a:solidFill>
                  <a:srgbClr val="8D6000"/>
                </a:solidFill>
                <a:cs typeface="Arial"/>
              </a:rPr>
              <a:t> </a:t>
            </a:r>
            <a:r>
              <a:rPr sz="600" dirty="0">
                <a:solidFill>
                  <a:srgbClr val="8D6000"/>
                </a:solidFill>
                <a:cs typeface="Arial"/>
              </a:rPr>
              <a:t>/</a:t>
            </a:r>
            <a:r>
              <a:rPr sz="600" spc="-15" dirty="0">
                <a:solidFill>
                  <a:srgbClr val="8D6000"/>
                </a:solidFill>
                <a:cs typeface="Arial"/>
              </a:rPr>
              <a:t> </a:t>
            </a:r>
            <a:r>
              <a:rPr sz="600" spc="-10" dirty="0">
                <a:solidFill>
                  <a:srgbClr val="8D6000"/>
                </a:solidFill>
                <a:cs typeface="Arial"/>
              </a:rPr>
              <a:t>Biotech</a:t>
            </a:r>
            <a:endParaRPr sz="600">
              <a:cs typeface="Arial"/>
            </a:endParaRPr>
          </a:p>
        </p:txBody>
      </p:sp>
      <p:pic>
        <p:nvPicPr>
          <p:cNvPr id="40" name="object 44">
            <a:extLst>
              <a:ext uri="{FF2B5EF4-FFF2-40B4-BE49-F238E27FC236}">
                <a16:creationId xmlns:a16="http://schemas.microsoft.com/office/drawing/2014/main" id="{44FF1EB8-6BDF-02E3-69E0-5B3AB6DA6AD2}"/>
              </a:ext>
            </a:extLst>
          </p:cNvPr>
          <p:cNvPicPr/>
          <p:nvPr/>
        </p:nvPicPr>
        <p:blipFill>
          <a:blip r:embed="rId5" cstate="print"/>
          <a:stretch>
            <a:fillRect/>
          </a:stretch>
        </p:blipFill>
        <p:spPr>
          <a:xfrm>
            <a:off x="1130693" y="3949620"/>
            <a:ext cx="180667" cy="183414"/>
          </a:xfrm>
          <a:prstGeom prst="rect">
            <a:avLst/>
          </a:prstGeom>
        </p:spPr>
      </p:pic>
      <p:sp>
        <p:nvSpPr>
          <p:cNvPr id="41" name="object 45">
            <a:extLst>
              <a:ext uri="{FF2B5EF4-FFF2-40B4-BE49-F238E27FC236}">
                <a16:creationId xmlns:a16="http://schemas.microsoft.com/office/drawing/2014/main" id="{E353F335-E062-26D2-871A-90429A4A857B}"/>
              </a:ext>
            </a:extLst>
          </p:cNvPr>
          <p:cNvSpPr txBox="1"/>
          <p:nvPr/>
        </p:nvSpPr>
        <p:spPr>
          <a:xfrm>
            <a:off x="1178764" y="3962885"/>
            <a:ext cx="1757083" cy="135935"/>
          </a:xfrm>
          <a:prstGeom prst="rect">
            <a:avLst/>
          </a:prstGeom>
        </p:spPr>
        <p:txBody>
          <a:bodyPr vert="horz" wrap="square" lIns="0" tIns="12700" rIns="0" bIns="0" rtlCol="0">
            <a:spAutoFit/>
          </a:bodyPr>
          <a:lstStyle/>
          <a:p>
            <a:pPr marL="12700">
              <a:spcBef>
                <a:spcPts val="100"/>
              </a:spcBef>
            </a:pPr>
            <a:r>
              <a:rPr sz="800" dirty="0">
                <a:solidFill>
                  <a:srgbClr val="FFFFFF"/>
                </a:solidFill>
                <a:cs typeface="Arial"/>
              </a:rPr>
              <a:t>2</a:t>
            </a:r>
            <a:r>
              <a:rPr sz="800" spc="135" dirty="0">
                <a:solidFill>
                  <a:srgbClr val="FFFFFF"/>
                </a:solidFill>
                <a:cs typeface="Arial"/>
              </a:rPr>
              <a:t>  </a:t>
            </a:r>
            <a:r>
              <a:rPr sz="1200" baseline="3086" dirty="0">
                <a:solidFill>
                  <a:srgbClr val="12426B"/>
                </a:solidFill>
                <a:cs typeface="Arial"/>
              </a:rPr>
              <a:t>Top</a:t>
            </a:r>
            <a:r>
              <a:rPr sz="1200" spc="-15" baseline="3086" dirty="0">
                <a:solidFill>
                  <a:srgbClr val="12426B"/>
                </a:solidFill>
                <a:cs typeface="Arial"/>
              </a:rPr>
              <a:t> </a:t>
            </a:r>
            <a:r>
              <a:rPr sz="1200" baseline="3086" dirty="0">
                <a:solidFill>
                  <a:srgbClr val="12426B"/>
                </a:solidFill>
                <a:cs typeface="Arial"/>
              </a:rPr>
              <a:t>3</a:t>
            </a:r>
            <a:r>
              <a:rPr sz="1200" spc="-7" baseline="3086" dirty="0">
                <a:solidFill>
                  <a:srgbClr val="12426B"/>
                </a:solidFill>
                <a:cs typeface="Arial"/>
              </a:rPr>
              <a:t> </a:t>
            </a:r>
            <a:r>
              <a:rPr sz="1200" baseline="3086" dirty="0">
                <a:solidFill>
                  <a:srgbClr val="12426B"/>
                </a:solidFill>
                <a:cs typeface="Arial"/>
              </a:rPr>
              <a:t>Consumer</a:t>
            </a:r>
            <a:r>
              <a:rPr sz="1200" spc="-37" baseline="3086" dirty="0">
                <a:solidFill>
                  <a:srgbClr val="12426B"/>
                </a:solidFill>
                <a:cs typeface="Arial"/>
              </a:rPr>
              <a:t> </a:t>
            </a:r>
            <a:r>
              <a:rPr sz="1200" baseline="3086" dirty="0">
                <a:solidFill>
                  <a:srgbClr val="12426B"/>
                </a:solidFill>
                <a:cs typeface="Arial"/>
              </a:rPr>
              <a:t>IPOs</a:t>
            </a:r>
            <a:r>
              <a:rPr sz="1200" spc="-7" baseline="3086" dirty="0">
                <a:solidFill>
                  <a:srgbClr val="12426B"/>
                </a:solidFill>
                <a:cs typeface="Arial"/>
              </a:rPr>
              <a:t> </a:t>
            </a:r>
            <a:r>
              <a:rPr sz="1200" spc="-15" baseline="3086" dirty="0">
                <a:solidFill>
                  <a:srgbClr val="12426B"/>
                </a:solidFill>
                <a:cs typeface="Arial"/>
              </a:rPr>
              <a:t>Globally</a:t>
            </a:r>
            <a:endParaRPr sz="1200" baseline="3086">
              <a:cs typeface="Arial"/>
            </a:endParaRPr>
          </a:p>
        </p:txBody>
      </p:sp>
      <p:pic>
        <p:nvPicPr>
          <p:cNvPr id="42" name="object 46">
            <a:extLst>
              <a:ext uri="{FF2B5EF4-FFF2-40B4-BE49-F238E27FC236}">
                <a16:creationId xmlns:a16="http://schemas.microsoft.com/office/drawing/2014/main" id="{8A13B9D4-01E0-C556-4C98-8EE755817A4D}"/>
              </a:ext>
            </a:extLst>
          </p:cNvPr>
          <p:cNvPicPr/>
          <p:nvPr/>
        </p:nvPicPr>
        <p:blipFill>
          <a:blip r:embed="rId6" cstate="print"/>
          <a:stretch>
            <a:fillRect/>
          </a:stretch>
        </p:blipFill>
        <p:spPr>
          <a:xfrm>
            <a:off x="1109913" y="2816268"/>
            <a:ext cx="180666" cy="183414"/>
          </a:xfrm>
          <a:prstGeom prst="rect">
            <a:avLst/>
          </a:prstGeom>
        </p:spPr>
      </p:pic>
      <p:sp>
        <p:nvSpPr>
          <p:cNvPr id="43" name="object 47">
            <a:extLst>
              <a:ext uri="{FF2B5EF4-FFF2-40B4-BE49-F238E27FC236}">
                <a16:creationId xmlns:a16="http://schemas.microsoft.com/office/drawing/2014/main" id="{E048CCFD-9764-52AB-7AE6-CB173A1B3F3C}"/>
              </a:ext>
            </a:extLst>
          </p:cNvPr>
          <p:cNvSpPr txBox="1"/>
          <p:nvPr/>
        </p:nvSpPr>
        <p:spPr>
          <a:xfrm>
            <a:off x="1157829" y="2832162"/>
            <a:ext cx="1893897" cy="135935"/>
          </a:xfrm>
          <a:prstGeom prst="rect">
            <a:avLst/>
          </a:prstGeom>
        </p:spPr>
        <p:txBody>
          <a:bodyPr vert="horz" wrap="square" lIns="0" tIns="12700" rIns="0" bIns="0" rtlCol="0">
            <a:spAutoFit/>
          </a:bodyPr>
          <a:lstStyle/>
          <a:p>
            <a:pPr marL="12700">
              <a:spcBef>
                <a:spcPts val="100"/>
              </a:spcBef>
            </a:pPr>
            <a:r>
              <a:rPr sz="800" dirty="0">
                <a:solidFill>
                  <a:srgbClr val="FFFFFF"/>
                </a:solidFill>
                <a:cs typeface="Arial"/>
              </a:rPr>
              <a:t>1</a:t>
            </a:r>
            <a:r>
              <a:rPr sz="800" spc="140" dirty="0">
                <a:solidFill>
                  <a:srgbClr val="FFFFFF"/>
                </a:solidFill>
                <a:cs typeface="Arial"/>
              </a:rPr>
              <a:t>  </a:t>
            </a:r>
            <a:r>
              <a:rPr sz="800" dirty="0">
                <a:solidFill>
                  <a:srgbClr val="12426B"/>
                </a:solidFill>
                <a:cs typeface="Arial"/>
              </a:rPr>
              <a:t>Leadership</a:t>
            </a:r>
            <a:r>
              <a:rPr sz="800" spc="-20" dirty="0">
                <a:solidFill>
                  <a:srgbClr val="12426B"/>
                </a:solidFill>
                <a:cs typeface="Arial"/>
              </a:rPr>
              <a:t> </a:t>
            </a:r>
            <a:r>
              <a:rPr sz="800" dirty="0">
                <a:solidFill>
                  <a:srgbClr val="12426B"/>
                </a:solidFill>
                <a:cs typeface="Arial"/>
              </a:rPr>
              <a:t>in</a:t>
            </a:r>
            <a:r>
              <a:rPr sz="800" spc="-15" dirty="0">
                <a:solidFill>
                  <a:srgbClr val="12426B"/>
                </a:solidFill>
                <a:cs typeface="Arial"/>
              </a:rPr>
              <a:t> </a:t>
            </a:r>
            <a:r>
              <a:rPr sz="800" dirty="0">
                <a:solidFill>
                  <a:srgbClr val="12426B"/>
                </a:solidFill>
                <a:cs typeface="Arial"/>
              </a:rPr>
              <a:t>Sector</a:t>
            </a:r>
            <a:r>
              <a:rPr sz="800" spc="-15" dirty="0">
                <a:solidFill>
                  <a:srgbClr val="12426B"/>
                </a:solidFill>
                <a:cs typeface="Arial"/>
              </a:rPr>
              <a:t> </a:t>
            </a:r>
            <a:r>
              <a:rPr sz="800" spc="-10" dirty="0">
                <a:solidFill>
                  <a:srgbClr val="12426B"/>
                </a:solidFill>
                <a:cs typeface="Arial"/>
              </a:rPr>
              <a:t>Fundraising</a:t>
            </a:r>
            <a:endParaRPr sz="800">
              <a:cs typeface="Arial"/>
            </a:endParaRPr>
          </a:p>
        </p:txBody>
      </p:sp>
      <p:grpSp>
        <p:nvGrpSpPr>
          <p:cNvPr id="44" name="object 48">
            <a:extLst>
              <a:ext uri="{FF2B5EF4-FFF2-40B4-BE49-F238E27FC236}">
                <a16:creationId xmlns:a16="http://schemas.microsoft.com/office/drawing/2014/main" id="{4663A209-8DF1-C274-880F-DF94F5405D87}"/>
              </a:ext>
            </a:extLst>
          </p:cNvPr>
          <p:cNvGrpSpPr/>
          <p:nvPr/>
        </p:nvGrpSpPr>
        <p:grpSpPr>
          <a:xfrm>
            <a:off x="3688911" y="2836934"/>
            <a:ext cx="201457" cy="1343894"/>
            <a:chOff x="3368166" y="2446654"/>
            <a:chExt cx="214121" cy="1428376"/>
          </a:xfrm>
        </p:grpSpPr>
        <p:pic>
          <p:nvPicPr>
            <p:cNvPr id="45" name="object 49">
              <a:extLst>
                <a:ext uri="{FF2B5EF4-FFF2-40B4-BE49-F238E27FC236}">
                  <a16:creationId xmlns:a16="http://schemas.microsoft.com/office/drawing/2014/main" id="{A36A8015-47E3-B51A-75B7-42457897D0A5}"/>
                </a:ext>
              </a:extLst>
            </p:cNvPr>
            <p:cNvPicPr/>
            <p:nvPr/>
          </p:nvPicPr>
          <p:blipFill>
            <a:blip r:embed="rId7" cstate="print"/>
            <a:stretch>
              <a:fillRect/>
            </a:stretch>
          </p:blipFill>
          <p:spPr>
            <a:xfrm>
              <a:off x="3390263" y="3680086"/>
              <a:ext cx="192024" cy="194944"/>
            </a:xfrm>
            <a:prstGeom prst="rect">
              <a:avLst/>
            </a:prstGeom>
          </p:spPr>
        </p:pic>
        <p:pic>
          <p:nvPicPr>
            <p:cNvPr id="46" name="object 50">
              <a:extLst>
                <a:ext uri="{FF2B5EF4-FFF2-40B4-BE49-F238E27FC236}">
                  <a16:creationId xmlns:a16="http://schemas.microsoft.com/office/drawing/2014/main" id="{CEA9C171-31A9-3DA2-2261-2E64826D28C1}"/>
                </a:ext>
              </a:extLst>
            </p:cNvPr>
            <p:cNvPicPr/>
            <p:nvPr/>
          </p:nvPicPr>
          <p:blipFill>
            <a:blip r:embed="rId8" cstate="print"/>
            <a:stretch>
              <a:fillRect/>
            </a:stretch>
          </p:blipFill>
          <p:spPr>
            <a:xfrm>
              <a:off x="3368166" y="2446654"/>
              <a:ext cx="192024" cy="194944"/>
            </a:xfrm>
            <a:prstGeom prst="rect">
              <a:avLst/>
            </a:prstGeom>
          </p:spPr>
        </p:pic>
      </p:grpSp>
      <p:sp>
        <p:nvSpPr>
          <p:cNvPr id="47" name="object 51">
            <a:extLst>
              <a:ext uri="{FF2B5EF4-FFF2-40B4-BE49-F238E27FC236}">
                <a16:creationId xmlns:a16="http://schemas.microsoft.com/office/drawing/2014/main" id="{1A0AE312-6D4E-2401-3FAF-1C749D56F6DC}"/>
              </a:ext>
            </a:extLst>
          </p:cNvPr>
          <p:cNvSpPr txBox="1"/>
          <p:nvPr/>
        </p:nvSpPr>
        <p:spPr>
          <a:xfrm>
            <a:off x="3737305" y="2849965"/>
            <a:ext cx="2265508" cy="135935"/>
          </a:xfrm>
          <a:prstGeom prst="rect">
            <a:avLst/>
          </a:prstGeom>
        </p:spPr>
        <p:txBody>
          <a:bodyPr vert="horz" wrap="square" lIns="0" tIns="12700" rIns="0" bIns="0" rtlCol="0">
            <a:spAutoFit/>
          </a:bodyPr>
          <a:lstStyle/>
          <a:p>
            <a:pPr marL="12700">
              <a:spcBef>
                <a:spcPts val="100"/>
              </a:spcBef>
            </a:pPr>
            <a:r>
              <a:rPr sz="800" dirty="0">
                <a:solidFill>
                  <a:srgbClr val="FFFFFF"/>
                </a:solidFill>
                <a:cs typeface="Arial"/>
              </a:rPr>
              <a:t>1</a:t>
            </a:r>
            <a:r>
              <a:rPr sz="800" spc="130" dirty="0">
                <a:solidFill>
                  <a:srgbClr val="FFFFFF"/>
                </a:solidFill>
                <a:cs typeface="Arial"/>
              </a:rPr>
              <a:t>  </a:t>
            </a:r>
            <a:r>
              <a:rPr sz="1200" baseline="3086" dirty="0">
                <a:solidFill>
                  <a:srgbClr val="8D6000"/>
                </a:solidFill>
                <a:cs typeface="Arial"/>
              </a:rPr>
              <a:t>Strong</a:t>
            </a:r>
            <a:r>
              <a:rPr sz="1200" spc="-22" baseline="3086" dirty="0">
                <a:solidFill>
                  <a:srgbClr val="8D6000"/>
                </a:solidFill>
                <a:cs typeface="Arial"/>
              </a:rPr>
              <a:t> </a:t>
            </a:r>
            <a:r>
              <a:rPr sz="1200" baseline="3086" dirty="0">
                <a:solidFill>
                  <a:srgbClr val="8D6000"/>
                </a:solidFill>
                <a:cs typeface="Arial"/>
              </a:rPr>
              <a:t>Start</a:t>
            </a:r>
            <a:r>
              <a:rPr sz="1200" spc="-22" baseline="3086" dirty="0">
                <a:solidFill>
                  <a:srgbClr val="8D6000"/>
                </a:solidFill>
                <a:cs typeface="Arial"/>
              </a:rPr>
              <a:t> </a:t>
            </a:r>
            <a:r>
              <a:rPr sz="1200" baseline="3086" dirty="0">
                <a:solidFill>
                  <a:srgbClr val="8D6000"/>
                </a:solidFill>
                <a:cs typeface="Arial"/>
              </a:rPr>
              <a:t>in</a:t>
            </a:r>
            <a:r>
              <a:rPr sz="1200" spc="-15" baseline="3086" dirty="0">
                <a:solidFill>
                  <a:srgbClr val="8D6000"/>
                </a:solidFill>
                <a:cs typeface="Arial"/>
              </a:rPr>
              <a:t> </a:t>
            </a:r>
            <a:r>
              <a:rPr sz="1200" baseline="3086" dirty="0">
                <a:solidFill>
                  <a:srgbClr val="8D6000"/>
                </a:solidFill>
                <a:cs typeface="Arial"/>
              </a:rPr>
              <a:t>Healthcare</a:t>
            </a:r>
            <a:r>
              <a:rPr sz="1200" spc="-52" baseline="3086" dirty="0">
                <a:solidFill>
                  <a:srgbClr val="8D6000"/>
                </a:solidFill>
                <a:cs typeface="Arial"/>
              </a:rPr>
              <a:t> </a:t>
            </a:r>
            <a:r>
              <a:rPr sz="1200" baseline="3086" dirty="0">
                <a:solidFill>
                  <a:srgbClr val="8D6000"/>
                </a:solidFill>
                <a:cs typeface="Arial"/>
              </a:rPr>
              <a:t>ECM</a:t>
            </a:r>
            <a:r>
              <a:rPr sz="1200" spc="-22" baseline="3086" dirty="0">
                <a:solidFill>
                  <a:srgbClr val="8D6000"/>
                </a:solidFill>
                <a:cs typeface="Arial"/>
              </a:rPr>
              <a:t> </a:t>
            </a:r>
            <a:r>
              <a:rPr sz="1200" spc="-15" baseline="3086" dirty="0">
                <a:solidFill>
                  <a:srgbClr val="8D6000"/>
                </a:solidFill>
                <a:cs typeface="Arial"/>
              </a:rPr>
              <a:t>Issuance</a:t>
            </a:r>
            <a:endParaRPr sz="1200" baseline="3086">
              <a:cs typeface="Arial"/>
            </a:endParaRPr>
          </a:p>
        </p:txBody>
      </p:sp>
      <p:pic>
        <p:nvPicPr>
          <p:cNvPr id="48" name="object 52">
            <a:extLst>
              <a:ext uri="{FF2B5EF4-FFF2-40B4-BE49-F238E27FC236}">
                <a16:creationId xmlns:a16="http://schemas.microsoft.com/office/drawing/2014/main" id="{CF46E7ED-6F23-9C37-A870-3E591755CB0C}"/>
              </a:ext>
            </a:extLst>
          </p:cNvPr>
          <p:cNvPicPr/>
          <p:nvPr/>
        </p:nvPicPr>
        <p:blipFill>
          <a:blip r:embed="rId9" cstate="print"/>
          <a:stretch>
            <a:fillRect/>
          </a:stretch>
        </p:blipFill>
        <p:spPr>
          <a:xfrm>
            <a:off x="6337381" y="3943528"/>
            <a:ext cx="180667" cy="194289"/>
          </a:xfrm>
          <a:prstGeom prst="rect">
            <a:avLst/>
          </a:prstGeom>
        </p:spPr>
      </p:pic>
      <p:sp>
        <p:nvSpPr>
          <p:cNvPr id="49" name="object 53">
            <a:extLst>
              <a:ext uri="{FF2B5EF4-FFF2-40B4-BE49-F238E27FC236}">
                <a16:creationId xmlns:a16="http://schemas.microsoft.com/office/drawing/2014/main" id="{A13E72E7-62C4-6B84-3989-0C6A8A6FFD00}"/>
              </a:ext>
            </a:extLst>
          </p:cNvPr>
          <p:cNvSpPr txBox="1"/>
          <p:nvPr/>
        </p:nvSpPr>
        <p:spPr>
          <a:xfrm>
            <a:off x="6386252" y="3962286"/>
            <a:ext cx="84240" cy="135935"/>
          </a:xfrm>
          <a:prstGeom prst="rect">
            <a:avLst/>
          </a:prstGeom>
        </p:spPr>
        <p:txBody>
          <a:bodyPr vert="horz" wrap="square" lIns="0" tIns="12700" rIns="0" bIns="0" rtlCol="0">
            <a:spAutoFit/>
          </a:bodyPr>
          <a:lstStyle/>
          <a:p>
            <a:pPr marL="12700">
              <a:spcBef>
                <a:spcPts val="100"/>
              </a:spcBef>
            </a:pPr>
            <a:r>
              <a:rPr sz="800" spc="-50" dirty="0">
                <a:solidFill>
                  <a:srgbClr val="FFFFFF"/>
                </a:solidFill>
                <a:cs typeface="Arial"/>
              </a:rPr>
              <a:t>2</a:t>
            </a:r>
            <a:endParaRPr sz="800">
              <a:cs typeface="Arial"/>
            </a:endParaRPr>
          </a:p>
        </p:txBody>
      </p:sp>
      <p:sp>
        <p:nvSpPr>
          <p:cNvPr id="50" name="object 54">
            <a:extLst>
              <a:ext uri="{FF2B5EF4-FFF2-40B4-BE49-F238E27FC236}">
                <a16:creationId xmlns:a16="http://schemas.microsoft.com/office/drawing/2014/main" id="{E18FAB5B-90CD-D365-432B-1B4A9A1F1AA6}"/>
              </a:ext>
            </a:extLst>
          </p:cNvPr>
          <p:cNvSpPr txBox="1"/>
          <p:nvPr/>
        </p:nvSpPr>
        <p:spPr>
          <a:xfrm>
            <a:off x="6521035" y="2779061"/>
            <a:ext cx="2215322" cy="259045"/>
          </a:xfrm>
          <a:prstGeom prst="rect">
            <a:avLst/>
          </a:prstGeom>
        </p:spPr>
        <p:txBody>
          <a:bodyPr vert="horz" wrap="square" lIns="0" tIns="12700" rIns="0" bIns="0" rtlCol="0">
            <a:spAutoFit/>
          </a:bodyPr>
          <a:lstStyle/>
          <a:p>
            <a:pPr marL="12700">
              <a:spcBef>
                <a:spcPts val="100"/>
              </a:spcBef>
            </a:pPr>
            <a:r>
              <a:rPr sz="800" dirty="0">
                <a:solidFill>
                  <a:srgbClr val="41748D"/>
                </a:solidFill>
                <a:cs typeface="Arial"/>
              </a:rPr>
              <a:t>ECM</a:t>
            </a:r>
            <a:r>
              <a:rPr sz="800" spc="-35" dirty="0">
                <a:solidFill>
                  <a:srgbClr val="41748D"/>
                </a:solidFill>
                <a:cs typeface="Arial"/>
              </a:rPr>
              <a:t> </a:t>
            </a:r>
            <a:r>
              <a:rPr sz="800" dirty="0">
                <a:solidFill>
                  <a:srgbClr val="41748D"/>
                </a:solidFill>
                <a:cs typeface="Arial"/>
              </a:rPr>
              <a:t>Issuance</a:t>
            </a:r>
            <a:r>
              <a:rPr sz="800" spc="-45" dirty="0">
                <a:solidFill>
                  <a:srgbClr val="41748D"/>
                </a:solidFill>
                <a:cs typeface="Arial"/>
              </a:rPr>
              <a:t> </a:t>
            </a:r>
            <a:r>
              <a:rPr sz="800" dirty="0">
                <a:solidFill>
                  <a:srgbClr val="41748D"/>
                </a:solidFill>
                <a:cs typeface="Arial"/>
              </a:rPr>
              <a:t>Momentum</a:t>
            </a:r>
            <a:r>
              <a:rPr sz="800" spc="-50" dirty="0">
                <a:solidFill>
                  <a:srgbClr val="41748D"/>
                </a:solidFill>
                <a:cs typeface="Arial"/>
              </a:rPr>
              <a:t> </a:t>
            </a:r>
            <a:r>
              <a:rPr sz="800" dirty="0">
                <a:solidFill>
                  <a:srgbClr val="41748D"/>
                </a:solidFill>
                <a:cs typeface="Arial"/>
              </a:rPr>
              <a:t>Continued</a:t>
            </a:r>
            <a:r>
              <a:rPr sz="800" spc="-30" dirty="0">
                <a:solidFill>
                  <a:srgbClr val="41748D"/>
                </a:solidFill>
                <a:cs typeface="Arial"/>
              </a:rPr>
              <a:t> </a:t>
            </a:r>
            <a:r>
              <a:rPr sz="800" spc="-20" dirty="0">
                <a:solidFill>
                  <a:srgbClr val="41748D"/>
                </a:solidFill>
                <a:cs typeface="Arial"/>
              </a:rPr>
              <a:t>Amid</a:t>
            </a:r>
            <a:endParaRPr sz="800">
              <a:cs typeface="Arial"/>
            </a:endParaRPr>
          </a:p>
          <a:p>
            <a:pPr marL="12700">
              <a:spcBef>
                <a:spcPts val="5"/>
              </a:spcBef>
            </a:pPr>
            <a:r>
              <a:rPr sz="800" dirty="0">
                <a:solidFill>
                  <a:srgbClr val="41748D"/>
                </a:solidFill>
                <a:cs typeface="Arial"/>
              </a:rPr>
              <a:t>Rising</a:t>
            </a:r>
            <a:r>
              <a:rPr sz="800" spc="-25" dirty="0">
                <a:solidFill>
                  <a:srgbClr val="41748D"/>
                </a:solidFill>
                <a:cs typeface="Arial"/>
              </a:rPr>
              <a:t> </a:t>
            </a:r>
            <a:r>
              <a:rPr sz="800" spc="-10" dirty="0">
                <a:solidFill>
                  <a:srgbClr val="41748D"/>
                </a:solidFill>
                <a:cs typeface="Arial"/>
              </a:rPr>
              <a:t>Performance</a:t>
            </a:r>
            <a:endParaRPr sz="800">
              <a:cs typeface="Arial"/>
            </a:endParaRPr>
          </a:p>
        </p:txBody>
      </p:sp>
      <p:pic>
        <p:nvPicPr>
          <p:cNvPr id="51" name="object 55">
            <a:extLst>
              <a:ext uri="{FF2B5EF4-FFF2-40B4-BE49-F238E27FC236}">
                <a16:creationId xmlns:a16="http://schemas.microsoft.com/office/drawing/2014/main" id="{5964284C-30FB-A6E7-EBB0-B4C6E531D6A4}"/>
              </a:ext>
            </a:extLst>
          </p:cNvPr>
          <p:cNvPicPr/>
          <p:nvPr/>
        </p:nvPicPr>
        <p:blipFill>
          <a:blip r:embed="rId10" cstate="print"/>
          <a:stretch>
            <a:fillRect/>
          </a:stretch>
        </p:blipFill>
        <p:spPr>
          <a:xfrm>
            <a:off x="6316590" y="2823678"/>
            <a:ext cx="180667" cy="183415"/>
          </a:xfrm>
          <a:prstGeom prst="rect">
            <a:avLst/>
          </a:prstGeom>
        </p:spPr>
      </p:pic>
      <p:sp>
        <p:nvSpPr>
          <p:cNvPr id="52" name="object 56">
            <a:extLst>
              <a:ext uri="{FF2B5EF4-FFF2-40B4-BE49-F238E27FC236}">
                <a16:creationId xmlns:a16="http://schemas.microsoft.com/office/drawing/2014/main" id="{5C1632FF-8A36-C201-002B-E65AD2CF9DA8}"/>
              </a:ext>
            </a:extLst>
          </p:cNvPr>
          <p:cNvSpPr txBox="1"/>
          <p:nvPr/>
        </p:nvSpPr>
        <p:spPr>
          <a:xfrm>
            <a:off x="6365341" y="2836702"/>
            <a:ext cx="84240" cy="135935"/>
          </a:xfrm>
          <a:prstGeom prst="rect">
            <a:avLst/>
          </a:prstGeom>
        </p:spPr>
        <p:txBody>
          <a:bodyPr vert="horz" wrap="square" lIns="0" tIns="12700" rIns="0" bIns="0" rtlCol="0">
            <a:spAutoFit/>
          </a:bodyPr>
          <a:lstStyle/>
          <a:p>
            <a:pPr marL="12700">
              <a:spcBef>
                <a:spcPts val="100"/>
              </a:spcBef>
            </a:pPr>
            <a:r>
              <a:rPr sz="800" spc="-50" dirty="0">
                <a:solidFill>
                  <a:srgbClr val="FFFFFF"/>
                </a:solidFill>
                <a:cs typeface="Arial"/>
              </a:rPr>
              <a:t>1</a:t>
            </a:r>
            <a:endParaRPr sz="800">
              <a:cs typeface="Arial"/>
            </a:endParaRPr>
          </a:p>
        </p:txBody>
      </p:sp>
      <p:grpSp>
        <p:nvGrpSpPr>
          <p:cNvPr id="53" name="object 57">
            <a:extLst>
              <a:ext uri="{FF2B5EF4-FFF2-40B4-BE49-F238E27FC236}">
                <a16:creationId xmlns:a16="http://schemas.microsoft.com/office/drawing/2014/main" id="{ADCF4E76-8C17-3025-6AEA-85CC746C5520}"/>
              </a:ext>
            </a:extLst>
          </p:cNvPr>
          <p:cNvGrpSpPr/>
          <p:nvPr/>
        </p:nvGrpSpPr>
        <p:grpSpPr>
          <a:xfrm>
            <a:off x="6504903" y="3475848"/>
            <a:ext cx="2348552" cy="499823"/>
            <a:chOff x="6361176" y="2940860"/>
            <a:chExt cx="2496185" cy="499823"/>
          </a:xfrm>
        </p:grpSpPr>
        <p:sp>
          <p:nvSpPr>
            <p:cNvPr id="54" name="object 58">
              <a:extLst>
                <a:ext uri="{FF2B5EF4-FFF2-40B4-BE49-F238E27FC236}">
                  <a16:creationId xmlns:a16="http://schemas.microsoft.com/office/drawing/2014/main" id="{1BA32FCA-A8EB-771F-9948-E93CAFF4A2E3}"/>
                </a:ext>
              </a:extLst>
            </p:cNvPr>
            <p:cNvSpPr/>
            <p:nvPr/>
          </p:nvSpPr>
          <p:spPr>
            <a:xfrm>
              <a:off x="6454141" y="2940860"/>
              <a:ext cx="2308860" cy="296332"/>
            </a:xfrm>
            <a:custGeom>
              <a:avLst/>
              <a:gdLst/>
              <a:ahLst/>
              <a:cxnLst/>
              <a:rect l="l" t="t" r="r" b="b"/>
              <a:pathLst>
                <a:path w="2308859" h="314960">
                  <a:moveTo>
                    <a:pt x="312420" y="236220"/>
                  </a:moveTo>
                  <a:lnTo>
                    <a:pt x="0" y="236220"/>
                  </a:lnTo>
                  <a:lnTo>
                    <a:pt x="0" y="314960"/>
                  </a:lnTo>
                  <a:lnTo>
                    <a:pt x="312420" y="314960"/>
                  </a:lnTo>
                  <a:lnTo>
                    <a:pt x="312420" y="236220"/>
                  </a:lnTo>
                  <a:close/>
                </a:path>
                <a:path w="2308859" h="314960">
                  <a:moveTo>
                    <a:pt x="812292" y="313436"/>
                  </a:moveTo>
                  <a:lnTo>
                    <a:pt x="499872" y="313436"/>
                  </a:lnTo>
                  <a:lnTo>
                    <a:pt x="499872" y="314960"/>
                  </a:lnTo>
                  <a:lnTo>
                    <a:pt x="812292" y="314960"/>
                  </a:lnTo>
                  <a:lnTo>
                    <a:pt x="812292" y="313436"/>
                  </a:lnTo>
                  <a:close/>
                </a:path>
                <a:path w="2308859" h="314960">
                  <a:moveTo>
                    <a:pt x="1310640" y="0"/>
                  </a:moveTo>
                  <a:lnTo>
                    <a:pt x="998220" y="0"/>
                  </a:lnTo>
                  <a:lnTo>
                    <a:pt x="998220" y="314960"/>
                  </a:lnTo>
                  <a:lnTo>
                    <a:pt x="1310640" y="314960"/>
                  </a:lnTo>
                  <a:lnTo>
                    <a:pt x="1310640" y="0"/>
                  </a:lnTo>
                  <a:close/>
                </a:path>
                <a:path w="2308859" h="314960">
                  <a:moveTo>
                    <a:pt x="1810512" y="169164"/>
                  </a:moveTo>
                  <a:lnTo>
                    <a:pt x="1498092" y="169164"/>
                  </a:lnTo>
                  <a:lnTo>
                    <a:pt x="1498092" y="314960"/>
                  </a:lnTo>
                  <a:lnTo>
                    <a:pt x="1810512" y="314960"/>
                  </a:lnTo>
                  <a:lnTo>
                    <a:pt x="1810512" y="169164"/>
                  </a:lnTo>
                  <a:close/>
                </a:path>
                <a:path w="2308859" h="314960">
                  <a:moveTo>
                    <a:pt x="2308860" y="103632"/>
                  </a:moveTo>
                  <a:lnTo>
                    <a:pt x="1997964" y="103632"/>
                  </a:lnTo>
                  <a:lnTo>
                    <a:pt x="1997964" y="314960"/>
                  </a:lnTo>
                  <a:lnTo>
                    <a:pt x="2308860" y="314960"/>
                  </a:lnTo>
                  <a:lnTo>
                    <a:pt x="2308860" y="103632"/>
                  </a:lnTo>
                  <a:close/>
                </a:path>
              </a:pathLst>
            </a:custGeom>
            <a:solidFill>
              <a:srgbClr val="41748D"/>
            </a:solidFill>
          </p:spPr>
          <p:txBody>
            <a:bodyPr wrap="square" lIns="0" tIns="0" rIns="0" bIns="0" rtlCol="0"/>
            <a:lstStyle/>
            <a:p>
              <a:endParaRPr sz="1600"/>
            </a:p>
          </p:txBody>
        </p:sp>
        <p:sp>
          <p:nvSpPr>
            <p:cNvPr id="55" name="object 59">
              <a:extLst>
                <a:ext uri="{FF2B5EF4-FFF2-40B4-BE49-F238E27FC236}">
                  <a16:creationId xmlns:a16="http://schemas.microsoft.com/office/drawing/2014/main" id="{963F9D23-4E82-289E-2522-B8791092FA79}"/>
                </a:ext>
              </a:extLst>
            </p:cNvPr>
            <p:cNvSpPr/>
            <p:nvPr/>
          </p:nvSpPr>
          <p:spPr>
            <a:xfrm>
              <a:off x="6361176" y="3440683"/>
              <a:ext cx="2496185" cy="0"/>
            </a:xfrm>
            <a:custGeom>
              <a:avLst/>
              <a:gdLst/>
              <a:ahLst/>
              <a:cxnLst/>
              <a:rect l="l" t="t" r="r" b="b"/>
              <a:pathLst>
                <a:path w="2496184">
                  <a:moveTo>
                    <a:pt x="0" y="0"/>
                  </a:moveTo>
                  <a:lnTo>
                    <a:pt x="2495930" y="0"/>
                  </a:lnTo>
                </a:path>
              </a:pathLst>
            </a:custGeom>
            <a:ln w="9525">
              <a:solidFill>
                <a:srgbClr val="D9D9D9"/>
              </a:solidFill>
            </a:ln>
          </p:spPr>
          <p:txBody>
            <a:bodyPr wrap="square" lIns="0" tIns="0" rIns="0" bIns="0" rtlCol="0"/>
            <a:lstStyle/>
            <a:p>
              <a:endParaRPr sz="1600"/>
            </a:p>
          </p:txBody>
        </p:sp>
      </p:grpSp>
      <p:sp>
        <p:nvSpPr>
          <p:cNvPr id="56" name="object 60">
            <a:extLst>
              <a:ext uri="{FF2B5EF4-FFF2-40B4-BE49-F238E27FC236}">
                <a16:creationId xmlns:a16="http://schemas.microsoft.com/office/drawing/2014/main" id="{E1CE840D-913F-86F6-AC57-97861A81BE56}"/>
              </a:ext>
            </a:extLst>
          </p:cNvPr>
          <p:cNvSpPr txBox="1"/>
          <p:nvPr/>
        </p:nvSpPr>
        <p:spPr>
          <a:xfrm>
            <a:off x="6678520" y="3571438"/>
            <a:ext cx="124268" cy="89768"/>
          </a:xfrm>
          <a:prstGeom prst="rect">
            <a:avLst/>
          </a:prstGeom>
        </p:spPr>
        <p:txBody>
          <a:bodyPr vert="horz" wrap="square" lIns="0" tIns="12700" rIns="0" bIns="0" rtlCol="0">
            <a:spAutoFit/>
          </a:bodyPr>
          <a:lstStyle/>
          <a:p>
            <a:pPr marL="12700">
              <a:spcBef>
                <a:spcPts val="100"/>
              </a:spcBef>
            </a:pPr>
            <a:r>
              <a:rPr sz="500" spc="-25" dirty="0">
                <a:cs typeface="Arial"/>
              </a:rPr>
              <a:t>1.3</a:t>
            </a:r>
            <a:endParaRPr sz="500">
              <a:cs typeface="Arial"/>
            </a:endParaRPr>
          </a:p>
        </p:txBody>
      </p:sp>
      <p:sp>
        <p:nvSpPr>
          <p:cNvPr id="57" name="object 61">
            <a:extLst>
              <a:ext uri="{FF2B5EF4-FFF2-40B4-BE49-F238E27FC236}">
                <a16:creationId xmlns:a16="http://schemas.microsoft.com/office/drawing/2014/main" id="{A4443B12-1603-B53B-0669-C990C4FDABEA}"/>
              </a:ext>
            </a:extLst>
          </p:cNvPr>
          <p:cNvSpPr txBox="1"/>
          <p:nvPr/>
        </p:nvSpPr>
        <p:spPr>
          <a:xfrm>
            <a:off x="7172249" y="3675157"/>
            <a:ext cx="100371" cy="76944"/>
          </a:xfrm>
          <a:prstGeom prst="rect">
            <a:avLst/>
          </a:prstGeom>
        </p:spPr>
        <p:txBody>
          <a:bodyPr vert="horz" wrap="square" lIns="0" tIns="0" rIns="0" bIns="0" rtlCol="0">
            <a:spAutoFit/>
          </a:bodyPr>
          <a:lstStyle/>
          <a:p>
            <a:pPr>
              <a:lnSpc>
                <a:spcPts val="595"/>
              </a:lnSpc>
            </a:pPr>
            <a:r>
              <a:rPr sz="500" spc="-25" dirty="0">
                <a:cs typeface="Arial"/>
              </a:rPr>
              <a:t>0.0</a:t>
            </a:r>
            <a:endParaRPr sz="500">
              <a:cs typeface="Arial"/>
            </a:endParaRPr>
          </a:p>
        </p:txBody>
      </p:sp>
      <p:sp>
        <p:nvSpPr>
          <p:cNvPr id="58" name="object 62">
            <a:extLst>
              <a:ext uri="{FF2B5EF4-FFF2-40B4-BE49-F238E27FC236}">
                <a16:creationId xmlns:a16="http://schemas.microsoft.com/office/drawing/2014/main" id="{BEACBB33-D4AA-5642-B0C7-7F8C42F3FCA6}"/>
              </a:ext>
            </a:extLst>
          </p:cNvPr>
          <p:cNvSpPr txBox="1"/>
          <p:nvPr/>
        </p:nvSpPr>
        <p:spPr>
          <a:xfrm>
            <a:off x="7630010" y="3375237"/>
            <a:ext cx="124268" cy="89768"/>
          </a:xfrm>
          <a:prstGeom prst="rect">
            <a:avLst/>
          </a:prstGeom>
        </p:spPr>
        <p:txBody>
          <a:bodyPr vert="horz" wrap="square" lIns="0" tIns="12700" rIns="0" bIns="0" rtlCol="0">
            <a:spAutoFit/>
          </a:bodyPr>
          <a:lstStyle/>
          <a:p>
            <a:pPr marL="12700">
              <a:spcBef>
                <a:spcPts val="100"/>
              </a:spcBef>
            </a:pPr>
            <a:r>
              <a:rPr sz="500" spc="-25" dirty="0">
                <a:cs typeface="Arial"/>
              </a:rPr>
              <a:t>5.3</a:t>
            </a:r>
            <a:endParaRPr sz="500">
              <a:cs typeface="Arial"/>
            </a:endParaRPr>
          </a:p>
        </p:txBody>
      </p:sp>
      <p:sp>
        <p:nvSpPr>
          <p:cNvPr id="59" name="object 63">
            <a:extLst>
              <a:ext uri="{FF2B5EF4-FFF2-40B4-BE49-F238E27FC236}">
                <a16:creationId xmlns:a16="http://schemas.microsoft.com/office/drawing/2014/main" id="{FD819197-27FF-BF76-CEA4-E4F0AA66F589}"/>
              </a:ext>
            </a:extLst>
          </p:cNvPr>
          <p:cNvSpPr txBox="1"/>
          <p:nvPr/>
        </p:nvSpPr>
        <p:spPr>
          <a:xfrm>
            <a:off x="8099720" y="3474174"/>
            <a:ext cx="124268" cy="89768"/>
          </a:xfrm>
          <a:prstGeom prst="rect">
            <a:avLst/>
          </a:prstGeom>
        </p:spPr>
        <p:txBody>
          <a:bodyPr vert="horz" wrap="square" lIns="0" tIns="12700" rIns="0" bIns="0" rtlCol="0">
            <a:spAutoFit/>
          </a:bodyPr>
          <a:lstStyle/>
          <a:p>
            <a:pPr marL="12700">
              <a:spcBef>
                <a:spcPts val="100"/>
              </a:spcBef>
            </a:pPr>
            <a:r>
              <a:rPr sz="500" spc="-25" dirty="0">
                <a:cs typeface="Arial"/>
              </a:rPr>
              <a:t>2.4</a:t>
            </a:r>
            <a:endParaRPr sz="500">
              <a:cs typeface="Arial"/>
            </a:endParaRPr>
          </a:p>
        </p:txBody>
      </p:sp>
      <p:sp>
        <p:nvSpPr>
          <p:cNvPr id="60" name="object 64">
            <a:extLst>
              <a:ext uri="{FF2B5EF4-FFF2-40B4-BE49-F238E27FC236}">
                <a16:creationId xmlns:a16="http://schemas.microsoft.com/office/drawing/2014/main" id="{2FE68B94-BB9A-91AF-B447-FBDE9BD4F802}"/>
              </a:ext>
            </a:extLst>
          </p:cNvPr>
          <p:cNvSpPr txBox="1"/>
          <p:nvPr/>
        </p:nvSpPr>
        <p:spPr>
          <a:xfrm>
            <a:off x="8557482" y="3485167"/>
            <a:ext cx="124268" cy="89768"/>
          </a:xfrm>
          <a:prstGeom prst="rect">
            <a:avLst/>
          </a:prstGeom>
        </p:spPr>
        <p:txBody>
          <a:bodyPr vert="horz" wrap="square" lIns="0" tIns="12700" rIns="0" bIns="0" rtlCol="0">
            <a:spAutoFit/>
          </a:bodyPr>
          <a:lstStyle/>
          <a:p>
            <a:pPr marL="12700">
              <a:spcBef>
                <a:spcPts val="100"/>
              </a:spcBef>
            </a:pPr>
            <a:r>
              <a:rPr sz="500" spc="-25" dirty="0">
                <a:cs typeface="Arial"/>
              </a:rPr>
              <a:t>3.6</a:t>
            </a:r>
            <a:endParaRPr sz="500">
              <a:cs typeface="Arial"/>
            </a:endParaRPr>
          </a:p>
        </p:txBody>
      </p:sp>
      <p:sp>
        <p:nvSpPr>
          <p:cNvPr id="61" name="object 65">
            <a:extLst>
              <a:ext uri="{FF2B5EF4-FFF2-40B4-BE49-F238E27FC236}">
                <a16:creationId xmlns:a16="http://schemas.microsoft.com/office/drawing/2014/main" id="{864D6690-FD82-8873-E914-D8AEC4F2E70A}"/>
              </a:ext>
            </a:extLst>
          </p:cNvPr>
          <p:cNvSpPr txBox="1"/>
          <p:nvPr/>
        </p:nvSpPr>
        <p:spPr>
          <a:xfrm>
            <a:off x="6541707" y="3751907"/>
            <a:ext cx="2227271" cy="538609"/>
          </a:xfrm>
          <a:prstGeom prst="rect">
            <a:avLst/>
          </a:prstGeom>
        </p:spPr>
        <p:txBody>
          <a:bodyPr vert="horz" wrap="square" lIns="0" tIns="60960" rIns="0" bIns="0" rtlCol="0">
            <a:spAutoFit/>
          </a:bodyPr>
          <a:lstStyle/>
          <a:p>
            <a:pPr marL="65405">
              <a:spcBef>
                <a:spcPts val="480"/>
              </a:spcBef>
              <a:tabLst>
                <a:tab pos="564515" algn="l"/>
                <a:tab pos="1063625" algn="l"/>
                <a:tab pos="1562735" algn="l"/>
                <a:tab pos="2061845" algn="l"/>
              </a:tabLst>
            </a:pPr>
            <a:r>
              <a:rPr sz="500" dirty="0">
                <a:cs typeface="Arial"/>
              </a:rPr>
              <a:t>2025</a:t>
            </a:r>
            <a:r>
              <a:rPr sz="500" spc="-30" dirty="0">
                <a:cs typeface="Arial"/>
              </a:rPr>
              <a:t> </a:t>
            </a:r>
            <a:r>
              <a:rPr sz="500" spc="-25" dirty="0">
                <a:cs typeface="Arial"/>
              </a:rPr>
              <a:t>Q1</a:t>
            </a:r>
            <a:r>
              <a:rPr sz="500" dirty="0">
                <a:cs typeface="Arial"/>
              </a:rPr>
              <a:t>	2025</a:t>
            </a:r>
            <a:r>
              <a:rPr sz="500" spc="-30" dirty="0">
                <a:cs typeface="Arial"/>
              </a:rPr>
              <a:t> </a:t>
            </a:r>
            <a:r>
              <a:rPr sz="500" spc="-25" dirty="0">
                <a:cs typeface="Arial"/>
              </a:rPr>
              <a:t>Q2</a:t>
            </a:r>
            <a:r>
              <a:rPr sz="500" dirty="0">
                <a:cs typeface="Arial"/>
              </a:rPr>
              <a:t>	2025</a:t>
            </a:r>
            <a:r>
              <a:rPr sz="500" spc="-30" dirty="0">
                <a:cs typeface="Arial"/>
              </a:rPr>
              <a:t> </a:t>
            </a:r>
            <a:r>
              <a:rPr sz="500" spc="-25" dirty="0">
                <a:cs typeface="Arial"/>
              </a:rPr>
              <a:t>Q3</a:t>
            </a:r>
            <a:r>
              <a:rPr sz="500" dirty="0">
                <a:cs typeface="Arial"/>
              </a:rPr>
              <a:t>	2025</a:t>
            </a:r>
            <a:r>
              <a:rPr sz="500" spc="-30" dirty="0">
                <a:cs typeface="Arial"/>
              </a:rPr>
              <a:t> </a:t>
            </a:r>
            <a:r>
              <a:rPr sz="500" spc="-25" dirty="0">
                <a:cs typeface="Arial"/>
              </a:rPr>
              <a:t>Q4</a:t>
            </a:r>
            <a:r>
              <a:rPr sz="500" dirty="0">
                <a:cs typeface="Arial"/>
              </a:rPr>
              <a:t>	2026</a:t>
            </a:r>
            <a:r>
              <a:rPr sz="500" spc="-30" dirty="0">
                <a:cs typeface="Arial"/>
              </a:rPr>
              <a:t> </a:t>
            </a:r>
            <a:r>
              <a:rPr sz="500" spc="-25" dirty="0">
                <a:cs typeface="Arial"/>
              </a:rPr>
              <a:t>Q1</a:t>
            </a:r>
            <a:endParaRPr sz="500" dirty="0">
              <a:cs typeface="Arial"/>
            </a:endParaRPr>
          </a:p>
          <a:p>
            <a:pPr marL="12700" marR="227329">
              <a:spcBef>
                <a:spcPts val="570"/>
              </a:spcBef>
            </a:pPr>
            <a:r>
              <a:rPr sz="800" dirty="0">
                <a:solidFill>
                  <a:srgbClr val="41748D"/>
                </a:solidFill>
                <a:cs typeface="Arial"/>
              </a:rPr>
              <a:t>Both</a:t>
            </a:r>
            <a:r>
              <a:rPr sz="800" spc="-15" dirty="0">
                <a:solidFill>
                  <a:srgbClr val="41748D"/>
                </a:solidFill>
                <a:cs typeface="Arial"/>
              </a:rPr>
              <a:t> </a:t>
            </a:r>
            <a:r>
              <a:rPr sz="800" dirty="0">
                <a:solidFill>
                  <a:srgbClr val="41748D"/>
                </a:solidFill>
                <a:cs typeface="Arial"/>
              </a:rPr>
              <a:t>First</a:t>
            </a:r>
            <a:r>
              <a:rPr sz="800" spc="-25" dirty="0">
                <a:solidFill>
                  <a:srgbClr val="41748D"/>
                </a:solidFill>
                <a:cs typeface="Arial"/>
              </a:rPr>
              <a:t> </a:t>
            </a:r>
            <a:r>
              <a:rPr sz="800" dirty="0">
                <a:solidFill>
                  <a:srgbClr val="41748D"/>
                </a:solidFill>
                <a:cs typeface="Arial"/>
              </a:rPr>
              <a:t>Time</a:t>
            </a:r>
            <a:r>
              <a:rPr sz="800" spc="-20" dirty="0">
                <a:solidFill>
                  <a:srgbClr val="41748D"/>
                </a:solidFill>
                <a:cs typeface="Arial"/>
              </a:rPr>
              <a:t> </a:t>
            </a:r>
            <a:r>
              <a:rPr sz="800" dirty="0">
                <a:solidFill>
                  <a:srgbClr val="41748D"/>
                </a:solidFill>
                <a:cs typeface="Arial"/>
              </a:rPr>
              <a:t>and</a:t>
            </a:r>
            <a:r>
              <a:rPr sz="800" spc="-20" dirty="0">
                <a:solidFill>
                  <a:srgbClr val="41748D"/>
                </a:solidFill>
                <a:cs typeface="Arial"/>
              </a:rPr>
              <a:t> </a:t>
            </a:r>
            <a:r>
              <a:rPr sz="800" dirty="0">
                <a:solidFill>
                  <a:srgbClr val="41748D"/>
                </a:solidFill>
                <a:cs typeface="Arial"/>
              </a:rPr>
              <a:t>Repeat</a:t>
            </a:r>
            <a:r>
              <a:rPr sz="800" spc="-25" dirty="0">
                <a:solidFill>
                  <a:srgbClr val="41748D"/>
                </a:solidFill>
                <a:cs typeface="Arial"/>
              </a:rPr>
              <a:t> </a:t>
            </a:r>
            <a:r>
              <a:rPr sz="800" dirty="0">
                <a:solidFill>
                  <a:srgbClr val="41748D"/>
                </a:solidFill>
                <a:cs typeface="Arial"/>
              </a:rPr>
              <a:t>Issuers</a:t>
            </a:r>
            <a:r>
              <a:rPr sz="800" spc="-30" dirty="0">
                <a:solidFill>
                  <a:srgbClr val="41748D"/>
                </a:solidFill>
                <a:cs typeface="Arial"/>
              </a:rPr>
              <a:t> </a:t>
            </a:r>
            <a:r>
              <a:rPr sz="800" spc="-25" dirty="0">
                <a:solidFill>
                  <a:srgbClr val="41748D"/>
                </a:solidFill>
                <a:cs typeface="Arial"/>
              </a:rPr>
              <a:t>are </a:t>
            </a:r>
            <a:r>
              <a:rPr sz="800" dirty="0">
                <a:solidFill>
                  <a:srgbClr val="41748D"/>
                </a:solidFill>
                <a:cs typeface="Arial"/>
              </a:rPr>
              <a:t>Active</a:t>
            </a:r>
            <a:r>
              <a:rPr sz="800" spc="-15" dirty="0">
                <a:solidFill>
                  <a:srgbClr val="41748D"/>
                </a:solidFill>
                <a:cs typeface="Arial"/>
              </a:rPr>
              <a:t> </a:t>
            </a:r>
            <a:r>
              <a:rPr sz="800" dirty="0">
                <a:solidFill>
                  <a:srgbClr val="41748D"/>
                </a:solidFill>
                <a:cs typeface="Arial"/>
              </a:rPr>
              <a:t>in</a:t>
            </a:r>
            <a:r>
              <a:rPr sz="800" spc="-25" dirty="0">
                <a:solidFill>
                  <a:srgbClr val="41748D"/>
                </a:solidFill>
                <a:cs typeface="Arial"/>
              </a:rPr>
              <a:t> </a:t>
            </a:r>
            <a:r>
              <a:rPr sz="800" spc="-10" dirty="0">
                <a:solidFill>
                  <a:srgbClr val="41748D"/>
                </a:solidFill>
                <a:cs typeface="Arial"/>
              </a:rPr>
              <a:t>Refinancing</a:t>
            </a:r>
            <a:endParaRPr sz="800" dirty="0">
              <a:cs typeface="Arial"/>
            </a:endParaRPr>
          </a:p>
        </p:txBody>
      </p:sp>
      <p:grpSp>
        <p:nvGrpSpPr>
          <p:cNvPr id="62" name="object 66">
            <a:extLst>
              <a:ext uri="{FF2B5EF4-FFF2-40B4-BE49-F238E27FC236}">
                <a16:creationId xmlns:a16="http://schemas.microsoft.com/office/drawing/2014/main" id="{828F4579-E8B2-904E-5AC2-11F24313D76F}"/>
              </a:ext>
            </a:extLst>
          </p:cNvPr>
          <p:cNvGrpSpPr/>
          <p:nvPr/>
        </p:nvGrpSpPr>
        <p:grpSpPr>
          <a:xfrm>
            <a:off x="3835046" y="3594857"/>
            <a:ext cx="2348552" cy="381828"/>
            <a:chOff x="3523488" y="3059871"/>
            <a:chExt cx="2496185" cy="381828"/>
          </a:xfrm>
        </p:grpSpPr>
        <p:sp>
          <p:nvSpPr>
            <p:cNvPr id="63" name="object 67">
              <a:extLst>
                <a:ext uri="{FF2B5EF4-FFF2-40B4-BE49-F238E27FC236}">
                  <a16:creationId xmlns:a16="http://schemas.microsoft.com/office/drawing/2014/main" id="{DDF5760A-7137-B328-6AB9-E416B2873409}"/>
                </a:ext>
              </a:extLst>
            </p:cNvPr>
            <p:cNvSpPr/>
            <p:nvPr/>
          </p:nvSpPr>
          <p:spPr>
            <a:xfrm>
              <a:off x="3616452" y="3059871"/>
              <a:ext cx="2308860" cy="178636"/>
            </a:xfrm>
            <a:custGeom>
              <a:avLst/>
              <a:gdLst/>
              <a:ahLst/>
              <a:cxnLst/>
              <a:rect l="l" t="t" r="r" b="b"/>
              <a:pathLst>
                <a:path w="2308860" h="189864">
                  <a:moveTo>
                    <a:pt x="312420" y="153924"/>
                  </a:moveTo>
                  <a:lnTo>
                    <a:pt x="0" y="153924"/>
                  </a:lnTo>
                  <a:lnTo>
                    <a:pt x="0" y="189484"/>
                  </a:lnTo>
                  <a:lnTo>
                    <a:pt x="312420" y="189484"/>
                  </a:lnTo>
                  <a:lnTo>
                    <a:pt x="312420" y="153924"/>
                  </a:lnTo>
                  <a:close/>
                </a:path>
                <a:path w="2308860" h="189864">
                  <a:moveTo>
                    <a:pt x="812292" y="96012"/>
                  </a:moveTo>
                  <a:lnTo>
                    <a:pt x="499872" y="96012"/>
                  </a:lnTo>
                  <a:lnTo>
                    <a:pt x="499872" y="189484"/>
                  </a:lnTo>
                  <a:lnTo>
                    <a:pt x="812292" y="189484"/>
                  </a:lnTo>
                  <a:lnTo>
                    <a:pt x="812292" y="96012"/>
                  </a:lnTo>
                  <a:close/>
                </a:path>
                <a:path w="2308860" h="189864">
                  <a:moveTo>
                    <a:pt x="1310640" y="173736"/>
                  </a:moveTo>
                  <a:lnTo>
                    <a:pt x="999744" y="173736"/>
                  </a:lnTo>
                  <a:lnTo>
                    <a:pt x="999744" y="189484"/>
                  </a:lnTo>
                  <a:lnTo>
                    <a:pt x="1310640" y="189484"/>
                  </a:lnTo>
                  <a:lnTo>
                    <a:pt x="1310640" y="173736"/>
                  </a:lnTo>
                  <a:close/>
                </a:path>
                <a:path w="2308860" h="189864">
                  <a:moveTo>
                    <a:pt x="1810512" y="153924"/>
                  </a:moveTo>
                  <a:lnTo>
                    <a:pt x="1498092" y="153924"/>
                  </a:lnTo>
                  <a:lnTo>
                    <a:pt x="1498092" y="189484"/>
                  </a:lnTo>
                  <a:lnTo>
                    <a:pt x="1810512" y="189484"/>
                  </a:lnTo>
                  <a:lnTo>
                    <a:pt x="1810512" y="153924"/>
                  </a:lnTo>
                  <a:close/>
                </a:path>
                <a:path w="2308860" h="189864">
                  <a:moveTo>
                    <a:pt x="2308860" y="0"/>
                  </a:moveTo>
                  <a:lnTo>
                    <a:pt x="1997964" y="0"/>
                  </a:lnTo>
                  <a:lnTo>
                    <a:pt x="1997964" y="189484"/>
                  </a:lnTo>
                  <a:lnTo>
                    <a:pt x="2308860" y="189484"/>
                  </a:lnTo>
                  <a:lnTo>
                    <a:pt x="2308860" y="0"/>
                  </a:lnTo>
                  <a:close/>
                </a:path>
              </a:pathLst>
            </a:custGeom>
            <a:solidFill>
              <a:srgbClr val="FFB81C"/>
            </a:solidFill>
          </p:spPr>
          <p:txBody>
            <a:bodyPr wrap="square" lIns="0" tIns="0" rIns="0" bIns="0" rtlCol="0"/>
            <a:lstStyle/>
            <a:p>
              <a:endParaRPr sz="1600"/>
            </a:p>
          </p:txBody>
        </p:sp>
        <p:sp>
          <p:nvSpPr>
            <p:cNvPr id="64" name="object 68">
              <a:extLst>
                <a:ext uri="{FF2B5EF4-FFF2-40B4-BE49-F238E27FC236}">
                  <a16:creationId xmlns:a16="http://schemas.microsoft.com/office/drawing/2014/main" id="{B2BC3ADC-EC2E-D4F9-EF23-688C493432D3}"/>
                </a:ext>
              </a:extLst>
            </p:cNvPr>
            <p:cNvSpPr/>
            <p:nvPr/>
          </p:nvSpPr>
          <p:spPr>
            <a:xfrm>
              <a:off x="3523488" y="3441699"/>
              <a:ext cx="2496185" cy="0"/>
            </a:xfrm>
            <a:custGeom>
              <a:avLst/>
              <a:gdLst/>
              <a:ahLst/>
              <a:cxnLst/>
              <a:rect l="l" t="t" r="r" b="b"/>
              <a:pathLst>
                <a:path w="2496185">
                  <a:moveTo>
                    <a:pt x="0" y="0"/>
                  </a:moveTo>
                  <a:lnTo>
                    <a:pt x="2495931" y="0"/>
                  </a:lnTo>
                </a:path>
              </a:pathLst>
            </a:custGeom>
            <a:ln w="9525">
              <a:solidFill>
                <a:srgbClr val="D9D9D9"/>
              </a:solidFill>
            </a:ln>
          </p:spPr>
          <p:txBody>
            <a:bodyPr wrap="square" lIns="0" tIns="0" rIns="0" bIns="0" rtlCol="0"/>
            <a:lstStyle/>
            <a:p>
              <a:endParaRPr sz="1600"/>
            </a:p>
          </p:txBody>
        </p:sp>
      </p:grpSp>
      <p:sp>
        <p:nvSpPr>
          <p:cNvPr id="65" name="object 69">
            <a:extLst>
              <a:ext uri="{FF2B5EF4-FFF2-40B4-BE49-F238E27FC236}">
                <a16:creationId xmlns:a16="http://schemas.microsoft.com/office/drawing/2014/main" id="{2724F5C5-C738-7992-AFA3-5A9EDE0743EF}"/>
              </a:ext>
            </a:extLst>
          </p:cNvPr>
          <p:cNvSpPr txBox="1"/>
          <p:nvPr/>
        </p:nvSpPr>
        <p:spPr>
          <a:xfrm>
            <a:off x="4008305" y="3621624"/>
            <a:ext cx="124268" cy="89768"/>
          </a:xfrm>
          <a:prstGeom prst="rect">
            <a:avLst/>
          </a:prstGeom>
        </p:spPr>
        <p:txBody>
          <a:bodyPr vert="horz" wrap="square" lIns="0" tIns="12700" rIns="0" bIns="0" rtlCol="0">
            <a:spAutoFit/>
          </a:bodyPr>
          <a:lstStyle/>
          <a:p>
            <a:pPr marL="12700">
              <a:spcBef>
                <a:spcPts val="100"/>
              </a:spcBef>
            </a:pPr>
            <a:r>
              <a:rPr sz="500" spc="-25" dirty="0">
                <a:cs typeface="Arial"/>
              </a:rPr>
              <a:t>0.6</a:t>
            </a:r>
            <a:endParaRPr sz="500">
              <a:cs typeface="Arial"/>
            </a:endParaRPr>
          </a:p>
        </p:txBody>
      </p:sp>
      <p:sp>
        <p:nvSpPr>
          <p:cNvPr id="66" name="object 70">
            <a:extLst>
              <a:ext uri="{FF2B5EF4-FFF2-40B4-BE49-F238E27FC236}">
                <a16:creationId xmlns:a16="http://schemas.microsoft.com/office/drawing/2014/main" id="{B1B74078-E6D2-0B01-9282-6FCC02040C88}"/>
              </a:ext>
            </a:extLst>
          </p:cNvPr>
          <p:cNvSpPr txBox="1"/>
          <p:nvPr/>
        </p:nvSpPr>
        <p:spPr>
          <a:xfrm>
            <a:off x="4471444" y="3554231"/>
            <a:ext cx="124268" cy="89768"/>
          </a:xfrm>
          <a:prstGeom prst="rect">
            <a:avLst/>
          </a:prstGeom>
        </p:spPr>
        <p:txBody>
          <a:bodyPr vert="horz" wrap="square" lIns="0" tIns="12700" rIns="0" bIns="0" rtlCol="0">
            <a:spAutoFit/>
          </a:bodyPr>
          <a:lstStyle/>
          <a:p>
            <a:pPr marL="12700">
              <a:spcBef>
                <a:spcPts val="100"/>
              </a:spcBef>
            </a:pPr>
            <a:r>
              <a:rPr sz="500" spc="-25" dirty="0">
                <a:cs typeface="Arial"/>
              </a:rPr>
              <a:t>1.5</a:t>
            </a:r>
            <a:endParaRPr sz="500">
              <a:cs typeface="Arial"/>
            </a:endParaRPr>
          </a:p>
        </p:txBody>
      </p:sp>
      <p:sp>
        <p:nvSpPr>
          <p:cNvPr id="67" name="object 71">
            <a:extLst>
              <a:ext uri="{FF2B5EF4-FFF2-40B4-BE49-F238E27FC236}">
                <a16:creationId xmlns:a16="http://schemas.microsoft.com/office/drawing/2014/main" id="{305B4BD9-35E6-1456-511A-51FB4534B7B4}"/>
              </a:ext>
            </a:extLst>
          </p:cNvPr>
          <p:cNvSpPr txBox="1"/>
          <p:nvPr/>
        </p:nvSpPr>
        <p:spPr>
          <a:xfrm>
            <a:off x="4947846" y="3621624"/>
            <a:ext cx="124268" cy="89768"/>
          </a:xfrm>
          <a:prstGeom prst="rect">
            <a:avLst/>
          </a:prstGeom>
        </p:spPr>
        <p:txBody>
          <a:bodyPr vert="horz" wrap="square" lIns="0" tIns="12700" rIns="0" bIns="0" rtlCol="0">
            <a:spAutoFit/>
          </a:bodyPr>
          <a:lstStyle/>
          <a:p>
            <a:pPr marL="12700">
              <a:spcBef>
                <a:spcPts val="100"/>
              </a:spcBef>
            </a:pPr>
            <a:r>
              <a:rPr sz="500" spc="-25" dirty="0">
                <a:cs typeface="Arial"/>
              </a:rPr>
              <a:t>0.3</a:t>
            </a:r>
            <a:endParaRPr sz="500">
              <a:cs typeface="Arial"/>
            </a:endParaRPr>
          </a:p>
        </p:txBody>
      </p:sp>
      <p:sp>
        <p:nvSpPr>
          <p:cNvPr id="68" name="object 72">
            <a:extLst>
              <a:ext uri="{FF2B5EF4-FFF2-40B4-BE49-F238E27FC236}">
                <a16:creationId xmlns:a16="http://schemas.microsoft.com/office/drawing/2014/main" id="{6833C6AE-C670-6905-A54F-B6EFA294A969}"/>
              </a:ext>
            </a:extLst>
          </p:cNvPr>
          <p:cNvSpPr txBox="1"/>
          <p:nvPr/>
        </p:nvSpPr>
        <p:spPr>
          <a:xfrm>
            <a:off x="5417556" y="3621624"/>
            <a:ext cx="124268" cy="89768"/>
          </a:xfrm>
          <a:prstGeom prst="rect">
            <a:avLst/>
          </a:prstGeom>
        </p:spPr>
        <p:txBody>
          <a:bodyPr vert="horz" wrap="square" lIns="0" tIns="12700" rIns="0" bIns="0" rtlCol="0">
            <a:spAutoFit/>
          </a:bodyPr>
          <a:lstStyle/>
          <a:p>
            <a:pPr marL="12700">
              <a:spcBef>
                <a:spcPts val="100"/>
              </a:spcBef>
            </a:pPr>
            <a:r>
              <a:rPr sz="500" spc="-25" dirty="0">
                <a:cs typeface="Arial"/>
              </a:rPr>
              <a:t>0.6</a:t>
            </a:r>
            <a:endParaRPr sz="500">
              <a:cs typeface="Arial"/>
            </a:endParaRPr>
          </a:p>
        </p:txBody>
      </p:sp>
      <p:sp>
        <p:nvSpPr>
          <p:cNvPr id="69" name="object 73">
            <a:extLst>
              <a:ext uri="{FF2B5EF4-FFF2-40B4-BE49-F238E27FC236}">
                <a16:creationId xmlns:a16="http://schemas.microsoft.com/office/drawing/2014/main" id="{78457517-DC56-F3F4-8652-E382130CB19C}"/>
              </a:ext>
            </a:extLst>
          </p:cNvPr>
          <p:cNvSpPr txBox="1"/>
          <p:nvPr/>
        </p:nvSpPr>
        <p:spPr>
          <a:xfrm>
            <a:off x="5875197" y="3446452"/>
            <a:ext cx="124268" cy="89768"/>
          </a:xfrm>
          <a:prstGeom prst="rect">
            <a:avLst/>
          </a:prstGeom>
        </p:spPr>
        <p:txBody>
          <a:bodyPr vert="horz" wrap="square" lIns="0" tIns="12700" rIns="0" bIns="0" rtlCol="0">
            <a:spAutoFit/>
          </a:bodyPr>
          <a:lstStyle/>
          <a:p>
            <a:pPr marL="12700">
              <a:spcBef>
                <a:spcPts val="100"/>
              </a:spcBef>
            </a:pPr>
            <a:r>
              <a:rPr sz="500" spc="-25" dirty="0">
                <a:cs typeface="Arial"/>
              </a:rPr>
              <a:t>3.0</a:t>
            </a:r>
            <a:endParaRPr sz="500">
              <a:cs typeface="Arial"/>
            </a:endParaRPr>
          </a:p>
        </p:txBody>
      </p:sp>
      <p:sp>
        <p:nvSpPr>
          <p:cNvPr id="70" name="object 74">
            <a:extLst>
              <a:ext uri="{FF2B5EF4-FFF2-40B4-BE49-F238E27FC236}">
                <a16:creationId xmlns:a16="http://schemas.microsoft.com/office/drawing/2014/main" id="{C2AEB538-4CE8-A557-4D9F-DE56C57AE3C3}"/>
              </a:ext>
            </a:extLst>
          </p:cNvPr>
          <p:cNvSpPr txBox="1"/>
          <p:nvPr/>
        </p:nvSpPr>
        <p:spPr>
          <a:xfrm>
            <a:off x="3757976" y="3798229"/>
            <a:ext cx="1509741" cy="341119"/>
          </a:xfrm>
          <a:prstGeom prst="rect">
            <a:avLst/>
          </a:prstGeom>
        </p:spPr>
        <p:txBody>
          <a:bodyPr vert="horz" wrap="square" lIns="0" tIns="12700" rIns="0" bIns="0" rtlCol="0">
            <a:spAutoFit/>
          </a:bodyPr>
          <a:lstStyle/>
          <a:p>
            <a:pPr marL="186055">
              <a:spcBef>
                <a:spcPts val="100"/>
              </a:spcBef>
              <a:tabLst>
                <a:tab pos="685165" algn="l"/>
                <a:tab pos="1184275" algn="l"/>
              </a:tabLst>
            </a:pPr>
            <a:r>
              <a:rPr sz="500" dirty="0">
                <a:cs typeface="Arial"/>
              </a:rPr>
              <a:t>2022</a:t>
            </a:r>
            <a:r>
              <a:rPr sz="500" spc="-30" dirty="0">
                <a:cs typeface="Arial"/>
              </a:rPr>
              <a:t> </a:t>
            </a:r>
            <a:r>
              <a:rPr sz="500" spc="-25" dirty="0">
                <a:cs typeface="Arial"/>
              </a:rPr>
              <a:t>Q1</a:t>
            </a:r>
            <a:r>
              <a:rPr sz="500" dirty="0">
                <a:cs typeface="Arial"/>
              </a:rPr>
              <a:t>	2023</a:t>
            </a:r>
            <a:r>
              <a:rPr sz="500" spc="-30" dirty="0">
                <a:cs typeface="Arial"/>
              </a:rPr>
              <a:t> </a:t>
            </a:r>
            <a:r>
              <a:rPr sz="500" spc="-25" dirty="0">
                <a:cs typeface="Arial"/>
              </a:rPr>
              <a:t>Q1</a:t>
            </a:r>
            <a:r>
              <a:rPr sz="500" dirty="0">
                <a:cs typeface="Arial"/>
              </a:rPr>
              <a:t>	2024</a:t>
            </a:r>
            <a:r>
              <a:rPr sz="500" spc="-30" dirty="0">
                <a:cs typeface="Arial"/>
              </a:rPr>
              <a:t> </a:t>
            </a:r>
            <a:r>
              <a:rPr sz="500" spc="-25" dirty="0">
                <a:cs typeface="Arial"/>
              </a:rPr>
              <a:t>Q1</a:t>
            </a:r>
            <a:endParaRPr sz="500">
              <a:cs typeface="Arial"/>
            </a:endParaRPr>
          </a:p>
          <a:p>
            <a:pPr>
              <a:spcBef>
                <a:spcPts val="365"/>
              </a:spcBef>
            </a:pPr>
            <a:endParaRPr sz="500">
              <a:cs typeface="Arial"/>
            </a:endParaRPr>
          </a:p>
          <a:p>
            <a:pPr marL="12700">
              <a:spcBef>
                <a:spcPts val="5"/>
              </a:spcBef>
            </a:pPr>
            <a:r>
              <a:rPr sz="800" dirty="0">
                <a:solidFill>
                  <a:srgbClr val="FFFFFF"/>
                </a:solidFill>
                <a:cs typeface="Arial"/>
              </a:rPr>
              <a:t>2</a:t>
            </a:r>
            <a:r>
              <a:rPr sz="800" spc="140" dirty="0">
                <a:solidFill>
                  <a:srgbClr val="FFFFFF"/>
                </a:solidFill>
                <a:cs typeface="Arial"/>
              </a:rPr>
              <a:t>  </a:t>
            </a:r>
            <a:r>
              <a:rPr sz="1200" baseline="3086" dirty="0">
                <a:solidFill>
                  <a:srgbClr val="8D6000"/>
                </a:solidFill>
                <a:cs typeface="Arial"/>
              </a:rPr>
              <a:t>Slew of</a:t>
            </a:r>
            <a:r>
              <a:rPr sz="1200" spc="-22" baseline="3086" dirty="0">
                <a:solidFill>
                  <a:srgbClr val="8D6000"/>
                </a:solidFill>
                <a:cs typeface="Arial"/>
              </a:rPr>
              <a:t> </a:t>
            </a:r>
            <a:r>
              <a:rPr sz="1200" baseline="3086" dirty="0">
                <a:solidFill>
                  <a:srgbClr val="8D6000"/>
                </a:solidFill>
                <a:cs typeface="Arial"/>
              </a:rPr>
              <a:t>Follow-on</a:t>
            </a:r>
            <a:r>
              <a:rPr sz="1200" spc="-52" baseline="3086" dirty="0">
                <a:solidFill>
                  <a:srgbClr val="8D6000"/>
                </a:solidFill>
                <a:cs typeface="Arial"/>
              </a:rPr>
              <a:t> </a:t>
            </a:r>
            <a:r>
              <a:rPr sz="1200" spc="-15" baseline="3086" dirty="0">
                <a:solidFill>
                  <a:srgbClr val="8D6000"/>
                </a:solidFill>
                <a:cs typeface="Arial"/>
              </a:rPr>
              <a:t>Activity</a:t>
            </a:r>
            <a:endParaRPr sz="1200" baseline="3086">
              <a:cs typeface="Arial"/>
            </a:endParaRPr>
          </a:p>
        </p:txBody>
      </p:sp>
      <p:sp>
        <p:nvSpPr>
          <p:cNvPr id="71" name="object 75">
            <a:extLst>
              <a:ext uri="{FF2B5EF4-FFF2-40B4-BE49-F238E27FC236}">
                <a16:creationId xmlns:a16="http://schemas.microsoft.com/office/drawing/2014/main" id="{98B3A92F-3001-2E1D-565B-D6A8B9741050}"/>
              </a:ext>
            </a:extLst>
          </p:cNvPr>
          <p:cNvSpPr txBox="1"/>
          <p:nvPr/>
        </p:nvSpPr>
        <p:spPr>
          <a:xfrm>
            <a:off x="5330328" y="3798228"/>
            <a:ext cx="298722" cy="89768"/>
          </a:xfrm>
          <a:prstGeom prst="rect">
            <a:avLst/>
          </a:prstGeom>
        </p:spPr>
        <p:txBody>
          <a:bodyPr vert="horz" wrap="square" lIns="0" tIns="12700" rIns="0" bIns="0" rtlCol="0">
            <a:spAutoFit/>
          </a:bodyPr>
          <a:lstStyle/>
          <a:p>
            <a:pPr marL="12700">
              <a:spcBef>
                <a:spcPts val="100"/>
              </a:spcBef>
            </a:pPr>
            <a:r>
              <a:rPr sz="500" dirty="0">
                <a:cs typeface="Arial"/>
              </a:rPr>
              <a:t>2025</a:t>
            </a:r>
            <a:r>
              <a:rPr sz="500" spc="-30" dirty="0">
                <a:cs typeface="Arial"/>
              </a:rPr>
              <a:t> </a:t>
            </a:r>
            <a:r>
              <a:rPr sz="500" spc="-25" dirty="0">
                <a:cs typeface="Arial"/>
              </a:rPr>
              <a:t>Q1</a:t>
            </a:r>
            <a:endParaRPr sz="500">
              <a:cs typeface="Arial"/>
            </a:endParaRPr>
          </a:p>
        </p:txBody>
      </p:sp>
      <p:sp>
        <p:nvSpPr>
          <p:cNvPr id="72" name="object 76">
            <a:extLst>
              <a:ext uri="{FF2B5EF4-FFF2-40B4-BE49-F238E27FC236}">
                <a16:creationId xmlns:a16="http://schemas.microsoft.com/office/drawing/2014/main" id="{A30ED904-FB47-4EE9-B660-BCFF762D463C}"/>
              </a:ext>
            </a:extLst>
          </p:cNvPr>
          <p:cNvSpPr txBox="1"/>
          <p:nvPr/>
        </p:nvSpPr>
        <p:spPr>
          <a:xfrm>
            <a:off x="5800158" y="3798228"/>
            <a:ext cx="298722" cy="89768"/>
          </a:xfrm>
          <a:prstGeom prst="rect">
            <a:avLst/>
          </a:prstGeom>
        </p:spPr>
        <p:txBody>
          <a:bodyPr vert="horz" wrap="square" lIns="0" tIns="12700" rIns="0" bIns="0" rtlCol="0">
            <a:spAutoFit/>
          </a:bodyPr>
          <a:lstStyle/>
          <a:p>
            <a:pPr marL="12700">
              <a:spcBef>
                <a:spcPts val="100"/>
              </a:spcBef>
            </a:pPr>
            <a:r>
              <a:rPr sz="500" dirty="0">
                <a:cs typeface="Arial"/>
              </a:rPr>
              <a:t>2026</a:t>
            </a:r>
            <a:r>
              <a:rPr sz="500" spc="-30" dirty="0">
                <a:cs typeface="Arial"/>
              </a:rPr>
              <a:t> </a:t>
            </a:r>
            <a:r>
              <a:rPr sz="500" spc="-25" dirty="0">
                <a:cs typeface="Arial"/>
              </a:rPr>
              <a:t>Q1</a:t>
            </a:r>
            <a:endParaRPr sz="500">
              <a:cs typeface="Arial"/>
            </a:endParaRPr>
          </a:p>
        </p:txBody>
      </p:sp>
      <p:sp>
        <p:nvSpPr>
          <p:cNvPr id="73" name="object 77">
            <a:extLst>
              <a:ext uri="{FF2B5EF4-FFF2-40B4-BE49-F238E27FC236}">
                <a16:creationId xmlns:a16="http://schemas.microsoft.com/office/drawing/2014/main" id="{BDB9BA00-42B1-49D9-89E1-4487900382F7}"/>
              </a:ext>
            </a:extLst>
          </p:cNvPr>
          <p:cNvSpPr/>
          <p:nvPr/>
        </p:nvSpPr>
        <p:spPr>
          <a:xfrm>
            <a:off x="5747106" y="3376050"/>
            <a:ext cx="383559" cy="538894"/>
          </a:xfrm>
          <a:custGeom>
            <a:avLst/>
            <a:gdLst/>
            <a:ahLst/>
            <a:cxnLst/>
            <a:rect l="l" t="t" r="r" b="b"/>
            <a:pathLst>
              <a:path w="407670" h="572770">
                <a:moveTo>
                  <a:pt x="0" y="572160"/>
                </a:moveTo>
                <a:lnTo>
                  <a:pt x="407314" y="572160"/>
                </a:lnTo>
                <a:lnTo>
                  <a:pt x="407314" y="0"/>
                </a:lnTo>
                <a:lnTo>
                  <a:pt x="0" y="0"/>
                </a:lnTo>
                <a:lnTo>
                  <a:pt x="0" y="572160"/>
                </a:lnTo>
                <a:close/>
              </a:path>
            </a:pathLst>
          </a:custGeom>
          <a:ln w="12700">
            <a:solidFill>
              <a:srgbClr val="F4364B"/>
            </a:solidFill>
            <a:prstDash val="sysDot"/>
          </a:ln>
        </p:spPr>
        <p:txBody>
          <a:bodyPr wrap="square" lIns="0" tIns="0" rIns="0" bIns="0" rtlCol="0"/>
          <a:lstStyle/>
          <a:p>
            <a:endParaRPr sz="1600"/>
          </a:p>
        </p:txBody>
      </p:sp>
      <p:sp>
        <p:nvSpPr>
          <p:cNvPr id="74" name="object 78">
            <a:extLst>
              <a:ext uri="{FF2B5EF4-FFF2-40B4-BE49-F238E27FC236}">
                <a16:creationId xmlns:a16="http://schemas.microsoft.com/office/drawing/2014/main" id="{FDA37395-B0F2-761F-8805-1BFF6761ECCF}"/>
              </a:ext>
            </a:extLst>
          </p:cNvPr>
          <p:cNvSpPr txBox="1"/>
          <p:nvPr/>
        </p:nvSpPr>
        <p:spPr>
          <a:xfrm>
            <a:off x="1365166" y="3176529"/>
            <a:ext cx="441511" cy="359073"/>
          </a:xfrm>
          <a:prstGeom prst="rect">
            <a:avLst/>
          </a:prstGeom>
        </p:spPr>
        <p:txBody>
          <a:bodyPr vert="horz" wrap="square" lIns="0" tIns="12700" rIns="0" bIns="0" rtlCol="0">
            <a:spAutoFit/>
          </a:bodyPr>
          <a:lstStyle/>
          <a:p>
            <a:pPr marL="1905" algn="ctr">
              <a:spcBef>
                <a:spcPts val="100"/>
              </a:spcBef>
            </a:pPr>
            <a:r>
              <a:rPr sz="1050" spc="-25" dirty="0">
                <a:solidFill>
                  <a:srgbClr val="24C9D2"/>
                </a:solidFill>
                <a:cs typeface="Arial"/>
              </a:rPr>
              <a:t>#1</a:t>
            </a:r>
            <a:endParaRPr sz="1050">
              <a:cs typeface="Arial"/>
            </a:endParaRPr>
          </a:p>
          <a:p>
            <a:pPr marL="12700" marR="5080" algn="ctr">
              <a:spcBef>
                <a:spcPts val="20"/>
              </a:spcBef>
            </a:pPr>
            <a:r>
              <a:rPr sz="600" dirty="0">
                <a:solidFill>
                  <a:srgbClr val="12426B"/>
                </a:solidFill>
                <a:cs typeface="Arial"/>
              </a:rPr>
              <a:t>IPO</a:t>
            </a:r>
            <a:r>
              <a:rPr sz="600" spc="-10" dirty="0">
                <a:solidFill>
                  <a:srgbClr val="12426B"/>
                </a:solidFill>
                <a:cs typeface="Arial"/>
              </a:rPr>
              <a:t> Venue</a:t>
            </a:r>
            <a:r>
              <a:rPr sz="600" spc="500" dirty="0">
                <a:solidFill>
                  <a:srgbClr val="12426B"/>
                </a:solidFill>
                <a:cs typeface="Arial"/>
              </a:rPr>
              <a:t> </a:t>
            </a:r>
            <a:r>
              <a:rPr sz="600" spc="-10" dirty="0">
                <a:solidFill>
                  <a:srgbClr val="12426B"/>
                </a:solidFill>
                <a:cs typeface="Arial"/>
              </a:rPr>
              <a:t>Globally</a:t>
            </a:r>
            <a:endParaRPr sz="600">
              <a:cs typeface="Arial"/>
            </a:endParaRPr>
          </a:p>
        </p:txBody>
      </p:sp>
      <p:sp>
        <p:nvSpPr>
          <p:cNvPr id="75" name="object 79">
            <a:extLst>
              <a:ext uri="{FF2B5EF4-FFF2-40B4-BE49-F238E27FC236}">
                <a16:creationId xmlns:a16="http://schemas.microsoft.com/office/drawing/2014/main" id="{F8B21C70-831C-3D14-D80A-00792A2202A3}"/>
              </a:ext>
            </a:extLst>
          </p:cNvPr>
          <p:cNvSpPr txBox="1"/>
          <p:nvPr/>
        </p:nvSpPr>
        <p:spPr>
          <a:xfrm>
            <a:off x="1956444" y="3179754"/>
            <a:ext cx="586690" cy="359073"/>
          </a:xfrm>
          <a:prstGeom prst="rect">
            <a:avLst/>
          </a:prstGeom>
        </p:spPr>
        <p:txBody>
          <a:bodyPr vert="horz" wrap="square" lIns="0" tIns="12700" rIns="0" bIns="0" rtlCol="0">
            <a:spAutoFit/>
          </a:bodyPr>
          <a:lstStyle/>
          <a:p>
            <a:pPr algn="ctr">
              <a:spcBef>
                <a:spcPts val="100"/>
              </a:spcBef>
            </a:pPr>
            <a:r>
              <a:rPr sz="1050" spc="-25" dirty="0">
                <a:solidFill>
                  <a:srgbClr val="24C9D2"/>
                </a:solidFill>
                <a:cs typeface="Arial"/>
              </a:rPr>
              <a:t>#1</a:t>
            </a:r>
            <a:endParaRPr sz="1050">
              <a:cs typeface="Arial"/>
            </a:endParaRPr>
          </a:p>
          <a:p>
            <a:pPr marL="12700" marR="5080" algn="ctr">
              <a:spcBef>
                <a:spcPts val="20"/>
              </a:spcBef>
            </a:pPr>
            <a:r>
              <a:rPr sz="600" dirty="0">
                <a:solidFill>
                  <a:srgbClr val="12426B"/>
                </a:solidFill>
                <a:cs typeface="Arial"/>
              </a:rPr>
              <a:t>ECM</a:t>
            </a:r>
            <a:r>
              <a:rPr sz="600" spc="-15" dirty="0">
                <a:solidFill>
                  <a:srgbClr val="12426B"/>
                </a:solidFill>
                <a:cs typeface="Arial"/>
              </a:rPr>
              <a:t> </a:t>
            </a:r>
            <a:r>
              <a:rPr sz="600" spc="-10" dirty="0">
                <a:solidFill>
                  <a:srgbClr val="12426B"/>
                </a:solidFill>
                <a:cs typeface="Arial"/>
              </a:rPr>
              <a:t>Issuance</a:t>
            </a:r>
            <a:r>
              <a:rPr sz="600" spc="500" dirty="0">
                <a:solidFill>
                  <a:srgbClr val="12426B"/>
                </a:solidFill>
                <a:cs typeface="Arial"/>
              </a:rPr>
              <a:t> </a:t>
            </a:r>
            <a:r>
              <a:rPr sz="600" spc="-10" dirty="0">
                <a:solidFill>
                  <a:srgbClr val="12426B"/>
                </a:solidFill>
                <a:cs typeface="Arial"/>
              </a:rPr>
              <a:t>Globally</a:t>
            </a:r>
            <a:endParaRPr sz="600">
              <a:cs typeface="Arial"/>
            </a:endParaRPr>
          </a:p>
        </p:txBody>
      </p:sp>
      <p:sp>
        <p:nvSpPr>
          <p:cNvPr id="76" name="object 80">
            <a:extLst>
              <a:ext uri="{FF2B5EF4-FFF2-40B4-BE49-F238E27FC236}">
                <a16:creationId xmlns:a16="http://schemas.microsoft.com/office/drawing/2014/main" id="{09A073BB-E080-C658-DC7D-F18E47001C96}"/>
              </a:ext>
            </a:extLst>
          </p:cNvPr>
          <p:cNvSpPr txBox="1"/>
          <p:nvPr/>
        </p:nvSpPr>
        <p:spPr>
          <a:xfrm>
            <a:off x="2614947" y="3188596"/>
            <a:ext cx="830447" cy="427681"/>
          </a:xfrm>
          <a:prstGeom prst="rect">
            <a:avLst/>
          </a:prstGeom>
        </p:spPr>
        <p:txBody>
          <a:bodyPr vert="horz" wrap="square" lIns="0" tIns="12065" rIns="0" bIns="0" rtlCol="0">
            <a:spAutoFit/>
          </a:bodyPr>
          <a:lstStyle/>
          <a:p>
            <a:pPr algn="ctr">
              <a:spcBef>
                <a:spcPts val="95"/>
              </a:spcBef>
            </a:pPr>
            <a:r>
              <a:rPr sz="900" spc="-20" dirty="0">
                <a:solidFill>
                  <a:srgbClr val="24C9D2"/>
                </a:solidFill>
                <a:cs typeface="Arial"/>
              </a:rPr>
              <a:t>Best</a:t>
            </a:r>
            <a:endParaRPr sz="900">
              <a:cs typeface="Arial"/>
            </a:endParaRPr>
          </a:p>
          <a:p>
            <a:pPr marL="12700" marR="5080" algn="ctr">
              <a:spcBef>
                <a:spcPts val="10"/>
              </a:spcBef>
            </a:pPr>
            <a:r>
              <a:rPr sz="600" dirty="0">
                <a:solidFill>
                  <a:srgbClr val="12426B"/>
                </a:solidFill>
                <a:cs typeface="Arial"/>
              </a:rPr>
              <a:t>Quarterly</a:t>
            </a:r>
            <a:r>
              <a:rPr sz="600" spc="-35" dirty="0">
                <a:solidFill>
                  <a:srgbClr val="12426B"/>
                </a:solidFill>
                <a:cs typeface="Arial"/>
              </a:rPr>
              <a:t> </a:t>
            </a:r>
            <a:r>
              <a:rPr sz="600" spc="-10" dirty="0">
                <a:solidFill>
                  <a:srgbClr val="12426B"/>
                </a:solidFill>
                <a:cs typeface="Arial"/>
              </a:rPr>
              <a:t>Consumer</a:t>
            </a:r>
            <a:r>
              <a:rPr sz="600" spc="500" dirty="0">
                <a:solidFill>
                  <a:srgbClr val="12426B"/>
                </a:solidFill>
                <a:cs typeface="Arial"/>
              </a:rPr>
              <a:t> </a:t>
            </a:r>
            <a:r>
              <a:rPr sz="600" dirty="0">
                <a:solidFill>
                  <a:srgbClr val="12426B"/>
                </a:solidFill>
                <a:cs typeface="Arial"/>
              </a:rPr>
              <a:t>HK</a:t>
            </a:r>
            <a:r>
              <a:rPr sz="600" spc="-15" dirty="0">
                <a:solidFill>
                  <a:srgbClr val="12426B"/>
                </a:solidFill>
                <a:cs typeface="Arial"/>
              </a:rPr>
              <a:t> </a:t>
            </a:r>
            <a:r>
              <a:rPr sz="600" dirty="0">
                <a:solidFill>
                  <a:srgbClr val="12426B"/>
                </a:solidFill>
                <a:cs typeface="Arial"/>
              </a:rPr>
              <a:t>IPO </a:t>
            </a:r>
            <a:r>
              <a:rPr sz="600" spc="-10" dirty="0">
                <a:solidFill>
                  <a:srgbClr val="12426B"/>
                </a:solidFill>
                <a:cs typeface="Arial"/>
              </a:rPr>
              <a:t>Volume</a:t>
            </a:r>
            <a:r>
              <a:rPr sz="600" spc="500" dirty="0">
                <a:solidFill>
                  <a:srgbClr val="12426B"/>
                </a:solidFill>
                <a:cs typeface="Arial"/>
              </a:rPr>
              <a:t> </a:t>
            </a:r>
            <a:r>
              <a:rPr sz="600" dirty="0">
                <a:solidFill>
                  <a:srgbClr val="12426B"/>
                </a:solidFill>
                <a:cs typeface="Arial"/>
              </a:rPr>
              <a:t>Since</a:t>
            </a:r>
            <a:r>
              <a:rPr sz="600" spc="-15" dirty="0">
                <a:solidFill>
                  <a:srgbClr val="12426B"/>
                </a:solidFill>
                <a:cs typeface="Arial"/>
              </a:rPr>
              <a:t> </a:t>
            </a:r>
            <a:r>
              <a:rPr sz="600" spc="-20" dirty="0">
                <a:solidFill>
                  <a:srgbClr val="12426B"/>
                </a:solidFill>
                <a:cs typeface="Arial"/>
              </a:rPr>
              <a:t>2021</a:t>
            </a:r>
            <a:endParaRPr sz="600">
              <a:cs typeface="Arial"/>
            </a:endParaRPr>
          </a:p>
        </p:txBody>
      </p:sp>
      <p:sp>
        <p:nvSpPr>
          <p:cNvPr id="77" name="object 81">
            <a:extLst>
              <a:ext uri="{FF2B5EF4-FFF2-40B4-BE49-F238E27FC236}">
                <a16:creationId xmlns:a16="http://schemas.microsoft.com/office/drawing/2014/main" id="{46C5AC77-C423-FDB2-B59A-CCEF40921563}"/>
              </a:ext>
            </a:extLst>
          </p:cNvPr>
          <p:cNvSpPr txBox="1"/>
          <p:nvPr/>
        </p:nvSpPr>
        <p:spPr>
          <a:xfrm>
            <a:off x="3834568" y="4361211"/>
            <a:ext cx="623732" cy="266740"/>
          </a:xfrm>
          <a:prstGeom prst="rect">
            <a:avLst/>
          </a:prstGeom>
        </p:spPr>
        <p:txBody>
          <a:bodyPr vert="horz" wrap="square" lIns="0" tIns="12700" rIns="0" bIns="0" rtlCol="0">
            <a:spAutoFit/>
          </a:bodyPr>
          <a:lstStyle/>
          <a:p>
            <a:pPr marL="12700">
              <a:spcBef>
                <a:spcPts val="100"/>
              </a:spcBef>
            </a:pPr>
            <a:r>
              <a:rPr sz="1050" spc="-10" dirty="0">
                <a:solidFill>
                  <a:srgbClr val="FFB81C"/>
                </a:solidFill>
                <a:cs typeface="Arial"/>
              </a:rPr>
              <a:t>US$2.6bn</a:t>
            </a:r>
            <a:endParaRPr sz="1050">
              <a:cs typeface="Arial"/>
            </a:endParaRPr>
          </a:p>
          <a:p>
            <a:pPr marL="41275">
              <a:spcBef>
                <a:spcPts val="20"/>
              </a:spcBef>
            </a:pPr>
            <a:r>
              <a:rPr sz="600" dirty="0">
                <a:solidFill>
                  <a:srgbClr val="8D6000"/>
                </a:solidFill>
                <a:cs typeface="Arial"/>
              </a:rPr>
              <a:t>Funds</a:t>
            </a:r>
            <a:r>
              <a:rPr sz="600" spc="-15" dirty="0">
                <a:solidFill>
                  <a:srgbClr val="8D6000"/>
                </a:solidFill>
                <a:cs typeface="Arial"/>
              </a:rPr>
              <a:t> </a:t>
            </a:r>
            <a:r>
              <a:rPr sz="600" spc="-10" dirty="0">
                <a:solidFill>
                  <a:srgbClr val="8D6000"/>
                </a:solidFill>
                <a:cs typeface="Arial"/>
              </a:rPr>
              <a:t>Raised</a:t>
            </a:r>
            <a:endParaRPr sz="600">
              <a:cs typeface="Arial"/>
            </a:endParaRPr>
          </a:p>
        </p:txBody>
      </p:sp>
      <p:sp>
        <p:nvSpPr>
          <p:cNvPr id="78" name="object 82">
            <a:extLst>
              <a:ext uri="{FF2B5EF4-FFF2-40B4-BE49-F238E27FC236}">
                <a16:creationId xmlns:a16="http://schemas.microsoft.com/office/drawing/2014/main" id="{2668073F-2EAF-695B-DBA7-CD37CB183044}"/>
              </a:ext>
            </a:extLst>
          </p:cNvPr>
          <p:cNvSpPr txBox="1"/>
          <p:nvPr/>
        </p:nvSpPr>
        <p:spPr>
          <a:xfrm>
            <a:off x="4654023" y="4373542"/>
            <a:ext cx="554428" cy="451406"/>
          </a:xfrm>
          <a:prstGeom prst="rect">
            <a:avLst/>
          </a:prstGeom>
        </p:spPr>
        <p:txBody>
          <a:bodyPr vert="horz" wrap="square" lIns="0" tIns="12700" rIns="0" bIns="0" rtlCol="0">
            <a:spAutoFit/>
          </a:bodyPr>
          <a:lstStyle/>
          <a:p>
            <a:pPr marL="1270" algn="ctr">
              <a:spcBef>
                <a:spcPts val="100"/>
              </a:spcBef>
            </a:pPr>
            <a:r>
              <a:rPr sz="1050" spc="-25" dirty="0">
                <a:solidFill>
                  <a:srgbClr val="FFB81C"/>
                </a:solidFill>
                <a:cs typeface="Arial"/>
              </a:rPr>
              <a:t>78%</a:t>
            </a:r>
            <a:endParaRPr sz="1050">
              <a:cs typeface="Arial"/>
            </a:endParaRPr>
          </a:p>
          <a:p>
            <a:pPr marL="38100" marR="30480" algn="ctr">
              <a:spcBef>
                <a:spcPts val="20"/>
              </a:spcBef>
            </a:pPr>
            <a:r>
              <a:rPr sz="600" dirty="0">
                <a:solidFill>
                  <a:srgbClr val="8D6000"/>
                </a:solidFill>
                <a:cs typeface="Arial"/>
              </a:rPr>
              <a:t>Issuers</a:t>
            </a:r>
            <a:r>
              <a:rPr sz="600" spc="-20" dirty="0">
                <a:solidFill>
                  <a:srgbClr val="8D6000"/>
                </a:solidFill>
                <a:cs typeface="Arial"/>
              </a:rPr>
              <a:t> with</a:t>
            </a:r>
            <a:r>
              <a:rPr sz="600" spc="500" dirty="0">
                <a:solidFill>
                  <a:srgbClr val="8D6000"/>
                </a:solidFill>
                <a:cs typeface="Arial"/>
              </a:rPr>
              <a:t> </a:t>
            </a:r>
            <a:r>
              <a:rPr sz="600" spc="-10" dirty="0">
                <a:solidFill>
                  <a:srgbClr val="8D6000"/>
                </a:solidFill>
                <a:cs typeface="Arial"/>
              </a:rPr>
              <a:t>Multiple</a:t>
            </a:r>
            <a:r>
              <a:rPr sz="600" spc="500" dirty="0">
                <a:solidFill>
                  <a:srgbClr val="8D6000"/>
                </a:solidFill>
                <a:cs typeface="Arial"/>
              </a:rPr>
              <a:t> </a:t>
            </a:r>
            <a:r>
              <a:rPr sz="600" spc="-10" dirty="0">
                <a:solidFill>
                  <a:srgbClr val="8D6000"/>
                </a:solidFill>
                <a:cs typeface="Arial"/>
              </a:rPr>
              <a:t>Issuance</a:t>
            </a:r>
            <a:r>
              <a:rPr sz="600" spc="-15" baseline="24691" dirty="0">
                <a:solidFill>
                  <a:srgbClr val="8D6000"/>
                </a:solidFill>
                <a:cs typeface="Arial"/>
              </a:rPr>
              <a:t>3</a:t>
            </a:r>
            <a:endParaRPr sz="600" baseline="24691">
              <a:cs typeface="Arial"/>
            </a:endParaRPr>
          </a:p>
        </p:txBody>
      </p:sp>
      <p:sp>
        <p:nvSpPr>
          <p:cNvPr id="79" name="object 83">
            <a:extLst>
              <a:ext uri="{FF2B5EF4-FFF2-40B4-BE49-F238E27FC236}">
                <a16:creationId xmlns:a16="http://schemas.microsoft.com/office/drawing/2014/main" id="{8C967531-3D1F-3777-F34F-C3C4902122C9}"/>
              </a:ext>
            </a:extLst>
          </p:cNvPr>
          <p:cNvSpPr/>
          <p:nvPr/>
        </p:nvSpPr>
        <p:spPr>
          <a:xfrm>
            <a:off x="6525696" y="4298694"/>
            <a:ext cx="1542003" cy="640460"/>
          </a:xfrm>
          <a:custGeom>
            <a:avLst/>
            <a:gdLst/>
            <a:ahLst/>
            <a:cxnLst/>
            <a:rect l="l" t="t" r="r" b="b"/>
            <a:pathLst>
              <a:path w="1638934" h="680720">
                <a:moveTo>
                  <a:pt x="1302766" y="0"/>
                </a:moveTo>
                <a:lnTo>
                  <a:pt x="0" y="0"/>
                </a:lnTo>
                <a:lnTo>
                  <a:pt x="0" y="560819"/>
                </a:lnTo>
                <a:lnTo>
                  <a:pt x="1302766" y="560819"/>
                </a:lnTo>
                <a:lnTo>
                  <a:pt x="1302766" y="0"/>
                </a:lnTo>
                <a:close/>
              </a:path>
              <a:path w="1638934" h="680720">
                <a:moveTo>
                  <a:pt x="1638719" y="608469"/>
                </a:moveTo>
                <a:lnTo>
                  <a:pt x="1458722" y="608469"/>
                </a:lnTo>
                <a:lnTo>
                  <a:pt x="1458722" y="680453"/>
                </a:lnTo>
                <a:lnTo>
                  <a:pt x="1638719" y="680453"/>
                </a:lnTo>
                <a:lnTo>
                  <a:pt x="1638719" y="608469"/>
                </a:lnTo>
                <a:close/>
              </a:path>
            </a:pathLst>
          </a:custGeom>
          <a:solidFill>
            <a:srgbClr val="D4E3EB"/>
          </a:solidFill>
        </p:spPr>
        <p:txBody>
          <a:bodyPr wrap="square" lIns="0" tIns="0" rIns="0" bIns="0" rtlCol="0"/>
          <a:lstStyle/>
          <a:p>
            <a:endParaRPr sz="1600"/>
          </a:p>
        </p:txBody>
      </p:sp>
      <p:sp>
        <p:nvSpPr>
          <p:cNvPr id="80" name="object 84">
            <a:extLst>
              <a:ext uri="{FF2B5EF4-FFF2-40B4-BE49-F238E27FC236}">
                <a16:creationId xmlns:a16="http://schemas.microsoft.com/office/drawing/2014/main" id="{71154505-14A4-018A-B610-16DA22E57879}"/>
              </a:ext>
            </a:extLst>
          </p:cNvPr>
          <p:cNvSpPr txBox="1"/>
          <p:nvPr/>
        </p:nvSpPr>
        <p:spPr>
          <a:xfrm>
            <a:off x="8087653" y="4857330"/>
            <a:ext cx="736648" cy="74379"/>
          </a:xfrm>
          <a:prstGeom prst="rect">
            <a:avLst/>
          </a:prstGeom>
        </p:spPr>
        <p:txBody>
          <a:bodyPr vert="horz" wrap="square" lIns="0" tIns="12700" rIns="0" bIns="0" rtlCol="0">
            <a:spAutoFit/>
          </a:bodyPr>
          <a:lstStyle/>
          <a:p>
            <a:pPr marL="12700">
              <a:spcBef>
                <a:spcPts val="100"/>
              </a:spcBef>
            </a:pPr>
            <a:r>
              <a:rPr sz="400" dirty="0">
                <a:solidFill>
                  <a:srgbClr val="12426B"/>
                </a:solidFill>
                <a:cs typeface="Arial"/>
              </a:rPr>
              <a:t>First</a:t>
            </a:r>
            <a:r>
              <a:rPr sz="400" spc="10" dirty="0">
                <a:solidFill>
                  <a:srgbClr val="12426B"/>
                </a:solidFill>
                <a:cs typeface="Arial"/>
              </a:rPr>
              <a:t> </a:t>
            </a:r>
            <a:r>
              <a:rPr sz="400" dirty="0">
                <a:solidFill>
                  <a:srgbClr val="12426B"/>
                </a:solidFill>
                <a:cs typeface="Arial"/>
              </a:rPr>
              <a:t>Time</a:t>
            </a:r>
            <a:r>
              <a:rPr sz="400" spc="-10" dirty="0">
                <a:solidFill>
                  <a:srgbClr val="12426B"/>
                </a:solidFill>
                <a:cs typeface="Arial"/>
              </a:rPr>
              <a:t> Follow-</a:t>
            </a:r>
            <a:r>
              <a:rPr sz="400" dirty="0">
                <a:solidFill>
                  <a:srgbClr val="12426B"/>
                </a:solidFill>
                <a:cs typeface="Arial"/>
              </a:rPr>
              <a:t>on</a:t>
            </a:r>
            <a:r>
              <a:rPr sz="400" spc="-15" dirty="0">
                <a:solidFill>
                  <a:srgbClr val="12426B"/>
                </a:solidFill>
                <a:cs typeface="Arial"/>
              </a:rPr>
              <a:t> </a:t>
            </a:r>
            <a:r>
              <a:rPr sz="400" spc="-10" dirty="0">
                <a:solidFill>
                  <a:srgbClr val="12426B"/>
                </a:solidFill>
                <a:cs typeface="Arial"/>
              </a:rPr>
              <a:t>Issuer</a:t>
            </a:r>
            <a:endParaRPr sz="400">
              <a:cs typeface="Arial"/>
            </a:endParaRPr>
          </a:p>
        </p:txBody>
      </p:sp>
      <p:pic>
        <p:nvPicPr>
          <p:cNvPr id="81" name="object 85" descr="Zijin Mining logo in transparent PNG and vectorized SVG formats">
            <a:extLst>
              <a:ext uri="{FF2B5EF4-FFF2-40B4-BE49-F238E27FC236}">
                <a16:creationId xmlns:a16="http://schemas.microsoft.com/office/drawing/2014/main" id="{0C385CDE-7502-D58D-BE2A-E66A6C4536CB}"/>
              </a:ext>
            </a:extLst>
          </p:cNvPr>
          <p:cNvPicPr/>
          <p:nvPr/>
        </p:nvPicPr>
        <p:blipFill>
          <a:blip r:embed="rId11" cstate="print"/>
          <a:stretch>
            <a:fillRect/>
          </a:stretch>
        </p:blipFill>
        <p:spPr>
          <a:xfrm>
            <a:off x="7877112" y="4355832"/>
            <a:ext cx="427076" cy="113146"/>
          </a:xfrm>
          <a:prstGeom prst="rect">
            <a:avLst/>
          </a:prstGeom>
        </p:spPr>
      </p:pic>
      <p:sp>
        <p:nvSpPr>
          <p:cNvPr id="82" name="object 86">
            <a:extLst>
              <a:ext uri="{FF2B5EF4-FFF2-40B4-BE49-F238E27FC236}">
                <a16:creationId xmlns:a16="http://schemas.microsoft.com/office/drawing/2014/main" id="{D6D2E907-742A-CBCD-481D-55549C4D2D04}"/>
              </a:ext>
            </a:extLst>
          </p:cNvPr>
          <p:cNvSpPr txBox="1"/>
          <p:nvPr/>
        </p:nvSpPr>
        <p:spPr>
          <a:xfrm>
            <a:off x="7904953" y="4538150"/>
            <a:ext cx="391326" cy="166712"/>
          </a:xfrm>
          <a:prstGeom prst="rect">
            <a:avLst/>
          </a:prstGeom>
        </p:spPr>
        <p:txBody>
          <a:bodyPr vert="horz" wrap="square" lIns="0" tIns="12700" rIns="0" bIns="0" rtlCol="0">
            <a:spAutoFit/>
          </a:bodyPr>
          <a:lstStyle/>
          <a:p>
            <a:pPr marL="1270" algn="ctr">
              <a:spcBef>
                <a:spcPts val="100"/>
              </a:spcBef>
            </a:pPr>
            <a:r>
              <a:rPr sz="500" spc="-25" dirty="0">
                <a:cs typeface="Arial"/>
              </a:rPr>
              <a:t>CB</a:t>
            </a:r>
            <a:r>
              <a:rPr sz="500" spc="-37" baseline="27777" dirty="0">
                <a:cs typeface="Arial"/>
              </a:rPr>
              <a:t>4</a:t>
            </a:r>
            <a:endParaRPr sz="500" baseline="27777">
              <a:cs typeface="Arial"/>
            </a:endParaRPr>
          </a:p>
          <a:p>
            <a:pPr algn="ctr">
              <a:lnSpc>
                <a:spcPct val="100000"/>
              </a:lnSpc>
            </a:pPr>
            <a:r>
              <a:rPr sz="500" spc="-10" dirty="0">
                <a:cs typeface="Arial"/>
              </a:rPr>
              <a:t>US$1.5bn</a:t>
            </a:r>
            <a:endParaRPr sz="500">
              <a:cs typeface="Arial"/>
            </a:endParaRPr>
          </a:p>
        </p:txBody>
      </p:sp>
      <p:sp>
        <p:nvSpPr>
          <p:cNvPr id="83" name="object 87">
            <a:extLst>
              <a:ext uri="{FF2B5EF4-FFF2-40B4-BE49-F238E27FC236}">
                <a16:creationId xmlns:a16="http://schemas.microsoft.com/office/drawing/2014/main" id="{A2DBE805-2ABB-4D80-5142-85B266472157}"/>
              </a:ext>
            </a:extLst>
          </p:cNvPr>
          <p:cNvSpPr txBox="1"/>
          <p:nvPr/>
        </p:nvSpPr>
        <p:spPr>
          <a:xfrm>
            <a:off x="8399160" y="4538150"/>
            <a:ext cx="400287" cy="243656"/>
          </a:xfrm>
          <a:prstGeom prst="rect">
            <a:avLst/>
          </a:prstGeom>
        </p:spPr>
        <p:txBody>
          <a:bodyPr vert="horz" wrap="square" lIns="0" tIns="12700" rIns="0" bIns="0" rtlCol="0">
            <a:spAutoFit/>
          </a:bodyPr>
          <a:lstStyle/>
          <a:p>
            <a:pPr marL="12700" marR="5080" indent="-1270" algn="ctr">
              <a:spcBef>
                <a:spcPts val="100"/>
              </a:spcBef>
            </a:pPr>
            <a:r>
              <a:rPr sz="500" spc="-10" dirty="0">
                <a:cs typeface="Arial"/>
              </a:rPr>
              <a:t>Primary</a:t>
            </a:r>
            <a:r>
              <a:rPr sz="500" spc="500" dirty="0">
                <a:cs typeface="Arial"/>
              </a:rPr>
              <a:t> </a:t>
            </a:r>
            <a:r>
              <a:rPr sz="500" spc="-10" dirty="0">
                <a:cs typeface="Arial"/>
              </a:rPr>
              <a:t>Placement</a:t>
            </a:r>
            <a:r>
              <a:rPr sz="500" spc="500" dirty="0">
                <a:cs typeface="Arial"/>
              </a:rPr>
              <a:t> </a:t>
            </a:r>
            <a:r>
              <a:rPr sz="500" spc="-10" dirty="0">
                <a:cs typeface="Arial"/>
              </a:rPr>
              <a:t>US$100mm</a:t>
            </a:r>
            <a:endParaRPr sz="500">
              <a:cs typeface="Arial"/>
            </a:endParaRPr>
          </a:p>
        </p:txBody>
      </p:sp>
      <p:grpSp>
        <p:nvGrpSpPr>
          <p:cNvPr id="84" name="object 88">
            <a:extLst>
              <a:ext uri="{FF2B5EF4-FFF2-40B4-BE49-F238E27FC236}">
                <a16:creationId xmlns:a16="http://schemas.microsoft.com/office/drawing/2014/main" id="{7E58D867-604E-A04F-5F77-632EF56039F0}"/>
              </a:ext>
            </a:extLst>
          </p:cNvPr>
          <p:cNvGrpSpPr/>
          <p:nvPr/>
        </p:nvGrpSpPr>
        <p:grpSpPr>
          <a:xfrm>
            <a:off x="5302129" y="4301201"/>
            <a:ext cx="3381294" cy="540512"/>
            <a:chOff x="5082792" y="4002973"/>
            <a:chExt cx="3593846" cy="574491"/>
          </a:xfrm>
        </p:grpSpPr>
        <p:pic>
          <p:nvPicPr>
            <p:cNvPr id="85" name="object 89">
              <a:extLst>
                <a:ext uri="{FF2B5EF4-FFF2-40B4-BE49-F238E27FC236}">
                  <a16:creationId xmlns:a16="http://schemas.microsoft.com/office/drawing/2014/main" id="{001A50FB-D842-CF60-ACC4-6E511211A0E3}"/>
                </a:ext>
              </a:extLst>
            </p:cNvPr>
            <p:cNvPicPr/>
            <p:nvPr/>
          </p:nvPicPr>
          <p:blipFill>
            <a:blip r:embed="rId12" cstate="print"/>
            <a:stretch>
              <a:fillRect/>
            </a:stretch>
          </p:blipFill>
          <p:spPr>
            <a:xfrm>
              <a:off x="8527287" y="4002973"/>
              <a:ext cx="149351" cy="252972"/>
            </a:xfrm>
            <a:prstGeom prst="rect">
              <a:avLst/>
            </a:prstGeom>
          </p:spPr>
        </p:pic>
        <p:pic>
          <p:nvPicPr>
            <p:cNvPr id="86" name="object 90" descr="Notes: 1. Correct fonts won't load until you open this in ...">
              <a:extLst>
                <a:ext uri="{FF2B5EF4-FFF2-40B4-BE49-F238E27FC236}">
                  <a16:creationId xmlns:a16="http://schemas.microsoft.com/office/drawing/2014/main" id="{F33D4696-D156-2B91-3F88-683718C1F08C}"/>
                </a:ext>
              </a:extLst>
            </p:cNvPr>
            <p:cNvPicPr/>
            <p:nvPr/>
          </p:nvPicPr>
          <p:blipFill>
            <a:blip r:embed="rId13" cstate="print"/>
            <a:stretch>
              <a:fillRect/>
            </a:stretch>
          </p:blipFill>
          <p:spPr>
            <a:xfrm>
              <a:off x="5082792" y="4138547"/>
              <a:ext cx="421639" cy="141275"/>
            </a:xfrm>
            <a:prstGeom prst="rect">
              <a:avLst/>
            </a:prstGeom>
          </p:spPr>
        </p:pic>
        <p:pic>
          <p:nvPicPr>
            <p:cNvPr id="87" name="object 91" descr="Company Overview - Shanghai Conant Optics Co., Ltd.">
              <a:extLst>
                <a:ext uri="{FF2B5EF4-FFF2-40B4-BE49-F238E27FC236}">
                  <a16:creationId xmlns:a16="http://schemas.microsoft.com/office/drawing/2014/main" id="{642856AC-D37B-1653-DD72-01FF63027FB2}"/>
                </a:ext>
              </a:extLst>
            </p:cNvPr>
            <p:cNvPicPr/>
            <p:nvPr/>
          </p:nvPicPr>
          <p:blipFill>
            <a:blip r:embed="rId14" cstate="print"/>
            <a:stretch>
              <a:fillRect/>
            </a:stretch>
          </p:blipFill>
          <p:spPr>
            <a:xfrm>
              <a:off x="5135625" y="4378912"/>
              <a:ext cx="348767" cy="198552"/>
            </a:xfrm>
            <a:prstGeom prst="rect">
              <a:avLst/>
            </a:prstGeom>
          </p:spPr>
        </p:pic>
        <p:pic>
          <p:nvPicPr>
            <p:cNvPr id="88" name="object 92" descr="Mirxes | Genomic Services | Next-Generation Sequencing (NGS)">
              <a:extLst>
                <a:ext uri="{FF2B5EF4-FFF2-40B4-BE49-F238E27FC236}">
                  <a16:creationId xmlns:a16="http://schemas.microsoft.com/office/drawing/2014/main" id="{33EAA61D-C5C9-BC73-A72C-5A98E921D566}"/>
                </a:ext>
              </a:extLst>
            </p:cNvPr>
            <p:cNvPicPr/>
            <p:nvPr/>
          </p:nvPicPr>
          <p:blipFill>
            <a:blip r:embed="rId15" cstate="print"/>
            <a:stretch>
              <a:fillRect/>
            </a:stretch>
          </p:blipFill>
          <p:spPr>
            <a:xfrm>
              <a:off x="5555741" y="4152264"/>
              <a:ext cx="440766" cy="115547"/>
            </a:xfrm>
            <a:prstGeom prst="rect">
              <a:avLst/>
            </a:prstGeom>
          </p:spPr>
        </p:pic>
        <p:pic>
          <p:nvPicPr>
            <p:cNvPr id="89" name="object 93" descr="Hansoh Pharma and NiKang Therapeutics Enter into a ...">
              <a:extLst>
                <a:ext uri="{FF2B5EF4-FFF2-40B4-BE49-F238E27FC236}">
                  <a16:creationId xmlns:a16="http://schemas.microsoft.com/office/drawing/2014/main" id="{CC7D52C8-7B19-D018-A6DC-F56CAF8046D4}"/>
                </a:ext>
              </a:extLst>
            </p:cNvPr>
            <p:cNvPicPr/>
            <p:nvPr/>
          </p:nvPicPr>
          <p:blipFill>
            <a:blip r:embed="rId16" cstate="print"/>
            <a:stretch>
              <a:fillRect/>
            </a:stretch>
          </p:blipFill>
          <p:spPr>
            <a:xfrm>
              <a:off x="5539360" y="4397426"/>
              <a:ext cx="421639" cy="146723"/>
            </a:xfrm>
            <a:prstGeom prst="rect">
              <a:avLst/>
            </a:prstGeom>
          </p:spPr>
        </p:pic>
        <p:pic>
          <p:nvPicPr>
            <p:cNvPr id="90" name="object 94" descr="Shandong Nanshan Aluminium Co., Ltd. | Members | About ASI | Aluminium  Stewardship Initiative">
              <a:extLst>
                <a:ext uri="{FF2B5EF4-FFF2-40B4-BE49-F238E27FC236}">
                  <a16:creationId xmlns:a16="http://schemas.microsoft.com/office/drawing/2014/main" id="{26273FCB-BC9F-066F-06A9-A42C838F96F0}"/>
                </a:ext>
              </a:extLst>
            </p:cNvPr>
            <p:cNvPicPr/>
            <p:nvPr/>
          </p:nvPicPr>
          <p:blipFill>
            <a:blip r:embed="rId17" cstate="print"/>
            <a:stretch>
              <a:fillRect/>
            </a:stretch>
          </p:blipFill>
          <p:spPr>
            <a:xfrm>
              <a:off x="7038467" y="4043375"/>
              <a:ext cx="506514" cy="163461"/>
            </a:xfrm>
            <a:prstGeom prst="rect">
              <a:avLst/>
            </a:prstGeom>
          </p:spPr>
        </p:pic>
      </p:grpSp>
      <p:sp>
        <p:nvSpPr>
          <p:cNvPr id="91" name="object 95">
            <a:extLst>
              <a:ext uri="{FF2B5EF4-FFF2-40B4-BE49-F238E27FC236}">
                <a16:creationId xmlns:a16="http://schemas.microsoft.com/office/drawing/2014/main" id="{6D135E6A-5B2B-1216-48C9-798798E436EA}"/>
              </a:ext>
            </a:extLst>
          </p:cNvPr>
          <p:cNvSpPr txBox="1"/>
          <p:nvPr/>
        </p:nvSpPr>
        <p:spPr>
          <a:xfrm>
            <a:off x="7228768" y="4538150"/>
            <a:ext cx="400287" cy="243656"/>
          </a:xfrm>
          <a:prstGeom prst="rect">
            <a:avLst/>
          </a:prstGeom>
        </p:spPr>
        <p:txBody>
          <a:bodyPr vert="horz" wrap="square" lIns="0" tIns="12700" rIns="0" bIns="0" rtlCol="0">
            <a:spAutoFit/>
          </a:bodyPr>
          <a:lstStyle/>
          <a:p>
            <a:pPr marL="12700" marR="5080" indent="-1270" algn="ctr">
              <a:spcBef>
                <a:spcPts val="100"/>
              </a:spcBef>
            </a:pPr>
            <a:r>
              <a:rPr sz="500" spc="-10" dirty="0">
                <a:cs typeface="Arial"/>
              </a:rPr>
              <a:t>Primary</a:t>
            </a:r>
            <a:r>
              <a:rPr sz="500" spc="500" dirty="0">
                <a:cs typeface="Arial"/>
              </a:rPr>
              <a:t> </a:t>
            </a:r>
            <a:r>
              <a:rPr sz="500" spc="-10" dirty="0">
                <a:cs typeface="Arial"/>
              </a:rPr>
              <a:t>Placement</a:t>
            </a:r>
            <a:r>
              <a:rPr sz="500" spc="500" dirty="0">
                <a:cs typeface="Arial"/>
              </a:rPr>
              <a:t> </a:t>
            </a:r>
            <a:r>
              <a:rPr sz="500" spc="-10" dirty="0">
                <a:cs typeface="Arial"/>
              </a:rPr>
              <a:t>US$256mm</a:t>
            </a:r>
            <a:endParaRPr sz="500">
              <a:cs typeface="Arial"/>
            </a:endParaRPr>
          </a:p>
        </p:txBody>
      </p:sp>
      <p:sp>
        <p:nvSpPr>
          <p:cNvPr id="92" name="object 96">
            <a:extLst>
              <a:ext uri="{FF2B5EF4-FFF2-40B4-BE49-F238E27FC236}">
                <a16:creationId xmlns:a16="http://schemas.microsoft.com/office/drawing/2014/main" id="{796AE00E-C721-7041-4004-72D8DC1D6581}"/>
              </a:ext>
            </a:extLst>
          </p:cNvPr>
          <p:cNvSpPr txBox="1"/>
          <p:nvPr/>
        </p:nvSpPr>
        <p:spPr>
          <a:xfrm>
            <a:off x="6575401" y="4538150"/>
            <a:ext cx="391326" cy="166712"/>
          </a:xfrm>
          <a:prstGeom prst="rect">
            <a:avLst/>
          </a:prstGeom>
        </p:spPr>
        <p:txBody>
          <a:bodyPr vert="horz" wrap="square" lIns="0" tIns="12700" rIns="0" bIns="0" rtlCol="0">
            <a:spAutoFit/>
          </a:bodyPr>
          <a:lstStyle/>
          <a:p>
            <a:pPr marL="635" algn="ctr">
              <a:spcBef>
                <a:spcPts val="100"/>
              </a:spcBef>
            </a:pPr>
            <a:r>
              <a:rPr sz="500" spc="-25" dirty="0">
                <a:cs typeface="Arial"/>
              </a:rPr>
              <a:t>CB</a:t>
            </a:r>
            <a:r>
              <a:rPr sz="500" spc="-37" baseline="27777" dirty="0">
                <a:cs typeface="Arial"/>
              </a:rPr>
              <a:t>4</a:t>
            </a:r>
            <a:endParaRPr sz="500" baseline="27777">
              <a:cs typeface="Arial"/>
            </a:endParaRPr>
          </a:p>
          <a:p>
            <a:pPr algn="ctr">
              <a:lnSpc>
                <a:spcPct val="100000"/>
              </a:lnSpc>
            </a:pPr>
            <a:r>
              <a:rPr sz="500" spc="-10" dirty="0">
                <a:cs typeface="Arial"/>
              </a:rPr>
              <a:t>US$1.2bn</a:t>
            </a:r>
            <a:endParaRPr sz="500">
              <a:cs typeface="Arial"/>
            </a:endParaRPr>
          </a:p>
        </p:txBody>
      </p:sp>
      <p:pic>
        <p:nvPicPr>
          <p:cNvPr id="93" name="object 97" descr="Revenue - CMOC Group Ltd (SSE:603993) - Alpha Spread">
            <a:extLst>
              <a:ext uri="{FF2B5EF4-FFF2-40B4-BE49-F238E27FC236}">
                <a16:creationId xmlns:a16="http://schemas.microsoft.com/office/drawing/2014/main" id="{AB99F41A-E108-A880-DE03-1CEA7018EE0F}"/>
              </a:ext>
            </a:extLst>
          </p:cNvPr>
          <p:cNvPicPr/>
          <p:nvPr/>
        </p:nvPicPr>
        <p:blipFill>
          <a:blip r:embed="rId18" cstate="print"/>
          <a:stretch>
            <a:fillRect/>
          </a:stretch>
        </p:blipFill>
        <p:spPr>
          <a:xfrm>
            <a:off x="6549114" y="4202590"/>
            <a:ext cx="427076" cy="427076"/>
          </a:xfrm>
          <a:prstGeom prst="rect">
            <a:avLst/>
          </a:prstGeom>
        </p:spPr>
      </p:pic>
      <p:sp>
        <p:nvSpPr>
          <p:cNvPr id="94" name="object 98">
            <a:extLst>
              <a:ext uri="{FF2B5EF4-FFF2-40B4-BE49-F238E27FC236}">
                <a16:creationId xmlns:a16="http://schemas.microsoft.com/office/drawing/2014/main" id="{70110DAB-3CC6-9EEB-DFF2-79040D4B6BF7}"/>
              </a:ext>
            </a:extLst>
          </p:cNvPr>
          <p:cNvSpPr txBox="1"/>
          <p:nvPr/>
        </p:nvSpPr>
        <p:spPr>
          <a:xfrm>
            <a:off x="1611503" y="2424346"/>
            <a:ext cx="214482" cy="174407"/>
          </a:xfrm>
          <a:prstGeom prst="rect">
            <a:avLst/>
          </a:prstGeom>
        </p:spPr>
        <p:txBody>
          <a:bodyPr vert="horz" wrap="square" lIns="0" tIns="12700" rIns="0" bIns="0" rtlCol="0">
            <a:spAutoFit/>
          </a:bodyPr>
          <a:lstStyle/>
          <a:p>
            <a:pPr marL="12700">
              <a:spcBef>
                <a:spcPts val="100"/>
              </a:spcBef>
            </a:pPr>
            <a:r>
              <a:rPr sz="1050" spc="-25" dirty="0">
                <a:solidFill>
                  <a:srgbClr val="00AF50"/>
                </a:solidFill>
                <a:cs typeface="Arial"/>
              </a:rPr>
              <a:t>3%</a:t>
            </a:r>
            <a:endParaRPr sz="1050">
              <a:cs typeface="Arial"/>
            </a:endParaRPr>
          </a:p>
        </p:txBody>
      </p:sp>
      <p:sp>
        <p:nvSpPr>
          <p:cNvPr id="95" name="object 99">
            <a:extLst>
              <a:ext uri="{FF2B5EF4-FFF2-40B4-BE49-F238E27FC236}">
                <a16:creationId xmlns:a16="http://schemas.microsoft.com/office/drawing/2014/main" id="{8B9A08D0-358E-4C35-7252-9866653CD7D2}"/>
              </a:ext>
            </a:extLst>
          </p:cNvPr>
          <p:cNvSpPr txBox="1"/>
          <p:nvPr/>
        </p:nvSpPr>
        <p:spPr>
          <a:xfrm>
            <a:off x="1546979" y="2586373"/>
            <a:ext cx="55562" cy="76302"/>
          </a:xfrm>
          <a:prstGeom prst="rect">
            <a:avLst/>
          </a:prstGeom>
        </p:spPr>
        <p:txBody>
          <a:bodyPr vert="horz" wrap="square" lIns="0" tIns="14604" rIns="0" bIns="0" rtlCol="0">
            <a:spAutoFit/>
          </a:bodyPr>
          <a:lstStyle/>
          <a:p>
            <a:pPr marL="12700">
              <a:spcBef>
                <a:spcPts val="114"/>
              </a:spcBef>
            </a:pPr>
            <a:r>
              <a:rPr sz="400" spc="-50" dirty="0">
                <a:solidFill>
                  <a:srgbClr val="12426B"/>
                </a:solidFill>
                <a:cs typeface="Arial"/>
              </a:rPr>
              <a:t>1</a:t>
            </a:r>
            <a:endParaRPr sz="400">
              <a:cs typeface="Arial"/>
            </a:endParaRPr>
          </a:p>
        </p:txBody>
      </p:sp>
      <p:sp>
        <p:nvSpPr>
          <p:cNvPr id="96" name="object 100">
            <a:extLst>
              <a:ext uri="{FF2B5EF4-FFF2-40B4-BE49-F238E27FC236}">
                <a16:creationId xmlns:a16="http://schemas.microsoft.com/office/drawing/2014/main" id="{CF2DE0AB-7DD9-A5D9-3671-885AEB954A61}"/>
              </a:ext>
            </a:extLst>
          </p:cNvPr>
          <p:cNvSpPr txBox="1"/>
          <p:nvPr/>
        </p:nvSpPr>
        <p:spPr>
          <a:xfrm>
            <a:off x="1148364" y="2584938"/>
            <a:ext cx="997134" cy="104516"/>
          </a:xfrm>
          <a:prstGeom prst="rect">
            <a:avLst/>
          </a:prstGeom>
        </p:spPr>
        <p:txBody>
          <a:bodyPr vert="horz" wrap="square" lIns="0" tIns="12065" rIns="0" bIns="0" rtlCol="0">
            <a:spAutoFit/>
          </a:bodyPr>
          <a:lstStyle/>
          <a:p>
            <a:pPr marL="12700">
              <a:spcBef>
                <a:spcPts val="95"/>
              </a:spcBef>
            </a:pPr>
            <a:r>
              <a:rPr sz="600" dirty="0">
                <a:solidFill>
                  <a:srgbClr val="12426B"/>
                </a:solidFill>
                <a:cs typeface="Arial"/>
              </a:rPr>
              <a:t>2025</a:t>
            </a:r>
            <a:r>
              <a:rPr sz="600" spc="-5" dirty="0">
                <a:solidFill>
                  <a:srgbClr val="12426B"/>
                </a:solidFill>
                <a:cs typeface="Arial"/>
              </a:rPr>
              <a:t> </a:t>
            </a:r>
            <a:r>
              <a:rPr sz="600" dirty="0">
                <a:solidFill>
                  <a:srgbClr val="12426B"/>
                </a:solidFill>
                <a:cs typeface="Arial"/>
              </a:rPr>
              <a:t>IPOs</a:t>
            </a:r>
            <a:r>
              <a:rPr sz="600" spc="250" dirty="0">
                <a:solidFill>
                  <a:srgbClr val="12426B"/>
                </a:solidFill>
                <a:cs typeface="Arial"/>
              </a:rPr>
              <a:t> </a:t>
            </a:r>
            <a:r>
              <a:rPr sz="600" dirty="0">
                <a:solidFill>
                  <a:srgbClr val="12426B"/>
                </a:solidFill>
                <a:cs typeface="Arial"/>
              </a:rPr>
              <a:t>Since </a:t>
            </a:r>
            <a:r>
              <a:rPr sz="600" spc="-10" dirty="0">
                <a:solidFill>
                  <a:srgbClr val="12426B"/>
                </a:solidFill>
                <a:cs typeface="Arial"/>
              </a:rPr>
              <a:t>Listing</a:t>
            </a:r>
            <a:endParaRPr sz="600">
              <a:cs typeface="Arial"/>
            </a:endParaRPr>
          </a:p>
        </p:txBody>
      </p:sp>
      <p:sp>
        <p:nvSpPr>
          <p:cNvPr id="97" name="object 101">
            <a:extLst>
              <a:ext uri="{FF2B5EF4-FFF2-40B4-BE49-F238E27FC236}">
                <a16:creationId xmlns:a16="http://schemas.microsoft.com/office/drawing/2014/main" id="{DFFE4AB9-ACA4-CDB3-C8A4-FB773DCB0E5E}"/>
              </a:ext>
            </a:extLst>
          </p:cNvPr>
          <p:cNvSpPr/>
          <p:nvPr/>
        </p:nvSpPr>
        <p:spPr>
          <a:xfrm>
            <a:off x="1489672" y="2465091"/>
            <a:ext cx="127256" cy="98578"/>
          </a:xfrm>
          <a:custGeom>
            <a:avLst/>
            <a:gdLst/>
            <a:ahLst/>
            <a:cxnLst/>
            <a:rect l="l" t="t" r="r" b="b"/>
            <a:pathLst>
              <a:path w="135255" h="104775">
                <a:moveTo>
                  <a:pt x="67513" y="0"/>
                </a:moveTo>
                <a:lnTo>
                  <a:pt x="0" y="104267"/>
                </a:lnTo>
                <a:lnTo>
                  <a:pt x="135026" y="104267"/>
                </a:lnTo>
                <a:lnTo>
                  <a:pt x="67513" y="0"/>
                </a:lnTo>
                <a:close/>
              </a:path>
            </a:pathLst>
          </a:custGeom>
          <a:solidFill>
            <a:srgbClr val="00AF50"/>
          </a:solidFill>
        </p:spPr>
        <p:txBody>
          <a:bodyPr wrap="square" lIns="0" tIns="0" rIns="0" bIns="0" rtlCol="0"/>
          <a:lstStyle/>
          <a:p>
            <a:endParaRPr sz="1600"/>
          </a:p>
        </p:txBody>
      </p:sp>
      <p:sp>
        <p:nvSpPr>
          <p:cNvPr id="98" name="object 102">
            <a:extLst>
              <a:ext uri="{FF2B5EF4-FFF2-40B4-BE49-F238E27FC236}">
                <a16:creationId xmlns:a16="http://schemas.microsoft.com/office/drawing/2014/main" id="{4EFEF786-C19C-3679-115E-C1A3CBEC5D22}"/>
              </a:ext>
            </a:extLst>
          </p:cNvPr>
          <p:cNvSpPr txBox="1"/>
          <p:nvPr/>
        </p:nvSpPr>
        <p:spPr>
          <a:xfrm>
            <a:off x="3831342" y="2379299"/>
            <a:ext cx="1044930" cy="266740"/>
          </a:xfrm>
          <a:prstGeom prst="rect">
            <a:avLst/>
          </a:prstGeom>
        </p:spPr>
        <p:txBody>
          <a:bodyPr vert="horz" wrap="square" lIns="0" tIns="12700" rIns="0" bIns="0" rtlCol="0">
            <a:spAutoFit/>
          </a:bodyPr>
          <a:lstStyle/>
          <a:p>
            <a:pPr marL="452120">
              <a:spcBef>
                <a:spcPts val="100"/>
              </a:spcBef>
            </a:pPr>
            <a:r>
              <a:rPr sz="1050" spc="-20" dirty="0">
                <a:solidFill>
                  <a:srgbClr val="00AF50"/>
                </a:solidFill>
                <a:cs typeface="Arial"/>
              </a:rPr>
              <a:t>108%</a:t>
            </a:r>
            <a:endParaRPr sz="1050">
              <a:cs typeface="Arial"/>
            </a:endParaRPr>
          </a:p>
          <a:p>
            <a:pPr marL="38100">
              <a:spcBef>
                <a:spcPts val="20"/>
              </a:spcBef>
            </a:pPr>
            <a:r>
              <a:rPr sz="600" dirty="0">
                <a:solidFill>
                  <a:srgbClr val="8D6000"/>
                </a:solidFill>
                <a:cs typeface="Arial"/>
              </a:rPr>
              <a:t>2025</a:t>
            </a:r>
            <a:r>
              <a:rPr sz="600" spc="-10" dirty="0">
                <a:solidFill>
                  <a:srgbClr val="8D6000"/>
                </a:solidFill>
                <a:cs typeface="Arial"/>
              </a:rPr>
              <a:t> </a:t>
            </a:r>
            <a:r>
              <a:rPr sz="600" dirty="0">
                <a:solidFill>
                  <a:srgbClr val="8D6000"/>
                </a:solidFill>
                <a:cs typeface="Arial"/>
              </a:rPr>
              <a:t>IPOs</a:t>
            </a:r>
            <a:r>
              <a:rPr sz="600" baseline="24691" dirty="0">
                <a:solidFill>
                  <a:srgbClr val="8D6000"/>
                </a:solidFill>
                <a:cs typeface="Arial"/>
              </a:rPr>
              <a:t>1</a:t>
            </a:r>
            <a:r>
              <a:rPr sz="600" spc="104" baseline="24691" dirty="0">
                <a:solidFill>
                  <a:srgbClr val="8D6000"/>
                </a:solidFill>
                <a:cs typeface="Arial"/>
              </a:rPr>
              <a:t> </a:t>
            </a:r>
            <a:r>
              <a:rPr sz="600" dirty="0">
                <a:solidFill>
                  <a:srgbClr val="8D6000"/>
                </a:solidFill>
                <a:cs typeface="Arial"/>
              </a:rPr>
              <a:t>Since</a:t>
            </a:r>
            <a:r>
              <a:rPr sz="600" spc="-5" dirty="0">
                <a:solidFill>
                  <a:srgbClr val="8D6000"/>
                </a:solidFill>
                <a:cs typeface="Arial"/>
              </a:rPr>
              <a:t> </a:t>
            </a:r>
            <a:r>
              <a:rPr sz="600" spc="-10" dirty="0">
                <a:solidFill>
                  <a:srgbClr val="8D6000"/>
                </a:solidFill>
                <a:cs typeface="Arial"/>
              </a:rPr>
              <a:t>Listing</a:t>
            </a:r>
            <a:endParaRPr sz="600">
              <a:cs typeface="Arial"/>
            </a:endParaRPr>
          </a:p>
        </p:txBody>
      </p:sp>
      <p:sp>
        <p:nvSpPr>
          <p:cNvPr id="99" name="object 103">
            <a:extLst>
              <a:ext uri="{FF2B5EF4-FFF2-40B4-BE49-F238E27FC236}">
                <a16:creationId xmlns:a16="http://schemas.microsoft.com/office/drawing/2014/main" id="{22D70C26-432A-76C3-783F-F2589D84E6B0}"/>
              </a:ext>
            </a:extLst>
          </p:cNvPr>
          <p:cNvSpPr/>
          <p:nvPr/>
        </p:nvSpPr>
        <p:spPr>
          <a:xfrm>
            <a:off x="4096606" y="2431753"/>
            <a:ext cx="127256" cy="98578"/>
          </a:xfrm>
          <a:custGeom>
            <a:avLst/>
            <a:gdLst/>
            <a:ahLst/>
            <a:cxnLst/>
            <a:rect l="l" t="t" r="r" b="b"/>
            <a:pathLst>
              <a:path w="135254" h="104775">
                <a:moveTo>
                  <a:pt x="67563" y="0"/>
                </a:moveTo>
                <a:lnTo>
                  <a:pt x="0" y="104393"/>
                </a:lnTo>
                <a:lnTo>
                  <a:pt x="135000" y="104393"/>
                </a:lnTo>
                <a:lnTo>
                  <a:pt x="67563" y="0"/>
                </a:lnTo>
                <a:close/>
              </a:path>
            </a:pathLst>
          </a:custGeom>
          <a:solidFill>
            <a:srgbClr val="00AF50"/>
          </a:solidFill>
        </p:spPr>
        <p:txBody>
          <a:bodyPr wrap="square" lIns="0" tIns="0" rIns="0" bIns="0" rtlCol="0"/>
          <a:lstStyle/>
          <a:p>
            <a:endParaRPr sz="1600"/>
          </a:p>
        </p:txBody>
      </p:sp>
      <p:sp>
        <p:nvSpPr>
          <p:cNvPr id="100" name="object 104">
            <a:extLst>
              <a:ext uri="{FF2B5EF4-FFF2-40B4-BE49-F238E27FC236}">
                <a16:creationId xmlns:a16="http://schemas.microsoft.com/office/drawing/2014/main" id="{3DDD1301-C51C-C0C2-40D9-B6480864BF09}"/>
              </a:ext>
            </a:extLst>
          </p:cNvPr>
          <p:cNvSpPr txBox="1"/>
          <p:nvPr/>
        </p:nvSpPr>
        <p:spPr>
          <a:xfrm>
            <a:off x="7022768" y="2373922"/>
            <a:ext cx="1044930" cy="266740"/>
          </a:xfrm>
          <a:prstGeom prst="rect">
            <a:avLst/>
          </a:prstGeom>
        </p:spPr>
        <p:txBody>
          <a:bodyPr vert="horz" wrap="square" lIns="0" tIns="12700" rIns="0" bIns="0" rtlCol="0">
            <a:spAutoFit/>
          </a:bodyPr>
          <a:lstStyle/>
          <a:p>
            <a:pPr marL="452120">
              <a:spcBef>
                <a:spcPts val="100"/>
              </a:spcBef>
            </a:pPr>
            <a:r>
              <a:rPr sz="1050" spc="-20" dirty="0">
                <a:solidFill>
                  <a:srgbClr val="00AF50"/>
                </a:solidFill>
                <a:cs typeface="Arial"/>
              </a:rPr>
              <a:t>292%</a:t>
            </a:r>
            <a:endParaRPr sz="1050">
              <a:cs typeface="Arial"/>
            </a:endParaRPr>
          </a:p>
          <a:p>
            <a:pPr marL="38100">
              <a:spcBef>
                <a:spcPts val="20"/>
              </a:spcBef>
            </a:pPr>
            <a:r>
              <a:rPr sz="600" dirty="0">
                <a:solidFill>
                  <a:srgbClr val="1F3946"/>
                </a:solidFill>
                <a:cs typeface="Arial"/>
              </a:rPr>
              <a:t>2025</a:t>
            </a:r>
            <a:r>
              <a:rPr sz="600" spc="-10" dirty="0">
                <a:solidFill>
                  <a:srgbClr val="1F3946"/>
                </a:solidFill>
                <a:cs typeface="Arial"/>
              </a:rPr>
              <a:t> </a:t>
            </a:r>
            <a:r>
              <a:rPr sz="600" dirty="0">
                <a:solidFill>
                  <a:srgbClr val="1F3946"/>
                </a:solidFill>
                <a:cs typeface="Arial"/>
              </a:rPr>
              <a:t>IPOs</a:t>
            </a:r>
            <a:r>
              <a:rPr sz="600" baseline="24691" dirty="0">
                <a:solidFill>
                  <a:srgbClr val="1F3946"/>
                </a:solidFill>
                <a:cs typeface="Arial"/>
              </a:rPr>
              <a:t>1</a:t>
            </a:r>
            <a:r>
              <a:rPr sz="600" spc="104" baseline="24691" dirty="0">
                <a:solidFill>
                  <a:srgbClr val="1F3946"/>
                </a:solidFill>
                <a:cs typeface="Arial"/>
              </a:rPr>
              <a:t> </a:t>
            </a:r>
            <a:r>
              <a:rPr sz="600" dirty="0">
                <a:solidFill>
                  <a:srgbClr val="1F3946"/>
                </a:solidFill>
                <a:cs typeface="Arial"/>
              </a:rPr>
              <a:t>Since</a:t>
            </a:r>
            <a:r>
              <a:rPr sz="600" spc="-5" dirty="0">
                <a:solidFill>
                  <a:srgbClr val="1F3946"/>
                </a:solidFill>
                <a:cs typeface="Arial"/>
              </a:rPr>
              <a:t> </a:t>
            </a:r>
            <a:r>
              <a:rPr sz="600" spc="-10" dirty="0">
                <a:solidFill>
                  <a:srgbClr val="1F3946"/>
                </a:solidFill>
                <a:cs typeface="Arial"/>
              </a:rPr>
              <a:t>Listing</a:t>
            </a:r>
            <a:endParaRPr sz="600">
              <a:cs typeface="Arial"/>
            </a:endParaRPr>
          </a:p>
        </p:txBody>
      </p:sp>
      <p:grpSp>
        <p:nvGrpSpPr>
          <p:cNvPr id="101" name="object 105">
            <a:extLst>
              <a:ext uri="{FF2B5EF4-FFF2-40B4-BE49-F238E27FC236}">
                <a16:creationId xmlns:a16="http://schemas.microsoft.com/office/drawing/2014/main" id="{A2F5CFC1-261E-ECB9-029E-355D8C3847C1}"/>
              </a:ext>
            </a:extLst>
          </p:cNvPr>
          <p:cNvGrpSpPr/>
          <p:nvPr/>
        </p:nvGrpSpPr>
        <p:grpSpPr>
          <a:xfrm>
            <a:off x="1303068" y="2426377"/>
            <a:ext cx="7516933" cy="1485605"/>
            <a:chOff x="832343" y="2010273"/>
            <a:chExt cx="7989444" cy="1578985"/>
          </a:xfrm>
        </p:grpSpPr>
        <p:sp>
          <p:nvSpPr>
            <p:cNvPr id="102" name="object 106">
              <a:extLst>
                <a:ext uri="{FF2B5EF4-FFF2-40B4-BE49-F238E27FC236}">
                  <a16:creationId xmlns:a16="http://schemas.microsoft.com/office/drawing/2014/main" id="{6A02786C-F7A5-6C05-0326-5C7B9C330028}"/>
                </a:ext>
              </a:extLst>
            </p:cNvPr>
            <p:cNvSpPr/>
            <p:nvPr/>
          </p:nvSpPr>
          <p:spPr>
            <a:xfrm>
              <a:off x="7209779" y="2010273"/>
              <a:ext cx="135255" cy="104774"/>
            </a:xfrm>
            <a:custGeom>
              <a:avLst/>
              <a:gdLst/>
              <a:ahLst/>
              <a:cxnLst/>
              <a:rect l="l" t="t" r="r" b="b"/>
              <a:pathLst>
                <a:path w="135254" h="104775">
                  <a:moveTo>
                    <a:pt x="67563" y="0"/>
                  </a:moveTo>
                  <a:lnTo>
                    <a:pt x="0" y="104267"/>
                  </a:lnTo>
                  <a:lnTo>
                    <a:pt x="135000" y="104267"/>
                  </a:lnTo>
                  <a:lnTo>
                    <a:pt x="67563" y="0"/>
                  </a:lnTo>
                  <a:close/>
                </a:path>
              </a:pathLst>
            </a:custGeom>
            <a:solidFill>
              <a:srgbClr val="00AF50"/>
            </a:solidFill>
          </p:spPr>
          <p:txBody>
            <a:bodyPr wrap="square" lIns="0" tIns="0" rIns="0" bIns="0" rtlCol="0"/>
            <a:lstStyle/>
            <a:p>
              <a:endParaRPr sz="1600"/>
            </a:p>
          </p:txBody>
        </p:sp>
        <p:sp>
          <p:nvSpPr>
            <p:cNvPr id="103" name="object 107">
              <a:extLst>
                <a:ext uri="{FF2B5EF4-FFF2-40B4-BE49-F238E27FC236}">
                  <a16:creationId xmlns:a16="http://schemas.microsoft.com/office/drawing/2014/main" id="{21A62B08-56D4-C45E-A322-70C4F4930C97}"/>
                </a:ext>
              </a:extLst>
            </p:cNvPr>
            <p:cNvSpPr/>
            <p:nvPr/>
          </p:nvSpPr>
          <p:spPr>
            <a:xfrm>
              <a:off x="8414118" y="3104755"/>
              <a:ext cx="407669" cy="484503"/>
            </a:xfrm>
            <a:custGeom>
              <a:avLst/>
              <a:gdLst/>
              <a:ahLst/>
              <a:cxnLst/>
              <a:rect l="l" t="t" r="r" b="b"/>
              <a:pathLst>
                <a:path w="407670" h="484504">
                  <a:moveTo>
                    <a:pt x="0" y="484124"/>
                  </a:moveTo>
                  <a:lnTo>
                    <a:pt x="407314" y="484124"/>
                  </a:lnTo>
                  <a:lnTo>
                    <a:pt x="407314" y="0"/>
                  </a:lnTo>
                  <a:lnTo>
                    <a:pt x="0" y="0"/>
                  </a:lnTo>
                  <a:lnTo>
                    <a:pt x="0" y="484124"/>
                  </a:lnTo>
                  <a:close/>
                </a:path>
              </a:pathLst>
            </a:custGeom>
            <a:ln w="12700">
              <a:solidFill>
                <a:srgbClr val="F4364B"/>
              </a:solidFill>
              <a:prstDash val="sysDot"/>
            </a:ln>
          </p:spPr>
          <p:txBody>
            <a:bodyPr wrap="square" lIns="0" tIns="0" rIns="0" bIns="0" rtlCol="0"/>
            <a:lstStyle/>
            <a:p>
              <a:endParaRPr sz="1600"/>
            </a:p>
          </p:txBody>
        </p:sp>
        <p:pic>
          <p:nvPicPr>
            <p:cNvPr id="104" name="object 108" descr="135,500+ 項獎杯插圖檔、免版稅向量圖形及美工圖案- iStock">
              <a:extLst>
                <a:ext uri="{FF2B5EF4-FFF2-40B4-BE49-F238E27FC236}">
                  <a16:creationId xmlns:a16="http://schemas.microsoft.com/office/drawing/2014/main" id="{91AF43E5-C474-4DD2-A7C8-B522DC519BB3}"/>
                </a:ext>
              </a:extLst>
            </p:cNvPr>
            <p:cNvPicPr/>
            <p:nvPr/>
          </p:nvPicPr>
          <p:blipFill>
            <a:blip r:embed="rId19" cstate="print"/>
            <a:stretch>
              <a:fillRect/>
            </a:stretch>
          </p:blipFill>
          <p:spPr>
            <a:xfrm>
              <a:off x="832343" y="2784362"/>
              <a:ext cx="240385" cy="240384"/>
            </a:xfrm>
            <a:prstGeom prst="rect">
              <a:avLst/>
            </a:prstGeom>
          </p:spPr>
        </p:pic>
        <p:pic>
          <p:nvPicPr>
            <p:cNvPr id="105" name="object 109" descr="135,500+ 項獎杯插圖檔、免版稅向量圖形及美工圖案- iStock">
              <a:extLst>
                <a:ext uri="{FF2B5EF4-FFF2-40B4-BE49-F238E27FC236}">
                  <a16:creationId xmlns:a16="http://schemas.microsoft.com/office/drawing/2014/main" id="{E0DA8399-8268-E715-9F41-1760614A233D}"/>
                </a:ext>
              </a:extLst>
            </p:cNvPr>
            <p:cNvPicPr/>
            <p:nvPr/>
          </p:nvPicPr>
          <p:blipFill>
            <a:blip r:embed="rId19" cstate="print"/>
            <a:stretch>
              <a:fillRect/>
            </a:stretch>
          </p:blipFill>
          <p:spPr>
            <a:xfrm>
              <a:off x="1522600" y="2784363"/>
              <a:ext cx="240385" cy="240384"/>
            </a:xfrm>
            <a:prstGeom prst="rect">
              <a:avLst/>
            </a:prstGeom>
          </p:spPr>
        </p:pic>
        <p:pic>
          <p:nvPicPr>
            <p:cNvPr id="106" name="object 110" descr="135,500+ 項獎杯插圖檔、免版稅向量圖形及美工圖案- iStock">
              <a:extLst>
                <a:ext uri="{FF2B5EF4-FFF2-40B4-BE49-F238E27FC236}">
                  <a16:creationId xmlns:a16="http://schemas.microsoft.com/office/drawing/2014/main" id="{F14B5A80-79C0-C501-8363-95B18957426F}"/>
                </a:ext>
              </a:extLst>
            </p:cNvPr>
            <p:cNvPicPr/>
            <p:nvPr/>
          </p:nvPicPr>
          <p:blipFill>
            <a:blip r:embed="rId19" cstate="print"/>
            <a:stretch>
              <a:fillRect/>
            </a:stretch>
          </p:blipFill>
          <p:spPr>
            <a:xfrm>
              <a:off x="2298950" y="2784366"/>
              <a:ext cx="240385" cy="240385"/>
            </a:xfrm>
            <a:prstGeom prst="rect">
              <a:avLst/>
            </a:prstGeom>
          </p:spPr>
        </p:pic>
        <p:sp>
          <p:nvSpPr>
            <p:cNvPr id="107" name="object 111">
              <a:extLst>
                <a:ext uri="{FF2B5EF4-FFF2-40B4-BE49-F238E27FC236}">
                  <a16:creationId xmlns:a16="http://schemas.microsoft.com/office/drawing/2014/main" id="{713E87D1-8AA8-98BD-DFE6-70ABEAB59138}"/>
                </a:ext>
              </a:extLst>
            </p:cNvPr>
            <p:cNvSpPr/>
            <p:nvPr/>
          </p:nvSpPr>
          <p:spPr>
            <a:xfrm>
              <a:off x="7015353" y="3295155"/>
              <a:ext cx="294005" cy="122555"/>
            </a:xfrm>
            <a:custGeom>
              <a:avLst/>
              <a:gdLst/>
              <a:ahLst/>
              <a:cxnLst/>
              <a:rect l="l" t="t" r="r" b="b"/>
              <a:pathLst>
                <a:path w="294004" h="122554">
                  <a:moveTo>
                    <a:pt x="293420" y="0"/>
                  </a:moveTo>
                  <a:lnTo>
                    <a:pt x="0" y="0"/>
                  </a:lnTo>
                  <a:lnTo>
                    <a:pt x="0" y="122287"/>
                  </a:lnTo>
                  <a:lnTo>
                    <a:pt x="293420" y="122287"/>
                  </a:lnTo>
                  <a:lnTo>
                    <a:pt x="293420" y="0"/>
                  </a:lnTo>
                  <a:close/>
                </a:path>
              </a:pathLst>
            </a:custGeom>
            <a:solidFill>
              <a:srgbClr val="FFFFFF"/>
            </a:solidFill>
          </p:spPr>
          <p:txBody>
            <a:bodyPr wrap="square" lIns="0" tIns="0" rIns="0" bIns="0" rtlCol="0"/>
            <a:lstStyle/>
            <a:p>
              <a:endParaRPr sz="1600"/>
            </a:p>
          </p:txBody>
        </p:sp>
      </p:grpSp>
      <p:sp>
        <p:nvSpPr>
          <p:cNvPr id="108" name="object 112">
            <a:extLst>
              <a:ext uri="{FF2B5EF4-FFF2-40B4-BE49-F238E27FC236}">
                <a16:creationId xmlns:a16="http://schemas.microsoft.com/office/drawing/2014/main" id="{EF4DD72A-A18B-C2F2-79DA-52496CEA9E98}"/>
              </a:ext>
            </a:extLst>
          </p:cNvPr>
          <p:cNvSpPr txBox="1"/>
          <p:nvPr/>
        </p:nvSpPr>
        <p:spPr>
          <a:xfrm>
            <a:off x="3852612" y="3209267"/>
            <a:ext cx="1871195" cy="94898"/>
          </a:xfrm>
          <a:prstGeom prst="rect">
            <a:avLst/>
          </a:prstGeom>
        </p:spPr>
        <p:txBody>
          <a:bodyPr vert="horz" wrap="square" lIns="0" tIns="12700" rIns="0" bIns="0" rtlCol="0">
            <a:spAutoFit/>
          </a:bodyPr>
          <a:lstStyle/>
          <a:p>
            <a:pPr marL="12700">
              <a:spcBef>
                <a:spcPts val="100"/>
              </a:spcBef>
            </a:pPr>
            <a:r>
              <a:rPr sz="800" baseline="4629" dirty="0">
                <a:solidFill>
                  <a:srgbClr val="585858"/>
                </a:solidFill>
                <a:cs typeface="Arial"/>
              </a:rPr>
              <a:t>(US$bn)</a:t>
            </a:r>
            <a:r>
              <a:rPr sz="800" spc="644" baseline="4629" dirty="0">
                <a:solidFill>
                  <a:srgbClr val="585858"/>
                </a:solidFill>
                <a:cs typeface="Arial"/>
              </a:rPr>
              <a:t> </a:t>
            </a:r>
            <a:r>
              <a:rPr sz="500" dirty="0">
                <a:solidFill>
                  <a:srgbClr val="8D6000"/>
                </a:solidFill>
                <a:cs typeface="Arial"/>
              </a:rPr>
              <a:t>Q1</a:t>
            </a:r>
            <a:r>
              <a:rPr sz="500" spc="-10" dirty="0">
                <a:solidFill>
                  <a:srgbClr val="8D6000"/>
                </a:solidFill>
                <a:cs typeface="Arial"/>
              </a:rPr>
              <a:t> </a:t>
            </a:r>
            <a:r>
              <a:rPr sz="500" dirty="0">
                <a:solidFill>
                  <a:srgbClr val="8D6000"/>
                </a:solidFill>
                <a:cs typeface="Arial"/>
              </a:rPr>
              <a:t>HK</a:t>
            </a:r>
            <a:r>
              <a:rPr sz="500" spc="-15" dirty="0">
                <a:solidFill>
                  <a:srgbClr val="8D6000"/>
                </a:solidFill>
                <a:cs typeface="Arial"/>
              </a:rPr>
              <a:t> </a:t>
            </a:r>
            <a:r>
              <a:rPr sz="500" spc="-10" dirty="0">
                <a:solidFill>
                  <a:srgbClr val="8D6000"/>
                </a:solidFill>
                <a:cs typeface="Arial"/>
              </a:rPr>
              <a:t>Healthcare</a:t>
            </a:r>
            <a:r>
              <a:rPr sz="500" spc="-15" dirty="0">
                <a:solidFill>
                  <a:srgbClr val="8D6000"/>
                </a:solidFill>
                <a:cs typeface="Arial"/>
              </a:rPr>
              <a:t> </a:t>
            </a:r>
            <a:r>
              <a:rPr sz="500" dirty="0">
                <a:solidFill>
                  <a:srgbClr val="8D6000"/>
                </a:solidFill>
                <a:cs typeface="Arial"/>
              </a:rPr>
              <a:t>ECM</a:t>
            </a:r>
            <a:r>
              <a:rPr sz="500" spc="-10" dirty="0">
                <a:solidFill>
                  <a:srgbClr val="8D6000"/>
                </a:solidFill>
                <a:cs typeface="Arial"/>
              </a:rPr>
              <a:t> </a:t>
            </a:r>
            <a:r>
              <a:rPr sz="500" dirty="0">
                <a:solidFill>
                  <a:srgbClr val="8D6000"/>
                </a:solidFill>
                <a:cs typeface="Arial"/>
              </a:rPr>
              <a:t>Issuance Since</a:t>
            </a:r>
            <a:r>
              <a:rPr sz="500" spc="-10" dirty="0">
                <a:solidFill>
                  <a:srgbClr val="8D6000"/>
                </a:solidFill>
                <a:cs typeface="Arial"/>
              </a:rPr>
              <a:t> </a:t>
            </a:r>
            <a:r>
              <a:rPr sz="500" spc="-20" dirty="0">
                <a:solidFill>
                  <a:srgbClr val="8D6000"/>
                </a:solidFill>
                <a:cs typeface="Arial"/>
              </a:rPr>
              <a:t>2022</a:t>
            </a:r>
            <a:endParaRPr sz="500">
              <a:cs typeface="Arial"/>
            </a:endParaRPr>
          </a:p>
        </p:txBody>
      </p:sp>
      <p:sp>
        <p:nvSpPr>
          <p:cNvPr id="109" name="object 113">
            <a:extLst>
              <a:ext uri="{FF2B5EF4-FFF2-40B4-BE49-F238E27FC236}">
                <a16:creationId xmlns:a16="http://schemas.microsoft.com/office/drawing/2014/main" id="{01CC104C-23CE-1B7E-54BF-4DF961260D7A}"/>
              </a:ext>
            </a:extLst>
          </p:cNvPr>
          <p:cNvSpPr txBox="1"/>
          <p:nvPr/>
        </p:nvSpPr>
        <p:spPr>
          <a:xfrm>
            <a:off x="6462485" y="3237108"/>
            <a:ext cx="2266702" cy="94898"/>
          </a:xfrm>
          <a:prstGeom prst="rect">
            <a:avLst/>
          </a:prstGeom>
        </p:spPr>
        <p:txBody>
          <a:bodyPr vert="horz" wrap="square" lIns="0" tIns="12700" rIns="0" bIns="0" rtlCol="0">
            <a:spAutoFit/>
          </a:bodyPr>
          <a:lstStyle/>
          <a:p>
            <a:pPr marL="38100">
              <a:spcBef>
                <a:spcPts val="100"/>
              </a:spcBef>
            </a:pPr>
            <a:r>
              <a:rPr sz="800" baseline="-13888" dirty="0">
                <a:solidFill>
                  <a:srgbClr val="585858"/>
                </a:solidFill>
                <a:cs typeface="Arial"/>
              </a:rPr>
              <a:t>(US$bn) </a:t>
            </a:r>
            <a:r>
              <a:rPr sz="500" spc="-10" dirty="0">
                <a:solidFill>
                  <a:srgbClr val="41748D"/>
                </a:solidFill>
                <a:cs typeface="Arial"/>
              </a:rPr>
              <a:t>Quarterly</a:t>
            </a:r>
            <a:r>
              <a:rPr sz="500" spc="-15" dirty="0">
                <a:solidFill>
                  <a:srgbClr val="41748D"/>
                </a:solidFill>
                <a:cs typeface="Arial"/>
              </a:rPr>
              <a:t> </a:t>
            </a:r>
            <a:r>
              <a:rPr sz="500" dirty="0">
                <a:solidFill>
                  <a:srgbClr val="41748D"/>
                </a:solidFill>
                <a:cs typeface="Arial"/>
              </a:rPr>
              <a:t>HK</a:t>
            </a:r>
            <a:r>
              <a:rPr sz="500" spc="-15" dirty="0">
                <a:solidFill>
                  <a:srgbClr val="41748D"/>
                </a:solidFill>
                <a:cs typeface="Arial"/>
              </a:rPr>
              <a:t> </a:t>
            </a:r>
            <a:r>
              <a:rPr sz="500" dirty="0">
                <a:solidFill>
                  <a:srgbClr val="41748D"/>
                </a:solidFill>
                <a:cs typeface="Arial"/>
              </a:rPr>
              <a:t>Metals</a:t>
            </a:r>
            <a:r>
              <a:rPr sz="500" spc="-10" dirty="0">
                <a:solidFill>
                  <a:srgbClr val="41748D"/>
                </a:solidFill>
                <a:cs typeface="Arial"/>
              </a:rPr>
              <a:t> </a:t>
            </a:r>
            <a:r>
              <a:rPr sz="500" dirty="0">
                <a:solidFill>
                  <a:srgbClr val="41748D"/>
                </a:solidFill>
                <a:cs typeface="Arial"/>
              </a:rPr>
              <a:t>&amp;</a:t>
            </a:r>
            <a:r>
              <a:rPr sz="500" spc="-20" dirty="0">
                <a:solidFill>
                  <a:srgbClr val="41748D"/>
                </a:solidFill>
                <a:cs typeface="Arial"/>
              </a:rPr>
              <a:t> </a:t>
            </a:r>
            <a:r>
              <a:rPr sz="500" dirty="0">
                <a:solidFill>
                  <a:srgbClr val="41748D"/>
                </a:solidFill>
                <a:cs typeface="Arial"/>
              </a:rPr>
              <a:t>Mining ECM</a:t>
            </a:r>
            <a:r>
              <a:rPr sz="500" spc="-15" dirty="0">
                <a:solidFill>
                  <a:srgbClr val="41748D"/>
                </a:solidFill>
                <a:cs typeface="Arial"/>
              </a:rPr>
              <a:t> </a:t>
            </a:r>
            <a:r>
              <a:rPr sz="500" dirty="0">
                <a:solidFill>
                  <a:srgbClr val="41748D"/>
                </a:solidFill>
                <a:cs typeface="Arial"/>
              </a:rPr>
              <a:t>Issuance</a:t>
            </a:r>
            <a:r>
              <a:rPr sz="500" spc="-15" dirty="0">
                <a:solidFill>
                  <a:srgbClr val="41748D"/>
                </a:solidFill>
                <a:cs typeface="Arial"/>
              </a:rPr>
              <a:t> </a:t>
            </a:r>
            <a:r>
              <a:rPr sz="500" dirty="0">
                <a:solidFill>
                  <a:srgbClr val="41748D"/>
                </a:solidFill>
                <a:cs typeface="Arial"/>
              </a:rPr>
              <a:t>Since</a:t>
            </a:r>
            <a:r>
              <a:rPr sz="500" spc="-5" dirty="0">
                <a:solidFill>
                  <a:srgbClr val="41748D"/>
                </a:solidFill>
                <a:cs typeface="Arial"/>
              </a:rPr>
              <a:t> </a:t>
            </a:r>
            <a:r>
              <a:rPr sz="500" spc="-20" dirty="0">
                <a:solidFill>
                  <a:srgbClr val="41748D"/>
                </a:solidFill>
                <a:cs typeface="Arial"/>
              </a:rPr>
              <a:t>2025</a:t>
            </a:r>
            <a:endParaRPr sz="500">
              <a:cs typeface="Arial"/>
            </a:endParaRPr>
          </a:p>
        </p:txBody>
      </p:sp>
      <p:sp>
        <p:nvSpPr>
          <p:cNvPr id="110" name="object 114">
            <a:extLst>
              <a:ext uri="{FF2B5EF4-FFF2-40B4-BE49-F238E27FC236}">
                <a16:creationId xmlns:a16="http://schemas.microsoft.com/office/drawing/2014/main" id="{82570FBC-376B-FE5C-9510-E8248971CDA7}"/>
              </a:ext>
            </a:extLst>
          </p:cNvPr>
          <p:cNvSpPr txBox="1"/>
          <p:nvPr/>
        </p:nvSpPr>
        <p:spPr>
          <a:xfrm>
            <a:off x="7109516" y="3629987"/>
            <a:ext cx="165492" cy="89768"/>
          </a:xfrm>
          <a:prstGeom prst="rect">
            <a:avLst/>
          </a:prstGeom>
        </p:spPr>
        <p:txBody>
          <a:bodyPr vert="horz" wrap="square" lIns="0" tIns="12700" rIns="0" bIns="0" rtlCol="0">
            <a:spAutoFit/>
          </a:bodyPr>
          <a:lstStyle/>
          <a:p>
            <a:pPr marL="12700">
              <a:spcBef>
                <a:spcPts val="100"/>
              </a:spcBef>
            </a:pPr>
            <a:r>
              <a:rPr sz="500" spc="-20" dirty="0">
                <a:cs typeface="Arial"/>
              </a:rPr>
              <a:t>&lt;0.1</a:t>
            </a:r>
            <a:endParaRPr sz="500">
              <a:cs typeface="Arial"/>
            </a:endParaRPr>
          </a:p>
        </p:txBody>
      </p:sp>
      <p:sp>
        <p:nvSpPr>
          <p:cNvPr id="111" name="object 115">
            <a:extLst>
              <a:ext uri="{FF2B5EF4-FFF2-40B4-BE49-F238E27FC236}">
                <a16:creationId xmlns:a16="http://schemas.microsoft.com/office/drawing/2014/main" id="{C2168594-9911-5D2D-0C00-12224784C130}"/>
              </a:ext>
            </a:extLst>
          </p:cNvPr>
          <p:cNvSpPr txBox="1"/>
          <p:nvPr/>
        </p:nvSpPr>
        <p:spPr>
          <a:xfrm>
            <a:off x="1396423" y="4616152"/>
            <a:ext cx="343530" cy="89768"/>
          </a:xfrm>
          <a:prstGeom prst="rect">
            <a:avLst/>
          </a:prstGeom>
        </p:spPr>
        <p:txBody>
          <a:bodyPr vert="horz" wrap="square" lIns="0" tIns="12700" rIns="0" bIns="0" rtlCol="0">
            <a:spAutoFit/>
          </a:bodyPr>
          <a:lstStyle/>
          <a:p>
            <a:pPr marL="12700">
              <a:spcBef>
                <a:spcPts val="100"/>
              </a:spcBef>
            </a:pPr>
            <a:r>
              <a:rPr sz="500" spc="-10" dirty="0">
                <a:cs typeface="Arial"/>
              </a:rPr>
              <a:t>US$1.5bn</a:t>
            </a:r>
            <a:endParaRPr sz="500">
              <a:cs typeface="Arial"/>
            </a:endParaRPr>
          </a:p>
        </p:txBody>
      </p:sp>
      <p:grpSp>
        <p:nvGrpSpPr>
          <p:cNvPr id="112" name="object 116">
            <a:extLst>
              <a:ext uri="{FF2B5EF4-FFF2-40B4-BE49-F238E27FC236}">
                <a16:creationId xmlns:a16="http://schemas.microsoft.com/office/drawing/2014/main" id="{A4313B32-F314-3DC5-3F35-244C1893A073}"/>
              </a:ext>
            </a:extLst>
          </p:cNvPr>
          <p:cNvGrpSpPr/>
          <p:nvPr/>
        </p:nvGrpSpPr>
        <p:grpSpPr>
          <a:xfrm>
            <a:off x="1288346" y="4302769"/>
            <a:ext cx="2194003" cy="231019"/>
            <a:chOff x="816699" y="4004627"/>
            <a:chExt cx="2331921" cy="245541"/>
          </a:xfrm>
        </p:grpSpPr>
        <p:pic>
          <p:nvPicPr>
            <p:cNvPr id="113" name="object 117">
              <a:extLst>
                <a:ext uri="{FF2B5EF4-FFF2-40B4-BE49-F238E27FC236}">
                  <a16:creationId xmlns:a16="http://schemas.microsoft.com/office/drawing/2014/main" id="{3F16C15C-535E-C3E9-2681-89E1ABC65814}"/>
                </a:ext>
              </a:extLst>
            </p:cNvPr>
            <p:cNvPicPr/>
            <p:nvPr/>
          </p:nvPicPr>
          <p:blipFill>
            <a:blip r:embed="rId20" cstate="print"/>
            <a:stretch>
              <a:fillRect/>
            </a:stretch>
          </p:blipFill>
          <p:spPr>
            <a:xfrm>
              <a:off x="816699" y="4006253"/>
              <a:ext cx="634123" cy="239090"/>
            </a:xfrm>
            <a:prstGeom prst="rect">
              <a:avLst/>
            </a:prstGeom>
          </p:spPr>
        </p:pic>
        <p:pic>
          <p:nvPicPr>
            <p:cNvPr id="114" name="object 118">
              <a:extLst>
                <a:ext uri="{FF2B5EF4-FFF2-40B4-BE49-F238E27FC236}">
                  <a16:creationId xmlns:a16="http://schemas.microsoft.com/office/drawing/2014/main" id="{27AD4056-3CB2-C0B8-D08E-F79BF9ADB167}"/>
                </a:ext>
              </a:extLst>
            </p:cNvPr>
            <p:cNvPicPr/>
            <p:nvPr/>
          </p:nvPicPr>
          <p:blipFill>
            <a:blip r:embed="rId21" cstate="print"/>
            <a:stretch>
              <a:fillRect/>
            </a:stretch>
          </p:blipFill>
          <p:spPr>
            <a:xfrm>
              <a:off x="1585086" y="4035921"/>
              <a:ext cx="761288" cy="175171"/>
            </a:xfrm>
            <a:prstGeom prst="rect">
              <a:avLst/>
            </a:prstGeom>
          </p:spPr>
        </p:pic>
        <p:pic>
          <p:nvPicPr>
            <p:cNvPr id="115" name="object 119">
              <a:extLst>
                <a:ext uri="{FF2B5EF4-FFF2-40B4-BE49-F238E27FC236}">
                  <a16:creationId xmlns:a16="http://schemas.microsoft.com/office/drawing/2014/main" id="{A6143256-EECD-6F51-CB6E-58E239C34595}"/>
                </a:ext>
              </a:extLst>
            </p:cNvPr>
            <p:cNvPicPr/>
            <p:nvPr/>
          </p:nvPicPr>
          <p:blipFill>
            <a:blip r:embed="rId22" cstate="print"/>
            <a:stretch>
              <a:fillRect/>
            </a:stretch>
          </p:blipFill>
          <p:spPr>
            <a:xfrm>
              <a:off x="2471164" y="4004627"/>
              <a:ext cx="677456" cy="245541"/>
            </a:xfrm>
            <a:prstGeom prst="rect">
              <a:avLst/>
            </a:prstGeom>
          </p:spPr>
        </p:pic>
      </p:grpSp>
      <p:sp>
        <p:nvSpPr>
          <p:cNvPr id="116" name="object 120">
            <a:extLst>
              <a:ext uri="{FF2B5EF4-FFF2-40B4-BE49-F238E27FC236}">
                <a16:creationId xmlns:a16="http://schemas.microsoft.com/office/drawing/2014/main" id="{5A4E31F1-0E47-C03C-0269-5DD0B62BE2ED}"/>
              </a:ext>
            </a:extLst>
          </p:cNvPr>
          <p:cNvSpPr txBox="1"/>
          <p:nvPr/>
        </p:nvSpPr>
        <p:spPr>
          <a:xfrm>
            <a:off x="2182755" y="4611277"/>
            <a:ext cx="343530" cy="89768"/>
          </a:xfrm>
          <a:prstGeom prst="rect">
            <a:avLst/>
          </a:prstGeom>
        </p:spPr>
        <p:txBody>
          <a:bodyPr vert="horz" wrap="square" lIns="0" tIns="12700" rIns="0" bIns="0" rtlCol="0">
            <a:spAutoFit/>
          </a:bodyPr>
          <a:lstStyle/>
          <a:p>
            <a:pPr marL="12700">
              <a:spcBef>
                <a:spcPts val="100"/>
              </a:spcBef>
            </a:pPr>
            <a:r>
              <a:rPr sz="500" spc="-10" dirty="0">
                <a:cs typeface="Arial"/>
              </a:rPr>
              <a:t>US$1.4bn</a:t>
            </a:r>
            <a:endParaRPr sz="500">
              <a:cs typeface="Arial"/>
            </a:endParaRPr>
          </a:p>
        </p:txBody>
      </p:sp>
      <p:sp>
        <p:nvSpPr>
          <p:cNvPr id="117" name="object 121">
            <a:extLst>
              <a:ext uri="{FF2B5EF4-FFF2-40B4-BE49-F238E27FC236}">
                <a16:creationId xmlns:a16="http://schemas.microsoft.com/office/drawing/2014/main" id="{929863D2-9D6D-422C-A600-60365FAEBF95}"/>
              </a:ext>
            </a:extLst>
          </p:cNvPr>
          <p:cNvSpPr txBox="1"/>
          <p:nvPr/>
        </p:nvSpPr>
        <p:spPr>
          <a:xfrm>
            <a:off x="2951905" y="4615006"/>
            <a:ext cx="400287" cy="89768"/>
          </a:xfrm>
          <a:prstGeom prst="rect">
            <a:avLst/>
          </a:prstGeom>
        </p:spPr>
        <p:txBody>
          <a:bodyPr vert="horz" wrap="square" lIns="0" tIns="12700" rIns="0" bIns="0" rtlCol="0">
            <a:spAutoFit/>
          </a:bodyPr>
          <a:lstStyle/>
          <a:p>
            <a:pPr marL="12700">
              <a:spcBef>
                <a:spcPts val="100"/>
              </a:spcBef>
            </a:pPr>
            <a:r>
              <a:rPr sz="500" spc="-10" dirty="0">
                <a:cs typeface="Arial"/>
              </a:rPr>
              <a:t>US$541mm</a:t>
            </a:r>
            <a:endParaRPr sz="500">
              <a:cs typeface="Arial"/>
            </a:endParaRPr>
          </a:p>
        </p:txBody>
      </p:sp>
      <p:sp>
        <p:nvSpPr>
          <p:cNvPr id="118" name="object 122">
            <a:extLst>
              <a:ext uri="{FF2B5EF4-FFF2-40B4-BE49-F238E27FC236}">
                <a16:creationId xmlns:a16="http://schemas.microsoft.com/office/drawing/2014/main" id="{E1D07B24-F4FB-F280-DE9A-D14A43FD59A6}"/>
              </a:ext>
            </a:extLst>
          </p:cNvPr>
          <p:cNvSpPr txBox="1"/>
          <p:nvPr/>
        </p:nvSpPr>
        <p:spPr>
          <a:xfrm>
            <a:off x="5060165" y="2379299"/>
            <a:ext cx="1044930" cy="266740"/>
          </a:xfrm>
          <a:prstGeom prst="rect">
            <a:avLst/>
          </a:prstGeom>
        </p:spPr>
        <p:txBody>
          <a:bodyPr vert="horz" wrap="square" lIns="0" tIns="12700" rIns="0" bIns="0" rtlCol="0">
            <a:spAutoFit/>
          </a:bodyPr>
          <a:lstStyle/>
          <a:p>
            <a:pPr marL="492125">
              <a:spcBef>
                <a:spcPts val="100"/>
              </a:spcBef>
            </a:pPr>
            <a:r>
              <a:rPr sz="1050" spc="-25" dirty="0">
                <a:solidFill>
                  <a:srgbClr val="00AF50"/>
                </a:solidFill>
                <a:cs typeface="Arial"/>
              </a:rPr>
              <a:t>43%</a:t>
            </a:r>
            <a:endParaRPr sz="1050">
              <a:cs typeface="Arial"/>
            </a:endParaRPr>
          </a:p>
          <a:p>
            <a:pPr marL="38100">
              <a:spcBef>
                <a:spcPts val="20"/>
              </a:spcBef>
            </a:pPr>
            <a:r>
              <a:rPr sz="600" dirty="0">
                <a:solidFill>
                  <a:srgbClr val="8D6000"/>
                </a:solidFill>
                <a:cs typeface="Arial"/>
              </a:rPr>
              <a:t>2026</a:t>
            </a:r>
            <a:r>
              <a:rPr sz="600" spc="-10" dirty="0">
                <a:solidFill>
                  <a:srgbClr val="8D6000"/>
                </a:solidFill>
                <a:cs typeface="Arial"/>
              </a:rPr>
              <a:t> </a:t>
            </a:r>
            <a:r>
              <a:rPr sz="600" dirty="0">
                <a:solidFill>
                  <a:srgbClr val="8D6000"/>
                </a:solidFill>
                <a:cs typeface="Arial"/>
              </a:rPr>
              <a:t>IPOs</a:t>
            </a:r>
            <a:r>
              <a:rPr sz="600" baseline="24691" dirty="0">
                <a:solidFill>
                  <a:srgbClr val="8D6000"/>
                </a:solidFill>
                <a:cs typeface="Arial"/>
              </a:rPr>
              <a:t>1</a:t>
            </a:r>
            <a:r>
              <a:rPr sz="600" spc="104" baseline="24691" dirty="0">
                <a:solidFill>
                  <a:srgbClr val="8D6000"/>
                </a:solidFill>
                <a:cs typeface="Arial"/>
              </a:rPr>
              <a:t> </a:t>
            </a:r>
            <a:r>
              <a:rPr sz="600" dirty="0">
                <a:solidFill>
                  <a:srgbClr val="8D6000"/>
                </a:solidFill>
                <a:cs typeface="Arial"/>
              </a:rPr>
              <a:t>Since</a:t>
            </a:r>
            <a:r>
              <a:rPr sz="600" spc="-5" dirty="0">
                <a:solidFill>
                  <a:srgbClr val="8D6000"/>
                </a:solidFill>
                <a:cs typeface="Arial"/>
              </a:rPr>
              <a:t> </a:t>
            </a:r>
            <a:r>
              <a:rPr sz="600" spc="-10" dirty="0">
                <a:solidFill>
                  <a:srgbClr val="8D6000"/>
                </a:solidFill>
                <a:cs typeface="Arial"/>
              </a:rPr>
              <a:t>Listing</a:t>
            </a:r>
            <a:endParaRPr sz="600">
              <a:cs typeface="Arial"/>
            </a:endParaRPr>
          </a:p>
        </p:txBody>
      </p:sp>
      <p:sp>
        <p:nvSpPr>
          <p:cNvPr id="119" name="object 123">
            <a:extLst>
              <a:ext uri="{FF2B5EF4-FFF2-40B4-BE49-F238E27FC236}">
                <a16:creationId xmlns:a16="http://schemas.microsoft.com/office/drawing/2014/main" id="{D205C118-2A8F-2951-DD1B-7BB58B665207}"/>
              </a:ext>
            </a:extLst>
          </p:cNvPr>
          <p:cNvSpPr/>
          <p:nvPr/>
        </p:nvSpPr>
        <p:spPr>
          <a:xfrm>
            <a:off x="5388639" y="2431753"/>
            <a:ext cx="127256" cy="98578"/>
          </a:xfrm>
          <a:custGeom>
            <a:avLst/>
            <a:gdLst/>
            <a:ahLst/>
            <a:cxnLst/>
            <a:rect l="l" t="t" r="r" b="b"/>
            <a:pathLst>
              <a:path w="135254" h="104775">
                <a:moveTo>
                  <a:pt x="67437" y="0"/>
                </a:moveTo>
                <a:lnTo>
                  <a:pt x="0" y="104393"/>
                </a:lnTo>
                <a:lnTo>
                  <a:pt x="135000" y="104393"/>
                </a:lnTo>
                <a:lnTo>
                  <a:pt x="67437" y="0"/>
                </a:lnTo>
                <a:close/>
              </a:path>
            </a:pathLst>
          </a:custGeom>
          <a:solidFill>
            <a:srgbClr val="00AF50"/>
          </a:solidFill>
        </p:spPr>
        <p:txBody>
          <a:bodyPr wrap="square" lIns="0" tIns="0" rIns="0" bIns="0" rtlCol="0"/>
          <a:lstStyle/>
          <a:p>
            <a:endParaRPr sz="1600"/>
          </a:p>
        </p:txBody>
      </p:sp>
      <p:sp>
        <p:nvSpPr>
          <p:cNvPr id="120" name="object 124">
            <a:extLst>
              <a:ext uri="{FF2B5EF4-FFF2-40B4-BE49-F238E27FC236}">
                <a16:creationId xmlns:a16="http://schemas.microsoft.com/office/drawing/2014/main" id="{009425AC-D6E5-D105-A94F-044EBD5109B1}"/>
              </a:ext>
            </a:extLst>
          </p:cNvPr>
          <p:cNvSpPr txBox="1"/>
          <p:nvPr/>
        </p:nvSpPr>
        <p:spPr>
          <a:xfrm>
            <a:off x="2385407" y="2438923"/>
            <a:ext cx="1044930" cy="266740"/>
          </a:xfrm>
          <a:prstGeom prst="rect">
            <a:avLst/>
          </a:prstGeom>
        </p:spPr>
        <p:txBody>
          <a:bodyPr vert="horz" wrap="square" lIns="0" tIns="12700" rIns="0" bIns="0" rtlCol="0">
            <a:spAutoFit/>
          </a:bodyPr>
          <a:lstStyle/>
          <a:p>
            <a:pPr marL="492125">
              <a:spcBef>
                <a:spcPts val="100"/>
              </a:spcBef>
            </a:pPr>
            <a:r>
              <a:rPr sz="1050" spc="-25" dirty="0">
                <a:solidFill>
                  <a:srgbClr val="00AF50"/>
                </a:solidFill>
                <a:cs typeface="Arial"/>
              </a:rPr>
              <a:t>12%</a:t>
            </a:r>
            <a:endParaRPr sz="1050">
              <a:cs typeface="Arial"/>
            </a:endParaRPr>
          </a:p>
          <a:p>
            <a:pPr marL="38100">
              <a:spcBef>
                <a:spcPts val="20"/>
              </a:spcBef>
            </a:pPr>
            <a:r>
              <a:rPr sz="600" dirty="0">
                <a:solidFill>
                  <a:srgbClr val="12426B"/>
                </a:solidFill>
                <a:cs typeface="Arial"/>
              </a:rPr>
              <a:t>2026</a:t>
            </a:r>
            <a:r>
              <a:rPr sz="600" spc="-10" dirty="0">
                <a:solidFill>
                  <a:srgbClr val="12426B"/>
                </a:solidFill>
                <a:cs typeface="Arial"/>
              </a:rPr>
              <a:t> </a:t>
            </a:r>
            <a:r>
              <a:rPr sz="600" dirty="0">
                <a:solidFill>
                  <a:srgbClr val="12426B"/>
                </a:solidFill>
                <a:cs typeface="Arial"/>
              </a:rPr>
              <a:t>IPOs</a:t>
            </a:r>
            <a:r>
              <a:rPr sz="600" baseline="24691" dirty="0">
                <a:solidFill>
                  <a:srgbClr val="12426B"/>
                </a:solidFill>
                <a:cs typeface="Arial"/>
              </a:rPr>
              <a:t>1</a:t>
            </a:r>
            <a:r>
              <a:rPr sz="600" spc="104" baseline="24691" dirty="0">
                <a:solidFill>
                  <a:srgbClr val="12426B"/>
                </a:solidFill>
                <a:cs typeface="Arial"/>
              </a:rPr>
              <a:t> </a:t>
            </a:r>
            <a:r>
              <a:rPr sz="600" dirty="0">
                <a:solidFill>
                  <a:srgbClr val="12426B"/>
                </a:solidFill>
                <a:cs typeface="Arial"/>
              </a:rPr>
              <a:t>Since</a:t>
            </a:r>
            <a:r>
              <a:rPr sz="600" spc="-5" dirty="0">
                <a:solidFill>
                  <a:srgbClr val="12426B"/>
                </a:solidFill>
                <a:cs typeface="Arial"/>
              </a:rPr>
              <a:t> </a:t>
            </a:r>
            <a:r>
              <a:rPr sz="600" spc="-10" dirty="0">
                <a:solidFill>
                  <a:srgbClr val="12426B"/>
                </a:solidFill>
                <a:cs typeface="Arial"/>
              </a:rPr>
              <a:t>Listing</a:t>
            </a:r>
            <a:endParaRPr sz="600">
              <a:cs typeface="Arial"/>
            </a:endParaRPr>
          </a:p>
        </p:txBody>
      </p:sp>
      <p:sp>
        <p:nvSpPr>
          <p:cNvPr id="121" name="object 125">
            <a:extLst>
              <a:ext uri="{FF2B5EF4-FFF2-40B4-BE49-F238E27FC236}">
                <a16:creationId xmlns:a16="http://schemas.microsoft.com/office/drawing/2014/main" id="{2713860F-B4FE-AD65-0E99-C3B383EED08D}"/>
              </a:ext>
            </a:extLst>
          </p:cNvPr>
          <p:cNvSpPr/>
          <p:nvPr/>
        </p:nvSpPr>
        <p:spPr>
          <a:xfrm>
            <a:off x="2696916" y="2479788"/>
            <a:ext cx="127256" cy="98578"/>
          </a:xfrm>
          <a:custGeom>
            <a:avLst/>
            <a:gdLst/>
            <a:ahLst/>
            <a:cxnLst/>
            <a:rect l="l" t="t" r="r" b="b"/>
            <a:pathLst>
              <a:path w="135255" h="104775">
                <a:moveTo>
                  <a:pt x="67563" y="0"/>
                </a:moveTo>
                <a:lnTo>
                  <a:pt x="0" y="104394"/>
                </a:lnTo>
                <a:lnTo>
                  <a:pt x="135000" y="104394"/>
                </a:lnTo>
                <a:lnTo>
                  <a:pt x="67563" y="0"/>
                </a:lnTo>
                <a:close/>
              </a:path>
            </a:pathLst>
          </a:custGeom>
          <a:solidFill>
            <a:srgbClr val="00AF50"/>
          </a:solidFill>
        </p:spPr>
        <p:txBody>
          <a:bodyPr wrap="square" lIns="0" tIns="0" rIns="0" bIns="0" rtlCol="0"/>
          <a:lstStyle/>
          <a:p>
            <a:endParaRPr sz="1600"/>
          </a:p>
        </p:txBody>
      </p:sp>
      <p:sp>
        <p:nvSpPr>
          <p:cNvPr id="124" name="TextBox 123">
            <a:extLst>
              <a:ext uri="{FF2B5EF4-FFF2-40B4-BE49-F238E27FC236}">
                <a16:creationId xmlns:a16="http://schemas.microsoft.com/office/drawing/2014/main" id="{3ABEEA4B-4F92-0EBD-6C20-13B396E3A8C7}"/>
              </a:ext>
            </a:extLst>
          </p:cNvPr>
          <p:cNvSpPr txBox="1"/>
          <p:nvPr/>
        </p:nvSpPr>
        <p:spPr>
          <a:xfrm>
            <a:off x="740196" y="5970560"/>
            <a:ext cx="7845552" cy="184666"/>
          </a:xfrm>
          <a:prstGeom prst="rect">
            <a:avLst/>
          </a:prstGeom>
          <a:noFill/>
        </p:spPr>
        <p:txBody>
          <a:bodyPr wrap="square" lIns="0" anchor="b" anchorCtr="0">
            <a:spAutoFit/>
          </a:bodyPr>
          <a:lstStyle/>
          <a:p>
            <a:pPr>
              <a:tabLst>
                <a:tab pos="401638" algn="l"/>
                <a:tab pos="573088" algn="l"/>
                <a:tab pos="3541713" algn="l"/>
                <a:tab pos="3773488" algn="l"/>
              </a:tabLst>
            </a:pPr>
            <a:r>
              <a:rPr lang="en-US" altLang="zh-CN" sz="600" b="0" i="1" dirty="0">
                <a:solidFill>
                  <a:schemeClr val="tx1"/>
                </a:solidFill>
                <a:cs typeface="Arial" panose="020B0604020202020204" pitchFamily="34" charset="0"/>
              </a:rPr>
              <a:t>	</a:t>
            </a:r>
          </a:p>
        </p:txBody>
      </p:sp>
      <p:sp>
        <p:nvSpPr>
          <p:cNvPr id="126" name="TextBox 125">
            <a:extLst>
              <a:ext uri="{FF2B5EF4-FFF2-40B4-BE49-F238E27FC236}">
                <a16:creationId xmlns:a16="http://schemas.microsoft.com/office/drawing/2014/main" id="{8A15B21E-4DA9-D0C3-9A54-6E401E51FC3B}"/>
              </a:ext>
            </a:extLst>
          </p:cNvPr>
          <p:cNvSpPr txBox="1">
            <a:spLocks noChangeArrowheads="1"/>
          </p:cNvSpPr>
          <p:nvPr/>
        </p:nvSpPr>
        <p:spPr bwMode="auto">
          <a:xfrm>
            <a:off x="1034802" y="1270283"/>
            <a:ext cx="2578608" cy="366142"/>
          </a:xfrm>
          <a:prstGeom prst="rect">
            <a:avLst/>
          </a:prstGeom>
          <a:solidFill>
            <a:srgbClr val="C00000"/>
          </a:solidFill>
          <a:ln w="9525" cap="flat" cmpd="sng" algn="ctr">
            <a:solidFill>
              <a:srgbClr val="C00000"/>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dirty="0">
                <a:cs typeface="Arial" panose="020B0604020202020204" pitchFamily="34" charset="0"/>
              </a:rPr>
              <a:t>Consumer</a:t>
            </a:r>
          </a:p>
        </p:txBody>
      </p:sp>
      <p:sp>
        <p:nvSpPr>
          <p:cNvPr id="127" name="TextBox 126">
            <a:extLst>
              <a:ext uri="{FF2B5EF4-FFF2-40B4-BE49-F238E27FC236}">
                <a16:creationId xmlns:a16="http://schemas.microsoft.com/office/drawing/2014/main" id="{E223A09E-FB7D-D5C7-CB97-90A36D4ECF67}"/>
              </a:ext>
            </a:extLst>
          </p:cNvPr>
          <p:cNvSpPr txBox="1">
            <a:spLocks noChangeArrowheads="1"/>
          </p:cNvSpPr>
          <p:nvPr/>
        </p:nvSpPr>
        <p:spPr bwMode="auto">
          <a:xfrm>
            <a:off x="3651632" y="1270283"/>
            <a:ext cx="2560320" cy="366142"/>
          </a:xfrm>
          <a:prstGeom prst="rect">
            <a:avLst/>
          </a:prstGeom>
          <a:solidFill>
            <a:schemeClr val="accent2"/>
          </a:solidFill>
          <a:ln w="9525" cap="flat" cmpd="sng" algn="ctr">
            <a:solidFill>
              <a:schemeClr val="accent2"/>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dirty="0">
                <a:solidFill>
                  <a:schemeClr val="tx1"/>
                </a:solidFill>
                <a:cs typeface="Arial" panose="020B0604020202020204" pitchFamily="34" charset="0"/>
              </a:rPr>
              <a:t>Healthcare</a:t>
            </a:r>
          </a:p>
        </p:txBody>
      </p:sp>
      <p:sp>
        <p:nvSpPr>
          <p:cNvPr id="128" name="TextBox 127">
            <a:extLst>
              <a:ext uri="{FF2B5EF4-FFF2-40B4-BE49-F238E27FC236}">
                <a16:creationId xmlns:a16="http://schemas.microsoft.com/office/drawing/2014/main" id="{E7D6B990-350B-228D-DCAC-CE6AC44BBE30}"/>
              </a:ext>
            </a:extLst>
          </p:cNvPr>
          <p:cNvSpPr txBox="1">
            <a:spLocks noChangeArrowheads="1"/>
          </p:cNvSpPr>
          <p:nvPr/>
        </p:nvSpPr>
        <p:spPr bwMode="auto">
          <a:xfrm>
            <a:off x="6255650" y="1270283"/>
            <a:ext cx="2615184" cy="366142"/>
          </a:xfrm>
          <a:prstGeom prst="rect">
            <a:avLst/>
          </a:prstGeom>
          <a:solidFill>
            <a:schemeClr val="accent3"/>
          </a:solidFill>
          <a:ln w="9525" cap="flat" cmpd="sng" algn="ctr">
            <a:solidFill>
              <a:schemeClr val="accent3"/>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dirty="0">
                <a:cs typeface="Arial" panose="020B0604020202020204" pitchFamily="34" charset="0"/>
              </a:rPr>
              <a:t>Metals and Mining</a:t>
            </a:r>
          </a:p>
        </p:txBody>
      </p:sp>
      <p:sp>
        <p:nvSpPr>
          <p:cNvPr id="4" name="矩形 3">
            <a:extLst>
              <a:ext uri="{FF2B5EF4-FFF2-40B4-BE49-F238E27FC236}">
                <a16:creationId xmlns:a16="http://schemas.microsoft.com/office/drawing/2014/main" id="{88AEDA88-7204-E318-6738-ED8AFB93C197}"/>
              </a:ext>
            </a:extLst>
          </p:cNvPr>
          <p:cNvSpPr/>
          <p:nvPr/>
        </p:nvSpPr>
        <p:spPr>
          <a:xfrm>
            <a:off x="9957838" y="805981"/>
            <a:ext cx="2021840" cy="8100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Updated</a:t>
            </a:r>
          </a:p>
          <a:p>
            <a:pPr algn="ctr"/>
            <a:r>
              <a:rPr lang="en-US" dirty="0"/>
              <a:t>Format</a:t>
            </a:r>
          </a:p>
        </p:txBody>
      </p:sp>
      <p:sp>
        <p:nvSpPr>
          <p:cNvPr id="21" name="Slide Number Placeholder 10">
            <a:extLst>
              <a:ext uri="{FF2B5EF4-FFF2-40B4-BE49-F238E27FC236}">
                <a16:creationId xmlns:a16="http://schemas.microsoft.com/office/drawing/2014/main" id="{B7EB8015-1294-902F-B76A-F458D7852D93}"/>
              </a:ext>
            </a:extLst>
          </p:cNvPr>
          <p:cNvSpPr>
            <a:spLocks noGrp="1"/>
          </p:cNvSpPr>
          <p:nvPr>
            <p:ph type="sldNum" sz="quarter" idx="4"/>
          </p:nvPr>
        </p:nvSpPr>
        <p:spPr>
          <a:xfrm>
            <a:off x="8555964" y="6379105"/>
            <a:ext cx="1155700" cy="381000"/>
          </a:xfrm>
        </p:spPr>
        <p:txBody>
          <a:bodyPr/>
          <a:lstStyle/>
          <a:p>
            <a:pPr>
              <a:spcBef>
                <a:spcPct val="0"/>
              </a:spcBef>
              <a:defRPr/>
            </a:pPr>
            <a:fld id="{EFB97E77-A14C-4D4A-B483-93BB0C8192BC}" type="slidenum">
              <a:rPr lang="en-US" altLang="en-US" b="0" smtClean="0">
                <a:solidFill>
                  <a:srgbClr val="000000"/>
                </a:solidFill>
              </a:rPr>
              <a:pPr>
                <a:spcBef>
                  <a:spcPct val="0"/>
                </a:spcBef>
                <a:defRPr/>
              </a:pPr>
              <a:t>27</a:t>
            </a:fld>
            <a:endParaRPr lang="en-US" altLang="en-US" b="0" dirty="0">
              <a:solidFill>
                <a:srgbClr val="000000"/>
              </a:solidFill>
            </a:endParaRPr>
          </a:p>
        </p:txBody>
      </p:sp>
    </p:spTree>
    <p:extLst>
      <p:ext uri="{BB962C8B-B14F-4D97-AF65-F5344CB8AC3E}">
        <p14:creationId xmlns:p14="http://schemas.microsoft.com/office/powerpoint/2010/main" val="3539729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3C4ED8E-DAFF-6F80-9F64-5C9644700914}"/>
              </a:ext>
            </a:extLst>
          </p:cNvPr>
          <p:cNvSpPr>
            <a:spLocks noGrp="1"/>
          </p:cNvSpPr>
          <p:nvPr>
            <p:ph type="title"/>
          </p:nvPr>
        </p:nvSpPr>
        <p:spPr/>
        <p:txBody>
          <a:bodyPr/>
          <a:lstStyle/>
          <a:p>
            <a:r>
              <a:rPr lang="en-US" dirty="0"/>
              <a:t>International Investors Increasingly Active in Cornerstone</a:t>
            </a:r>
            <a:br>
              <a:rPr lang="en-US" dirty="0"/>
            </a:br>
            <a:r>
              <a:rPr lang="en-US" dirty="0"/>
              <a:t>Investments</a:t>
            </a:r>
          </a:p>
        </p:txBody>
      </p:sp>
      <p:sp>
        <p:nvSpPr>
          <p:cNvPr id="6" name="Text Box 2589">
            <a:extLst>
              <a:ext uri="{FF2B5EF4-FFF2-40B4-BE49-F238E27FC236}">
                <a16:creationId xmlns:a16="http://schemas.microsoft.com/office/drawing/2014/main" id="{3261B314-BF12-B734-8AAD-B913FEEF7FAE}"/>
              </a:ext>
            </a:extLst>
          </p:cNvPr>
          <p:cNvSpPr txBox="1">
            <a:spLocks noChangeArrowheads="1"/>
          </p:cNvSpPr>
          <p:nvPr/>
        </p:nvSpPr>
        <p:spPr bwMode="gray">
          <a:xfrm>
            <a:off x="717153" y="1087438"/>
            <a:ext cx="8494051" cy="861774"/>
          </a:xfrm>
          <a:prstGeom prst="rect">
            <a:avLst/>
          </a:prstGeom>
          <a:solidFill>
            <a:srgbClr val="FEBFB3"/>
          </a:solidFill>
          <a:ln w="9525" cap="flat" cmpd="sng" algn="ctr">
            <a:noFill/>
            <a:prstDash val="solid"/>
            <a:headEnd/>
            <a:tailEnd/>
          </a:ln>
          <a:effectLst>
            <a:outerShdw blurRad="40000" dist="23000" dir="5400000" rotWithShape="0">
              <a:srgbClr val="000000">
                <a:alpha val="35000"/>
              </a:srgbClr>
            </a:outerShdw>
          </a:effectLst>
        </p:spPr>
        <p:txBody>
          <a:bodyPr wrap="square" tIns="91440" bIns="91440">
            <a:spAutoFit/>
          </a:bodyPr>
          <a:lstStyle/>
          <a:p>
            <a:pPr marL="227013" indent="-227013" algn="just" eaLnBrk="0" fontAlgn="auto" hangingPunct="0">
              <a:spcBef>
                <a:spcPts val="0"/>
              </a:spcBef>
              <a:buClr>
                <a:srgbClr val="BE050A"/>
              </a:buClr>
              <a:buFont typeface="Wingdings" pitchFamily="2" charset="2"/>
              <a:buChar char="n"/>
              <a:defRPr/>
            </a:pPr>
            <a:r>
              <a:rPr lang="en-US" altLang="zh-CN" sz="1100" kern="0" dirty="0">
                <a:solidFill>
                  <a:schemeClr val="tx1"/>
                </a:solidFill>
              </a:rPr>
              <a:t>International investors increasingly active in HK IPOs, participating in c.75% of deals and accounting for 40% of the most active cornerstone investors</a:t>
            </a:r>
          </a:p>
          <a:p>
            <a:pPr marL="227013" indent="-227013" algn="just" eaLnBrk="0" fontAlgn="auto" hangingPunct="0">
              <a:spcBef>
                <a:spcPts val="0"/>
              </a:spcBef>
              <a:buClr>
                <a:srgbClr val="BE050A"/>
              </a:buClr>
              <a:buFont typeface="Wingdings" pitchFamily="2" charset="2"/>
              <a:buChar char="n"/>
              <a:defRPr/>
            </a:pPr>
            <a:r>
              <a:rPr lang="en-US" altLang="zh-CN" sz="1100" kern="0" dirty="0">
                <a:solidFill>
                  <a:schemeClr val="tx1"/>
                </a:solidFill>
              </a:rPr>
              <a:t>High quality international long-</a:t>
            </a:r>
            <a:r>
              <a:rPr lang="en-US" altLang="zh-CN" sz="1100" kern="0" dirty="0" err="1">
                <a:solidFill>
                  <a:schemeClr val="tx1"/>
                </a:solidFill>
              </a:rPr>
              <a:t>onlys</a:t>
            </a:r>
            <a:r>
              <a:rPr lang="en-US" altLang="zh-CN" sz="1100" kern="0" dirty="0">
                <a:solidFill>
                  <a:schemeClr val="tx1"/>
                </a:solidFill>
              </a:rPr>
              <a:t> and SWFs have been amongst the most active investors in 2026, </a:t>
            </a:r>
            <a:r>
              <a:rPr lang="en-US" altLang="zh-CN" sz="1100" kern="0" dirty="0" err="1">
                <a:solidFill>
                  <a:schemeClr val="tx1"/>
                </a:solidFill>
              </a:rPr>
              <a:t>favouring</a:t>
            </a:r>
            <a:r>
              <a:rPr lang="en-US" altLang="zh-CN" sz="1100" kern="0" dirty="0">
                <a:solidFill>
                  <a:schemeClr val="tx1"/>
                </a:solidFill>
              </a:rPr>
              <a:t> sizeable consumer and new economy growth companies</a:t>
            </a:r>
          </a:p>
        </p:txBody>
      </p:sp>
      <p:sp>
        <p:nvSpPr>
          <p:cNvPr id="7" name="TextBox 6">
            <a:extLst>
              <a:ext uri="{FF2B5EF4-FFF2-40B4-BE49-F238E27FC236}">
                <a16:creationId xmlns:a16="http://schemas.microsoft.com/office/drawing/2014/main" id="{456CC5EE-1C78-3823-7EC7-D23E9408FCAE}"/>
              </a:ext>
            </a:extLst>
          </p:cNvPr>
          <p:cNvSpPr txBox="1"/>
          <p:nvPr/>
        </p:nvSpPr>
        <p:spPr>
          <a:xfrm>
            <a:off x="729720" y="5812087"/>
            <a:ext cx="7845552" cy="369332"/>
          </a:xfrm>
          <a:prstGeom prst="rect">
            <a:avLst/>
          </a:prstGeom>
          <a:noFill/>
        </p:spPr>
        <p:txBody>
          <a:bodyPr wrap="square" lIns="0" anchor="b" anchorCtr="0">
            <a:spAutoFit/>
          </a:bodyPr>
          <a:lstStyle/>
          <a:p>
            <a:r>
              <a:rPr lang="en-US" altLang="zh-CN" sz="600" b="0" i="1" dirty="0">
                <a:solidFill>
                  <a:schemeClr val="tx1"/>
                </a:solidFill>
                <a:cs typeface="Arial" panose="020B0604020202020204" pitchFamily="34" charset="0"/>
              </a:rPr>
              <a:t>Sources: HKEX, Bloomberg and Refinitiv</a:t>
            </a:r>
          </a:p>
          <a:p>
            <a:pPr>
              <a:tabLst>
                <a:tab pos="401638" algn="l"/>
                <a:tab pos="574675" algn="l"/>
              </a:tabLst>
            </a:pPr>
            <a:r>
              <a:rPr lang="en-US" altLang="zh-CN" sz="600" b="0" i="1" dirty="0">
                <a:solidFill>
                  <a:schemeClr val="tx1"/>
                </a:solidFill>
                <a:cs typeface="Arial" panose="020B0604020202020204" pitchFamily="34" charset="0"/>
              </a:rPr>
              <a:t>Notes:	 </a:t>
            </a:r>
            <a:r>
              <a:rPr lang="en-US" altLang="zh-TW" sz="600" b="0" i="1" dirty="0">
                <a:solidFill>
                  <a:schemeClr val="tx1"/>
                </a:solidFill>
                <a:cs typeface="Arial" panose="020B0604020202020204" pitchFamily="34" charset="0"/>
              </a:rPr>
              <a:t>1.	</a:t>
            </a:r>
            <a:r>
              <a:rPr lang="en-US" altLang="zh-CN" sz="600" b="0" i="1" dirty="0">
                <a:solidFill>
                  <a:schemeClr val="tx1"/>
                </a:solidFill>
                <a:cs typeface="Arial" panose="020B0604020202020204" pitchFamily="34" charset="0"/>
              </a:rPr>
              <a:t>Includes HK IPOs with deal size of US$100mm or above</a:t>
            </a:r>
          </a:p>
          <a:p>
            <a:pPr>
              <a:tabLst>
                <a:tab pos="401638" algn="l"/>
                <a:tab pos="574675" algn="l"/>
              </a:tabLst>
            </a:pPr>
            <a:r>
              <a:rPr lang="en-US" altLang="zh-CN" sz="600" b="0" i="1" dirty="0">
                <a:solidFill>
                  <a:schemeClr val="tx1"/>
                </a:solidFill>
                <a:cs typeface="Arial" panose="020B0604020202020204" pitchFamily="34" charset="0"/>
              </a:rPr>
              <a:t>	2.	JSC International is indirectly owned by Beijing SASAC</a:t>
            </a:r>
          </a:p>
        </p:txBody>
      </p:sp>
      <p:graphicFrame>
        <p:nvGraphicFramePr>
          <p:cNvPr id="9" name="object 6">
            <a:extLst>
              <a:ext uri="{FF2B5EF4-FFF2-40B4-BE49-F238E27FC236}">
                <a16:creationId xmlns:a16="http://schemas.microsoft.com/office/drawing/2014/main" id="{F4B0A51C-E9A5-299D-5898-F3B5D7FE9FC0}"/>
              </a:ext>
            </a:extLst>
          </p:cNvPr>
          <p:cNvGraphicFramePr>
            <a:graphicFrameLocks noGrp="1"/>
          </p:cNvGraphicFramePr>
          <p:nvPr>
            <p:extLst>
              <p:ext uri="{D42A27DB-BD31-4B8C-83A1-F6EECF244321}">
                <p14:modId xmlns:p14="http://schemas.microsoft.com/office/powerpoint/2010/main" val="2641646836"/>
              </p:ext>
            </p:extLst>
          </p:nvPr>
        </p:nvGraphicFramePr>
        <p:xfrm>
          <a:off x="4533763" y="2553046"/>
          <a:ext cx="4693919" cy="2769235"/>
        </p:xfrm>
        <a:graphic>
          <a:graphicData uri="http://schemas.openxmlformats.org/drawingml/2006/table">
            <a:tbl>
              <a:tblPr firstRow="1" bandRow="1">
                <a:tableStyleId>{2D5ABB26-0587-4C30-8999-92F81FD0307C}</a:tableStyleId>
              </a:tblPr>
              <a:tblGrid>
                <a:gridCol w="189865">
                  <a:extLst>
                    <a:ext uri="{9D8B030D-6E8A-4147-A177-3AD203B41FA5}">
                      <a16:colId xmlns:a16="http://schemas.microsoft.com/office/drawing/2014/main" val="20000"/>
                    </a:ext>
                  </a:extLst>
                </a:gridCol>
                <a:gridCol w="1618615">
                  <a:extLst>
                    <a:ext uri="{9D8B030D-6E8A-4147-A177-3AD203B41FA5}">
                      <a16:colId xmlns:a16="http://schemas.microsoft.com/office/drawing/2014/main" val="20001"/>
                    </a:ext>
                  </a:extLst>
                </a:gridCol>
                <a:gridCol w="620394">
                  <a:extLst>
                    <a:ext uri="{9D8B030D-6E8A-4147-A177-3AD203B41FA5}">
                      <a16:colId xmlns:a16="http://schemas.microsoft.com/office/drawing/2014/main" val="20002"/>
                    </a:ext>
                  </a:extLst>
                </a:gridCol>
                <a:gridCol w="917575">
                  <a:extLst>
                    <a:ext uri="{9D8B030D-6E8A-4147-A177-3AD203B41FA5}">
                      <a16:colId xmlns:a16="http://schemas.microsoft.com/office/drawing/2014/main" val="20003"/>
                    </a:ext>
                  </a:extLst>
                </a:gridCol>
                <a:gridCol w="635635">
                  <a:extLst>
                    <a:ext uri="{9D8B030D-6E8A-4147-A177-3AD203B41FA5}">
                      <a16:colId xmlns:a16="http://schemas.microsoft.com/office/drawing/2014/main" val="20004"/>
                    </a:ext>
                  </a:extLst>
                </a:gridCol>
                <a:gridCol w="711835">
                  <a:extLst>
                    <a:ext uri="{9D8B030D-6E8A-4147-A177-3AD203B41FA5}">
                      <a16:colId xmlns:a16="http://schemas.microsoft.com/office/drawing/2014/main" val="20005"/>
                    </a:ext>
                  </a:extLst>
                </a:gridCol>
              </a:tblGrid>
              <a:tr h="454025">
                <a:tc>
                  <a:txBody>
                    <a:bodyPr/>
                    <a:lstStyle/>
                    <a:p>
                      <a:pPr>
                        <a:lnSpc>
                          <a:spcPct val="100000"/>
                        </a:lnSpc>
                        <a:spcBef>
                          <a:spcPts val="550"/>
                        </a:spcBef>
                      </a:pPr>
                      <a:endParaRPr sz="700" dirty="0">
                        <a:solidFill>
                          <a:schemeClr val="tx1"/>
                        </a:solidFill>
                        <a:latin typeface="Times New Roman"/>
                        <a:cs typeface="Times New Roman"/>
                      </a:endParaRPr>
                    </a:p>
                    <a:p>
                      <a:pPr marR="38100" algn="ctr">
                        <a:lnSpc>
                          <a:spcPct val="100000"/>
                        </a:lnSpc>
                      </a:pPr>
                      <a:r>
                        <a:rPr sz="700" spc="-50" dirty="0">
                          <a:solidFill>
                            <a:schemeClr val="tx1"/>
                          </a:solidFill>
                          <a:latin typeface="Arial"/>
                          <a:cs typeface="Arial"/>
                        </a:rPr>
                        <a:t>#</a:t>
                      </a:r>
                      <a:endParaRPr sz="700" dirty="0">
                        <a:solidFill>
                          <a:schemeClr val="tx1"/>
                        </a:solidFill>
                        <a:latin typeface="Arial"/>
                        <a:cs typeface="Arial"/>
                      </a:endParaRPr>
                    </a:p>
                  </a:txBody>
                  <a:tcPr marL="0" marR="0" marT="69850" marB="0">
                    <a:lnL w="9525">
                      <a:solidFill>
                        <a:srgbClr val="0F406B"/>
                      </a:solidFill>
                      <a:prstDash val="solid"/>
                    </a:lnL>
                    <a:lnR w="19050" cap="flat" cmpd="sng" algn="ctr">
                      <a:solidFill>
                        <a:schemeClr val="bg1"/>
                      </a:solidFill>
                      <a:prstDash val="solid"/>
                      <a:round/>
                      <a:headEnd type="none" w="med" len="med"/>
                      <a:tailEnd type="none" w="med" len="med"/>
                    </a:lnR>
                    <a:solidFill>
                      <a:schemeClr val="accent3"/>
                    </a:solidFill>
                  </a:tcPr>
                </a:tc>
                <a:tc>
                  <a:txBody>
                    <a:bodyPr/>
                    <a:lstStyle/>
                    <a:p>
                      <a:pPr>
                        <a:lnSpc>
                          <a:spcPct val="100000"/>
                        </a:lnSpc>
                        <a:spcBef>
                          <a:spcPts val="550"/>
                        </a:spcBef>
                      </a:pPr>
                      <a:endParaRPr sz="700" dirty="0">
                        <a:solidFill>
                          <a:schemeClr val="tx1"/>
                        </a:solidFill>
                        <a:latin typeface="Times New Roman"/>
                        <a:cs typeface="Times New Roman"/>
                      </a:endParaRPr>
                    </a:p>
                    <a:p>
                      <a:pPr marL="81280">
                        <a:lnSpc>
                          <a:spcPct val="100000"/>
                        </a:lnSpc>
                      </a:pPr>
                      <a:r>
                        <a:rPr sz="700" spc="-10" dirty="0">
                          <a:solidFill>
                            <a:schemeClr val="tx1"/>
                          </a:solidFill>
                          <a:latin typeface="Arial"/>
                          <a:cs typeface="Arial"/>
                        </a:rPr>
                        <a:t>Investor</a:t>
                      </a:r>
                      <a:endParaRPr sz="700" dirty="0">
                        <a:solidFill>
                          <a:schemeClr val="tx1"/>
                        </a:solidFill>
                        <a:latin typeface="Arial"/>
                        <a:cs typeface="Arial"/>
                      </a:endParaRPr>
                    </a:p>
                  </a:txBody>
                  <a:tcPr marL="0" marR="0" marT="6985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solidFill>
                      <a:schemeClr val="accent3"/>
                    </a:solidFill>
                  </a:tcPr>
                </a:tc>
                <a:tc>
                  <a:txBody>
                    <a:bodyPr/>
                    <a:lstStyle/>
                    <a:p>
                      <a:pPr>
                        <a:lnSpc>
                          <a:spcPct val="100000"/>
                        </a:lnSpc>
                        <a:spcBef>
                          <a:spcPts val="550"/>
                        </a:spcBef>
                      </a:pPr>
                      <a:endParaRPr sz="700">
                        <a:solidFill>
                          <a:schemeClr val="tx1"/>
                        </a:solidFill>
                        <a:latin typeface="Times New Roman"/>
                        <a:cs typeface="Times New Roman"/>
                      </a:endParaRPr>
                    </a:p>
                    <a:p>
                      <a:pPr marL="38735">
                        <a:lnSpc>
                          <a:spcPct val="100000"/>
                        </a:lnSpc>
                      </a:pPr>
                      <a:r>
                        <a:rPr sz="700" spc="-10" dirty="0">
                          <a:solidFill>
                            <a:schemeClr val="tx1"/>
                          </a:solidFill>
                          <a:latin typeface="Arial"/>
                          <a:cs typeface="Arial"/>
                        </a:rPr>
                        <a:t>Region</a:t>
                      </a:r>
                      <a:endParaRPr sz="700">
                        <a:solidFill>
                          <a:schemeClr val="tx1"/>
                        </a:solidFill>
                        <a:latin typeface="Arial"/>
                        <a:cs typeface="Arial"/>
                      </a:endParaRPr>
                    </a:p>
                  </a:txBody>
                  <a:tcPr marL="0" marR="0" marT="6985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solidFill>
                      <a:schemeClr val="accent3"/>
                    </a:solidFill>
                  </a:tcPr>
                </a:tc>
                <a:tc>
                  <a:txBody>
                    <a:bodyPr/>
                    <a:lstStyle/>
                    <a:p>
                      <a:pPr>
                        <a:lnSpc>
                          <a:spcPct val="100000"/>
                        </a:lnSpc>
                        <a:spcBef>
                          <a:spcPts val="550"/>
                        </a:spcBef>
                      </a:pPr>
                      <a:endParaRPr sz="700">
                        <a:solidFill>
                          <a:schemeClr val="tx1"/>
                        </a:solidFill>
                        <a:latin typeface="Times New Roman"/>
                        <a:cs typeface="Times New Roman"/>
                      </a:endParaRPr>
                    </a:p>
                    <a:p>
                      <a:pPr marL="127635">
                        <a:lnSpc>
                          <a:spcPct val="100000"/>
                        </a:lnSpc>
                      </a:pPr>
                      <a:r>
                        <a:rPr sz="700" dirty="0">
                          <a:solidFill>
                            <a:schemeClr val="tx1"/>
                          </a:solidFill>
                          <a:latin typeface="Arial"/>
                          <a:cs typeface="Arial"/>
                        </a:rPr>
                        <a:t>Investor</a:t>
                      </a:r>
                      <a:r>
                        <a:rPr sz="700" spc="-25" dirty="0">
                          <a:solidFill>
                            <a:schemeClr val="tx1"/>
                          </a:solidFill>
                          <a:latin typeface="Arial"/>
                          <a:cs typeface="Arial"/>
                        </a:rPr>
                        <a:t> </a:t>
                      </a:r>
                      <a:r>
                        <a:rPr sz="700" spc="-20" dirty="0">
                          <a:solidFill>
                            <a:schemeClr val="tx1"/>
                          </a:solidFill>
                          <a:latin typeface="Arial"/>
                          <a:cs typeface="Arial"/>
                        </a:rPr>
                        <a:t>Type</a:t>
                      </a:r>
                      <a:endParaRPr sz="700">
                        <a:solidFill>
                          <a:schemeClr val="tx1"/>
                        </a:solidFill>
                        <a:latin typeface="Arial"/>
                        <a:cs typeface="Arial"/>
                      </a:endParaRPr>
                    </a:p>
                  </a:txBody>
                  <a:tcPr marL="0" marR="0" marT="6985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solidFill>
                      <a:schemeClr val="accent3"/>
                    </a:solidFill>
                  </a:tcPr>
                </a:tc>
                <a:tc>
                  <a:txBody>
                    <a:bodyPr/>
                    <a:lstStyle/>
                    <a:p>
                      <a:pPr marL="71755" marR="71120" indent="-1905" algn="ctr">
                        <a:lnSpc>
                          <a:spcPct val="100000"/>
                        </a:lnSpc>
                        <a:spcBef>
                          <a:spcPts val="95"/>
                        </a:spcBef>
                      </a:pPr>
                      <a:r>
                        <a:rPr sz="700" spc="-10" dirty="0">
                          <a:solidFill>
                            <a:schemeClr val="tx1"/>
                          </a:solidFill>
                          <a:latin typeface="Arial"/>
                          <a:cs typeface="Arial"/>
                        </a:rPr>
                        <a:t>Aggregate</a:t>
                      </a:r>
                      <a:r>
                        <a:rPr sz="700" spc="500" dirty="0">
                          <a:solidFill>
                            <a:schemeClr val="tx1"/>
                          </a:solidFill>
                          <a:latin typeface="Arial"/>
                          <a:cs typeface="Arial"/>
                        </a:rPr>
                        <a:t> </a:t>
                      </a:r>
                      <a:r>
                        <a:rPr sz="700" spc="-10" dirty="0">
                          <a:solidFill>
                            <a:schemeClr val="tx1"/>
                          </a:solidFill>
                          <a:latin typeface="Arial"/>
                          <a:cs typeface="Arial"/>
                        </a:rPr>
                        <a:t>Cornerstone</a:t>
                      </a:r>
                      <a:r>
                        <a:rPr sz="700" spc="500" dirty="0">
                          <a:solidFill>
                            <a:schemeClr val="tx1"/>
                          </a:solidFill>
                          <a:latin typeface="Arial"/>
                          <a:cs typeface="Arial"/>
                        </a:rPr>
                        <a:t> </a:t>
                      </a:r>
                      <a:r>
                        <a:rPr sz="700" spc="-10" dirty="0">
                          <a:solidFill>
                            <a:schemeClr val="tx1"/>
                          </a:solidFill>
                          <a:latin typeface="Arial"/>
                          <a:cs typeface="Arial"/>
                        </a:rPr>
                        <a:t>Investment</a:t>
                      </a:r>
                      <a:r>
                        <a:rPr sz="700" spc="500" dirty="0">
                          <a:solidFill>
                            <a:schemeClr val="tx1"/>
                          </a:solidFill>
                          <a:latin typeface="Arial"/>
                          <a:cs typeface="Arial"/>
                        </a:rPr>
                        <a:t> </a:t>
                      </a:r>
                      <a:r>
                        <a:rPr sz="700" spc="-10" dirty="0">
                          <a:solidFill>
                            <a:schemeClr val="tx1"/>
                          </a:solidFill>
                          <a:latin typeface="Arial"/>
                          <a:cs typeface="Arial"/>
                        </a:rPr>
                        <a:t>(US$mm)</a:t>
                      </a:r>
                      <a:endParaRPr sz="700">
                        <a:solidFill>
                          <a:schemeClr val="tx1"/>
                        </a:solidFill>
                        <a:latin typeface="Arial"/>
                        <a:cs typeface="Arial"/>
                      </a:endParaRPr>
                    </a:p>
                  </a:txBody>
                  <a:tcPr marL="0" marR="0" marT="1206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solidFill>
                      <a:schemeClr val="accent3"/>
                    </a:solidFill>
                  </a:tcPr>
                </a:tc>
                <a:tc>
                  <a:txBody>
                    <a:bodyPr/>
                    <a:lstStyle/>
                    <a:p>
                      <a:pPr>
                        <a:lnSpc>
                          <a:spcPct val="100000"/>
                        </a:lnSpc>
                        <a:spcBef>
                          <a:spcPts val="130"/>
                        </a:spcBef>
                      </a:pPr>
                      <a:endParaRPr sz="700" dirty="0">
                        <a:solidFill>
                          <a:schemeClr val="tx1"/>
                        </a:solidFill>
                        <a:latin typeface="Times New Roman"/>
                        <a:cs typeface="Times New Roman"/>
                      </a:endParaRPr>
                    </a:p>
                    <a:p>
                      <a:pPr marL="135255">
                        <a:lnSpc>
                          <a:spcPct val="100000"/>
                        </a:lnSpc>
                      </a:pPr>
                      <a:r>
                        <a:rPr sz="700" dirty="0">
                          <a:solidFill>
                            <a:schemeClr val="tx1"/>
                          </a:solidFill>
                          <a:latin typeface="Arial"/>
                          <a:cs typeface="Arial"/>
                        </a:rPr>
                        <a:t># HK </a:t>
                      </a:r>
                      <a:r>
                        <a:rPr sz="700" spc="-20" dirty="0">
                          <a:solidFill>
                            <a:schemeClr val="tx1"/>
                          </a:solidFill>
                          <a:latin typeface="Arial"/>
                          <a:cs typeface="Arial"/>
                        </a:rPr>
                        <a:t>IPOs</a:t>
                      </a:r>
                      <a:endParaRPr sz="700" dirty="0">
                        <a:solidFill>
                          <a:schemeClr val="tx1"/>
                        </a:solidFill>
                        <a:latin typeface="Arial"/>
                        <a:cs typeface="Arial"/>
                      </a:endParaRPr>
                    </a:p>
                    <a:p>
                      <a:pPr marL="78740">
                        <a:lnSpc>
                          <a:spcPct val="100000"/>
                        </a:lnSpc>
                      </a:pPr>
                      <a:r>
                        <a:rPr sz="700" spc="-10" dirty="0">
                          <a:solidFill>
                            <a:schemeClr val="tx1"/>
                          </a:solidFill>
                          <a:latin typeface="Arial"/>
                          <a:cs typeface="Arial"/>
                        </a:rPr>
                        <a:t>Cornerstoned</a:t>
                      </a:r>
                      <a:endParaRPr sz="700" dirty="0">
                        <a:solidFill>
                          <a:schemeClr val="tx1"/>
                        </a:solidFill>
                        <a:latin typeface="Arial"/>
                        <a:cs typeface="Arial"/>
                      </a:endParaRPr>
                    </a:p>
                  </a:txBody>
                  <a:tcPr marL="0" marR="0" marT="16510" marB="0">
                    <a:lnL w="19050" cap="flat" cmpd="sng" algn="ctr">
                      <a:solidFill>
                        <a:schemeClr val="bg1"/>
                      </a:solidFill>
                      <a:prstDash val="solid"/>
                      <a:round/>
                      <a:headEnd type="none" w="med" len="med"/>
                      <a:tailEnd type="none" w="med" len="med"/>
                    </a:lnL>
                    <a:lnR w="9525">
                      <a:solidFill>
                        <a:srgbClr val="0F406B"/>
                      </a:solidFill>
                      <a:prstDash val="solid"/>
                    </a:lnR>
                    <a:solidFill>
                      <a:schemeClr val="accent3"/>
                    </a:solidFill>
                  </a:tcPr>
                </a:tc>
                <a:extLst>
                  <a:ext uri="{0D108BD9-81ED-4DB2-BD59-A6C34878D82A}">
                    <a16:rowId xmlns:a16="http://schemas.microsoft.com/office/drawing/2014/main" val="10000"/>
                  </a:ext>
                </a:extLst>
              </a:tr>
              <a:tr h="111125">
                <a:tc>
                  <a:txBody>
                    <a:bodyPr/>
                    <a:lstStyle/>
                    <a:p>
                      <a:pPr marR="40005" algn="ctr">
                        <a:lnSpc>
                          <a:spcPts val="750"/>
                        </a:lnSpc>
                        <a:spcBef>
                          <a:spcPts val="25"/>
                        </a:spcBef>
                      </a:pPr>
                      <a:r>
                        <a:rPr sz="700" spc="-50" dirty="0">
                          <a:latin typeface="Arial"/>
                          <a:cs typeface="Arial"/>
                        </a:rPr>
                        <a:t>1</a:t>
                      </a:r>
                      <a:endParaRPr sz="700">
                        <a:latin typeface="Arial"/>
                        <a:cs typeface="Arial"/>
                      </a:endParaRPr>
                    </a:p>
                  </a:txBody>
                  <a:tcPr marL="0" marR="0" marT="3175" marB="0">
                    <a:lnL w="9525">
                      <a:solidFill>
                        <a:srgbClr val="0F406B"/>
                      </a:solidFill>
                      <a:prstDash val="solid"/>
                    </a:lnL>
                    <a:lnB w="9525">
                      <a:solidFill>
                        <a:srgbClr val="0F406B"/>
                      </a:solidFill>
                      <a:prstDash val="solid"/>
                    </a:lnB>
                  </a:tcPr>
                </a:tc>
                <a:tc>
                  <a:txBody>
                    <a:bodyPr/>
                    <a:lstStyle/>
                    <a:p>
                      <a:pPr marL="45720">
                        <a:lnSpc>
                          <a:spcPts val="750"/>
                        </a:lnSpc>
                        <a:spcBef>
                          <a:spcPts val="25"/>
                        </a:spcBef>
                      </a:pPr>
                      <a:r>
                        <a:rPr sz="700" dirty="0">
                          <a:latin typeface="Arial"/>
                          <a:cs typeface="Arial"/>
                        </a:rPr>
                        <a:t>JSC</a:t>
                      </a:r>
                      <a:r>
                        <a:rPr sz="700" spc="-10" dirty="0">
                          <a:latin typeface="Arial"/>
                          <a:cs typeface="Arial"/>
                        </a:rPr>
                        <a:t> International</a:t>
                      </a:r>
                      <a:r>
                        <a:rPr sz="675" spc="-15" baseline="24691" dirty="0">
                          <a:latin typeface="Arial"/>
                          <a:cs typeface="Arial"/>
                        </a:rPr>
                        <a:t>2</a:t>
                      </a:r>
                      <a:endParaRPr sz="675" baseline="24691">
                        <a:latin typeface="Arial"/>
                        <a:cs typeface="Arial"/>
                      </a:endParaRPr>
                    </a:p>
                  </a:txBody>
                  <a:tcPr marL="0" marR="0" marT="3175" marB="0">
                    <a:lnB w="9525">
                      <a:solidFill>
                        <a:srgbClr val="0F406B"/>
                      </a:solidFill>
                      <a:prstDash val="solid"/>
                    </a:lnB>
                  </a:tcPr>
                </a:tc>
                <a:tc>
                  <a:txBody>
                    <a:bodyPr/>
                    <a:lstStyle/>
                    <a:p>
                      <a:pPr marL="38735">
                        <a:lnSpc>
                          <a:spcPts val="780"/>
                        </a:lnSpc>
                      </a:pPr>
                      <a:r>
                        <a:rPr sz="700" spc="-10" dirty="0">
                          <a:latin typeface="Arial"/>
                          <a:cs typeface="Arial"/>
                        </a:rPr>
                        <a:t>China</a:t>
                      </a:r>
                      <a:endParaRPr sz="700">
                        <a:latin typeface="Arial"/>
                        <a:cs typeface="Arial"/>
                      </a:endParaRPr>
                    </a:p>
                  </a:txBody>
                  <a:tcPr marL="0" marR="0" marT="0" marB="0">
                    <a:lnB w="9525">
                      <a:solidFill>
                        <a:srgbClr val="0F406B"/>
                      </a:solidFill>
                      <a:prstDash val="solid"/>
                    </a:lnB>
                  </a:tcPr>
                </a:tc>
                <a:tc>
                  <a:txBody>
                    <a:bodyPr/>
                    <a:lstStyle/>
                    <a:p>
                      <a:pPr marL="127635">
                        <a:lnSpc>
                          <a:spcPts val="780"/>
                        </a:lnSpc>
                      </a:pPr>
                      <a:r>
                        <a:rPr sz="700" dirty="0">
                          <a:latin typeface="Arial"/>
                          <a:cs typeface="Arial"/>
                        </a:rPr>
                        <a:t>Government</a:t>
                      </a:r>
                      <a:r>
                        <a:rPr sz="700" spc="-30" dirty="0">
                          <a:latin typeface="Arial"/>
                          <a:cs typeface="Arial"/>
                        </a:rPr>
                        <a:t> </a:t>
                      </a:r>
                      <a:r>
                        <a:rPr sz="700" spc="-20" dirty="0">
                          <a:latin typeface="Arial"/>
                          <a:cs typeface="Arial"/>
                        </a:rPr>
                        <a:t>Fund</a:t>
                      </a:r>
                      <a:endParaRPr sz="700">
                        <a:latin typeface="Arial"/>
                        <a:cs typeface="Arial"/>
                      </a:endParaRPr>
                    </a:p>
                  </a:txBody>
                  <a:tcPr marL="0" marR="0" marT="0" marB="0">
                    <a:lnB w="9525">
                      <a:solidFill>
                        <a:srgbClr val="0F406B"/>
                      </a:solidFill>
                      <a:prstDash val="solid"/>
                    </a:lnB>
                  </a:tcPr>
                </a:tc>
                <a:tc>
                  <a:txBody>
                    <a:bodyPr/>
                    <a:lstStyle/>
                    <a:p>
                      <a:pPr marL="35560" algn="ctr">
                        <a:lnSpc>
                          <a:spcPts val="750"/>
                        </a:lnSpc>
                        <a:spcBef>
                          <a:spcPts val="25"/>
                        </a:spcBef>
                      </a:pPr>
                      <a:r>
                        <a:rPr sz="700" spc="-25" dirty="0">
                          <a:latin typeface="Arial"/>
                          <a:cs typeface="Arial"/>
                        </a:rPr>
                        <a:t>226</a:t>
                      </a:r>
                      <a:endParaRPr sz="700">
                        <a:latin typeface="Arial"/>
                        <a:cs typeface="Arial"/>
                      </a:endParaRPr>
                    </a:p>
                  </a:txBody>
                  <a:tcPr marL="0" marR="0" marT="3175" marB="0">
                    <a:lnB w="9525">
                      <a:solidFill>
                        <a:srgbClr val="0F406B"/>
                      </a:solidFill>
                      <a:prstDash val="solid"/>
                    </a:lnB>
                  </a:tcPr>
                </a:tc>
                <a:tc>
                  <a:txBody>
                    <a:bodyPr/>
                    <a:lstStyle/>
                    <a:p>
                      <a:pPr marL="24130" algn="ctr">
                        <a:lnSpc>
                          <a:spcPts val="750"/>
                        </a:lnSpc>
                        <a:spcBef>
                          <a:spcPts val="25"/>
                        </a:spcBef>
                      </a:pPr>
                      <a:r>
                        <a:rPr sz="700" spc="-50" dirty="0">
                          <a:latin typeface="Arial"/>
                          <a:cs typeface="Arial"/>
                        </a:rPr>
                        <a:t>3</a:t>
                      </a:r>
                      <a:endParaRPr sz="700">
                        <a:latin typeface="Arial"/>
                        <a:cs typeface="Arial"/>
                      </a:endParaRPr>
                    </a:p>
                  </a:txBody>
                  <a:tcPr marL="0" marR="0" marT="3175" marB="0">
                    <a:lnR w="9525">
                      <a:solidFill>
                        <a:srgbClr val="0F406B"/>
                      </a:solidFill>
                      <a:prstDash val="solid"/>
                    </a:lnR>
                    <a:lnB w="9525">
                      <a:solidFill>
                        <a:srgbClr val="0F406B"/>
                      </a:solidFill>
                      <a:prstDash val="solid"/>
                    </a:lnB>
                  </a:tcPr>
                </a:tc>
                <a:extLst>
                  <a:ext uri="{0D108BD9-81ED-4DB2-BD59-A6C34878D82A}">
                    <a16:rowId xmlns:a16="http://schemas.microsoft.com/office/drawing/2014/main" val="10001"/>
                  </a:ext>
                </a:extLst>
              </a:tr>
              <a:tr h="116205">
                <a:tc>
                  <a:txBody>
                    <a:bodyPr/>
                    <a:lstStyle/>
                    <a:p>
                      <a:pPr marR="40005" algn="ctr">
                        <a:lnSpc>
                          <a:spcPts val="750"/>
                        </a:lnSpc>
                        <a:spcBef>
                          <a:spcPts val="65"/>
                        </a:spcBef>
                      </a:pPr>
                      <a:r>
                        <a:rPr sz="700" spc="-50" dirty="0">
                          <a:latin typeface="Arial"/>
                          <a:cs typeface="Arial"/>
                        </a:rPr>
                        <a:t>2</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rgbClr val="FFF0D2"/>
                    </a:solidFill>
                  </a:tcPr>
                </a:tc>
                <a:tc>
                  <a:txBody>
                    <a:bodyPr/>
                    <a:lstStyle/>
                    <a:p>
                      <a:pPr marL="45720">
                        <a:lnSpc>
                          <a:spcPts val="750"/>
                        </a:lnSpc>
                        <a:spcBef>
                          <a:spcPts val="65"/>
                        </a:spcBef>
                      </a:pPr>
                      <a:r>
                        <a:rPr sz="700" dirty="0">
                          <a:latin typeface="Arial"/>
                          <a:cs typeface="Arial"/>
                        </a:rPr>
                        <a:t>UBS</a:t>
                      </a:r>
                      <a:r>
                        <a:rPr sz="700" spc="-20" dirty="0">
                          <a:latin typeface="Arial"/>
                          <a:cs typeface="Arial"/>
                        </a:rPr>
                        <a:t> </a:t>
                      </a:r>
                      <a:r>
                        <a:rPr sz="700" spc="-25" dirty="0">
                          <a:latin typeface="Arial"/>
                          <a:cs typeface="Arial"/>
                        </a:rPr>
                        <a:t>GAM</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38735">
                        <a:lnSpc>
                          <a:spcPts val="790"/>
                        </a:lnSpc>
                        <a:spcBef>
                          <a:spcPts val="25"/>
                        </a:spcBef>
                      </a:pPr>
                      <a:r>
                        <a:rPr sz="700" spc="-10" dirty="0">
                          <a:latin typeface="Arial"/>
                          <a:cs typeface="Arial"/>
                        </a:rPr>
                        <a:t>Switzerland</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rgbClr val="FFF0D2"/>
                    </a:solidFill>
                  </a:tcPr>
                </a:tc>
                <a:tc>
                  <a:txBody>
                    <a:bodyPr/>
                    <a:lstStyle/>
                    <a:p>
                      <a:pPr marL="127635">
                        <a:lnSpc>
                          <a:spcPts val="790"/>
                        </a:lnSpc>
                        <a:spcBef>
                          <a:spcPts val="25"/>
                        </a:spcBef>
                      </a:pPr>
                      <a:r>
                        <a:rPr sz="700" spc="-10" dirty="0">
                          <a:latin typeface="Arial"/>
                          <a:cs typeface="Arial"/>
                        </a:rPr>
                        <a:t>Long-</a:t>
                      </a:r>
                      <a:r>
                        <a:rPr sz="700" spc="-20" dirty="0">
                          <a:latin typeface="Arial"/>
                          <a:cs typeface="Arial"/>
                        </a:rPr>
                        <a:t>only</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rgbClr val="FFF0D2"/>
                    </a:solidFill>
                  </a:tcPr>
                </a:tc>
                <a:tc>
                  <a:txBody>
                    <a:bodyPr/>
                    <a:lstStyle/>
                    <a:p>
                      <a:pPr marL="35560" algn="ctr">
                        <a:lnSpc>
                          <a:spcPts val="750"/>
                        </a:lnSpc>
                        <a:spcBef>
                          <a:spcPts val="65"/>
                        </a:spcBef>
                      </a:pPr>
                      <a:r>
                        <a:rPr sz="700" spc="-25" dirty="0">
                          <a:latin typeface="Arial"/>
                          <a:cs typeface="Arial"/>
                        </a:rPr>
                        <a:t>226</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24130" algn="ctr">
                        <a:lnSpc>
                          <a:spcPts val="750"/>
                        </a:lnSpc>
                        <a:spcBef>
                          <a:spcPts val="65"/>
                        </a:spcBef>
                      </a:pPr>
                      <a:r>
                        <a:rPr sz="700" spc="-50" dirty="0">
                          <a:latin typeface="Arial"/>
                          <a:cs typeface="Arial"/>
                        </a:rPr>
                        <a:t>7</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rgbClr val="FFF0D2"/>
                    </a:solidFill>
                  </a:tcPr>
                </a:tc>
                <a:extLst>
                  <a:ext uri="{0D108BD9-81ED-4DB2-BD59-A6C34878D82A}">
                    <a16:rowId xmlns:a16="http://schemas.microsoft.com/office/drawing/2014/main" val="10002"/>
                  </a:ext>
                </a:extLst>
              </a:tr>
              <a:tr h="116205">
                <a:tc>
                  <a:txBody>
                    <a:bodyPr/>
                    <a:lstStyle/>
                    <a:p>
                      <a:pPr marR="40005" algn="ctr">
                        <a:lnSpc>
                          <a:spcPts val="750"/>
                        </a:lnSpc>
                        <a:spcBef>
                          <a:spcPts val="65"/>
                        </a:spcBef>
                      </a:pPr>
                      <a:r>
                        <a:rPr sz="700" spc="-50" dirty="0">
                          <a:latin typeface="Arial"/>
                          <a:cs typeface="Arial"/>
                        </a:rPr>
                        <a:t>3</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rgbClr val="FFF0D2"/>
                    </a:solidFill>
                  </a:tcPr>
                </a:tc>
                <a:tc>
                  <a:txBody>
                    <a:bodyPr/>
                    <a:lstStyle/>
                    <a:p>
                      <a:pPr marL="45720">
                        <a:lnSpc>
                          <a:spcPts val="750"/>
                        </a:lnSpc>
                        <a:spcBef>
                          <a:spcPts val="65"/>
                        </a:spcBef>
                      </a:pPr>
                      <a:r>
                        <a:rPr sz="700" dirty="0">
                          <a:latin typeface="Arial"/>
                          <a:cs typeface="Arial"/>
                        </a:rPr>
                        <a:t>Charoen</a:t>
                      </a:r>
                      <a:r>
                        <a:rPr sz="700" spc="-15" dirty="0">
                          <a:latin typeface="Arial"/>
                          <a:cs typeface="Arial"/>
                        </a:rPr>
                        <a:t> </a:t>
                      </a:r>
                      <a:r>
                        <a:rPr sz="700" spc="-10" dirty="0">
                          <a:latin typeface="Arial"/>
                          <a:cs typeface="Arial"/>
                        </a:rPr>
                        <a:t>Pokphand</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38735">
                        <a:lnSpc>
                          <a:spcPts val="785"/>
                        </a:lnSpc>
                        <a:spcBef>
                          <a:spcPts val="30"/>
                        </a:spcBef>
                      </a:pPr>
                      <a:r>
                        <a:rPr sz="700" spc="-10" dirty="0">
                          <a:latin typeface="Arial"/>
                          <a:cs typeface="Arial"/>
                        </a:rPr>
                        <a:t>Thailand</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rgbClr val="FFF0D2"/>
                    </a:solidFill>
                  </a:tcPr>
                </a:tc>
                <a:tc>
                  <a:txBody>
                    <a:bodyPr/>
                    <a:lstStyle/>
                    <a:p>
                      <a:pPr marL="127635">
                        <a:lnSpc>
                          <a:spcPts val="785"/>
                        </a:lnSpc>
                        <a:spcBef>
                          <a:spcPts val="30"/>
                        </a:spcBef>
                      </a:pPr>
                      <a:r>
                        <a:rPr sz="700" spc="-10" dirty="0">
                          <a:latin typeface="Arial"/>
                          <a:cs typeface="Arial"/>
                        </a:rPr>
                        <a:t>Strategic</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rgbClr val="FFF0D2"/>
                    </a:solidFill>
                  </a:tcPr>
                </a:tc>
                <a:tc>
                  <a:txBody>
                    <a:bodyPr/>
                    <a:lstStyle/>
                    <a:p>
                      <a:pPr marL="35560" algn="ctr">
                        <a:lnSpc>
                          <a:spcPts val="750"/>
                        </a:lnSpc>
                        <a:spcBef>
                          <a:spcPts val="65"/>
                        </a:spcBef>
                      </a:pPr>
                      <a:r>
                        <a:rPr sz="700" spc="-25" dirty="0">
                          <a:latin typeface="Arial"/>
                          <a:cs typeface="Arial"/>
                        </a:rPr>
                        <a:t>200</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24130" algn="ctr">
                        <a:lnSpc>
                          <a:spcPts val="750"/>
                        </a:lnSpc>
                        <a:spcBef>
                          <a:spcPts val="65"/>
                        </a:spcBef>
                      </a:pPr>
                      <a:r>
                        <a:rPr sz="700" spc="-50" dirty="0">
                          <a:latin typeface="Arial"/>
                          <a:cs typeface="Arial"/>
                        </a:rPr>
                        <a:t>1</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rgbClr val="FFF0D2"/>
                    </a:solidFill>
                  </a:tcPr>
                </a:tc>
                <a:extLst>
                  <a:ext uri="{0D108BD9-81ED-4DB2-BD59-A6C34878D82A}">
                    <a16:rowId xmlns:a16="http://schemas.microsoft.com/office/drawing/2014/main" val="10003"/>
                  </a:ext>
                </a:extLst>
              </a:tr>
              <a:tr h="116205">
                <a:tc>
                  <a:txBody>
                    <a:bodyPr/>
                    <a:lstStyle/>
                    <a:p>
                      <a:pPr marR="40005" algn="ctr">
                        <a:lnSpc>
                          <a:spcPts val="750"/>
                        </a:lnSpc>
                        <a:spcBef>
                          <a:spcPts val="65"/>
                        </a:spcBef>
                      </a:pPr>
                      <a:r>
                        <a:rPr sz="700" spc="-50" dirty="0">
                          <a:latin typeface="Arial"/>
                          <a:cs typeface="Arial"/>
                        </a:rPr>
                        <a:t>4</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spc="-10" dirty="0">
                          <a:latin typeface="Arial"/>
                          <a:cs typeface="Arial"/>
                        </a:rPr>
                        <a:t>Aspex</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25"/>
                        </a:spcBef>
                      </a:pPr>
                      <a:r>
                        <a:rPr sz="700" dirty="0">
                          <a:latin typeface="Arial"/>
                          <a:cs typeface="Arial"/>
                        </a:rPr>
                        <a:t>Hong</a:t>
                      </a:r>
                      <a:r>
                        <a:rPr sz="700" spc="-10" dirty="0">
                          <a:latin typeface="Arial"/>
                          <a:cs typeface="Arial"/>
                        </a:rPr>
                        <a:t> </a:t>
                      </a:r>
                      <a:r>
                        <a:rPr sz="700" spc="-20" dirty="0">
                          <a:latin typeface="Arial"/>
                          <a:cs typeface="Arial"/>
                        </a:rPr>
                        <a:t>Kong</a:t>
                      </a:r>
                      <a:endParaRPr sz="700">
                        <a:latin typeface="Arial"/>
                        <a:cs typeface="Arial"/>
                      </a:endParaRPr>
                    </a:p>
                  </a:txBody>
                  <a:tcPr marL="0" marR="0" marT="3175" marB="0">
                    <a:lnT w="9525">
                      <a:solidFill>
                        <a:srgbClr val="0F406B"/>
                      </a:solidFill>
                      <a:prstDash val="solid"/>
                    </a:lnT>
                    <a:lnB w="9525">
                      <a:solidFill>
                        <a:srgbClr val="0F406B"/>
                      </a:solidFill>
                      <a:prstDash val="solid"/>
                    </a:lnB>
                  </a:tcPr>
                </a:tc>
                <a:tc>
                  <a:txBody>
                    <a:bodyPr/>
                    <a:lstStyle/>
                    <a:p>
                      <a:pPr marL="127635">
                        <a:lnSpc>
                          <a:spcPts val="785"/>
                        </a:lnSpc>
                        <a:spcBef>
                          <a:spcPts val="25"/>
                        </a:spcBef>
                      </a:pPr>
                      <a:r>
                        <a:rPr sz="700" spc="-10" dirty="0">
                          <a:latin typeface="Arial"/>
                          <a:cs typeface="Arial"/>
                        </a:rPr>
                        <a:t>Multi-strategy</a:t>
                      </a:r>
                      <a:endParaRPr sz="700">
                        <a:latin typeface="Arial"/>
                        <a:cs typeface="Arial"/>
                      </a:endParaRPr>
                    </a:p>
                  </a:txBody>
                  <a:tcPr marL="0" marR="0" marT="3175"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dirty="0">
                          <a:latin typeface="Arial"/>
                          <a:cs typeface="Arial"/>
                        </a:rPr>
                        <a:t>177</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50"/>
                        </a:lnSpc>
                        <a:spcBef>
                          <a:spcPts val="65"/>
                        </a:spcBef>
                      </a:pPr>
                      <a:r>
                        <a:rPr sz="700" spc="-50" dirty="0">
                          <a:latin typeface="Arial"/>
                          <a:cs typeface="Arial"/>
                        </a:rPr>
                        <a:t>3</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04"/>
                  </a:ext>
                </a:extLst>
              </a:tr>
              <a:tr h="115570">
                <a:tc>
                  <a:txBody>
                    <a:bodyPr/>
                    <a:lstStyle/>
                    <a:p>
                      <a:pPr marR="40005" algn="ctr">
                        <a:lnSpc>
                          <a:spcPts val="750"/>
                        </a:lnSpc>
                        <a:spcBef>
                          <a:spcPts val="65"/>
                        </a:spcBef>
                      </a:pPr>
                      <a:r>
                        <a:rPr sz="700" spc="-50" dirty="0">
                          <a:latin typeface="Arial"/>
                          <a:cs typeface="Arial"/>
                        </a:rPr>
                        <a:t>5</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rgbClr val="FFF0D2"/>
                    </a:solidFill>
                  </a:tcPr>
                </a:tc>
                <a:tc>
                  <a:txBody>
                    <a:bodyPr/>
                    <a:lstStyle/>
                    <a:p>
                      <a:pPr marL="45720">
                        <a:lnSpc>
                          <a:spcPts val="750"/>
                        </a:lnSpc>
                        <a:spcBef>
                          <a:spcPts val="65"/>
                        </a:spcBef>
                      </a:pPr>
                      <a:r>
                        <a:rPr sz="700" spc="-20" dirty="0">
                          <a:latin typeface="Arial"/>
                          <a:cs typeface="Arial"/>
                        </a:rPr>
                        <a:t>AI-</a:t>
                      </a:r>
                      <a:r>
                        <a:rPr sz="700" dirty="0">
                          <a:latin typeface="Arial"/>
                          <a:cs typeface="Arial"/>
                        </a:rPr>
                        <a:t>Rayyan</a:t>
                      </a:r>
                      <a:r>
                        <a:rPr sz="700" spc="45" dirty="0">
                          <a:latin typeface="Arial"/>
                          <a:cs typeface="Arial"/>
                        </a:rPr>
                        <a:t> </a:t>
                      </a:r>
                      <a:r>
                        <a:rPr sz="700" dirty="0">
                          <a:latin typeface="Arial"/>
                          <a:cs typeface="Arial"/>
                        </a:rPr>
                        <a:t>/</a:t>
                      </a:r>
                      <a:r>
                        <a:rPr sz="700" spc="-5" dirty="0">
                          <a:latin typeface="Arial"/>
                          <a:cs typeface="Arial"/>
                        </a:rPr>
                        <a:t> </a:t>
                      </a:r>
                      <a:r>
                        <a:rPr sz="700" spc="-25" dirty="0">
                          <a:latin typeface="Arial"/>
                          <a:cs typeface="Arial"/>
                        </a:rPr>
                        <a:t>QIA</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38735">
                        <a:lnSpc>
                          <a:spcPts val="785"/>
                        </a:lnSpc>
                        <a:spcBef>
                          <a:spcPts val="25"/>
                        </a:spcBef>
                      </a:pPr>
                      <a:r>
                        <a:rPr sz="700" spc="-10" dirty="0">
                          <a:latin typeface="Arial"/>
                          <a:cs typeface="Arial"/>
                        </a:rPr>
                        <a:t>Qatar</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rgbClr val="FFF0D2"/>
                    </a:solidFill>
                  </a:tcPr>
                </a:tc>
                <a:tc>
                  <a:txBody>
                    <a:bodyPr/>
                    <a:lstStyle/>
                    <a:p>
                      <a:pPr marL="127635">
                        <a:lnSpc>
                          <a:spcPts val="785"/>
                        </a:lnSpc>
                        <a:spcBef>
                          <a:spcPts val="25"/>
                        </a:spcBef>
                      </a:pPr>
                      <a:r>
                        <a:rPr sz="700" spc="-25" dirty="0">
                          <a:latin typeface="Arial"/>
                          <a:cs typeface="Arial"/>
                        </a:rPr>
                        <a:t>SWF</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rgbClr val="FFF0D2"/>
                    </a:solidFill>
                  </a:tcPr>
                </a:tc>
                <a:tc>
                  <a:txBody>
                    <a:bodyPr/>
                    <a:lstStyle/>
                    <a:p>
                      <a:pPr marL="35560" algn="ctr">
                        <a:lnSpc>
                          <a:spcPts val="750"/>
                        </a:lnSpc>
                        <a:spcBef>
                          <a:spcPts val="65"/>
                        </a:spcBef>
                      </a:pPr>
                      <a:r>
                        <a:rPr sz="700" spc="-25" dirty="0">
                          <a:latin typeface="Arial"/>
                          <a:cs typeface="Arial"/>
                        </a:rPr>
                        <a:t>150</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24130" algn="ctr">
                        <a:lnSpc>
                          <a:spcPts val="750"/>
                        </a:lnSpc>
                        <a:spcBef>
                          <a:spcPts val="65"/>
                        </a:spcBef>
                      </a:pPr>
                      <a:r>
                        <a:rPr sz="700" spc="-50" dirty="0">
                          <a:latin typeface="Arial"/>
                          <a:cs typeface="Arial"/>
                        </a:rPr>
                        <a:t>1</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rgbClr val="FFF0D2"/>
                    </a:solidFill>
                  </a:tcPr>
                </a:tc>
                <a:extLst>
                  <a:ext uri="{0D108BD9-81ED-4DB2-BD59-A6C34878D82A}">
                    <a16:rowId xmlns:a16="http://schemas.microsoft.com/office/drawing/2014/main" val="10005"/>
                  </a:ext>
                </a:extLst>
              </a:tr>
              <a:tr h="116205">
                <a:tc>
                  <a:txBody>
                    <a:bodyPr/>
                    <a:lstStyle/>
                    <a:p>
                      <a:pPr marR="40005" algn="ctr">
                        <a:lnSpc>
                          <a:spcPts val="750"/>
                        </a:lnSpc>
                        <a:spcBef>
                          <a:spcPts val="65"/>
                        </a:spcBef>
                      </a:pPr>
                      <a:r>
                        <a:rPr sz="700" spc="-50" dirty="0">
                          <a:latin typeface="Arial"/>
                          <a:cs typeface="Arial"/>
                        </a:rPr>
                        <a:t>6</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spc="-20" dirty="0">
                          <a:latin typeface="Arial"/>
                          <a:cs typeface="Arial"/>
                        </a:rPr>
                        <a:t>Boyu</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dirty="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dirty="0">
                          <a:latin typeface="Arial"/>
                          <a:cs typeface="Arial"/>
                        </a:rPr>
                        <a:t>PE/VC</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dirty="0">
                          <a:latin typeface="Arial"/>
                          <a:cs typeface="Arial"/>
                        </a:rPr>
                        <a:t>135</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50"/>
                        </a:lnSpc>
                        <a:spcBef>
                          <a:spcPts val="65"/>
                        </a:spcBef>
                      </a:pPr>
                      <a:r>
                        <a:rPr sz="700" spc="-50" dirty="0">
                          <a:latin typeface="Arial"/>
                          <a:cs typeface="Arial"/>
                        </a:rPr>
                        <a:t>3</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06"/>
                  </a:ext>
                </a:extLst>
              </a:tr>
              <a:tr h="116205">
                <a:tc>
                  <a:txBody>
                    <a:bodyPr/>
                    <a:lstStyle/>
                    <a:p>
                      <a:pPr marR="40005" algn="ctr">
                        <a:lnSpc>
                          <a:spcPts val="750"/>
                        </a:lnSpc>
                        <a:spcBef>
                          <a:spcPts val="65"/>
                        </a:spcBef>
                      </a:pPr>
                      <a:r>
                        <a:rPr sz="700" spc="-50" dirty="0">
                          <a:latin typeface="Arial"/>
                          <a:cs typeface="Arial"/>
                        </a:rPr>
                        <a:t>7</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dirty="0">
                          <a:latin typeface="Arial"/>
                          <a:cs typeface="Arial"/>
                        </a:rPr>
                        <a:t>Yunfeng</a:t>
                      </a:r>
                      <a:r>
                        <a:rPr sz="700" spc="-20" dirty="0">
                          <a:latin typeface="Arial"/>
                          <a:cs typeface="Arial"/>
                        </a:rPr>
                        <a:t> </a:t>
                      </a:r>
                      <a:r>
                        <a:rPr sz="700" spc="-10" dirty="0">
                          <a:latin typeface="Arial"/>
                          <a:cs typeface="Arial"/>
                        </a:rPr>
                        <a:t>Investments</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25"/>
                        </a:spcBef>
                      </a:pPr>
                      <a:r>
                        <a:rPr sz="700" spc="-10" dirty="0">
                          <a:latin typeface="Arial"/>
                          <a:cs typeface="Arial"/>
                        </a:rPr>
                        <a:t>China</a:t>
                      </a:r>
                      <a:endParaRPr sz="700">
                        <a:latin typeface="Arial"/>
                        <a:cs typeface="Arial"/>
                      </a:endParaRPr>
                    </a:p>
                  </a:txBody>
                  <a:tcPr marL="0" marR="0" marT="3175" marB="0">
                    <a:lnT w="9525">
                      <a:solidFill>
                        <a:srgbClr val="0F406B"/>
                      </a:solidFill>
                      <a:prstDash val="solid"/>
                    </a:lnT>
                    <a:lnB w="9525">
                      <a:solidFill>
                        <a:srgbClr val="0F406B"/>
                      </a:solidFill>
                      <a:prstDash val="solid"/>
                    </a:lnB>
                  </a:tcPr>
                </a:tc>
                <a:tc>
                  <a:txBody>
                    <a:bodyPr/>
                    <a:lstStyle/>
                    <a:p>
                      <a:pPr marL="127635">
                        <a:lnSpc>
                          <a:spcPts val="785"/>
                        </a:lnSpc>
                        <a:spcBef>
                          <a:spcPts val="25"/>
                        </a:spcBef>
                      </a:pPr>
                      <a:r>
                        <a:rPr sz="700" spc="-10" dirty="0">
                          <a:latin typeface="Arial"/>
                          <a:cs typeface="Arial"/>
                        </a:rPr>
                        <a:t>PE/VC</a:t>
                      </a:r>
                      <a:endParaRPr sz="700">
                        <a:latin typeface="Arial"/>
                        <a:cs typeface="Arial"/>
                      </a:endParaRPr>
                    </a:p>
                  </a:txBody>
                  <a:tcPr marL="0" marR="0" marT="3175"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dirty="0">
                          <a:latin typeface="Arial"/>
                          <a:cs typeface="Arial"/>
                        </a:rPr>
                        <a:t>116</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50"/>
                        </a:lnSpc>
                        <a:spcBef>
                          <a:spcPts val="65"/>
                        </a:spcBef>
                      </a:pPr>
                      <a:r>
                        <a:rPr sz="700" spc="-50" dirty="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07"/>
                  </a:ext>
                </a:extLst>
              </a:tr>
              <a:tr h="116205">
                <a:tc>
                  <a:txBody>
                    <a:bodyPr/>
                    <a:lstStyle/>
                    <a:p>
                      <a:pPr marR="40005" algn="ctr">
                        <a:lnSpc>
                          <a:spcPts val="750"/>
                        </a:lnSpc>
                        <a:spcBef>
                          <a:spcPts val="65"/>
                        </a:spcBef>
                      </a:pPr>
                      <a:r>
                        <a:rPr sz="700" spc="-50" dirty="0">
                          <a:latin typeface="Arial"/>
                          <a:cs typeface="Arial"/>
                        </a:rPr>
                        <a:t>8</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rgbClr val="FFF0D2"/>
                    </a:solidFill>
                  </a:tcPr>
                </a:tc>
                <a:tc>
                  <a:txBody>
                    <a:bodyPr/>
                    <a:lstStyle/>
                    <a:p>
                      <a:pPr marL="45720">
                        <a:lnSpc>
                          <a:spcPts val="750"/>
                        </a:lnSpc>
                        <a:spcBef>
                          <a:spcPts val="65"/>
                        </a:spcBef>
                      </a:pPr>
                      <a:r>
                        <a:rPr sz="700" spc="-10" dirty="0">
                          <a:latin typeface="Arial"/>
                          <a:cs typeface="Arial"/>
                        </a:rPr>
                        <a:t>Temasek</a:t>
                      </a:r>
                      <a:endParaRPr sz="700" dirty="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38735">
                        <a:lnSpc>
                          <a:spcPts val="785"/>
                        </a:lnSpc>
                        <a:spcBef>
                          <a:spcPts val="25"/>
                        </a:spcBef>
                      </a:pPr>
                      <a:r>
                        <a:rPr sz="700" spc="-10" dirty="0">
                          <a:latin typeface="Arial"/>
                          <a:cs typeface="Arial"/>
                        </a:rPr>
                        <a:t>Singapore</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rgbClr val="FFF0D2"/>
                    </a:solidFill>
                  </a:tcPr>
                </a:tc>
                <a:tc>
                  <a:txBody>
                    <a:bodyPr/>
                    <a:lstStyle/>
                    <a:p>
                      <a:pPr marL="127635">
                        <a:lnSpc>
                          <a:spcPts val="785"/>
                        </a:lnSpc>
                        <a:spcBef>
                          <a:spcPts val="25"/>
                        </a:spcBef>
                      </a:pPr>
                      <a:r>
                        <a:rPr sz="700" spc="-25" dirty="0">
                          <a:latin typeface="Arial"/>
                          <a:cs typeface="Arial"/>
                        </a:rPr>
                        <a:t>SWF</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rgbClr val="FFF0D2"/>
                    </a:solidFill>
                  </a:tcPr>
                </a:tc>
                <a:tc>
                  <a:txBody>
                    <a:bodyPr/>
                    <a:lstStyle/>
                    <a:p>
                      <a:pPr marL="35560" algn="ctr">
                        <a:lnSpc>
                          <a:spcPts val="750"/>
                        </a:lnSpc>
                        <a:spcBef>
                          <a:spcPts val="65"/>
                        </a:spcBef>
                      </a:pPr>
                      <a:r>
                        <a:rPr sz="700" spc="-25" dirty="0">
                          <a:latin typeface="Arial"/>
                          <a:cs typeface="Arial"/>
                        </a:rPr>
                        <a:t>115</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24130" algn="ctr">
                        <a:lnSpc>
                          <a:spcPts val="750"/>
                        </a:lnSpc>
                        <a:spcBef>
                          <a:spcPts val="65"/>
                        </a:spcBef>
                      </a:pPr>
                      <a:r>
                        <a:rPr sz="700" spc="-50" dirty="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rgbClr val="FFF0D2"/>
                    </a:solidFill>
                  </a:tcPr>
                </a:tc>
                <a:extLst>
                  <a:ext uri="{0D108BD9-81ED-4DB2-BD59-A6C34878D82A}">
                    <a16:rowId xmlns:a16="http://schemas.microsoft.com/office/drawing/2014/main" val="10008"/>
                  </a:ext>
                </a:extLst>
              </a:tr>
              <a:tr h="116205">
                <a:tc>
                  <a:txBody>
                    <a:bodyPr/>
                    <a:lstStyle/>
                    <a:p>
                      <a:pPr marR="40005" algn="ctr">
                        <a:lnSpc>
                          <a:spcPts val="750"/>
                        </a:lnSpc>
                        <a:spcBef>
                          <a:spcPts val="65"/>
                        </a:spcBef>
                      </a:pPr>
                      <a:r>
                        <a:rPr sz="700" spc="-50" dirty="0">
                          <a:latin typeface="Arial"/>
                          <a:cs typeface="Arial"/>
                        </a:rPr>
                        <a:t>9</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dirty="0">
                          <a:latin typeface="Arial"/>
                          <a:cs typeface="Arial"/>
                        </a:rPr>
                        <a:t>Taikang</a:t>
                      </a:r>
                      <a:r>
                        <a:rPr sz="700" spc="-10" dirty="0">
                          <a:latin typeface="Arial"/>
                          <a:cs typeface="Arial"/>
                        </a:rPr>
                        <a:t> </a:t>
                      </a:r>
                      <a:r>
                        <a:rPr sz="700" spc="-20" dirty="0">
                          <a:latin typeface="Arial"/>
                          <a:cs typeface="Arial"/>
                        </a:rPr>
                        <a:t>Life</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dirty="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dirty="0">
                          <a:latin typeface="Arial"/>
                          <a:cs typeface="Arial"/>
                        </a:rPr>
                        <a:t>Insurance</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dirty="0">
                          <a:latin typeface="Arial"/>
                          <a:cs typeface="Arial"/>
                        </a:rPr>
                        <a:t>112</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50"/>
                        </a:lnSpc>
                        <a:spcBef>
                          <a:spcPts val="65"/>
                        </a:spcBef>
                      </a:pPr>
                      <a:r>
                        <a:rPr sz="700" spc="-50" dirty="0">
                          <a:latin typeface="Arial"/>
                          <a:cs typeface="Arial"/>
                        </a:rPr>
                        <a:t>6</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09"/>
                  </a:ext>
                </a:extLst>
              </a:tr>
              <a:tr h="115570">
                <a:tc>
                  <a:txBody>
                    <a:bodyPr/>
                    <a:lstStyle/>
                    <a:p>
                      <a:pPr algn="ctr">
                        <a:lnSpc>
                          <a:spcPts val="745"/>
                        </a:lnSpc>
                        <a:spcBef>
                          <a:spcPts val="65"/>
                        </a:spcBef>
                      </a:pPr>
                      <a:r>
                        <a:rPr sz="700" spc="-25" dirty="0">
                          <a:latin typeface="Arial"/>
                          <a:cs typeface="Arial"/>
                        </a:rPr>
                        <a:t>10</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rgbClr val="FFF0D2"/>
                    </a:solidFill>
                  </a:tcPr>
                </a:tc>
                <a:tc>
                  <a:txBody>
                    <a:bodyPr/>
                    <a:lstStyle/>
                    <a:p>
                      <a:pPr marL="45720">
                        <a:lnSpc>
                          <a:spcPts val="745"/>
                        </a:lnSpc>
                        <a:spcBef>
                          <a:spcPts val="65"/>
                        </a:spcBef>
                      </a:pPr>
                      <a:r>
                        <a:rPr sz="700" dirty="0">
                          <a:latin typeface="Arial"/>
                          <a:cs typeface="Arial"/>
                        </a:rPr>
                        <a:t>Fidelity</a:t>
                      </a:r>
                      <a:r>
                        <a:rPr sz="700" spc="-35" dirty="0">
                          <a:latin typeface="Arial"/>
                          <a:cs typeface="Arial"/>
                        </a:rPr>
                        <a:t> </a:t>
                      </a:r>
                      <a:r>
                        <a:rPr sz="700" spc="-10" dirty="0">
                          <a:latin typeface="Arial"/>
                          <a:cs typeface="Arial"/>
                        </a:rPr>
                        <a:t>International</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38735">
                        <a:lnSpc>
                          <a:spcPts val="785"/>
                        </a:lnSpc>
                        <a:spcBef>
                          <a:spcPts val="25"/>
                        </a:spcBef>
                      </a:pPr>
                      <a:r>
                        <a:rPr sz="700" spc="-25" dirty="0">
                          <a:latin typeface="Arial"/>
                          <a:cs typeface="Arial"/>
                        </a:rPr>
                        <a:t>US</a:t>
                      </a:r>
                      <a:endParaRPr sz="700" dirty="0">
                        <a:latin typeface="Arial"/>
                        <a:cs typeface="Arial"/>
                      </a:endParaRPr>
                    </a:p>
                  </a:txBody>
                  <a:tcPr marL="0" marR="0" marT="3175" marB="0">
                    <a:lnT w="9525">
                      <a:solidFill>
                        <a:srgbClr val="0F406B"/>
                      </a:solidFill>
                      <a:prstDash val="solid"/>
                    </a:lnT>
                    <a:lnB w="9525">
                      <a:solidFill>
                        <a:srgbClr val="0F406B"/>
                      </a:solidFill>
                      <a:prstDash val="solid"/>
                    </a:lnB>
                    <a:solidFill>
                      <a:srgbClr val="FFF0D2"/>
                    </a:solidFill>
                  </a:tcPr>
                </a:tc>
                <a:tc>
                  <a:txBody>
                    <a:bodyPr/>
                    <a:lstStyle/>
                    <a:p>
                      <a:pPr marL="127635">
                        <a:lnSpc>
                          <a:spcPts val="785"/>
                        </a:lnSpc>
                        <a:spcBef>
                          <a:spcPts val="25"/>
                        </a:spcBef>
                      </a:pPr>
                      <a:r>
                        <a:rPr sz="700" spc="-10" dirty="0">
                          <a:latin typeface="Arial"/>
                          <a:cs typeface="Arial"/>
                        </a:rPr>
                        <a:t>Long-</a:t>
                      </a:r>
                      <a:r>
                        <a:rPr sz="700" spc="-20" dirty="0">
                          <a:latin typeface="Arial"/>
                          <a:cs typeface="Arial"/>
                        </a:rPr>
                        <a:t>only</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rgbClr val="FFF0D2"/>
                    </a:solidFill>
                  </a:tcPr>
                </a:tc>
                <a:tc>
                  <a:txBody>
                    <a:bodyPr/>
                    <a:lstStyle/>
                    <a:p>
                      <a:pPr marL="35560" algn="ctr">
                        <a:lnSpc>
                          <a:spcPts val="745"/>
                        </a:lnSpc>
                        <a:spcBef>
                          <a:spcPts val="65"/>
                        </a:spcBef>
                      </a:pPr>
                      <a:r>
                        <a:rPr sz="700" spc="-25" dirty="0">
                          <a:latin typeface="Arial"/>
                          <a:cs typeface="Arial"/>
                        </a:rPr>
                        <a:t>110</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24130" algn="ctr">
                        <a:lnSpc>
                          <a:spcPts val="745"/>
                        </a:lnSpc>
                        <a:spcBef>
                          <a:spcPts val="65"/>
                        </a:spcBef>
                      </a:pPr>
                      <a:r>
                        <a:rPr sz="700" spc="-50" dirty="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rgbClr val="FFF0D2"/>
                    </a:solidFill>
                  </a:tcPr>
                </a:tc>
                <a:extLst>
                  <a:ext uri="{0D108BD9-81ED-4DB2-BD59-A6C34878D82A}">
                    <a16:rowId xmlns:a16="http://schemas.microsoft.com/office/drawing/2014/main" val="10010"/>
                  </a:ext>
                </a:extLst>
              </a:tr>
              <a:tr h="116205">
                <a:tc>
                  <a:txBody>
                    <a:bodyPr/>
                    <a:lstStyle/>
                    <a:p>
                      <a:pPr algn="ctr">
                        <a:lnSpc>
                          <a:spcPts val="750"/>
                        </a:lnSpc>
                        <a:spcBef>
                          <a:spcPts val="65"/>
                        </a:spcBef>
                      </a:pPr>
                      <a:r>
                        <a:rPr sz="700" spc="-25" dirty="0">
                          <a:latin typeface="Arial"/>
                          <a:cs typeface="Arial"/>
                        </a:rPr>
                        <a:t>11</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spc="-10" dirty="0">
                          <a:latin typeface="Arial"/>
                          <a:cs typeface="Arial"/>
                        </a:rPr>
                        <a:t>Tencent</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dirty="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dirty="0">
                          <a:latin typeface="Arial"/>
                          <a:cs typeface="Arial"/>
                        </a:rPr>
                        <a:t>Strategic</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dirty="0">
                          <a:latin typeface="Arial"/>
                          <a:cs typeface="Arial"/>
                        </a:rPr>
                        <a:t>100</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50"/>
                        </a:lnSpc>
                        <a:spcBef>
                          <a:spcPts val="65"/>
                        </a:spcBef>
                      </a:pPr>
                      <a:r>
                        <a:rPr sz="700" spc="-50" dirty="0">
                          <a:latin typeface="Arial"/>
                          <a:cs typeface="Arial"/>
                        </a:rPr>
                        <a:t>3</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1"/>
                  </a:ext>
                </a:extLst>
              </a:tr>
              <a:tr h="116205">
                <a:tc>
                  <a:txBody>
                    <a:bodyPr/>
                    <a:lstStyle/>
                    <a:p>
                      <a:pPr algn="ctr">
                        <a:lnSpc>
                          <a:spcPts val="750"/>
                        </a:lnSpc>
                        <a:spcBef>
                          <a:spcPts val="65"/>
                        </a:spcBef>
                      </a:pPr>
                      <a:r>
                        <a:rPr sz="700" spc="-25" dirty="0">
                          <a:latin typeface="Arial"/>
                          <a:cs typeface="Arial"/>
                        </a:rPr>
                        <a:t>12</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dirty="0">
                          <a:latin typeface="Arial"/>
                          <a:cs typeface="Arial"/>
                        </a:rPr>
                        <a:t>Xiamen</a:t>
                      </a:r>
                      <a:r>
                        <a:rPr sz="700" spc="5" dirty="0">
                          <a:latin typeface="Arial"/>
                          <a:cs typeface="Arial"/>
                        </a:rPr>
                        <a:t> </a:t>
                      </a:r>
                      <a:r>
                        <a:rPr sz="700" dirty="0">
                          <a:latin typeface="Arial"/>
                          <a:cs typeface="Arial"/>
                        </a:rPr>
                        <a:t>Advanced</a:t>
                      </a:r>
                      <a:r>
                        <a:rPr sz="700" spc="5" dirty="0">
                          <a:latin typeface="Arial"/>
                          <a:cs typeface="Arial"/>
                        </a:rPr>
                        <a:t> </a:t>
                      </a:r>
                      <a:r>
                        <a:rPr sz="700" spc="-10" dirty="0">
                          <a:latin typeface="Arial"/>
                          <a:cs typeface="Arial"/>
                        </a:rPr>
                        <a:t>Manufacturing</a:t>
                      </a:r>
                      <a:r>
                        <a:rPr sz="700" spc="40" dirty="0">
                          <a:latin typeface="Arial"/>
                          <a:cs typeface="Arial"/>
                        </a:rPr>
                        <a:t> </a:t>
                      </a:r>
                      <a:r>
                        <a:rPr sz="700" spc="-20" dirty="0">
                          <a:latin typeface="Arial"/>
                          <a:cs typeface="Arial"/>
                        </a:rPr>
                        <a:t>Fund</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dirty="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dirty="0">
                          <a:latin typeface="Arial"/>
                          <a:cs typeface="Arial"/>
                        </a:rPr>
                        <a:t>Government</a:t>
                      </a:r>
                      <a:r>
                        <a:rPr sz="700" spc="-30" dirty="0">
                          <a:latin typeface="Arial"/>
                          <a:cs typeface="Arial"/>
                        </a:rPr>
                        <a:t> </a:t>
                      </a:r>
                      <a:r>
                        <a:rPr sz="700" spc="-20" dirty="0">
                          <a:latin typeface="Arial"/>
                          <a:cs typeface="Arial"/>
                        </a:rPr>
                        <a:t>Fund</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dirty="0">
                          <a:latin typeface="Arial"/>
                          <a:cs typeface="Arial"/>
                        </a:rPr>
                        <a:t>99</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765" algn="ctr">
                        <a:lnSpc>
                          <a:spcPts val="750"/>
                        </a:lnSpc>
                        <a:spcBef>
                          <a:spcPts val="65"/>
                        </a:spcBef>
                      </a:pPr>
                      <a:r>
                        <a:rPr sz="700" spc="-50" dirty="0">
                          <a:latin typeface="Arial"/>
                          <a:cs typeface="Arial"/>
                        </a:rPr>
                        <a:t>1</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2"/>
                  </a:ext>
                </a:extLst>
              </a:tr>
              <a:tr h="115570">
                <a:tc>
                  <a:txBody>
                    <a:bodyPr/>
                    <a:lstStyle/>
                    <a:p>
                      <a:pPr algn="ctr">
                        <a:lnSpc>
                          <a:spcPts val="745"/>
                        </a:lnSpc>
                        <a:spcBef>
                          <a:spcPts val="65"/>
                        </a:spcBef>
                      </a:pPr>
                      <a:r>
                        <a:rPr sz="700" spc="-25" dirty="0">
                          <a:latin typeface="Arial"/>
                          <a:cs typeface="Arial"/>
                        </a:rPr>
                        <a:t>13</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rgbClr val="FFF0D2"/>
                    </a:solidFill>
                  </a:tcPr>
                </a:tc>
                <a:tc>
                  <a:txBody>
                    <a:bodyPr/>
                    <a:lstStyle/>
                    <a:p>
                      <a:pPr marL="45720">
                        <a:lnSpc>
                          <a:spcPts val="745"/>
                        </a:lnSpc>
                        <a:spcBef>
                          <a:spcPts val="65"/>
                        </a:spcBef>
                      </a:pPr>
                      <a:r>
                        <a:rPr sz="700" spc="-10" dirty="0">
                          <a:latin typeface="Arial"/>
                          <a:cs typeface="Arial"/>
                        </a:rPr>
                        <a:t>Blackrock</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38735">
                        <a:lnSpc>
                          <a:spcPts val="785"/>
                        </a:lnSpc>
                        <a:spcBef>
                          <a:spcPts val="30"/>
                        </a:spcBef>
                      </a:pPr>
                      <a:r>
                        <a:rPr sz="700" spc="-25" dirty="0">
                          <a:latin typeface="Arial"/>
                          <a:cs typeface="Arial"/>
                        </a:rPr>
                        <a:t>US</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rgbClr val="FFF0D2"/>
                    </a:solidFill>
                  </a:tcPr>
                </a:tc>
                <a:tc>
                  <a:txBody>
                    <a:bodyPr/>
                    <a:lstStyle/>
                    <a:p>
                      <a:pPr marL="127635">
                        <a:lnSpc>
                          <a:spcPts val="785"/>
                        </a:lnSpc>
                        <a:spcBef>
                          <a:spcPts val="30"/>
                        </a:spcBef>
                      </a:pPr>
                      <a:r>
                        <a:rPr sz="700" spc="-10" dirty="0">
                          <a:latin typeface="Arial"/>
                          <a:cs typeface="Arial"/>
                        </a:rPr>
                        <a:t>Long-</a:t>
                      </a:r>
                      <a:r>
                        <a:rPr sz="700" spc="-20" dirty="0">
                          <a:latin typeface="Arial"/>
                          <a:cs typeface="Arial"/>
                        </a:rPr>
                        <a:t>only</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rgbClr val="FFF0D2"/>
                    </a:solidFill>
                  </a:tcPr>
                </a:tc>
                <a:tc>
                  <a:txBody>
                    <a:bodyPr/>
                    <a:lstStyle/>
                    <a:p>
                      <a:pPr marL="35560" algn="ctr">
                        <a:lnSpc>
                          <a:spcPts val="745"/>
                        </a:lnSpc>
                        <a:spcBef>
                          <a:spcPts val="65"/>
                        </a:spcBef>
                      </a:pPr>
                      <a:r>
                        <a:rPr sz="700" spc="-25" dirty="0">
                          <a:latin typeface="Arial"/>
                          <a:cs typeface="Arial"/>
                        </a:rPr>
                        <a:t>95</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24130" algn="ctr">
                        <a:lnSpc>
                          <a:spcPts val="745"/>
                        </a:lnSpc>
                        <a:spcBef>
                          <a:spcPts val="65"/>
                        </a:spcBef>
                      </a:pPr>
                      <a:r>
                        <a:rPr sz="700" spc="-50" dirty="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rgbClr val="FFF0D2"/>
                    </a:solidFill>
                  </a:tcPr>
                </a:tc>
                <a:extLst>
                  <a:ext uri="{0D108BD9-81ED-4DB2-BD59-A6C34878D82A}">
                    <a16:rowId xmlns:a16="http://schemas.microsoft.com/office/drawing/2014/main" val="10013"/>
                  </a:ext>
                </a:extLst>
              </a:tr>
              <a:tr h="116205">
                <a:tc>
                  <a:txBody>
                    <a:bodyPr/>
                    <a:lstStyle/>
                    <a:p>
                      <a:pPr algn="ctr">
                        <a:lnSpc>
                          <a:spcPts val="745"/>
                        </a:lnSpc>
                        <a:spcBef>
                          <a:spcPts val="65"/>
                        </a:spcBef>
                      </a:pPr>
                      <a:r>
                        <a:rPr sz="700" spc="-25" dirty="0">
                          <a:latin typeface="Arial"/>
                          <a:cs typeface="Arial"/>
                        </a:rPr>
                        <a:t>14</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45"/>
                        </a:lnSpc>
                        <a:spcBef>
                          <a:spcPts val="65"/>
                        </a:spcBef>
                      </a:pPr>
                      <a:r>
                        <a:rPr sz="700" spc="-10" dirty="0">
                          <a:latin typeface="Arial"/>
                          <a:cs typeface="Arial"/>
                        </a:rPr>
                        <a:t>Hillhouse</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dirty="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dirty="0">
                          <a:latin typeface="Arial"/>
                          <a:cs typeface="Arial"/>
                        </a:rPr>
                        <a:t>PE/VC</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45"/>
                        </a:lnSpc>
                        <a:spcBef>
                          <a:spcPts val="65"/>
                        </a:spcBef>
                      </a:pPr>
                      <a:r>
                        <a:rPr sz="700" spc="-25" dirty="0">
                          <a:latin typeface="Arial"/>
                          <a:cs typeface="Arial"/>
                        </a:rPr>
                        <a:t>95</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45"/>
                        </a:lnSpc>
                        <a:spcBef>
                          <a:spcPts val="65"/>
                        </a:spcBef>
                      </a:pPr>
                      <a:r>
                        <a:rPr sz="700" spc="-50" dirty="0">
                          <a:latin typeface="Arial"/>
                          <a:cs typeface="Arial"/>
                        </a:rPr>
                        <a:t>4</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4"/>
                  </a:ext>
                </a:extLst>
              </a:tr>
              <a:tr h="115570">
                <a:tc>
                  <a:txBody>
                    <a:bodyPr/>
                    <a:lstStyle/>
                    <a:p>
                      <a:pPr algn="ctr">
                        <a:lnSpc>
                          <a:spcPts val="745"/>
                        </a:lnSpc>
                        <a:spcBef>
                          <a:spcPts val="70"/>
                        </a:spcBef>
                      </a:pPr>
                      <a:r>
                        <a:rPr sz="700" spc="-25" dirty="0">
                          <a:latin typeface="Arial"/>
                          <a:cs typeface="Arial"/>
                        </a:rPr>
                        <a:t>15</a:t>
                      </a:r>
                      <a:endParaRPr sz="700">
                        <a:latin typeface="Arial"/>
                        <a:cs typeface="Arial"/>
                      </a:endParaRPr>
                    </a:p>
                  </a:txBody>
                  <a:tcPr marL="0" marR="0" marT="8890" marB="0">
                    <a:lnL w="9525">
                      <a:solidFill>
                        <a:srgbClr val="0F406B"/>
                      </a:solidFill>
                      <a:prstDash val="solid"/>
                    </a:lnL>
                    <a:lnT w="9525">
                      <a:solidFill>
                        <a:srgbClr val="0F406B"/>
                      </a:solidFill>
                      <a:prstDash val="solid"/>
                    </a:lnT>
                    <a:lnB w="9525">
                      <a:solidFill>
                        <a:srgbClr val="0F406B"/>
                      </a:solidFill>
                      <a:prstDash val="solid"/>
                    </a:lnB>
                    <a:solidFill>
                      <a:srgbClr val="FFF0D2"/>
                    </a:solidFill>
                  </a:tcPr>
                </a:tc>
                <a:tc>
                  <a:txBody>
                    <a:bodyPr/>
                    <a:lstStyle/>
                    <a:p>
                      <a:pPr marL="45720">
                        <a:lnSpc>
                          <a:spcPts val="745"/>
                        </a:lnSpc>
                        <a:spcBef>
                          <a:spcPts val="70"/>
                        </a:spcBef>
                      </a:pPr>
                      <a:r>
                        <a:rPr sz="700" spc="-25" dirty="0">
                          <a:latin typeface="Arial"/>
                          <a:cs typeface="Arial"/>
                        </a:rPr>
                        <a:t>GIC</a:t>
                      </a:r>
                      <a:endParaRPr sz="700">
                        <a:latin typeface="Arial"/>
                        <a:cs typeface="Arial"/>
                      </a:endParaRPr>
                    </a:p>
                  </a:txBody>
                  <a:tcPr marL="0" marR="0" marT="8890" marB="0">
                    <a:lnT w="9525">
                      <a:solidFill>
                        <a:srgbClr val="0F406B"/>
                      </a:solidFill>
                      <a:prstDash val="solid"/>
                    </a:lnT>
                    <a:lnB w="9525">
                      <a:solidFill>
                        <a:srgbClr val="0F406B"/>
                      </a:solidFill>
                      <a:prstDash val="solid"/>
                    </a:lnB>
                    <a:solidFill>
                      <a:srgbClr val="FFF0D2"/>
                    </a:solidFill>
                  </a:tcPr>
                </a:tc>
                <a:tc>
                  <a:txBody>
                    <a:bodyPr/>
                    <a:lstStyle/>
                    <a:p>
                      <a:pPr marL="38735">
                        <a:lnSpc>
                          <a:spcPts val="785"/>
                        </a:lnSpc>
                        <a:spcBef>
                          <a:spcPts val="30"/>
                        </a:spcBef>
                      </a:pPr>
                      <a:r>
                        <a:rPr sz="700" spc="-10" dirty="0">
                          <a:latin typeface="Arial"/>
                          <a:cs typeface="Arial"/>
                        </a:rPr>
                        <a:t>Singapore</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rgbClr val="FFF0D2"/>
                    </a:solidFill>
                  </a:tcPr>
                </a:tc>
                <a:tc>
                  <a:txBody>
                    <a:bodyPr/>
                    <a:lstStyle/>
                    <a:p>
                      <a:pPr marL="127635">
                        <a:lnSpc>
                          <a:spcPts val="785"/>
                        </a:lnSpc>
                        <a:spcBef>
                          <a:spcPts val="30"/>
                        </a:spcBef>
                      </a:pPr>
                      <a:r>
                        <a:rPr sz="700" spc="-25" dirty="0">
                          <a:latin typeface="Arial"/>
                          <a:cs typeface="Arial"/>
                        </a:rPr>
                        <a:t>SWF</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rgbClr val="FFF0D2"/>
                    </a:solidFill>
                  </a:tcPr>
                </a:tc>
                <a:tc>
                  <a:txBody>
                    <a:bodyPr/>
                    <a:lstStyle/>
                    <a:p>
                      <a:pPr marL="35560" algn="ctr">
                        <a:lnSpc>
                          <a:spcPts val="745"/>
                        </a:lnSpc>
                        <a:spcBef>
                          <a:spcPts val="70"/>
                        </a:spcBef>
                      </a:pPr>
                      <a:r>
                        <a:rPr sz="700" spc="-25" dirty="0">
                          <a:latin typeface="Arial"/>
                          <a:cs typeface="Arial"/>
                        </a:rPr>
                        <a:t>90</a:t>
                      </a:r>
                      <a:endParaRPr sz="700">
                        <a:latin typeface="Arial"/>
                        <a:cs typeface="Arial"/>
                      </a:endParaRPr>
                    </a:p>
                  </a:txBody>
                  <a:tcPr marL="0" marR="0" marT="8890" marB="0">
                    <a:lnT w="9525">
                      <a:solidFill>
                        <a:srgbClr val="0F406B"/>
                      </a:solidFill>
                      <a:prstDash val="solid"/>
                    </a:lnT>
                    <a:lnB w="9525">
                      <a:solidFill>
                        <a:srgbClr val="0F406B"/>
                      </a:solidFill>
                      <a:prstDash val="solid"/>
                    </a:lnB>
                    <a:solidFill>
                      <a:srgbClr val="FFF0D2"/>
                    </a:solidFill>
                  </a:tcPr>
                </a:tc>
                <a:tc>
                  <a:txBody>
                    <a:bodyPr/>
                    <a:lstStyle/>
                    <a:p>
                      <a:pPr marL="24130" algn="ctr">
                        <a:lnSpc>
                          <a:spcPts val="745"/>
                        </a:lnSpc>
                        <a:spcBef>
                          <a:spcPts val="70"/>
                        </a:spcBef>
                      </a:pPr>
                      <a:r>
                        <a:rPr sz="700" spc="-50" dirty="0">
                          <a:latin typeface="Arial"/>
                          <a:cs typeface="Arial"/>
                        </a:rPr>
                        <a:t>1</a:t>
                      </a:r>
                      <a:endParaRPr sz="700">
                        <a:latin typeface="Arial"/>
                        <a:cs typeface="Arial"/>
                      </a:endParaRPr>
                    </a:p>
                  </a:txBody>
                  <a:tcPr marL="0" marR="0" marT="8890" marB="0">
                    <a:lnR w="9525">
                      <a:solidFill>
                        <a:srgbClr val="0F406B"/>
                      </a:solidFill>
                      <a:prstDash val="solid"/>
                    </a:lnR>
                    <a:lnT w="9525">
                      <a:solidFill>
                        <a:srgbClr val="0F406B"/>
                      </a:solidFill>
                      <a:prstDash val="solid"/>
                    </a:lnT>
                    <a:lnB w="9525">
                      <a:solidFill>
                        <a:srgbClr val="0F406B"/>
                      </a:solidFill>
                      <a:prstDash val="solid"/>
                    </a:lnB>
                    <a:solidFill>
                      <a:srgbClr val="FFF0D2"/>
                    </a:solidFill>
                  </a:tcPr>
                </a:tc>
                <a:extLst>
                  <a:ext uri="{0D108BD9-81ED-4DB2-BD59-A6C34878D82A}">
                    <a16:rowId xmlns:a16="http://schemas.microsoft.com/office/drawing/2014/main" val="10015"/>
                  </a:ext>
                </a:extLst>
              </a:tr>
              <a:tr h="116205">
                <a:tc>
                  <a:txBody>
                    <a:bodyPr/>
                    <a:lstStyle/>
                    <a:p>
                      <a:pPr algn="ctr">
                        <a:lnSpc>
                          <a:spcPts val="745"/>
                        </a:lnSpc>
                        <a:spcBef>
                          <a:spcPts val="65"/>
                        </a:spcBef>
                      </a:pPr>
                      <a:r>
                        <a:rPr sz="700" spc="-25" dirty="0">
                          <a:latin typeface="Arial"/>
                          <a:cs typeface="Arial"/>
                        </a:rPr>
                        <a:t>16</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45"/>
                        </a:lnSpc>
                        <a:spcBef>
                          <a:spcPts val="65"/>
                        </a:spcBef>
                      </a:pPr>
                      <a:r>
                        <a:rPr sz="700" spc="-10" dirty="0">
                          <a:latin typeface="Arial"/>
                          <a:cs typeface="Arial"/>
                        </a:rPr>
                        <a:t>Alibaba</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dirty="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dirty="0">
                          <a:latin typeface="Arial"/>
                          <a:cs typeface="Arial"/>
                        </a:rPr>
                        <a:t>Strategic</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45"/>
                        </a:lnSpc>
                        <a:spcBef>
                          <a:spcPts val="65"/>
                        </a:spcBef>
                      </a:pPr>
                      <a:r>
                        <a:rPr sz="700" spc="-25" dirty="0">
                          <a:latin typeface="Arial"/>
                          <a:cs typeface="Arial"/>
                        </a:rPr>
                        <a:t>85</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45"/>
                        </a:lnSpc>
                        <a:spcBef>
                          <a:spcPts val="65"/>
                        </a:spcBef>
                      </a:pPr>
                      <a:r>
                        <a:rPr sz="700" spc="-50" dirty="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6"/>
                  </a:ext>
                </a:extLst>
              </a:tr>
              <a:tr h="116205">
                <a:tc>
                  <a:txBody>
                    <a:bodyPr/>
                    <a:lstStyle/>
                    <a:p>
                      <a:pPr algn="ctr">
                        <a:lnSpc>
                          <a:spcPts val="745"/>
                        </a:lnSpc>
                        <a:spcBef>
                          <a:spcPts val="65"/>
                        </a:spcBef>
                      </a:pPr>
                      <a:r>
                        <a:rPr sz="700" spc="-25" dirty="0">
                          <a:latin typeface="Arial"/>
                          <a:cs typeface="Arial"/>
                        </a:rPr>
                        <a:t>17</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rgbClr val="FFF0D2"/>
                    </a:solidFill>
                  </a:tcPr>
                </a:tc>
                <a:tc>
                  <a:txBody>
                    <a:bodyPr/>
                    <a:lstStyle/>
                    <a:p>
                      <a:pPr marL="45720">
                        <a:lnSpc>
                          <a:spcPts val="745"/>
                        </a:lnSpc>
                        <a:spcBef>
                          <a:spcPts val="65"/>
                        </a:spcBef>
                      </a:pPr>
                      <a:r>
                        <a:rPr sz="700" spc="-20" dirty="0">
                          <a:latin typeface="Arial"/>
                          <a:cs typeface="Arial"/>
                        </a:rPr>
                        <a:t>ADIA</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38735">
                        <a:lnSpc>
                          <a:spcPts val="785"/>
                        </a:lnSpc>
                        <a:spcBef>
                          <a:spcPts val="30"/>
                        </a:spcBef>
                      </a:pPr>
                      <a:r>
                        <a:rPr sz="700" dirty="0">
                          <a:latin typeface="Arial"/>
                          <a:cs typeface="Arial"/>
                        </a:rPr>
                        <a:t>Abu </a:t>
                      </a:r>
                      <a:r>
                        <a:rPr sz="700" spc="-10" dirty="0">
                          <a:latin typeface="Arial"/>
                          <a:cs typeface="Arial"/>
                        </a:rPr>
                        <a:t>Dhabi</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rgbClr val="FFF0D2"/>
                    </a:solidFill>
                  </a:tcPr>
                </a:tc>
                <a:tc>
                  <a:txBody>
                    <a:bodyPr/>
                    <a:lstStyle/>
                    <a:p>
                      <a:pPr marL="127635">
                        <a:lnSpc>
                          <a:spcPts val="785"/>
                        </a:lnSpc>
                        <a:spcBef>
                          <a:spcPts val="30"/>
                        </a:spcBef>
                      </a:pPr>
                      <a:r>
                        <a:rPr sz="700" spc="-25" dirty="0">
                          <a:latin typeface="Arial"/>
                          <a:cs typeface="Arial"/>
                        </a:rPr>
                        <a:t>SWF</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rgbClr val="FFF0D2"/>
                    </a:solidFill>
                  </a:tcPr>
                </a:tc>
                <a:tc>
                  <a:txBody>
                    <a:bodyPr/>
                    <a:lstStyle/>
                    <a:p>
                      <a:pPr marL="35560" algn="ctr">
                        <a:lnSpc>
                          <a:spcPts val="745"/>
                        </a:lnSpc>
                        <a:spcBef>
                          <a:spcPts val="65"/>
                        </a:spcBef>
                      </a:pPr>
                      <a:r>
                        <a:rPr sz="700" spc="-25" dirty="0">
                          <a:latin typeface="Arial"/>
                          <a:cs typeface="Arial"/>
                        </a:rPr>
                        <a:t>80</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rgbClr val="FFF0D2"/>
                    </a:solidFill>
                  </a:tcPr>
                </a:tc>
                <a:tc>
                  <a:txBody>
                    <a:bodyPr/>
                    <a:lstStyle/>
                    <a:p>
                      <a:pPr marL="24130" algn="ctr">
                        <a:lnSpc>
                          <a:spcPts val="745"/>
                        </a:lnSpc>
                        <a:spcBef>
                          <a:spcPts val="65"/>
                        </a:spcBef>
                      </a:pPr>
                      <a:r>
                        <a:rPr sz="700" spc="-50" dirty="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rgbClr val="FFF0D2"/>
                    </a:solidFill>
                  </a:tcPr>
                </a:tc>
                <a:extLst>
                  <a:ext uri="{0D108BD9-81ED-4DB2-BD59-A6C34878D82A}">
                    <a16:rowId xmlns:a16="http://schemas.microsoft.com/office/drawing/2014/main" val="10017"/>
                  </a:ext>
                </a:extLst>
              </a:tr>
              <a:tr h="115570">
                <a:tc>
                  <a:txBody>
                    <a:bodyPr/>
                    <a:lstStyle/>
                    <a:p>
                      <a:pPr algn="ctr">
                        <a:lnSpc>
                          <a:spcPts val="745"/>
                        </a:lnSpc>
                        <a:spcBef>
                          <a:spcPts val="70"/>
                        </a:spcBef>
                      </a:pPr>
                      <a:r>
                        <a:rPr sz="700" spc="-25" dirty="0">
                          <a:latin typeface="Arial"/>
                          <a:cs typeface="Arial"/>
                        </a:rPr>
                        <a:t>18</a:t>
                      </a:r>
                      <a:endParaRPr sz="700">
                        <a:latin typeface="Arial"/>
                        <a:cs typeface="Arial"/>
                      </a:endParaRPr>
                    </a:p>
                  </a:txBody>
                  <a:tcPr marL="0" marR="0" marT="8890"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45"/>
                        </a:lnSpc>
                        <a:spcBef>
                          <a:spcPts val="70"/>
                        </a:spcBef>
                      </a:pPr>
                      <a:r>
                        <a:rPr sz="700" spc="-10" dirty="0">
                          <a:latin typeface="Arial"/>
                          <a:cs typeface="Arial"/>
                        </a:rPr>
                        <a:t>Greenwoods</a:t>
                      </a:r>
                      <a:endParaRPr sz="700">
                        <a:latin typeface="Arial"/>
                        <a:cs typeface="Arial"/>
                      </a:endParaRPr>
                    </a:p>
                  </a:txBody>
                  <a:tcPr marL="0" marR="0" marT="8890"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dirty="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dirty="0">
                          <a:latin typeface="Arial"/>
                          <a:cs typeface="Arial"/>
                        </a:rPr>
                        <a:t>Multi-strategy</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45"/>
                        </a:lnSpc>
                        <a:spcBef>
                          <a:spcPts val="70"/>
                        </a:spcBef>
                      </a:pPr>
                      <a:r>
                        <a:rPr sz="700" spc="-25" dirty="0">
                          <a:latin typeface="Arial"/>
                          <a:cs typeface="Arial"/>
                        </a:rPr>
                        <a:t>78</a:t>
                      </a:r>
                      <a:endParaRPr sz="700">
                        <a:latin typeface="Arial"/>
                        <a:cs typeface="Arial"/>
                      </a:endParaRPr>
                    </a:p>
                  </a:txBody>
                  <a:tcPr marL="0" marR="0" marT="8890" marB="0">
                    <a:lnT w="9525">
                      <a:solidFill>
                        <a:srgbClr val="0F406B"/>
                      </a:solidFill>
                      <a:prstDash val="solid"/>
                    </a:lnT>
                    <a:lnB w="9525">
                      <a:solidFill>
                        <a:srgbClr val="0F406B"/>
                      </a:solidFill>
                      <a:prstDash val="solid"/>
                    </a:lnB>
                  </a:tcPr>
                </a:tc>
                <a:tc>
                  <a:txBody>
                    <a:bodyPr/>
                    <a:lstStyle/>
                    <a:p>
                      <a:pPr marL="24130" algn="ctr">
                        <a:lnSpc>
                          <a:spcPts val="745"/>
                        </a:lnSpc>
                        <a:spcBef>
                          <a:spcPts val="70"/>
                        </a:spcBef>
                      </a:pPr>
                      <a:r>
                        <a:rPr sz="700" spc="-50" dirty="0">
                          <a:latin typeface="Arial"/>
                          <a:cs typeface="Arial"/>
                        </a:rPr>
                        <a:t>3</a:t>
                      </a:r>
                      <a:endParaRPr sz="700">
                        <a:latin typeface="Arial"/>
                        <a:cs typeface="Arial"/>
                      </a:endParaRPr>
                    </a:p>
                  </a:txBody>
                  <a:tcPr marL="0" marR="0" marT="8890"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8"/>
                  </a:ext>
                </a:extLst>
              </a:tr>
              <a:tr h="115570">
                <a:tc>
                  <a:txBody>
                    <a:bodyPr/>
                    <a:lstStyle/>
                    <a:p>
                      <a:pPr algn="ctr">
                        <a:lnSpc>
                          <a:spcPts val="745"/>
                        </a:lnSpc>
                        <a:spcBef>
                          <a:spcPts val="70"/>
                        </a:spcBef>
                      </a:pPr>
                      <a:r>
                        <a:rPr sz="700" spc="-25" dirty="0">
                          <a:latin typeface="Arial"/>
                          <a:cs typeface="Arial"/>
                        </a:rPr>
                        <a:t>19</a:t>
                      </a:r>
                      <a:endParaRPr sz="700">
                        <a:latin typeface="Arial"/>
                        <a:cs typeface="Arial"/>
                      </a:endParaRPr>
                    </a:p>
                  </a:txBody>
                  <a:tcPr marL="0" marR="0" marT="8890"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45"/>
                        </a:lnSpc>
                        <a:spcBef>
                          <a:spcPts val="70"/>
                        </a:spcBef>
                      </a:pPr>
                      <a:r>
                        <a:rPr sz="700" dirty="0">
                          <a:latin typeface="Arial"/>
                          <a:cs typeface="Arial"/>
                        </a:rPr>
                        <a:t>Janchor</a:t>
                      </a:r>
                      <a:r>
                        <a:rPr sz="700" spc="-30" dirty="0">
                          <a:latin typeface="Arial"/>
                          <a:cs typeface="Arial"/>
                        </a:rPr>
                        <a:t> </a:t>
                      </a:r>
                      <a:r>
                        <a:rPr sz="700" spc="-20" dirty="0">
                          <a:latin typeface="Arial"/>
                          <a:cs typeface="Arial"/>
                        </a:rPr>
                        <a:t>Fund</a:t>
                      </a:r>
                      <a:endParaRPr sz="700">
                        <a:latin typeface="Arial"/>
                        <a:cs typeface="Arial"/>
                      </a:endParaRPr>
                    </a:p>
                  </a:txBody>
                  <a:tcPr marL="0" marR="0" marT="8890"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dirty="0">
                          <a:latin typeface="Arial"/>
                          <a:cs typeface="Arial"/>
                        </a:rPr>
                        <a:t>Hong</a:t>
                      </a:r>
                      <a:r>
                        <a:rPr sz="700" spc="-10" dirty="0">
                          <a:latin typeface="Arial"/>
                          <a:cs typeface="Arial"/>
                        </a:rPr>
                        <a:t> </a:t>
                      </a:r>
                      <a:r>
                        <a:rPr sz="700" spc="-20" dirty="0">
                          <a:latin typeface="Arial"/>
                          <a:cs typeface="Arial"/>
                        </a:rPr>
                        <a:t>Kong</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dirty="0">
                          <a:latin typeface="Arial"/>
                          <a:cs typeface="Arial"/>
                        </a:rPr>
                        <a:t>Multi-strategy</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45"/>
                        </a:lnSpc>
                        <a:spcBef>
                          <a:spcPts val="70"/>
                        </a:spcBef>
                      </a:pPr>
                      <a:r>
                        <a:rPr sz="700" spc="-25" dirty="0">
                          <a:latin typeface="Arial"/>
                          <a:cs typeface="Arial"/>
                        </a:rPr>
                        <a:t>77</a:t>
                      </a:r>
                      <a:endParaRPr sz="700">
                        <a:latin typeface="Arial"/>
                        <a:cs typeface="Arial"/>
                      </a:endParaRPr>
                    </a:p>
                  </a:txBody>
                  <a:tcPr marL="0" marR="0" marT="8890" marB="0">
                    <a:lnT w="9525">
                      <a:solidFill>
                        <a:srgbClr val="0F406B"/>
                      </a:solidFill>
                      <a:prstDash val="solid"/>
                    </a:lnT>
                    <a:lnB w="9525">
                      <a:solidFill>
                        <a:srgbClr val="0F406B"/>
                      </a:solidFill>
                      <a:prstDash val="solid"/>
                    </a:lnB>
                  </a:tcPr>
                </a:tc>
                <a:tc>
                  <a:txBody>
                    <a:bodyPr/>
                    <a:lstStyle/>
                    <a:p>
                      <a:pPr marL="24130" algn="ctr">
                        <a:lnSpc>
                          <a:spcPts val="745"/>
                        </a:lnSpc>
                        <a:spcBef>
                          <a:spcPts val="70"/>
                        </a:spcBef>
                      </a:pPr>
                      <a:r>
                        <a:rPr sz="700" spc="-50" dirty="0">
                          <a:latin typeface="Arial"/>
                          <a:cs typeface="Arial"/>
                        </a:rPr>
                        <a:t>2</a:t>
                      </a:r>
                      <a:endParaRPr sz="700">
                        <a:latin typeface="Arial"/>
                        <a:cs typeface="Arial"/>
                      </a:endParaRPr>
                    </a:p>
                  </a:txBody>
                  <a:tcPr marL="0" marR="0" marT="8890"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9"/>
                  </a:ext>
                </a:extLst>
              </a:tr>
              <a:tr h="116205">
                <a:tc>
                  <a:txBody>
                    <a:bodyPr/>
                    <a:lstStyle/>
                    <a:p>
                      <a:pPr algn="ctr">
                        <a:lnSpc>
                          <a:spcPts val="745"/>
                        </a:lnSpc>
                        <a:spcBef>
                          <a:spcPts val="65"/>
                        </a:spcBef>
                      </a:pPr>
                      <a:r>
                        <a:rPr sz="700" spc="-25" dirty="0">
                          <a:latin typeface="Arial"/>
                          <a:cs typeface="Arial"/>
                        </a:rPr>
                        <a:t>20</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45"/>
                        </a:lnSpc>
                        <a:spcBef>
                          <a:spcPts val="65"/>
                        </a:spcBef>
                      </a:pPr>
                      <a:r>
                        <a:rPr sz="700" dirty="0">
                          <a:latin typeface="Arial"/>
                          <a:cs typeface="Arial"/>
                        </a:rPr>
                        <a:t>GF</a:t>
                      </a:r>
                      <a:r>
                        <a:rPr sz="700" spc="-5" dirty="0">
                          <a:latin typeface="Arial"/>
                          <a:cs typeface="Arial"/>
                        </a:rPr>
                        <a:t> </a:t>
                      </a:r>
                      <a:r>
                        <a:rPr sz="700" spc="-20" dirty="0">
                          <a:latin typeface="Arial"/>
                          <a:cs typeface="Arial"/>
                        </a:rPr>
                        <a:t>Fund</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0"/>
                        </a:lnSpc>
                        <a:spcBef>
                          <a:spcPts val="30"/>
                        </a:spcBef>
                      </a:pPr>
                      <a:r>
                        <a:rPr sz="700" spc="-10" dirty="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0"/>
                        </a:lnSpc>
                        <a:spcBef>
                          <a:spcPts val="30"/>
                        </a:spcBef>
                      </a:pPr>
                      <a:r>
                        <a:rPr sz="700" spc="-10" dirty="0">
                          <a:latin typeface="Arial"/>
                          <a:cs typeface="Arial"/>
                        </a:rPr>
                        <a:t>Long-</a:t>
                      </a:r>
                      <a:r>
                        <a:rPr sz="700" spc="-20" dirty="0">
                          <a:latin typeface="Arial"/>
                          <a:cs typeface="Arial"/>
                        </a:rPr>
                        <a:t>only</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45"/>
                        </a:lnSpc>
                        <a:spcBef>
                          <a:spcPts val="65"/>
                        </a:spcBef>
                      </a:pPr>
                      <a:r>
                        <a:rPr sz="700" spc="-25" dirty="0">
                          <a:latin typeface="Arial"/>
                          <a:cs typeface="Arial"/>
                        </a:rPr>
                        <a:t>77</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45"/>
                        </a:lnSpc>
                        <a:spcBef>
                          <a:spcPts val="65"/>
                        </a:spcBef>
                      </a:pPr>
                      <a:r>
                        <a:rPr sz="700" spc="-50" dirty="0">
                          <a:latin typeface="Arial"/>
                          <a:cs typeface="Arial"/>
                        </a:rPr>
                        <a:t>3</a:t>
                      </a:r>
                      <a:endParaRPr sz="700" dirty="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20"/>
                  </a:ext>
                </a:extLst>
              </a:tr>
            </a:tbl>
          </a:graphicData>
        </a:graphic>
      </p:graphicFrame>
      <p:pic>
        <p:nvPicPr>
          <p:cNvPr id="14" name="object 15" descr="   (Shape)">
            <a:extLst>
              <a:ext uri="{FF2B5EF4-FFF2-40B4-BE49-F238E27FC236}">
                <a16:creationId xmlns:a16="http://schemas.microsoft.com/office/drawing/2014/main" id="{84AA2A7F-263E-67AF-B357-7F271CDAD002}"/>
              </a:ext>
            </a:extLst>
          </p:cNvPr>
          <p:cNvPicPr/>
          <p:nvPr/>
        </p:nvPicPr>
        <p:blipFill>
          <a:blip r:embed="rId2" cstate="print"/>
          <a:stretch>
            <a:fillRect/>
          </a:stretch>
        </p:blipFill>
        <p:spPr>
          <a:xfrm>
            <a:off x="363960" y="2160006"/>
            <a:ext cx="3818254" cy="3513582"/>
          </a:xfrm>
          <a:prstGeom prst="rect">
            <a:avLst/>
          </a:prstGeom>
        </p:spPr>
      </p:pic>
      <p:sp>
        <p:nvSpPr>
          <p:cNvPr id="16" name="object 17">
            <a:extLst>
              <a:ext uri="{FF2B5EF4-FFF2-40B4-BE49-F238E27FC236}">
                <a16:creationId xmlns:a16="http://schemas.microsoft.com/office/drawing/2014/main" id="{A52B72F4-45E6-A94D-CA1B-3DB53084C436}"/>
              </a:ext>
            </a:extLst>
          </p:cNvPr>
          <p:cNvSpPr/>
          <p:nvPr/>
        </p:nvSpPr>
        <p:spPr>
          <a:xfrm>
            <a:off x="715509" y="2527772"/>
            <a:ext cx="3297691" cy="2818130"/>
          </a:xfrm>
          <a:custGeom>
            <a:avLst/>
            <a:gdLst/>
            <a:ahLst/>
            <a:cxnLst/>
            <a:rect l="l" t="t" r="r" b="b"/>
            <a:pathLst>
              <a:path w="3136265" h="2818129">
                <a:moveTo>
                  <a:pt x="0" y="2818129"/>
                </a:moveTo>
                <a:lnTo>
                  <a:pt x="3135998" y="2818129"/>
                </a:lnTo>
                <a:lnTo>
                  <a:pt x="3135998" y="0"/>
                </a:lnTo>
                <a:lnTo>
                  <a:pt x="0" y="0"/>
                </a:lnTo>
                <a:lnTo>
                  <a:pt x="0" y="2818129"/>
                </a:lnTo>
                <a:close/>
              </a:path>
            </a:pathLst>
          </a:custGeom>
          <a:solidFill>
            <a:srgbClr val="FFFFFF"/>
          </a:solidFill>
        </p:spPr>
        <p:txBody>
          <a:bodyPr wrap="square" lIns="0" tIns="0" rIns="0" bIns="0" rtlCol="0"/>
          <a:lstStyle/>
          <a:p>
            <a:endParaRPr/>
          </a:p>
        </p:txBody>
      </p:sp>
      <p:sp>
        <p:nvSpPr>
          <p:cNvPr id="19" name="object 20">
            <a:extLst>
              <a:ext uri="{FF2B5EF4-FFF2-40B4-BE49-F238E27FC236}">
                <a16:creationId xmlns:a16="http://schemas.microsoft.com/office/drawing/2014/main" id="{6E406549-B3DF-4DBA-A578-9D10DF58863B}"/>
              </a:ext>
            </a:extLst>
          </p:cNvPr>
          <p:cNvSpPr/>
          <p:nvPr/>
        </p:nvSpPr>
        <p:spPr>
          <a:xfrm>
            <a:off x="1430760" y="3229829"/>
            <a:ext cx="143510" cy="161925"/>
          </a:xfrm>
          <a:custGeom>
            <a:avLst/>
            <a:gdLst/>
            <a:ahLst/>
            <a:cxnLst/>
            <a:rect l="l" t="t" r="r" b="b"/>
            <a:pathLst>
              <a:path w="143509" h="161925">
                <a:moveTo>
                  <a:pt x="143256" y="0"/>
                </a:moveTo>
                <a:lnTo>
                  <a:pt x="0" y="0"/>
                </a:lnTo>
                <a:lnTo>
                  <a:pt x="0" y="161671"/>
                </a:lnTo>
                <a:lnTo>
                  <a:pt x="143256" y="161671"/>
                </a:lnTo>
                <a:lnTo>
                  <a:pt x="143256" y="0"/>
                </a:lnTo>
                <a:close/>
              </a:path>
            </a:pathLst>
          </a:custGeom>
          <a:solidFill>
            <a:srgbClr val="12426B"/>
          </a:solidFill>
        </p:spPr>
        <p:txBody>
          <a:bodyPr wrap="square" lIns="0" tIns="0" rIns="0" bIns="0" rtlCol="0"/>
          <a:lstStyle/>
          <a:p>
            <a:endParaRPr/>
          </a:p>
        </p:txBody>
      </p:sp>
      <p:sp>
        <p:nvSpPr>
          <p:cNvPr id="20" name="object 21">
            <a:extLst>
              <a:ext uri="{FF2B5EF4-FFF2-40B4-BE49-F238E27FC236}">
                <a16:creationId xmlns:a16="http://schemas.microsoft.com/office/drawing/2014/main" id="{B4D1CBF4-5F5E-4AD3-3CDF-AE4E5B3F6897}"/>
              </a:ext>
            </a:extLst>
          </p:cNvPr>
          <p:cNvSpPr/>
          <p:nvPr/>
        </p:nvSpPr>
        <p:spPr>
          <a:xfrm>
            <a:off x="1889483" y="3184109"/>
            <a:ext cx="143510" cy="207645"/>
          </a:xfrm>
          <a:custGeom>
            <a:avLst/>
            <a:gdLst/>
            <a:ahLst/>
            <a:cxnLst/>
            <a:rect l="l" t="t" r="r" b="b"/>
            <a:pathLst>
              <a:path w="143510" h="207644">
                <a:moveTo>
                  <a:pt x="143256" y="0"/>
                </a:moveTo>
                <a:lnTo>
                  <a:pt x="0" y="0"/>
                </a:lnTo>
                <a:lnTo>
                  <a:pt x="0" y="207391"/>
                </a:lnTo>
                <a:lnTo>
                  <a:pt x="143256" y="207391"/>
                </a:lnTo>
                <a:lnTo>
                  <a:pt x="143256" y="0"/>
                </a:lnTo>
                <a:close/>
              </a:path>
            </a:pathLst>
          </a:custGeom>
          <a:solidFill>
            <a:srgbClr val="12426B"/>
          </a:solidFill>
        </p:spPr>
        <p:txBody>
          <a:bodyPr wrap="square" lIns="0" tIns="0" rIns="0" bIns="0" rtlCol="0"/>
          <a:lstStyle/>
          <a:p>
            <a:endParaRPr/>
          </a:p>
        </p:txBody>
      </p:sp>
      <p:sp>
        <p:nvSpPr>
          <p:cNvPr id="21" name="object 22">
            <a:extLst>
              <a:ext uri="{FF2B5EF4-FFF2-40B4-BE49-F238E27FC236}">
                <a16:creationId xmlns:a16="http://schemas.microsoft.com/office/drawing/2014/main" id="{E34C478B-6762-9E22-B2D0-12EDD230E949}"/>
              </a:ext>
            </a:extLst>
          </p:cNvPr>
          <p:cNvSpPr/>
          <p:nvPr/>
        </p:nvSpPr>
        <p:spPr>
          <a:xfrm>
            <a:off x="2346683" y="3127720"/>
            <a:ext cx="144780" cy="264160"/>
          </a:xfrm>
          <a:custGeom>
            <a:avLst/>
            <a:gdLst/>
            <a:ahLst/>
            <a:cxnLst/>
            <a:rect l="l" t="t" r="r" b="b"/>
            <a:pathLst>
              <a:path w="144780" h="264160">
                <a:moveTo>
                  <a:pt x="144780" y="0"/>
                </a:moveTo>
                <a:lnTo>
                  <a:pt x="0" y="0"/>
                </a:lnTo>
                <a:lnTo>
                  <a:pt x="0" y="263779"/>
                </a:lnTo>
                <a:lnTo>
                  <a:pt x="144780" y="263779"/>
                </a:lnTo>
                <a:lnTo>
                  <a:pt x="144780" y="0"/>
                </a:lnTo>
                <a:close/>
              </a:path>
            </a:pathLst>
          </a:custGeom>
          <a:solidFill>
            <a:srgbClr val="12426B"/>
          </a:solidFill>
        </p:spPr>
        <p:txBody>
          <a:bodyPr wrap="square" lIns="0" tIns="0" rIns="0" bIns="0" rtlCol="0"/>
          <a:lstStyle/>
          <a:p>
            <a:endParaRPr/>
          </a:p>
        </p:txBody>
      </p:sp>
      <p:sp>
        <p:nvSpPr>
          <p:cNvPr id="22" name="object 23">
            <a:extLst>
              <a:ext uri="{FF2B5EF4-FFF2-40B4-BE49-F238E27FC236}">
                <a16:creationId xmlns:a16="http://schemas.microsoft.com/office/drawing/2014/main" id="{6FEB6846-38AD-FD84-8B14-1E057673484C}"/>
              </a:ext>
            </a:extLst>
          </p:cNvPr>
          <p:cNvSpPr/>
          <p:nvPr/>
        </p:nvSpPr>
        <p:spPr>
          <a:xfrm>
            <a:off x="2805408" y="3039329"/>
            <a:ext cx="143510" cy="352425"/>
          </a:xfrm>
          <a:custGeom>
            <a:avLst/>
            <a:gdLst/>
            <a:ahLst/>
            <a:cxnLst/>
            <a:rect l="l" t="t" r="r" b="b"/>
            <a:pathLst>
              <a:path w="143510" h="352425">
                <a:moveTo>
                  <a:pt x="143256" y="0"/>
                </a:moveTo>
                <a:lnTo>
                  <a:pt x="0" y="0"/>
                </a:lnTo>
                <a:lnTo>
                  <a:pt x="0" y="352171"/>
                </a:lnTo>
                <a:lnTo>
                  <a:pt x="143256" y="352171"/>
                </a:lnTo>
                <a:lnTo>
                  <a:pt x="143256" y="0"/>
                </a:lnTo>
                <a:close/>
              </a:path>
            </a:pathLst>
          </a:custGeom>
          <a:solidFill>
            <a:srgbClr val="12426B"/>
          </a:solidFill>
        </p:spPr>
        <p:txBody>
          <a:bodyPr wrap="square" lIns="0" tIns="0" rIns="0" bIns="0" rtlCol="0"/>
          <a:lstStyle/>
          <a:p>
            <a:endParaRPr/>
          </a:p>
        </p:txBody>
      </p:sp>
      <p:sp>
        <p:nvSpPr>
          <p:cNvPr id="23" name="object 24">
            <a:extLst>
              <a:ext uri="{FF2B5EF4-FFF2-40B4-BE49-F238E27FC236}">
                <a16:creationId xmlns:a16="http://schemas.microsoft.com/office/drawing/2014/main" id="{777617FC-A141-8374-B00A-CBA6FD0B66D1}"/>
              </a:ext>
            </a:extLst>
          </p:cNvPr>
          <p:cNvSpPr/>
          <p:nvPr/>
        </p:nvSpPr>
        <p:spPr>
          <a:xfrm>
            <a:off x="3262608" y="2976845"/>
            <a:ext cx="144780" cy="414655"/>
          </a:xfrm>
          <a:custGeom>
            <a:avLst/>
            <a:gdLst/>
            <a:ahLst/>
            <a:cxnLst/>
            <a:rect l="l" t="t" r="r" b="b"/>
            <a:pathLst>
              <a:path w="144780" h="414655">
                <a:moveTo>
                  <a:pt x="144780" y="0"/>
                </a:moveTo>
                <a:lnTo>
                  <a:pt x="0" y="0"/>
                </a:lnTo>
                <a:lnTo>
                  <a:pt x="0" y="414655"/>
                </a:lnTo>
                <a:lnTo>
                  <a:pt x="144780" y="414655"/>
                </a:lnTo>
                <a:lnTo>
                  <a:pt x="144780" y="0"/>
                </a:lnTo>
                <a:close/>
              </a:path>
            </a:pathLst>
          </a:custGeom>
          <a:solidFill>
            <a:srgbClr val="12426B"/>
          </a:solidFill>
        </p:spPr>
        <p:txBody>
          <a:bodyPr wrap="square" lIns="0" tIns="0" rIns="0" bIns="0" rtlCol="0"/>
          <a:lstStyle/>
          <a:p>
            <a:endParaRPr/>
          </a:p>
        </p:txBody>
      </p:sp>
      <p:sp>
        <p:nvSpPr>
          <p:cNvPr id="24" name="object 25">
            <a:extLst>
              <a:ext uri="{FF2B5EF4-FFF2-40B4-BE49-F238E27FC236}">
                <a16:creationId xmlns:a16="http://schemas.microsoft.com/office/drawing/2014/main" id="{75D29E8F-BD9F-A065-2946-927A87F2A6B2}"/>
              </a:ext>
            </a:extLst>
          </p:cNvPr>
          <p:cNvSpPr txBox="1"/>
          <p:nvPr/>
        </p:nvSpPr>
        <p:spPr>
          <a:xfrm>
            <a:off x="725960" y="2560234"/>
            <a:ext cx="3115310" cy="1366520"/>
          </a:xfrm>
          <a:prstGeom prst="rect">
            <a:avLst/>
          </a:prstGeom>
        </p:spPr>
        <p:txBody>
          <a:bodyPr vert="horz" wrap="square" lIns="0" tIns="12065" rIns="0" bIns="0" rtlCol="0">
            <a:spAutoFit/>
          </a:bodyPr>
          <a:lstStyle/>
          <a:p>
            <a:pPr marL="248285">
              <a:spcBef>
                <a:spcPts val="95"/>
              </a:spcBef>
            </a:pPr>
            <a:r>
              <a:rPr sz="700" dirty="0">
                <a:solidFill>
                  <a:srgbClr val="12426B"/>
                </a:solidFill>
                <a:latin typeface="Arial"/>
                <a:cs typeface="Arial"/>
              </a:rPr>
              <a:t>HK</a:t>
            </a:r>
            <a:r>
              <a:rPr sz="700" spc="-20" dirty="0">
                <a:solidFill>
                  <a:srgbClr val="12426B"/>
                </a:solidFill>
                <a:latin typeface="Arial"/>
                <a:cs typeface="Arial"/>
              </a:rPr>
              <a:t> </a:t>
            </a:r>
            <a:r>
              <a:rPr sz="700" dirty="0">
                <a:solidFill>
                  <a:srgbClr val="12426B"/>
                </a:solidFill>
                <a:latin typeface="Arial"/>
                <a:cs typeface="Arial"/>
              </a:rPr>
              <a:t>IPOs</a:t>
            </a:r>
            <a:r>
              <a:rPr sz="675" baseline="24691" dirty="0">
                <a:solidFill>
                  <a:srgbClr val="12426B"/>
                </a:solidFill>
                <a:latin typeface="Arial"/>
                <a:cs typeface="Arial"/>
              </a:rPr>
              <a:t>1</a:t>
            </a:r>
            <a:r>
              <a:rPr sz="675" spc="112" baseline="24691" dirty="0">
                <a:solidFill>
                  <a:srgbClr val="12426B"/>
                </a:solidFill>
                <a:latin typeface="Arial"/>
                <a:cs typeface="Arial"/>
              </a:rPr>
              <a:t> </a:t>
            </a:r>
            <a:r>
              <a:rPr sz="700" dirty="0">
                <a:solidFill>
                  <a:srgbClr val="12426B"/>
                </a:solidFill>
                <a:latin typeface="Arial"/>
                <a:cs typeface="Arial"/>
              </a:rPr>
              <a:t>with </a:t>
            </a:r>
            <a:r>
              <a:rPr sz="700" spc="-10" dirty="0">
                <a:solidFill>
                  <a:srgbClr val="12426B"/>
                </a:solidFill>
                <a:latin typeface="Arial"/>
                <a:cs typeface="Arial"/>
              </a:rPr>
              <a:t>International</a:t>
            </a:r>
            <a:r>
              <a:rPr sz="700" spc="50" dirty="0">
                <a:solidFill>
                  <a:srgbClr val="12426B"/>
                </a:solidFill>
                <a:latin typeface="Arial"/>
                <a:cs typeface="Arial"/>
              </a:rPr>
              <a:t> </a:t>
            </a:r>
            <a:r>
              <a:rPr sz="700" spc="-10" dirty="0">
                <a:solidFill>
                  <a:srgbClr val="12426B"/>
                </a:solidFill>
                <a:latin typeface="Arial"/>
                <a:cs typeface="Arial"/>
              </a:rPr>
              <a:t>Cornerstone</a:t>
            </a:r>
            <a:r>
              <a:rPr sz="700" spc="5" dirty="0">
                <a:solidFill>
                  <a:srgbClr val="12426B"/>
                </a:solidFill>
                <a:latin typeface="Arial"/>
                <a:cs typeface="Arial"/>
              </a:rPr>
              <a:t> </a:t>
            </a:r>
            <a:r>
              <a:rPr sz="700" dirty="0">
                <a:solidFill>
                  <a:srgbClr val="12426B"/>
                </a:solidFill>
                <a:latin typeface="Arial"/>
                <a:cs typeface="Arial"/>
              </a:rPr>
              <a:t>Investors</a:t>
            </a:r>
            <a:r>
              <a:rPr sz="700" spc="45" dirty="0">
                <a:solidFill>
                  <a:srgbClr val="12426B"/>
                </a:solidFill>
                <a:latin typeface="Arial"/>
                <a:cs typeface="Arial"/>
              </a:rPr>
              <a:t> </a:t>
            </a:r>
            <a:r>
              <a:rPr sz="700" dirty="0">
                <a:solidFill>
                  <a:srgbClr val="12426B"/>
                </a:solidFill>
                <a:latin typeface="Arial"/>
                <a:cs typeface="Arial"/>
              </a:rPr>
              <a:t>Since</a:t>
            </a:r>
            <a:r>
              <a:rPr sz="700" spc="-15" dirty="0">
                <a:solidFill>
                  <a:srgbClr val="12426B"/>
                </a:solidFill>
                <a:latin typeface="Arial"/>
                <a:cs typeface="Arial"/>
              </a:rPr>
              <a:t> </a:t>
            </a:r>
            <a:r>
              <a:rPr sz="700" spc="-20" dirty="0">
                <a:solidFill>
                  <a:srgbClr val="12426B"/>
                </a:solidFill>
                <a:latin typeface="Arial"/>
                <a:cs typeface="Arial"/>
              </a:rPr>
              <a:t>2022</a:t>
            </a:r>
            <a:endParaRPr sz="700">
              <a:latin typeface="Arial"/>
              <a:cs typeface="Arial"/>
            </a:endParaRPr>
          </a:p>
          <a:p>
            <a:pPr marL="243840">
              <a:spcBef>
                <a:spcPts val="730"/>
              </a:spcBef>
            </a:pPr>
            <a:r>
              <a:rPr sz="700" spc="-20" dirty="0">
                <a:solidFill>
                  <a:srgbClr val="585858"/>
                </a:solidFill>
                <a:latin typeface="Arial"/>
                <a:cs typeface="Arial"/>
              </a:rPr>
              <a:t>100%</a:t>
            </a:r>
            <a:endParaRPr sz="700">
              <a:latin typeface="Arial"/>
              <a:cs typeface="Arial"/>
            </a:endParaRPr>
          </a:p>
          <a:p>
            <a:pPr>
              <a:spcBef>
                <a:spcPts val="560"/>
              </a:spcBef>
            </a:pPr>
            <a:endParaRPr sz="700">
              <a:latin typeface="Arial"/>
              <a:cs typeface="Arial"/>
            </a:endParaRPr>
          </a:p>
          <a:p>
            <a:pPr marL="293370"/>
            <a:r>
              <a:rPr sz="700" spc="-25" dirty="0">
                <a:solidFill>
                  <a:srgbClr val="585858"/>
                </a:solidFill>
                <a:latin typeface="Arial"/>
                <a:cs typeface="Arial"/>
              </a:rPr>
              <a:t>50%</a:t>
            </a:r>
            <a:endParaRPr sz="700">
              <a:latin typeface="Arial"/>
              <a:cs typeface="Arial"/>
            </a:endParaRPr>
          </a:p>
          <a:p>
            <a:pPr>
              <a:spcBef>
                <a:spcPts val="560"/>
              </a:spcBef>
            </a:pPr>
            <a:endParaRPr sz="700">
              <a:latin typeface="Arial"/>
              <a:cs typeface="Arial"/>
            </a:endParaRPr>
          </a:p>
          <a:p>
            <a:pPr marL="342900"/>
            <a:r>
              <a:rPr sz="700" spc="-25" dirty="0">
                <a:solidFill>
                  <a:srgbClr val="585858"/>
                </a:solidFill>
                <a:latin typeface="Arial"/>
                <a:cs typeface="Arial"/>
              </a:rPr>
              <a:t>0%</a:t>
            </a:r>
            <a:endParaRPr sz="700">
              <a:latin typeface="Arial"/>
              <a:cs typeface="Arial"/>
            </a:endParaRPr>
          </a:p>
          <a:p>
            <a:pPr>
              <a:spcBef>
                <a:spcPts val="565"/>
              </a:spcBef>
            </a:pPr>
            <a:endParaRPr sz="700">
              <a:latin typeface="Arial"/>
              <a:cs typeface="Arial"/>
            </a:endParaRPr>
          </a:p>
          <a:p>
            <a:pPr marL="452120" marR="55880" indent="-389255">
              <a:lnSpc>
                <a:spcPct val="141100"/>
              </a:lnSpc>
              <a:tabLst>
                <a:tab pos="1868170" algn="l"/>
              </a:tabLst>
            </a:pPr>
            <a:r>
              <a:rPr sz="700" dirty="0">
                <a:solidFill>
                  <a:srgbClr val="12426B"/>
                </a:solidFill>
                <a:latin typeface="Arial"/>
                <a:cs typeface="Arial"/>
              </a:rPr>
              <a:t>Sector</a:t>
            </a:r>
            <a:r>
              <a:rPr sz="700" spc="-20" dirty="0">
                <a:solidFill>
                  <a:srgbClr val="12426B"/>
                </a:solidFill>
                <a:latin typeface="Arial"/>
                <a:cs typeface="Arial"/>
              </a:rPr>
              <a:t> </a:t>
            </a:r>
            <a:r>
              <a:rPr sz="700" dirty="0">
                <a:solidFill>
                  <a:srgbClr val="12426B"/>
                </a:solidFill>
                <a:latin typeface="Arial"/>
                <a:cs typeface="Arial"/>
              </a:rPr>
              <a:t>Breakdown</a:t>
            </a:r>
            <a:r>
              <a:rPr sz="700" spc="-10" dirty="0">
                <a:solidFill>
                  <a:srgbClr val="12426B"/>
                </a:solidFill>
                <a:latin typeface="Arial"/>
                <a:cs typeface="Arial"/>
              </a:rPr>
              <a:t> </a:t>
            </a:r>
            <a:r>
              <a:rPr sz="700" dirty="0">
                <a:solidFill>
                  <a:srgbClr val="12426B"/>
                </a:solidFill>
                <a:latin typeface="Arial"/>
                <a:cs typeface="Arial"/>
              </a:rPr>
              <a:t>of</a:t>
            </a:r>
            <a:r>
              <a:rPr sz="700" spc="-20" dirty="0">
                <a:solidFill>
                  <a:srgbClr val="12426B"/>
                </a:solidFill>
                <a:latin typeface="Arial"/>
                <a:cs typeface="Arial"/>
              </a:rPr>
              <a:t> </a:t>
            </a:r>
            <a:r>
              <a:rPr sz="700" dirty="0">
                <a:solidFill>
                  <a:srgbClr val="12426B"/>
                </a:solidFill>
                <a:latin typeface="Arial"/>
                <a:cs typeface="Arial"/>
              </a:rPr>
              <a:t>Cornerstone</a:t>
            </a:r>
            <a:r>
              <a:rPr sz="700" spc="-15" dirty="0">
                <a:solidFill>
                  <a:srgbClr val="12426B"/>
                </a:solidFill>
                <a:latin typeface="Arial"/>
                <a:cs typeface="Arial"/>
              </a:rPr>
              <a:t> </a:t>
            </a:r>
            <a:r>
              <a:rPr sz="700" dirty="0">
                <a:solidFill>
                  <a:srgbClr val="12426B"/>
                </a:solidFill>
                <a:latin typeface="Arial"/>
                <a:cs typeface="Arial"/>
              </a:rPr>
              <a:t>Investments</a:t>
            </a:r>
            <a:r>
              <a:rPr sz="700" spc="20" dirty="0">
                <a:solidFill>
                  <a:srgbClr val="12426B"/>
                </a:solidFill>
                <a:latin typeface="Arial"/>
                <a:cs typeface="Arial"/>
              </a:rPr>
              <a:t> </a:t>
            </a:r>
            <a:r>
              <a:rPr sz="700" dirty="0">
                <a:solidFill>
                  <a:srgbClr val="12426B"/>
                </a:solidFill>
                <a:latin typeface="Arial"/>
                <a:cs typeface="Arial"/>
              </a:rPr>
              <a:t>in</a:t>
            </a:r>
            <a:r>
              <a:rPr sz="700" spc="-20" dirty="0">
                <a:solidFill>
                  <a:srgbClr val="12426B"/>
                </a:solidFill>
                <a:latin typeface="Arial"/>
                <a:cs typeface="Arial"/>
              </a:rPr>
              <a:t> </a:t>
            </a:r>
            <a:r>
              <a:rPr sz="700" dirty="0">
                <a:solidFill>
                  <a:srgbClr val="12426B"/>
                </a:solidFill>
                <a:latin typeface="Arial"/>
                <a:cs typeface="Arial"/>
              </a:rPr>
              <a:t>HK</a:t>
            </a:r>
            <a:r>
              <a:rPr sz="700" spc="-35" dirty="0">
                <a:solidFill>
                  <a:srgbClr val="12426B"/>
                </a:solidFill>
                <a:latin typeface="Arial"/>
                <a:cs typeface="Arial"/>
              </a:rPr>
              <a:t> </a:t>
            </a:r>
            <a:r>
              <a:rPr sz="700" dirty="0">
                <a:solidFill>
                  <a:srgbClr val="12426B"/>
                </a:solidFill>
                <a:latin typeface="Arial"/>
                <a:cs typeface="Arial"/>
              </a:rPr>
              <a:t>IPOs</a:t>
            </a:r>
            <a:r>
              <a:rPr sz="675" baseline="24691" dirty="0">
                <a:solidFill>
                  <a:srgbClr val="12426B"/>
                </a:solidFill>
                <a:latin typeface="Arial"/>
                <a:cs typeface="Arial"/>
              </a:rPr>
              <a:t>1</a:t>
            </a:r>
            <a:r>
              <a:rPr sz="675" spc="-22" baseline="24691" dirty="0">
                <a:solidFill>
                  <a:srgbClr val="12426B"/>
                </a:solidFill>
                <a:latin typeface="Arial"/>
                <a:cs typeface="Arial"/>
              </a:rPr>
              <a:t> </a:t>
            </a:r>
            <a:r>
              <a:rPr sz="700" dirty="0">
                <a:solidFill>
                  <a:srgbClr val="12426B"/>
                </a:solidFill>
                <a:latin typeface="Arial"/>
                <a:cs typeface="Arial"/>
              </a:rPr>
              <a:t>(by</a:t>
            </a:r>
            <a:r>
              <a:rPr sz="700" spc="-20" dirty="0">
                <a:solidFill>
                  <a:srgbClr val="12426B"/>
                </a:solidFill>
                <a:latin typeface="Arial"/>
                <a:cs typeface="Arial"/>
              </a:rPr>
              <a:t> </a:t>
            </a:r>
            <a:r>
              <a:rPr sz="700" spc="-10" dirty="0">
                <a:solidFill>
                  <a:srgbClr val="12426B"/>
                </a:solidFill>
                <a:latin typeface="Arial"/>
                <a:cs typeface="Arial"/>
              </a:rPr>
              <a:t>US$bn)</a:t>
            </a:r>
            <a:r>
              <a:rPr sz="700" spc="500" dirty="0">
                <a:solidFill>
                  <a:srgbClr val="12426B"/>
                </a:solidFill>
                <a:latin typeface="Arial"/>
                <a:cs typeface="Arial"/>
              </a:rPr>
              <a:t> </a:t>
            </a:r>
            <a:r>
              <a:rPr sz="1050" u="sng" baseline="3968" dirty="0">
                <a:solidFill>
                  <a:srgbClr val="12426B"/>
                </a:solidFill>
                <a:uFill>
                  <a:solidFill>
                    <a:srgbClr val="12426B"/>
                  </a:solidFill>
                </a:uFill>
                <a:latin typeface="Arial"/>
                <a:cs typeface="Arial"/>
              </a:rPr>
              <a:t>Chinese</a:t>
            </a:r>
            <a:r>
              <a:rPr sz="1050" u="sng" spc="-30" baseline="3968" dirty="0">
                <a:solidFill>
                  <a:srgbClr val="12426B"/>
                </a:solidFill>
                <a:uFill>
                  <a:solidFill>
                    <a:srgbClr val="12426B"/>
                  </a:solidFill>
                </a:uFill>
                <a:latin typeface="Arial"/>
                <a:cs typeface="Arial"/>
              </a:rPr>
              <a:t> </a:t>
            </a:r>
            <a:r>
              <a:rPr sz="1050" u="sng" spc="-15" baseline="3968" dirty="0">
                <a:solidFill>
                  <a:srgbClr val="12426B"/>
                </a:solidFill>
                <a:uFill>
                  <a:solidFill>
                    <a:srgbClr val="12426B"/>
                  </a:solidFill>
                </a:uFill>
                <a:latin typeface="Arial"/>
                <a:cs typeface="Arial"/>
              </a:rPr>
              <a:t>Investors</a:t>
            </a:r>
            <a:r>
              <a:rPr sz="1050" baseline="3968" dirty="0">
                <a:solidFill>
                  <a:srgbClr val="12426B"/>
                </a:solidFill>
                <a:latin typeface="Arial"/>
                <a:cs typeface="Arial"/>
              </a:rPr>
              <a:t>	</a:t>
            </a:r>
            <a:r>
              <a:rPr sz="700" u="sng" spc="-10" dirty="0">
                <a:solidFill>
                  <a:srgbClr val="12426B"/>
                </a:solidFill>
                <a:uFill>
                  <a:solidFill>
                    <a:srgbClr val="12426B"/>
                  </a:solidFill>
                </a:uFill>
                <a:latin typeface="Arial"/>
                <a:cs typeface="Arial"/>
              </a:rPr>
              <a:t>International</a:t>
            </a:r>
            <a:r>
              <a:rPr sz="700" u="sng" spc="90" dirty="0">
                <a:solidFill>
                  <a:srgbClr val="12426B"/>
                </a:solidFill>
                <a:uFill>
                  <a:solidFill>
                    <a:srgbClr val="12426B"/>
                  </a:solidFill>
                </a:uFill>
                <a:latin typeface="Arial"/>
                <a:cs typeface="Arial"/>
              </a:rPr>
              <a:t> </a:t>
            </a:r>
            <a:r>
              <a:rPr sz="700" u="sng" spc="-10" dirty="0">
                <a:solidFill>
                  <a:srgbClr val="12426B"/>
                </a:solidFill>
                <a:uFill>
                  <a:solidFill>
                    <a:srgbClr val="12426B"/>
                  </a:solidFill>
                </a:uFill>
                <a:latin typeface="Arial"/>
                <a:cs typeface="Arial"/>
              </a:rPr>
              <a:t>Investors</a:t>
            </a:r>
            <a:endParaRPr sz="700">
              <a:latin typeface="Arial"/>
              <a:cs typeface="Arial"/>
            </a:endParaRPr>
          </a:p>
        </p:txBody>
      </p:sp>
      <p:graphicFrame>
        <p:nvGraphicFramePr>
          <p:cNvPr id="25" name="object 26">
            <a:extLst>
              <a:ext uri="{FF2B5EF4-FFF2-40B4-BE49-F238E27FC236}">
                <a16:creationId xmlns:a16="http://schemas.microsoft.com/office/drawing/2014/main" id="{8A3EBD7E-5178-3597-D976-D57031A3A673}"/>
              </a:ext>
            </a:extLst>
          </p:cNvPr>
          <p:cNvGraphicFramePr>
            <a:graphicFrameLocks noGrp="1"/>
          </p:cNvGraphicFramePr>
          <p:nvPr>
            <p:extLst>
              <p:ext uri="{D42A27DB-BD31-4B8C-83A1-F6EECF244321}">
                <p14:modId xmlns:p14="http://schemas.microsoft.com/office/powerpoint/2010/main" val="32622116"/>
              </p:ext>
            </p:extLst>
          </p:nvPr>
        </p:nvGraphicFramePr>
        <p:xfrm>
          <a:off x="1267501" y="2740778"/>
          <a:ext cx="2350766" cy="840105"/>
        </p:xfrm>
        <a:graphic>
          <a:graphicData uri="http://schemas.openxmlformats.org/drawingml/2006/table">
            <a:tbl>
              <a:tblPr firstRow="1" bandRow="1">
                <a:tableStyleId>{2D5ABB26-0587-4C30-8999-92F81FD0307C}</a:tableStyleId>
              </a:tblPr>
              <a:tblGrid>
                <a:gridCol w="457834">
                  <a:extLst>
                    <a:ext uri="{9D8B030D-6E8A-4147-A177-3AD203B41FA5}">
                      <a16:colId xmlns:a16="http://schemas.microsoft.com/office/drawing/2014/main" val="20000"/>
                    </a:ext>
                  </a:extLst>
                </a:gridCol>
                <a:gridCol w="457834">
                  <a:extLst>
                    <a:ext uri="{9D8B030D-6E8A-4147-A177-3AD203B41FA5}">
                      <a16:colId xmlns:a16="http://schemas.microsoft.com/office/drawing/2014/main" val="20001"/>
                    </a:ext>
                  </a:extLst>
                </a:gridCol>
                <a:gridCol w="457834">
                  <a:extLst>
                    <a:ext uri="{9D8B030D-6E8A-4147-A177-3AD203B41FA5}">
                      <a16:colId xmlns:a16="http://schemas.microsoft.com/office/drawing/2014/main" val="20002"/>
                    </a:ext>
                  </a:extLst>
                </a:gridCol>
                <a:gridCol w="404495">
                  <a:extLst>
                    <a:ext uri="{9D8B030D-6E8A-4147-A177-3AD203B41FA5}">
                      <a16:colId xmlns:a16="http://schemas.microsoft.com/office/drawing/2014/main" val="20003"/>
                    </a:ext>
                  </a:extLst>
                </a:gridCol>
                <a:gridCol w="572769">
                  <a:extLst>
                    <a:ext uri="{9D8B030D-6E8A-4147-A177-3AD203B41FA5}">
                      <a16:colId xmlns:a16="http://schemas.microsoft.com/office/drawing/2014/main" val="20004"/>
                    </a:ext>
                  </a:extLst>
                </a:gridCol>
              </a:tblGrid>
              <a:tr h="235585">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spcBef>
                          <a:spcPts val="200"/>
                        </a:spcBef>
                      </a:pPr>
                      <a:endParaRPr sz="700">
                        <a:latin typeface="Times New Roman"/>
                        <a:cs typeface="Times New Roman"/>
                      </a:endParaRPr>
                    </a:p>
                    <a:p>
                      <a:pPr marL="52069" algn="ctr">
                        <a:lnSpc>
                          <a:spcPts val="750"/>
                        </a:lnSpc>
                      </a:pPr>
                      <a:r>
                        <a:rPr sz="700" spc="-25" dirty="0">
                          <a:solidFill>
                            <a:srgbClr val="585858"/>
                          </a:solidFill>
                          <a:latin typeface="Arial"/>
                          <a:cs typeface="Arial"/>
                        </a:rPr>
                        <a:t>63%</a:t>
                      </a:r>
                      <a:endParaRPr sz="700">
                        <a:latin typeface="Arial"/>
                        <a:cs typeface="Arial"/>
                      </a:endParaRPr>
                    </a:p>
                  </a:txBody>
                  <a:tcPr marL="0" marR="0" marT="25400" marB="0">
                    <a:lnR w="12700">
                      <a:solidFill>
                        <a:srgbClr val="F4364B"/>
                      </a:solidFill>
                      <a:prstDash val="sysDot"/>
                    </a:lnR>
                  </a:tcPr>
                </a:tc>
                <a:tc>
                  <a:txBody>
                    <a:bodyPr/>
                    <a:lstStyle/>
                    <a:p>
                      <a:pPr marR="1905" algn="ctr">
                        <a:lnSpc>
                          <a:spcPct val="100000"/>
                        </a:lnSpc>
                        <a:spcBef>
                          <a:spcPts val="520"/>
                        </a:spcBef>
                      </a:pPr>
                      <a:r>
                        <a:rPr sz="700" spc="-25" dirty="0">
                          <a:solidFill>
                            <a:srgbClr val="585858"/>
                          </a:solidFill>
                          <a:latin typeface="Arial"/>
                          <a:cs typeface="Arial"/>
                        </a:rPr>
                        <a:t>74%</a:t>
                      </a:r>
                      <a:endParaRPr sz="700" dirty="0">
                        <a:latin typeface="Arial"/>
                        <a:cs typeface="Arial"/>
                      </a:endParaRPr>
                    </a:p>
                  </a:txBody>
                  <a:tcPr marL="0" marR="0" marT="66040" marB="0">
                    <a:lnL w="12700">
                      <a:solidFill>
                        <a:srgbClr val="F4364B"/>
                      </a:solidFill>
                      <a:prstDash val="sysDot"/>
                    </a:lnL>
                    <a:lnR w="12700">
                      <a:solidFill>
                        <a:srgbClr val="F4364B"/>
                      </a:solidFill>
                      <a:prstDash val="sysDot"/>
                    </a:lnR>
                    <a:lnT w="12700">
                      <a:solidFill>
                        <a:srgbClr val="F4364B"/>
                      </a:solidFill>
                      <a:prstDash val="sysDot"/>
                    </a:lnT>
                  </a:tcPr>
                </a:tc>
                <a:extLst>
                  <a:ext uri="{0D108BD9-81ED-4DB2-BD59-A6C34878D82A}">
                    <a16:rowId xmlns:a16="http://schemas.microsoft.com/office/drawing/2014/main" val="10000"/>
                  </a:ext>
                </a:extLst>
              </a:tr>
              <a:tr h="85725">
                <a:tc>
                  <a:txBody>
                    <a:bodyPr/>
                    <a:lstStyle/>
                    <a:p>
                      <a:pPr>
                        <a:lnSpc>
                          <a:spcPct val="100000"/>
                        </a:lnSpc>
                      </a:pPr>
                      <a:endParaRPr sz="400">
                        <a:latin typeface="Times New Roman"/>
                        <a:cs typeface="Times New Roman"/>
                      </a:endParaRPr>
                    </a:p>
                  </a:txBody>
                  <a:tcPr marL="0" marR="0" marT="0" marB="0"/>
                </a:tc>
                <a:tc>
                  <a:txBody>
                    <a:bodyPr/>
                    <a:lstStyle/>
                    <a:p>
                      <a:pPr>
                        <a:lnSpc>
                          <a:spcPct val="100000"/>
                        </a:lnSpc>
                      </a:pPr>
                      <a:endParaRPr sz="400">
                        <a:latin typeface="Times New Roman"/>
                        <a:cs typeface="Times New Roman"/>
                      </a:endParaRPr>
                    </a:p>
                  </a:txBody>
                  <a:tcPr marL="0" marR="0" marT="0" marB="0"/>
                </a:tc>
                <a:tc>
                  <a:txBody>
                    <a:bodyPr/>
                    <a:lstStyle/>
                    <a:p>
                      <a:pPr algn="ctr">
                        <a:lnSpc>
                          <a:spcPts val="580"/>
                        </a:lnSpc>
                      </a:pPr>
                      <a:r>
                        <a:rPr sz="700" spc="-25" dirty="0">
                          <a:solidFill>
                            <a:srgbClr val="585858"/>
                          </a:solidFill>
                          <a:latin typeface="Arial"/>
                          <a:cs typeface="Arial"/>
                        </a:rPr>
                        <a:t>47%</a:t>
                      </a:r>
                      <a:endParaRPr sz="700">
                        <a:latin typeface="Arial"/>
                        <a:cs typeface="Arial"/>
                      </a:endParaRPr>
                    </a:p>
                  </a:txBody>
                  <a:tcPr marL="0" marR="0" marT="0" marB="0"/>
                </a:tc>
                <a:tc>
                  <a:txBody>
                    <a:bodyPr/>
                    <a:lstStyle/>
                    <a:p>
                      <a:pPr>
                        <a:lnSpc>
                          <a:spcPct val="100000"/>
                        </a:lnSpc>
                      </a:pPr>
                      <a:endParaRPr sz="400">
                        <a:latin typeface="Times New Roman"/>
                        <a:cs typeface="Times New Roman"/>
                      </a:endParaRPr>
                    </a:p>
                  </a:txBody>
                  <a:tcPr marL="0" marR="0" marT="0" marB="0">
                    <a:lnR w="12700">
                      <a:solidFill>
                        <a:srgbClr val="F4364B"/>
                      </a:solidFill>
                      <a:prstDash val="sysDot"/>
                    </a:lnR>
                  </a:tcPr>
                </a:tc>
                <a:tc>
                  <a:txBody>
                    <a:bodyPr/>
                    <a:lstStyle/>
                    <a:p>
                      <a:pPr>
                        <a:lnSpc>
                          <a:spcPct val="100000"/>
                        </a:lnSpc>
                      </a:pPr>
                      <a:endParaRPr sz="400">
                        <a:latin typeface="Times New Roman"/>
                        <a:cs typeface="Times New Roman"/>
                      </a:endParaRPr>
                    </a:p>
                  </a:txBody>
                  <a:tcPr marL="0" marR="0" marT="0" marB="0">
                    <a:lnL w="12700">
                      <a:solidFill>
                        <a:srgbClr val="F4364B"/>
                      </a:solidFill>
                      <a:prstDash val="sysDot"/>
                    </a:lnL>
                    <a:lnR w="12700">
                      <a:solidFill>
                        <a:srgbClr val="F4364B"/>
                      </a:solidFill>
                      <a:prstDash val="sysDot"/>
                    </a:lnR>
                  </a:tcPr>
                </a:tc>
                <a:extLst>
                  <a:ext uri="{0D108BD9-81ED-4DB2-BD59-A6C34878D82A}">
                    <a16:rowId xmlns:a16="http://schemas.microsoft.com/office/drawing/2014/main" val="10001"/>
                  </a:ext>
                </a:extLst>
              </a:tr>
              <a:tr h="321945">
                <a:tc>
                  <a:txBody>
                    <a:bodyPr/>
                    <a:lstStyle/>
                    <a:p>
                      <a:pPr algn="ctr">
                        <a:lnSpc>
                          <a:spcPts val="810"/>
                        </a:lnSpc>
                      </a:pPr>
                      <a:r>
                        <a:rPr sz="700" spc="-25" dirty="0">
                          <a:solidFill>
                            <a:srgbClr val="585858"/>
                          </a:solidFill>
                          <a:latin typeface="Arial"/>
                          <a:cs typeface="Arial"/>
                        </a:rPr>
                        <a:t>29%</a:t>
                      </a:r>
                      <a:endParaRPr sz="700">
                        <a:latin typeface="Arial"/>
                        <a:cs typeface="Arial"/>
                      </a:endParaRPr>
                    </a:p>
                  </a:txBody>
                  <a:tcPr marL="0" marR="0" marT="0" marB="0">
                    <a:lnB w="9525">
                      <a:solidFill>
                        <a:srgbClr val="D9D9D9"/>
                      </a:solidFill>
                      <a:prstDash val="solid"/>
                    </a:lnB>
                  </a:tcPr>
                </a:tc>
                <a:tc>
                  <a:txBody>
                    <a:bodyPr/>
                    <a:lstStyle/>
                    <a:p>
                      <a:pPr marR="10160" algn="ctr">
                        <a:lnSpc>
                          <a:spcPts val="665"/>
                        </a:lnSpc>
                      </a:pPr>
                      <a:r>
                        <a:rPr sz="700" spc="-25" dirty="0">
                          <a:solidFill>
                            <a:srgbClr val="585858"/>
                          </a:solidFill>
                          <a:latin typeface="Arial"/>
                          <a:cs typeface="Arial"/>
                        </a:rPr>
                        <a:t>37%</a:t>
                      </a:r>
                      <a:endParaRPr sz="700">
                        <a:latin typeface="Arial"/>
                        <a:cs typeface="Arial"/>
                      </a:endParaRPr>
                    </a:p>
                  </a:txBody>
                  <a:tcPr marL="0" marR="0" marT="0" marB="0">
                    <a:lnB w="9525">
                      <a:solidFill>
                        <a:srgbClr val="D9D9D9"/>
                      </a:solidFill>
                      <a:prstDash val="solid"/>
                    </a:lnB>
                  </a:tcPr>
                </a:tc>
                <a:tc>
                  <a:txBody>
                    <a:bodyPr/>
                    <a:lstStyle/>
                    <a:p>
                      <a:pPr>
                        <a:lnSpc>
                          <a:spcPct val="100000"/>
                        </a:lnSpc>
                      </a:pPr>
                      <a:endParaRPr sz="700">
                        <a:latin typeface="Times New Roman"/>
                        <a:cs typeface="Times New Roman"/>
                      </a:endParaRPr>
                    </a:p>
                  </a:txBody>
                  <a:tcPr marL="0" marR="0" marT="0" marB="0">
                    <a:lnB w="9525">
                      <a:solidFill>
                        <a:srgbClr val="D9D9D9"/>
                      </a:solidFill>
                      <a:prstDash val="solid"/>
                    </a:lnB>
                  </a:tcPr>
                </a:tc>
                <a:tc>
                  <a:txBody>
                    <a:bodyPr/>
                    <a:lstStyle/>
                    <a:p>
                      <a:pPr>
                        <a:lnSpc>
                          <a:spcPct val="100000"/>
                        </a:lnSpc>
                      </a:pPr>
                      <a:endParaRPr sz="700">
                        <a:latin typeface="Times New Roman"/>
                        <a:cs typeface="Times New Roman"/>
                      </a:endParaRPr>
                    </a:p>
                  </a:txBody>
                  <a:tcPr marL="0" marR="0" marT="0" marB="0">
                    <a:lnR w="12700">
                      <a:solidFill>
                        <a:srgbClr val="F4364B"/>
                      </a:solidFill>
                      <a:prstDash val="sysDot"/>
                    </a:lnR>
                    <a:lnB w="9525">
                      <a:solidFill>
                        <a:srgbClr val="D9D9D9"/>
                      </a:solidFill>
                      <a:prstDash val="solid"/>
                    </a:lnB>
                  </a:tcPr>
                </a:tc>
                <a:tc>
                  <a:txBody>
                    <a:bodyPr/>
                    <a:lstStyle/>
                    <a:p>
                      <a:pPr>
                        <a:lnSpc>
                          <a:spcPct val="100000"/>
                        </a:lnSpc>
                      </a:pPr>
                      <a:endParaRPr sz="700">
                        <a:latin typeface="Times New Roman"/>
                        <a:cs typeface="Times New Roman"/>
                      </a:endParaRPr>
                    </a:p>
                  </a:txBody>
                  <a:tcPr marL="0" marR="0" marT="0" marB="0">
                    <a:lnL w="12700">
                      <a:solidFill>
                        <a:srgbClr val="F4364B"/>
                      </a:solidFill>
                      <a:prstDash val="sysDot"/>
                    </a:lnL>
                    <a:lnR w="12700">
                      <a:solidFill>
                        <a:srgbClr val="F4364B"/>
                      </a:solidFill>
                      <a:prstDash val="sysDot"/>
                    </a:lnR>
                    <a:lnB w="9525">
                      <a:solidFill>
                        <a:srgbClr val="D9D9D9"/>
                      </a:solidFill>
                      <a:prstDash val="solid"/>
                    </a:lnB>
                  </a:tcPr>
                </a:tc>
                <a:extLst>
                  <a:ext uri="{0D108BD9-81ED-4DB2-BD59-A6C34878D82A}">
                    <a16:rowId xmlns:a16="http://schemas.microsoft.com/office/drawing/2014/main" val="10002"/>
                  </a:ext>
                </a:extLst>
              </a:tr>
              <a:tr h="196850">
                <a:tc>
                  <a:txBody>
                    <a:bodyPr/>
                    <a:lstStyle/>
                    <a:p>
                      <a:pPr algn="ctr">
                        <a:lnSpc>
                          <a:spcPct val="100000"/>
                        </a:lnSpc>
                        <a:spcBef>
                          <a:spcPts val="365"/>
                        </a:spcBef>
                      </a:pPr>
                      <a:r>
                        <a:rPr sz="700" spc="-20" dirty="0">
                          <a:solidFill>
                            <a:srgbClr val="585858"/>
                          </a:solidFill>
                          <a:latin typeface="Arial"/>
                          <a:cs typeface="Arial"/>
                        </a:rPr>
                        <a:t>2022</a:t>
                      </a:r>
                      <a:endParaRPr sz="700">
                        <a:latin typeface="Arial"/>
                        <a:cs typeface="Arial"/>
                      </a:endParaRPr>
                    </a:p>
                  </a:txBody>
                  <a:tcPr marL="0" marR="0" marT="46355" marB="0">
                    <a:lnT w="9525">
                      <a:solidFill>
                        <a:srgbClr val="D9D9D9"/>
                      </a:solidFill>
                      <a:prstDash val="solid"/>
                    </a:lnT>
                  </a:tcPr>
                </a:tc>
                <a:tc>
                  <a:txBody>
                    <a:bodyPr/>
                    <a:lstStyle/>
                    <a:p>
                      <a:pPr algn="ctr">
                        <a:lnSpc>
                          <a:spcPct val="100000"/>
                        </a:lnSpc>
                        <a:spcBef>
                          <a:spcPts val="365"/>
                        </a:spcBef>
                      </a:pPr>
                      <a:r>
                        <a:rPr sz="700" spc="-20" dirty="0">
                          <a:solidFill>
                            <a:srgbClr val="585858"/>
                          </a:solidFill>
                          <a:latin typeface="Arial"/>
                          <a:cs typeface="Arial"/>
                        </a:rPr>
                        <a:t>2023</a:t>
                      </a:r>
                      <a:endParaRPr sz="700" dirty="0">
                        <a:latin typeface="Arial"/>
                        <a:cs typeface="Arial"/>
                      </a:endParaRPr>
                    </a:p>
                  </a:txBody>
                  <a:tcPr marL="0" marR="0" marT="46355" marB="0">
                    <a:lnT w="9525">
                      <a:solidFill>
                        <a:srgbClr val="D9D9D9"/>
                      </a:solidFill>
                      <a:prstDash val="solid"/>
                    </a:lnT>
                  </a:tcPr>
                </a:tc>
                <a:tc>
                  <a:txBody>
                    <a:bodyPr/>
                    <a:lstStyle/>
                    <a:p>
                      <a:pPr algn="ctr">
                        <a:lnSpc>
                          <a:spcPct val="100000"/>
                        </a:lnSpc>
                        <a:spcBef>
                          <a:spcPts val="365"/>
                        </a:spcBef>
                      </a:pPr>
                      <a:r>
                        <a:rPr sz="700" spc="-20" dirty="0">
                          <a:solidFill>
                            <a:srgbClr val="585858"/>
                          </a:solidFill>
                          <a:latin typeface="Arial"/>
                          <a:cs typeface="Arial"/>
                        </a:rPr>
                        <a:t>2024</a:t>
                      </a:r>
                      <a:endParaRPr sz="700">
                        <a:latin typeface="Arial"/>
                        <a:cs typeface="Arial"/>
                      </a:endParaRPr>
                    </a:p>
                  </a:txBody>
                  <a:tcPr marL="0" marR="0" marT="46355" marB="0">
                    <a:lnT w="9525">
                      <a:solidFill>
                        <a:srgbClr val="D9D9D9"/>
                      </a:solidFill>
                      <a:prstDash val="solid"/>
                    </a:lnT>
                  </a:tcPr>
                </a:tc>
                <a:tc>
                  <a:txBody>
                    <a:bodyPr/>
                    <a:lstStyle/>
                    <a:p>
                      <a:pPr marL="52705" algn="ctr">
                        <a:lnSpc>
                          <a:spcPct val="100000"/>
                        </a:lnSpc>
                        <a:spcBef>
                          <a:spcPts val="365"/>
                        </a:spcBef>
                      </a:pPr>
                      <a:r>
                        <a:rPr sz="700" spc="-20" dirty="0">
                          <a:solidFill>
                            <a:srgbClr val="585858"/>
                          </a:solidFill>
                          <a:latin typeface="Arial"/>
                          <a:cs typeface="Arial"/>
                        </a:rPr>
                        <a:t>2025</a:t>
                      </a:r>
                      <a:endParaRPr sz="700">
                        <a:latin typeface="Arial"/>
                        <a:cs typeface="Arial"/>
                      </a:endParaRPr>
                    </a:p>
                  </a:txBody>
                  <a:tcPr marL="0" marR="0" marT="46355" marB="0">
                    <a:lnR w="12700">
                      <a:solidFill>
                        <a:srgbClr val="F4364B"/>
                      </a:solidFill>
                      <a:prstDash val="sysDot"/>
                    </a:lnR>
                    <a:lnT w="9525">
                      <a:solidFill>
                        <a:srgbClr val="D9D9D9"/>
                      </a:solidFill>
                      <a:prstDash val="solid"/>
                    </a:lnT>
                  </a:tcPr>
                </a:tc>
                <a:tc>
                  <a:txBody>
                    <a:bodyPr/>
                    <a:lstStyle/>
                    <a:p>
                      <a:pPr marR="3175" algn="ctr">
                        <a:lnSpc>
                          <a:spcPct val="100000"/>
                        </a:lnSpc>
                        <a:spcBef>
                          <a:spcPts val="365"/>
                        </a:spcBef>
                      </a:pPr>
                      <a:r>
                        <a:rPr sz="700" dirty="0">
                          <a:solidFill>
                            <a:srgbClr val="585858"/>
                          </a:solidFill>
                          <a:latin typeface="Arial"/>
                          <a:cs typeface="Arial"/>
                        </a:rPr>
                        <a:t>2026 </a:t>
                      </a:r>
                      <a:r>
                        <a:rPr sz="700" spc="-25" dirty="0">
                          <a:solidFill>
                            <a:srgbClr val="585858"/>
                          </a:solidFill>
                          <a:latin typeface="Arial"/>
                          <a:cs typeface="Arial"/>
                        </a:rPr>
                        <a:t>Q1</a:t>
                      </a:r>
                      <a:endParaRPr sz="700" dirty="0">
                        <a:latin typeface="Arial"/>
                        <a:cs typeface="Arial"/>
                      </a:endParaRPr>
                    </a:p>
                  </a:txBody>
                  <a:tcPr marL="0" marR="0" marT="46355" marB="0">
                    <a:lnL w="12700">
                      <a:solidFill>
                        <a:srgbClr val="F4364B"/>
                      </a:solidFill>
                      <a:prstDash val="sysDot"/>
                    </a:lnL>
                    <a:lnR w="12700">
                      <a:solidFill>
                        <a:srgbClr val="F4364B"/>
                      </a:solidFill>
                      <a:prstDash val="sysDot"/>
                    </a:lnR>
                    <a:lnT w="9525">
                      <a:solidFill>
                        <a:srgbClr val="D9D9D9"/>
                      </a:solidFill>
                      <a:prstDash val="solid"/>
                    </a:lnT>
                    <a:lnB w="12700">
                      <a:solidFill>
                        <a:srgbClr val="F4364B"/>
                      </a:solidFill>
                      <a:prstDash val="sysDot"/>
                    </a:lnB>
                  </a:tcPr>
                </a:tc>
                <a:extLst>
                  <a:ext uri="{0D108BD9-81ED-4DB2-BD59-A6C34878D82A}">
                    <a16:rowId xmlns:a16="http://schemas.microsoft.com/office/drawing/2014/main" val="10003"/>
                  </a:ext>
                </a:extLst>
              </a:tr>
            </a:tbl>
          </a:graphicData>
        </a:graphic>
      </p:graphicFrame>
      <p:grpSp>
        <p:nvGrpSpPr>
          <p:cNvPr id="26" name="object 27">
            <a:extLst>
              <a:ext uri="{FF2B5EF4-FFF2-40B4-BE49-F238E27FC236}">
                <a16:creationId xmlns:a16="http://schemas.microsoft.com/office/drawing/2014/main" id="{D1955B4B-4B15-C3A9-E341-DB0C6A3B4D13}"/>
              </a:ext>
            </a:extLst>
          </p:cNvPr>
          <p:cNvGrpSpPr/>
          <p:nvPr/>
        </p:nvGrpSpPr>
        <p:grpSpPr>
          <a:xfrm>
            <a:off x="956147" y="3996273"/>
            <a:ext cx="1167765" cy="1168400"/>
            <a:chOff x="791830" y="3317620"/>
            <a:chExt cx="1167765" cy="1168400"/>
          </a:xfrm>
        </p:grpSpPr>
        <p:sp>
          <p:nvSpPr>
            <p:cNvPr id="27" name="object 28">
              <a:extLst>
                <a:ext uri="{FF2B5EF4-FFF2-40B4-BE49-F238E27FC236}">
                  <a16:creationId xmlns:a16="http://schemas.microsoft.com/office/drawing/2014/main" id="{3D93E21A-8CD5-CF48-4E2F-4F2CF1254A9F}"/>
                </a:ext>
              </a:extLst>
            </p:cNvPr>
            <p:cNvSpPr/>
            <p:nvPr/>
          </p:nvSpPr>
          <p:spPr>
            <a:xfrm>
              <a:off x="937577" y="3327145"/>
              <a:ext cx="1012825" cy="1149350"/>
            </a:xfrm>
            <a:custGeom>
              <a:avLst/>
              <a:gdLst/>
              <a:ahLst/>
              <a:cxnLst/>
              <a:rect l="l" t="t" r="r" b="b"/>
              <a:pathLst>
                <a:path w="1012825" h="1149350">
                  <a:moveTo>
                    <a:pt x="437832" y="0"/>
                  </a:moveTo>
                  <a:lnTo>
                    <a:pt x="437832" y="574471"/>
                  </a:lnTo>
                  <a:lnTo>
                    <a:pt x="0" y="946391"/>
                  </a:lnTo>
                  <a:lnTo>
                    <a:pt x="34232" y="983292"/>
                  </a:lnTo>
                  <a:lnTo>
                    <a:pt x="71267" y="1016809"/>
                  </a:lnTo>
                  <a:lnTo>
                    <a:pt x="110848" y="1046824"/>
                  </a:lnTo>
                  <a:lnTo>
                    <a:pt x="152721" y="1073220"/>
                  </a:lnTo>
                  <a:lnTo>
                    <a:pt x="196632" y="1095878"/>
                  </a:lnTo>
                  <a:lnTo>
                    <a:pt x="242326" y="1114681"/>
                  </a:lnTo>
                  <a:lnTo>
                    <a:pt x="289547" y="1129510"/>
                  </a:lnTo>
                  <a:lnTo>
                    <a:pt x="338042" y="1140249"/>
                  </a:lnTo>
                  <a:lnTo>
                    <a:pt x="387555" y="1146778"/>
                  </a:lnTo>
                  <a:lnTo>
                    <a:pt x="437832" y="1148981"/>
                  </a:lnTo>
                  <a:lnTo>
                    <a:pt x="484962" y="1147077"/>
                  </a:lnTo>
                  <a:lnTo>
                    <a:pt x="531041" y="1141462"/>
                  </a:lnTo>
                  <a:lnTo>
                    <a:pt x="575922" y="1132285"/>
                  </a:lnTo>
                  <a:lnTo>
                    <a:pt x="619456" y="1119693"/>
                  </a:lnTo>
                  <a:lnTo>
                    <a:pt x="661497" y="1103834"/>
                  </a:lnTo>
                  <a:lnTo>
                    <a:pt x="701896" y="1084856"/>
                  </a:lnTo>
                  <a:lnTo>
                    <a:pt x="740505" y="1062907"/>
                  </a:lnTo>
                  <a:lnTo>
                    <a:pt x="777178" y="1038135"/>
                  </a:lnTo>
                  <a:lnTo>
                    <a:pt x="811766" y="1010688"/>
                  </a:lnTo>
                  <a:lnTo>
                    <a:pt x="844121" y="980713"/>
                  </a:lnTo>
                  <a:lnTo>
                    <a:pt x="874096" y="948358"/>
                  </a:lnTo>
                  <a:lnTo>
                    <a:pt x="901543" y="913771"/>
                  </a:lnTo>
                  <a:lnTo>
                    <a:pt x="926314" y="877100"/>
                  </a:lnTo>
                  <a:lnTo>
                    <a:pt x="948261" y="838493"/>
                  </a:lnTo>
                  <a:lnTo>
                    <a:pt x="967237" y="798098"/>
                  </a:lnTo>
                  <a:lnTo>
                    <a:pt x="983095" y="756062"/>
                  </a:lnTo>
                  <a:lnTo>
                    <a:pt x="995685" y="712534"/>
                  </a:lnTo>
                  <a:lnTo>
                    <a:pt x="1004862" y="667661"/>
                  </a:lnTo>
                  <a:lnTo>
                    <a:pt x="1010476" y="621591"/>
                  </a:lnTo>
                  <a:lnTo>
                    <a:pt x="1012380" y="574471"/>
                  </a:lnTo>
                  <a:lnTo>
                    <a:pt x="1010476" y="527352"/>
                  </a:lnTo>
                  <a:lnTo>
                    <a:pt x="1004862" y="481283"/>
                  </a:lnTo>
                  <a:lnTo>
                    <a:pt x="995685" y="436411"/>
                  </a:lnTo>
                  <a:lnTo>
                    <a:pt x="983095" y="392884"/>
                  </a:lnTo>
                  <a:lnTo>
                    <a:pt x="967237" y="350850"/>
                  </a:lnTo>
                  <a:lnTo>
                    <a:pt x="948261" y="310458"/>
                  </a:lnTo>
                  <a:lnTo>
                    <a:pt x="926314" y="271853"/>
                  </a:lnTo>
                  <a:lnTo>
                    <a:pt x="901543" y="235185"/>
                  </a:lnTo>
                  <a:lnTo>
                    <a:pt x="874096" y="200601"/>
                  </a:lnTo>
                  <a:lnTo>
                    <a:pt x="844121" y="168249"/>
                  </a:lnTo>
                  <a:lnTo>
                    <a:pt x="811766" y="138277"/>
                  </a:lnTo>
                  <a:lnTo>
                    <a:pt x="777178" y="110832"/>
                  </a:lnTo>
                  <a:lnTo>
                    <a:pt x="740505" y="86063"/>
                  </a:lnTo>
                  <a:lnTo>
                    <a:pt x="701896" y="64116"/>
                  </a:lnTo>
                  <a:lnTo>
                    <a:pt x="661497" y="45141"/>
                  </a:lnTo>
                  <a:lnTo>
                    <a:pt x="619456" y="29284"/>
                  </a:lnTo>
                  <a:lnTo>
                    <a:pt x="575922" y="16694"/>
                  </a:lnTo>
                  <a:lnTo>
                    <a:pt x="531041" y="7518"/>
                  </a:lnTo>
                  <a:lnTo>
                    <a:pt x="484962" y="1904"/>
                  </a:lnTo>
                  <a:lnTo>
                    <a:pt x="437832" y="0"/>
                  </a:lnTo>
                  <a:close/>
                </a:path>
              </a:pathLst>
            </a:custGeom>
            <a:solidFill>
              <a:srgbClr val="12426B"/>
            </a:solidFill>
          </p:spPr>
          <p:txBody>
            <a:bodyPr wrap="square" lIns="0" tIns="0" rIns="0" bIns="0" rtlCol="0"/>
            <a:lstStyle/>
            <a:p>
              <a:endParaRPr/>
            </a:p>
          </p:txBody>
        </p:sp>
        <p:sp>
          <p:nvSpPr>
            <p:cNvPr id="28" name="object 29">
              <a:extLst>
                <a:ext uri="{FF2B5EF4-FFF2-40B4-BE49-F238E27FC236}">
                  <a16:creationId xmlns:a16="http://schemas.microsoft.com/office/drawing/2014/main" id="{FCB0DC5B-E752-C009-681F-1E429936CF1D}"/>
                </a:ext>
              </a:extLst>
            </p:cNvPr>
            <p:cNvSpPr/>
            <p:nvPr/>
          </p:nvSpPr>
          <p:spPr>
            <a:xfrm>
              <a:off x="937577" y="3327145"/>
              <a:ext cx="1012825" cy="1149350"/>
            </a:xfrm>
            <a:custGeom>
              <a:avLst/>
              <a:gdLst/>
              <a:ahLst/>
              <a:cxnLst/>
              <a:rect l="l" t="t" r="r" b="b"/>
              <a:pathLst>
                <a:path w="1012825" h="1149350">
                  <a:moveTo>
                    <a:pt x="437832" y="0"/>
                  </a:moveTo>
                  <a:lnTo>
                    <a:pt x="484962" y="1904"/>
                  </a:lnTo>
                  <a:lnTo>
                    <a:pt x="531041" y="7518"/>
                  </a:lnTo>
                  <a:lnTo>
                    <a:pt x="575922" y="16694"/>
                  </a:lnTo>
                  <a:lnTo>
                    <a:pt x="619456" y="29284"/>
                  </a:lnTo>
                  <a:lnTo>
                    <a:pt x="661497" y="45141"/>
                  </a:lnTo>
                  <a:lnTo>
                    <a:pt x="701896" y="64116"/>
                  </a:lnTo>
                  <a:lnTo>
                    <a:pt x="740505" y="86063"/>
                  </a:lnTo>
                  <a:lnTo>
                    <a:pt x="777178" y="110832"/>
                  </a:lnTo>
                  <a:lnTo>
                    <a:pt x="811766" y="138277"/>
                  </a:lnTo>
                  <a:lnTo>
                    <a:pt x="844121" y="168249"/>
                  </a:lnTo>
                  <a:lnTo>
                    <a:pt x="874096" y="200601"/>
                  </a:lnTo>
                  <a:lnTo>
                    <a:pt x="901543" y="235185"/>
                  </a:lnTo>
                  <a:lnTo>
                    <a:pt x="926314" y="271853"/>
                  </a:lnTo>
                  <a:lnTo>
                    <a:pt x="948261" y="310458"/>
                  </a:lnTo>
                  <a:lnTo>
                    <a:pt x="967237" y="350850"/>
                  </a:lnTo>
                  <a:lnTo>
                    <a:pt x="983095" y="392884"/>
                  </a:lnTo>
                  <a:lnTo>
                    <a:pt x="995685" y="436411"/>
                  </a:lnTo>
                  <a:lnTo>
                    <a:pt x="1004862" y="481283"/>
                  </a:lnTo>
                  <a:lnTo>
                    <a:pt x="1010476" y="527352"/>
                  </a:lnTo>
                  <a:lnTo>
                    <a:pt x="1012380" y="574471"/>
                  </a:lnTo>
                  <a:lnTo>
                    <a:pt x="1010476" y="621591"/>
                  </a:lnTo>
                  <a:lnTo>
                    <a:pt x="1004862" y="667661"/>
                  </a:lnTo>
                  <a:lnTo>
                    <a:pt x="995685" y="712534"/>
                  </a:lnTo>
                  <a:lnTo>
                    <a:pt x="983095" y="756062"/>
                  </a:lnTo>
                  <a:lnTo>
                    <a:pt x="967237" y="798098"/>
                  </a:lnTo>
                  <a:lnTo>
                    <a:pt x="948261" y="838493"/>
                  </a:lnTo>
                  <a:lnTo>
                    <a:pt x="926314" y="877100"/>
                  </a:lnTo>
                  <a:lnTo>
                    <a:pt x="901543" y="913771"/>
                  </a:lnTo>
                  <a:lnTo>
                    <a:pt x="874096" y="948358"/>
                  </a:lnTo>
                  <a:lnTo>
                    <a:pt x="844121" y="980713"/>
                  </a:lnTo>
                  <a:lnTo>
                    <a:pt x="811766" y="1010688"/>
                  </a:lnTo>
                  <a:lnTo>
                    <a:pt x="777178" y="1038135"/>
                  </a:lnTo>
                  <a:lnTo>
                    <a:pt x="740505" y="1062907"/>
                  </a:lnTo>
                  <a:lnTo>
                    <a:pt x="701896" y="1084856"/>
                  </a:lnTo>
                  <a:lnTo>
                    <a:pt x="661497" y="1103834"/>
                  </a:lnTo>
                  <a:lnTo>
                    <a:pt x="619456" y="1119693"/>
                  </a:lnTo>
                  <a:lnTo>
                    <a:pt x="575922" y="1132285"/>
                  </a:lnTo>
                  <a:lnTo>
                    <a:pt x="531041" y="1141462"/>
                  </a:lnTo>
                  <a:lnTo>
                    <a:pt x="484962" y="1147077"/>
                  </a:lnTo>
                  <a:lnTo>
                    <a:pt x="437832" y="1148981"/>
                  </a:lnTo>
                  <a:lnTo>
                    <a:pt x="387555" y="1146778"/>
                  </a:lnTo>
                  <a:lnTo>
                    <a:pt x="338042" y="1140249"/>
                  </a:lnTo>
                  <a:lnTo>
                    <a:pt x="289547" y="1129510"/>
                  </a:lnTo>
                  <a:lnTo>
                    <a:pt x="242326" y="1114681"/>
                  </a:lnTo>
                  <a:lnTo>
                    <a:pt x="196632" y="1095878"/>
                  </a:lnTo>
                  <a:lnTo>
                    <a:pt x="152721" y="1073220"/>
                  </a:lnTo>
                  <a:lnTo>
                    <a:pt x="110848" y="1046824"/>
                  </a:lnTo>
                  <a:lnTo>
                    <a:pt x="71267" y="1016809"/>
                  </a:lnTo>
                  <a:lnTo>
                    <a:pt x="34232" y="983292"/>
                  </a:lnTo>
                  <a:lnTo>
                    <a:pt x="0" y="946391"/>
                  </a:lnTo>
                  <a:lnTo>
                    <a:pt x="437832" y="574471"/>
                  </a:lnTo>
                  <a:lnTo>
                    <a:pt x="437832" y="0"/>
                  </a:lnTo>
                  <a:close/>
                </a:path>
              </a:pathLst>
            </a:custGeom>
            <a:ln w="19050">
              <a:solidFill>
                <a:srgbClr val="FFFFFF"/>
              </a:solidFill>
            </a:ln>
          </p:spPr>
          <p:txBody>
            <a:bodyPr wrap="square" lIns="0" tIns="0" rIns="0" bIns="0" rtlCol="0"/>
            <a:lstStyle/>
            <a:p>
              <a:endParaRPr/>
            </a:p>
          </p:txBody>
        </p:sp>
        <p:sp>
          <p:nvSpPr>
            <p:cNvPr id="29" name="object 30">
              <a:extLst>
                <a:ext uri="{FF2B5EF4-FFF2-40B4-BE49-F238E27FC236}">
                  <a16:creationId xmlns:a16="http://schemas.microsoft.com/office/drawing/2014/main" id="{5F1FB2B1-FD05-4A97-2CB9-18803EE09A96}"/>
                </a:ext>
              </a:extLst>
            </p:cNvPr>
            <p:cNvSpPr/>
            <p:nvPr/>
          </p:nvSpPr>
          <p:spPr>
            <a:xfrm>
              <a:off x="801355" y="3693286"/>
              <a:ext cx="574675" cy="580390"/>
            </a:xfrm>
            <a:custGeom>
              <a:avLst/>
              <a:gdLst/>
              <a:ahLst/>
              <a:cxnLst/>
              <a:rect l="l" t="t" r="r" b="b"/>
              <a:pathLst>
                <a:path w="574675" h="580389">
                  <a:moveTo>
                    <a:pt x="38723" y="0"/>
                  </a:moveTo>
                  <a:lnTo>
                    <a:pt x="23073" y="45793"/>
                  </a:lnTo>
                  <a:lnTo>
                    <a:pt x="11429" y="92276"/>
                  </a:lnTo>
                  <a:lnTo>
                    <a:pt x="3752" y="139207"/>
                  </a:lnTo>
                  <a:lnTo>
                    <a:pt x="0" y="186347"/>
                  </a:lnTo>
                  <a:lnTo>
                    <a:pt x="133" y="233454"/>
                  </a:lnTo>
                  <a:lnTo>
                    <a:pt x="4111" y="280287"/>
                  </a:lnTo>
                  <a:lnTo>
                    <a:pt x="11893" y="326607"/>
                  </a:lnTo>
                  <a:lnTo>
                    <a:pt x="23440" y="372172"/>
                  </a:lnTo>
                  <a:lnTo>
                    <a:pt x="38710" y="416741"/>
                  </a:lnTo>
                  <a:lnTo>
                    <a:pt x="57664" y="460074"/>
                  </a:lnTo>
                  <a:lnTo>
                    <a:pt x="80260" y="501931"/>
                  </a:lnTo>
                  <a:lnTo>
                    <a:pt x="106459" y="542069"/>
                  </a:lnTo>
                  <a:lnTo>
                    <a:pt x="136221" y="580250"/>
                  </a:lnTo>
                  <a:lnTo>
                    <a:pt x="574054" y="208330"/>
                  </a:lnTo>
                  <a:lnTo>
                    <a:pt x="38723" y="0"/>
                  </a:lnTo>
                  <a:close/>
                </a:path>
              </a:pathLst>
            </a:custGeom>
            <a:solidFill>
              <a:srgbClr val="24C9D2"/>
            </a:solidFill>
          </p:spPr>
          <p:txBody>
            <a:bodyPr wrap="square" lIns="0" tIns="0" rIns="0" bIns="0" rtlCol="0"/>
            <a:lstStyle/>
            <a:p>
              <a:endParaRPr/>
            </a:p>
          </p:txBody>
        </p:sp>
        <p:sp>
          <p:nvSpPr>
            <p:cNvPr id="30" name="object 31">
              <a:extLst>
                <a:ext uri="{FF2B5EF4-FFF2-40B4-BE49-F238E27FC236}">
                  <a16:creationId xmlns:a16="http://schemas.microsoft.com/office/drawing/2014/main" id="{81178755-410D-7E72-6B42-ABE8E3F49BA0}"/>
                </a:ext>
              </a:extLst>
            </p:cNvPr>
            <p:cNvSpPr/>
            <p:nvPr/>
          </p:nvSpPr>
          <p:spPr>
            <a:xfrm>
              <a:off x="801355" y="3693286"/>
              <a:ext cx="574675" cy="580390"/>
            </a:xfrm>
            <a:custGeom>
              <a:avLst/>
              <a:gdLst/>
              <a:ahLst/>
              <a:cxnLst/>
              <a:rect l="l" t="t" r="r" b="b"/>
              <a:pathLst>
                <a:path w="574675" h="580389">
                  <a:moveTo>
                    <a:pt x="136221" y="580250"/>
                  </a:moveTo>
                  <a:lnTo>
                    <a:pt x="106459" y="542069"/>
                  </a:lnTo>
                  <a:lnTo>
                    <a:pt x="80260" y="501931"/>
                  </a:lnTo>
                  <a:lnTo>
                    <a:pt x="57664" y="460074"/>
                  </a:lnTo>
                  <a:lnTo>
                    <a:pt x="38710" y="416741"/>
                  </a:lnTo>
                  <a:lnTo>
                    <a:pt x="23440" y="372172"/>
                  </a:lnTo>
                  <a:lnTo>
                    <a:pt x="11893" y="326607"/>
                  </a:lnTo>
                  <a:lnTo>
                    <a:pt x="4111" y="280287"/>
                  </a:lnTo>
                  <a:lnTo>
                    <a:pt x="133" y="233454"/>
                  </a:lnTo>
                  <a:lnTo>
                    <a:pt x="0" y="186347"/>
                  </a:lnTo>
                  <a:lnTo>
                    <a:pt x="3752" y="139207"/>
                  </a:lnTo>
                  <a:lnTo>
                    <a:pt x="11429" y="92276"/>
                  </a:lnTo>
                  <a:lnTo>
                    <a:pt x="23073" y="45793"/>
                  </a:lnTo>
                  <a:lnTo>
                    <a:pt x="38723" y="0"/>
                  </a:lnTo>
                  <a:lnTo>
                    <a:pt x="574054" y="208330"/>
                  </a:lnTo>
                  <a:lnTo>
                    <a:pt x="136221" y="580250"/>
                  </a:lnTo>
                  <a:close/>
                </a:path>
              </a:pathLst>
            </a:custGeom>
            <a:ln w="19050">
              <a:solidFill>
                <a:srgbClr val="FFFFFF"/>
              </a:solidFill>
            </a:ln>
          </p:spPr>
          <p:txBody>
            <a:bodyPr wrap="square" lIns="0" tIns="0" rIns="0" bIns="0" rtlCol="0"/>
            <a:lstStyle/>
            <a:p>
              <a:endParaRPr/>
            </a:p>
          </p:txBody>
        </p:sp>
        <p:sp>
          <p:nvSpPr>
            <p:cNvPr id="31" name="object 32">
              <a:extLst>
                <a:ext uri="{FF2B5EF4-FFF2-40B4-BE49-F238E27FC236}">
                  <a16:creationId xmlns:a16="http://schemas.microsoft.com/office/drawing/2014/main" id="{8C29D910-B9C8-5BD4-2F94-CF55AD62DBD6}"/>
                </a:ext>
              </a:extLst>
            </p:cNvPr>
            <p:cNvSpPr/>
            <p:nvPr/>
          </p:nvSpPr>
          <p:spPr>
            <a:xfrm>
              <a:off x="840079" y="3338448"/>
              <a:ext cx="535940" cy="563245"/>
            </a:xfrm>
            <a:custGeom>
              <a:avLst/>
              <a:gdLst/>
              <a:ahLst/>
              <a:cxnLst/>
              <a:rect l="l" t="t" r="r" b="b"/>
              <a:pathLst>
                <a:path w="535940" h="563245">
                  <a:moveTo>
                    <a:pt x="421690" y="0"/>
                  </a:moveTo>
                  <a:lnTo>
                    <a:pt x="374455" y="11636"/>
                  </a:lnTo>
                  <a:lnTo>
                    <a:pt x="328782" y="27069"/>
                  </a:lnTo>
                  <a:lnTo>
                    <a:pt x="284862" y="46138"/>
                  </a:lnTo>
                  <a:lnTo>
                    <a:pt x="242886" y="68683"/>
                  </a:lnTo>
                  <a:lnTo>
                    <a:pt x="203044" y="94542"/>
                  </a:lnTo>
                  <a:lnTo>
                    <a:pt x="165530" y="123555"/>
                  </a:lnTo>
                  <a:lnTo>
                    <a:pt x="130532" y="155560"/>
                  </a:lnTo>
                  <a:lnTo>
                    <a:pt x="98244" y="190396"/>
                  </a:lnTo>
                  <a:lnTo>
                    <a:pt x="68855" y="227903"/>
                  </a:lnTo>
                  <a:lnTo>
                    <a:pt x="42557" y="267920"/>
                  </a:lnTo>
                  <a:lnTo>
                    <a:pt x="19542" y="310285"/>
                  </a:lnTo>
                  <a:lnTo>
                    <a:pt x="0" y="354838"/>
                  </a:lnTo>
                  <a:lnTo>
                    <a:pt x="535330" y="563168"/>
                  </a:lnTo>
                  <a:lnTo>
                    <a:pt x="421690" y="0"/>
                  </a:lnTo>
                  <a:close/>
                </a:path>
              </a:pathLst>
            </a:custGeom>
            <a:solidFill>
              <a:srgbClr val="FFB81C"/>
            </a:solidFill>
          </p:spPr>
          <p:txBody>
            <a:bodyPr wrap="square" lIns="0" tIns="0" rIns="0" bIns="0" rtlCol="0"/>
            <a:lstStyle/>
            <a:p>
              <a:endParaRPr/>
            </a:p>
          </p:txBody>
        </p:sp>
        <p:sp>
          <p:nvSpPr>
            <p:cNvPr id="32" name="object 33">
              <a:extLst>
                <a:ext uri="{FF2B5EF4-FFF2-40B4-BE49-F238E27FC236}">
                  <a16:creationId xmlns:a16="http://schemas.microsoft.com/office/drawing/2014/main" id="{E659DAEF-A345-64F0-ABE9-5742589A3375}"/>
                </a:ext>
              </a:extLst>
            </p:cNvPr>
            <p:cNvSpPr/>
            <p:nvPr/>
          </p:nvSpPr>
          <p:spPr>
            <a:xfrm>
              <a:off x="840079" y="3338448"/>
              <a:ext cx="535940" cy="563245"/>
            </a:xfrm>
            <a:custGeom>
              <a:avLst/>
              <a:gdLst/>
              <a:ahLst/>
              <a:cxnLst/>
              <a:rect l="l" t="t" r="r" b="b"/>
              <a:pathLst>
                <a:path w="535940" h="563245">
                  <a:moveTo>
                    <a:pt x="0" y="354838"/>
                  </a:moveTo>
                  <a:lnTo>
                    <a:pt x="19542" y="310285"/>
                  </a:lnTo>
                  <a:lnTo>
                    <a:pt x="42557" y="267920"/>
                  </a:lnTo>
                  <a:lnTo>
                    <a:pt x="68855" y="227903"/>
                  </a:lnTo>
                  <a:lnTo>
                    <a:pt x="98244" y="190396"/>
                  </a:lnTo>
                  <a:lnTo>
                    <a:pt x="130532" y="155560"/>
                  </a:lnTo>
                  <a:lnTo>
                    <a:pt x="165530" y="123555"/>
                  </a:lnTo>
                  <a:lnTo>
                    <a:pt x="203044" y="94542"/>
                  </a:lnTo>
                  <a:lnTo>
                    <a:pt x="242886" y="68683"/>
                  </a:lnTo>
                  <a:lnTo>
                    <a:pt x="284862" y="46138"/>
                  </a:lnTo>
                  <a:lnTo>
                    <a:pt x="328782" y="27069"/>
                  </a:lnTo>
                  <a:lnTo>
                    <a:pt x="374455" y="11636"/>
                  </a:lnTo>
                  <a:lnTo>
                    <a:pt x="421690" y="0"/>
                  </a:lnTo>
                  <a:lnTo>
                    <a:pt x="535330" y="563168"/>
                  </a:lnTo>
                  <a:lnTo>
                    <a:pt x="0" y="354838"/>
                  </a:lnTo>
                  <a:close/>
                </a:path>
              </a:pathLst>
            </a:custGeom>
            <a:ln w="19050">
              <a:solidFill>
                <a:srgbClr val="FFFFFF"/>
              </a:solidFill>
            </a:ln>
          </p:spPr>
          <p:txBody>
            <a:bodyPr wrap="square" lIns="0" tIns="0" rIns="0" bIns="0" rtlCol="0"/>
            <a:lstStyle/>
            <a:p>
              <a:endParaRPr/>
            </a:p>
          </p:txBody>
        </p:sp>
        <p:sp>
          <p:nvSpPr>
            <p:cNvPr id="33" name="object 34">
              <a:extLst>
                <a:ext uri="{FF2B5EF4-FFF2-40B4-BE49-F238E27FC236}">
                  <a16:creationId xmlns:a16="http://schemas.microsoft.com/office/drawing/2014/main" id="{71F52399-DB6C-542B-C622-DF431EB11A75}"/>
                </a:ext>
              </a:extLst>
            </p:cNvPr>
            <p:cNvSpPr/>
            <p:nvPr/>
          </p:nvSpPr>
          <p:spPr>
            <a:xfrm>
              <a:off x="1261770" y="3327145"/>
              <a:ext cx="113664" cy="574675"/>
            </a:xfrm>
            <a:custGeom>
              <a:avLst/>
              <a:gdLst/>
              <a:ahLst/>
              <a:cxnLst/>
              <a:rect l="l" t="t" r="r" b="b"/>
              <a:pathLst>
                <a:path w="113665" h="574675">
                  <a:moveTo>
                    <a:pt x="113639" y="0"/>
                  </a:moveTo>
                  <a:lnTo>
                    <a:pt x="85074" y="712"/>
                  </a:lnTo>
                  <a:lnTo>
                    <a:pt x="56572" y="2841"/>
                  </a:lnTo>
                  <a:lnTo>
                    <a:pt x="28193" y="6375"/>
                  </a:lnTo>
                  <a:lnTo>
                    <a:pt x="0" y="11302"/>
                  </a:lnTo>
                  <a:lnTo>
                    <a:pt x="113639" y="574471"/>
                  </a:lnTo>
                  <a:lnTo>
                    <a:pt x="113639" y="0"/>
                  </a:lnTo>
                  <a:close/>
                </a:path>
              </a:pathLst>
            </a:custGeom>
            <a:solidFill>
              <a:srgbClr val="41748D"/>
            </a:solidFill>
          </p:spPr>
          <p:txBody>
            <a:bodyPr wrap="square" lIns="0" tIns="0" rIns="0" bIns="0" rtlCol="0"/>
            <a:lstStyle/>
            <a:p>
              <a:endParaRPr/>
            </a:p>
          </p:txBody>
        </p:sp>
        <p:sp>
          <p:nvSpPr>
            <p:cNvPr id="34" name="object 35">
              <a:extLst>
                <a:ext uri="{FF2B5EF4-FFF2-40B4-BE49-F238E27FC236}">
                  <a16:creationId xmlns:a16="http://schemas.microsoft.com/office/drawing/2014/main" id="{4CAA5E61-4697-3365-11C9-ECEE3F0E5BF8}"/>
                </a:ext>
              </a:extLst>
            </p:cNvPr>
            <p:cNvSpPr/>
            <p:nvPr/>
          </p:nvSpPr>
          <p:spPr>
            <a:xfrm>
              <a:off x="1261770" y="3327145"/>
              <a:ext cx="113664" cy="574675"/>
            </a:xfrm>
            <a:custGeom>
              <a:avLst/>
              <a:gdLst/>
              <a:ahLst/>
              <a:cxnLst/>
              <a:rect l="l" t="t" r="r" b="b"/>
              <a:pathLst>
                <a:path w="113665" h="574675">
                  <a:moveTo>
                    <a:pt x="0" y="11302"/>
                  </a:moveTo>
                  <a:lnTo>
                    <a:pt x="28193" y="6375"/>
                  </a:lnTo>
                  <a:lnTo>
                    <a:pt x="56572" y="2841"/>
                  </a:lnTo>
                  <a:lnTo>
                    <a:pt x="85074" y="712"/>
                  </a:lnTo>
                  <a:lnTo>
                    <a:pt x="113639" y="0"/>
                  </a:lnTo>
                  <a:lnTo>
                    <a:pt x="113639" y="574471"/>
                  </a:lnTo>
                  <a:lnTo>
                    <a:pt x="0" y="11302"/>
                  </a:lnTo>
                  <a:close/>
                </a:path>
              </a:pathLst>
            </a:custGeom>
            <a:ln w="19050">
              <a:solidFill>
                <a:srgbClr val="FFFFFF"/>
              </a:solidFill>
            </a:ln>
          </p:spPr>
          <p:txBody>
            <a:bodyPr wrap="square" lIns="0" tIns="0" rIns="0" bIns="0" rtlCol="0"/>
            <a:lstStyle/>
            <a:p>
              <a:endParaRPr/>
            </a:p>
          </p:txBody>
        </p:sp>
      </p:grpSp>
      <p:sp>
        <p:nvSpPr>
          <p:cNvPr id="35" name="object 36">
            <a:extLst>
              <a:ext uri="{FF2B5EF4-FFF2-40B4-BE49-F238E27FC236}">
                <a16:creationId xmlns:a16="http://schemas.microsoft.com/office/drawing/2014/main" id="{2D392E0F-02A3-FBDC-C53B-E32B0D82DAB8}"/>
              </a:ext>
            </a:extLst>
          </p:cNvPr>
          <p:cNvSpPr txBox="1"/>
          <p:nvPr/>
        </p:nvSpPr>
        <p:spPr>
          <a:xfrm>
            <a:off x="1813665" y="4686570"/>
            <a:ext cx="201295" cy="119905"/>
          </a:xfrm>
          <a:prstGeom prst="rect">
            <a:avLst/>
          </a:prstGeom>
        </p:spPr>
        <p:txBody>
          <a:bodyPr vert="horz" wrap="square" lIns="0" tIns="12065" rIns="0" bIns="0" rtlCol="0">
            <a:spAutoFit/>
          </a:bodyPr>
          <a:lstStyle/>
          <a:p>
            <a:pPr marL="12700">
              <a:spcBef>
                <a:spcPts val="95"/>
              </a:spcBef>
            </a:pPr>
            <a:r>
              <a:rPr sz="700" spc="-25" dirty="0">
                <a:solidFill>
                  <a:srgbClr val="FFFFFF"/>
                </a:solidFill>
                <a:latin typeface="Arial"/>
                <a:cs typeface="Arial"/>
              </a:rPr>
              <a:t>64%</a:t>
            </a:r>
            <a:endParaRPr sz="700">
              <a:latin typeface="Arial"/>
              <a:cs typeface="Arial"/>
            </a:endParaRPr>
          </a:p>
        </p:txBody>
      </p:sp>
      <p:sp>
        <p:nvSpPr>
          <p:cNvPr id="36" name="object 37">
            <a:extLst>
              <a:ext uri="{FF2B5EF4-FFF2-40B4-BE49-F238E27FC236}">
                <a16:creationId xmlns:a16="http://schemas.microsoft.com/office/drawing/2014/main" id="{3DF31A97-F64D-A580-5F2F-8D9DEF98B84E}"/>
              </a:ext>
            </a:extLst>
          </p:cNvPr>
          <p:cNvSpPr txBox="1"/>
          <p:nvPr/>
        </p:nvSpPr>
        <p:spPr>
          <a:xfrm>
            <a:off x="1020297" y="4582938"/>
            <a:ext cx="201295" cy="119905"/>
          </a:xfrm>
          <a:prstGeom prst="rect">
            <a:avLst/>
          </a:prstGeom>
        </p:spPr>
        <p:txBody>
          <a:bodyPr vert="horz" wrap="square" lIns="0" tIns="12065" rIns="0" bIns="0" rtlCol="0">
            <a:spAutoFit/>
          </a:bodyPr>
          <a:lstStyle/>
          <a:p>
            <a:pPr marL="12700">
              <a:spcBef>
                <a:spcPts val="95"/>
              </a:spcBef>
            </a:pPr>
            <a:r>
              <a:rPr sz="700" spc="-25" dirty="0">
                <a:latin typeface="Arial"/>
                <a:cs typeface="Arial"/>
              </a:rPr>
              <a:t>17%</a:t>
            </a:r>
            <a:endParaRPr sz="700">
              <a:latin typeface="Arial"/>
              <a:cs typeface="Arial"/>
            </a:endParaRPr>
          </a:p>
        </p:txBody>
      </p:sp>
      <p:sp>
        <p:nvSpPr>
          <p:cNvPr id="37" name="object 38">
            <a:extLst>
              <a:ext uri="{FF2B5EF4-FFF2-40B4-BE49-F238E27FC236}">
                <a16:creationId xmlns:a16="http://schemas.microsoft.com/office/drawing/2014/main" id="{1277C35F-A684-242C-B281-B015988B9717}"/>
              </a:ext>
            </a:extLst>
          </p:cNvPr>
          <p:cNvSpPr txBox="1"/>
          <p:nvPr/>
        </p:nvSpPr>
        <p:spPr>
          <a:xfrm>
            <a:off x="1141607" y="4159850"/>
            <a:ext cx="201295" cy="119905"/>
          </a:xfrm>
          <a:prstGeom prst="rect">
            <a:avLst/>
          </a:prstGeom>
        </p:spPr>
        <p:txBody>
          <a:bodyPr vert="horz" wrap="square" lIns="0" tIns="12065" rIns="0" bIns="0" rtlCol="0">
            <a:spAutoFit/>
          </a:bodyPr>
          <a:lstStyle/>
          <a:p>
            <a:pPr marL="12700">
              <a:spcBef>
                <a:spcPts val="95"/>
              </a:spcBef>
            </a:pPr>
            <a:r>
              <a:rPr sz="700" spc="-25" dirty="0">
                <a:latin typeface="Arial"/>
                <a:cs typeface="Arial"/>
              </a:rPr>
              <a:t>16%</a:t>
            </a:r>
            <a:endParaRPr sz="700">
              <a:latin typeface="Arial"/>
              <a:cs typeface="Arial"/>
            </a:endParaRPr>
          </a:p>
        </p:txBody>
      </p:sp>
      <p:sp>
        <p:nvSpPr>
          <p:cNvPr id="38" name="object 39">
            <a:extLst>
              <a:ext uri="{FF2B5EF4-FFF2-40B4-BE49-F238E27FC236}">
                <a16:creationId xmlns:a16="http://schemas.microsoft.com/office/drawing/2014/main" id="{29C2BE00-66B4-177E-0979-72348C643821}"/>
              </a:ext>
            </a:extLst>
          </p:cNvPr>
          <p:cNvSpPr txBox="1"/>
          <p:nvPr/>
        </p:nvSpPr>
        <p:spPr>
          <a:xfrm>
            <a:off x="1440666" y="4032724"/>
            <a:ext cx="152400" cy="119905"/>
          </a:xfrm>
          <a:prstGeom prst="rect">
            <a:avLst/>
          </a:prstGeom>
        </p:spPr>
        <p:txBody>
          <a:bodyPr vert="horz" wrap="square" lIns="0" tIns="12065" rIns="0" bIns="0" rtlCol="0">
            <a:spAutoFit/>
          </a:bodyPr>
          <a:lstStyle/>
          <a:p>
            <a:pPr marL="12700">
              <a:spcBef>
                <a:spcPts val="95"/>
              </a:spcBef>
            </a:pPr>
            <a:r>
              <a:rPr sz="700" spc="-25" dirty="0">
                <a:solidFill>
                  <a:srgbClr val="FFFFFF"/>
                </a:solidFill>
                <a:latin typeface="Arial"/>
                <a:cs typeface="Arial"/>
              </a:rPr>
              <a:t>3%</a:t>
            </a:r>
            <a:endParaRPr sz="700">
              <a:latin typeface="Arial"/>
              <a:cs typeface="Arial"/>
            </a:endParaRPr>
          </a:p>
        </p:txBody>
      </p:sp>
      <p:grpSp>
        <p:nvGrpSpPr>
          <p:cNvPr id="39" name="object 40">
            <a:extLst>
              <a:ext uri="{FF2B5EF4-FFF2-40B4-BE49-F238E27FC236}">
                <a16:creationId xmlns:a16="http://schemas.microsoft.com/office/drawing/2014/main" id="{F9E7B5C6-F87E-055A-D54E-10740AB884B7}"/>
              </a:ext>
            </a:extLst>
          </p:cNvPr>
          <p:cNvGrpSpPr/>
          <p:nvPr/>
        </p:nvGrpSpPr>
        <p:grpSpPr>
          <a:xfrm>
            <a:off x="1324449" y="5231451"/>
            <a:ext cx="978535" cy="64135"/>
            <a:chOff x="1160132" y="4552797"/>
            <a:chExt cx="978535" cy="64135"/>
          </a:xfrm>
        </p:grpSpPr>
        <p:sp>
          <p:nvSpPr>
            <p:cNvPr id="40" name="object 41">
              <a:extLst>
                <a:ext uri="{FF2B5EF4-FFF2-40B4-BE49-F238E27FC236}">
                  <a16:creationId xmlns:a16="http://schemas.microsoft.com/office/drawing/2014/main" id="{7067A3CA-2D30-217C-3327-BE2D37B78C8C}"/>
                </a:ext>
              </a:extLst>
            </p:cNvPr>
            <p:cNvSpPr/>
            <p:nvPr/>
          </p:nvSpPr>
          <p:spPr>
            <a:xfrm>
              <a:off x="1169657" y="4562322"/>
              <a:ext cx="45085" cy="45085"/>
            </a:xfrm>
            <a:custGeom>
              <a:avLst/>
              <a:gdLst/>
              <a:ahLst/>
              <a:cxnLst/>
              <a:rect l="l" t="t" r="r" b="b"/>
              <a:pathLst>
                <a:path w="45084" h="45085">
                  <a:moveTo>
                    <a:pt x="44692" y="0"/>
                  </a:moveTo>
                  <a:lnTo>
                    <a:pt x="0" y="0"/>
                  </a:lnTo>
                  <a:lnTo>
                    <a:pt x="0" y="44691"/>
                  </a:lnTo>
                  <a:lnTo>
                    <a:pt x="44692" y="44691"/>
                  </a:lnTo>
                  <a:lnTo>
                    <a:pt x="44692" y="0"/>
                  </a:lnTo>
                  <a:close/>
                </a:path>
              </a:pathLst>
            </a:custGeom>
            <a:solidFill>
              <a:srgbClr val="12426B"/>
            </a:solidFill>
          </p:spPr>
          <p:txBody>
            <a:bodyPr wrap="square" lIns="0" tIns="0" rIns="0" bIns="0" rtlCol="0"/>
            <a:lstStyle/>
            <a:p>
              <a:endParaRPr/>
            </a:p>
          </p:txBody>
        </p:sp>
        <p:sp>
          <p:nvSpPr>
            <p:cNvPr id="41" name="object 42">
              <a:extLst>
                <a:ext uri="{FF2B5EF4-FFF2-40B4-BE49-F238E27FC236}">
                  <a16:creationId xmlns:a16="http://schemas.microsoft.com/office/drawing/2014/main" id="{5BEBDAA3-7DAC-BD02-819E-4E2CF9F1EB89}"/>
                </a:ext>
              </a:extLst>
            </p:cNvPr>
            <p:cNvSpPr/>
            <p:nvPr/>
          </p:nvSpPr>
          <p:spPr>
            <a:xfrm>
              <a:off x="1169657" y="4562322"/>
              <a:ext cx="45085" cy="45085"/>
            </a:xfrm>
            <a:custGeom>
              <a:avLst/>
              <a:gdLst/>
              <a:ahLst/>
              <a:cxnLst/>
              <a:rect l="l" t="t" r="r" b="b"/>
              <a:pathLst>
                <a:path w="45084" h="45085">
                  <a:moveTo>
                    <a:pt x="0" y="44691"/>
                  </a:moveTo>
                  <a:lnTo>
                    <a:pt x="44692" y="44691"/>
                  </a:lnTo>
                  <a:lnTo>
                    <a:pt x="44692" y="0"/>
                  </a:lnTo>
                  <a:lnTo>
                    <a:pt x="0" y="0"/>
                  </a:lnTo>
                  <a:lnTo>
                    <a:pt x="0" y="44691"/>
                  </a:lnTo>
                  <a:close/>
                </a:path>
              </a:pathLst>
            </a:custGeom>
            <a:ln w="19050">
              <a:solidFill>
                <a:srgbClr val="FFFFFF"/>
              </a:solidFill>
            </a:ln>
          </p:spPr>
          <p:txBody>
            <a:bodyPr wrap="square" lIns="0" tIns="0" rIns="0" bIns="0" rtlCol="0"/>
            <a:lstStyle/>
            <a:p>
              <a:endParaRPr/>
            </a:p>
          </p:txBody>
        </p:sp>
        <p:sp>
          <p:nvSpPr>
            <p:cNvPr id="42" name="object 43">
              <a:extLst>
                <a:ext uri="{FF2B5EF4-FFF2-40B4-BE49-F238E27FC236}">
                  <a16:creationId xmlns:a16="http://schemas.microsoft.com/office/drawing/2014/main" id="{690F966C-7741-754F-491F-8CFE681C5A74}"/>
                </a:ext>
              </a:extLst>
            </p:cNvPr>
            <p:cNvSpPr/>
            <p:nvPr/>
          </p:nvSpPr>
          <p:spPr>
            <a:xfrm>
              <a:off x="1513077" y="4562322"/>
              <a:ext cx="45085" cy="45085"/>
            </a:xfrm>
            <a:custGeom>
              <a:avLst/>
              <a:gdLst/>
              <a:ahLst/>
              <a:cxnLst/>
              <a:rect l="l" t="t" r="r" b="b"/>
              <a:pathLst>
                <a:path w="45084" h="45085">
                  <a:moveTo>
                    <a:pt x="44692" y="0"/>
                  </a:moveTo>
                  <a:lnTo>
                    <a:pt x="0" y="0"/>
                  </a:lnTo>
                  <a:lnTo>
                    <a:pt x="0" y="44691"/>
                  </a:lnTo>
                  <a:lnTo>
                    <a:pt x="44692" y="44691"/>
                  </a:lnTo>
                  <a:lnTo>
                    <a:pt x="44692" y="0"/>
                  </a:lnTo>
                  <a:close/>
                </a:path>
              </a:pathLst>
            </a:custGeom>
            <a:solidFill>
              <a:srgbClr val="24C9D2"/>
            </a:solidFill>
          </p:spPr>
          <p:txBody>
            <a:bodyPr wrap="square" lIns="0" tIns="0" rIns="0" bIns="0" rtlCol="0"/>
            <a:lstStyle/>
            <a:p>
              <a:endParaRPr/>
            </a:p>
          </p:txBody>
        </p:sp>
        <p:sp>
          <p:nvSpPr>
            <p:cNvPr id="43" name="object 44">
              <a:extLst>
                <a:ext uri="{FF2B5EF4-FFF2-40B4-BE49-F238E27FC236}">
                  <a16:creationId xmlns:a16="http://schemas.microsoft.com/office/drawing/2014/main" id="{AB400D41-9802-93B4-E1B5-FAA40803B2CC}"/>
                </a:ext>
              </a:extLst>
            </p:cNvPr>
            <p:cNvSpPr/>
            <p:nvPr/>
          </p:nvSpPr>
          <p:spPr>
            <a:xfrm>
              <a:off x="1513077" y="4562322"/>
              <a:ext cx="45085" cy="45085"/>
            </a:xfrm>
            <a:custGeom>
              <a:avLst/>
              <a:gdLst/>
              <a:ahLst/>
              <a:cxnLst/>
              <a:rect l="l" t="t" r="r" b="b"/>
              <a:pathLst>
                <a:path w="45084" h="45085">
                  <a:moveTo>
                    <a:pt x="0" y="44691"/>
                  </a:moveTo>
                  <a:lnTo>
                    <a:pt x="44692" y="44691"/>
                  </a:lnTo>
                  <a:lnTo>
                    <a:pt x="44692" y="0"/>
                  </a:lnTo>
                  <a:lnTo>
                    <a:pt x="0" y="0"/>
                  </a:lnTo>
                  <a:lnTo>
                    <a:pt x="0" y="44691"/>
                  </a:lnTo>
                  <a:close/>
                </a:path>
              </a:pathLst>
            </a:custGeom>
            <a:ln w="19050">
              <a:solidFill>
                <a:srgbClr val="FFFFFF"/>
              </a:solidFill>
            </a:ln>
          </p:spPr>
          <p:txBody>
            <a:bodyPr wrap="square" lIns="0" tIns="0" rIns="0" bIns="0" rtlCol="0"/>
            <a:lstStyle/>
            <a:p>
              <a:endParaRPr/>
            </a:p>
          </p:txBody>
        </p:sp>
        <p:sp>
          <p:nvSpPr>
            <p:cNvPr id="44" name="object 45">
              <a:extLst>
                <a:ext uri="{FF2B5EF4-FFF2-40B4-BE49-F238E27FC236}">
                  <a16:creationId xmlns:a16="http://schemas.microsoft.com/office/drawing/2014/main" id="{81A7ADEF-77A0-17AB-7185-91C92C0148DA}"/>
                </a:ext>
              </a:extLst>
            </p:cNvPr>
            <p:cNvSpPr/>
            <p:nvPr/>
          </p:nvSpPr>
          <p:spPr>
            <a:xfrm>
              <a:off x="2084069" y="4562322"/>
              <a:ext cx="45085" cy="45085"/>
            </a:xfrm>
            <a:custGeom>
              <a:avLst/>
              <a:gdLst/>
              <a:ahLst/>
              <a:cxnLst/>
              <a:rect l="l" t="t" r="r" b="b"/>
              <a:pathLst>
                <a:path w="45085" h="45085">
                  <a:moveTo>
                    <a:pt x="44692" y="0"/>
                  </a:moveTo>
                  <a:lnTo>
                    <a:pt x="0" y="0"/>
                  </a:lnTo>
                  <a:lnTo>
                    <a:pt x="0" y="44691"/>
                  </a:lnTo>
                  <a:lnTo>
                    <a:pt x="44692" y="44691"/>
                  </a:lnTo>
                  <a:lnTo>
                    <a:pt x="44692" y="0"/>
                  </a:lnTo>
                  <a:close/>
                </a:path>
              </a:pathLst>
            </a:custGeom>
            <a:solidFill>
              <a:srgbClr val="FFB81C"/>
            </a:solidFill>
          </p:spPr>
          <p:txBody>
            <a:bodyPr wrap="square" lIns="0" tIns="0" rIns="0" bIns="0" rtlCol="0"/>
            <a:lstStyle/>
            <a:p>
              <a:endParaRPr/>
            </a:p>
          </p:txBody>
        </p:sp>
        <p:sp>
          <p:nvSpPr>
            <p:cNvPr id="45" name="object 46">
              <a:extLst>
                <a:ext uri="{FF2B5EF4-FFF2-40B4-BE49-F238E27FC236}">
                  <a16:creationId xmlns:a16="http://schemas.microsoft.com/office/drawing/2014/main" id="{8A8F41F1-A131-95FB-F191-C7BD3359F046}"/>
                </a:ext>
              </a:extLst>
            </p:cNvPr>
            <p:cNvSpPr/>
            <p:nvPr/>
          </p:nvSpPr>
          <p:spPr>
            <a:xfrm>
              <a:off x="2084069" y="4562322"/>
              <a:ext cx="45085" cy="45085"/>
            </a:xfrm>
            <a:custGeom>
              <a:avLst/>
              <a:gdLst/>
              <a:ahLst/>
              <a:cxnLst/>
              <a:rect l="l" t="t" r="r" b="b"/>
              <a:pathLst>
                <a:path w="45085" h="45085">
                  <a:moveTo>
                    <a:pt x="0" y="44691"/>
                  </a:moveTo>
                  <a:lnTo>
                    <a:pt x="44692" y="44691"/>
                  </a:lnTo>
                  <a:lnTo>
                    <a:pt x="44692" y="0"/>
                  </a:lnTo>
                  <a:lnTo>
                    <a:pt x="0" y="0"/>
                  </a:lnTo>
                  <a:lnTo>
                    <a:pt x="0" y="44691"/>
                  </a:lnTo>
                  <a:close/>
                </a:path>
              </a:pathLst>
            </a:custGeom>
            <a:ln w="19050">
              <a:solidFill>
                <a:srgbClr val="FFFFFF"/>
              </a:solidFill>
            </a:ln>
          </p:spPr>
          <p:txBody>
            <a:bodyPr wrap="square" lIns="0" tIns="0" rIns="0" bIns="0" rtlCol="0"/>
            <a:lstStyle/>
            <a:p>
              <a:endParaRPr/>
            </a:p>
          </p:txBody>
        </p:sp>
      </p:grpSp>
      <p:sp>
        <p:nvSpPr>
          <p:cNvPr id="46" name="object 47">
            <a:extLst>
              <a:ext uri="{FF2B5EF4-FFF2-40B4-BE49-F238E27FC236}">
                <a16:creationId xmlns:a16="http://schemas.microsoft.com/office/drawing/2014/main" id="{E81718B4-2A4C-B038-90D3-F35053CEFAF9}"/>
              </a:ext>
            </a:extLst>
          </p:cNvPr>
          <p:cNvSpPr txBox="1"/>
          <p:nvPr/>
        </p:nvSpPr>
        <p:spPr>
          <a:xfrm>
            <a:off x="1383618" y="5192232"/>
            <a:ext cx="1345565" cy="227626"/>
          </a:xfrm>
          <a:prstGeom prst="rect">
            <a:avLst/>
          </a:prstGeom>
        </p:spPr>
        <p:txBody>
          <a:bodyPr vert="horz" wrap="square" lIns="0" tIns="12065" rIns="0" bIns="0" rtlCol="0">
            <a:spAutoFit/>
          </a:bodyPr>
          <a:lstStyle/>
          <a:p>
            <a:pPr marL="12700">
              <a:spcBef>
                <a:spcPts val="95"/>
              </a:spcBef>
              <a:tabLst>
                <a:tab pos="355600" algn="l"/>
                <a:tab pos="927100" algn="l"/>
              </a:tabLst>
            </a:pPr>
            <a:r>
              <a:rPr sz="700" spc="-25" dirty="0">
                <a:solidFill>
                  <a:srgbClr val="585858"/>
                </a:solidFill>
                <a:latin typeface="Arial"/>
                <a:cs typeface="Arial"/>
              </a:rPr>
              <a:t>TMT</a:t>
            </a:r>
            <a:r>
              <a:rPr sz="700" dirty="0">
                <a:solidFill>
                  <a:srgbClr val="585858"/>
                </a:solidFill>
                <a:latin typeface="Arial"/>
                <a:cs typeface="Arial"/>
              </a:rPr>
              <a:t>	</a:t>
            </a:r>
            <a:r>
              <a:rPr sz="700" spc="-10" dirty="0">
                <a:solidFill>
                  <a:srgbClr val="585858"/>
                </a:solidFill>
                <a:latin typeface="Arial"/>
                <a:cs typeface="Arial"/>
              </a:rPr>
              <a:t>Consumer</a:t>
            </a:r>
            <a:r>
              <a:rPr sz="700" dirty="0">
                <a:solidFill>
                  <a:srgbClr val="585858"/>
                </a:solidFill>
                <a:latin typeface="Arial"/>
                <a:cs typeface="Arial"/>
              </a:rPr>
              <a:t>	</a:t>
            </a:r>
            <a:r>
              <a:rPr sz="700" spc="-10" dirty="0">
                <a:solidFill>
                  <a:srgbClr val="585858"/>
                </a:solidFill>
                <a:latin typeface="Arial"/>
                <a:cs typeface="Arial"/>
              </a:rPr>
              <a:t>Industrials</a:t>
            </a:r>
            <a:endParaRPr sz="700">
              <a:latin typeface="Arial"/>
              <a:cs typeface="Arial"/>
            </a:endParaRPr>
          </a:p>
        </p:txBody>
      </p:sp>
      <p:grpSp>
        <p:nvGrpSpPr>
          <p:cNvPr id="47" name="object 48">
            <a:extLst>
              <a:ext uri="{FF2B5EF4-FFF2-40B4-BE49-F238E27FC236}">
                <a16:creationId xmlns:a16="http://schemas.microsoft.com/office/drawing/2014/main" id="{CD43FFEC-F797-5DA9-FB94-2334282A8E64}"/>
              </a:ext>
            </a:extLst>
          </p:cNvPr>
          <p:cNvGrpSpPr/>
          <p:nvPr/>
        </p:nvGrpSpPr>
        <p:grpSpPr>
          <a:xfrm>
            <a:off x="2804900" y="5231451"/>
            <a:ext cx="64135" cy="64135"/>
            <a:chOff x="2640583" y="4552797"/>
            <a:chExt cx="64135" cy="64135"/>
          </a:xfrm>
        </p:grpSpPr>
        <p:sp>
          <p:nvSpPr>
            <p:cNvPr id="48" name="object 49">
              <a:extLst>
                <a:ext uri="{FF2B5EF4-FFF2-40B4-BE49-F238E27FC236}">
                  <a16:creationId xmlns:a16="http://schemas.microsoft.com/office/drawing/2014/main" id="{4524765A-32AF-3E0F-5314-06FE001B1187}"/>
                </a:ext>
              </a:extLst>
            </p:cNvPr>
            <p:cNvSpPr/>
            <p:nvPr/>
          </p:nvSpPr>
          <p:spPr>
            <a:xfrm>
              <a:off x="2650108" y="4562322"/>
              <a:ext cx="45085" cy="45085"/>
            </a:xfrm>
            <a:custGeom>
              <a:avLst/>
              <a:gdLst/>
              <a:ahLst/>
              <a:cxnLst/>
              <a:rect l="l" t="t" r="r" b="b"/>
              <a:pathLst>
                <a:path w="45085" h="45085">
                  <a:moveTo>
                    <a:pt x="44692" y="0"/>
                  </a:moveTo>
                  <a:lnTo>
                    <a:pt x="0" y="0"/>
                  </a:lnTo>
                  <a:lnTo>
                    <a:pt x="0" y="44691"/>
                  </a:lnTo>
                  <a:lnTo>
                    <a:pt x="44692" y="44691"/>
                  </a:lnTo>
                  <a:lnTo>
                    <a:pt x="44692" y="0"/>
                  </a:lnTo>
                  <a:close/>
                </a:path>
              </a:pathLst>
            </a:custGeom>
            <a:solidFill>
              <a:srgbClr val="41748D"/>
            </a:solidFill>
          </p:spPr>
          <p:txBody>
            <a:bodyPr wrap="square" lIns="0" tIns="0" rIns="0" bIns="0" rtlCol="0"/>
            <a:lstStyle/>
            <a:p>
              <a:endParaRPr/>
            </a:p>
          </p:txBody>
        </p:sp>
        <p:sp>
          <p:nvSpPr>
            <p:cNvPr id="49" name="object 50">
              <a:extLst>
                <a:ext uri="{FF2B5EF4-FFF2-40B4-BE49-F238E27FC236}">
                  <a16:creationId xmlns:a16="http://schemas.microsoft.com/office/drawing/2014/main" id="{E0A90A1F-C56E-73B1-17AF-CC9CCF4E8E9C}"/>
                </a:ext>
              </a:extLst>
            </p:cNvPr>
            <p:cNvSpPr/>
            <p:nvPr/>
          </p:nvSpPr>
          <p:spPr>
            <a:xfrm>
              <a:off x="2650108" y="4562322"/>
              <a:ext cx="45085" cy="45085"/>
            </a:xfrm>
            <a:custGeom>
              <a:avLst/>
              <a:gdLst/>
              <a:ahLst/>
              <a:cxnLst/>
              <a:rect l="l" t="t" r="r" b="b"/>
              <a:pathLst>
                <a:path w="45085" h="45085">
                  <a:moveTo>
                    <a:pt x="0" y="44691"/>
                  </a:moveTo>
                  <a:lnTo>
                    <a:pt x="44692" y="44691"/>
                  </a:lnTo>
                  <a:lnTo>
                    <a:pt x="44692" y="0"/>
                  </a:lnTo>
                  <a:lnTo>
                    <a:pt x="0" y="0"/>
                  </a:lnTo>
                  <a:lnTo>
                    <a:pt x="0" y="44691"/>
                  </a:lnTo>
                  <a:close/>
                </a:path>
              </a:pathLst>
            </a:custGeom>
            <a:ln w="19050">
              <a:solidFill>
                <a:srgbClr val="FFFFFF"/>
              </a:solidFill>
            </a:ln>
          </p:spPr>
          <p:txBody>
            <a:bodyPr wrap="square" lIns="0" tIns="0" rIns="0" bIns="0" rtlCol="0"/>
            <a:lstStyle/>
            <a:p>
              <a:endParaRPr/>
            </a:p>
          </p:txBody>
        </p:sp>
      </p:grpSp>
      <p:sp>
        <p:nvSpPr>
          <p:cNvPr id="50" name="object 51">
            <a:extLst>
              <a:ext uri="{FF2B5EF4-FFF2-40B4-BE49-F238E27FC236}">
                <a16:creationId xmlns:a16="http://schemas.microsoft.com/office/drawing/2014/main" id="{3C0BBC56-7F06-FEEF-BB1C-70549FF7F343}"/>
              </a:ext>
            </a:extLst>
          </p:cNvPr>
          <p:cNvSpPr txBox="1"/>
          <p:nvPr/>
        </p:nvSpPr>
        <p:spPr>
          <a:xfrm>
            <a:off x="2864336" y="5192233"/>
            <a:ext cx="455930" cy="119905"/>
          </a:xfrm>
          <a:prstGeom prst="rect">
            <a:avLst/>
          </a:prstGeom>
        </p:spPr>
        <p:txBody>
          <a:bodyPr vert="horz" wrap="square" lIns="0" tIns="12065" rIns="0" bIns="0" rtlCol="0">
            <a:spAutoFit/>
          </a:bodyPr>
          <a:lstStyle/>
          <a:p>
            <a:pPr marL="12700">
              <a:spcBef>
                <a:spcPts val="95"/>
              </a:spcBef>
            </a:pPr>
            <a:r>
              <a:rPr sz="700" spc="-10" dirty="0">
                <a:solidFill>
                  <a:srgbClr val="585858"/>
                </a:solidFill>
                <a:latin typeface="Arial"/>
                <a:cs typeface="Arial"/>
              </a:rPr>
              <a:t>Healthcare</a:t>
            </a:r>
            <a:endParaRPr sz="700">
              <a:latin typeface="Arial"/>
              <a:cs typeface="Arial"/>
            </a:endParaRPr>
          </a:p>
        </p:txBody>
      </p:sp>
      <p:grpSp>
        <p:nvGrpSpPr>
          <p:cNvPr id="51" name="object 52">
            <a:extLst>
              <a:ext uri="{FF2B5EF4-FFF2-40B4-BE49-F238E27FC236}">
                <a16:creationId xmlns:a16="http://schemas.microsoft.com/office/drawing/2014/main" id="{ED6E148F-D282-9AB0-51ED-A3A8B19F6298}"/>
              </a:ext>
            </a:extLst>
          </p:cNvPr>
          <p:cNvGrpSpPr/>
          <p:nvPr/>
        </p:nvGrpSpPr>
        <p:grpSpPr>
          <a:xfrm>
            <a:off x="2499011" y="4028406"/>
            <a:ext cx="1141095" cy="1141095"/>
            <a:chOff x="2334694" y="3349752"/>
            <a:chExt cx="1141095" cy="1141095"/>
          </a:xfrm>
        </p:grpSpPr>
        <p:sp>
          <p:nvSpPr>
            <p:cNvPr id="52" name="object 53">
              <a:extLst>
                <a:ext uri="{FF2B5EF4-FFF2-40B4-BE49-F238E27FC236}">
                  <a16:creationId xmlns:a16="http://schemas.microsoft.com/office/drawing/2014/main" id="{47AD7E4E-7EF0-1AB1-EC21-AF7AFBC55372}"/>
                </a:ext>
              </a:extLst>
            </p:cNvPr>
            <p:cNvSpPr/>
            <p:nvPr/>
          </p:nvSpPr>
          <p:spPr>
            <a:xfrm>
              <a:off x="2904998" y="3359277"/>
              <a:ext cx="561340" cy="1018540"/>
            </a:xfrm>
            <a:custGeom>
              <a:avLst/>
              <a:gdLst/>
              <a:ahLst/>
              <a:cxnLst/>
              <a:rect l="l" t="t" r="r" b="b"/>
              <a:pathLst>
                <a:path w="561339" h="1018539">
                  <a:moveTo>
                    <a:pt x="0" y="0"/>
                  </a:moveTo>
                  <a:lnTo>
                    <a:pt x="0" y="560984"/>
                  </a:lnTo>
                  <a:lnTo>
                    <a:pt x="324993" y="1018197"/>
                  </a:lnTo>
                  <a:lnTo>
                    <a:pt x="363865" y="987922"/>
                  </a:lnTo>
                  <a:lnTo>
                    <a:pt x="399628" y="954661"/>
                  </a:lnTo>
                  <a:lnTo>
                    <a:pt x="432156" y="918656"/>
                  </a:lnTo>
                  <a:lnTo>
                    <a:pt x="461325" y="880150"/>
                  </a:lnTo>
                  <a:lnTo>
                    <a:pt x="487010" y="839385"/>
                  </a:lnTo>
                  <a:lnTo>
                    <a:pt x="509085" y="796605"/>
                  </a:lnTo>
                  <a:lnTo>
                    <a:pt x="527427" y="752054"/>
                  </a:lnTo>
                  <a:lnTo>
                    <a:pt x="541910" y="705973"/>
                  </a:lnTo>
                  <a:lnTo>
                    <a:pt x="552409" y="658605"/>
                  </a:lnTo>
                  <a:lnTo>
                    <a:pt x="558800" y="610195"/>
                  </a:lnTo>
                  <a:lnTo>
                    <a:pt x="560959" y="560984"/>
                  </a:lnTo>
                  <a:lnTo>
                    <a:pt x="558899" y="512586"/>
                  </a:lnTo>
                  <a:lnTo>
                    <a:pt x="552833" y="465331"/>
                  </a:lnTo>
                  <a:lnTo>
                    <a:pt x="542929" y="419386"/>
                  </a:lnTo>
                  <a:lnTo>
                    <a:pt x="529355" y="374920"/>
                  </a:lnTo>
                  <a:lnTo>
                    <a:pt x="512280" y="332101"/>
                  </a:lnTo>
                  <a:lnTo>
                    <a:pt x="491873" y="291099"/>
                  </a:lnTo>
                  <a:lnTo>
                    <a:pt x="468301" y="252081"/>
                  </a:lnTo>
                  <a:lnTo>
                    <a:pt x="441734" y="215216"/>
                  </a:lnTo>
                  <a:lnTo>
                    <a:pt x="412341" y="180673"/>
                  </a:lnTo>
                  <a:lnTo>
                    <a:pt x="380289" y="148620"/>
                  </a:lnTo>
                  <a:lnTo>
                    <a:pt x="345747" y="119225"/>
                  </a:lnTo>
                  <a:lnTo>
                    <a:pt x="308883" y="92658"/>
                  </a:lnTo>
                  <a:lnTo>
                    <a:pt x="269867" y="69086"/>
                  </a:lnTo>
                  <a:lnTo>
                    <a:pt x="228867" y="48679"/>
                  </a:lnTo>
                  <a:lnTo>
                    <a:pt x="186051" y="31603"/>
                  </a:lnTo>
                  <a:lnTo>
                    <a:pt x="141587" y="18029"/>
                  </a:lnTo>
                  <a:lnTo>
                    <a:pt x="95645" y="8125"/>
                  </a:lnTo>
                  <a:lnTo>
                    <a:pt x="48393" y="2059"/>
                  </a:lnTo>
                  <a:lnTo>
                    <a:pt x="0" y="0"/>
                  </a:lnTo>
                  <a:close/>
                </a:path>
              </a:pathLst>
            </a:custGeom>
            <a:solidFill>
              <a:srgbClr val="12426B"/>
            </a:solidFill>
          </p:spPr>
          <p:txBody>
            <a:bodyPr wrap="square" lIns="0" tIns="0" rIns="0" bIns="0" rtlCol="0"/>
            <a:lstStyle/>
            <a:p>
              <a:endParaRPr/>
            </a:p>
          </p:txBody>
        </p:sp>
        <p:sp>
          <p:nvSpPr>
            <p:cNvPr id="53" name="object 54">
              <a:extLst>
                <a:ext uri="{FF2B5EF4-FFF2-40B4-BE49-F238E27FC236}">
                  <a16:creationId xmlns:a16="http://schemas.microsoft.com/office/drawing/2014/main" id="{E80949A4-8A4C-CB01-EC04-4D04187196C1}"/>
                </a:ext>
              </a:extLst>
            </p:cNvPr>
            <p:cNvSpPr/>
            <p:nvPr/>
          </p:nvSpPr>
          <p:spPr>
            <a:xfrm>
              <a:off x="2904998" y="3359277"/>
              <a:ext cx="561340" cy="1018540"/>
            </a:xfrm>
            <a:custGeom>
              <a:avLst/>
              <a:gdLst/>
              <a:ahLst/>
              <a:cxnLst/>
              <a:rect l="l" t="t" r="r" b="b"/>
              <a:pathLst>
                <a:path w="561339" h="1018539">
                  <a:moveTo>
                    <a:pt x="0" y="0"/>
                  </a:moveTo>
                  <a:lnTo>
                    <a:pt x="48393" y="2059"/>
                  </a:lnTo>
                  <a:lnTo>
                    <a:pt x="95645" y="8125"/>
                  </a:lnTo>
                  <a:lnTo>
                    <a:pt x="141587" y="18029"/>
                  </a:lnTo>
                  <a:lnTo>
                    <a:pt x="186051" y="31603"/>
                  </a:lnTo>
                  <a:lnTo>
                    <a:pt x="228867" y="48679"/>
                  </a:lnTo>
                  <a:lnTo>
                    <a:pt x="269867" y="69086"/>
                  </a:lnTo>
                  <a:lnTo>
                    <a:pt x="308883" y="92658"/>
                  </a:lnTo>
                  <a:lnTo>
                    <a:pt x="345747" y="119225"/>
                  </a:lnTo>
                  <a:lnTo>
                    <a:pt x="380289" y="148620"/>
                  </a:lnTo>
                  <a:lnTo>
                    <a:pt x="412341" y="180673"/>
                  </a:lnTo>
                  <a:lnTo>
                    <a:pt x="441734" y="215216"/>
                  </a:lnTo>
                  <a:lnTo>
                    <a:pt x="468301" y="252081"/>
                  </a:lnTo>
                  <a:lnTo>
                    <a:pt x="491873" y="291099"/>
                  </a:lnTo>
                  <a:lnTo>
                    <a:pt x="512280" y="332101"/>
                  </a:lnTo>
                  <a:lnTo>
                    <a:pt x="529355" y="374920"/>
                  </a:lnTo>
                  <a:lnTo>
                    <a:pt x="542929" y="419386"/>
                  </a:lnTo>
                  <a:lnTo>
                    <a:pt x="552833" y="465331"/>
                  </a:lnTo>
                  <a:lnTo>
                    <a:pt x="558899" y="512586"/>
                  </a:lnTo>
                  <a:lnTo>
                    <a:pt x="560959" y="560984"/>
                  </a:lnTo>
                  <a:lnTo>
                    <a:pt x="558800" y="610195"/>
                  </a:lnTo>
                  <a:lnTo>
                    <a:pt x="552409" y="658605"/>
                  </a:lnTo>
                  <a:lnTo>
                    <a:pt x="541910" y="705973"/>
                  </a:lnTo>
                  <a:lnTo>
                    <a:pt x="527427" y="752054"/>
                  </a:lnTo>
                  <a:lnTo>
                    <a:pt x="509085" y="796605"/>
                  </a:lnTo>
                  <a:lnTo>
                    <a:pt x="487010" y="839385"/>
                  </a:lnTo>
                  <a:lnTo>
                    <a:pt x="461325" y="880150"/>
                  </a:lnTo>
                  <a:lnTo>
                    <a:pt x="432156" y="918656"/>
                  </a:lnTo>
                  <a:lnTo>
                    <a:pt x="399628" y="954661"/>
                  </a:lnTo>
                  <a:lnTo>
                    <a:pt x="363865" y="987922"/>
                  </a:lnTo>
                  <a:lnTo>
                    <a:pt x="324993" y="1018197"/>
                  </a:lnTo>
                  <a:lnTo>
                    <a:pt x="0" y="560984"/>
                  </a:lnTo>
                  <a:lnTo>
                    <a:pt x="0" y="0"/>
                  </a:lnTo>
                  <a:close/>
                </a:path>
              </a:pathLst>
            </a:custGeom>
            <a:ln w="19049">
              <a:solidFill>
                <a:srgbClr val="FFFFFF"/>
              </a:solidFill>
            </a:ln>
          </p:spPr>
          <p:txBody>
            <a:bodyPr wrap="square" lIns="0" tIns="0" rIns="0" bIns="0" rtlCol="0"/>
            <a:lstStyle/>
            <a:p>
              <a:endParaRPr/>
            </a:p>
          </p:txBody>
        </p:sp>
        <p:sp>
          <p:nvSpPr>
            <p:cNvPr id="54" name="object 55">
              <a:extLst>
                <a:ext uri="{FF2B5EF4-FFF2-40B4-BE49-F238E27FC236}">
                  <a16:creationId xmlns:a16="http://schemas.microsoft.com/office/drawing/2014/main" id="{54B3720F-98B5-905A-A8CB-1F9994387512}"/>
                </a:ext>
              </a:extLst>
            </p:cNvPr>
            <p:cNvSpPr/>
            <p:nvPr/>
          </p:nvSpPr>
          <p:spPr>
            <a:xfrm>
              <a:off x="2344219" y="3474466"/>
              <a:ext cx="885825" cy="1007110"/>
            </a:xfrm>
            <a:custGeom>
              <a:avLst/>
              <a:gdLst/>
              <a:ahLst/>
              <a:cxnLst/>
              <a:rect l="l" t="t" r="r" b="b"/>
              <a:pathLst>
                <a:path w="885825" h="1007110">
                  <a:moveTo>
                    <a:pt x="220291" y="0"/>
                  </a:moveTo>
                  <a:lnTo>
                    <a:pt x="183907" y="30247"/>
                  </a:lnTo>
                  <a:lnTo>
                    <a:pt x="150694" y="62890"/>
                  </a:lnTo>
                  <a:lnTo>
                    <a:pt x="120686" y="97710"/>
                  </a:lnTo>
                  <a:lnTo>
                    <a:pt x="93917" y="134484"/>
                  </a:lnTo>
                  <a:lnTo>
                    <a:pt x="70420" y="172993"/>
                  </a:lnTo>
                  <a:lnTo>
                    <a:pt x="50227" y="213017"/>
                  </a:lnTo>
                  <a:lnTo>
                    <a:pt x="33373" y="254335"/>
                  </a:lnTo>
                  <a:lnTo>
                    <a:pt x="19889" y="296726"/>
                  </a:lnTo>
                  <a:lnTo>
                    <a:pt x="9811" y="339971"/>
                  </a:lnTo>
                  <a:lnTo>
                    <a:pt x="3170" y="383849"/>
                  </a:lnTo>
                  <a:lnTo>
                    <a:pt x="0" y="428140"/>
                  </a:lnTo>
                  <a:lnTo>
                    <a:pt x="334" y="472623"/>
                  </a:lnTo>
                  <a:lnTo>
                    <a:pt x="4205" y="517078"/>
                  </a:lnTo>
                  <a:lnTo>
                    <a:pt x="11647" y="561284"/>
                  </a:lnTo>
                  <a:lnTo>
                    <a:pt x="22693" y="605022"/>
                  </a:lnTo>
                  <a:lnTo>
                    <a:pt x="37376" y="648070"/>
                  </a:lnTo>
                  <a:lnTo>
                    <a:pt x="55729" y="690209"/>
                  </a:lnTo>
                  <a:lnTo>
                    <a:pt x="77785" y="731218"/>
                  </a:lnTo>
                  <a:lnTo>
                    <a:pt x="103578" y="770877"/>
                  </a:lnTo>
                  <a:lnTo>
                    <a:pt x="133293" y="809132"/>
                  </a:lnTo>
                  <a:lnTo>
                    <a:pt x="165612" y="844134"/>
                  </a:lnTo>
                  <a:lnTo>
                    <a:pt x="200300" y="875844"/>
                  </a:lnTo>
                  <a:lnTo>
                    <a:pt x="237122" y="904220"/>
                  </a:lnTo>
                  <a:lnTo>
                    <a:pt x="275843" y="929225"/>
                  </a:lnTo>
                  <a:lnTo>
                    <a:pt x="316228" y="950818"/>
                  </a:lnTo>
                  <a:lnTo>
                    <a:pt x="358043" y="968960"/>
                  </a:lnTo>
                  <a:lnTo>
                    <a:pt x="401052" y="983610"/>
                  </a:lnTo>
                  <a:lnTo>
                    <a:pt x="445020" y="994730"/>
                  </a:lnTo>
                  <a:lnTo>
                    <a:pt x="489713" y="1002279"/>
                  </a:lnTo>
                  <a:lnTo>
                    <a:pt x="534895" y="1006218"/>
                  </a:lnTo>
                  <a:lnTo>
                    <a:pt x="580331" y="1006507"/>
                  </a:lnTo>
                  <a:lnTo>
                    <a:pt x="625787" y="1003107"/>
                  </a:lnTo>
                  <a:lnTo>
                    <a:pt x="671027" y="995978"/>
                  </a:lnTo>
                  <a:lnTo>
                    <a:pt x="715817" y="985080"/>
                  </a:lnTo>
                  <a:lnTo>
                    <a:pt x="759921" y="970374"/>
                  </a:lnTo>
                  <a:lnTo>
                    <a:pt x="803105" y="951819"/>
                  </a:lnTo>
                  <a:lnTo>
                    <a:pt x="845133" y="929377"/>
                  </a:lnTo>
                  <a:lnTo>
                    <a:pt x="885771" y="903008"/>
                  </a:lnTo>
                  <a:lnTo>
                    <a:pt x="560778" y="445795"/>
                  </a:lnTo>
                  <a:lnTo>
                    <a:pt x="220291" y="0"/>
                  </a:lnTo>
                  <a:close/>
                </a:path>
              </a:pathLst>
            </a:custGeom>
            <a:solidFill>
              <a:srgbClr val="24C9D2"/>
            </a:solidFill>
          </p:spPr>
          <p:txBody>
            <a:bodyPr wrap="square" lIns="0" tIns="0" rIns="0" bIns="0" rtlCol="0"/>
            <a:lstStyle/>
            <a:p>
              <a:endParaRPr/>
            </a:p>
          </p:txBody>
        </p:sp>
        <p:sp>
          <p:nvSpPr>
            <p:cNvPr id="55" name="object 56">
              <a:extLst>
                <a:ext uri="{FF2B5EF4-FFF2-40B4-BE49-F238E27FC236}">
                  <a16:creationId xmlns:a16="http://schemas.microsoft.com/office/drawing/2014/main" id="{353F64DB-B077-A14D-DE73-AF010451CFEB}"/>
                </a:ext>
              </a:extLst>
            </p:cNvPr>
            <p:cNvSpPr/>
            <p:nvPr/>
          </p:nvSpPr>
          <p:spPr>
            <a:xfrm>
              <a:off x="2344219" y="3474466"/>
              <a:ext cx="885825" cy="1007110"/>
            </a:xfrm>
            <a:custGeom>
              <a:avLst/>
              <a:gdLst/>
              <a:ahLst/>
              <a:cxnLst/>
              <a:rect l="l" t="t" r="r" b="b"/>
              <a:pathLst>
                <a:path w="885825" h="1007110">
                  <a:moveTo>
                    <a:pt x="885771" y="903008"/>
                  </a:moveTo>
                  <a:lnTo>
                    <a:pt x="845133" y="929377"/>
                  </a:lnTo>
                  <a:lnTo>
                    <a:pt x="803105" y="951819"/>
                  </a:lnTo>
                  <a:lnTo>
                    <a:pt x="759921" y="970374"/>
                  </a:lnTo>
                  <a:lnTo>
                    <a:pt x="715817" y="985080"/>
                  </a:lnTo>
                  <a:lnTo>
                    <a:pt x="671027" y="995978"/>
                  </a:lnTo>
                  <a:lnTo>
                    <a:pt x="625787" y="1003107"/>
                  </a:lnTo>
                  <a:lnTo>
                    <a:pt x="580331" y="1006507"/>
                  </a:lnTo>
                  <a:lnTo>
                    <a:pt x="534895" y="1006218"/>
                  </a:lnTo>
                  <a:lnTo>
                    <a:pt x="489713" y="1002279"/>
                  </a:lnTo>
                  <a:lnTo>
                    <a:pt x="445020" y="994730"/>
                  </a:lnTo>
                  <a:lnTo>
                    <a:pt x="401052" y="983610"/>
                  </a:lnTo>
                  <a:lnTo>
                    <a:pt x="358043" y="968960"/>
                  </a:lnTo>
                  <a:lnTo>
                    <a:pt x="316228" y="950818"/>
                  </a:lnTo>
                  <a:lnTo>
                    <a:pt x="275843" y="929225"/>
                  </a:lnTo>
                  <a:lnTo>
                    <a:pt x="237122" y="904220"/>
                  </a:lnTo>
                  <a:lnTo>
                    <a:pt x="200300" y="875844"/>
                  </a:lnTo>
                  <a:lnTo>
                    <a:pt x="165612" y="844134"/>
                  </a:lnTo>
                  <a:lnTo>
                    <a:pt x="133293" y="809132"/>
                  </a:lnTo>
                  <a:lnTo>
                    <a:pt x="103578" y="770877"/>
                  </a:lnTo>
                  <a:lnTo>
                    <a:pt x="77785" y="731218"/>
                  </a:lnTo>
                  <a:lnTo>
                    <a:pt x="55729" y="690209"/>
                  </a:lnTo>
                  <a:lnTo>
                    <a:pt x="37376" y="648070"/>
                  </a:lnTo>
                  <a:lnTo>
                    <a:pt x="22693" y="605022"/>
                  </a:lnTo>
                  <a:lnTo>
                    <a:pt x="11647" y="561284"/>
                  </a:lnTo>
                  <a:lnTo>
                    <a:pt x="4205" y="517078"/>
                  </a:lnTo>
                  <a:lnTo>
                    <a:pt x="334" y="472623"/>
                  </a:lnTo>
                  <a:lnTo>
                    <a:pt x="0" y="428140"/>
                  </a:lnTo>
                  <a:lnTo>
                    <a:pt x="3170" y="383849"/>
                  </a:lnTo>
                  <a:lnTo>
                    <a:pt x="9811" y="339971"/>
                  </a:lnTo>
                  <a:lnTo>
                    <a:pt x="19889" y="296726"/>
                  </a:lnTo>
                  <a:lnTo>
                    <a:pt x="33373" y="254335"/>
                  </a:lnTo>
                  <a:lnTo>
                    <a:pt x="50227" y="213017"/>
                  </a:lnTo>
                  <a:lnTo>
                    <a:pt x="70420" y="172993"/>
                  </a:lnTo>
                  <a:lnTo>
                    <a:pt x="93917" y="134484"/>
                  </a:lnTo>
                  <a:lnTo>
                    <a:pt x="120686" y="97710"/>
                  </a:lnTo>
                  <a:lnTo>
                    <a:pt x="150694" y="62890"/>
                  </a:lnTo>
                  <a:lnTo>
                    <a:pt x="183907" y="30247"/>
                  </a:lnTo>
                  <a:lnTo>
                    <a:pt x="220291" y="0"/>
                  </a:lnTo>
                  <a:lnTo>
                    <a:pt x="560778" y="445795"/>
                  </a:lnTo>
                  <a:lnTo>
                    <a:pt x="885771" y="903008"/>
                  </a:lnTo>
                  <a:close/>
                </a:path>
              </a:pathLst>
            </a:custGeom>
            <a:ln w="19050">
              <a:solidFill>
                <a:srgbClr val="FFFFFF"/>
              </a:solidFill>
            </a:ln>
          </p:spPr>
          <p:txBody>
            <a:bodyPr wrap="square" lIns="0" tIns="0" rIns="0" bIns="0" rtlCol="0"/>
            <a:lstStyle/>
            <a:p>
              <a:endParaRPr/>
            </a:p>
          </p:txBody>
        </p:sp>
        <p:sp>
          <p:nvSpPr>
            <p:cNvPr id="56" name="object 57">
              <a:extLst>
                <a:ext uri="{FF2B5EF4-FFF2-40B4-BE49-F238E27FC236}">
                  <a16:creationId xmlns:a16="http://schemas.microsoft.com/office/drawing/2014/main" id="{DFB631DA-B203-0A57-78A4-7E5F4EE350F0}"/>
                </a:ext>
              </a:extLst>
            </p:cNvPr>
            <p:cNvSpPr/>
            <p:nvPr/>
          </p:nvSpPr>
          <p:spPr>
            <a:xfrm>
              <a:off x="2564511" y="3371850"/>
              <a:ext cx="340995" cy="548640"/>
            </a:xfrm>
            <a:custGeom>
              <a:avLst/>
              <a:gdLst/>
              <a:ahLst/>
              <a:cxnLst/>
              <a:rect l="l" t="t" r="r" b="b"/>
              <a:pathLst>
                <a:path w="340994" h="548639">
                  <a:moveTo>
                    <a:pt x="222503" y="0"/>
                  </a:moveTo>
                  <a:lnTo>
                    <a:pt x="174650" y="12476"/>
                  </a:lnTo>
                  <a:lnTo>
                    <a:pt x="128198" y="29098"/>
                  </a:lnTo>
                  <a:lnTo>
                    <a:pt x="83423" y="49743"/>
                  </a:lnTo>
                  <a:lnTo>
                    <a:pt x="40599" y="74289"/>
                  </a:lnTo>
                  <a:lnTo>
                    <a:pt x="0" y="102616"/>
                  </a:lnTo>
                  <a:lnTo>
                    <a:pt x="340487" y="548411"/>
                  </a:lnTo>
                  <a:lnTo>
                    <a:pt x="222503" y="0"/>
                  </a:lnTo>
                  <a:close/>
                </a:path>
              </a:pathLst>
            </a:custGeom>
            <a:solidFill>
              <a:srgbClr val="FFB81C"/>
            </a:solidFill>
          </p:spPr>
          <p:txBody>
            <a:bodyPr wrap="square" lIns="0" tIns="0" rIns="0" bIns="0" rtlCol="0"/>
            <a:lstStyle/>
            <a:p>
              <a:endParaRPr/>
            </a:p>
          </p:txBody>
        </p:sp>
        <p:sp>
          <p:nvSpPr>
            <p:cNvPr id="57" name="object 58">
              <a:extLst>
                <a:ext uri="{FF2B5EF4-FFF2-40B4-BE49-F238E27FC236}">
                  <a16:creationId xmlns:a16="http://schemas.microsoft.com/office/drawing/2014/main" id="{D713E3E1-ACB1-3BF9-2357-2638C0BBBA27}"/>
                </a:ext>
              </a:extLst>
            </p:cNvPr>
            <p:cNvSpPr/>
            <p:nvPr/>
          </p:nvSpPr>
          <p:spPr>
            <a:xfrm>
              <a:off x="2564511" y="3371850"/>
              <a:ext cx="340995" cy="548640"/>
            </a:xfrm>
            <a:custGeom>
              <a:avLst/>
              <a:gdLst/>
              <a:ahLst/>
              <a:cxnLst/>
              <a:rect l="l" t="t" r="r" b="b"/>
              <a:pathLst>
                <a:path w="340994" h="548639">
                  <a:moveTo>
                    <a:pt x="0" y="102616"/>
                  </a:moveTo>
                  <a:lnTo>
                    <a:pt x="40599" y="74289"/>
                  </a:lnTo>
                  <a:lnTo>
                    <a:pt x="83423" y="49743"/>
                  </a:lnTo>
                  <a:lnTo>
                    <a:pt x="128198" y="29098"/>
                  </a:lnTo>
                  <a:lnTo>
                    <a:pt x="174650" y="12476"/>
                  </a:lnTo>
                  <a:lnTo>
                    <a:pt x="222503" y="0"/>
                  </a:lnTo>
                  <a:lnTo>
                    <a:pt x="340487" y="548411"/>
                  </a:lnTo>
                  <a:lnTo>
                    <a:pt x="0" y="102616"/>
                  </a:lnTo>
                  <a:close/>
                </a:path>
              </a:pathLst>
            </a:custGeom>
            <a:ln w="19050">
              <a:solidFill>
                <a:srgbClr val="FFFFFF"/>
              </a:solidFill>
            </a:ln>
          </p:spPr>
          <p:txBody>
            <a:bodyPr wrap="square" lIns="0" tIns="0" rIns="0" bIns="0" rtlCol="0"/>
            <a:lstStyle/>
            <a:p>
              <a:endParaRPr/>
            </a:p>
          </p:txBody>
        </p:sp>
        <p:sp>
          <p:nvSpPr>
            <p:cNvPr id="58" name="object 59">
              <a:extLst>
                <a:ext uri="{FF2B5EF4-FFF2-40B4-BE49-F238E27FC236}">
                  <a16:creationId xmlns:a16="http://schemas.microsoft.com/office/drawing/2014/main" id="{78A044F2-3C53-9CFC-22DB-452910203147}"/>
                </a:ext>
              </a:extLst>
            </p:cNvPr>
            <p:cNvSpPr/>
            <p:nvPr/>
          </p:nvSpPr>
          <p:spPr>
            <a:xfrm>
              <a:off x="2787015" y="3359277"/>
              <a:ext cx="118110" cy="561340"/>
            </a:xfrm>
            <a:custGeom>
              <a:avLst/>
              <a:gdLst/>
              <a:ahLst/>
              <a:cxnLst/>
              <a:rect l="l" t="t" r="r" b="b"/>
              <a:pathLst>
                <a:path w="118110" h="561339">
                  <a:moveTo>
                    <a:pt x="117983" y="0"/>
                  </a:moveTo>
                  <a:lnTo>
                    <a:pt x="88278" y="785"/>
                  </a:lnTo>
                  <a:lnTo>
                    <a:pt x="58658" y="3143"/>
                  </a:lnTo>
                  <a:lnTo>
                    <a:pt x="29204" y="7072"/>
                  </a:lnTo>
                  <a:lnTo>
                    <a:pt x="0" y="12573"/>
                  </a:lnTo>
                  <a:lnTo>
                    <a:pt x="117983" y="560984"/>
                  </a:lnTo>
                  <a:lnTo>
                    <a:pt x="117983" y="0"/>
                  </a:lnTo>
                  <a:close/>
                </a:path>
              </a:pathLst>
            </a:custGeom>
            <a:solidFill>
              <a:srgbClr val="41748D"/>
            </a:solidFill>
          </p:spPr>
          <p:txBody>
            <a:bodyPr wrap="square" lIns="0" tIns="0" rIns="0" bIns="0" rtlCol="0"/>
            <a:lstStyle/>
            <a:p>
              <a:endParaRPr/>
            </a:p>
          </p:txBody>
        </p:sp>
        <p:sp>
          <p:nvSpPr>
            <p:cNvPr id="59" name="object 60">
              <a:extLst>
                <a:ext uri="{FF2B5EF4-FFF2-40B4-BE49-F238E27FC236}">
                  <a16:creationId xmlns:a16="http://schemas.microsoft.com/office/drawing/2014/main" id="{BE53AAD7-386D-7E41-9990-2657CDB01277}"/>
                </a:ext>
              </a:extLst>
            </p:cNvPr>
            <p:cNvSpPr/>
            <p:nvPr/>
          </p:nvSpPr>
          <p:spPr>
            <a:xfrm>
              <a:off x="2787015" y="3359277"/>
              <a:ext cx="118110" cy="561340"/>
            </a:xfrm>
            <a:custGeom>
              <a:avLst/>
              <a:gdLst/>
              <a:ahLst/>
              <a:cxnLst/>
              <a:rect l="l" t="t" r="r" b="b"/>
              <a:pathLst>
                <a:path w="118110" h="561339">
                  <a:moveTo>
                    <a:pt x="0" y="12573"/>
                  </a:moveTo>
                  <a:lnTo>
                    <a:pt x="29204" y="7072"/>
                  </a:lnTo>
                  <a:lnTo>
                    <a:pt x="58658" y="3143"/>
                  </a:lnTo>
                  <a:lnTo>
                    <a:pt x="88278" y="785"/>
                  </a:lnTo>
                  <a:lnTo>
                    <a:pt x="117983" y="0"/>
                  </a:lnTo>
                  <a:lnTo>
                    <a:pt x="117983" y="560984"/>
                  </a:lnTo>
                  <a:lnTo>
                    <a:pt x="0" y="12573"/>
                  </a:lnTo>
                  <a:close/>
                </a:path>
              </a:pathLst>
            </a:custGeom>
            <a:ln w="19050">
              <a:solidFill>
                <a:srgbClr val="FFFFFF"/>
              </a:solidFill>
            </a:ln>
          </p:spPr>
          <p:txBody>
            <a:bodyPr wrap="square" lIns="0" tIns="0" rIns="0" bIns="0" rtlCol="0"/>
            <a:lstStyle/>
            <a:p>
              <a:endParaRPr/>
            </a:p>
          </p:txBody>
        </p:sp>
      </p:grpSp>
      <p:sp>
        <p:nvSpPr>
          <p:cNvPr id="60" name="object 61">
            <a:extLst>
              <a:ext uri="{FF2B5EF4-FFF2-40B4-BE49-F238E27FC236}">
                <a16:creationId xmlns:a16="http://schemas.microsoft.com/office/drawing/2014/main" id="{3A5C02ED-A523-A6DC-1759-851864078E64}"/>
              </a:ext>
            </a:extLst>
          </p:cNvPr>
          <p:cNvSpPr txBox="1"/>
          <p:nvPr/>
        </p:nvSpPr>
        <p:spPr>
          <a:xfrm>
            <a:off x="3355953" y="4408008"/>
            <a:ext cx="201295" cy="119905"/>
          </a:xfrm>
          <a:prstGeom prst="rect">
            <a:avLst/>
          </a:prstGeom>
        </p:spPr>
        <p:txBody>
          <a:bodyPr vert="horz" wrap="square" lIns="0" tIns="12065" rIns="0" bIns="0" rtlCol="0">
            <a:spAutoFit/>
          </a:bodyPr>
          <a:lstStyle/>
          <a:p>
            <a:pPr marL="12700">
              <a:spcBef>
                <a:spcPts val="95"/>
              </a:spcBef>
            </a:pPr>
            <a:r>
              <a:rPr sz="700" spc="-25" dirty="0">
                <a:solidFill>
                  <a:srgbClr val="FFFFFF"/>
                </a:solidFill>
                <a:latin typeface="Arial"/>
                <a:cs typeface="Arial"/>
              </a:rPr>
              <a:t>40%</a:t>
            </a:r>
            <a:endParaRPr sz="700">
              <a:latin typeface="Arial"/>
              <a:cs typeface="Arial"/>
            </a:endParaRPr>
          </a:p>
        </p:txBody>
      </p:sp>
      <p:sp>
        <p:nvSpPr>
          <p:cNvPr id="61" name="object 62">
            <a:extLst>
              <a:ext uri="{FF2B5EF4-FFF2-40B4-BE49-F238E27FC236}">
                <a16:creationId xmlns:a16="http://schemas.microsoft.com/office/drawing/2014/main" id="{2E257D62-10CE-E07E-A968-6A1A7F95975C}"/>
              </a:ext>
            </a:extLst>
          </p:cNvPr>
          <p:cNvSpPr txBox="1"/>
          <p:nvPr/>
        </p:nvSpPr>
        <p:spPr>
          <a:xfrm>
            <a:off x="2628117" y="4781668"/>
            <a:ext cx="201295" cy="119905"/>
          </a:xfrm>
          <a:prstGeom prst="rect">
            <a:avLst/>
          </a:prstGeom>
        </p:spPr>
        <p:txBody>
          <a:bodyPr vert="horz" wrap="square" lIns="0" tIns="12065" rIns="0" bIns="0" rtlCol="0">
            <a:spAutoFit/>
          </a:bodyPr>
          <a:lstStyle/>
          <a:p>
            <a:pPr marL="12700">
              <a:spcBef>
                <a:spcPts val="95"/>
              </a:spcBef>
            </a:pPr>
            <a:r>
              <a:rPr sz="700" spc="-25" dirty="0">
                <a:latin typeface="Arial"/>
                <a:cs typeface="Arial"/>
              </a:rPr>
              <a:t>50%</a:t>
            </a:r>
            <a:endParaRPr sz="700">
              <a:latin typeface="Arial"/>
              <a:cs typeface="Arial"/>
            </a:endParaRPr>
          </a:p>
        </p:txBody>
      </p:sp>
      <p:sp>
        <p:nvSpPr>
          <p:cNvPr id="62" name="object 63">
            <a:extLst>
              <a:ext uri="{FF2B5EF4-FFF2-40B4-BE49-F238E27FC236}">
                <a16:creationId xmlns:a16="http://schemas.microsoft.com/office/drawing/2014/main" id="{B554A2FD-8DC7-55AD-2460-C7EB1DE4A2BA}"/>
              </a:ext>
            </a:extLst>
          </p:cNvPr>
          <p:cNvSpPr txBox="1"/>
          <p:nvPr/>
        </p:nvSpPr>
        <p:spPr>
          <a:xfrm>
            <a:off x="2772769" y="4071839"/>
            <a:ext cx="374015" cy="119905"/>
          </a:xfrm>
          <a:prstGeom prst="rect">
            <a:avLst/>
          </a:prstGeom>
        </p:spPr>
        <p:txBody>
          <a:bodyPr vert="horz" wrap="square" lIns="0" tIns="12065" rIns="0" bIns="0" rtlCol="0">
            <a:spAutoFit/>
          </a:bodyPr>
          <a:lstStyle/>
          <a:p>
            <a:pPr marL="38100">
              <a:spcBef>
                <a:spcPts val="95"/>
              </a:spcBef>
            </a:pPr>
            <a:r>
              <a:rPr sz="1050" baseline="-23809" dirty="0">
                <a:latin typeface="Arial"/>
                <a:cs typeface="Arial"/>
              </a:rPr>
              <a:t>7%</a:t>
            </a:r>
            <a:r>
              <a:rPr sz="1050" spc="187" baseline="-23809" dirty="0">
                <a:latin typeface="Arial"/>
                <a:cs typeface="Arial"/>
              </a:rPr>
              <a:t> </a:t>
            </a:r>
            <a:r>
              <a:rPr sz="700" spc="-25" dirty="0">
                <a:solidFill>
                  <a:srgbClr val="FFFFFF"/>
                </a:solidFill>
                <a:latin typeface="Arial"/>
                <a:cs typeface="Arial"/>
              </a:rPr>
              <a:t>3%</a:t>
            </a:r>
            <a:endParaRPr sz="700">
              <a:latin typeface="Arial"/>
              <a:cs typeface="Arial"/>
            </a:endParaRPr>
          </a:p>
        </p:txBody>
      </p:sp>
      <p:sp>
        <p:nvSpPr>
          <p:cNvPr id="65" name="TextBox 64">
            <a:extLst>
              <a:ext uri="{FF2B5EF4-FFF2-40B4-BE49-F238E27FC236}">
                <a16:creationId xmlns:a16="http://schemas.microsoft.com/office/drawing/2014/main" id="{85369D6C-E0EB-8531-4F60-4BF091CA9043}"/>
              </a:ext>
            </a:extLst>
          </p:cNvPr>
          <p:cNvSpPr txBox="1">
            <a:spLocks noChangeArrowheads="1"/>
          </p:cNvSpPr>
          <p:nvPr/>
        </p:nvSpPr>
        <p:spPr bwMode="auto">
          <a:xfrm>
            <a:off x="715508" y="2139901"/>
            <a:ext cx="3297690" cy="369721"/>
          </a:xfrm>
          <a:prstGeom prst="rect">
            <a:avLst/>
          </a:prstGeom>
          <a:solidFill>
            <a:srgbClr val="C00000"/>
          </a:solidFill>
          <a:ln w="9525" cap="flat" cmpd="sng" algn="ctr">
            <a:solidFill>
              <a:srgbClr val="C00000"/>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dirty="0">
                <a:cs typeface="Arial" panose="020B0604020202020204" pitchFamily="34" charset="0"/>
              </a:rPr>
              <a:t>International Investors Are Increasingly Active and Favour Consumer and TMT Companies</a:t>
            </a:r>
          </a:p>
        </p:txBody>
      </p:sp>
      <p:sp>
        <p:nvSpPr>
          <p:cNvPr id="66" name="TextBox 65">
            <a:extLst>
              <a:ext uri="{FF2B5EF4-FFF2-40B4-BE49-F238E27FC236}">
                <a16:creationId xmlns:a16="http://schemas.microsoft.com/office/drawing/2014/main" id="{6E22B8F3-BAF0-2BCF-5C89-C29A24933BB7}"/>
              </a:ext>
            </a:extLst>
          </p:cNvPr>
          <p:cNvSpPr txBox="1">
            <a:spLocks noChangeArrowheads="1"/>
          </p:cNvSpPr>
          <p:nvPr/>
        </p:nvSpPr>
        <p:spPr bwMode="auto">
          <a:xfrm>
            <a:off x="4533762" y="2139901"/>
            <a:ext cx="4671251" cy="369721"/>
          </a:xfrm>
          <a:prstGeom prst="rect">
            <a:avLst/>
          </a:prstGeom>
          <a:solidFill>
            <a:srgbClr val="C00000"/>
          </a:solidFill>
          <a:ln w="9525" cap="flat" cmpd="sng" algn="ctr">
            <a:solidFill>
              <a:srgbClr val="C00000"/>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dirty="0">
                <a:cs typeface="Arial" panose="020B0604020202020204" pitchFamily="34" charset="0"/>
              </a:rPr>
              <a:t>International Investors Are Among the Most Active Cornerstone Investors in</a:t>
            </a:r>
            <a:br>
              <a:rPr lang="en-US" altLang="zh-TW" sz="1000" dirty="0">
                <a:cs typeface="Arial" panose="020B0604020202020204" pitchFamily="34" charset="0"/>
              </a:rPr>
            </a:br>
            <a:r>
              <a:rPr lang="en-US" altLang="zh-TW" sz="1000" dirty="0">
                <a:cs typeface="Arial" panose="020B0604020202020204" pitchFamily="34" charset="0"/>
              </a:rPr>
              <a:t>HK IPOs</a:t>
            </a:r>
            <a:r>
              <a:rPr lang="en-US" altLang="zh-TW" sz="1000" baseline="30000" dirty="0">
                <a:cs typeface="Arial" panose="020B0604020202020204" pitchFamily="34" charset="0"/>
              </a:rPr>
              <a:t>1</a:t>
            </a:r>
            <a:r>
              <a:rPr lang="en-US" altLang="zh-TW" sz="1000" dirty="0">
                <a:cs typeface="Arial" panose="020B0604020202020204" pitchFamily="34" charset="0"/>
              </a:rPr>
              <a:t> in 2026 Q1</a:t>
            </a:r>
          </a:p>
        </p:txBody>
      </p:sp>
      <p:sp>
        <p:nvSpPr>
          <p:cNvPr id="2" name="Slide Number Placeholder 1">
            <a:extLst>
              <a:ext uri="{FF2B5EF4-FFF2-40B4-BE49-F238E27FC236}">
                <a16:creationId xmlns:a16="http://schemas.microsoft.com/office/drawing/2014/main" id="{E574AE1A-53D3-1552-11EF-E88D97460FDA}"/>
              </a:ext>
            </a:extLst>
          </p:cNvPr>
          <p:cNvSpPr>
            <a:spLocks noGrp="1"/>
          </p:cNvSpPr>
          <p:nvPr>
            <p:ph type="sldNum" sz="quarter" idx="10"/>
          </p:nvPr>
        </p:nvSpPr>
        <p:spPr/>
        <p:txBody>
          <a:bodyPr/>
          <a:lstStyle/>
          <a:p>
            <a:pPr>
              <a:defRPr/>
            </a:pPr>
            <a:fld id="{AB28634A-1A9A-44FD-A02A-BFA3EA145BD2}" type="slidenum">
              <a:rPr lang="en-US" altLang="en-US" b="0" smtClean="0">
                <a:solidFill>
                  <a:srgbClr val="000000"/>
                </a:solidFill>
              </a:rPr>
              <a:pPr>
                <a:defRPr/>
              </a:pPr>
              <a:t>28</a:t>
            </a:fld>
            <a:endParaRPr lang="en-US" altLang="en-US" b="0" dirty="0">
              <a:solidFill>
                <a:srgbClr val="000000"/>
              </a:solidFill>
            </a:endParaRPr>
          </a:p>
        </p:txBody>
      </p:sp>
    </p:spTree>
    <p:extLst>
      <p:ext uri="{BB962C8B-B14F-4D97-AF65-F5344CB8AC3E}">
        <p14:creationId xmlns:p14="http://schemas.microsoft.com/office/powerpoint/2010/main" val="731439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 name="object 87"/>
          <p:cNvGraphicFramePr>
            <a:graphicFrameLocks noGrp="1"/>
          </p:cNvGraphicFramePr>
          <p:nvPr/>
        </p:nvGraphicFramePr>
        <p:xfrm>
          <a:off x="4113531" y="1365290"/>
          <a:ext cx="4819649" cy="1767205"/>
        </p:xfrm>
        <a:graphic>
          <a:graphicData uri="http://schemas.openxmlformats.org/drawingml/2006/table">
            <a:tbl>
              <a:tblPr firstRow="1" bandRow="1">
                <a:tableStyleId>{2D5ABB26-0587-4C30-8999-92F81FD0307C}</a:tableStyleId>
              </a:tblPr>
              <a:tblGrid>
                <a:gridCol w="177165">
                  <a:extLst>
                    <a:ext uri="{9D8B030D-6E8A-4147-A177-3AD203B41FA5}">
                      <a16:colId xmlns:a16="http://schemas.microsoft.com/office/drawing/2014/main" val="20000"/>
                    </a:ext>
                  </a:extLst>
                </a:gridCol>
                <a:gridCol w="1497965">
                  <a:extLst>
                    <a:ext uri="{9D8B030D-6E8A-4147-A177-3AD203B41FA5}">
                      <a16:colId xmlns:a16="http://schemas.microsoft.com/office/drawing/2014/main" val="20001"/>
                    </a:ext>
                  </a:extLst>
                </a:gridCol>
                <a:gridCol w="1550034">
                  <a:extLst>
                    <a:ext uri="{9D8B030D-6E8A-4147-A177-3AD203B41FA5}">
                      <a16:colId xmlns:a16="http://schemas.microsoft.com/office/drawing/2014/main" val="20002"/>
                    </a:ext>
                  </a:extLst>
                </a:gridCol>
                <a:gridCol w="1594485">
                  <a:extLst>
                    <a:ext uri="{9D8B030D-6E8A-4147-A177-3AD203B41FA5}">
                      <a16:colId xmlns:a16="http://schemas.microsoft.com/office/drawing/2014/main" val="20003"/>
                    </a:ext>
                  </a:extLst>
                </a:gridCol>
              </a:tblGrid>
              <a:tr h="275590">
                <a:tc gridSpan="4">
                  <a:txBody>
                    <a:bodyPr/>
                    <a:lstStyle/>
                    <a:p>
                      <a:pPr marL="7620" algn="ctr">
                        <a:lnSpc>
                          <a:spcPct val="100000"/>
                        </a:lnSpc>
                        <a:spcBef>
                          <a:spcPts val="475"/>
                        </a:spcBef>
                      </a:pPr>
                      <a:endParaRPr sz="1050" dirty="0">
                        <a:solidFill>
                          <a:schemeClr val="tx2"/>
                        </a:solidFill>
                        <a:latin typeface="Arial"/>
                        <a:cs typeface="Arial"/>
                      </a:endParaRPr>
                    </a:p>
                  </a:txBody>
                  <a:tcPr marL="0" marR="0" marT="60325" marB="0">
                    <a:lnB w="9525" cap="flat" cmpd="sng" algn="ctr">
                      <a:solidFill>
                        <a:srgbClr val="C00000"/>
                      </a:solidFill>
                      <a:prstDash val="solid"/>
                      <a:round/>
                      <a:headEnd type="none" w="med" len="med"/>
                      <a:tailEnd type="none" w="med" len="me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23850">
                <a:tc>
                  <a:txBody>
                    <a:bodyPr/>
                    <a:lstStyle/>
                    <a:p>
                      <a:pPr>
                        <a:lnSpc>
                          <a:spcPts val="580"/>
                        </a:lnSpc>
                      </a:pPr>
                      <a:r>
                        <a:rPr sz="800" spc="-50" dirty="0">
                          <a:solidFill>
                            <a:srgbClr val="FFFFFF"/>
                          </a:solidFill>
                          <a:latin typeface="Arial"/>
                          <a:cs typeface="Arial"/>
                        </a:rPr>
                        <a:t>.</a:t>
                      </a:r>
                      <a:endParaRPr sz="800" dirty="0">
                        <a:latin typeface="Arial"/>
                        <a:cs typeface="Arial"/>
                      </a:endParaRPr>
                    </a:p>
                  </a:txBody>
                  <a:tcPr marL="0" marR="0" marT="0" marB="0">
                    <a:lnL w="9525" cap="flat" cmpd="sng" algn="ctr">
                      <a:solidFill>
                        <a:srgbClr val="C00000"/>
                      </a:solidFill>
                      <a:prstDash val="solid"/>
                      <a:round/>
                      <a:headEnd type="none" w="med" len="med"/>
                      <a:tailEnd type="none" w="med" len="med"/>
                    </a:lnL>
                    <a:lnT w="9525" cap="flat" cmpd="sng" algn="ctr">
                      <a:solidFill>
                        <a:srgbClr val="C00000"/>
                      </a:solidFill>
                      <a:prstDash val="solid"/>
                      <a:round/>
                      <a:headEnd type="none" w="med" len="med"/>
                      <a:tailEnd type="none" w="med" len="med"/>
                    </a:lnT>
                    <a:solidFill>
                      <a:srgbClr val="FFFFFF"/>
                    </a:solidFill>
                  </a:tcPr>
                </a:tc>
                <a:tc>
                  <a:txBody>
                    <a:bodyPr/>
                    <a:lstStyle/>
                    <a:p>
                      <a:pPr>
                        <a:lnSpc>
                          <a:spcPct val="100000"/>
                        </a:lnSpc>
                      </a:pPr>
                      <a:endParaRPr sz="800" dirty="0">
                        <a:latin typeface="Times New Roman"/>
                        <a:cs typeface="Times New Roman"/>
                      </a:endParaRPr>
                    </a:p>
                  </a:txBody>
                  <a:tcPr marL="0" marR="0" marT="0" marB="0">
                    <a:lnT w="9525" cap="flat" cmpd="sng" algn="ctr">
                      <a:solidFill>
                        <a:srgbClr val="C00000"/>
                      </a:solidFill>
                      <a:prstDash val="solid"/>
                      <a:round/>
                      <a:headEnd type="none" w="med" len="med"/>
                      <a:tailEnd type="none" w="med" len="med"/>
                    </a:lnT>
                    <a:solidFill>
                      <a:srgbClr val="FFFFFF"/>
                    </a:solidFill>
                  </a:tcPr>
                </a:tc>
                <a:tc>
                  <a:txBody>
                    <a:bodyPr/>
                    <a:lstStyle/>
                    <a:p>
                      <a:pPr>
                        <a:lnSpc>
                          <a:spcPct val="100000"/>
                        </a:lnSpc>
                      </a:pPr>
                      <a:endParaRPr sz="800" dirty="0">
                        <a:latin typeface="Times New Roman"/>
                        <a:cs typeface="Times New Roman"/>
                      </a:endParaRPr>
                    </a:p>
                  </a:txBody>
                  <a:tcPr marL="0" marR="0" marT="0" marB="0">
                    <a:lnT w="9525" cap="flat" cmpd="sng" algn="ctr">
                      <a:solidFill>
                        <a:srgbClr val="C00000"/>
                      </a:solidFill>
                      <a:prstDash val="solid"/>
                      <a:round/>
                      <a:headEnd type="none" w="med" len="med"/>
                      <a:tailEnd type="none" w="med" len="med"/>
                    </a:lnT>
                    <a:solidFill>
                      <a:srgbClr val="FFFFFF"/>
                    </a:solidFill>
                  </a:tcPr>
                </a:tc>
                <a:tc>
                  <a:txBody>
                    <a:bodyPr/>
                    <a:lstStyle/>
                    <a:p>
                      <a:pPr>
                        <a:lnSpc>
                          <a:spcPct val="100000"/>
                        </a:lnSpc>
                      </a:pPr>
                      <a:endParaRPr sz="800">
                        <a:latin typeface="Times New Roman"/>
                        <a:cs typeface="Times New Roman"/>
                      </a:endParaRPr>
                    </a:p>
                  </a:txBody>
                  <a:tcPr marL="0" marR="0" marT="0" marB="0">
                    <a:lnR w="9525" cap="flat" cmpd="sng" algn="ctr">
                      <a:solidFill>
                        <a:srgbClr val="C00000"/>
                      </a:solidFill>
                      <a:prstDash val="solid"/>
                      <a:round/>
                      <a:headEnd type="none" w="med" len="med"/>
                      <a:tailEnd type="none" w="med" len="med"/>
                    </a:lnR>
                    <a:lnT w="9525" cap="flat" cmpd="sng" algn="ctr">
                      <a:solidFill>
                        <a:srgbClr val="C00000"/>
                      </a:solidFill>
                      <a:prstDash val="solid"/>
                      <a:round/>
                      <a:headEnd type="none" w="med" len="med"/>
                      <a:tailEnd type="none" w="med" len="med"/>
                    </a:lnT>
                    <a:solidFill>
                      <a:srgbClr val="FFFFFF"/>
                    </a:solidFill>
                  </a:tcPr>
                </a:tc>
                <a:extLst>
                  <a:ext uri="{0D108BD9-81ED-4DB2-BD59-A6C34878D82A}">
                    <a16:rowId xmlns:a16="http://schemas.microsoft.com/office/drawing/2014/main" val="10001"/>
                  </a:ext>
                </a:extLst>
              </a:tr>
              <a:tr h="358775">
                <a:tc>
                  <a:txBody>
                    <a:bodyPr/>
                    <a:lstStyle/>
                    <a:p>
                      <a:pPr>
                        <a:lnSpc>
                          <a:spcPct val="100000"/>
                        </a:lnSpc>
                      </a:pPr>
                      <a:endParaRPr sz="800">
                        <a:latin typeface="Times New Roman"/>
                        <a:cs typeface="Times New Roman"/>
                      </a:endParaRPr>
                    </a:p>
                  </a:txBody>
                  <a:tcPr marL="0" marR="0" marT="0" marB="0">
                    <a:lnL w="9525" cap="flat" cmpd="sng" algn="ctr">
                      <a:solidFill>
                        <a:srgbClr val="C00000"/>
                      </a:solidFill>
                      <a:prstDash val="solid"/>
                      <a:round/>
                      <a:headEnd type="none" w="med" len="med"/>
                      <a:tailEnd type="none" w="med" len="med"/>
                    </a:lnL>
                    <a:solidFill>
                      <a:srgbClr val="FFFFFF"/>
                    </a:solidFill>
                  </a:tcPr>
                </a:tc>
                <a:tc>
                  <a:txBody>
                    <a:bodyPr/>
                    <a:lstStyle/>
                    <a:p>
                      <a:pPr>
                        <a:lnSpc>
                          <a:spcPct val="100000"/>
                        </a:lnSpc>
                      </a:pPr>
                      <a:endParaRPr sz="700" dirty="0">
                        <a:latin typeface="Times New Roman"/>
                        <a:cs typeface="Times New Roman"/>
                      </a:endParaRPr>
                    </a:p>
                    <a:p>
                      <a:pPr>
                        <a:lnSpc>
                          <a:spcPct val="100000"/>
                        </a:lnSpc>
                        <a:spcBef>
                          <a:spcPts val="215"/>
                        </a:spcBef>
                      </a:pPr>
                      <a:endParaRPr sz="700" dirty="0">
                        <a:latin typeface="Times New Roman"/>
                        <a:cs typeface="Times New Roman"/>
                      </a:endParaRPr>
                    </a:p>
                    <a:p>
                      <a:pPr marR="119380" algn="ctr">
                        <a:lnSpc>
                          <a:spcPct val="100000"/>
                        </a:lnSpc>
                        <a:spcBef>
                          <a:spcPts val="5"/>
                        </a:spcBef>
                      </a:pPr>
                      <a:r>
                        <a:rPr sz="700" i="1" dirty="0">
                          <a:solidFill>
                            <a:srgbClr val="12426B"/>
                          </a:solidFill>
                          <a:latin typeface="Arial"/>
                          <a:cs typeface="Arial"/>
                        </a:rPr>
                        <a:t>IPO</a:t>
                      </a:r>
                      <a:r>
                        <a:rPr sz="700" i="1" spc="-10" dirty="0">
                          <a:solidFill>
                            <a:srgbClr val="12426B"/>
                          </a:solidFill>
                          <a:latin typeface="Arial"/>
                          <a:cs typeface="Arial"/>
                        </a:rPr>
                        <a:t> </a:t>
                      </a:r>
                      <a:r>
                        <a:rPr sz="700" i="1" dirty="0">
                          <a:solidFill>
                            <a:srgbClr val="12426B"/>
                          </a:solidFill>
                          <a:latin typeface="Arial"/>
                          <a:cs typeface="Arial"/>
                        </a:rPr>
                        <a:t>priced</a:t>
                      </a:r>
                      <a:r>
                        <a:rPr sz="700" i="1" spc="-5" dirty="0">
                          <a:solidFill>
                            <a:srgbClr val="12426B"/>
                          </a:solidFill>
                          <a:latin typeface="Arial"/>
                          <a:cs typeface="Arial"/>
                        </a:rPr>
                        <a:t> </a:t>
                      </a:r>
                      <a:r>
                        <a:rPr sz="700" i="1" dirty="0">
                          <a:solidFill>
                            <a:srgbClr val="12426B"/>
                          </a:solidFill>
                          <a:latin typeface="Arial"/>
                          <a:cs typeface="Arial"/>
                        </a:rPr>
                        <a:t>in</a:t>
                      </a:r>
                      <a:r>
                        <a:rPr sz="700" i="1" spc="-20" dirty="0">
                          <a:solidFill>
                            <a:srgbClr val="12426B"/>
                          </a:solidFill>
                          <a:latin typeface="Arial"/>
                          <a:cs typeface="Arial"/>
                        </a:rPr>
                        <a:t> </a:t>
                      </a:r>
                      <a:r>
                        <a:rPr sz="700" i="1" dirty="0">
                          <a:solidFill>
                            <a:srgbClr val="12426B"/>
                          </a:solidFill>
                          <a:latin typeface="Arial"/>
                          <a:cs typeface="Arial"/>
                        </a:rPr>
                        <a:t>May</a:t>
                      </a:r>
                      <a:r>
                        <a:rPr sz="700" i="1" spc="-5" dirty="0">
                          <a:solidFill>
                            <a:srgbClr val="12426B"/>
                          </a:solidFill>
                          <a:latin typeface="Arial"/>
                          <a:cs typeface="Arial"/>
                        </a:rPr>
                        <a:t> </a:t>
                      </a:r>
                      <a:r>
                        <a:rPr sz="700" i="1" spc="-20" dirty="0">
                          <a:solidFill>
                            <a:srgbClr val="12426B"/>
                          </a:solidFill>
                          <a:latin typeface="Arial"/>
                          <a:cs typeface="Arial"/>
                        </a:rPr>
                        <a:t>2025</a:t>
                      </a:r>
                      <a:endParaRPr sz="700" dirty="0">
                        <a:latin typeface="Arial"/>
                        <a:cs typeface="Arial"/>
                      </a:endParaRPr>
                    </a:p>
                  </a:txBody>
                  <a:tcPr marL="0" marR="0" marT="0" marB="0">
                    <a:solidFill>
                      <a:srgbClr val="FFFFFF"/>
                    </a:solidFill>
                  </a:tcPr>
                </a:tc>
                <a:tc>
                  <a:txBody>
                    <a:bodyPr/>
                    <a:lstStyle/>
                    <a:p>
                      <a:pPr>
                        <a:lnSpc>
                          <a:spcPct val="100000"/>
                        </a:lnSpc>
                      </a:pPr>
                      <a:endParaRPr sz="700" dirty="0">
                        <a:latin typeface="Times New Roman"/>
                        <a:cs typeface="Times New Roman"/>
                      </a:endParaRPr>
                    </a:p>
                    <a:p>
                      <a:pPr>
                        <a:lnSpc>
                          <a:spcPct val="100000"/>
                        </a:lnSpc>
                        <a:spcBef>
                          <a:spcPts val="195"/>
                        </a:spcBef>
                      </a:pPr>
                      <a:endParaRPr sz="700" dirty="0">
                        <a:latin typeface="Times New Roman"/>
                        <a:cs typeface="Times New Roman"/>
                      </a:endParaRPr>
                    </a:p>
                    <a:p>
                      <a:pPr marL="9525" algn="ctr">
                        <a:lnSpc>
                          <a:spcPct val="100000"/>
                        </a:lnSpc>
                      </a:pPr>
                      <a:r>
                        <a:rPr sz="700" i="1" dirty="0">
                          <a:solidFill>
                            <a:srgbClr val="12426B"/>
                          </a:solidFill>
                          <a:latin typeface="Arial"/>
                          <a:cs typeface="Arial"/>
                        </a:rPr>
                        <a:t>IPO</a:t>
                      </a:r>
                      <a:r>
                        <a:rPr sz="700" i="1" spc="-10" dirty="0">
                          <a:solidFill>
                            <a:srgbClr val="12426B"/>
                          </a:solidFill>
                          <a:latin typeface="Arial"/>
                          <a:cs typeface="Arial"/>
                        </a:rPr>
                        <a:t> </a:t>
                      </a:r>
                      <a:r>
                        <a:rPr sz="700" i="1" dirty="0">
                          <a:solidFill>
                            <a:srgbClr val="12426B"/>
                          </a:solidFill>
                          <a:latin typeface="Arial"/>
                          <a:cs typeface="Arial"/>
                        </a:rPr>
                        <a:t>priced</a:t>
                      </a:r>
                      <a:r>
                        <a:rPr sz="700" i="1" spc="-5" dirty="0">
                          <a:solidFill>
                            <a:srgbClr val="12426B"/>
                          </a:solidFill>
                          <a:latin typeface="Arial"/>
                          <a:cs typeface="Arial"/>
                        </a:rPr>
                        <a:t> </a:t>
                      </a:r>
                      <a:r>
                        <a:rPr sz="700" i="1" dirty="0">
                          <a:solidFill>
                            <a:srgbClr val="12426B"/>
                          </a:solidFill>
                          <a:latin typeface="Arial"/>
                          <a:cs typeface="Arial"/>
                        </a:rPr>
                        <a:t>in</a:t>
                      </a:r>
                      <a:r>
                        <a:rPr sz="700" i="1" spc="-30" dirty="0">
                          <a:solidFill>
                            <a:srgbClr val="12426B"/>
                          </a:solidFill>
                          <a:latin typeface="Arial"/>
                          <a:cs typeface="Arial"/>
                        </a:rPr>
                        <a:t> </a:t>
                      </a:r>
                      <a:r>
                        <a:rPr sz="700" i="1" dirty="0">
                          <a:solidFill>
                            <a:srgbClr val="12426B"/>
                          </a:solidFill>
                          <a:latin typeface="Arial"/>
                          <a:cs typeface="Arial"/>
                        </a:rPr>
                        <a:t>Mar </a:t>
                      </a:r>
                      <a:r>
                        <a:rPr sz="700" i="1" spc="-20" dirty="0">
                          <a:solidFill>
                            <a:srgbClr val="12426B"/>
                          </a:solidFill>
                          <a:latin typeface="Arial"/>
                          <a:cs typeface="Arial"/>
                        </a:rPr>
                        <a:t>2025</a:t>
                      </a:r>
                      <a:endParaRPr sz="700" dirty="0">
                        <a:latin typeface="Arial"/>
                        <a:cs typeface="Arial"/>
                      </a:endParaRPr>
                    </a:p>
                  </a:txBody>
                  <a:tcPr marL="0" marR="0" marT="0" marB="0">
                    <a:solidFill>
                      <a:srgbClr val="FFFFFF"/>
                    </a:solidFill>
                  </a:tcPr>
                </a:tc>
                <a:tc>
                  <a:txBody>
                    <a:bodyPr/>
                    <a:lstStyle/>
                    <a:p>
                      <a:pPr>
                        <a:lnSpc>
                          <a:spcPct val="100000"/>
                        </a:lnSpc>
                      </a:pPr>
                      <a:endParaRPr sz="700">
                        <a:latin typeface="Times New Roman"/>
                        <a:cs typeface="Times New Roman"/>
                      </a:endParaRPr>
                    </a:p>
                    <a:p>
                      <a:pPr>
                        <a:lnSpc>
                          <a:spcPct val="100000"/>
                        </a:lnSpc>
                        <a:spcBef>
                          <a:spcPts val="195"/>
                        </a:spcBef>
                      </a:pPr>
                      <a:endParaRPr sz="700">
                        <a:latin typeface="Times New Roman"/>
                        <a:cs typeface="Times New Roman"/>
                      </a:endParaRPr>
                    </a:p>
                    <a:p>
                      <a:pPr marL="3175" algn="ctr">
                        <a:lnSpc>
                          <a:spcPct val="100000"/>
                        </a:lnSpc>
                      </a:pPr>
                      <a:r>
                        <a:rPr sz="700" i="1" dirty="0">
                          <a:solidFill>
                            <a:srgbClr val="12426B"/>
                          </a:solidFill>
                          <a:latin typeface="Arial"/>
                          <a:cs typeface="Arial"/>
                        </a:rPr>
                        <a:t>IPO</a:t>
                      </a:r>
                      <a:r>
                        <a:rPr sz="700" i="1" spc="-10" dirty="0">
                          <a:solidFill>
                            <a:srgbClr val="12426B"/>
                          </a:solidFill>
                          <a:latin typeface="Arial"/>
                          <a:cs typeface="Arial"/>
                        </a:rPr>
                        <a:t> </a:t>
                      </a:r>
                      <a:r>
                        <a:rPr sz="700" i="1" dirty="0">
                          <a:solidFill>
                            <a:srgbClr val="12426B"/>
                          </a:solidFill>
                          <a:latin typeface="Arial"/>
                          <a:cs typeface="Arial"/>
                        </a:rPr>
                        <a:t>priced</a:t>
                      </a:r>
                      <a:r>
                        <a:rPr sz="700" i="1" spc="-10" dirty="0">
                          <a:solidFill>
                            <a:srgbClr val="12426B"/>
                          </a:solidFill>
                          <a:latin typeface="Arial"/>
                          <a:cs typeface="Arial"/>
                        </a:rPr>
                        <a:t> </a:t>
                      </a:r>
                      <a:r>
                        <a:rPr sz="700" i="1" dirty="0">
                          <a:solidFill>
                            <a:srgbClr val="12426B"/>
                          </a:solidFill>
                          <a:latin typeface="Arial"/>
                          <a:cs typeface="Arial"/>
                        </a:rPr>
                        <a:t>in</a:t>
                      </a:r>
                      <a:r>
                        <a:rPr sz="700" i="1" spc="-30" dirty="0">
                          <a:solidFill>
                            <a:srgbClr val="12426B"/>
                          </a:solidFill>
                          <a:latin typeface="Arial"/>
                          <a:cs typeface="Arial"/>
                        </a:rPr>
                        <a:t> </a:t>
                      </a:r>
                      <a:r>
                        <a:rPr sz="700" i="1" dirty="0">
                          <a:solidFill>
                            <a:srgbClr val="12426B"/>
                          </a:solidFill>
                          <a:latin typeface="Arial"/>
                          <a:cs typeface="Arial"/>
                        </a:rPr>
                        <a:t>Oct</a:t>
                      </a:r>
                      <a:r>
                        <a:rPr sz="700" i="1" spc="-5" dirty="0">
                          <a:solidFill>
                            <a:srgbClr val="12426B"/>
                          </a:solidFill>
                          <a:latin typeface="Arial"/>
                          <a:cs typeface="Arial"/>
                        </a:rPr>
                        <a:t> </a:t>
                      </a:r>
                      <a:r>
                        <a:rPr sz="700" i="1" spc="-20" dirty="0">
                          <a:solidFill>
                            <a:srgbClr val="12426B"/>
                          </a:solidFill>
                          <a:latin typeface="Arial"/>
                          <a:cs typeface="Arial"/>
                        </a:rPr>
                        <a:t>2023</a:t>
                      </a:r>
                      <a:endParaRPr sz="700">
                        <a:latin typeface="Arial"/>
                        <a:cs typeface="Arial"/>
                      </a:endParaRPr>
                    </a:p>
                  </a:txBody>
                  <a:tcPr marL="0" marR="0" marT="0" marB="0">
                    <a:lnR w="9525" cap="flat" cmpd="sng" algn="ctr">
                      <a:solidFill>
                        <a:srgbClr val="C00000"/>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127635">
                <a:tc>
                  <a:txBody>
                    <a:bodyPr/>
                    <a:lstStyle/>
                    <a:p>
                      <a:pPr>
                        <a:lnSpc>
                          <a:spcPct val="100000"/>
                        </a:lnSpc>
                      </a:pPr>
                      <a:endParaRPr sz="700">
                        <a:latin typeface="Times New Roman"/>
                        <a:cs typeface="Times New Roman"/>
                      </a:endParaRPr>
                    </a:p>
                  </a:txBody>
                  <a:tcPr marL="0" marR="0" marT="0" marB="0">
                    <a:lnL w="9525" cap="flat" cmpd="sng" algn="ctr">
                      <a:solidFill>
                        <a:srgbClr val="C00000"/>
                      </a:solidFill>
                      <a:prstDash val="solid"/>
                      <a:round/>
                      <a:headEnd type="none" w="med" len="med"/>
                      <a:tailEnd type="none" w="med" len="med"/>
                    </a:lnL>
                    <a:solidFill>
                      <a:srgbClr val="FFFFFF"/>
                    </a:solidFill>
                  </a:tcPr>
                </a:tc>
                <a:tc>
                  <a:txBody>
                    <a:bodyPr/>
                    <a:lstStyle/>
                    <a:p>
                      <a:pPr marR="117475" algn="ctr">
                        <a:lnSpc>
                          <a:spcPct val="100000"/>
                        </a:lnSpc>
                        <a:spcBef>
                          <a:spcPts val="10"/>
                        </a:spcBef>
                      </a:pPr>
                      <a:r>
                        <a:rPr sz="700" i="1" spc="-10" dirty="0">
                          <a:solidFill>
                            <a:srgbClr val="12426B"/>
                          </a:solidFill>
                          <a:latin typeface="Arial"/>
                          <a:cs typeface="Arial"/>
                        </a:rPr>
                        <a:t>US$139mm</a:t>
                      </a:r>
                      <a:endParaRPr sz="700" dirty="0">
                        <a:latin typeface="Arial"/>
                        <a:cs typeface="Arial"/>
                      </a:endParaRPr>
                    </a:p>
                  </a:txBody>
                  <a:tcPr marL="0" marR="0" marT="1270" marB="0">
                    <a:solidFill>
                      <a:srgbClr val="FFFFFF"/>
                    </a:solidFill>
                  </a:tcPr>
                </a:tc>
                <a:tc>
                  <a:txBody>
                    <a:bodyPr/>
                    <a:lstStyle/>
                    <a:p>
                      <a:pPr marL="10795" algn="ctr">
                        <a:lnSpc>
                          <a:spcPts val="830"/>
                        </a:lnSpc>
                      </a:pPr>
                      <a:r>
                        <a:rPr sz="700" i="1" spc="-10" dirty="0">
                          <a:solidFill>
                            <a:srgbClr val="12426B"/>
                          </a:solidFill>
                          <a:latin typeface="Arial"/>
                          <a:cs typeface="Arial"/>
                        </a:rPr>
                        <a:t>US$306mm</a:t>
                      </a:r>
                      <a:endParaRPr sz="700" dirty="0">
                        <a:latin typeface="Arial"/>
                        <a:cs typeface="Arial"/>
                      </a:endParaRPr>
                    </a:p>
                  </a:txBody>
                  <a:tcPr marL="0" marR="0" marT="0" marB="0">
                    <a:solidFill>
                      <a:srgbClr val="FFFFFF"/>
                    </a:solidFill>
                  </a:tcPr>
                </a:tc>
                <a:tc>
                  <a:txBody>
                    <a:bodyPr/>
                    <a:lstStyle/>
                    <a:p>
                      <a:pPr marL="4445" algn="ctr">
                        <a:lnSpc>
                          <a:spcPts val="830"/>
                        </a:lnSpc>
                      </a:pPr>
                      <a:r>
                        <a:rPr sz="700" i="1" spc="-10" dirty="0">
                          <a:solidFill>
                            <a:srgbClr val="12426B"/>
                          </a:solidFill>
                          <a:latin typeface="Arial"/>
                          <a:cs typeface="Arial"/>
                        </a:rPr>
                        <a:t>US$501mm</a:t>
                      </a:r>
                      <a:endParaRPr sz="700" dirty="0">
                        <a:latin typeface="Arial"/>
                        <a:cs typeface="Arial"/>
                      </a:endParaRPr>
                    </a:p>
                  </a:txBody>
                  <a:tcPr marL="0" marR="0" marT="0" marB="0">
                    <a:lnR w="9525" cap="flat" cmpd="sng" algn="ctr">
                      <a:solidFill>
                        <a:srgbClr val="C00000"/>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127635">
                <a:tc>
                  <a:txBody>
                    <a:bodyPr/>
                    <a:lstStyle/>
                    <a:p>
                      <a:pPr>
                        <a:lnSpc>
                          <a:spcPct val="100000"/>
                        </a:lnSpc>
                      </a:pPr>
                      <a:endParaRPr sz="700">
                        <a:latin typeface="Times New Roman"/>
                        <a:cs typeface="Times New Roman"/>
                      </a:endParaRPr>
                    </a:p>
                  </a:txBody>
                  <a:tcPr marL="0" marR="0" marT="0" marB="0">
                    <a:lnL w="9525" cap="flat" cmpd="sng" algn="ctr">
                      <a:solidFill>
                        <a:srgbClr val="C00000"/>
                      </a:solidFill>
                      <a:prstDash val="solid"/>
                      <a:round/>
                      <a:headEnd type="none" w="med" len="med"/>
                      <a:tailEnd type="none" w="med" len="med"/>
                    </a:lnL>
                    <a:solidFill>
                      <a:srgbClr val="FFFFFF"/>
                    </a:solidFill>
                  </a:tcPr>
                </a:tc>
                <a:tc>
                  <a:txBody>
                    <a:bodyPr/>
                    <a:lstStyle/>
                    <a:p>
                      <a:pPr marR="119380" algn="ctr">
                        <a:lnSpc>
                          <a:spcPct val="100000"/>
                        </a:lnSpc>
                        <a:spcBef>
                          <a:spcPts val="10"/>
                        </a:spcBef>
                      </a:pPr>
                      <a:r>
                        <a:rPr sz="700" i="1" dirty="0">
                          <a:solidFill>
                            <a:schemeClr val="accent6"/>
                          </a:solidFill>
                          <a:latin typeface="Arial"/>
                          <a:cs typeface="Arial"/>
                        </a:rPr>
                        <a:t>Primary</a:t>
                      </a:r>
                      <a:r>
                        <a:rPr sz="700" i="1" spc="-30" dirty="0">
                          <a:solidFill>
                            <a:schemeClr val="accent6"/>
                          </a:solidFill>
                          <a:latin typeface="Arial"/>
                          <a:cs typeface="Arial"/>
                        </a:rPr>
                        <a:t> </a:t>
                      </a:r>
                      <a:r>
                        <a:rPr sz="700" i="1" spc="-10" dirty="0">
                          <a:solidFill>
                            <a:schemeClr val="accent6"/>
                          </a:solidFill>
                          <a:latin typeface="Arial"/>
                          <a:cs typeface="Arial"/>
                        </a:rPr>
                        <a:t>placement</a:t>
                      </a:r>
                      <a:endParaRPr sz="700" dirty="0">
                        <a:solidFill>
                          <a:schemeClr val="accent6"/>
                        </a:solidFill>
                        <a:latin typeface="Arial"/>
                        <a:cs typeface="Arial"/>
                      </a:endParaRPr>
                    </a:p>
                  </a:txBody>
                  <a:tcPr marL="0" marR="0" marT="1270" marB="0">
                    <a:solidFill>
                      <a:srgbClr val="FFFFFF"/>
                    </a:solidFill>
                  </a:tcPr>
                </a:tc>
                <a:tc>
                  <a:txBody>
                    <a:bodyPr/>
                    <a:lstStyle/>
                    <a:p>
                      <a:pPr marL="8255" algn="ctr">
                        <a:lnSpc>
                          <a:spcPts val="830"/>
                        </a:lnSpc>
                      </a:pPr>
                      <a:r>
                        <a:rPr sz="700" i="1" dirty="0">
                          <a:solidFill>
                            <a:schemeClr val="accent6"/>
                          </a:solidFill>
                          <a:latin typeface="Arial"/>
                          <a:cs typeface="Arial"/>
                        </a:rPr>
                        <a:t>Primary</a:t>
                      </a:r>
                      <a:r>
                        <a:rPr sz="700" i="1" spc="-30" dirty="0">
                          <a:solidFill>
                            <a:schemeClr val="accent6"/>
                          </a:solidFill>
                          <a:latin typeface="Arial"/>
                          <a:cs typeface="Arial"/>
                        </a:rPr>
                        <a:t> </a:t>
                      </a:r>
                      <a:r>
                        <a:rPr sz="700" i="1" spc="-10" dirty="0">
                          <a:solidFill>
                            <a:schemeClr val="accent6"/>
                          </a:solidFill>
                          <a:latin typeface="Arial"/>
                          <a:cs typeface="Arial"/>
                        </a:rPr>
                        <a:t>placement</a:t>
                      </a:r>
                      <a:endParaRPr sz="700">
                        <a:solidFill>
                          <a:schemeClr val="accent6"/>
                        </a:solidFill>
                        <a:latin typeface="Arial"/>
                        <a:cs typeface="Arial"/>
                      </a:endParaRPr>
                    </a:p>
                  </a:txBody>
                  <a:tcPr marL="0" marR="0" marT="0" marB="0">
                    <a:solidFill>
                      <a:srgbClr val="FFFFFF"/>
                    </a:solidFill>
                  </a:tcPr>
                </a:tc>
                <a:tc>
                  <a:txBody>
                    <a:bodyPr/>
                    <a:lstStyle/>
                    <a:p>
                      <a:pPr marL="3810" algn="ctr">
                        <a:lnSpc>
                          <a:spcPts val="830"/>
                        </a:lnSpc>
                      </a:pPr>
                      <a:r>
                        <a:rPr sz="700" i="1" dirty="0">
                          <a:solidFill>
                            <a:schemeClr val="accent6"/>
                          </a:solidFill>
                          <a:latin typeface="Arial"/>
                          <a:cs typeface="Arial"/>
                        </a:rPr>
                        <a:t>Convertible</a:t>
                      </a:r>
                      <a:r>
                        <a:rPr sz="700" i="1" spc="-50" dirty="0">
                          <a:solidFill>
                            <a:schemeClr val="accent6"/>
                          </a:solidFill>
                          <a:latin typeface="Arial"/>
                          <a:cs typeface="Arial"/>
                        </a:rPr>
                        <a:t> </a:t>
                      </a:r>
                      <a:r>
                        <a:rPr sz="700" i="1" spc="-20" dirty="0">
                          <a:solidFill>
                            <a:schemeClr val="accent6"/>
                          </a:solidFill>
                          <a:latin typeface="Arial"/>
                          <a:cs typeface="Arial"/>
                        </a:rPr>
                        <a:t>bond</a:t>
                      </a:r>
                      <a:endParaRPr sz="700" dirty="0">
                        <a:solidFill>
                          <a:schemeClr val="accent6"/>
                        </a:solidFill>
                        <a:latin typeface="Arial"/>
                        <a:cs typeface="Arial"/>
                      </a:endParaRPr>
                    </a:p>
                  </a:txBody>
                  <a:tcPr marL="0" marR="0" marT="0" marB="0">
                    <a:lnR w="9525" cap="flat" cmpd="sng" algn="ctr">
                      <a:solidFill>
                        <a:srgbClr val="C00000"/>
                      </a:solidFill>
                      <a:prstDash val="solid"/>
                      <a:round/>
                      <a:headEnd type="none" w="med" len="med"/>
                      <a:tailEnd type="none" w="med" len="med"/>
                    </a:lnR>
                    <a:solidFill>
                      <a:srgbClr val="FFFFFF"/>
                    </a:solidFill>
                  </a:tcPr>
                </a:tc>
                <a:extLst>
                  <a:ext uri="{0D108BD9-81ED-4DB2-BD59-A6C34878D82A}">
                    <a16:rowId xmlns:a16="http://schemas.microsoft.com/office/drawing/2014/main" val="10004"/>
                  </a:ext>
                </a:extLst>
              </a:tr>
              <a:tr h="127635">
                <a:tc>
                  <a:txBody>
                    <a:bodyPr/>
                    <a:lstStyle/>
                    <a:p>
                      <a:pPr>
                        <a:lnSpc>
                          <a:spcPct val="100000"/>
                        </a:lnSpc>
                      </a:pPr>
                      <a:endParaRPr sz="700">
                        <a:latin typeface="Times New Roman"/>
                        <a:cs typeface="Times New Roman"/>
                      </a:endParaRPr>
                    </a:p>
                  </a:txBody>
                  <a:tcPr marL="0" marR="0" marT="0" marB="0">
                    <a:lnL w="9525" cap="flat" cmpd="sng" algn="ctr">
                      <a:solidFill>
                        <a:srgbClr val="C00000"/>
                      </a:solidFill>
                      <a:prstDash val="solid"/>
                      <a:round/>
                      <a:headEnd type="none" w="med" len="med"/>
                      <a:tailEnd type="none" w="med" len="med"/>
                    </a:lnL>
                    <a:solidFill>
                      <a:srgbClr val="FFFFFF"/>
                    </a:solidFill>
                  </a:tcPr>
                </a:tc>
                <a:tc>
                  <a:txBody>
                    <a:bodyPr/>
                    <a:lstStyle/>
                    <a:p>
                      <a:pPr marR="119380" algn="ctr">
                        <a:lnSpc>
                          <a:spcPct val="100000"/>
                        </a:lnSpc>
                        <a:spcBef>
                          <a:spcPts val="10"/>
                        </a:spcBef>
                      </a:pPr>
                      <a:r>
                        <a:rPr sz="700" b="1" i="1" dirty="0">
                          <a:solidFill>
                            <a:schemeClr val="accent6"/>
                          </a:solidFill>
                          <a:latin typeface="Arial"/>
                          <a:cs typeface="Arial"/>
                        </a:rPr>
                        <a:t>8</a:t>
                      </a:r>
                      <a:r>
                        <a:rPr sz="700" b="1" i="1" spc="-20" dirty="0">
                          <a:solidFill>
                            <a:schemeClr val="accent6"/>
                          </a:solidFill>
                          <a:latin typeface="Arial"/>
                          <a:cs typeface="Arial"/>
                        </a:rPr>
                        <a:t> </a:t>
                      </a:r>
                      <a:r>
                        <a:rPr sz="700" i="1" dirty="0">
                          <a:solidFill>
                            <a:schemeClr val="accent6"/>
                          </a:solidFill>
                          <a:latin typeface="Arial"/>
                          <a:cs typeface="Arial"/>
                        </a:rPr>
                        <a:t>months</a:t>
                      </a:r>
                      <a:r>
                        <a:rPr sz="700" i="1" spc="10" dirty="0">
                          <a:solidFill>
                            <a:schemeClr val="accent6"/>
                          </a:solidFill>
                          <a:latin typeface="Arial"/>
                          <a:cs typeface="Arial"/>
                        </a:rPr>
                        <a:t> </a:t>
                      </a:r>
                      <a:r>
                        <a:rPr sz="700" i="1" spc="-10" dirty="0">
                          <a:solidFill>
                            <a:schemeClr val="accent6"/>
                          </a:solidFill>
                          <a:latin typeface="Arial"/>
                          <a:cs typeface="Arial"/>
                        </a:rPr>
                        <a:t>post-</a:t>
                      </a:r>
                      <a:r>
                        <a:rPr sz="700" i="1" spc="-25" dirty="0">
                          <a:solidFill>
                            <a:schemeClr val="accent6"/>
                          </a:solidFill>
                          <a:latin typeface="Arial"/>
                          <a:cs typeface="Arial"/>
                        </a:rPr>
                        <a:t>IPO</a:t>
                      </a:r>
                      <a:endParaRPr sz="700" dirty="0">
                        <a:solidFill>
                          <a:schemeClr val="accent6"/>
                        </a:solidFill>
                        <a:latin typeface="Arial"/>
                        <a:cs typeface="Arial"/>
                      </a:endParaRPr>
                    </a:p>
                  </a:txBody>
                  <a:tcPr marL="0" marR="0" marT="1270" marB="0">
                    <a:solidFill>
                      <a:srgbClr val="FFFFFF"/>
                    </a:solidFill>
                  </a:tcPr>
                </a:tc>
                <a:tc>
                  <a:txBody>
                    <a:bodyPr/>
                    <a:lstStyle/>
                    <a:p>
                      <a:pPr marL="10160" algn="ctr">
                        <a:lnSpc>
                          <a:spcPts val="830"/>
                        </a:lnSpc>
                      </a:pPr>
                      <a:r>
                        <a:rPr sz="700" b="1" i="1" dirty="0">
                          <a:solidFill>
                            <a:schemeClr val="accent6"/>
                          </a:solidFill>
                          <a:latin typeface="Arial"/>
                          <a:cs typeface="Arial"/>
                        </a:rPr>
                        <a:t>10</a:t>
                      </a:r>
                      <a:r>
                        <a:rPr sz="700" b="1" i="1" spc="-20" dirty="0">
                          <a:solidFill>
                            <a:schemeClr val="accent6"/>
                          </a:solidFill>
                          <a:latin typeface="Arial"/>
                          <a:cs typeface="Arial"/>
                        </a:rPr>
                        <a:t> </a:t>
                      </a:r>
                      <a:r>
                        <a:rPr sz="700" i="1" dirty="0">
                          <a:solidFill>
                            <a:schemeClr val="accent6"/>
                          </a:solidFill>
                          <a:latin typeface="Arial"/>
                          <a:cs typeface="Arial"/>
                        </a:rPr>
                        <a:t>months</a:t>
                      </a:r>
                      <a:r>
                        <a:rPr sz="700" i="1" spc="25" dirty="0">
                          <a:solidFill>
                            <a:schemeClr val="accent6"/>
                          </a:solidFill>
                          <a:latin typeface="Arial"/>
                          <a:cs typeface="Arial"/>
                        </a:rPr>
                        <a:t> </a:t>
                      </a:r>
                      <a:r>
                        <a:rPr sz="700" i="1" spc="-10" dirty="0">
                          <a:solidFill>
                            <a:schemeClr val="accent6"/>
                          </a:solidFill>
                          <a:latin typeface="Arial"/>
                          <a:cs typeface="Arial"/>
                        </a:rPr>
                        <a:t>post-</a:t>
                      </a:r>
                      <a:r>
                        <a:rPr sz="700" i="1" spc="-25" dirty="0">
                          <a:solidFill>
                            <a:schemeClr val="accent6"/>
                          </a:solidFill>
                          <a:latin typeface="Arial"/>
                          <a:cs typeface="Arial"/>
                        </a:rPr>
                        <a:t>IPO</a:t>
                      </a:r>
                      <a:endParaRPr sz="700">
                        <a:solidFill>
                          <a:schemeClr val="accent6"/>
                        </a:solidFill>
                        <a:latin typeface="Arial"/>
                        <a:cs typeface="Arial"/>
                      </a:endParaRPr>
                    </a:p>
                  </a:txBody>
                  <a:tcPr marL="0" marR="0" marT="0" marB="0">
                    <a:solidFill>
                      <a:srgbClr val="FFFFFF"/>
                    </a:solidFill>
                  </a:tcPr>
                </a:tc>
                <a:tc>
                  <a:txBody>
                    <a:bodyPr/>
                    <a:lstStyle/>
                    <a:p>
                      <a:pPr marL="3810" algn="ctr">
                        <a:lnSpc>
                          <a:spcPts val="830"/>
                        </a:lnSpc>
                      </a:pPr>
                      <a:r>
                        <a:rPr sz="700" b="1" i="1" dirty="0">
                          <a:solidFill>
                            <a:schemeClr val="accent6"/>
                          </a:solidFill>
                          <a:latin typeface="Arial"/>
                          <a:cs typeface="Arial"/>
                        </a:rPr>
                        <a:t>27</a:t>
                      </a:r>
                      <a:r>
                        <a:rPr sz="700" b="1" i="1" spc="-20" dirty="0">
                          <a:solidFill>
                            <a:schemeClr val="accent6"/>
                          </a:solidFill>
                          <a:latin typeface="Arial"/>
                          <a:cs typeface="Arial"/>
                        </a:rPr>
                        <a:t> </a:t>
                      </a:r>
                      <a:r>
                        <a:rPr sz="700" i="1" dirty="0">
                          <a:solidFill>
                            <a:schemeClr val="accent6"/>
                          </a:solidFill>
                          <a:latin typeface="Arial"/>
                          <a:cs typeface="Arial"/>
                        </a:rPr>
                        <a:t>months</a:t>
                      </a:r>
                      <a:r>
                        <a:rPr sz="700" i="1" spc="25" dirty="0">
                          <a:solidFill>
                            <a:schemeClr val="accent6"/>
                          </a:solidFill>
                          <a:latin typeface="Arial"/>
                          <a:cs typeface="Arial"/>
                        </a:rPr>
                        <a:t> </a:t>
                      </a:r>
                      <a:r>
                        <a:rPr sz="700" i="1" spc="-10" dirty="0">
                          <a:solidFill>
                            <a:schemeClr val="accent6"/>
                          </a:solidFill>
                          <a:latin typeface="Arial"/>
                          <a:cs typeface="Arial"/>
                        </a:rPr>
                        <a:t>post-</a:t>
                      </a:r>
                      <a:r>
                        <a:rPr sz="700" i="1" spc="-25" dirty="0">
                          <a:solidFill>
                            <a:schemeClr val="accent6"/>
                          </a:solidFill>
                          <a:latin typeface="Arial"/>
                          <a:cs typeface="Arial"/>
                        </a:rPr>
                        <a:t>IPO</a:t>
                      </a:r>
                      <a:endParaRPr sz="700" dirty="0">
                        <a:solidFill>
                          <a:schemeClr val="accent6"/>
                        </a:solidFill>
                        <a:latin typeface="Arial"/>
                        <a:cs typeface="Arial"/>
                      </a:endParaRPr>
                    </a:p>
                  </a:txBody>
                  <a:tcPr marL="0" marR="0" marT="0" marB="0">
                    <a:lnR w="9525" cap="flat" cmpd="sng" algn="ctr">
                      <a:solidFill>
                        <a:srgbClr val="C00000"/>
                      </a:solid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127635">
                <a:tc>
                  <a:txBody>
                    <a:bodyPr/>
                    <a:lstStyle/>
                    <a:p>
                      <a:pPr>
                        <a:lnSpc>
                          <a:spcPct val="100000"/>
                        </a:lnSpc>
                      </a:pPr>
                      <a:endParaRPr sz="700">
                        <a:latin typeface="Times New Roman"/>
                        <a:cs typeface="Times New Roman"/>
                      </a:endParaRPr>
                    </a:p>
                  </a:txBody>
                  <a:tcPr marL="0" marR="0" marT="0" marB="0">
                    <a:lnL w="9525" cap="flat" cmpd="sng" algn="ctr">
                      <a:solidFill>
                        <a:srgbClr val="C00000"/>
                      </a:solidFill>
                      <a:prstDash val="solid"/>
                      <a:round/>
                      <a:headEnd type="none" w="med" len="med"/>
                      <a:tailEnd type="none" w="med" len="med"/>
                    </a:lnL>
                    <a:solidFill>
                      <a:srgbClr val="FFFFFF"/>
                    </a:solidFill>
                  </a:tcPr>
                </a:tc>
                <a:tc>
                  <a:txBody>
                    <a:bodyPr/>
                    <a:lstStyle/>
                    <a:p>
                      <a:pPr marR="120014" algn="ctr">
                        <a:lnSpc>
                          <a:spcPct val="100000"/>
                        </a:lnSpc>
                        <a:spcBef>
                          <a:spcPts val="10"/>
                        </a:spcBef>
                      </a:pPr>
                      <a:r>
                        <a:rPr sz="700" b="1" i="1" spc="-10" dirty="0">
                          <a:solidFill>
                            <a:schemeClr val="accent6"/>
                          </a:solidFill>
                          <a:latin typeface="Arial"/>
                          <a:cs typeface="Arial"/>
                        </a:rPr>
                        <a:t>US$91mm</a:t>
                      </a:r>
                      <a:endParaRPr sz="700" dirty="0">
                        <a:solidFill>
                          <a:schemeClr val="accent6"/>
                        </a:solidFill>
                        <a:latin typeface="Arial"/>
                        <a:cs typeface="Arial"/>
                      </a:endParaRPr>
                    </a:p>
                  </a:txBody>
                  <a:tcPr marL="0" marR="0" marT="1270" marB="0">
                    <a:solidFill>
                      <a:srgbClr val="FFFFFF"/>
                    </a:solidFill>
                  </a:tcPr>
                </a:tc>
                <a:tc>
                  <a:txBody>
                    <a:bodyPr/>
                    <a:lstStyle/>
                    <a:p>
                      <a:pPr marL="8255" algn="ctr">
                        <a:lnSpc>
                          <a:spcPts val="830"/>
                        </a:lnSpc>
                      </a:pPr>
                      <a:r>
                        <a:rPr sz="700" b="1" i="1" spc="-10" dirty="0">
                          <a:solidFill>
                            <a:schemeClr val="accent6"/>
                          </a:solidFill>
                          <a:latin typeface="Arial"/>
                          <a:cs typeface="Arial"/>
                        </a:rPr>
                        <a:t>US$256mm</a:t>
                      </a:r>
                      <a:endParaRPr sz="700">
                        <a:solidFill>
                          <a:schemeClr val="accent6"/>
                        </a:solidFill>
                        <a:latin typeface="Arial"/>
                        <a:cs typeface="Arial"/>
                      </a:endParaRPr>
                    </a:p>
                  </a:txBody>
                  <a:tcPr marL="0" marR="0" marT="0" marB="0">
                    <a:solidFill>
                      <a:srgbClr val="FFFFFF"/>
                    </a:solidFill>
                  </a:tcPr>
                </a:tc>
                <a:tc>
                  <a:txBody>
                    <a:bodyPr/>
                    <a:lstStyle/>
                    <a:p>
                      <a:pPr marL="1905" algn="ctr">
                        <a:lnSpc>
                          <a:spcPts val="830"/>
                        </a:lnSpc>
                      </a:pPr>
                      <a:r>
                        <a:rPr sz="700" b="1" i="1" spc="-10" dirty="0">
                          <a:solidFill>
                            <a:schemeClr val="accent6"/>
                          </a:solidFill>
                          <a:latin typeface="Arial"/>
                          <a:cs typeface="Arial"/>
                        </a:rPr>
                        <a:t>US$596mm</a:t>
                      </a:r>
                      <a:endParaRPr sz="700" dirty="0">
                        <a:solidFill>
                          <a:schemeClr val="accent6"/>
                        </a:solidFill>
                        <a:latin typeface="Arial"/>
                        <a:cs typeface="Arial"/>
                      </a:endParaRPr>
                    </a:p>
                  </a:txBody>
                  <a:tcPr marL="0" marR="0" marT="0" marB="0">
                    <a:lnR w="9525" cap="flat" cmpd="sng" algn="ctr">
                      <a:solidFill>
                        <a:srgbClr val="C00000"/>
                      </a:solidFill>
                      <a:prstDash val="solid"/>
                      <a:round/>
                      <a:headEnd type="none" w="med" len="med"/>
                      <a:tailEnd type="none" w="med" len="med"/>
                    </a:lnR>
                    <a:solidFill>
                      <a:srgbClr val="FFFFFF"/>
                    </a:solidFill>
                  </a:tcPr>
                </a:tc>
                <a:extLst>
                  <a:ext uri="{0D108BD9-81ED-4DB2-BD59-A6C34878D82A}">
                    <a16:rowId xmlns:a16="http://schemas.microsoft.com/office/drawing/2014/main" val="10006"/>
                  </a:ext>
                </a:extLst>
              </a:tr>
              <a:tr h="127635">
                <a:tc>
                  <a:txBody>
                    <a:bodyPr/>
                    <a:lstStyle/>
                    <a:p>
                      <a:pPr>
                        <a:lnSpc>
                          <a:spcPct val="100000"/>
                        </a:lnSpc>
                      </a:pPr>
                      <a:endParaRPr sz="700">
                        <a:latin typeface="Times New Roman"/>
                        <a:cs typeface="Times New Roman"/>
                      </a:endParaRPr>
                    </a:p>
                  </a:txBody>
                  <a:tcPr marL="0" marR="0" marT="0" marB="0">
                    <a:lnL w="9525" cap="flat" cmpd="sng" algn="ctr">
                      <a:solidFill>
                        <a:srgbClr val="C00000"/>
                      </a:solidFill>
                      <a:prstDash val="solid"/>
                      <a:round/>
                      <a:headEnd type="none" w="med" len="med"/>
                      <a:tailEnd type="none" w="med" len="med"/>
                    </a:lnL>
                    <a:solidFill>
                      <a:srgbClr val="FFFFFF"/>
                    </a:solidFill>
                  </a:tcPr>
                </a:tc>
                <a:tc>
                  <a:txBody>
                    <a:bodyPr/>
                    <a:lstStyle/>
                    <a:p>
                      <a:pPr marR="118110" algn="ctr">
                        <a:lnSpc>
                          <a:spcPct val="100000"/>
                        </a:lnSpc>
                        <a:spcBef>
                          <a:spcPts val="10"/>
                        </a:spcBef>
                      </a:pPr>
                      <a:r>
                        <a:rPr sz="700" i="1" dirty="0">
                          <a:solidFill>
                            <a:schemeClr val="accent6"/>
                          </a:solidFill>
                          <a:latin typeface="Arial"/>
                          <a:cs typeface="Arial"/>
                        </a:rPr>
                        <a:t>For M&amp;A and</a:t>
                      </a:r>
                      <a:r>
                        <a:rPr sz="700" i="1" spc="-10" dirty="0">
                          <a:solidFill>
                            <a:schemeClr val="accent6"/>
                          </a:solidFill>
                          <a:latin typeface="Arial"/>
                          <a:cs typeface="Arial"/>
                        </a:rPr>
                        <a:t> </a:t>
                      </a:r>
                      <a:r>
                        <a:rPr sz="700" i="1" dirty="0">
                          <a:solidFill>
                            <a:schemeClr val="accent6"/>
                          </a:solidFill>
                          <a:latin typeface="Arial"/>
                          <a:cs typeface="Arial"/>
                        </a:rPr>
                        <a:t>R&amp;D</a:t>
                      </a:r>
                      <a:r>
                        <a:rPr sz="700" i="1" spc="-15" dirty="0">
                          <a:solidFill>
                            <a:schemeClr val="accent6"/>
                          </a:solidFill>
                          <a:latin typeface="Arial"/>
                          <a:cs typeface="Arial"/>
                        </a:rPr>
                        <a:t> </a:t>
                      </a:r>
                      <a:r>
                        <a:rPr sz="700" i="1" dirty="0">
                          <a:solidFill>
                            <a:schemeClr val="accent6"/>
                          </a:solidFill>
                          <a:latin typeface="Arial"/>
                          <a:cs typeface="Arial"/>
                        </a:rPr>
                        <a:t>/</a:t>
                      </a:r>
                      <a:r>
                        <a:rPr sz="700" i="1" spc="-5" dirty="0">
                          <a:solidFill>
                            <a:schemeClr val="accent6"/>
                          </a:solidFill>
                          <a:latin typeface="Arial"/>
                          <a:cs typeface="Arial"/>
                        </a:rPr>
                        <a:t> </a:t>
                      </a:r>
                      <a:r>
                        <a:rPr sz="700" i="1" spc="-10" dirty="0">
                          <a:solidFill>
                            <a:schemeClr val="accent6"/>
                          </a:solidFill>
                          <a:latin typeface="Arial"/>
                          <a:cs typeface="Arial"/>
                        </a:rPr>
                        <a:t>clinical</a:t>
                      </a:r>
                      <a:endParaRPr sz="700">
                        <a:solidFill>
                          <a:schemeClr val="accent6"/>
                        </a:solidFill>
                        <a:latin typeface="Arial"/>
                        <a:cs typeface="Arial"/>
                      </a:endParaRPr>
                    </a:p>
                  </a:txBody>
                  <a:tcPr marL="0" marR="0" marT="1270" marB="0">
                    <a:solidFill>
                      <a:srgbClr val="FFFFFF"/>
                    </a:solidFill>
                  </a:tcPr>
                </a:tc>
                <a:tc>
                  <a:txBody>
                    <a:bodyPr/>
                    <a:lstStyle/>
                    <a:p>
                      <a:pPr marL="8255" algn="ctr">
                        <a:lnSpc>
                          <a:spcPts val="830"/>
                        </a:lnSpc>
                      </a:pPr>
                      <a:r>
                        <a:rPr sz="700" i="1" dirty="0">
                          <a:solidFill>
                            <a:schemeClr val="accent6"/>
                          </a:solidFill>
                          <a:latin typeface="Arial"/>
                          <a:cs typeface="Arial"/>
                        </a:rPr>
                        <a:t>For</a:t>
                      </a:r>
                      <a:r>
                        <a:rPr sz="700" i="1" spc="-10" dirty="0">
                          <a:solidFill>
                            <a:schemeClr val="accent6"/>
                          </a:solidFill>
                          <a:latin typeface="Arial"/>
                          <a:cs typeface="Arial"/>
                        </a:rPr>
                        <a:t> </a:t>
                      </a:r>
                      <a:r>
                        <a:rPr sz="700" i="1" dirty="0">
                          <a:solidFill>
                            <a:schemeClr val="accent6"/>
                          </a:solidFill>
                          <a:latin typeface="Arial"/>
                          <a:cs typeface="Arial"/>
                        </a:rPr>
                        <a:t>new</a:t>
                      </a:r>
                      <a:r>
                        <a:rPr sz="700" i="1" spc="-10" dirty="0">
                          <a:solidFill>
                            <a:schemeClr val="accent6"/>
                          </a:solidFill>
                          <a:latin typeface="Arial"/>
                          <a:cs typeface="Arial"/>
                        </a:rPr>
                        <a:t> </a:t>
                      </a:r>
                      <a:r>
                        <a:rPr sz="700" i="1" dirty="0">
                          <a:solidFill>
                            <a:schemeClr val="accent6"/>
                          </a:solidFill>
                          <a:latin typeface="Arial"/>
                          <a:cs typeface="Arial"/>
                        </a:rPr>
                        <a:t>facility</a:t>
                      </a:r>
                      <a:r>
                        <a:rPr sz="700" i="1" spc="-15" dirty="0">
                          <a:solidFill>
                            <a:schemeClr val="accent6"/>
                          </a:solidFill>
                          <a:latin typeface="Arial"/>
                          <a:cs typeface="Arial"/>
                        </a:rPr>
                        <a:t> </a:t>
                      </a:r>
                      <a:r>
                        <a:rPr sz="700" i="1" dirty="0">
                          <a:solidFill>
                            <a:schemeClr val="accent6"/>
                          </a:solidFill>
                          <a:latin typeface="Arial"/>
                          <a:cs typeface="Arial"/>
                        </a:rPr>
                        <a:t>to</a:t>
                      </a:r>
                      <a:r>
                        <a:rPr sz="700" i="1" spc="-5" dirty="0">
                          <a:solidFill>
                            <a:schemeClr val="accent6"/>
                          </a:solidFill>
                          <a:latin typeface="Arial"/>
                          <a:cs typeface="Arial"/>
                        </a:rPr>
                        <a:t> </a:t>
                      </a:r>
                      <a:r>
                        <a:rPr sz="700" i="1" spc="-10" dirty="0">
                          <a:solidFill>
                            <a:schemeClr val="accent6"/>
                          </a:solidFill>
                          <a:latin typeface="Arial"/>
                          <a:cs typeface="Arial"/>
                        </a:rPr>
                        <a:t>support</a:t>
                      </a:r>
                      <a:endParaRPr sz="700">
                        <a:solidFill>
                          <a:schemeClr val="accent6"/>
                        </a:solidFill>
                        <a:latin typeface="Arial"/>
                        <a:cs typeface="Arial"/>
                      </a:endParaRPr>
                    </a:p>
                  </a:txBody>
                  <a:tcPr marL="0" marR="0" marT="0" marB="0">
                    <a:solidFill>
                      <a:srgbClr val="FFFFFF"/>
                    </a:solidFill>
                  </a:tcPr>
                </a:tc>
                <a:tc>
                  <a:txBody>
                    <a:bodyPr/>
                    <a:lstStyle/>
                    <a:p>
                      <a:pPr marL="1905" algn="ctr">
                        <a:lnSpc>
                          <a:spcPts val="830"/>
                        </a:lnSpc>
                      </a:pPr>
                      <a:r>
                        <a:rPr sz="700" i="1" dirty="0">
                          <a:solidFill>
                            <a:schemeClr val="accent6"/>
                          </a:solidFill>
                          <a:latin typeface="Arial"/>
                          <a:cs typeface="Arial"/>
                        </a:rPr>
                        <a:t>For</a:t>
                      </a:r>
                      <a:r>
                        <a:rPr sz="700" i="1" spc="-30" dirty="0">
                          <a:solidFill>
                            <a:schemeClr val="accent6"/>
                          </a:solidFill>
                          <a:latin typeface="Arial"/>
                          <a:cs typeface="Arial"/>
                        </a:rPr>
                        <a:t> </a:t>
                      </a:r>
                      <a:r>
                        <a:rPr sz="700" i="1" dirty="0">
                          <a:solidFill>
                            <a:schemeClr val="accent6"/>
                          </a:solidFill>
                          <a:latin typeface="Arial"/>
                          <a:cs typeface="Arial"/>
                        </a:rPr>
                        <a:t>overseas</a:t>
                      </a:r>
                      <a:r>
                        <a:rPr sz="700" i="1" spc="-10" dirty="0">
                          <a:solidFill>
                            <a:schemeClr val="accent6"/>
                          </a:solidFill>
                          <a:latin typeface="Arial"/>
                          <a:cs typeface="Arial"/>
                        </a:rPr>
                        <a:t> </a:t>
                      </a:r>
                      <a:r>
                        <a:rPr sz="700" i="1" dirty="0">
                          <a:solidFill>
                            <a:schemeClr val="accent6"/>
                          </a:solidFill>
                          <a:latin typeface="Arial"/>
                          <a:cs typeface="Arial"/>
                        </a:rPr>
                        <a:t>business</a:t>
                      </a:r>
                      <a:r>
                        <a:rPr sz="700" i="1" spc="-25" dirty="0">
                          <a:solidFill>
                            <a:schemeClr val="accent6"/>
                          </a:solidFill>
                          <a:latin typeface="Arial"/>
                          <a:cs typeface="Arial"/>
                        </a:rPr>
                        <a:t> and</a:t>
                      </a:r>
                      <a:endParaRPr sz="700" dirty="0">
                        <a:solidFill>
                          <a:schemeClr val="accent6"/>
                        </a:solidFill>
                        <a:latin typeface="Arial"/>
                        <a:cs typeface="Arial"/>
                      </a:endParaRPr>
                    </a:p>
                  </a:txBody>
                  <a:tcPr marL="0" marR="0" marT="0" marB="0">
                    <a:lnR w="9525" cap="flat" cmpd="sng" algn="ctr">
                      <a:solidFill>
                        <a:srgbClr val="C00000"/>
                      </a:solidFill>
                      <a:prstDash val="solid"/>
                      <a:round/>
                      <a:headEnd type="none" w="med" len="med"/>
                      <a:tailEnd type="none" w="med" len="med"/>
                    </a:lnR>
                    <a:solidFill>
                      <a:srgbClr val="FFFFFF"/>
                    </a:solidFill>
                  </a:tcPr>
                </a:tc>
                <a:extLst>
                  <a:ext uri="{0D108BD9-81ED-4DB2-BD59-A6C34878D82A}">
                    <a16:rowId xmlns:a16="http://schemas.microsoft.com/office/drawing/2014/main" val="10007"/>
                  </a:ext>
                </a:extLst>
              </a:tr>
              <a:tr h="170815">
                <a:tc>
                  <a:txBody>
                    <a:bodyPr/>
                    <a:lstStyle/>
                    <a:p>
                      <a:pPr>
                        <a:lnSpc>
                          <a:spcPct val="100000"/>
                        </a:lnSpc>
                      </a:pPr>
                      <a:endParaRPr sz="800">
                        <a:latin typeface="Times New Roman"/>
                        <a:cs typeface="Times New Roman"/>
                      </a:endParaRPr>
                    </a:p>
                  </a:txBody>
                  <a:tcPr marL="0" marR="0" marT="0" marB="0">
                    <a:lnL w="9525" cap="flat" cmpd="sng" algn="ctr">
                      <a:solidFill>
                        <a:srgbClr val="C00000"/>
                      </a:solidFill>
                      <a:prstDash val="solid"/>
                      <a:round/>
                      <a:headEnd type="none" w="med" len="med"/>
                      <a:tailEnd type="none" w="med" len="med"/>
                    </a:lnL>
                    <a:lnB w="9525" cap="flat" cmpd="sng" algn="ctr">
                      <a:solidFill>
                        <a:srgbClr val="C00000"/>
                      </a:solidFill>
                      <a:prstDash val="solid"/>
                      <a:round/>
                      <a:headEnd type="none" w="med" len="med"/>
                      <a:tailEnd type="none" w="med" len="med"/>
                    </a:lnB>
                    <a:solidFill>
                      <a:srgbClr val="FFFFFF"/>
                    </a:solidFill>
                  </a:tcPr>
                </a:tc>
                <a:tc>
                  <a:txBody>
                    <a:bodyPr/>
                    <a:lstStyle/>
                    <a:p>
                      <a:pPr marR="117475" algn="ctr">
                        <a:lnSpc>
                          <a:spcPct val="100000"/>
                        </a:lnSpc>
                        <a:spcBef>
                          <a:spcPts val="10"/>
                        </a:spcBef>
                      </a:pPr>
                      <a:r>
                        <a:rPr sz="700" i="1" spc="-10" dirty="0">
                          <a:solidFill>
                            <a:schemeClr val="accent6"/>
                          </a:solidFill>
                          <a:latin typeface="Arial"/>
                          <a:cs typeface="Arial"/>
                        </a:rPr>
                        <a:t>research</a:t>
                      </a:r>
                      <a:endParaRPr sz="700" dirty="0">
                        <a:solidFill>
                          <a:schemeClr val="accent6"/>
                        </a:solidFill>
                        <a:latin typeface="Arial"/>
                        <a:cs typeface="Arial"/>
                      </a:endParaRPr>
                    </a:p>
                  </a:txBody>
                  <a:tcPr marL="0" marR="0" marT="1270" marB="0">
                    <a:lnB w="9525" cap="flat" cmpd="sng" algn="ctr">
                      <a:solidFill>
                        <a:srgbClr val="C00000"/>
                      </a:solidFill>
                      <a:prstDash val="solid"/>
                      <a:round/>
                      <a:headEnd type="none" w="med" len="med"/>
                      <a:tailEnd type="none" w="med" len="med"/>
                    </a:lnB>
                    <a:solidFill>
                      <a:srgbClr val="FFFFFF"/>
                    </a:solidFill>
                  </a:tcPr>
                </a:tc>
                <a:tc>
                  <a:txBody>
                    <a:bodyPr/>
                    <a:lstStyle/>
                    <a:p>
                      <a:pPr marL="10160" algn="ctr">
                        <a:lnSpc>
                          <a:spcPts val="830"/>
                        </a:lnSpc>
                      </a:pPr>
                      <a:r>
                        <a:rPr sz="700" i="1" dirty="0">
                          <a:solidFill>
                            <a:schemeClr val="accent6"/>
                          </a:solidFill>
                          <a:latin typeface="Arial"/>
                          <a:cs typeface="Arial"/>
                        </a:rPr>
                        <a:t>capacity</a:t>
                      </a:r>
                      <a:r>
                        <a:rPr sz="700" i="1" spc="-40" dirty="0">
                          <a:solidFill>
                            <a:schemeClr val="accent6"/>
                          </a:solidFill>
                          <a:latin typeface="Arial"/>
                          <a:cs typeface="Arial"/>
                        </a:rPr>
                        <a:t> </a:t>
                      </a:r>
                      <a:r>
                        <a:rPr sz="700" i="1" spc="-10" dirty="0">
                          <a:solidFill>
                            <a:schemeClr val="accent6"/>
                          </a:solidFill>
                          <a:latin typeface="Arial"/>
                          <a:cs typeface="Arial"/>
                        </a:rPr>
                        <a:t>growth</a:t>
                      </a:r>
                      <a:endParaRPr sz="700" dirty="0">
                        <a:solidFill>
                          <a:schemeClr val="accent6"/>
                        </a:solidFill>
                        <a:latin typeface="Arial"/>
                        <a:cs typeface="Arial"/>
                      </a:endParaRPr>
                    </a:p>
                  </a:txBody>
                  <a:tcPr marL="0" marR="0" marT="0" marB="0">
                    <a:lnB w="9525" cap="flat" cmpd="sng" algn="ctr">
                      <a:solidFill>
                        <a:srgbClr val="C00000"/>
                      </a:solidFill>
                      <a:prstDash val="solid"/>
                      <a:round/>
                      <a:headEnd type="none" w="med" len="med"/>
                      <a:tailEnd type="none" w="med" len="med"/>
                    </a:lnB>
                    <a:solidFill>
                      <a:srgbClr val="FFFFFF"/>
                    </a:solidFill>
                  </a:tcPr>
                </a:tc>
                <a:tc>
                  <a:txBody>
                    <a:bodyPr/>
                    <a:lstStyle/>
                    <a:p>
                      <a:pPr marL="1905" algn="ctr">
                        <a:lnSpc>
                          <a:spcPts val="830"/>
                        </a:lnSpc>
                      </a:pPr>
                      <a:r>
                        <a:rPr sz="700" i="1" dirty="0">
                          <a:solidFill>
                            <a:schemeClr val="accent6"/>
                          </a:solidFill>
                          <a:latin typeface="Arial"/>
                          <a:cs typeface="Arial"/>
                        </a:rPr>
                        <a:t>technology</a:t>
                      </a:r>
                      <a:r>
                        <a:rPr sz="700" i="1" spc="-35" dirty="0">
                          <a:solidFill>
                            <a:schemeClr val="accent6"/>
                          </a:solidFill>
                          <a:latin typeface="Arial"/>
                          <a:cs typeface="Arial"/>
                        </a:rPr>
                        <a:t> </a:t>
                      </a:r>
                      <a:r>
                        <a:rPr sz="700" i="1" spc="-10" dirty="0">
                          <a:solidFill>
                            <a:schemeClr val="accent6"/>
                          </a:solidFill>
                          <a:latin typeface="Arial"/>
                          <a:cs typeface="Arial"/>
                        </a:rPr>
                        <a:t>advancement</a:t>
                      </a:r>
                      <a:endParaRPr sz="700" dirty="0">
                        <a:solidFill>
                          <a:schemeClr val="accent6"/>
                        </a:solidFill>
                        <a:latin typeface="Arial"/>
                        <a:cs typeface="Arial"/>
                      </a:endParaRPr>
                    </a:p>
                  </a:txBody>
                  <a:tcPr marL="0" marR="0" marT="0" marB="0">
                    <a:lnR w="9525" cap="flat" cmpd="sng" algn="ctr">
                      <a:solidFill>
                        <a:srgbClr val="C00000"/>
                      </a:solidFill>
                      <a:prstDash val="solid"/>
                      <a:round/>
                      <a:headEnd type="none" w="med" len="med"/>
                      <a:tailEnd type="none" w="med" len="med"/>
                    </a:lnR>
                    <a:lnB w="9525" cap="flat" cmpd="sng" algn="ctr">
                      <a:solidFill>
                        <a:srgbClr val="C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95" name="TextBox 94">
            <a:extLst>
              <a:ext uri="{FF2B5EF4-FFF2-40B4-BE49-F238E27FC236}">
                <a16:creationId xmlns:a16="http://schemas.microsoft.com/office/drawing/2014/main" id="{1E62F97F-1620-A23C-1DC5-EF6A88B25C61}"/>
              </a:ext>
            </a:extLst>
          </p:cNvPr>
          <p:cNvSpPr txBox="1">
            <a:spLocks noChangeArrowheads="1"/>
          </p:cNvSpPr>
          <p:nvPr/>
        </p:nvSpPr>
        <p:spPr bwMode="auto">
          <a:xfrm>
            <a:off x="4113530" y="1341120"/>
            <a:ext cx="4820158" cy="274320"/>
          </a:xfrm>
          <a:prstGeom prst="rect">
            <a:avLst/>
          </a:prstGeom>
          <a:solidFill>
            <a:srgbClr val="C00000"/>
          </a:solidFill>
          <a:ln w="9525" cap="flat" cmpd="sng" algn="ctr">
            <a:solidFill>
              <a:srgbClr val="C00000"/>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dirty="0">
                <a:cs typeface="Arial" panose="020B0604020202020204" pitchFamily="34" charset="0"/>
              </a:rPr>
              <a:t>IPO Issuers Conducted Subsequent Follow-ons</a:t>
            </a:r>
          </a:p>
        </p:txBody>
      </p:sp>
      <p:pic>
        <p:nvPicPr>
          <p:cNvPr id="3" name="object 3"/>
          <p:cNvPicPr/>
          <p:nvPr/>
        </p:nvPicPr>
        <p:blipFill>
          <a:blip r:embed="rId2" cstate="print"/>
          <a:stretch>
            <a:fillRect/>
          </a:stretch>
        </p:blipFill>
        <p:spPr>
          <a:xfrm>
            <a:off x="3826684" y="3196252"/>
            <a:ext cx="5385212" cy="2380049"/>
          </a:xfrm>
          <a:prstGeom prst="rect">
            <a:avLst/>
          </a:prstGeom>
        </p:spPr>
      </p:pic>
      <p:sp>
        <p:nvSpPr>
          <p:cNvPr id="4" name="object 4"/>
          <p:cNvSpPr/>
          <p:nvPr/>
        </p:nvSpPr>
        <p:spPr>
          <a:xfrm>
            <a:off x="4116704" y="3456891"/>
            <a:ext cx="4826000" cy="1880235"/>
          </a:xfrm>
          <a:custGeom>
            <a:avLst/>
            <a:gdLst/>
            <a:ahLst/>
            <a:cxnLst/>
            <a:rect l="l" t="t" r="r" b="b"/>
            <a:pathLst>
              <a:path w="4826000" h="1880235">
                <a:moveTo>
                  <a:pt x="4826000" y="0"/>
                </a:moveTo>
                <a:lnTo>
                  <a:pt x="0" y="0"/>
                </a:lnTo>
                <a:lnTo>
                  <a:pt x="0" y="1879727"/>
                </a:lnTo>
                <a:lnTo>
                  <a:pt x="4826000" y="1879727"/>
                </a:lnTo>
                <a:lnTo>
                  <a:pt x="4826000" y="0"/>
                </a:lnTo>
                <a:close/>
              </a:path>
            </a:pathLst>
          </a:custGeom>
          <a:solidFill>
            <a:srgbClr val="FFFFFF"/>
          </a:solidFill>
          <a:ln>
            <a:solidFill>
              <a:srgbClr val="C00000"/>
            </a:solidFill>
          </a:ln>
        </p:spPr>
        <p:txBody>
          <a:bodyPr wrap="square" lIns="0" tIns="0" rIns="0" bIns="0" rtlCol="0"/>
          <a:lstStyle/>
          <a:p>
            <a:endParaRPr/>
          </a:p>
        </p:txBody>
      </p:sp>
      <p:sp>
        <p:nvSpPr>
          <p:cNvPr id="5" name="object 5"/>
          <p:cNvSpPr/>
          <p:nvPr/>
        </p:nvSpPr>
        <p:spPr>
          <a:xfrm>
            <a:off x="4116704" y="3456891"/>
            <a:ext cx="4826000" cy="1880235"/>
          </a:xfrm>
          <a:custGeom>
            <a:avLst/>
            <a:gdLst/>
            <a:ahLst/>
            <a:cxnLst/>
            <a:rect l="l" t="t" r="r" b="b"/>
            <a:pathLst>
              <a:path w="4826000" h="1880235">
                <a:moveTo>
                  <a:pt x="0" y="1879727"/>
                </a:moveTo>
                <a:lnTo>
                  <a:pt x="4826000" y="1879727"/>
                </a:lnTo>
                <a:lnTo>
                  <a:pt x="4826000" y="0"/>
                </a:lnTo>
                <a:lnTo>
                  <a:pt x="0" y="0"/>
                </a:lnTo>
                <a:lnTo>
                  <a:pt x="0" y="1879727"/>
                </a:lnTo>
                <a:close/>
              </a:path>
            </a:pathLst>
          </a:custGeom>
          <a:ln w="6350">
            <a:solidFill>
              <a:srgbClr val="C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3744467" y="1305180"/>
            <a:ext cx="5542026" cy="2151253"/>
          </a:xfrm>
          <a:prstGeom prst="rect">
            <a:avLst/>
          </a:prstGeom>
        </p:spPr>
      </p:pic>
      <p:sp>
        <p:nvSpPr>
          <p:cNvPr id="92" name="Title 91">
            <a:extLst>
              <a:ext uri="{FF2B5EF4-FFF2-40B4-BE49-F238E27FC236}">
                <a16:creationId xmlns:a16="http://schemas.microsoft.com/office/drawing/2014/main" id="{09119812-D664-77FB-DF9F-4BB9D5972658}"/>
              </a:ext>
            </a:extLst>
          </p:cNvPr>
          <p:cNvSpPr>
            <a:spLocks noGrp="1"/>
          </p:cNvSpPr>
          <p:nvPr>
            <p:ph type="title"/>
          </p:nvPr>
        </p:nvSpPr>
        <p:spPr/>
        <p:txBody>
          <a:bodyPr/>
          <a:lstStyle/>
          <a:p>
            <a:r>
              <a:rPr lang="en-US" sz="2000" dirty="0"/>
              <a:t>International Issuers Utilized Hong Kong’s Fundraising Platform</a:t>
            </a:r>
          </a:p>
        </p:txBody>
      </p:sp>
      <p:pic>
        <p:nvPicPr>
          <p:cNvPr id="13" name="object 13" descr="Mirxes | Genomic Services | Next-Generation Sequencing (NGS)"/>
          <p:cNvPicPr/>
          <p:nvPr/>
        </p:nvPicPr>
        <p:blipFill>
          <a:blip r:embed="rId4" cstate="print"/>
          <a:stretch>
            <a:fillRect/>
          </a:stretch>
        </p:blipFill>
        <p:spPr>
          <a:xfrm>
            <a:off x="4503673" y="1785685"/>
            <a:ext cx="1027302" cy="269303"/>
          </a:xfrm>
          <a:prstGeom prst="rect">
            <a:avLst/>
          </a:prstGeom>
        </p:spPr>
      </p:pic>
      <p:pic>
        <p:nvPicPr>
          <p:cNvPr id="14" name="object 14" descr="Shandong Nanshan Aluminium Co., Ltd. | Members | About ASI | Aluminium  Stewardship Initiative"/>
          <p:cNvPicPr/>
          <p:nvPr/>
        </p:nvPicPr>
        <p:blipFill>
          <a:blip r:embed="rId5" cstate="print"/>
          <a:stretch>
            <a:fillRect/>
          </a:stretch>
        </p:blipFill>
        <p:spPr>
          <a:xfrm>
            <a:off x="6029959" y="1747418"/>
            <a:ext cx="1071168" cy="345668"/>
          </a:xfrm>
          <a:prstGeom prst="rect">
            <a:avLst/>
          </a:prstGeom>
        </p:spPr>
      </p:pic>
      <p:sp>
        <p:nvSpPr>
          <p:cNvPr id="15" name="object 15"/>
          <p:cNvSpPr txBox="1"/>
          <p:nvPr/>
        </p:nvSpPr>
        <p:spPr>
          <a:xfrm>
            <a:off x="6702935" y="5018354"/>
            <a:ext cx="374015" cy="254000"/>
          </a:xfrm>
          <a:prstGeom prst="rect">
            <a:avLst/>
          </a:prstGeom>
        </p:spPr>
        <p:txBody>
          <a:bodyPr vert="horz" wrap="square" lIns="0" tIns="34925" rIns="0" bIns="0" rtlCol="0">
            <a:spAutoFit/>
          </a:bodyPr>
          <a:lstStyle/>
          <a:p>
            <a:pPr marL="222885">
              <a:spcBef>
                <a:spcPts val="275"/>
              </a:spcBef>
            </a:pPr>
            <a:r>
              <a:rPr sz="600" spc="-25" dirty="0">
                <a:latin typeface="Arial"/>
                <a:cs typeface="Arial"/>
              </a:rPr>
              <a:t>UK</a:t>
            </a:r>
            <a:endParaRPr sz="600">
              <a:latin typeface="Arial"/>
              <a:cs typeface="Arial"/>
            </a:endParaRPr>
          </a:p>
          <a:p>
            <a:pPr marL="12700">
              <a:spcBef>
                <a:spcPts val="180"/>
              </a:spcBef>
            </a:pPr>
            <a:r>
              <a:rPr sz="600" spc="-10" dirty="0">
                <a:latin typeface="Arial"/>
                <a:cs typeface="Arial"/>
              </a:rPr>
              <a:t>Financials</a:t>
            </a:r>
            <a:endParaRPr sz="600">
              <a:latin typeface="Arial"/>
              <a:cs typeface="Arial"/>
            </a:endParaRPr>
          </a:p>
        </p:txBody>
      </p:sp>
      <p:grpSp>
        <p:nvGrpSpPr>
          <p:cNvPr id="16" name="object 16"/>
          <p:cNvGrpSpPr/>
          <p:nvPr/>
        </p:nvGrpSpPr>
        <p:grpSpPr>
          <a:xfrm>
            <a:off x="5867653" y="3684843"/>
            <a:ext cx="990600" cy="1557655"/>
            <a:chOff x="5486653" y="2952686"/>
            <a:chExt cx="990600" cy="1557655"/>
          </a:xfrm>
        </p:grpSpPr>
        <p:pic>
          <p:nvPicPr>
            <p:cNvPr id="17" name="object 17"/>
            <p:cNvPicPr/>
            <p:nvPr/>
          </p:nvPicPr>
          <p:blipFill>
            <a:blip r:embed="rId6" cstate="print"/>
            <a:stretch>
              <a:fillRect/>
            </a:stretch>
          </p:blipFill>
          <p:spPr>
            <a:xfrm>
              <a:off x="6343522" y="4296511"/>
              <a:ext cx="133210" cy="133210"/>
            </a:xfrm>
            <a:prstGeom prst="rect">
              <a:avLst/>
            </a:prstGeom>
          </p:spPr>
        </p:pic>
        <p:pic>
          <p:nvPicPr>
            <p:cNvPr id="18" name="object 18"/>
            <p:cNvPicPr/>
            <p:nvPr/>
          </p:nvPicPr>
          <p:blipFill>
            <a:blip r:embed="rId7" cstate="print"/>
            <a:stretch>
              <a:fillRect/>
            </a:stretch>
          </p:blipFill>
          <p:spPr>
            <a:xfrm>
              <a:off x="5518403" y="4309020"/>
              <a:ext cx="721855" cy="201218"/>
            </a:xfrm>
            <a:prstGeom prst="rect">
              <a:avLst/>
            </a:prstGeom>
          </p:spPr>
        </p:pic>
        <p:pic>
          <p:nvPicPr>
            <p:cNvPr id="19" name="object 19" descr="单位]芯迈半导体技术（杭州）股份有限公司- 杭州电子科技大学24365就业数智平台"/>
            <p:cNvPicPr/>
            <p:nvPr/>
          </p:nvPicPr>
          <p:blipFill>
            <a:blip r:embed="rId8" cstate="print"/>
            <a:stretch>
              <a:fillRect/>
            </a:stretch>
          </p:blipFill>
          <p:spPr>
            <a:xfrm>
              <a:off x="5645276" y="2952686"/>
              <a:ext cx="369633" cy="369633"/>
            </a:xfrm>
            <a:prstGeom prst="rect">
              <a:avLst/>
            </a:prstGeom>
          </p:spPr>
        </p:pic>
        <p:pic>
          <p:nvPicPr>
            <p:cNvPr id="20" name="object 20" descr="Ofmom - For the health of a mother and a child"/>
            <p:cNvPicPr/>
            <p:nvPr/>
          </p:nvPicPr>
          <p:blipFill>
            <a:blip r:embed="rId9" cstate="print"/>
            <a:stretch>
              <a:fillRect/>
            </a:stretch>
          </p:blipFill>
          <p:spPr>
            <a:xfrm>
              <a:off x="5486653" y="3401250"/>
              <a:ext cx="686981" cy="279590"/>
            </a:xfrm>
            <a:prstGeom prst="rect">
              <a:avLst/>
            </a:prstGeom>
          </p:spPr>
        </p:pic>
      </p:grpSp>
      <p:sp>
        <p:nvSpPr>
          <p:cNvPr id="21" name="object 21"/>
          <p:cNvSpPr txBox="1"/>
          <p:nvPr/>
        </p:nvSpPr>
        <p:spPr>
          <a:xfrm>
            <a:off x="6092192" y="4352927"/>
            <a:ext cx="240665" cy="90409"/>
          </a:xfrm>
          <a:prstGeom prst="rect">
            <a:avLst/>
          </a:prstGeom>
        </p:spPr>
        <p:txBody>
          <a:bodyPr vert="horz" wrap="square" lIns="0" tIns="13335" rIns="0" bIns="0" rtlCol="0">
            <a:spAutoFit/>
          </a:bodyPr>
          <a:lstStyle/>
          <a:p>
            <a:pPr marL="12700">
              <a:spcBef>
                <a:spcPts val="105"/>
              </a:spcBef>
            </a:pPr>
            <a:r>
              <a:rPr sz="500" i="1" spc="-10" dirty="0">
                <a:latin typeface="Arial"/>
                <a:cs typeface="Arial"/>
              </a:rPr>
              <a:t>(Coree)</a:t>
            </a:r>
            <a:endParaRPr sz="500">
              <a:latin typeface="Arial"/>
              <a:cs typeface="Arial"/>
            </a:endParaRPr>
          </a:p>
        </p:txBody>
      </p:sp>
      <p:grpSp>
        <p:nvGrpSpPr>
          <p:cNvPr id="22" name="object 22"/>
          <p:cNvGrpSpPr/>
          <p:nvPr/>
        </p:nvGrpSpPr>
        <p:grpSpPr>
          <a:xfrm>
            <a:off x="4276092" y="3815082"/>
            <a:ext cx="559435" cy="606425"/>
            <a:chOff x="3895090" y="3082925"/>
            <a:chExt cx="559435" cy="606425"/>
          </a:xfrm>
        </p:grpSpPr>
        <p:pic>
          <p:nvPicPr>
            <p:cNvPr id="23" name="object 23"/>
            <p:cNvPicPr/>
            <p:nvPr/>
          </p:nvPicPr>
          <p:blipFill>
            <a:blip r:embed="rId10" cstate="print"/>
            <a:stretch>
              <a:fillRect/>
            </a:stretch>
          </p:blipFill>
          <p:spPr>
            <a:xfrm>
              <a:off x="3895090" y="3506558"/>
              <a:ext cx="559219" cy="182664"/>
            </a:xfrm>
            <a:prstGeom prst="rect">
              <a:avLst/>
            </a:prstGeom>
          </p:spPr>
        </p:pic>
        <p:pic>
          <p:nvPicPr>
            <p:cNvPr id="24" name="object 24" descr="Home – PT Merdeka Copper Gold Tbk"/>
            <p:cNvPicPr/>
            <p:nvPr/>
          </p:nvPicPr>
          <p:blipFill>
            <a:blip r:embed="rId11" cstate="print"/>
            <a:stretch>
              <a:fillRect/>
            </a:stretch>
          </p:blipFill>
          <p:spPr>
            <a:xfrm>
              <a:off x="3901313" y="3082925"/>
              <a:ext cx="546760" cy="239394"/>
            </a:xfrm>
            <a:prstGeom prst="rect">
              <a:avLst/>
            </a:prstGeom>
          </p:spPr>
        </p:pic>
      </p:grpSp>
      <p:sp>
        <p:nvSpPr>
          <p:cNvPr id="25" name="object 25"/>
          <p:cNvSpPr txBox="1"/>
          <p:nvPr/>
        </p:nvSpPr>
        <p:spPr>
          <a:xfrm>
            <a:off x="4945509" y="3938779"/>
            <a:ext cx="252095" cy="105157"/>
          </a:xfrm>
          <a:prstGeom prst="rect">
            <a:avLst/>
          </a:prstGeom>
        </p:spPr>
        <p:txBody>
          <a:bodyPr vert="horz" wrap="square" lIns="0" tIns="12700" rIns="0" bIns="0" rtlCol="0">
            <a:spAutoFit/>
          </a:bodyPr>
          <a:lstStyle/>
          <a:p>
            <a:pPr marL="12700">
              <a:spcBef>
                <a:spcPts val="100"/>
              </a:spcBef>
            </a:pPr>
            <a:r>
              <a:rPr sz="600" spc="-10" dirty="0">
                <a:latin typeface="Arial"/>
                <a:cs typeface="Arial"/>
              </a:rPr>
              <a:t>Mining</a:t>
            </a:r>
            <a:endParaRPr sz="600">
              <a:latin typeface="Arial"/>
              <a:cs typeface="Arial"/>
            </a:endParaRPr>
          </a:p>
        </p:txBody>
      </p:sp>
      <p:pic>
        <p:nvPicPr>
          <p:cNvPr id="26" name="object 26" descr="Indonesia flag - Free flags icons"/>
          <p:cNvPicPr/>
          <p:nvPr/>
        </p:nvPicPr>
        <p:blipFill>
          <a:blip r:embed="rId12" cstate="print"/>
          <a:stretch>
            <a:fillRect/>
          </a:stretch>
        </p:blipFill>
        <p:spPr>
          <a:xfrm>
            <a:off x="4967098" y="3772915"/>
            <a:ext cx="146303" cy="146304"/>
          </a:xfrm>
          <a:prstGeom prst="rect">
            <a:avLst/>
          </a:prstGeom>
        </p:spPr>
      </p:pic>
      <p:sp>
        <p:nvSpPr>
          <p:cNvPr id="27" name="object 27"/>
          <p:cNvSpPr txBox="1"/>
          <p:nvPr/>
        </p:nvSpPr>
        <p:spPr>
          <a:xfrm>
            <a:off x="4945507" y="5167706"/>
            <a:ext cx="547302" cy="105157"/>
          </a:xfrm>
          <a:prstGeom prst="rect">
            <a:avLst/>
          </a:prstGeom>
        </p:spPr>
        <p:txBody>
          <a:bodyPr vert="horz" wrap="square" lIns="0" tIns="12700" rIns="0" bIns="0" rtlCol="0">
            <a:spAutoFit/>
          </a:bodyPr>
          <a:lstStyle/>
          <a:p>
            <a:pPr marL="12700">
              <a:spcBef>
                <a:spcPts val="100"/>
              </a:spcBef>
            </a:pPr>
            <a:r>
              <a:rPr sz="600" spc="-10" dirty="0">
                <a:latin typeface="Arial"/>
                <a:cs typeface="Arial"/>
              </a:rPr>
              <a:t>Industrials</a:t>
            </a:r>
            <a:endParaRPr sz="600" dirty="0">
              <a:latin typeface="Arial"/>
              <a:cs typeface="Arial"/>
            </a:endParaRPr>
          </a:p>
        </p:txBody>
      </p:sp>
      <p:pic>
        <p:nvPicPr>
          <p:cNvPr id="28" name="object 28"/>
          <p:cNvPicPr/>
          <p:nvPr/>
        </p:nvPicPr>
        <p:blipFill>
          <a:blip r:embed="rId13" cstate="print"/>
          <a:stretch>
            <a:fillRect/>
          </a:stretch>
        </p:blipFill>
        <p:spPr>
          <a:xfrm>
            <a:off x="4967098" y="5013655"/>
            <a:ext cx="146303" cy="146304"/>
          </a:xfrm>
          <a:prstGeom prst="rect">
            <a:avLst/>
          </a:prstGeom>
        </p:spPr>
      </p:pic>
      <p:sp>
        <p:nvSpPr>
          <p:cNvPr id="29" name="object 29"/>
          <p:cNvSpPr txBox="1"/>
          <p:nvPr/>
        </p:nvSpPr>
        <p:spPr>
          <a:xfrm>
            <a:off x="5129278" y="5006468"/>
            <a:ext cx="375285" cy="105157"/>
          </a:xfrm>
          <a:prstGeom prst="rect">
            <a:avLst/>
          </a:prstGeom>
        </p:spPr>
        <p:txBody>
          <a:bodyPr vert="horz" wrap="square" lIns="0" tIns="12700" rIns="0" bIns="0" rtlCol="0">
            <a:spAutoFit/>
          </a:bodyPr>
          <a:lstStyle/>
          <a:p>
            <a:pPr marL="12700">
              <a:spcBef>
                <a:spcPts val="100"/>
              </a:spcBef>
            </a:pPr>
            <a:r>
              <a:rPr sz="600" spc="-10" dirty="0">
                <a:latin typeface="Arial"/>
                <a:cs typeface="Arial"/>
              </a:rPr>
              <a:t>Singapore</a:t>
            </a:r>
            <a:endParaRPr sz="600">
              <a:latin typeface="Arial"/>
              <a:cs typeface="Arial"/>
            </a:endParaRPr>
          </a:p>
        </p:txBody>
      </p:sp>
      <p:pic>
        <p:nvPicPr>
          <p:cNvPr id="30" name="object 30" descr="Pinnacle Marine (Singapore) Pte Ltd | LinkedIn"/>
          <p:cNvPicPr/>
          <p:nvPr/>
        </p:nvPicPr>
        <p:blipFill>
          <a:blip r:embed="rId14" cstate="print"/>
          <a:stretch>
            <a:fillRect/>
          </a:stretch>
        </p:blipFill>
        <p:spPr>
          <a:xfrm>
            <a:off x="4408042" y="4944579"/>
            <a:ext cx="295338" cy="295338"/>
          </a:xfrm>
          <a:prstGeom prst="rect">
            <a:avLst/>
          </a:prstGeom>
        </p:spPr>
      </p:pic>
      <p:sp>
        <p:nvSpPr>
          <p:cNvPr id="31" name="object 31"/>
          <p:cNvSpPr txBox="1"/>
          <p:nvPr/>
        </p:nvSpPr>
        <p:spPr>
          <a:xfrm>
            <a:off x="4295647" y="5170754"/>
            <a:ext cx="521334" cy="89768"/>
          </a:xfrm>
          <a:prstGeom prst="rect">
            <a:avLst/>
          </a:prstGeom>
        </p:spPr>
        <p:txBody>
          <a:bodyPr vert="horz" wrap="square" lIns="0" tIns="12700" rIns="0" bIns="0" rtlCol="0">
            <a:spAutoFit/>
          </a:bodyPr>
          <a:lstStyle/>
          <a:p>
            <a:pPr marL="12700">
              <a:spcBef>
                <a:spcPts val="100"/>
              </a:spcBef>
            </a:pPr>
            <a:r>
              <a:rPr sz="500" i="1" dirty="0">
                <a:latin typeface="Arial"/>
                <a:cs typeface="Arial"/>
              </a:rPr>
              <a:t>(Pinnacle</a:t>
            </a:r>
            <a:r>
              <a:rPr sz="500" i="1" spc="-35" dirty="0">
                <a:latin typeface="Arial"/>
                <a:cs typeface="Arial"/>
              </a:rPr>
              <a:t> </a:t>
            </a:r>
            <a:r>
              <a:rPr sz="500" i="1" spc="-10" dirty="0">
                <a:latin typeface="Arial"/>
                <a:cs typeface="Arial"/>
              </a:rPr>
              <a:t>Marine)</a:t>
            </a:r>
            <a:endParaRPr sz="500">
              <a:latin typeface="Arial"/>
              <a:cs typeface="Arial"/>
            </a:endParaRPr>
          </a:p>
        </p:txBody>
      </p:sp>
      <p:sp>
        <p:nvSpPr>
          <p:cNvPr id="32" name="object 32"/>
          <p:cNvSpPr txBox="1"/>
          <p:nvPr/>
        </p:nvSpPr>
        <p:spPr>
          <a:xfrm>
            <a:off x="4945509" y="4332225"/>
            <a:ext cx="375285" cy="197490"/>
          </a:xfrm>
          <a:prstGeom prst="rect">
            <a:avLst/>
          </a:prstGeom>
        </p:spPr>
        <p:txBody>
          <a:bodyPr vert="horz" wrap="square" lIns="0" tIns="12700" rIns="0" bIns="0" rtlCol="0">
            <a:spAutoFit/>
          </a:bodyPr>
          <a:lstStyle/>
          <a:p>
            <a:pPr marL="12700">
              <a:spcBef>
                <a:spcPts val="100"/>
              </a:spcBef>
            </a:pPr>
            <a:r>
              <a:rPr sz="600" spc="-10" dirty="0">
                <a:latin typeface="Arial"/>
                <a:cs typeface="Arial"/>
              </a:rPr>
              <a:t>Consumer</a:t>
            </a:r>
            <a:endParaRPr sz="600">
              <a:latin typeface="Arial"/>
              <a:cs typeface="Arial"/>
            </a:endParaRPr>
          </a:p>
        </p:txBody>
      </p:sp>
      <p:sp>
        <p:nvSpPr>
          <p:cNvPr id="33" name="object 33"/>
          <p:cNvSpPr txBox="1"/>
          <p:nvPr/>
        </p:nvSpPr>
        <p:spPr>
          <a:xfrm>
            <a:off x="5149724" y="4166745"/>
            <a:ext cx="358775" cy="105157"/>
          </a:xfrm>
          <a:prstGeom prst="rect">
            <a:avLst/>
          </a:prstGeom>
        </p:spPr>
        <p:txBody>
          <a:bodyPr vert="horz" wrap="square" lIns="0" tIns="12700" rIns="0" bIns="0" rtlCol="0">
            <a:spAutoFit/>
          </a:bodyPr>
          <a:lstStyle/>
          <a:p>
            <a:pPr marL="12700">
              <a:spcBef>
                <a:spcPts val="100"/>
              </a:spcBef>
            </a:pPr>
            <a:r>
              <a:rPr sz="600" spc="-10" dirty="0">
                <a:latin typeface="Arial"/>
                <a:cs typeface="Arial"/>
              </a:rPr>
              <a:t>Indonesia</a:t>
            </a:r>
            <a:endParaRPr sz="600">
              <a:latin typeface="Arial"/>
              <a:cs typeface="Arial"/>
            </a:endParaRPr>
          </a:p>
        </p:txBody>
      </p:sp>
      <p:grpSp>
        <p:nvGrpSpPr>
          <p:cNvPr id="34" name="object 34"/>
          <p:cNvGrpSpPr/>
          <p:nvPr/>
        </p:nvGrpSpPr>
        <p:grpSpPr>
          <a:xfrm>
            <a:off x="4393691" y="4170046"/>
            <a:ext cx="720090" cy="733425"/>
            <a:chOff x="4012691" y="3437889"/>
            <a:chExt cx="720090" cy="733425"/>
          </a:xfrm>
        </p:grpSpPr>
        <p:pic>
          <p:nvPicPr>
            <p:cNvPr id="35" name="object 35" descr="Indonesia flag - Free flags icons"/>
            <p:cNvPicPr/>
            <p:nvPr/>
          </p:nvPicPr>
          <p:blipFill>
            <a:blip r:embed="rId12" cstate="print"/>
            <a:stretch>
              <a:fillRect/>
            </a:stretch>
          </p:blipFill>
          <p:spPr>
            <a:xfrm>
              <a:off x="4586096" y="3437889"/>
              <a:ext cx="146303" cy="146304"/>
            </a:xfrm>
            <a:prstGeom prst="rect">
              <a:avLst/>
            </a:prstGeom>
          </p:spPr>
        </p:pic>
        <p:pic>
          <p:nvPicPr>
            <p:cNvPr id="36" name="object 36" descr="Haid Group (002311) has spun off Haid International and ..."/>
            <p:cNvPicPr/>
            <p:nvPr/>
          </p:nvPicPr>
          <p:blipFill>
            <a:blip r:embed="rId15" cstate="print"/>
            <a:stretch>
              <a:fillRect/>
            </a:stretch>
          </p:blipFill>
          <p:spPr>
            <a:xfrm>
              <a:off x="4012691" y="3819207"/>
              <a:ext cx="324002" cy="351624"/>
            </a:xfrm>
            <a:prstGeom prst="rect">
              <a:avLst/>
            </a:prstGeom>
          </p:spPr>
        </p:pic>
      </p:grpSp>
      <p:sp>
        <p:nvSpPr>
          <p:cNvPr id="37" name="object 37"/>
          <p:cNvSpPr txBox="1"/>
          <p:nvPr/>
        </p:nvSpPr>
        <p:spPr>
          <a:xfrm>
            <a:off x="4945509" y="4815663"/>
            <a:ext cx="524198" cy="105157"/>
          </a:xfrm>
          <a:prstGeom prst="rect">
            <a:avLst/>
          </a:prstGeom>
        </p:spPr>
        <p:txBody>
          <a:bodyPr vert="horz" wrap="square" lIns="0" tIns="12700" rIns="0" bIns="0" rtlCol="0">
            <a:spAutoFit/>
          </a:bodyPr>
          <a:lstStyle/>
          <a:p>
            <a:pPr marL="12700">
              <a:spcBef>
                <a:spcPts val="100"/>
              </a:spcBef>
            </a:pPr>
            <a:r>
              <a:rPr sz="600" spc="-10" dirty="0">
                <a:latin typeface="Arial"/>
                <a:cs typeface="Arial"/>
              </a:rPr>
              <a:t>Consumer</a:t>
            </a:r>
            <a:endParaRPr sz="600" dirty="0">
              <a:latin typeface="Arial"/>
              <a:cs typeface="Arial"/>
            </a:endParaRPr>
          </a:p>
        </p:txBody>
      </p:sp>
      <p:sp>
        <p:nvSpPr>
          <p:cNvPr id="38" name="object 38"/>
          <p:cNvSpPr txBox="1"/>
          <p:nvPr/>
        </p:nvSpPr>
        <p:spPr>
          <a:xfrm>
            <a:off x="5139056" y="4505071"/>
            <a:ext cx="404115" cy="224229"/>
          </a:xfrm>
          <a:prstGeom prst="rect">
            <a:avLst/>
          </a:prstGeom>
        </p:spPr>
        <p:txBody>
          <a:bodyPr vert="horz" wrap="square" lIns="0" tIns="12700" rIns="0" bIns="0" rtlCol="0">
            <a:spAutoFit/>
          </a:bodyPr>
          <a:lstStyle/>
          <a:p>
            <a:pPr marL="12700" marR="5080">
              <a:lnSpc>
                <a:spcPct val="120000"/>
              </a:lnSpc>
              <a:spcBef>
                <a:spcPts val="100"/>
              </a:spcBef>
            </a:pPr>
            <a:r>
              <a:rPr sz="600" dirty="0">
                <a:latin typeface="Arial"/>
                <a:cs typeface="Arial"/>
              </a:rPr>
              <a:t>Vietnam</a:t>
            </a:r>
            <a:r>
              <a:rPr sz="600" spc="-30" dirty="0">
                <a:latin typeface="Arial"/>
                <a:cs typeface="Arial"/>
              </a:rPr>
              <a:t> </a:t>
            </a:r>
            <a:r>
              <a:rPr sz="600" spc="-50" dirty="0">
                <a:latin typeface="Arial"/>
                <a:cs typeface="Arial"/>
              </a:rPr>
              <a:t>/</a:t>
            </a:r>
            <a:r>
              <a:rPr sz="600" spc="500" dirty="0">
                <a:latin typeface="Arial"/>
                <a:cs typeface="Arial"/>
              </a:rPr>
              <a:t> </a:t>
            </a:r>
            <a:r>
              <a:rPr sz="600" spc="-10" dirty="0">
                <a:latin typeface="Arial"/>
                <a:cs typeface="Arial"/>
              </a:rPr>
              <a:t>Indonesia</a:t>
            </a:r>
            <a:endParaRPr sz="600" dirty="0">
              <a:latin typeface="Arial"/>
              <a:cs typeface="Arial"/>
            </a:endParaRPr>
          </a:p>
        </p:txBody>
      </p:sp>
      <p:grpSp>
        <p:nvGrpSpPr>
          <p:cNvPr id="39" name="object 39"/>
          <p:cNvGrpSpPr/>
          <p:nvPr/>
        </p:nvGrpSpPr>
        <p:grpSpPr>
          <a:xfrm>
            <a:off x="4232530" y="4104387"/>
            <a:ext cx="2633345" cy="742315"/>
            <a:chOff x="3851528" y="3372230"/>
            <a:chExt cx="2633345" cy="742315"/>
          </a:xfrm>
        </p:grpSpPr>
        <p:pic>
          <p:nvPicPr>
            <p:cNvPr id="40" name="object 40" descr="Indonesia flag - Free flags icons"/>
            <p:cNvPicPr/>
            <p:nvPr/>
          </p:nvPicPr>
          <p:blipFill>
            <a:blip r:embed="rId12" cstate="print"/>
            <a:stretch>
              <a:fillRect/>
            </a:stretch>
          </p:blipFill>
          <p:spPr>
            <a:xfrm>
              <a:off x="4586096" y="3967721"/>
              <a:ext cx="146303" cy="146303"/>
            </a:xfrm>
            <a:prstGeom prst="rect">
              <a:avLst/>
            </a:prstGeom>
          </p:spPr>
        </p:pic>
        <p:pic>
          <p:nvPicPr>
            <p:cNvPr id="41" name="object 41"/>
            <p:cNvPicPr/>
            <p:nvPr/>
          </p:nvPicPr>
          <p:blipFill>
            <a:blip r:embed="rId16" cstate="print"/>
            <a:stretch>
              <a:fillRect/>
            </a:stretch>
          </p:blipFill>
          <p:spPr>
            <a:xfrm>
              <a:off x="4577079" y="3784269"/>
              <a:ext cx="164490" cy="155435"/>
            </a:xfrm>
            <a:prstGeom prst="rect">
              <a:avLst/>
            </a:prstGeom>
          </p:spPr>
        </p:pic>
        <p:sp>
          <p:nvSpPr>
            <p:cNvPr id="42" name="object 42"/>
            <p:cNvSpPr/>
            <p:nvPr/>
          </p:nvSpPr>
          <p:spPr>
            <a:xfrm>
              <a:off x="3854703" y="3375405"/>
              <a:ext cx="1449070" cy="0"/>
            </a:xfrm>
            <a:custGeom>
              <a:avLst/>
              <a:gdLst/>
              <a:ahLst/>
              <a:cxnLst/>
              <a:rect l="l" t="t" r="r" b="b"/>
              <a:pathLst>
                <a:path w="1449070">
                  <a:moveTo>
                    <a:pt x="0" y="0"/>
                  </a:moveTo>
                  <a:lnTo>
                    <a:pt x="1448816" y="0"/>
                  </a:lnTo>
                </a:path>
              </a:pathLst>
            </a:custGeom>
            <a:ln w="6350">
              <a:solidFill>
                <a:srgbClr val="BEBEBE"/>
              </a:solidFill>
              <a:prstDash val="sysDash"/>
            </a:ln>
          </p:spPr>
          <p:txBody>
            <a:bodyPr wrap="square" lIns="0" tIns="0" rIns="0" bIns="0" rtlCol="0"/>
            <a:lstStyle/>
            <a:p>
              <a:endParaRPr/>
            </a:p>
          </p:txBody>
        </p:sp>
        <p:pic>
          <p:nvPicPr>
            <p:cNvPr id="43" name="object 43" descr="Tenways — TWINS PR"/>
            <p:cNvPicPr/>
            <p:nvPr/>
          </p:nvPicPr>
          <p:blipFill>
            <a:blip r:embed="rId17" cstate="print"/>
            <a:stretch>
              <a:fillRect/>
            </a:stretch>
          </p:blipFill>
          <p:spPr>
            <a:xfrm>
              <a:off x="5531992" y="3932294"/>
              <a:ext cx="696010" cy="80232"/>
            </a:xfrm>
            <a:prstGeom prst="rect">
              <a:avLst/>
            </a:prstGeom>
          </p:spPr>
        </p:pic>
        <p:pic>
          <p:nvPicPr>
            <p:cNvPr id="44" name="object 44"/>
            <p:cNvPicPr/>
            <p:nvPr/>
          </p:nvPicPr>
          <p:blipFill>
            <a:blip r:embed="rId18" cstate="print"/>
            <a:stretch>
              <a:fillRect/>
            </a:stretch>
          </p:blipFill>
          <p:spPr>
            <a:xfrm>
              <a:off x="6335521" y="3836111"/>
              <a:ext cx="149110" cy="164985"/>
            </a:xfrm>
            <a:prstGeom prst="rect">
              <a:avLst/>
            </a:prstGeom>
          </p:spPr>
        </p:pic>
      </p:grpSp>
      <p:sp>
        <p:nvSpPr>
          <p:cNvPr id="45" name="object 45"/>
          <p:cNvSpPr txBox="1"/>
          <p:nvPr/>
        </p:nvSpPr>
        <p:spPr>
          <a:xfrm>
            <a:off x="6700520" y="4564509"/>
            <a:ext cx="515620" cy="253339"/>
          </a:xfrm>
          <a:prstGeom prst="rect">
            <a:avLst/>
          </a:prstGeom>
        </p:spPr>
        <p:txBody>
          <a:bodyPr vert="horz" wrap="square" lIns="0" tIns="12700" rIns="0" bIns="0" rtlCol="0">
            <a:spAutoFit/>
          </a:bodyPr>
          <a:lstStyle/>
          <a:p>
            <a:pPr marL="12700" marR="5080" indent="212725">
              <a:lnSpc>
                <a:spcPct val="138300"/>
              </a:lnSpc>
              <a:spcBef>
                <a:spcPts val="100"/>
              </a:spcBef>
            </a:pPr>
            <a:r>
              <a:rPr sz="600" spc="-10" dirty="0">
                <a:latin typeface="Arial"/>
                <a:cs typeface="Arial"/>
              </a:rPr>
              <a:t>Benelux</a:t>
            </a:r>
            <a:r>
              <a:rPr sz="600" spc="500" dirty="0">
                <a:latin typeface="Arial"/>
                <a:cs typeface="Arial"/>
              </a:rPr>
              <a:t> </a:t>
            </a:r>
            <a:r>
              <a:rPr sz="600" spc="-10" dirty="0">
                <a:latin typeface="Arial"/>
                <a:cs typeface="Arial"/>
              </a:rPr>
              <a:t>Consumer</a:t>
            </a:r>
            <a:endParaRPr sz="600">
              <a:latin typeface="Arial"/>
              <a:cs typeface="Arial"/>
            </a:endParaRPr>
          </a:p>
        </p:txBody>
      </p:sp>
      <p:sp>
        <p:nvSpPr>
          <p:cNvPr id="47" name="object 47"/>
          <p:cNvSpPr/>
          <p:nvPr/>
        </p:nvSpPr>
        <p:spPr>
          <a:xfrm>
            <a:off x="5869178" y="4477130"/>
            <a:ext cx="1449070" cy="0"/>
          </a:xfrm>
          <a:custGeom>
            <a:avLst/>
            <a:gdLst/>
            <a:ahLst/>
            <a:cxnLst/>
            <a:rect l="l" t="t" r="r" b="b"/>
            <a:pathLst>
              <a:path w="1449070">
                <a:moveTo>
                  <a:pt x="0" y="0"/>
                </a:moveTo>
                <a:lnTo>
                  <a:pt x="1448689" y="0"/>
                </a:lnTo>
              </a:path>
            </a:pathLst>
          </a:custGeom>
          <a:ln w="6350">
            <a:solidFill>
              <a:srgbClr val="BEBEBE"/>
            </a:solidFill>
            <a:prstDash val="sysDash"/>
          </a:ln>
        </p:spPr>
        <p:txBody>
          <a:bodyPr wrap="square" lIns="0" tIns="0" rIns="0" bIns="0" rtlCol="0"/>
          <a:lstStyle/>
          <a:p>
            <a:endParaRPr/>
          </a:p>
        </p:txBody>
      </p:sp>
      <p:pic>
        <p:nvPicPr>
          <p:cNvPr id="48" name="object 48"/>
          <p:cNvPicPr/>
          <p:nvPr/>
        </p:nvPicPr>
        <p:blipFill>
          <a:blip r:embed="rId19" cstate="print"/>
          <a:stretch>
            <a:fillRect/>
          </a:stretch>
        </p:blipFill>
        <p:spPr>
          <a:xfrm>
            <a:off x="609600" y="1460564"/>
            <a:ext cx="3755898" cy="4245229"/>
          </a:xfrm>
          <a:prstGeom prst="rect">
            <a:avLst/>
          </a:prstGeom>
        </p:spPr>
      </p:pic>
      <p:sp>
        <p:nvSpPr>
          <p:cNvPr id="49" name="object 49"/>
          <p:cNvSpPr/>
          <p:nvPr/>
        </p:nvSpPr>
        <p:spPr>
          <a:xfrm>
            <a:off x="963269" y="1788110"/>
            <a:ext cx="3069590" cy="3549015"/>
          </a:xfrm>
          <a:custGeom>
            <a:avLst/>
            <a:gdLst/>
            <a:ahLst/>
            <a:cxnLst/>
            <a:rect l="l" t="t" r="r" b="b"/>
            <a:pathLst>
              <a:path w="3069590" h="3549015">
                <a:moveTo>
                  <a:pt x="3069463" y="0"/>
                </a:moveTo>
                <a:lnTo>
                  <a:pt x="0" y="0"/>
                </a:lnTo>
                <a:lnTo>
                  <a:pt x="0" y="3548507"/>
                </a:lnTo>
                <a:lnTo>
                  <a:pt x="3069463" y="3548507"/>
                </a:lnTo>
                <a:lnTo>
                  <a:pt x="3069463" y="0"/>
                </a:lnTo>
                <a:close/>
              </a:path>
            </a:pathLst>
          </a:custGeom>
          <a:solidFill>
            <a:srgbClr val="FFFFFF"/>
          </a:solidFill>
          <a:ln>
            <a:solidFill>
              <a:srgbClr val="C00000"/>
            </a:solidFill>
          </a:ln>
        </p:spPr>
        <p:txBody>
          <a:bodyPr wrap="square" lIns="0" tIns="0" rIns="0" bIns="0" rtlCol="0"/>
          <a:lstStyle/>
          <a:p>
            <a:endParaRPr/>
          </a:p>
        </p:txBody>
      </p:sp>
      <p:sp>
        <p:nvSpPr>
          <p:cNvPr id="50" name="object 50"/>
          <p:cNvSpPr/>
          <p:nvPr/>
        </p:nvSpPr>
        <p:spPr>
          <a:xfrm>
            <a:off x="963269" y="1788110"/>
            <a:ext cx="3069590" cy="3549015"/>
          </a:xfrm>
          <a:custGeom>
            <a:avLst/>
            <a:gdLst/>
            <a:ahLst/>
            <a:cxnLst/>
            <a:rect l="l" t="t" r="r" b="b"/>
            <a:pathLst>
              <a:path w="3069590" h="3549015">
                <a:moveTo>
                  <a:pt x="0" y="3548507"/>
                </a:moveTo>
                <a:lnTo>
                  <a:pt x="3069463" y="3548507"/>
                </a:lnTo>
                <a:lnTo>
                  <a:pt x="3069463" y="0"/>
                </a:lnTo>
                <a:lnTo>
                  <a:pt x="0" y="0"/>
                </a:lnTo>
                <a:lnTo>
                  <a:pt x="0" y="3548507"/>
                </a:lnTo>
                <a:close/>
              </a:path>
            </a:pathLst>
          </a:custGeom>
          <a:ln w="6349">
            <a:solidFill>
              <a:schemeClr val="accent1"/>
            </a:solidFill>
          </a:ln>
        </p:spPr>
        <p:txBody>
          <a:bodyPr wrap="square" lIns="0" tIns="0" rIns="0" bIns="0" rtlCol="0"/>
          <a:lstStyle/>
          <a:p>
            <a:endParaRPr/>
          </a:p>
        </p:txBody>
      </p:sp>
      <p:sp>
        <p:nvSpPr>
          <p:cNvPr id="51" name="object 51"/>
          <p:cNvSpPr txBox="1"/>
          <p:nvPr/>
        </p:nvSpPr>
        <p:spPr>
          <a:xfrm>
            <a:off x="1283817" y="1916429"/>
            <a:ext cx="853440" cy="773430"/>
          </a:xfrm>
          <a:prstGeom prst="rect">
            <a:avLst/>
          </a:prstGeom>
        </p:spPr>
        <p:txBody>
          <a:bodyPr vert="horz" wrap="square" lIns="0" tIns="12065" rIns="0" bIns="0" rtlCol="0">
            <a:spAutoFit/>
          </a:bodyPr>
          <a:lstStyle/>
          <a:p>
            <a:pPr marR="3810" algn="ctr">
              <a:spcBef>
                <a:spcPts val="95"/>
              </a:spcBef>
            </a:pPr>
            <a:r>
              <a:rPr sz="1600" spc="-50" dirty="0">
                <a:solidFill>
                  <a:schemeClr val="tx2"/>
                </a:solidFill>
                <a:latin typeface="Arial"/>
                <a:cs typeface="Arial"/>
              </a:rPr>
              <a:t>7</a:t>
            </a:r>
            <a:endParaRPr sz="1600" dirty="0">
              <a:solidFill>
                <a:schemeClr val="tx2"/>
              </a:solidFill>
              <a:latin typeface="Arial"/>
              <a:cs typeface="Arial"/>
            </a:endParaRPr>
          </a:p>
          <a:p>
            <a:pPr marR="5080" algn="ctr">
              <a:spcBef>
                <a:spcPts val="5"/>
              </a:spcBef>
            </a:pPr>
            <a:r>
              <a:rPr sz="1100" spc="-10" dirty="0">
                <a:solidFill>
                  <a:srgbClr val="12426B"/>
                </a:solidFill>
                <a:latin typeface="Arial"/>
                <a:cs typeface="Arial"/>
              </a:rPr>
              <a:t>International </a:t>
            </a:r>
            <a:r>
              <a:rPr sz="1100" dirty="0">
                <a:solidFill>
                  <a:srgbClr val="12426B"/>
                </a:solidFill>
                <a:latin typeface="Arial"/>
                <a:cs typeface="Arial"/>
              </a:rPr>
              <a:t>Issuer</a:t>
            </a:r>
            <a:r>
              <a:rPr sz="1100" spc="-35" dirty="0">
                <a:solidFill>
                  <a:srgbClr val="12426B"/>
                </a:solidFill>
                <a:latin typeface="Arial"/>
                <a:cs typeface="Arial"/>
              </a:rPr>
              <a:t> </a:t>
            </a:r>
            <a:r>
              <a:rPr sz="1100" spc="-20" dirty="0">
                <a:solidFill>
                  <a:srgbClr val="12426B"/>
                </a:solidFill>
                <a:latin typeface="Arial"/>
                <a:cs typeface="Arial"/>
              </a:rPr>
              <a:t>IPOs </a:t>
            </a:r>
            <a:r>
              <a:rPr sz="1100" dirty="0">
                <a:solidFill>
                  <a:srgbClr val="12426B"/>
                </a:solidFill>
                <a:latin typeface="Arial"/>
                <a:cs typeface="Arial"/>
              </a:rPr>
              <a:t>in</a:t>
            </a:r>
            <a:r>
              <a:rPr sz="1100" spc="-20" dirty="0">
                <a:solidFill>
                  <a:srgbClr val="12426B"/>
                </a:solidFill>
                <a:latin typeface="Arial"/>
                <a:cs typeface="Arial"/>
              </a:rPr>
              <a:t> 2025</a:t>
            </a:r>
            <a:endParaRPr sz="1100" dirty="0">
              <a:latin typeface="Arial"/>
              <a:cs typeface="Arial"/>
            </a:endParaRPr>
          </a:p>
        </p:txBody>
      </p:sp>
      <p:sp>
        <p:nvSpPr>
          <p:cNvPr id="52" name="object 52"/>
          <p:cNvSpPr txBox="1"/>
          <p:nvPr/>
        </p:nvSpPr>
        <p:spPr>
          <a:xfrm>
            <a:off x="2692909" y="1913635"/>
            <a:ext cx="1086485" cy="773430"/>
          </a:xfrm>
          <a:prstGeom prst="rect">
            <a:avLst/>
          </a:prstGeom>
        </p:spPr>
        <p:txBody>
          <a:bodyPr vert="horz" wrap="square" lIns="0" tIns="12065" rIns="0" bIns="0" rtlCol="0">
            <a:spAutoFit/>
          </a:bodyPr>
          <a:lstStyle/>
          <a:p>
            <a:pPr marL="393065">
              <a:spcBef>
                <a:spcPts val="95"/>
              </a:spcBef>
            </a:pPr>
            <a:r>
              <a:rPr sz="1600" spc="-25" dirty="0">
                <a:solidFill>
                  <a:srgbClr val="00AF50"/>
                </a:solidFill>
                <a:latin typeface="Arial"/>
                <a:cs typeface="Arial"/>
              </a:rPr>
              <a:t>49%</a:t>
            </a:r>
            <a:endParaRPr sz="1600">
              <a:latin typeface="Arial"/>
              <a:cs typeface="Arial"/>
            </a:endParaRPr>
          </a:p>
          <a:p>
            <a:pPr marR="5080" algn="ctr">
              <a:spcBef>
                <a:spcPts val="5"/>
              </a:spcBef>
            </a:pPr>
            <a:r>
              <a:rPr sz="1100" dirty="0">
                <a:solidFill>
                  <a:srgbClr val="12426B"/>
                </a:solidFill>
                <a:latin typeface="Arial"/>
                <a:cs typeface="Arial"/>
              </a:rPr>
              <a:t>Median</a:t>
            </a:r>
            <a:r>
              <a:rPr sz="1100" spc="-35" dirty="0">
                <a:solidFill>
                  <a:srgbClr val="12426B"/>
                </a:solidFill>
                <a:latin typeface="Arial"/>
                <a:cs typeface="Arial"/>
              </a:rPr>
              <a:t> </a:t>
            </a:r>
            <a:r>
              <a:rPr sz="1100" spc="-10" dirty="0">
                <a:solidFill>
                  <a:srgbClr val="12426B"/>
                </a:solidFill>
                <a:latin typeface="Arial"/>
                <a:cs typeface="Arial"/>
              </a:rPr>
              <a:t>1-</a:t>
            </a:r>
            <a:r>
              <a:rPr sz="1100" spc="-20" dirty="0">
                <a:solidFill>
                  <a:srgbClr val="12426B"/>
                </a:solidFill>
                <a:latin typeface="Arial"/>
                <a:cs typeface="Arial"/>
              </a:rPr>
              <a:t>month </a:t>
            </a:r>
            <a:r>
              <a:rPr sz="1100" spc="-10" dirty="0">
                <a:solidFill>
                  <a:srgbClr val="12426B"/>
                </a:solidFill>
                <a:latin typeface="Arial"/>
                <a:cs typeface="Arial"/>
              </a:rPr>
              <a:t>Aftermarket Performance</a:t>
            </a:r>
            <a:endParaRPr sz="1100">
              <a:latin typeface="Arial"/>
              <a:cs typeface="Arial"/>
            </a:endParaRPr>
          </a:p>
        </p:txBody>
      </p:sp>
      <p:grpSp>
        <p:nvGrpSpPr>
          <p:cNvPr id="53" name="object 53"/>
          <p:cNvGrpSpPr/>
          <p:nvPr/>
        </p:nvGrpSpPr>
        <p:grpSpPr>
          <a:xfrm>
            <a:off x="2854832" y="1980691"/>
            <a:ext cx="5520690" cy="2331720"/>
            <a:chOff x="2473832" y="1248536"/>
            <a:chExt cx="5520690" cy="2331720"/>
          </a:xfrm>
        </p:grpSpPr>
        <p:sp>
          <p:nvSpPr>
            <p:cNvPr id="54" name="object 54"/>
            <p:cNvSpPr/>
            <p:nvPr/>
          </p:nvSpPr>
          <p:spPr>
            <a:xfrm>
              <a:off x="2473832" y="1248536"/>
              <a:ext cx="188595" cy="141605"/>
            </a:xfrm>
            <a:custGeom>
              <a:avLst/>
              <a:gdLst/>
              <a:ahLst/>
              <a:cxnLst/>
              <a:rect l="l" t="t" r="r" b="b"/>
              <a:pathLst>
                <a:path w="188594" h="141605">
                  <a:moveTo>
                    <a:pt x="94106" y="0"/>
                  </a:moveTo>
                  <a:lnTo>
                    <a:pt x="0" y="141097"/>
                  </a:lnTo>
                  <a:lnTo>
                    <a:pt x="188087" y="141097"/>
                  </a:lnTo>
                  <a:lnTo>
                    <a:pt x="94106" y="0"/>
                  </a:lnTo>
                  <a:close/>
                </a:path>
              </a:pathLst>
            </a:custGeom>
            <a:solidFill>
              <a:srgbClr val="00AF50"/>
            </a:solidFill>
          </p:spPr>
          <p:txBody>
            <a:bodyPr wrap="square" lIns="0" tIns="0" rIns="0" bIns="0" rtlCol="0"/>
            <a:lstStyle/>
            <a:p>
              <a:endParaRPr/>
            </a:p>
          </p:txBody>
        </p:sp>
        <p:pic>
          <p:nvPicPr>
            <p:cNvPr id="55" name="object 55" descr="7,200+ Malaysia Flag Stock Photos, Pictures &amp; Royalty-Free Images - iStock  | Malaysia flag heart, Malaysia flag table, Malaysia flag pole"/>
            <p:cNvPicPr/>
            <p:nvPr/>
          </p:nvPicPr>
          <p:blipFill>
            <a:blip r:embed="rId20" cstate="print"/>
            <a:stretch>
              <a:fillRect/>
            </a:stretch>
          </p:blipFill>
          <p:spPr>
            <a:xfrm>
              <a:off x="7842504" y="3386975"/>
              <a:ext cx="151765" cy="149339"/>
            </a:xfrm>
            <a:prstGeom prst="rect">
              <a:avLst/>
            </a:prstGeom>
          </p:spPr>
        </p:pic>
        <p:pic>
          <p:nvPicPr>
            <p:cNvPr id="56" name="object 56" descr="Capital A | Our Brands"/>
            <p:cNvPicPr/>
            <p:nvPr/>
          </p:nvPicPr>
          <p:blipFill>
            <a:blip r:embed="rId21" cstate="print"/>
            <a:stretch>
              <a:fillRect/>
            </a:stretch>
          </p:blipFill>
          <p:spPr>
            <a:xfrm>
              <a:off x="7285608" y="3448761"/>
              <a:ext cx="490245" cy="131241"/>
            </a:xfrm>
            <a:prstGeom prst="rect">
              <a:avLst/>
            </a:prstGeom>
          </p:spPr>
        </p:pic>
      </p:grpSp>
      <p:sp>
        <p:nvSpPr>
          <p:cNvPr id="57" name="object 57"/>
          <p:cNvSpPr txBox="1"/>
          <p:nvPr/>
        </p:nvSpPr>
        <p:spPr>
          <a:xfrm>
            <a:off x="1161899" y="3013965"/>
            <a:ext cx="1108075" cy="605155"/>
          </a:xfrm>
          <a:prstGeom prst="rect">
            <a:avLst/>
          </a:prstGeom>
        </p:spPr>
        <p:txBody>
          <a:bodyPr vert="horz" wrap="square" lIns="0" tIns="12065" rIns="0" bIns="0" rtlCol="0">
            <a:spAutoFit/>
          </a:bodyPr>
          <a:lstStyle/>
          <a:p>
            <a:pPr marR="3810" algn="ctr">
              <a:spcBef>
                <a:spcPts val="95"/>
              </a:spcBef>
            </a:pPr>
            <a:r>
              <a:rPr sz="1600" spc="-10" dirty="0">
                <a:solidFill>
                  <a:schemeClr val="tx2"/>
                </a:solidFill>
                <a:latin typeface="Arial"/>
                <a:cs typeface="Arial"/>
              </a:rPr>
              <a:t>US$40mm</a:t>
            </a:r>
            <a:endParaRPr sz="1600" dirty="0">
              <a:solidFill>
                <a:schemeClr val="tx2"/>
              </a:solidFill>
              <a:latin typeface="Arial"/>
              <a:cs typeface="Arial"/>
            </a:endParaRPr>
          </a:p>
          <a:p>
            <a:pPr marR="5080" algn="ctr">
              <a:spcBef>
                <a:spcPts val="5"/>
              </a:spcBef>
            </a:pPr>
            <a:r>
              <a:rPr sz="1100" dirty="0">
                <a:solidFill>
                  <a:srgbClr val="12426B"/>
                </a:solidFill>
                <a:latin typeface="Arial"/>
                <a:cs typeface="Arial"/>
              </a:rPr>
              <a:t>Average</a:t>
            </a:r>
            <a:r>
              <a:rPr sz="1100" spc="-60" dirty="0">
                <a:solidFill>
                  <a:srgbClr val="12426B"/>
                </a:solidFill>
                <a:latin typeface="Arial"/>
                <a:cs typeface="Arial"/>
              </a:rPr>
              <a:t> </a:t>
            </a:r>
            <a:r>
              <a:rPr sz="1100" spc="-10" dirty="0">
                <a:solidFill>
                  <a:srgbClr val="12426B"/>
                </a:solidFill>
                <a:latin typeface="Arial"/>
                <a:cs typeface="Arial"/>
              </a:rPr>
              <a:t>Current </a:t>
            </a:r>
            <a:r>
              <a:rPr sz="1100" dirty="0">
                <a:solidFill>
                  <a:srgbClr val="12426B"/>
                </a:solidFill>
                <a:latin typeface="Arial"/>
                <a:cs typeface="Arial"/>
              </a:rPr>
              <a:t>3M</a:t>
            </a:r>
            <a:r>
              <a:rPr sz="1100" spc="-20" dirty="0">
                <a:solidFill>
                  <a:srgbClr val="12426B"/>
                </a:solidFill>
                <a:latin typeface="Arial"/>
                <a:cs typeface="Arial"/>
              </a:rPr>
              <a:t> </a:t>
            </a:r>
            <a:r>
              <a:rPr sz="1100" spc="-25" dirty="0">
                <a:solidFill>
                  <a:srgbClr val="12426B"/>
                </a:solidFill>
                <a:latin typeface="Arial"/>
                <a:cs typeface="Arial"/>
              </a:rPr>
              <a:t>ADT</a:t>
            </a:r>
            <a:endParaRPr sz="1100" dirty="0">
              <a:latin typeface="Arial"/>
              <a:cs typeface="Arial"/>
            </a:endParaRPr>
          </a:p>
        </p:txBody>
      </p:sp>
      <p:sp>
        <p:nvSpPr>
          <p:cNvPr id="58" name="object 58"/>
          <p:cNvSpPr txBox="1"/>
          <p:nvPr/>
        </p:nvSpPr>
        <p:spPr>
          <a:xfrm>
            <a:off x="2611249" y="3013965"/>
            <a:ext cx="1250315" cy="605155"/>
          </a:xfrm>
          <a:prstGeom prst="rect">
            <a:avLst/>
          </a:prstGeom>
        </p:spPr>
        <p:txBody>
          <a:bodyPr vert="horz" wrap="square" lIns="0" tIns="12065" rIns="0" bIns="0" rtlCol="0">
            <a:spAutoFit/>
          </a:bodyPr>
          <a:lstStyle/>
          <a:p>
            <a:pPr marR="4445" algn="ctr">
              <a:spcBef>
                <a:spcPts val="95"/>
              </a:spcBef>
            </a:pPr>
            <a:r>
              <a:rPr sz="1600" spc="-50" dirty="0">
                <a:solidFill>
                  <a:schemeClr val="tx2"/>
                </a:solidFill>
                <a:latin typeface="Arial"/>
                <a:cs typeface="Arial"/>
              </a:rPr>
              <a:t>2</a:t>
            </a:r>
            <a:endParaRPr sz="1600" dirty="0">
              <a:solidFill>
                <a:schemeClr val="tx2"/>
              </a:solidFill>
              <a:latin typeface="Arial"/>
              <a:cs typeface="Arial"/>
            </a:endParaRPr>
          </a:p>
          <a:p>
            <a:pPr marR="5080" indent="1270" algn="ctr">
              <a:spcBef>
                <a:spcPts val="5"/>
              </a:spcBef>
            </a:pPr>
            <a:r>
              <a:rPr sz="1100" dirty="0">
                <a:solidFill>
                  <a:srgbClr val="12426B"/>
                </a:solidFill>
                <a:latin typeface="Arial"/>
                <a:cs typeface="Arial"/>
              </a:rPr>
              <a:t>2025</a:t>
            </a:r>
            <a:r>
              <a:rPr sz="1100" spc="-20" dirty="0">
                <a:solidFill>
                  <a:srgbClr val="12426B"/>
                </a:solidFill>
                <a:latin typeface="Arial"/>
                <a:cs typeface="Arial"/>
              </a:rPr>
              <a:t> </a:t>
            </a:r>
            <a:r>
              <a:rPr sz="1100" dirty="0">
                <a:solidFill>
                  <a:srgbClr val="12426B"/>
                </a:solidFill>
                <a:latin typeface="Arial"/>
                <a:cs typeface="Arial"/>
              </a:rPr>
              <a:t>IPO</a:t>
            </a:r>
            <a:r>
              <a:rPr sz="1100" spc="-40" dirty="0">
                <a:solidFill>
                  <a:srgbClr val="12426B"/>
                </a:solidFill>
                <a:latin typeface="Arial"/>
                <a:cs typeface="Arial"/>
              </a:rPr>
              <a:t> </a:t>
            </a:r>
            <a:r>
              <a:rPr sz="1100" spc="-10" dirty="0">
                <a:solidFill>
                  <a:srgbClr val="12426B"/>
                </a:solidFill>
                <a:latin typeface="Arial"/>
                <a:cs typeface="Arial"/>
              </a:rPr>
              <a:t>Issuers </a:t>
            </a:r>
            <a:r>
              <a:rPr sz="1100" dirty="0">
                <a:solidFill>
                  <a:srgbClr val="12426B"/>
                </a:solidFill>
                <a:latin typeface="Arial"/>
                <a:cs typeface="Arial"/>
              </a:rPr>
              <a:t>Raised</a:t>
            </a:r>
            <a:r>
              <a:rPr sz="1100" spc="-50" dirty="0">
                <a:solidFill>
                  <a:srgbClr val="12426B"/>
                </a:solidFill>
                <a:latin typeface="Arial"/>
                <a:cs typeface="Arial"/>
              </a:rPr>
              <a:t> </a:t>
            </a:r>
            <a:r>
              <a:rPr sz="1100" dirty="0">
                <a:solidFill>
                  <a:srgbClr val="12426B"/>
                </a:solidFill>
                <a:latin typeface="Arial"/>
                <a:cs typeface="Arial"/>
              </a:rPr>
              <a:t>Follow-</a:t>
            </a:r>
            <a:r>
              <a:rPr sz="1100" spc="-25" dirty="0">
                <a:solidFill>
                  <a:srgbClr val="12426B"/>
                </a:solidFill>
                <a:latin typeface="Arial"/>
                <a:cs typeface="Arial"/>
              </a:rPr>
              <a:t>ons</a:t>
            </a:r>
            <a:endParaRPr sz="1100" dirty="0">
              <a:latin typeface="Arial"/>
              <a:cs typeface="Arial"/>
            </a:endParaRPr>
          </a:p>
        </p:txBody>
      </p:sp>
      <p:sp>
        <p:nvSpPr>
          <p:cNvPr id="59" name="object 59"/>
          <p:cNvSpPr txBox="1"/>
          <p:nvPr/>
        </p:nvSpPr>
        <p:spPr>
          <a:xfrm>
            <a:off x="4104513" y="3396234"/>
            <a:ext cx="1855470" cy="490220"/>
          </a:xfrm>
          <a:prstGeom prst="rect">
            <a:avLst/>
          </a:prstGeom>
        </p:spPr>
        <p:txBody>
          <a:bodyPr vert="horz" wrap="square" lIns="0" tIns="12700" rIns="0" bIns="0" rtlCol="0">
            <a:spAutoFit/>
          </a:bodyPr>
          <a:lstStyle/>
          <a:p>
            <a:pPr marL="12700">
              <a:lnSpc>
                <a:spcPts val="720"/>
              </a:lnSpc>
              <a:spcBef>
                <a:spcPts val="100"/>
              </a:spcBef>
            </a:pPr>
            <a:r>
              <a:rPr sz="800" spc="-50" dirty="0">
                <a:solidFill>
                  <a:srgbClr val="FFFFFF"/>
                </a:solidFill>
                <a:latin typeface="Arial"/>
                <a:cs typeface="Arial"/>
              </a:rPr>
              <a:t>.</a:t>
            </a:r>
            <a:endParaRPr sz="800" dirty="0">
              <a:latin typeface="Arial"/>
              <a:cs typeface="Arial"/>
            </a:endParaRPr>
          </a:p>
          <a:p>
            <a:pPr marL="88265">
              <a:lnSpc>
                <a:spcPts val="1680"/>
              </a:lnSpc>
            </a:pPr>
            <a:r>
              <a:rPr sz="1600" dirty="0">
                <a:solidFill>
                  <a:srgbClr val="FF0000"/>
                </a:solidFill>
                <a:latin typeface="Arial"/>
                <a:cs typeface="Arial"/>
              </a:rPr>
              <a:t>8</a:t>
            </a:r>
            <a:r>
              <a:rPr sz="1600" spc="-50" dirty="0">
                <a:solidFill>
                  <a:srgbClr val="24C9D2"/>
                </a:solidFill>
                <a:latin typeface="Arial"/>
                <a:cs typeface="Arial"/>
              </a:rPr>
              <a:t> </a:t>
            </a:r>
            <a:r>
              <a:rPr sz="1100" dirty="0">
                <a:solidFill>
                  <a:srgbClr val="12426B"/>
                </a:solidFill>
                <a:latin typeface="Arial"/>
                <a:cs typeface="Arial"/>
              </a:rPr>
              <a:t>Active</a:t>
            </a:r>
            <a:r>
              <a:rPr sz="1100" spc="-5" dirty="0">
                <a:solidFill>
                  <a:srgbClr val="12426B"/>
                </a:solidFill>
                <a:latin typeface="Arial"/>
                <a:cs typeface="Arial"/>
              </a:rPr>
              <a:t> </a:t>
            </a:r>
            <a:r>
              <a:rPr sz="1100" dirty="0">
                <a:solidFill>
                  <a:srgbClr val="12426B"/>
                </a:solidFill>
                <a:latin typeface="Arial"/>
                <a:cs typeface="Arial"/>
              </a:rPr>
              <a:t>Public</a:t>
            </a:r>
            <a:r>
              <a:rPr sz="1100" spc="-50" dirty="0">
                <a:solidFill>
                  <a:srgbClr val="12426B"/>
                </a:solidFill>
                <a:latin typeface="Arial"/>
                <a:cs typeface="Arial"/>
              </a:rPr>
              <a:t> </a:t>
            </a:r>
            <a:r>
              <a:rPr sz="1100" dirty="0">
                <a:solidFill>
                  <a:srgbClr val="12426B"/>
                </a:solidFill>
                <a:latin typeface="Arial"/>
                <a:cs typeface="Arial"/>
              </a:rPr>
              <a:t>A1 </a:t>
            </a:r>
            <a:r>
              <a:rPr sz="1100" spc="-10" dirty="0">
                <a:solidFill>
                  <a:srgbClr val="12426B"/>
                </a:solidFill>
                <a:latin typeface="Arial"/>
                <a:cs typeface="Arial"/>
              </a:rPr>
              <a:t>Filings</a:t>
            </a:r>
            <a:endParaRPr sz="1100" dirty="0">
              <a:latin typeface="Arial"/>
              <a:cs typeface="Arial"/>
            </a:endParaRPr>
          </a:p>
          <a:p>
            <a:pPr marL="1045844">
              <a:spcBef>
                <a:spcPts val="540"/>
              </a:spcBef>
            </a:pPr>
            <a:r>
              <a:rPr sz="600" spc="-10" dirty="0">
                <a:latin typeface="Arial"/>
                <a:cs typeface="Arial"/>
              </a:rPr>
              <a:t>Indonesia</a:t>
            </a:r>
            <a:endParaRPr sz="600" dirty="0">
              <a:latin typeface="Arial"/>
              <a:cs typeface="Arial"/>
            </a:endParaRPr>
          </a:p>
        </p:txBody>
      </p:sp>
      <p:sp>
        <p:nvSpPr>
          <p:cNvPr id="60" name="object 60"/>
          <p:cNvSpPr txBox="1"/>
          <p:nvPr/>
        </p:nvSpPr>
        <p:spPr>
          <a:xfrm>
            <a:off x="7840473" y="4829988"/>
            <a:ext cx="897763" cy="259045"/>
          </a:xfrm>
          <a:prstGeom prst="rect">
            <a:avLst/>
          </a:prstGeom>
        </p:spPr>
        <p:txBody>
          <a:bodyPr vert="horz" wrap="square" lIns="0" tIns="12700" rIns="0" bIns="0" rtlCol="0">
            <a:spAutoFit/>
          </a:bodyPr>
          <a:lstStyle/>
          <a:p>
            <a:pPr marL="12700">
              <a:spcBef>
                <a:spcPts val="100"/>
              </a:spcBef>
            </a:pPr>
            <a:r>
              <a:rPr sz="800" dirty="0">
                <a:solidFill>
                  <a:srgbClr val="12426B"/>
                </a:solidFill>
                <a:latin typeface="Arial"/>
                <a:cs typeface="Arial"/>
              </a:rPr>
              <a:t>MOU</a:t>
            </a:r>
            <a:r>
              <a:rPr sz="800" spc="-40" dirty="0">
                <a:solidFill>
                  <a:srgbClr val="12426B"/>
                </a:solidFill>
                <a:latin typeface="Arial"/>
                <a:cs typeface="Arial"/>
              </a:rPr>
              <a:t> </a:t>
            </a:r>
            <a:r>
              <a:rPr sz="800" dirty="0">
                <a:solidFill>
                  <a:srgbClr val="12426B"/>
                </a:solidFill>
                <a:latin typeface="Arial"/>
                <a:cs typeface="Arial"/>
              </a:rPr>
              <a:t>Signed</a:t>
            </a:r>
            <a:r>
              <a:rPr sz="800" spc="-20" dirty="0">
                <a:solidFill>
                  <a:srgbClr val="12426B"/>
                </a:solidFill>
                <a:latin typeface="Arial"/>
                <a:cs typeface="Arial"/>
              </a:rPr>
              <a:t> with</a:t>
            </a:r>
            <a:endParaRPr sz="800" dirty="0">
              <a:latin typeface="Arial"/>
              <a:cs typeface="Arial"/>
            </a:endParaRPr>
          </a:p>
          <a:p>
            <a:pPr marL="38100"/>
            <a:r>
              <a:rPr sz="800" dirty="0">
                <a:solidFill>
                  <a:srgbClr val="12426B"/>
                </a:solidFill>
                <a:latin typeface="Arial"/>
                <a:cs typeface="Arial"/>
              </a:rPr>
              <a:t>Bursa</a:t>
            </a:r>
            <a:r>
              <a:rPr sz="800" spc="-25" dirty="0">
                <a:solidFill>
                  <a:srgbClr val="12426B"/>
                </a:solidFill>
                <a:latin typeface="Arial"/>
                <a:cs typeface="Arial"/>
              </a:rPr>
              <a:t> </a:t>
            </a:r>
            <a:r>
              <a:rPr sz="800" spc="-10" dirty="0">
                <a:solidFill>
                  <a:srgbClr val="12426B"/>
                </a:solidFill>
                <a:latin typeface="Arial"/>
                <a:cs typeface="Arial"/>
              </a:rPr>
              <a:t>Malaysia</a:t>
            </a:r>
            <a:endParaRPr sz="800" dirty="0">
              <a:latin typeface="Arial"/>
              <a:cs typeface="Arial"/>
            </a:endParaRPr>
          </a:p>
        </p:txBody>
      </p:sp>
      <p:sp>
        <p:nvSpPr>
          <p:cNvPr id="62" name="object 62"/>
          <p:cNvSpPr/>
          <p:nvPr/>
        </p:nvSpPr>
        <p:spPr>
          <a:xfrm>
            <a:off x="7645910" y="4555107"/>
            <a:ext cx="1204595" cy="673389"/>
          </a:xfrm>
          <a:custGeom>
            <a:avLst/>
            <a:gdLst/>
            <a:ahLst/>
            <a:cxnLst/>
            <a:rect l="l" t="t" r="r" b="b"/>
            <a:pathLst>
              <a:path w="1204595" h="595629">
                <a:moveTo>
                  <a:pt x="0" y="99288"/>
                </a:moveTo>
                <a:lnTo>
                  <a:pt x="7800" y="60639"/>
                </a:lnTo>
                <a:lnTo>
                  <a:pt x="29067" y="29079"/>
                </a:lnTo>
                <a:lnTo>
                  <a:pt x="60596" y="7802"/>
                </a:lnTo>
                <a:lnTo>
                  <a:pt x="99187" y="0"/>
                </a:lnTo>
                <a:lnTo>
                  <a:pt x="1105153" y="0"/>
                </a:lnTo>
                <a:lnTo>
                  <a:pt x="1143744" y="7802"/>
                </a:lnTo>
                <a:lnTo>
                  <a:pt x="1175273" y="29079"/>
                </a:lnTo>
                <a:lnTo>
                  <a:pt x="1196540" y="60639"/>
                </a:lnTo>
                <a:lnTo>
                  <a:pt x="1204341" y="99288"/>
                </a:lnTo>
                <a:lnTo>
                  <a:pt x="1204341" y="496239"/>
                </a:lnTo>
                <a:lnTo>
                  <a:pt x="1196540" y="534864"/>
                </a:lnTo>
                <a:lnTo>
                  <a:pt x="1175273" y="566408"/>
                </a:lnTo>
                <a:lnTo>
                  <a:pt x="1143744" y="587678"/>
                </a:lnTo>
                <a:lnTo>
                  <a:pt x="1105153" y="595477"/>
                </a:lnTo>
                <a:lnTo>
                  <a:pt x="99187" y="595477"/>
                </a:lnTo>
                <a:lnTo>
                  <a:pt x="60596" y="587678"/>
                </a:lnTo>
                <a:lnTo>
                  <a:pt x="29067" y="566408"/>
                </a:lnTo>
                <a:lnTo>
                  <a:pt x="7800" y="534864"/>
                </a:lnTo>
                <a:lnTo>
                  <a:pt x="0" y="496239"/>
                </a:lnTo>
                <a:lnTo>
                  <a:pt x="0" y="99288"/>
                </a:lnTo>
                <a:close/>
              </a:path>
            </a:pathLst>
          </a:custGeom>
          <a:ln w="6350">
            <a:solidFill>
              <a:srgbClr val="24C9D2"/>
            </a:solidFill>
          </a:ln>
        </p:spPr>
        <p:txBody>
          <a:bodyPr wrap="square" lIns="0" tIns="0" rIns="0" bIns="0" rtlCol="0"/>
          <a:lstStyle/>
          <a:p>
            <a:endParaRPr/>
          </a:p>
        </p:txBody>
      </p:sp>
      <p:pic>
        <p:nvPicPr>
          <p:cNvPr id="63" name="object 63"/>
          <p:cNvPicPr/>
          <p:nvPr/>
        </p:nvPicPr>
        <p:blipFill>
          <a:blip r:embed="rId22" cstate="print"/>
          <a:stretch>
            <a:fillRect/>
          </a:stretch>
        </p:blipFill>
        <p:spPr>
          <a:xfrm>
            <a:off x="7978903" y="4632337"/>
            <a:ext cx="538403" cy="159842"/>
          </a:xfrm>
          <a:prstGeom prst="rect">
            <a:avLst/>
          </a:prstGeom>
        </p:spPr>
      </p:pic>
      <p:sp>
        <p:nvSpPr>
          <p:cNvPr id="66" name="object 66"/>
          <p:cNvSpPr txBox="1"/>
          <p:nvPr/>
        </p:nvSpPr>
        <p:spPr>
          <a:xfrm>
            <a:off x="7773671" y="3431539"/>
            <a:ext cx="964565" cy="956310"/>
          </a:xfrm>
          <a:prstGeom prst="rect">
            <a:avLst/>
          </a:prstGeom>
        </p:spPr>
        <p:txBody>
          <a:bodyPr vert="horz" wrap="square" lIns="0" tIns="12065" rIns="0" bIns="0" rtlCol="0">
            <a:spAutoFit/>
          </a:bodyPr>
          <a:lstStyle/>
          <a:p>
            <a:pPr marR="3810" algn="ctr">
              <a:lnSpc>
                <a:spcPts val="3220"/>
              </a:lnSpc>
              <a:spcBef>
                <a:spcPts val="95"/>
              </a:spcBef>
            </a:pPr>
            <a:r>
              <a:rPr sz="2800" spc="-50" dirty="0">
                <a:solidFill>
                  <a:srgbClr val="585858"/>
                </a:solidFill>
                <a:latin typeface="Arial"/>
                <a:cs typeface="Arial"/>
              </a:rPr>
              <a:t>+</a:t>
            </a:r>
            <a:endParaRPr sz="2800" dirty="0">
              <a:latin typeface="Arial"/>
              <a:cs typeface="Arial"/>
            </a:endParaRPr>
          </a:p>
          <a:p>
            <a:pPr marR="5080" algn="ctr">
              <a:lnSpc>
                <a:spcPts val="1780"/>
              </a:lnSpc>
            </a:pPr>
            <a:r>
              <a:rPr sz="1600" dirty="0">
                <a:solidFill>
                  <a:srgbClr val="FF0000"/>
                </a:solidFill>
                <a:latin typeface="Arial"/>
                <a:cs typeface="Arial"/>
              </a:rPr>
              <a:t>1</a:t>
            </a:r>
            <a:r>
              <a:rPr sz="1600" spc="-65" dirty="0">
                <a:solidFill>
                  <a:srgbClr val="24C9D2"/>
                </a:solidFill>
                <a:latin typeface="Arial"/>
                <a:cs typeface="Arial"/>
              </a:rPr>
              <a:t> </a:t>
            </a:r>
            <a:r>
              <a:rPr sz="1100" spc="-10" dirty="0">
                <a:solidFill>
                  <a:srgbClr val="12426B"/>
                </a:solidFill>
                <a:latin typeface="Arial"/>
                <a:cs typeface="Arial"/>
              </a:rPr>
              <a:t>Announced</a:t>
            </a:r>
            <a:endParaRPr sz="1100" dirty="0">
              <a:latin typeface="Arial"/>
              <a:cs typeface="Arial"/>
            </a:endParaRPr>
          </a:p>
          <a:p>
            <a:pPr marL="459740" marR="5080" indent="188595">
              <a:lnSpc>
                <a:spcPct val="134700"/>
              </a:lnSpc>
              <a:spcBef>
                <a:spcPts val="390"/>
              </a:spcBef>
            </a:pPr>
            <a:r>
              <a:rPr sz="600" spc="-10" dirty="0">
                <a:latin typeface="Arial"/>
                <a:cs typeface="Arial"/>
              </a:rPr>
              <a:t>Malaysia</a:t>
            </a:r>
            <a:r>
              <a:rPr sz="600" spc="500" dirty="0">
                <a:latin typeface="Arial"/>
                <a:cs typeface="Arial"/>
              </a:rPr>
              <a:t> </a:t>
            </a:r>
            <a:r>
              <a:rPr sz="600" spc="-10" dirty="0">
                <a:latin typeface="Arial"/>
                <a:cs typeface="Arial"/>
              </a:rPr>
              <a:t>Industrials</a:t>
            </a:r>
            <a:endParaRPr sz="600" dirty="0">
              <a:latin typeface="Arial"/>
              <a:cs typeface="Arial"/>
            </a:endParaRPr>
          </a:p>
        </p:txBody>
      </p:sp>
      <p:grpSp>
        <p:nvGrpSpPr>
          <p:cNvPr id="67" name="object 67"/>
          <p:cNvGrpSpPr/>
          <p:nvPr/>
        </p:nvGrpSpPr>
        <p:grpSpPr>
          <a:xfrm>
            <a:off x="4232528" y="4104385"/>
            <a:ext cx="3088640" cy="375920"/>
            <a:chOff x="3851528" y="3372230"/>
            <a:chExt cx="3088640" cy="375920"/>
          </a:xfrm>
        </p:grpSpPr>
        <p:sp>
          <p:nvSpPr>
            <p:cNvPr id="68" name="object 68"/>
            <p:cNvSpPr/>
            <p:nvPr/>
          </p:nvSpPr>
          <p:spPr>
            <a:xfrm>
              <a:off x="3854703" y="3375405"/>
              <a:ext cx="3082290" cy="369570"/>
            </a:xfrm>
            <a:custGeom>
              <a:avLst/>
              <a:gdLst/>
              <a:ahLst/>
              <a:cxnLst/>
              <a:rect l="l" t="t" r="r" b="b"/>
              <a:pathLst>
                <a:path w="3082290" h="369570">
                  <a:moveTo>
                    <a:pt x="0" y="369570"/>
                  </a:moveTo>
                  <a:lnTo>
                    <a:pt x="1448816" y="369570"/>
                  </a:lnTo>
                </a:path>
                <a:path w="3082290" h="369570">
                  <a:moveTo>
                    <a:pt x="1633474" y="0"/>
                  </a:moveTo>
                  <a:lnTo>
                    <a:pt x="3082163" y="0"/>
                  </a:lnTo>
                </a:path>
              </a:pathLst>
            </a:custGeom>
            <a:ln w="6350">
              <a:solidFill>
                <a:srgbClr val="BEBEBE"/>
              </a:solidFill>
              <a:prstDash val="sysDash"/>
            </a:ln>
          </p:spPr>
          <p:txBody>
            <a:bodyPr wrap="square" lIns="0" tIns="0" rIns="0" bIns="0" rtlCol="0"/>
            <a:lstStyle/>
            <a:p>
              <a:endParaRPr/>
            </a:p>
          </p:txBody>
        </p:sp>
        <p:pic>
          <p:nvPicPr>
            <p:cNvPr id="69" name="object 69" descr="South Korea - Free flags icons"/>
            <p:cNvPicPr/>
            <p:nvPr/>
          </p:nvPicPr>
          <p:blipFill>
            <a:blip r:embed="rId23" cstate="print"/>
            <a:stretch>
              <a:fillRect/>
            </a:stretch>
          </p:blipFill>
          <p:spPr>
            <a:xfrm>
              <a:off x="6320662" y="3413480"/>
              <a:ext cx="178841" cy="178841"/>
            </a:xfrm>
            <a:prstGeom prst="rect">
              <a:avLst/>
            </a:prstGeom>
          </p:spPr>
        </p:pic>
      </p:grpSp>
      <p:sp>
        <p:nvSpPr>
          <p:cNvPr id="70" name="object 70"/>
          <p:cNvSpPr txBox="1"/>
          <p:nvPr/>
        </p:nvSpPr>
        <p:spPr>
          <a:xfrm>
            <a:off x="6913628" y="4169158"/>
            <a:ext cx="301625" cy="105157"/>
          </a:xfrm>
          <a:prstGeom prst="rect">
            <a:avLst/>
          </a:prstGeom>
        </p:spPr>
        <p:txBody>
          <a:bodyPr vert="horz" wrap="square" lIns="0" tIns="12700" rIns="0" bIns="0" rtlCol="0">
            <a:spAutoFit/>
          </a:bodyPr>
          <a:lstStyle/>
          <a:p>
            <a:pPr marL="12700">
              <a:spcBef>
                <a:spcPts val="100"/>
              </a:spcBef>
            </a:pPr>
            <a:r>
              <a:rPr sz="600" spc="-10" dirty="0">
                <a:latin typeface="Arial"/>
                <a:cs typeface="Arial"/>
              </a:rPr>
              <a:t>S.Korea</a:t>
            </a:r>
            <a:endParaRPr sz="600">
              <a:latin typeface="Arial"/>
              <a:cs typeface="Arial"/>
            </a:endParaRPr>
          </a:p>
        </p:txBody>
      </p:sp>
      <p:sp>
        <p:nvSpPr>
          <p:cNvPr id="71" name="object 71"/>
          <p:cNvSpPr txBox="1"/>
          <p:nvPr/>
        </p:nvSpPr>
        <p:spPr>
          <a:xfrm>
            <a:off x="6680963" y="4338702"/>
            <a:ext cx="182245" cy="105157"/>
          </a:xfrm>
          <a:prstGeom prst="rect">
            <a:avLst/>
          </a:prstGeom>
        </p:spPr>
        <p:txBody>
          <a:bodyPr vert="horz" wrap="square" lIns="0" tIns="12700" rIns="0" bIns="0" rtlCol="0">
            <a:spAutoFit/>
          </a:bodyPr>
          <a:lstStyle/>
          <a:p>
            <a:pPr marL="12700">
              <a:spcBef>
                <a:spcPts val="100"/>
              </a:spcBef>
            </a:pPr>
            <a:r>
              <a:rPr sz="600" spc="-25" dirty="0">
                <a:latin typeface="Arial"/>
                <a:cs typeface="Arial"/>
              </a:rPr>
              <a:t>TMT</a:t>
            </a:r>
            <a:endParaRPr sz="600">
              <a:latin typeface="Arial"/>
              <a:cs typeface="Arial"/>
            </a:endParaRPr>
          </a:p>
        </p:txBody>
      </p:sp>
      <p:pic>
        <p:nvPicPr>
          <p:cNvPr id="72" name="object 72" descr="South Korea - Free flags icons"/>
          <p:cNvPicPr/>
          <p:nvPr/>
        </p:nvPicPr>
        <p:blipFill>
          <a:blip r:embed="rId23" cstate="print"/>
          <a:stretch>
            <a:fillRect/>
          </a:stretch>
        </p:blipFill>
        <p:spPr>
          <a:xfrm>
            <a:off x="6701665" y="3729204"/>
            <a:ext cx="178841" cy="178841"/>
          </a:xfrm>
          <a:prstGeom prst="rect">
            <a:avLst/>
          </a:prstGeom>
        </p:spPr>
      </p:pic>
      <p:sp>
        <p:nvSpPr>
          <p:cNvPr id="73" name="object 73"/>
          <p:cNvSpPr txBox="1"/>
          <p:nvPr/>
        </p:nvSpPr>
        <p:spPr>
          <a:xfrm>
            <a:off x="6913628" y="3746755"/>
            <a:ext cx="301625" cy="105157"/>
          </a:xfrm>
          <a:prstGeom prst="rect">
            <a:avLst/>
          </a:prstGeom>
        </p:spPr>
        <p:txBody>
          <a:bodyPr vert="horz" wrap="square" lIns="0" tIns="12700" rIns="0" bIns="0" rtlCol="0">
            <a:spAutoFit/>
          </a:bodyPr>
          <a:lstStyle/>
          <a:p>
            <a:pPr marL="12700">
              <a:spcBef>
                <a:spcPts val="100"/>
              </a:spcBef>
            </a:pPr>
            <a:r>
              <a:rPr sz="600" spc="-10" dirty="0">
                <a:latin typeface="Arial"/>
                <a:cs typeface="Arial"/>
              </a:rPr>
              <a:t>S.Korea</a:t>
            </a:r>
            <a:endParaRPr sz="600">
              <a:latin typeface="Arial"/>
              <a:cs typeface="Arial"/>
            </a:endParaRPr>
          </a:p>
        </p:txBody>
      </p:sp>
      <p:sp>
        <p:nvSpPr>
          <p:cNvPr id="74" name="object 74"/>
          <p:cNvSpPr txBox="1"/>
          <p:nvPr/>
        </p:nvSpPr>
        <p:spPr>
          <a:xfrm>
            <a:off x="6680963" y="3916173"/>
            <a:ext cx="182245" cy="105157"/>
          </a:xfrm>
          <a:prstGeom prst="rect">
            <a:avLst/>
          </a:prstGeom>
        </p:spPr>
        <p:txBody>
          <a:bodyPr vert="horz" wrap="square" lIns="0" tIns="12700" rIns="0" bIns="0" rtlCol="0">
            <a:spAutoFit/>
          </a:bodyPr>
          <a:lstStyle/>
          <a:p>
            <a:pPr marL="12700">
              <a:spcBef>
                <a:spcPts val="100"/>
              </a:spcBef>
            </a:pPr>
            <a:r>
              <a:rPr sz="600" spc="-25" dirty="0">
                <a:latin typeface="Arial"/>
                <a:cs typeface="Arial"/>
              </a:rPr>
              <a:t>TMT</a:t>
            </a:r>
            <a:endParaRPr sz="600">
              <a:latin typeface="Arial"/>
              <a:cs typeface="Arial"/>
            </a:endParaRPr>
          </a:p>
        </p:txBody>
      </p:sp>
      <p:grpSp>
        <p:nvGrpSpPr>
          <p:cNvPr id="75" name="object 75"/>
          <p:cNvGrpSpPr/>
          <p:nvPr/>
        </p:nvGrpSpPr>
        <p:grpSpPr>
          <a:xfrm>
            <a:off x="3147695" y="4792143"/>
            <a:ext cx="4173854" cy="247015"/>
            <a:chOff x="2766695" y="4059986"/>
            <a:chExt cx="4173854" cy="247015"/>
          </a:xfrm>
        </p:grpSpPr>
        <p:sp>
          <p:nvSpPr>
            <p:cNvPr id="76" name="object 76"/>
            <p:cNvSpPr/>
            <p:nvPr/>
          </p:nvSpPr>
          <p:spPr>
            <a:xfrm>
              <a:off x="5488177" y="4210519"/>
              <a:ext cx="1449070" cy="0"/>
            </a:xfrm>
            <a:custGeom>
              <a:avLst/>
              <a:gdLst/>
              <a:ahLst/>
              <a:cxnLst/>
              <a:rect l="l" t="t" r="r" b="b"/>
              <a:pathLst>
                <a:path w="1449070">
                  <a:moveTo>
                    <a:pt x="0" y="0"/>
                  </a:moveTo>
                  <a:lnTo>
                    <a:pt x="1448689" y="0"/>
                  </a:lnTo>
                </a:path>
              </a:pathLst>
            </a:custGeom>
            <a:ln w="6350">
              <a:solidFill>
                <a:srgbClr val="BEBEBE"/>
              </a:solidFill>
              <a:prstDash val="sysDash"/>
            </a:ln>
          </p:spPr>
          <p:txBody>
            <a:bodyPr wrap="square" lIns="0" tIns="0" rIns="0" bIns="0" rtlCol="0"/>
            <a:lstStyle/>
            <a:p>
              <a:endParaRPr/>
            </a:p>
          </p:txBody>
        </p:sp>
        <p:pic>
          <p:nvPicPr>
            <p:cNvPr id="77" name="object 77" descr="Shandong Nanshan Aluminium Co., Ltd. | Members | About ASI | Aluminium  Stewardship Initiative"/>
            <p:cNvPicPr/>
            <p:nvPr/>
          </p:nvPicPr>
          <p:blipFill>
            <a:blip r:embed="rId24" cstate="print"/>
            <a:stretch>
              <a:fillRect/>
            </a:stretch>
          </p:blipFill>
          <p:spPr>
            <a:xfrm>
              <a:off x="2766695" y="4059986"/>
              <a:ext cx="765302" cy="246964"/>
            </a:xfrm>
            <a:prstGeom prst="rect">
              <a:avLst/>
            </a:prstGeom>
          </p:spPr>
        </p:pic>
      </p:grpSp>
      <p:sp>
        <p:nvSpPr>
          <p:cNvPr id="78" name="object 78"/>
          <p:cNvSpPr txBox="1"/>
          <p:nvPr/>
        </p:nvSpPr>
        <p:spPr>
          <a:xfrm>
            <a:off x="1251203" y="3940253"/>
            <a:ext cx="836294" cy="606425"/>
          </a:xfrm>
          <a:prstGeom prst="rect">
            <a:avLst/>
          </a:prstGeom>
        </p:spPr>
        <p:txBody>
          <a:bodyPr vert="horz" wrap="square" lIns="0" tIns="12065" rIns="0" bIns="0" rtlCol="0">
            <a:spAutoFit/>
          </a:bodyPr>
          <a:lstStyle/>
          <a:p>
            <a:pPr marR="5080" algn="ctr">
              <a:spcBef>
                <a:spcPts val="95"/>
              </a:spcBef>
            </a:pPr>
            <a:r>
              <a:rPr sz="1600" spc="-25" dirty="0">
                <a:solidFill>
                  <a:schemeClr val="tx2"/>
                </a:solidFill>
                <a:latin typeface="Arial"/>
                <a:cs typeface="Arial"/>
              </a:rPr>
              <a:t>All</a:t>
            </a:r>
            <a:endParaRPr sz="1600" dirty="0">
              <a:solidFill>
                <a:schemeClr val="tx2"/>
              </a:solidFill>
              <a:latin typeface="Arial"/>
              <a:cs typeface="Arial"/>
            </a:endParaRPr>
          </a:p>
          <a:p>
            <a:pPr marR="5080" algn="ctr">
              <a:spcBef>
                <a:spcPts val="15"/>
              </a:spcBef>
            </a:pPr>
            <a:r>
              <a:rPr sz="1100" spc="-10" dirty="0">
                <a:solidFill>
                  <a:srgbClr val="12426B"/>
                </a:solidFill>
                <a:latin typeface="Arial"/>
                <a:cs typeface="Arial"/>
              </a:rPr>
              <a:t>Southbound Inclusion</a:t>
            </a:r>
            <a:endParaRPr sz="1100" dirty="0">
              <a:latin typeface="Arial"/>
              <a:cs typeface="Arial"/>
            </a:endParaRPr>
          </a:p>
        </p:txBody>
      </p:sp>
      <p:sp>
        <p:nvSpPr>
          <p:cNvPr id="79" name="object 79"/>
          <p:cNvSpPr txBox="1"/>
          <p:nvPr/>
        </p:nvSpPr>
        <p:spPr>
          <a:xfrm>
            <a:off x="3371723" y="5046397"/>
            <a:ext cx="332740" cy="182101"/>
          </a:xfrm>
          <a:prstGeom prst="rect">
            <a:avLst/>
          </a:prstGeom>
        </p:spPr>
        <p:txBody>
          <a:bodyPr vert="horz" wrap="square" lIns="0" tIns="12700" rIns="0" bIns="0" rtlCol="0">
            <a:spAutoFit/>
          </a:bodyPr>
          <a:lstStyle/>
          <a:p>
            <a:pPr>
              <a:spcBef>
                <a:spcPts val="100"/>
              </a:spcBef>
            </a:pPr>
            <a:r>
              <a:rPr sz="1100" spc="-20" dirty="0">
                <a:solidFill>
                  <a:srgbClr val="12426B"/>
                </a:solidFill>
                <a:latin typeface="Arial"/>
                <a:cs typeface="Arial"/>
              </a:rPr>
              <a:t>4.0%</a:t>
            </a:r>
            <a:endParaRPr sz="1100">
              <a:latin typeface="Arial"/>
              <a:cs typeface="Arial"/>
            </a:endParaRPr>
          </a:p>
        </p:txBody>
      </p:sp>
      <p:grpSp>
        <p:nvGrpSpPr>
          <p:cNvPr id="80" name="object 80"/>
          <p:cNvGrpSpPr/>
          <p:nvPr/>
        </p:nvGrpSpPr>
        <p:grpSpPr>
          <a:xfrm>
            <a:off x="2426080" y="4086974"/>
            <a:ext cx="725170" cy="969644"/>
            <a:chOff x="2045080" y="3354819"/>
            <a:chExt cx="725170" cy="969644"/>
          </a:xfrm>
        </p:grpSpPr>
        <p:pic>
          <p:nvPicPr>
            <p:cNvPr id="81" name="object 81" descr="Jiaxin International Resources Investment Limited 佳鑫國際資源投資有限公司"/>
            <p:cNvPicPr/>
            <p:nvPr/>
          </p:nvPicPr>
          <p:blipFill>
            <a:blip r:embed="rId25" cstate="print"/>
            <a:stretch>
              <a:fillRect/>
            </a:stretch>
          </p:blipFill>
          <p:spPr>
            <a:xfrm>
              <a:off x="2184780" y="3965714"/>
              <a:ext cx="310895" cy="358495"/>
            </a:xfrm>
            <a:prstGeom prst="rect">
              <a:avLst/>
            </a:prstGeom>
          </p:spPr>
        </p:pic>
        <p:pic>
          <p:nvPicPr>
            <p:cNvPr id="82" name="object 82" descr="Mirxes | Genomic Services | Next-Generation Sequencing (NGS)"/>
            <p:cNvPicPr/>
            <p:nvPr/>
          </p:nvPicPr>
          <p:blipFill>
            <a:blip r:embed="rId26" cstate="print"/>
            <a:stretch>
              <a:fillRect/>
            </a:stretch>
          </p:blipFill>
          <p:spPr>
            <a:xfrm>
              <a:off x="2045080" y="3354819"/>
              <a:ext cx="724776" cy="190004"/>
            </a:xfrm>
            <a:prstGeom prst="rect">
              <a:avLst/>
            </a:prstGeom>
          </p:spPr>
        </p:pic>
      </p:grpSp>
      <p:sp>
        <p:nvSpPr>
          <p:cNvPr id="83" name="object 83"/>
          <p:cNvSpPr txBox="1"/>
          <p:nvPr/>
        </p:nvSpPr>
        <p:spPr>
          <a:xfrm>
            <a:off x="2590166" y="4292983"/>
            <a:ext cx="410845" cy="182101"/>
          </a:xfrm>
          <a:prstGeom prst="rect">
            <a:avLst/>
          </a:prstGeom>
        </p:spPr>
        <p:txBody>
          <a:bodyPr vert="horz" wrap="square" lIns="0" tIns="12700" rIns="0" bIns="0" rtlCol="0">
            <a:spAutoFit/>
          </a:bodyPr>
          <a:lstStyle/>
          <a:p>
            <a:pPr>
              <a:spcBef>
                <a:spcPts val="100"/>
              </a:spcBef>
            </a:pPr>
            <a:r>
              <a:rPr sz="1100" spc="-10" dirty="0">
                <a:solidFill>
                  <a:srgbClr val="12426B"/>
                </a:solidFill>
                <a:latin typeface="Arial"/>
                <a:cs typeface="Arial"/>
              </a:rPr>
              <a:t>10.2%</a:t>
            </a:r>
            <a:endParaRPr sz="1100">
              <a:latin typeface="Arial"/>
              <a:cs typeface="Arial"/>
            </a:endParaRPr>
          </a:p>
        </p:txBody>
      </p:sp>
      <p:pic>
        <p:nvPicPr>
          <p:cNvPr id="84" name="object 84"/>
          <p:cNvPicPr/>
          <p:nvPr/>
        </p:nvPicPr>
        <p:blipFill>
          <a:blip r:embed="rId27" cstate="print"/>
          <a:stretch>
            <a:fillRect/>
          </a:stretch>
        </p:blipFill>
        <p:spPr>
          <a:xfrm>
            <a:off x="3450719" y="3962859"/>
            <a:ext cx="245059" cy="304215"/>
          </a:xfrm>
          <a:prstGeom prst="rect">
            <a:avLst/>
          </a:prstGeom>
        </p:spPr>
      </p:pic>
      <p:sp>
        <p:nvSpPr>
          <p:cNvPr id="85" name="object 85"/>
          <p:cNvSpPr txBox="1"/>
          <p:nvPr/>
        </p:nvSpPr>
        <p:spPr>
          <a:xfrm>
            <a:off x="3413505" y="4292983"/>
            <a:ext cx="332740" cy="182101"/>
          </a:xfrm>
          <a:prstGeom prst="rect">
            <a:avLst/>
          </a:prstGeom>
        </p:spPr>
        <p:txBody>
          <a:bodyPr vert="horz" wrap="square" lIns="0" tIns="12700" rIns="0" bIns="0" rtlCol="0">
            <a:spAutoFit/>
          </a:bodyPr>
          <a:lstStyle/>
          <a:p>
            <a:pPr>
              <a:spcBef>
                <a:spcPts val="100"/>
              </a:spcBef>
            </a:pPr>
            <a:r>
              <a:rPr sz="1100" spc="-20" dirty="0">
                <a:solidFill>
                  <a:srgbClr val="12426B"/>
                </a:solidFill>
                <a:latin typeface="Arial"/>
                <a:cs typeface="Arial"/>
              </a:rPr>
              <a:t>8.2%</a:t>
            </a:r>
            <a:endParaRPr sz="1100">
              <a:latin typeface="Arial"/>
              <a:cs typeface="Arial"/>
            </a:endParaRPr>
          </a:p>
        </p:txBody>
      </p:sp>
      <p:sp>
        <p:nvSpPr>
          <p:cNvPr id="86" name="object 86"/>
          <p:cNvSpPr txBox="1"/>
          <p:nvPr/>
        </p:nvSpPr>
        <p:spPr>
          <a:xfrm>
            <a:off x="1071575" y="4628514"/>
            <a:ext cx="1847850" cy="612140"/>
          </a:xfrm>
          <a:prstGeom prst="rect">
            <a:avLst/>
          </a:prstGeom>
        </p:spPr>
        <p:txBody>
          <a:bodyPr vert="horz" wrap="square" lIns="0" tIns="12065" rIns="0" bIns="0" rtlCol="0">
            <a:spAutoFit/>
          </a:bodyPr>
          <a:lstStyle/>
          <a:p>
            <a:pPr marL="412115">
              <a:spcBef>
                <a:spcPts val="95"/>
              </a:spcBef>
            </a:pPr>
            <a:r>
              <a:rPr sz="1600" spc="-20" dirty="0">
                <a:solidFill>
                  <a:srgbClr val="00AF50"/>
                </a:solidFill>
                <a:latin typeface="Arial"/>
                <a:cs typeface="Arial"/>
              </a:rPr>
              <a:t>177%</a:t>
            </a:r>
            <a:endParaRPr sz="1600">
              <a:latin typeface="Arial"/>
              <a:cs typeface="Arial"/>
            </a:endParaRPr>
          </a:p>
          <a:p>
            <a:pPr marL="25400">
              <a:spcBef>
                <a:spcPts val="10"/>
              </a:spcBef>
            </a:pPr>
            <a:r>
              <a:rPr sz="1100" dirty="0">
                <a:solidFill>
                  <a:srgbClr val="12426B"/>
                </a:solidFill>
                <a:latin typeface="Arial"/>
                <a:cs typeface="Arial"/>
              </a:rPr>
              <a:t>1M</a:t>
            </a:r>
            <a:r>
              <a:rPr sz="1100" spc="-50" dirty="0">
                <a:solidFill>
                  <a:srgbClr val="12426B"/>
                </a:solidFill>
                <a:latin typeface="Arial"/>
                <a:cs typeface="Arial"/>
              </a:rPr>
              <a:t> </a:t>
            </a:r>
            <a:r>
              <a:rPr sz="1100" dirty="0">
                <a:solidFill>
                  <a:srgbClr val="12426B"/>
                </a:solidFill>
                <a:latin typeface="Arial"/>
                <a:cs typeface="Arial"/>
              </a:rPr>
              <a:t>ADT</a:t>
            </a:r>
            <a:r>
              <a:rPr sz="1100" spc="-5" dirty="0">
                <a:solidFill>
                  <a:srgbClr val="12426B"/>
                </a:solidFill>
                <a:latin typeface="Arial"/>
                <a:cs typeface="Arial"/>
              </a:rPr>
              <a:t> </a:t>
            </a:r>
            <a:r>
              <a:rPr sz="1100" spc="-10" dirty="0">
                <a:solidFill>
                  <a:srgbClr val="12426B"/>
                </a:solidFill>
                <a:latin typeface="Arial"/>
                <a:cs typeface="Arial"/>
              </a:rPr>
              <a:t>Increment</a:t>
            </a:r>
            <a:endParaRPr sz="1100">
              <a:latin typeface="Arial"/>
              <a:cs typeface="Arial"/>
            </a:endParaRPr>
          </a:p>
          <a:p>
            <a:pPr marL="131445">
              <a:spcBef>
                <a:spcPts val="50"/>
              </a:spcBef>
              <a:tabLst>
                <a:tab pos="1489710" algn="l"/>
              </a:tabLst>
            </a:pPr>
            <a:r>
              <a:rPr sz="1650" spc="-15" baseline="2525" dirty="0">
                <a:solidFill>
                  <a:srgbClr val="12426B"/>
                </a:solidFill>
                <a:latin typeface="Arial"/>
                <a:cs typeface="Arial"/>
              </a:rPr>
              <a:t>Post-Inclusion</a:t>
            </a:r>
            <a:r>
              <a:rPr sz="1050" spc="-15" baseline="31746" dirty="0">
                <a:solidFill>
                  <a:srgbClr val="12426B"/>
                </a:solidFill>
                <a:latin typeface="Arial"/>
                <a:cs typeface="Arial"/>
              </a:rPr>
              <a:t>1</a:t>
            </a:r>
            <a:r>
              <a:rPr sz="1050" baseline="31746" dirty="0">
                <a:solidFill>
                  <a:srgbClr val="12426B"/>
                </a:solidFill>
                <a:latin typeface="Arial"/>
                <a:cs typeface="Arial"/>
              </a:rPr>
              <a:t>	</a:t>
            </a:r>
            <a:r>
              <a:rPr sz="1100" spc="-20" dirty="0">
                <a:solidFill>
                  <a:srgbClr val="12426B"/>
                </a:solidFill>
                <a:latin typeface="Arial"/>
                <a:cs typeface="Arial"/>
              </a:rPr>
              <a:t>5.0%</a:t>
            </a:r>
            <a:endParaRPr sz="1100">
              <a:latin typeface="Arial"/>
              <a:cs typeface="Arial"/>
            </a:endParaRPr>
          </a:p>
        </p:txBody>
      </p:sp>
      <p:grpSp>
        <p:nvGrpSpPr>
          <p:cNvPr id="88" name="object 88"/>
          <p:cNvGrpSpPr/>
          <p:nvPr/>
        </p:nvGrpSpPr>
        <p:grpSpPr>
          <a:xfrm>
            <a:off x="1271790" y="4697846"/>
            <a:ext cx="4413250" cy="248285"/>
            <a:chOff x="890790" y="3965689"/>
            <a:chExt cx="4413250" cy="248285"/>
          </a:xfrm>
        </p:grpSpPr>
        <p:sp>
          <p:nvSpPr>
            <p:cNvPr id="89" name="object 89"/>
            <p:cNvSpPr/>
            <p:nvPr/>
          </p:nvSpPr>
          <p:spPr>
            <a:xfrm>
              <a:off x="890790" y="3965689"/>
              <a:ext cx="188595" cy="141605"/>
            </a:xfrm>
            <a:custGeom>
              <a:avLst/>
              <a:gdLst/>
              <a:ahLst/>
              <a:cxnLst/>
              <a:rect l="l" t="t" r="r" b="b"/>
              <a:pathLst>
                <a:path w="188594" h="141604">
                  <a:moveTo>
                    <a:pt x="94081" y="0"/>
                  </a:moveTo>
                  <a:lnTo>
                    <a:pt x="0" y="141020"/>
                  </a:lnTo>
                  <a:lnTo>
                    <a:pt x="188150" y="141020"/>
                  </a:lnTo>
                  <a:lnTo>
                    <a:pt x="94081" y="0"/>
                  </a:lnTo>
                  <a:close/>
                </a:path>
              </a:pathLst>
            </a:custGeom>
            <a:solidFill>
              <a:srgbClr val="00AF50"/>
            </a:solidFill>
          </p:spPr>
          <p:txBody>
            <a:bodyPr wrap="square" lIns="0" tIns="0" rIns="0" bIns="0" rtlCol="0"/>
            <a:lstStyle/>
            <a:p>
              <a:endParaRPr/>
            </a:p>
          </p:txBody>
        </p:sp>
        <p:sp>
          <p:nvSpPr>
            <p:cNvPr id="90" name="object 90"/>
            <p:cNvSpPr/>
            <p:nvPr/>
          </p:nvSpPr>
          <p:spPr>
            <a:xfrm>
              <a:off x="3854703" y="4210519"/>
              <a:ext cx="1449070" cy="0"/>
            </a:xfrm>
            <a:custGeom>
              <a:avLst/>
              <a:gdLst/>
              <a:ahLst/>
              <a:cxnLst/>
              <a:rect l="l" t="t" r="r" b="b"/>
              <a:pathLst>
                <a:path w="1449070">
                  <a:moveTo>
                    <a:pt x="0" y="0"/>
                  </a:moveTo>
                  <a:lnTo>
                    <a:pt x="1448816" y="0"/>
                  </a:lnTo>
                </a:path>
              </a:pathLst>
            </a:custGeom>
            <a:ln w="6350">
              <a:solidFill>
                <a:srgbClr val="BEBEBE"/>
              </a:solidFill>
              <a:prstDash val="sysDash"/>
            </a:ln>
          </p:spPr>
          <p:txBody>
            <a:bodyPr wrap="square" lIns="0" tIns="0" rIns="0" bIns="0" rtlCol="0"/>
            <a:lstStyle/>
            <a:p>
              <a:endParaRPr/>
            </a:p>
          </p:txBody>
        </p:sp>
      </p:grpSp>
      <p:pic>
        <p:nvPicPr>
          <p:cNvPr id="91" name="object 91" descr="File:J&amp;T Express logo.svg - Wikipedia"/>
          <p:cNvPicPr/>
          <p:nvPr/>
        </p:nvPicPr>
        <p:blipFill>
          <a:blip r:embed="rId28" cstate="print"/>
          <a:stretch>
            <a:fillRect/>
          </a:stretch>
        </p:blipFill>
        <p:spPr>
          <a:xfrm>
            <a:off x="7634860" y="1805459"/>
            <a:ext cx="1095095" cy="229717"/>
          </a:xfrm>
          <a:prstGeom prst="rect">
            <a:avLst/>
          </a:prstGeom>
        </p:spPr>
      </p:pic>
      <p:sp>
        <p:nvSpPr>
          <p:cNvPr id="94" name="TextBox 93">
            <a:extLst>
              <a:ext uri="{FF2B5EF4-FFF2-40B4-BE49-F238E27FC236}">
                <a16:creationId xmlns:a16="http://schemas.microsoft.com/office/drawing/2014/main" id="{0CC2A811-2715-717C-2E27-3B2627B9295C}"/>
              </a:ext>
            </a:extLst>
          </p:cNvPr>
          <p:cNvSpPr txBox="1">
            <a:spLocks noChangeArrowheads="1"/>
          </p:cNvSpPr>
          <p:nvPr/>
        </p:nvSpPr>
        <p:spPr bwMode="auto">
          <a:xfrm>
            <a:off x="963270" y="1341121"/>
            <a:ext cx="3071521" cy="430681"/>
          </a:xfrm>
          <a:prstGeom prst="rect">
            <a:avLst/>
          </a:prstGeom>
          <a:solidFill>
            <a:srgbClr val="C00000"/>
          </a:solidFill>
          <a:ln w="9525" cap="flat" cmpd="sng" algn="ctr">
            <a:solidFill>
              <a:srgbClr val="C00000"/>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dirty="0">
                <a:cs typeface="Arial" panose="020B0604020202020204" pitchFamily="34" charset="0"/>
              </a:rPr>
              <a:t>Healthy Aftermarket Performance Supported by Southbound Ownership</a:t>
            </a:r>
          </a:p>
        </p:txBody>
      </p:sp>
      <p:sp>
        <p:nvSpPr>
          <p:cNvPr id="96" name="TextBox 95">
            <a:extLst>
              <a:ext uri="{FF2B5EF4-FFF2-40B4-BE49-F238E27FC236}">
                <a16:creationId xmlns:a16="http://schemas.microsoft.com/office/drawing/2014/main" id="{D434F6F0-62FB-527D-976E-0B729551421F}"/>
              </a:ext>
            </a:extLst>
          </p:cNvPr>
          <p:cNvSpPr txBox="1">
            <a:spLocks noChangeArrowheads="1"/>
          </p:cNvSpPr>
          <p:nvPr/>
        </p:nvSpPr>
        <p:spPr bwMode="auto">
          <a:xfrm>
            <a:off x="4113530" y="3185160"/>
            <a:ext cx="4820158" cy="274320"/>
          </a:xfrm>
          <a:prstGeom prst="rect">
            <a:avLst/>
          </a:prstGeom>
          <a:solidFill>
            <a:srgbClr val="C00000"/>
          </a:solidFill>
          <a:ln w="9525" cap="flat" cmpd="sng" algn="ctr">
            <a:solidFill>
              <a:srgbClr val="C00000"/>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dirty="0">
                <a:cs typeface="Arial" panose="020B0604020202020204" pitchFamily="34" charset="0"/>
              </a:rPr>
              <a:t>Robust IPO Pipeline Across Regions</a:t>
            </a:r>
          </a:p>
        </p:txBody>
      </p:sp>
      <p:sp>
        <p:nvSpPr>
          <p:cNvPr id="97" name="TextBox 96">
            <a:extLst>
              <a:ext uri="{FF2B5EF4-FFF2-40B4-BE49-F238E27FC236}">
                <a16:creationId xmlns:a16="http://schemas.microsoft.com/office/drawing/2014/main" id="{B588DA61-BAB3-70C6-27DC-8E372B665CC3}"/>
              </a:ext>
            </a:extLst>
          </p:cNvPr>
          <p:cNvSpPr txBox="1"/>
          <p:nvPr/>
        </p:nvSpPr>
        <p:spPr>
          <a:xfrm>
            <a:off x="729720" y="5904419"/>
            <a:ext cx="7845552" cy="276999"/>
          </a:xfrm>
          <a:prstGeom prst="rect">
            <a:avLst/>
          </a:prstGeom>
          <a:noFill/>
        </p:spPr>
        <p:txBody>
          <a:bodyPr wrap="square" lIns="0" anchor="b" anchorCtr="0">
            <a:spAutoFit/>
          </a:bodyPr>
          <a:lstStyle/>
          <a:p>
            <a:r>
              <a:rPr lang="en-US" altLang="zh-CN" sz="600" b="0" i="1" dirty="0">
                <a:solidFill>
                  <a:schemeClr val="tx1"/>
                </a:solidFill>
                <a:cs typeface="Arial" panose="020B0604020202020204" pitchFamily="34" charset="0"/>
              </a:rPr>
              <a:t>Sources: Bloomberg, Wind, Dealogic and company announcement as of 31 Mar 2026 </a:t>
            </a:r>
          </a:p>
          <a:p>
            <a:pPr>
              <a:tabLst>
                <a:tab pos="401638" algn="l"/>
                <a:tab pos="573088" algn="l"/>
              </a:tabLst>
            </a:pPr>
            <a:r>
              <a:rPr lang="en-US" altLang="zh-CN" sz="600" b="0" i="1" dirty="0">
                <a:solidFill>
                  <a:schemeClr val="tx1"/>
                </a:solidFill>
                <a:cs typeface="Arial" panose="020B0604020202020204" pitchFamily="34" charset="0"/>
              </a:rPr>
              <a:t>Note: </a:t>
            </a:r>
            <a:r>
              <a:rPr lang="en-US" altLang="zh-TW" sz="600" b="0" i="1" dirty="0">
                <a:solidFill>
                  <a:schemeClr val="tx1"/>
                </a:solidFill>
                <a:cs typeface="Arial" panose="020B0604020202020204" pitchFamily="34" charset="0"/>
              </a:rPr>
              <a:t>1. </a:t>
            </a:r>
            <a:r>
              <a:rPr lang="en-US" altLang="zh-CN" sz="600" b="0" i="1" dirty="0">
                <a:solidFill>
                  <a:schemeClr val="tx1"/>
                </a:solidFill>
                <a:cs typeface="Arial" panose="020B0604020202020204" pitchFamily="34" charset="0"/>
              </a:rPr>
              <a:t>1M ADT since Southbound inclusion if less than 1 month of Southbound inclusion history</a:t>
            </a:r>
          </a:p>
        </p:txBody>
      </p:sp>
      <p:sp>
        <p:nvSpPr>
          <p:cNvPr id="9" name="Slide Number Placeholder 10">
            <a:extLst>
              <a:ext uri="{FF2B5EF4-FFF2-40B4-BE49-F238E27FC236}">
                <a16:creationId xmlns:a16="http://schemas.microsoft.com/office/drawing/2014/main" id="{293E19E5-4790-FE1F-3B36-3860F862FD69}"/>
              </a:ext>
            </a:extLst>
          </p:cNvPr>
          <p:cNvSpPr>
            <a:spLocks noGrp="1"/>
          </p:cNvSpPr>
          <p:nvPr>
            <p:ph type="sldNum" sz="quarter" idx="4"/>
          </p:nvPr>
        </p:nvSpPr>
        <p:spPr>
          <a:xfrm>
            <a:off x="8555964" y="6379105"/>
            <a:ext cx="1155700" cy="381000"/>
          </a:xfrm>
        </p:spPr>
        <p:txBody>
          <a:bodyPr/>
          <a:lstStyle/>
          <a:p>
            <a:pPr>
              <a:spcBef>
                <a:spcPct val="0"/>
              </a:spcBef>
              <a:defRPr/>
            </a:pPr>
            <a:fld id="{EFB97E77-A14C-4D4A-B483-93BB0C8192BC}" type="slidenum">
              <a:rPr lang="en-US" altLang="en-US" b="0" smtClean="0">
                <a:solidFill>
                  <a:srgbClr val="000000"/>
                </a:solidFill>
              </a:rPr>
              <a:pPr>
                <a:spcBef>
                  <a:spcPct val="0"/>
                </a:spcBef>
                <a:defRPr/>
              </a:pPr>
              <a:t>29</a:t>
            </a:fld>
            <a:endParaRPr lang="en-US" altLang="en-US" b="0" dirty="0">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C49CE-CBF6-AACE-E093-A0BF5DAF0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65306-E9F2-55AB-F08F-84079164A238}"/>
              </a:ext>
            </a:extLst>
          </p:cNvPr>
          <p:cNvSpPr>
            <a:spLocks noGrp="1"/>
          </p:cNvSpPr>
          <p:nvPr>
            <p:ph type="title"/>
          </p:nvPr>
        </p:nvSpPr>
        <p:spPr>
          <a:xfrm>
            <a:off x="688340" y="448056"/>
            <a:ext cx="8915400" cy="577850"/>
          </a:xfrm>
        </p:spPr>
        <p:txBody>
          <a:bodyPr/>
          <a:lstStyle/>
          <a:p>
            <a:r>
              <a:rPr lang="en-US" altLang="zh-TW" sz="2000" dirty="0" err="1"/>
              <a:t>HKEx</a:t>
            </a:r>
            <a:r>
              <a:rPr lang="en-US" altLang="zh-TW" sz="2000" dirty="0"/>
              <a:t> is an Attractive Listing Venue for International Companies </a:t>
            </a:r>
            <a:endParaRPr lang="en-US" sz="2000" dirty="0"/>
          </a:p>
        </p:txBody>
      </p:sp>
      <p:sp>
        <p:nvSpPr>
          <p:cNvPr id="3" name="Slide Number Placeholder 2">
            <a:extLst>
              <a:ext uri="{FF2B5EF4-FFF2-40B4-BE49-F238E27FC236}">
                <a16:creationId xmlns:a16="http://schemas.microsoft.com/office/drawing/2014/main" id="{987C5943-4B97-D277-26EE-B84349047961}"/>
              </a:ext>
            </a:extLst>
          </p:cNvPr>
          <p:cNvSpPr>
            <a:spLocks noGrp="1"/>
          </p:cNvSpPr>
          <p:nvPr>
            <p:ph type="sldNum" sz="quarter" idx="14"/>
          </p:nvPr>
        </p:nvSpPr>
        <p:spPr/>
        <p:txBody>
          <a:bodyPr/>
          <a:lstStyle/>
          <a:p>
            <a:pPr>
              <a:defRPr/>
            </a:pPr>
            <a:fld id="{1F16F30C-A594-4D63-A3AB-8699917C4F77}" type="slidenum">
              <a:rPr lang="en-US" b="0" smtClean="0">
                <a:solidFill>
                  <a:schemeClr val="tx1"/>
                </a:solidFill>
              </a:rPr>
              <a:t>30</a:t>
            </a:fld>
            <a:endParaRPr lang="en-US" b="0" dirty="0">
              <a:solidFill>
                <a:schemeClr val="tx1"/>
              </a:solidFill>
            </a:endParaRPr>
          </a:p>
        </p:txBody>
      </p:sp>
      <p:sp>
        <p:nvSpPr>
          <p:cNvPr id="4" name="Text Placeholder 5">
            <a:extLst>
              <a:ext uri="{FF2B5EF4-FFF2-40B4-BE49-F238E27FC236}">
                <a16:creationId xmlns:a16="http://schemas.microsoft.com/office/drawing/2014/main" id="{488783DF-7EFE-E6AE-4F1A-2C3F57C9D827}"/>
              </a:ext>
            </a:extLst>
          </p:cNvPr>
          <p:cNvSpPr txBox="1">
            <a:spLocks/>
          </p:cNvSpPr>
          <p:nvPr/>
        </p:nvSpPr>
        <p:spPr>
          <a:xfrm>
            <a:off x="688252" y="1143413"/>
            <a:ext cx="8510762" cy="450123"/>
          </a:xfrm>
          <a:prstGeom prst="rect">
            <a:avLst/>
          </a:prstGeom>
          <a:solidFill>
            <a:srgbClr val="FEBFB3"/>
          </a:solidFill>
          <a:ln w="12700">
            <a:solidFill>
              <a:schemeClr val="bg2"/>
            </a:solidFill>
          </a:ln>
          <a:effectLst>
            <a:outerShdw blurRad="50800" dist="38100" dir="2700000" algn="tl" rotWithShape="0">
              <a:prstClr val="black">
                <a:alpha val="40000"/>
              </a:prstClr>
            </a:outerShdw>
          </a:effectLst>
        </p:spPr>
        <p:txBody>
          <a:bodyPr wrap="square" tIns="74295" bIns="74295">
            <a:spAutoFit/>
          </a:bodyPr>
          <a:lstStyle>
            <a:lvl1pPr marL="342900" indent="-342900" algn="l" rtl="0" eaLnBrk="1" fontAlgn="base" hangingPunct="1">
              <a:spcBef>
                <a:spcPct val="20000"/>
              </a:spcBef>
              <a:spcAft>
                <a:spcPct val="0"/>
              </a:spcAft>
              <a:buClr>
                <a:schemeClr val="accent1"/>
              </a:buClr>
              <a:buFont typeface="Wingdings" panose="05000000000000000000" pitchFamily="2" charset="2"/>
              <a:buChar char="§"/>
              <a:defRPr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16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16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88317" indent="-188317">
              <a:spcBef>
                <a:spcPts val="0"/>
              </a:spcBef>
              <a:spcAft>
                <a:spcPts val="0"/>
              </a:spcAft>
            </a:pPr>
            <a:r>
              <a:rPr lang="en-US" sz="975" dirty="0"/>
              <a:t>Hong Kong has been the listing venue of choice for many international companies, i.e. companies with (</a:t>
            </a:r>
            <a:r>
              <a:rPr lang="en-US" sz="975" dirty="0" err="1"/>
              <a:t>i</a:t>
            </a:r>
            <a:r>
              <a:rPr lang="en-US" sz="975" dirty="0"/>
              <a:t>) non-PRC founder/parent group background, and/or (ii) with substantial businesses outside of Mainland China</a:t>
            </a:r>
          </a:p>
        </p:txBody>
      </p:sp>
      <p:graphicFrame>
        <p:nvGraphicFramePr>
          <p:cNvPr id="9" name="Table 8">
            <a:extLst>
              <a:ext uri="{FF2B5EF4-FFF2-40B4-BE49-F238E27FC236}">
                <a16:creationId xmlns:a16="http://schemas.microsoft.com/office/drawing/2014/main" id="{52584D25-C8EA-C07D-8187-262028F42C55}"/>
              </a:ext>
            </a:extLst>
          </p:cNvPr>
          <p:cNvGraphicFramePr>
            <a:graphicFrameLocks noGrp="1"/>
          </p:cNvGraphicFramePr>
          <p:nvPr>
            <p:extLst>
              <p:ext uri="{D42A27DB-BD31-4B8C-83A1-F6EECF244321}">
                <p14:modId xmlns:p14="http://schemas.microsoft.com/office/powerpoint/2010/main" val="4006120586"/>
              </p:ext>
            </p:extLst>
          </p:nvPr>
        </p:nvGraphicFramePr>
        <p:xfrm>
          <a:off x="1002387" y="1967712"/>
          <a:ext cx="8196627" cy="3508248"/>
        </p:xfrm>
        <a:graphic>
          <a:graphicData uri="http://schemas.openxmlformats.org/drawingml/2006/table">
            <a:tbl>
              <a:tblPr firstRow="1" bandRow="1">
                <a:tableStyleId>{5A111915-BE36-4E01-A7E5-04B1672EAD32}</a:tableStyleId>
              </a:tblPr>
              <a:tblGrid>
                <a:gridCol w="2085117">
                  <a:extLst>
                    <a:ext uri="{9D8B030D-6E8A-4147-A177-3AD203B41FA5}">
                      <a16:colId xmlns:a16="http://schemas.microsoft.com/office/drawing/2014/main" val="848646133"/>
                    </a:ext>
                  </a:extLst>
                </a:gridCol>
                <a:gridCol w="805393">
                  <a:extLst>
                    <a:ext uri="{9D8B030D-6E8A-4147-A177-3AD203B41FA5}">
                      <a16:colId xmlns:a16="http://schemas.microsoft.com/office/drawing/2014/main" val="3278256864"/>
                    </a:ext>
                  </a:extLst>
                </a:gridCol>
                <a:gridCol w="1105440">
                  <a:extLst>
                    <a:ext uri="{9D8B030D-6E8A-4147-A177-3AD203B41FA5}">
                      <a16:colId xmlns:a16="http://schemas.microsoft.com/office/drawing/2014/main" val="1900819717"/>
                    </a:ext>
                  </a:extLst>
                </a:gridCol>
                <a:gridCol w="1042273">
                  <a:extLst>
                    <a:ext uri="{9D8B030D-6E8A-4147-A177-3AD203B41FA5}">
                      <a16:colId xmlns:a16="http://schemas.microsoft.com/office/drawing/2014/main" val="702466442"/>
                    </a:ext>
                  </a:extLst>
                </a:gridCol>
                <a:gridCol w="3158404">
                  <a:extLst>
                    <a:ext uri="{9D8B030D-6E8A-4147-A177-3AD203B41FA5}">
                      <a16:colId xmlns:a16="http://schemas.microsoft.com/office/drawing/2014/main" val="2397286290"/>
                    </a:ext>
                  </a:extLst>
                </a:gridCol>
              </a:tblGrid>
              <a:tr h="275812">
                <a:tc>
                  <a:txBody>
                    <a:bodyPr/>
                    <a:lstStyle/>
                    <a:p>
                      <a:r>
                        <a:rPr lang="en-US" sz="800" dirty="0"/>
                        <a:t>Company</a:t>
                      </a:r>
                    </a:p>
                  </a:txBody>
                  <a:tcPr marL="74295" marR="74295" marT="29718" marB="29718" anchor="ctr">
                    <a:solidFill>
                      <a:srgbClr val="C00000"/>
                    </a:solidFill>
                  </a:tcPr>
                </a:tc>
                <a:tc>
                  <a:txBody>
                    <a:bodyPr/>
                    <a:lstStyle/>
                    <a:p>
                      <a:pPr algn="ctr"/>
                      <a:r>
                        <a:rPr lang="en-US" sz="800" dirty="0"/>
                        <a:t>Stock Code</a:t>
                      </a:r>
                    </a:p>
                  </a:txBody>
                  <a:tcPr marL="74295" marR="74295" marT="29718" marB="29718" anchor="ctr">
                    <a:solidFill>
                      <a:srgbClr val="C00000"/>
                    </a:solidFill>
                  </a:tcPr>
                </a:tc>
                <a:tc>
                  <a:txBody>
                    <a:bodyPr/>
                    <a:lstStyle/>
                    <a:p>
                      <a:r>
                        <a:rPr lang="en-US" sz="800" dirty="0"/>
                        <a:t>Sector </a:t>
                      </a:r>
                    </a:p>
                  </a:txBody>
                  <a:tcPr marL="74295" marR="74295" marT="29718" marB="29718" anchor="ctr">
                    <a:solidFill>
                      <a:srgbClr val="C00000"/>
                    </a:solidFill>
                  </a:tcPr>
                </a:tc>
                <a:tc>
                  <a:txBody>
                    <a:bodyPr/>
                    <a:lstStyle/>
                    <a:p>
                      <a:r>
                        <a:rPr lang="en-US" sz="800" dirty="0"/>
                        <a:t>Founder / Parent Co background</a:t>
                      </a:r>
                    </a:p>
                  </a:txBody>
                  <a:tcPr marL="74295" marR="74295" marT="29718" marB="29718" anchor="ctr">
                    <a:solidFill>
                      <a:srgbClr val="C00000"/>
                    </a:solidFill>
                  </a:tcPr>
                </a:tc>
                <a:tc>
                  <a:txBody>
                    <a:bodyPr/>
                    <a:lstStyle/>
                    <a:p>
                      <a:r>
                        <a:rPr lang="en-US" sz="800" dirty="0"/>
                        <a:t>Major Markets</a:t>
                      </a:r>
                      <a:r>
                        <a:rPr lang="en-US" sz="800" baseline="30000" dirty="0"/>
                        <a:t>1</a:t>
                      </a:r>
                      <a:r>
                        <a:rPr lang="en-US" sz="800" dirty="0"/>
                        <a:t> </a:t>
                      </a:r>
                    </a:p>
                  </a:txBody>
                  <a:tcPr marL="74295" marR="74295" marT="29718" marB="29718" anchor="ctr">
                    <a:solidFill>
                      <a:srgbClr val="C00000"/>
                    </a:solidFill>
                  </a:tcPr>
                </a:tc>
                <a:extLst>
                  <a:ext uri="{0D108BD9-81ED-4DB2-BD59-A6C34878D82A}">
                    <a16:rowId xmlns:a16="http://schemas.microsoft.com/office/drawing/2014/main" val="1591627873"/>
                  </a:ext>
                </a:extLst>
              </a:tr>
              <a:tr h="164933">
                <a:tc>
                  <a:txBody>
                    <a:bodyPr/>
                    <a:lstStyle/>
                    <a:p>
                      <a:r>
                        <a:rPr lang="en-US" sz="800" dirty="0">
                          <a:solidFill>
                            <a:srgbClr val="FF0000"/>
                          </a:solidFill>
                        </a:rPr>
                        <a:t>IFBH LTD</a:t>
                      </a:r>
                    </a:p>
                  </a:txBody>
                  <a:tcPr marL="74295" marR="74295" marT="29718" marB="29718">
                    <a:solidFill>
                      <a:schemeClr val="bg1"/>
                    </a:solidFill>
                  </a:tcPr>
                </a:tc>
                <a:tc>
                  <a:txBody>
                    <a:bodyPr/>
                    <a:lstStyle/>
                    <a:p>
                      <a:pPr algn="ctr"/>
                      <a:r>
                        <a:rPr lang="en-US" sz="800">
                          <a:solidFill>
                            <a:srgbClr val="FF0000"/>
                          </a:solidFill>
                        </a:rPr>
                        <a:t>6603.HK</a:t>
                      </a:r>
                    </a:p>
                  </a:txBody>
                  <a:tcPr marL="74295" marR="74295" marT="29718" marB="29718">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FF0000"/>
                          </a:solidFill>
                        </a:rPr>
                        <a:t>F&amp;B</a:t>
                      </a:r>
                    </a:p>
                  </a:txBody>
                  <a:tcPr marL="74295" marR="74295" marT="29718" marB="29718">
                    <a:solidFill>
                      <a:schemeClr val="bg1"/>
                    </a:solidFill>
                  </a:tcPr>
                </a:tc>
                <a:tc>
                  <a:txBody>
                    <a:bodyPr/>
                    <a:lstStyle/>
                    <a:p>
                      <a:r>
                        <a:rPr lang="en-US" sz="800" dirty="0">
                          <a:solidFill>
                            <a:srgbClr val="FF0000"/>
                          </a:solidFill>
                        </a:rPr>
                        <a:t>Thailand</a:t>
                      </a:r>
                    </a:p>
                  </a:txBody>
                  <a:tcPr marL="74295" marR="74295" marT="29718" marB="29718">
                    <a:solidFill>
                      <a:schemeClr val="bg1"/>
                    </a:solidFill>
                  </a:tcPr>
                </a:tc>
                <a:tc>
                  <a:txBody>
                    <a:bodyPr/>
                    <a:lstStyle/>
                    <a:p>
                      <a:r>
                        <a:rPr lang="en-US" sz="800" dirty="0">
                          <a:solidFill>
                            <a:srgbClr val="FF0000"/>
                          </a:solidFill>
                        </a:rPr>
                        <a:t>92% China; 5% Hong Kong  </a:t>
                      </a:r>
                    </a:p>
                  </a:txBody>
                  <a:tcPr marL="74295" marR="74295" marT="29718" marB="29718">
                    <a:solidFill>
                      <a:schemeClr val="bg1"/>
                    </a:solidFill>
                  </a:tcPr>
                </a:tc>
                <a:extLst>
                  <a:ext uri="{0D108BD9-81ED-4DB2-BD59-A6C34878D82A}">
                    <a16:rowId xmlns:a16="http://schemas.microsoft.com/office/drawing/2014/main" val="3362766536"/>
                  </a:ext>
                </a:extLst>
              </a:tr>
              <a:tr h="164933">
                <a:tc>
                  <a:txBody>
                    <a:bodyPr/>
                    <a:lstStyle/>
                    <a:p>
                      <a:r>
                        <a:rPr lang="en-US" sz="800" dirty="0"/>
                        <a:t>BUDWEISER BREWING CO APAC LT</a:t>
                      </a:r>
                    </a:p>
                  </a:txBody>
                  <a:tcPr marL="74295" marR="74295" marT="29718" marB="29718">
                    <a:solidFill>
                      <a:schemeClr val="bg1"/>
                    </a:solidFill>
                  </a:tcPr>
                </a:tc>
                <a:tc>
                  <a:txBody>
                    <a:bodyPr/>
                    <a:lstStyle/>
                    <a:p>
                      <a:pPr algn="ctr"/>
                      <a:r>
                        <a:rPr lang="en-US" sz="800"/>
                        <a:t>1876.HK</a:t>
                      </a:r>
                    </a:p>
                  </a:txBody>
                  <a:tcPr marL="74295" marR="74295" marT="29718" marB="29718">
                    <a:solidFill>
                      <a:schemeClr val="bg1"/>
                    </a:solidFill>
                  </a:tcPr>
                </a:tc>
                <a:tc>
                  <a:txBody>
                    <a:bodyPr/>
                    <a:lstStyle/>
                    <a:p>
                      <a:r>
                        <a:rPr lang="en-US" sz="800"/>
                        <a:t>F&amp;B</a:t>
                      </a:r>
                    </a:p>
                  </a:txBody>
                  <a:tcPr marL="74295" marR="74295" marT="29718" marB="29718">
                    <a:solidFill>
                      <a:schemeClr val="bg1"/>
                    </a:solidFill>
                  </a:tcPr>
                </a:tc>
                <a:tc>
                  <a:txBody>
                    <a:bodyPr/>
                    <a:lstStyle/>
                    <a:p>
                      <a:r>
                        <a:rPr lang="en-US" sz="800"/>
                        <a:t>Belgium </a:t>
                      </a:r>
                    </a:p>
                  </a:txBody>
                  <a:tcPr marL="74295" marR="74295" marT="29718" marB="29718">
                    <a:solidFill>
                      <a:schemeClr val="bg1"/>
                    </a:solidFill>
                  </a:tcPr>
                </a:tc>
                <a:tc>
                  <a:txBody>
                    <a:bodyPr/>
                    <a:lstStyle/>
                    <a:p>
                      <a:r>
                        <a:rPr lang="en-US" sz="800"/>
                        <a:t>China, South Korea, India, Vietnam </a:t>
                      </a:r>
                    </a:p>
                  </a:txBody>
                  <a:tcPr marL="74295" marR="74295" marT="29718" marB="29718">
                    <a:solidFill>
                      <a:schemeClr val="bg1"/>
                    </a:solidFill>
                  </a:tcPr>
                </a:tc>
                <a:extLst>
                  <a:ext uri="{0D108BD9-81ED-4DB2-BD59-A6C34878D82A}">
                    <a16:rowId xmlns:a16="http://schemas.microsoft.com/office/drawing/2014/main" val="2983093904"/>
                  </a:ext>
                </a:extLst>
              </a:tr>
              <a:tr h="164933">
                <a:tc>
                  <a:txBody>
                    <a:bodyPr/>
                    <a:lstStyle/>
                    <a:p>
                      <a:r>
                        <a:rPr lang="en-US" sz="800" dirty="0"/>
                        <a:t>NISSIN FOODS CO LTD</a:t>
                      </a:r>
                    </a:p>
                  </a:txBody>
                  <a:tcPr marL="74295" marR="74295" marT="29718" marB="29718"/>
                </a:tc>
                <a:tc>
                  <a:txBody>
                    <a:bodyPr/>
                    <a:lstStyle/>
                    <a:p>
                      <a:pPr algn="ctr"/>
                      <a:r>
                        <a:rPr lang="en-US" sz="800" dirty="0"/>
                        <a:t>1475.HK</a:t>
                      </a:r>
                    </a:p>
                  </a:txBody>
                  <a:tcPr marL="74295" marR="74295" marT="29718" marB="29718"/>
                </a:tc>
                <a:tc>
                  <a:txBody>
                    <a:bodyPr/>
                    <a:lstStyle/>
                    <a:p>
                      <a:r>
                        <a:rPr lang="en-US" sz="800"/>
                        <a:t>F&amp;B</a:t>
                      </a:r>
                    </a:p>
                  </a:txBody>
                  <a:tcPr marL="74295" marR="74295" marT="29718" marB="29718"/>
                </a:tc>
                <a:tc>
                  <a:txBody>
                    <a:bodyPr/>
                    <a:lstStyle/>
                    <a:p>
                      <a:r>
                        <a:rPr lang="en-US" sz="800"/>
                        <a:t>Japan</a:t>
                      </a:r>
                    </a:p>
                  </a:txBody>
                  <a:tcPr marL="74295" marR="74295" marT="29718" marB="29718"/>
                </a:tc>
                <a:tc>
                  <a:txBody>
                    <a:bodyPr/>
                    <a:lstStyle/>
                    <a:p>
                      <a:r>
                        <a:rPr lang="en-US" sz="800"/>
                        <a:t>60% China; 40% Hong Kong/Rest of Asia</a:t>
                      </a:r>
                    </a:p>
                  </a:txBody>
                  <a:tcPr marL="74295" marR="74295" marT="29718" marB="29718">
                    <a:solidFill>
                      <a:schemeClr val="bg1"/>
                    </a:solidFill>
                  </a:tcPr>
                </a:tc>
                <a:extLst>
                  <a:ext uri="{0D108BD9-81ED-4DB2-BD59-A6C34878D82A}">
                    <a16:rowId xmlns:a16="http://schemas.microsoft.com/office/drawing/2014/main" val="3400218298"/>
                  </a:ext>
                </a:extLst>
              </a:tr>
              <a:tr h="164933">
                <a:tc>
                  <a:txBody>
                    <a:bodyPr/>
                    <a:lstStyle/>
                    <a:p>
                      <a:r>
                        <a:rPr lang="en-US" sz="800" dirty="0"/>
                        <a:t>SAN MIGUEL BREWERY HK LTD</a:t>
                      </a:r>
                    </a:p>
                  </a:txBody>
                  <a:tcPr marL="74295" marR="74295" marT="29718" marB="29718">
                    <a:solidFill>
                      <a:schemeClr val="accent2"/>
                    </a:solidFill>
                  </a:tcPr>
                </a:tc>
                <a:tc>
                  <a:txBody>
                    <a:bodyPr/>
                    <a:lstStyle/>
                    <a:p>
                      <a:pPr algn="ctr"/>
                      <a:r>
                        <a:rPr lang="en-US" sz="800"/>
                        <a:t>236.HK</a:t>
                      </a:r>
                    </a:p>
                  </a:txBody>
                  <a:tcPr marL="74295" marR="74295" marT="29718" marB="29718">
                    <a:solidFill>
                      <a:schemeClr val="accent2"/>
                    </a:solidFill>
                  </a:tcPr>
                </a:tc>
                <a:tc>
                  <a:txBody>
                    <a:bodyPr/>
                    <a:lstStyle/>
                    <a:p>
                      <a:r>
                        <a:rPr lang="en-US" sz="800"/>
                        <a:t>F&amp;B</a:t>
                      </a:r>
                    </a:p>
                  </a:txBody>
                  <a:tcPr marL="74295" marR="74295" marT="29718" marB="29718">
                    <a:solidFill>
                      <a:schemeClr val="accent2"/>
                    </a:solidFill>
                  </a:tcPr>
                </a:tc>
                <a:tc>
                  <a:txBody>
                    <a:bodyPr/>
                    <a:lstStyle/>
                    <a:p>
                      <a:r>
                        <a:rPr lang="en-US" altLang="zh-TW" sz="800"/>
                        <a:t>Philippines</a:t>
                      </a:r>
                      <a:endParaRPr lang="en-US" sz="800"/>
                    </a:p>
                  </a:txBody>
                  <a:tcPr marL="74295" marR="74295" marT="29718" marB="29718">
                    <a:solidFill>
                      <a:schemeClr val="accent2"/>
                    </a:solidFill>
                  </a:tcPr>
                </a:tc>
                <a:tc>
                  <a:txBody>
                    <a:bodyPr/>
                    <a:lstStyle/>
                    <a:p>
                      <a:r>
                        <a:rPr lang="en-US" sz="800"/>
                        <a:t>55% Philippines; 34% Hong Kong; 9% China </a:t>
                      </a:r>
                    </a:p>
                  </a:txBody>
                  <a:tcPr marL="74295" marR="74295" marT="29718" marB="29718">
                    <a:solidFill>
                      <a:schemeClr val="accent2"/>
                    </a:solidFill>
                  </a:tcPr>
                </a:tc>
                <a:extLst>
                  <a:ext uri="{0D108BD9-81ED-4DB2-BD59-A6C34878D82A}">
                    <a16:rowId xmlns:a16="http://schemas.microsoft.com/office/drawing/2014/main" val="2486747491"/>
                  </a:ext>
                </a:extLst>
              </a:tr>
              <a:tr h="164933">
                <a:tc>
                  <a:txBody>
                    <a:bodyPr/>
                    <a:lstStyle/>
                    <a:p>
                      <a:r>
                        <a:rPr lang="en-US" sz="800" kern="1200" cap="all" baseline="0" dirty="0">
                          <a:solidFill>
                            <a:schemeClr val="tx1"/>
                          </a:solidFill>
                          <a:latin typeface="+mn-lt"/>
                          <a:ea typeface="+mn-ea"/>
                          <a:cs typeface="+mn-cs"/>
                        </a:rPr>
                        <a:t>First Pacific Company Limited</a:t>
                      </a:r>
                    </a:p>
                  </a:txBody>
                  <a:tcPr marL="74295" marR="74295" marT="29718" marB="29718">
                    <a:solidFill>
                      <a:schemeClr val="accent2"/>
                    </a:solidFill>
                  </a:tcPr>
                </a:tc>
                <a:tc>
                  <a:txBody>
                    <a:bodyPr/>
                    <a:lstStyle/>
                    <a:p>
                      <a:pPr algn="ctr"/>
                      <a:r>
                        <a:rPr lang="en-US" altLang="zh-TW" sz="800" dirty="0"/>
                        <a:t>142.HK</a:t>
                      </a:r>
                      <a:endParaRPr lang="en-US" sz="800" dirty="0"/>
                    </a:p>
                  </a:txBody>
                  <a:tcPr marL="74295" marR="74295" marT="29718" marB="29718">
                    <a:solidFill>
                      <a:schemeClr val="accent2"/>
                    </a:solidFill>
                  </a:tcPr>
                </a:tc>
                <a:tc>
                  <a:txBody>
                    <a:bodyPr/>
                    <a:lstStyle/>
                    <a:p>
                      <a:r>
                        <a:rPr lang="en-US" altLang="zh-TW" sz="800" dirty="0"/>
                        <a:t>Conglomerate</a:t>
                      </a:r>
                      <a:endParaRPr lang="en-US" sz="800" dirty="0"/>
                    </a:p>
                  </a:txBody>
                  <a:tcPr marL="74295" marR="74295" marT="29718" marB="29718">
                    <a:solidFill>
                      <a:schemeClr val="accent2"/>
                    </a:solidFill>
                  </a:tcPr>
                </a:tc>
                <a:tc>
                  <a:txBody>
                    <a:bodyPr/>
                    <a:lstStyle/>
                    <a:p>
                      <a:r>
                        <a:rPr lang="en-US" sz="800"/>
                        <a:t>Indonesia </a:t>
                      </a:r>
                    </a:p>
                  </a:txBody>
                  <a:tcPr marL="74295" marR="74295" marT="29718" marB="29718">
                    <a:solidFill>
                      <a:schemeClr val="accent2"/>
                    </a:solidFill>
                  </a:tcPr>
                </a:tc>
                <a:tc>
                  <a:txBody>
                    <a:bodyPr/>
                    <a:lstStyle/>
                    <a:p>
                      <a:r>
                        <a:rPr lang="en-US" sz="800"/>
                        <a:t>56% Indonesia; 16% Singapore, 12% Philippines</a:t>
                      </a:r>
                    </a:p>
                  </a:txBody>
                  <a:tcPr marL="74295" marR="74295" marT="29718" marB="29718">
                    <a:solidFill>
                      <a:schemeClr val="accent2"/>
                    </a:solidFill>
                  </a:tcPr>
                </a:tc>
                <a:extLst>
                  <a:ext uri="{0D108BD9-81ED-4DB2-BD59-A6C34878D82A}">
                    <a16:rowId xmlns:a16="http://schemas.microsoft.com/office/drawing/2014/main" val="2257692630"/>
                  </a:ext>
                </a:extLst>
              </a:tr>
              <a:tr h="164933">
                <a:tc>
                  <a:txBody>
                    <a:bodyPr/>
                    <a:lstStyle/>
                    <a:p>
                      <a:r>
                        <a:rPr lang="en-US" sz="800"/>
                        <a:t>SAMSONITE GROUP SA</a:t>
                      </a:r>
                    </a:p>
                  </a:txBody>
                  <a:tcPr marL="74295" marR="74295" marT="29718" marB="29718">
                    <a:solidFill>
                      <a:schemeClr val="accent2"/>
                    </a:solidFill>
                  </a:tcPr>
                </a:tc>
                <a:tc>
                  <a:txBody>
                    <a:bodyPr/>
                    <a:lstStyle/>
                    <a:p>
                      <a:pPr algn="ctr"/>
                      <a:r>
                        <a:rPr lang="en-US" sz="800" dirty="0"/>
                        <a:t>1910.HK</a:t>
                      </a:r>
                    </a:p>
                  </a:txBody>
                  <a:tcPr marL="74295" marR="74295" marT="29718" marB="29718">
                    <a:solidFill>
                      <a:schemeClr val="accent2"/>
                    </a:solidFill>
                  </a:tcPr>
                </a:tc>
                <a:tc>
                  <a:txBody>
                    <a:bodyPr/>
                    <a:lstStyle/>
                    <a:p>
                      <a:r>
                        <a:rPr lang="en-US" sz="800" dirty="0"/>
                        <a:t>Apparel</a:t>
                      </a:r>
                    </a:p>
                  </a:txBody>
                  <a:tcPr marL="74295" marR="74295" marT="29718" marB="29718">
                    <a:solidFill>
                      <a:schemeClr val="accent2"/>
                    </a:solidFill>
                  </a:tcPr>
                </a:tc>
                <a:tc>
                  <a:txBody>
                    <a:bodyPr/>
                    <a:lstStyle/>
                    <a:p>
                      <a:r>
                        <a:rPr lang="en-US" sz="800"/>
                        <a:t>US/ Luxembourg</a:t>
                      </a:r>
                    </a:p>
                  </a:txBody>
                  <a:tcPr marL="74295" marR="74295" marT="29718" marB="29718">
                    <a:solidFill>
                      <a:schemeClr val="accent2"/>
                    </a:solidFill>
                  </a:tcPr>
                </a:tc>
                <a:tc>
                  <a:txBody>
                    <a:bodyPr/>
                    <a:lstStyle/>
                    <a:p>
                      <a:r>
                        <a:rPr lang="en-US" sz="800"/>
                        <a:t>37% Asia; 35% North America; 22% Europe</a:t>
                      </a:r>
                    </a:p>
                  </a:txBody>
                  <a:tcPr marL="74295" marR="74295" marT="29718" marB="29718">
                    <a:solidFill>
                      <a:schemeClr val="accent2"/>
                    </a:solidFill>
                  </a:tcPr>
                </a:tc>
                <a:extLst>
                  <a:ext uri="{0D108BD9-81ED-4DB2-BD59-A6C34878D82A}">
                    <a16:rowId xmlns:a16="http://schemas.microsoft.com/office/drawing/2014/main" val="1490247703"/>
                  </a:ext>
                </a:extLst>
              </a:tr>
              <a:tr h="164933">
                <a:tc>
                  <a:txBody>
                    <a:bodyPr/>
                    <a:lstStyle/>
                    <a:p>
                      <a:r>
                        <a:rPr lang="en-US" sz="800"/>
                        <a:t>PRADA S.P.A.</a:t>
                      </a:r>
                    </a:p>
                  </a:txBody>
                  <a:tcPr marL="74295" marR="74295" marT="29718" marB="29718">
                    <a:solidFill>
                      <a:srgbClr val="FAD0A9"/>
                    </a:solidFill>
                  </a:tcPr>
                </a:tc>
                <a:tc>
                  <a:txBody>
                    <a:bodyPr/>
                    <a:lstStyle/>
                    <a:p>
                      <a:pPr algn="ctr"/>
                      <a:r>
                        <a:rPr lang="en-US" sz="800" dirty="0"/>
                        <a:t>1913.HK</a:t>
                      </a:r>
                    </a:p>
                  </a:txBody>
                  <a:tcPr marL="74295" marR="74295" marT="29718" marB="29718">
                    <a:solidFill>
                      <a:srgbClr val="FAD0A9"/>
                    </a:solidFill>
                  </a:tcPr>
                </a:tc>
                <a:tc>
                  <a:txBody>
                    <a:bodyPr/>
                    <a:lstStyle/>
                    <a:p>
                      <a:r>
                        <a:rPr lang="en-US" sz="800" dirty="0"/>
                        <a:t>Apparel</a:t>
                      </a:r>
                    </a:p>
                  </a:txBody>
                  <a:tcPr marL="74295" marR="74295" marT="29718" marB="29718">
                    <a:solidFill>
                      <a:srgbClr val="FAD0A9"/>
                    </a:solidFill>
                  </a:tcPr>
                </a:tc>
                <a:tc>
                  <a:txBody>
                    <a:bodyPr/>
                    <a:lstStyle/>
                    <a:p>
                      <a:r>
                        <a:rPr lang="en-US" sz="800"/>
                        <a:t>Italy</a:t>
                      </a:r>
                    </a:p>
                  </a:txBody>
                  <a:tcPr marL="74295" marR="74295" marT="29718" marB="29718">
                    <a:solidFill>
                      <a:srgbClr val="FAD0A9"/>
                    </a:solidFill>
                  </a:tcPr>
                </a:tc>
                <a:tc>
                  <a:txBody>
                    <a:bodyPr/>
                    <a:lstStyle/>
                    <a:p>
                      <a:r>
                        <a:rPr lang="en-US" sz="800"/>
                        <a:t>APAC, Europe </a:t>
                      </a:r>
                    </a:p>
                  </a:txBody>
                  <a:tcPr marL="74295" marR="74295" marT="29718" marB="29718">
                    <a:solidFill>
                      <a:srgbClr val="FAD0A9"/>
                    </a:solidFill>
                  </a:tcPr>
                </a:tc>
                <a:extLst>
                  <a:ext uri="{0D108BD9-81ED-4DB2-BD59-A6C34878D82A}">
                    <a16:rowId xmlns:a16="http://schemas.microsoft.com/office/drawing/2014/main" val="965353034"/>
                  </a:ext>
                </a:extLst>
              </a:tr>
              <a:tr h="164933">
                <a:tc>
                  <a:txBody>
                    <a:bodyPr/>
                    <a:lstStyle/>
                    <a:p>
                      <a:r>
                        <a:rPr lang="en-US" sz="800"/>
                        <a:t>AEON STORES HONG KONG CO LTD</a:t>
                      </a:r>
                    </a:p>
                  </a:txBody>
                  <a:tcPr marL="74295" marR="74295" marT="29718" marB="29718"/>
                </a:tc>
                <a:tc>
                  <a:txBody>
                    <a:bodyPr/>
                    <a:lstStyle/>
                    <a:p>
                      <a:pPr algn="ctr"/>
                      <a:r>
                        <a:rPr lang="en-US" sz="800"/>
                        <a:t>984.HK</a:t>
                      </a:r>
                    </a:p>
                  </a:txBody>
                  <a:tcPr marL="74295" marR="74295" marT="29718" marB="2971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Retail</a:t>
                      </a:r>
                    </a:p>
                  </a:txBody>
                  <a:tcPr marL="74295" marR="74295" marT="29718" marB="29718"/>
                </a:tc>
                <a:tc>
                  <a:txBody>
                    <a:bodyPr/>
                    <a:lstStyle/>
                    <a:p>
                      <a:r>
                        <a:rPr lang="en-US" sz="800" dirty="0"/>
                        <a:t>Japan</a:t>
                      </a:r>
                    </a:p>
                  </a:txBody>
                  <a:tcPr marL="74295" marR="74295" marT="29718" marB="29718"/>
                </a:tc>
                <a:tc>
                  <a:txBody>
                    <a:bodyPr/>
                    <a:lstStyle/>
                    <a:p>
                      <a:r>
                        <a:rPr lang="en-US" sz="800"/>
                        <a:t>54% China; 46% Hong Kong </a:t>
                      </a:r>
                    </a:p>
                  </a:txBody>
                  <a:tcPr marL="74295" marR="74295" marT="29718" marB="29718">
                    <a:solidFill>
                      <a:schemeClr val="bg1"/>
                    </a:solidFill>
                  </a:tcPr>
                </a:tc>
                <a:extLst>
                  <a:ext uri="{0D108BD9-81ED-4DB2-BD59-A6C34878D82A}">
                    <a16:rowId xmlns:a16="http://schemas.microsoft.com/office/drawing/2014/main" val="2668595901"/>
                  </a:ext>
                </a:extLst>
              </a:tr>
              <a:tr h="164933">
                <a:tc>
                  <a:txBody>
                    <a:bodyPr/>
                    <a:lstStyle/>
                    <a:p>
                      <a:r>
                        <a:rPr lang="en-US" sz="800" dirty="0"/>
                        <a:t>MGM CHINA HOLDINGS LTD</a:t>
                      </a:r>
                    </a:p>
                  </a:txBody>
                  <a:tcPr marL="74295" marR="74295" marT="29718" marB="29718">
                    <a:solidFill>
                      <a:schemeClr val="accent2"/>
                    </a:solidFill>
                  </a:tcPr>
                </a:tc>
                <a:tc>
                  <a:txBody>
                    <a:bodyPr/>
                    <a:lstStyle/>
                    <a:p>
                      <a:pPr algn="ctr"/>
                      <a:r>
                        <a:rPr lang="en-US" sz="800"/>
                        <a:t>2282.HK</a:t>
                      </a:r>
                    </a:p>
                  </a:txBody>
                  <a:tcPr marL="74295" marR="74295" marT="29718" marB="29718">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Casinos &amp; Gaming</a:t>
                      </a:r>
                    </a:p>
                  </a:txBody>
                  <a:tcPr marL="74295" marR="74295" marT="29718" marB="29718">
                    <a:solidFill>
                      <a:schemeClr val="accent2"/>
                    </a:solidFill>
                  </a:tcPr>
                </a:tc>
                <a:tc>
                  <a:txBody>
                    <a:bodyPr/>
                    <a:lstStyle/>
                    <a:p>
                      <a:r>
                        <a:rPr lang="en-US" sz="800" dirty="0"/>
                        <a:t>US</a:t>
                      </a:r>
                    </a:p>
                  </a:txBody>
                  <a:tcPr marL="74295" marR="74295" marT="29718" marB="29718">
                    <a:solidFill>
                      <a:schemeClr val="accent2"/>
                    </a:solidFill>
                  </a:tcPr>
                </a:tc>
                <a:tc>
                  <a:txBody>
                    <a:bodyPr/>
                    <a:lstStyle/>
                    <a:p>
                      <a:r>
                        <a:rPr lang="en-US" sz="800"/>
                        <a:t>Macau</a:t>
                      </a:r>
                    </a:p>
                  </a:txBody>
                  <a:tcPr marL="74295" marR="74295" marT="29718" marB="29718">
                    <a:solidFill>
                      <a:schemeClr val="accent2"/>
                    </a:solidFill>
                  </a:tcPr>
                </a:tc>
                <a:extLst>
                  <a:ext uri="{0D108BD9-81ED-4DB2-BD59-A6C34878D82A}">
                    <a16:rowId xmlns:a16="http://schemas.microsoft.com/office/drawing/2014/main" val="4081923878"/>
                  </a:ext>
                </a:extLst>
              </a:tr>
              <a:tr h="164933">
                <a:tc>
                  <a:txBody>
                    <a:bodyPr/>
                    <a:lstStyle/>
                    <a:p>
                      <a:r>
                        <a:rPr lang="en-US" sz="800"/>
                        <a:t>SANDS CHINA LTD</a:t>
                      </a:r>
                    </a:p>
                  </a:txBody>
                  <a:tcPr marL="74295" marR="74295" marT="29718" marB="29718">
                    <a:solidFill>
                      <a:schemeClr val="accent2"/>
                    </a:solidFill>
                  </a:tcPr>
                </a:tc>
                <a:tc>
                  <a:txBody>
                    <a:bodyPr/>
                    <a:lstStyle/>
                    <a:p>
                      <a:pPr algn="ctr"/>
                      <a:r>
                        <a:rPr lang="en-US" sz="800"/>
                        <a:t>1928.HK</a:t>
                      </a:r>
                    </a:p>
                  </a:txBody>
                  <a:tcPr marL="74295" marR="74295" marT="29718" marB="29718">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Casinos &amp; Gaming</a:t>
                      </a:r>
                    </a:p>
                  </a:txBody>
                  <a:tcPr marL="74295" marR="74295" marT="29718" marB="29718">
                    <a:solidFill>
                      <a:schemeClr val="accent2"/>
                    </a:solidFill>
                  </a:tcPr>
                </a:tc>
                <a:tc>
                  <a:txBody>
                    <a:bodyPr/>
                    <a:lstStyle/>
                    <a:p>
                      <a:r>
                        <a:rPr lang="en-US" sz="800"/>
                        <a:t>US</a:t>
                      </a:r>
                    </a:p>
                  </a:txBody>
                  <a:tcPr marL="74295" marR="74295" marT="29718" marB="29718">
                    <a:solidFill>
                      <a:schemeClr val="accent2"/>
                    </a:solidFill>
                  </a:tcPr>
                </a:tc>
                <a:tc>
                  <a:txBody>
                    <a:bodyPr/>
                    <a:lstStyle/>
                    <a:p>
                      <a:r>
                        <a:rPr lang="en-US" sz="800" dirty="0"/>
                        <a:t>Macau</a:t>
                      </a:r>
                    </a:p>
                  </a:txBody>
                  <a:tcPr marL="74295" marR="74295" marT="29718" marB="29718">
                    <a:solidFill>
                      <a:schemeClr val="accent2"/>
                    </a:solidFill>
                  </a:tcPr>
                </a:tc>
                <a:extLst>
                  <a:ext uri="{0D108BD9-81ED-4DB2-BD59-A6C34878D82A}">
                    <a16:rowId xmlns:a16="http://schemas.microsoft.com/office/drawing/2014/main" val="2013287940"/>
                  </a:ext>
                </a:extLst>
              </a:tr>
              <a:tr h="164933">
                <a:tc>
                  <a:txBody>
                    <a:bodyPr/>
                    <a:lstStyle/>
                    <a:p>
                      <a:r>
                        <a:rPr lang="en-US" sz="800"/>
                        <a:t>WYNN MACAU LTD</a:t>
                      </a:r>
                    </a:p>
                  </a:txBody>
                  <a:tcPr marL="74295" marR="74295" marT="29718" marB="29718">
                    <a:solidFill>
                      <a:schemeClr val="accent2"/>
                    </a:solidFill>
                  </a:tcPr>
                </a:tc>
                <a:tc>
                  <a:txBody>
                    <a:bodyPr/>
                    <a:lstStyle/>
                    <a:p>
                      <a:pPr algn="ctr"/>
                      <a:r>
                        <a:rPr lang="en-US" sz="800"/>
                        <a:t>1128.HK</a:t>
                      </a:r>
                    </a:p>
                  </a:txBody>
                  <a:tcPr marL="74295" marR="74295" marT="29718" marB="29718">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Casinos &amp; Gaming</a:t>
                      </a:r>
                    </a:p>
                  </a:txBody>
                  <a:tcPr marL="74295" marR="74295" marT="29718" marB="29718">
                    <a:solidFill>
                      <a:schemeClr val="accent2"/>
                    </a:solidFill>
                  </a:tcPr>
                </a:tc>
                <a:tc>
                  <a:txBody>
                    <a:bodyPr/>
                    <a:lstStyle/>
                    <a:p>
                      <a:r>
                        <a:rPr lang="en-US" sz="800"/>
                        <a:t>US</a:t>
                      </a:r>
                    </a:p>
                  </a:txBody>
                  <a:tcPr marL="74295" marR="74295" marT="29718" marB="29718">
                    <a:solidFill>
                      <a:schemeClr val="accent2"/>
                    </a:solidFill>
                  </a:tcPr>
                </a:tc>
                <a:tc>
                  <a:txBody>
                    <a:bodyPr/>
                    <a:lstStyle/>
                    <a:p>
                      <a:r>
                        <a:rPr lang="en-US" sz="800" dirty="0"/>
                        <a:t>Macau</a:t>
                      </a:r>
                    </a:p>
                  </a:txBody>
                  <a:tcPr marL="74295" marR="74295" marT="29718" marB="29718">
                    <a:solidFill>
                      <a:schemeClr val="accent2"/>
                    </a:solidFill>
                  </a:tcPr>
                </a:tc>
                <a:extLst>
                  <a:ext uri="{0D108BD9-81ED-4DB2-BD59-A6C34878D82A}">
                    <a16:rowId xmlns:a16="http://schemas.microsoft.com/office/drawing/2014/main" val="1734054559"/>
                  </a:ext>
                </a:extLst>
              </a:tr>
              <a:tr h="168565">
                <a:tc>
                  <a:txBody>
                    <a:bodyPr/>
                    <a:lstStyle/>
                    <a:p>
                      <a:r>
                        <a:rPr lang="en-US" sz="800" dirty="0">
                          <a:solidFill>
                            <a:srgbClr val="FF0000"/>
                          </a:solidFill>
                        </a:rPr>
                        <a:t>SOFTCARE LTD</a:t>
                      </a:r>
                    </a:p>
                  </a:txBody>
                  <a:tcPr marL="74295" marR="74295" marT="29718" marB="29718">
                    <a:solidFill>
                      <a:schemeClr val="accent2"/>
                    </a:solidFill>
                  </a:tcPr>
                </a:tc>
                <a:tc>
                  <a:txBody>
                    <a:bodyPr/>
                    <a:lstStyle/>
                    <a:p>
                      <a:pPr algn="ctr"/>
                      <a:r>
                        <a:rPr lang="en-US" sz="800">
                          <a:solidFill>
                            <a:srgbClr val="FF0000"/>
                          </a:solidFill>
                        </a:rPr>
                        <a:t>2698.HK</a:t>
                      </a:r>
                    </a:p>
                  </a:txBody>
                  <a:tcPr marL="74295" marR="74295" marT="29718" marB="29718">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rgbClr val="FF0000"/>
                          </a:solidFill>
                        </a:rPr>
                        <a:t>Personal Care </a:t>
                      </a:r>
                    </a:p>
                  </a:txBody>
                  <a:tcPr marL="74295" marR="74295" marT="29718" marB="29718">
                    <a:solidFill>
                      <a:schemeClr val="accent2"/>
                    </a:solidFill>
                  </a:tcPr>
                </a:tc>
                <a:tc>
                  <a:txBody>
                    <a:bodyPr/>
                    <a:lstStyle/>
                    <a:p>
                      <a:r>
                        <a:rPr lang="en-US" sz="800" dirty="0">
                          <a:solidFill>
                            <a:srgbClr val="FF0000"/>
                          </a:solidFill>
                        </a:rPr>
                        <a:t>Dubai</a:t>
                      </a:r>
                    </a:p>
                  </a:txBody>
                  <a:tcPr marL="74295" marR="74295" marT="29718" marB="29718">
                    <a:solidFill>
                      <a:schemeClr val="accent2"/>
                    </a:solidFill>
                  </a:tcPr>
                </a:tc>
                <a:tc>
                  <a:txBody>
                    <a:bodyPr/>
                    <a:lstStyle/>
                    <a:p>
                      <a:r>
                        <a:rPr lang="en-US" sz="800">
                          <a:solidFill>
                            <a:srgbClr val="FF0000"/>
                          </a:solidFill>
                        </a:rPr>
                        <a:t>20% Kenya; 15% Ghana; Senegal 10%, and other African countries  </a:t>
                      </a:r>
                    </a:p>
                  </a:txBody>
                  <a:tcPr marL="74295" marR="74295" marT="29718" marB="29718">
                    <a:solidFill>
                      <a:schemeClr val="accent2"/>
                    </a:solidFill>
                  </a:tcPr>
                </a:tc>
                <a:extLst>
                  <a:ext uri="{0D108BD9-81ED-4DB2-BD59-A6C34878D82A}">
                    <a16:rowId xmlns:a16="http://schemas.microsoft.com/office/drawing/2014/main" val="3098248430"/>
                  </a:ext>
                </a:extLst>
              </a:tr>
              <a:tr h="164933">
                <a:tc>
                  <a:txBody>
                    <a:bodyPr/>
                    <a:lstStyle/>
                    <a:p>
                      <a:r>
                        <a:rPr lang="en-US" sz="800" cap="all" baseline="0">
                          <a:solidFill>
                            <a:srgbClr val="FF0000"/>
                          </a:solidFill>
                        </a:rPr>
                        <a:t>Insilico Medicine</a:t>
                      </a:r>
                    </a:p>
                  </a:txBody>
                  <a:tcPr marL="74295" marR="74295" marT="29718" marB="29718">
                    <a:solidFill>
                      <a:schemeClr val="accent2"/>
                    </a:solidFill>
                  </a:tcPr>
                </a:tc>
                <a:tc>
                  <a:txBody>
                    <a:bodyPr/>
                    <a:lstStyle/>
                    <a:p>
                      <a:pPr algn="ctr"/>
                      <a:r>
                        <a:rPr lang="en-US" sz="800">
                          <a:solidFill>
                            <a:srgbClr val="FF0000"/>
                          </a:solidFill>
                        </a:rPr>
                        <a:t>3696.HK</a:t>
                      </a:r>
                    </a:p>
                  </a:txBody>
                  <a:tcPr marL="74295" marR="74295" marT="29718" marB="29718">
                    <a:solidFill>
                      <a:schemeClr val="accent2"/>
                    </a:solidFill>
                  </a:tcPr>
                </a:tc>
                <a:tc>
                  <a:txBody>
                    <a:bodyPr/>
                    <a:lstStyle/>
                    <a:p>
                      <a:r>
                        <a:rPr lang="en-US" sz="800">
                          <a:solidFill>
                            <a:srgbClr val="FF0000"/>
                          </a:solidFill>
                        </a:rPr>
                        <a:t>Biotech</a:t>
                      </a:r>
                    </a:p>
                  </a:txBody>
                  <a:tcPr marL="74295" marR="74295" marT="29718" marB="29718">
                    <a:solidFill>
                      <a:schemeClr val="accent2"/>
                    </a:solidFill>
                  </a:tcPr>
                </a:tc>
                <a:tc>
                  <a:txBody>
                    <a:bodyPr/>
                    <a:lstStyle/>
                    <a:p>
                      <a:r>
                        <a:rPr lang="en-US" sz="800" dirty="0">
                          <a:solidFill>
                            <a:srgbClr val="FF0000"/>
                          </a:solidFill>
                        </a:rPr>
                        <a:t>US</a:t>
                      </a:r>
                    </a:p>
                  </a:txBody>
                  <a:tcPr marL="74295" marR="74295" marT="29718" marB="29718">
                    <a:solidFill>
                      <a:schemeClr val="accent2"/>
                    </a:solidFill>
                  </a:tcPr>
                </a:tc>
                <a:tc>
                  <a:txBody>
                    <a:bodyPr/>
                    <a:lstStyle/>
                    <a:p>
                      <a:r>
                        <a:rPr lang="en-US" sz="800" dirty="0">
                          <a:solidFill>
                            <a:srgbClr val="FF0000"/>
                          </a:solidFill>
                        </a:rPr>
                        <a:t>92% US</a:t>
                      </a:r>
                    </a:p>
                  </a:txBody>
                  <a:tcPr marL="74295" marR="74295" marT="29718" marB="29718">
                    <a:solidFill>
                      <a:schemeClr val="accent2"/>
                    </a:solidFill>
                  </a:tcPr>
                </a:tc>
                <a:extLst>
                  <a:ext uri="{0D108BD9-81ED-4DB2-BD59-A6C34878D82A}">
                    <a16:rowId xmlns:a16="http://schemas.microsoft.com/office/drawing/2014/main" val="1985784081"/>
                  </a:ext>
                </a:extLst>
              </a:tr>
              <a:tr h="164933">
                <a:tc>
                  <a:txBody>
                    <a:bodyPr/>
                    <a:lstStyle/>
                    <a:p>
                      <a:r>
                        <a:rPr lang="en-US" sz="800">
                          <a:solidFill>
                            <a:srgbClr val="FF0000"/>
                          </a:solidFill>
                        </a:rPr>
                        <a:t>MIRXES HOLDING CO LTD</a:t>
                      </a:r>
                    </a:p>
                  </a:txBody>
                  <a:tcPr marL="74295" marR="74295" marT="29718" marB="29718">
                    <a:solidFill>
                      <a:schemeClr val="accent2"/>
                    </a:solidFill>
                  </a:tcPr>
                </a:tc>
                <a:tc>
                  <a:txBody>
                    <a:bodyPr/>
                    <a:lstStyle/>
                    <a:p>
                      <a:pPr algn="ctr"/>
                      <a:r>
                        <a:rPr lang="en-US" sz="800">
                          <a:solidFill>
                            <a:srgbClr val="FF0000"/>
                          </a:solidFill>
                        </a:rPr>
                        <a:t>2629.HK</a:t>
                      </a:r>
                    </a:p>
                  </a:txBody>
                  <a:tcPr marL="74295" marR="74295" marT="29718" marB="29718">
                    <a:solidFill>
                      <a:schemeClr val="accent2"/>
                    </a:solidFill>
                  </a:tcPr>
                </a:tc>
                <a:tc>
                  <a:txBody>
                    <a:bodyPr/>
                    <a:lstStyle/>
                    <a:p>
                      <a:r>
                        <a:rPr lang="en-US" sz="800">
                          <a:solidFill>
                            <a:srgbClr val="FF0000"/>
                          </a:solidFill>
                        </a:rPr>
                        <a:t>Biotech</a:t>
                      </a:r>
                    </a:p>
                  </a:txBody>
                  <a:tcPr marL="74295" marR="74295" marT="29718" marB="29718">
                    <a:solidFill>
                      <a:schemeClr val="accent2"/>
                    </a:solidFill>
                  </a:tcPr>
                </a:tc>
                <a:tc>
                  <a:txBody>
                    <a:bodyPr/>
                    <a:lstStyle/>
                    <a:p>
                      <a:r>
                        <a:rPr lang="en-US" sz="800">
                          <a:solidFill>
                            <a:srgbClr val="FF0000"/>
                          </a:solidFill>
                        </a:rPr>
                        <a:t>Singapore </a:t>
                      </a:r>
                    </a:p>
                  </a:txBody>
                  <a:tcPr marL="74295" marR="74295" marT="29718" marB="29718">
                    <a:solidFill>
                      <a:schemeClr val="accent2"/>
                    </a:solidFill>
                  </a:tcPr>
                </a:tc>
                <a:tc>
                  <a:txBody>
                    <a:bodyPr/>
                    <a:lstStyle/>
                    <a:p>
                      <a:r>
                        <a:rPr lang="en-US" sz="800" dirty="0">
                          <a:solidFill>
                            <a:srgbClr val="FF0000"/>
                          </a:solidFill>
                        </a:rPr>
                        <a:t>Singapore, China, Japan, USA</a:t>
                      </a:r>
                    </a:p>
                  </a:txBody>
                  <a:tcPr marL="74295" marR="74295" marT="29718" marB="29718">
                    <a:solidFill>
                      <a:schemeClr val="accent2"/>
                    </a:solidFill>
                  </a:tcPr>
                </a:tc>
                <a:extLst>
                  <a:ext uri="{0D108BD9-81ED-4DB2-BD59-A6C34878D82A}">
                    <a16:rowId xmlns:a16="http://schemas.microsoft.com/office/drawing/2014/main" val="3187659146"/>
                  </a:ext>
                </a:extLst>
              </a:tr>
              <a:tr h="164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cap="all" baseline="0">
                          <a:solidFill>
                            <a:schemeClr val="tx1"/>
                          </a:solidFill>
                          <a:latin typeface="+mn-lt"/>
                          <a:ea typeface="+mn-ea"/>
                          <a:cs typeface="+mn-cs"/>
                        </a:rPr>
                        <a:t>Manulife FINANCIAL CORP</a:t>
                      </a:r>
                    </a:p>
                  </a:txBody>
                  <a:tcPr marL="74295" marR="74295" marT="29718" marB="29718">
                    <a:solidFill>
                      <a:schemeClr val="accent2"/>
                    </a:solidFill>
                  </a:tcPr>
                </a:tc>
                <a:tc>
                  <a:txBody>
                    <a:bodyPr/>
                    <a:lstStyle/>
                    <a:p>
                      <a:pPr algn="ctr"/>
                      <a:r>
                        <a:rPr lang="en-US" sz="800"/>
                        <a:t>945.HK</a:t>
                      </a:r>
                    </a:p>
                  </a:txBody>
                  <a:tcPr marL="74295" marR="74295" marT="29718" marB="29718">
                    <a:solidFill>
                      <a:schemeClr val="accent2"/>
                    </a:solidFill>
                  </a:tcPr>
                </a:tc>
                <a:tc>
                  <a:txBody>
                    <a:bodyPr/>
                    <a:lstStyle/>
                    <a:p>
                      <a:r>
                        <a:rPr lang="en-US" sz="800"/>
                        <a:t>Financials </a:t>
                      </a:r>
                    </a:p>
                  </a:txBody>
                  <a:tcPr marL="74295" marR="74295" marT="29718" marB="29718">
                    <a:solidFill>
                      <a:schemeClr val="accent2"/>
                    </a:solidFill>
                  </a:tcPr>
                </a:tc>
                <a:tc>
                  <a:txBody>
                    <a:bodyPr/>
                    <a:lstStyle/>
                    <a:p>
                      <a:r>
                        <a:rPr lang="en-US" sz="800" b="0"/>
                        <a:t>Canada</a:t>
                      </a:r>
                    </a:p>
                  </a:txBody>
                  <a:tcPr marL="74295" marR="74295" marT="29718" marB="29718">
                    <a:solidFill>
                      <a:schemeClr val="accent2"/>
                    </a:solidFill>
                  </a:tcPr>
                </a:tc>
                <a:tc>
                  <a:txBody>
                    <a:bodyPr/>
                    <a:lstStyle/>
                    <a:p>
                      <a:r>
                        <a:rPr lang="en-US" altLang="zh-TW" sz="800" b="0" dirty="0"/>
                        <a:t>35%</a:t>
                      </a:r>
                      <a:r>
                        <a:rPr lang="zh-TW" altLang="en-US" sz="800" b="0" dirty="0"/>
                        <a:t> </a:t>
                      </a:r>
                      <a:r>
                        <a:rPr lang="en-US" sz="800" b="0" dirty="0"/>
                        <a:t>Canada; 3</a:t>
                      </a:r>
                      <a:r>
                        <a:rPr lang="en-US" altLang="zh-TW" sz="800" b="0" dirty="0"/>
                        <a:t>1</a:t>
                      </a:r>
                      <a:r>
                        <a:rPr lang="en-US" sz="800" b="0" dirty="0"/>
                        <a:t>% </a:t>
                      </a:r>
                      <a:r>
                        <a:rPr lang="en-US" altLang="zh-TW" sz="800" b="0" dirty="0"/>
                        <a:t>US</a:t>
                      </a:r>
                      <a:r>
                        <a:rPr lang="en-US" sz="800" b="0" dirty="0"/>
                        <a:t> </a:t>
                      </a:r>
                    </a:p>
                  </a:txBody>
                  <a:tcPr marL="74295" marR="74295" marT="29718" marB="29718">
                    <a:solidFill>
                      <a:schemeClr val="accent2"/>
                    </a:solidFill>
                  </a:tcPr>
                </a:tc>
                <a:extLst>
                  <a:ext uri="{0D108BD9-81ED-4DB2-BD59-A6C34878D82A}">
                    <a16:rowId xmlns:a16="http://schemas.microsoft.com/office/drawing/2014/main" val="1999855859"/>
                  </a:ext>
                </a:extLst>
              </a:tr>
              <a:tr h="164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cap="all" baseline="0" dirty="0">
                          <a:solidFill>
                            <a:schemeClr val="tx1"/>
                          </a:solidFill>
                          <a:latin typeface="+mn-lt"/>
                          <a:ea typeface="+mn-ea"/>
                          <a:cs typeface="+mn-cs"/>
                        </a:rPr>
                        <a:t>HSBC</a:t>
                      </a:r>
                    </a:p>
                  </a:txBody>
                  <a:tcPr marL="74295" marR="74295" marT="29718" marB="29718">
                    <a:solidFill>
                      <a:schemeClr val="accent2"/>
                    </a:solidFill>
                  </a:tcPr>
                </a:tc>
                <a:tc>
                  <a:txBody>
                    <a:bodyPr/>
                    <a:lstStyle/>
                    <a:p>
                      <a:pPr algn="ctr"/>
                      <a:r>
                        <a:rPr lang="en-US" sz="800"/>
                        <a:t>5. HK</a:t>
                      </a:r>
                    </a:p>
                  </a:txBody>
                  <a:tcPr marL="74295" marR="74295" marT="29718" marB="29718">
                    <a:solidFill>
                      <a:schemeClr val="accent2"/>
                    </a:solidFill>
                  </a:tcPr>
                </a:tc>
                <a:tc>
                  <a:txBody>
                    <a:bodyPr/>
                    <a:lstStyle/>
                    <a:p>
                      <a:r>
                        <a:rPr lang="en-US" sz="800"/>
                        <a:t>Financials</a:t>
                      </a:r>
                    </a:p>
                  </a:txBody>
                  <a:tcPr marL="74295" marR="74295" marT="29718" marB="29718">
                    <a:solidFill>
                      <a:schemeClr val="accent2"/>
                    </a:solidFill>
                  </a:tcPr>
                </a:tc>
                <a:tc>
                  <a:txBody>
                    <a:bodyPr/>
                    <a:lstStyle/>
                    <a:p>
                      <a:r>
                        <a:rPr lang="en-US" sz="800" b="0"/>
                        <a:t>UK</a:t>
                      </a:r>
                    </a:p>
                  </a:txBody>
                  <a:tcPr marL="74295" marR="74295" marT="29718" marB="29718">
                    <a:solidFill>
                      <a:schemeClr val="accent2"/>
                    </a:solidFill>
                  </a:tcPr>
                </a:tc>
                <a:tc>
                  <a:txBody>
                    <a:bodyPr/>
                    <a:lstStyle/>
                    <a:p>
                      <a:r>
                        <a:rPr lang="en-US" sz="800" b="0" dirty="0"/>
                        <a:t>23% Hong Kong, 17% UK</a:t>
                      </a:r>
                    </a:p>
                  </a:txBody>
                  <a:tcPr marL="74295" marR="74295" marT="29718" marB="29718">
                    <a:solidFill>
                      <a:schemeClr val="accent2"/>
                    </a:solidFill>
                  </a:tcPr>
                </a:tc>
                <a:extLst>
                  <a:ext uri="{0D108BD9-81ED-4DB2-BD59-A6C34878D82A}">
                    <a16:rowId xmlns:a16="http://schemas.microsoft.com/office/drawing/2014/main" val="2163235701"/>
                  </a:ext>
                </a:extLst>
              </a:tr>
              <a:tr h="164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cap="all" baseline="0">
                          <a:solidFill>
                            <a:schemeClr val="tx1"/>
                          </a:solidFill>
                          <a:latin typeface="+mn-lt"/>
                          <a:ea typeface="+mn-ea"/>
                          <a:cs typeface="+mn-cs"/>
                        </a:rPr>
                        <a:t>Standard Chartered </a:t>
                      </a:r>
                    </a:p>
                  </a:txBody>
                  <a:tcPr marL="74295" marR="74295" marT="29718" marB="29718">
                    <a:solidFill>
                      <a:schemeClr val="accent2"/>
                    </a:solidFill>
                  </a:tcPr>
                </a:tc>
                <a:tc>
                  <a:txBody>
                    <a:bodyPr/>
                    <a:lstStyle/>
                    <a:p>
                      <a:pPr algn="ctr"/>
                      <a:r>
                        <a:rPr lang="en-US" sz="800"/>
                        <a:t>2888.HK</a:t>
                      </a:r>
                    </a:p>
                  </a:txBody>
                  <a:tcPr marL="74295" marR="74295" marT="29718" marB="29718">
                    <a:solidFill>
                      <a:schemeClr val="accent2"/>
                    </a:solidFill>
                  </a:tcPr>
                </a:tc>
                <a:tc>
                  <a:txBody>
                    <a:bodyPr/>
                    <a:lstStyle/>
                    <a:p>
                      <a:r>
                        <a:rPr lang="en-US" sz="800"/>
                        <a:t>Financials </a:t>
                      </a:r>
                    </a:p>
                  </a:txBody>
                  <a:tcPr marL="74295" marR="74295" marT="29718" marB="29718">
                    <a:solidFill>
                      <a:schemeClr val="accent2"/>
                    </a:solidFill>
                  </a:tcPr>
                </a:tc>
                <a:tc>
                  <a:txBody>
                    <a:bodyPr/>
                    <a:lstStyle/>
                    <a:p>
                      <a:r>
                        <a:rPr lang="en-US" sz="800" b="0"/>
                        <a:t>UK</a:t>
                      </a:r>
                    </a:p>
                  </a:txBody>
                  <a:tcPr marL="74295" marR="74295" marT="29718" marB="29718">
                    <a:solidFill>
                      <a:schemeClr val="accent2"/>
                    </a:solidFill>
                  </a:tcPr>
                </a:tc>
                <a:tc>
                  <a:txBody>
                    <a:bodyPr/>
                    <a:lstStyle/>
                    <a:p>
                      <a:r>
                        <a:rPr lang="en-US" sz="800" b="0" dirty="0"/>
                        <a:t>24% Hong Kong</a:t>
                      </a:r>
                    </a:p>
                  </a:txBody>
                  <a:tcPr marL="74295" marR="74295" marT="29718" marB="29718">
                    <a:solidFill>
                      <a:schemeClr val="accent2"/>
                    </a:solidFill>
                  </a:tcPr>
                </a:tc>
                <a:extLst>
                  <a:ext uri="{0D108BD9-81ED-4DB2-BD59-A6C34878D82A}">
                    <a16:rowId xmlns:a16="http://schemas.microsoft.com/office/drawing/2014/main" val="3625201503"/>
                  </a:ext>
                </a:extLst>
              </a:tr>
            </a:tbl>
          </a:graphicData>
        </a:graphic>
      </p:graphicFrame>
      <p:sp>
        <p:nvSpPr>
          <p:cNvPr id="8" name="Rectangle 7">
            <a:extLst>
              <a:ext uri="{FF2B5EF4-FFF2-40B4-BE49-F238E27FC236}">
                <a16:creationId xmlns:a16="http://schemas.microsoft.com/office/drawing/2014/main" id="{8191C801-52A5-7316-E781-0C970E422D90}"/>
              </a:ext>
            </a:extLst>
          </p:cNvPr>
          <p:cNvSpPr/>
          <p:nvPr/>
        </p:nvSpPr>
        <p:spPr bwMode="auto">
          <a:xfrm>
            <a:off x="1440499" y="1758720"/>
            <a:ext cx="7569042" cy="149724"/>
          </a:xfrm>
          <a:prstGeom prst="rect">
            <a:avLst/>
          </a:prstGeom>
          <a:noFill/>
          <a:ln>
            <a:noFill/>
          </a:ln>
        </p:spPr>
        <p:txBody>
          <a:bodyPr vert="horz" wrap="square" lIns="74295" tIns="37148" rIns="74295" bIns="37148" numCol="1" rtlCol="0" anchor="ctr" anchorCtr="0" compatLnSpc="1"/>
          <a:lstStyle/>
          <a:p>
            <a:pPr defTabSz="742950" eaLnBrk="0" hangingPunct="0"/>
            <a:r>
              <a:rPr lang="en-US" sz="731">
                <a:latin typeface="Arial" panose="020B0604020202090204" pitchFamily="34" charset="0"/>
              </a:rPr>
              <a:t>HK listed companies with both non-PRC background </a:t>
            </a:r>
            <a:r>
              <a:rPr lang="en-US" sz="731" u="sng">
                <a:latin typeface="Arial" panose="020B0604020202090204" pitchFamily="34" charset="0"/>
              </a:rPr>
              <a:t>and</a:t>
            </a:r>
            <a:r>
              <a:rPr lang="en-US" sz="731">
                <a:latin typeface="Arial" panose="020B0604020202090204" pitchFamily="34" charset="0"/>
              </a:rPr>
              <a:t> main markets outside of China </a:t>
            </a:r>
          </a:p>
        </p:txBody>
      </p:sp>
      <p:sp>
        <p:nvSpPr>
          <p:cNvPr id="10" name="Rectangle 9">
            <a:extLst>
              <a:ext uri="{FF2B5EF4-FFF2-40B4-BE49-F238E27FC236}">
                <a16:creationId xmlns:a16="http://schemas.microsoft.com/office/drawing/2014/main" id="{0CA2935E-E748-E006-C3A3-47B717FDA4DF}"/>
              </a:ext>
            </a:extLst>
          </p:cNvPr>
          <p:cNvSpPr/>
          <p:nvPr/>
        </p:nvSpPr>
        <p:spPr bwMode="auto">
          <a:xfrm>
            <a:off x="1069023" y="1771897"/>
            <a:ext cx="239184" cy="123371"/>
          </a:xfrm>
          <a:prstGeom prst="rect">
            <a:avLst/>
          </a:prstGeom>
          <a:solidFill>
            <a:srgbClr val="FAD0A9"/>
          </a:solidFill>
          <a:ln>
            <a:noFill/>
          </a:ln>
        </p:spPr>
        <p:txBody>
          <a:bodyPr vert="horz" wrap="square" lIns="74295" tIns="37148" rIns="74295" bIns="37148" numCol="1" rtlCol="0" anchor="ctr" anchorCtr="0" compatLnSpc="1"/>
          <a:lstStyle/>
          <a:p>
            <a:pPr defTabSz="742950" eaLnBrk="0" hangingPunct="0"/>
            <a:endParaRPr lang="en-US" sz="2275">
              <a:solidFill>
                <a:schemeClr val="tx1"/>
              </a:solidFill>
              <a:latin typeface="Arial" panose="020B0604020202090204" pitchFamily="34" charset="0"/>
            </a:endParaRPr>
          </a:p>
        </p:txBody>
      </p:sp>
      <p:sp>
        <p:nvSpPr>
          <p:cNvPr id="5" name="Text Placeholder 820">
            <a:extLst>
              <a:ext uri="{FF2B5EF4-FFF2-40B4-BE49-F238E27FC236}">
                <a16:creationId xmlns:a16="http://schemas.microsoft.com/office/drawing/2014/main" id="{DC88183D-753B-F09E-F301-E6D0DDB459E6}"/>
              </a:ext>
            </a:extLst>
          </p:cNvPr>
          <p:cNvSpPr txBox="1">
            <a:spLocks/>
          </p:cNvSpPr>
          <p:nvPr/>
        </p:nvSpPr>
        <p:spPr>
          <a:xfrm>
            <a:off x="688252" y="5909852"/>
            <a:ext cx="8915400" cy="230832"/>
          </a:xfrm>
          <a:prstGeom prst="rect">
            <a:avLst/>
          </a:prstGeom>
        </p:spPr>
        <p:txBody>
          <a:bodyPr wrap="square" lIns="0" rIns="0" bIns="0" anchor="b" anchorCtr="0">
            <a:spAutoFit/>
          </a:bodyPr>
          <a:lstStyle>
            <a:lvl1pPr marL="342900" indent="-342900" algn="l" rtl="0" eaLnBrk="1" fontAlgn="base" hangingPunct="1">
              <a:spcBef>
                <a:spcPct val="20000"/>
              </a:spcBef>
              <a:spcAft>
                <a:spcPct val="0"/>
              </a:spcAft>
              <a:buClr>
                <a:schemeClr val="accent1"/>
              </a:buClr>
              <a:buFont typeface="Wingdings" panose="05000000000000000000" pitchFamily="2" charset="2"/>
              <a:buChar char="§"/>
              <a:defRPr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16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16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0"/>
              </a:spcBef>
              <a:buNone/>
            </a:pPr>
            <a:r>
              <a:rPr lang="en-US" altLang="zh-CN" sz="600" b="0" i="1" dirty="0"/>
              <a:t>Source: Bloomberg; desktop search </a:t>
            </a:r>
          </a:p>
          <a:p>
            <a:pPr marL="0" indent="0">
              <a:spcBef>
                <a:spcPts val="0"/>
              </a:spcBef>
              <a:buNone/>
            </a:pPr>
            <a:r>
              <a:rPr lang="en-US" altLang="zh-CN" sz="600" b="0" i="1" dirty="0"/>
              <a:t>Note: 1. % of revenue in latest financial year; % of net premiums for Manulife </a:t>
            </a:r>
          </a:p>
        </p:txBody>
      </p:sp>
      <p:pic>
        <p:nvPicPr>
          <p:cNvPr id="11" name="Picture 10">
            <a:extLst>
              <a:ext uri="{FF2B5EF4-FFF2-40B4-BE49-F238E27FC236}">
                <a16:creationId xmlns:a16="http://schemas.microsoft.com/office/drawing/2014/main" id="{4B20E39F-7CF9-A17E-14EE-953770AF8F30}"/>
              </a:ext>
            </a:extLst>
          </p:cNvPr>
          <p:cNvPicPr>
            <a:picLocks noChangeAspect="1"/>
          </p:cNvPicPr>
          <p:nvPr/>
        </p:nvPicPr>
        <p:blipFill>
          <a:blip r:embed="rId2"/>
          <a:srcRect l="1" t="34502" r="-676" b="35135"/>
          <a:stretch>
            <a:fillRect/>
          </a:stretch>
        </p:blipFill>
        <p:spPr>
          <a:xfrm>
            <a:off x="518118" y="3418488"/>
            <a:ext cx="407661" cy="127300"/>
          </a:xfrm>
          <a:prstGeom prst="rect">
            <a:avLst/>
          </a:prstGeom>
        </p:spPr>
      </p:pic>
      <p:pic>
        <p:nvPicPr>
          <p:cNvPr id="12" name="Picture 11">
            <a:extLst>
              <a:ext uri="{FF2B5EF4-FFF2-40B4-BE49-F238E27FC236}">
                <a16:creationId xmlns:a16="http://schemas.microsoft.com/office/drawing/2014/main" id="{5E254E6C-F6A1-5077-C975-2188781B6D27}"/>
              </a:ext>
            </a:extLst>
          </p:cNvPr>
          <p:cNvPicPr>
            <a:picLocks noChangeAspect="1"/>
          </p:cNvPicPr>
          <p:nvPr/>
        </p:nvPicPr>
        <p:blipFill>
          <a:blip r:embed="rId3"/>
          <a:srcRect t="33051" b="33800"/>
          <a:stretch>
            <a:fillRect/>
          </a:stretch>
        </p:blipFill>
        <p:spPr>
          <a:xfrm>
            <a:off x="518837" y="3252182"/>
            <a:ext cx="437697" cy="93627"/>
          </a:xfrm>
          <a:prstGeom prst="rect">
            <a:avLst/>
          </a:prstGeom>
        </p:spPr>
      </p:pic>
      <p:pic>
        <p:nvPicPr>
          <p:cNvPr id="16" name="Picture 15">
            <a:extLst>
              <a:ext uri="{FF2B5EF4-FFF2-40B4-BE49-F238E27FC236}">
                <a16:creationId xmlns:a16="http://schemas.microsoft.com/office/drawing/2014/main" id="{B1DD0888-ADDC-2502-E84E-57F059DD9018}"/>
              </a:ext>
            </a:extLst>
          </p:cNvPr>
          <p:cNvPicPr>
            <a:picLocks noChangeAspect="1"/>
          </p:cNvPicPr>
          <p:nvPr/>
        </p:nvPicPr>
        <p:blipFill>
          <a:blip r:embed="rId4"/>
          <a:stretch>
            <a:fillRect/>
          </a:stretch>
        </p:blipFill>
        <p:spPr>
          <a:xfrm>
            <a:off x="593142" y="2473023"/>
            <a:ext cx="335202" cy="193104"/>
          </a:xfrm>
          <a:prstGeom prst="rect">
            <a:avLst/>
          </a:prstGeom>
        </p:spPr>
      </p:pic>
      <p:pic>
        <p:nvPicPr>
          <p:cNvPr id="20" name="Picture 19" descr="A red and white logo&#10;&#10;AI-generated content may be incorrect.">
            <a:extLst>
              <a:ext uri="{FF2B5EF4-FFF2-40B4-BE49-F238E27FC236}">
                <a16:creationId xmlns:a16="http://schemas.microsoft.com/office/drawing/2014/main" id="{7D4DF584-D770-D03F-63F5-C6518697E023}"/>
              </a:ext>
            </a:extLst>
          </p:cNvPr>
          <p:cNvPicPr>
            <a:picLocks noChangeAspect="1"/>
          </p:cNvPicPr>
          <p:nvPr/>
        </p:nvPicPr>
        <p:blipFill>
          <a:blip r:embed="rId5"/>
          <a:srcRect l="14000" t="27778" r="11333" b="29555"/>
          <a:stretch>
            <a:fillRect/>
          </a:stretch>
        </p:blipFill>
        <p:spPr>
          <a:xfrm>
            <a:off x="646564" y="2679672"/>
            <a:ext cx="241680" cy="142991"/>
          </a:xfrm>
          <a:prstGeom prst="rect">
            <a:avLst/>
          </a:prstGeom>
        </p:spPr>
      </p:pic>
      <p:pic>
        <p:nvPicPr>
          <p:cNvPr id="22" name="Picture 21">
            <a:extLst>
              <a:ext uri="{FF2B5EF4-FFF2-40B4-BE49-F238E27FC236}">
                <a16:creationId xmlns:a16="http://schemas.microsoft.com/office/drawing/2014/main" id="{BDF03D44-3152-8C00-625A-8C4AA24F4691}"/>
              </a:ext>
            </a:extLst>
          </p:cNvPr>
          <p:cNvPicPr>
            <a:picLocks noChangeAspect="1"/>
          </p:cNvPicPr>
          <p:nvPr/>
        </p:nvPicPr>
        <p:blipFill>
          <a:blip r:embed="rId6"/>
          <a:srcRect l="29040" r="18995" b="25733"/>
          <a:stretch>
            <a:fillRect/>
          </a:stretch>
        </p:blipFill>
        <p:spPr>
          <a:xfrm>
            <a:off x="691255" y="2829610"/>
            <a:ext cx="136341" cy="193823"/>
          </a:xfrm>
          <a:prstGeom prst="rect">
            <a:avLst/>
          </a:prstGeom>
        </p:spPr>
      </p:pic>
      <p:pic>
        <p:nvPicPr>
          <p:cNvPr id="23" name="Picture 22">
            <a:extLst>
              <a:ext uri="{FF2B5EF4-FFF2-40B4-BE49-F238E27FC236}">
                <a16:creationId xmlns:a16="http://schemas.microsoft.com/office/drawing/2014/main" id="{86F986C4-8E2D-908F-2DB9-DDD87C70D523}"/>
              </a:ext>
            </a:extLst>
          </p:cNvPr>
          <p:cNvPicPr>
            <a:picLocks noChangeAspect="1"/>
          </p:cNvPicPr>
          <p:nvPr/>
        </p:nvPicPr>
        <p:blipFill>
          <a:blip r:embed="rId7"/>
          <a:stretch>
            <a:fillRect/>
          </a:stretch>
        </p:blipFill>
        <p:spPr>
          <a:xfrm>
            <a:off x="601578" y="3600556"/>
            <a:ext cx="242702" cy="83334"/>
          </a:xfrm>
          <a:prstGeom prst="rect">
            <a:avLst/>
          </a:prstGeom>
        </p:spPr>
      </p:pic>
      <p:pic>
        <p:nvPicPr>
          <p:cNvPr id="24" name="Picture 23">
            <a:extLst>
              <a:ext uri="{FF2B5EF4-FFF2-40B4-BE49-F238E27FC236}">
                <a16:creationId xmlns:a16="http://schemas.microsoft.com/office/drawing/2014/main" id="{AB213061-052C-5E62-876A-F5ED30B4564F}"/>
              </a:ext>
            </a:extLst>
          </p:cNvPr>
          <p:cNvPicPr>
            <a:picLocks noChangeAspect="1"/>
          </p:cNvPicPr>
          <p:nvPr/>
        </p:nvPicPr>
        <p:blipFill>
          <a:blip r:embed="rId8"/>
          <a:srcRect l="25472" r="24213" b="27436"/>
          <a:stretch>
            <a:fillRect/>
          </a:stretch>
        </p:blipFill>
        <p:spPr>
          <a:xfrm>
            <a:off x="609719" y="3724976"/>
            <a:ext cx="242702" cy="181207"/>
          </a:xfrm>
          <a:prstGeom prst="rect">
            <a:avLst/>
          </a:prstGeom>
        </p:spPr>
      </p:pic>
      <p:pic>
        <p:nvPicPr>
          <p:cNvPr id="25" name="Picture 24">
            <a:extLst>
              <a:ext uri="{FF2B5EF4-FFF2-40B4-BE49-F238E27FC236}">
                <a16:creationId xmlns:a16="http://schemas.microsoft.com/office/drawing/2014/main" id="{C807F0BA-1413-241D-455C-8405DE1D391B}"/>
              </a:ext>
            </a:extLst>
          </p:cNvPr>
          <p:cNvPicPr>
            <a:picLocks noChangeAspect="1"/>
          </p:cNvPicPr>
          <p:nvPr/>
        </p:nvPicPr>
        <p:blipFill>
          <a:blip r:embed="rId9"/>
          <a:srcRect l="10160" t="15185" r="6150" b="23426"/>
          <a:stretch>
            <a:fillRect/>
          </a:stretch>
        </p:blipFill>
        <p:spPr>
          <a:xfrm>
            <a:off x="525332" y="3946734"/>
            <a:ext cx="415040" cy="113783"/>
          </a:xfrm>
          <a:prstGeom prst="rect">
            <a:avLst/>
          </a:prstGeom>
        </p:spPr>
      </p:pic>
      <p:pic>
        <p:nvPicPr>
          <p:cNvPr id="27" name="Picture 26">
            <a:extLst>
              <a:ext uri="{FF2B5EF4-FFF2-40B4-BE49-F238E27FC236}">
                <a16:creationId xmlns:a16="http://schemas.microsoft.com/office/drawing/2014/main" id="{C1EF5A4B-7C30-49B2-94F6-680CFEDF0DC4}"/>
              </a:ext>
            </a:extLst>
          </p:cNvPr>
          <p:cNvPicPr>
            <a:picLocks noChangeAspect="1"/>
          </p:cNvPicPr>
          <p:nvPr/>
        </p:nvPicPr>
        <p:blipFill>
          <a:blip r:embed="rId10"/>
          <a:stretch>
            <a:fillRect/>
          </a:stretch>
        </p:blipFill>
        <p:spPr>
          <a:xfrm>
            <a:off x="610686" y="4120596"/>
            <a:ext cx="268836" cy="131089"/>
          </a:xfrm>
          <a:prstGeom prst="rect">
            <a:avLst/>
          </a:prstGeom>
        </p:spPr>
      </p:pic>
      <p:pic>
        <p:nvPicPr>
          <p:cNvPr id="29" name="Picture 28">
            <a:extLst>
              <a:ext uri="{FF2B5EF4-FFF2-40B4-BE49-F238E27FC236}">
                <a16:creationId xmlns:a16="http://schemas.microsoft.com/office/drawing/2014/main" id="{69E3DF78-D5AB-03FF-B001-F9ED290CBBF9}"/>
              </a:ext>
            </a:extLst>
          </p:cNvPr>
          <p:cNvPicPr>
            <a:picLocks noChangeAspect="1"/>
          </p:cNvPicPr>
          <p:nvPr/>
        </p:nvPicPr>
        <p:blipFill>
          <a:blip r:embed="rId11"/>
          <a:srcRect l="25555" t="9194" r="20222" b="11992"/>
          <a:stretch>
            <a:fillRect/>
          </a:stretch>
        </p:blipFill>
        <p:spPr>
          <a:xfrm>
            <a:off x="708637" y="2305508"/>
            <a:ext cx="123269" cy="185520"/>
          </a:xfrm>
          <a:prstGeom prst="rect">
            <a:avLst/>
          </a:prstGeom>
        </p:spPr>
      </p:pic>
      <p:pic>
        <p:nvPicPr>
          <p:cNvPr id="6" name="Picture 5">
            <a:extLst>
              <a:ext uri="{FF2B5EF4-FFF2-40B4-BE49-F238E27FC236}">
                <a16:creationId xmlns:a16="http://schemas.microsoft.com/office/drawing/2014/main" id="{74910B59-49EB-8251-0FE2-E80F914A973A}"/>
              </a:ext>
            </a:extLst>
          </p:cNvPr>
          <p:cNvPicPr>
            <a:picLocks noChangeAspect="1"/>
          </p:cNvPicPr>
          <p:nvPr/>
        </p:nvPicPr>
        <p:blipFill>
          <a:blip r:embed="rId12"/>
          <a:srcRect l="23544" t="24239" r="23404" b="24524"/>
          <a:stretch>
            <a:fillRect/>
          </a:stretch>
        </p:blipFill>
        <p:spPr>
          <a:xfrm>
            <a:off x="656821" y="3029371"/>
            <a:ext cx="192313" cy="192305"/>
          </a:xfrm>
          <a:prstGeom prst="rect">
            <a:avLst/>
          </a:prstGeom>
        </p:spPr>
      </p:pic>
      <p:pic>
        <p:nvPicPr>
          <p:cNvPr id="13" name="Picture 12">
            <a:extLst>
              <a:ext uri="{FF2B5EF4-FFF2-40B4-BE49-F238E27FC236}">
                <a16:creationId xmlns:a16="http://schemas.microsoft.com/office/drawing/2014/main" id="{B53F050D-54D1-1BD0-7DDF-4421616ADDB4}"/>
              </a:ext>
            </a:extLst>
          </p:cNvPr>
          <p:cNvPicPr>
            <a:picLocks noChangeAspect="1"/>
          </p:cNvPicPr>
          <p:nvPr/>
        </p:nvPicPr>
        <p:blipFill>
          <a:blip r:embed="rId13"/>
          <a:srcRect l="12998" t="27507" r="12443" b="21093"/>
          <a:stretch>
            <a:fillRect/>
          </a:stretch>
        </p:blipFill>
        <p:spPr>
          <a:xfrm>
            <a:off x="556392" y="4765156"/>
            <a:ext cx="328900" cy="123442"/>
          </a:xfrm>
          <a:prstGeom prst="rect">
            <a:avLst/>
          </a:prstGeom>
        </p:spPr>
      </p:pic>
      <p:pic>
        <p:nvPicPr>
          <p:cNvPr id="14" name="Picture 13">
            <a:extLst>
              <a:ext uri="{FF2B5EF4-FFF2-40B4-BE49-F238E27FC236}">
                <a16:creationId xmlns:a16="http://schemas.microsoft.com/office/drawing/2014/main" id="{C5FBA366-6796-6671-8457-C555ACC55552}"/>
              </a:ext>
            </a:extLst>
          </p:cNvPr>
          <p:cNvPicPr>
            <a:picLocks noChangeAspect="1"/>
          </p:cNvPicPr>
          <p:nvPr/>
        </p:nvPicPr>
        <p:blipFill>
          <a:blip r:embed="rId14"/>
          <a:stretch>
            <a:fillRect/>
          </a:stretch>
        </p:blipFill>
        <p:spPr>
          <a:xfrm>
            <a:off x="641247" y="4550272"/>
            <a:ext cx="164987" cy="170827"/>
          </a:xfrm>
          <a:prstGeom prst="rect">
            <a:avLst/>
          </a:prstGeom>
        </p:spPr>
      </p:pic>
      <p:pic>
        <p:nvPicPr>
          <p:cNvPr id="15" name="Picture 14">
            <a:extLst>
              <a:ext uri="{FF2B5EF4-FFF2-40B4-BE49-F238E27FC236}">
                <a16:creationId xmlns:a16="http://schemas.microsoft.com/office/drawing/2014/main" id="{45BC05CB-F517-2215-AE50-5F3C98A84944}"/>
              </a:ext>
            </a:extLst>
          </p:cNvPr>
          <p:cNvPicPr>
            <a:picLocks noChangeAspect="1"/>
          </p:cNvPicPr>
          <p:nvPr/>
        </p:nvPicPr>
        <p:blipFill>
          <a:blip r:embed="rId15"/>
          <a:srcRect t="36055" r="3454" b="36287"/>
          <a:stretch>
            <a:fillRect/>
          </a:stretch>
        </p:blipFill>
        <p:spPr>
          <a:xfrm>
            <a:off x="520703" y="5137725"/>
            <a:ext cx="397835" cy="109156"/>
          </a:xfrm>
          <a:prstGeom prst="rect">
            <a:avLst/>
          </a:prstGeom>
        </p:spPr>
      </p:pic>
      <p:pic>
        <p:nvPicPr>
          <p:cNvPr id="17" name="Picture 16">
            <a:extLst>
              <a:ext uri="{FF2B5EF4-FFF2-40B4-BE49-F238E27FC236}">
                <a16:creationId xmlns:a16="http://schemas.microsoft.com/office/drawing/2014/main" id="{63BD346E-BC02-4741-71A2-422484CEB54C}"/>
              </a:ext>
            </a:extLst>
          </p:cNvPr>
          <p:cNvPicPr>
            <a:picLocks noChangeAspect="1"/>
          </p:cNvPicPr>
          <p:nvPr/>
        </p:nvPicPr>
        <p:blipFill>
          <a:blip r:embed="rId16"/>
          <a:srcRect l="12880" t="17747" b="16754"/>
          <a:stretch>
            <a:fillRect/>
          </a:stretch>
        </p:blipFill>
        <p:spPr>
          <a:xfrm>
            <a:off x="553223" y="5314419"/>
            <a:ext cx="335017" cy="154386"/>
          </a:xfrm>
          <a:prstGeom prst="rect">
            <a:avLst/>
          </a:prstGeom>
        </p:spPr>
      </p:pic>
      <p:pic>
        <p:nvPicPr>
          <p:cNvPr id="18" name="Picture 17">
            <a:extLst>
              <a:ext uri="{FF2B5EF4-FFF2-40B4-BE49-F238E27FC236}">
                <a16:creationId xmlns:a16="http://schemas.microsoft.com/office/drawing/2014/main" id="{09E28E10-4420-A266-E291-AE9009E7903B}"/>
              </a:ext>
            </a:extLst>
          </p:cNvPr>
          <p:cNvPicPr>
            <a:picLocks noChangeAspect="1"/>
          </p:cNvPicPr>
          <p:nvPr/>
        </p:nvPicPr>
        <p:blipFill>
          <a:blip r:embed="rId17"/>
          <a:srcRect l="8397" t="29044" r="9161" b="31081"/>
          <a:stretch>
            <a:fillRect/>
          </a:stretch>
        </p:blipFill>
        <p:spPr>
          <a:xfrm>
            <a:off x="495301" y="4927433"/>
            <a:ext cx="446902" cy="126424"/>
          </a:xfrm>
          <a:prstGeom prst="rect">
            <a:avLst/>
          </a:prstGeom>
        </p:spPr>
      </p:pic>
      <p:pic>
        <p:nvPicPr>
          <p:cNvPr id="19" name="Picture 18">
            <a:extLst>
              <a:ext uri="{FF2B5EF4-FFF2-40B4-BE49-F238E27FC236}">
                <a16:creationId xmlns:a16="http://schemas.microsoft.com/office/drawing/2014/main" id="{DBDF9DC5-BFD5-A6DF-5193-3A6D3CE6A79F}"/>
              </a:ext>
            </a:extLst>
          </p:cNvPr>
          <p:cNvPicPr>
            <a:picLocks noChangeAspect="1"/>
          </p:cNvPicPr>
          <p:nvPr/>
        </p:nvPicPr>
        <p:blipFill>
          <a:blip r:embed="rId18"/>
          <a:srcRect t="26546" b="28095"/>
          <a:stretch>
            <a:fillRect/>
          </a:stretch>
        </p:blipFill>
        <p:spPr>
          <a:xfrm>
            <a:off x="544385" y="4348677"/>
            <a:ext cx="340495" cy="113783"/>
          </a:xfrm>
          <a:prstGeom prst="rect">
            <a:avLst/>
          </a:prstGeom>
        </p:spPr>
      </p:pic>
    </p:spTree>
    <p:extLst>
      <p:ext uri="{BB962C8B-B14F-4D97-AF65-F5344CB8AC3E}">
        <p14:creationId xmlns:p14="http://schemas.microsoft.com/office/powerpoint/2010/main" val="2189762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22FDF-3CED-3AA5-5027-117EE6A1BD20}"/>
              </a:ext>
            </a:extLst>
          </p:cNvPr>
          <p:cNvSpPr>
            <a:spLocks noGrp="1"/>
          </p:cNvSpPr>
          <p:nvPr>
            <p:ph type="title"/>
          </p:nvPr>
        </p:nvSpPr>
        <p:spPr>
          <a:xfrm>
            <a:off x="698501" y="448056"/>
            <a:ext cx="8915400" cy="577850"/>
          </a:xfrm>
        </p:spPr>
        <p:txBody>
          <a:bodyPr/>
          <a:lstStyle/>
          <a:p>
            <a:r>
              <a:rPr lang="en-US" sz="2000" dirty="0"/>
              <a:t>HK Increasingly Attractive for International Issuers</a:t>
            </a:r>
          </a:p>
        </p:txBody>
      </p:sp>
      <p:sp>
        <p:nvSpPr>
          <p:cNvPr id="3" name="Slide Number Placeholder 2">
            <a:extLst>
              <a:ext uri="{FF2B5EF4-FFF2-40B4-BE49-F238E27FC236}">
                <a16:creationId xmlns:a16="http://schemas.microsoft.com/office/drawing/2014/main" id="{3E20D4B7-FF61-33F5-E3E7-D774AC9571CB}"/>
              </a:ext>
            </a:extLst>
          </p:cNvPr>
          <p:cNvSpPr>
            <a:spLocks noGrp="1"/>
          </p:cNvSpPr>
          <p:nvPr>
            <p:ph type="sldNum" sz="quarter" idx="14"/>
          </p:nvPr>
        </p:nvSpPr>
        <p:spPr/>
        <p:txBody>
          <a:bodyPr/>
          <a:lstStyle/>
          <a:p>
            <a:pPr>
              <a:defRPr/>
            </a:pPr>
            <a:fld id="{1F16F30C-A594-4D63-A3AB-8699917C4F77}" type="slidenum">
              <a:rPr lang="en-US" b="0" smtClean="0">
                <a:solidFill>
                  <a:schemeClr val="tx1"/>
                </a:solidFill>
              </a:rPr>
              <a:t>31</a:t>
            </a:fld>
            <a:endParaRPr lang="en-US" b="0" dirty="0">
              <a:solidFill>
                <a:schemeClr val="tx1"/>
              </a:solidFill>
            </a:endParaRPr>
          </a:p>
        </p:txBody>
      </p:sp>
      <p:sp>
        <p:nvSpPr>
          <p:cNvPr id="5" name="Text Placeholder 820">
            <a:extLst>
              <a:ext uri="{FF2B5EF4-FFF2-40B4-BE49-F238E27FC236}">
                <a16:creationId xmlns:a16="http://schemas.microsoft.com/office/drawing/2014/main" id="{B602D949-A5AE-F18F-049F-F418C25B7610}"/>
              </a:ext>
            </a:extLst>
          </p:cNvPr>
          <p:cNvSpPr txBox="1">
            <a:spLocks/>
          </p:cNvSpPr>
          <p:nvPr/>
        </p:nvSpPr>
        <p:spPr>
          <a:xfrm>
            <a:off x="606936" y="5928639"/>
            <a:ext cx="7622668" cy="276999"/>
          </a:xfrm>
          <a:prstGeom prst="rect">
            <a:avLst/>
          </a:prstGeom>
        </p:spPr>
        <p:txBody>
          <a:bodyPr wrap="square" anchor="b" anchorCtr="0">
            <a:spAutoFit/>
          </a:bodyPr>
          <a:lstStyle>
            <a:lvl1pPr marL="342900" indent="-342900" algn="l" rtl="0" eaLnBrk="1" fontAlgn="base" hangingPunct="1">
              <a:spcBef>
                <a:spcPct val="20000"/>
              </a:spcBef>
              <a:spcAft>
                <a:spcPct val="0"/>
              </a:spcAft>
              <a:buClr>
                <a:schemeClr val="accent1"/>
              </a:buClr>
              <a:buFont typeface="Wingdings" panose="05000000000000000000" pitchFamily="2" charset="2"/>
              <a:buChar char="§"/>
              <a:defRPr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16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16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0"/>
              </a:spcBef>
              <a:buNone/>
            </a:pPr>
            <a:r>
              <a:rPr lang="en-US" altLang="zh-CN" sz="600" b="0" i="1" dirty="0"/>
              <a:t>Sources: HKEX filings, Bloomberg, Dealogic, </a:t>
            </a:r>
            <a:r>
              <a:rPr lang="en-US" altLang="zh-CN" sz="600" b="0" i="1" dirty="0" err="1"/>
              <a:t>Factset</a:t>
            </a:r>
            <a:r>
              <a:rPr lang="en-US" altLang="zh-CN" sz="600" b="0" i="1" dirty="0"/>
              <a:t> market data as of 31 Dec 2025</a:t>
            </a:r>
          </a:p>
          <a:p>
            <a:pPr marL="0" indent="0">
              <a:spcBef>
                <a:spcPts val="0"/>
              </a:spcBef>
              <a:buNone/>
            </a:pPr>
            <a:r>
              <a:rPr lang="en-US" altLang="zh-CN" sz="600" b="0" i="1" dirty="0"/>
              <a:t>1. Pre-shoe; 2. Performance / ADTV since IPO</a:t>
            </a:r>
          </a:p>
        </p:txBody>
      </p:sp>
      <p:graphicFrame>
        <p:nvGraphicFramePr>
          <p:cNvPr id="26" name="object 26"/>
          <p:cNvGraphicFramePr>
            <a:graphicFrameLocks noGrp="1"/>
          </p:cNvGraphicFramePr>
          <p:nvPr>
            <p:extLst>
              <p:ext uri="{D42A27DB-BD31-4B8C-83A1-F6EECF244321}">
                <p14:modId xmlns:p14="http://schemas.microsoft.com/office/powerpoint/2010/main" val="3160831740"/>
              </p:ext>
            </p:extLst>
          </p:nvPr>
        </p:nvGraphicFramePr>
        <p:xfrm>
          <a:off x="698501" y="1145376"/>
          <a:ext cx="7473948" cy="4400084"/>
        </p:xfrm>
        <a:graphic>
          <a:graphicData uri="http://schemas.openxmlformats.org/drawingml/2006/table">
            <a:tbl>
              <a:tblPr firstRow="1" bandRow="1">
                <a:tableStyleId>{5C22544A-7EE6-4342-B048-85BDC9FD1C3A}</a:tableStyleId>
              </a:tblPr>
              <a:tblGrid>
                <a:gridCol w="669711">
                  <a:extLst>
                    <a:ext uri="{9D8B030D-6E8A-4147-A177-3AD203B41FA5}">
                      <a16:colId xmlns:a16="http://schemas.microsoft.com/office/drawing/2014/main" val="20000"/>
                    </a:ext>
                  </a:extLst>
                </a:gridCol>
                <a:gridCol w="964122">
                  <a:extLst>
                    <a:ext uri="{9D8B030D-6E8A-4147-A177-3AD203B41FA5}">
                      <a16:colId xmlns:a16="http://schemas.microsoft.com/office/drawing/2014/main" val="20001"/>
                    </a:ext>
                  </a:extLst>
                </a:gridCol>
                <a:gridCol w="959021">
                  <a:extLst>
                    <a:ext uri="{9D8B030D-6E8A-4147-A177-3AD203B41FA5}">
                      <a16:colId xmlns:a16="http://schemas.microsoft.com/office/drawing/2014/main" val="20002"/>
                    </a:ext>
                  </a:extLst>
                </a:gridCol>
                <a:gridCol w="988169">
                  <a:extLst>
                    <a:ext uri="{9D8B030D-6E8A-4147-A177-3AD203B41FA5}">
                      <a16:colId xmlns:a16="http://schemas.microsoft.com/office/drawing/2014/main" val="20003"/>
                    </a:ext>
                  </a:extLst>
                </a:gridCol>
                <a:gridCol w="961936">
                  <a:extLst>
                    <a:ext uri="{9D8B030D-6E8A-4147-A177-3AD203B41FA5}">
                      <a16:colId xmlns:a16="http://schemas.microsoft.com/office/drawing/2014/main" val="20004"/>
                    </a:ext>
                  </a:extLst>
                </a:gridCol>
                <a:gridCol w="985984">
                  <a:extLst>
                    <a:ext uri="{9D8B030D-6E8A-4147-A177-3AD203B41FA5}">
                      <a16:colId xmlns:a16="http://schemas.microsoft.com/office/drawing/2014/main" val="20005"/>
                    </a:ext>
                  </a:extLst>
                </a:gridCol>
                <a:gridCol w="915297">
                  <a:extLst>
                    <a:ext uri="{9D8B030D-6E8A-4147-A177-3AD203B41FA5}">
                      <a16:colId xmlns:a16="http://schemas.microsoft.com/office/drawing/2014/main" val="20006"/>
                    </a:ext>
                  </a:extLst>
                </a:gridCol>
                <a:gridCol w="1029708">
                  <a:extLst>
                    <a:ext uri="{9D8B030D-6E8A-4147-A177-3AD203B41FA5}">
                      <a16:colId xmlns:a16="http://schemas.microsoft.com/office/drawing/2014/main" val="20007"/>
                    </a:ext>
                  </a:extLst>
                </a:gridCol>
              </a:tblGrid>
              <a:tr h="198120">
                <a:tc gridSpan="8">
                  <a:txBody>
                    <a:bodyPr/>
                    <a:lstStyle/>
                    <a:p>
                      <a:pPr marR="11430" algn="ctr">
                        <a:lnSpc>
                          <a:spcPct val="100000"/>
                        </a:lnSpc>
                        <a:spcBef>
                          <a:spcPts val="0"/>
                        </a:spcBef>
                      </a:pPr>
                      <a:endParaRPr sz="800" dirty="0">
                        <a:solidFill>
                          <a:schemeClr val="bg1"/>
                        </a:solidFill>
                        <a:latin typeface="Arial"/>
                        <a:cs typeface="Arial"/>
                      </a:endParaRPr>
                    </a:p>
                  </a:txBody>
                  <a:tcPr marL="22289" marR="22289" marT="37148" marB="37148" anchor="ctr">
                    <a:no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65284">
                <a:tc gridSpan="8">
                  <a:txBody>
                    <a:bodyPr/>
                    <a:lstStyle/>
                    <a:p>
                      <a:pPr marR="11430" algn="ctr">
                        <a:lnSpc>
                          <a:spcPct val="100000"/>
                        </a:lnSpc>
                        <a:spcBef>
                          <a:spcPts val="0"/>
                        </a:spcBef>
                      </a:pPr>
                      <a:endParaRPr sz="700" dirty="0">
                        <a:solidFill>
                          <a:schemeClr val="bg1"/>
                        </a:solidFill>
                        <a:latin typeface="Arial"/>
                        <a:cs typeface="Arial"/>
                      </a:endParaRPr>
                    </a:p>
                  </a:txBody>
                  <a:tcPr marL="22289" marR="22289" marT="37148" marB="37148" anchor="c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63206653"/>
                  </a:ext>
                </a:extLst>
              </a:tr>
              <a:tr h="371475">
                <a:tc>
                  <a:txBody>
                    <a:bodyPr/>
                    <a:lstStyle/>
                    <a:p>
                      <a:pPr marL="0" marR="48895" indent="0" algn="ctr">
                        <a:lnSpc>
                          <a:spcPct val="100000"/>
                        </a:lnSpc>
                        <a:spcBef>
                          <a:spcPts val="0"/>
                        </a:spcBef>
                      </a:pPr>
                      <a:r>
                        <a:rPr sz="700" i="1" dirty="0">
                          <a:solidFill>
                            <a:schemeClr val="tx1"/>
                          </a:solidFill>
                        </a:rPr>
                        <a:t>(in</a:t>
                      </a:r>
                      <a:r>
                        <a:rPr sz="700" i="1" spc="-20" dirty="0">
                          <a:solidFill>
                            <a:schemeClr val="tx1"/>
                          </a:solidFill>
                        </a:rPr>
                        <a:t> </a:t>
                      </a:r>
                      <a:r>
                        <a:rPr sz="700" i="1" spc="-10" dirty="0">
                          <a:solidFill>
                            <a:schemeClr val="tx1"/>
                          </a:solidFill>
                        </a:rPr>
                        <a:t>US$mn</a:t>
                      </a:r>
                      <a:r>
                        <a:rPr sz="700" i="1" spc="500" dirty="0">
                          <a:solidFill>
                            <a:schemeClr val="tx1"/>
                          </a:solidFill>
                        </a:rPr>
                        <a:t> </a:t>
                      </a:r>
                      <a:r>
                        <a:rPr sz="700" i="1" dirty="0">
                          <a:solidFill>
                            <a:schemeClr val="tx1"/>
                          </a:solidFill>
                        </a:rPr>
                        <a:t>unless</a:t>
                      </a:r>
                      <a:r>
                        <a:rPr sz="700" i="1" spc="-25" dirty="0">
                          <a:solidFill>
                            <a:schemeClr val="tx1"/>
                          </a:solidFill>
                        </a:rPr>
                        <a:t> </a:t>
                      </a:r>
                      <a:r>
                        <a:rPr sz="700" i="1" spc="-10" dirty="0">
                          <a:solidFill>
                            <a:schemeClr val="tx1"/>
                          </a:solidFill>
                        </a:rPr>
                        <a:t>specified)</a:t>
                      </a:r>
                      <a:endParaRPr sz="700" i="1" dirty="0">
                        <a:solidFill>
                          <a:schemeClr val="tx1"/>
                        </a:solidFill>
                        <a:latin typeface="Arial"/>
                        <a:cs typeface="Arial"/>
                      </a:endParaRPr>
                    </a:p>
                  </a:txBody>
                  <a:tcPr marL="22289" marR="22289" marT="37148" marB="37148" anchor="ctr">
                    <a:noFill/>
                  </a:tcPr>
                </a:tc>
                <a:tc>
                  <a:txBody>
                    <a:bodyPr/>
                    <a:lstStyle/>
                    <a:p>
                      <a:pPr marL="0" marR="162560" indent="0" algn="ctr" defTabSz="914400" rtl="0" eaLnBrk="1" latinLnBrk="0" hangingPunct="1">
                        <a:lnSpc>
                          <a:spcPct val="100000"/>
                        </a:lnSpc>
                        <a:spcBef>
                          <a:spcPts val="0"/>
                        </a:spcBef>
                      </a:pPr>
                      <a:r>
                        <a:rPr sz="700" b="1" kern="1200" spc="-10" dirty="0">
                          <a:solidFill>
                            <a:schemeClr val="bg1"/>
                          </a:solidFill>
                          <a:latin typeface="+mn-lt"/>
                          <a:ea typeface="+mn-ea"/>
                          <a:cs typeface="+mn-cs"/>
                        </a:rPr>
                        <a:t>Nanshan Aluminium International</a:t>
                      </a:r>
                    </a:p>
                  </a:txBody>
                  <a:tcPr marL="22289" marR="22289" marT="37148" marB="37148" anchor="ctr">
                    <a:solidFill>
                      <a:schemeClr val="tx1"/>
                    </a:solidFill>
                  </a:tcPr>
                </a:tc>
                <a:tc>
                  <a:txBody>
                    <a:bodyPr/>
                    <a:lstStyle/>
                    <a:p>
                      <a:pPr marL="0" marR="162560" indent="0" algn="ctr" defTabSz="914400" rtl="0" eaLnBrk="1" latinLnBrk="0" hangingPunct="1">
                        <a:lnSpc>
                          <a:spcPct val="100000"/>
                        </a:lnSpc>
                        <a:spcBef>
                          <a:spcPts val="0"/>
                        </a:spcBef>
                      </a:pPr>
                      <a:r>
                        <a:rPr sz="700" b="1" kern="1200" spc="-10" dirty="0" err="1">
                          <a:solidFill>
                            <a:schemeClr val="bg1"/>
                          </a:solidFill>
                          <a:latin typeface="+mn-lt"/>
                          <a:ea typeface="+mn-ea"/>
                          <a:cs typeface="+mn-cs"/>
                        </a:rPr>
                        <a:t>Mirxes</a:t>
                      </a:r>
                      <a:endParaRPr sz="700" b="1" kern="1200" spc="-10" dirty="0">
                        <a:solidFill>
                          <a:schemeClr val="bg1"/>
                        </a:solidFill>
                        <a:latin typeface="+mn-lt"/>
                        <a:ea typeface="+mn-ea"/>
                        <a:cs typeface="+mn-cs"/>
                      </a:endParaRPr>
                    </a:p>
                  </a:txBody>
                  <a:tcPr marL="22289" marR="22289" marT="37148" marB="37148" anchor="ctr">
                    <a:solidFill>
                      <a:schemeClr val="tx1"/>
                    </a:solidFill>
                  </a:tcPr>
                </a:tc>
                <a:tc>
                  <a:txBody>
                    <a:bodyPr/>
                    <a:lstStyle/>
                    <a:p>
                      <a:pPr marL="0" marR="162560" indent="0" algn="ctr" defTabSz="914400" rtl="0" eaLnBrk="1" latinLnBrk="0" hangingPunct="1">
                        <a:lnSpc>
                          <a:spcPct val="100000"/>
                        </a:lnSpc>
                        <a:spcBef>
                          <a:spcPts val="0"/>
                        </a:spcBef>
                      </a:pPr>
                      <a:r>
                        <a:rPr sz="700" b="1" kern="1200" spc="-10" dirty="0">
                          <a:solidFill>
                            <a:schemeClr val="bg1"/>
                          </a:solidFill>
                          <a:latin typeface="+mn-lt"/>
                          <a:ea typeface="+mn-ea"/>
                          <a:cs typeface="+mn-cs"/>
                        </a:rPr>
                        <a:t>IFBH</a:t>
                      </a:r>
                    </a:p>
                  </a:txBody>
                  <a:tcPr marL="22289" marR="22289" marT="37148" marB="37148" anchor="ctr">
                    <a:solidFill>
                      <a:schemeClr val="tx1"/>
                    </a:solidFill>
                  </a:tcPr>
                </a:tc>
                <a:tc>
                  <a:txBody>
                    <a:bodyPr/>
                    <a:lstStyle/>
                    <a:p>
                      <a:pPr marL="0" marR="162560" indent="0" algn="ctr" defTabSz="914400" rtl="0" eaLnBrk="1" latinLnBrk="0" hangingPunct="1">
                        <a:lnSpc>
                          <a:spcPct val="100000"/>
                        </a:lnSpc>
                        <a:spcBef>
                          <a:spcPts val="0"/>
                        </a:spcBef>
                      </a:pPr>
                      <a:r>
                        <a:rPr sz="700" b="1" kern="1200" spc="-10" dirty="0">
                          <a:solidFill>
                            <a:schemeClr val="bg1"/>
                          </a:solidFill>
                          <a:latin typeface="+mn-lt"/>
                          <a:ea typeface="+mn-ea"/>
                          <a:cs typeface="+mn-cs"/>
                        </a:rPr>
                        <a:t>Jiaxin International Resources</a:t>
                      </a:r>
                    </a:p>
                  </a:txBody>
                  <a:tcPr marL="22289" marR="22289" marT="37148" marB="37148" anchor="ctr">
                    <a:solidFill>
                      <a:schemeClr val="tx1"/>
                    </a:solidFill>
                  </a:tcPr>
                </a:tc>
                <a:tc>
                  <a:txBody>
                    <a:bodyPr/>
                    <a:lstStyle/>
                    <a:p>
                      <a:pPr marL="0" marR="162560" indent="0" algn="ctr" defTabSz="914400" rtl="0" eaLnBrk="1" latinLnBrk="0" hangingPunct="1">
                        <a:lnSpc>
                          <a:spcPct val="100000"/>
                        </a:lnSpc>
                        <a:spcBef>
                          <a:spcPts val="0"/>
                        </a:spcBef>
                      </a:pPr>
                      <a:r>
                        <a:rPr sz="700" b="1" kern="1200" spc="-10" dirty="0">
                          <a:solidFill>
                            <a:schemeClr val="bg1"/>
                          </a:solidFill>
                          <a:latin typeface="+mn-lt"/>
                          <a:ea typeface="+mn-ea"/>
                          <a:cs typeface="+mn-cs"/>
                        </a:rPr>
                        <a:t>Zijin </a:t>
                      </a:r>
                      <a:r>
                        <a:rPr lang="en-US" sz="700" b="1" kern="1200" spc="-10" dirty="0">
                          <a:solidFill>
                            <a:schemeClr val="bg1"/>
                          </a:solidFill>
                          <a:latin typeface="+mn-lt"/>
                          <a:ea typeface="+mn-ea"/>
                          <a:cs typeface="+mn-cs"/>
                        </a:rPr>
                        <a:t>SMG</a:t>
                      </a:r>
                      <a:r>
                        <a:rPr sz="700" b="1" kern="1200" spc="-10" dirty="0">
                          <a:solidFill>
                            <a:schemeClr val="bg1"/>
                          </a:solidFill>
                          <a:latin typeface="+mn-lt"/>
                          <a:ea typeface="+mn-ea"/>
                          <a:cs typeface="+mn-cs"/>
                        </a:rPr>
                        <a:t> International</a:t>
                      </a:r>
                    </a:p>
                  </a:txBody>
                  <a:tcPr marL="22289" marR="22289" marT="37148" marB="37148" anchor="ctr">
                    <a:solidFill>
                      <a:schemeClr val="tx1"/>
                    </a:solidFill>
                  </a:tcPr>
                </a:tc>
                <a:tc>
                  <a:txBody>
                    <a:bodyPr/>
                    <a:lstStyle/>
                    <a:p>
                      <a:pPr marL="0" marR="162560" indent="0" algn="ctr" defTabSz="914400" rtl="0" eaLnBrk="1" latinLnBrk="0" hangingPunct="1">
                        <a:lnSpc>
                          <a:spcPct val="100000"/>
                        </a:lnSpc>
                        <a:spcBef>
                          <a:spcPts val="0"/>
                        </a:spcBef>
                      </a:pPr>
                      <a:r>
                        <a:rPr sz="700" b="1" kern="1200" spc="-10" dirty="0" err="1">
                          <a:solidFill>
                            <a:schemeClr val="bg1"/>
                          </a:solidFill>
                          <a:latin typeface="+mn-lt"/>
                          <a:ea typeface="+mn-ea"/>
                          <a:cs typeface="+mn-cs"/>
                        </a:rPr>
                        <a:t>Softcare</a:t>
                      </a:r>
                      <a:endParaRPr sz="700" b="1" kern="1200" spc="-10" dirty="0">
                        <a:solidFill>
                          <a:schemeClr val="bg1"/>
                        </a:solidFill>
                        <a:latin typeface="+mn-lt"/>
                        <a:ea typeface="+mn-ea"/>
                        <a:cs typeface="+mn-cs"/>
                      </a:endParaRPr>
                    </a:p>
                  </a:txBody>
                  <a:tcPr marL="22289" marR="22289" marT="37148" marB="37148" anchor="ctr">
                    <a:lnR w="57150" cap="flat" cmpd="sng" algn="ctr">
                      <a:solidFill>
                        <a:schemeClr val="bg1"/>
                      </a:solidFill>
                      <a:prstDash val="solid"/>
                      <a:round/>
                      <a:headEnd type="none" w="med" len="med"/>
                      <a:tailEnd type="none" w="med" len="med"/>
                    </a:lnR>
                    <a:solidFill>
                      <a:schemeClr val="tx1"/>
                    </a:solidFill>
                  </a:tcPr>
                </a:tc>
                <a:tc>
                  <a:txBody>
                    <a:bodyPr/>
                    <a:lstStyle/>
                    <a:p>
                      <a:pPr marL="0" marR="162560" indent="0" algn="ctr" defTabSz="914400" rtl="0" eaLnBrk="1" latinLnBrk="0" hangingPunct="1">
                        <a:lnSpc>
                          <a:spcPct val="100000"/>
                        </a:lnSpc>
                        <a:spcBef>
                          <a:spcPts val="0"/>
                        </a:spcBef>
                      </a:pPr>
                      <a:r>
                        <a:rPr sz="700" b="1" kern="1200" spc="-10" dirty="0" err="1">
                          <a:solidFill>
                            <a:schemeClr val="bg1"/>
                          </a:solidFill>
                          <a:latin typeface="+mn-lt"/>
                          <a:ea typeface="+mn-ea"/>
                          <a:cs typeface="+mn-cs"/>
                        </a:rPr>
                        <a:t>Insilico</a:t>
                      </a:r>
                      <a:r>
                        <a:rPr sz="700" b="1" kern="1200" spc="-10" dirty="0">
                          <a:solidFill>
                            <a:schemeClr val="bg1"/>
                          </a:solidFill>
                          <a:latin typeface="+mn-lt"/>
                          <a:ea typeface="+mn-ea"/>
                          <a:cs typeface="+mn-cs"/>
                        </a:rPr>
                        <a:t> Medicine</a:t>
                      </a:r>
                    </a:p>
                  </a:txBody>
                  <a:tcPr marL="22289" marR="22289" marT="37148" marB="37148" anchor="ctr">
                    <a:lnL w="57150" cap="flat" cmpd="sng" algn="ctr">
                      <a:solidFill>
                        <a:schemeClr val="bg1"/>
                      </a:solidFill>
                      <a:prstDash val="solid"/>
                      <a:round/>
                      <a:headEnd type="none" w="med" len="med"/>
                      <a:tailEnd type="none" w="med" len="med"/>
                    </a:lnL>
                    <a:solidFill>
                      <a:schemeClr val="tx1"/>
                    </a:solidFill>
                  </a:tcPr>
                </a:tc>
                <a:extLst>
                  <a:ext uri="{0D108BD9-81ED-4DB2-BD59-A6C34878D82A}">
                    <a16:rowId xmlns:a16="http://schemas.microsoft.com/office/drawing/2014/main" val="10001"/>
                  </a:ext>
                </a:extLst>
              </a:tr>
              <a:tr h="272415">
                <a:tc>
                  <a:txBody>
                    <a:bodyPr/>
                    <a:lstStyle/>
                    <a:p>
                      <a:pPr marL="0" indent="0" algn="ctr" defTabSz="914400" rtl="0" eaLnBrk="1" latinLnBrk="0" hangingPunct="1">
                        <a:lnSpc>
                          <a:spcPct val="100000"/>
                        </a:lnSpc>
                        <a:spcBef>
                          <a:spcPts val="0"/>
                        </a:spcBef>
                      </a:pPr>
                      <a:r>
                        <a:rPr sz="700" b="1" kern="1200" spc="-10" dirty="0">
                          <a:solidFill>
                            <a:schemeClr val="bg1"/>
                          </a:solidFill>
                          <a:latin typeface="+mn-lt"/>
                          <a:ea typeface="+mn-ea"/>
                          <a:cs typeface="+mn-cs"/>
                        </a:rPr>
                        <a:t>Listing Date</a:t>
                      </a:r>
                    </a:p>
                    <a:p>
                      <a:pPr marL="0" indent="0" algn="ctr" defTabSz="914400" rtl="0" eaLnBrk="1" latinLnBrk="0" hangingPunct="1">
                        <a:lnSpc>
                          <a:spcPct val="100000"/>
                        </a:lnSpc>
                        <a:spcBef>
                          <a:spcPts val="0"/>
                        </a:spcBef>
                      </a:pPr>
                      <a:r>
                        <a:rPr sz="700" b="1" kern="1200" spc="-10" dirty="0">
                          <a:solidFill>
                            <a:schemeClr val="bg1"/>
                          </a:solidFill>
                          <a:latin typeface="+mn-lt"/>
                          <a:ea typeface="+mn-ea"/>
                          <a:cs typeface="+mn-cs"/>
                        </a:rPr>
                        <a:t>(2025)</a:t>
                      </a:r>
                    </a:p>
                  </a:txBody>
                  <a:tcPr marL="22289" marR="22289" marT="37148" marB="37148" anchor="ctr">
                    <a:solidFill>
                      <a:srgbClr val="FF0000"/>
                    </a:solidFill>
                  </a:tcP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25 Mar</a:t>
                      </a: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23 May</a:t>
                      </a: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30 Jun</a:t>
                      </a: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28 Aug</a:t>
                      </a:r>
                      <a:endParaRPr sz="700" kern="1200" spc="-10">
                        <a:solidFill>
                          <a:schemeClr val="tx1"/>
                        </a:solidFill>
                        <a:latin typeface="+mn-lt"/>
                        <a:ea typeface="+mn-ea"/>
                        <a:cs typeface="+mn-cs"/>
                      </a:endParaRP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30 Sep</a:t>
                      </a:r>
                      <a:endParaRPr sz="700" kern="1200" spc="-10">
                        <a:solidFill>
                          <a:schemeClr val="tx1"/>
                        </a:solidFill>
                        <a:latin typeface="+mn-lt"/>
                        <a:ea typeface="+mn-ea"/>
                        <a:cs typeface="+mn-cs"/>
                      </a:endParaRP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10 Nov</a:t>
                      </a:r>
                    </a:p>
                  </a:txBody>
                  <a:tcPr marL="22289" marR="22289" marT="37148" marB="37148" anchor="ctr"/>
                </a:tc>
                <a:tc>
                  <a:txBody>
                    <a:bodyPr/>
                    <a:lstStyle/>
                    <a:p>
                      <a:pPr marL="0" indent="0" algn="ctr">
                        <a:lnSpc>
                          <a:spcPct val="100000"/>
                        </a:lnSpc>
                        <a:spcBef>
                          <a:spcPts val="0"/>
                        </a:spcBef>
                      </a:pPr>
                      <a:r>
                        <a:rPr sz="700" spc="-10" dirty="0">
                          <a:solidFill>
                            <a:schemeClr val="tx1"/>
                          </a:solidFill>
                        </a:rPr>
                        <a:t>30</a:t>
                      </a:r>
                      <a:r>
                        <a:rPr sz="700" spc="-45" dirty="0">
                          <a:solidFill>
                            <a:schemeClr val="tx1"/>
                          </a:solidFill>
                        </a:rPr>
                        <a:t> </a:t>
                      </a:r>
                      <a:r>
                        <a:rPr sz="700" spc="-25" dirty="0">
                          <a:solidFill>
                            <a:schemeClr val="tx1"/>
                          </a:solidFill>
                        </a:rPr>
                        <a:t>Dec</a:t>
                      </a:r>
                      <a:endParaRPr sz="700" dirty="0">
                        <a:solidFill>
                          <a:schemeClr val="tx1"/>
                        </a:solidFill>
                        <a:latin typeface="Arial"/>
                        <a:cs typeface="Arial"/>
                      </a:endParaRPr>
                    </a:p>
                  </a:txBody>
                  <a:tcPr marL="22289" marR="22289" marT="37148" marB="37148" anchor="ctr"/>
                </a:tc>
                <a:extLst>
                  <a:ext uri="{0D108BD9-81ED-4DB2-BD59-A6C34878D82A}">
                    <a16:rowId xmlns:a16="http://schemas.microsoft.com/office/drawing/2014/main" val="10002"/>
                  </a:ext>
                </a:extLst>
              </a:tr>
              <a:tr h="272415">
                <a:tc>
                  <a:txBody>
                    <a:bodyPr/>
                    <a:lstStyle/>
                    <a:p>
                      <a:pPr marL="0" indent="0" algn="ctr" defTabSz="914400" rtl="0" eaLnBrk="1" latinLnBrk="0" hangingPunct="1">
                        <a:lnSpc>
                          <a:spcPct val="100000"/>
                        </a:lnSpc>
                        <a:spcBef>
                          <a:spcPts val="0"/>
                        </a:spcBef>
                      </a:pPr>
                      <a:r>
                        <a:rPr sz="700" b="1" kern="1200" spc="-10" dirty="0">
                          <a:solidFill>
                            <a:schemeClr val="bg1"/>
                          </a:solidFill>
                          <a:latin typeface="+mn-lt"/>
                          <a:ea typeface="+mn-ea"/>
                          <a:cs typeface="+mn-cs"/>
                        </a:rPr>
                        <a:t>Sector</a:t>
                      </a:r>
                    </a:p>
                  </a:txBody>
                  <a:tcPr marL="22289" marR="22289" marT="37148" marB="37148" anchor="ctr">
                    <a:solidFill>
                      <a:srgbClr val="FF0000"/>
                    </a:solidFill>
                  </a:tcP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Industrials –</a:t>
                      </a:r>
                      <a:endParaRPr sz="700" kern="1200" spc="-10">
                        <a:solidFill>
                          <a:schemeClr val="tx1"/>
                        </a:solidFill>
                        <a:latin typeface="+mn-lt"/>
                        <a:ea typeface="+mn-ea"/>
                        <a:cs typeface="+mn-cs"/>
                      </a:endParaRPr>
                    </a:p>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Metal &amp; Mining</a:t>
                      </a:r>
                      <a:endParaRPr sz="700" kern="1200" spc="-10">
                        <a:solidFill>
                          <a:schemeClr val="tx1"/>
                        </a:solidFill>
                        <a:latin typeface="+mn-lt"/>
                        <a:ea typeface="+mn-ea"/>
                        <a:cs typeface="+mn-cs"/>
                      </a:endParaRP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Healthcare –</a:t>
                      </a:r>
                      <a:endParaRPr sz="700" kern="1200" spc="-10">
                        <a:solidFill>
                          <a:schemeClr val="tx1"/>
                        </a:solidFill>
                        <a:latin typeface="+mn-lt"/>
                        <a:ea typeface="+mn-ea"/>
                        <a:cs typeface="+mn-cs"/>
                      </a:endParaRPr>
                    </a:p>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Biotech</a:t>
                      </a:r>
                      <a:endParaRPr sz="700" kern="1200" spc="-10">
                        <a:solidFill>
                          <a:schemeClr val="tx1"/>
                        </a:solidFill>
                        <a:latin typeface="+mn-lt"/>
                        <a:ea typeface="+mn-ea"/>
                        <a:cs typeface="+mn-cs"/>
                      </a:endParaRP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Consumer –</a:t>
                      </a:r>
                      <a:endParaRPr sz="700" kern="1200" spc="-10">
                        <a:solidFill>
                          <a:schemeClr val="tx1"/>
                        </a:solidFill>
                        <a:latin typeface="+mn-lt"/>
                        <a:ea typeface="+mn-ea"/>
                        <a:cs typeface="+mn-cs"/>
                      </a:endParaRPr>
                    </a:p>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Beverage</a:t>
                      </a:r>
                      <a:endParaRPr sz="700" kern="1200" spc="-10">
                        <a:solidFill>
                          <a:schemeClr val="tx1"/>
                        </a:solidFill>
                        <a:latin typeface="+mn-lt"/>
                        <a:ea typeface="+mn-ea"/>
                        <a:cs typeface="+mn-cs"/>
                      </a:endParaRP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Industrials –</a:t>
                      </a:r>
                      <a:endParaRPr sz="700" kern="1200" spc="-10">
                        <a:solidFill>
                          <a:schemeClr val="tx1"/>
                        </a:solidFill>
                        <a:latin typeface="+mn-lt"/>
                        <a:ea typeface="+mn-ea"/>
                        <a:cs typeface="+mn-cs"/>
                      </a:endParaRPr>
                    </a:p>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Metal &amp; Mining</a:t>
                      </a:r>
                      <a:endParaRPr sz="700" kern="1200" spc="-10">
                        <a:solidFill>
                          <a:schemeClr val="tx1"/>
                        </a:solidFill>
                        <a:latin typeface="+mn-lt"/>
                        <a:ea typeface="+mn-ea"/>
                        <a:cs typeface="+mn-cs"/>
                      </a:endParaRP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Industrials –</a:t>
                      </a:r>
                    </a:p>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Metal &amp; Mining</a:t>
                      </a: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Consumer –</a:t>
                      </a:r>
                      <a:endParaRPr sz="700" kern="1200" spc="-10">
                        <a:solidFill>
                          <a:schemeClr val="tx1"/>
                        </a:solidFill>
                        <a:latin typeface="+mn-lt"/>
                        <a:ea typeface="+mn-ea"/>
                        <a:cs typeface="+mn-cs"/>
                      </a:endParaRPr>
                    </a:p>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Personal Care</a:t>
                      </a:r>
                      <a:endParaRPr sz="700" kern="1200" spc="-10">
                        <a:solidFill>
                          <a:schemeClr val="tx1"/>
                        </a:solidFill>
                        <a:latin typeface="+mn-lt"/>
                        <a:ea typeface="+mn-ea"/>
                        <a:cs typeface="+mn-cs"/>
                      </a:endParaRPr>
                    </a:p>
                  </a:txBody>
                  <a:tcPr marL="22289" marR="22289" marT="37148" marB="37148" anchor="ctr"/>
                </a:tc>
                <a:tc>
                  <a:txBody>
                    <a:bodyPr/>
                    <a:lstStyle/>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Healthcare –</a:t>
                      </a:r>
                    </a:p>
                    <a:p>
                      <a:pPr marL="0" indent="0" algn="ctr" defTabSz="914400" rtl="0" eaLnBrk="1" latinLnBrk="0" hangingPunct="1">
                        <a:lnSpc>
                          <a:spcPct val="100000"/>
                        </a:lnSpc>
                        <a:spcBef>
                          <a:spcPts val="0"/>
                        </a:spcBef>
                      </a:pPr>
                      <a:r>
                        <a:rPr sz="700" kern="1200" spc="-10" dirty="0">
                          <a:solidFill>
                            <a:schemeClr val="tx1"/>
                          </a:solidFill>
                          <a:latin typeface="+mn-lt"/>
                          <a:ea typeface="+mn-ea"/>
                          <a:cs typeface="+mn-cs"/>
                        </a:rPr>
                        <a:t>Biotech</a:t>
                      </a:r>
                    </a:p>
                  </a:txBody>
                  <a:tcPr marL="22289" marR="22289" marT="37148" marB="37148" anchor="ctr"/>
                </a:tc>
                <a:extLst>
                  <a:ext uri="{0D108BD9-81ED-4DB2-BD59-A6C34878D82A}">
                    <a16:rowId xmlns:a16="http://schemas.microsoft.com/office/drawing/2014/main" val="10003"/>
                  </a:ext>
                </a:extLst>
              </a:tr>
              <a:tr h="668655">
                <a:tc>
                  <a:txBody>
                    <a:bodyPr/>
                    <a:lstStyle/>
                    <a:p>
                      <a:pPr marL="0" indent="0" algn="ctr" defTabSz="914400" rtl="0" eaLnBrk="1" latinLnBrk="0" hangingPunct="1">
                        <a:lnSpc>
                          <a:spcPct val="100000"/>
                        </a:lnSpc>
                        <a:spcBef>
                          <a:spcPts val="0"/>
                        </a:spcBef>
                      </a:pPr>
                      <a:r>
                        <a:rPr sz="700" b="1" kern="1200" spc="-10" dirty="0">
                          <a:solidFill>
                            <a:schemeClr val="bg1"/>
                          </a:solidFill>
                          <a:latin typeface="+mn-lt"/>
                          <a:ea typeface="+mn-ea"/>
                          <a:cs typeface="+mn-cs"/>
                        </a:rPr>
                        <a:t>Transaction</a:t>
                      </a:r>
                      <a:r>
                        <a:rPr lang="en-US" sz="700" b="1" kern="1200" spc="-10" dirty="0">
                          <a:solidFill>
                            <a:schemeClr val="bg1"/>
                          </a:solidFill>
                          <a:latin typeface="+mn-lt"/>
                          <a:ea typeface="+mn-ea"/>
                          <a:cs typeface="+mn-cs"/>
                        </a:rPr>
                        <a:t> </a:t>
                      </a:r>
                      <a:r>
                        <a:rPr sz="700" b="1" kern="1200" spc="-10" dirty="0">
                          <a:solidFill>
                            <a:schemeClr val="bg1"/>
                          </a:solidFill>
                          <a:latin typeface="+mn-lt"/>
                          <a:ea typeface="+mn-ea"/>
                          <a:cs typeface="+mn-cs"/>
                        </a:rPr>
                        <a:t>Highlights</a:t>
                      </a:r>
                    </a:p>
                  </a:txBody>
                  <a:tcPr marL="22289" marR="22289" marT="37148" marB="37148" anchor="ctr">
                    <a:solidFill>
                      <a:srgbClr val="FF0000"/>
                    </a:solidFill>
                  </a:tcPr>
                </a:tc>
                <a:tc>
                  <a:txBody>
                    <a:bodyPr/>
                    <a:lstStyle/>
                    <a:p>
                      <a:pPr marL="171450" indent="-171450">
                        <a:lnSpc>
                          <a:spcPct val="100000"/>
                        </a:lnSpc>
                        <a:spcBef>
                          <a:spcPts val="0"/>
                        </a:spcBef>
                        <a:buClr>
                          <a:srgbClr val="C00000"/>
                        </a:buClr>
                        <a:buFont typeface="Wingdings 2" panose="05020102010507070707" pitchFamily="18" charset="2"/>
                        <a:buChar char="¡"/>
                        <a:tabLst>
                          <a:tab pos="60960" algn="l"/>
                        </a:tabLst>
                      </a:pPr>
                      <a:r>
                        <a:rPr sz="700" dirty="0">
                          <a:solidFill>
                            <a:schemeClr val="tx1"/>
                          </a:solidFill>
                        </a:rPr>
                        <a:t>2</a:t>
                      </a:r>
                      <a:r>
                        <a:rPr sz="700" baseline="27777" dirty="0">
                          <a:solidFill>
                            <a:schemeClr val="tx1"/>
                          </a:solidFill>
                        </a:rPr>
                        <a:t>nd</a:t>
                      </a:r>
                      <a:r>
                        <a:rPr sz="700" spc="97" baseline="27777" dirty="0">
                          <a:solidFill>
                            <a:schemeClr val="tx1"/>
                          </a:solidFill>
                        </a:rPr>
                        <a:t> </a:t>
                      </a:r>
                      <a:r>
                        <a:rPr sz="700" dirty="0">
                          <a:solidFill>
                            <a:schemeClr val="tx1"/>
                          </a:solidFill>
                        </a:rPr>
                        <a:t>largest</a:t>
                      </a:r>
                      <a:r>
                        <a:rPr lang="en-US" sz="700" dirty="0">
                          <a:solidFill>
                            <a:schemeClr val="tx1"/>
                          </a:solidFill>
                        </a:rPr>
                        <a:t> </a:t>
                      </a:r>
                      <a:r>
                        <a:rPr sz="700" spc="-10" dirty="0" err="1">
                          <a:solidFill>
                            <a:schemeClr val="tx1"/>
                          </a:solidFill>
                        </a:rPr>
                        <a:t>aluminium</a:t>
                      </a:r>
                      <a:r>
                        <a:rPr lang="en-US" sz="700" spc="-10" dirty="0">
                          <a:solidFill>
                            <a:schemeClr val="tx1"/>
                          </a:solidFill>
                        </a:rPr>
                        <a:t> </a:t>
                      </a:r>
                      <a:r>
                        <a:rPr sz="700" dirty="0">
                          <a:solidFill>
                            <a:schemeClr val="tx1"/>
                          </a:solidFill>
                        </a:rPr>
                        <a:t>producer</a:t>
                      </a:r>
                      <a:r>
                        <a:rPr sz="700" spc="-20" dirty="0">
                          <a:solidFill>
                            <a:schemeClr val="tx1"/>
                          </a:solidFill>
                        </a:rPr>
                        <a:t> </a:t>
                      </a:r>
                      <a:r>
                        <a:rPr sz="700" dirty="0">
                          <a:solidFill>
                            <a:schemeClr val="tx1"/>
                          </a:solidFill>
                        </a:rPr>
                        <a:t>in</a:t>
                      </a:r>
                      <a:r>
                        <a:rPr sz="700" spc="-40" dirty="0">
                          <a:solidFill>
                            <a:schemeClr val="tx1"/>
                          </a:solidFill>
                        </a:rPr>
                        <a:t> </a:t>
                      </a:r>
                      <a:r>
                        <a:rPr sz="700" spc="-20" dirty="0">
                          <a:solidFill>
                            <a:schemeClr val="tx1"/>
                          </a:solidFill>
                        </a:rPr>
                        <a:t>SEA,</a:t>
                      </a:r>
                      <a:r>
                        <a:rPr lang="en-US" sz="700" spc="-20" dirty="0">
                          <a:solidFill>
                            <a:schemeClr val="tx1"/>
                          </a:solidFill>
                        </a:rPr>
                        <a:t> </a:t>
                      </a:r>
                      <a:r>
                        <a:rPr sz="700" spc="-20" dirty="0">
                          <a:solidFill>
                            <a:schemeClr val="tx1"/>
                          </a:solidFill>
                        </a:rPr>
                        <a:t>spun-</a:t>
                      </a:r>
                      <a:r>
                        <a:rPr sz="700" dirty="0">
                          <a:solidFill>
                            <a:schemeClr val="tx1"/>
                          </a:solidFill>
                        </a:rPr>
                        <a:t>off</a:t>
                      </a:r>
                      <a:r>
                        <a:rPr sz="700" spc="65" dirty="0">
                          <a:solidFill>
                            <a:schemeClr val="tx1"/>
                          </a:solidFill>
                        </a:rPr>
                        <a:t> </a:t>
                      </a:r>
                      <a:r>
                        <a:rPr sz="700" spc="-20" dirty="0">
                          <a:solidFill>
                            <a:schemeClr val="tx1"/>
                          </a:solidFill>
                        </a:rPr>
                        <a:t>from</a:t>
                      </a:r>
                      <a:r>
                        <a:rPr lang="en-US" sz="700" spc="-20" dirty="0">
                          <a:solidFill>
                            <a:schemeClr val="tx1"/>
                          </a:solidFill>
                        </a:rPr>
                        <a:t> </a:t>
                      </a:r>
                      <a:r>
                        <a:rPr sz="700" spc="-10" dirty="0">
                          <a:solidFill>
                            <a:schemeClr val="tx1"/>
                          </a:solidFill>
                        </a:rPr>
                        <a:t>Nanshan</a:t>
                      </a:r>
                      <a:r>
                        <a:rPr sz="700" spc="20" dirty="0">
                          <a:solidFill>
                            <a:schemeClr val="tx1"/>
                          </a:solidFill>
                        </a:rPr>
                        <a:t> </a:t>
                      </a:r>
                      <a:r>
                        <a:rPr lang="en-US" sz="700" spc="-10" dirty="0" err="1">
                          <a:solidFill>
                            <a:schemeClr val="tx1"/>
                          </a:solidFill>
                        </a:rPr>
                        <a:t>Aluminium</a:t>
                      </a:r>
                      <a:r>
                        <a:rPr lang="en-US" sz="700" spc="-10" dirty="0">
                          <a:solidFill>
                            <a:schemeClr val="tx1"/>
                          </a:solidFill>
                        </a:rPr>
                        <a:t> </a:t>
                      </a:r>
                      <a:r>
                        <a:rPr sz="700" spc="-10" dirty="0">
                          <a:solidFill>
                            <a:schemeClr val="tx1"/>
                          </a:solidFill>
                        </a:rPr>
                        <a:t>(600219.SH)</a:t>
                      </a:r>
                      <a:endParaRPr sz="700" dirty="0">
                        <a:solidFill>
                          <a:schemeClr val="tx1"/>
                        </a:solidFill>
                        <a:latin typeface="Arial"/>
                        <a:cs typeface="Arial"/>
                      </a:endParaRPr>
                    </a:p>
                  </a:txBody>
                  <a:tcPr marL="22289" marR="22289" marT="37148" marB="37148" anchor="ctr"/>
                </a:tc>
                <a:tc>
                  <a:txBody>
                    <a:bodyPr/>
                    <a:lstStyle/>
                    <a:p>
                      <a:pPr marL="177800" marR="10160" indent="-171450">
                        <a:lnSpc>
                          <a:spcPct val="100000"/>
                        </a:lnSpc>
                        <a:spcBef>
                          <a:spcPts val="0"/>
                        </a:spcBef>
                        <a:buClr>
                          <a:srgbClr val="C00000"/>
                        </a:buClr>
                        <a:buFont typeface="Wingdings 2" panose="05020102010507070707" pitchFamily="18" charset="2"/>
                        <a:buChar char="¡"/>
                        <a:tabLst>
                          <a:tab pos="67310" algn="l"/>
                        </a:tabLst>
                      </a:pPr>
                      <a:r>
                        <a:rPr sz="700" dirty="0">
                          <a:solidFill>
                            <a:schemeClr val="tx1"/>
                          </a:solidFill>
                        </a:rPr>
                        <a:t>The</a:t>
                      </a:r>
                      <a:r>
                        <a:rPr sz="700" spc="-10" dirty="0">
                          <a:solidFill>
                            <a:schemeClr val="tx1"/>
                          </a:solidFill>
                        </a:rPr>
                        <a:t> </a:t>
                      </a:r>
                      <a:r>
                        <a:rPr sz="700" dirty="0">
                          <a:solidFill>
                            <a:schemeClr val="tx1"/>
                          </a:solidFill>
                        </a:rPr>
                        <a:t>1</a:t>
                      </a:r>
                      <a:r>
                        <a:rPr sz="700" baseline="27777" dirty="0">
                          <a:solidFill>
                            <a:schemeClr val="tx1"/>
                          </a:solidFill>
                        </a:rPr>
                        <a:t>st</a:t>
                      </a:r>
                      <a:r>
                        <a:rPr sz="700" spc="67" baseline="27777" dirty="0">
                          <a:solidFill>
                            <a:schemeClr val="tx1"/>
                          </a:solidFill>
                        </a:rPr>
                        <a:t> </a:t>
                      </a:r>
                      <a:r>
                        <a:rPr sz="700" dirty="0">
                          <a:solidFill>
                            <a:schemeClr val="tx1"/>
                          </a:solidFill>
                        </a:rPr>
                        <a:t>and</a:t>
                      </a:r>
                      <a:r>
                        <a:rPr sz="700" spc="-5" dirty="0">
                          <a:solidFill>
                            <a:schemeClr val="tx1"/>
                          </a:solidFill>
                        </a:rPr>
                        <a:t> </a:t>
                      </a:r>
                      <a:r>
                        <a:rPr sz="700" dirty="0">
                          <a:solidFill>
                            <a:schemeClr val="tx1"/>
                          </a:solidFill>
                        </a:rPr>
                        <a:t>only</a:t>
                      </a:r>
                      <a:r>
                        <a:rPr sz="700" spc="-10" dirty="0">
                          <a:solidFill>
                            <a:schemeClr val="tx1"/>
                          </a:solidFill>
                        </a:rPr>
                        <a:t> </a:t>
                      </a:r>
                      <a:r>
                        <a:rPr sz="700" spc="-20" dirty="0">
                          <a:solidFill>
                            <a:schemeClr val="tx1"/>
                          </a:solidFill>
                        </a:rPr>
                        <a:t>firm</a:t>
                      </a:r>
                      <a:r>
                        <a:rPr lang="en-US" sz="700" spc="-20" dirty="0">
                          <a:solidFill>
                            <a:schemeClr val="tx1"/>
                          </a:solidFill>
                        </a:rPr>
                        <a:t> </a:t>
                      </a:r>
                      <a:r>
                        <a:rPr sz="700" dirty="0">
                          <a:solidFill>
                            <a:schemeClr val="tx1"/>
                          </a:solidFill>
                        </a:rPr>
                        <a:t>with</a:t>
                      </a:r>
                      <a:r>
                        <a:rPr sz="700" spc="-20" dirty="0">
                          <a:solidFill>
                            <a:schemeClr val="tx1"/>
                          </a:solidFill>
                        </a:rPr>
                        <a:t> </a:t>
                      </a:r>
                      <a:r>
                        <a:rPr sz="700" spc="-10" dirty="0">
                          <a:solidFill>
                            <a:schemeClr val="tx1"/>
                          </a:solidFill>
                        </a:rPr>
                        <a:t>approved</a:t>
                      </a:r>
                      <a:r>
                        <a:rPr sz="700" spc="5" dirty="0">
                          <a:solidFill>
                            <a:schemeClr val="tx1"/>
                          </a:solidFill>
                        </a:rPr>
                        <a:t> </a:t>
                      </a:r>
                      <a:r>
                        <a:rPr sz="700" spc="-25" dirty="0">
                          <a:solidFill>
                            <a:schemeClr val="tx1"/>
                          </a:solidFill>
                        </a:rPr>
                        <a:t>IVD</a:t>
                      </a:r>
                      <a:r>
                        <a:rPr lang="en-US" sz="700" spc="-25" dirty="0">
                          <a:solidFill>
                            <a:schemeClr val="tx1"/>
                          </a:solidFill>
                        </a:rPr>
                        <a:t> </a:t>
                      </a:r>
                      <a:r>
                        <a:rPr sz="700" dirty="0">
                          <a:solidFill>
                            <a:schemeClr val="tx1"/>
                          </a:solidFill>
                        </a:rPr>
                        <a:t>products</a:t>
                      </a:r>
                      <a:r>
                        <a:rPr sz="700" spc="-45" dirty="0">
                          <a:solidFill>
                            <a:schemeClr val="tx1"/>
                          </a:solidFill>
                        </a:rPr>
                        <a:t> </a:t>
                      </a:r>
                      <a:r>
                        <a:rPr sz="700" spc="-25" dirty="0">
                          <a:solidFill>
                            <a:schemeClr val="tx1"/>
                          </a:solidFill>
                        </a:rPr>
                        <a:t>for</a:t>
                      </a:r>
                      <a:r>
                        <a:rPr lang="en-US" sz="700" spc="-25" dirty="0">
                          <a:solidFill>
                            <a:schemeClr val="tx1"/>
                          </a:solidFill>
                        </a:rPr>
                        <a:t> </a:t>
                      </a:r>
                      <a:r>
                        <a:rPr sz="700" spc="-10" dirty="0">
                          <a:solidFill>
                            <a:schemeClr val="tx1"/>
                          </a:solidFill>
                        </a:rPr>
                        <a:t>molecular</a:t>
                      </a:r>
                      <a:r>
                        <a:rPr sz="700" spc="40" dirty="0">
                          <a:solidFill>
                            <a:schemeClr val="tx1"/>
                          </a:solidFill>
                        </a:rPr>
                        <a:t> </a:t>
                      </a:r>
                      <a:r>
                        <a:rPr sz="700" spc="-10" dirty="0">
                          <a:solidFill>
                            <a:schemeClr val="tx1"/>
                          </a:solidFill>
                        </a:rPr>
                        <a:t>gastric</a:t>
                      </a:r>
                      <a:r>
                        <a:rPr lang="en-US" sz="700" spc="500" dirty="0">
                          <a:solidFill>
                            <a:schemeClr val="tx1"/>
                          </a:solidFill>
                        </a:rPr>
                        <a:t> </a:t>
                      </a:r>
                      <a:r>
                        <a:rPr sz="700" dirty="0">
                          <a:solidFill>
                            <a:schemeClr val="tx1"/>
                          </a:solidFill>
                        </a:rPr>
                        <a:t>cancer</a:t>
                      </a:r>
                      <a:r>
                        <a:rPr sz="700" spc="-30" dirty="0">
                          <a:solidFill>
                            <a:schemeClr val="tx1"/>
                          </a:solidFill>
                        </a:rPr>
                        <a:t> </a:t>
                      </a:r>
                      <a:r>
                        <a:rPr sz="700" spc="-10" dirty="0">
                          <a:solidFill>
                            <a:schemeClr val="tx1"/>
                          </a:solidFill>
                        </a:rPr>
                        <a:t>screening</a:t>
                      </a:r>
                      <a:endParaRPr sz="700" dirty="0">
                        <a:solidFill>
                          <a:schemeClr val="tx1"/>
                        </a:solidFill>
                        <a:latin typeface="Arial"/>
                        <a:cs typeface="Arial"/>
                      </a:endParaRPr>
                    </a:p>
                  </a:txBody>
                  <a:tcPr marL="22289" marR="22289" marT="37148" marB="37148" anchor="ctr"/>
                </a:tc>
                <a:tc>
                  <a:txBody>
                    <a:bodyPr/>
                    <a:lstStyle/>
                    <a:p>
                      <a:pPr marL="189230" indent="-171450">
                        <a:lnSpc>
                          <a:spcPct val="100000"/>
                        </a:lnSpc>
                        <a:spcBef>
                          <a:spcPts val="0"/>
                        </a:spcBef>
                        <a:buClr>
                          <a:srgbClr val="C00000"/>
                        </a:buClr>
                        <a:buFont typeface="Wingdings 2" panose="05020102010507070707" pitchFamily="18" charset="2"/>
                        <a:buChar char="¡"/>
                        <a:tabLst>
                          <a:tab pos="78740" algn="l"/>
                        </a:tabLst>
                      </a:pPr>
                      <a:r>
                        <a:rPr sz="700" dirty="0">
                          <a:solidFill>
                            <a:schemeClr val="tx1"/>
                          </a:solidFill>
                        </a:rPr>
                        <a:t>2</a:t>
                      </a:r>
                      <a:r>
                        <a:rPr sz="700" baseline="27777" dirty="0">
                          <a:solidFill>
                            <a:schemeClr val="tx1"/>
                          </a:solidFill>
                        </a:rPr>
                        <a:t>nd</a:t>
                      </a:r>
                      <a:r>
                        <a:rPr sz="700" spc="97" baseline="27777" dirty="0">
                          <a:solidFill>
                            <a:schemeClr val="tx1"/>
                          </a:solidFill>
                        </a:rPr>
                        <a:t> </a:t>
                      </a:r>
                      <a:r>
                        <a:rPr sz="700" dirty="0">
                          <a:solidFill>
                            <a:schemeClr val="tx1"/>
                          </a:solidFill>
                        </a:rPr>
                        <a:t>largest</a:t>
                      </a:r>
                      <a:r>
                        <a:rPr sz="700" spc="-10" dirty="0">
                          <a:solidFill>
                            <a:schemeClr val="tx1"/>
                          </a:solidFill>
                        </a:rPr>
                        <a:t> coconut</a:t>
                      </a:r>
                      <a:r>
                        <a:rPr lang="en-US" sz="700" spc="-10" dirty="0">
                          <a:solidFill>
                            <a:schemeClr val="tx1"/>
                          </a:solidFill>
                        </a:rPr>
                        <a:t> </a:t>
                      </a:r>
                      <a:r>
                        <a:rPr sz="700" dirty="0">
                          <a:solidFill>
                            <a:schemeClr val="tx1"/>
                          </a:solidFill>
                        </a:rPr>
                        <a:t>water</a:t>
                      </a:r>
                      <a:r>
                        <a:rPr sz="700" spc="-25" dirty="0">
                          <a:solidFill>
                            <a:schemeClr val="tx1"/>
                          </a:solidFill>
                        </a:rPr>
                        <a:t> </a:t>
                      </a:r>
                      <a:r>
                        <a:rPr sz="700" dirty="0">
                          <a:solidFill>
                            <a:schemeClr val="tx1"/>
                          </a:solidFill>
                        </a:rPr>
                        <a:t>player</a:t>
                      </a:r>
                      <a:r>
                        <a:rPr sz="700" spc="-30" dirty="0">
                          <a:solidFill>
                            <a:schemeClr val="tx1"/>
                          </a:solidFill>
                        </a:rPr>
                        <a:t> </a:t>
                      </a:r>
                      <a:r>
                        <a:rPr lang="en-US" sz="700" spc="-30" dirty="0">
                          <a:solidFill>
                            <a:schemeClr val="tx1"/>
                          </a:solidFill>
                        </a:rPr>
                        <a:t> </a:t>
                      </a:r>
                      <a:r>
                        <a:rPr lang="en-US" sz="700" spc="-10" dirty="0">
                          <a:solidFill>
                            <a:schemeClr val="tx1"/>
                          </a:solidFill>
                        </a:rPr>
                        <a:t>g</a:t>
                      </a:r>
                      <a:r>
                        <a:rPr sz="700" spc="-10" dirty="0">
                          <a:solidFill>
                            <a:schemeClr val="tx1"/>
                          </a:solidFill>
                        </a:rPr>
                        <a:t>lobally</a:t>
                      </a:r>
                      <a:r>
                        <a:rPr lang="en-US" sz="700" spc="-10" dirty="0">
                          <a:solidFill>
                            <a:schemeClr val="tx1"/>
                          </a:solidFill>
                        </a:rPr>
                        <a:t>, </a:t>
                      </a:r>
                      <a:r>
                        <a:rPr lang="en-US" sz="700" dirty="0">
                          <a:solidFill>
                            <a:schemeClr val="tx1"/>
                          </a:solidFill>
                        </a:rPr>
                        <a:t>m</a:t>
                      </a:r>
                      <a:r>
                        <a:rPr sz="700" dirty="0">
                          <a:solidFill>
                            <a:schemeClr val="tx1"/>
                          </a:solidFill>
                        </a:rPr>
                        <a:t>arket</a:t>
                      </a:r>
                      <a:r>
                        <a:rPr sz="700" spc="-40" dirty="0">
                          <a:solidFill>
                            <a:schemeClr val="tx1"/>
                          </a:solidFill>
                        </a:rPr>
                        <a:t> </a:t>
                      </a:r>
                      <a:r>
                        <a:rPr sz="700" dirty="0">
                          <a:solidFill>
                            <a:schemeClr val="tx1"/>
                          </a:solidFill>
                        </a:rPr>
                        <a:t>leader</a:t>
                      </a:r>
                      <a:r>
                        <a:rPr sz="700" spc="-25" dirty="0">
                          <a:solidFill>
                            <a:schemeClr val="tx1"/>
                          </a:solidFill>
                        </a:rPr>
                        <a:t> in</a:t>
                      </a:r>
                      <a:r>
                        <a:rPr lang="en-US" sz="700" spc="-25" dirty="0">
                          <a:solidFill>
                            <a:schemeClr val="tx1"/>
                          </a:solidFill>
                        </a:rPr>
                        <a:t> </a:t>
                      </a:r>
                      <a:r>
                        <a:rPr sz="700" dirty="0">
                          <a:solidFill>
                            <a:schemeClr val="tx1"/>
                          </a:solidFill>
                        </a:rPr>
                        <a:t>Hong</a:t>
                      </a:r>
                      <a:r>
                        <a:rPr lang="en-US" sz="700" dirty="0">
                          <a:solidFill>
                            <a:schemeClr val="tx1"/>
                          </a:solidFill>
                        </a:rPr>
                        <a:t> </a:t>
                      </a:r>
                      <a:r>
                        <a:rPr sz="700" dirty="0">
                          <a:solidFill>
                            <a:schemeClr val="tx1"/>
                          </a:solidFill>
                        </a:rPr>
                        <a:t>Kong</a:t>
                      </a:r>
                      <a:r>
                        <a:rPr sz="700" spc="-15" dirty="0">
                          <a:solidFill>
                            <a:schemeClr val="tx1"/>
                          </a:solidFill>
                        </a:rPr>
                        <a:t> </a:t>
                      </a:r>
                      <a:r>
                        <a:rPr sz="700" dirty="0">
                          <a:solidFill>
                            <a:schemeClr val="tx1"/>
                          </a:solidFill>
                        </a:rPr>
                        <a:t>/</a:t>
                      </a:r>
                      <a:r>
                        <a:rPr sz="700" spc="-30" dirty="0">
                          <a:solidFill>
                            <a:schemeClr val="tx1"/>
                          </a:solidFill>
                        </a:rPr>
                        <a:t> </a:t>
                      </a:r>
                      <a:r>
                        <a:rPr sz="700" spc="-10" dirty="0">
                          <a:solidFill>
                            <a:schemeClr val="tx1"/>
                          </a:solidFill>
                        </a:rPr>
                        <a:t>China</a:t>
                      </a:r>
                      <a:endParaRPr sz="700" dirty="0">
                        <a:solidFill>
                          <a:schemeClr val="tx1"/>
                        </a:solidFill>
                        <a:latin typeface="Arial"/>
                        <a:cs typeface="Arial"/>
                      </a:endParaRPr>
                    </a:p>
                  </a:txBody>
                  <a:tcPr marL="22289" marR="22289" marT="37148" marB="37148" anchor="ctr"/>
                </a:tc>
                <a:tc>
                  <a:txBody>
                    <a:bodyPr/>
                    <a:lstStyle/>
                    <a:p>
                      <a:pPr marL="175260" marR="5715" indent="-171450">
                        <a:lnSpc>
                          <a:spcPct val="100000"/>
                        </a:lnSpc>
                        <a:spcBef>
                          <a:spcPts val="0"/>
                        </a:spcBef>
                        <a:buClr>
                          <a:srgbClr val="C00000"/>
                        </a:buClr>
                        <a:buFont typeface="Wingdings 2" panose="05020102010507070707" pitchFamily="18" charset="2"/>
                        <a:buChar char="¡"/>
                        <a:tabLst>
                          <a:tab pos="64769" algn="l"/>
                        </a:tabLst>
                      </a:pPr>
                      <a:r>
                        <a:rPr sz="700" spc="-10" dirty="0">
                          <a:solidFill>
                            <a:schemeClr val="tx1"/>
                          </a:solidFill>
                        </a:rPr>
                        <a:t>Tungsten</a:t>
                      </a:r>
                      <a:r>
                        <a:rPr sz="700" spc="25" dirty="0">
                          <a:solidFill>
                            <a:schemeClr val="tx1"/>
                          </a:solidFill>
                        </a:rPr>
                        <a:t> </a:t>
                      </a:r>
                      <a:r>
                        <a:rPr sz="700" spc="-10" dirty="0">
                          <a:solidFill>
                            <a:schemeClr val="tx1"/>
                          </a:solidFill>
                        </a:rPr>
                        <a:t>mining</a:t>
                      </a:r>
                      <a:r>
                        <a:rPr sz="700" spc="500" dirty="0">
                          <a:solidFill>
                            <a:schemeClr val="tx1"/>
                          </a:solidFill>
                        </a:rPr>
                        <a:t> </a:t>
                      </a:r>
                      <a:r>
                        <a:rPr sz="700" spc="-10" dirty="0">
                          <a:solidFill>
                            <a:schemeClr val="tx1"/>
                          </a:solidFill>
                        </a:rPr>
                        <a:t>company</a:t>
                      </a:r>
                      <a:r>
                        <a:rPr lang="en-US" sz="700" spc="-10" dirty="0">
                          <a:solidFill>
                            <a:schemeClr val="tx1"/>
                          </a:solidFill>
                        </a:rPr>
                        <a:t> d</a:t>
                      </a:r>
                      <a:r>
                        <a:rPr sz="700" spc="-10" dirty="0">
                          <a:solidFill>
                            <a:schemeClr val="tx1"/>
                          </a:solidFill>
                        </a:rPr>
                        <a:t>eveloping</a:t>
                      </a:r>
                      <a:r>
                        <a:rPr lang="en-US" sz="700" spc="500" dirty="0">
                          <a:solidFill>
                            <a:schemeClr val="tx1"/>
                          </a:solidFill>
                        </a:rPr>
                        <a:t> </a:t>
                      </a:r>
                      <a:r>
                        <a:rPr sz="700" dirty="0">
                          <a:solidFill>
                            <a:schemeClr val="tx1"/>
                          </a:solidFill>
                        </a:rPr>
                        <a:t>the</a:t>
                      </a:r>
                      <a:r>
                        <a:rPr sz="700" spc="-30" dirty="0">
                          <a:solidFill>
                            <a:schemeClr val="tx1"/>
                          </a:solidFill>
                        </a:rPr>
                        <a:t> </a:t>
                      </a:r>
                      <a:r>
                        <a:rPr sz="700" dirty="0">
                          <a:solidFill>
                            <a:schemeClr val="tx1"/>
                          </a:solidFill>
                        </a:rPr>
                        <a:t>Boguty</a:t>
                      </a:r>
                      <a:r>
                        <a:rPr sz="700" spc="-30" dirty="0">
                          <a:solidFill>
                            <a:schemeClr val="tx1"/>
                          </a:solidFill>
                        </a:rPr>
                        <a:t> </a:t>
                      </a:r>
                      <a:r>
                        <a:rPr sz="700" spc="-10" dirty="0">
                          <a:solidFill>
                            <a:schemeClr val="tx1"/>
                          </a:solidFill>
                        </a:rPr>
                        <a:t>Project,</a:t>
                      </a:r>
                      <a:r>
                        <a:rPr lang="en-US" sz="700" spc="-10" dirty="0">
                          <a:solidFill>
                            <a:schemeClr val="tx1"/>
                          </a:solidFill>
                        </a:rPr>
                        <a:t> </a:t>
                      </a:r>
                      <a:r>
                        <a:rPr sz="700" dirty="0">
                          <a:solidFill>
                            <a:schemeClr val="tx1"/>
                          </a:solidFill>
                        </a:rPr>
                        <a:t>world’s</a:t>
                      </a:r>
                      <a:r>
                        <a:rPr sz="700" spc="-45" dirty="0">
                          <a:solidFill>
                            <a:schemeClr val="tx1"/>
                          </a:solidFill>
                        </a:rPr>
                        <a:t> </a:t>
                      </a:r>
                      <a:r>
                        <a:rPr sz="700" dirty="0">
                          <a:solidFill>
                            <a:schemeClr val="tx1"/>
                          </a:solidFill>
                        </a:rPr>
                        <a:t>largest</a:t>
                      </a:r>
                      <a:r>
                        <a:rPr sz="700" spc="-45" dirty="0">
                          <a:solidFill>
                            <a:schemeClr val="tx1"/>
                          </a:solidFill>
                        </a:rPr>
                        <a:t> </a:t>
                      </a:r>
                      <a:r>
                        <a:rPr sz="700" spc="-10" dirty="0">
                          <a:solidFill>
                            <a:schemeClr val="tx1"/>
                          </a:solidFill>
                        </a:rPr>
                        <a:t>open-</a:t>
                      </a:r>
                      <a:r>
                        <a:rPr lang="en-US" sz="700" dirty="0">
                          <a:solidFill>
                            <a:schemeClr val="tx1"/>
                          </a:solidFill>
                        </a:rPr>
                        <a:t>p</a:t>
                      </a:r>
                      <a:r>
                        <a:rPr sz="700" dirty="0">
                          <a:solidFill>
                            <a:schemeClr val="tx1"/>
                          </a:solidFill>
                        </a:rPr>
                        <a:t>it</a:t>
                      </a:r>
                      <a:r>
                        <a:rPr sz="700" spc="-15" dirty="0">
                          <a:solidFill>
                            <a:schemeClr val="tx1"/>
                          </a:solidFill>
                        </a:rPr>
                        <a:t> </a:t>
                      </a:r>
                      <a:r>
                        <a:rPr sz="700" spc="-10" dirty="0">
                          <a:solidFill>
                            <a:schemeClr val="tx1"/>
                          </a:solidFill>
                        </a:rPr>
                        <a:t>tungsten</a:t>
                      </a:r>
                      <a:r>
                        <a:rPr sz="700" spc="20" dirty="0">
                          <a:solidFill>
                            <a:schemeClr val="tx1"/>
                          </a:solidFill>
                        </a:rPr>
                        <a:t> </a:t>
                      </a:r>
                      <a:r>
                        <a:rPr sz="700" spc="-20" dirty="0">
                          <a:solidFill>
                            <a:schemeClr val="tx1"/>
                          </a:solidFill>
                        </a:rPr>
                        <a:t>mine</a:t>
                      </a:r>
                      <a:endParaRPr sz="700" dirty="0">
                        <a:solidFill>
                          <a:schemeClr val="tx1"/>
                        </a:solidFill>
                        <a:latin typeface="Arial"/>
                        <a:cs typeface="Arial"/>
                      </a:endParaRPr>
                    </a:p>
                  </a:txBody>
                  <a:tcPr marL="22289" marR="22289" marT="37148" marB="37148" anchor="ctr"/>
                </a:tc>
                <a:tc>
                  <a:txBody>
                    <a:bodyPr/>
                    <a:lstStyle/>
                    <a:p>
                      <a:pPr marL="184785" indent="-171450">
                        <a:lnSpc>
                          <a:spcPct val="100000"/>
                        </a:lnSpc>
                        <a:spcBef>
                          <a:spcPts val="0"/>
                        </a:spcBef>
                        <a:buClr>
                          <a:srgbClr val="C00000"/>
                        </a:buClr>
                        <a:buFont typeface="Wingdings 2" panose="05020102010507070707" pitchFamily="18" charset="2"/>
                        <a:buChar char="¡"/>
                        <a:tabLst>
                          <a:tab pos="74295" algn="l"/>
                        </a:tabLst>
                      </a:pPr>
                      <a:r>
                        <a:rPr sz="700" dirty="0">
                          <a:solidFill>
                            <a:schemeClr val="tx1"/>
                          </a:solidFill>
                        </a:rPr>
                        <a:t>Leading</a:t>
                      </a:r>
                      <a:r>
                        <a:rPr sz="700" spc="-30" dirty="0">
                          <a:solidFill>
                            <a:schemeClr val="tx1"/>
                          </a:solidFill>
                        </a:rPr>
                        <a:t> </a:t>
                      </a:r>
                      <a:r>
                        <a:rPr lang="en-US" sz="700" dirty="0">
                          <a:solidFill>
                            <a:schemeClr val="tx1"/>
                          </a:solidFill>
                        </a:rPr>
                        <a:t>SMG </a:t>
                      </a:r>
                      <a:r>
                        <a:rPr sz="700" spc="-10" dirty="0">
                          <a:solidFill>
                            <a:schemeClr val="tx1"/>
                          </a:solidFill>
                        </a:rPr>
                        <a:t>minin</a:t>
                      </a:r>
                      <a:r>
                        <a:rPr lang="en-US" sz="700" spc="-10" dirty="0">
                          <a:solidFill>
                            <a:schemeClr val="tx1"/>
                          </a:solidFill>
                        </a:rPr>
                        <a:t>g </a:t>
                      </a:r>
                      <a:r>
                        <a:rPr sz="700" spc="-10" dirty="0">
                          <a:solidFill>
                            <a:schemeClr val="tx1"/>
                          </a:solidFill>
                        </a:rPr>
                        <a:t>company,</a:t>
                      </a:r>
                      <a:r>
                        <a:rPr sz="700" spc="25" dirty="0">
                          <a:solidFill>
                            <a:schemeClr val="tx1"/>
                          </a:solidFill>
                        </a:rPr>
                        <a:t> </a:t>
                      </a:r>
                      <a:r>
                        <a:rPr sz="700" spc="-10" dirty="0">
                          <a:solidFill>
                            <a:schemeClr val="tx1"/>
                          </a:solidFill>
                        </a:rPr>
                        <a:t>formed</a:t>
                      </a:r>
                      <a:r>
                        <a:rPr lang="en-US" sz="700" spc="-10" dirty="0">
                          <a:solidFill>
                            <a:schemeClr val="tx1"/>
                          </a:solidFill>
                        </a:rPr>
                        <a:t> </a:t>
                      </a:r>
                      <a:r>
                        <a:rPr sz="700" spc="-10" dirty="0">
                          <a:solidFill>
                            <a:schemeClr val="tx1"/>
                          </a:solidFill>
                        </a:rPr>
                        <a:t>through</a:t>
                      </a:r>
                      <a:r>
                        <a:rPr sz="700" spc="20" dirty="0">
                          <a:solidFill>
                            <a:schemeClr val="tx1"/>
                          </a:solidFill>
                        </a:rPr>
                        <a:t> </a:t>
                      </a:r>
                      <a:r>
                        <a:rPr sz="700" spc="-10" dirty="0">
                          <a:solidFill>
                            <a:schemeClr val="tx1"/>
                          </a:solidFill>
                        </a:rPr>
                        <a:t>consolidating</a:t>
                      </a:r>
                      <a:r>
                        <a:rPr lang="en-US" sz="700" spc="-10" dirty="0">
                          <a:solidFill>
                            <a:schemeClr val="tx1"/>
                          </a:solidFill>
                        </a:rPr>
                        <a:t> </a:t>
                      </a:r>
                      <a:r>
                        <a:rPr sz="700" dirty="0">
                          <a:solidFill>
                            <a:schemeClr val="tx1"/>
                          </a:solidFill>
                        </a:rPr>
                        <a:t>Zijin</a:t>
                      </a:r>
                      <a:r>
                        <a:rPr sz="700" spc="-45" dirty="0">
                          <a:solidFill>
                            <a:schemeClr val="tx1"/>
                          </a:solidFill>
                        </a:rPr>
                        <a:t> </a:t>
                      </a:r>
                      <a:r>
                        <a:rPr sz="700" dirty="0">
                          <a:solidFill>
                            <a:schemeClr val="tx1"/>
                          </a:solidFill>
                        </a:rPr>
                        <a:t>Mining’s</a:t>
                      </a:r>
                      <a:r>
                        <a:rPr sz="700" spc="-25" dirty="0">
                          <a:solidFill>
                            <a:schemeClr val="tx1"/>
                          </a:solidFill>
                        </a:rPr>
                        <a:t> </a:t>
                      </a:r>
                      <a:r>
                        <a:rPr sz="700" spc="-10" dirty="0">
                          <a:solidFill>
                            <a:schemeClr val="tx1"/>
                          </a:solidFill>
                        </a:rPr>
                        <a:t>over-</a:t>
                      </a:r>
                      <a:r>
                        <a:rPr sz="700" dirty="0">
                          <a:solidFill>
                            <a:schemeClr val="tx1"/>
                          </a:solidFill>
                        </a:rPr>
                        <a:t>seas</a:t>
                      </a:r>
                      <a:r>
                        <a:rPr sz="700" spc="-25" dirty="0">
                          <a:solidFill>
                            <a:schemeClr val="tx1"/>
                          </a:solidFill>
                        </a:rPr>
                        <a:t> </a:t>
                      </a:r>
                      <a:r>
                        <a:rPr lang="en-US" sz="700" dirty="0">
                          <a:solidFill>
                            <a:schemeClr val="tx1"/>
                          </a:solidFill>
                        </a:rPr>
                        <a:t>SMG</a:t>
                      </a:r>
                      <a:r>
                        <a:rPr sz="700" spc="-20" dirty="0">
                          <a:solidFill>
                            <a:schemeClr val="tx1"/>
                          </a:solidFill>
                        </a:rPr>
                        <a:t> </a:t>
                      </a:r>
                      <a:r>
                        <a:rPr sz="700" spc="-10" dirty="0">
                          <a:solidFill>
                            <a:schemeClr val="tx1"/>
                          </a:solidFill>
                        </a:rPr>
                        <a:t>assets</a:t>
                      </a:r>
                      <a:endParaRPr sz="700" dirty="0">
                        <a:solidFill>
                          <a:schemeClr val="tx1"/>
                        </a:solidFill>
                        <a:latin typeface="Arial"/>
                        <a:cs typeface="Arial"/>
                      </a:endParaRPr>
                    </a:p>
                  </a:txBody>
                  <a:tcPr marL="22289" marR="22289" marT="37148" marB="37148" anchor="ctr"/>
                </a:tc>
                <a:tc>
                  <a:txBody>
                    <a:bodyPr/>
                    <a:lstStyle/>
                    <a:p>
                      <a:pPr marL="172720" marR="43180" indent="-171450">
                        <a:lnSpc>
                          <a:spcPct val="100000"/>
                        </a:lnSpc>
                        <a:spcBef>
                          <a:spcPts val="0"/>
                        </a:spcBef>
                        <a:buClr>
                          <a:srgbClr val="C00000"/>
                        </a:buClr>
                        <a:buFont typeface="Wingdings 2" panose="05020102010507070707" pitchFamily="18" charset="2"/>
                        <a:buChar char="¡"/>
                        <a:tabLst>
                          <a:tab pos="62230" algn="l"/>
                        </a:tabLst>
                      </a:pPr>
                      <a:r>
                        <a:rPr sz="700" dirty="0">
                          <a:solidFill>
                            <a:schemeClr val="tx1"/>
                          </a:solidFill>
                        </a:rPr>
                        <a:t>1</a:t>
                      </a:r>
                      <a:r>
                        <a:rPr sz="700" baseline="27777" dirty="0">
                          <a:solidFill>
                            <a:schemeClr val="tx1"/>
                          </a:solidFill>
                        </a:rPr>
                        <a:t>st</a:t>
                      </a:r>
                      <a:r>
                        <a:rPr sz="700" spc="135" baseline="27777" dirty="0">
                          <a:solidFill>
                            <a:schemeClr val="tx1"/>
                          </a:solidFill>
                        </a:rPr>
                        <a:t> </a:t>
                      </a:r>
                      <a:r>
                        <a:rPr sz="700" spc="-10" dirty="0">
                          <a:solidFill>
                            <a:schemeClr val="tx1"/>
                          </a:solidFill>
                        </a:rPr>
                        <a:t>Dubai-</a:t>
                      </a:r>
                      <a:r>
                        <a:rPr sz="700" spc="-25" dirty="0">
                          <a:solidFill>
                            <a:schemeClr val="tx1"/>
                          </a:solidFill>
                        </a:rPr>
                        <a:t>H</a:t>
                      </a:r>
                      <a:r>
                        <a:rPr lang="en-US" sz="700" spc="-25" dirty="0">
                          <a:solidFill>
                            <a:schemeClr val="tx1"/>
                          </a:solidFill>
                        </a:rPr>
                        <a:t>Q </a:t>
                      </a:r>
                      <a:r>
                        <a:rPr sz="700" spc="-10" dirty="0">
                          <a:solidFill>
                            <a:schemeClr val="tx1"/>
                          </a:solidFill>
                        </a:rPr>
                        <a:t>company</a:t>
                      </a:r>
                      <a:r>
                        <a:rPr sz="700" spc="10" dirty="0">
                          <a:solidFill>
                            <a:schemeClr val="tx1"/>
                          </a:solidFill>
                        </a:rPr>
                        <a:t> </a:t>
                      </a:r>
                      <a:r>
                        <a:rPr sz="700" spc="-20" dirty="0">
                          <a:solidFill>
                            <a:schemeClr val="tx1"/>
                          </a:solidFill>
                        </a:rPr>
                        <a:t>with</a:t>
                      </a:r>
                      <a:r>
                        <a:rPr lang="en-US" sz="700" spc="-20" dirty="0">
                          <a:solidFill>
                            <a:schemeClr val="tx1"/>
                          </a:solidFill>
                        </a:rPr>
                        <a:t> </a:t>
                      </a:r>
                      <a:r>
                        <a:rPr sz="700" spc="-10" dirty="0">
                          <a:solidFill>
                            <a:schemeClr val="tx1"/>
                          </a:solidFill>
                        </a:rPr>
                        <a:t>significant</a:t>
                      </a:r>
                      <a:r>
                        <a:rPr sz="700" spc="45" dirty="0">
                          <a:solidFill>
                            <a:schemeClr val="tx1"/>
                          </a:solidFill>
                        </a:rPr>
                        <a:t> </a:t>
                      </a:r>
                      <a:r>
                        <a:rPr sz="700" spc="-20" dirty="0">
                          <a:solidFill>
                            <a:schemeClr val="tx1"/>
                          </a:solidFill>
                        </a:rPr>
                        <a:t>MENA</a:t>
                      </a:r>
                      <a:r>
                        <a:rPr lang="en-US" sz="700" spc="-20" dirty="0">
                          <a:solidFill>
                            <a:schemeClr val="tx1"/>
                          </a:solidFill>
                        </a:rPr>
                        <a:t> </a:t>
                      </a:r>
                      <a:r>
                        <a:rPr sz="700" dirty="0">
                          <a:solidFill>
                            <a:schemeClr val="tx1"/>
                          </a:solidFill>
                        </a:rPr>
                        <a:t>business</a:t>
                      </a:r>
                      <a:r>
                        <a:rPr lang="en-US" sz="700" dirty="0">
                          <a:solidFill>
                            <a:schemeClr val="tx1"/>
                          </a:solidFill>
                        </a:rPr>
                        <a:t> </a:t>
                      </a:r>
                      <a:r>
                        <a:rPr sz="700" spc="-10" dirty="0">
                          <a:solidFill>
                            <a:schemeClr val="tx1"/>
                          </a:solidFill>
                        </a:rPr>
                        <a:t>exposure</a:t>
                      </a:r>
                      <a:r>
                        <a:rPr lang="en-US" sz="700" spc="-10" dirty="0">
                          <a:solidFill>
                            <a:schemeClr val="tx1"/>
                          </a:solidFill>
                        </a:rPr>
                        <a:t> </a:t>
                      </a:r>
                      <a:r>
                        <a:rPr sz="700" spc="-10" dirty="0" err="1">
                          <a:solidFill>
                            <a:schemeClr val="tx1"/>
                          </a:solidFill>
                        </a:rPr>
                        <a:t>specialising</a:t>
                      </a:r>
                      <a:r>
                        <a:rPr sz="700" spc="60" dirty="0">
                          <a:solidFill>
                            <a:schemeClr val="tx1"/>
                          </a:solidFill>
                        </a:rPr>
                        <a:t> </a:t>
                      </a:r>
                      <a:r>
                        <a:rPr sz="700" spc="-25" dirty="0">
                          <a:solidFill>
                            <a:schemeClr val="tx1"/>
                          </a:solidFill>
                        </a:rPr>
                        <a:t>in</a:t>
                      </a:r>
                      <a:r>
                        <a:rPr lang="en-US" sz="700" spc="-25" dirty="0">
                          <a:solidFill>
                            <a:schemeClr val="tx1"/>
                          </a:solidFill>
                        </a:rPr>
                        <a:t> </a:t>
                      </a:r>
                      <a:r>
                        <a:rPr sz="700" spc="-10" dirty="0">
                          <a:solidFill>
                            <a:schemeClr val="tx1"/>
                          </a:solidFill>
                        </a:rPr>
                        <a:t>hygiene</a:t>
                      </a:r>
                      <a:r>
                        <a:rPr sz="700" spc="20" dirty="0">
                          <a:solidFill>
                            <a:schemeClr val="tx1"/>
                          </a:solidFill>
                        </a:rPr>
                        <a:t> </a:t>
                      </a:r>
                      <a:r>
                        <a:rPr sz="700" spc="-10" dirty="0">
                          <a:solidFill>
                            <a:schemeClr val="tx1"/>
                          </a:solidFill>
                        </a:rPr>
                        <a:t>products</a:t>
                      </a:r>
                      <a:endParaRPr sz="700" dirty="0">
                        <a:solidFill>
                          <a:schemeClr val="tx1"/>
                        </a:solidFill>
                        <a:latin typeface="Arial"/>
                        <a:cs typeface="Arial"/>
                      </a:endParaRPr>
                    </a:p>
                  </a:txBody>
                  <a:tcPr marL="22289" marR="22289" marT="37148" marB="37148" anchor="ctr"/>
                </a:tc>
                <a:tc>
                  <a:txBody>
                    <a:bodyPr/>
                    <a:lstStyle/>
                    <a:p>
                      <a:pPr marL="222249" marR="12700" indent="-171450">
                        <a:lnSpc>
                          <a:spcPct val="100000"/>
                        </a:lnSpc>
                        <a:spcBef>
                          <a:spcPts val="0"/>
                        </a:spcBef>
                        <a:buClr>
                          <a:srgbClr val="C00000"/>
                        </a:buClr>
                        <a:buFont typeface="Wingdings 2" panose="05020102010507070707" pitchFamily="18" charset="2"/>
                        <a:buChar char="¡"/>
                        <a:tabLst>
                          <a:tab pos="111760" algn="l"/>
                        </a:tabLst>
                      </a:pPr>
                      <a:r>
                        <a:rPr sz="700" spc="-10" dirty="0">
                          <a:solidFill>
                            <a:schemeClr val="tx1"/>
                          </a:solidFill>
                        </a:rPr>
                        <a:t>AI-powered</a:t>
                      </a:r>
                      <a:r>
                        <a:rPr sz="700" spc="40" dirty="0">
                          <a:solidFill>
                            <a:schemeClr val="tx1"/>
                          </a:solidFill>
                        </a:rPr>
                        <a:t> </a:t>
                      </a:r>
                      <a:r>
                        <a:rPr sz="700" spc="-10" dirty="0">
                          <a:solidFill>
                            <a:schemeClr val="tx1"/>
                          </a:solidFill>
                        </a:rPr>
                        <a:t>biotech</a:t>
                      </a:r>
                      <a:r>
                        <a:rPr lang="en-US" sz="700" spc="500" dirty="0">
                          <a:solidFill>
                            <a:schemeClr val="tx1"/>
                          </a:solidFill>
                        </a:rPr>
                        <a:t> </a:t>
                      </a:r>
                      <a:r>
                        <a:rPr sz="700" spc="-10" dirty="0">
                          <a:solidFill>
                            <a:schemeClr val="tx1"/>
                          </a:solidFill>
                        </a:rPr>
                        <a:t>focused</a:t>
                      </a:r>
                      <a:r>
                        <a:rPr sz="700" dirty="0">
                          <a:solidFill>
                            <a:schemeClr val="tx1"/>
                          </a:solidFill>
                        </a:rPr>
                        <a:t> on</a:t>
                      </a:r>
                      <a:r>
                        <a:rPr sz="700" spc="-5" dirty="0">
                          <a:solidFill>
                            <a:schemeClr val="tx1"/>
                          </a:solidFill>
                        </a:rPr>
                        <a:t> </a:t>
                      </a:r>
                      <a:r>
                        <a:rPr sz="700" spc="-20" dirty="0">
                          <a:solidFill>
                            <a:schemeClr val="tx1"/>
                          </a:solidFill>
                        </a:rPr>
                        <a:t>drug</a:t>
                      </a:r>
                      <a:r>
                        <a:rPr lang="en-US" sz="700" spc="-20" dirty="0">
                          <a:solidFill>
                            <a:schemeClr val="tx1"/>
                          </a:solidFill>
                        </a:rPr>
                        <a:t> </a:t>
                      </a:r>
                      <a:r>
                        <a:rPr sz="700" dirty="0">
                          <a:solidFill>
                            <a:schemeClr val="tx1"/>
                          </a:solidFill>
                        </a:rPr>
                        <a:t>discovery</a:t>
                      </a:r>
                      <a:r>
                        <a:rPr sz="700" spc="-35" dirty="0">
                          <a:solidFill>
                            <a:schemeClr val="tx1"/>
                          </a:solidFill>
                        </a:rPr>
                        <a:t> </a:t>
                      </a:r>
                      <a:r>
                        <a:rPr sz="700" spc="-25" dirty="0">
                          <a:solidFill>
                            <a:schemeClr val="tx1"/>
                          </a:solidFill>
                        </a:rPr>
                        <a:t>and</a:t>
                      </a:r>
                      <a:r>
                        <a:rPr lang="en-US" sz="700" spc="-25" dirty="0">
                          <a:solidFill>
                            <a:schemeClr val="tx1"/>
                          </a:solidFill>
                        </a:rPr>
                        <a:t> </a:t>
                      </a:r>
                      <a:r>
                        <a:rPr sz="700" spc="-10" dirty="0">
                          <a:solidFill>
                            <a:schemeClr val="tx1"/>
                          </a:solidFill>
                        </a:rPr>
                        <a:t>development,</a:t>
                      </a:r>
                      <a:r>
                        <a:rPr sz="700" spc="70" dirty="0">
                          <a:solidFill>
                            <a:schemeClr val="tx1"/>
                          </a:solidFill>
                        </a:rPr>
                        <a:t> </a:t>
                      </a:r>
                      <a:r>
                        <a:rPr sz="700" spc="-20" dirty="0">
                          <a:solidFill>
                            <a:schemeClr val="tx1"/>
                          </a:solidFill>
                        </a:rPr>
                        <a:t>wit</a:t>
                      </a:r>
                      <a:r>
                        <a:rPr lang="en-US" sz="700" spc="-20" dirty="0">
                          <a:solidFill>
                            <a:schemeClr val="tx1"/>
                          </a:solidFill>
                        </a:rPr>
                        <a:t>h </a:t>
                      </a:r>
                      <a:r>
                        <a:rPr sz="700" dirty="0">
                          <a:solidFill>
                            <a:schemeClr val="tx1"/>
                          </a:solidFill>
                        </a:rPr>
                        <a:t>several</a:t>
                      </a:r>
                      <a:r>
                        <a:rPr sz="700" spc="-25" dirty="0">
                          <a:solidFill>
                            <a:schemeClr val="tx1"/>
                          </a:solidFill>
                        </a:rPr>
                        <a:t> </a:t>
                      </a:r>
                      <a:r>
                        <a:rPr sz="700" spc="-10" dirty="0">
                          <a:solidFill>
                            <a:schemeClr val="tx1"/>
                          </a:solidFill>
                        </a:rPr>
                        <a:t>AI-designed</a:t>
                      </a:r>
                      <a:r>
                        <a:rPr lang="en-US" sz="700" spc="-10" dirty="0">
                          <a:solidFill>
                            <a:schemeClr val="tx1"/>
                          </a:solidFill>
                        </a:rPr>
                        <a:t> </a:t>
                      </a:r>
                      <a:r>
                        <a:rPr sz="700" dirty="0">
                          <a:solidFill>
                            <a:schemeClr val="tx1"/>
                          </a:solidFill>
                        </a:rPr>
                        <a:t>drugs</a:t>
                      </a:r>
                      <a:r>
                        <a:rPr sz="700" spc="5" dirty="0">
                          <a:solidFill>
                            <a:schemeClr val="tx1"/>
                          </a:solidFill>
                        </a:rPr>
                        <a:t> </a:t>
                      </a:r>
                      <a:r>
                        <a:rPr sz="700" dirty="0">
                          <a:solidFill>
                            <a:schemeClr val="tx1"/>
                          </a:solidFill>
                        </a:rPr>
                        <a:t>in</a:t>
                      </a:r>
                      <a:r>
                        <a:rPr sz="700" spc="-15" dirty="0">
                          <a:solidFill>
                            <a:schemeClr val="tx1"/>
                          </a:solidFill>
                        </a:rPr>
                        <a:t> </a:t>
                      </a:r>
                      <a:r>
                        <a:rPr sz="700" spc="-10" dirty="0">
                          <a:solidFill>
                            <a:schemeClr val="tx1"/>
                          </a:solidFill>
                        </a:rPr>
                        <a:t>clinical trials</a:t>
                      </a:r>
                      <a:endParaRPr sz="700" dirty="0">
                        <a:solidFill>
                          <a:schemeClr val="tx1"/>
                        </a:solidFill>
                        <a:latin typeface="Arial"/>
                        <a:cs typeface="Arial"/>
                      </a:endParaRPr>
                    </a:p>
                  </a:txBody>
                  <a:tcPr marL="22289" marR="22289" marT="37148" marB="37148" anchor="ctr"/>
                </a:tc>
                <a:extLst>
                  <a:ext uri="{0D108BD9-81ED-4DB2-BD59-A6C34878D82A}">
                    <a16:rowId xmlns:a16="http://schemas.microsoft.com/office/drawing/2014/main" val="10004"/>
                  </a:ext>
                </a:extLst>
              </a:tr>
              <a:tr h="272415">
                <a:tc>
                  <a:txBody>
                    <a:bodyPr/>
                    <a:lstStyle/>
                    <a:p>
                      <a:pPr marL="0" marR="151130" indent="0" algn="ctr" defTabSz="914400" rtl="0" eaLnBrk="1" latinLnBrk="0" hangingPunct="1">
                        <a:lnSpc>
                          <a:spcPct val="100000"/>
                        </a:lnSpc>
                        <a:spcBef>
                          <a:spcPts val="0"/>
                        </a:spcBef>
                      </a:pPr>
                      <a:r>
                        <a:rPr sz="700" b="1" kern="1200" spc="-10" dirty="0">
                          <a:solidFill>
                            <a:schemeClr val="bg1"/>
                          </a:solidFill>
                          <a:latin typeface="+mn-lt"/>
                          <a:ea typeface="+mn-ea"/>
                          <a:cs typeface="+mn-cs"/>
                        </a:rPr>
                        <a:t>Hom</a:t>
                      </a:r>
                      <a:r>
                        <a:rPr lang="en-US" sz="700" b="1" kern="1200" spc="-10" dirty="0">
                          <a:solidFill>
                            <a:schemeClr val="bg1"/>
                          </a:solidFill>
                          <a:latin typeface="+mn-lt"/>
                          <a:ea typeface="+mn-ea"/>
                          <a:cs typeface="+mn-cs"/>
                        </a:rPr>
                        <a:t>e </a:t>
                      </a:r>
                      <a:r>
                        <a:rPr sz="700" b="1" kern="1200" spc="-10" dirty="0">
                          <a:solidFill>
                            <a:schemeClr val="bg1"/>
                          </a:solidFill>
                          <a:latin typeface="+mn-lt"/>
                          <a:ea typeface="+mn-ea"/>
                          <a:cs typeface="+mn-cs"/>
                        </a:rPr>
                        <a:t>Market</a:t>
                      </a:r>
                    </a:p>
                  </a:txBody>
                  <a:tcPr marL="22289" marR="22289" marT="37148" marB="37148" anchor="ctr">
                    <a:solidFill>
                      <a:srgbClr val="FF0000"/>
                    </a:solidFill>
                  </a:tcPr>
                </a:tc>
                <a:tc>
                  <a:txBody>
                    <a:bodyPr/>
                    <a:lstStyle/>
                    <a:p>
                      <a:pPr marL="228600" indent="0" algn="ctr" defTabSz="914400" rtl="0" eaLnBrk="1" latinLnBrk="0" hangingPunct="1">
                        <a:lnSpc>
                          <a:spcPct val="100000"/>
                        </a:lnSpc>
                        <a:spcBef>
                          <a:spcPts val="0"/>
                        </a:spcBef>
                      </a:pPr>
                      <a:r>
                        <a:rPr sz="700" kern="1200" dirty="0">
                          <a:solidFill>
                            <a:schemeClr val="tx1"/>
                          </a:solidFill>
                          <a:latin typeface="+mn-lt"/>
                          <a:ea typeface="+mn-ea"/>
                          <a:cs typeface="+mn-cs"/>
                        </a:rPr>
                        <a:t>Indonesia</a:t>
                      </a:r>
                    </a:p>
                  </a:txBody>
                  <a:tcPr marL="22289" marR="22289" marT="37148" marB="37148" anchor="ctr"/>
                </a:tc>
                <a:tc>
                  <a:txBody>
                    <a:bodyPr/>
                    <a:lstStyle/>
                    <a:p>
                      <a:pPr marL="228600" indent="0" algn="ctr" defTabSz="914400" rtl="0" eaLnBrk="1" latinLnBrk="0" hangingPunct="1">
                        <a:lnSpc>
                          <a:spcPct val="100000"/>
                        </a:lnSpc>
                        <a:spcBef>
                          <a:spcPts val="0"/>
                        </a:spcBef>
                      </a:pPr>
                      <a:r>
                        <a:rPr sz="700" kern="1200" dirty="0">
                          <a:solidFill>
                            <a:schemeClr val="tx1"/>
                          </a:solidFill>
                          <a:latin typeface="+mn-lt"/>
                          <a:ea typeface="+mn-ea"/>
                          <a:cs typeface="+mn-cs"/>
                        </a:rPr>
                        <a:t>Singapore</a:t>
                      </a:r>
                    </a:p>
                  </a:txBody>
                  <a:tcPr marL="22289" marR="22289" marT="37148" marB="37148" anchor="ctr"/>
                </a:tc>
                <a:tc>
                  <a:txBody>
                    <a:bodyPr/>
                    <a:lstStyle/>
                    <a:p>
                      <a:pPr marL="228600" indent="0" algn="ctr" defTabSz="914400" rtl="0" eaLnBrk="1" latinLnBrk="0" hangingPunct="1">
                        <a:lnSpc>
                          <a:spcPct val="100000"/>
                        </a:lnSpc>
                        <a:spcBef>
                          <a:spcPts val="0"/>
                        </a:spcBef>
                      </a:pPr>
                      <a:r>
                        <a:rPr sz="700" kern="1200" dirty="0">
                          <a:solidFill>
                            <a:schemeClr val="tx1"/>
                          </a:solidFill>
                          <a:latin typeface="+mn-lt"/>
                          <a:ea typeface="+mn-ea"/>
                          <a:cs typeface="+mn-cs"/>
                        </a:rPr>
                        <a:t>Thailand</a:t>
                      </a:r>
                      <a:endParaRPr sz="700" kern="1200">
                        <a:solidFill>
                          <a:schemeClr val="tx1"/>
                        </a:solidFill>
                        <a:latin typeface="+mn-lt"/>
                        <a:ea typeface="+mn-ea"/>
                        <a:cs typeface="+mn-cs"/>
                      </a:endParaRPr>
                    </a:p>
                  </a:txBody>
                  <a:tcPr marL="22289" marR="22289" marT="37148" marB="37148" anchor="ctr"/>
                </a:tc>
                <a:tc>
                  <a:txBody>
                    <a:bodyPr/>
                    <a:lstStyle/>
                    <a:p>
                      <a:pPr marL="228600" indent="0" algn="ctr" defTabSz="914400" rtl="0" eaLnBrk="1" latinLnBrk="0" hangingPunct="1">
                        <a:lnSpc>
                          <a:spcPct val="100000"/>
                        </a:lnSpc>
                        <a:spcBef>
                          <a:spcPts val="0"/>
                        </a:spcBef>
                      </a:pPr>
                      <a:r>
                        <a:rPr sz="700" kern="1200" dirty="0">
                          <a:solidFill>
                            <a:schemeClr val="tx1"/>
                          </a:solidFill>
                          <a:latin typeface="+mn-lt"/>
                          <a:ea typeface="+mn-ea"/>
                          <a:cs typeface="+mn-cs"/>
                        </a:rPr>
                        <a:t>Kazakhstan</a:t>
                      </a:r>
                      <a:endParaRPr sz="700" kern="1200">
                        <a:solidFill>
                          <a:schemeClr val="tx1"/>
                        </a:solidFill>
                        <a:latin typeface="+mn-lt"/>
                        <a:ea typeface="+mn-ea"/>
                        <a:cs typeface="+mn-cs"/>
                      </a:endParaRPr>
                    </a:p>
                  </a:txBody>
                  <a:tcPr marL="22289" marR="22289" marT="37148" marB="37148" anchor="ctr"/>
                </a:tc>
                <a:tc>
                  <a:txBody>
                    <a:bodyPr/>
                    <a:lstStyle/>
                    <a:p>
                      <a:pPr marL="228600" indent="0" algn="ctr" defTabSz="914400" rtl="0" eaLnBrk="1" latinLnBrk="0" hangingPunct="1">
                        <a:lnSpc>
                          <a:spcPct val="100000"/>
                        </a:lnSpc>
                        <a:spcBef>
                          <a:spcPts val="0"/>
                        </a:spcBef>
                      </a:pPr>
                      <a:r>
                        <a:rPr sz="700" kern="1200" dirty="0">
                          <a:solidFill>
                            <a:schemeClr val="tx1"/>
                          </a:solidFill>
                          <a:latin typeface="+mn-lt"/>
                          <a:ea typeface="+mn-ea"/>
                          <a:cs typeface="+mn-cs"/>
                        </a:rPr>
                        <a:t>Global</a:t>
                      </a:r>
                      <a:endParaRPr sz="700" kern="1200">
                        <a:solidFill>
                          <a:schemeClr val="tx1"/>
                        </a:solidFill>
                        <a:latin typeface="+mn-lt"/>
                        <a:ea typeface="+mn-ea"/>
                        <a:cs typeface="+mn-cs"/>
                      </a:endParaRPr>
                    </a:p>
                  </a:txBody>
                  <a:tcPr marL="22289" marR="22289" marT="37148" marB="37148" anchor="ctr"/>
                </a:tc>
                <a:tc>
                  <a:txBody>
                    <a:bodyPr/>
                    <a:lstStyle/>
                    <a:p>
                      <a:pPr marL="228600" indent="0" algn="ctr" defTabSz="914400" rtl="0" eaLnBrk="1" latinLnBrk="0" hangingPunct="1">
                        <a:lnSpc>
                          <a:spcPct val="100000"/>
                        </a:lnSpc>
                        <a:spcBef>
                          <a:spcPts val="0"/>
                        </a:spcBef>
                      </a:pPr>
                      <a:r>
                        <a:rPr sz="700" kern="1200" dirty="0">
                          <a:solidFill>
                            <a:schemeClr val="tx1"/>
                          </a:solidFill>
                          <a:latin typeface="+mn-lt"/>
                          <a:ea typeface="+mn-ea"/>
                          <a:cs typeface="+mn-cs"/>
                        </a:rPr>
                        <a:t>UAE / Africa</a:t>
                      </a:r>
                    </a:p>
                  </a:txBody>
                  <a:tcPr marL="22289" marR="22289" marT="37148" marB="37148" anchor="ctr"/>
                </a:tc>
                <a:tc>
                  <a:txBody>
                    <a:bodyPr/>
                    <a:lstStyle/>
                    <a:p>
                      <a:pPr marL="228600" indent="0" algn="ctr" defTabSz="914400" rtl="0" eaLnBrk="1" latinLnBrk="0" hangingPunct="1">
                        <a:lnSpc>
                          <a:spcPct val="100000"/>
                        </a:lnSpc>
                        <a:spcBef>
                          <a:spcPts val="0"/>
                        </a:spcBef>
                      </a:pPr>
                      <a:r>
                        <a:rPr sz="700" kern="1200" dirty="0">
                          <a:solidFill>
                            <a:schemeClr val="tx1"/>
                          </a:solidFill>
                          <a:latin typeface="+mn-lt"/>
                          <a:ea typeface="+mn-ea"/>
                          <a:cs typeface="+mn-cs"/>
                        </a:rPr>
                        <a:t>US / UAE /</a:t>
                      </a:r>
                    </a:p>
                    <a:p>
                      <a:pPr marL="228600" indent="0" algn="ctr" defTabSz="914400" rtl="0" eaLnBrk="1" latinLnBrk="0" hangingPunct="1">
                        <a:lnSpc>
                          <a:spcPct val="100000"/>
                        </a:lnSpc>
                        <a:spcBef>
                          <a:spcPts val="0"/>
                        </a:spcBef>
                      </a:pPr>
                      <a:r>
                        <a:rPr sz="700" kern="1200" dirty="0">
                          <a:solidFill>
                            <a:schemeClr val="tx1"/>
                          </a:solidFill>
                          <a:latin typeface="+mn-lt"/>
                          <a:ea typeface="+mn-ea"/>
                          <a:cs typeface="+mn-cs"/>
                        </a:rPr>
                        <a:t>Greater China</a:t>
                      </a:r>
                    </a:p>
                  </a:txBody>
                  <a:tcPr marL="22289" marR="22289" marT="37148" marB="37148" anchor="ctr"/>
                </a:tc>
                <a:extLst>
                  <a:ext uri="{0D108BD9-81ED-4DB2-BD59-A6C34878D82A}">
                    <a16:rowId xmlns:a16="http://schemas.microsoft.com/office/drawing/2014/main" val="10005"/>
                  </a:ext>
                </a:extLst>
              </a:tr>
              <a:tr h="272415">
                <a:tc>
                  <a:txBody>
                    <a:bodyPr/>
                    <a:lstStyle/>
                    <a:p>
                      <a:pPr marL="0" indent="0" algn="ctr" defTabSz="914400" rtl="0" eaLnBrk="1" latinLnBrk="0" hangingPunct="1">
                        <a:lnSpc>
                          <a:spcPct val="100000"/>
                        </a:lnSpc>
                        <a:spcBef>
                          <a:spcPts val="0"/>
                        </a:spcBef>
                      </a:pPr>
                      <a:r>
                        <a:rPr sz="700" b="1" kern="1200" spc="-10" dirty="0">
                          <a:solidFill>
                            <a:schemeClr val="bg1"/>
                          </a:solidFill>
                          <a:latin typeface="+mn-lt"/>
                          <a:ea typeface="+mn-ea"/>
                          <a:cs typeface="+mn-cs"/>
                        </a:rPr>
                        <a:t>Deal size / Mkt. Cap. at IPO</a:t>
                      </a:r>
                    </a:p>
                  </a:txBody>
                  <a:tcPr marL="22289" marR="22289" marT="37148" marB="37148" anchor="ctr">
                    <a:solidFill>
                      <a:srgbClr val="FF0000"/>
                    </a:solidFill>
                  </a:tcPr>
                </a:tc>
                <a:tc>
                  <a:txBody>
                    <a:bodyPr/>
                    <a:lstStyle/>
                    <a:p>
                      <a:pPr marL="6350" algn="ctr">
                        <a:lnSpc>
                          <a:spcPct val="100000"/>
                        </a:lnSpc>
                        <a:spcBef>
                          <a:spcPts val="0"/>
                        </a:spcBef>
                      </a:pPr>
                      <a:r>
                        <a:rPr sz="700" dirty="0">
                          <a:solidFill>
                            <a:schemeClr val="tx1"/>
                          </a:solidFill>
                        </a:rPr>
                        <a:t>306</a:t>
                      </a:r>
                      <a:r>
                        <a:rPr sz="700" spc="-15" dirty="0">
                          <a:solidFill>
                            <a:schemeClr val="tx1"/>
                          </a:solidFill>
                        </a:rPr>
                        <a:t> </a:t>
                      </a:r>
                      <a:r>
                        <a:rPr sz="700" dirty="0">
                          <a:solidFill>
                            <a:schemeClr val="tx1"/>
                          </a:solidFill>
                        </a:rPr>
                        <a:t>/</a:t>
                      </a:r>
                      <a:r>
                        <a:rPr sz="700" spc="-25" dirty="0">
                          <a:solidFill>
                            <a:schemeClr val="tx1"/>
                          </a:solidFill>
                        </a:rPr>
                        <a:t> </a:t>
                      </a:r>
                      <a:r>
                        <a:rPr sz="700" spc="-10" dirty="0">
                          <a:solidFill>
                            <a:schemeClr val="tx1"/>
                          </a:solidFill>
                        </a:rPr>
                        <a:t>2,010</a:t>
                      </a:r>
                      <a:endParaRPr sz="700" dirty="0">
                        <a:solidFill>
                          <a:schemeClr val="tx1"/>
                        </a:solidFill>
                        <a:latin typeface="Arial"/>
                        <a:cs typeface="Arial"/>
                      </a:endParaRPr>
                    </a:p>
                  </a:txBody>
                  <a:tcPr marL="22289" marR="22289" marT="37148" marB="37148" anchor="ctr"/>
                </a:tc>
                <a:tc>
                  <a:txBody>
                    <a:bodyPr/>
                    <a:lstStyle/>
                    <a:p>
                      <a:pPr marL="23495" algn="ctr">
                        <a:lnSpc>
                          <a:spcPct val="100000"/>
                        </a:lnSpc>
                        <a:spcBef>
                          <a:spcPts val="0"/>
                        </a:spcBef>
                      </a:pPr>
                      <a:r>
                        <a:rPr sz="700" dirty="0">
                          <a:solidFill>
                            <a:schemeClr val="tx1"/>
                          </a:solidFill>
                        </a:rPr>
                        <a:t>139</a:t>
                      </a:r>
                      <a:r>
                        <a:rPr sz="700" spc="-15" dirty="0">
                          <a:solidFill>
                            <a:schemeClr val="tx1"/>
                          </a:solidFill>
                        </a:rPr>
                        <a:t> </a:t>
                      </a:r>
                      <a:r>
                        <a:rPr sz="700" dirty="0">
                          <a:solidFill>
                            <a:schemeClr val="tx1"/>
                          </a:solidFill>
                        </a:rPr>
                        <a:t>/</a:t>
                      </a:r>
                      <a:r>
                        <a:rPr sz="700" spc="-25" dirty="0">
                          <a:solidFill>
                            <a:schemeClr val="tx1"/>
                          </a:solidFill>
                        </a:rPr>
                        <a:t> 825</a:t>
                      </a:r>
                      <a:endParaRPr sz="700" dirty="0">
                        <a:solidFill>
                          <a:schemeClr val="tx1"/>
                        </a:solidFill>
                        <a:latin typeface="Arial"/>
                        <a:cs typeface="Arial"/>
                      </a:endParaRPr>
                    </a:p>
                  </a:txBody>
                  <a:tcPr marL="22289" marR="22289" marT="37148" marB="37148" anchor="ctr"/>
                </a:tc>
                <a:tc>
                  <a:txBody>
                    <a:bodyPr/>
                    <a:lstStyle/>
                    <a:p>
                      <a:pPr marL="20955" algn="ctr">
                        <a:lnSpc>
                          <a:spcPct val="100000"/>
                        </a:lnSpc>
                        <a:spcBef>
                          <a:spcPts val="0"/>
                        </a:spcBef>
                      </a:pPr>
                      <a:r>
                        <a:rPr sz="700" dirty="0">
                          <a:solidFill>
                            <a:schemeClr val="tx1"/>
                          </a:solidFill>
                        </a:rPr>
                        <a:t>170</a:t>
                      </a:r>
                      <a:r>
                        <a:rPr sz="700" spc="-15" dirty="0">
                          <a:solidFill>
                            <a:schemeClr val="tx1"/>
                          </a:solidFill>
                        </a:rPr>
                        <a:t> </a:t>
                      </a:r>
                      <a:r>
                        <a:rPr sz="700" dirty="0">
                          <a:solidFill>
                            <a:schemeClr val="tx1"/>
                          </a:solidFill>
                        </a:rPr>
                        <a:t>/</a:t>
                      </a:r>
                      <a:r>
                        <a:rPr sz="700" spc="-25" dirty="0">
                          <a:solidFill>
                            <a:schemeClr val="tx1"/>
                          </a:solidFill>
                        </a:rPr>
                        <a:t> 944</a:t>
                      </a:r>
                      <a:endParaRPr sz="700">
                        <a:solidFill>
                          <a:schemeClr val="tx1"/>
                        </a:solidFill>
                        <a:latin typeface="Arial"/>
                        <a:cs typeface="Arial"/>
                      </a:endParaRPr>
                    </a:p>
                  </a:txBody>
                  <a:tcPr marL="22289" marR="22289" marT="37148" marB="37148" anchor="ctr"/>
                </a:tc>
                <a:tc>
                  <a:txBody>
                    <a:bodyPr/>
                    <a:lstStyle/>
                    <a:p>
                      <a:pPr marL="15875" algn="ctr">
                        <a:lnSpc>
                          <a:spcPct val="100000"/>
                        </a:lnSpc>
                        <a:spcBef>
                          <a:spcPts val="0"/>
                        </a:spcBef>
                      </a:pPr>
                      <a:r>
                        <a:rPr sz="700" dirty="0">
                          <a:solidFill>
                            <a:schemeClr val="tx1"/>
                          </a:solidFill>
                        </a:rPr>
                        <a:t>177</a:t>
                      </a:r>
                      <a:r>
                        <a:rPr sz="700" spc="-15" dirty="0">
                          <a:solidFill>
                            <a:schemeClr val="tx1"/>
                          </a:solidFill>
                        </a:rPr>
                        <a:t> </a:t>
                      </a:r>
                      <a:r>
                        <a:rPr sz="700" dirty="0">
                          <a:solidFill>
                            <a:schemeClr val="tx1"/>
                          </a:solidFill>
                        </a:rPr>
                        <a:t>/</a:t>
                      </a:r>
                      <a:r>
                        <a:rPr sz="700" spc="-25" dirty="0">
                          <a:solidFill>
                            <a:schemeClr val="tx1"/>
                          </a:solidFill>
                        </a:rPr>
                        <a:t> 615</a:t>
                      </a:r>
                      <a:endParaRPr sz="700">
                        <a:solidFill>
                          <a:schemeClr val="tx1"/>
                        </a:solidFill>
                        <a:latin typeface="Arial"/>
                        <a:cs typeface="Arial"/>
                      </a:endParaRPr>
                    </a:p>
                  </a:txBody>
                  <a:tcPr marL="22289" marR="22289" marT="37148" marB="37148" anchor="ctr"/>
                </a:tc>
                <a:tc>
                  <a:txBody>
                    <a:bodyPr/>
                    <a:lstStyle/>
                    <a:p>
                      <a:pPr marL="12700" algn="ctr">
                        <a:lnSpc>
                          <a:spcPct val="100000"/>
                        </a:lnSpc>
                        <a:spcBef>
                          <a:spcPts val="0"/>
                        </a:spcBef>
                      </a:pPr>
                      <a:r>
                        <a:rPr sz="700" dirty="0">
                          <a:solidFill>
                            <a:schemeClr val="tx1"/>
                          </a:solidFill>
                        </a:rPr>
                        <a:t>3,693</a:t>
                      </a:r>
                      <a:r>
                        <a:rPr sz="700" spc="-25" dirty="0">
                          <a:solidFill>
                            <a:schemeClr val="tx1"/>
                          </a:solidFill>
                        </a:rPr>
                        <a:t> </a:t>
                      </a:r>
                      <a:r>
                        <a:rPr sz="700" dirty="0">
                          <a:solidFill>
                            <a:schemeClr val="tx1"/>
                          </a:solidFill>
                        </a:rPr>
                        <a:t>/</a:t>
                      </a:r>
                      <a:r>
                        <a:rPr sz="700" spc="-30" dirty="0">
                          <a:solidFill>
                            <a:schemeClr val="tx1"/>
                          </a:solidFill>
                        </a:rPr>
                        <a:t> </a:t>
                      </a:r>
                      <a:r>
                        <a:rPr sz="700" spc="-10" dirty="0">
                          <a:solidFill>
                            <a:schemeClr val="tx1"/>
                          </a:solidFill>
                        </a:rPr>
                        <a:t>24,144</a:t>
                      </a:r>
                      <a:endParaRPr sz="700">
                        <a:solidFill>
                          <a:schemeClr val="tx1"/>
                        </a:solidFill>
                        <a:latin typeface="Arial"/>
                        <a:cs typeface="Arial"/>
                      </a:endParaRPr>
                    </a:p>
                  </a:txBody>
                  <a:tcPr marL="22289" marR="22289" marT="37148" marB="37148" anchor="ctr"/>
                </a:tc>
                <a:tc>
                  <a:txBody>
                    <a:bodyPr/>
                    <a:lstStyle/>
                    <a:p>
                      <a:pPr marL="52069" algn="ctr">
                        <a:lnSpc>
                          <a:spcPct val="100000"/>
                        </a:lnSpc>
                        <a:spcBef>
                          <a:spcPts val="0"/>
                        </a:spcBef>
                      </a:pPr>
                      <a:r>
                        <a:rPr sz="700" dirty="0">
                          <a:solidFill>
                            <a:schemeClr val="tx1"/>
                          </a:solidFill>
                        </a:rPr>
                        <a:t>307</a:t>
                      </a:r>
                      <a:r>
                        <a:rPr sz="700" spc="-15" dirty="0">
                          <a:solidFill>
                            <a:schemeClr val="tx1"/>
                          </a:solidFill>
                        </a:rPr>
                        <a:t> </a:t>
                      </a:r>
                      <a:r>
                        <a:rPr sz="700" dirty="0">
                          <a:solidFill>
                            <a:schemeClr val="tx1"/>
                          </a:solidFill>
                        </a:rPr>
                        <a:t>/</a:t>
                      </a:r>
                      <a:r>
                        <a:rPr sz="700" spc="-25" dirty="0">
                          <a:solidFill>
                            <a:schemeClr val="tx1"/>
                          </a:solidFill>
                        </a:rPr>
                        <a:t> </a:t>
                      </a:r>
                      <a:r>
                        <a:rPr sz="700" spc="-10" dirty="0">
                          <a:solidFill>
                            <a:schemeClr val="tx1"/>
                          </a:solidFill>
                        </a:rPr>
                        <a:t>1,930</a:t>
                      </a:r>
                      <a:endParaRPr sz="700">
                        <a:solidFill>
                          <a:schemeClr val="tx1"/>
                        </a:solidFill>
                        <a:latin typeface="Arial"/>
                        <a:cs typeface="Arial"/>
                      </a:endParaRPr>
                    </a:p>
                  </a:txBody>
                  <a:tcPr marL="22289" marR="22289" marT="37148" marB="37148" anchor="ctr"/>
                </a:tc>
                <a:tc>
                  <a:txBody>
                    <a:bodyPr/>
                    <a:lstStyle/>
                    <a:p>
                      <a:pPr marL="51435" algn="ctr">
                        <a:lnSpc>
                          <a:spcPct val="100000"/>
                        </a:lnSpc>
                        <a:spcBef>
                          <a:spcPts val="0"/>
                        </a:spcBef>
                      </a:pPr>
                      <a:r>
                        <a:rPr sz="700" dirty="0">
                          <a:solidFill>
                            <a:schemeClr val="tx1"/>
                          </a:solidFill>
                        </a:rPr>
                        <a:t>293</a:t>
                      </a:r>
                      <a:r>
                        <a:rPr sz="700" baseline="27777" dirty="0">
                          <a:solidFill>
                            <a:schemeClr val="tx1"/>
                          </a:solidFill>
                        </a:rPr>
                        <a:t>1</a:t>
                      </a:r>
                      <a:r>
                        <a:rPr sz="700" spc="89" baseline="27777" dirty="0">
                          <a:solidFill>
                            <a:schemeClr val="tx1"/>
                          </a:solidFill>
                        </a:rPr>
                        <a:t> </a:t>
                      </a:r>
                      <a:r>
                        <a:rPr sz="700" dirty="0">
                          <a:solidFill>
                            <a:schemeClr val="tx1"/>
                          </a:solidFill>
                        </a:rPr>
                        <a:t>/</a:t>
                      </a:r>
                      <a:r>
                        <a:rPr sz="700" spc="-20" dirty="0">
                          <a:solidFill>
                            <a:schemeClr val="tx1"/>
                          </a:solidFill>
                        </a:rPr>
                        <a:t> </a:t>
                      </a:r>
                      <a:r>
                        <a:rPr sz="700" spc="-10" dirty="0">
                          <a:solidFill>
                            <a:schemeClr val="tx1"/>
                          </a:solidFill>
                        </a:rPr>
                        <a:t>1,837</a:t>
                      </a:r>
                      <a:r>
                        <a:rPr sz="700" spc="-15" baseline="27777" dirty="0">
                          <a:solidFill>
                            <a:schemeClr val="tx1"/>
                          </a:solidFill>
                        </a:rPr>
                        <a:t>1</a:t>
                      </a:r>
                      <a:endParaRPr sz="700" baseline="27777">
                        <a:solidFill>
                          <a:schemeClr val="tx1"/>
                        </a:solidFill>
                        <a:latin typeface="Arial"/>
                        <a:cs typeface="Arial"/>
                      </a:endParaRPr>
                    </a:p>
                  </a:txBody>
                  <a:tcPr marL="22289" marR="22289" marT="37148" marB="37148" anchor="ctr"/>
                </a:tc>
                <a:extLst>
                  <a:ext uri="{0D108BD9-81ED-4DB2-BD59-A6C34878D82A}">
                    <a16:rowId xmlns:a16="http://schemas.microsoft.com/office/drawing/2014/main" val="10006"/>
                  </a:ext>
                </a:extLst>
              </a:tr>
              <a:tr h="371475">
                <a:tc>
                  <a:txBody>
                    <a:bodyPr/>
                    <a:lstStyle/>
                    <a:p>
                      <a:pPr marL="0" marR="40005" indent="0" algn="ctr" defTabSz="914400" rtl="0" eaLnBrk="1" latinLnBrk="0" hangingPunct="1">
                        <a:lnSpc>
                          <a:spcPct val="100000"/>
                        </a:lnSpc>
                        <a:spcBef>
                          <a:spcPts val="0"/>
                        </a:spcBef>
                      </a:pPr>
                      <a:r>
                        <a:rPr sz="700" b="1" kern="1200" spc="-10" dirty="0">
                          <a:solidFill>
                            <a:schemeClr val="bg1"/>
                          </a:solidFill>
                          <a:latin typeface="+mn-lt"/>
                          <a:ea typeface="+mn-ea"/>
                          <a:cs typeface="+mn-cs"/>
                        </a:rPr>
                        <a:t>Select Cornerstone Investors</a:t>
                      </a:r>
                    </a:p>
                  </a:txBody>
                  <a:tcPr marL="22289" marR="22289" marT="37148" marB="37148" anchor="ctr">
                    <a:solidFill>
                      <a:srgbClr val="FF0000"/>
                    </a:solidFill>
                  </a:tcPr>
                </a:tc>
                <a:tc gridSpan="7">
                  <a:txBody>
                    <a:bodyPr/>
                    <a:lstStyle/>
                    <a:p>
                      <a:pPr>
                        <a:lnSpc>
                          <a:spcPct val="100000"/>
                        </a:lnSpc>
                        <a:spcBef>
                          <a:spcPts val="0"/>
                        </a:spcBef>
                      </a:pPr>
                      <a:endParaRPr sz="700" dirty="0">
                        <a:solidFill>
                          <a:schemeClr val="tx1"/>
                        </a:solidFill>
                      </a:endParaRPr>
                    </a:p>
                  </a:txBody>
                  <a:tcPr marL="22289" marR="22289" marT="37148" marB="37148" anchor="ct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r h="371475">
                <a:tc>
                  <a:txBody>
                    <a:bodyPr/>
                    <a:lstStyle/>
                    <a:p>
                      <a:pPr marL="0" indent="0" algn="ctr" defTabSz="914400" rtl="0" eaLnBrk="1" latinLnBrk="0" hangingPunct="1">
                        <a:lnSpc>
                          <a:spcPct val="100000"/>
                        </a:lnSpc>
                        <a:spcBef>
                          <a:spcPts val="0"/>
                        </a:spcBef>
                      </a:pPr>
                      <a:r>
                        <a:rPr sz="700" b="1" kern="1200" spc="-10" dirty="0">
                          <a:solidFill>
                            <a:schemeClr val="bg1"/>
                          </a:solidFill>
                          <a:latin typeface="+mn-lt"/>
                          <a:ea typeface="+mn-ea"/>
                          <a:cs typeface="+mn-cs"/>
                        </a:rPr>
                        <a:t>Aftermarket</a:t>
                      </a:r>
                    </a:p>
                    <a:p>
                      <a:pPr marL="0" marR="88900" indent="0" algn="ctr" defTabSz="914400" rtl="0" eaLnBrk="1" latinLnBrk="0" hangingPunct="1">
                        <a:lnSpc>
                          <a:spcPct val="100000"/>
                        </a:lnSpc>
                        <a:spcBef>
                          <a:spcPts val="0"/>
                        </a:spcBef>
                      </a:pPr>
                      <a:r>
                        <a:rPr sz="700" b="1" kern="1200" spc="-10" dirty="0">
                          <a:solidFill>
                            <a:schemeClr val="bg1"/>
                          </a:solidFill>
                          <a:latin typeface="+mn-lt"/>
                          <a:ea typeface="+mn-ea"/>
                          <a:cs typeface="+mn-cs"/>
                        </a:rPr>
                        <a:t>(Day-1 / 3-month)</a:t>
                      </a:r>
                    </a:p>
                  </a:txBody>
                  <a:tcPr marL="22289" marR="22289" marT="37148" marB="37148" anchor="ctr">
                    <a:solidFill>
                      <a:srgbClr val="FF0000"/>
                    </a:solidFill>
                  </a:tcPr>
                </a:tc>
                <a:tc>
                  <a:txBody>
                    <a:bodyPr/>
                    <a:lstStyle/>
                    <a:p>
                      <a:pPr marL="6350" algn="ctr">
                        <a:lnSpc>
                          <a:spcPct val="100000"/>
                        </a:lnSpc>
                        <a:spcBef>
                          <a:spcPts val="0"/>
                        </a:spcBef>
                      </a:pPr>
                      <a:r>
                        <a:rPr sz="700" dirty="0">
                          <a:solidFill>
                            <a:schemeClr val="accent1"/>
                          </a:solidFill>
                        </a:rPr>
                        <a:t>(5.1%)</a:t>
                      </a:r>
                      <a:r>
                        <a:rPr sz="700" spc="35" dirty="0">
                          <a:solidFill>
                            <a:schemeClr val="accent1"/>
                          </a:solidFill>
                        </a:rPr>
                        <a:t> </a:t>
                      </a:r>
                      <a:r>
                        <a:rPr sz="700" spc="-50" dirty="0">
                          <a:solidFill>
                            <a:schemeClr val="tx1"/>
                          </a:solidFill>
                        </a:rPr>
                        <a:t>/</a:t>
                      </a:r>
                      <a:r>
                        <a:rPr sz="700" spc="45" dirty="0">
                          <a:solidFill>
                            <a:srgbClr val="00B050"/>
                          </a:solidFill>
                        </a:rPr>
                        <a:t> </a:t>
                      </a:r>
                      <a:r>
                        <a:rPr sz="700" spc="-10" dirty="0">
                          <a:solidFill>
                            <a:srgbClr val="00B050"/>
                          </a:solidFill>
                        </a:rPr>
                        <a:t>19.9%</a:t>
                      </a:r>
                      <a:endParaRPr sz="700" dirty="0">
                        <a:solidFill>
                          <a:srgbClr val="00B050"/>
                        </a:solidFill>
                        <a:latin typeface="Calibri"/>
                        <a:cs typeface="Calibri"/>
                      </a:endParaRPr>
                    </a:p>
                  </a:txBody>
                  <a:tcPr marL="22289" marR="22289" marT="37148" marB="37148" anchor="ctr"/>
                </a:tc>
                <a:tc>
                  <a:txBody>
                    <a:bodyPr/>
                    <a:lstStyle/>
                    <a:p>
                      <a:pPr marL="24765" algn="ctr">
                        <a:lnSpc>
                          <a:spcPct val="100000"/>
                        </a:lnSpc>
                        <a:spcBef>
                          <a:spcPts val="0"/>
                        </a:spcBef>
                      </a:pPr>
                      <a:r>
                        <a:rPr sz="700" dirty="0">
                          <a:solidFill>
                            <a:srgbClr val="00B050"/>
                          </a:solidFill>
                        </a:rPr>
                        <a:t>28.8%</a:t>
                      </a:r>
                      <a:r>
                        <a:rPr sz="700" spc="65" dirty="0">
                          <a:solidFill>
                            <a:srgbClr val="00B050"/>
                          </a:solidFill>
                        </a:rPr>
                        <a:t> </a:t>
                      </a:r>
                      <a:r>
                        <a:rPr sz="700" spc="-50" dirty="0">
                          <a:solidFill>
                            <a:schemeClr val="tx1"/>
                          </a:solidFill>
                        </a:rPr>
                        <a:t>/</a:t>
                      </a:r>
                      <a:r>
                        <a:rPr sz="700" spc="55" dirty="0">
                          <a:solidFill>
                            <a:srgbClr val="00B050"/>
                          </a:solidFill>
                        </a:rPr>
                        <a:t> </a:t>
                      </a:r>
                      <a:r>
                        <a:rPr sz="700" spc="-20" dirty="0">
                          <a:solidFill>
                            <a:srgbClr val="00B050"/>
                          </a:solidFill>
                        </a:rPr>
                        <a:t>87.6%</a:t>
                      </a:r>
                      <a:endParaRPr sz="700" dirty="0">
                        <a:solidFill>
                          <a:srgbClr val="00B050"/>
                        </a:solidFill>
                        <a:latin typeface="Calibri"/>
                        <a:cs typeface="Calibri"/>
                      </a:endParaRPr>
                    </a:p>
                  </a:txBody>
                  <a:tcPr marL="22289" marR="22289" marT="37148" marB="37148" anchor="ctr"/>
                </a:tc>
                <a:tc>
                  <a:txBody>
                    <a:bodyPr/>
                    <a:lstStyle/>
                    <a:p>
                      <a:pPr marL="20955" algn="ctr">
                        <a:lnSpc>
                          <a:spcPct val="100000"/>
                        </a:lnSpc>
                        <a:spcBef>
                          <a:spcPts val="0"/>
                        </a:spcBef>
                      </a:pPr>
                      <a:r>
                        <a:rPr sz="700" dirty="0">
                          <a:solidFill>
                            <a:srgbClr val="00B050"/>
                          </a:solidFill>
                        </a:rPr>
                        <a:t>42.1%</a:t>
                      </a:r>
                      <a:r>
                        <a:rPr sz="700" spc="65" dirty="0">
                          <a:solidFill>
                            <a:srgbClr val="00B050"/>
                          </a:solidFill>
                        </a:rPr>
                        <a:t> </a:t>
                      </a:r>
                      <a:r>
                        <a:rPr sz="700" spc="-50" dirty="0">
                          <a:solidFill>
                            <a:schemeClr val="tx1"/>
                          </a:solidFill>
                        </a:rPr>
                        <a:t>/</a:t>
                      </a:r>
                      <a:r>
                        <a:rPr sz="700" spc="55" dirty="0">
                          <a:solidFill>
                            <a:srgbClr val="00B050"/>
                          </a:solidFill>
                        </a:rPr>
                        <a:t> </a:t>
                      </a:r>
                      <a:r>
                        <a:rPr sz="700" spc="-20" dirty="0">
                          <a:solidFill>
                            <a:srgbClr val="00B050"/>
                          </a:solidFill>
                        </a:rPr>
                        <a:t>9.5%</a:t>
                      </a:r>
                      <a:endParaRPr sz="700" dirty="0">
                        <a:solidFill>
                          <a:srgbClr val="00B050"/>
                        </a:solidFill>
                        <a:latin typeface="Calibri"/>
                        <a:cs typeface="Calibri"/>
                      </a:endParaRPr>
                    </a:p>
                  </a:txBody>
                  <a:tcPr marL="22289" marR="22289" marT="37148" marB="37148" anchor="ctr"/>
                </a:tc>
                <a:tc>
                  <a:txBody>
                    <a:bodyPr/>
                    <a:lstStyle/>
                    <a:p>
                      <a:pPr marL="17145" algn="ctr">
                        <a:lnSpc>
                          <a:spcPct val="100000"/>
                        </a:lnSpc>
                        <a:spcBef>
                          <a:spcPts val="0"/>
                        </a:spcBef>
                      </a:pPr>
                      <a:r>
                        <a:rPr sz="700" dirty="0">
                          <a:solidFill>
                            <a:srgbClr val="00B050"/>
                          </a:solidFill>
                        </a:rPr>
                        <a:t>177.8%</a:t>
                      </a:r>
                      <a:r>
                        <a:rPr sz="700" spc="80" dirty="0">
                          <a:solidFill>
                            <a:srgbClr val="00B050"/>
                          </a:solidFill>
                        </a:rPr>
                        <a:t> </a:t>
                      </a:r>
                      <a:r>
                        <a:rPr sz="700" spc="-50" dirty="0">
                          <a:solidFill>
                            <a:schemeClr val="tx1"/>
                          </a:solidFill>
                        </a:rPr>
                        <a:t>/</a:t>
                      </a:r>
                      <a:r>
                        <a:rPr sz="700" spc="65" dirty="0">
                          <a:solidFill>
                            <a:srgbClr val="00B050"/>
                          </a:solidFill>
                        </a:rPr>
                        <a:t> </a:t>
                      </a:r>
                      <a:r>
                        <a:rPr sz="700" spc="-10" dirty="0">
                          <a:solidFill>
                            <a:srgbClr val="00B050"/>
                          </a:solidFill>
                        </a:rPr>
                        <a:t>206.8%</a:t>
                      </a:r>
                      <a:endParaRPr sz="700" dirty="0">
                        <a:solidFill>
                          <a:srgbClr val="00B050"/>
                        </a:solidFill>
                        <a:latin typeface="Calibri"/>
                        <a:cs typeface="Calibri"/>
                      </a:endParaRPr>
                    </a:p>
                  </a:txBody>
                  <a:tcPr marL="22289" marR="22289" marT="37148" marB="37148" anchor="ctr"/>
                </a:tc>
                <a:tc>
                  <a:txBody>
                    <a:bodyPr/>
                    <a:lstStyle/>
                    <a:p>
                      <a:pPr marL="12700" algn="ctr">
                        <a:lnSpc>
                          <a:spcPct val="100000"/>
                        </a:lnSpc>
                        <a:spcBef>
                          <a:spcPts val="0"/>
                        </a:spcBef>
                      </a:pPr>
                      <a:r>
                        <a:rPr sz="700" dirty="0">
                          <a:solidFill>
                            <a:srgbClr val="00B050"/>
                          </a:solidFill>
                        </a:rPr>
                        <a:t>68.5%</a:t>
                      </a:r>
                      <a:r>
                        <a:rPr sz="700" spc="65" dirty="0">
                          <a:solidFill>
                            <a:srgbClr val="00B050"/>
                          </a:solidFill>
                        </a:rPr>
                        <a:t> </a:t>
                      </a:r>
                      <a:r>
                        <a:rPr sz="700" spc="-50" dirty="0">
                          <a:solidFill>
                            <a:schemeClr val="tx1"/>
                          </a:solidFill>
                        </a:rPr>
                        <a:t>/</a:t>
                      </a:r>
                      <a:r>
                        <a:rPr sz="700" spc="55" dirty="0">
                          <a:solidFill>
                            <a:srgbClr val="00B050"/>
                          </a:solidFill>
                        </a:rPr>
                        <a:t> </a:t>
                      </a:r>
                      <a:r>
                        <a:rPr sz="700" spc="-10" dirty="0">
                          <a:solidFill>
                            <a:srgbClr val="00B050"/>
                          </a:solidFill>
                        </a:rPr>
                        <a:t>101.8%</a:t>
                      </a:r>
                      <a:endParaRPr sz="700" dirty="0">
                        <a:solidFill>
                          <a:srgbClr val="00B050"/>
                        </a:solidFill>
                        <a:latin typeface="Calibri"/>
                        <a:cs typeface="Calibri"/>
                      </a:endParaRPr>
                    </a:p>
                  </a:txBody>
                  <a:tcPr marL="22289" marR="22289" marT="37148" marB="37148" anchor="ctr"/>
                </a:tc>
                <a:tc>
                  <a:txBody>
                    <a:bodyPr/>
                    <a:lstStyle/>
                    <a:p>
                      <a:pPr marL="50165" algn="ctr">
                        <a:lnSpc>
                          <a:spcPct val="100000"/>
                        </a:lnSpc>
                        <a:spcBef>
                          <a:spcPts val="0"/>
                        </a:spcBef>
                      </a:pPr>
                      <a:r>
                        <a:rPr sz="700" dirty="0">
                          <a:solidFill>
                            <a:srgbClr val="00B050"/>
                          </a:solidFill>
                        </a:rPr>
                        <a:t>26.0%</a:t>
                      </a:r>
                      <a:r>
                        <a:rPr sz="700" spc="65" dirty="0">
                          <a:solidFill>
                            <a:srgbClr val="00B050"/>
                          </a:solidFill>
                        </a:rPr>
                        <a:t> </a:t>
                      </a:r>
                      <a:r>
                        <a:rPr sz="700" spc="-50" dirty="0">
                          <a:solidFill>
                            <a:schemeClr val="tx1"/>
                          </a:solidFill>
                        </a:rPr>
                        <a:t>/</a:t>
                      </a:r>
                      <a:r>
                        <a:rPr sz="700" spc="55" dirty="0">
                          <a:solidFill>
                            <a:srgbClr val="00B050"/>
                          </a:solidFill>
                        </a:rPr>
                        <a:t> </a:t>
                      </a:r>
                      <a:r>
                        <a:rPr sz="700" spc="-10" dirty="0">
                          <a:solidFill>
                            <a:srgbClr val="00B050"/>
                          </a:solidFill>
                        </a:rPr>
                        <a:t>23.4%</a:t>
                      </a:r>
                      <a:r>
                        <a:rPr sz="700" spc="-15" baseline="37037" dirty="0">
                          <a:solidFill>
                            <a:srgbClr val="00B050"/>
                          </a:solidFill>
                        </a:rPr>
                        <a:t>2</a:t>
                      </a:r>
                      <a:endParaRPr sz="700" baseline="37037" dirty="0">
                        <a:solidFill>
                          <a:srgbClr val="00B050"/>
                        </a:solidFill>
                        <a:latin typeface="Calibri"/>
                        <a:cs typeface="Calibri"/>
                      </a:endParaRPr>
                    </a:p>
                  </a:txBody>
                  <a:tcPr marL="22289" marR="22289" marT="37148" marB="37148" anchor="ctr"/>
                </a:tc>
                <a:tc>
                  <a:txBody>
                    <a:bodyPr/>
                    <a:lstStyle/>
                    <a:p>
                      <a:pPr marL="50165" algn="ctr">
                        <a:lnSpc>
                          <a:spcPct val="100000"/>
                        </a:lnSpc>
                        <a:spcBef>
                          <a:spcPts val="0"/>
                        </a:spcBef>
                      </a:pPr>
                      <a:r>
                        <a:rPr sz="700" dirty="0">
                          <a:solidFill>
                            <a:srgbClr val="00B050"/>
                          </a:solidFill>
                        </a:rPr>
                        <a:t>24.7%</a:t>
                      </a:r>
                      <a:r>
                        <a:rPr sz="700" spc="65" dirty="0">
                          <a:solidFill>
                            <a:srgbClr val="00B050"/>
                          </a:solidFill>
                        </a:rPr>
                        <a:t> </a:t>
                      </a:r>
                      <a:r>
                        <a:rPr sz="700" spc="-50" dirty="0">
                          <a:solidFill>
                            <a:schemeClr val="tx1"/>
                          </a:solidFill>
                        </a:rPr>
                        <a:t>/</a:t>
                      </a:r>
                      <a:r>
                        <a:rPr sz="700" spc="55" dirty="0">
                          <a:solidFill>
                            <a:srgbClr val="00B050"/>
                          </a:solidFill>
                        </a:rPr>
                        <a:t> </a:t>
                      </a:r>
                      <a:r>
                        <a:rPr sz="700" spc="-10" dirty="0">
                          <a:solidFill>
                            <a:srgbClr val="00B050"/>
                          </a:solidFill>
                        </a:rPr>
                        <a:t>54.4%</a:t>
                      </a:r>
                      <a:r>
                        <a:rPr sz="700" spc="-15" baseline="37037" dirty="0">
                          <a:solidFill>
                            <a:srgbClr val="00B050"/>
                          </a:solidFill>
                        </a:rPr>
                        <a:t>2</a:t>
                      </a:r>
                      <a:endParaRPr sz="700" baseline="37037" dirty="0">
                        <a:solidFill>
                          <a:srgbClr val="00B050"/>
                        </a:solidFill>
                        <a:latin typeface="Calibri"/>
                        <a:cs typeface="Calibri"/>
                      </a:endParaRPr>
                    </a:p>
                  </a:txBody>
                  <a:tcPr marL="22289" marR="22289" marT="37148" marB="37148" anchor="ctr"/>
                </a:tc>
                <a:extLst>
                  <a:ext uri="{0D108BD9-81ED-4DB2-BD59-A6C34878D82A}">
                    <a16:rowId xmlns:a16="http://schemas.microsoft.com/office/drawing/2014/main" val="10008"/>
                  </a:ext>
                </a:extLst>
              </a:tr>
              <a:tr h="272415">
                <a:tc>
                  <a:txBody>
                    <a:bodyPr/>
                    <a:lstStyle/>
                    <a:p>
                      <a:pPr marL="0" marR="9525" indent="0" algn="ctr" defTabSz="914400" rtl="0" eaLnBrk="1" latinLnBrk="0" hangingPunct="1">
                        <a:lnSpc>
                          <a:spcPct val="100000"/>
                        </a:lnSpc>
                        <a:spcBef>
                          <a:spcPts val="0"/>
                        </a:spcBef>
                      </a:pPr>
                      <a:r>
                        <a:rPr sz="700" b="1" kern="1200" spc="-10" dirty="0">
                          <a:solidFill>
                            <a:schemeClr val="bg1"/>
                          </a:solidFill>
                          <a:latin typeface="+mn-lt"/>
                          <a:ea typeface="+mn-ea"/>
                          <a:cs typeface="+mn-cs"/>
                        </a:rPr>
                        <a:t>Liquidity - 3M ADTV</a:t>
                      </a:r>
                    </a:p>
                  </a:txBody>
                  <a:tcPr marL="22289" marR="22289" marT="37148" marB="37148" anchor="ctr">
                    <a:solidFill>
                      <a:srgbClr val="FF0000"/>
                    </a:solidFill>
                  </a:tcPr>
                </a:tc>
                <a:tc>
                  <a:txBody>
                    <a:bodyPr/>
                    <a:lstStyle/>
                    <a:p>
                      <a:pPr marL="6350" algn="ctr">
                        <a:lnSpc>
                          <a:spcPct val="100000"/>
                        </a:lnSpc>
                        <a:spcBef>
                          <a:spcPts val="0"/>
                        </a:spcBef>
                      </a:pPr>
                      <a:r>
                        <a:rPr sz="700" spc="-25" dirty="0">
                          <a:solidFill>
                            <a:schemeClr val="tx1"/>
                          </a:solidFill>
                        </a:rPr>
                        <a:t>7.4</a:t>
                      </a:r>
                      <a:endParaRPr sz="700">
                        <a:solidFill>
                          <a:schemeClr val="tx1"/>
                        </a:solidFill>
                        <a:latin typeface="Calibri"/>
                        <a:cs typeface="Calibri"/>
                      </a:endParaRPr>
                    </a:p>
                  </a:txBody>
                  <a:tcPr marL="22289" marR="22289" marT="37148" marB="37148" anchor="ctr"/>
                </a:tc>
                <a:tc>
                  <a:txBody>
                    <a:bodyPr/>
                    <a:lstStyle/>
                    <a:p>
                      <a:pPr marL="24765" algn="ctr">
                        <a:lnSpc>
                          <a:spcPct val="100000"/>
                        </a:lnSpc>
                        <a:spcBef>
                          <a:spcPts val="0"/>
                        </a:spcBef>
                      </a:pPr>
                      <a:r>
                        <a:rPr sz="700" spc="-25" dirty="0">
                          <a:solidFill>
                            <a:schemeClr val="tx1"/>
                          </a:solidFill>
                        </a:rPr>
                        <a:t>6.4</a:t>
                      </a:r>
                      <a:endParaRPr sz="700">
                        <a:solidFill>
                          <a:schemeClr val="tx1"/>
                        </a:solidFill>
                        <a:latin typeface="Calibri"/>
                        <a:cs typeface="Calibri"/>
                      </a:endParaRPr>
                    </a:p>
                  </a:txBody>
                  <a:tcPr marL="22289" marR="22289" marT="37148" marB="37148" anchor="ctr"/>
                </a:tc>
                <a:tc>
                  <a:txBody>
                    <a:bodyPr/>
                    <a:lstStyle/>
                    <a:p>
                      <a:pPr marL="22225" algn="ctr">
                        <a:lnSpc>
                          <a:spcPct val="100000"/>
                        </a:lnSpc>
                        <a:spcBef>
                          <a:spcPts val="0"/>
                        </a:spcBef>
                      </a:pPr>
                      <a:r>
                        <a:rPr sz="700" spc="-25" dirty="0">
                          <a:solidFill>
                            <a:schemeClr val="tx1"/>
                          </a:solidFill>
                        </a:rPr>
                        <a:t>3.3</a:t>
                      </a:r>
                      <a:endParaRPr sz="700">
                        <a:solidFill>
                          <a:schemeClr val="tx1"/>
                        </a:solidFill>
                        <a:latin typeface="Calibri"/>
                        <a:cs typeface="Calibri"/>
                      </a:endParaRPr>
                    </a:p>
                  </a:txBody>
                  <a:tcPr marL="22289" marR="22289" marT="37148" marB="37148" anchor="ctr"/>
                </a:tc>
                <a:tc>
                  <a:txBody>
                    <a:bodyPr/>
                    <a:lstStyle/>
                    <a:p>
                      <a:pPr marL="17780" algn="ctr">
                        <a:lnSpc>
                          <a:spcPct val="100000"/>
                        </a:lnSpc>
                        <a:spcBef>
                          <a:spcPts val="0"/>
                        </a:spcBef>
                      </a:pPr>
                      <a:r>
                        <a:rPr sz="700" spc="-25" dirty="0">
                          <a:solidFill>
                            <a:schemeClr val="tx1"/>
                          </a:solidFill>
                        </a:rPr>
                        <a:t>7.4</a:t>
                      </a:r>
                      <a:endParaRPr sz="700" dirty="0">
                        <a:solidFill>
                          <a:schemeClr val="tx1"/>
                        </a:solidFill>
                        <a:latin typeface="Calibri"/>
                        <a:cs typeface="Calibri"/>
                      </a:endParaRPr>
                    </a:p>
                  </a:txBody>
                  <a:tcPr marL="22289" marR="22289" marT="37148" marB="37148" anchor="ctr"/>
                </a:tc>
                <a:tc>
                  <a:txBody>
                    <a:bodyPr/>
                    <a:lstStyle/>
                    <a:p>
                      <a:pPr marL="14604" algn="ctr">
                        <a:lnSpc>
                          <a:spcPct val="100000"/>
                        </a:lnSpc>
                        <a:spcBef>
                          <a:spcPts val="0"/>
                        </a:spcBef>
                      </a:pPr>
                      <a:r>
                        <a:rPr sz="700" spc="-10" dirty="0">
                          <a:solidFill>
                            <a:schemeClr val="tx1"/>
                          </a:solidFill>
                        </a:rPr>
                        <a:t>145.7</a:t>
                      </a:r>
                      <a:endParaRPr sz="700" dirty="0">
                        <a:solidFill>
                          <a:schemeClr val="tx1"/>
                        </a:solidFill>
                        <a:latin typeface="Calibri"/>
                        <a:cs typeface="Calibri"/>
                      </a:endParaRPr>
                    </a:p>
                  </a:txBody>
                  <a:tcPr marL="22289" marR="22289" marT="37148" marB="37148" anchor="ctr"/>
                </a:tc>
                <a:tc>
                  <a:txBody>
                    <a:bodyPr/>
                    <a:lstStyle/>
                    <a:p>
                      <a:pPr marL="50165" algn="ctr">
                        <a:lnSpc>
                          <a:spcPct val="100000"/>
                        </a:lnSpc>
                        <a:spcBef>
                          <a:spcPts val="0"/>
                        </a:spcBef>
                      </a:pPr>
                      <a:r>
                        <a:rPr sz="700" spc="-20" dirty="0">
                          <a:solidFill>
                            <a:schemeClr val="tx1"/>
                          </a:solidFill>
                        </a:rPr>
                        <a:t>9.4</a:t>
                      </a:r>
                      <a:r>
                        <a:rPr sz="700" spc="-30" baseline="37037" dirty="0">
                          <a:solidFill>
                            <a:schemeClr val="tx1"/>
                          </a:solidFill>
                        </a:rPr>
                        <a:t>2</a:t>
                      </a:r>
                      <a:endParaRPr sz="700" baseline="37037">
                        <a:solidFill>
                          <a:schemeClr val="tx1"/>
                        </a:solidFill>
                        <a:latin typeface="Calibri"/>
                        <a:cs typeface="Calibri"/>
                      </a:endParaRPr>
                    </a:p>
                  </a:txBody>
                  <a:tcPr marL="22289" marR="22289" marT="37148" marB="37148" anchor="ctr"/>
                </a:tc>
                <a:tc>
                  <a:txBody>
                    <a:bodyPr/>
                    <a:lstStyle/>
                    <a:p>
                      <a:pPr marL="50165" algn="ctr">
                        <a:lnSpc>
                          <a:spcPct val="100000"/>
                        </a:lnSpc>
                        <a:spcBef>
                          <a:spcPts val="0"/>
                        </a:spcBef>
                      </a:pPr>
                      <a:r>
                        <a:rPr sz="700" spc="-10" dirty="0">
                          <a:solidFill>
                            <a:schemeClr val="tx1"/>
                          </a:solidFill>
                        </a:rPr>
                        <a:t>103.5</a:t>
                      </a:r>
                      <a:r>
                        <a:rPr sz="700" spc="-15" baseline="37037" dirty="0">
                          <a:solidFill>
                            <a:schemeClr val="tx1"/>
                          </a:solidFill>
                        </a:rPr>
                        <a:t>2</a:t>
                      </a:r>
                      <a:endParaRPr sz="700" baseline="37037" dirty="0">
                        <a:solidFill>
                          <a:schemeClr val="tx1"/>
                        </a:solidFill>
                        <a:latin typeface="Calibri"/>
                        <a:cs typeface="Calibri"/>
                      </a:endParaRPr>
                    </a:p>
                  </a:txBody>
                  <a:tcPr marL="22289" marR="22289" marT="37148" marB="37148" anchor="ctr"/>
                </a:tc>
                <a:extLst>
                  <a:ext uri="{0D108BD9-81ED-4DB2-BD59-A6C34878D82A}">
                    <a16:rowId xmlns:a16="http://schemas.microsoft.com/office/drawing/2014/main" val="10009"/>
                  </a:ext>
                </a:extLst>
              </a:tr>
              <a:tr h="272415">
                <a:tc>
                  <a:txBody>
                    <a:bodyPr/>
                    <a:lstStyle/>
                    <a:p>
                      <a:pPr marL="0" indent="0" algn="ctr" defTabSz="914400" rtl="0" eaLnBrk="1" latinLnBrk="0" hangingPunct="1">
                        <a:lnSpc>
                          <a:spcPct val="100000"/>
                        </a:lnSpc>
                        <a:spcBef>
                          <a:spcPts val="0"/>
                        </a:spcBef>
                      </a:pPr>
                      <a:r>
                        <a:rPr sz="700" b="1" kern="1200" spc="-10" dirty="0">
                          <a:solidFill>
                            <a:schemeClr val="bg1"/>
                          </a:solidFill>
                          <a:latin typeface="+mn-lt"/>
                          <a:ea typeface="+mn-ea"/>
                          <a:cs typeface="+mn-cs"/>
                        </a:rPr>
                        <a:t>Southbound</a:t>
                      </a:r>
                    </a:p>
                    <a:p>
                      <a:pPr marL="0" indent="0" algn="ctr" defTabSz="914400" rtl="0" eaLnBrk="1" latinLnBrk="0" hangingPunct="1">
                        <a:lnSpc>
                          <a:spcPct val="100000"/>
                        </a:lnSpc>
                        <a:spcBef>
                          <a:spcPts val="0"/>
                        </a:spcBef>
                      </a:pPr>
                      <a:r>
                        <a:rPr sz="700" b="1" kern="1200" spc="-10" dirty="0">
                          <a:solidFill>
                            <a:schemeClr val="bg1"/>
                          </a:solidFill>
                          <a:latin typeface="+mn-lt"/>
                          <a:ea typeface="+mn-ea"/>
                          <a:cs typeface="+mn-cs"/>
                        </a:rPr>
                        <a:t>Inclusion</a:t>
                      </a:r>
                    </a:p>
                  </a:txBody>
                  <a:tcPr marL="22289" marR="22289" marT="37148" marB="37148" anchor="ctr">
                    <a:solidFill>
                      <a:srgbClr val="FF0000"/>
                    </a:solidFill>
                  </a:tcPr>
                </a:tc>
                <a:tc>
                  <a:txBody>
                    <a:bodyPr/>
                    <a:lstStyle/>
                    <a:p>
                      <a:pPr>
                        <a:lnSpc>
                          <a:spcPct val="100000"/>
                        </a:lnSpc>
                        <a:spcBef>
                          <a:spcPts val="0"/>
                        </a:spcBef>
                      </a:pPr>
                      <a:endParaRPr sz="700" dirty="0">
                        <a:solidFill>
                          <a:schemeClr val="tx1"/>
                        </a:solidFill>
                        <a:latin typeface="Times New Roman"/>
                        <a:cs typeface="Times New Roman"/>
                      </a:endParaRPr>
                    </a:p>
                  </a:txBody>
                  <a:tcPr marL="22289" marR="22289" marT="37148" marB="37148" anchor="ctr"/>
                </a:tc>
                <a:tc>
                  <a:txBody>
                    <a:bodyPr/>
                    <a:lstStyle/>
                    <a:p>
                      <a:pPr>
                        <a:lnSpc>
                          <a:spcPct val="100000"/>
                        </a:lnSpc>
                        <a:spcBef>
                          <a:spcPts val="0"/>
                        </a:spcBef>
                      </a:pPr>
                      <a:endParaRPr sz="700">
                        <a:solidFill>
                          <a:schemeClr val="tx1"/>
                        </a:solidFill>
                        <a:latin typeface="Times New Roman"/>
                        <a:cs typeface="Times New Roman"/>
                      </a:endParaRPr>
                    </a:p>
                  </a:txBody>
                  <a:tcPr marL="22289" marR="22289" marT="37148" marB="37148" anchor="ctr"/>
                </a:tc>
                <a:tc>
                  <a:txBody>
                    <a:bodyPr/>
                    <a:lstStyle/>
                    <a:p>
                      <a:pPr>
                        <a:lnSpc>
                          <a:spcPct val="100000"/>
                        </a:lnSpc>
                        <a:spcBef>
                          <a:spcPts val="0"/>
                        </a:spcBef>
                      </a:pPr>
                      <a:endParaRPr sz="700">
                        <a:solidFill>
                          <a:schemeClr val="tx1"/>
                        </a:solidFill>
                        <a:latin typeface="Times New Roman"/>
                        <a:cs typeface="Times New Roman"/>
                      </a:endParaRPr>
                    </a:p>
                  </a:txBody>
                  <a:tcPr marL="22289" marR="22289" marT="37148" marB="37148" anchor="ctr"/>
                </a:tc>
                <a:tc>
                  <a:txBody>
                    <a:bodyPr/>
                    <a:lstStyle/>
                    <a:p>
                      <a:pPr marL="17780" algn="ctr">
                        <a:lnSpc>
                          <a:spcPct val="100000"/>
                        </a:lnSpc>
                        <a:spcBef>
                          <a:spcPts val="0"/>
                        </a:spcBef>
                      </a:pPr>
                      <a:r>
                        <a:rPr sz="700" spc="-50" dirty="0">
                          <a:solidFill>
                            <a:schemeClr val="tx1"/>
                          </a:solidFill>
                        </a:rPr>
                        <a:t>/</a:t>
                      </a:r>
                      <a:endParaRPr sz="700" dirty="0">
                        <a:solidFill>
                          <a:schemeClr val="tx1"/>
                        </a:solidFill>
                        <a:latin typeface="Arial"/>
                        <a:cs typeface="Arial"/>
                      </a:endParaRPr>
                    </a:p>
                  </a:txBody>
                  <a:tcPr marL="22289" marR="22289" marT="37148" marB="37148" anchor="ctr"/>
                </a:tc>
                <a:tc>
                  <a:txBody>
                    <a:bodyPr/>
                    <a:lstStyle/>
                    <a:p>
                      <a:pPr>
                        <a:lnSpc>
                          <a:spcPct val="100000"/>
                        </a:lnSpc>
                        <a:spcBef>
                          <a:spcPts val="0"/>
                        </a:spcBef>
                      </a:pPr>
                      <a:endParaRPr sz="700">
                        <a:solidFill>
                          <a:schemeClr val="tx1"/>
                        </a:solidFill>
                        <a:latin typeface="Times New Roman"/>
                        <a:cs typeface="Times New Roman"/>
                      </a:endParaRPr>
                    </a:p>
                  </a:txBody>
                  <a:tcPr marL="22289" marR="22289" marT="37148" marB="37148" anchor="ctr"/>
                </a:tc>
                <a:tc>
                  <a:txBody>
                    <a:bodyPr/>
                    <a:lstStyle/>
                    <a:p>
                      <a:pPr marL="52069" algn="ctr">
                        <a:lnSpc>
                          <a:spcPct val="100000"/>
                        </a:lnSpc>
                        <a:spcBef>
                          <a:spcPts val="0"/>
                        </a:spcBef>
                      </a:pPr>
                      <a:r>
                        <a:rPr sz="700" spc="-50" dirty="0">
                          <a:solidFill>
                            <a:schemeClr val="tx1"/>
                          </a:solidFill>
                        </a:rPr>
                        <a:t>/</a:t>
                      </a:r>
                      <a:endParaRPr sz="700" dirty="0">
                        <a:solidFill>
                          <a:schemeClr val="tx1"/>
                        </a:solidFill>
                        <a:latin typeface="Arial"/>
                        <a:cs typeface="Arial"/>
                      </a:endParaRPr>
                    </a:p>
                  </a:txBody>
                  <a:tcPr marL="22289" marR="22289" marT="37148" marB="37148" anchor="ctr"/>
                </a:tc>
                <a:tc>
                  <a:txBody>
                    <a:bodyPr/>
                    <a:lstStyle/>
                    <a:p>
                      <a:pPr marL="51435" algn="ctr">
                        <a:lnSpc>
                          <a:spcPct val="100000"/>
                        </a:lnSpc>
                        <a:spcBef>
                          <a:spcPts val="0"/>
                        </a:spcBef>
                      </a:pPr>
                      <a:r>
                        <a:rPr sz="700" spc="-50" dirty="0">
                          <a:solidFill>
                            <a:schemeClr val="tx1"/>
                          </a:solidFill>
                        </a:rPr>
                        <a:t>/</a:t>
                      </a:r>
                      <a:endParaRPr sz="700" dirty="0">
                        <a:solidFill>
                          <a:schemeClr val="tx1"/>
                        </a:solidFill>
                        <a:latin typeface="Arial"/>
                        <a:cs typeface="Arial"/>
                      </a:endParaRPr>
                    </a:p>
                  </a:txBody>
                  <a:tcPr marL="22289" marR="22289" marT="37148" marB="37148" anchor="ctr"/>
                </a:tc>
                <a:extLst>
                  <a:ext uri="{0D108BD9-81ED-4DB2-BD59-A6C34878D82A}">
                    <a16:rowId xmlns:a16="http://schemas.microsoft.com/office/drawing/2014/main" val="10010"/>
                  </a:ext>
                </a:extLst>
              </a:tr>
            </a:tbl>
          </a:graphicData>
        </a:graphic>
      </p:graphicFrame>
      <p:sp>
        <p:nvSpPr>
          <p:cNvPr id="11" name="object 11">
            <a:extLst>
              <a:ext uri="{FF2B5EF4-FFF2-40B4-BE49-F238E27FC236}">
                <a16:creationId xmlns:a16="http://schemas.microsoft.com/office/drawing/2014/main" id="{5D1C8BDC-29B9-BFA0-E477-4ADCC2F9CDE4}"/>
              </a:ext>
            </a:extLst>
          </p:cNvPr>
          <p:cNvSpPr/>
          <p:nvPr/>
        </p:nvSpPr>
        <p:spPr>
          <a:xfrm>
            <a:off x="8327335" y="2494610"/>
            <a:ext cx="889703" cy="45719"/>
          </a:xfrm>
          <a:custGeom>
            <a:avLst/>
            <a:gdLst/>
            <a:ahLst/>
            <a:cxnLst/>
            <a:rect l="l" t="t" r="r" b="b"/>
            <a:pathLst>
              <a:path w="1260475">
                <a:moveTo>
                  <a:pt x="0" y="0"/>
                </a:moveTo>
                <a:lnTo>
                  <a:pt x="1260094" y="0"/>
                </a:lnTo>
              </a:path>
            </a:pathLst>
          </a:custGeom>
          <a:ln w="6350">
            <a:solidFill>
              <a:srgbClr val="BEBEBE"/>
            </a:solidFill>
            <a:prstDash val="sysDash"/>
          </a:ln>
        </p:spPr>
        <p:txBody>
          <a:bodyPr wrap="square" lIns="0" tIns="0" rIns="0" bIns="0" rtlCol="0"/>
          <a:lstStyle/>
          <a:p>
            <a:endParaRPr sz="1950"/>
          </a:p>
        </p:txBody>
      </p:sp>
      <p:sp>
        <p:nvSpPr>
          <p:cNvPr id="13" name="object 13">
            <a:extLst>
              <a:ext uri="{FF2B5EF4-FFF2-40B4-BE49-F238E27FC236}">
                <a16:creationId xmlns:a16="http://schemas.microsoft.com/office/drawing/2014/main" id="{80799638-BD31-7BA4-3ECB-045D6CB521BE}"/>
              </a:ext>
            </a:extLst>
          </p:cNvPr>
          <p:cNvSpPr/>
          <p:nvPr/>
        </p:nvSpPr>
        <p:spPr>
          <a:xfrm>
            <a:off x="8267900" y="1368261"/>
            <a:ext cx="939600" cy="4177199"/>
          </a:xfrm>
          <a:custGeom>
            <a:avLst/>
            <a:gdLst/>
            <a:ahLst/>
            <a:cxnLst/>
            <a:rect l="l" t="t" r="r" b="b"/>
            <a:pathLst>
              <a:path w="1406525" h="3401695">
                <a:moveTo>
                  <a:pt x="0" y="3401314"/>
                </a:moveTo>
                <a:lnTo>
                  <a:pt x="1406271" y="3401314"/>
                </a:lnTo>
                <a:lnTo>
                  <a:pt x="1406271" y="0"/>
                </a:lnTo>
                <a:lnTo>
                  <a:pt x="0" y="0"/>
                </a:lnTo>
                <a:lnTo>
                  <a:pt x="0" y="3401314"/>
                </a:lnTo>
                <a:close/>
              </a:path>
            </a:pathLst>
          </a:custGeom>
          <a:ln w="25399">
            <a:solidFill>
              <a:srgbClr val="044B83"/>
            </a:solidFill>
            <a:prstDash val="sysDot"/>
          </a:ln>
        </p:spPr>
        <p:txBody>
          <a:bodyPr wrap="square" lIns="0" tIns="0" rIns="0" bIns="0" rtlCol="0"/>
          <a:lstStyle/>
          <a:p>
            <a:endParaRPr sz="1950"/>
          </a:p>
        </p:txBody>
      </p:sp>
      <p:sp>
        <p:nvSpPr>
          <p:cNvPr id="22" name="object 70">
            <a:extLst>
              <a:ext uri="{FF2B5EF4-FFF2-40B4-BE49-F238E27FC236}">
                <a16:creationId xmlns:a16="http://schemas.microsoft.com/office/drawing/2014/main" id="{B67FB7A0-07CD-321F-D143-3ED9B1429BB3}"/>
              </a:ext>
            </a:extLst>
          </p:cNvPr>
          <p:cNvSpPr txBox="1"/>
          <p:nvPr/>
        </p:nvSpPr>
        <p:spPr>
          <a:xfrm>
            <a:off x="8140900" y="1543199"/>
            <a:ext cx="1142802" cy="374846"/>
          </a:xfrm>
          <a:prstGeom prst="rect">
            <a:avLst/>
          </a:prstGeom>
        </p:spPr>
        <p:txBody>
          <a:bodyPr vert="horz" wrap="square" lIns="0" tIns="0" rIns="0" bIns="0" rtlCol="0">
            <a:spAutoFit/>
          </a:bodyPr>
          <a:lstStyle/>
          <a:p>
            <a:pPr marL="256937" marR="229076" algn="ctr">
              <a:lnSpc>
                <a:spcPct val="115399"/>
              </a:lnSpc>
              <a:spcBef>
                <a:spcPts val="500"/>
              </a:spcBef>
            </a:pPr>
            <a:r>
              <a:rPr sz="1300" dirty="0">
                <a:solidFill>
                  <a:srgbClr val="24C9D2"/>
                </a:solidFill>
                <a:latin typeface="Arial"/>
                <a:cs typeface="Arial"/>
              </a:rPr>
              <a:t>4</a:t>
            </a:r>
            <a:r>
              <a:rPr sz="1300" spc="-28" dirty="0">
                <a:solidFill>
                  <a:srgbClr val="24C9D2"/>
                </a:solidFill>
                <a:latin typeface="Arial"/>
                <a:cs typeface="Arial"/>
              </a:rPr>
              <a:t> </a:t>
            </a:r>
            <a:r>
              <a:rPr sz="894" dirty="0">
                <a:solidFill>
                  <a:srgbClr val="12426B"/>
                </a:solidFill>
                <a:latin typeface="Arial"/>
                <a:cs typeface="Arial"/>
              </a:rPr>
              <a:t>Active </a:t>
            </a:r>
            <a:r>
              <a:rPr sz="894" spc="-28" dirty="0">
                <a:solidFill>
                  <a:srgbClr val="12426B"/>
                </a:solidFill>
                <a:latin typeface="Arial"/>
                <a:cs typeface="Arial"/>
              </a:rPr>
              <a:t>A1 </a:t>
            </a:r>
            <a:r>
              <a:rPr sz="894" spc="-8" dirty="0">
                <a:solidFill>
                  <a:srgbClr val="12426B"/>
                </a:solidFill>
                <a:latin typeface="Arial"/>
                <a:cs typeface="Arial"/>
              </a:rPr>
              <a:t>Filings</a:t>
            </a:r>
            <a:endParaRPr sz="488" dirty="0">
              <a:latin typeface="Arial"/>
              <a:cs typeface="Arial"/>
            </a:endParaRPr>
          </a:p>
        </p:txBody>
      </p:sp>
      <p:pic>
        <p:nvPicPr>
          <p:cNvPr id="16" name="object 51" descr="South Korea - Free flags icons">
            <a:extLst>
              <a:ext uri="{FF2B5EF4-FFF2-40B4-BE49-F238E27FC236}">
                <a16:creationId xmlns:a16="http://schemas.microsoft.com/office/drawing/2014/main" id="{01EBCA9A-38C4-2E97-3F5C-643000B53C97}"/>
              </a:ext>
            </a:extLst>
          </p:cNvPr>
          <p:cNvPicPr/>
          <p:nvPr/>
        </p:nvPicPr>
        <p:blipFill>
          <a:blip r:embed="rId2" cstate="print"/>
          <a:stretch>
            <a:fillRect/>
          </a:stretch>
        </p:blipFill>
        <p:spPr>
          <a:xfrm>
            <a:off x="8734347" y="3931237"/>
            <a:ext cx="147032" cy="147032"/>
          </a:xfrm>
          <a:prstGeom prst="rect">
            <a:avLst/>
          </a:prstGeom>
        </p:spPr>
      </p:pic>
      <p:pic>
        <p:nvPicPr>
          <p:cNvPr id="20" name="object 68">
            <a:extLst>
              <a:ext uri="{FF2B5EF4-FFF2-40B4-BE49-F238E27FC236}">
                <a16:creationId xmlns:a16="http://schemas.microsoft.com/office/drawing/2014/main" id="{EAB24A2A-E3E0-0D88-BBF9-ACBD7C908C1B}"/>
              </a:ext>
            </a:extLst>
          </p:cNvPr>
          <p:cNvPicPr/>
          <p:nvPr/>
        </p:nvPicPr>
        <p:blipFill>
          <a:blip r:embed="rId3" cstate="print"/>
          <a:stretch>
            <a:fillRect/>
          </a:stretch>
        </p:blipFill>
        <p:spPr>
          <a:xfrm>
            <a:off x="8312565" y="2129850"/>
            <a:ext cx="424073" cy="136012"/>
          </a:xfrm>
          <a:prstGeom prst="rect">
            <a:avLst/>
          </a:prstGeom>
        </p:spPr>
      </p:pic>
      <p:sp>
        <p:nvSpPr>
          <p:cNvPr id="23" name="object 71">
            <a:extLst>
              <a:ext uri="{FF2B5EF4-FFF2-40B4-BE49-F238E27FC236}">
                <a16:creationId xmlns:a16="http://schemas.microsoft.com/office/drawing/2014/main" id="{50CE7AB9-FC6B-C48A-4299-F95D2FC66339}"/>
              </a:ext>
            </a:extLst>
          </p:cNvPr>
          <p:cNvSpPr txBox="1"/>
          <p:nvPr/>
        </p:nvSpPr>
        <p:spPr>
          <a:xfrm>
            <a:off x="8692924" y="2700981"/>
            <a:ext cx="591830" cy="292388"/>
          </a:xfrm>
          <a:prstGeom prst="rect">
            <a:avLst/>
          </a:prstGeom>
          <a:noFill/>
        </p:spPr>
        <p:txBody>
          <a:bodyPr wrap="none" rtlCol="0">
            <a:spAutoFit/>
          </a:bodyPr>
          <a:lstStyle>
            <a:defPPr>
              <a:defRPr lang="en-US"/>
            </a:defPPr>
            <a:lvl1pPr algn="r">
              <a:defRPr sz="800"/>
            </a:lvl1pPr>
          </a:lstStyle>
          <a:p>
            <a:r>
              <a:rPr sz="650" dirty="0"/>
              <a:t>UK</a:t>
            </a:r>
          </a:p>
          <a:p>
            <a:r>
              <a:rPr sz="650" dirty="0"/>
              <a:t>Financials</a:t>
            </a:r>
          </a:p>
        </p:txBody>
      </p:sp>
      <p:pic>
        <p:nvPicPr>
          <p:cNvPr id="25" name="object 73">
            <a:extLst>
              <a:ext uri="{FF2B5EF4-FFF2-40B4-BE49-F238E27FC236}">
                <a16:creationId xmlns:a16="http://schemas.microsoft.com/office/drawing/2014/main" id="{90A4FBE9-CC7C-A166-A46D-BBA38242117F}"/>
              </a:ext>
            </a:extLst>
          </p:cNvPr>
          <p:cNvPicPr/>
          <p:nvPr/>
        </p:nvPicPr>
        <p:blipFill>
          <a:blip r:embed="rId4" cstate="print"/>
          <a:stretch>
            <a:fillRect/>
          </a:stretch>
        </p:blipFill>
        <p:spPr>
          <a:xfrm>
            <a:off x="8294522" y="2694810"/>
            <a:ext cx="524914" cy="146328"/>
          </a:xfrm>
          <a:prstGeom prst="rect">
            <a:avLst/>
          </a:prstGeom>
        </p:spPr>
      </p:pic>
      <p:pic>
        <p:nvPicPr>
          <p:cNvPr id="27" name="object 74">
            <a:extLst>
              <a:ext uri="{FF2B5EF4-FFF2-40B4-BE49-F238E27FC236}">
                <a16:creationId xmlns:a16="http://schemas.microsoft.com/office/drawing/2014/main" id="{C8043050-2F9D-62D8-0C48-BBFF62B2A7CB}"/>
              </a:ext>
            </a:extLst>
          </p:cNvPr>
          <p:cNvPicPr/>
          <p:nvPr/>
        </p:nvPicPr>
        <p:blipFill>
          <a:blip r:embed="rId5" cstate="print"/>
          <a:stretch>
            <a:fillRect/>
          </a:stretch>
        </p:blipFill>
        <p:spPr>
          <a:xfrm>
            <a:off x="8890995" y="2691028"/>
            <a:ext cx="137135" cy="137135"/>
          </a:xfrm>
          <a:prstGeom prst="rect">
            <a:avLst/>
          </a:prstGeom>
        </p:spPr>
      </p:pic>
      <p:pic>
        <p:nvPicPr>
          <p:cNvPr id="28" name="object 75" descr="单位]芯迈半导体技术（杭州）股份有限公司- 杭州电子科技大学24365就业数智平台">
            <a:extLst>
              <a:ext uri="{FF2B5EF4-FFF2-40B4-BE49-F238E27FC236}">
                <a16:creationId xmlns:a16="http://schemas.microsoft.com/office/drawing/2014/main" id="{95DDE150-110E-A77D-737F-AF6EA240DD76}"/>
              </a:ext>
            </a:extLst>
          </p:cNvPr>
          <p:cNvPicPr/>
          <p:nvPr/>
        </p:nvPicPr>
        <p:blipFill>
          <a:blip r:embed="rId6" cstate="print"/>
          <a:stretch>
            <a:fillRect/>
          </a:stretch>
        </p:blipFill>
        <p:spPr>
          <a:xfrm>
            <a:off x="8363127" y="3135522"/>
            <a:ext cx="303895" cy="303895"/>
          </a:xfrm>
          <a:prstGeom prst="rect">
            <a:avLst/>
          </a:prstGeom>
        </p:spPr>
      </p:pic>
      <p:pic>
        <p:nvPicPr>
          <p:cNvPr id="29" name="object 76" descr="South Korea - Free flags icons">
            <a:extLst>
              <a:ext uri="{FF2B5EF4-FFF2-40B4-BE49-F238E27FC236}">
                <a16:creationId xmlns:a16="http://schemas.microsoft.com/office/drawing/2014/main" id="{8F390E35-8BC8-391E-A323-E18A451AAD0B}"/>
              </a:ext>
            </a:extLst>
          </p:cNvPr>
          <p:cNvPicPr/>
          <p:nvPr/>
        </p:nvPicPr>
        <p:blipFill>
          <a:blip r:embed="rId2" cstate="print"/>
          <a:stretch>
            <a:fillRect/>
          </a:stretch>
        </p:blipFill>
        <p:spPr>
          <a:xfrm>
            <a:off x="8736620" y="3237171"/>
            <a:ext cx="147032" cy="147032"/>
          </a:xfrm>
          <a:prstGeom prst="rect">
            <a:avLst/>
          </a:prstGeom>
        </p:spPr>
      </p:pic>
      <p:sp>
        <p:nvSpPr>
          <p:cNvPr id="30" name="object 77">
            <a:extLst>
              <a:ext uri="{FF2B5EF4-FFF2-40B4-BE49-F238E27FC236}">
                <a16:creationId xmlns:a16="http://schemas.microsoft.com/office/drawing/2014/main" id="{266A8A50-FB7E-8352-233D-FDB84AF7B33B}"/>
              </a:ext>
            </a:extLst>
          </p:cNvPr>
          <p:cNvSpPr txBox="1"/>
          <p:nvPr/>
        </p:nvSpPr>
        <p:spPr>
          <a:xfrm>
            <a:off x="8776915" y="3225711"/>
            <a:ext cx="500458" cy="192360"/>
          </a:xfrm>
          <a:prstGeom prst="rect">
            <a:avLst/>
          </a:prstGeom>
          <a:noFill/>
        </p:spPr>
        <p:txBody>
          <a:bodyPr wrap="none" rtlCol="0">
            <a:spAutoFit/>
          </a:bodyPr>
          <a:lstStyle>
            <a:defPPr>
              <a:defRPr lang="en-US"/>
            </a:defPPr>
            <a:lvl1pPr algn="r">
              <a:defRPr sz="800"/>
            </a:lvl1pPr>
          </a:lstStyle>
          <a:p>
            <a:r>
              <a:rPr sz="650" dirty="0" err="1"/>
              <a:t>S.Korea</a:t>
            </a:r>
            <a:endParaRPr sz="650" dirty="0"/>
          </a:p>
        </p:txBody>
      </p:sp>
      <p:sp>
        <p:nvSpPr>
          <p:cNvPr id="4" name="object 3">
            <a:extLst>
              <a:ext uri="{FF2B5EF4-FFF2-40B4-BE49-F238E27FC236}">
                <a16:creationId xmlns:a16="http://schemas.microsoft.com/office/drawing/2014/main" id="{146F3B58-6E50-440A-58C5-67D2CCA9AB82}"/>
              </a:ext>
            </a:extLst>
          </p:cNvPr>
          <p:cNvSpPr txBox="1"/>
          <p:nvPr/>
        </p:nvSpPr>
        <p:spPr>
          <a:xfrm>
            <a:off x="8769185" y="4125095"/>
            <a:ext cx="226836" cy="350096"/>
          </a:xfrm>
          <a:prstGeom prst="rect">
            <a:avLst/>
          </a:prstGeom>
        </p:spPr>
        <p:txBody>
          <a:bodyPr vert="horz" wrap="square" lIns="0" tIns="0" rIns="0" bIns="0" rtlCol="0" anchor="ctr" anchorCtr="0">
            <a:spAutoFit/>
          </a:bodyPr>
          <a:lstStyle/>
          <a:p>
            <a:pPr>
              <a:lnSpc>
                <a:spcPct val="100000"/>
              </a:lnSpc>
            </a:pPr>
            <a:r>
              <a:rPr sz="2275" spc="-41" dirty="0">
                <a:solidFill>
                  <a:srgbClr val="585858"/>
                </a:solidFill>
                <a:latin typeface="Arial"/>
                <a:cs typeface="Arial"/>
              </a:rPr>
              <a:t>+</a:t>
            </a:r>
            <a:endParaRPr sz="2275" dirty="0">
              <a:latin typeface="Arial"/>
              <a:cs typeface="Arial"/>
            </a:endParaRPr>
          </a:p>
        </p:txBody>
      </p:sp>
      <p:pic>
        <p:nvPicPr>
          <p:cNvPr id="8" name="object 8" descr="Capital A | Our Brands">
            <a:extLst>
              <a:ext uri="{FF2B5EF4-FFF2-40B4-BE49-F238E27FC236}">
                <a16:creationId xmlns:a16="http://schemas.microsoft.com/office/drawing/2014/main" id="{BB45D50B-3E27-98A2-F921-D779FE1EF98B}"/>
              </a:ext>
            </a:extLst>
          </p:cNvPr>
          <p:cNvPicPr/>
          <p:nvPr/>
        </p:nvPicPr>
        <p:blipFill>
          <a:blip r:embed="rId7" cstate="print"/>
          <a:stretch>
            <a:fillRect/>
          </a:stretch>
        </p:blipFill>
        <p:spPr>
          <a:xfrm>
            <a:off x="8324332" y="4766719"/>
            <a:ext cx="557047" cy="147325"/>
          </a:xfrm>
          <a:prstGeom prst="rect">
            <a:avLst/>
          </a:prstGeom>
        </p:spPr>
      </p:pic>
      <p:sp>
        <p:nvSpPr>
          <p:cNvPr id="9" name="object 9">
            <a:extLst>
              <a:ext uri="{FF2B5EF4-FFF2-40B4-BE49-F238E27FC236}">
                <a16:creationId xmlns:a16="http://schemas.microsoft.com/office/drawing/2014/main" id="{79AF8196-36E6-4B39-B37D-158C4AA1C7F6}"/>
              </a:ext>
            </a:extLst>
          </p:cNvPr>
          <p:cNvSpPr txBox="1"/>
          <p:nvPr/>
        </p:nvSpPr>
        <p:spPr>
          <a:xfrm>
            <a:off x="8180082" y="4396712"/>
            <a:ext cx="1124375" cy="209953"/>
          </a:xfrm>
          <a:prstGeom prst="rect">
            <a:avLst/>
          </a:prstGeom>
        </p:spPr>
        <p:txBody>
          <a:bodyPr vert="horz" wrap="square" lIns="0" tIns="9803" rIns="0" bIns="0" rtlCol="0">
            <a:spAutoFit/>
          </a:bodyPr>
          <a:lstStyle/>
          <a:p>
            <a:pPr algn="ctr">
              <a:spcBef>
                <a:spcPts val="77"/>
              </a:spcBef>
            </a:pPr>
            <a:r>
              <a:rPr sz="1300" dirty="0">
                <a:solidFill>
                  <a:srgbClr val="24C9D2"/>
                </a:solidFill>
                <a:latin typeface="Arial"/>
                <a:cs typeface="Arial"/>
              </a:rPr>
              <a:t>1</a:t>
            </a:r>
            <a:r>
              <a:rPr sz="1300" spc="-4" dirty="0">
                <a:solidFill>
                  <a:srgbClr val="24C9D2"/>
                </a:solidFill>
                <a:latin typeface="Arial"/>
                <a:cs typeface="Arial"/>
              </a:rPr>
              <a:t> </a:t>
            </a:r>
            <a:r>
              <a:rPr sz="894" spc="-8" dirty="0">
                <a:solidFill>
                  <a:srgbClr val="12426B"/>
                </a:solidFill>
                <a:latin typeface="Arial"/>
                <a:cs typeface="Arial"/>
              </a:rPr>
              <a:t>Announced</a:t>
            </a:r>
            <a:endParaRPr sz="894" dirty="0">
              <a:latin typeface="Arial"/>
              <a:cs typeface="Arial"/>
            </a:endParaRPr>
          </a:p>
        </p:txBody>
      </p:sp>
      <p:sp>
        <p:nvSpPr>
          <p:cNvPr id="17" name="object 59">
            <a:extLst>
              <a:ext uri="{FF2B5EF4-FFF2-40B4-BE49-F238E27FC236}">
                <a16:creationId xmlns:a16="http://schemas.microsoft.com/office/drawing/2014/main" id="{68CA8899-6564-9549-88B9-B1130D1B94E0}"/>
              </a:ext>
            </a:extLst>
          </p:cNvPr>
          <p:cNvSpPr txBox="1"/>
          <p:nvPr/>
        </p:nvSpPr>
        <p:spPr>
          <a:xfrm>
            <a:off x="8776915" y="3927865"/>
            <a:ext cx="500458" cy="192360"/>
          </a:xfrm>
          <a:prstGeom prst="rect">
            <a:avLst/>
          </a:prstGeom>
          <a:noFill/>
        </p:spPr>
        <p:txBody>
          <a:bodyPr wrap="none" rtlCol="0">
            <a:spAutoFit/>
          </a:bodyPr>
          <a:lstStyle>
            <a:defPPr>
              <a:defRPr lang="en-US"/>
            </a:defPPr>
            <a:lvl1pPr algn="r">
              <a:defRPr sz="800"/>
            </a:lvl1pPr>
          </a:lstStyle>
          <a:p>
            <a:r>
              <a:rPr sz="650" dirty="0"/>
              <a:t>S.Korea</a:t>
            </a:r>
          </a:p>
        </p:txBody>
      </p:sp>
      <p:sp>
        <p:nvSpPr>
          <p:cNvPr id="18" name="object 60">
            <a:extLst>
              <a:ext uri="{FF2B5EF4-FFF2-40B4-BE49-F238E27FC236}">
                <a16:creationId xmlns:a16="http://schemas.microsoft.com/office/drawing/2014/main" id="{E195B27D-C1D7-0BBC-CB4F-B4EA8A9EE893}"/>
              </a:ext>
            </a:extLst>
          </p:cNvPr>
          <p:cNvSpPr txBox="1"/>
          <p:nvPr/>
        </p:nvSpPr>
        <p:spPr>
          <a:xfrm>
            <a:off x="8768153" y="4015584"/>
            <a:ext cx="356188" cy="192360"/>
          </a:xfrm>
          <a:prstGeom prst="rect">
            <a:avLst/>
          </a:prstGeom>
          <a:noFill/>
        </p:spPr>
        <p:txBody>
          <a:bodyPr wrap="none" rtlCol="0">
            <a:spAutoFit/>
          </a:bodyPr>
          <a:lstStyle>
            <a:defPPr>
              <a:defRPr lang="en-US"/>
            </a:defPPr>
            <a:lvl1pPr algn="r">
              <a:defRPr sz="800"/>
            </a:lvl1pPr>
          </a:lstStyle>
          <a:p>
            <a:r>
              <a:rPr sz="650" dirty="0"/>
              <a:t>TMT</a:t>
            </a:r>
          </a:p>
        </p:txBody>
      </p:sp>
      <p:pic>
        <p:nvPicPr>
          <p:cNvPr id="31" name="object 78" descr="Ofmom - For the health of a mother and a child">
            <a:extLst>
              <a:ext uri="{FF2B5EF4-FFF2-40B4-BE49-F238E27FC236}">
                <a16:creationId xmlns:a16="http://schemas.microsoft.com/office/drawing/2014/main" id="{E7A1614A-3E6C-05DF-F5FF-3E7AD92068EE}"/>
              </a:ext>
            </a:extLst>
          </p:cNvPr>
          <p:cNvPicPr/>
          <p:nvPr/>
        </p:nvPicPr>
        <p:blipFill>
          <a:blip r:embed="rId8" cstate="print"/>
          <a:stretch>
            <a:fillRect/>
          </a:stretch>
        </p:blipFill>
        <p:spPr>
          <a:xfrm>
            <a:off x="8306027" y="3644685"/>
            <a:ext cx="564802" cy="229855"/>
          </a:xfrm>
          <a:prstGeom prst="rect">
            <a:avLst/>
          </a:prstGeom>
        </p:spPr>
      </p:pic>
      <p:sp>
        <p:nvSpPr>
          <p:cNvPr id="32" name="object 80">
            <a:extLst>
              <a:ext uri="{FF2B5EF4-FFF2-40B4-BE49-F238E27FC236}">
                <a16:creationId xmlns:a16="http://schemas.microsoft.com/office/drawing/2014/main" id="{0487072E-8102-55A8-2038-27CE2B2C8E9D}"/>
              </a:ext>
            </a:extLst>
          </p:cNvPr>
          <p:cNvSpPr txBox="1"/>
          <p:nvPr/>
        </p:nvSpPr>
        <p:spPr>
          <a:xfrm>
            <a:off x="8483051" y="3829042"/>
            <a:ext cx="366076" cy="110447"/>
          </a:xfrm>
          <a:prstGeom prst="rect">
            <a:avLst/>
          </a:prstGeom>
        </p:spPr>
        <p:txBody>
          <a:bodyPr vert="horz" wrap="square" lIns="0" tIns="10319" rIns="0" bIns="0" rtlCol="0">
            <a:spAutoFit/>
          </a:bodyPr>
          <a:lstStyle/>
          <a:p>
            <a:pPr>
              <a:spcBef>
                <a:spcPts val="81"/>
              </a:spcBef>
            </a:pPr>
            <a:r>
              <a:rPr sz="650" i="1" spc="-8" dirty="0">
                <a:latin typeface="Arial"/>
                <a:cs typeface="Arial"/>
              </a:rPr>
              <a:t>(Coree)</a:t>
            </a:r>
            <a:endParaRPr sz="650" dirty="0">
              <a:latin typeface="Arial"/>
              <a:cs typeface="Arial"/>
            </a:endParaRPr>
          </a:p>
        </p:txBody>
      </p:sp>
      <p:sp>
        <p:nvSpPr>
          <p:cNvPr id="33" name="TextBox 32">
            <a:extLst>
              <a:ext uri="{FF2B5EF4-FFF2-40B4-BE49-F238E27FC236}">
                <a16:creationId xmlns:a16="http://schemas.microsoft.com/office/drawing/2014/main" id="{A78BE75D-12A3-6518-D7D4-AB3343868A97}"/>
              </a:ext>
            </a:extLst>
          </p:cNvPr>
          <p:cNvSpPr txBox="1"/>
          <p:nvPr/>
        </p:nvSpPr>
        <p:spPr>
          <a:xfrm>
            <a:off x="2528178" y="4399154"/>
            <a:ext cx="631583" cy="100027"/>
          </a:xfrm>
          <a:prstGeom prst="rect">
            <a:avLst/>
          </a:prstGeom>
          <a:noFill/>
        </p:spPr>
        <p:txBody>
          <a:bodyPr wrap="none" lIns="0" tIns="0" rIns="0" bIns="0" rtlCol="0" anchor="ctr" anchorCtr="0">
            <a:spAutoFit/>
          </a:bodyPr>
          <a:lstStyle/>
          <a:p>
            <a:r>
              <a:rPr lang="en-US" sz="650" dirty="0"/>
              <a:t>Jiujiang SASAC</a:t>
            </a:r>
          </a:p>
        </p:txBody>
      </p:sp>
      <p:sp>
        <p:nvSpPr>
          <p:cNvPr id="34" name="TextBox 33">
            <a:extLst>
              <a:ext uri="{FF2B5EF4-FFF2-40B4-BE49-F238E27FC236}">
                <a16:creationId xmlns:a16="http://schemas.microsoft.com/office/drawing/2014/main" id="{087902D6-669F-7C98-2AAC-27C5126CBE74}"/>
              </a:ext>
            </a:extLst>
          </p:cNvPr>
          <p:cNvSpPr txBox="1"/>
          <p:nvPr/>
        </p:nvSpPr>
        <p:spPr>
          <a:xfrm>
            <a:off x="6433413" y="4013315"/>
            <a:ext cx="386644" cy="192360"/>
          </a:xfrm>
          <a:prstGeom prst="rect">
            <a:avLst/>
          </a:prstGeom>
          <a:noFill/>
        </p:spPr>
        <p:txBody>
          <a:bodyPr wrap="none" rtlCol="0">
            <a:spAutoFit/>
          </a:bodyPr>
          <a:lstStyle/>
          <a:p>
            <a:r>
              <a:rPr lang="en-US" sz="650" i="1" dirty="0"/>
              <a:t>(IDG)</a:t>
            </a:r>
          </a:p>
        </p:txBody>
      </p:sp>
      <p:pic>
        <p:nvPicPr>
          <p:cNvPr id="35" name="object 5" descr="Insilico Medicine - Wikipedia">
            <a:extLst>
              <a:ext uri="{FF2B5EF4-FFF2-40B4-BE49-F238E27FC236}">
                <a16:creationId xmlns:a16="http://schemas.microsoft.com/office/drawing/2014/main" id="{C1B9C995-A049-759E-D969-C96BB038B4C3}"/>
              </a:ext>
            </a:extLst>
          </p:cNvPr>
          <p:cNvPicPr/>
          <p:nvPr/>
        </p:nvPicPr>
        <p:blipFill>
          <a:blip r:embed="rId9" cstate="print"/>
          <a:stretch>
            <a:fillRect/>
          </a:stretch>
        </p:blipFill>
        <p:spPr>
          <a:xfrm>
            <a:off x="7415134" y="1384771"/>
            <a:ext cx="594360" cy="275407"/>
          </a:xfrm>
          <a:prstGeom prst="rect">
            <a:avLst/>
          </a:prstGeom>
        </p:spPr>
      </p:pic>
      <p:pic>
        <p:nvPicPr>
          <p:cNvPr id="36" name="object 61" descr="Mirxes | Genomic Services | Next-Generation Sequencing (NGS)">
            <a:extLst>
              <a:ext uri="{FF2B5EF4-FFF2-40B4-BE49-F238E27FC236}">
                <a16:creationId xmlns:a16="http://schemas.microsoft.com/office/drawing/2014/main" id="{D905749B-F428-32B4-8800-B5B98FF843EE}"/>
              </a:ext>
            </a:extLst>
          </p:cNvPr>
          <p:cNvPicPr/>
          <p:nvPr/>
        </p:nvPicPr>
        <p:blipFill>
          <a:blip r:embed="rId10" cstate="print"/>
          <a:stretch>
            <a:fillRect/>
          </a:stretch>
        </p:blipFill>
        <p:spPr>
          <a:xfrm>
            <a:off x="2494535" y="1456692"/>
            <a:ext cx="594359" cy="155813"/>
          </a:xfrm>
          <a:prstGeom prst="rect">
            <a:avLst/>
          </a:prstGeom>
        </p:spPr>
      </p:pic>
      <p:pic>
        <p:nvPicPr>
          <p:cNvPr id="37" name="object 62" descr="Shandong Nanshan Aluminium Co., Ltd. | Members | About ASI | Aluminium  Stewardship Initiative">
            <a:extLst>
              <a:ext uri="{FF2B5EF4-FFF2-40B4-BE49-F238E27FC236}">
                <a16:creationId xmlns:a16="http://schemas.microsoft.com/office/drawing/2014/main" id="{305F336F-42EF-D937-A1CC-6312ADE517A6}"/>
              </a:ext>
            </a:extLst>
          </p:cNvPr>
          <p:cNvPicPr/>
          <p:nvPr/>
        </p:nvPicPr>
        <p:blipFill>
          <a:blip r:embed="rId11" cstate="print"/>
          <a:stretch>
            <a:fillRect/>
          </a:stretch>
        </p:blipFill>
        <p:spPr>
          <a:xfrm>
            <a:off x="1455818" y="1422012"/>
            <a:ext cx="668655" cy="215775"/>
          </a:xfrm>
          <a:prstGeom prst="rect">
            <a:avLst/>
          </a:prstGeom>
        </p:spPr>
      </p:pic>
      <p:pic>
        <p:nvPicPr>
          <p:cNvPr id="38" name="object 63">
            <a:extLst>
              <a:ext uri="{FF2B5EF4-FFF2-40B4-BE49-F238E27FC236}">
                <a16:creationId xmlns:a16="http://schemas.microsoft.com/office/drawing/2014/main" id="{8BD6A965-21F0-C6F1-DE10-1E99BFE430A2}"/>
              </a:ext>
            </a:extLst>
          </p:cNvPr>
          <p:cNvPicPr/>
          <p:nvPr/>
        </p:nvPicPr>
        <p:blipFill>
          <a:blip r:embed="rId12" cstate="print"/>
          <a:stretch>
            <a:fillRect/>
          </a:stretch>
        </p:blipFill>
        <p:spPr>
          <a:xfrm>
            <a:off x="3673039" y="1399981"/>
            <a:ext cx="203372" cy="252458"/>
          </a:xfrm>
          <a:prstGeom prst="rect">
            <a:avLst/>
          </a:prstGeom>
        </p:spPr>
      </p:pic>
      <p:pic>
        <p:nvPicPr>
          <p:cNvPr id="39" name="object 64" descr="Jiaxin International Resources Investment Limited 佳鑫國際資源投資有限公司">
            <a:extLst>
              <a:ext uri="{FF2B5EF4-FFF2-40B4-BE49-F238E27FC236}">
                <a16:creationId xmlns:a16="http://schemas.microsoft.com/office/drawing/2014/main" id="{EDB54481-D168-923A-30BE-734777D7C221}"/>
              </a:ext>
            </a:extLst>
          </p:cNvPr>
          <p:cNvPicPr/>
          <p:nvPr/>
        </p:nvPicPr>
        <p:blipFill>
          <a:blip r:embed="rId13" cstate="print"/>
          <a:stretch>
            <a:fillRect/>
          </a:stretch>
        </p:blipFill>
        <p:spPr>
          <a:xfrm>
            <a:off x="4622778" y="1359490"/>
            <a:ext cx="275882" cy="318126"/>
          </a:xfrm>
          <a:prstGeom prst="rect">
            <a:avLst/>
          </a:prstGeom>
        </p:spPr>
      </p:pic>
      <p:pic>
        <p:nvPicPr>
          <p:cNvPr id="40" name="object 65" descr="Zijin Mining logo in transparent PNG and vectorized SVG formats">
            <a:extLst>
              <a:ext uri="{FF2B5EF4-FFF2-40B4-BE49-F238E27FC236}">
                <a16:creationId xmlns:a16="http://schemas.microsoft.com/office/drawing/2014/main" id="{F0349889-0CAC-561C-7F62-958B08BCC74E}"/>
              </a:ext>
            </a:extLst>
          </p:cNvPr>
          <p:cNvPicPr/>
          <p:nvPr/>
        </p:nvPicPr>
        <p:blipFill>
          <a:blip r:embed="rId14" cstate="print"/>
          <a:stretch>
            <a:fillRect/>
          </a:stretch>
        </p:blipFill>
        <p:spPr>
          <a:xfrm>
            <a:off x="5448689" y="1449470"/>
            <a:ext cx="594360" cy="157463"/>
          </a:xfrm>
          <a:prstGeom prst="rect">
            <a:avLst/>
          </a:prstGeom>
        </p:spPr>
      </p:pic>
      <p:pic>
        <p:nvPicPr>
          <p:cNvPr id="41" name="object 66" descr="Softcare | InvestHK">
            <a:extLst>
              <a:ext uri="{FF2B5EF4-FFF2-40B4-BE49-F238E27FC236}">
                <a16:creationId xmlns:a16="http://schemas.microsoft.com/office/drawing/2014/main" id="{8E8DB743-7E2D-A9BB-3D48-909AD261DDB6}"/>
              </a:ext>
            </a:extLst>
          </p:cNvPr>
          <p:cNvPicPr/>
          <p:nvPr/>
        </p:nvPicPr>
        <p:blipFill>
          <a:blip r:embed="rId15" cstate="print"/>
          <a:stretch>
            <a:fillRect/>
          </a:stretch>
        </p:blipFill>
        <p:spPr>
          <a:xfrm>
            <a:off x="6391204" y="1398051"/>
            <a:ext cx="668655" cy="257174"/>
          </a:xfrm>
          <a:prstGeom prst="rect">
            <a:avLst/>
          </a:prstGeom>
        </p:spPr>
      </p:pic>
      <p:grpSp>
        <p:nvGrpSpPr>
          <p:cNvPr id="42" name="object 31">
            <a:extLst>
              <a:ext uri="{FF2B5EF4-FFF2-40B4-BE49-F238E27FC236}">
                <a16:creationId xmlns:a16="http://schemas.microsoft.com/office/drawing/2014/main" id="{22805DFC-AFAD-84AC-AF2E-7150BEFBD4DD}"/>
              </a:ext>
            </a:extLst>
          </p:cNvPr>
          <p:cNvGrpSpPr/>
          <p:nvPr/>
        </p:nvGrpSpPr>
        <p:grpSpPr>
          <a:xfrm>
            <a:off x="2388439" y="3655959"/>
            <a:ext cx="175890" cy="175890"/>
            <a:chOff x="2047557" y="2847911"/>
            <a:chExt cx="162560" cy="162560"/>
          </a:xfrm>
        </p:grpSpPr>
        <p:pic>
          <p:nvPicPr>
            <p:cNvPr id="43" name="object 32" descr="Singapore flag icon - Country flags">
              <a:extLst>
                <a:ext uri="{FF2B5EF4-FFF2-40B4-BE49-F238E27FC236}">
                  <a16:creationId xmlns:a16="http://schemas.microsoft.com/office/drawing/2014/main" id="{653D8F76-D91B-573C-2189-F570058B8EA5}"/>
                </a:ext>
              </a:extLst>
            </p:cNvPr>
            <p:cNvPicPr/>
            <p:nvPr/>
          </p:nvPicPr>
          <p:blipFill>
            <a:blip r:embed="rId16" cstate="print"/>
            <a:stretch>
              <a:fillRect/>
            </a:stretch>
          </p:blipFill>
          <p:spPr>
            <a:xfrm>
              <a:off x="2057146" y="2857499"/>
              <a:ext cx="143129" cy="143129"/>
            </a:xfrm>
            <a:prstGeom prst="rect">
              <a:avLst/>
            </a:prstGeom>
          </p:spPr>
        </p:pic>
        <p:pic>
          <p:nvPicPr>
            <p:cNvPr id="44" name="object 33">
              <a:extLst>
                <a:ext uri="{FF2B5EF4-FFF2-40B4-BE49-F238E27FC236}">
                  <a16:creationId xmlns:a16="http://schemas.microsoft.com/office/drawing/2014/main" id="{4D0ACFAE-621A-D1DE-261C-EFFFCB056C27}"/>
                </a:ext>
              </a:extLst>
            </p:cNvPr>
            <p:cNvPicPr/>
            <p:nvPr/>
          </p:nvPicPr>
          <p:blipFill>
            <a:blip r:embed="rId17" cstate="print"/>
            <a:stretch>
              <a:fillRect/>
            </a:stretch>
          </p:blipFill>
          <p:spPr>
            <a:xfrm>
              <a:off x="2047557" y="2847911"/>
              <a:ext cx="162306" cy="162306"/>
            </a:xfrm>
            <a:prstGeom prst="rect">
              <a:avLst/>
            </a:prstGeom>
          </p:spPr>
        </p:pic>
      </p:grpSp>
      <p:sp>
        <p:nvSpPr>
          <p:cNvPr id="45" name="object 34">
            <a:extLst>
              <a:ext uri="{FF2B5EF4-FFF2-40B4-BE49-F238E27FC236}">
                <a16:creationId xmlns:a16="http://schemas.microsoft.com/office/drawing/2014/main" id="{154B46A8-74AE-D831-2C1D-06338561DA11}"/>
              </a:ext>
            </a:extLst>
          </p:cNvPr>
          <p:cNvSpPr/>
          <p:nvPr/>
        </p:nvSpPr>
        <p:spPr>
          <a:xfrm>
            <a:off x="5438280" y="3668671"/>
            <a:ext cx="150468" cy="150468"/>
          </a:xfrm>
          <a:custGeom>
            <a:avLst/>
            <a:gdLst/>
            <a:ahLst/>
            <a:cxnLst/>
            <a:rect l="l" t="t" r="r" b="b"/>
            <a:pathLst>
              <a:path w="139064" h="139064">
                <a:moveTo>
                  <a:pt x="93052" y="62649"/>
                </a:moveTo>
                <a:lnTo>
                  <a:pt x="92494" y="61912"/>
                </a:lnTo>
                <a:lnTo>
                  <a:pt x="91770" y="61734"/>
                </a:lnTo>
                <a:lnTo>
                  <a:pt x="83007" y="58813"/>
                </a:lnTo>
                <a:lnTo>
                  <a:pt x="82270" y="58623"/>
                </a:lnTo>
                <a:lnTo>
                  <a:pt x="81724" y="58623"/>
                </a:lnTo>
                <a:lnTo>
                  <a:pt x="74777" y="60274"/>
                </a:lnTo>
                <a:lnTo>
                  <a:pt x="74231" y="60642"/>
                </a:lnTo>
                <a:lnTo>
                  <a:pt x="74053" y="61366"/>
                </a:lnTo>
                <a:lnTo>
                  <a:pt x="74777" y="62103"/>
                </a:lnTo>
                <a:lnTo>
                  <a:pt x="84099" y="62103"/>
                </a:lnTo>
                <a:lnTo>
                  <a:pt x="84467" y="62280"/>
                </a:lnTo>
                <a:lnTo>
                  <a:pt x="90855" y="64833"/>
                </a:lnTo>
                <a:lnTo>
                  <a:pt x="91948" y="65201"/>
                </a:lnTo>
                <a:lnTo>
                  <a:pt x="93052" y="64477"/>
                </a:lnTo>
                <a:lnTo>
                  <a:pt x="93052" y="62649"/>
                </a:lnTo>
                <a:close/>
              </a:path>
              <a:path w="139064" h="139064">
                <a:moveTo>
                  <a:pt x="138671" y="69227"/>
                </a:moveTo>
                <a:lnTo>
                  <a:pt x="133261" y="42379"/>
                </a:lnTo>
                <a:lnTo>
                  <a:pt x="131318" y="39509"/>
                </a:lnTo>
                <a:lnTo>
                  <a:pt x="131318" y="69951"/>
                </a:lnTo>
                <a:lnTo>
                  <a:pt x="128536" y="88023"/>
                </a:lnTo>
                <a:lnTo>
                  <a:pt x="122275" y="100850"/>
                </a:lnTo>
                <a:lnTo>
                  <a:pt x="122275" y="101003"/>
                </a:lnTo>
                <a:lnTo>
                  <a:pt x="121488" y="102463"/>
                </a:lnTo>
                <a:lnTo>
                  <a:pt x="122199" y="101003"/>
                </a:lnTo>
                <a:lnTo>
                  <a:pt x="122275" y="86753"/>
                </a:lnTo>
                <a:lnTo>
                  <a:pt x="121361" y="86563"/>
                </a:lnTo>
                <a:lnTo>
                  <a:pt x="121361" y="102717"/>
                </a:lnTo>
                <a:lnTo>
                  <a:pt x="120472" y="104470"/>
                </a:lnTo>
                <a:lnTo>
                  <a:pt x="108292" y="117665"/>
                </a:lnTo>
                <a:lnTo>
                  <a:pt x="92684" y="126949"/>
                </a:lnTo>
                <a:lnTo>
                  <a:pt x="103416" y="117665"/>
                </a:lnTo>
                <a:lnTo>
                  <a:pt x="105829" y="115074"/>
                </a:lnTo>
                <a:lnTo>
                  <a:pt x="108940" y="111594"/>
                </a:lnTo>
                <a:lnTo>
                  <a:pt x="109486" y="105943"/>
                </a:lnTo>
                <a:lnTo>
                  <a:pt x="121361" y="102717"/>
                </a:lnTo>
                <a:lnTo>
                  <a:pt x="121361" y="86563"/>
                </a:lnTo>
                <a:lnTo>
                  <a:pt x="109486" y="84023"/>
                </a:lnTo>
                <a:lnTo>
                  <a:pt x="107353" y="77076"/>
                </a:lnTo>
                <a:lnTo>
                  <a:pt x="107289" y="76898"/>
                </a:lnTo>
                <a:lnTo>
                  <a:pt x="106781" y="76708"/>
                </a:lnTo>
                <a:lnTo>
                  <a:pt x="96520" y="73063"/>
                </a:lnTo>
                <a:lnTo>
                  <a:pt x="85928" y="73063"/>
                </a:lnTo>
                <a:lnTo>
                  <a:pt x="85928" y="104470"/>
                </a:lnTo>
                <a:lnTo>
                  <a:pt x="85890" y="115074"/>
                </a:lnTo>
                <a:lnTo>
                  <a:pt x="84823" y="125120"/>
                </a:lnTo>
                <a:lnTo>
                  <a:pt x="84277" y="129133"/>
                </a:lnTo>
                <a:lnTo>
                  <a:pt x="79527" y="130225"/>
                </a:lnTo>
                <a:lnTo>
                  <a:pt x="74599" y="130962"/>
                </a:lnTo>
                <a:lnTo>
                  <a:pt x="69481" y="130962"/>
                </a:lnTo>
                <a:lnTo>
                  <a:pt x="45262" y="126377"/>
                </a:lnTo>
                <a:lnTo>
                  <a:pt x="25463" y="113195"/>
                </a:lnTo>
                <a:lnTo>
                  <a:pt x="12103" y="93510"/>
                </a:lnTo>
                <a:lnTo>
                  <a:pt x="7315" y="69951"/>
                </a:lnTo>
                <a:lnTo>
                  <a:pt x="7378" y="67576"/>
                </a:lnTo>
                <a:lnTo>
                  <a:pt x="7493" y="66294"/>
                </a:lnTo>
                <a:lnTo>
                  <a:pt x="7531" y="65938"/>
                </a:lnTo>
                <a:lnTo>
                  <a:pt x="7632" y="64833"/>
                </a:lnTo>
                <a:lnTo>
                  <a:pt x="7759" y="63563"/>
                </a:lnTo>
                <a:lnTo>
                  <a:pt x="7823" y="62826"/>
                </a:lnTo>
                <a:lnTo>
                  <a:pt x="7950" y="61544"/>
                </a:lnTo>
                <a:lnTo>
                  <a:pt x="8064" y="60274"/>
                </a:lnTo>
                <a:lnTo>
                  <a:pt x="8089" y="60083"/>
                </a:lnTo>
                <a:lnTo>
                  <a:pt x="8204" y="58813"/>
                </a:lnTo>
                <a:lnTo>
                  <a:pt x="8331" y="57543"/>
                </a:lnTo>
                <a:lnTo>
                  <a:pt x="11506" y="46748"/>
                </a:lnTo>
                <a:lnTo>
                  <a:pt x="11582" y="46482"/>
                </a:lnTo>
                <a:lnTo>
                  <a:pt x="16751" y="36372"/>
                </a:lnTo>
                <a:lnTo>
                  <a:pt x="23634" y="27393"/>
                </a:lnTo>
                <a:lnTo>
                  <a:pt x="25285" y="28308"/>
                </a:lnTo>
                <a:lnTo>
                  <a:pt x="26924" y="29768"/>
                </a:lnTo>
                <a:lnTo>
                  <a:pt x="27292" y="31051"/>
                </a:lnTo>
                <a:lnTo>
                  <a:pt x="27292" y="43281"/>
                </a:lnTo>
                <a:lnTo>
                  <a:pt x="27470" y="44196"/>
                </a:lnTo>
                <a:lnTo>
                  <a:pt x="28016" y="44742"/>
                </a:lnTo>
                <a:lnTo>
                  <a:pt x="40081" y="60274"/>
                </a:lnTo>
                <a:lnTo>
                  <a:pt x="41541" y="58813"/>
                </a:lnTo>
                <a:lnTo>
                  <a:pt x="41719" y="57899"/>
                </a:lnTo>
                <a:lnTo>
                  <a:pt x="41351" y="57162"/>
                </a:lnTo>
                <a:lnTo>
                  <a:pt x="39166" y="53517"/>
                </a:lnTo>
                <a:lnTo>
                  <a:pt x="38252" y="52057"/>
                </a:lnTo>
                <a:lnTo>
                  <a:pt x="39712" y="50228"/>
                </a:lnTo>
                <a:lnTo>
                  <a:pt x="41910" y="50952"/>
                </a:lnTo>
                <a:lnTo>
                  <a:pt x="42265" y="51320"/>
                </a:lnTo>
                <a:lnTo>
                  <a:pt x="48475" y="63563"/>
                </a:lnTo>
                <a:lnTo>
                  <a:pt x="49212" y="64833"/>
                </a:lnTo>
                <a:lnTo>
                  <a:pt x="50304" y="65938"/>
                </a:lnTo>
                <a:lnTo>
                  <a:pt x="51587" y="66294"/>
                </a:lnTo>
                <a:lnTo>
                  <a:pt x="60172" y="69227"/>
                </a:lnTo>
                <a:lnTo>
                  <a:pt x="60540" y="69583"/>
                </a:lnTo>
                <a:lnTo>
                  <a:pt x="60718" y="69951"/>
                </a:lnTo>
                <a:lnTo>
                  <a:pt x="61264" y="70866"/>
                </a:lnTo>
                <a:lnTo>
                  <a:pt x="61810" y="72148"/>
                </a:lnTo>
                <a:lnTo>
                  <a:pt x="63093" y="72872"/>
                </a:lnTo>
                <a:lnTo>
                  <a:pt x="67297" y="72872"/>
                </a:lnTo>
                <a:lnTo>
                  <a:pt x="67843" y="73240"/>
                </a:lnTo>
                <a:lnTo>
                  <a:pt x="68211" y="73609"/>
                </a:lnTo>
                <a:lnTo>
                  <a:pt x="70332" y="76708"/>
                </a:lnTo>
                <a:lnTo>
                  <a:pt x="71132" y="77812"/>
                </a:lnTo>
                <a:lnTo>
                  <a:pt x="71856" y="78359"/>
                </a:lnTo>
                <a:lnTo>
                  <a:pt x="72771" y="78536"/>
                </a:lnTo>
                <a:lnTo>
                  <a:pt x="76606" y="79451"/>
                </a:lnTo>
                <a:lnTo>
                  <a:pt x="77711" y="79629"/>
                </a:lnTo>
                <a:lnTo>
                  <a:pt x="78257" y="80911"/>
                </a:lnTo>
                <a:lnTo>
                  <a:pt x="77889" y="81826"/>
                </a:lnTo>
                <a:lnTo>
                  <a:pt x="74968" y="84747"/>
                </a:lnTo>
                <a:lnTo>
                  <a:pt x="74968" y="101003"/>
                </a:lnTo>
                <a:lnTo>
                  <a:pt x="85928" y="104470"/>
                </a:lnTo>
                <a:lnTo>
                  <a:pt x="85928" y="73063"/>
                </a:lnTo>
                <a:lnTo>
                  <a:pt x="85559" y="73063"/>
                </a:lnTo>
                <a:lnTo>
                  <a:pt x="78435" y="76708"/>
                </a:lnTo>
                <a:lnTo>
                  <a:pt x="74777" y="74879"/>
                </a:lnTo>
                <a:lnTo>
                  <a:pt x="74777" y="68313"/>
                </a:lnTo>
                <a:lnTo>
                  <a:pt x="74053" y="67576"/>
                </a:lnTo>
                <a:lnTo>
                  <a:pt x="69303" y="67576"/>
                </a:lnTo>
                <a:lnTo>
                  <a:pt x="69303" y="62826"/>
                </a:lnTo>
                <a:lnTo>
                  <a:pt x="69303" y="60998"/>
                </a:lnTo>
                <a:lnTo>
                  <a:pt x="68567" y="60274"/>
                </a:lnTo>
                <a:lnTo>
                  <a:pt x="65646" y="60274"/>
                </a:lnTo>
                <a:lnTo>
                  <a:pt x="63639" y="61544"/>
                </a:lnTo>
                <a:lnTo>
                  <a:pt x="61810" y="62826"/>
                </a:lnTo>
                <a:lnTo>
                  <a:pt x="59258" y="62103"/>
                </a:lnTo>
                <a:lnTo>
                  <a:pt x="58432" y="60274"/>
                </a:lnTo>
                <a:lnTo>
                  <a:pt x="58343" y="60083"/>
                </a:lnTo>
                <a:lnTo>
                  <a:pt x="56527" y="57543"/>
                </a:lnTo>
                <a:lnTo>
                  <a:pt x="56515" y="50228"/>
                </a:lnTo>
                <a:lnTo>
                  <a:pt x="56515" y="48577"/>
                </a:lnTo>
                <a:lnTo>
                  <a:pt x="65646" y="49123"/>
                </a:lnTo>
                <a:lnTo>
                  <a:pt x="70586" y="49123"/>
                </a:lnTo>
                <a:lnTo>
                  <a:pt x="71310" y="49682"/>
                </a:lnTo>
                <a:lnTo>
                  <a:pt x="71424" y="50228"/>
                </a:lnTo>
                <a:lnTo>
                  <a:pt x="71501" y="50584"/>
                </a:lnTo>
                <a:lnTo>
                  <a:pt x="72771" y="55892"/>
                </a:lnTo>
                <a:lnTo>
                  <a:pt x="73507" y="56616"/>
                </a:lnTo>
                <a:lnTo>
                  <a:pt x="76060" y="56616"/>
                </a:lnTo>
                <a:lnTo>
                  <a:pt x="76796" y="56070"/>
                </a:lnTo>
                <a:lnTo>
                  <a:pt x="77698" y="51320"/>
                </a:lnTo>
                <a:lnTo>
                  <a:pt x="77762" y="50952"/>
                </a:lnTo>
                <a:lnTo>
                  <a:pt x="77838" y="50584"/>
                </a:lnTo>
                <a:lnTo>
                  <a:pt x="77901" y="50228"/>
                </a:lnTo>
                <a:lnTo>
                  <a:pt x="78003" y="49682"/>
                </a:lnTo>
                <a:lnTo>
                  <a:pt x="78117" y="49123"/>
                </a:lnTo>
                <a:lnTo>
                  <a:pt x="78219" y="48577"/>
                </a:lnTo>
                <a:lnTo>
                  <a:pt x="86652" y="38354"/>
                </a:lnTo>
                <a:lnTo>
                  <a:pt x="94145" y="38354"/>
                </a:lnTo>
                <a:lnTo>
                  <a:pt x="94869" y="37617"/>
                </a:lnTo>
                <a:lnTo>
                  <a:pt x="94869" y="34696"/>
                </a:lnTo>
                <a:lnTo>
                  <a:pt x="93230" y="33058"/>
                </a:lnTo>
                <a:lnTo>
                  <a:pt x="93967" y="31051"/>
                </a:lnTo>
                <a:lnTo>
                  <a:pt x="97802" y="31051"/>
                </a:lnTo>
                <a:lnTo>
                  <a:pt x="98526" y="31775"/>
                </a:lnTo>
                <a:lnTo>
                  <a:pt x="98526" y="33972"/>
                </a:lnTo>
                <a:lnTo>
                  <a:pt x="99263" y="34696"/>
                </a:lnTo>
                <a:lnTo>
                  <a:pt x="102184" y="34696"/>
                </a:lnTo>
                <a:lnTo>
                  <a:pt x="103009" y="31051"/>
                </a:lnTo>
                <a:lnTo>
                  <a:pt x="103644" y="28308"/>
                </a:lnTo>
                <a:lnTo>
                  <a:pt x="86106" y="16611"/>
                </a:lnTo>
                <a:lnTo>
                  <a:pt x="85928" y="16433"/>
                </a:lnTo>
                <a:lnTo>
                  <a:pt x="80073" y="16433"/>
                </a:lnTo>
                <a:lnTo>
                  <a:pt x="78435" y="18072"/>
                </a:lnTo>
                <a:lnTo>
                  <a:pt x="78435" y="23012"/>
                </a:lnTo>
                <a:lnTo>
                  <a:pt x="77711" y="23736"/>
                </a:lnTo>
                <a:lnTo>
                  <a:pt x="74777" y="23736"/>
                </a:lnTo>
                <a:lnTo>
                  <a:pt x="72961" y="21907"/>
                </a:lnTo>
                <a:lnTo>
                  <a:pt x="66382" y="21907"/>
                </a:lnTo>
                <a:lnTo>
                  <a:pt x="65646" y="21183"/>
                </a:lnTo>
                <a:lnTo>
                  <a:pt x="65646" y="14973"/>
                </a:lnTo>
                <a:lnTo>
                  <a:pt x="65836" y="14427"/>
                </a:lnTo>
                <a:lnTo>
                  <a:pt x="66382" y="14058"/>
                </a:lnTo>
                <a:lnTo>
                  <a:pt x="78066" y="9131"/>
                </a:lnTo>
                <a:lnTo>
                  <a:pt x="79794" y="12052"/>
                </a:lnTo>
                <a:lnTo>
                  <a:pt x="79895" y="12230"/>
                </a:lnTo>
                <a:lnTo>
                  <a:pt x="80264" y="12598"/>
                </a:lnTo>
                <a:lnTo>
                  <a:pt x="80632" y="12776"/>
                </a:lnTo>
                <a:lnTo>
                  <a:pt x="86842" y="12776"/>
                </a:lnTo>
                <a:lnTo>
                  <a:pt x="87566" y="12052"/>
                </a:lnTo>
                <a:lnTo>
                  <a:pt x="87566" y="10033"/>
                </a:lnTo>
                <a:lnTo>
                  <a:pt x="105130" y="18694"/>
                </a:lnTo>
                <a:lnTo>
                  <a:pt x="119011" y="32181"/>
                </a:lnTo>
                <a:lnTo>
                  <a:pt x="128130" y="49441"/>
                </a:lnTo>
                <a:lnTo>
                  <a:pt x="131102" y="67576"/>
                </a:lnTo>
                <a:lnTo>
                  <a:pt x="131229" y="68313"/>
                </a:lnTo>
                <a:lnTo>
                  <a:pt x="131318" y="69951"/>
                </a:lnTo>
                <a:lnTo>
                  <a:pt x="131318" y="39509"/>
                </a:lnTo>
                <a:lnTo>
                  <a:pt x="118389" y="20320"/>
                </a:lnTo>
                <a:lnTo>
                  <a:pt x="103136" y="10033"/>
                </a:lnTo>
                <a:lnTo>
                  <a:pt x="101790" y="9131"/>
                </a:lnTo>
                <a:lnTo>
                  <a:pt x="96329" y="5448"/>
                </a:lnTo>
                <a:lnTo>
                  <a:pt x="69303" y="0"/>
                </a:lnTo>
                <a:lnTo>
                  <a:pt x="42278" y="5448"/>
                </a:lnTo>
                <a:lnTo>
                  <a:pt x="20218" y="20320"/>
                </a:lnTo>
                <a:lnTo>
                  <a:pt x="5346" y="42379"/>
                </a:lnTo>
                <a:lnTo>
                  <a:pt x="114" y="68313"/>
                </a:lnTo>
                <a:lnTo>
                  <a:pt x="0" y="69951"/>
                </a:lnTo>
                <a:lnTo>
                  <a:pt x="5346" y="96431"/>
                </a:lnTo>
                <a:lnTo>
                  <a:pt x="20218" y="118491"/>
                </a:lnTo>
                <a:lnTo>
                  <a:pt x="42278" y="133362"/>
                </a:lnTo>
                <a:lnTo>
                  <a:pt x="69303" y="138811"/>
                </a:lnTo>
                <a:lnTo>
                  <a:pt x="96329" y="133362"/>
                </a:lnTo>
                <a:lnTo>
                  <a:pt x="133261" y="96431"/>
                </a:lnTo>
                <a:lnTo>
                  <a:pt x="138607" y="69951"/>
                </a:lnTo>
                <a:lnTo>
                  <a:pt x="138671" y="69227"/>
                </a:lnTo>
                <a:close/>
              </a:path>
            </a:pathLst>
          </a:custGeom>
          <a:solidFill>
            <a:srgbClr val="12426B"/>
          </a:solidFill>
        </p:spPr>
        <p:txBody>
          <a:bodyPr wrap="square" lIns="0" tIns="0" rIns="0" bIns="0" rtlCol="0"/>
          <a:lstStyle/>
          <a:p>
            <a:endParaRPr sz="1950"/>
          </a:p>
        </p:txBody>
      </p:sp>
      <p:pic>
        <p:nvPicPr>
          <p:cNvPr id="46" name="object 35" descr="Vector flag of Kazakhstan - Circle">
            <a:extLst>
              <a:ext uri="{FF2B5EF4-FFF2-40B4-BE49-F238E27FC236}">
                <a16:creationId xmlns:a16="http://schemas.microsoft.com/office/drawing/2014/main" id="{AC6D8AF0-4218-E356-D722-D89AC62F54AF}"/>
              </a:ext>
            </a:extLst>
          </p:cNvPr>
          <p:cNvPicPr/>
          <p:nvPr/>
        </p:nvPicPr>
        <p:blipFill>
          <a:blip r:embed="rId18" cstate="print"/>
          <a:stretch>
            <a:fillRect/>
          </a:stretch>
        </p:blipFill>
        <p:spPr>
          <a:xfrm>
            <a:off x="4385376" y="3665998"/>
            <a:ext cx="155813" cy="155813"/>
          </a:xfrm>
          <a:prstGeom prst="rect">
            <a:avLst/>
          </a:prstGeom>
        </p:spPr>
      </p:pic>
      <p:pic>
        <p:nvPicPr>
          <p:cNvPr id="47" name="object 36" descr="Thailand Flag Circle PNGs for Free Download">
            <a:extLst>
              <a:ext uri="{FF2B5EF4-FFF2-40B4-BE49-F238E27FC236}">
                <a16:creationId xmlns:a16="http://schemas.microsoft.com/office/drawing/2014/main" id="{F7E3405B-C7BC-53ED-887F-19674F4BBEFB}"/>
              </a:ext>
            </a:extLst>
          </p:cNvPr>
          <p:cNvPicPr/>
          <p:nvPr/>
        </p:nvPicPr>
        <p:blipFill>
          <a:blip r:embed="rId19" cstate="print"/>
          <a:stretch>
            <a:fillRect/>
          </a:stretch>
        </p:blipFill>
        <p:spPr>
          <a:xfrm>
            <a:off x="3416857" y="3665290"/>
            <a:ext cx="157229" cy="157229"/>
          </a:xfrm>
          <a:prstGeom prst="rect">
            <a:avLst/>
          </a:prstGeom>
        </p:spPr>
      </p:pic>
      <p:pic>
        <p:nvPicPr>
          <p:cNvPr id="48" name="object 45" descr="United arab emirates - Free flags icons">
            <a:extLst>
              <a:ext uri="{FF2B5EF4-FFF2-40B4-BE49-F238E27FC236}">
                <a16:creationId xmlns:a16="http://schemas.microsoft.com/office/drawing/2014/main" id="{EF9DDC36-74AB-1BC5-3195-2D6E528026EE}"/>
              </a:ext>
            </a:extLst>
          </p:cNvPr>
          <p:cNvPicPr/>
          <p:nvPr/>
        </p:nvPicPr>
        <p:blipFill>
          <a:blip r:embed="rId20" cstate="print"/>
          <a:stretch>
            <a:fillRect/>
          </a:stretch>
        </p:blipFill>
        <p:spPr>
          <a:xfrm>
            <a:off x="6305591" y="3666458"/>
            <a:ext cx="154893" cy="154893"/>
          </a:xfrm>
          <a:prstGeom prst="rect">
            <a:avLst/>
          </a:prstGeom>
        </p:spPr>
      </p:pic>
      <p:grpSp>
        <p:nvGrpSpPr>
          <p:cNvPr id="49" name="object 46">
            <a:extLst>
              <a:ext uri="{FF2B5EF4-FFF2-40B4-BE49-F238E27FC236}">
                <a16:creationId xmlns:a16="http://schemas.microsoft.com/office/drawing/2014/main" id="{E5C2DC24-55C3-94D5-7340-447C73300AE4}"/>
              </a:ext>
            </a:extLst>
          </p:cNvPr>
          <p:cNvGrpSpPr/>
          <p:nvPr/>
        </p:nvGrpSpPr>
        <p:grpSpPr>
          <a:xfrm>
            <a:off x="1397932" y="3655959"/>
            <a:ext cx="175890" cy="175890"/>
            <a:chOff x="1209471" y="2843212"/>
            <a:chExt cx="162560" cy="162560"/>
          </a:xfrm>
        </p:grpSpPr>
        <p:pic>
          <p:nvPicPr>
            <p:cNvPr id="50" name="object 47" descr="Indonesia - Free flags icons">
              <a:extLst>
                <a:ext uri="{FF2B5EF4-FFF2-40B4-BE49-F238E27FC236}">
                  <a16:creationId xmlns:a16="http://schemas.microsoft.com/office/drawing/2014/main" id="{33996503-1CD0-B716-E46F-94144BF9A2F7}"/>
                </a:ext>
              </a:extLst>
            </p:cNvPr>
            <p:cNvPicPr/>
            <p:nvPr/>
          </p:nvPicPr>
          <p:blipFill>
            <a:blip r:embed="rId21" cstate="print"/>
            <a:stretch>
              <a:fillRect/>
            </a:stretch>
          </p:blipFill>
          <p:spPr>
            <a:xfrm>
              <a:off x="1219022" y="2852800"/>
              <a:ext cx="143154" cy="143129"/>
            </a:xfrm>
            <a:prstGeom prst="rect">
              <a:avLst/>
            </a:prstGeom>
          </p:spPr>
        </p:pic>
        <p:pic>
          <p:nvPicPr>
            <p:cNvPr id="51" name="object 48">
              <a:extLst>
                <a:ext uri="{FF2B5EF4-FFF2-40B4-BE49-F238E27FC236}">
                  <a16:creationId xmlns:a16="http://schemas.microsoft.com/office/drawing/2014/main" id="{9376E0A7-0FD6-98A2-D80F-7CC250250307}"/>
                </a:ext>
              </a:extLst>
            </p:cNvPr>
            <p:cNvPicPr/>
            <p:nvPr/>
          </p:nvPicPr>
          <p:blipFill>
            <a:blip r:embed="rId22" cstate="print"/>
            <a:stretch>
              <a:fillRect/>
            </a:stretch>
          </p:blipFill>
          <p:spPr>
            <a:xfrm>
              <a:off x="1209471" y="2843212"/>
              <a:ext cx="162191" cy="162179"/>
            </a:xfrm>
            <a:prstGeom prst="rect">
              <a:avLst/>
            </a:prstGeom>
          </p:spPr>
        </p:pic>
      </p:grpSp>
      <p:sp>
        <p:nvSpPr>
          <p:cNvPr id="52" name="object 79">
            <a:extLst>
              <a:ext uri="{FF2B5EF4-FFF2-40B4-BE49-F238E27FC236}">
                <a16:creationId xmlns:a16="http://schemas.microsoft.com/office/drawing/2014/main" id="{96B26CF9-6938-99A4-987C-7C09A5B47370}"/>
              </a:ext>
            </a:extLst>
          </p:cNvPr>
          <p:cNvSpPr/>
          <p:nvPr/>
        </p:nvSpPr>
        <p:spPr>
          <a:xfrm>
            <a:off x="7304117" y="3668671"/>
            <a:ext cx="150468" cy="150468"/>
          </a:xfrm>
          <a:custGeom>
            <a:avLst/>
            <a:gdLst/>
            <a:ahLst/>
            <a:cxnLst/>
            <a:rect l="l" t="t" r="r" b="b"/>
            <a:pathLst>
              <a:path w="139064" h="139064">
                <a:moveTo>
                  <a:pt x="93052" y="62649"/>
                </a:moveTo>
                <a:lnTo>
                  <a:pt x="92494" y="61925"/>
                </a:lnTo>
                <a:lnTo>
                  <a:pt x="91770" y="61734"/>
                </a:lnTo>
                <a:lnTo>
                  <a:pt x="83007" y="58813"/>
                </a:lnTo>
                <a:lnTo>
                  <a:pt x="82270" y="58635"/>
                </a:lnTo>
                <a:lnTo>
                  <a:pt x="81724" y="58635"/>
                </a:lnTo>
                <a:lnTo>
                  <a:pt x="74777" y="60274"/>
                </a:lnTo>
                <a:lnTo>
                  <a:pt x="74231" y="60642"/>
                </a:lnTo>
                <a:lnTo>
                  <a:pt x="74053" y="61379"/>
                </a:lnTo>
                <a:lnTo>
                  <a:pt x="74777" y="62103"/>
                </a:lnTo>
                <a:lnTo>
                  <a:pt x="84099" y="62103"/>
                </a:lnTo>
                <a:lnTo>
                  <a:pt x="84467" y="62293"/>
                </a:lnTo>
                <a:lnTo>
                  <a:pt x="90855" y="64846"/>
                </a:lnTo>
                <a:lnTo>
                  <a:pt x="91948" y="65214"/>
                </a:lnTo>
                <a:lnTo>
                  <a:pt x="93052" y="64477"/>
                </a:lnTo>
                <a:lnTo>
                  <a:pt x="93052" y="62649"/>
                </a:lnTo>
                <a:close/>
              </a:path>
              <a:path w="139064" h="139064">
                <a:moveTo>
                  <a:pt x="138671" y="69227"/>
                </a:moveTo>
                <a:lnTo>
                  <a:pt x="133261" y="42379"/>
                </a:lnTo>
                <a:lnTo>
                  <a:pt x="131318" y="39509"/>
                </a:lnTo>
                <a:lnTo>
                  <a:pt x="131318" y="69964"/>
                </a:lnTo>
                <a:lnTo>
                  <a:pt x="128536" y="88036"/>
                </a:lnTo>
                <a:lnTo>
                  <a:pt x="122275" y="100863"/>
                </a:lnTo>
                <a:lnTo>
                  <a:pt x="122275" y="101015"/>
                </a:lnTo>
                <a:lnTo>
                  <a:pt x="121488" y="102476"/>
                </a:lnTo>
                <a:lnTo>
                  <a:pt x="121361" y="102717"/>
                </a:lnTo>
                <a:lnTo>
                  <a:pt x="120472" y="104482"/>
                </a:lnTo>
                <a:lnTo>
                  <a:pt x="108292" y="117678"/>
                </a:lnTo>
                <a:lnTo>
                  <a:pt x="92684" y="126949"/>
                </a:lnTo>
                <a:lnTo>
                  <a:pt x="103416" y="117678"/>
                </a:lnTo>
                <a:lnTo>
                  <a:pt x="105829" y="115074"/>
                </a:lnTo>
                <a:lnTo>
                  <a:pt x="108940" y="111607"/>
                </a:lnTo>
                <a:lnTo>
                  <a:pt x="109486" y="105943"/>
                </a:lnTo>
                <a:lnTo>
                  <a:pt x="121361" y="102717"/>
                </a:lnTo>
                <a:lnTo>
                  <a:pt x="122199" y="101015"/>
                </a:lnTo>
                <a:lnTo>
                  <a:pt x="122275" y="86766"/>
                </a:lnTo>
                <a:lnTo>
                  <a:pt x="109486" y="84023"/>
                </a:lnTo>
                <a:lnTo>
                  <a:pt x="107353" y="77089"/>
                </a:lnTo>
                <a:lnTo>
                  <a:pt x="107289" y="76898"/>
                </a:lnTo>
                <a:lnTo>
                  <a:pt x="106781" y="76720"/>
                </a:lnTo>
                <a:lnTo>
                  <a:pt x="96520" y="73063"/>
                </a:lnTo>
                <a:lnTo>
                  <a:pt x="85928" y="73063"/>
                </a:lnTo>
                <a:lnTo>
                  <a:pt x="85928" y="104482"/>
                </a:lnTo>
                <a:lnTo>
                  <a:pt x="85890" y="115074"/>
                </a:lnTo>
                <a:lnTo>
                  <a:pt x="84823" y="125133"/>
                </a:lnTo>
                <a:lnTo>
                  <a:pt x="84277" y="129146"/>
                </a:lnTo>
                <a:lnTo>
                  <a:pt x="79527" y="130238"/>
                </a:lnTo>
                <a:lnTo>
                  <a:pt x="74599" y="130975"/>
                </a:lnTo>
                <a:lnTo>
                  <a:pt x="69481" y="130975"/>
                </a:lnTo>
                <a:lnTo>
                  <a:pt x="45262" y="126390"/>
                </a:lnTo>
                <a:lnTo>
                  <a:pt x="25463" y="113207"/>
                </a:lnTo>
                <a:lnTo>
                  <a:pt x="12103" y="93522"/>
                </a:lnTo>
                <a:lnTo>
                  <a:pt x="7315" y="69964"/>
                </a:lnTo>
                <a:lnTo>
                  <a:pt x="7378" y="67589"/>
                </a:lnTo>
                <a:lnTo>
                  <a:pt x="7493" y="66306"/>
                </a:lnTo>
                <a:lnTo>
                  <a:pt x="7531" y="65938"/>
                </a:lnTo>
                <a:lnTo>
                  <a:pt x="7632" y="64846"/>
                </a:lnTo>
                <a:lnTo>
                  <a:pt x="7759" y="63563"/>
                </a:lnTo>
                <a:lnTo>
                  <a:pt x="7823" y="62839"/>
                </a:lnTo>
                <a:lnTo>
                  <a:pt x="7950" y="61556"/>
                </a:lnTo>
                <a:lnTo>
                  <a:pt x="8064" y="60274"/>
                </a:lnTo>
                <a:lnTo>
                  <a:pt x="8089" y="60096"/>
                </a:lnTo>
                <a:lnTo>
                  <a:pt x="8204" y="58813"/>
                </a:lnTo>
                <a:lnTo>
                  <a:pt x="8331" y="57556"/>
                </a:lnTo>
                <a:lnTo>
                  <a:pt x="11506" y="46761"/>
                </a:lnTo>
                <a:lnTo>
                  <a:pt x="11582" y="46482"/>
                </a:lnTo>
                <a:lnTo>
                  <a:pt x="16751" y="36372"/>
                </a:lnTo>
                <a:lnTo>
                  <a:pt x="23634" y="27393"/>
                </a:lnTo>
                <a:lnTo>
                  <a:pt x="25285" y="28308"/>
                </a:lnTo>
                <a:lnTo>
                  <a:pt x="26924" y="29768"/>
                </a:lnTo>
                <a:lnTo>
                  <a:pt x="27292" y="31051"/>
                </a:lnTo>
                <a:lnTo>
                  <a:pt x="27292" y="43294"/>
                </a:lnTo>
                <a:lnTo>
                  <a:pt x="27470" y="44208"/>
                </a:lnTo>
                <a:lnTo>
                  <a:pt x="28016" y="44754"/>
                </a:lnTo>
                <a:lnTo>
                  <a:pt x="40081" y="60274"/>
                </a:lnTo>
                <a:lnTo>
                  <a:pt x="41541" y="58813"/>
                </a:lnTo>
                <a:lnTo>
                  <a:pt x="41719" y="57899"/>
                </a:lnTo>
                <a:lnTo>
                  <a:pt x="41351" y="57175"/>
                </a:lnTo>
                <a:lnTo>
                  <a:pt x="39166" y="53517"/>
                </a:lnTo>
                <a:lnTo>
                  <a:pt x="38252" y="52057"/>
                </a:lnTo>
                <a:lnTo>
                  <a:pt x="39712" y="50228"/>
                </a:lnTo>
                <a:lnTo>
                  <a:pt x="41910" y="50965"/>
                </a:lnTo>
                <a:lnTo>
                  <a:pt x="42265" y="51333"/>
                </a:lnTo>
                <a:lnTo>
                  <a:pt x="48475" y="63563"/>
                </a:lnTo>
                <a:lnTo>
                  <a:pt x="49212" y="64846"/>
                </a:lnTo>
                <a:lnTo>
                  <a:pt x="50304" y="65938"/>
                </a:lnTo>
                <a:lnTo>
                  <a:pt x="51587" y="66306"/>
                </a:lnTo>
                <a:lnTo>
                  <a:pt x="60172" y="69227"/>
                </a:lnTo>
                <a:lnTo>
                  <a:pt x="60540" y="69596"/>
                </a:lnTo>
                <a:lnTo>
                  <a:pt x="60718" y="69964"/>
                </a:lnTo>
                <a:lnTo>
                  <a:pt x="61264" y="70878"/>
                </a:lnTo>
                <a:lnTo>
                  <a:pt x="61810" y="72148"/>
                </a:lnTo>
                <a:lnTo>
                  <a:pt x="63093" y="72885"/>
                </a:lnTo>
                <a:lnTo>
                  <a:pt x="67297" y="72885"/>
                </a:lnTo>
                <a:lnTo>
                  <a:pt x="67843" y="73253"/>
                </a:lnTo>
                <a:lnTo>
                  <a:pt x="68211" y="73609"/>
                </a:lnTo>
                <a:lnTo>
                  <a:pt x="70332" y="76720"/>
                </a:lnTo>
                <a:lnTo>
                  <a:pt x="71132" y="77812"/>
                </a:lnTo>
                <a:lnTo>
                  <a:pt x="71856" y="78359"/>
                </a:lnTo>
                <a:lnTo>
                  <a:pt x="72771" y="78549"/>
                </a:lnTo>
                <a:lnTo>
                  <a:pt x="76606" y="79463"/>
                </a:lnTo>
                <a:lnTo>
                  <a:pt x="77698" y="79641"/>
                </a:lnTo>
                <a:lnTo>
                  <a:pt x="78257" y="80924"/>
                </a:lnTo>
                <a:lnTo>
                  <a:pt x="77889" y="81838"/>
                </a:lnTo>
                <a:lnTo>
                  <a:pt x="74968" y="84759"/>
                </a:lnTo>
                <a:lnTo>
                  <a:pt x="74968" y="101015"/>
                </a:lnTo>
                <a:lnTo>
                  <a:pt x="85928" y="104482"/>
                </a:lnTo>
                <a:lnTo>
                  <a:pt x="85928" y="73063"/>
                </a:lnTo>
                <a:lnTo>
                  <a:pt x="85559" y="73063"/>
                </a:lnTo>
                <a:lnTo>
                  <a:pt x="78435" y="76720"/>
                </a:lnTo>
                <a:lnTo>
                  <a:pt x="74777" y="74891"/>
                </a:lnTo>
                <a:lnTo>
                  <a:pt x="74777" y="68313"/>
                </a:lnTo>
                <a:lnTo>
                  <a:pt x="74053" y="67589"/>
                </a:lnTo>
                <a:lnTo>
                  <a:pt x="69303" y="67589"/>
                </a:lnTo>
                <a:lnTo>
                  <a:pt x="69303" y="62839"/>
                </a:lnTo>
                <a:lnTo>
                  <a:pt x="69303" y="61010"/>
                </a:lnTo>
                <a:lnTo>
                  <a:pt x="68567" y="60274"/>
                </a:lnTo>
                <a:lnTo>
                  <a:pt x="65646" y="60274"/>
                </a:lnTo>
                <a:lnTo>
                  <a:pt x="63639" y="61556"/>
                </a:lnTo>
                <a:lnTo>
                  <a:pt x="61810" y="62839"/>
                </a:lnTo>
                <a:lnTo>
                  <a:pt x="59258" y="62103"/>
                </a:lnTo>
                <a:lnTo>
                  <a:pt x="58420" y="60274"/>
                </a:lnTo>
                <a:lnTo>
                  <a:pt x="58343" y="60096"/>
                </a:lnTo>
                <a:lnTo>
                  <a:pt x="56527" y="57556"/>
                </a:lnTo>
                <a:lnTo>
                  <a:pt x="56515" y="50228"/>
                </a:lnTo>
                <a:lnTo>
                  <a:pt x="56515" y="48590"/>
                </a:lnTo>
                <a:lnTo>
                  <a:pt x="65646" y="49136"/>
                </a:lnTo>
                <a:lnTo>
                  <a:pt x="70586" y="49136"/>
                </a:lnTo>
                <a:lnTo>
                  <a:pt x="71310" y="49682"/>
                </a:lnTo>
                <a:lnTo>
                  <a:pt x="71424" y="50228"/>
                </a:lnTo>
                <a:lnTo>
                  <a:pt x="71488" y="50596"/>
                </a:lnTo>
                <a:lnTo>
                  <a:pt x="72771" y="55892"/>
                </a:lnTo>
                <a:lnTo>
                  <a:pt x="73507" y="56629"/>
                </a:lnTo>
                <a:lnTo>
                  <a:pt x="76060" y="56629"/>
                </a:lnTo>
                <a:lnTo>
                  <a:pt x="76796" y="56083"/>
                </a:lnTo>
                <a:lnTo>
                  <a:pt x="77698" y="51333"/>
                </a:lnTo>
                <a:lnTo>
                  <a:pt x="77762" y="50965"/>
                </a:lnTo>
                <a:lnTo>
                  <a:pt x="77838" y="50596"/>
                </a:lnTo>
                <a:lnTo>
                  <a:pt x="77901" y="50228"/>
                </a:lnTo>
                <a:lnTo>
                  <a:pt x="78003" y="49682"/>
                </a:lnTo>
                <a:lnTo>
                  <a:pt x="78117" y="49136"/>
                </a:lnTo>
                <a:lnTo>
                  <a:pt x="78219" y="48590"/>
                </a:lnTo>
                <a:lnTo>
                  <a:pt x="86652" y="38354"/>
                </a:lnTo>
                <a:lnTo>
                  <a:pt x="94145" y="38354"/>
                </a:lnTo>
                <a:lnTo>
                  <a:pt x="94869" y="37630"/>
                </a:lnTo>
                <a:lnTo>
                  <a:pt x="94869" y="34709"/>
                </a:lnTo>
                <a:lnTo>
                  <a:pt x="93230" y="33058"/>
                </a:lnTo>
                <a:lnTo>
                  <a:pt x="93967" y="31051"/>
                </a:lnTo>
                <a:lnTo>
                  <a:pt x="97802" y="31051"/>
                </a:lnTo>
                <a:lnTo>
                  <a:pt x="98526" y="31788"/>
                </a:lnTo>
                <a:lnTo>
                  <a:pt x="98526" y="33972"/>
                </a:lnTo>
                <a:lnTo>
                  <a:pt x="99263" y="34709"/>
                </a:lnTo>
                <a:lnTo>
                  <a:pt x="102184" y="34709"/>
                </a:lnTo>
                <a:lnTo>
                  <a:pt x="103009" y="31051"/>
                </a:lnTo>
                <a:lnTo>
                  <a:pt x="103644" y="28308"/>
                </a:lnTo>
                <a:lnTo>
                  <a:pt x="103187" y="27393"/>
                </a:lnTo>
                <a:lnTo>
                  <a:pt x="102908" y="26847"/>
                </a:lnTo>
                <a:lnTo>
                  <a:pt x="101638" y="25933"/>
                </a:lnTo>
                <a:lnTo>
                  <a:pt x="97980" y="23749"/>
                </a:lnTo>
                <a:lnTo>
                  <a:pt x="86106" y="16624"/>
                </a:lnTo>
                <a:lnTo>
                  <a:pt x="85928" y="16433"/>
                </a:lnTo>
                <a:lnTo>
                  <a:pt x="80073" y="16433"/>
                </a:lnTo>
                <a:lnTo>
                  <a:pt x="78435" y="18084"/>
                </a:lnTo>
                <a:lnTo>
                  <a:pt x="78435" y="23012"/>
                </a:lnTo>
                <a:lnTo>
                  <a:pt x="77698" y="23749"/>
                </a:lnTo>
                <a:lnTo>
                  <a:pt x="74777" y="23749"/>
                </a:lnTo>
                <a:lnTo>
                  <a:pt x="72961" y="21920"/>
                </a:lnTo>
                <a:lnTo>
                  <a:pt x="66382" y="21920"/>
                </a:lnTo>
                <a:lnTo>
                  <a:pt x="65646" y="21183"/>
                </a:lnTo>
                <a:lnTo>
                  <a:pt x="65646" y="14973"/>
                </a:lnTo>
                <a:lnTo>
                  <a:pt x="65836" y="14427"/>
                </a:lnTo>
                <a:lnTo>
                  <a:pt x="66382" y="14058"/>
                </a:lnTo>
                <a:lnTo>
                  <a:pt x="78066" y="9131"/>
                </a:lnTo>
                <a:lnTo>
                  <a:pt x="79794" y="12052"/>
                </a:lnTo>
                <a:lnTo>
                  <a:pt x="79895" y="12230"/>
                </a:lnTo>
                <a:lnTo>
                  <a:pt x="80264" y="12598"/>
                </a:lnTo>
                <a:lnTo>
                  <a:pt x="80632" y="12788"/>
                </a:lnTo>
                <a:lnTo>
                  <a:pt x="86842" y="12788"/>
                </a:lnTo>
                <a:lnTo>
                  <a:pt x="87566" y="12052"/>
                </a:lnTo>
                <a:lnTo>
                  <a:pt x="87566" y="10045"/>
                </a:lnTo>
                <a:lnTo>
                  <a:pt x="105130" y="18707"/>
                </a:lnTo>
                <a:lnTo>
                  <a:pt x="119011" y="32194"/>
                </a:lnTo>
                <a:lnTo>
                  <a:pt x="128130" y="49453"/>
                </a:lnTo>
                <a:lnTo>
                  <a:pt x="131102" y="67589"/>
                </a:lnTo>
                <a:lnTo>
                  <a:pt x="131229" y="68313"/>
                </a:lnTo>
                <a:lnTo>
                  <a:pt x="131318" y="69964"/>
                </a:lnTo>
                <a:lnTo>
                  <a:pt x="131318" y="39509"/>
                </a:lnTo>
                <a:lnTo>
                  <a:pt x="118389" y="20320"/>
                </a:lnTo>
                <a:lnTo>
                  <a:pt x="103136" y="10045"/>
                </a:lnTo>
                <a:lnTo>
                  <a:pt x="101790" y="9131"/>
                </a:lnTo>
                <a:lnTo>
                  <a:pt x="96329" y="5448"/>
                </a:lnTo>
                <a:lnTo>
                  <a:pt x="69303" y="0"/>
                </a:lnTo>
                <a:lnTo>
                  <a:pt x="42278" y="5448"/>
                </a:lnTo>
                <a:lnTo>
                  <a:pt x="20218" y="20320"/>
                </a:lnTo>
                <a:lnTo>
                  <a:pt x="5346" y="42379"/>
                </a:lnTo>
                <a:lnTo>
                  <a:pt x="114" y="68313"/>
                </a:lnTo>
                <a:lnTo>
                  <a:pt x="0" y="69964"/>
                </a:lnTo>
                <a:lnTo>
                  <a:pt x="5346" y="96443"/>
                </a:lnTo>
                <a:lnTo>
                  <a:pt x="20218" y="118503"/>
                </a:lnTo>
                <a:lnTo>
                  <a:pt x="42278" y="133375"/>
                </a:lnTo>
                <a:lnTo>
                  <a:pt x="69303" y="138823"/>
                </a:lnTo>
                <a:lnTo>
                  <a:pt x="96329" y="133375"/>
                </a:lnTo>
                <a:lnTo>
                  <a:pt x="99898" y="130975"/>
                </a:lnTo>
                <a:lnTo>
                  <a:pt x="105854" y="126949"/>
                </a:lnTo>
                <a:lnTo>
                  <a:pt x="118389" y="118503"/>
                </a:lnTo>
                <a:lnTo>
                  <a:pt x="133261" y="96443"/>
                </a:lnTo>
                <a:lnTo>
                  <a:pt x="138607" y="69964"/>
                </a:lnTo>
                <a:lnTo>
                  <a:pt x="138671" y="69227"/>
                </a:lnTo>
                <a:close/>
              </a:path>
            </a:pathLst>
          </a:custGeom>
          <a:solidFill>
            <a:srgbClr val="12426B"/>
          </a:solidFill>
        </p:spPr>
        <p:txBody>
          <a:bodyPr wrap="square" lIns="0" tIns="0" rIns="0" bIns="0" rtlCol="0"/>
          <a:lstStyle/>
          <a:p>
            <a:endParaRPr sz="1950"/>
          </a:p>
        </p:txBody>
      </p:sp>
      <p:pic>
        <p:nvPicPr>
          <p:cNvPr id="84" name="object 27">
            <a:extLst>
              <a:ext uri="{FF2B5EF4-FFF2-40B4-BE49-F238E27FC236}">
                <a16:creationId xmlns:a16="http://schemas.microsoft.com/office/drawing/2014/main" id="{445AB514-9511-252E-660D-2FD1EDF7690F}"/>
              </a:ext>
            </a:extLst>
          </p:cNvPr>
          <p:cNvPicPr/>
          <p:nvPr/>
        </p:nvPicPr>
        <p:blipFill>
          <a:blip r:embed="rId23" cstate="print"/>
          <a:stretch>
            <a:fillRect/>
          </a:stretch>
        </p:blipFill>
        <p:spPr>
          <a:xfrm>
            <a:off x="1547502" y="5302227"/>
            <a:ext cx="229695" cy="242398"/>
          </a:xfrm>
          <a:prstGeom prst="rect">
            <a:avLst/>
          </a:prstGeom>
        </p:spPr>
      </p:pic>
      <p:pic>
        <p:nvPicPr>
          <p:cNvPr id="85" name="object 28">
            <a:extLst>
              <a:ext uri="{FF2B5EF4-FFF2-40B4-BE49-F238E27FC236}">
                <a16:creationId xmlns:a16="http://schemas.microsoft.com/office/drawing/2014/main" id="{E2F45D9A-0B62-DA19-1EA0-98BF0B36E00E}"/>
              </a:ext>
            </a:extLst>
          </p:cNvPr>
          <p:cNvPicPr/>
          <p:nvPr/>
        </p:nvPicPr>
        <p:blipFill>
          <a:blip r:embed="rId24" cstate="print"/>
          <a:stretch>
            <a:fillRect/>
          </a:stretch>
        </p:blipFill>
        <p:spPr>
          <a:xfrm>
            <a:off x="2542436" y="5302227"/>
            <a:ext cx="229696" cy="242397"/>
          </a:xfrm>
          <a:prstGeom prst="rect">
            <a:avLst/>
          </a:prstGeom>
        </p:spPr>
      </p:pic>
      <p:pic>
        <p:nvPicPr>
          <p:cNvPr id="86" name="object 29">
            <a:extLst>
              <a:ext uri="{FF2B5EF4-FFF2-40B4-BE49-F238E27FC236}">
                <a16:creationId xmlns:a16="http://schemas.microsoft.com/office/drawing/2014/main" id="{BDC43D8B-BC26-F713-42A8-5A6079F4DB61}"/>
              </a:ext>
            </a:extLst>
          </p:cNvPr>
          <p:cNvPicPr/>
          <p:nvPr/>
        </p:nvPicPr>
        <p:blipFill>
          <a:blip r:embed="rId25" cstate="print"/>
          <a:stretch>
            <a:fillRect/>
          </a:stretch>
        </p:blipFill>
        <p:spPr>
          <a:xfrm>
            <a:off x="3557802" y="5302227"/>
            <a:ext cx="229695" cy="242398"/>
          </a:xfrm>
          <a:prstGeom prst="rect">
            <a:avLst/>
          </a:prstGeom>
        </p:spPr>
      </p:pic>
      <p:pic>
        <p:nvPicPr>
          <p:cNvPr id="87" name="object 30">
            <a:extLst>
              <a:ext uri="{FF2B5EF4-FFF2-40B4-BE49-F238E27FC236}">
                <a16:creationId xmlns:a16="http://schemas.microsoft.com/office/drawing/2014/main" id="{FB503728-53DE-CD4E-6965-75A0B2EDCA4B}"/>
              </a:ext>
            </a:extLst>
          </p:cNvPr>
          <p:cNvPicPr/>
          <p:nvPr/>
        </p:nvPicPr>
        <p:blipFill>
          <a:blip r:embed="rId23" cstate="print"/>
          <a:stretch>
            <a:fillRect/>
          </a:stretch>
        </p:blipFill>
        <p:spPr>
          <a:xfrm>
            <a:off x="5569338" y="5302227"/>
            <a:ext cx="229695" cy="242398"/>
          </a:xfrm>
          <a:prstGeom prst="rect">
            <a:avLst/>
          </a:prstGeom>
        </p:spPr>
      </p:pic>
      <p:grpSp>
        <p:nvGrpSpPr>
          <p:cNvPr id="90" name="object 37">
            <a:extLst>
              <a:ext uri="{FF2B5EF4-FFF2-40B4-BE49-F238E27FC236}">
                <a16:creationId xmlns:a16="http://schemas.microsoft.com/office/drawing/2014/main" id="{49E0E0D6-6280-4C4A-20B0-F72879A1B330}"/>
              </a:ext>
            </a:extLst>
          </p:cNvPr>
          <p:cNvGrpSpPr/>
          <p:nvPr/>
        </p:nvGrpSpPr>
        <p:grpSpPr>
          <a:xfrm>
            <a:off x="1413098" y="4189472"/>
            <a:ext cx="868422" cy="321945"/>
            <a:chOff x="1154722" y="3339909"/>
            <a:chExt cx="798195" cy="295910"/>
          </a:xfrm>
        </p:grpSpPr>
        <p:pic>
          <p:nvPicPr>
            <p:cNvPr id="91" name="object 38">
              <a:extLst>
                <a:ext uri="{FF2B5EF4-FFF2-40B4-BE49-F238E27FC236}">
                  <a16:creationId xmlns:a16="http://schemas.microsoft.com/office/drawing/2014/main" id="{754BB133-639D-09D0-FD7D-91D9384A00D0}"/>
                </a:ext>
              </a:extLst>
            </p:cNvPr>
            <p:cNvPicPr/>
            <p:nvPr/>
          </p:nvPicPr>
          <p:blipFill>
            <a:blip r:embed="rId26" cstate="print"/>
            <a:stretch>
              <a:fillRect/>
            </a:stretch>
          </p:blipFill>
          <p:spPr>
            <a:xfrm>
              <a:off x="1542160" y="3368425"/>
              <a:ext cx="410489" cy="74543"/>
            </a:xfrm>
            <a:prstGeom prst="rect">
              <a:avLst/>
            </a:prstGeom>
          </p:spPr>
        </p:pic>
        <p:pic>
          <p:nvPicPr>
            <p:cNvPr id="92" name="object 39" descr="XIANGYU CO., LTD -- Stock Code: 600057">
              <a:extLst>
                <a:ext uri="{FF2B5EF4-FFF2-40B4-BE49-F238E27FC236}">
                  <a16:creationId xmlns:a16="http://schemas.microsoft.com/office/drawing/2014/main" id="{5C4EC8E7-210A-8BD2-A08A-6C59E619FF54}"/>
                </a:ext>
              </a:extLst>
            </p:cNvPr>
            <p:cNvPicPr/>
            <p:nvPr/>
          </p:nvPicPr>
          <p:blipFill>
            <a:blip r:embed="rId27" cstate="print"/>
            <a:stretch>
              <a:fillRect/>
            </a:stretch>
          </p:blipFill>
          <p:spPr>
            <a:xfrm>
              <a:off x="1328546" y="3471811"/>
              <a:ext cx="458597" cy="163563"/>
            </a:xfrm>
            <a:prstGeom prst="rect">
              <a:avLst/>
            </a:prstGeom>
          </p:spPr>
        </p:pic>
        <p:pic>
          <p:nvPicPr>
            <p:cNvPr id="93" name="object 40" descr="Indika Energy | World Economic Forum">
              <a:extLst>
                <a:ext uri="{FF2B5EF4-FFF2-40B4-BE49-F238E27FC236}">
                  <a16:creationId xmlns:a16="http://schemas.microsoft.com/office/drawing/2014/main" id="{2A39B04D-970B-4B38-D888-8EDE0C3DF5C2}"/>
                </a:ext>
              </a:extLst>
            </p:cNvPr>
            <p:cNvPicPr/>
            <p:nvPr/>
          </p:nvPicPr>
          <p:blipFill>
            <a:blip r:embed="rId28" cstate="print"/>
            <a:stretch>
              <a:fillRect/>
            </a:stretch>
          </p:blipFill>
          <p:spPr>
            <a:xfrm>
              <a:off x="1154722" y="3339909"/>
              <a:ext cx="313956" cy="131381"/>
            </a:xfrm>
            <a:prstGeom prst="rect">
              <a:avLst/>
            </a:prstGeom>
          </p:spPr>
        </p:pic>
      </p:grpSp>
      <p:pic>
        <p:nvPicPr>
          <p:cNvPr id="94" name="object 41" descr="Fosun International Limited">
            <a:extLst>
              <a:ext uri="{FF2B5EF4-FFF2-40B4-BE49-F238E27FC236}">
                <a16:creationId xmlns:a16="http://schemas.microsoft.com/office/drawing/2014/main" id="{304B4DD5-434A-4EC4-C9EB-DDAF3FBBA9DE}"/>
              </a:ext>
            </a:extLst>
          </p:cNvPr>
          <p:cNvPicPr/>
          <p:nvPr/>
        </p:nvPicPr>
        <p:blipFill>
          <a:blip r:embed="rId29" cstate="print"/>
          <a:stretch>
            <a:fillRect/>
          </a:stretch>
        </p:blipFill>
        <p:spPr>
          <a:xfrm>
            <a:off x="2493223" y="4211518"/>
            <a:ext cx="725762" cy="141927"/>
          </a:xfrm>
          <a:prstGeom prst="rect">
            <a:avLst/>
          </a:prstGeom>
        </p:spPr>
      </p:pic>
      <p:grpSp>
        <p:nvGrpSpPr>
          <p:cNvPr id="100" name="Group 99">
            <a:extLst>
              <a:ext uri="{FF2B5EF4-FFF2-40B4-BE49-F238E27FC236}">
                <a16:creationId xmlns:a16="http://schemas.microsoft.com/office/drawing/2014/main" id="{92824DEF-63F4-6992-C24E-28E05A148B27}"/>
              </a:ext>
            </a:extLst>
          </p:cNvPr>
          <p:cNvGrpSpPr/>
          <p:nvPr/>
        </p:nvGrpSpPr>
        <p:grpSpPr>
          <a:xfrm>
            <a:off x="3419641" y="4180409"/>
            <a:ext cx="844271" cy="347423"/>
            <a:chOff x="4020692" y="4487303"/>
            <a:chExt cx="818591" cy="336855"/>
          </a:xfrm>
        </p:grpSpPr>
        <p:pic>
          <p:nvPicPr>
            <p:cNvPr id="95" name="object 43" descr="Charoen Pokphand - Wikipedia">
              <a:extLst>
                <a:ext uri="{FF2B5EF4-FFF2-40B4-BE49-F238E27FC236}">
                  <a16:creationId xmlns:a16="http://schemas.microsoft.com/office/drawing/2014/main" id="{C6A68A17-3602-4050-6CA2-DF24032A0282}"/>
                </a:ext>
              </a:extLst>
            </p:cNvPr>
            <p:cNvPicPr/>
            <p:nvPr/>
          </p:nvPicPr>
          <p:blipFill>
            <a:blip r:embed="rId30" cstate="print"/>
            <a:stretch>
              <a:fillRect/>
            </a:stretch>
          </p:blipFill>
          <p:spPr>
            <a:xfrm>
              <a:off x="4679187" y="4487303"/>
              <a:ext cx="160096" cy="194805"/>
            </a:xfrm>
            <a:prstGeom prst="rect">
              <a:avLst/>
            </a:prstGeom>
          </p:spPr>
        </p:pic>
        <p:pic>
          <p:nvPicPr>
            <p:cNvPr id="96" name="object 44" descr="Southern Asset Management 南方基金 — MIT Asian Club">
              <a:extLst>
                <a:ext uri="{FF2B5EF4-FFF2-40B4-BE49-F238E27FC236}">
                  <a16:creationId xmlns:a16="http://schemas.microsoft.com/office/drawing/2014/main" id="{674B5A3E-518B-29F0-8060-8990AC405DA2}"/>
                </a:ext>
              </a:extLst>
            </p:cNvPr>
            <p:cNvPicPr/>
            <p:nvPr/>
          </p:nvPicPr>
          <p:blipFill>
            <a:blip r:embed="rId31" cstate="print"/>
            <a:stretch>
              <a:fillRect/>
            </a:stretch>
          </p:blipFill>
          <p:spPr>
            <a:xfrm>
              <a:off x="4020692" y="4512906"/>
              <a:ext cx="577596" cy="124625"/>
            </a:xfrm>
            <a:prstGeom prst="rect">
              <a:avLst/>
            </a:prstGeom>
          </p:spPr>
        </p:pic>
        <p:grpSp>
          <p:nvGrpSpPr>
            <p:cNvPr id="97" name="object 87">
              <a:extLst>
                <a:ext uri="{FF2B5EF4-FFF2-40B4-BE49-F238E27FC236}">
                  <a16:creationId xmlns:a16="http://schemas.microsoft.com/office/drawing/2014/main" id="{DA51C4BC-4AB6-3793-634F-A8D6F1474CD2}"/>
                </a:ext>
              </a:extLst>
            </p:cNvPr>
            <p:cNvGrpSpPr/>
            <p:nvPr/>
          </p:nvGrpSpPr>
          <p:grpSpPr>
            <a:xfrm>
              <a:off x="4026661" y="4659693"/>
              <a:ext cx="805815" cy="164465"/>
              <a:chOff x="2856229" y="3477069"/>
              <a:chExt cx="805815" cy="164465"/>
            </a:xfrm>
          </p:grpSpPr>
          <p:pic>
            <p:nvPicPr>
              <p:cNvPr id="98" name="object 88" descr="UBS Global Asset Management - Hedgeweek">
                <a:extLst>
                  <a:ext uri="{FF2B5EF4-FFF2-40B4-BE49-F238E27FC236}">
                    <a16:creationId xmlns:a16="http://schemas.microsoft.com/office/drawing/2014/main" id="{3BF87916-1AC2-8EE8-C186-AB768656716C}"/>
                  </a:ext>
                </a:extLst>
              </p:cNvPr>
              <p:cNvPicPr/>
              <p:nvPr/>
            </p:nvPicPr>
            <p:blipFill>
              <a:blip r:embed="rId32" cstate="print"/>
              <a:stretch>
                <a:fillRect/>
              </a:stretch>
            </p:blipFill>
            <p:spPr>
              <a:xfrm>
                <a:off x="3296284" y="3497795"/>
                <a:ext cx="365760" cy="143167"/>
              </a:xfrm>
              <a:prstGeom prst="rect">
                <a:avLst/>
              </a:prstGeom>
            </p:spPr>
          </p:pic>
          <p:pic>
            <p:nvPicPr>
              <p:cNvPr id="99" name="object 89" descr="Jane Street Capital - Wikipedia">
                <a:extLst>
                  <a:ext uri="{FF2B5EF4-FFF2-40B4-BE49-F238E27FC236}">
                    <a16:creationId xmlns:a16="http://schemas.microsoft.com/office/drawing/2014/main" id="{5AD9D656-6E18-5444-21DD-651C4E491825}"/>
                  </a:ext>
                </a:extLst>
              </p:cNvPr>
              <p:cNvPicPr/>
              <p:nvPr/>
            </p:nvPicPr>
            <p:blipFill>
              <a:blip r:embed="rId33" cstate="print"/>
              <a:stretch>
                <a:fillRect/>
              </a:stretch>
            </p:blipFill>
            <p:spPr>
              <a:xfrm>
                <a:off x="2856229" y="3477069"/>
                <a:ext cx="365760" cy="144462"/>
              </a:xfrm>
              <a:prstGeom prst="rect">
                <a:avLst/>
              </a:prstGeom>
            </p:spPr>
          </p:pic>
        </p:grpSp>
      </p:grpSp>
      <p:grpSp>
        <p:nvGrpSpPr>
          <p:cNvPr id="105" name="Group 104">
            <a:extLst>
              <a:ext uri="{FF2B5EF4-FFF2-40B4-BE49-F238E27FC236}">
                <a16:creationId xmlns:a16="http://schemas.microsoft.com/office/drawing/2014/main" id="{AC314CDB-7436-B87C-CE13-7EBBACC23E51}"/>
              </a:ext>
            </a:extLst>
          </p:cNvPr>
          <p:cNvGrpSpPr/>
          <p:nvPr/>
        </p:nvGrpSpPr>
        <p:grpSpPr>
          <a:xfrm>
            <a:off x="7261618" y="4202846"/>
            <a:ext cx="820640" cy="310024"/>
            <a:chOff x="5791200" y="-458793"/>
            <a:chExt cx="806945" cy="304850"/>
          </a:xfrm>
        </p:grpSpPr>
        <p:pic>
          <p:nvPicPr>
            <p:cNvPr id="101" name="object 82">
              <a:extLst>
                <a:ext uri="{FF2B5EF4-FFF2-40B4-BE49-F238E27FC236}">
                  <a16:creationId xmlns:a16="http://schemas.microsoft.com/office/drawing/2014/main" id="{61D4BCA1-1D60-FDCA-451A-32E97E5F6194}"/>
                </a:ext>
              </a:extLst>
            </p:cNvPr>
            <p:cNvPicPr/>
            <p:nvPr/>
          </p:nvPicPr>
          <p:blipFill>
            <a:blip r:embed="rId34" cstate="print"/>
            <a:stretch>
              <a:fillRect/>
            </a:stretch>
          </p:blipFill>
          <p:spPr>
            <a:xfrm>
              <a:off x="5796914" y="-458793"/>
              <a:ext cx="274320" cy="152196"/>
            </a:xfrm>
            <a:prstGeom prst="rect">
              <a:avLst/>
            </a:prstGeom>
          </p:spPr>
        </p:pic>
        <p:pic>
          <p:nvPicPr>
            <p:cNvPr id="102" name="object 83">
              <a:extLst>
                <a:ext uri="{FF2B5EF4-FFF2-40B4-BE49-F238E27FC236}">
                  <a16:creationId xmlns:a16="http://schemas.microsoft.com/office/drawing/2014/main" id="{168381AC-3A6F-5186-BF90-B0B3B0E614F4}"/>
                </a:ext>
              </a:extLst>
            </p:cNvPr>
            <p:cNvPicPr/>
            <p:nvPr/>
          </p:nvPicPr>
          <p:blipFill>
            <a:blip r:embed="rId35" cstate="print"/>
            <a:stretch>
              <a:fillRect/>
            </a:stretch>
          </p:blipFill>
          <p:spPr>
            <a:xfrm>
              <a:off x="6083553" y="-454437"/>
              <a:ext cx="502920" cy="128917"/>
            </a:xfrm>
            <a:prstGeom prst="rect">
              <a:avLst/>
            </a:prstGeom>
          </p:spPr>
        </p:pic>
        <p:pic>
          <p:nvPicPr>
            <p:cNvPr id="103" name="object 85">
              <a:extLst>
                <a:ext uri="{FF2B5EF4-FFF2-40B4-BE49-F238E27FC236}">
                  <a16:creationId xmlns:a16="http://schemas.microsoft.com/office/drawing/2014/main" id="{B4689D6F-9DBA-2CCE-3DB8-BFCCBD8D3573}"/>
                </a:ext>
              </a:extLst>
            </p:cNvPr>
            <p:cNvPicPr/>
            <p:nvPr/>
          </p:nvPicPr>
          <p:blipFill>
            <a:blip r:embed="rId36" cstate="print"/>
            <a:stretch>
              <a:fillRect/>
            </a:stretch>
          </p:blipFill>
          <p:spPr>
            <a:xfrm>
              <a:off x="5791200" y="-235776"/>
              <a:ext cx="457200" cy="81833"/>
            </a:xfrm>
            <a:prstGeom prst="rect">
              <a:avLst/>
            </a:prstGeom>
          </p:spPr>
        </p:pic>
        <p:pic>
          <p:nvPicPr>
            <p:cNvPr id="104" name="object 86" descr="RTW – Life sciences investment and innovation firm">
              <a:extLst>
                <a:ext uri="{FF2B5EF4-FFF2-40B4-BE49-F238E27FC236}">
                  <a16:creationId xmlns:a16="http://schemas.microsoft.com/office/drawing/2014/main" id="{F23CAA44-1FB1-0842-6EDF-0D9D3854E6F0}"/>
                </a:ext>
              </a:extLst>
            </p:cNvPr>
            <p:cNvPicPr/>
            <p:nvPr/>
          </p:nvPicPr>
          <p:blipFill>
            <a:blip r:embed="rId37" cstate="print"/>
            <a:stretch>
              <a:fillRect/>
            </a:stretch>
          </p:blipFill>
          <p:spPr>
            <a:xfrm>
              <a:off x="6276340" y="-244475"/>
              <a:ext cx="321805" cy="87356"/>
            </a:xfrm>
            <a:prstGeom prst="rect">
              <a:avLst/>
            </a:prstGeom>
          </p:spPr>
        </p:pic>
      </p:grpSp>
      <p:grpSp>
        <p:nvGrpSpPr>
          <p:cNvPr id="106" name="Group 105">
            <a:extLst>
              <a:ext uri="{FF2B5EF4-FFF2-40B4-BE49-F238E27FC236}">
                <a16:creationId xmlns:a16="http://schemas.microsoft.com/office/drawing/2014/main" id="{58E5E49D-BECB-578D-9EE8-47A5F68FD1E3}"/>
              </a:ext>
            </a:extLst>
          </p:cNvPr>
          <p:cNvGrpSpPr/>
          <p:nvPr/>
        </p:nvGrpSpPr>
        <p:grpSpPr>
          <a:xfrm>
            <a:off x="6249577" y="4222940"/>
            <a:ext cx="850194" cy="283738"/>
            <a:chOff x="4929759" y="-432529"/>
            <a:chExt cx="822198" cy="274395"/>
          </a:xfrm>
        </p:grpSpPr>
        <p:pic>
          <p:nvPicPr>
            <p:cNvPr id="107" name="object 25">
              <a:extLst>
                <a:ext uri="{FF2B5EF4-FFF2-40B4-BE49-F238E27FC236}">
                  <a16:creationId xmlns:a16="http://schemas.microsoft.com/office/drawing/2014/main" id="{ABA10BAF-8867-4406-BCB1-8318C7597033}"/>
                </a:ext>
              </a:extLst>
            </p:cNvPr>
            <p:cNvPicPr/>
            <p:nvPr/>
          </p:nvPicPr>
          <p:blipFill>
            <a:blip r:embed="rId38" cstate="print"/>
            <a:stretch>
              <a:fillRect/>
            </a:stretch>
          </p:blipFill>
          <p:spPr>
            <a:xfrm>
              <a:off x="4929759" y="-432529"/>
              <a:ext cx="401523" cy="77290"/>
            </a:xfrm>
            <a:prstGeom prst="rect">
              <a:avLst/>
            </a:prstGeom>
          </p:spPr>
        </p:pic>
        <p:pic>
          <p:nvPicPr>
            <p:cNvPr id="108" name="object 53">
              <a:extLst>
                <a:ext uri="{FF2B5EF4-FFF2-40B4-BE49-F238E27FC236}">
                  <a16:creationId xmlns:a16="http://schemas.microsoft.com/office/drawing/2014/main" id="{A093DF55-49CC-FA30-C6B4-1DA84A905207}"/>
                </a:ext>
              </a:extLst>
            </p:cNvPr>
            <p:cNvPicPr/>
            <p:nvPr/>
          </p:nvPicPr>
          <p:blipFill>
            <a:blip r:embed="rId39" cstate="print"/>
            <a:stretch>
              <a:fillRect/>
            </a:stretch>
          </p:blipFill>
          <p:spPr>
            <a:xfrm>
              <a:off x="5351145" y="-430272"/>
              <a:ext cx="400812" cy="122913"/>
            </a:xfrm>
            <a:prstGeom prst="rect">
              <a:avLst/>
            </a:prstGeom>
          </p:spPr>
        </p:pic>
        <p:pic>
          <p:nvPicPr>
            <p:cNvPr id="109" name="object 54" descr="MORGAN STANLEY PRIVATE BANK's REO &amp; Non Performing Loans ...">
              <a:extLst>
                <a:ext uri="{FF2B5EF4-FFF2-40B4-BE49-F238E27FC236}">
                  <a16:creationId xmlns:a16="http://schemas.microsoft.com/office/drawing/2014/main" id="{D45B7213-7C59-ED35-C3FE-9712FAB330F2}"/>
                </a:ext>
              </a:extLst>
            </p:cNvPr>
            <p:cNvPicPr/>
            <p:nvPr/>
          </p:nvPicPr>
          <p:blipFill>
            <a:blip r:embed="rId40" cstate="print"/>
            <a:stretch>
              <a:fillRect/>
            </a:stretch>
          </p:blipFill>
          <p:spPr>
            <a:xfrm>
              <a:off x="4929759" y="-258513"/>
              <a:ext cx="401523" cy="100379"/>
            </a:xfrm>
            <a:prstGeom prst="rect">
              <a:avLst/>
            </a:prstGeom>
          </p:spPr>
        </p:pic>
        <p:pic>
          <p:nvPicPr>
            <p:cNvPr id="110" name="object 55">
              <a:extLst>
                <a:ext uri="{FF2B5EF4-FFF2-40B4-BE49-F238E27FC236}">
                  <a16:creationId xmlns:a16="http://schemas.microsoft.com/office/drawing/2014/main" id="{58AE8727-6CB5-FE84-7E64-F201CF009BDF}"/>
                </a:ext>
              </a:extLst>
            </p:cNvPr>
            <p:cNvPicPr/>
            <p:nvPr/>
          </p:nvPicPr>
          <p:blipFill>
            <a:blip r:embed="rId41" cstate="print"/>
            <a:stretch>
              <a:fillRect/>
            </a:stretch>
          </p:blipFill>
          <p:spPr>
            <a:xfrm>
              <a:off x="5344414" y="-245068"/>
              <a:ext cx="401523" cy="73345"/>
            </a:xfrm>
            <a:prstGeom prst="rect">
              <a:avLst/>
            </a:prstGeom>
          </p:spPr>
        </p:pic>
      </p:grpSp>
      <p:grpSp>
        <p:nvGrpSpPr>
          <p:cNvPr id="115" name="Group 114">
            <a:extLst>
              <a:ext uri="{FF2B5EF4-FFF2-40B4-BE49-F238E27FC236}">
                <a16:creationId xmlns:a16="http://schemas.microsoft.com/office/drawing/2014/main" id="{0400D30E-369B-81E2-16A1-FFE48D4CBCB9}"/>
              </a:ext>
            </a:extLst>
          </p:cNvPr>
          <p:cNvGrpSpPr/>
          <p:nvPr/>
        </p:nvGrpSpPr>
        <p:grpSpPr>
          <a:xfrm>
            <a:off x="5256927" y="4191952"/>
            <a:ext cx="923237" cy="311631"/>
            <a:chOff x="4090162" y="-444506"/>
            <a:chExt cx="801750" cy="270624"/>
          </a:xfrm>
        </p:grpSpPr>
        <p:pic>
          <p:nvPicPr>
            <p:cNvPr id="111" name="object 24">
              <a:extLst>
                <a:ext uri="{FF2B5EF4-FFF2-40B4-BE49-F238E27FC236}">
                  <a16:creationId xmlns:a16="http://schemas.microsoft.com/office/drawing/2014/main" id="{D49A98A8-E3F0-3BBF-F3C6-F731EC51CDD8}"/>
                </a:ext>
              </a:extLst>
            </p:cNvPr>
            <p:cNvPicPr/>
            <p:nvPr/>
          </p:nvPicPr>
          <p:blipFill>
            <a:blip r:embed="rId42" cstate="print"/>
            <a:stretch>
              <a:fillRect/>
            </a:stretch>
          </p:blipFill>
          <p:spPr>
            <a:xfrm>
              <a:off x="4090162" y="-277069"/>
              <a:ext cx="365760" cy="103187"/>
            </a:xfrm>
            <a:prstGeom prst="rect">
              <a:avLst/>
            </a:prstGeom>
          </p:spPr>
        </p:pic>
        <p:pic>
          <p:nvPicPr>
            <p:cNvPr id="112" name="object 56">
              <a:extLst>
                <a:ext uri="{FF2B5EF4-FFF2-40B4-BE49-F238E27FC236}">
                  <a16:creationId xmlns:a16="http://schemas.microsoft.com/office/drawing/2014/main" id="{035E4671-7883-E325-1A32-9C31AA59ADAA}"/>
                </a:ext>
              </a:extLst>
            </p:cNvPr>
            <p:cNvPicPr/>
            <p:nvPr/>
          </p:nvPicPr>
          <p:blipFill>
            <a:blip r:embed="rId43" cstate="print"/>
            <a:stretch>
              <a:fillRect/>
            </a:stretch>
          </p:blipFill>
          <p:spPr>
            <a:xfrm>
              <a:off x="4615053" y="-444506"/>
              <a:ext cx="274320" cy="136258"/>
            </a:xfrm>
            <a:prstGeom prst="rect">
              <a:avLst/>
            </a:prstGeom>
          </p:spPr>
        </p:pic>
        <p:pic>
          <p:nvPicPr>
            <p:cNvPr id="113" name="object 57">
              <a:extLst>
                <a:ext uri="{FF2B5EF4-FFF2-40B4-BE49-F238E27FC236}">
                  <a16:creationId xmlns:a16="http://schemas.microsoft.com/office/drawing/2014/main" id="{9F0CCB00-00C8-295C-574C-6D9C894E849E}"/>
                </a:ext>
              </a:extLst>
            </p:cNvPr>
            <p:cNvPicPr/>
            <p:nvPr/>
          </p:nvPicPr>
          <p:blipFill>
            <a:blip r:embed="rId44" cstate="print"/>
            <a:stretch>
              <a:fillRect/>
            </a:stretch>
          </p:blipFill>
          <p:spPr>
            <a:xfrm>
              <a:off x="4091813" y="-419783"/>
              <a:ext cx="502920" cy="72419"/>
            </a:xfrm>
            <a:prstGeom prst="rect">
              <a:avLst/>
            </a:prstGeom>
          </p:spPr>
        </p:pic>
        <p:pic>
          <p:nvPicPr>
            <p:cNvPr id="114" name="object 58">
              <a:extLst>
                <a:ext uri="{FF2B5EF4-FFF2-40B4-BE49-F238E27FC236}">
                  <a16:creationId xmlns:a16="http://schemas.microsoft.com/office/drawing/2014/main" id="{381596C5-E3D8-EE94-3665-CB9C3F00E7D0}"/>
                </a:ext>
              </a:extLst>
            </p:cNvPr>
            <p:cNvPicPr/>
            <p:nvPr/>
          </p:nvPicPr>
          <p:blipFill>
            <a:blip r:embed="rId45" cstate="print"/>
            <a:stretch>
              <a:fillRect/>
            </a:stretch>
          </p:blipFill>
          <p:spPr>
            <a:xfrm>
              <a:off x="4480433" y="-261249"/>
              <a:ext cx="411479" cy="73651"/>
            </a:xfrm>
            <a:prstGeom prst="rect">
              <a:avLst/>
            </a:prstGeom>
          </p:spPr>
        </p:pic>
      </p:grpSp>
      <p:grpSp>
        <p:nvGrpSpPr>
          <p:cNvPr id="119" name="Group 118">
            <a:extLst>
              <a:ext uri="{FF2B5EF4-FFF2-40B4-BE49-F238E27FC236}">
                <a16:creationId xmlns:a16="http://schemas.microsoft.com/office/drawing/2014/main" id="{5077782C-D5B5-A934-749E-215E1E9DD930}"/>
              </a:ext>
            </a:extLst>
          </p:cNvPr>
          <p:cNvGrpSpPr/>
          <p:nvPr/>
        </p:nvGrpSpPr>
        <p:grpSpPr>
          <a:xfrm>
            <a:off x="4384404" y="4165716"/>
            <a:ext cx="765758" cy="353344"/>
            <a:chOff x="3321431" y="-471900"/>
            <a:chExt cx="726224" cy="335102"/>
          </a:xfrm>
        </p:grpSpPr>
        <p:pic>
          <p:nvPicPr>
            <p:cNvPr id="116" name="object 21" descr="中國信達- 維基百科，自由的百科全書">
              <a:extLst>
                <a:ext uri="{FF2B5EF4-FFF2-40B4-BE49-F238E27FC236}">
                  <a16:creationId xmlns:a16="http://schemas.microsoft.com/office/drawing/2014/main" id="{99906866-2F24-BBF8-6905-283AED7CC3BD}"/>
                </a:ext>
              </a:extLst>
            </p:cNvPr>
            <p:cNvPicPr/>
            <p:nvPr/>
          </p:nvPicPr>
          <p:blipFill>
            <a:blip r:embed="rId46" cstate="print"/>
            <a:stretch>
              <a:fillRect/>
            </a:stretch>
          </p:blipFill>
          <p:spPr>
            <a:xfrm>
              <a:off x="3321431" y="-471900"/>
              <a:ext cx="280670" cy="228549"/>
            </a:xfrm>
            <a:prstGeom prst="rect">
              <a:avLst/>
            </a:prstGeom>
          </p:spPr>
        </p:pic>
        <p:pic>
          <p:nvPicPr>
            <p:cNvPr id="117" name="object 22" descr="实习汇总| 中金公司，国泰君安证券，泰康资产，快手，蔚来资本，麦当劳，广发基金等- 知乎">
              <a:extLst>
                <a:ext uri="{FF2B5EF4-FFF2-40B4-BE49-F238E27FC236}">
                  <a16:creationId xmlns:a16="http://schemas.microsoft.com/office/drawing/2014/main" id="{A4E210FB-7DAC-CB8B-1596-812072128D60}"/>
                </a:ext>
              </a:extLst>
            </p:cNvPr>
            <p:cNvPicPr/>
            <p:nvPr/>
          </p:nvPicPr>
          <p:blipFill>
            <a:blip r:embed="rId47" cstate="print"/>
            <a:stretch>
              <a:fillRect/>
            </a:stretch>
          </p:blipFill>
          <p:spPr>
            <a:xfrm>
              <a:off x="3434969" y="-261745"/>
              <a:ext cx="473481" cy="124947"/>
            </a:xfrm>
            <a:prstGeom prst="rect">
              <a:avLst/>
            </a:prstGeom>
          </p:spPr>
        </p:pic>
        <p:pic>
          <p:nvPicPr>
            <p:cNvPr id="118" name="object 23" descr="ETF Company - Fullgoal - ETF Stream">
              <a:extLst>
                <a:ext uri="{FF2B5EF4-FFF2-40B4-BE49-F238E27FC236}">
                  <a16:creationId xmlns:a16="http://schemas.microsoft.com/office/drawing/2014/main" id="{C8AF7D8C-BF19-280D-4417-DAFF82A72313}"/>
                </a:ext>
              </a:extLst>
            </p:cNvPr>
            <p:cNvPicPr/>
            <p:nvPr/>
          </p:nvPicPr>
          <p:blipFill>
            <a:blip r:embed="rId48" cstate="print"/>
            <a:stretch>
              <a:fillRect/>
            </a:stretch>
          </p:blipFill>
          <p:spPr>
            <a:xfrm>
              <a:off x="3633089" y="-414642"/>
              <a:ext cx="414566" cy="126714"/>
            </a:xfrm>
            <a:prstGeom prst="rect">
              <a:avLst/>
            </a:prstGeom>
          </p:spPr>
        </p:pic>
      </p:grpSp>
      <p:sp>
        <p:nvSpPr>
          <p:cNvPr id="123" name="TextBox 122">
            <a:extLst>
              <a:ext uri="{FF2B5EF4-FFF2-40B4-BE49-F238E27FC236}">
                <a16:creationId xmlns:a16="http://schemas.microsoft.com/office/drawing/2014/main" id="{120026AE-0F8B-ADBB-31AD-A008A76EC60E}"/>
              </a:ext>
            </a:extLst>
          </p:cNvPr>
          <p:cNvSpPr txBox="1"/>
          <p:nvPr/>
        </p:nvSpPr>
        <p:spPr>
          <a:xfrm>
            <a:off x="698238" y="1124738"/>
            <a:ext cx="7464305" cy="222885"/>
          </a:xfrm>
          <a:prstGeom prst="rect">
            <a:avLst/>
          </a:prstGeom>
          <a:solidFill>
            <a:srgbClr val="C00000"/>
          </a:solidFill>
        </p:spPr>
        <p:txBody>
          <a:bodyPr wrap="square" lIns="0" tIns="0" rIns="0" bIns="0" rtlCol="0" anchor="ctr" anchorCtr="0">
            <a:noAutofit/>
          </a:bodyPr>
          <a:lstStyle/>
          <a:p>
            <a:pPr algn="ctr"/>
            <a:r>
              <a:rPr lang="en-US" sz="813" dirty="0">
                <a:solidFill>
                  <a:schemeClr val="bg1"/>
                </a:solidFill>
              </a:rPr>
              <a:t>7 International Issuer IPOs Completed in 2025</a:t>
            </a:r>
          </a:p>
        </p:txBody>
      </p:sp>
      <p:sp>
        <p:nvSpPr>
          <p:cNvPr id="124" name="TextBox 123">
            <a:extLst>
              <a:ext uri="{FF2B5EF4-FFF2-40B4-BE49-F238E27FC236}">
                <a16:creationId xmlns:a16="http://schemas.microsoft.com/office/drawing/2014/main" id="{4D974CF1-C855-5523-B97C-53062E3D97BE}"/>
              </a:ext>
            </a:extLst>
          </p:cNvPr>
          <p:cNvSpPr txBox="1"/>
          <p:nvPr/>
        </p:nvSpPr>
        <p:spPr>
          <a:xfrm>
            <a:off x="8266558" y="1139236"/>
            <a:ext cx="940942" cy="208387"/>
          </a:xfrm>
          <a:prstGeom prst="rect">
            <a:avLst/>
          </a:prstGeom>
          <a:solidFill>
            <a:srgbClr val="C00000"/>
          </a:solidFill>
        </p:spPr>
        <p:txBody>
          <a:bodyPr wrap="square" lIns="0" tIns="0" rIns="0" bIns="0" rtlCol="0" anchor="ctr" anchorCtr="0">
            <a:noAutofit/>
          </a:bodyPr>
          <a:lstStyle/>
          <a:p>
            <a:pPr algn="ctr"/>
            <a:r>
              <a:rPr lang="en-US" sz="813" dirty="0">
                <a:solidFill>
                  <a:schemeClr val="bg1"/>
                </a:solidFill>
              </a:rPr>
              <a:t>Upcoming Pipeline</a:t>
            </a:r>
          </a:p>
        </p:txBody>
      </p:sp>
      <p:pic>
        <p:nvPicPr>
          <p:cNvPr id="21" name="object 69">
            <a:extLst>
              <a:ext uri="{FF2B5EF4-FFF2-40B4-BE49-F238E27FC236}">
                <a16:creationId xmlns:a16="http://schemas.microsoft.com/office/drawing/2014/main" id="{DA61A965-C3BB-181C-B9AD-E22CE142AEF1}"/>
              </a:ext>
            </a:extLst>
          </p:cNvPr>
          <p:cNvPicPr/>
          <p:nvPr/>
        </p:nvPicPr>
        <p:blipFill>
          <a:blip r:embed="rId49" cstate="print"/>
          <a:stretch>
            <a:fillRect/>
          </a:stretch>
        </p:blipFill>
        <p:spPr>
          <a:xfrm>
            <a:off x="8872086" y="2185884"/>
            <a:ext cx="141200" cy="141200"/>
          </a:xfrm>
          <a:prstGeom prst="rect">
            <a:avLst/>
          </a:prstGeom>
        </p:spPr>
      </p:pic>
      <p:sp>
        <p:nvSpPr>
          <p:cNvPr id="122" name="TextBox 121">
            <a:extLst>
              <a:ext uri="{FF2B5EF4-FFF2-40B4-BE49-F238E27FC236}">
                <a16:creationId xmlns:a16="http://schemas.microsoft.com/office/drawing/2014/main" id="{54853A2E-34A0-CFF9-D7E5-DBB4E6B24739}"/>
              </a:ext>
            </a:extLst>
          </p:cNvPr>
          <p:cNvSpPr txBox="1"/>
          <p:nvPr/>
        </p:nvSpPr>
        <p:spPr>
          <a:xfrm>
            <a:off x="8679601" y="2217613"/>
            <a:ext cx="604653" cy="292388"/>
          </a:xfrm>
          <a:prstGeom prst="rect">
            <a:avLst/>
          </a:prstGeom>
          <a:noFill/>
        </p:spPr>
        <p:txBody>
          <a:bodyPr wrap="square" rtlCol="0">
            <a:spAutoFit/>
          </a:bodyPr>
          <a:lstStyle/>
          <a:p>
            <a:pPr algn="r"/>
            <a:r>
              <a:rPr lang="en-US" sz="650" dirty="0"/>
              <a:t>US</a:t>
            </a:r>
          </a:p>
          <a:p>
            <a:pPr algn="r"/>
            <a:r>
              <a:rPr lang="en-US" sz="650" dirty="0"/>
              <a:t>Industrials</a:t>
            </a:r>
          </a:p>
        </p:txBody>
      </p:sp>
      <p:sp>
        <p:nvSpPr>
          <p:cNvPr id="126" name="object 77">
            <a:extLst>
              <a:ext uri="{FF2B5EF4-FFF2-40B4-BE49-F238E27FC236}">
                <a16:creationId xmlns:a16="http://schemas.microsoft.com/office/drawing/2014/main" id="{82F139AE-3606-5923-3F93-B4217D166076}"/>
              </a:ext>
            </a:extLst>
          </p:cNvPr>
          <p:cNvSpPr txBox="1"/>
          <p:nvPr/>
        </p:nvSpPr>
        <p:spPr>
          <a:xfrm>
            <a:off x="8770426" y="3318341"/>
            <a:ext cx="356188" cy="192360"/>
          </a:xfrm>
          <a:prstGeom prst="rect">
            <a:avLst/>
          </a:prstGeom>
          <a:noFill/>
        </p:spPr>
        <p:txBody>
          <a:bodyPr wrap="none" rtlCol="0">
            <a:spAutoFit/>
          </a:bodyPr>
          <a:lstStyle>
            <a:defPPr>
              <a:defRPr lang="en-US"/>
            </a:defPPr>
            <a:lvl1pPr algn="r">
              <a:defRPr sz="800"/>
            </a:lvl1pPr>
          </a:lstStyle>
          <a:p>
            <a:r>
              <a:rPr sz="650" dirty="0"/>
              <a:t>TMT</a:t>
            </a:r>
          </a:p>
        </p:txBody>
      </p:sp>
      <p:sp>
        <p:nvSpPr>
          <p:cNvPr id="127" name="object 59">
            <a:extLst>
              <a:ext uri="{FF2B5EF4-FFF2-40B4-BE49-F238E27FC236}">
                <a16:creationId xmlns:a16="http://schemas.microsoft.com/office/drawing/2014/main" id="{E794CC1B-6635-3048-2D04-6EB34890642D}"/>
              </a:ext>
            </a:extLst>
          </p:cNvPr>
          <p:cNvSpPr txBox="1"/>
          <p:nvPr/>
        </p:nvSpPr>
        <p:spPr>
          <a:xfrm>
            <a:off x="8562060" y="5063888"/>
            <a:ext cx="707871" cy="292388"/>
          </a:xfrm>
          <a:prstGeom prst="rect">
            <a:avLst/>
          </a:prstGeom>
          <a:noFill/>
        </p:spPr>
        <p:txBody>
          <a:bodyPr wrap="square" rtlCol="0">
            <a:spAutoFit/>
          </a:bodyPr>
          <a:lstStyle>
            <a:defPPr>
              <a:defRPr lang="en-US"/>
            </a:defPPr>
            <a:lvl1pPr algn="r">
              <a:defRPr sz="800"/>
            </a:lvl1pPr>
          </a:lstStyle>
          <a:p>
            <a:r>
              <a:rPr lang="en-US" sz="650" dirty="0"/>
              <a:t>Malaysia</a:t>
            </a:r>
          </a:p>
          <a:p>
            <a:pPr algn="l"/>
            <a:r>
              <a:rPr lang="en-US" sz="650" dirty="0"/>
              <a:t>Industrials</a:t>
            </a:r>
          </a:p>
        </p:txBody>
      </p:sp>
      <p:pic>
        <p:nvPicPr>
          <p:cNvPr id="7" name="object 7" descr="7,200+ Malaysia Flag Stock Photos, Pictures &amp; Royalty-Free Images - iStock  | Malaysia flag heart, Malaysia flag table, Malaysia flag pole">
            <a:extLst>
              <a:ext uri="{FF2B5EF4-FFF2-40B4-BE49-F238E27FC236}">
                <a16:creationId xmlns:a16="http://schemas.microsoft.com/office/drawing/2014/main" id="{62A5C13C-6EC4-C64C-3720-5DA21EA6F9AC}"/>
              </a:ext>
            </a:extLst>
          </p:cNvPr>
          <p:cNvPicPr/>
          <p:nvPr/>
        </p:nvPicPr>
        <p:blipFill>
          <a:blip r:embed="rId50" cstate="print"/>
          <a:stretch>
            <a:fillRect/>
          </a:stretch>
        </p:blipFill>
        <p:spPr>
          <a:xfrm>
            <a:off x="8651628" y="5028306"/>
            <a:ext cx="156235" cy="153738"/>
          </a:xfrm>
          <a:prstGeom prst="rect">
            <a:avLst/>
          </a:prstGeom>
        </p:spPr>
      </p:pic>
      <p:sp>
        <p:nvSpPr>
          <p:cNvPr id="128" name="object 11">
            <a:extLst>
              <a:ext uri="{FF2B5EF4-FFF2-40B4-BE49-F238E27FC236}">
                <a16:creationId xmlns:a16="http://schemas.microsoft.com/office/drawing/2014/main" id="{4B538966-4F2D-F489-7B00-8A3CF930E8F0}"/>
              </a:ext>
            </a:extLst>
          </p:cNvPr>
          <p:cNvSpPr/>
          <p:nvPr/>
        </p:nvSpPr>
        <p:spPr>
          <a:xfrm>
            <a:off x="8327335" y="3024581"/>
            <a:ext cx="889703" cy="45719"/>
          </a:xfrm>
          <a:custGeom>
            <a:avLst/>
            <a:gdLst/>
            <a:ahLst/>
            <a:cxnLst/>
            <a:rect l="l" t="t" r="r" b="b"/>
            <a:pathLst>
              <a:path w="1260475">
                <a:moveTo>
                  <a:pt x="0" y="0"/>
                </a:moveTo>
                <a:lnTo>
                  <a:pt x="1260094" y="0"/>
                </a:lnTo>
              </a:path>
            </a:pathLst>
          </a:custGeom>
          <a:ln w="6350">
            <a:solidFill>
              <a:srgbClr val="BEBEBE"/>
            </a:solidFill>
            <a:prstDash val="sysDash"/>
          </a:ln>
        </p:spPr>
        <p:txBody>
          <a:bodyPr wrap="square" lIns="0" tIns="0" rIns="0" bIns="0" rtlCol="0"/>
          <a:lstStyle/>
          <a:p>
            <a:endParaRPr sz="1950"/>
          </a:p>
        </p:txBody>
      </p:sp>
      <p:sp>
        <p:nvSpPr>
          <p:cNvPr id="129" name="object 11">
            <a:extLst>
              <a:ext uri="{FF2B5EF4-FFF2-40B4-BE49-F238E27FC236}">
                <a16:creationId xmlns:a16="http://schemas.microsoft.com/office/drawing/2014/main" id="{CB06BE33-788B-54CC-43F0-632B240B0D30}"/>
              </a:ext>
            </a:extLst>
          </p:cNvPr>
          <p:cNvSpPr/>
          <p:nvPr/>
        </p:nvSpPr>
        <p:spPr>
          <a:xfrm flipV="1">
            <a:off x="8327335" y="3508834"/>
            <a:ext cx="889703" cy="45719"/>
          </a:xfrm>
          <a:custGeom>
            <a:avLst/>
            <a:gdLst/>
            <a:ahLst/>
            <a:cxnLst/>
            <a:rect l="l" t="t" r="r" b="b"/>
            <a:pathLst>
              <a:path w="1260475">
                <a:moveTo>
                  <a:pt x="0" y="0"/>
                </a:moveTo>
                <a:lnTo>
                  <a:pt x="1260094" y="0"/>
                </a:lnTo>
              </a:path>
            </a:pathLst>
          </a:custGeom>
          <a:ln w="6350">
            <a:solidFill>
              <a:srgbClr val="BEBEBE"/>
            </a:solidFill>
            <a:prstDash val="sysDash"/>
          </a:ln>
        </p:spPr>
        <p:txBody>
          <a:bodyPr wrap="square" lIns="0" tIns="0" rIns="0" bIns="0" rtlCol="0"/>
          <a:lstStyle/>
          <a:p>
            <a:endParaRPr sz="1950"/>
          </a:p>
        </p:txBody>
      </p:sp>
    </p:spTree>
    <p:extLst>
      <p:ext uri="{BB962C8B-B14F-4D97-AF65-F5344CB8AC3E}">
        <p14:creationId xmlns:p14="http://schemas.microsoft.com/office/powerpoint/2010/main" val="1044429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16051-4B11-3A83-3328-B09B8DE6E11C}"/>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52F53DE8-547F-C932-8F70-E6545793C966}"/>
              </a:ext>
            </a:extLst>
          </p:cNvPr>
          <p:cNvSpPr>
            <a:spLocks noGrp="1"/>
          </p:cNvSpPr>
          <p:nvPr>
            <p:ph type="subTitle" idx="1"/>
          </p:nvPr>
        </p:nvSpPr>
        <p:spPr/>
        <p:txBody>
          <a:bodyPr/>
          <a:lstStyle/>
          <a:p>
            <a:r>
              <a:rPr lang="en-US" altLang="zh-TW" b="1" dirty="0"/>
              <a:t>Section III – SMG’s Potential Hong Kong Listing </a:t>
            </a:r>
            <a:endParaRPr lang="en-US" b="1" dirty="0"/>
          </a:p>
        </p:txBody>
      </p:sp>
      <p:sp>
        <p:nvSpPr>
          <p:cNvPr id="3" name="Title 2">
            <a:extLst>
              <a:ext uri="{FF2B5EF4-FFF2-40B4-BE49-F238E27FC236}">
                <a16:creationId xmlns:a16="http://schemas.microsoft.com/office/drawing/2014/main" id="{B3771E79-BBB9-8D42-7010-45CC273FF689}"/>
              </a:ext>
            </a:extLst>
          </p:cNvPr>
          <p:cNvSpPr>
            <a:spLocks noGrp="1"/>
          </p:cNvSpPr>
          <p:nvPr>
            <p:ph type="ctrTitle"/>
          </p:nvPr>
        </p:nvSpPr>
        <p:spPr>
          <a:xfrm>
            <a:off x="2242944" y="4131897"/>
            <a:ext cx="7200000" cy="492443"/>
          </a:xfrm>
        </p:spPr>
        <p:txBody>
          <a:bodyPr/>
          <a:lstStyle/>
          <a:p>
            <a:r>
              <a:rPr lang="en-US" dirty="0"/>
              <a:t>1. Listing Venue Consideration</a:t>
            </a:r>
          </a:p>
        </p:txBody>
      </p:sp>
      <p:sp>
        <p:nvSpPr>
          <p:cNvPr id="4" name="Slide Number Placeholder 3">
            <a:extLst>
              <a:ext uri="{FF2B5EF4-FFF2-40B4-BE49-F238E27FC236}">
                <a16:creationId xmlns:a16="http://schemas.microsoft.com/office/drawing/2014/main" id="{5F87F47B-88E5-B07D-2A40-B274D24E37B3}"/>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32</a:t>
            </a:fld>
            <a:endParaRPr lang="en-US" altLang="en-US" b="0">
              <a:solidFill>
                <a:srgbClr val="000000"/>
              </a:solidFill>
            </a:endParaRPr>
          </a:p>
        </p:txBody>
      </p:sp>
    </p:spTree>
    <p:extLst>
      <p:ext uri="{BB962C8B-B14F-4D97-AF65-F5344CB8AC3E}">
        <p14:creationId xmlns:p14="http://schemas.microsoft.com/office/powerpoint/2010/main" val="3390760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30AF-7482-2ECD-6777-99B49912A495}"/>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7FD7C863-1AD8-CBEA-C4AC-D6337CBC517E}"/>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33</a:t>
            </a:fld>
            <a:endParaRPr lang="en-US" altLang="en-US" b="0">
              <a:solidFill>
                <a:srgbClr val="000000"/>
              </a:solidFill>
            </a:endParaRPr>
          </a:p>
        </p:txBody>
      </p:sp>
      <p:sp>
        <p:nvSpPr>
          <p:cNvPr id="6" name="標題 5">
            <a:extLst>
              <a:ext uri="{FF2B5EF4-FFF2-40B4-BE49-F238E27FC236}">
                <a16:creationId xmlns:a16="http://schemas.microsoft.com/office/drawing/2014/main" id="{066D2BAF-8B1D-D415-F92D-9A8B459258E3}"/>
              </a:ext>
            </a:extLst>
          </p:cNvPr>
          <p:cNvSpPr>
            <a:spLocks noGrp="1"/>
          </p:cNvSpPr>
          <p:nvPr>
            <p:ph type="title"/>
          </p:nvPr>
        </p:nvSpPr>
        <p:spPr/>
        <p:txBody>
          <a:bodyPr/>
          <a:lstStyle/>
          <a:p>
            <a:r>
              <a:rPr lang="en-US" dirty="0"/>
              <a:t>Listing Venue Consideration</a:t>
            </a:r>
          </a:p>
        </p:txBody>
      </p:sp>
      <p:sp>
        <p:nvSpPr>
          <p:cNvPr id="8" name="Rectangle 4">
            <a:extLst>
              <a:ext uri="{FF2B5EF4-FFF2-40B4-BE49-F238E27FC236}">
                <a16:creationId xmlns:a16="http://schemas.microsoft.com/office/drawing/2014/main" id="{DC682607-7460-DC20-F7A7-A3875650DE23}"/>
              </a:ext>
            </a:extLst>
          </p:cNvPr>
          <p:cNvSpPr/>
          <p:nvPr/>
        </p:nvSpPr>
        <p:spPr bwMode="auto">
          <a:xfrm>
            <a:off x="717153" y="2430569"/>
            <a:ext cx="1559322" cy="1116000"/>
          </a:xfrm>
          <a:prstGeom prst="rect">
            <a:avLst/>
          </a:prstGeom>
          <a:solidFill>
            <a:schemeClr val="accent1"/>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bg1"/>
                </a:solidFill>
                <a:effectLst/>
                <a:latin typeface="Arial" panose="020B0604020202020204" pitchFamily="34" charset="0"/>
              </a:rPr>
              <a:t>Capital M</a:t>
            </a:r>
            <a:r>
              <a:rPr kumimoji="0" lang="en-SG" sz="1000" b="1" i="0" u="none" strike="noStrike" cap="none" normalizeH="0" baseline="0" dirty="0" err="1">
                <a:ln>
                  <a:noFill/>
                </a:ln>
                <a:solidFill>
                  <a:schemeClr val="bg1"/>
                </a:solidFill>
                <a:effectLst/>
                <a:latin typeface="Arial" panose="020B0604020202020204" pitchFamily="34" charset="0"/>
              </a:rPr>
              <a:t>arket</a:t>
            </a:r>
            <a:r>
              <a:rPr kumimoji="0" lang="en-SG" sz="1000" b="1" i="0" u="none" strike="noStrike" cap="none" normalizeH="0" baseline="0" dirty="0">
                <a:ln>
                  <a:noFill/>
                </a:ln>
                <a:solidFill>
                  <a:schemeClr val="bg1"/>
                </a:solidFill>
                <a:effectLst/>
                <a:latin typeface="Arial" panose="020B0604020202020204" pitchFamily="34" charset="0"/>
              </a:rPr>
              <a:t> Considerations</a:t>
            </a:r>
          </a:p>
        </p:txBody>
      </p:sp>
      <p:sp>
        <p:nvSpPr>
          <p:cNvPr id="9" name="Rectangle 5">
            <a:extLst>
              <a:ext uri="{FF2B5EF4-FFF2-40B4-BE49-F238E27FC236}">
                <a16:creationId xmlns:a16="http://schemas.microsoft.com/office/drawing/2014/main" id="{CC4D2F35-22EE-5BD1-4B6D-8C5D04F3A77E}"/>
              </a:ext>
            </a:extLst>
          </p:cNvPr>
          <p:cNvSpPr/>
          <p:nvPr/>
        </p:nvSpPr>
        <p:spPr bwMode="auto">
          <a:xfrm>
            <a:off x="717153" y="3753596"/>
            <a:ext cx="1559322" cy="1116000"/>
          </a:xfrm>
          <a:prstGeom prst="rect">
            <a:avLst/>
          </a:prstGeom>
          <a:solidFill>
            <a:schemeClr val="accent1"/>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SG" sz="1000" dirty="0">
                <a:solidFill>
                  <a:schemeClr val="bg1"/>
                </a:solidFill>
                <a:latin typeface="Arial" panose="020B0604020202020204" pitchFamily="34" charset="0"/>
              </a:rPr>
              <a:t>Investor Accessibility </a:t>
            </a:r>
            <a:endParaRPr kumimoji="0" lang="en-SG" sz="1000" b="1" i="0" u="none" strike="noStrike" cap="none" normalizeH="0" baseline="0" dirty="0">
              <a:ln>
                <a:noFill/>
              </a:ln>
              <a:solidFill>
                <a:schemeClr val="bg1"/>
              </a:solidFill>
              <a:effectLst/>
              <a:latin typeface="Arial" panose="020B0604020202020204" pitchFamily="34" charset="0"/>
            </a:endParaRPr>
          </a:p>
        </p:txBody>
      </p:sp>
      <p:sp>
        <p:nvSpPr>
          <p:cNvPr id="10" name="Rectangle 6">
            <a:extLst>
              <a:ext uri="{FF2B5EF4-FFF2-40B4-BE49-F238E27FC236}">
                <a16:creationId xmlns:a16="http://schemas.microsoft.com/office/drawing/2014/main" id="{A23C02B2-D039-3AD8-4B91-58FA6EB691D6}"/>
              </a:ext>
            </a:extLst>
          </p:cNvPr>
          <p:cNvSpPr/>
          <p:nvPr/>
        </p:nvSpPr>
        <p:spPr bwMode="auto">
          <a:xfrm>
            <a:off x="717153" y="5015664"/>
            <a:ext cx="1559322" cy="1116000"/>
          </a:xfrm>
          <a:prstGeom prst="rect">
            <a:avLst/>
          </a:prstGeom>
          <a:solidFill>
            <a:schemeClr val="accent1"/>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SG" sz="1000" dirty="0">
                <a:solidFill>
                  <a:schemeClr val="bg1"/>
                </a:solidFill>
                <a:latin typeface="Arial" panose="020B0604020202020204" pitchFamily="34" charset="0"/>
              </a:rPr>
              <a:t>Valuation</a:t>
            </a:r>
          </a:p>
        </p:txBody>
      </p:sp>
      <p:sp>
        <p:nvSpPr>
          <p:cNvPr id="11" name="Rectangle 7">
            <a:extLst>
              <a:ext uri="{FF2B5EF4-FFF2-40B4-BE49-F238E27FC236}">
                <a16:creationId xmlns:a16="http://schemas.microsoft.com/office/drawing/2014/main" id="{4B0BEBC5-D0B0-351A-22AA-B8E80A9CA516}"/>
              </a:ext>
            </a:extLst>
          </p:cNvPr>
          <p:cNvSpPr/>
          <p:nvPr/>
        </p:nvSpPr>
        <p:spPr bwMode="auto">
          <a:xfrm>
            <a:off x="2402811" y="2430569"/>
            <a:ext cx="6808394" cy="1116000"/>
          </a:xfrm>
          <a:prstGeom prst="rect">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8100000" scaled="1"/>
              <a:tileRect/>
            </a:gradFill>
          </a:ln>
          <a:effectLst/>
        </p:spPr>
        <p:txBody>
          <a:bodyPr vert="horz" wrap="square" lIns="91440" tIns="45720" rIns="91440" bIns="45720" numCol="1" rtlCol="0" anchor="ctr" anchorCtr="0" compatLnSpc="1">
            <a:prstTxWarp prst="textNoShape">
              <a:avLst/>
            </a:prstTxWarp>
          </a:bodyPr>
          <a:lstStyle/>
          <a:p>
            <a:pPr marL="171450" marR="0" indent="-171450" defTabSz="914400" rtl="0" eaLnBrk="0" fontAlgn="base" latinLnBrk="0" hangingPunct="0">
              <a:lnSpc>
                <a:spcPct val="100000"/>
              </a:lnSpc>
              <a:spcBef>
                <a:spcPct val="0"/>
              </a:spcBef>
              <a:spcAft>
                <a:spcPts val="600"/>
              </a:spcAft>
              <a:buClrTx/>
              <a:buSzTx/>
              <a:buFont typeface="Wingdings" panose="05000000000000000000" pitchFamily="2" charset="2"/>
              <a:buChar char="§"/>
              <a:tabLst/>
            </a:pPr>
            <a:r>
              <a:rPr lang="en-US" sz="1000" b="0" dirty="0">
                <a:solidFill>
                  <a:schemeClr val="tx1"/>
                </a:solidFill>
                <a:latin typeface="Arial" panose="020B0604020202020204" pitchFamily="34" charset="0"/>
              </a:rPr>
              <a:t>Breadth of market: N</a:t>
            </a:r>
            <a:r>
              <a:rPr lang="en-SG" sz="1000" b="0" dirty="0">
                <a:solidFill>
                  <a:schemeClr val="tx1"/>
                </a:solidFill>
                <a:latin typeface="Arial" panose="020B0604020202020204" pitchFamily="34" charset="0"/>
              </a:rPr>
              <a:t>umber of listed companies, total market capitalisation</a:t>
            </a:r>
          </a:p>
          <a:p>
            <a:pPr marL="171450" marR="0" indent="-171450" defTabSz="914400" rtl="0" eaLnBrk="0" fontAlgn="base" latinLnBrk="0" hangingPunct="0">
              <a:lnSpc>
                <a:spcPct val="100000"/>
              </a:lnSpc>
              <a:spcBef>
                <a:spcPct val="0"/>
              </a:spcBef>
              <a:spcAft>
                <a:spcPts val="600"/>
              </a:spcAft>
              <a:buClrTx/>
              <a:buSzTx/>
              <a:buFont typeface="Wingdings" panose="05000000000000000000" pitchFamily="2" charset="2"/>
              <a:buChar char="§"/>
              <a:tabLst/>
            </a:pPr>
            <a:r>
              <a:rPr lang="en-SG" sz="1000" b="0" dirty="0">
                <a:solidFill>
                  <a:schemeClr val="tx1"/>
                </a:solidFill>
                <a:latin typeface="Arial" panose="020B0604020202020204" pitchFamily="34" charset="0"/>
              </a:rPr>
              <a:t>Depth of market: YTD2026 ADTV – Good trading liquidity</a:t>
            </a:r>
          </a:p>
          <a:p>
            <a:pPr marL="171450" marR="0" indent="-171450" defTabSz="914400" rtl="0" eaLnBrk="0" fontAlgn="base" latinLnBrk="0" hangingPunct="0">
              <a:lnSpc>
                <a:spcPct val="100000"/>
              </a:lnSpc>
              <a:spcBef>
                <a:spcPct val="0"/>
              </a:spcBef>
              <a:spcAft>
                <a:spcPts val="600"/>
              </a:spcAft>
              <a:buClrTx/>
              <a:buSzTx/>
              <a:buFont typeface="Wingdings" panose="05000000000000000000" pitchFamily="2" charset="2"/>
              <a:buChar char="§"/>
              <a:tabLst/>
            </a:pPr>
            <a:r>
              <a:rPr lang="en-SG" sz="1000" b="0" dirty="0">
                <a:solidFill>
                  <a:schemeClr val="tx1"/>
                </a:solidFill>
                <a:latin typeface="Arial" panose="020B0604020202020204" pitchFamily="34" charset="0"/>
              </a:rPr>
              <a:t>Recent market activities – vibrancy to facilitate IPO and future fundraises</a:t>
            </a:r>
          </a:p>
          <a:p>
            <a:pPr marL="171450" indent="-171450" eaLnBrk="0" hangingPunct="0">
              <a:spcAft>
                <a:spcPts val="600"/>
              </a:spcAft>
              <a:buFont typeface="Wingdings" panose="05000000000000000000" pitchFamily="2" charset="2"/>
              <a:buChar char="§"/>
            </a:pPr>
            <a:r>
              <a:rPr lang="en-SG" sz="1000" b="0" dirty="0">
                <a:solidFill>
                  <a:schemeClr val="tx1"/>
                </a:solidFill>
                <a:latin typeface="Arial" panose="020B0604020202020204" pitchFamily="34" charset="0"/>
              </a:rPr>
              <a:t>Secondary fund-raising activities – further increase fund-raising ability </a:t>
            </a:r>
          </a:p>
        </p:txBody>
      </p:sp>
      <p:sp>
        <p:nvSpPr>
          <p:cNvPr id="12" name="Rectangle 8">
            <a:extLst>
              <a:ext uri="{FF2B5EF4-FFF2-40B4-BE49-F238E27FC236}">
                <a16:creationId xmlns:a16="http://schemas.microsoft.com/office/drawing/2014/main" id="{F977EFC6-B7D2-99A7-62FC-480E11959237}"/>
              </a:ext>
            </a:extLst>
          </p:cNvPr>
          <p:cNvSpPr/>
          <p:nvPr/>
        </p:nvSpPr>
        <p:spPr bwMode="auto">
          <a:xfrm>
            <a:off x="2402811" y="3753596"/>
            <a:ext cx="6808394" cy="1116000"/>
          </a:xfrm>
          <a:prstGeom prst="rect">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8100000" scaled="1"/>
              <a:tileRect/>
            </a:gradFill>
          </a:ln>
          <a:effectLst/>
        </p:spPr>
        <p:txBody>
          <a:bodyPr vert="horz" wrap="square" lIns="91440" tIns="45720" rIns="91440" bIns="45720" numCol="1" rtlCol="0" anchor="ctr" anchorCtr="0" compatLnSpc="1">
            <a:prstTxWarp prst="textNoShape">
              <a:avLst/>
            </a:prstTxWarp>
          </a:bodyPr>
          <a:lstStyle/>
          <a:p>
            <a:pPr marL="171450" marR="0" indent="-171450" defTabSz="914400" rtl="0" eaLnBrk="0" fontAlgn="base" latinLnBrk="0" hangingPunct="0">
              <a:lnSpc>
                <a:spcPct val="100000"/>
              </a:lnSpc>
              <a:spcBef>
                <a:spcPct val="0"/>
              </a:spcBef>
              <a:spcAft>
                <a:spcPts val="600"/>
              </a:spcAft>
              <a:buClrTx/>
              <a:buSzTx/>
              <a:buFont typeface="Wingdings" panose="05000000000000000000" pitchFamily="2" charset="2"/>
              <a:buChar char="§"/>
              <a:tabLst/>
            </a:pPr>
            <a:r>
              <a:rPr kumimoji="0" lang="en-SG" sz="1000" b="0" i="0" u="none" strike="noStrike" cap="none" normalizeH="0" baseline="0" dirty="0">
                <a:ln>
                  <a:noFill/>
                </a:ln>
                <a:solidFill>
                  <a:schemeClr val="tx1"/>
                </a:solidFill>
                <a:effectLst/>
                <a:latin typeface="Arial" panose="020B0604020202020204" pitchFamily="34" charset="0"/>
              </a:rPr>
              <a:t>Investor understanding and familiarity </a:t>
            </a:r>
            <a:r>
              <a:rPr lang="en-SG" sz="1000" b="0" dirty="0">
                <a:solidFill>
                  <a:schemeClr val="tx1"/>
                </a:solidFill>
                <a:latin typeface="Arial" panose="020B0604020202020204" pitchFamily="34" charset="0"/>
              </a:rPr>
              <a:t>–</a:t>
            </a:r>
            <a:r>
              <a:rPr kumimoji="0" lang="en-SG" sz="1000" b="0" i="0" u="none" strike="noStrike" cap="none" normalizeH="0" baseline="0" dirty="0">
                <a:ln>
                  <a:noFill/>
                </a:ln>
                <a:solidFill>
                  <a:schemeClr val="tx1"/>
                </a:solidFill>
                <a:effectLst/>
                <a:latin typeface="Arial" panose="020B0604020202020204" pitchFamily="34" charset="0"/>
              </a:rPr>
              <a:t> </a:t>
            </a:r>
            <a:r>
              <a:rPr lang="en-SG" sz="1000" b="0" dirty="0">
                <a:solidFill>
                  <a:schemeClr val="tx1"/>
                </a:solidFill>
                <a:latin typeface="Arial" panose="020B0604020202020204" pitchFamily="34" charset="0"/>
              </a:rPr>
              <a:t>facilitate the ease of fundraising at the time of the IPO</a:t>
            </a:r>
            <a:endParaRPr kumimoji="0" lang="en-SG" sz="1000" b="0" i="0" u="none" strike="noStrike" cap="none" normalizeH="0" baseline="0" dirty="0">
              <a:ln>
                <a:noFill/>
              </a:ln>
              <a:solidFill>
                <a:schemeClr val="tx1"/>
              </a:solidFill>
              <a:effectLst/>
              <a:latin typeface="Arial" panose="020B0604020202020204" pitchFamily="34" charset="0"/>
            </a:endParaRPr>
          </a:p>
          <a:p>
            <a:pPr marL="171450" marR="0" indent="-171450" defTabSz="914400" rtl="0" eaLnBrk="0" fontAlgn="base" latinLnBrk="0" hangingPunct="0">
              <a:lnSpc>
                <a:spcPct val="100000"/>
              </a:lnSpc>
              <a:spcBef>
                <a:spcPct val="0"/>
              </a:spcBef>
              <a:spcAft>
                <a:spcPts val="600"/>
              </a:spcAft>
              <a:buClrTx/>
              <a:buSzTx/>
              <a:buFont typeface="Wingdings" panose="05000000000000000000" pitchFamily="2" charset="2"/>
              <a:buChar char="§"/>
              <a:tabLst/>
            </a:pPr>
            <a:r>
              <a:rPr lang="en-SG" sz="1000" b="0" dirty="0">
                <a:solidFill>
                  <a:schemeClr val="tx1"/>
                </a:solidFill>
                <a:latin typeface="Arial" panose="020B0604020202020204" pitchFamily="34" charset="0"/>
              </a:rPr>
              <a:t>Investor reach – support for and anchoring of the IPO</a:t>
            </a:r>
          </a:p>
          <a:p>
            <a:pPr marL="171450" marR="0" indent="-171450" defTabSz="914400" rtl="0" eaLnBrk="0" fontAlgn="base" latinLnBrk="0" hangingPunct="0">
              <a:lnSpc>
                <a:spcPct val="100000"/>
              </a:lnSpc>
              <a:spcBef>
                <a:spcPct val="0"/>
              </a:spcBef>
              <a:spcAft>
                <a:spcPts val="600"/>
              </a:spcAft>
              <a:buClrTx/>
              <a:buSzTx/>
              <a:buFont typeface="Wingdings" panose="05000000000000000000" pitchFamily="2" charset="2"/>
              <a:buChar char="§"/>
              <a:tabLst/>
            </a:pPr>
            <a:r>
              <a:rPr lang="en-SG" sz="1000" b="0" dirty="0">
                <a:solidFill>
                  <a:schemeClr val="tx1"/>
                </a:solidFill>
                <a:latin typeface="Arial" panose="020B0604020202020204" pitchFamily="34" charset="0"/>
              </a:rPr>
              <a:t>Trading currency and forex to operational currency – stable vs volatile</a:t>
            </a:r>
          </a:p>
        </p:txBody>
      </p:sp>
      <p:sp>
        <p:nvSpPr>
          <p:cNvPr id="13" name="Rectangle 9">
            <a:extLst>
              <a:ext uri="{FF2B5EF4-FFF2-40B4-BE49-F238E27FC236}">
                <a16:creationId xmlns:a16="http://schemas.microsoft.com/office/drawing/2014/main" id="{F3948EFD-5179-7D11-BF15-FF7D1FD46626}"/>
              </a:ext>
            </a:extLst>
          </p:cNvPr>
          <p:cNvSpPr/>
          <p:nvPr/>
        </p:nvSpPr>
        <p:spPr bwMode="auto">
          <a:xfrm>
            <a:off x="2402811" y="5015664"/>
            <a:ext cx="6808394" cy="1116000"/>
          </a:xfrm>
          <a:prstGeom prst="rect">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8100000" scaled="1"/>
              <a:tileRect/>
            </a:gradFill>
          </a:ln>
          <a:effectLst/>
        </p:spPr>
        <p:txBody>
          <a:bodyPr vert="horz" wrap="square" lIns="91440" tIns="45720" rIns="91440" bIns="45720" numCol="1" rtlCol="0" anchor="ctr" anchorCtr="0" compatLnSpc="1">
            <a:prstTxWarp prst="textNoShape">
              <a:avLst/>
            </a:prstTxWarp>
          </a:bodyPr>
          <a:lstStyle/>
          <a:p>
            <a:pPr marL="171450" indent="-171450" eaLnBrk="0" hangingPunct="0">
              <a:spcAft>
                <a:spcPts val="600"/>
              </a:spcAft>
              <a:buFont typeface="Wingdings" panose="05000000000000000000" pitchFamily="2" charset="2"/>
              <a:buChar char="§"/>
            </a:pPr>
            <a:r>
              <a:rPr lang="en-US" sz="1000" b="0" dirty="0">
                <a:solidFill>
                  <a:schemeClr val="tx1"/>
                </a:solidFill>
                <a:latin typeface="Arial" panose="020B0604020202020204" pitchFamily="34" charset="0"/>
              </a:rPr>
              <a:t>To consider valuation multiples of the overall market in the listing venue vis-à-vis other exchanges</a:t>
            </a:r>
          </a:p>
          <a:p>
            <a:pPr marL="171450" indent="-171450" eaLnBrk="0" hangingPunct="0">
              <a:spcAft>
                <a:spcPts val="600"/>
              </a:spcAft>
              <a:buFont typeface="Wingdings" panose="05000000000000000000" pitchFamily="2" charset="2"/>
              <a:buChar char="§"/>
            </a:pPr>
            <a:r>
              <a:rPr lang="en-US" sz="1000" b="0" dirty="0">
                <a:solidFill>
                  <a:schemeClr val="tx1"/>
                </a:solidFill>
                <a:latin typeface="Arial" panose="020B0604020202020204" pitchFamily="34" charset="0"/>
              </a:rPr>
              <a:t>To consider potential index inclusion</a:t>
            </a:r>
          </a:p>
        </p:txBody>
      </p:sp>
      <p:sp>
        <p:nvSpPr>
          <p:cNvPr id="14" name="Oval 10">
            <a:extLst>
              <a:ext uri="{FF2B5EF4-FFF2-40B4-BE49-F238E27FC236}">
                <a16:creationId xmlns:a16="http://schemas.microsoft.com/office/drawing/2014/main" id="{C6228500-3305-B187-0AD4-3D0254891E94}"/>
              </a:ext>
            </a:extLst>
          </p:cNvPr>
          <p:cNvSpPr/>
          <p:nvPr/>
        </p:nvSpPr>
        <p:spPr bwMode="auto">
          <a:xfrm>
            <a:off x="697292" y="2362322"/>
            <a:ext cx="277200" cy="277200"/>
          </a:xfrm>
          <a:prstGeom prst="ellipse">
            <a:avLst/>
          </a:prstGeom>
          <a:solidFill>
            <a:schemeClr val="bg1"/>
          </a:solidFill>
          <a:ln w="19050"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100" b="1" i="0" u="none" strike="noStrike" cap="none" normalizeH="0" baseline="0">
                <a:ln>
                  <a:noFill/>
                </a:ln>
                <a:solidFill>
                  <a:schemeClr val="accent1"/>
                </a:solidFill>
                <a:effectLst/>
                <a:latin typeface="Arial" panose="020B0604020202020204" pitchFamily="34" charset="0"/>
              </a:rPr>
              <a:t>2</a:t>
            </a:r>
          </a:p>
        </p:txBody>
      </p:sp>
      <p:sp>
        <p:nvSpPr>
          <p:cNvPr id="15" name="Oval 11">
            <a:extLst>
              <a:ext uri="{FF2B5EF4-FFF2-40B4-BE49-F238E27FC236}">
                <a16:creationId xmlns:a16="http://schemas.microsoft.com/office/drawing/2014/main" id="{A76B83EB-CA17-91D3-6592-BF11C9AB1B67}"/>
              </a:ext>
            </a:extLst>
          </p:cNvPr>
          <p:cNvSpPr/>
          <p:nvPr/>
        </p:nvSpPr>
        <p:spPr bwMode="auto">
          <a:xfrm>
            <a:off x="697292" y="3688524"/>
            <a:ext cx="277200" cy="277200"/>
          </a:xfrm>
          <a:prstGeom prst="ellipse">
            <a:avLst/>
          </a:prstGeom>
          <a:solidFill>
            <a:schemeClr val="bg1"/>
          </a:solidFill>
          <a:ln w="19050"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100" b="1" i="0" u="none" strike="noStrike" cap="none" normalizeH="0" baseline="0">
                <a:ln>
                  <a:noFill/>
                </a:ln>
                <a:solidFill>
                  <a:schemeClr val="accent1"/>
                </a:solidFill>
                <a:effectLst/>
                <a:latin typeface="Arial" panose="020B0604020202020204" pitchFamily="34" charset="0"/>
              </a:rPr>
              <a:t>3</a:t>
            </a:r>
          </a:p>
        </p:txBody>
      </p:sp>
      <p:sp>
        <p:nvSpPr>
          <p:cNvPr id="16" name="Oval 12">
            <a:extLst>
              <a:ext uri="{FF2B5EF4-FFF2-40B4-BE49-F238E27FC236}">
                <a16:creationId xmlns:a16="http://schemas.microsoft.com/office/drawing/2014/main" id="{49A6FD00-B87C-ED03-3E2A-C089B83ACCC3}"/>
              </a:ext>
            </a:extLst>
          </p:cNvPr>
          <p:cNvSpPr/>
          <p:nvPr/>
        </p:nvSpPr>
        <p:spPr bwMode="auto">
          <a:xfrm>
            <a:off x="697292" y="4953767"/>
            <a:ext cx="277200" cy="277200"/>
          </a:xfrm>
          <a:prstGeom prst="ellipse">
            <a:avLst/>
          </a:prstGeom>
          <a:solidFill>
            <a:schemeClr val="bg1"/>
          </a:solidFill>
          <a:ln w="19050"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100" b="1" i="0" u="none" strike="noStrike" cap="none" normalizeH="0" baseline="0">
                <a:ln>
                  <a:noFill/>
                </a:ln>
                <a:solidFill>
                  <a:schemeClr val="accent1"/>
                </a:solidFill>
                <a:effectLst/>
                <a:latin typeface="Arial" panose="020B0604020202020204" pitchFamily="34" charset="0"/>
              </a:rPr>
              <a:t>4</a:t>
            </a:r>
          </a:p>
        </p:txBody>
      </p:sp>
      <p:sp>
        <p:nvSpPr>
          <p:cNvPr id="17" name="Rectangle 13">
            <a:extLst>
              <a:ext uri="{FF2B5EF4-FFF2-40B4-BE49-F238E27FC236}">
                <a16:creationId xmlns:a16="http://schemas.microsoft.com/office/drawing/2014/main" id="{2B829FED-34C7-ED01-4151-B363EFB27EEE}"/>
              </a:ext>
            </a:extLst>
          </p:cNvPr>
          <p:cNvSpPr/>
          <p:nvPr/>
        </p:nvSpPr>
        <p:spPr bwMode="auto">
          <a:xfrm>
            <a:off x="717153" y="1107542"/>
            <a:ext cx="1559322" cy="1116000"/>
          </a:xfrm>
          <a:prstGeom prst="rect">
            <a:avLst/>
          </a:prstGeom>
          <a:solidFill>
            <a:schemeClr val="accent1"/>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SG" sz="1000" dirty="0">
                <a:solidFill>
                  <a:schemeClr val="bg1"/>
                </a:solidFill>
                <a:latin typeface="Arial" panose="020B0604020202020204" pitchFamily="34" charset="0"/>
              </a:rPr>
              <a:t>Holistic Overview</a:t>
            </a:r>
            <a:endParaRPr kumimoji="0" lang="en-SG" sz="1000" b="1" i="0" u="none" strike="noStrike" cap="none" normalizeH="0" baseline="0" dirty="0">
              <a:ln>
                <a:noFill/>
              </a:ln>
              <a:solidFill>
                <a:schemeClr val="bg1"/>
              </a:solidFill>
              <a:effectLst/>
              <a:latin typeface="Arial" panose="020B0604020202020204" pitchFamily="34" charset="0"/>
            </a:endParaRPr>
          </a:p>
        </p:txBody>
      </p:sp>
      <p:sp>
        <p:nvSpPr>
          <p:cNvPr id="18" name="Rectangle 14">
            <a:extLst>
              <a:ext uri="{FF2B5EF4-FFF2-40B4-BE49-F238E27FC236}">
                <a16:creationId xmlns:a16="http://schemas.microsoft.com/office/drawing/2014/main" id="{A3AD723F-30F5-A18D-9F60-5FAB07BD22A2}"/>
              </a:ext>
            </a:extLst>
          </p:cNvPr>
          <p:cNvSpPr/>
          <p:nvPr/>
        </p:nvSpPr>
        <p:spPr bwMode="auto">
          <a:xfrm>
            <a:off x="2402811" y="1107542"/>
            <a:ext cx="6808394" cy="1116000"/>
          </a:xfrm>
          <a:prstGeom prst="rect">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8100000" scaled="1"/>
              <a:tileRect/>
            </a:gradFill>
          </a:ln>
          <a:effectLst/>
        </p:spPr>
        <p:txBody>
          <a:bodyPr vert="horz" wrap="square" lIns="91440" tIns="45720" rIns="91440" bIns="45720" numCol="1" rtlCol="0" anchor="ctr" anchorCtr="0" compatLnSpc="1">
            <a:prstTxWarp prst="textNoShape">
              <a:avLst/>
            </a:prstTxWarp>
          </a:bodyPr>
          <a:lstStyle/>
          <a:p>
            <a:pPr marL="171450" indent="-171450" eaLnBrk="0" hangingPunct="0">
              <a:spcAft>
                <a:spcPts val="600"/>
              </a:spcAft>
              <a:buFont typeface="Wingdings" panose="05000000000000000000" pitchFamily="2" charset="2"/>
              <a:buChar char="§"/>
            </a:pPr>
            <a:r>
              <a:rPr kumimoji="0" lang="en-SG" sz="1000" b="0" i="0" u="none" strike="noStrike" cap="none" normalizeH="0" baseline="0" dirty="0">
                <a:ln>
                  <a:noFill/>
                </a:ln>
                <a:solidFill>
                  <a:schemeClr val="tx1"/>
                </a:solidFill>
                <a:effectLst/>
                <a:latin typeface="Arial"/>
                <a:cs typeface="Arial"/>
              </a:rPr>
              <a:t>Proximity of business: Listing in</a:t>
            </a:r>
            <a:r>
              <a:rPr lang="en-SG" sz="1000" b="0" dirty="0">
                <a:solidFill>
                  <a:schemeClr val="tx1"/>
                </a:solidFill>
                <a:latin typeface="Arial"/>
                <a:cs typeface="Arial"/>
              </a:rPr>
              <a:t> an exchange closer to</a:t>
            </a:r>
            <a:r>
              <a:rPr kumimoji="0" lang="en-SG" sz="1000" b="0" i="0" u="none" strike="noStrike" cap="none" normalizeH="0" baseline="0" dirty="0">
                <a:ln>
                  <a:noFill/>
                </a:ln>
                <a:solidFill>
                  <a:schemeClr val="tx1"/>
                </a:solidFill>
                <a:effectLst/>
                <a:latin typeface="Arial"/>
                <a:cs typeface="Arial"/>
              </a:rPr>
              <a:t> company’s main countries of operations or future expansion region </a:t>
            </a:r>
          </a:p>
          <a:p>
            <a:pPr marL="171450" lvl="1" indent="-171450" eaLnBrk="0" hangingPunct="0">
              <a:spcAft>
                <a:spcPts val="600"/>
              </a:spcAft>
              <a:buFont typeface="Wingdings" panose="05000000000000000000" pitchFamily="2" charset="2"/>
              <a:buChar char="§"/>
            </a:pPr>
            <a:r>
              <a:rPr lang="en-US" sz="1000" b="0" dirty="0">
                <a:solidFill>
                  <a:schemeClr val="tx1"/>
                </a:solidFill>
                <a:latin typeface="Arial" panose="020B0604020202020204" pitchFamily="34" charset="0"/>
              </a:rPr>
              <a:t>Branding and corporate reputation: Enhance reputation among the Company’s stakeholders</a:t>
            </a:r>
          </a:p>
          <a:p>
            <a:pPr marL="171450" indent="-171450" eaLnBrk="0" hangingPunct="0">
              <a:spcAft>
                <a:spcPts val="600"/>
              </a:spcAft>
              <a:buFont typeface="Wingdings" panose="05000000000000000000" pitchFamily="2" charset="2"/>
              <a:buChar char="§"/>
            </a:pPr>
            <a:r>
              <a:rPr lang="en-US" sz="1000" b="0" dirty="0">
                <a:solidFill>
                  <a:schemeClr val="tx1"/>
                </a:solidFill>
                <a:latin typeface="Arial" panose="020B0604020202020204" pitchFamily="34" charset="0"/>
              </a:rPr>
              <a:t>Stable, neutral and international platform – Importance due to geopolitical situation</a:t>
            </a:r>
          </a:p>
        </p:txBody>
      </p:sp>
      <p:sp>
        <p:nvSpPr>
          <p:cNvPr id="19" name="Oval 15">
            <a:extLst>
              <a:ext uri="{FF2B5EF4-FFF2-40B4-BE49-F238E27FC236}">
                <a16:creationId xmlns:a16="http://schemas.microsoft.com/office/drawing/2014/main" id="{085230E1-A31A-FC8A-15BD-542CD1720A21}"/>
              </a:ext>
            </a:extLst>
          </p:cNvPr>
          <p:cNvSpPr/>
          <p:nvPr/>
        </p:nvSpPr>
        <p:spPr bwMode="auto">
          <a:xfrm>
            <a:off x="697292" y="1036120"/>
            <a:ext cx="277200" cy="277200"/>
          </a:xfrm>
          <a:prstGeom prst="ellipse">
            <a:avLst/>
          </a:prstGeom>
          <a:solidFill>
            <a:schemeClr val="bg1"/>
          </a:solidFill>
          <a:ln w="19050"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100" b="1" i="0" u="none" strike="noStrike" cap="none" normalizeH="0" baseline="0">
                <a:ln>
                  <a:noFill/>
                </a:ln>
                <a:solidFill>
                  <a:schemeClr val="accent1"/>
                </a:solidFill>
                <a:effectLst/>
                <a:latin typeface="Arial" panose="020B0604020202020204" pitchFamily="34" charset="0"/>
              </a:rPr>
              <a:t>1</a:t>
            </a:r>
          </a:p>
        </p:txBody>
      </p:sp>
    </p:spTree>
    <p:extLst>
      <p:ext uri="{BB962C8B-B14F-4D97-AF65-F5344CB8AC3E}">
        <p14:creationId xmlns:p14="http://schemas.microsoft.com/office/powerpoint/2010/main" val="3800667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D678-D7C6-8715-6EA2-1A225C956BAC}"/>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669B1086-FA19-122D-7DB0-F750436B7B24}"/>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34</a:t>
            </a:fld>
            <a:endParaRPr lang="en-US" altLang="en-US" b="0">
              <a:solidFill>
                <a:srgbClr val="000000"/>
              </a:solidFill>
            </a:endParaRPr>
          </a:p>
        </p:txBody>
      </p:sp>
      <p:sp>
        <p:nvSpPr>
          <p:cNvPr id="6" name="標題 5">
            <a:extLst>
              <a:ext uri="{FF2B5EF4-FFF2-40B4-BE49-F238E27FC236}">
                <a16:creationId xmlns:a16="http://schemas.microsoft.com/office/drawing/2014/main" id="{988DE12F-1F83-DEA4-B31E-660F24264CCC}"/>
              </a:ext>
            </a:extLst>
          </p:cNvPr>
          <p:cNvSpPr>
            <a:spLocks noGrp="1"/>
          </p:cNvSpPr>
          <p:nvPr>
            <p:ph type="title"/>
          </p:nvPr>
        </p:nvSpPr>
        <p:spPr>
          <a:xfrm>
            <a:off x="1220073" y="381000"/>
            <a:ext cx="8494051" cy="577850"/>
          </a:xfrm>
        </p:spPr>
        <p:txBody>
          <a:bodyPr/>
          <a:lstStyle/>
          <a:p>
            <a:r>
              <a:rPr lang="en-US" dirty="0"/>
              <a:t>Holistic Overview</a:t>
            </a:r>
          </a:p>
        </p:txBody>
      </p:sp>
      <p:sp>
        <p:nvSpPr>
          <p:cNvPr id="17" name="Rectangle 7">
            <a:extLst>
              <a:ext uri="{FF2B5EF4-FFF2-40B4-BE49-F238E27FC236}">
                <a16:creationId xmlns:a16="http://schemas.microsoft.com/office/drawing/2014/main" id="{4BA63E2C-A8EF-F2B0-E77E-17ECC5955705}"/>
              </a:ext>
            </a:extLst>
          </p:cNvPr>
          <p:cNvSpPr/>
          <p:nvPr/>
        </p:nvSpPr>
        <p:spPr bwMode="auto">
          <a:xfrm>
            <a:off x="726220" y="1519062"/>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US" sz="1000" dirty="0">
                <a:solidFill>
                  <a:schemeClr val="tx1"/>
                </a:solidFill>
                <a:latin typeface="Arial" panose="020B0604020202020204" pitchFamily="34" charset="0"/>
              </a:rPr>
              <a:t>Proximity</a:t>
            </a:r>
            <a:r>
              <a:rPr lang="en-SG" sz="1000" dirty="0">
                <a:solidFill>
                  <a:schemeClr val="tx1"/>
                </a:solidFill>
                <a:latin typeface="Arial" panose="020B0604020202020204" pitchFamily="34" charset="0"/>
              </a:rPr>
              <a:t> of business</a:t>
            </a:r>
          </a:p>
        </p:txBody>
      </p:sp>
      <p:sp>
        <p:nvSpPr>
          <p:cNvPr id="18" name="Rectangle 11">
            <a:extLst>
              <a:ext uri="{FF2B5EF4-FFF2-40B4-BE49-F238E27FC236}">
                <a16:creationId xmlns:a16="http://schemas.microsoft.com/office/drawing/2014/main" id="{E618BD4F-5E4E-B0EE-1978-7B407E35D0A1}"/>
              </a:ext>
            </a:extLst>
          </p:cNvPr>
          <p:cNvSpPr/>
          <p:nvPr/>
        </p:nvSpPr>
        <p:spPr bwMode="auto">
          <a:xfrm>
            <a:off x="726220" y="2472853"/>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US" sz="1000" dirty="0">
                <a:solidFill>
                  <a:schemeClr val="tx1"/>
                </a:solidFill>
                <a:latin typeface="Arial" panose="020B0604020202020204" pitchFamily="34" charset="0"/>
              </a:rPr>
              <a:t>Branding and corporate reputation</a:t>
            </a:r>
            <a:endParaRPr lang="en-SG" sz="1000" dirty="0">
              <a:solidFill>
                <a:schemeClr val="tx1"/>
              </a:solidFill>
              <a:latin typeface="Arial" panose="020B0604020202020204" pitchFamily="34" charset="0"/>
            </a:endParaRPr>
          </a:p>
        </p:txBody>
      </p:sp>
      <p:sp>
        <p:nvSpPr>
          <p:cNvPr id="19" name="Rectangle 17">
            <a:extLst>
              <a:ext uri="{FF2B5EF4-FFF2-40B4-BE49-F238E27FC236}">
                <a16:creationId xmlns:a16="http://schemas.microsoft.com/office/drawing/2014/main" id="{84294BDE-9C1D-A05E-5048-542B01133C5A}"/>
              </a:ext>
            </a:extLst>
          </p:cNvPr>
          <p:cNvSpPr/>
          <p:nvPr/>
        </p:nvSpPr>
        <p:spPr bwMode="auto">
          <a:xfrm>
            <a:off x="726220" y="3426644"/>
            <a:ext cx="1192299" cy="1026086"/>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US" sz="1000" dirty="0">
                <a:solidFill>
                  <a:schemeClr val="tx1"/>
                </a:solidFill>
                <a:latin typeface="Arial" panose="020B0604020202020204" pitchFamily="34" charset="0"/>
              </a:rPr>
              <a:t>Stable, neutral and international platform </a:t>
            </a:r>
            <a:endParaRPr lang="en-SG" sz="1000" dirty="0">
              <a:solidFill>
                <a:schemeClr val="tx1"/>
              </a:solidFill>
              <a:latin typeface="Arial" panose="020B0604020202020204" pitchFamily="34" charset="0"/>
            </a:endParaRPr>
          </a:p>
        </p:txBody>
      </p:sp>
      <p:sp>
        <p:nvSpPr>
          <p:cNvPr id="68" name="Rectangle 8">
            <a:extLst>
              <a:ext uri="{FF2B5EF4-FFF2-40B4-BE49-F238E27FC236}">
                <a16:creationId xmlns:a16="http://schemas.microsoft.com/office/drawing/2014/main" id="{E4480842-95CD-4A18-07CD-6AE5DCB1B2BB}"/>
              </a:ext>
            </a:extLst>
          </p:cNvPr>
          <p:cNvSpPr/>
          <p:nvPr/>
        </p:nvSpPr>
        <p:spPr bwMode="auto">
          <a:xfrm>
            <a:off x="2156653" y="1519062"/>
            <a:ext cx="2928458"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US" sz="1000" b="0" dirty="0">
                <a:solidFill>
                  <a:schemeClr val="tx1"/>
                </a:solidFill>
                <a:latin typeface="Arial" panose="020B0604020202020204" pitchFamily="34" charset="0"/>
              </a:rPr>
              <a:t>As intention is to grow business in SEA, SGX would be ideal as Singapore as a gateway hub to Southeast Asia</a:t>
            </a:r>
          </a:p>
        </p:txBody>
      </p:sp>
      <p:sp>
        <p:nvSpPr>
          <p:cNvPr id="69" name="Rectangle 14">
            <a:extLst>
              <a:ext uri="{FF2B5EF4-FFF2-40B4-BE49-F238E27FC236}">
                <a16:creationId xmlns:a16="http://schemas.microsoft.com/office/drawing/2014/main" id="{B4EE3573-2B5A-3BD5-CA3D-EAC5DF5C8D12}"/>
              </a:ext>
            </a:extLst>
          </p:cNvPr>
          <p:cNvSpPr/>
          <p:nvPr/>
        </p:nvSpPr>
        <p:spPr bwMode="auto">
          <a:xfrm>
            <a:off x="2158932" y="2480804"/>
            <a:ext cx="2928458"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US" sz="1000" b="0" dirty="0">
                <a:solidFill>
                  <a:schemeClr val="tx1"/>
                </a:solidFill>
                <a:latin typeface="Arial" panose="020B0604020202020204" pitchFamily="34" charset="0"/>
              </a:rPr>
              <a:t>Enhanced due to reputable and international exchange </a:t>
            </a:r>
          </a:p>
        </p:txBody>
      </p:sp>
      <p:sp>
        <p:nvSpPr>
          <p:cNvPr id="70" name="Rectangle 19">
            <a:extLst>
              <a:ext uri="{FF2B5EF4-FFF2-40B4-BE49-F238E27FC236}">
                <a16:creationId xmlns:a16="http://schemas.microsoft.com/office/drawing/2014/main" id="{7F46A79A-A727-3DF5-31AE-C0856A4D1471}"/>
              </a:ext>
            </a:extLst>
          </p:cNvPr>
          <p:cNvSpPr/>
          <p:nvPr/>
        </p:nvSpPr>
        <p:spPr bwMode="auto">
          <a:xfrm>
            <a:off x="2160106" y="3426644"/>
            <a:ext cx="2928460" cy="1026086"/>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US" sz="1000" b="0" dirty="0">
                <a:solidFill>
                  <a:schemeClr val="tx1"/>
                </a:solidFill>
                <a:latin typeface="Arial" panose="020B0604020202020204" pitchFamily="34" charset="0"/>
              </a:rPr>
              <a:t>Stable, geopolitical-neutral and internationalized platform favored by Singapore investors and global investors</a:t>
            </a:r>
          </a:p>
        </p:txBody>
      </p:sp>
      <p:sp>
        <p:nvSpPr>
          <p:cNvPr id="71" name="Rectangle 9">
            <a:extLst>
              <a:ext uri="{FF2B5EF4-FFF2-40B4-BE49-F238E27FC236}">
                <a16:creationId xmlns:a16="http://schemas.microsoft.com/office/drawing/2014/main" id="{142C5424-2EDC-7E3D-9DA3-943C5295A6A3}"/>
              </a:ext>
            </a:extLst>
          </p:cNvPr>
          <p:cNvSpPr/>
          <p:nvPr/>
        </p:nvSpPr>
        <p:spPr bwMode="auto">
          <a:xfrm>
            <a:off x="5460032" y="1519062"/>
            <a:ext cx="2931989"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US" sz="1000" b="0" dirty="0">
                <a:solidFill>
                  <a:schemeClr val="tx1"/>
                </a:solidFill>
                <a:latin typeface="Arial" panose="020B0604020202020204" pitchFamily="34" charset="0"/>
              </a:rPr>
              <a:t>As SMG’s intention is to grow business in China, HKEx would be ideal gateway hub to China</a:t>
            </a:r>
          </a:p>
        </p:txBody>
      </p:sp>
      <p:sp>
        <p:nvSpPr>
          <p:cNvPr id="72" name="Rectangle 15">
            <a:extLst>
              <a:ext uri="{FF2B5EF4-FFF2-40B4-BE49-F238E27FC236}">
                <a16:creationId xmlns:a16="http://schemas.microsoft.com/office/drawing/2014/main" id="{076A3573-1844-6329-AF8A-8BB590FE2455}"/>
              </a:ext>
            </a:extLst>
          </p:cNvPr>
          <p:cNvSpPr/>
          <p:nvPr/>
        </p:nvSpPr>
        <p:spPr bwMode="auto">
          <a:xfrm>
            <a:off x="5460032" y="2472853"/>
            <a:ext cx="2928459"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US" sz="1000" b="0" dirty="0">
                <a:solidFill>
                  <a:schemeClr val="tx1"/>
                </a:solidFill>
                <a:latin typeface="Arial" panose="020B0604020202020204" pitchFamily="34" charset="0"/>
              </a:rPr>
              <a:t>Enhanced due to reputable and international exchange </a:t>
            </a:r>
          </a:p>
        </p:txBody>
      </p:sp>
      <p:sp>
        <p:nvSpPr>
          <p:cNvPr id="73" name="Rectangle 21">
            <a:extLst>
              <a:ext uri="{FF2B5EF4-FFF2-40B4-BE49-F238E27FC236}">
                <a16:creationId xmlns:a16="http://schemas.microsoft.com/office/drawing/2014/main" id="{8F463A72-B5E4-8336-B2CF-0F2866065692}"/>
              </a:ext>
            </a:extLst>
          </p:cNvPr>
          <p:cNvSpPr/>
          <p:nvPr/>
        </p:nvSpPr>
        <p:spPr bwMode="auto">
          <a:xfrm>
            <a:off x="5463561" y="3426644"/>
            <a:ext cx="2928460" cy="1026086"/>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SG" sz="1000" b="0" dirty="0">
                <a:solidFill>
                  <a:schemeClr val="tx1"/>
                </a:solidFill>
                <a:latin typeface="Arial" panose="020B0604020202020204" pitchFamily="34" charset="0"/>
              </a:rPr>
              <a:t>Stable, internationalized exchange platform favoured by Chinese and global investors</a:t>
            </a:r>
          </a:p>
          <a:p>
            <a:pPr eaLnBrk="0" hangingPunct="0"/>
            <a:endParaRPr lang="en-US" sz="1000" b="0" dirty="0">
              <a:solidFill>
                <a:schemeClr val="tx1"/>
              </a:solidFill>
              <a:latin typeface="Arial" panose="020B0604020202020204" pitchFamily="34" charset="0"/>
            </a:endParaRPr>
          </a:p>
        </p:txBody>
      </p:sp>
      <p:sp>
        <p:nvSpPr>
          <p:cNvPr id="74" name="Rectangle 36">
            <a:extLst>
              <a:ext uri="{FF2B5EF4-FFF2-40B4-BE49-F238E27FC236}">
                <a16:creationId xmlns:a16="http://schemas.microsoft.com/office/drawing/2014/main" id="{008D0E57-8EB6-AC8F-806B-FEA1DAEA0A78}"/>
              </a:ext>
            </a:extLst>
          </p:cNvPr>
          <p:cNvSpPr/>
          <p:nvPr/>
        </p:nvSpPr>
        <p:spPr bwMode="auto">
          <a:xfrm>
            <a:off x="724276" y="4771547"/>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Arial" panose="020B0604020202020204" pitchFamily="34" charset="0"/>
              </a:rPr>
              <a:t>Review</a:t>
            </a:r>
          </a:p>
        </p:txBody>
      </p:sp>
      <p:sp>
        <p:nvSpPr>
          <p:cNvPr id="76" name="Isosceles Triangle 46">
            <a:extLst>
              <a:ext uri="{FF2B5EF4-FFF2-40B4-BE49-F238E27FC236}">
                <a16:creationId xmlns:a16="http://schemas.microsoft.com/office/drawing/2014/main" id="{A59A250D-9F3B-E890-B30E-7C45C593A5BF}"/>
              </a:ext>
            </a:extLst>
          </p:cNvPr>
          <p:cNvSpPr/>
          <p:nvPr/>
        </p:nvSpPr>
        <p:spPr bwMode="auto">
          <a:xfrm rot="10800000">
            <a:off x="3409836" y="4532980"/>
            <a:ext cx="422087" cy="180000"/>
          </a:xfrm>
          <a:prstGeom prst="triangle">
            <a:avLst/>
          </a:prstGeom>
          <a:solidFill>
            <a:schemeClr val="accent1"/>
          </a:solidFill>
          <a:ln>
            <a:solidFill>
              <a:schemeClr val="accent1">
                <a:lumMod val="75000"/>
              </a:schemeClr>
            </a:solidFill>
          </a:ln>
          <a:effectLst/>
          <a:scene3d>
            <a:camera prst="orthographicFront"/>
            <a:lightRig rig="threePt" dir="t"/>
          </a:scene3d>
          <a:sp3d>
            <a:bevelT prst="angle"/>
          </a:sp3d>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tx1"/>
              </a:solidFill>
              <a:effectLst/>
              <a:latin typeface="Arial" panose="020B0604020202020204" pitchFamily="34" charset="0"/>
            </a:endParaRPr>
          </a:p>
        </p:txBody>
      </p:sp>
      <p:grpSp>
        <p:nvGrpSpPr>
          <p:cNvPr id="77" name="Group 32">
            <a:extLst>
              <a:ext uri="{FF2B5EF4-FFF2-40B4-BE49-F238E27FC236}">
                <a16:creationId xmlns:a16="http://schemas.microsoft.com/office/drawing/2014/main" id="{DA6C7F0D-A160-FF95-90E4-A23ECAE2A970}"/>
              </a:ext>
            </a:extLst>
          </p:cNvPr>
          <p:cNvGrpSpPr/>
          <p:nvPr/>
        </p:nvGrpSpPr>
        <p:grpSpPr>
          <a:xfrm>
            <a:off x="5460033" y="4771547"/>
            <a:ext cx="2928458" cy="828000"/>
            <a:chOff x="8600395" y="1763835"/>
            <a:chExt cx="1807200" cy="828000"/>
          </a:xfrm>
        </p:grpSpPr>
        <p:sp>
          <p:nvSpPr>
            <p:cNvPr id="78" name="Rectangle 43">
              <a:extLst>
                <a:ext uri="{FF2B5EF4-FFF2-40B4-BE49-F238E27FC236}">
                  <a16:creationId xmlns:a16="http://schemas.microsoft.com/office/drawing/2014/main" id="{CE97C2DF-9F0B-8060-A798-88EB71BC22DF}"/>
                </a:ext>
              </a:extLst>
            </p:cNvPr>
            <p:cNvSpPr/>
            <p:nvPr/>
          </p:nvSpPr>
          <p:spPr bwMode="auto">
            <a:xfrm>
              <a:off x="8600395" y="1763835"/>
              <a:ext cx="1807200" cy="828000"/>
            </a:xfrm>
            <a:prstGeom prst="rect">
              <a:avLst/>
            </a:prstGeom>
            <a:solidFill>
              <a:srgbClr val="DCEAF7"/>
            </a:solidFill>
            <a:ln>
              <a:solidFill>
                <a:schemeClr val="accent1"/>
              </a:solidFill>
              <a:prstDash val="soli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bg1"/>
                </a:solidFill>
                <a:effectLst/>
                <a:latin typeface="Arial" panose="020B0604020202020204" pitchFamily="34" charset="0"/>
              </a:endParaRPr>
            </a:p>
          </p:txBody>
        </p:sp>
        <p:graphicFrame>
          <p:nvGraphicFramePr>
            <p:cNvPr id="79" name="Chart 44">
              <a:extLst>
                <a:ext uri="{FF2B5EF4-FFF2-40B4-BE49-F238E27FC236}">
                  <a16:creationId xmlns:a16="http://schemas.microsoft.com/office/drawing/2014/main" id="{C1380937-D56D-3270-A2BA-13DFC2EB6EA6}"/>
                </a:ext>
              </a:extLst>
            </p:cNvPr>
            <p:cNvGraphicFramePr/>
            <p:nvPr/>
          </p:nvGraphicFramePr>
          <p:xfrm>
            <a:off x="9143995" y="1817835"/>
            <a:ext cx="720000" cy="720000"/>
          </p:xfrm>
          <a:graphic>
            <a:graphicData uri="http://schemas.openxmlformats.org/drawingml/2006/chart">
              <c:chart xmlns:c="http://schemas.openxmlformats.org/drawingml/2006/chart" xmlns:r="http://schemas.openxmlformats.org/officeDocument/2006/relationships" r:id="rId2"/>
            </a:graphicData>
          </a:graphic>
        </p:graphicFrame>
      </p:grpSp>
      <p:sp>
        <p:nvSpPr>
          <p:cNvPr id="80" name="Isosceles Triangle 48">
            <a:extLst>
              <a:ext uri="{FF2B5EF4-FFF2-40B4-BE49-F238E27FC236}">
                <a16:creationId xmlns:a16="http://schemas.microsoft.com/office/drawing/2014/main" id="{A7963BB7-9739-6BD2-7D08-3921E976E145}"/>
              </a:ext>
            </a:extLst>
          </p:cNvPr>
          <p:cNvSpPr/>
          <p:nvPr/>
        </p:nvSpPr>
        <p:spPr bwMode="auto">
          <a:xfrm rot="10800000">
            <a:off x="6725309" y="4532980"/>
            <a:ext cx="422087" cy="180000"/>
          </a:xfrm>
          <a:prstGeom prst="triangle">
            <a:avLst/>
          </a:prstGeom>
          <a:solidFill>
            <a:schemeClr val="accent1"/>
          </a:solidFill>
          <a:ln>
            <a:solidFill>
              <a:schemeClr val="accent1">
                <a:lumMod val="75000"/>
              </a:schemeClr>
            </a:solidFill>
          </a:ln>
          <a:effectLst/>
          <a:scene3d>
            <a:camera prst="orthographicFront"/>
            <a:lightRig rig="threePt" dir="t"/>
          </a:scene3d>
          <a:sp3d>
            <a:bevelT prst="angle"/>
          </a:sp3d>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tx1"/>
              </a:solidFill>
              <a:effectLst/>
              <a:latin typeface="Arial" panose="020B0604020202020204" pitchFamily="34" charset="0"/>
            </a:endParaRPr>
          </a:p>
        </p:txBody>
      </p:sp>
      <p:grpSp>
        <p:nvGrpSpPr>
          <p:cNvPr id="85" name="群組 84">
            <a:extLst>
              <a:ext uri="{FF2B5EF4-FFF2-40B4-BE49-F238E27FC236}">
                <a16:creationId xmlns:a16="http://schemas.microsoft.com/office/drawing/2014/main" id="{74E3B387-4B0A-1CD7-1E17-AFB60B978C82}"/>
              </a:ext>
            </a:extLst>
          </p:cNvPr>
          <p:cNvGrpSpPr/>
          <p:nvPr/>
        </p:nvGrpSpPr>
        <p:grpSpPr>
          <a:xfrm>
            <a:off x="2156652" y="4771547"/>
            <a:ext cx="2928458" cy="828000"/>
            <a:chOff x="1889952" y="4771547"/>
            <a:chExt cx="2928458" cy="828000"/>
          </a:xfrm>
        </p:grpSpPr>
        <p:sp>
          <p:nvSpPr>
            <p:cNvPr id="75" name="Rectangle 39">
              <a:extLst>
                <a:ext uri="{FF2B5EF4-FFF2-40B4-BE49-F238E27FC236}">
                  <a16:creationId xmlns:a16="http://schemas.microsoft.com/office/drawing/2014/main" id="{48CDC04C-1D46-E3FB-86C9-0A40B0C7A693}"/>
                </a:ext>
              </a:extLst>
            </p:cNvPr>
            <p:cNvSpPr/>
            <p:nvPr/>
          </p:nvSpPr>
          <p:spPr bwMode="auto">
            <a:xfrm>
              <a:off x="1889952" y="4771547"/>
              <a:ext cx="2928458" cy="828000"/>
            </a:xfrm>
            <a:prstGeom prst="rect">
              <a:avLst/>
            </a:prstGeom>
            <a:solidFill>
              <a:srgbClr val="DCEAF7"/>
            </a:solidFill>
            <a:ln>
              <a:solidFill>
                <a:schemeClr val="accent1"/>
              </a:solidFill>
              <a:prstDash val="soli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bg1"/>
                </a:solidFill>
                <a:effectLst/>
                <a:latin typeface="Arial" panose="020B0604020202020204" pitchFamily="34" charset="0"/>
              </a:endParaRPr>
            </a:p>
          </p:txBody>
        </p:sp>
        <p:graphicFrame>
          <p:nvGraphicFramePr>
            <p:cNvPr id="82" name="Chart 40">
              <a:extLst>
                <a:ext uri="{FF2B5EF4-FFF2-40B4-BE49-F238E27FC236}">
                  <a16:creationId xmlns:a16="http://schemas.microsoft.com/office/drawing/2014/main" id="{B893033C-E2C9-9CF5-527B-13F36FF3A361}"/>
                </a:ext>
              </a:extLst>
            </p:cNvPr>
            <p:cNvGraphicFramePr/>
            <p:nvPr>
              <p:extLst>
                <p:ext uri="{D42A27DB-BD31-4B8C-83A1-F6EECF244321}">
                  <p14:modId xmlns:p14="http://schemas.microsoft.com/office/powerpoint/2010/main" val="4058329252"/>
                </p:ext>
              </p:extLst>
            </p:nvPr>
          </p:nvGraphicFramePr>
          <p:xfrm>
            <a:off x="2932093" y="4825547"/>
            <a:ext cx="844175" cy="720000"/>
          </p:xfrm>
          <a:graphic>
            <a:graphicData uri="http://schemas.openxmlformats.org/drawingml/2006/chart">
              <c:chart xmlns:c="http://schemas.openxmlformats.org/drawingml/2006/chart" xmlns:r="http://schemas.openxmlformats.org/officeDocument/2006/relationships" r:id="rId3"/>
            </a:graphicData>
          </a:graphic>
        </p:graphicFrame>
      </p:grpSp>
      <p:pic>
        <p:nvPicPr>
          <p:cNvPr id="2" name="Picture 23" descr="A blue and black sign with different symbols&#10;&#10;Description automatically generated with medium confidence">
            <a:extLst>
              <a:ext uri="{FF2B5EF4-FFF2-40B4-BE49-F238E27FC236}">
                <a16:creationId xmlns:a16="http://schemas.microsoft.com/office/drawing/2014/main" id="{1174D68E-A6EA-34CF-311D-F2BF81BD8E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05366" y="1127620"/>
            <a:ext cx="765466" cy="352234"/>
          </a:xfrm>
          <a:prstGeom prst="rect">
            <a:avLst/>
          </a:prstGeom>
        </p:spPr>
      </p:pic>
      <p:pic>
        <p:nvPicPr>
          <p:cNvPr id="4" name="Picture 49">
            <a:extLst>
              <a:ext uri="{FF2B5EF4-FFF2-40B4-BE49-F238E27FC236}">
                <a16:creationId xmlns:a16="http://schemas.microsoft.com/office/drawing/2014/main" id="{795468AD-A771-ECCE-422F-72A4518080E7}"/>
              </a:ext>
            </a:extLst>
          </p:cNvPr>
          <p:cNvPicPr>
            <a:picLocks noChangeAspect="1"/>
          </p:cNvPicPr>
          <p:nvPr/>
        </p:nvPicPr>
        <p:blipFill>
          <a:blip r:embed="rId5"/>
          <a:stretch>
            <a:fillRect/>
          </a:stretch>
        </p:blipFill>
        <p:spPr>
          <a:xfrm>
            <a:off x="2949758" y="1127621"/>
            <a:ext cx="1076272" cy="352234"/>
          </a:xfrm>
          <a:prstGeom prst="rect">
            <a:avLst/>
          </a:prstGeom>
        </p:spPr>
      </p:pic>
      <p:grpSp>
        <p:nvGrpSpPr>
          <p:cNvPr id="5" name="Group 25">
            <a:extLst>
              <a:ext uri="{FF2B5EF4-FFF2-40B4-BE49-F238E27FC236}">
                <a16:creationId xmlns:a16="http://schemas.microsoft.com/office/drawing/2014/main" id="{A07B4A61-FC06-2FF3-0F1A-91DF79E20C7B}"/>
              </a:ext>
            </a:extLst>
          </p:cNvPr>
          <p:cNvGrpSpPr/>
          <p:nvPr/>
        </p:nvGrpSpPr>
        <p:grpSpPr>
          <a:xfrm>
            <a:off x="723900" y="455000"/>
            <a:ext cx="440936" cy="440936"/>
            <a:chOff x="626631" y="885064"/>
            <a:chExt cx="1164462" cy="1164462"/>
          </a:xfrm>
        </p:grpSpPr>
        <p:grpSp>
          <p:nvGrpSpPr>
            <p:cNvPr id="7" name="Group 27">
              <a:extLst>
                <a:ext uri="{FF2B5EF4-FFF2-40B4-BE49-F238E27FC236}">
                  <a16:creationId xmlns:a16="http://schemas.microsoft.com/office/drawing/2014/main" id="{341EC343-2804-D896-DFC9-7899DEB102BD}"/>
                </a:ext>
              </a:extLst>
            </p:cNvPr>
            <p:cNvGrpSpPr/>
            <p:nvPr/>
          </p:nvGrpSpPr>
          <p:grpSpPr>
            <a:xfrm>
              <a:off x="626631" y="885064"/>
              <a:ext cx="1164462" cy="1164462"/>
              <a:chOff x="626631" y="885064"/>
              <a:chExt cx="1164462" cy="1164462"/>
            </a:xfrm>
          </p:grpSpPr>
          <p:sp>
            <p:nvSpPr>
              <p:cNvPr id="9" name="Freeform: Shape 35">
                <a:extLst>
                  <a:ext uri="{FF2B5EF4-FFF2-40B4-BE49-F238E27FC236}">
                    <a16:creationId xmlns:a16="http://schemas.microsoft.com/office/drawing/2014/main" id="{5B80385C-2CFF-06FE-CA3B-66D3D067E6D2}"/>
                  </a:ext>
                </a:extLst>
              </p:cNvPr>
              <p:cNvSpPr/>
              <p:nvPr/>
            </p:nvSpPr>
            <p:spPr>
              <a:xfrm rot="5400000">
                <a:off x="626632" y="885064"/>
                <a:ext cx="556831" cy="556831"/>
              </a:xfrm>
              <a:custGeom>
                <a:avLst/>
                <a:gdLst>
                  <a:gd name="connsiteX0" fmla="*/ 0 w 556831"/>
                  <a:gd name="connsiteY0" fmla="*/ 0 h 556831"/>
                  <a:gd name="connsiteX1" fmla="*/ 119124 w 556831"/>
                  <a:gd name="connsiteY1" fmla="*/ 0 h 556831"/>
                  <a:gd name="connsiteX2" fmla="*/ 126025 w 556831"/>
                  <a:gd name="connsiteY2" fmla="*/ 68449 h 556831"/>
                  <a:gd name="connsiteX3" fmla="*/ 488383 w 556831"/>
                  <a:gd name="connsiteY3" fmla="*/ 430807 h 556831"/>
                  <a:gd name="connsiteX4" fmla="*/ 556831 w 556831"/>
                  <a:gd name="connsiteY4" fmla="*/ 437707 h 556831"/>
                  <a:gd name="connsiteX5" fmla="*/ 556831 w 556831"/>
                  <a:gd name="connsiteY5" fmla="*/ 556831 h 556831"/>
                  <a:gd name="connsiteX6" fmla="*/ 464375 w 556831"/>
                  <a:gd name="connsiteY6" fmla="*/ 547511 h 556831"/>
                  <a:gd name="connsiteX7" fmla="*/ 9321 w 556831"/>
                  <a:gd name="connsiteY7" fmla="*/ 92457 h 556831"/>
                  <a:gd name="connsiteX8" fmla="*/ 0 w 556831"/>
                  <a:gd name="connsiteY8" fmla="*/ 0 h 556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1" h="556831">
                    <a:moveTo>
                      <a:pt x="0" y="0"/>
                    </a:moveTo>
                    <a:lnTo>
                      <a:pt x="119124" y="0"/>
                    </a:lnTo>
                    <a:lnTo>
                      <a:pt x="126025" y="68449"/>
                    </a:lnTo>
                    <a:cubicBezTo>
                      <a:pt x="163243" y="250332"/>
                      <a:pt x="306499" y="393588"/>
                      <a:pt x="488383" y="430807"/>
                    </a:cubicBezTo>
                    <a:lnTo>
                      <a:pt x="556831" y="437707"/>
                    </a:lnTo>
                    <a:lnTo>
                      <a:pt x="556831" y="556831"/>
                    </a:lnTo>
                    <a:lnTo>
                      <a:pt x="464375" y="547511"/>
                    </a:lnTo>
                    <a:cubicBezTo>
                      <a:pt x="235964" y="500771"/>
                      <a:pt x="56060" y="320867"/>
                      <a:pt x="9321" y="92457"/>
                    </a:cubicBezTo>
                    <a:lnTo>
                      <a:pt x="0" y="0"/>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37">
                <a:extLst>
                  <a:ext uri="{FF2B5EF4-FFF2-40B4-BE49-F238E27FC236}">
                    <a16:creationId xmlns:a16="http://schemas.microsoft.com/office/drawing/2014/main" id="{ED8D1049-EFF5-BA87-E0DC-58427ABD43F0}"/>
                  </a:ext>
                </a:extLst>
              </p:cNvPr>
              <p:cNvSpPr/>
              <p:nvPr/>
            </p:nvSpPr>
            <p:spPr>
              <a:xfrm rot="5400000">
                <a:off x="1234263" y="885065"/>
                <a:ext cx="556831" cy="556829"/>
              </a:xfrm>
              <a:custGeom>
                <a:avLst/>
                <a:gdLst>
                  <a:gd name="connsiteX0" fmla="*/ 0 w 556831"/>
                  <a:gd name="connsiteY0" fmla="*/ 556829 h 556829"/>
                  <a:gd name="connsiteX1" fmla="*/ 9321 w 556831"/>
                  <a:gd name="connsiteY1" fmla="*/ 464374 h 556829"/>
                  <a:gd name="connsiteX2" fmla="*/ 464375 w 556831"/>
                  <a:gd name="connsiteY2" fmla="*/ 9320 h 556829"/>
                  <a:gd name="connsiteX3" fmla="*/ 556831 w 556831"/>
                  <a:gd name="connsiteY3" fmla="*/ 0 h 556829"/>
                  <a:gd name="connsiteX4" fmla="*/ 556831 w 556831"/>
                  <a:gd name="connsiteY4" fmla="*/ 119124 h 556829"/>
                  <a:gd name="connsiteX5" fmla="*/ 488383 w 556831"/>
                  <a:gd name="connsiteY5" fmla="*/ 126024 h 556829"/>
                  <a:gd name="connsiteX6" fmla="*/ 126025 w 556831"/>
                  <a:gd name="connsiteY6" fmla="*/ 488382 h 556829"/>
                  <a:gd name="connsiteX7" fmla="*/ 119124 w 556831"/>
                  <a:gd name="connsiteY7" fmla="*/ 556829 h 556829"/>
                  <a:gd name="connsiteX8" fmla="*/ 0 w 556831"/>
                  <a:gd name="connsiteY8" fmla="*/ 556829 h 55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1" h="556829">
                    <a:moveTo>
                      <a:pt x="0" y="556829"/>
                    </a:moveTo>
                    <a:lnTo>
                      <a:pt x="9321" y="464374"/>
                    </a:lnTo>
                    <a:cubicBezTo>
                      <a:pt x="56060" y="235964"/>
                      <a:pt x="235964" y="56060"/>
                      <a:pt x="464375" y="9320"/>
                    </a:cubicBezTo>
                    <a:lnTo>
                      <a:pt x="556831" y="0"/>
                    </a:lnTo>
                    <a:lnTo>
                      <a:pt x="556831" y="119124"/>
                    </a:lnTo>
                    <a:lnTo>
                      <a:pt x="488383" y="126024"/>
                    </a:lnTo>
                    <a:cubicBezTo>
                      <a:pt x="306499" y="163243"/>
                      <a:pt x="163243" y="306499"/>
                      <a:pt x="126025" y="488382"/>
                    </a:cubicBezTo>
                    <a:lnTo>
                      <a:pt x="119124" y="556829"/>
                    </a:lnTo>
                    <a:lnTo>
                      <a:pt x="0" y="55682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38">
                <a:extLst>
                  <a:ext uri="{FF2B5EF4-FFF2-40B4-BE49-F238E27FC236}">
                    <a16:creationId xmlns:a16="http://schemas.microsoft.com/office/drawing/2014/main" id="{FFBE78EB-AA38-1EB9-8F8E-0DE2ECB9C927}"/>
                  </a:ext>
                </a:extLst>
              </p:cNvPr>
              <p:cNvSpPr/>
              <p:nvPr/>
            </p:nvSpPr>
            <p:spPr>
              <a:xfrm rot="5400000">
                <a:off x="626632" y="1492695"/>
                <a:ext cx="556830" cy="556831"/>
              </a:xfrm>
              <a:custGeom>
                <a:avLst/>
                <a:gdLst>
                  <a:gd name="connsiteX0" fmla="*/ 0 w 556830"/>
                  <a:gd name="connsiteY0" fmla="*/ 556831 h 556831"/>
                  <a:gd name="connsiteX1" fmla="*/ 0 w 556830"/>
                  <a:gd name="connsiteY1" fmla="*/ 437707 h 556831"/>
                  <a:gd name="connsiteX2" fmla="*/ 68448 w 556830"/>
                  <a:gd name="connsiteY2" fmla="*/ 430807 h 556831"/>
                  <a:gd name="connsiteX3" fmla="*/ 430806 w 556830"/>
                  <a:gd name="connsiteY3" fmla="*/ 68449 h 556831"/>
                  <a:gd name="connsiteX4" fmla="*/ 437706 w 556830"/>
                  <a:gd name="connsiteY4" fmla="*/ 0 h 556831"/>
                  <a:gd name="connsiteX5" fmla="*/ 556830 w 556830"/>
                  <a:gd name="connsiteY5" fmla="*/ 0 h 556831"/>
                  <a:gd name="connsiteX6" fmla="*/ 547510 w 556830"/>
                  <a:gd name="connsiteY6" fmla="*/ 92457 h 556831"/>
                  <a:gd name="connsiteX7" fmla="*/ 92456 w 556830"/>
                  <a:gd name="connsiteY7" fmla="*/ 547511 h 556831"/>
                  <a:gd name="connsiteX8" fmla="*/ 0 w 556830"/>
                  <a:gd name="connsiteY8" fmla="*/ 556831 h 556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0" h="556831">
                    <a:moveTo>
                      <a:pt x="0" y="556831"/>
                    </a:moveTo>
                    <a:lnTo>
                      <a:pt x="0" y="437707"/>
                    </a:lnTo>
                    <a:lnTo>
                      <a:pt x="68448" y="430807"/>
                    </a:lnTo>
                    <a:cubicBezTo>
                      <a:pt x="250331" y="393588"/>
                      <a:pt x="393587" y="250332"/>
                      <a:pt x="430806" y="68449"/>
                    </a:cubicBezTo>
                    <a:lnTo>
                      <a:pt x="437706" y="0"/>
                    </a:lnTo>
                    <a:lnTo>
                      <a:pt x="556830" y="0"/>
                    </a:lnTo>
                    <a:lnTo>
                      <a:pt x="547510" y="92457"/>
                    </a:lnTo>
                    <a:cubicBezTo>
                      <a:pt x="500770" y="320867"/>
                      <a:pt x="320866" y="500771"/>
                      <a:pt x="92456" y="547511"/>
                    </a:cubicBezTo>
                    <a:lnTo>
                      <a:pt x="0" y="556831"/>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45">
                <a:extLst>
                  <a:ext uri="{FF2B5EF4-FFF2-40B4-BE49-F238E27FC236}">
                    <a16:creationId xmlns:a16="http://schemas.microsoft.com/office/drawing/2014/main" id="{F1AEA672-0610-9876-6C5A-FB9527C22678}"/>
                  </a:ext>
                </a:extLst>
              </p:cNvPr>
              <p:cNvSpPr/>
              <p:nvPr/>
            </p:nvSpPr>
            <p:spPr>
              <a:xfrm rot="5400000">
                <a:off x="1234263" y="1492696"/>
                <a:ext cx="556830" cy="556829"/>
              </a:xfrm>
              <a:custGeom>
                <a:avLst/>
                <a:gdLst>
                  <a:gd name="connsiteX0" fmla="*/ 0 w 556830"/>
                  <a:gd name="connsiteY0" fmla="*/ 119124 h 556829"/>
                  <a:gd name="connsiteX1" fmla="*/ 0 w 556830"/>
                  <a:gd name="connsiteY1" fmla="*/ 0 h 556829"/>
                  <a:gd name="connsiteX2" fmla="*/ 92456 w 556830"/>
                  <a:gd name="connsiteY2" fmla="*/ 9320 h 556829"/>
                  <a:gd name="connsiteX3" fmla="*/ 547510 w 556830"/>
                  <a:gd name="connsiteY3" fmla="*/ 464374 h 556829"/>
                  <a:gd name="connsiteX4" fmla="*/ 556830 w 556830"/>
                  <a:gd name="connsiteY4" fmla="*/ 556829 h 556829"/>
                  <a:gd name="connsiteX5" fmla="*/ 437706 w 556830"/>
                  <a:gd name="connsiteY5" fmla="*/ 556829 h 556829"/>
                  <a:gd name="connsiteX6" fmla="*/ 430806 w 556830"/>
                  <a:gd name="connsiteY6" fmla="*/ 488382 h 556829"/>
                  <a:gd name="connsiteX7" fmla="*/ 68448 w 556830"/>
                  <a:gd name="connsiteY7" fmla="*/ 126024 h 556829"/>
                  <a:gd name="connsiteX8" fmla="*/ 0 w 556830"/>
                  <a:gd name="connsiteY8" fmla="*/ 119124 h 55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0" h="556829">
                    <a:moveTo>
                      <a:pt x="0" y="119124"/>
                    </a:moveTo>
                    <a:lnTo>
                      <a:pt x="0" y="0"/>
                    </a:lnTo>
                    <a:lnTo>
                      <a:pt x="92456" y="9320"/>
                    </a:lnTo>
                    <a:cubicBezTo>
                      <a:pt x="320866" y="56060"/>
                      <a:pt x="500770" y="235964"/>
                      <a:pt x="547510" y="464374"/>
                    </a:cubicBezTo>
                    <a:lnTo>
                      <a:pt x="556830" y="556829"/>
                    </a:lnTo>
                    <a:lnTo>
                      <a:pt x="437706" y="556829"/>
                    </a:lnTo>
                    <a:lnTo>
                      <a:pt x="430806" y="488382"/>
                    </a:lnTo>
                    <a:cubicBezTo>
                      <a:pt x="393587" y="306499"/>
                      <a:pt x="250331" y="163243"/>
                      <a:pt x="68448" y="126024"/>
                    </a:cubicBezTo>
                    <a:lnTo>
                      <a:pt x="0" y="119124"/>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Oval 31">
              <a:extLst>
                <a:ext uri="{FF2B5EF4-FFF2-40B4-BE49-F238E27FC236}">
                  <a16:creationId xmlns:a16="http://schemas.microsoft.com/office/drawing/2014/main" id="{8DEFCC7D-EBD4-27B0-5E86-2BDA8F8E83B6}"/>
                </a:ext>
              </a:extLst>
            </p:cNvPr>
            <p:cNvSpPr/>
            <p:nvPr/>
          </p:nvSpPr>
          <p:spPr>
            <a:xfrm>
              <a:off x="878662" y="1137095"/>
              <a:ext cx="660400" cy="660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1</a:t>
              </a:r>
              <a:endParaRPr lang="en-US" b="1" dirty="0">
                <a:solidFill>
                  <a:schemeClr val="accent1"/>
                </a:solidFill>
              </a:endParaRPr>
            </a:p>
          </p:txBody>
        </p:sp>
      </p:grpSp>
    </p:spTree>
    <p:extLst>
      <p:ext uri="{BB962C8B-B14F-4D97-AF65-F5344CB8AC3E}">
        <p14:creationId xmlns:p14="http://schemas.microsoft.com/office/powerpoint/2010/main" val="33303533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4314B-A08A-496B-4FE5-9416D8195F02}"/>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ABCA0031-6C11-91FF-9260-FD8B0BCE3214}"/>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35</a:t>
            </a:fld>
            <a:endParaRPr lang="en-US" altLang="en-US" b="0">
              <a:solidFill>
                <a:srgbClr val="000000"/>
              </a:solidFill>
            </a:endParaRPr>
          </a:p>
        </p:txBody>
      </p:sp>
      <p:sp>
        <p:nvSpPr>
          <p:cNvPr id="6" name="標題 5">
            <a:extLst>
              <a:ext uri="{FF2B5EF4-FFF2-40B4-BE49-F238E27FC236}">
                <a16:creationId xmlns:a16="http://schemas.microsoft.com/office/drawing/2014/main" id="{3BF876BB-0E89-91CA-C2A5-8F18C9F68E18}"/>
              </a:ext>
            </a:extLst>
          </p:cNvPr>
          <p:cNvSpPr>
            <a:spLocks noGrp="1"/>
          </p:cNvSpPr>
          <p:nvPr>
            <p:ph type="title"/>
          </p:nvPr>
        </p:nvSpPr>
        <p:spPr>
          <a:xfrm>
            <a:off x="1136253" y="381000"/>
            <a:ext cx="8494051" cy="577850"/>
          </a:xfrm>
        </p:spPr>
        <p:txBody>
          <a:bodyPr/>
          <a:lstStyle/>
          <a:p>
            <a:r>
              <a:rPr lang="en-US" dirty="0"/>
              <a:t> Capital Market Considerations</a:t>
            </a:r>
          </a:p>
        </p:txBody>
      </p:sp>
      <p:sp>
        <p:nvSpPr>
          <p:cNvPr id="4" name="Rectangle 7">
            <a:extLst>
              <a:ext uri="{FF2B5EF4-FFF2-40B4-BE49-F238E27FC236}">
                <a16:creationId xmlns:a16="http://schemas.microsoft.com/office/drawing/2014/main" id="{5F22CB17-A4DB-0AC8-0BFD-1BDEC6D83F91}"/>
              </a:ext>
            </a:extLst>
          </p:cNvPr>
          <p:cNvSpPr/>
          <p:nvPr/>
        </p:nvSpPr>
        <p:spPr bwMode="auto">
          <a:xfrm>
            <a:off x="726220" y="1519062"/>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000">
                <a:solidFill>
                  <a:schemeClr val="tx1"/>
                </a:solidFill>
                <a:latin typeface="Arial" panose="020B0604020202020204" pitchFamily="34" charset="0"/>
              </a:rPr>
              <a:t>Breadth of Market</a:t>
            </a:r>
            <a:endParaRPr kumimoji="0" lang="en-SG" sz="1000" b="1" i="0" u="none" strike="noStrike" cap="none" normalizeH="0" baseline="0">
              <a:ln>
                <a:noFill/>
              </a:ln>
              <a:solidFill>
                <a:schemeClr val="tx1"/>
              </a:solidFill>
              <a:effectLst/>
              <a:latin typeface="Arial" panose="020B0604020202020204" pitchFamily="34" charset="0"/>
            </a:endParaRPr>
          </a:p>
        </p:txBody>
      </p:sp>
      <p:sp>
        <p:nvSpPr>
          <p:cNvPr id="5" name="Rectangle 11">
            <a:extLst>
              <a:ext uri="{FF2B5EF4-FFF2-40B4-BE49-F238E27FC236}">
                <a16:creationId xmlns:a16="http://schemas.microsoft.com/office/drawing/2014/main" id="{660519B0-8BCF-CCE6-27EC-35AB618DD431}"/>
              </a:ext>
            </a:extLst>
          </p:cNvPr>
          <p:cNvSpPr/>
          <p:nvPr/>
        </p:nvSpPr>
        <p:spPr bwMode="auto">
          <a:xfrm>
            <a:off x="726220" y="2472853"/>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Arial" panose="020B0604020202020204" pitchFamily="34" charset="0"/>
              </a:rPr>
              <a:t>Depth of Market </a:t>
            </a:r>
            <a:r>
              <a:rPr kumimoji="0" lang="en-US" sz="1000" b="1" i="0" u="none" strike="noStrike" cap="none" normalizeH="0" baseline="30000">
                <a:ln>
                  <a:noFill/>
                </a:ln>
                <a:solidFill>
                  <a:schemeClr val="tx1"/>
                </a:solidFill>
                <a:effectLst/>
                <a:latin typeface="Arial" panose="020B0604020202020204" pitchFamily="34" charset="0"/>
              </a:rPr>
              <a:t>(1)</a:t>
            </a:r>
            <a:endParaRPr kumimoji="0" lang="en-SG" sz="1000" b="1" i="0" u="none" strike="noStrike" cap="none" normalizeH="0" baseline="30000">
              <a:ln>
                <a:noFill/>
              </a:ln>
              <a:solidFill>
                <a:schemeClr val="tx1"/>
              </a:solidFill>
              <a:effectLst/>
              <a:latin typeface="Arial" panose="020B0604020202020204" pitchFamily="34" charset="0"/>
            </a:endParaRPr>
          </a:p>
        </p:txBody>
      </p:sp>
      <p:sp>
        <p:nvSpPr>
          <p:cNvPr id="7" name="Rectangle 17">
            <a:extLst>
              <a:ext uri="{FF2B5EF4-FFF2-40B4-BE49-F238E27FC236}">
                <a16:creationId xmlns:a16="http://schemas.microsoft.com/office/drawing/2014/main" id="{24794C5E-A7C6-AA9E-FD9E-C59419A8BB2E}"/>
              </a:ext>
            </a:extLst>
          </p:cNvPr>
          <p:cNvSpPr/>
          <p:nvPr/>
        </p:nvSpPr>
        <p:spPr bwMode="auto">
          <a:xfrm>
            <a:off x="726220" y="3426644"/>
            <a:ext cx="1192299" cy="950299"/>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Arial" panose="020B0604020202020204" pitchFamily="34" charset="0"/>
              </a:rPr>
              <a:t>Recent Market Activities</a:t>
            </a:r>
            <a:endParaRPr kumimoji="0" lang="en-SG" sz="1000" b="1"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5A421D64-C1B1-3FF9-4750-03E80F83435B}"/>
              </a:ext>
            </a:extLst>
          </p:cNvPr>
          <p:cNvSpPr/>
          <p:nvPr/>
        </p:nvSpPr>
        <p:spPr bwMode="auto">
          <a:xfrm>
            <a:off x="2156653" y="1519062"/>
            <a:ext cx="2928458"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SG" sz="1000" b="0" dirty="0">
                <a:solidFill>
                  <a:schemeClr val="tx1"/>
                </a:solidFill>
                <a:latin typeface="Arial" panose="020B0604020202020204" pitchFamily="34" charset="0"/>
              </a:rPr>
              <a:t># of  listed companies: ~604</a:t>
            </a:r>
          </a:p>
          <a:p>
            <a:pPr eaLnBrk="0" hangingPunct="0"/>
            <a:endParaRPr lang="en-SG" sz="1000" b="0" dirty="0">
              <a:solidFill>
                <a:schemeClr val="tx1"/>
              </a:solidFill>
              <a:highlight>
                <a:srgbClr val="FFFF00"/>
              </a:highlight>
              <a:latin typeface="Arial" panose="020B0604020202020204" pitchFamily="34" charset="0"/>
            </a:endParaRPr>
          </a:p>
          <a:p>
            <a:pPr eaLnBrk="0" hangingPunct="0"/>
            <a:r>
              <a:rPr lang="en-SG" sz="1000" b="0" dirty="0">
                <a:solidFill>
                  <a:schemeClr val="tx1"/>
                </a:solidFill>
                <a:latin typeface="Arial" panose="020B0604020202020204" pitchFamily="34" charset="0"/>
              </a:rPr>
              <a:t>Total market </a:t>
            </a:r>
            <a:br>
              <a:rPr lang="en-SG" sz="1000" b="0" dirty="0">
                <a:solidFill>
                  <a:schemeClr val="tx1"/>
                </a:solidFill>
                <a:latin typeface="Arial" panose="020B0604020202020204" pitchFamily="34" charset="0"/>
              </a:rPr>
            </a:br>
            <a:r>
              <a:rPr lang="en-SG" sz="1000" b="0" dirty="0">
                <a:solidFill>
                  <a:schemeClr val="tx1"/>
                </a:solidFill>
                <a:latin typeface="Arial" panose="020B0604020202020204" pitchFamily="34" charset="0"/>
              </a:rPr>
              <a:t>capitalisation: US$883.2 bn </a:t>
            </a:r>
            <a:r>
              <a:rPr lang="en-SG" sz="1000" b="0" baseline="30000" dirty="0">
                <a:solidFill>
                  <a:schemeClr val="tx1"/>
                </a:solidFill>
                <a:latin typeface="Arial" panose="020B0604020202020204" pitchFamily="34" charset="0"/>
              </a:rPr>
              <a:t>2</a:t>
            </a:r>
            <a:endParaRPr lang="en-US" sz="1000" b="0" dirty="0">
              <a:solidFill>
                <a:schemeClr val="tx1"/>
              </a:solidFill>
              <a:latin typeface="Arial" panose="020B0604020202020204" pitchFamily="34" charset="0"/>
            </a:endParaRPr>
          </a:p>
        </p:txBody>
      </p:sp>
      <p:sp>
        <p:nvSpPr>
          <p:cNvPr id="10" name="Rectangle 14">
            <a:extLst>
              <a:ext uri="{FF2B5EF4-FFF2-40B4-BE49-F238E27FC236}">
                <a16:creationId xmlns:a16="http://schemas.microsoft.com/office/drawing/2014/main" id="{B7D00E5E-8864-4CB7-D03E-E6382193009A}"/>
              </a:ext>
            </a:extLst>
          </p:cNvPr>
          <p:cNvSpPr/>
          <p:nvPr/>
        </p:nvSpPr>
        <p:spPr bwMode="auto">
          <a:xfrm>
            <a:off x="2158932" y="2480804"/>
            <a:ext cx="2928458"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SG" sz="1000" b="0" dirty="0">
                <a:solidFill>
                  <a:schemeClr val="tx1"/>
                </a:solidFill>
                <a:latin typeface="Arial" panose="020B0604020202020204" pitchFamily="34" charset="0"/>
              </a:rPr>
              <a:t>YTD2026 ADTV: c.US$1.6 bn</a:t>
            </a:r>
            <a:endParaRPr lang="en-US" sz="1000" b="0" dirty="0">
              <a:solidFill>
                <a:schemeClr val="tx1"/>
              </a:solidFill>
              <a:latin typeface="Arial" panose="020B0604020202020204" pitchFamily="34" charset="0"/>
            </a:endParaRPr>
          </a:p>
        </p:txBody>
      </p:sp>
      <p:sp>
        <p:nvSpPr>
          <p:cNvPr id="11" name="Rectangle 19">
            <a:extLst>
              <a:ext uri="{FF2B5EF4-FFF2-40B4-BE49-F238E27FC236}">
                <a16:creationId xmlns:a16="http://schemas.microsoft.com/office/drawing/2014/main" id="{54D886BD-96DF-CD23-CFCE-AD1467E9DEB5}"/>
              </a:ext>
            </a:extLst>
          </p:cNvPr>
          <p:cNvSpPr/>
          <p:nvPr/>
        </p:nvSpPr>
        <p:spPr bwMode="auto">
          <a:xfrm>
            <a:off x="2160106" y="3426644"/>
            <a:ext cx="2928460" cy="942173"/>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US" sz="1000" b="0" dirty="0">
                <a:solidFill>
                  <a:schemeClr val="tx1"/>
                </a:solidFill>
                <a:latin typeface="Arial" panose="020B0604020202020204" pitchFamily="34" charset="0"/>
              </a:rPr>
              <a:t>6 Mainboard IPOs in 2025, #9 on Bloomberg IPO venue ranking</a:t>
            </a:r>
          </a:p>
          <a:p>
            <a:pPr eaLnBrk="0" hangingPunct="0"/>
            <a:endParaRPr lang="en-US" sz="1000" b="0" dirty="0">
              <a:solidFill>
                <a:schemeClr val="tx1"/>
              </a:solidFill>
              <a:highlight>
                <a:srgbClr val="FFFF00"/>
              </a:highlight>
              <a:latin typeface="Arial" panose="020B0604020202020204" pitchFamily="34" charset="0"/>
            </a:endParaRPr>
          </a:p>
          <a:p>
            <a:pPr eaLnBrk="0" hangingPunct="0"/>
            <a:r>
              <a:rPr lang="en-US" sz="1000" b="0" dirty="0">
                <a:solidFill>
                  <a:schemeClr val="tx1"/>
                </a:solidFill>
                <a:latin typeface="Arial" panose="020B0604020202020204" pitchFamily="34" charset="0"/>
              </a:rPr>
              <a:t>SGX equity market sees good recovery amid geopolitical uncertainty</a:t>
            </a:r>
            <a:endParaRPr lang="en-US" sz="1000" b="0" dirty="0">
              <a:solidFill>
                <a:schemeClr val="tx1"/>
              </a:solidFill>
              <a:highlight>
                <a:srgbClr val="FFFF00"/>
              </a:highlight>
              <a:latin typeface="Arial" panose="020B0604020202020204" pitchFamily="34" charset="0"/>
            </a:endParaRPr>
          </a:p>
        </p:txBody>
      </p:sp>
      <p:sp>
        <p:nvSpPr>
          <p:cNvPr id="12" name="Rectangle 9">
            <a:extLst>
              <a:ext uri="{FF2B5EF4-FFF2-40B4-BE49-F238E27FC236}">
                <a16:creationId xmlns:a16="http://schemas.microsoft.com/office/drawing/2014/main" id="{17A10E89-7CF6-5B15-FB9F-C3B2584E6385}"/>
              </a:ext>
            </a:extLst>
          </p:cNvPr>
          <p:cNvSpPr/>
          <p:nvPr/>
        </p:nvSpPr>
        <p:spPr bwMode="auto">
          <a:xfrm>
            <a:off x="5460032" y="1519062"/>
            <a:ext cx="2931989"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SG" sz="1000" b="0" dirty="0">
                <a:solidFill>
                  <a:schemeClr val="tx1"/>
                </a:solidFill>
                <a:latin typeface="Arial" panose="020B0604020202020204" pitchFamily="34" charset="0"/>
              </a:rPr>
              <a:t># of  listed companies: ~2700</a:t>
            </a:r>
          </a:p>
          <a:p>
            <a:pPr eaLnBrk="0" hangingPunct="0"/>
            <a:endParaRPr lang="en-SG" sz="1000" b="0" dirty="0">
              <a:solidFill>
                <a:schemeClr val="tx1"/>
              </a:solidFill>
              <a:highlight>
                <a:srgbClr val="FFFF00"/>
              </a:highlight>
              <a:latin typeface="Arial" panose="020B0604020202020204" pitchFamily="34" charset="0"/>
            </a:endParaRPr>
          </a:p>
          <a:p>
            <a:pPr eaLnBrk="0" hangingPunct="0"/>
            <a:r>
              <a:rPr lang="en-SG" sz="1000" b="0" dirty="0">
                <a:solidFill>
                  <a:schemeClr val="tx1"/>
                </a:solidFill>
                <a:latin typeface="Arial" panose="020B0604020202020204" pitchFamily="34" charset="0"/>
              </a:rPr>
              <a:t>Total market </a:t>
            </a:r>
            <a:br>
              <a:rPr lang="en-SG" sz="1000" b="0" dirty="0">
                <a:solidFill>
                  <a:schemeClr val="tx1"/>
                </a:solidFill>
                <a:latin typeface="Arial" panose="020B0604020202020204" pitchFamily="34" charset="0"/>
              </a:rPr>
            </a:br>
            <a:r>
              <a:rPr lang="en-SG" sz="1000" b="0" dirty="0">
                <a:solidFill>
                  <a:schemeClr val="tx1"/>
                </a:solidFill>
                <a:latin typeface="Arial" panose="020B0604020202020204" pitchFamily="34" charset="0"/>
              </a:rPr>
              <a:t>capitalisation: US$6</a:t>
            </a:r>
            <a:r>
              <a:rPr lang="en-US" sz="1000" b="0" dirty="0">
                <a:solidFill>
                  <a:schemeClr val="tx1"/>
                </a:solidFill>
                <a:latin typeface="Arial" panose="020B0604020202020204" pitchFamily="34" charset="0"/>
              </a:rPr>
              <a:t>,</a:t>
            </a:r>
            <a:r>
              <a:rPr lang="en-SG" sz="1000" b="0" dirty="0">
                <a:solidFill>
                  <a:schemeClr val="tx1"/>
                </a:solidFill>
                <a:latin typeface="Arial" panose="020B0604020202020204" pitchFamily="34" charset="0"/>
              </a:rPr>
              <a:t>130 bn </a:t>
            </a:r>
            <a:r>
              <a:rPr lang="en-SG" sz="1000" b="0" baseline="30000" dirty="0">
                <a:solidFill>
                  <a:schemeClr val="tx1"/>
                </a:solidFill>
                <a:latin typeface="Arial" panose="020B0604020202020204" pitchFamily="34" charset="0"/>
              </a:rPr>
              <a:t>2</a:t>
            </a:r>
            <a:endParaRPr lang="en-US" sz="1000" b="0" dirty="0">
              <a:solidFill>
                <a:schemeClr val="tx1"/>
              </a:solidFill>
              <a:latin typeface="Arial" panose="020B0604020202020204" pitchFamily="34" charset="0"/>
            </a:endParaRPr>
          </a:p>
        </p:txBody>
      </p:sp>
      <p:sp>
        <p:nvSpPr>
          <p:cNvPr id="13" name="Rectangle 15">
            <a:extLst>
              <a:ext uri="{FF2B5EF4-FFF2-40B4-BE49-F238E27FC236}">
                <a16:creationId xmlns:a16="http://schemas.microsoft.com/office/drawing/2014/main" id="{F1FB069A-EC9E-367A-231E-3D8686FB86F6}"/>
              </a:ext>
            </a:extLst>
          </p:cNvPr>
          <p:cNvSpPr/>
          <p:nvPr/>
        </p:nvSpPr>
        <p:spPr bwMode="auto">
          <a:xfrm>
            <a:off x="5460032" y="2472853"/>
            <a:ext cx="2928459"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SG" sz="1000" b="0" dirty="0">
                <a:solidFill>
                  <a:schemeClr val="tx1"/>
                </a:solidFill>
                <a:latin typeface="Arial" panose="020B0604020202020204" pitchFamily="34" charset="0"/>
              </a:rPr>
              <a:t>YTD2026 ADTV: c.US$32.4 bn</a:t>
            </a:r>
          </a:p>
        </p:txBody>
      </p:sp>
      <p:sp>
        <p:nvSpPr>
          <p:cNvPr id="14" name="Rectangle 21">
            <a:extLst>
              <a:ext uri="{FF2B5EF4-FFF2-40B4-BE49-F238E27FC236}">
                <a16:creationId xmlns:a16="http://schemas.microsoft.com/office/drawing/2014/main" id="{20AABE16-6353-5A89-E1DD-884F1BD80A41}"/>
              </a:ext>
            </a:extLst>
          </p:cNvPr>
          <p:cNvSpPr/>
          <p:nvPr/>
        </p:nvSpPr>
        <p:spPr bwMode="auto">
          <a:xfrm>
            <a:off x="5463561" y="3426644"/>
            <a:ext cx="2928460" cy="942174"/>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US" sz="1000" b="0" dirty="0">
                <a:solidFill>
                  <a:schemeClr val="tx1"/>
                </a:solidFill>
                <a:latin typeface="Arial" panose="020B0604020202020204" pitchFamily="34" charset="0"/>
              </a:rPr>
              <a:t>113 Mainboard IPOs in 2025, #1 on Bloomberg top IPO venue ranking</a:t>
            </a:r>
          </a:p>
          <a:p>
            <a:pPr eaLnBrk="0" hangingPunct="0"/>
            <a:endParaRPr lang="en-US" sz="1000" b="0" dirty="0">
              <a:solidFill>
                <a:schemeClr val="tx1"/>
              </a:solidFill>
              <a:latin typeface="Arial" panose="020B0604020202020204" pitchFamily="34" charset="0"/>
            </a:endParaRPr>
          </a:p>
          <a:p>
            <a:pPr eaLnBrk="0" hangingPunct="0"/>
            <a:r>
              <a:rPr lang="en-SG" sz="1000" b="0" dirty="0">
                <a:solidFill>
                  <a:schemeClr val="tx1"/>
                </a:solidFill>
                <a:latin typeface="Arial" panose="020B0604020202020204" pitchFamily="34" charset="0"/>
              </a:rPr>
              <a:t>3 international issuers conducted secondary fund-raising activities for expansion, M&amp;A or R&amp;D</a:t>
            </a:r>
          </a:p>
        </p:txBody>
      </p:sp>
      <p:grpSp>
        <p:nvGrpSpPr>
          <p:cNvPr id="23" name="Group 25">
            <a:extLst>
              <a:ext uri="{FF2B5EF4-FFF2-40B4-BE49-F238E27FC236}">
                <a16:creationId xmlns:a16="http://schemas.microsoft.com/office/drawing/2014/main" id="{7B9DA65B-3C90-ECFA-C25A-3592BECE650D}"/>
              </a:ext>
            </a:extLst>
          </p:cNvPr>
          <p:cNvGrpSpPr/>
          <p:nvPr/>
        </p:nvGrpSpPr>
        <p:grpSpPr>
          <a:xfrm>
            <a:off x="723900" y="455000"/>
            <a:ext cx="440936" cy="440936"/>
            <a:chOff x="626631" y="885064"/>
            <a:chExt cx="1164462" cy="1164462"/>
          </a:xfrm>
        </p:grpSpPr>
        <p:grpSp>
          <p:nvGrpSpPr>
            <p:cNvPr id="24" name="Group 27">
              <a:extLst>
                <a:ext uri="{FF2B5EF4-FFF2-40B4-BE49-F238E27FC236}">
                  <a16:creationId xmlns:a16="http://schemas.microsoft.com/office/drawing/2014/main" id="{5C2FBF6D-9F87-6BBA-98F1-F74024704D90}"/>
                </a:ext>
              </a:extLst>
            </p:cNvPr>
            <p:cNvGrpSpPr/>
            <p:nvPr/>
          </p:nvGrpSpPr>
          <p:grpSpPr>
            <a:xfrm>
              <a:off x="626631" y="885064"/>
              <a:ext cx="1164462" cy="1164462"/>
              <a:chOff x="626631" y="885064"/>
              <a:chExt cx="1164462" cy="1164462"/>
            </a:xfrm>
          </p:grpSpPr>
          <p:sp>
            <p:nvSpPr>
              <p:cNvPr id="26" name="Freeform: Shape 35">
                <a:extLst>
                  <a:ext uri="{FF2B5EF4-FFF2-40B4-BE49-F238E27FC236}">
                    <a16:creationId xmlns:a16="http://schemas.microsoft.com/office/drawing/2014/main" id="{D6557F32-2372-6924-4024-EAA4DAE16EA9}"/>
                  </a:ext>
                </a:extLst>
              </p:cNvPr>
              <p:cNvSpPr/>
              <p:nvPr/>
            </p:nvSpPr>
            <p:spPr>
              <a:xfrm rot="5400000">
                <a:off x="626632" y="885064"/>
                <a:ext cx="556831" cy="556831"/>
              </a:xfrm>
              <a:custGeom>
                <a:avLst/>
                <a:gdLst>
                  <a:gd name="connsiteX0" fmla="*/ 0 w 556831"/>
                  <a:gd name="connsiteY0" fmla="*/ 0 h 556831"/>
                  <a:gd name="connsiteX1" fmla="*/ 119124 w 556831"/>
                  <a:gd name="connsiteY1" fmla="*/ 0 h 556831"/>
                  <a:gd name="connsiteX2" fmla="*/ 126025 w 556831"/>
                  <a:gd name="connsiteY2" fmla="*/ 68449 h 556831"/>
                  <a:gd name="connsiteX3" fmla="*/ 488383 w 556831"/>
                  <a:gd name="connsiteY3" fmla="*/ 430807 h 556831"/>
                  <a:gd name="connsiteX4" fmla="*/ 556831 w 556831"/>
                  <a:gd name="connsiteY4" fmla="*/ 437707 h 556831"/>
                  <a:gd name="connsiteX5" fmla="*/ 556831 w 556831"/>
                  <a:gd name="connsiteY5" fmla="*/ 556831 h 556831"/>
                  <a:gd name="connsiteX6" fmla="*/ 464375 w 556831"/>
                  <a:gd name="connsiteY6" fmla="*/ 547511 h 556831"/>
                  <a:gd name="connsiteX7" fmla="*/ 9321 w 556831"/>
                  <a:gd name="connsiteY7" fmla="*/ 92457 h 556831"/>
                  <a:gd name="connsiteX8" fmla="*/ 0 w 556831"/>
                  <a:gd name="connsiteY8" fmla="*/ 0 h 556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1" h="556831">
                    <a:moveTo>
                      <a:pt x="0" y="0"/>
                    </a:moveTo>
                    <a:lnTo>
                      <a:pt x="119124" y="0"/>
                    </a:lnTo>
                    <a:lnTo>
                      <a:pt x="126025" y="68449"/>
                    </a:lnTo>
                    <a:cubicBezTo>
                      <a:pt x="163243" y="250332"/>
                      <a:pt x="306499" y="393588"/>
                      <a:pt x="488383" y="430807"/>
                    </a:cubicBezTo>
                    <a:lnTo>
                      <a:pt x="556831" y="437707"/>
                    </a:lnTo>
                    <a:lnTo>
                      <a:pt x="556831" y="556831"/>
                    </a:lnTo>
                    <a:lnTo>
                      <a:pt x="464375" y="547511"/>
                    </a:lnTo>
                    <a:cubicBezTo>
                      <a:pt x="235964" y="500771"/>
                      <a:pt x="56060" y="320867"/>
                      <a:pt x="9321" y="92457"/>
                    </a:cubicBezTo>
                    <a:lnTo>
                      <a:pt x="0" y="0"/>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37">
                <a:extLst>
                  <a:ext uri="{FF2B5EF4-FFF2-40B4-BE49-F238E27FC236}">
                    <a16:creationId xmlns:a16="http://schemas.microsoft.com/office/drawing/2014/main" id="{7129409C-6898-A9B9-24D3-122870D5C762}"/>
                  </a:ext>
                </a:extLst>
              </p:cNvPr>
              <p:cNvSpPr/>
              <p:nvPr/>
            </p:nvSpPr>
            <p:spPr>
              <a:xfrm rot="5400000">
                <a:off x="1234263" y="885065"/>
                <a:ext cx="556831" cy="556829"/>
              </a:xfrm>
              <a:custGeom>
                <a:avLst/>
                <a:gdLst>
                  <a:gd name="connsiteX0" fmla="*/ 0 w 556831"/>
                  <a:gd name="connsiteY0" fmla="*/ 556829 h 556829"/>
                  <a:gd name="connsiteX1" fmla="*/ 9321 w 556831"/>
                  <a:gd name="connsiteY1" fmla="*/ 464374 h 556829"/>
                  <a:gd name="connsiteX2" fmla="*/ 464375 w 556831"/>
                  <a:gd name="connsiteY2" fmla="*/ 9320 h 556829"/>
                  <a:gd name="connsiteX3" fmla="*/ 556831 w 556831"/>
                  <a:gd name="connsiteY3" fmla="*/ 0 h 556829"/>
                  <a:gd name="connsiteX4" fmla="*/ 556831 w 556831"/>
                  <a:gd name="connsiteY4" fmla="*/ 119124 h 556829"/>
                  <a:gd name="connsiteX5" fmla="*/ 488383 w 556831"/>
                  <a:gd name="connsiteY5" fmla="*/ 126024 h 556829"/>
                  <a:gd name="connsiteX6" fmla="*/ 126025 w 556831"/>
                  <a:gd name="connsiteY6" fmla="*/ 488382 h 556829"/>
                  <a:gd name="connsiteX7" fmla="*/ 119124 w 556831"/>
                  <a:gd name="connsiteY7" fmla="*/ 556829 h 556829"/>
                  <a:gd name="connsiteX8" fmla="*/ 0 w 556831"/>
                  <a:gd name="connsiteY8" fmla="*/ 556829 h 55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1" h="556829">
                    <a:moveTo>
                      <a:pt x="0" y="556829"/>
                    </a:moveTo>
                    <a:lnTo>
                      <a:pt x="9321" y="464374"/>
                    </a:lnTo>
                    <a:cubicBezTo>
                      <a:pt x="56060" y="235964"/>
                      <a:pt x="235964" y="56060"/>
                      <a:pt x="464375" y="9320"/>
                    </a:cubicBezTo>
                    <a:lnTo>
                      <a:pt x="556831" y="0"/>
                    </a:lnTo>
                    <a:lnTo>
                      <a:pt x="556831" y="119124"/>
                    </a:lnTo>
                    <a:lnTo>
                      <a:pt x="488383" y="126024"/>
                    </a:lnTo>
                    <a:cubicBezTo>
                      <a:pt x="306499" y="163243"/>
                      <a:pt x="163243" y="306499"/>
                      <a:pt x="126025" y="488382"/>
                    </a:cubicBezTo>
                    <a:lnTo>
                      <a:pt x="119124" y="556829"/>
                    </a:lnTo>
                    <a:lnTo>
                      <a:pt x="0" y="55682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38">
                <a:extLst>
                  <a:ext uri="{FF2B5EF4-FFF2-40B4-BE49-F238E27FC236}">
                    <a16:creationId xmlns:a16="http://schemas.microsoft.com/office/drawing/2014/main" id="{427E24B7-1802-D510-A02F-64BB03241502}"/>
                  </a:ext>
                </a:extLst>
              </p:cNvPr>
              <p:cNvSpPr/>
              <p:nvPr/>
            </p:nvSpPr>
            <p:spPr>
              <a:xfrm rot="5400000">
                <a:off x="626632" y="1492695"/>
                <a:ext cx="556830" cy="556831"/>
              </a:xfrm>
              <a:custGeom>
                <a:avLst/>
                <a:gdLst>
                  <a:gd name="connsiteX0" fmla="*/ 0 w 556830"/>
                  <a:gd name="connsiteY0" fmla="*/ 556831 h 556831"/>
                  <a:gd name="connsiteX1" fmla="*/ 0 w 556830"/>
                  <a:gd name="connsiteY1" fmla="*/ 437707 h 556831"/>
                  <a:gd name="connsiteX2" fmla="*/ 68448 w 556830"/>
                  <a:gd name="connsiteY2" fmla="*/ 430807 h 556831"/>
                  <a:gd name="connsiteX3" fmla="*/ 430806 w 556830"/>
                  <a:gd name="connsiteY3" fmla="*/ 68449 h 556831"/>
                  <a:gd name="connsiteX4" fmla="*/ 437706 w 556830"/>
                  <a:gd name="connsiteY4" fmla="*/ 0 h 556831"/>
                  <a:gd name="connsiteX5" fmla="*/ 556830 w 556830"/>
                  <a:gd name="connsiteY5" fmla="*/ 0 h 556831"/>
                  <a:gd name="connsiteX6" fmla="*/ 547510 w 556830"/>
                  <a:gd name="connsiteY6" fmla="*/ 92457 h 556831"/>
                  <a:gd name="connsiteX7" fmla="*/ 92456 w 556830"/>
                  <a:gd name="connsiteY7" fmla="*/ 547511 h 556831"/>
                  <a:gd name="connsiteX8" fmla="*/ 0 w 556830"/>
                  <a:gd name="connsiteY8" fmla="*/ 556831 h 556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0" h="556831">
                    <a:moveTo>
                      <a:pt x="0" y="556831"/>
                    </a:moveTo>
                    <a:lnTo>
                      <a:pt x="0" y="437707"/>
                    </a:lnTo>
                    <a:lnTo>
                      <a:pt x="68448" y="430807"/>
                    </a:lnTo>
                    <a:cubicBezTo>
                      <a:pt x="250331" y="393588"/>
                      <a:pt x="393587" y="250332"/>
                      <a:pt x="430806" y="68449"/>
                    </a:cubicBezTo>
                    <a:lnTo>
                      <a:pt x="437706" y="0"/>
                    </a:lnTo>
                    <a:lnTo>
                      <a:pt x="556830" y="0"/>
                    </a:lnTo>
                    <a:lnTo>
                      <a:pt x="547510" y="92457"/>
                    </a:lnTo>
                    <a:cubicBezTo>
                      <a:pt x="500770" y="320867"/>
                      <a:pt x="320866" y="500771"/>
                      <a:pt x="92456" y="547511"/>
                    </a:cubicBezTo>
                    <a:lnTo>
                      <a:pt x="0" y="556831"/>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45">
                <a:extLst>
                  <a:ext uri="{FF2B5EF4-FFF2-40B4-BE49-F238E27FC236}">
                    <a16:creationId xmlns:a16="http://schemas.microsoft.com/office/drawing/2014/main" id="{302EF8F0-DD38-24AA-ACA5-70D284559AF7}"/>
                  </a:ext>
                </a:extLst>
              </p:cNvPr>
              <p:cNvSpPr/>
              <p:nvPr/>
            </p:nvSpPr>
            <p:spPr>
              <a:xfrm rot="5400000">
                <a:off x="1234263" y="1492696"/>
                <a:ext cx="556830" cy="556829"/>
              </a:xfrm>
              <a:custGeom>
                <a:avLst/>
                <a:gdLst>
                  <a:gd name="connsiteX0" fmla="*/ 0 w 556830"/>
                  <a:gd name="connsiteY0" fmla="*/ 119124 h 556829"/>
                  <a:gd name="connsiteX1" fmla="*/ 0 w 556830"/>
                  <a:gd name="connsiteY1" fmla="*/ 0 h 556829"/>
                  <a:gd name="connsiteX2" fmla="*/ 92456 w 556830"/>
                  <a:gd name="connsiteY2" fmla="*/ 9320 h 556829"/>
                  <a:gd name="connsiteX3" fmla="*/ 547510 w 556830"/>
                  <a:gd name="connsiteY3" fmla="*/ 464374 h 556829"/>
                  <a:gd name="connsiteX4" fmla="*/ 556830 w 556830"/>
                  <a:gd name="connsiteY4" fmla="*/ 556829 h 556829"/>
                  <a:gd name="connsiteX5" fmla="*/ 437706 w 556830"/>
                  <a:gd name="connsiteY5" fmla="*/ 556829 h 556829"/>
                  <a:gd name="connsiteX6" fmla="*/ 430806 w 556830"/>
                  <a:gd name="connsiteY6" fmla="*/ 488382 h 556829"/>
                  <a:gd name="connsiteX7" fmla="*/ 68448 w 556830"/>
                  <a:gd name="connsiteY7" fmla="*/ 126024 h 556829"/>
                  <a:gd name="connsiteX8" fmla="*/ 0 w 556830"/>
                  <a:gd name="connsiteY8" fmla="*/ 119124 h 55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0" h="556829">
                    <a:moveTo>
                      <a:pt x="0" y="119124"/>
                    </a:moveTo>
                    <a:lnTo>
                      <a:pt x="0" y="0"/>
                    </a:lnTo>
                    <a:lnTo>
                      <a:pt x="92456" y="9320"/>
                    </a:lnTo>
                    <a:cubicBezTo>
                      <a:pt x="320866" y="56060"/>
                      <a:pt x="500770" y="235964"/>
                      <a:pt x="547510" y="464374"/>
                    </a:cubicBezTo>
                    <a:lnTo>
                      <a:pt x="556830" y="556829"/>
                    </a:lnTo>
                    <a:lnTo>
                      <a:pt x="437706" y="556829"/>
                    </a:lnTo>
                    <a:lnTo>
                      <a:pt x="430806" y="488382"/>
                    </a:lnTo>
                    <a:cubicBezTo>
                      <a:pt x="393587" y="306499"/>
                      <a:pt x="250331" y="163243"/>
                      <a:pt x="68448" y="126024"/>
                    </a:cubicBezTo>
                    <a:lnTo>
                      <a:pt x="0" y="119124"/>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5" name="Oval 31">
              <a:extLst>
                <a:ext uri="{FF2B5EF4-FFF2-40B4-BE49-F238E27FC236}">
                  <a16:creationId xmlns:a16="http://schemas.microsoft.com/office/drawing/2014/main" id="{2B2BAB48-465E-7869-AEC1-61433639D14F}"/>
                </a:ext>
              </a:extLst>
            </p:cNvPr>
            <p:cNvSpPr/>
            <p:nvPr/>
          </p:nvSpPr>
          <p:spPr>
            <a:xfrm>
              <a:off x="878662" y="1137095"/>
              <a:ext cx="660400" cy="660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2</a:t>
              </a:r>
            </a:p>
          </p:txBody>
        </p:sp>
      </p:grpSp>
      <p:sp>
        <p:nvSpPr>
          <p:cNvPr id="49" name="Rectangle 36">
            <a:extLst>
              <a:ext uri="{FF2B5EF4-FFF2-40B4-BE49-F238E27FC236}">
                <a16:creationId xmlns:a16="http://schemas.microsoft.com/office/drawing/2014/main" id="{4655CDC7-DBD9-0AFF-CCE9-AC6F100ADA7A}"/>
              </a:ext>
            </a:extLst>
          </p:cNvPr>
          <p:cNvSpPr/>
          <p:nvPr/>
        </p:nvSpPr>
        <p:spPr bwMode="auto">
          <a:xfrm>
            <a:off x="724276" y="4657646"/>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Arial" panose="020B0604020202020204" pitchFamily="34" charset="0"/>
              </a:rPr>
              <a:t>Review</a:t>
            </a:r>
          </a:p>
        </p:txBody>
      </p:sp>
      <p:sp>
        <p:nvSpPr>
          <p:cNvPr id="50" name="Isosceles Triangle 46">
            <a:extLst>
              <a:ext uri="{FF2B5EF4-FFF2-40B4-BE49-F238E27FC236}">
                <a16:creationId xmlns:a16="http://schemas.microsoft.com/office/drawing/2014/main" id="{43B29C6A-1BAB-4E39-8633-EC284B692CF4}"/>
              </a:ext>
            </a:extLst>
          </p:cNvPr>
          <p:cNvSpPr/>
          <p:nvPr/>
        </p:nvSpPr>
        <p:spPr bwMode="auto">
          <a:xfrm rot="10800000">
            <a:off x="3409836" y="4419079"/>
            <a:ext cx="422087" cy="180000"/>
          </a:xfrm>
          <a:prstGeom prst="triangle">
            <a:avLst/>
          </a:prstGeom>
          <a:solidFill>
            <a:schemeClr val="accent1"/>
          </a:solidFill>
          <a:ln>
            <a:solidFill>
              <a:schemeClr val="accent1">
                <a:lumMod val="75000"/>
              </a:schemeClr>
            </a:solidFill>
          </a:ln>
          <a:effectLst/>
          <a:scene3d>
            <a:camera prst="orthographicFront"/>
            <a:lightRig rig="threePt" dir="t"/>
          </a:scene3d>
          <a:sp3d>
            <a:bevelT prst="angle"/>
          </a:sp3d>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tx1"/>
              </a:solidFill>
              <a:effectLst/>
              <a:latin typeface="Arial" panose="020B0604020202020204" pitchFamily="34" charset="0"/>
            </a:endParaRPr>
          </a:p>
        </p:txBody>
      </p:sp>
      <p:grpSp>
        <p:nvGrpSpPr>
          <p:cNvPr id="51" name="Group 32">
            <a:extLst>
              <a:ext uri="{FF2B5EF4-FFF2-40B4-BE49-F238E27FC236}">
                <a16:creationId xmlns:a16="http://schemas.microsoft.com/office/drawing/2014/main" id="{CE955E61-2105-1DE2-06D6-43B655270E4A}"/>
              </a:ext>
            </a:extLst>
          </p:cNvPr>
          <p:cNvGrpSpPr/>
          <p:nvPr/>
        </p:nvGrpSpPr>
        <p:grpSpPr>
          <a:xfrm>
            <a:off x="5460033" y="4657646"/>
            <a:ext cx="2928458" cy="828000"/>
            <a:chOff x="8600395" y="1763835"/>
            <a:chExt cx="1807200" cy="828000"/>
          </a:xfrm>
        </p:grpSpPr>
        <p:sp>
          <p:nvSpPr>
            <p:cNvPr id="52" name="Rectangle 43">
              <a:extLst>
                <a:ext uri="{FF2B5EF4-FFF2-40B4-BE49-F238E27FC236}">
                  <a16:creationId xmlns:a16="http://schemas.microsoft.com/office/drawing/2014/main" id="{59C856BE-3DA6-8EA3-6AB8-3A321428A194}"/>
                </a:ext>
              </a:extLst>
            </p:cNvPr>
            <p:cNvSpPr/>
            <p:nvPr/>
          </p:nvSpPr>
          <p:spPr bwMode="auto">
            <a:xfrm>
              <a:off x="8600395" y="1763835"/>
              <a:ext cx="1807200" cy="828000"/>
            </a:xfrm>
            <a:prstGeom prst="rect">
              <a:avLst/>
            </a:prstGeom>
            <a:solidFill>
              <a:srgbClr val="DCEAF7"/>
            </a:solidFill>
            <a:ln>
              <a:solidFill>
                <a:schemeClr val="accent1"/>
              </a:solidFill>
              <a:prstDash val="soli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bg1"/>
                </a:solidFill>
                <a:effectLst/>
                <a:latin typeface="Arial" panose="020B0604020202020204" pitchFamily="34" charset="0"/>
              </a:endParaRPr>
            </a:p>
          </p:txBody>
        </p:sp>
        <p:graphicFrame>
          <p:nvGraphicFramePr>
            <p:cNvPr id="53" name="Chart 44">
              <a:extLst>
                <a:ext uri="{FF2B5EF4-FFF2-40B4-BE49-F238E27FC236}">
                  <a16:creationId xmlns:a16="http://schemas.microsoft.com/office/drawing/2014/main" id="{072961D0-AF15-FAE3-C814-7E740EC2AA6C}"/>
                </a:ext>
              </a:extLst>
            </p:cNvPr>
            <p:cNvGraphicFramePr/>
            <p:nvPr/>
          </p:nvGraphicFramePr>
          <p:xfrm>
            <a:off x="9143995" y="1817835"/>
            <a:ext cx="720000" cy="720000"/>
          </p:xfrm>
          <a:graphic>
            <a:graphicData uri="http://schemas.openxmlformats.org/drawingml/2006/chart">
              <c:chart xmlns:c="http://schemas.openxmlformats.org/drawingml/2006/chart" xmlns:r="http://schemas.openxmlformats.org/officeDocument/2006/relationships" r:id="rId2"/>
            </a:graphicData>
          </a:graphic>
        </p:graphicFrame>
      </p:grpSp>
      <p:sp>
        <p:nvSpPr>
          <p:cNvPr id="54" name="Isosceles Triangle 48">
            <a:extLst>
              <a:ext uri="{FF2B5EF4-FFF2-40B4-BE49-F238E27FC236}">
                <a16:creationId xmlns:a16="http://schemas.microsoft.com/office/drawing/2014/main" id="{32E44A28-E19C-B43E-406D-0A0A22A15F36}"/>
              </a:ext>
            </a:extLst>
          </p:cNvPr>
          <p:cNvSpPr/>
          <p:nvPr/>
        </p:nvSpPr>
        <p:spPr bwMode="auto">
          <a:xfrm rot="10800000">
            <a:off x="6725309" y="4419079"/>
            <a:ext cx="422087" cy="180000"/>
          </a:xfrm>
          <a:prstGeom prst="triangle">
            <a:avLst/>
          </a:prstGeom>
          <a:solidFill>
            <a:schemeClr val="accent1"/>
          </a:solidFill>
          <a:ln>
            <a:solidFill>
              <a:schemeClr val="accent1">
                <a:lumMod val="75000"/>
              </a:schemeClr>
            </a:solidFill>
          </a:ln>
          <a:effectLst/>
          <a:scene3d>
            <a:camera prst="orthographicFront"/>
            <a:lightRig rig="threePt" dir="t"/>
          </a:scene3d>
          <a:sp3d>
            <a:bevelT prst="angle"/>
          </a:sp3d>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tx1"/>
              </a:solidFill>
              <a:effectLst/>
              <a:latin typeface="Arial" panose="020B0604020202020204" pitchFamily="34" charset="0"/>
            </a:endParaRPr>
          </a:p>
        </p:txBody>
      </p:sp>
      <p:grpSp>
        <p:nvGrpSpPr>
          <p:cNvPr id="55" name="群組 54">
            <a:extLst>
              <a:ext uri="{FF2B5EF4-FFF2-40B4-BE49-F238E27FC236}">
                <a16:creationId xmlns:a16="http://schemas.microsoft.com/office/drawing/2014/main" id="{6594EAA1-0EE9-8964-4B36-91D9E2849210}"/>
              </a:ext>
            </a:extLst>
          </p:cNvPr>
          <p:cNvGrpSpPr/>
          <p:nvPr/>
        </p:nvGrpSpPr>
        <p:grpSpPr>
          <a:xfrm>
            <a:off x="2156652" y="4657646"/>
            <a:ext cx="2928458" cy="828000"/>
            <a:chOff x="1889952" y="4771547"/>
            <a:chExt cx="2928458" cy="828000"/>
          </a:xfrm>
        </p:grpSpPr>
        <p:sp>
          <p:nvSpPr>
            <p:cNvPr id="56" name="Rectangle 39">
              <a:extLst>
                <a:ext uri="{FF2B5EF4-FFF2-40B4-BE49-F238E27FC236}">
                  <a16:creationId xmlns:a16="http://schemas.microsoft.com/office/drawing/2014/main" id="{5920316C-4B78-98EE-91BC-E302C51A9C23}"/>
                </a:ext>
              </a:extLst>
            </p:cNvPr>
            <p:cNvSpPr/>
            <p:nvPr/>
          </p:nvSpPr>
          <p:spPr bwMode="auto">
            <a:xfrm>
              <a:off x="1889952" y="4771547"/>
              <a:ext cx="2928458" cy="828000"/>
            </a:xfrm>
            <a:prstGeom prst="rect">
              <a:avLst/>
            </a:prstGeom>
            <a:solidFill>
              <a:srgbClr val="DCEAF7"/>
            </a:solidFill>
            <a:ln>
              <a:solidFill>
                <a:schemeClr val="accent1"/>
              </a:solidFill>
              <a:prstDash val="soli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bg1"/>
                </a:solidFill>
                <a:effectLst/>
                <a:latin typeface="Arial" panose="020B0604020202020204" pitchFamily="34" charset="0"/>
              </a:endParaRPr>
            </a:p>
          </p:txBody>
        </p:sp>
        <p:graphicFrame>
          <p:nvGraphicFramePr>
            <p:cNvPr id="57" name="Chart 40">
              <a:extLst>
                <a:ext uri="{FF2B5EF4-FFF2-40B4-BE49-F238E27FC236}">
                  <a16:creationId xmlns:a16="http://schemas.microsoft.com/office/drawing/2014/main" id="{721167A8-9EF3-D60A-E871-4318E89CA85B}"/>
                </a:ext>
              </a:extLst>
            </p:cNvPr>
            <p:cNvGraphicFramePr/>
            <p:nvPr/>
          </p:nvGraphicFramePr>
          <p:xfrm>
            <a:off x="2932093" y="4825547"/>
            <a:ext cx="844175" cy="720000"/>
          </p:xfrm>
          <a:graphic>
            <a:graphicData uri="http://schemas.openxmlformats.org/drawingml/2006/chart">
              <c:chart xmlns:c="http://schemas.openxmlformats.org/drawingml/2006/chart" xmlns:r="http://schemas.openxmlformats.org/officeDocument/2006/relationships" r:id="rId3"/>
            </a:graphicData>
          </a:graphic>
        </p:graphicFrame>
      </p:grpSp>
      <p:sp>
        <p:nvSpPr>
          <p:cNvPr id="15" name="Text Placeholder 1">
            <a:extLst>
              <a:ext uri="{FF2B5EF4-FFF2-40B4-BE49-F238E27FC236}">
                <a16:creationId xmlns:a16="http://schemas.microsoft.com/office/drawing/2014/main" id="{01E09BE4-3D77-90F7-4B19-685E3EDB5518}"/>
              </a:ext>
            </a:extLst>
          </p:cNvPr>
          <p:cNvSpPr txBox="1">
            <a:spLocks/>
          </p:cNvSpPr>
          <p:nvPr/>
        </p:nvSpPr>
        <p:spPr>
          <a:xfrm>
            <a:off x="724276" y="5756670"/>
            <a:ext cx="7312423" cy="646331"/>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en-US" sz="600" b="0" i="1" u="none" strike="noStrike" kern="1200" cap="none" spc="0" normalizeH="0" baseline="0" noProof="0">
                <a:ln>
                  <a:noFill/>
                </a:ln>
                <a:solidFill>
                  <a:schemeClr val="bg1">
                    <a:lumMod val="50000"/>
                  </a:schemeClr>
                </a:solidFill>
                <a:effectLst/>
                <a:uLnTx/>
                <a:uFillTx/>
                <a:latin typeface="+mn-lt"/>
                <a:ea typeface="+mn-ea"/>
                <a:cs typeface="+mn-cs"/>
              </a:defRPr>
            </a:lvl1pPr>
            <a:lvl2pPr marL="603647" indent="-232172" algn="l" rtl="0" eaLnBrk="0" fontAlgn="base" hangingPunct="0">
              <a:spcBef>
                <a:spcPct val="20000"/>
              </a:spcBef>
              <a:spcAft>
                <a:spcPct val="0"/>
              </a:spcAft>
              <a:buChar char="–"/>
              <a:defRPr sz="1300" kern="1200">
                <a:solidFill>
                  <a:schemeClr val="tx1"/>
                </a:solidFill>
                <a:latin typeface="+mn-lt"/>
                <a:ea typeface="+mn-ea"/>
                <a:cs typeface="+mn-cs"/>
              </a:defRPr>
            </a:lvl2pPr>
            <a:lvl3pPr marL="928688" indent="-185738" algn="l" rtl="0" eaLnBrk="0" fontAlgn="base" hangingPunct="0">
              <a:spcBef>
                <a:spcPct val="20000"/>
              </a:spcBef>
              <a:spcAft>
                <a:spcPct val="0"/>
              </a:spcAft>
              <a:buChar char="•"/>
              <a:defRPr sz="1300" kern="1200">
                <a:solidFill>
                  <a:schemeClr val="tx1"/>
                </a:solidFill>
                <a:latin typeface="+mn-lt"/>
                <a:ea typeface="+mn-ea"/>
                <a:cs typeface="+mn-cs"/>
              </a:defRPr>
            </a:lvl3pPr>
            <a:lvl4pPr marL="1300163" indent="-185738" algn="l" rtl="0" eaLnBrk="0" fontAlgn="base" hangingPunct="0">
              <a:spcBef>
                <a:spcPct val="20000"/>
              </a:spcBef>
              <a:spcAft>
                <a:spcPct val="0"/>
              </a:spcAft>
              <a:buChar char="–"/>
              <a:defRPr sz="1300" kern="1200">
                <a:solidFill>
                  <a:schemeClr val="tx1"/>
                </a:solidFill>
                <a:latin typeface="+mn-lt"/>
                <a:ea typeface="+mn-ea"/>
                <a:cs typeface="+mn-cs"/>
              </a:defRPr>
            </a:lvl4pPr>
            <a:lvl5pPr marL="1671638" indent="-185738" algn="l" rtl="0" eaLnBrk="0" fontAlgn="base" hangingPunct="0">
              <a:spcBef>
                <a:spcPct val="20000"/>
              </a:spcBef>
              <a:spcAft>
                <a:spcPct val="0"/>
              </a:spcAft>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i="1" u="none" strike="noStrike" kern="1200" cap="none" spc="0" normalizeH="0" baseline="0" noProof="0" dirty="0">
                <a:ln>
                  <a:noFill/>
                </a:ln>
                <a:solidFill>
                  <a:schemeClr val="tx1"/>
                </a:solidFill>
                <a:effectLst/>
                <a:uLnTx/>
                <a:uFillTx/>
                <a:latin typeface="Arial" panose="020B0604020202020204"/>
                <a:ea typeface="+mn-ea"/>
                <a:cs typeface="+mn-cs"/>
              </a:rPr>
              <a:t>Note:</a:t>
            </a:r>
          </a:p>
          <a:p>
            <a:pPr>
              <a:defRPr/>
            </a:pPr>
            <a:r>
              <a:rPr lang="en-US" dirty="0">
                <a:solidFill>
                  <a:schemeClr val="tx1"/>
                </a:solidFill>
              </a:rPr>
              <a:t>1. Total ADTV of all companies listed on the respective exchanges</a:t>
            </a:r>
          </a:p>
          <a:p>
            <a:pPr>
              <a:defRPr/>
            </a:pPr>
            <a:r>
              <a:rPr lang="en-SG" dirty="0">
                <a:solidFill>
                  <a:schemeClr val="tx1"/>
                </a:solidFill>
              </a:rPr>
              <a:t>2. USDSGD = 1.2685; USDHKD = 7.8303</a:t>
            </a:r>
          </a:p>
          <a:p>
            <a:pPr>
              <a:defRPr/>
            </a:pPr>
            <a:r>
              <a:rPr lang="en-US" dirty="0">
                <a:solidFill>
                  <a:schemeClr val="tx1"/>
                </a:solidFill>
              </a:rPr>
              <a:t>3. Source: Bloomberg as at 10 May 2025, SGX Monthly Statistics Report as at 30 April 2026, HKEX Monthly Market Highlights as at 30 April 2026</a:t>
            </a:r>
          </a:p>
          <a:p>
            <a:pPr marL="228600" indent="-228600">
              <a:buFontTx/>
              <a:buAutoNum type="arabicParenBoth"/>
              <a:defRPr/>
            </a:pPr>
            <a:endParaRPr lang="en-SG" dirty="0">
              <a:solidFill>
                <a:schemeClr val="tx1"/>
              </a:solidFill>
            </a:endParaRPr>
          </a:p>
          <a:p>
            <a:pPr marL="228600" marR="0" lvl="0" indent="-228600" algn="l" defTabSz="914400" rtl="0" eaLnBrk="1" fontAlgn="auto" latinLnBrk="0" hangingPunct="1">
              <a:lnSpc>
                <a:spcPct val="100000"/>
              </a:lnSpc>
              <a:spcBef>
                <a:spcPts val="0"/>
              </a:spcBef>
              <a:spcAft>
                <a:spcPts val="0"/>
              </a:spcAft>
              <a:buClrTx/>
              <a:buSzTx/>
              <a:buAutoNum type="arabicParenBoth"/>
              <a:tabLst/>
              <a:defRPr/>
            </a:pPr>
            <a:endParaRPr kumimoji="0" lang="en-US" i="1" u="none" strike="noStrike" kern="1200" cap="none" spc="0" normalizeH="0" baseline="0" noProof="0" dirty="0">
              <a:ln>
                <a:noFill/>
              </a:ln>
              <a:solidFill>
                <a:schemeClr val="tx1"/>
              </a:solidFill>
              <a:effectLst/>
              <a:uLnTx/>
              <a:uFillTx/>
              <a:latin typeface="Arial" panose="020B0604020202020204"/>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en-US" i="1" u="none" strike="noStrike" kern="1200" cap="none" spc="0" normalizeH="0" baseline="0" noProof="0" dirty="0">
              <a:ln>
                <a:noFill/>
              </a:ln>
              <a:solidFill>
                <a:schemeClr val="tx1"/>
              </a:solidFill>
              <a:effectLst/>
              <a:uLnTx/>
              <a:uFillTx/>
              <a:latin typeface="Arial" panose="020B0604020202020204"/>
              <a:ea typeface="+mn-ea"/>
              <a:cs typeface="+mn-cs"/>
            </a:endParaRPr>
          </a:p>
        </p:txBody>
      </p:sp>
      <p:pic>
        <p:nvPicPr>
          <p:cNvPr id="2" name="Picture 23" descr="A blue and black sign with different symbols&#10;&#10;Description automatically generated with medium confidence">
            <a:extLst>
              <a:ext uri="{FF2B5EF4-FFF2-40B4-BE49-F238E27FC236}">
                <a16:creationId xmlns:a16="http://schemas.microsoft.com/office/drawing/2014/main" id="{257F85D9-3506-A38D-FC39-45E0E985DB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05366" y="1127620"/>
            <a:ext cx="765466" cy="352234"/>
          </a:xfrm>
          <a:prstGeom prst="rect">
            <a:avLst/>
          </a:prstGeom>
        </p:spPr>
      </p:pic>
      <p:pic>
        <p:nvPicPr>
          <p:cNvPr id="16" name="Picture 49">
            <a:extLst>
              <a:ext uri="{FF2B5EF4-FFF2-40B4-BE49-F238E27FC236}">
                <a16:creationId xmlns:a16="http://schemas.microsoft.com/office/drawing/2014/main" id="{B4AB0C92-8B6C-C154-3F02-BEFC4CE09E87}"/>
              </a:ext>
            </a:extLst>
          </p:cNvPr>
          <p:cNvPicPr>
            <a:picLocks noChangeAspect="1"/>
          </p:cNvPicPr>
          <p:nvPr/>
        </p:nvPicPr>
        <p:blipFill>
          <a:blip r:embed="rId5"/>
          <a:stretch>
            <a:fillRect/>
          </a:stretch>
        </p:blipFill>
        <p:spPr>
          <a:xfrm>
            <a:off x="2949758" y="1127621"/>
            <a:ext cx="1076272" cy="352234"/>
          </a:xfrm>
          <a:prstGeom prst="rect">
            <a:avLst/>
          </a:prstGeom>
        </p:spPr>
      </p:pic>
    </p:spTree>
    <p:extLst>
      <p:ext uri="{BB962C8B-B14F-4D97-AF65-F5344CB8AC3E}">
        <p14:creationId xmlns:p14="http://schemas.microsoft.com/office/powerpoint/2010/main" val="35967229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7E470-7B30-4F77-9864-5E8D72B47BA1}"/>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EC8D4B58-9941-0D20-ECE5-BE8DCF4D7138}"/>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36</a:t>
            </a:fld>
            <a:endParaRPr lang="en-US" altLang="en-US" b="0">
              <a:solidFill>
                <a:srgbClr val="000000"/>
              </a:solidFill>
            </a:endParaRPr>
          </a:p>
        </p:txBody>
      </p:sp>
      <p:sp>
        <p:nvSpPr>
          <p:cNvPr id="6" name="標題 5">
            <a:extLst>
              <a:ext uri="{FF2B5EF4-FFF2-40B4-BE49-F238E27FC236}">
                <a16:creationId xmlns:a16="http://schemas.microsoft.com/office/drawing/2014/main" id="{D1B82172-E6E2-ACE4-D5A3-1C19490D30EE}"/>
              </a:ext>
            </a:extLst>
          </p:cNvPr>
          <p:cNvSpPr>
            <a:spLocks noGrp="1"/>
          </p:cNvSpPr>
          <p:nvPr>
            <p:ph type="title"/>
          </p:nvPr>
        </p:nvSpPr>
        <p:spPr>
          <a:xfrm>
            <a:off x="1143873" y="381000"/>
            <a:ext cx="8494051" cy="577850"/>
          </a:xfrm>
        </p:spPr>
        <p:txBody>
          <a:bodyPr/>
          <a:lstStyle/>
          <a:p>
            <a:r>
              <a:rPr lang="en-US" dirty="0"/>
              <a:t> Investor Accessibility</a:t>
            </a:r>
          </a:p>
        </p:txBody>
      </p:sp>
      <p:grpSp>
        <p:nvGrpSpPr>
          <p:cNvPr id="24" name="Group 25">
            <a:extLst>
              <a:ext uri="{FF2B5EF4-FFF2-40B4-BE49-F238E27FC236}">
                <a16:creationId xmlns:a16="http://schemas.microsoft.com/office/drawing/2014/main" id="{989D23B5-D94D-6DD1-22C5-DCC54F99C848}"/>
              </a:ext>
            </a:extLst>
          </p:cNvPr>
          <p:cNvGrpSpPr/>
          <p:nvPr/>
        </p:nvGrpSpPr>
        <p:grpSpPr>
          <a:xfrm>
            <a:off x="731520" y="455000"/>
            <a:ext cx="440936" cy="440936"/>
            <a:chOff x="626631" y="885064"/>
            <a:chExt cx="1164462" cy="1164462"/>
          </a:xfrm>
        </p:grpSpPr>
        <p:grpSp>
          <p:nvGrpSpPr>
            <p:cNvPr id="25" name="Group 27">
              <a:extLst>
                <a:ext uri="{FF2B5EF4-FFF2-40B4-BE49-F238E27FC236}">
                  <a16:creationId xmlns:a16="http://schemas.microsoft.com/office/drawing/2014/main" id="{34C966E1-0CD0-C15E-DE21-F58F4C7807A4}"/>
                </a:ext>
              </a:extLst>
            </p:cNvPr>
            <p:cNvGrpSpPr/>
            <p:nvPr/>
          </p:nvGrpSpPr>
          <p:grpSpPr>
            <a:xfrm>
              <a:off x="626631" y="885064"/>
              <a:ext cx="1164462" cy="1164462"/>
              <a:chOff x="626631" y="885064"/>
              <a:chExt cx="1164462" cy="1164462"/>
            </a:xfrm>
          </p:grpSpPr>
          <p:sp>
            <p:nvSpPr>
              <p:cNvPr id="27" name="Freeform: Shape 35">
                <a:extLst>
                  <a:ext uri="{FF2B5EF4-FFF2-40B4-BE49-F238E27FC236}">
                    <a16:creationId xmlns:a16="http://schemas.microsoft.com/office/drawing/2014/main" id="{258AF983-15FB-ACFF-EE6F-8B46A71DB511}"/>
                  </a:ext>
                </a:extLst>
              </p:cNvPr>
              <p:cNvSpPr/>
              <p:nvPr/>
            </p:nvSpPr>
            <p:spPr>
              <a:xfrm rot="5400000">
                <a:off x="626632" y="885064"/>
                <a:ext cx="556831" cy="556831"/>
              </a:xfrm>
              <a:custGeom>
                <a:avLst/>
                <a:gdLst>
                  <a:gd name="connsiteX0" fmla="*/ 0 w 556831"/>
                  <a:gd name="connsiteY0" fmla="*/ 0 h 556831"/>
                  <a:gd name="connsiteX1" fmla="*/ 119124 w 556831"/>
                  <a:gd name="connsiteY1" fmla="*/ 0 h 556831"/>
                  <a:gd name="connsiteX2" fmla="*/ 126025 w 556831"/>
                  <a:gd name="connsiteY2" fmla="*/ 68449 h 556831"/>
                  <a:gd name="connsiteX3" fmla="*/ 488383 w 556831"/>
                  <a:gd name="connsiteY3" fmla="*/ 430807 h 556831"/>
                  <a:gd name="connsiteX4" fmla="*/ 556831 w 556831"/>
                  <a:gd name="connsiteY4" fmla="*/ 437707 h 556831"/>
                  <a:gd name="connsiteX5" fmla="*/ 556831 w 556831"/>
                  <a:gd name="connsiteY5" fmla="*/ 556831 h 556831"/>
                  <a:gd name="connsiteX6" fmla="*/ 464375 w 556831"/>
                  <a:gd name="connsiteY6" fmla="*/ 547511 h 556831"/>
                  <a:gd name="connsiteX7" fmla="*/ 9321 w 556831"/>
                  <a:gd name="connsiteY7" fmla="*/ 92457 h 556831"/>
                  <a:gd name="connsiteX8" fmla="*/ 0 w 556831"/>
                  <a:gd name="connsiteY8" fmla="*/ 0 h 556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1" h="556831">
                    <a:moveTo>
                      <a:pt x="0" y="0"/>
                    </a:moveTo>
                    <a:lnTo>
                      <a:pt x="119124" y="0"/>
                    </a:lnTo>
                    <a:lnTo>
                      <a:pt x="126025" y="68449"/>
                    </a:lnTo>
                    <a:cubicBezTo>
                      <a:pt x="163243" y="250332"/>
                      <a:pt x="306499" y="393588"/>
                      <a:pt x="488383" y="430807"/>
                    </a:cubicBezTo>
                    <a:lnTo>
                      <a:pt x="556831" y="437707"/>
                    </a:lnTo>
                    <a:lnTo>
                      <a:pt x="556831" y="556831"/>
                    </a:lnTo>
                    <a:lnTo>
                      <a:pt x="464375" y="547511"/>
                    </a:lnTo>
                    <a:cubicBezTo>
                      <a:pt x="235964" y="500771"/>
                      <a:pt x="56060" y="320867"/>
                      <a:pt x="9321" y="92457"/>
                    </a:cubicBezTo>
                    <a:lnTo>
                      <a:pt x="0" y="0"/>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37">
                <a:extLst>
                  <a:ext uri="{FF2B5EF4-FFF2-40B4-BE49-F238E27FC236}">
                    <a16:creationId xmlns:a16="http://schemas.microsoft.com/office/drawing/2014/main" id="{3B4B2350-1895-168D-6039-CE059F8DF2BB}"/>
                  </a:ext>
                </a:extLst>
              </p:cNvPr>
              <p:cNvSpPr/>
              <p:nvPr/>
            </p:nvSpPr>
            <p:spPr>
              <a:xfrm rot="5400000">
                <a:off x="1234263" y="885065"/>
                <a:ext cx="556831" cy="556829"/>
              </a:xfrm>
              <a:custGeom>
                <a:avLst/>
                <a:gdLst>
                  <a:gd name="connsiteX0" fmla="*/ 0 w 556831"/>
                  <a:gd name="connsiteY0" fmla="*/ 556829 h 556829"/>
                  <a:gd name="connsiteX1" fmla="*/ 9321 w 556831"/>
                  <a:gd name="connsiteY1" fmla="*/ 464374 h 556829"/>
                  <a:gd name="connsiteX2" fmla="*/ 464375 w 556831"/>
                  <a:gd name="connsiteY2" fmla="*/ 9320 h 556829"/>
                  <a:gd name="connsiteX3" fmla="*/ 556831 w 556831"/>
                  <a:gd name="connsiteY3" fmla="*/ 0 h 556829"/>
                  <a:gd name="connsiteX4" fmla="*/ 556831 w 556831"/>
                  <a:gd name="connsiteY4" fmla="*/ 119124 h 556829"/>
                  <a:gd name="connsiteX5" fmla="*/ 488383 w 556831"/>
                  <a:gd name="connsiteY5" fmla="*/ 126024 h 556829"/>
                  <a:gd name="connsiteX6" fmla="*/ 126025 w 556831"/>
                  <a:gd name="connsiteY6" fmla="*/ 488382 h 556829"/>
                  <a:gd name="connsiteX7" fmla="*/ 119124 w 556831"/>
                  <a:gd name="connsiteY7" fmla="*/ 556829 h 556829"/>
                  <a:gd name="connsiteX8" fmla="*/ 0 w 556831"/>
                  <a:gd name="connsiteY8" fmla="*/ 556829 h 55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1" h="556829">
                    <a:moveTo>
                      <a:pt x="0" y="556829"/>
                    </a:moveTo>
                    <a:lnTo>
                      <a:pt x="9321" y="464374"/>
                    </a:lnTo>
                    <a:cubicBezTo>
                      <a:pt x="56060" y="235964"/>
                      <a:pt x="235964" y="56060"/>
                      <a:pt x="464375" y="9320"/>
                    </a:cubicBezTo>
                    <a:lnTo>
                      <a:pt x="556831" y="0"/>
                    </a:lnTo>
                    <a:lnTo>
                      <a:pt x="556831" y="119124"/>
                    </a:lnTo>
                    <a:lnTo>
                      <a:pt x="488383" y="126024"/>
                    </a:lnTo>
                    <a:cubicBezTo>
                      <a:pt x="306499" y="163243"/>
                      <a:pt x="163243" y="306499"/>
                      <a:pt x="126025" y="488382"/>
                    </a:cubicBezTo>
                    <a:lnTo>
                      <a:pt x="119124" y="556829"/>
                    </a:lnTo>
                    <a:lnTo>
                      <a:pt x="0" y="55682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38">
                <a:extLst>
                  <a:ext uri="{FF2B5EF4-FFF2-40B4-BE49-F238E27FC236}">
                    <a16:creationId xmlns:a16="http://schemas.microsoft.com/office/drawing/2014/main" id="{9EC8FE40-32D1-B677-5D03-090BEB2AC6DF}"/>
                  </a:ext>
                </a:extLst>
              </p:cNvPr>
              <p:cNvSpPr/>
              <p:nvPr/>
            </p:nvSpPr>
            <p:spPr>
              <a:xfrm rot="5400000">
                <a:off x="626632" y="1492695"/>
                <a:ext cx="556830" cy="556831"/>
              </a:xfrm>
              <a:custGeom>
                <a:avLst/>
                <a:gdLst>
                  <a:gd name="connsiteX0" fmla="*/ 0 w 556830"/>
                  <a:gd name="connsiteY0" fmla="*/ 556831 h 556831"/>
                  <a:gd name="connsiteX1" fmla="*/ 0 w 556830"/>
                  <a:gd name="connsiteY1" fmla="*/ 437707 h 556831"/>
                  <a:gd name="connsiteX2" fmla="*/ 68448 w 556830"/>
                  <a:gd name="connsiteY2" fmla="*/ 430807 h 556831"/>
                  <a:gd name="connsiteX3" fmla="*/ 430806 w 556830"/>
                  <a:gd name="connsiteY3" fmla="*/ 68449 h 556831"/>
                  <a:gd name="connsiteX4" fmla="*/ 437706 w 556830"/>
                  <a:gd name="connsiteY4" fmla="*/ 0 h 556831"/>
                  <a:gd name="connsiteX5" fmla="*/ 556830 w 556830"/>
                  <a:gd name="connsiteY5" fmla="*/ 0 h 556831"/>
                  <a:gd name="connsiteX6" fmla="*/ 547510 w 556830"/>
                  <a:gd name="connsiteY6" fmla="*/ 92457 h 556831"/>
                  <a:gd name="connsiteX7" fmla="*/ 92456 w 556830"/>
                  <a:gd name="connsiteY7" fmla="*/ 547511 h 556831"/>
                  <a:gd name="connsiteX8" fmla="*/ 0 w 556830"/>
                  <a:gd name="connsiteY8" fmla="*/ 556831 h 556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0" h="556831">
                    <a:moveTo>
                      <a:pt x="0" y="556831"/>
                    </a:moveTo>
                    <a:lnTo>
                      <a:pt x="0" y="437707"/>
                    </a:lnTo>
                    <a:lnTo>
                      <a:pt x="68448" y="430807"/>
                    </a:lnTo>
                    <a:cubicBezTo>
                      <a:pt x="250331" y="393588"/>
                      <a:pt x="393587" y="250332"/>
                      <a:pt x="430806" y="68449"/>
                    </a:cubicBezTo>
                    <a:lnTo>
                      <a:pt x="437706" y="0"/>
                    </a:lnTo>
                    <a:lnTo>
                      <a:pt x="556830" y="0"/>
                    </a:lnTo>
                    <a:lnTo>
                      <a:pt x="547510" y="92457"/>
                    </a:lnTo>
                    <a:cubicBezTo>
                      <a:pt x="500770" y="320867"/>
                      <a:pt x="320866" y="500771"/>
                      <a:pt x="92456" y="547511"/>
                    </a:cubicBezTo>
                    <a:lnTo>
                      <a:pt x="0" y="556831"/>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45">
                <a:extLst>
                  <a:ext uri="{FF2B5EF4-FFF2-40B4-BE49-F238E27FC236}">
                    <a16:creationId xmlns:a16="http://schemas.microsoft.com/office/drawing/2014/main" id="{76513E57-8030-6A14-B18C-9CF563D10F63}"/>
                  </a:ext>
                </a:extLst>
              </p:cNvPr>
              <p:cNvSpPr/>
              <p:nvPr/>
            </p:nvSpPr>
            <p:spPr>
              <a:xfrm rot="5400000">
                <a:off x="1234263" y="1492696"/>
                <a:ext cx="556830" cy="556829"/>
              </a:xfrm>
              <a:custGeom>
                <a:avLst/>
                <a:gdLst>
                  <a:gd name="connsiteX0" fmla="*/ 0 w 556830"/>
                  <a:gd name="connsiteY0" fmla="*/ 119124 h 556829"/>
                  <a:gd name="connsiteX1" fmla="*/ 0 w 556830"/>
                  <a:gd name="connsiteY1" fmla="*/ 0 h 556829"/>
                  <a:gd name="connsiteX2" fmla="*/ 92456 w 556830"/>
                  <a:gd name="connsiteY2" fmla="*/ 9320 h 556829"/>
                  <a:gd name="connsiteX3" fmla="*/ 547510 w 556830"/>
                  <a:gd name="connsiteY3" fmla="*/ 464374 h 556829"/>
                  <a:gd name="connsiteX4" fmla="*/ 556830 w 556830"/>
                  <a:gd name="connsiteY4" fmla="*/ 556829 h 556829"/>
                  <a:gd name="connsiteX5" fmla="*/ 437706 w 556830"/>
                  <a:gd name="connsiteY5" fmla="*/ 556829 h 556829"/>
                  <a:gd name="connsiteX6" fmla="*/ 430806 w 556830"/>
                  <a:gd name="connsiteY6" fmla="*/ 488382 h 556829"/>
                  <a:gd name="connsiteX7" fmla="*/ 68448 w 556830"/>
                  <a:gd name="connsiteY7" fmla="*/ 126024 h 556829"/>
                  <a:gd name="connsiteX8" fmla="*/ 0 w 556830"/>
                  <a:gd name="connsiteY8" fmla="*/ 119124 h 55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0" h="556829">
                    <a:moveTo>
                      <a:pt x="0" y="119124"/>
                    </a:moveTo>
                    <a:lnTo>
                      <a:pt x="0" y="0"/>
                    </a:lnTo>
                    <a:lnTo>
                      <a:pt x="92456" y="9320"/>
                    </a:lnTo>
                    <a:cubicBezTo>
                      <a:pt x="320866" y="56060"/>
                      <a:pt x="500770" y="235964"/>
                      <a:pt x="547510" y="464374"/>
                    </a:cubicBezTo>
                    <a:lnTo>
                      <a:pt x="556830" y="556829"/>
                    </a:lnTo>
                    <a:lnTo>
                      <a:pt x="437706" y="556829"/>
                    </a:lnTo>
                    <a:lnTo>
                      <a:pt x="430806" y="488382"/>
                    </a:lnTo>
                    <a:cubicBezTo>
                      <a:pt x="393587" y="306499"/>
                      <a:pt x="250331" y="163243"/>
                      <a:pt x="68448" y="126024"/>
                    </a:cubicBezTo>
                    <a:lnTo>
                      <a:pt x="0" y="119124"/>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6" name="Oval 31">
              <a:extLst>
                <a:ext uri="{FF2B5EF4-FFF2-40B4-BE49-F238E27FC236}">
                  <a16:creationId xmlns:a16="http://schemas.microsoft.com/office/drawing/2014/main" id="{959A1D5B-4F33-552A-8927-FD76289AD2B4}"/>
                </a:ext>
              </a:extLst>
            </p:cNvPr>
            <p:cNvSpPr/>
            <p:nvPr/>
          </p:nvSpPr>
          <p:spPr>
            <a:xfrm>
              <a:off x="878662" y="1137095"/>
              <a:ext cx="660400" cy="660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3</a:t>
              </a:r>
              <a:endParaRPr lang="en-US" b="1" dirty="0">
                <a:solidFill>
                  <a:schemeClr val="accent1"/>
                </a:solidFill>
              </a:endParaRPr>
            </a:p>
          </p:txBody>
        </p:sp>
      </p:grpSp>
      <p:sp>
        <p:nvSpPr>
          <p:cNvPr id="23" name="Rectangle 7">
            <a:extLst>
              <a:ext uri="{FF2B5EF4-FFF2-40B4-BE49-F238E27FC236}">
                <a16:creationId xmlns:a16="http://schemas.microsoft.com/office/drawing/2014/main" id="{AC42686A-EA3D-C48A-79DC-533C24486F36}"/>
              </a:ext>
            </a:extLst>
          </p:cNvPr>
          <p:cNvSpPr/>
          <p:nvPr/>
        </p:nvSpPr>
        <p:spPr bwMode="auto">
          <a:xfrm>
            <a:off x="718600" y="1519062"/>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US" sz="1000" dirty="0">
                <a:solidFill>
                  <a:schemeClr val="tx1"/>
                </a:solidFill>
                <a:latin typeface="Arial" panose="020B0604020202020204" pitchFamily="34" charset="0"/>
              </a:rPr>
              <a:t>Investor understanding and familiarity</a:t>
            </a:r>
            <a:endParaRPr lang="en-SG" sz="1000" dirty="0">
              <a:solidFill>
                <a:schemeClr val="tx1"/>
              </a:solidFill>
              <a:latin typeface="Arial" panose="020B0604020202020204" pitchFamily="34" charset="0"/>
            </a:endParaRPr>
          </a:p>
        </p:txBody>
      </p:sp>
      <p:sp>
        <p:nvSpPr>
          <p:cNvPr id="31" name="Rectangle 11">
            <a:extLst>
              <a:ext uri="{FF2B5EF4-FFF2-40B4-BE49-F238E27FC236}">
                <a16:creationId xmlns:a16="http://schemas.microsoft.com/office/drawing/2014/main" id="{D0F9FD62-732A-1D15-077E-AA93725DB586}"/>
              </a:ext>
            </a:extLst>
          </p:cNvPr>
          <p:cNvSpPr/>
          <p:nvPr/>
        </p:nvSpPr>
        <p:spPr bwMode="auto">
          <a:xfrm>
            <a:off x="718600" y="2472853"/>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US" sz="1000">
                <a:solidFill>
                  <a:schemeClr val="tx1"/>
                </a:solidFill>
                <a:latin typeface="Arial" panose="020B0604020202020204" pitchFamily="34" charset="0"/>
              </a:rPr>
              <a:t>Investor reach</a:t>
            </a:r>
            <a:endParaRPr lang="en-SG" sz="1000" dirty="0">
              <a:solidFill>
                <a:schemeClr val="tx1"/>
              </a:solidFill>
              <a:latin typeface="Arial" panose="020B0604020202020204" pitchFamily="34" charset="0"/>
            </a:endParaRPr>
          </a:p>
        </p:txBody>
      </p:sp>
      <p:sp>
        <p:nvSpPr>
          <p:cNvPr id="32" name="Rectangle 17">
            <a:extLst>
              <a:ext uri="{FF2B5EF4-FFF2-40B4-BE49-F238E27FC236}">
                <a16:creationId xmlns:a16="http://schemas.microsoft.com/office/drawing/2014/main" id="{B2408732-8AF1-596B-D4D7-56D2ACE49A77}"/>
              </a:ext>
            </a:extLst>
          </p:cNvPr>
          <p:cNvSpPr/>
          <p:nvPr/>
        </p:nvSpPr>
        <p:spPr bwMode="auto">
          <a:xfrm>
            <a:off x="718600" y="3426644"/>
            <a:ext cx="1192299" cy="1026086"/>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SG" sz="1000">
                <a:solidFill>
                  <a:schemeClr val="tx1"/>
                </a:solidFill>
                <a:latin typeface="Arial" panose="020B0604020202020204" pitchFamily="34" charset="0"/>
              </a:rPr>
              <a:t>Trading currency and forex to operational currency </a:t>
            </a:r>
            <a:endParaRPr lang="en-SG" sz="1000" dirty="0">
              <a:solidFill>
                <a:schemeClr val="tx1"/>
              </a:solidFill>
              <a:latin typeface="Arial" panose="020B0604020202020204" pitchFamily="34" charset="0"/>
            </a:endParaRPr>
          </a:p>
        </p:txBody>
      </p:sp>
      <p:sp>
        <p:nvSpPr>
          <p:cNvPr id="34" name="Rectangle 8">
            <a:extLst>
              <a:ext uri="{FF2B5EF4-FFF2-40B4-BE49-F238E27FC236}">
                <a16:creationId xmlns:a16="http://schemas.microsoft.com/office/drawing/2014/main" id="{AD3A4D25-5E7C-6990-2378-6084DBDCF7F1}"/>
              </a:ext>
            </a:extLst>
          </p:cNvPr>
          <p:cNvSpPr/>
          <p:nvPr/>
        </p:nvSpPr>
        <p:spPr bwMode="auto">
          <a:xfrm>
            <a:off x="2149033" y="1519062"/>
            <a:ext cx="2928458"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SG" sz="1000" b="0" dirty="0">
                <a:solidFill>
                  <a:schemeClr val="tx1"/>
                </a:solidFill>
                <a:latin typeface="Arial" panose="020B0604020202020204" pitchFamily="34" charset="0"/>
              </a:rPr>
              <a:t>Investor education required albeit close proximity and investors are familiar with the company given the association with shareholders</a:t>
            </a:r>
            <a:endParaRPr lang="en-US" sz="1000" b="0" dirty="0">
              <a:solidFill>
                <a:schemeClr val="tx1"/>
              </a:solidFill>
              <a:latin typeface="Arial" panose="020B0604020202020204" pitchFamily="34" charset="0"/>
            </a:endParaRPr>
          </a:p>
        </p:txBody>
      </p:sp>
      <p:sp>
        <p:nvSpPr>
          <p:cNvPr id="35" name="Rectangle 14">
            <a:extLst>
              <a:ext uri="{FF2B5EF4-FFF2-40B4-BE49-F238E27FC236}">
                <a16:creationId xmlns:a16="http://schemas.microsoft.com/office/drawing/2014/main" id="{56E9EBE0-C704-D49A-EE75-CE7202E23E47}"/>
              </a:ext>
            </a:extLst>
          </p:cNvPr>
          <p:cNvSpPr/>
          <p:nvPr/>
        </p:nvSpPr>
        <p:spPr bwMode="auto">
          <a:xfrm>
            <a:off x="2151312" y="2480804"/>
            <a:ext cx="2928458"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SG" sz="1000" b="0" dirty="0">
                <a:solidFill>
                  <a:schemeClr val="tx1"/>
                </a:solidFill>
                <a:latin typeface="Arial" panose="020B0604020202020204" pitchFamily="34" charset="0"/>
              </a:rPr>
              <a:t>Full access to Asian and Europe investors through Reg S distribution, and US investors through 144A</a:t>
            </a:r>
            <a:endParaRPr lang="en-US" sz="1000" b="0" dirty="0">
              <a:solidFill>
                <a:schemeClr val="tx1"/>
              </a:solidFill>
              <a:latin typeface="Arial" panose="020B0604020202020204" pitchFamily="34" charset="0"/>
            </a:endParaRPr>
          </a:p>
        </p:txBody>
      </p:sp>
      <p:sp>
        <p:nvSpPr>
          <p:cNvPr id="36" name="Rectangle 19">
            <a:extLst>
              <a:ext uri="{FF2B5EF4-FFF2-40B4-BE49-F238E27FC236}">
                <a16:creationId xmlns:a16="http://schemas.microsoft.com/office/drawing/2014/main" id="{5EE981B1-E1B8-5FA2-C4C9-F664A84587EF}"/>
              </a:ext>
            </a:extLst>
          </p:cNvPr>
          <p:cNvSpPr/>
          <p:nvPr/>
        </p:nvSpPr>
        <p:spPr bwMode="auto">
          <a:xfrm>
            <a:off x="2152486" y="3426644"/>
            <a:ext cx="2928460" cy="1026086"/>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a:spcAft>
                <a:spcPts val="800"/>
              </a:spcAft>
            </a:pPr>
            <a:r>
              <a:rPr lang="en-SG" sz="1000" b="0" dirty="0">
                <a:solidFill>
                  <a:schemeClr val="tx1"/>
                </a:solidFill>
                <a:latin typeface="Arial" panose="020B0604020202020204" pitchFamily="34" charset="0"/>
              </a:rPr>
              <a:t>Exposure to major currency which is acceptable to investors. SGD is widely known as most stable currency in SEA</a:t>
            </a:r>
          </a:p>
        </p:txBody>
      </p:sp>
      <p:sp>
        <p:nvSpPr>
          <p:cNvPr id="37" name="Rectangle 9">
            <a:extLst>
              <a:ext uri="{FF2B5EF4-FFF2-40B4-BE49-F238E27FC236}">
                <a16:creationId xmlns:a16="http://schemas.microsoft.com/office/drawing/2014/main" id="{17D22D22-DD2E-8A19-BE44-0ADFB9A694A4}"/>
              </a:ext>
            </a:extLst>
          </p:cNvPr>
          <p:cNvSpPr/>
          <p:nvPr/>
        </p:nvSpPr>
        <p:spPr bwMode="auto">
          <a:xfrm>
            <a:off x="5452412" y="1519062"/>
            <a:ext cx="2931989"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SG" sz="1000" b="0" dirty="0">
                <a:solidFill>
                  <a:schemeClr val="tx1"/>
                </a:solidFill>
                <a:latin typeface="Arial" panose="020B0604020202020204" pitchFamily="34" charset="0"/>
              </a:rPr>
              <a:t>Investor education required albeit close proximity and investors are familiar with the company given the association with shareholders</a:t>
            </a:r>
            <a:endParaRPr lang="en-US" sz="1000" b="0" dirty="0">
              <a:solidFill>
                <a:schemeClr val="tx1"/>
              </a:solidFill>
              <a:latin typeface="Arial" panose="020B0604020202020204" pitchFamily="34" charset="0"/>
            </a:endParaRPr>
          </a:p>
        </p:txBody>
      </p:sp>
      <p:sp>
        <p:nvSpPr>
          <p:cNvPr id="38" name="Rectangle 15">
            <a:extLst>
              <a:ext uri="{FF2B5EF4-FFF2-40B4-BE49-F238E27FC236}">
                <a16:creationId xmlns:a16="http://schemas.microsoft.com/office/drawing/2014/main" id="{B7A7C5BD-CAED-EFE2-D98C-9E08DDAB65D6}"/>
              </a:ext>
            </a:extLst>
          </p:cNvPr>
          <p:cNvSpPr/>
          <p:nvPr/>
        </p:nvSpPr>
        <p:spPr bwMode="auto">
          <a:xfrm>
            <a:off x="5452412" y="2472853"/>
            <a:ext cx="2928459"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SG" sz="1000" b="0" dirty="0">
                <a:solidFill>
                  <a:schemeClr val="tx1"/>
                </a:solidFill>
                <a:latin typeface="Arial" panose="020B0604020202020204" pitchFamily="34" charset="0"/>
              </a:rPr>
              <a:t>Full access to Asian and Europe investors through Reg S distribution, and US investors through 144A, and favoured by Chinese investors through Stock Connect</a:t>
            </a:r>
            <a:endParaRPr lang="en-US" sz="1000" b="0" dirty="0">
              <a:solidFill>
                <a:schemeClr val="tx1"/>
              </a:solidFill>
              <a:latin typeface="Arial" panose="020B0604020202020204" pitchFamily="34" charset="0"/>
            </a:endParaRPr>
          </a:p>
        </p:txBody>
      </p:sp>
      <p:sp>
        <p:nvSpPr>
          <p:cNvPr id="39" name="Rectangle 21">
            <a:extLst>
              <a:ext uri="{FF2B5EF4-FFF2-40B4-BE49-F238E27FC236}">
                <a16:creationId xmlns:a16="http://schemas.microsoft.com/office/drawing/2014/main" id="{9091943A-21E9-6BD7-1B47-738F0C0D71D6}"/>
              </a:ext>
            </a:extLst>
          </p:cNvPr>
          <p:cNvSpPr/>
          <p:nvPr/>
        </p:nvSpPr>
        <p:spPr bwMode="auto">
          <a:xfrm>
            <a:off x="5455941" y="3426644"/>
            <a:ext cx="2928460" cy="1026086"/>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a:spcAft>
                <a:spcPts val="800"/>
              </a:spcAft>
            </a:pPr>
            <a:r>
              <a:rPr lang="en-SG" sz="1000" b="0" dirty="0">
                <a:solidFill>
                  <a:schemeClr val="tx1"/>
                </a:solidFill>
                <a:latin typeface="Arial" panose="020B0604020202020204" pitchFamily="34" charset="0"/>
              </a:rPr>
              <a:t>Pegged to USD, </a:t>
            </a:r>
            <a:r>
              <a:rPr lang="en-US" sz="1000" b="0" dirty="0">
                <a:solidFill>
                  <a:schemeClr val="tx1"/>
                </a:solidFill>
                <a:latin typeface="Arial" panose="020B0604020202020204" pitchFamily="34" charset="0"/>
              </a:rPr>
              <a:t>Hong Kong-listed companies are more attractive to investors, as the USD is a stable, globalized currency.</a:t>
            </a:r>
            <a:endParaRPr lang="en-SG" sz="1000" b="0" dirty="0">
              <a:solidFill>
                <a:schemeClr val="tx1"/>
              </a:solidFill>
              <a:latin typeface="Arial" panose="020B0604020202020204" pitchFamily="34" charset="0"/>
            </a:endParaRPr>
          </a:p>
        </p:txBody>
      </p:sp>
      <p:sp>
        <p:nvSpPr>
          <p:cNvPr id="41" name="Rectangle 36">
            <a:extLst>
              <a:ext uri="{FF2B5EF4-FFF2-40B4-BE49-F238E27FC236}">
                <a16:creationId xmlns:a16="http://schemas.microsoft.com/office/drawing/2014/main" id="{26C93622-6967-15EF-490C-F1D3543FEF27}"/>
              </a:ext>
            </a:extLst>
          </p:cNvPr>
          <p:cNvSpPr/>
          <p:nvPr/>
        </p:nvSpPr>
        <p:spPr bwMode="auto">
          <a:xfrm>
            <a:off x="716656" y="4771547"/>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Arial" panose="020B0604020202020204" pitchFamily="34" charset="0"/>
              </a:rPr>
              <a:t>Review</a:t>
            </a:r>
          </a:p>
        </p:txBody>
      </p:sp>
      <p:sp>
        <p:nvSpPr>
          <p:cNvPr id="42" name="Isosceles Triangle 46">
            <a:extLst>
              <a:ext uri="{FF2B5EF4-FFF2-40B4-BE49-F238E27FC236}">
                <a16:creationId xmlns:a16="http://schemas.microsoft.com/office/drawing/2014/main" id="{2C47A75B-60DB-4444-41F9-A5742C2CDB13}"/>
              </a:ext>
            </a:extLst>
          </p:cNvPr>
          <p:cNvSpPr/>
          <p:nvPr/>
        </p:nvSpPr>
        <p:spPr bwMode="auto">
          <a:xfrm rot="10800000">
            <a:off x="3402216" y="4532980"/>
            <a:ext cx="422087" cy="180000"/>
          </a:xfrm>
          <a:prstGeom prst="triangle">
            <a:avLst/>
          </a:prstGeom>
          <a:solidFill>
            <a:schemeClr val="accent1"/>
          </a:solidFill>
          <a:ln>
            <a:solidFill>
              <a:schemeClr val="accent1">
                <a:lumMod val="75000"/>
              </a:schemeClr>
            </a:solidFill>
          </a:ln>
          <a:effectLst/>
          <a:scene3d>
            <a:camera prst="orthographicFront"/>
            <a:lightRig rig="threePt" dir="t"/>
          </a:scene3d>
          <a:sp3d>
            <a:bevelT prst="angle"/>
          </a:sp3d>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tx1"/>
              </a:solidFill>
              <a:effectLst/>
              <a:latin typeface="Arial" panose="020B0604020202020204" pitchFamily="34" charset="0"/>
            </a:endParaRPr>
          </a:p>
        </p:txBody>
      </p:sp>
      <p:grpSp>
        <p:nvGrpSpPr>
          <p:cNvPr id="43" name="Group 32">
            <a:extLst>
              <a:ext uri="{FF2B5EF4-FFF2-40B4-BE49-F238E27FC236}">
                <a16:creationId xmlns:a16="http://schemas.microsoft.com/office/drawing/2014/main" id="{FD4D7DB6-AA6B-796E-3A0C-40F94A54176C}"/>
              </a:ext>
            </a:extLst>
          </p:cNvPr>
          <p:cNvGrpSpPr/>
          <p:nvPr/>
        </p:nvGrpSpPr>
        <p:grpSpPr>
          <a:xfrm>
            <a:off x="5452413" y="4771547"/>
            <a:ext cx="2928458" cy="828000"/>
            <a:chOff x="8600395" y="1763835"/>
            <a:chExt cx="1807200" cy="828000"/>
          </a:xfrm>
        </p:grpSpPr>
        <p:sp>
          <p:nvSpPr>
            <p:cNvPr id="44" name="Rectangle 43">
              <a:extLst>
                <a:ext uri="{FF2B5EF4-FFF2-40B4-BE49-F238E27FC236}">
                  <a16:creationId xmlns:a16="http://schemas.microsoft.com/office/drawing/2014/main" id="{B6E60AB8-6C7C-216D-CC29-86EDEC765633}"/>
                </a:ext>
              </a:extLst>
            </p:cNvPr>
            <p:cNvSpPr/>
            <p:nvPr/>
          </p:nvSpPr>
          <p:spPr bwMode="auto">
            <a:xfrm>
              <a:off x="8600395" y="1763835"/>
              <a:ext cx="1807200" cy="828000"/>
            </a:xfrm>
            <a:prstGeom prst="rect">
              <a:avLst/>
            </a:prstGeom>
            <a:solidFill>
              <a:srgbClr val="DCEAF7"/>
            </a:solidFill>
            <a:ln>
              <a:solidFill>
                <a:schemeClr val="accent1"/>
              </a:solidFill>
              <a:prstDash val="soli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bg1"/>
                </a:solidFill>
                <a:effectLst/>
                <a:latin typeface="Arial" panose="020B0604020202020204" pitchFamily="34" charset="0"/>
              </a:endParaRPr>
            </a:p>
          </p:txBody>
        </p:sp>
        <p:graphicFrame>
          <p:nvGraphicFramePr>
            <p:cNvPr id="45" name="Chart 44">
              <a:extLst>
                <a:ext uri="{FF2B5EF4-FFF2-40B4-BE49-F238E27FC236}">
                  <a16:creationId xmlns:a16="http://schemas.microsoft.com/office/drawing/2014/main" id="{A84806AF-29F0-294A-F5D6-1CD3D97708E0}"/>
                </a:ext>
              </a:extLst>
            </p:cNvPr>
            <p:cNvGraphicFramePr/>
            <p:nvPr/>
          </p:nvGraphicFramePr>
          <p:xfrm>
            <a:off x="9143995" y="1817835"/>
            <a:ext cx="720000" cy="720000"/>
          </p:xfrm>
          <a:graphic>
            <a:graphicData uri="http://schemas.openxmlformats.org/drawingml/2006/chart">
              <c:chart xmlns:c="http://schemas.openxmlformats.org/drawingml/2006/chart" xmlns:r="http://schemas.openxmlformats.org/officeDocument/2006/relationships" r:id="rId2"/>
            </a:graphicData>
          </a:graphic>
        </p:graphicFrame>
      </p:grpSp>
      <p:sp>
        <p:nvSpPr>
          <p:cNvPr id="46" name="Isosceles Triangle 48">
            <a:extLst>
              <a:ext uri="{FF2B5EF4-FFF2-40B4-BE49-F238E27FC236}">
                <a16:creationId xmlns:a16="http://schemas.microsoft.com/office/drawing/2014/main" id="{E34B9350-1DB5-3BB7-0436-D8B175444E7B}"/>
              </a:ext>
            </a:extLst>
          </p:cNvPr>
          <p:cNvSpPr/>
          <p:nvPr/>
        </p:nvSpPr>
        <p:spPr bwMode="auto">
          <a:xfrm rot="10800000">
            <a:off x="6717689" y="4532980"/>
            <a:ext cx="422087" cy="180000"/>
          </a:xfrm>
          <a:prstGeom prst="triangle">
            <a:avLst/>
          </a:prstGeom>
          <a:solidFill>
            <a:schemeClr val="accent1"/>
          </a:solidFill>
          <a:ln>
            <a:solidFill>
              <a:schemeClr val="accent1">
                <a:lumMod val="75000"/>
              </a:schemeClr>
            </a:solidFill>
          </a:ln>
          <a:effectLst/>
          <a:scene3d>
            <a:camera prst="orthographicFront"/>
            <a:lightRig rig="threePt" dir="t"/>
          </a:scene3d>
          <a:sp3d>
            <a:bevelT prst="angle"/>
          </a:sp3d>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tx1"/>
              </a:solidFill>
              <a:effectLst/>
              <a:latin typeface="Arial" panose="020B0604020202020204" pitchFamily="34" charset="0"/>
            </a:endParaRPr>
          </a:p>
        </p:txBody>
      </p:sp>
      <p:grpSp>
        <p:nvGrpSpPr>
          <p:cNvPr id="47" name="群組 46">
            <a:extLst>
              <a:ext uri="{FF2B5EF4-FFF2-40B4-BE49-F238E27FC236}">
                <a16:creationId xmlns:a16="http://schemas.microsoft.com/office/drawing/2014/main" id="{4AE75E2C-8A0C-8AD0-598C-8AA29E62F34B}"/>
              </a:ext>
            </a:extLst>
          </p:cNvPr>
          <p:cNvGrpSpPr/>
          <p:nvPr/>
        </p:nvGrpSpPr>
        <p:grpSpPr>
          <a:xfrm>
            <a:off x="2149032" y="4771547"/>
            <a:ext cx="2928458" cy="828000"/>
            <a:chOff x="1889952" y="4771547"/>
            <a:chExt cx="2928458" cy="828000"/>
          </a:xfrm>
        </p:grpSpPr>
        <p:sp>
          <p:nvSpPr>
            <p:cNvPr id="48" name="Rectangle 39">
              <a:extLst>
                <a:ext uri="{FF2B5EF4-FFF2-40B4-BE49-F238E27FC236}">
                  <a16:creationId xmlns:a16="http://schemas.microsoft.com/office/drawing/2014/main" id="{29F92C3F-7EAD-8108-E5E5-372A46662B81}"/>
                </a:ext>
              </a:extLst>
            </p:cNvPr>
            <p:cNvSpPr/>
            <p:nvPr/>
          </p:nvSpPr>
          <p:spPr bwMode="auto">
            <a:xfrm>
              <a:off x="1889952" y="4771547"/>
              <a:ext cx="2928458" cy="828000"/>
            </a:xfrm>
            <a:prstGeom prst="rect">
              <a:avLst/>
            </a:prstGeom>
            <a:solidFill>
              <a:srgbClr val="DCEAF7"/>
            </a:solidFill>
            <a:ln>
              <a:solidFill>
                <a:schemeClr val="accent1"/>
              </a:solidFill>
              <a:prstDash val="soli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bg1"/>
                </a:solidFill>
                <a:effectLst/>
                <a:latin typeface="Arial" panose="020B0604020202020204" pitchFamily="34" charset="0"/>
              </a:endParaRPr>
            </a:p>
          </p:txBody>
        </p:sp>
        <p:graphicFrame>
          <p:nvGraphicFramePr>
            <p:cNvPr id="49" name="Chart 40">
              <a:extLst>
                <a:ext uri="{FF2B5EF4-FFF2-40B4-BE49-F238E27FC236}">
                  <a16:creationId xmlns:a16="http://schemas.microsoft.com/office/drawing/2014/main" id="{AAB253FC-AAD3-07DF-A0D6-459D3BA39A04}"/>
                </a:ext>
              </a:extLst>
            </p:cNvPr>
            <p:cNvGraphicFramePr/>
            <p:nvPr>
              <p:extLst>
                <p:ext uri="{D42A27DB-BD31-4B8C-83A1-F6EECF244321}">
                  <p14:modId xmlns:p14="http://schemas.microsoft.com/office/powerpoint/2010/main" val="2782814827"/>
                </p:ext>
              </p:extLst>
            </p:nvPr>
          </p:nvGraphicFramePr>
          <p:xfrm>
            <a:off x="2932093" y="4825547"/>
            <a:ext cx="844175" cy="720000"/>
          </p:xfrm>
          <a:graphic>
            <a:graphicData uri="http://schemas.openxmlformats.org/drawingml/2006/chart">
              <c:chart xmlns:c="http://schemas.openxmlformats.org/drawingml/2006/chart" xmlns:r="http://schemas.openxmlformats.org/officeDocument/2006/relationships" r:id="rId3"/>
            </a:graphicData>
          </a:graphic>
        </p:graphicFrame>
      </p:grpSp>
      <p:pic>
        <p:nvPicPr>
          <p:cNvPr id="2" name="Picture 23" descr="A blue and black sign with different symbols&#10;&#10;Description automatically generated with medium confidence">
            <a:extLst>
              <a:ext uri="{FF2B5EF4-FFF2-40B4-BE49-F238E27FC236}">
                <a16:creationId xmlns:a16="http://schemas.microsoft.com/office/drawing/2014/main" id="{CBBB1A56-FD35-C092-6285-9CD59ADA26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05366" y="1127620"/>
            <a:ext cx="765466" cy="352234"/>
          </a:xfrm>
          <a:prstGeom prst="rect">
            <a:avLst/>
          </a:prstGeom>
        </p:spPr>
      </p:pic>
      <p:pic>
        <p:nvPicPr>
          <p:cNvPr id="4" name="Picture 49">
            <a:extLst>
              <a:ext uri="{FF2B5EF4-FFF2-40B4-BE49-F238E27FC236}">
                <a16:creationId xmlns:a16="http://schemas.microsoft.com/office/drawing/2014/main" id="{0724D1D7-3DD9-A54B-DF22-2D22EAF70D87}"/>
              </a:ext>
            </a:extLst>
          </p:cNvPr>
          <p:cNvPicPr>
            <a:picLocks noChangeAspect="1"/>
          </p:cNvPicPr>
          <p:nvPr/>
        </p:nvPicPr>
        <p:blipFill>
          <a:blip r:embed="rId5"/>
          <a:stretch>
            <a:fillRect/>
          </a:stretch>
        </p:blipFill>
        <p:spPr>
          <a:xfrm>
            <a:off x="2949758" y="1127621"/>
            <a:ext cx="1076272" cy="352234"/>
          </a:xfrm>
          <a:prstGeom prst="rect">
            <a:avLst/>
          </a:prstGeom>
        </p:spPr>
      </p:pic>
    </p:spTree>
    <p:extLst>
      <p:ext uri="{BB962C8B-B14F-4D97-AF65-F5344CB8AC3E}">
        <p14:creationId xmlns:p14="http://schemas.microsoft.com/office/powerpoint/2010/main" val="18788254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2CAE7-2571-764A-424E-A5D2DDB10AA1}"/>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6E9A43AC-B33D-C171-21C0-BE014B718668}"/>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37</a:t>
            </a:fld>
            <a:endParaRPr lang="en-US" altLang="en-US" b="0">
              <a:solidFill>
                <a:srgbClr val="000000"/>
              </a:solidFill>
            </a:endParaRPr>
          </a:p>
        </p:txBody>
      </p:sp>
      <p:sp>
        <p:nvSpPr>
          <p:cNvPr id="6" name="標題 5">
            <a:extLst>
              <a:ext uri="{FF2B5EF4-FFF2-40B4-BE49-F238E27FC236}">
                <a16:creationId xmlns:a16="http://schemas.microsoft.com/office/drawing/2014/main" id="{6FE9ACDD-3E7F-D912-4F35-D57451A4D210}"/>
              </a:ext>
            </a:extLst>
          </p:cNvPr>
          <p:cNvSpPr>
            <a:spLocks noGrp="1"/>
          </p:cNvSpPr>
          <p:nvPr>
            <p:ph type="title"/>
          </p:nvPr>
        </p:nvSpPr>
        <p:spPr>
          <a:xfrm>
            <a:off x="1136253" y="381000"/>
            <a:ext cx="8494051" cy="577850"/>
          </a:xfrm>
        </p:spPr>
        <p:txBody>
          <a:bodyPr/>
          <a:lstStyle/>
          <a:p>
            <a:r>
              <a:rPr lang="en-US" dirty="0"/>
              <a:t> Valuation</a:t>
            </a:r>
          </a:p>
        </p:txBody>
      </p:sp>
      <p:grpSp>
        <p:nvGrpSpPr>
          <p:cNvPr id="18" name="Group 25">
            <a:extLst>
              <a:ext uri="{FF2B5EF4-FFF2-40B4-BE49-F238E27FC236}">
                <a16:creationId xmlns:a16="http://schemas.microsoft.com/office/drawing/2014/main" id="{3D45B397-0C7F-97B4-95A0-6551EA419581}"/>
              </a:ext>
            </a:extLst>
          </p:cNvPr>
          <p:cNvGrpSpPr/>
          <p:nvPr/>
        </p:nvGrpSpPr>
        <p:grpSpPr>
          <a:xfrm>
            <a:off x="723900" y="455000"/>
            <a:ext cx="440936" cy="440936"/>
            <a:chOff x="626631" y="885064"/>
            <a:chExt cx="1164462" cy="1164462"/>
          </a:xfrm>
        </p:grpSpPr>
        <p:grpSp>
          <p:nvGrpSpPr>
            <p:cNvPr id="19" name="Group 27">
              <a:extLst>
                <a:ext uri="{FF2B5EF4-FFF2-40B4-BE49-F238E27FC236}">
                  <a16:creationId xmlns:a16="http://schemas.microsoft.com/office/drawing/2014/main" id="{5EA1F09A-20C4-E1B9-C0BD-DAB22FBA4360}"/>
                </a:ext>
              </a:extLst>
            </p:cNvPr>
            <p:cNvGrpSpPr/>
            <p:nvPr/>
          </p:nvGrpSpPr>
          <p:grpSpPr>
            <a:xfrm>
              <a:off x="626631" y="885064"/>
              <a:ext cx="1164462" cy="1164462"/>
              <a:chOff x="626631" y="885064"/>
              <a:chExt cx="1164462" cy="1164462"/>
            </a:xfrm>
          </p:grpSpPr>
          <p:sp>
            <p:nvSpPr>
              <p:cNvPr id="21" name="Freeform: Shape 35">
                <a:extLst>
                  <a:ext uri="{FF2B5EF4-FFF2-40B4-BE49-F238E27FC236}">
                    <a16:creationId xmlns:a16="http://schemas.microsoft.com/office/drawing/2014/main" id="{9977B75F-9861-6926-39FB-86E57CDF454F}"/>
                  </a:ext>
                </a:extLst>
              </p:cNvPr>
              <p:cNvSpPr/>
              <p:nvPr/>
            </p:nvSpPr>
            <p:spPr>
              <a:xfrm rot="5400000">
                <a:off x="626632" y="885064"/>
                <a:ext cx="556831" cy="556831"/>
              </a:xfrm>
              <a:custGeom>
                <a:avLst/>
                <a:gdLst>
                  <a:gd name="connsiteX0" fmla="*/ 0 w 556831"/>
                  <a:gd name="connsiteY0" fmla="*/ 0 h 556831"/>
                  <a:gd name="connsiteX1" fmla="*/ 119124 w 556831"/>
                  <a:gd name="connsiteY1" fmla="*/ 0 h 556831"/>
                  <a:gd name="connsiteX2" fmla="*/ 126025 w 556831"/>
                  <a:gd name="connsiteY2" fmla="*/ 68449 h 556831"/>
                  <a:gd name="connsiteX3" fmla="*/ 488383 w 556831"/>
                  <a:gd name="connsiteY3" fmla="*/ 430807 h 556831"/>
                  <a:gd name="connsiteX4" fmla="*/ 556831 w 556831"/>
                  <a:gd name="connsiteY4" fmla="*/ 437707 h 556831"/>
                  <a:gd name="connsiteX5" fmla="*/ 556831 w 556831"/>
                  <a:gd name="connsiteY5" fmla="*/ 556831 h 556831"/>
                  <a:gd name="connsiteX6" fmla="*/ 464375 w 556831"/>
                  <a:gd name="connsiteY6" fmla="*/ 547511 h 556831"/>
                  <a:gd name="connsiteX7" fmla="*/ 9321 w 556831"/>
                  <a:gd name="connsiteY7" fmla="*/ 92457 h 556831"/>
                  <a:gd name="connsiteX8" fmla="*/ 0 w 556831"/>
                  <a:gd name="connsiteY8" fmla="*/ 0 h 556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1" h="556831">
                    <a:moveTo>
                      <a:pt x="0" y="0"/>
                    </a:moveTo>
                    <a:lnTo>
                      <a:pt x="119124" y="0"/>
                    </a:lnTo>
                    <a:lnTo>
                      <a:pt x="126025" y="68449"/>
                    </a:lnTo>
                    <a:cubicBezTo>
                      <a:pt x="163243" y="250332"/>
                      <a:pt x="306499" y="393588"/>
                      <a:pt x="488383" y="430807"/>
                    </a:cubicBezTo>
                    <a:lnTo>
                      <a:pt x="556831" y="437707"/>
                    </a:lnTo>
                    <a:lnTo>
                      <a:pt x="556831" y="556831"/>
                    </a:lnTo>
                    <a:lnTo>
                      <a:pt x="464375" y="547511"/>
                    </a:lnTo>
                    <a:cubicBezTo>
                      <a:pt x="235964" y="500771"/>
                      <a:pt x="56060" y="320867"/>
                      <a:pt x="9321" y="92457"/>
                    </a:cubicBezTo>
                    <a:lnTo>
                      <a:pt x="0" y="0"/>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37">
                <a:extLst>
                  <a:ext uri="{FF2B5EF4-FFF2-40B4-BE49-F238E27FC236}">
                    <a16:creationId xmlns:a16="http://schemas.microsoft.com/office/drawing/2014/main" id="{463F8462-7FF2-6090-F909-1D3B4C6931F2}"/>
                  </a:ext>
                </a:extLst>
              </p:cNvPr>
              <p:cNvSpPr/>
              <p:nvPr/>
            </p:nvSpPr>
            <p:spPr>
              <a:xfrm rot="5400000">
                <a:off x="1234263" y="885065"/>
                <a:ext cx="556831" cy="556829"/>
              </a:xfrm>
              <a:custGeom>
                <a:avLst/>
                <a:gdLst>
                  <a:gd name="connsiteX0" fmla="*/ 0 w 556831"/>
                  <a:gd name="connsiteY0" fmla="*/ 556829 h 556829"/>
                  <a:gd name="connsiteX1" fmla="*/ 9321 w 556831"/>
                  <a:gd name="connsiteY1" fmla="*/ 464374 h 556829"/>
                  <a:gd name="connsiteX2" fmla="*/ 464375 w 556831"/>
                  <a:gd name="connsiteY2" fmla="*/ 9320 h 556829"/>
                  <a:gd name="connsiteX3" fmla="*/ 556831 w 556831"/>
                  <a:gd name="connsiteY3" fmla="*/ 0 h 556829"/>
                  <a:gd name="connsiteX4" fmla="*/ 556831 w 556831"/>
                  <a:gd name="connsiteY4" fmla="*/ 119124 h 556829"/>
                  <a:gd name="connsiteX5" fmla="*/ 488383 w 556831"/>
                  <a:gd name="connsiteY5" fmla="*/ 126024 h 556829"/>
                  <a:gd name="connsiteX6" fmla="*/ 126025 w 556831"/>
                  <a:gd name="connsiteY6" fmla="*/ 488382 h 556829"/>
                  <a:gd name="connsiteX7" fmla="*/ 119124 w 556831"/>
                  <a:gd name="connsiteY7" fmla="*/ 556829 h 556829"/>
                  <a:gd name="connsiteX8" fmla="*/ 0 w 556831"/>
                  <a:gd name="connsiteY8" fmla="*/ 556829 h 55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1" h="556829">
                    <a:moveTo>
                      <a:pt x="0" y="556829"/>
                    </a:moveTo>
                    <a:lnTo>
                      <a:pt x="9321" y="464374"/>
                    </a:lnTo>
                    <a:cubicBezTo>
                      <a:pt x="56060" y="235964"/>
                      <a:pt x="235964" y="56060"/>
                      <a:pt x="464375" y="9320"/>
                    </a:cubicBezTo>
                    <a:lnTo>
                      <a:pt x="556831" y="0"/>
                    </a:lnTo>
                    <a:lnTo>
                      <a:pt x="556831" y="119124"/>
                    </a:lnTo>
                    <a:lnTo>
                      <a:pt x="488383" y="126024"/>
                    </a:lnTo>
                    <a:cubicBezTo>
                      <a:pt x="306499" y="163243"/>
                      <a:pt x="163243" y="306499"/>
                      <a:pt x="126025" y="488382"/>
                    </a:cubicBezTo>
                    <a:lnTo>
                      <a:pt x="119124" y="556829"/>
                    </a:lnTo>
                    <a:lnTo>
                      <a:pt x="0" y="55682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38">
                <a:extLst>
                  <a:ext uri="{FF2B5EF4-FFF2-40B4-BE49-F238E27FC236}">
                    <a16:creationId xmlns:a16="http://schemas.microsoft.com/office/drawing/2014/main" id="{DD770F78-5881-0E3D-CB83-BEB42DE48604}"/>
                  </a:ext>
                </a:extLst>
              </p:cNvPr>
              <p:cNvSpPr/>
              <p:nvPr/>
            </p:nvSpPr>
            <p:spPr>
              <a:xfrm rot="5400000">
                <a:off x="626632" y="1492695"/>
                <a:ext cx="556830" cy="556831"/>
              </a:xfrm>
              <a:custGeom>
                <a:avLst/>
                <a:gdLst>
                  <a:gd name="connsiteX0" fmla="*/ 0 w 556830"/>
                  <a:gd name="connsiteY0" fmla="*/ 556831 h 556831"/>
                  <a:gd name="connsiteX1" fmla="*/ 0 w 556830"/>
                  <a:gd name="connsiteY1" fmla="*/ 437707 h 556831"/>
                  <a:gd name="connsiteX2" fmla="*/ 68448 w 556830"/>
                  <a:gd name="connsiteY2" fmla="*/ 430807 h 556831"/>
                  <a:gd name="connsiteX3" fmla="*/ 430806 w 556830"/>
                  <a:gd name="connsiteY3" fmla="*/ 68449 h 556831"/>
                  <a:gd name="connsiteX4" fmla="*/ 437706 w 556830"/>
                  <a:gd name="connsiteY4" fmla="*/ 0 h 556831"/>
                  <a:gd name="connsiteX5" fmla="*/ 556830 w 556830"/>
                  <a:gd name="connsiteY5" fmla="*/ 0 h 556831"/>
                  <a:gd name="connsiteX6" fmla="*/ 547510 w 556830"/>
                  <a:gd name="connsiteY6" fmla="*/ 92457 h 556831"/>
                  <a:gd name="connsiteX7" fmla="*/ 92456 w 556830"/>
                  <a:gd name="connsiteY7" fmla="*/ 547511 h 556831"/>
                  <a:gd name="connsiteX8" fmla="*/ 0 w 556830"/>
                  <a:gd name="connsiteY8" fmla="*/ 556831 h 556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0" h="556831">
                    <a:moveTo>
                      <a:pt x="0" y="556831"/>
                    </a:moveTo>
                    <a:lnTo>
                      <a:pt x="0" y="437707"/>
                    </a:lnTo>
                    <a:lnTo>
                      <a:pt x="68448" y="430807"/>
                    </a:lnTo>
                    <a:cubicBezTo>
                      <a:pt x="250331" y="393588"/>
                      <a:pt x="393587" y="250332"/>
                      <a:pt x="430806" y="68449"/>
                    </a:cubicBezTo>
                    <a:lnTo>
                      <a:pt x="437706" y="0"/>
                    </a:lnTo>
                    <a:lnTo>
                      <a:pt x="556830" y="0"/>
                    </a:lnTo>
                    <a:lnTo>
                      <a:pt x="547510" y="92457"/>
                    </a:lnTo>
                    <a:cubicBezTo>
                      <a:pt x="500770" y="320867"/>
                      <a:pt x="320866" y="500771"/>
                      <a:pt x="92456" y="547511"/>
                    </a:cubicBezTo>
                    <a:lnTo>
                      <a:pt x="0" y="556831"/>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45">
                <a:extLst>
                  <a:ext uri="{FF2B5EF4-FFF2-40B4-BE49-F238E27FC236}">
                    <a16:creationId xmlns:a16="http://schemas.microsoft.com/office/drawing/2014/main" id="{48E8877A-E0AA-F108-69BC-444EFF90A102}"/>
                  </a:ext>
                </a:extLst>
              </p:cNvPr>
              <p:cNvSpPr/>
              <p:nvPr/>
            </p:nvSpPr>
            <p:spPr>
              <a:xfrm rot="5400000">
                <a:off x="1234263" y="1492696"/>
                <a:ext cx="556830" cy="556829"/>
              </a:xfrm>
              <a:custGeom>
                <a:avLst/>
                <a:gdLst>
                  <a:gd name="connsiteX0" fmla="*/ 0 w 556830"/>
                  <a:gd name="connsiteY0" fmla="*/ 119124 h 556829"/>
                  <a:gd name="connsiteX1" fmla="*/ 0 w 556830"/>
                  <a:gd name="connsiteY1" fmla="*/ 0 h 556829"/>
                  <a:gd name="connsiteX2" fmla="*/ 92456 w 556830"/>
                  <a:gd name="connsiteY2" fmla="*/ 9320 h 556829"/>
                  <a:gd name="connsiteX3" fmla="*/ 547510 w 556830"/>
                  <a:gd name="connsiteY3" fmla="*/ 464374 h 556829"/>
                  <a:gd name="connsiteX4" fmla="*/ 556830 w 556830"/>
                  <a:gd name="connsiteY4" fmla="*/ 556829 h 556829"/>
                  <a:gd name="connsiteX5" fmla="*/ 437706 w 556830"/>
                  <a:gd name="connsiteY5" fmla="*/ 556829 h 556829"/>
                  <a:gd name="connsiteX6" fmla="*/ 430806 w 556830"/>
                  <a:gd name="connsiteY6" fmla="*/ 488382 h 556829"/>
                  <a:gd name="connsiteX7" fmla="*/ 68448 w 556830"/>
                  <a:gd name="connsiteY7" fmla="*/ 126024 h 556829"/>
                  <a:gd name="connsiteX8" fmla="*/ 0 w 556830"/>
                  <a:gd name="connsiteY8" fmla="*/ 119124 h 55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830" h="556829">
                    <a:moveTo>
                      <a:pt x="0" y="119124"/>
                    </a:moveTo>
                    <a:lnTo>
                      <a:pt x="0" y="0"/>
                    </a:lnTo>
                    <a:lnTo>
                      <a:pt x="92456" y="9320"/>
                    </a:lnTo>
                    <a:cubicBezTo>
                      <a:pt x="320866" y="56060"/>
                      <a:pt x="500770" y="235964"/>
                      <a:pt x="547510" y="464374"/>
                    </a:cubicBezTo>
                    <a:lnTo>
                      <a:pt x="556830" y="556829"/>
                    </a:lnTo>
                    <a:lnTo>
                      <a:pt x="437706" y="556829"/>
                    </a:lnTo>
                    <a:lnTo>
                      <a:pt x="430806" y="488382"/>
                    </a:lnTo>
                    <a:cubicBezTo>
                      <a:pt x="393587" y="306499"/>
                      <a:pt x="250331" y="163243"/>
                      <a:pt x="68448" y="126024"/>
                    </a:cubicBezTo>
                    <a:lnTo>
                      <a:pt x="0" y="119124"/>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Oval 31">
              <a:extLst>
                <a:ext uri="{FF2B5EF4-FFF2-40B4-BE49-F238E27FC236}">
                  <a16:creationId xmlns:a16="http://schemas.microsoft.com/office/drawing/2014/main" id="{8338B04F-1E5A-7325-D1EB-C7A077EBCA7D}"/>
                </a:ext>
              </a:extLst>
            </p:cNvPr>
            <p:cNvSpPr/>
            <p:nvPr/>
          </p:nvSpPr>
          <p:spPr>
            <a:xfrm>
              <a:off x="878662" y="1137095"/>
              <a:ext cx="660400" cy="660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4</a:t>
              </a:r>
            </a:p>
          </p:txBody>
        </p:sp>
      </p:grpSp>
      <p:sp>
        <p:nvSpPr>
          <p:cNvPr id="52" name="Rectangle 7">
            <a:extLst>
              <a:ext uri="{FF2B5EF4-FFF2-40B4-BE49-F238E27FC236}">
                <a16:creationId xmlns:a16="http://schemas.microsoft.com/office/drawing/2014/main" id="{111F8E8F-4E16-AE8C-FB69-248598EBA35F}"/>
              </a:ext>
            </a:extLst>
          </p:cNvPr>
          <p:cNvSpPr/>
          <p:nvPr/>
        </p:nvSpPr>
        <p:spPr bwMode="auto">
          <a:xfrm>
            <a:off x="718600" y="1519062"/>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US" sz="1000" dirty="0">
                <a:solidFill>
                  <a:schemeClr val="tx1"/>
                </a:solidFill>
                <a:latin typeface="Arial" panose="020B0604020202020204" pitchFamily="34" charset="0"/>
              </a:rPr>
              <a:t>Availability of peers / potential investor education</a:t>
            </a:r>
            <a:endParaRPr lang="en-SG" sz="1000" dirty="0">
              <a:solidFill>
                <a:schemeClr val="tx1"/>
              </a:solidFill>
              <a:latin typeface="Arial" panose="020B0604020202020204" pitchFamily="34" charset="0"/>
            </a:endParaRPr>
          </a:p>
        </p:txBody>
      </p:sp>
      <p:sp>
        <p:nvSpPr>
          <p:cNvPr id="53" name="Rectangle 11">
            <a:extLst>
              <a:ext uri="{FF2B5EF4-FFF2-40B4-BE49-F238E27FC236}">
                <a16:creationId xmlns:a16="http://schemas.microsoft.com/office/drawing/2014/main" id="{DB720CFA-FA96-92F3-B53F-FC88CF8E01FB}"/>
              </a:ext>
            </a:extLst>
          </p:cNvPr>
          <p:cNvSpPr/>
          <p:nvPr/>
        </p:nvSpPr>
        <p:spPr bwMode="auto">
          <a:xfrm>
            <a:off x="718600" y="2472853"/>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US" sz="1000" dirty="0">
                <a:solidFill>
                  <a:schemeClr val="tx1"/>
                </a:solidFill>
                <a:latin typeface="Arial" panose="020B0604020202020204" pitchFamily="34" charset="0"/>
              </a:rPr>
              <a:t>Valuation of Healthcare</a:t>
            </a:r>
          </a:p>
          <a:p>
            <a:pPr algn="ctr" eaLnBrk="0" hangingPunct="0"/>
            <a:r>
              <a:rPr lang="en-US" sz="1000" dirty="0">
                <a:solidFill>
                  <a:schemeClr val="tx1"/>
                </a:solidFill>
                <a:latin typeface="Arial" panose="020B0604020202020204" pitchFamily="34" charset="0"/>
              </a:rPr>
              <a:t>industry </a:t>
            </a:r>
            <a:endParaRPr lang="en-SG" sz="1000" dirty="0">
              <a:solidFill>
                <a:schemeClr val="tx1"/>
              </a:solidFill>
              <a:latin typeface="Arial" panose="020B0604020202020204" pitchFamily="34" charset="0"/>
            </a:endParaRPr>
          </a:p>
        </p:txBody>
      </p:sp>
      <p:sp>
        <p:nvSpPr>
          <p:cNvPr id="56" name="Rectangle 8">
            <a:extLst>
              <a:ext uri="{FF2B5EF4-FFF2-40B4-BE49-F238E27FC236}">
                <a16:creationId xmlns:a16="http://schemas.microsoft.com/office/drawing/2014/main" id="{783E7517-43F3-5B87-4151-A78805478D7A}"/>
              </a:ext>
            </a:extLst>
          </p:cNvPr>
          <p:cNvSpPr/>
          <p:nvPr/>
        </p:nvSpPr>
        <p:spPr bwMode="auto">
          <a:xfrm>
            <a:off x="2149033" y="1519062"/>
            <a:ext cx="2928458"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spcAft>
                <a:spcPts val="300"/>
              </a:spcAft>
            </a:pPr>
            <a:r>
              <a:rPr lang="en-SG" sz="1000" b="0" dirty="0">
                <a:solidFill>
                  <a:schemeClr val="tx1"/>
                </a:solidFill>
                <a:latin typeface="Arial" panose="020B0604020202020204" pitchFamily="34" charset="0"/>
              </a:rPr>
              <a:t>Premier Asian financial hub, ASEAN, REITs, focused  </a:t>
            </a:r>
          </a:p>
        </p:txBody>
      </p:sp>
      <p:sp>
        <p:nvSpPr>
          <p:cNvPr id="57" name="Rectangle 14">
            <a:extLst>
              <a:ext uri="{FF2B5EF4-FFF2-40B4-BE49-F238E27FC236}">
                <a16:creationId xmlns:a16="http://schemas.microsoft.com/office/drawing/2014/main" id="{7CB78D2E-FEFA-62E3-D647-E41700A18FCA}"/>
              </a:ext>
            </a:extLst>
          </p:cNvPr>
          <p:cNvSpPr/>
          <p:nvPr/>
        </p:nvSpPr>
        <p:spPr bwMode="auto">
          <a:xfrm>
            <a:off x="2151312" y="2480804"/>
            <a:ext cx="2928458"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spcAft>
                <a:spcPts val="300"/>
              </a:spcAft>
            </a:pPr>
            <a:r>
              <a:rPr lang="en-SG" sz="1000" b="0" dirty="0">
                <a:solidFill>
                  <a:schemeClr val="tx1"/>
                </a:solidFill>
                <a:latin typeface="Arial" panose="020B0604020202020204" pitchFamily="34" charset="0"/>
              </a:rPr>
              <a:t>PE: 26.2x</a:t>
            </a:r>
          </a:p>
        </p:txBody>
      </p:sp>
      <p:sp>
        <p:nvSpPr>
          <p:cNvPr id="59" name="Rectangle 9">
            <a:extLst>
              <a:ext uri="{FF2B5EF4-FFF2-40B4-BE49-F238E27FC236}">
                <a16:creationId xmlns:a16="http://schemas.microsoft.com/office/drawing/2014/main" id="{7885C763-B1BF-B79B-4808-A93B7659A5EA}"/>
              </a:ext>
            </a:extLst>
          </p:cNvPr>
          <p:cNvSpPr/>
          <p:nvPr/>
        </p:nvSpPr>
        <p:spPr bwMode="auto">
          <a:xfrm>
            <a:off x="5452412" y="1519062"/>
            <a:ext cx="2931989"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r>
              <a:rPr lang="en-SG" sz="1000" b="0" dirty="0">
                <a:solidFill>
                  <a:schemeClr val="tx1"/>
                </a:solidFill>
                <a:latin typeface="Arial" panose="020B0604020202020204" pitchFamily="34" charset="0"/>
              </a:rPr>
              <a:t>Stocks listed are mainly China-focused, mainly supported by TMT and Healthcare industry</a:t>
            </a:r>
            <a:endParaRPr lang="en-US" sz="1000" b="0" dirty="0">
              <a:solidFill>
                <a:schemeClr val="tx1"/>
              </a:solidFill>
              <a:latin typeface="Arial" panose="020B0604020202020204" pitchFamily="34" charset="0"/>
            </a:endParaRPr>
          </a:p>
        </p:txBody>
      </p:sp>
      <p:sp>
        <p:nvSpPr>
          <p:cNvPr id="60" name="Rectangle 15">
            <a:extLst>
              <a:ext uri="{FF2B5EF4-FFF2-40B4-BE49-F238E27FC236}">
                <a16:creationId xmlns:a16="http://schemas.microsoft.com/office/drawing/2014/main" id="{54D07ACF-9545-9F6A-2FCE-7A5C8DC222DA}"/>
              </a:ext>
            </a:extLst>
          </p:cNvPr>
          <p:cNvSpPr/>
          <p:nvPr/>
        </p:nvSpPr>
        <p:spPr bwMode="auto">
          <a:xfrm>
            <a:off x="5452412" y="2472853"/>
            <a:ext cx="2928459"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spcAft>
                <a:spcPts val="300"/>
              </a:spcAft>
            </a:pPr>
            <a:r>
              <a:rPr lang="en-SG" sz="1000" b="0" dirty="0">
                <a:solidFill>
                  <a:schemeClr val="tx1"/>
                </a:solidFill>
                <a:latin typeface="Arial" panose="020B0604020202020204" pitchFamily="34" charset="0"/>
              </a:rPr>
              <a:t>PE: 33.3x</a:t>
            </a:r>
          </a:p>
        </p:txBody>
      </p:sp>
      <p:sp>
        <p:nvSpPr>
          <p:cNvPr id="63" name="Rectangle 36">
            <a:extLst>
              <a:ext uri="{FF2B5EF4-FFF2-40B4-BE49-F238E27FC236}">
                <a16:creationId xmlns:a16="http://schemas.microsoft.com/office/drawing/2014/main" id="{7176D381-BE41-29F8-CE2B-1C42D1F64CB5}"/>
              </a:ext>
            </a:extLst>
          </p:cNvPr>
          <p:cNvSpPr/>
          <p:nvPr/>
        </p:nvSpPr>
        <p:spPr bwMode="auto">
          <a:xfrm>
            <a:off x="716656" y="4436267"/>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Arial" panose="020B0604020202020204" pitchFamily="34" charset="0"/>
              </a:rPr>
              <a:t>Review</a:t>
            </a:r>
          </a:p>
        </p:txBody>
      </p:sp>
      <p:sp>
        <p:nvSpPr>
          <p:cNvPr id="64" name="Isosceles Triangle 46">
            <a:extLst>
              <a:ext uri="{FF2B5EF4-FFF2-40B4-BE49-F238E27FC236}">
                <a16:creationId xmlns:a16="http://schemas.microsoft.com/office/drawing/2014/main" id="{E105F91C-222D-64FC-FCD3-532D470E6573}"/>
              </a:ext>
            </a:extLst>
          </p:cNvPr>
          <p:cNvSpPr/>
          <p:nvPr/>
        </p:nvSpPr>
        <p:spPr bwMode="auto">
          <a:xfrm rot="10800000">
            <a:off x="3402216" y="4197700"/>
            <a:ext cx="422087" cy="180000"/>
          </a:xfrm>
          <a:prstGeom prst="triangle">
            <a:avLst/>
          </a:prstGeom>
          <a:solidFill>
            <a:schemeClr val="accent1"/>
          </a:solidFill>
          <a:ln>
            <a:solidFill>
              <a:schemeClr val="accent1">
                <a:lumMod val="75000"/>
              </a:schemeClr>
            </a:solidFill>
          </a:ln>
          <a:effectLst/>
          <a:scene3d>
            <a:camera prst="orthographicFront"/>
            <a:lightRig rig="threePt" dir="t"/>
          </a:scene3d>
          <a:sp3d>
            <a:bevelT prst="angle"/>
          </a:sp3d>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tx1"/>
              </a:solidFill>
              <a:effectLst/>
              <a:latin typeface="Arial" panose="020B0604020202020204" pitchFamily="34" charset="0"/>
            </a:endParaRPr>
          </a:p>
        </p:txBody>
      </p:sp>
      <p:grpSp>
        <p:nvGrpSpPr>
          <p:cNvPr id="65" name="Group 32">
            <a:extLst>
              <a:ext uri="{FF2B5EF4-FFF2-40B4-BE49-F238E27FC236}">
                <a16:creationId xmlns:a16="http://schemas.microsoft.com/office/drawing/2014/main" id="{875B2D64-3F1F-A170-4730-66A656176C0E}"/>
              </a:ext>
            </a:extLst>
          </p:cNvPr>
          <p:cNvGrpSpPr/>
          <p:nvPr/>
        </p:nvGrpSpPr>
        <p:grpSpPr>
          <a:xfrm>
            <a:off x="5452413" y="4436267"/>
            <a:ext cx="2928458" cy="828000"/>
            <a:chOff x="8600395" y="1763835"/>
            <a:chExt cx="1807200" cy="828000"/>
          </a:xfrm>
        </p:grpSpPr>
        <p:sp>
          <p:nvSpPr>
            <p:cNvPr id="66" name="Rectangle 43">
              <a:extLst>
                <a:ext uri="{FF2B5EF4-FFF2-40B4-BE49-F238E27FC236}">
                  <a16:creationId xmlns:a16="http://schemas.microsoft.com/office/drawing/2014/main" id="{26861FFB-ECFA-BC7C-6278-5E55A3EC24AA}"/>
                </a:ext>
              </a:extLst>
            </p:cNvPr>
            <p:cNvSpPr/>
            <p:nvPr/>
          </p:nvSpPr>
          <p:spPr bwMode="auto">
            <a:xfrm>
              <a:off x="8600395" y="1763835"/>
              <a:ext cx="1807200" cy="828000"/>
            </a:xfrm>
            <a:prstGeom prst="rect">
              <a:avLst/>
            </a:prstGeom>
            <a:solidFill>
              <a:srgbClr val="DCEAF7"/>
            </a:solidFill>
            <a:ln>
              <a:solidFill>
                <a:schemeClr val="accent1"/>
              </a:solidFill>
              <a:prstDash val="soli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bg1"/>
                </a:solidFill>
                <a:effectLst/>
                <a:latin typeface="Arial" panose="020B0604020202020204" pitchFamily="34" charset="0"/>
              </a:endParaRPr>
            </a:p>
          </p:txBody>
        </p:sp>
        <p:graphicFrame>
          <p:nvGraphicFramePr>
            <p:cNvPr id="67" name="Chart 44">
              <a:extLst>
                <a:ext uri="{FF2B5EF4-FFF2-40B4-BE49-F238E27FC236}">
                  <a16:creationId xmlns:a16="http://schemas.microsoft.com/office/drawing/2014/main" id="{920FDC17-E7AB-49CB-5ED9-D3A9A48625AE}"/>
                </a:ext>
              </a:extLst>
            </p:cNvPr>
            <p:cNvGraphicFramePr/>
            <p:nvPr/>
          </p:nvGraphicFramePr>
          <p:xfrm>
            <a:off x="9143995" y="1817835"/>
            <a:ext cx="720000" cy="720000"/>
          </p:xfrm>
          <a:graphic>
            <a:graphicData uri="http://schemas.openxmlformats.org/drawingml/2006/chart">
              <c:chart xmlns:c="http://schemas.openxmlformats.org/drawingml/2006/chart" xmlns:r="http://schemas.openxmlformats.org/officeDocument/2006/relationships" r:id="rId3"/>
            </a:graphicData>
          </a:graphic>
        </p:graphicFrame>
      </p:grpSp>
      <p:sp>
        <p:nvSpPr>
          <p:cNvPr id="68" name="Isosceles Triangle 48">
            <a:extLst>
              <a:ext uri="{FF2B5EF4-FFF2-40B4-BE49-F238E27FC236}">
                <a16:creationId xmlns:a16="http://schemas.microsoft.com/office/drawing/2014/main" id="{E674B0BC-2173-1D9C-9D9F-B0B39194B939}"/>
              </a:ext>
            </a:extLst>
          </p:cNvPr>
          <p:cNvSpPr/>
          <p:nvPr/>
        </p:nvSpPr>
        <p:spPr bwMode="auto">
          <a:xfrm rot="10800000">
            <a:off x="6717689" y="4197700"/>
            <a:ext cx="422087" cy="180000"/>
          </a:xfrm>
          <a:prstGeom prst="triangle">
            <a:avLst/>
          </a:prstGeom>
          <a:solidFill>
            <a:schemeClr val="accent1"/>
          </a:solidFill>
          <a:ln>
            <a:solidFill>
              <a:schemeClr val="accent1">
                <a:lumMod val="75000"/>
              </a:schemeClr>
            </a:solidFill>
          </a:ln>
          <a:effectLst/>
          <a:scene3d>
            <a:camera prst="orthographicFront"/>
            <a:lightRig rig="threePt" dir="t"/>
          </a:scene3d>
          <a:sp3d>
            <a:bevelT prst="angle"/>
          </a:sp3d>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tx1"/>
              </a:solidFill>
              <a:effectLst/>
              <a:latin typeface="Arial" panose="020B0604020202020204" pitchFamily="34" charset="0"/>
            </a:endParaRPr>
          </a:p>
        </p:txBody>
      </p:sp>
      <p:grpSp>
        <p:nvGrpSpPr>
          <p:cNvPr id="69" name="群組 68">
            <a:extLst>
              <a:ext uri="{FF2B5EF4-FFF2-40B4-BE49-F238E27FC236}">
                <a16:creationId xmlns:a16="http://schemas.microsoft.com/office/drawing/2014/main" id="{CA16E2E6-ABA2-2129-0320-D1A3E7D205E5}"/>
              </a:ext>
            </a:extLst>
          </p:cNvPr>
          <p:cNvGrpSpPr/>
          <p:nvPr/>
        </p:nvGrpSpPr>
        <p:grpSpPr>
          <a:xfrm>
            <a:off x="2149032" y="4436267"/>
            <a:ext cx="2928458" cy="828000"/>
            <a:chOff x="1889952" y="4771547"/>
            <a:chExt cx="2928458" cy="828000"/>
          </a:xfrm>
        </p:grpSpPr>
        <p:sp>
          <p:nvSpPr>
            <p:cNvPr id="70" name="Rectangle 39">
              <a:extLst>
                <a:ext uri="{FF2B5EF4-FFF2-40B4-BE49-F238E27FC236}">
                  <a16:creationId xmlns:a16="http://schemas.microsoft.com/office/drawing/2014/main" id="{EB12ADD4-9630-D732-C8A2-07F19923273D}"/>
                </a:ext>
              </a:extLst>
            </p:cNvPr>
            <p:cNvSpPr/>
            <p:nvPr/>
          </p:nvSpPr>
          <p:spPr bwMode="auto">
            <a:xfrm>
              <a:off x="1889952" y="4771547"/>
              <a:ext cx="2928458" cy="828000"/>
            </a:xfrm>
            <a:prstGeom prst="rect">
              <a:avLst/>
            </a:prstGeom>
            <a:solidFill>
              <a:srgbClr val="DCEAF7"/>
            </a:solidFill>
            <a:ln>
              <a:solidFill>
                <a:schemeClr val="accent1"/>
              </a:solidFill>
              <a:prstDash val="soli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000" b="1" i="0" u="none" strike="noStrike" cap="none" normalizeH="0" baseline="0">
                <a:ln>
                  <a:noFill/>
                </a:ln>
                <a:solidFill>
                  <a:schemeClr val="bg1"/>
                </a:solidFill>
                <a:effectLst/>
                <a:latin typeface="Arial" panose="020B0604020202020204" pitchFamily="34" charset="0"/>
              </a:endParaRPr>
            </a:p>
          </p:txBody>
        </p:sp>
        <p:graphicFrame>
          <p:nvGraphicFramePr>
            <p:cNvPr id="71" name="Chart 40">
              <a:extLst>
                <a:ext uri="{FF2B5EF4-FFF2-40B4-BE49-F238E27FC236}">
                  <a16:creationId xmlns:a16="http://schemas.microsoft.com/office/drawing/2014/main" id="{FD03BFD5-A282-A43A-6B15-5C3876F70AB4}"/>
                </a:ext>
              </a:extLst>
            </p:cNvPr>
            <p:cNvGraphicFramePr/>
            <p:nvPr/>
          </p:nvGraphicFramePr>
          <p:xfrm>
            <a:off x="2932093" y="4825547"/>
            <a:ext cx="844175" cy="720000"/>
          </p:xfrm>
          <a:graphic>
            <a:graphicData uri="http://schemas.openxmlformats.org/drawingml/2006/chart">
              <c:chart xmlns:c="http://schemas.openxmlformats.org/drawingml/2006/chart" xmlns:r="http://schemas.openxmlformats.org/officeDocument/2006/relationships" r:id="rId4"/>
            </a:graphicData>
          </a:graphic>
        </p:graphicFrame>
      </p:grpSp>
      <p:sp>
        <p:nvSpPr>
          <p:cNvPr id="72" name="Rectangle 11">
            <a:extLst>
              <a:ext uri="{FF2B5EF4-FFF2-40B4-BE49-F238E27FC236}">
                <a16:creationId xmlns:a16="http://schemas.microsoft.com/office/drawing/2014/main" id="{9C6147C2-8E1E-642F-6A8B-6AD67E343EA7}"/>
              </a:ext>
            </a:extLst>
          </p:cNvPr>
          <p:cNvSpPr/>
          <p:nvPr/>
        </p:nvSpPr>
        <p:spPr bwMode="auto">
          <a:xfrm>
            <a:off x="716320" y="3434595"/>
            <a:ext cx="1192299" cy="828000"/>
          </a:xfrm>
          <a:prstGeom prst="rect">
            <a:avLst/>
          </a:prstGeom>
          <a:solidFill>
            <a:schemeClr val="bg1">
              <a:lumMod val="95000"/>
            </a:schemeClr>
          </a:solidFill>
          <a:ln>
            <a:solidFill>
              <a:schemeClr val="accent2"/>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US" sz="1000" dirty="0">
                <a:solidFill>
                  <a:schemeClr val="tx1"/>
                </a:solidFill>
                <a:latin typeface="Arial" panose="020B0604020202020204" pitchFamily="34" charset="0"/>
              </a:rPr>
              <a:t>Potential index inclusion</a:t>
            </a:r>
            <a:endParaRPr lang="en-SG" sz="1000" dirty="0">
              <a:solidFill>
                <a:schemeClr val="tx1"/>
              </a:solidFill>
              <a:latin typeface="Arial" panose="020B0604020202020204" pitchFamily="34" charset="0"/>
            </a:endParaRPr>
          </a:p>
        </p:txBody>
      </p:sp>
      <p:sp>
        <p:nvSpPr>
          <p:cNvPr id="73" name="Rectangle 14">
            <a:extLst>
              <a:ext uri="{FF2B5EF4-FFF2-40B4-BE49-F238E27FC236}">
                <a16:creationId xmlns:a16="http://schemas.microsoft.com/office/drawing/2014/main" id="{ECDC610A-A977-88AC-A70A-C37E614257BE}"/>
              </a:ext>
            </a:extLst>
          </p:cNvPr>
          <p:cNvSpPr/>
          <p:nvPr/>
        </p:nvSpPr>
        <p:spPr bwMode="auto">
          <a:xfrm>
            <a:off x="2149032" y="3442546"/>
            <a:ext cx="2928458"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spcAft>
                <a:spcPts val="300"/>
              </a:spcAft>
            </a:pPr>
            <a:r>
              <a:rPr lang="en-US" sz="1000" b="0" dirty="0">
                <a:solidFill>
                  <a:schemeClr val="tx1"/>
                </a:solidFill>
                <a:latin typeface="Arial" panose="020B0604020202020204" pitchFamily="34" charset="0"/>
              </a:rPr>
              <a:t>Potential to be included in </a:t>
            </a:r>
            <a:r>
              <a:rPr lang="en-US" sz="1000" b="0" dirty="0" err="1">
                <a:solidFill>
                  <a:schemeClr val="tx1"/>
                </a:solidFill>
                <a:latin typeface="Arial" panose="020B0604020202020204" pitchFamily="34" charset="0"/>
              </a:rPr>
              <a:t>iEdge</a:t>
            </a:r>
            <a:r>
              <a:rPr lang="en-US" sz="1000" b="0" dirty="0">
                <a:solidFill>
                  <a:schemeClr val="tx1"/>
                </a:solidFill>
                <a:latin typeface="Arial" panose="020B0604020202020204" pitchFamily="34" charset="0"/>
              </a:rPr>
              <a:t> SG All Healthcare Index or SGX Healthcare Index </a:t>
            </a:r>
            <a:endParaRPr lang="en-SG" sz="1000" b="0" dirty="0">
              <a:solidFill>
                <a:schemeClr val="tx1"/>
              </a:solidFill>
              <a:latin typeface="Arial" panose="020B0604020202020204" pitchFamily="34" charset="0"/>
            </a:endParaRPr>
          </a:p>
        </p:txBody>
      </p:sp>
      <p:sp>
        <p:nvSpPr>
          <p:cNvPr id="74" name="Rectangle 15">
            <a:extLst>
              <a:ext uri="{FF2B5EF4-FFF2-40B4-BE49-F238E27FC236}">
                <a16:creationId xmlns:a16="http://schemas.microsoft.com/office/drawing/2014/main" id="{804B222A-9FFA-887A-0EDC-469CD7D11CD5}"/>
              </a:ext>
            </a:extLst>
          </p:cNvPr>
          <p:cNvSpPr/>
          <p:nvPr/>
        </p:nvSpPr>
        <p:spPr bwMode="auto">
          <a:xfrm>
            <a:off x="5450132" y="3434595"/>
            <a:ext cx="2928459" cy="828000"/>
          </a:xfrm>
          <a:prstGeom prst="rect">
            <a:avLst/>
          </a:prstGeom>
          <a:solidFill>
            <a:schemeClr val="bg1"/>
          </a:solidFill>
          <a:ln>
            <a:solidFill>
              <a:schemeClr val="accent1"/>
            </a:solidFill>
          </a:ln>
          <a:effectLst/>
        </p:spPr>
        <p:txBody>
          <a:bodyPr vert="horz" wrap="square" lIns="91440" tIns="45720" rIns="91440" bIns="45720" numCol="1" rtlCol="0" anchor="ctr" anchorCtr="0" compatLnSpc="1">
            <a:prstTxWarp prst="textNoShape">
              <a:avLst/>
            </a:prstTxWarp>
          </a:bodyPr>
          <a:lstStyle/>
          <a:p>
            <a:pPr eaLnBrk="0" hangingPunct="0">
              <a:spcAft>
                <a:spcPts val="300"/>
              </a:spcAft>
            </a:pPr>
            <a:r>
              <a:rPr lang="en-US" sz="1000" b="0" dirty="0">
                <a:solidFill>
                  <a:schemeClr val="tx1"/>
                </a:solidFill>
                <a:latin typeface="Arial" panose="020B0604020202020204" pitchFamily="34" charset="0"/>
              </a:rPr>
              <a:t>Potential to be included in </a:t>
            </a:r>
            <a:r>
              <a:rPr lang="en-SG" sz="1000" b="0" dirty="0">
                <a:solidFill>
                  <a:schemeClr val="tx1"/>
                </a:solidFill>
                <a:latin typeface="Arial" panose="020B0604020202020204" pitchFamily="34" charset="0"/>
              </a:rPr>
              <a:t>Hang Seng (“HS”) Healthcare Index, HS Biotech Index, </a:t>
            </a:r>
            <a:r>
              <a:rPr lang="en-US" sz="1000" b="0" dirty="0">
                <a:solidFill>
                  <a:schemeClr val="tx1"/>
                </a:solidFill>
                <a:latin typeface="Arial" panose="020B0604020202020204" pitchFamily="34" charset="0"/>
              </a:rPr>
              <a:t>HS SCHK Innovative Drug and Healthcare Index, HS Composite Industry Index – Healthcare, HS Biotech Index, etc.</a:t>
            </a:r>
            <a:endParaRPr lang="en-SG" sz="1000" b="0" dirty="0">
              <a:solidFill>
                <a:schemeClr val="tx1"/>
              </a:solidFill>
              <a:latin typeface="Arial" panose="020B0604020202020204" pitchFamily="34" charset="0"/>
            </a:endParaRPr>
          </a:p>
        </p:txBody>
      </p:sp>
      <p:sp>
        <p:nvSpPr>
          <p:cNvPr id="75" name="Text Placeholder 1">
            <a:extLst>
              <a:ext uri="{FF2B5EF4-FFF2-40B4-BE49-F238E27FC236}">
                <a16:creationId xmlns:a16="http://schemas.microsoft.com/office/drawing/2014/main" id="{9AE46919-FC69-230D-1520-B6EC732F2306}"/>
              </a:ext>
            </a:extLst>
          </p:cNvPr>
          <p:cNvSpPr txBox="1">
            <a:spLocks/>
          </p:cNvSpPr>
          <p:nvPr/>
        </p:nvSpPr>
        <p:spPr>
          <a:xfrm>
            <a:off x="716320" y="5914997"/>
            <a:ext cx="7312423"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en-US" sz="600" b="0" i="1" u="none" strike="noStrike" kern="1200" cap="none" spc="0" normalizeH="0" baseline="0" noProof="0">
                <a:ln>
                  <a:noFill/>
                </a:ln>
                <a:solidFill>
                  <a:schemeClr val="bg1">
                    <a:lumMod val="50000"/>
                  </a:schemeClr>
                </a:solidFill>
                <a:effectLst/>
                <a:uLnTx/>
                <a:uFillTx/>
                <a:latin typeface="+mn-lt"/>
                <a:ea typeface="+mn-ea"/>
                <a:cs typeface="+mn-cs"/>
              </a:defRPr>
            </a:lvl1pPr>
            <a:lvl2pPr marL="603647" indent="-232172" algn="l" rtl="0" eaLnBrk="0" fontAlgn="base" hangingPunct="0">
              <a:spcBef>
                <a:spcPct val="20000"/>
              </a:spcBef>
              <a:spcAft>
                <a:spcPct val="0"/>
              </a:spcAft>
              <a:buChar char="–"/>
              <a:defRPr sz="1300" kern="1200">
                <a:solidFill>
                  <a:schemeClr val="tx1"/>
                </a:solidFill>
                <a:latin typeface="+mn-lt"/>
                <a:ea typeface="+mn-ea"/>
                <a:cs typeface="+mn-cs"/>
              </a:defRPr>
            </a:lvl2pPr>
            <a:lvl3pPr marL="928688" indent="-185738" algn="l" rtl="0" eaLnBrk="0" fontAlgn="base" hangingPunct="0">
              <a:spcBef>
                <a:spcPct val="20000"/>
              </a:spcBef>
              <a:spcAft>
                <a:spcPct val="0"/>
              </a:spcAft>
              <a:buChar char="•"/>
              <a:defRPr sz="1300" kern="1200">
                <a:solidFill>
                  <a:schemeClr val="tx1"/>
                </a:solidFill>
                <a:latin typeface="+mn-lt"/>
                <a:ea typeface="+mn-ea"/>
                <a:cs typeface="+mn-cs"/>
              </a:defRPr>
            </a:lvl3pPr>
            <a:lvl4pPr marL="1300163" indent="-185738" algn="l" rtl="0" eaLnBrk="0" fontAlgn="base" hangingPunct="0">
              <a:spcBef>
                <a:spcPct val="20000"/>
              </a:spcBef>
              <a:spcAft>
                <a:spcPct val="0"/>
              </a:spcAft>
              <a:buChar char="–"/>
              <a:defRPr sz="1300" kern="1200">
                <a:solidFill>
                  <a:schemeClr val="tx1"/>
                </a:solidFill>
                <a:latin typeface="+mn-lt"/>
                <a:ea typeface="+mn-ea"/>
                <a:cs typeface="+mn-cs"/>
              </a:defRPr>
            </a:lvl4pPr>
            <a:lvl5pPr marL="1671638" indent="-185738" algn="l" rtl="0" eaLnBrk="0" fontAlgn="base" hangingPunct="0">
              <a:spcBef>
                <a:spcPct val="20000"/>
              </a:spcBef>
              <a:spcAft>
                <a:spcPct val="0"/>
              </a:spcAft>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i="1" u="none" strike="noStrike" kern="1200" cap="none" spc="0" normalizeH="0" baseline="0" noProof="0" dirty="0">
                <a:ln>
                  <a:noFill/>
                </a:ln>
                <a:solidFill>
                  <a:schemeClr val="tx1"/>
                </a:solidFill>
                <a:effectLst/>
                <a:uLnTx/>
                <a:uFillTx/>
                <a:latin typeface="Arial" panose="020B0604020202020204"/>
                <a:ea typeface="+mn-ea"/>
                <a:cs typeface="+mn-cs"/>
              </a:rPr>
              <a:t>Note:</a:t>
            </a:r>
          </a:p>
          <a:p>
            <a:pPr marR="0" lvl="0" algn="l" defTabSz="914400" rtl="0" eaLnBrk="1" fontAlgn="auto" latinLnBrk="0" hangingPunct="1">
              <a:lnSpc>
                <a:spcPct val="100000"/>
              </a:lnSpc>
              <a:spcBef>
                <a:spcPts val="0"/>
              </a:spcBef>
              <a:spcAft>
                <a:spcPts val="0"/>
              </a:spcAft>
              <a:buClrTx/>
              <a:buSzTx/>
              <a:tabLst/>
              <a:defRPr/>
            </a:pPr>
            <a:r>
              <a:rPr lang="en-US" dirty="0">
                <a:solidFill>
                  <a:schemeClr val="tx1"/>
                </a:solidFill>
                <a:latin typeface="Arial" panose="020B0604020202020204"/>
              </a:rPr>
              <a:t>1. </a:t>
            </a:r>
            <a:r>
              <a:rPr kumimoji="0" lang="en-US" i="1" u="none" strike="noStrike" kern="1200" cap="none" spc="0" normalizeH="0" baseline="0" noProof="0" dirty="0">
                <a:ln>
                  <a:noFill/>
                </a:ln>
                <a:solidFill>
                  <a:schemeClr val="tx1"/>
                </a:solidFill>
                <a:effectLst/>
                <a:uLnTx/>
                <a:uFillTx/>
                <a:latin typeface="Arial" panose="020B0604020202020204"/>
                <a:ea typeface="+mn-ea"/>
                <a:cs typeface="+mn-cs"/>
              </a:rPr>
              <a:t>Source: Bloomberg, as of closing of 11 May 2026</a:t>
            </a:r>
          </a:p>
        </p:txBody>
      </p:sp>
      <p:pic>
        <p:nvPicPr>
          <p:cNvPr id="2" name="Picture 23" descr="A blue and black sign with different symbols&#10;&#10;Description automatically generated with medium confidence">
            <a:extLst>
              <a:ext uri="{FF2B5EF4-FFF2-40B4-BE49-F238E27FC236}">
                <a16:creationId xmlns:a16="http://schemas.microsoft.com/office/drawing/2014/main" id="{19436779-C2F4-BABF-6939-D3BCBF15D3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05366" y="1127620"/>
            <a:ext cx="765466" cy="352234"/>
          </a:xfrm>
          <a:prstGeom prst="rect">
            <a:avLst/>
          </a:prstGeom>
        </p:spPr>
      </p:pic>
      <p:pic>
        <p:nvPicPr>
          <p:cNvPr id="4" name="Picture 49">
            <a:extLst>
              <a:ext uri="{FF2B5EF4-FFF2-40B4-BE49-F238E27FC236}">
                <a16:creationId xmlns:a16="http://schemas.microsoft.com/office/drawing/2014/main" id="{DDB1ADF0-5F97-CEB0-0C5F-FCCE1B3E0B06}"/>
              </a:ext>
            </a:extLst>
          </p:cNvPr>
          <p:cNvPicPr>
            <a:picLocks noChangeAspect="1"/>
          </p:cNvPicPr>
          <p:nvPr/>
        </p:nvPicPr>
        <p:blipFill>
          <a:blip r:embed="rId6"/>
          <a:stretch>
            <a:fillRect/>
          </a:stretch>
        </p:blipFill>
        <p:spPr>
          <a:xfrm>
            <a:off x="2949758" y="1127621"/>
            <a:ext cx="1076272" cy="352234"/>
          </a:xfrm>
          <a:prstGeom prst="rect">
            <a:avLst/>
          </a:prstGeom>
        </p:spPr>
      </p:pic>
    </p:spTree>
    <p:extLst>
      <p:ext uri="{BB962C8B-B14F-4D97-AF65-F5344CB8AC3E}">
        <p14:creationId xmlns:p14="http://schemas.microsoft.com/office/powerpoint/2010/main" val="5808382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0A348-538E-77EB-3090-92670CB1C099}"/>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C0D0D951-2446-C5D6-339D-6B43D9317CA0}"/>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38</a:t>
            </a:fld>
            <a:endParaRPr lang="en-US" altLang="en-US" b="0">
              <a:solidFill>
                <a:srgbClr val="000000"/>
              </a:solidFill>
            </a:endParaRPr>
          </a:p>
        </p:txBody>
      </p:sp>
      <p:sp>
        <p:nvSpPr>
          <p:cNvPr id="6" name="標題 5">
            <a:extLst>
              <a:ext uri="{FF2B5EF4-FFF2-40B4-BE49-F238E27FC236}">
                <a16:creationId xmlns:a16="http://schemas.microsoft.com/office/drawing/2014/main" id="{2534E41C-BD6C-598D-2A38-6EF29AA6572E}"/>
              </a:ext>
            </a:extLst>
          </p:cNvPr>
          <p:cNvSpPr>
            <a:spLocks noGrp="1"/>
          </p:cNvSpPr>
          <p:nvPr>
            <p:ph type="title"/>
          </p:nvPr>
        </p:nvSpPr>
        <p:spPr/>
        <p:txBody>
          <a:bodyPr/>
          <a:lstStyle/>
          <a:p>
            <a:r>
              <a:rPr lang="en-US" dirty="0"/>
              <a:t>Listing Venue Consideration Summary</a:t>
            </a:r>
          </a:p>
        </p:txBody>
      </p:sp>
      <p:sp>
        <p:nvSpPr>
          <p:cNvPr id="2" name="Rectangle 5">
            <a:extLst>
              <a:ext uri="{FF2B5EF4-FFF2-40B4-BE49-F238E27FC236}">
                <a16:creationId xmlns:a16="http://schemas.microsoft.com/office/drawing/2014/main" id="{CBCBB3C9-1242-90BA-D868-117576F7D937}"/>
              </a:ext>
            </a:extLst>
          </p:cNvPr>
          <p:cNvSpPr/>
          <p:nvPr/>
        </p:nvSpPr>
        <p:spPr bwMode="auto">
          <a:xfrm>
            <a:off x="686919" y="1296926"/>
            <a:ext cx="1647084" cy="261610"/>
          </a:xfrm>
          <a:prstGeom prst="rect">
            <a:avLst/>
          </a:prstGeom>
          <a:solidFill>
            <a:schemeClr val="accent1"/>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SG" sz="1000" i="0" u="none" strike="noStrike" kern="0" cap="none" spc="0" normalizeH="0" baseline="0" noProof="0" dirty="0">
                <a:ln>
                  <a:noFill/>
                </a:ln>
                <a:solidFill>
                  <a:prstClr val="white"/>
                </a:solidFill>
                <a:effectLst/>
                <a:uLnTx/>
                <a:uFillTx/>
                <a:latin typeface="Arial" panose="020B0604020202020204" pitchFamily="34" charset="0"/>
                <a:cs typeface="+mn-cs"/>
              </a:rPr>
              <a:t>Key Factors</a:t>
            </a:r>
          </a:p>
        </p:txBody>
      </p:sp>
      <p:sp>
        <p:nvSpPr>
          <p:cNvPr id="5" name="Rectangle 14">
            <a:extLst>
              <a:ext uri="{FF2B5EF4-FFF2-40B4-BE49-F238E27FC236}">
                <a16:creationId xmlns:a16="http://schemas.microsoft.com/office/drawing/2014/main" id="{6EAB907A-71CC-EE47-B881-656672511E57}"/>
              </a:ext>
            </a:extLst>
          </p:cNvPr>
          <p:cNvSpPr/>
          <p:nvPr/>
        </p:nvSpPr>
        <p:spPr bwMode="auto">
          <a:xfrm>
            <a:off x="686919" y="3807977"/>
            <a:ext cx="1647084" cy="785099"/>
          </a:xfrm>
          <a:prstGeom prst="rect">
            <a:avLst/>
          </a:prstGeom>
          <a:solidFill>
            <a:schemeClr val="bg1">
              <a:lumMod val="95000"/>
            </a:schemeClr>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SG" sz="1000" dirty="0">
                <a:solidFill>
                  <a:schemeClr val="tx1"/>
                </a:solidFill>
                <a:latin typeface="Arial" panose="020B0604020202020204" pitchFamily="34" charset="0"/>
                <a:cs typeface="+mn-cs"/>
              </a:rPr>
              <a:t>Investor Accessibility  </a:t>
            </a:r>
          </a:p>
        </p:txBody>
      </p:sp>
      <p:sp>
        <p:nvSpPr>
          <p:cNvPr id="7" name="Oval 15">
            <a:extLst>
              <a:ext uri="{FF2B5EF4-FFF2-40B4-BE49-F238E27FC236}">
                <a16:creationId xmlns:a16="http://schemas.microsoft.com/office/drawing/2014/main" id="{D08A6E27-1003-5419-491F-47E37FDAEA32}"/>
              </a:ext>
            </a:extLst>
          </p:cNvPr>
          <p:cNvSpPr/>
          <p:nvPr/>
        </p:nvSpPr>
        <p:spPr bwMode="auto">
          <a:xfrm>
            <a:off x="563880" y="3807978"/>
            <a:ext cx="288228" cy="288228"/>
          </a:xfrm>
          <a:prstGeom prst="ellipse">
            <a:avLst/>
          </a:prstGeom>
          <a:solidFill>
            <a:sysClr val="window" lastClr="FFFFFF"/>
          </a:solidFill>
          <a:ln w="19050"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SG" sz="1200" i="0" u="none" strike="noStrike" kern="0" cap="none" spc="0" normalizeH="0" baseline="0" noProof="0">
                <a:ln>
                  <a:noFill/>
                </a:ln>
                <a:solidFill>
                  <a:schemeClr val="accent1"/>
                </a:solidFill>
                <a:effectLst/>
                <a:uLnTx/>
                <a:uFillTx/>
                <a:latin typeface="Arial" panose="020B0604020202020204" pitchFamily="34" charset="0"/>
                <a:cs typeface="+mn-cs"/>
              </a:rPr>
              <a:t>3</a:t>
            </a:r>
          </a:p>
        </p:txBody>
      </p:sp>
      <p:sp>
        <p:nvSpPr>
          <p:cNvPr id="20" name="Rectangle 31">
            <a:extLst>
              <a:ext uri="{FF2B5EF4-FFF2-40B4-BE49-F238E27FC236}">
                <a16:creationId xmlns:a16="http://schemas.microsoft.com/office/drawing/2014/main" id="{E94D297C-266D-E92C-18BC-3540232BD2ED}"/>
              </a:ext>
            </a:extLst>
          </p:cNvPr>
          <p:cNvSpPr/>
          <p:nvPr/>
        </p:nvSpPr>
        <p:spPr bwMode="auto">
          <a:xfrm>
            <a:off x="686919" y="1995781"/>
            <a:ext cx="1647084" cy="720743"/>
          </a:xfrm>
          <a:prstGeom prst="rect">
            <a:avLst/>
          </a:prstGeom>
          <a:solidFill>
            <a:schemeClr val="bg1">
              <a:lumMod val="95000"/>
            </a:schemeClr>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SG" sz="1000" dirty="0">
                <a:solidFill>
                  <a:schemeClr val="tx1"/>
                </a:solidFill>
                <a:latin typeface="Arial" panose="020B0604020202020204" pitchFamily="34" charset="0"/>
                <a:cs typeface="+mn-cs"/>
              </a:rPr>
              <a:t>Holistic Overview</a:t>
            </a:r>
          </a:p>
        </p:txBody>
      </p:sp>
      <p:sp>
        <p:nvSpPr>
          <p:cNvPr id="21" name="Oval 32">
            <a:extLst>
              <a:ext uri="{FF2B5EF4-FFF2-40B4-BE49-F238E27FC236}">
                <a16:creationId xmlns:a16="http://schemas.microsoft.com/office/drawing/2014/main" id="{19D48FE7-E624-1320-439F-7A4B66484437}"/>
              </a:ext>
            </a:extLst>
          </p:cNvPr>
          <p:cNvSpPr/>
          <p:nvPr/>
        </p:nvSpPr>
        <p:spPr bwMode="auto">
          <a:xfrm>
            <a:off x="563880" y="1987438"/>
            <a:ext cx="288228" cy="288228"/>
          </a:xfrm>
          <a:prstGeom prst="ellipse">
            <a:avLst/>
          </a:prstGeom>
          <a:solidFill>
            <a:sysClr val="window" lastClr="FFFFFF"/>
          </a:solidFill>
          <a:ln w="19050"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SG" sz="1200" i="0" u="none" strike="noStrike" kern="0" cap="none" spc="0" normalizeH="0" baseline="0" noProof="0">
                <a:ln>
                  <a:noFill/>
                </a:ln>
                <a:solidFill>
                  <a:schemeClr val="accent1"/>
                </a:solidFill>
                <a:effectLst/>
                <a:uLnTx/>
                <a:uFillTx/>
                <a:latin typeface="Arial" panose="020B0604020202020204" pitchFamily="34" charset="0"/>
                <a:cs typeface="+mn-cs"/>
              </a:rPr>
              <a:t>1</a:t>
            </a:r>
          </a:p>
        </p:txBody>
      </p:sp>
      <p:sp>
        <p:nvSpPr>
          <p:cNvPr id="22" name="Rectangle 46">
            <a:extLst>
              <a:ext uri="{FF2B5EF4-FFF2-40B4-BE49-F238E27FC236}">
                <a16:creationId xmlns:a16="http://schemas.microsoft.com/office/drawing/2014/main" id="{1A5FF442-98BB-897E-0542-38D7C1EA3CD1}"/>
              </a:ext>
            </a:extLst>
          </p:cNvPr>
          <p:cNvSpPr/>
          <p:nvPr/>
        </p:nvSpPr>
        <p:spPr bwMode="auto">
          <a:xfrm>
            <a:off x="686919" y="2897708"/>
            <a:ext cx="1647084" cy="736950"/>
          </a:xfrm>
          <a:prstGeom prst="rect">
            <a:avLst/>
          </a:prstGeom>
          <a:solidFill>
            <a:schemeClr val="bg1">
              <a:lumMod val="95000"/>
            </a:schemeClr>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hangingPunct="0"/>
            <a:r>
              <a:rPr lang="en-US" sz="1000" dirty="0">
                <a:solidFill>
                  <a:schemeClr val="tx1"/>
                </a:solidFill>
                <a:latin typeface="Arial" panose="020B0604020202020204" pitchFamily="34" charset="0"/>
                <a:cs typeface="+mn-cs"/>
              </a:rPr>
              <a:t>Capital Market Considerations</a:t>
            </a:r>
            <a:endParaRPr lang="en-SG" sz="1000" dirty="0">
              <a:solidFill>
                <a:schemeClr val="tx1"/>
              </a:solidFill>
              <a:latin typeface="Arial" panose="020B0604020202020204" pitchFamily="34" charset="0"/>
              <a:cs typeface="+mn-cs"/>
            </a:endParaRPr>
          </a:p>
        </p:txBody>
      </p:sp>
      <p:sp>
        <p:nvSpPr>
          <p:cNvPr id="23" name="Oval 47">
            <a:extLst>
              <a:ext uri="{FF2B5EF4-FFF2-40B4-BE49-F238E27FC236}">
                <a16:creationId xmlns:a16="http://schemas.microsoft.com/office/drawing/2014/main" id="{28F275F6-D353-D3D2-2C6A-EB9352D07B5A}"/>
              </a:ext>
            </a:extLst>
          </p:cNvPr>
          <p:cNvSpPr/>
          <p:nvPr/>
        </p:nvSpPr>
        <p:spPr bwMode="auto">
          <a:xfrm>
            <a:off x="563880" y="2897708"/>
            <a:ext cx="288228" cy="288228"/>
          </a:xfrm>
          <a:prstGeom prst="ellipse">
            <a:avLst/>
          </a:prstGeom>
          <a:solidFill>
            <a:sysClr val="window" lastClr="FFFFFF"/>
          </a:solidFill>
          <a:ln w="19050"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SG" sz="1200" i="0" u="none" strike="noStrike" kern="0" cap="none" spc="0" normalizeH="0" baseline="0" noProof="0">
                <a:ln>
                  <a:noFill/>
                </a:ln>
                <a:solidFill>
                  <a:schemeClr val="accent1"/>
                </a:solidFill>
                <a:effectLst/>
                <a:uLnTx/>
                <a:uFillTx/>
                <a:latin typeface="Arial" panose="020B0604020202020204" pitchFamily="34" charset="0"/>
                <a:cs typeface="+mn-cs"/>
              </a:rPr>
              <a:t>2</a:t>
            </a:r>
          </a:p>
        </p:txBody>
      </p:sp>
      <p:sp>
        <p:nvSpPr>
          <p:cNvPr id="24" name="Rectangle 61">
            <a:extLst>
              <a:ext uri="{FF2B5EF4-FFF2-40B4-BE49-F238E27FC236}">
                <a16:creationId xmlns:a16="http://schemas.microsoft.com/office/drawing/2014/main" id="{A4385812-9F05-269D-98C2-857D6D5CD1DA}"/>
              </a:ext>
            </a:extLst>
          </p:cNvPr>
          <p:cNvSpPr/>
          <p:nvPr/>
        </p:nvSpPr>
        <p:spPr bwMode="auto">
          <a:xfrm>
            <a:off x="686919" y="4718247"/>
            <a:ext cx="1647084" cy="746406"/>
          </a:xfrm>
          <a:prstGeom prst="rect">
            <a:avLst/>
          </a:prstGeom>
          <a:solidFill>
            <a:schemeClr val="bg1">
              <a:lumMod val="95000"/>
            </a:schemeClr>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eaLnBrk="0" fontAlgn="auto" hangingPunct="0">
              <a:spcBef>
                <a:spcPts val="0"/>
              </a:spcBef>
              <a:spcAft>
                <a:spcPts val="0"/>
              </a:spcAft>
            </a:pPr>
            <a:r>
              <a:rPr lang="en-SG" sz="1000" dirty="0">
                <a:solidFill>
                  <a:schemeClr val="tx1"/>
                </a:solidFill>
                <a:latin typeface="Arial" panose="020B0604020202020204" pitchFamily="34" charset="0"/>
                <a:cs typeface="+mn-cs"/>
              </a:rPr>
              <a:t>Valuation  </a:t>
            </a:r>
          </a:p>
        </p:txBody>
      </p:sp>
      <p:sp>
        <p:nvSpPr>
          <p:cNvPr id="25" name="Oval 62">
            <a:extLst>
              <a:ext uri="{FF2B5EF4-FFF2-40B4-BE49-F238E27FC236}">
                <a16:creationId xmlns:a16="http://schemas.microsoft.com/office/drawing/2014/main" id="{4B1AE37D-0B6B-CFFB-C519-FEA09D1F36DB}"/>
              </a:ext>
            </a:extLst>
          </p:cNvPr>
          <p:cNvSpPr/>
          <p:nvPr/>
        </p:nvSpPr>
        <p:spPr bwMode="auto">
          <a:xfrm>
            <a:off x="563880" y="4718248"/>
            <a:ext cx="288228" cy="288228"/>
          </a:xfrm>
          <a:prstGeom prst="ellipse">
            <a:avLst/>
          </a:prstGeom>
          <a:solidFill>
            <a:sysClr val="window" lastClr="FFFFFF"/>
          </a:solidFill>
          <a:ln w="19050"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SG" sz="1200" i="0" u="none" strike="noStrike" kern="0" cap="none" spc="0" normalizeH="0" baseline="0" noProof="0">
                <a:ln>
                  <a:noFill/>
                </a:ln>
                <a:solidFill>
                  <a:schemeClr val="accent1"/>
                </a:solidFill>
                <a:effectLst/>
                <a:uLnTx/>
                <a:uFillTx/>
                <a:latin typeface="Arial" panose="020B0604020202020204" pitchFamily="34" charset="0"/>
                <a:cs typeface="+mn-cs"/>
              </a:rPr>
              <a:t>4</a:t>
            </a:r>
          </a:p>
        </p:txBody>
      </p:sp>
      <p:sp>
        <p:nvSpPr>
          <p:cNvPr id="27" name="Rectangle 11">
            <a:extLst>
              <a:ext uri="{FF2B5EF4-FFF2-40B4-BE49-F238E27FC236}">
                <a16:creationId xmlns:a16="http://schemas.microsoft.com/office/drawing/2014/main" id="{F7BED0C5-C77E-1230-45F7-8E4B5FD82A9F}"/>
              </a:ext>
            </a:extLst>
          </p:cNvPr>
          <p:cNvSpPr/>
          <p:nvPr/>
        </p:nvSpPr>
        <p:spPr bwMode="auto">
          <a:xfrm>
            <a:off x="6952275" y="1296927"/>
            <a:ext cx="2258930" cy="252813"/>
          </a:xfrm>
          <a:prstGeom prst="rect">
            <a:avLst/>
          </a:prstGeom>
          <a:solidFill>
            <a:schemeClr val="accent1"/>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SG" sz="1000" i="0" u="none" strike="noStrike" kern="0" cap="none" spc="0" normalizeH="0" baseline="0" noProof="0">
                <a:ln>
                  <a:noFill/>
                </a:ln>
                <a:solidFill>
                  <a:prstClr val="white"/>
                </a:solidFill>
                <a:effectLst/>
                <a:uLnTx/>
                <a:uFillTx/>
                <a:latin typeface="Arial"/>
                <a:cs typeface="Arial"/>
              </a:rPr>
              <a:t>Commentary</a:t>
            </a:r>
          </a:p>
        </p:txBody>
      </p:sp>
      <p:sp>
        <p:nvSpPr>
          <p:cNvPr id="28" name="Rectangle 22">
            <a:extLst>
              <a:ext uri="{FF2B5EF4-FFF2-40B4-BE49-F238E27FC236}">
                <a16:creationId xmlns:a16="http://schemas.microsoft.com/office/drawing/2014/main" id="{02845ACF-A8B9-A6CC-0434-50154ECBE313}"/>
              </a:ext>
            </a:extLst>
          </p:cNvPr>
          <p:cNvSpPr/>
          <p:nvPr/>
        </p:nvSpPr>
        <p:spPr bwMode="auto">
          <a:xfrm>
            <a:off x="6952275" y="3812799"/>
            <a:ext cx="2266806" cy="736949"/>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just" eaLnBrk="0" fontAlgn="base" hangingPunct="0">
              <a:spcBef>
                <a:spcPct val="0"/>
              </a:spcBef>
              <a:spcAft>
                <a:spcPct val="0"/>
              </a:spcAft>
            </a:pPr>
            <a:r>
              <a:rPr lang="en-US" sz="900" b="0" dirty="0">
                <a:solidFill>
                  <a:schemeClr val="tx1"/>
                </a:solidFill>
                <a:latin typeface="Arial" panose="020B0604020202020204" pitchFamily="34" charset="0"/>
              </a:rPr>
              <a:t>Both exchanges will enable SMG to tap into a greater pool of international equity capital, however, HK has both global and Chinese investors through Stock Connect</a:t>
            </a:r>
          </a:p>
        </p:txBody>
      </p:sp>
      <p:sp>
        <p:nvSpPr>
          <p:cNvPr id="29" name="Rectangle 36">
            <a:extLst>
              <a:ext uri="{FF2B5EF4-FFF2-40B4-BE49-F238E27FC236}">
                <a16:creationId xmlns:a16="http://schemas.microsoft.com/office/drawing/2014/main" id="{F181A76E-4E0B-B959-E35B-B3888F2EB98F}"/>
              </a:ext>
            </a:extLst>
          </p:cNvPr>
          <p:cNvSpPr/>
          <p:nvPr/>
        </p:nvSpPr>
        <p:spPr bwMode="auto">
          <a:xfrm>
            <a:off x="6952275" y="1995780"/>
            <a:ext cx="2266806" cy="672309"/>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just" eaLnBrk="0" hangingPunct="0"/>
            <a:r>
              <a:rPr lang="en-US" sz="900" b="0" dirty="0">
                <a:solidFill>
                  <a:schemeClr val="tx1"/>
                </a:solidFill>
                <a:latin typeface="Arial" panose="020B0604020202020204" pitchFamily="34" charset="0"/>
              </a:rPr>
              <a:t>While Singapore serves as an ideal gateway for SMG as a local entity, a Hong Kong listing offers distinct advantages for its potential expansion into China. </a:t>
            </a:r>
          </a:p>
        </p:txBody>
      </p:sp>
      <p:sp>
        <p:nvSpPr>
          <p:cNvPr id="30" name="Rectangle 48">
            <a:extLst>
              <a:ext uri="{FF2B5EF4-FFF2-40B4-BE49-F238E27FC236}">
                <a16:creationId xmlns:a16="http://schemas.microsoft.com/office/drawing/2014/main" id="{A7EB36BC-355D-2FAE-DF6B-5D47E1528754}"/>
              </a:ext>
            </a:extLst>
          </p:cNvPr>
          <p:cNvSpPr/>
          <p:nvPr/>
        </p:nvSpPr>
        <p:spPr bwMode="auto">
          <a:xfrm>
            <a:off x="6952275" y="2897708"/>
            <a:ext cx="2266806" cy="658383"/>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just" eaLnBrk="0" hangingPunct="0"/>
            <a:r>
              <a:rPr lang="en-US" sz="900" b="0" dirty="0">
                <a:solidFill>
                  <a:schemeClr val="tx1"/>
                </a:solidFill>
                <a:latin typeface="Arial" panose="020B0604020202020204" pitchFamily="34" charset="0"/>
              </a:rPr>
              <a:t>HKEx as the top IPO listing venue, has a higher liquidity premium and trading volumes, providing a more active fund-raising platform</a:t>
            </a:r>
          </a:p>
        </p:txBody>
      </p:sp>
      <p:sp>
        <p:nvSpPr>
          <p:cNvPr id="31" name="Rectangle 66">
            <a:extLst>
              <a:ext uri="{FF2B5EF4-FFF2-40B4-BE49-F238E27FC236}">
                <a16:creationId xmlns:a16="http://schemas.microsoft.com/office/drawing/2014/main" id="{A59487B3-9F6F-38FB-1959-A824341145DB}"/>
              </a:ext>
            </a:extLst>
          </p:cNvPr>
          <p:cNvSpPr/>
          <p:nvPr/>
        </p:nvSpPr>
        <p:spPr bwMode="auto">
          <a:xfrm>
            <a:off x="6952275" y="4726590"/>
            <a:ext cx="2266806" cy="736948"/>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just" eaLnBrk="0" fontAlgn="base" hangingPunct="0">
              <a:spcBef>
                <a:spcPct val="0"/>
              </a:spcBef>
              <a:spcAft>
                <a:spcPct val="0"/>
              </a:spcAft>
            </a:pPr>
            <a:r>
              <a:rPr lang="en-US" sz="900" b="0" dirty="0">
                <a:solidFill>
                  <a:schemeClr val="tx1"/>
                </a:solidFill>
                <a:latin typeface="Arial" panose="020B0604020202020204" pitchFamily="34" charset="0"/>
              </a:rPr>
              <a:t>SMG’s integrated healthcare, IVF, and stem cell businesses offer a compelling investor narrative, which drives premium valuations within Hong Kong's favored healthcare capital market.</a:t>
            </a:r>
          </a:p>
        </p:txBody>
      </p:sp>
      <p:sp>
        <p:nvSpPr>
          <p:cNvPr id="32" name="Rectangle 4">
            <a:extLst>
              <a:ext uri="{FF2B5EF4-FFF2-40B4-BE49-F238E27FC236}">
                <a16:creationId xmlns:a16="http://schemas.microsoft.com/office/drawing/2014/main" id="{4D3B0596-A40B-7AEE-98F0-B45BAD3406A8}"/>
              </a:ext>
            </a:extLst>
          </p:cNvPr>
          <p:cNvSpPr/>
          <p:nvPr/>
        </p:nvSpPr>
        <p:spPr bwMode="auto">
          <a:xfrm>
            <a:off x="2501026" y="1296926"/>
            <a:ext cx="4003034" cy="261610"/>
          </a:xfrm>
          <a:prstGeom prst="rect">
            <a:avLst/>
          </a:prstGeom>
          <a:solidFill>
            <a:schemeClr val="accent1"/>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SG" sz="1000" i="0" u="none" strike="noStrike" kern="0" cap="none" spc="0" normalizeH="0" baseline="0" noProof="0">
                <a:ln>
                  <a:noFill/>
                </a:ln>
                <a:solidFill>
                  <a:prstClr val="white"/>
                </a:solidFill>
                <a:effectLst/>
                <a:uLnTx/>
                <a:uFillTx/>
                <a:latin typeface="Arial" panose="020B0604020202020204" pitchFamily="34" charset="0"/>
                <a:cs typeface="+mn-cs"/>
              </a:rPr>
              <a:t>Summary</a:t>
            </a:r>
          </a:p>
        </p:txBody>
      </p:sp>
      <p:pic>
        <p:nvPicPr>
          <p:cNvPr id="33" name="Picture 7">
            <a:extLst>
              <a:ext uri="{FF2B5EF4-FFF2-40B4-BE49-F238E27FC236}">
                <a16:creationId xmlns:a16="http://schemas.microsoft.com/office/drawing/2014/main" id="{FD94C9BA-A0F1-9390-2FDD-908E686D8991}"/>
              </a:ext>
            </a:extLst>
          </p:cNvPr>
          <p:cNvPicPr>
            <a:picLocks noChangeAspect="1"/>
          </p:cNvPicPr>
          <p:nvPr/>
        </p:nvPicPr>
        <p:blipFill>
          <a:blip r:embed="rId2"/>
          <a:stretch>
            <a:fillRect/>
          </a:stretch>
        </p:blipFill>
        <p:spPr>
          <a:xfrm>
            <a:off x="3111092" y="1676805"/>
            <a:ext cx="770000" cy="252000"/>
          </a:xfrm>
          <a:prstGeom prst="rect">
            <a:avLst/>
          </a:prstGeom>
        </p:spPr>
      </p:pic>
      <p:grpSp>
        <p:nvGrpSpPr>
          <p:cNvPr id="35" name="Group 16">
            <a:extLst>
              <a:ext uri="{FF2B5EF4-FFF2-40B4-BE49-F238E27FC236}">
                <a16:creationId xmlns:a16="http://schemas.microsoft.com/office/drawing/2014/main" id="{6AA119D2-E685-A633-FDE8-5A73E8878B5D}"/>
              </a:ext>
            </a:extLst>
          </p:cNvPr>
          <p:cNvGrpSpPr/>
          <p:nvPr/>
        </p:nvGrpSpPr>
        <p:grpSpPr>
          <a:xfrm>
            <a:off x="2597622" y="3816321"/>
            <a:ext cx="1731506" cy="736949"/>
            <a:chOff x="2086843" y="3671603"/>
            <a:chExt cx="935347" cy="792000"/>
          </a:xfrm>
        </p:grpSpPr>
        <p:sp>
          <p:nvSpPr>
            <p:cNvPr id="36" name="Rectangle 17">
              <a:extLst>
                <a:ext uri="{FF2B5EF4-FFF2-40B4-BE49-F238E27FC236}">
                  <a16:creationId xmlns:a16="http://schemas.microsoft.com/office/drawing/2014/main" id="{A3D3F2C1-12D1-FC94-8BC5-EA0ADE0C7956}"/>
                </a:ext>
              </a:extLst>
            </p:cNvPr>
            <p:cNvSpPr/>
            <p:nvPr/>
          </p:nvSpPr>
          <p:spPr bwMode="auto">
            <a:xfrm>
              <a:off x="2086843" y="3671603"/>
              <a:ext cx="900000" cy="792000"/>
            </a:xfrm>
            <a:prstGeom prst="rect">
              <a:avLst/>
            </a:prstGeom>
            <a:solidFill>
              <a:srgbClr val="DCEAF7"/>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SG" sz="950" b="0" i="0" u="none" strike="noStrike" kern="0" cap="none" spc="0" normalizeH="0" baseline="0" noProof="0">
                <a:ln>
                  <a:noFill/>
                </a:ln>
                <a:solidFill>
                  <a:prstClr val="white"/>
                </a:solidFill>
                <a:effectLst/>
                <a:uLnTx/>
                <a:uFillTx/>
                <a:latin typeface="Arial" panose="020B0604020202020204" pitchFamily="34" charset="0"/>
                <a:cs typeface="+mn-cs"/>
              </a:endParaRPr>
            </a:p>
          </p:txBody>
        </p:sp>
        <p:graphicFrame>
          <p:nvGraphicFramePr>
            <p:cNvPr id="37" name="Chart 18">
              <a:extLst>
                <a:ext uri="{FF2B5EF4-FFF2-40B4-BE49-F238E27FC236}">
                  <a16:creationId xmlns:a16="http://schemas.microsoft.com/office/drawing/2014/main" id="{10D11C4D-D2A7-3D43-BFA4-241778036DE8}"/>
                </a:ext>
              </a:extLst>
            </p:cNvPr>
            <p:cNvGraphicFramePr/>
            <p:nvPr/>
          </p:nvGraphicFramePr>
          <p:xfrm>
            <a:off x="2122190" y="3671603"/>
            <a:ext cx="900000" cy="792000"/>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38" name="Group 37">
            <a:extLst>
              <a:ext uri="{FF2B5EF4-FFF2-40B4-BE49-F238E27FC236}">
                <a16:creationId xmlns:a16="http://schemas.microsoft.com/office/drawing/2014/main" id="{8D00DA0F-6570-3FFE-5DCD-366110852864}"/>
              </a:ext>
            </a:extLst>
          </p:cNvPr>
          <p:cNvGrpSpPr/>
          <p:nvPr/>
        </p:nvGrpSpPr>
        <p:grpSpPr>
          <a:xfrm>
            <a:off x="4837987" y="1995781"/>
            <a:ext cx="1666072" cy="650041"/>
            <a:chOff x="2086843" y="1820521"/>
            <a:chExt cx="935348" cy="792000"/>
          </a:xfrm>
        </p:grpSpPr>
        <p:sp>
          <p:nvSpPr>
            <p:cNvPr id="39" name="Rectangle 38">
              <a:extLst>
                <a:ext uri="{FF2B5EF4-FFF2-40B4-BE49-F238E27FC236}">
                  <a16:creationId xmlns:a16="http://schemas.microsoft.com/office/drawing/2014/main" id="{DB64F9D6-C9A9-55BF-E121-FF821E87A6B4}"/>
                </a:ext>
              </a:extLst>
            </p:cNvPr>
            <p:cNvSpPr/>
            <p:nvPr/>
          </p:nvSpPr>
          <p:spPr bwMode="auto">
            <a:xfrm>
              <a:off x="2086843" y="1820521"/>
              <a:ext cx="900000" cy="792000"/>
            </a:xfrm>
            <a:prstGeom prst="rect">
              <a:avLst/>
            </a:prstGeom>
            <a:solidFill>
              <a:srgbClr val="DCEAF7"/>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SG" sz="950" b="0" i="0" u="none" strike="noStrike" kern="0" cap="none" spc="0" normalizeH="0" baseline="0" noProof="0">
                <a:ln>
                  <a:noFill/>
                </a:ln>
                <a:solidFill>
                  <a:prstClr val="white"/>
                </a:solidFill>
                <a:effectLst/>
                <a:uLnTx/>
                <a:uFillTx/>
                <a:latin typeface="Arial" panose="020B0604020202020204" pitchFamily="34" charset="0"/>
                <a:cs typeface="+mn-cs"/>
              </a:endParaRPr>
            </a:p>
          </p:txBody>
        </p:sp>
        <p:graphicFrame>
          <p:nvGraphicFramePr>
            <p:cNvPr id="40" name="Chart 39">
              <a:extLst>
                <a:ext uri="{FF2B5EF4-FFF2-40B4-BE49-F238E27FC236}">
                  <a16:creationId xmlns:a16="http://schemas.microsoft.com/office/drawing/2014/main" id="{6080B690-08AA-8031-9401-EFFD5D289BA5}"/>
                </a:ext>
              </a:extLst>
            </p:cNvPr>
            <p:cNvGraphicFramePr/>
            <p:nvPr/>
          </p:nvGraphicFramePr>
          <p:xfrm>
            <a:off x="2122191" y="1820521"/>
            <a:ext cx="900000" cy="792000"/>
          </p:xfrm>
          <a:graphic>
            <a:graphicData uri="http://schemas.openxmlformats.org/drawingml/2006/chart">
              <c:chart xmlns:c="http://schemas.openxmlformats.org/drawingml/2006/chart" xmlns:r="http://schemas.openxmlformats.org/officeDocument/2006/relationships" r:id="rId4"/>
            </a:graphicData>
          </a:graphic>
        </p:graphicFrame>
      </p:grpSp>
      <p:grpSp>
        <p:nvGrpSpPr>
          <p:cNvPr id="41" name="Group 49">
            <a:extLst>
              <a:ext uri="{FF2B5EF4-FFF2-40B4-BE49-F238E27FC236}">
                <a16:creationId xmlns:a16="http://schemas.microsoft.com/office/drawing/2014/main" id="{C4F3EAEA-DB3E-02D5-BBC4-19BF9DFE6E47}"/>
              </a:ext>
            </a:extLst>
          </p:cNvPr>
          <p:cNvGrpSpPr/>
          <p:nvPr/>
        </p:nvGrpSpPr>
        <p:grpSpPr>
          <a:xfrm>
            <a:off x="2597622" y="2906051"/>
            <a:ext cx="1731506" cy="736949"/>
            <a:chOff x="2086843" y="2761505"/>
            <a:chExt cx="935347" cy="792000"/>
          </a:xfrm>
        </p:grpSpPr>
        <p:sp>
          <p:nvSpPr>
            <p:cNvPr id="42" name="Rectangle 50">
              <a:extLst>
                <a:ext uri="{FF2B5EF4-FFF2-40B4-BE49-F238E27FC236}">
                  <a16:creationId xmlns:a16="http://schemas.microsoft.com/office/drawing/2014/main" id="{775AA5EC-CFF0-1792-D748-8D4514339699}"/>
                </a:ext>
              </a:extLst>
            </p:cNvPr>
            <p:cNvSpPr/>
            <p:nvPr/>
          </p:nvSpPr>
          <p:spPr bwMode="auto">
            <a:xfrm>
              <a:off x="2086843" y="2761505"/>
              <a:ext cx="900000" cy="792000"/>
            </a:xfrm>
            <a:prstGeom prst="rect">
              <a:avLst/>
            </a:prstGeom>
            <a:solidFill>
              <a:srgbClr val="DCEAF7"/>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SG" sz="950" b="0" i="0" u="none" strike="noStrike" kern="0" cap="none" spc="0" normalizeH="0" baseline="0" noProof="0">
                <a:ln>
                  <a:noFill/>
                </a:ln>
                <a:solidFill>
                  <a:prstClr val="white"/>
                </a:solidFill>
                <a:effectLst/>
                <a:uLnTx/>
                <a:uFillTx/>
                <a:latin typeface="Arial" panose="020B0604020202020204" pitchFamily="34" charset="0"/>
                <a:cs typeface="+mn-cs"/>
              </a:endParaRPr>
            </a:p>
          </p:txBody>
        </p:sp>
        <p:graphicFrame>
          <p:nvGraphicFramePr>
            <p:cNvPr id="43" name="Chart 51">
              <a:extLst>
                <a:ext uri="{FF2B5EF4-FFF2-40B4-BE49-F238E27FC236}">
                  <a16:creationId xmlns:a16="http://schemas.microsoft.com/office/drawing/2014/main" id="{7FB36C97-6E13-8BC8-FA43-2ADB199F9FDE}"/>
                </a:ext>
              </a:extLst>
            </p:cNvPr>
            <p:cNvGraphicFramePr/>
            <p:nvPr/>
          </p:nvGraphicFramePr>
          <p:xfrm>
            <a:off x="2122190" y="2761505"/>
            <a:ext cx="900000" cy="792000"/>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44" name="Group 63">
            <a:extLst>
              <a:ext uri="{FF2B5EF4-FFF2-40B4-BE49-F238E27FC236}">
                <a16:creationId xmlns:a16="http://schemas.microsoft.com/office/drawing/2014/main" id="{77447902-4905-785B-DC6F-91D25E473BAE}"/>
              </a:ext>
            </a:extLst>
          </p:cNvPr>
          <p:cNvGrpSpPr/>
          <p:nvPr/>
        </p:nvGrpSpPr>
        <p:grpSpPr>
          <a:xfrm>
            <a:off x="2597622" y="4726591"/>
            <a:ext cx="1731506" cy="736949"/>
            <a:chOff x="2086843" y="4590656"/>
            <a:chExt cx="935347" cy="792000"/>
          </a:xfrm>
        </p:grpSpPr>
        <p:sp>
          <p:nvSpPr>
            <p:cNvPr id="45" name="Rectangle 64">
              <a:extLst>
                <a:ext uri="{FF2B5EF4-FFF2-40B4-BE49-F238E27FC236}">
                  <a16:creationId xmlns:a16="http://schemas.microsoft.com/office/drawing/2014/main" id="{9D983AB2-25EA-1518-CC92-72E22845F4B4}"/>
                </a:ext>
              </a:extLst>
            </p:cNvPr>
            <p:cNvSpPr/>
            <p:nvPr/>
          </p:nvSpPr>
          <p:spPr bwMode="auto">
            <a:xfrm>
              <a:off x="2086843" y="4590656"/>
              <a:ext cx="900000" cy="792000"/>
            </a:xfrm>
            <a:prstGeom prst="rect">
              <a:avLst/>
            </a:prstGeom>
            <a:solidFill>
              <a:srgbClr val="DCEAF7"/>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SG" sz="950" b="0" i="0" u="none" strike="noStrike" kern="0" cap="none" spc="0" normalizeH="0" baseline="0" noProof="0">
                <a:ln>
                  <a:noFill/>
                </a:ln>
                <a:solidFill>
                  <a:prstClr val="white"/>
                </a:solidFill>
                <a:effectLst/>
                <a:uLnTx/>
                <a:uFillTx/>
                <a:latin typeface="Arial" panose="020B0604020202020204" pitchFamily="34" charset="0"/>
                <a:cs typeface="+mn-cs"/>
              </a:endParaRPr>
            </a:p>
          </p:txBody>
        </p:sp>
        <p:graphicFrame>
          <p:nvGraphicFramePr>
            <p:cNvPr id="46" name="Chart 65">
              <a:extLst>
                <a:ext uri="{FF2B5EF4-FFF2-40B4-BE49-F238E27FC236}">
                  <a16:creationId xmlns:a16="http://schemas.microsoft.com/office/drawing/2014/main" id="{7FC62724-3445-27BC-9801-ED06A7B5E128}"/>
                </a:ext>
              </a:extLst>
            </p:cNvPr>
            <p:cNvGraphicFramePr/>
            <p:nvPr/>
          </p:nvGraphicFramePr>
          <p:xfrm>
            <a:off x="2122190" y="4590656"/>
            <a:ext cx="900000" cy="792000"/>
          </p:xfrm>
          <a:graphic>
            <a:graphicData uri="http://schemas.openxmlformats.org/drawingml/2006/chart">
              <c:chart xmlns:c="http://schemas.openxmlformats.org/drawingml/2006/chart" xmlns:r="http://schemas.openxmlformats.org/officeDocument/2006/relationships" r:id="rId6"/>
            </a:graphicData>
          </a:graphic>
        </p:graphicFrame>
      </p:grpSp>
      <p:pic>
        <p:nvPicPr>
          <p:cNvPr id="47" name="Picture 9" descr="A blue and black sign with different symbols&#10;&#10;Description automatically generated with medium confidence">
            <a:extLst>
              <a:ext uri="{FF2B5EF4-FFF2-40B4-BE49-F238E27FC236}">
                <a16:creationId xmlns:a16="http://schemas.microsoft.com/office/drawing/2014/main" id="{436D1E47-75CE-6084-B122-3704B849885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36351" y="1676805"/>
            <a:ext cx="547640" cy="252000"/>
          </a:xfrm>
          <a:prstGeom prst="rect">
            <a:avLst/>
          </a:prstGeom>
        </p:spPr>
      </p:pic>
      <p:grpSp>
        <p:nvGrpSpPr>
          <p:cNvPr id="49" name="Group 19">
            <a:extLst>
              <a:ext uri="{FF2B5EF4-FFF2-40B4-BE49-F238E27FC236}">
                <a16:creationId xmlns:a16="http://schemas.microsoft.com/office/drawing/2014/main" id="{6D5E05A2-5E9C-92A3-65FB-6BFE5950E336}"/>
              </a:ext>
            </a:extLst>
          </p:cNvPr>
          <p:cNvGrpSpPr/>
          <p:nvPr/>
        </p:nvGrpSpPr>
        <p:grpSpPr>
          <a:xfrm>
            <a:off x="4845655" y="3816320"/>
            <a:ext cx="1666072" cy="736949"/>
            <a:chOff x="5976403" y="3671603"/>
            <a:chExt cx="935346" cy="792000"/>
          </a:xfrm>
        </p:grpSpPr>
        <p:sp>
          <p:nvSpPr>
            <p:cNvPr id="50" name="Rectangle 20">
              <a:extLst>
                <a:ext uri="{FF2B5EF4-FFF2-40B4-BE49-F238E27FC236}">
                  <a16:creationId xmlns:a16="http://schemas.microsoft.com/office/drawing/2014/main" id="{0AFD3678-92E5-38F8-5D0E-B74F891DF9BB}"/>
                </a:ext>
              </a:extLst>
            </p:cNvPr>
            <p:cNvSpPr/>
            <p:nvPr/>
          </p:nvSpPr>
          <p:spPr bwMode="auto">
            <a:xfrm>
              <a:off x="5976403" y="3671603"/>
              <a:ext cx="900000" cy="792000"/>
            </a:xfrm>
            <a:prstGeom prst="rect">
              <a:avLst/>
            </a:prstGeom>
            <a:solidFill>
              <a:srgbClr val="DCEAF7"/>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SG" sz="950" b="0" i="0" u="none" strike="noStrike" kern="0" cap="none" spc="0" normalizeH="0" baseline="0" noProof="0">
                <a:ln>
                  <a:noFill/>
                </a:ln>
                <a:solidFill>
                  <a:prstClr val="white"/>
                </a:solidFill>
                <a:effectLst/>
                <a:uLnTx/>
                <a:uFillTx/>
                <a:latin typeface="Arial" panose="020B0604020202020204" pitchFamily="34" charset="0"/>
                <a:cs typeface="+mn-cs"/>
              </a:endParaRPr>
            </a:p>
          </p:txBody>
        </p:sp>
        <p:graphicFrame>
          <p:nvGraphicFramePr>
            <p:cNvPr id="51" name="Chart 21">
              <a:extLst>
                <a:ext uri="{FF2B5EF4-FFF2-40B4-BE49-F238E27FC236}">
                  <a16:creationId xmlns:a16="http://schemas.microsoft.com/office/drawing/2014/main" id="{C1DDA006-E921-B43C-CAF7-DC1268E8B757}"/>
                </a:ext>
              </a:extLst>
            </p:cNvPr>
            <p:cNvGraphicFramePr/>
            <p:nvPr/>
          </p:nvGraphicFramePr>
          <p:xfrm>
            <a:off x="6011749" y="3671603"/>
            <a:ext cx="900000" cy="792000"/>
          </p:xfrm>
          <a:graphic>
            <a:graphicData uri="http://schemas.openxmlformats.org/drawingml/2006/chart">
              <c:chart xmlns:c="http://schemas.openxmlformats.org/drawingml/2006/chart" xmlns:r="http://schemas.openxmlformats.org/officeDocument/2006/relationships" r:id="rId8"/>
            </a:graphicData>
          </a:graphic>
        </p:graphicFrame>
      </p:grpSp>
      <p:grpSp>
        <p:nvGrpSpPr>
          <p:cNvPr id="52" name="Group 55">
            <a:extLst>
              <a:ext uri="{FF2B5EF4-FFF2-40B4-BE49-F238E27FC236}">
                <a16:creationId xmlns:a16="http://schemas.microsoft.com/office/drawing/2014/main" id="{54DFF5CD-B279-ADA2-4B43-146489FA7A21}"/>
              </a:ext>
            </a:extLst>
          </p:cNvPr>
          <p:cNvGrpSpPr/>
          <p:nvPr/>
        </p:nvGrpSpPr>
        <p:grpSpPr>
          <a:xfrm>
            <a:off x="4845655" y="2906050"/>
            <a:ext cx="1666072" cy="650041"/>
            <a:chOff x="5976403" y="2761505"/>
            <a:chExt cx="935346" cy="792000"/>
          </a:xfrm>
        </p:grpSpPr>
        <p:sp>
          <p:nvSpPr>
            <p:cNvPr id="53" name="Rectangle 56">
              <a:extLst>
                <a:ext uri="{FF2B5EF4-FFF2-40B4-BE49-F238E27FC236}">
                  <a16:creationId xmlns:a16="http://schemas.microsoft.com/office/drawing/2014/main" id="{D1B0CDC5-20EF-0ACE-EDA2-947FCC0BA0DA}"/>
                </a:ext>
              </a:extLst>
            </p:cNvPr>
            <p:cNvSpPr/>
            <p:nvPr/>
          </p:nvSpPr>
          <p:spPr bwMode="auto">
            <a:xfrm>
              <a:off x="5976403" y="2761505"/>
              <a:ext cx="900000" cy="792000"/>
            </a:xfrm>
            <a:prstGeom prst="rect">
              <a:avLst/>
            </a:prstGeom>
            <a:solidFill>
              <a:srgbClr val="DCEAF7"/>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SG" sz="950" b="0" i="0" u="none" strike="noStrike" kern="0" cap="none" spc="0" normalizeH="0" baseline="0" noProof="0">
                <a:ln>
                  <a:noFill/>
                </a:ln>
                <a:solidFill>
                  <a:prstClr val="white"/>
                </a:solidFill>
                <a:effectLst/>
                <a:uLnTx/>
                <a:uFillTx/>
                <a:latin typeface="Arial" panose="020B0604020202020204" pitchFamily="34" charset="0"/>
                <a:cs typeface="+mn-cs"/>
              </a:endParaRPr>
            </a:p>
          </p:txBody>
        </p:sp>
        <p:graphicFrame>
          <p:nvGraphicFramePr>
            <p:cNvPr id="54" name="Chart 57">
              <a:extLst>
                <a:ext uri="{FF2B5EF4-FFF2-40B4-BE49-F238E27FC236}">
                  <a16:creationId xmlns:a16="http://schemas.microsoft.com/office/drawing/2014/main" id="{D51B080D-305C-6706-0084-1A526B62FC7B}"/>
                </a:ext>
              </a:extLst>
            </p:cNvPr>
            <p:cNvGraphicFramePr/>
            <p:nvPr/>
          </p:nvGraphicFramePr>
          <p:xfrm>
            <a:off x="6011749" y="2761505"/>
            <a:ext cx="900000" cy="792000"/>
          </p:xfrm>
          <a:graphic>
            <a:graphicData uri="http://schemas.openxmlformats.org/drawingml/2006/chart">
              <c:chart xmlns:c="http://schemas.openxmlformats.org/drawingml/2006/chart" xmlns:r="http://schemas.openxmlformats.org/officeDocument/2006/relationships" r:id="rId9"/>
            </a:graphicData>
          </a:graphic>
        </p:graphicFrame>
      </p:grpSp>
      <p:grpSp>
        <p:nvGrpSpPr>
          <p:cNvPr id="55" name="Group 70">
            <a:extLst>
              <a:ext uri="{FF2B5EF4-FFF2-40B4-BE49-F238E27FC236}">
                <a16:creationId xmlns:a16="http://schemas.microsoft.com/office/drawing/2014/main" id="{8249C469-D11F-3368-4C98-B78EEEB2C3EE}"/>
              </a:ext>
            </a:extLst>
          </p:cNvPr>
          <p:cNvGrpSpPr/>
          <p:nvPr/>
        </p:nvGrpSpPr>
        <p:grpSpPr>
          <a:xfrm>
            <a:off x="4845655" y="4726590"/>
            <a:ext cx="1666072" cy="736949"/>
            <a:chOff x="5976403" y="4590656"/>
            <a:chExt cx="935346" cy="792000"/>
          </a:xfrm>
        </p:grpSpPr>
        <p:sp>
          <p:nvSpPr>
            <p:cNvPr id="56" name="Rectangle 71">
              <a:extLst>
                <a:ext uri="{FF2B5EF4-FFF2-40B4-BE49-F238E27FC236}">
                  <a16:creationId xmlns:a16="http://schemas.microsoft.com/office/drawing/2014/main" id="{38AADD56-F5BA-930C-BCC3-3B3C414576D4}"/>
                </a:ext>
              </a:extLst>
            </p:cNvPr>
            <p:cNvSpPr/>
            <p:nvPr/>
          </p:nvSpPr>
          <p:spPr bwMode="auto">
            <a:xfrm>
              <a:off x="5976403" y="4590656"/>
              <a:ext cx="900000" cy="792000"/>
            </a:xfrm>
            <a:prstGeom prst="rect">
              <a:avLst/>
            </a:prstGeom>
            <a:solidFill>
              <a:srgbClr val="DCEAF7"/>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SG" sz="950" b="0" i="0" u="none" strike="noStrike" kern="0" cap="none" spc="0" normalizeH="0" baseline="0" noProof="0">
                <a:ln>
                  <a:noFill/>
                </a:ln>
                <a:solidFill>
                  <a:prstClr val="white"/>
                </a:solidFill>
                <a:effectLst/>
                <a:uLnTx/>
                <a:uFillTx/>
                <a:latin typeface="Arial" panose="020B0604020202020204" pitchFamily="34" charset="0"/>
                <a:cs typeface="+mn-cs"/>
              </a:endParaRPr>
            </a:p>
          </p:txBody>
        </p:sp>
        <p:graphicFrame>
          <p:nvGraphicFramePr>
            <p:cNvPr id="57" name="Chart 72">
              <a:extLst>
                <a:ext uri="{FF2B5EF4-FFF2-40B4-BE49-F238E27FC236}">
                  <a16:creationId xmlns:a16="http://schemas.microsoft.com/office/drawing/2014/main" id="{ADC5EE33-A0AE-891E-CE33-4565D8ED879C}"/>
                </a:ext>
              </a:extLst>
            </p:cNvPr>
            <p:cNvGraphicFramePr/>
            <p:nvPr/>
          </p:nvGraphicFramePr>
          <p:xfrm>
            <a:off x="6011749" y="4590656"/>
            <a:ext cx="900000" cy="792000"/>
          </p:xfrm>
          <a:graphic>
            <a:graphicData uri="http://schemas.openxmlformats.org/drawingml/2006/chart">
              <c:chart xmlns:c="http://schemas.openxmlformats.org/drawingml/2006/chart" xmlns:r="http://schemas.openxmlformats.org/officeDocument/2006/relationships" r:id="rId10"/>
            </a:graphicData>
          </a:graphic>
        </p:graphicFrame>
      </p:grpSp>
      <p:graphicFrame>
        <p:nvGraphicFramePr>
          <p:cNvPr id="8" name="Chart 57">
            <a:extLst>
              <a:ext uri="{FF2B5EF4-FFF2-40B4-BE49-F238E27FC236}">
                <a16:creationId xmlns:a16="http://schemas.microsoft.com/office/drawing/2014/main" id="{9CBD7E69-C1C7-31F0-7F51-9BADDDCE6F50}"/>
              </a:ext>
            </a:extLst>
          </p:cNvPr>
          <p:cNvGraphicFramePr/>
          <p:nvPr>
            <p:extLst>
              <p:ext uri="{D42A27DB-BD31-4B8C-83A1-F6EECF244321}">
                <p14:modId xmlns:p14="http://schemas.microsoft.com/office/powerpoint/2010/main" val="1452419812"/>
              </p:ext>
            </p:extLst>
          </p:nvPr>
        </p:nvGraphicFramePr>
        <p:xfrm>
          <a:off x="4845655" y="1988633"/>
          <a:ext cx="1603112" cy="736949"/>
        </p:xfrm>
        <a:graphic>
          <a:graphicData uri="http://schemas.openxmlformats.org/drawingml/2006/chart">
            <c:chart xmlns:c="http://schemas.openxmlformats.org/drawingml/2006/chart" xmlns:r="http://schemas.openxmlformats.org/officeDocument/2006/relationships" r:id="rId11"/>
          </a:graphicData>
        </a:graphic>
      </p:graphicFrame>
      <p:grpSp>
        <p:nvGrpSpPr>
          <p:cNvPr id="9" name="Group 49">
            <a:extLst>
              <a:ext uri="{FF2B5EF4-FFF2-40B4-BE49-F238E27FC236}">
                <a16:creationId xmlns:a16="http://schemas.microsoft.com/office/drawing/2014/main" id="{114F6C23-653C-A96A-FB56-FC181C01D63C}"/>
              </a:ext>
            </a:extLst>
          </p:cNvPr>
          <p:cNvGrpSpPr/>
          <p:nvPr/>
        </p:nvGrpSpPr>
        <p:grpSpPr>
          <a:xfrm>
            <a:off x="2610641" y="1988633"/>
            <a:ext cx="1731506" cy="736949"/>
            <a:chOff x="2086843" y="2761505"/>
            <a:chExt cx="935347" cy="792000"/>
          </a:xfrm>
        </p:grpSpPr>
        <p:sp>
          <p:nvSpPr>
            <p:cNvPr id="10" name="Rectangle 50">
              <a:extLst>
                <a:ext uri="{FF2B5EF4-FFF2-40B4-BE49-F238E27FC236}">
                  <a16:creationId xmlns:a16="http://schemas.microsoft.com/office/drawing/2014/main" id="{0B1BD72B-8B4E-7B25-7C8C-5820A0DD424F}"/>
                </a:ext>
              </a:extLst>
            </p:cNvPr>
            <p:cNvSpPr/>
            <p:nvPr/>
          </p:nvSpPr>
          <p:spPr bwMode="auto">
            <a:xfrm>
              <a:off x="2086843" y="2761505"/>
              <a:ext cx="900000" cy="792000"/>
            </a:xfrm>
            <a:prstGeom prst="rect">
              <a:avLst/>
            </a:prstGeom>
            <a:solidFill>
              <a:srgbClr val="DCEAF7"/>
            </a:solidFill>
            <a:ln>
              <a:solidFill>
                <a:schemeClr val="accent1"/>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SG" sz="950" b="0" i="0" u="none" strike="noStrike" kern="0" cap="none" spc="0" normalizeH="0" baseline="0" noProof="0">
                <a:ln>
                  <a:noFill/>
                </a:ln>
                <a:solidFill>
                  <a:prstClr val="white"/>
                </a:solidFill>
                <a:effectLst/>
                <a:uLnTx/>
                <a:uFillTx/>
                <a:latin typeface="Arial" panose="020B0604020202020204" pitchFamily="34" charset="0"/>
                <a:cs typeface="+mn-cs"/>
              </a:endParaRPr>
            </a:p>
          </p:txBody>
        </p:sp>
        <p:graphicFrame>
          <p:nvGraphicFramePr>
            <p:cNvPr id="11" name="Chart 51">
              <a:extLst>
                <a:ext uri="{FF2B5EF4-FFF2-40B4-BE49-F238E27FC236}">
                  <a16:creationId xmlns:a16="http://schemas.microsoft.com/office/drawing/2014/main" id="{D646F964-F790-8EE5-99A9-06FBD940FCE4}"/>
                </a:ext>
              </a:extLst>
            </p:cNvPr>
            <p:cNvGraphicFramePr/>
            <p:nvPr>
              <p:extLst>
                <p:ext uri="{D42A27DB-BD31-4B8C-83A1-F6EECF244321}">
                  <p14:modId xmlns:p14="http://schemas.microsoft.com/office/powerpoint/2010/main" val="2965160713"/>
                </p:ext>
              </p:extLst>
            </p:nvPr>
          </p:nvGraphicFramePr>
          <p:xfrm>
            <a:off x="2122190" y="2761505"/>
            <a:ext cx="900000" cy="792000"/>
          </p:xfrm>
          <a:graphic>
            <a:graphicData uri="http://schemas.openxmlformats.org/drawingml/2006/chart">
              <c:chart xmlns:c="http://schemas.openxmlformats.org/drawingml/2006/chart" xmlns:r="http://schemas.openxmlformats.org/officeDocument/2006/relationships" r:id="rId12"/>
            </a:graphicData>
          </a:graphic>
        </p:graphicFrame>
      </p:grpSp>
      <p:graphicFrame>
        <p:nvGraphicFramePr>
          <p:cNvPr id="13" name="Chart 39">
            <a:extLst>
              <a:ext uri="{FF2B5EF4-FFF2-40B4-BE49-F238E27FC236}">
                <a16:creationId xmlns:a16="http://schemas.microsoft.com/office/drawing/2014/main" id="{85F32302-AC48-10E3-3AEB-A83CCB1446F0}"/>
              </a:ext>
            </a:extLst>
          </p:cNvPr>
          <p:cNvGraphicFramePr/>
          <p:nvPr/>
        </p:nvGraphicFramePr>
        <p:xfrm>
          <a:off x="4877138" y="2882998"/>
          <a:ext cx="1603109" cy="736949"/>
        </p:xfrm>
        <a:graphic>
          <a:graphicData uri="http://schemas.openxmlformats.org/drawingml/2006/chart">
            <c:chart xmlns:c="http://schemas.openxmlformats.org/drawingml/2006/chart" xmlns:r="http://schemas.openxmlformats.org/officeDocument/2006/relationships" r:id="rId13"/>
          </a:graphicData>
        </a:graphic>
      </p:graphicFrame>
      <p:sp>
        <p:nvSpPr>
          <p:cNvPr id="12" name="TextBox 41">
            <a:extLst>
              <a:ext uri="{FF2B5EF4-FFF2-40B4-BE49-F238E27FC236}">
                <a16:creationId xmlns:a16="http://schemas.microsoft.com/office/drawing/2014/main" id="{401CD97A-D707-2096-4A3A-5F07179CBC5A}"/>
              </a:ext>
            </a:extLst>
          </p:cNvPr>
          <p:cNvSpPr txBox="1"/>
          <p:nvPr/>
        </p:nvSpPr>
        <p:spPr>
          <a:xfrm>
            <a:off x="717153" y="5628518"/>
            <a:ext cx="8441481" cy="294632"/>
          </a:xfrm>
          <a:prstGeom prst="rect">
            <a:avLst/>
          </a:prstGeom>
          <a:solidFill>
            <a:schemeClr val="tx2">
              <a:lumMod val="20000"/>
              <a:lumOff val="80000"/>
            </a:schemeClr>
          </a:solidFill>
          <a:effectLst>
            <a:outerShdw blurRad="50800" dist="38100" dir="2700000" algn="tl" rotWithShape="0">
              <a:prstClr val="black">
                <a:alpha val="40000"/>
              </a:prstClr>
            </a:outerShdw>
          </a:effectLst>
        </p:spPr>
        <p:txBody>
          <a:bodyPr wrap="square" rtlCol="0">
            <a:spAutoFit/>
          </a:bodyPr>
          <a:lstStyle/>
          <a:p>
            <a:pPr>
              <a:lnSpc>
                <a:spcPct val="150000"/>
              </a:lnSpc>
              <a:spcBef>
                <a:spcPts val="600"/>
              </a:spcBef>
            </a:pPr>
            <a:r>
              <a:rPr lang="en-US" sz="1000" dirty="0">
                <a:solidFill>
                  <a:schemeClr val="tx1"/>
                </a:solidFill>
              </a:rPr>
              <a:t>Conclusion</a:t>
            </a:r>
            <a:r>
              <a:rPr lang="en-US" sz="1000" b="0" dirty="0">
                <a:solidFill>
                  <a:schemeClr val="tx1"/>
                </a:solidFill>
              </a:rPr>
              <a:t>: Listing in HK would be better in terms of </a:t>
            </a:r>
            <a:r>
              <a:rPr lang="en-US" sz="1000" dirty="0">
                <a:solidFill>
                  <a:schemeClr val="tx1"/>
                </a:solidFill>
              </a:rPr>
              <a:t>(2) Capital Market Considerations, (3) Investor accessibility and (4) Valuation </a:t>
            </a:r>
          </a:p>
        </p:txBody>
      </p:sp>
    </p:spTree>
    <p:extLst>
      <p:ext uri="{BB962C8B-B14F-4D97-AF65-F5344CB8AC3E}">
        <p14:creationId xmlns:p14="http://schemas.microsoft.com/office/powerpoint/2010/main" val="4171422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E808-0594-7075-3391-A5A22E67F07A}"/>
            </a:ext>
          </a:extLst>
        </p:cNvPr>
        <p:cNvGrpSpPr/>
        <p:nvPr/>
      </p:nvGrpSpPr>
      <p:grpSpPr>
        <a:xfrm>
          <a:off x="0" y="0"/>
          <a:ext cx="0" cy="0"/>
          <a:chOff x="0" y="0"/>
          <a:chExt cx="0" cy="0"/>
        </a:xfrm>
      </p:grpSpPr>
      <p:sp>
        <p:nvSpPr>
          <p:cNvPr id="103" name="object 4">
            <a:extLst>
              <a:ext uri="{FF2B5EF4-FFF2-40B4-BE49-F238E27FC236}">
                <a16:creationId xmlns:a16="http://schemas.microsoft.com/office/drawing/2014/main" id="{1F13D8BA-BC37-072F-BE17-D0765C6E73A2}"/>
              </a:ext>
            </a:extLst>
          </p:cNvPr>
          <p:cNvSpPr/>
          <p:nvPr/>
        </p:nvSpPr>
        <p:spPr>
          <a:xfrm>
            <a:off x="6338904" y="5150522"/>
            <a:ext cx="2794910" cy="782249"/>
          </a:xfrm>
          <a:custGeom>
            <a:avLst/>
            <a:gdLst/>
            <a:ahLst/>
            <a:cxnLst/>
            <a:rect l="l" t="t" r="r" b="b"/>
            <a:pathLst>
              <a:path w="6062980" h="1289685">
                <a:moveTo>
                  <a:pt x="0" y="1289303"/>
                </a:moveTo>
                <a:lnTo>
                  <a:pt x="6062472" y="1289303"/>
                </a:lnTo>
                <a:lnTo>
                  <a:pt x="6062472" y="0"/>
                </a:lnTo>
                <a:lnTo>
                  <a:pt x="0" y="0"/>
                </a:lnTo>
                <a:lnTo>
                  <a:pt x="0" y="1289303"/>
                </a:lnTo>
                <a:close/>
              </a:path>
            </a:pathLst>
          </a:custGeom>
          <a:solidFill>
            <a:srgbClr val="FFE1E1"/>
          </a:solidFill>
        </p:spPr>
        <p:txBody>
          <a:bodyPr wrap="square" lIns="0" tIns="0" rIns="0" bIns="0" rtlCol="0"/>
          <a:lstStyle/>
          <a:p>
            <a:pPr>
              <a:spcAft>
                <a:spcPct val="200000"/>
              </a:spcAft>
              <a:buClr>
                <a:srgbClr val="BE050A"/>
              </a:buClr>
            </a:pPr>
            <a:r>
              <a:rPr lang="en-US" sz="1200" dirty="0" err="1">
                <a:solidFill>
                  <a:schemeClr val="tx1"/>
                </a:solidFill>
              </a:rPr>
              <a:t>Mirxes</a:t>
            </a:r>
            <a:r>
              <a:rPr lang="en-US" sz="1200" dirty="0">
                <a:solidFill>
                  <a:schemeClr val="tx1"/>
                </a:solidFill>
              </a:rPr>
              <a:t>, </a:t>
            </a:r>
            <a:r>
              <a:rPr lang="en-US" sz="1200" b="0" dirty="0">
                <a:solidFill>
                  <a:schemeClr val="tx1"/>
                </a:solidFill>
              </a:rPr>
              <a:t>a Singapore-based RNA-centric cancer early detection company, was included in the </a:t>
            </a:r>
            <a:r>
              <a:rPr lang="en-US" sz="1200" dirty="0">
                <a:solidFill>
                  <a:schemeClr val="tx1"/>
                </a:solidFill>
              </a:rPr>
              <a:t>Hang Seng Composite Index (HSCI), effective Sep 8, 2025</a:t>
            </a:r>
            <a:endParaRPr sz="1200" b="0" i="1" dirty="0">
              <a:solidFill>
                <a:srgbClr val="000000"/>
              </a:solidFill>
              <a:latin typeface="Arial"/>
              <a:ea typeface="DFKaiShu-GB5"/>
              <a:cs typeface="DFKaiShu-GB5" pitchFamily="65" charset="-128"/>
            </a:endParaRPr>
          </a:p>
        </p:txBody>
      </p:sp>
      <p:sp>
        <p:nvSpPr>
          <p:cNvPr id="5" name="Title 4">
            <a:extLst>
              <a:ext uri="{FF2B5EF4-FFF2-40B4-BE49-F238E27FC236}">
                <a16:creationId xmlns:a16="http://schemas.microsoft.com/office/drawing/2014/main" id="{D7289E6E-5B60-55E5-9562-54C42AA346C8}"/>
              </a:ext>
            </a:extLst>
          </p:cNvPr>
          <p:cNvSpPr>
            <a:spLocks noGrp="1"/>
          </p:cNvSpPr>
          <p:nvPr>
            <p:ph type="title"/>
          </p:nvPr>
        </p:nvSpPr>
        <p:spPr/>
        <p:txBody>
          <a:bodyPr/>
          <a:lstStyle/>
          <a:p>
            <a:r>
              <a:rPr lang="en-US" sz="2100" b="1" dirty="0"/>
              <a:t>Healthcare industry gain strong momentum in HK capital market</a:t>
            </a:r>
            <a:endParaRPr lang="en-GB" sz="2100" b="1" dirty="0"/>
          </a:p>
        </p:txBody>
      </p:sp>
      <p:sp>
        <p:nvSpPr>
          <p:cNvPr id="4" name="Slide Number Placeholder 3">
            <a:extLst>
              <a:ext uri="{FF2B5EF4-FFF2-40B4-BE49-F238E27FC236}">
                <a16:creationId xmlns:a16="http://schemas.microsoft.com/office/drawing/2014/main" id="{92503266-3884-5928-C245-0E3D7A275C13}"/>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39</a:t>
            </a:fld>
            <a:endParaRPr lang="en-US" altLang="en-US" b="0">
              <a:solidFill>
                <a:srgbClr val="000000"/>
              </a:solidFill>
            </a:endParaRPr>
          </a:p>
        </p:txBody>
      </p:sp>
      <p:graphicFrame>
        <p:nvGraphicFramePr>
          <p:cNvPr id="8" name="Chart 0">
            <a:extLst>
              <a:ext uri="{FF2B5EF4-FFF2-40B4-BE49-F238E27FC236}">
                <a16:creationId xmlns:a16="http://schemas.microsoft.com/office/drawing/2014/main" id="{A6B9B6BE-400D-5377-D3EF-183D81F3AB19}"/>
              </a:ext>
            </a:extLst>
          </p:cNvPr>
          <p:cNvGraphicFramePr/>
          <p:nvPr/>
        </p:nvGraphicFramePr>
        <p:xfrm>
          <a:off x="609789" y="1448344"/>
          <a:ext cx="4107510" cy="203964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1">
            <a:extLst>
              <a:ext uri="{FF2B5EF4-FFF2-40B4-BE49-F238E27FC236}">
                <a16:creationId xmlns:a16="http://schemas.microsoft.com/office/drawing/2014/main" id="{4D15E3DA-D40C-91A2-28D4-DA7B46061135}"/>
              </a:ext>
            </a:extLst>
          </p:cNvPr>
          <p:cNvSpPr/>
          <p:nvPr/>
        </p:nvSpPr>
        <p:spPr>
          <a:xfrm>
            <a:off x="779682" y="958850"/>
            <a:ext cx="4368194" cy="571500"/>
          </a:xfrm>
          <a:prstGeom prst="rect">
            <a:avLst/>
          </a:prstGeom>
          <a:noFill/>
          <a:ln/>
        </p:spPr>
        <p:txBody>
          <a:bodyPr wrap="none" lIns="0" tIns="0" rIns="0" bIns="0" rtlCol="0" anchor="ct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nSpc>
                <a:spcPct val="130000"/>
              </a:lnSpc>
            </a:pPr>
            <a:endParaRPr lang="en-US" sz="1200" dirty="0">
              <a:latin typeface="+mj-lt"/>
            </a:endParaRPr>
          </a:p>
        </p:txBody>
      </p:sp>
      <p:sp>
        <p:nvSpPr>
          <p:cNvPr id="14" name="Shape 5">
            <a:extLst>
              <a:ext uri="{FF2B5EF4-FFF2-40B4-BE49-F238E27FC236}">
                <a16:creationId xmlns:a16="http://schemas.microsoft.com/office/drawing/2014/main" id="{9856E43B-F2EE-754C-B6BD-967E754CCDE0}"/>
              </a:ext>
            </a:extLst>
          </p:cNvPr>
          <p:cNvSpPr/>
          <p:nvPr/>
        </p:nvSpPr>
        <p:spPr>
          <a:xfrm>
            <a:off x="5216611" y="2664940"/>
            <a:ext cx="5588000" cy="12700"/>
          </a:xfrm>
          <a:prstGeom prst="rect">
            <a:avLst/>
          </a:prstGeom>
          <a:solidFill>
            <a:srgbClr val="FFFFFF">
              <a:alpha val="18824"/>
            </a:srgbClr>
          </a:solidFill>
          <a:ln/>
        </p:spPr>
        <p:txBody>
          <a:bodyPr/>
          <a:lstStyle/>
          <a:p>
            <a:endParaRPr lang="en-US"/>
          </a:p>
        </p:txBody>
      </p:sp>
      <p:sp>
        <p:nvSpPr>
          <p:cNvPr id="15" name="Text 6">
            <a:extLst>
              <a:ext uri="{FF2B5EF4-FFF2-40B4-BE49-F238E27FC236}">
                <a16:creationId xmlns:a16="http://schemas.microsoft.com/office/drawing/2014/main" id="{0B5AC9F8-C5FE-161E-D948-7935D277FD81}"/>
              </a:ext>
            </a:extLst>
          </p:cNvPr>
          <p:cNvSpPr/>
          <p:nvPr/>
        </p:nvSpPr>
        <p:spPr>
          <a:xfrm>
            <a:off x="5319006" y="2922798"/>
            <a:ext cx="1801810" cy="762000"/>
          </a:xfrm>
          <a:prstGeom prst="rect">
            <a:avLst/>
          </a:prstGeom>
          <a:noFill/>
          <a:ln/>
        </p:spPr>
        <p:txBody>
          <a:bodyPr wrap="none" lIns="0" tIns="0" rIns="0" bIns="0" rtlCol="0" anchor="ctr"/>
          <a:lstStyle/>
          <a:p>
            <a:pPr>
              <a:lnSpc>
                <a:spcPct val="100000"/>
              </a:lnSpc>
            </a:pPr>
            <a:endParaRPr lang="en-US" sz="2000" dirty="0">
              <a:solidFill>
                <a:schemeClr val="tx1"/>
              </a:solidFill>
            </a:endParaRPr>
          </a:p>
        </p:txBody>
      </p:sp>
      <p:sp>
        <p:nvSpPr>
          <p:cNvPr id="21" name="MAStat0">
            <a:extLst>
              <a:ext uri="{FF2B5EF4-FFF2-40B4-BE49-F238E27FC236}">
                <a16:creationId xmlns:a16="http://schemas.microsoft.com/office/drawing/2014/main" id="{5AFAD1DB-254D-5ED8-4095-B05C20CA90CE}"/>
              </a:ext>
            </a:extLst>
          </p:cNvPr>
          <p:cNvSpPr/>
          <p:nvPr/>
        </p:nvSpPr>
        <p:spPr>
          <a:xfrm>
            <a:off x="584806" y="3642360"/>
            <a:ext cx="2006600" cy="1201680"/>
          </a:xfrm>
          <a:prstGeom prst="roundRect">
            <a:avLst/>
          </a:prstGeom>
          <a:noFill/>
          <a:ln w="15875" cap="flat" cmpd="sng" algn="ctr">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0" name="object 42">
            <a:extLst>
              <a:ext uri="{FF2B5EF4-FFF2-40B4-BE49-F238E27FC236}">
                <a16:creationId xmlns:a16="http://schemas.microsoft.com/office/drawing/2014/main" id="{BEFD534B-CAD1-9EDA-4928-FADED455EE32}"/>
              </a:ext>
            </a:extLst>
          </p:cNvPr>
          <p:cNvSpPr txBox="1"/>
          <p:nvPr/>
        </p:nvSpPr>
        <p:spPr>
          <a:xfrm>
            <a:off x="694795" y="3768583"/>
            <a:ext cx="1864216" cy="818173"/>
          </a:xfrm>
          <a:prstGeom prst="rect">
            <a:avLst/>
          </a:prstGeom>
        </p:spPr>
        <p:txBody>
          <a:bodyPr vert="horz" wrap="square" lIns="0" tIns="17780" rIns="0" bIns="0" rtlCol="0">
            <a:spAutoFit/>
          </a:bodyPr>
          <a:lstStyle/>
          <a:p>
            <a:pPr algn="ctr">
              <a:spcBef>
                <a:spcPts val="140"/>
              </a:spcBef>
            </a:pPr>
            <a:r>
              <a:rPr sz="1600" dirty="0">
                <a:solidFill>
                  <a:srgbClr val="FFB81C"/>
                </a:solidFill>
                <a:cs typeface="Arial"/>
              </a:rPr>
              <a:t>US$3.0bn</a:t>
            </a:r>
            <a:r>
              <a:rPr sz="1600" spc="-40" dirty="0">
                <a:solidFill>
                  <a:srgbClr val="FFB81C"/>
                </a:solidFill>
                <a:cs typeface="Arial"/>
              </a:rPr>
              <a:t> </a:t>
            </a:r>
            <a:r>
              <a:rPr sz="1600" dirty="0">
                <a:solidFill>
                  <a:srgbClr val="FFB81C"/>
                </a:solidFill>
                <a:cs typeface="Arial"/>
              </a:rPr>
              <a:t>/</a:t>
            </a:r>
            <a:r>
              <a:rPr sz="1600" spc="-60" dirty="0">
                <a:solidFill>
                  <a:srgbClr val="FFB81C"/>
                </a:solidFill>
                <a:cs typeface="Arial"/>
              </a:rPr>
              <a:t> </a:t>
            </a:r>
            <a:r>
              <a:rPr sz="1600" spc="-27" dirty="0">
                <a:solidFill>
                  <a:srgbClr val="FFB81C"/>
                </a:solidFill>
                <a:cs typeface="Arial"/>
              </a:rPr>
              <a:t>1.5bn</a:t>
            </a:r>
            <a:endParaRPr sz="1600" dirty="0">
              <a:cs typeface="Arial"/>
            </a:endParaRPr>
          </a:p>
          <a:p>
            <a:pPr marL="204888" marR="196422" algn="ctr">
              <a:spcBef>
                <a:spcPts val="27"/>
              </a:spcBef>
            </a:pPr>
            <a:r>
              <a:rPr sz="1200" dirty="0">
                <a:solidFill>
                  <a:schemeClr val="tx1"/>
                </a:solidFill>
                <a:cs typeface="Arial"/>
              </a:rPr>
              <a:t>Healthcare</a:t>
            </a:r>
            <a:r>
              <a:rPr sz="1200" baseline="24691" dirty="0">
                <a:solidFill>
                  <a:schemeClr val="tx1"/>
                </a:solidFill>
                <a:cs typeface="Arial"/>
              </a:rPr>
              <a:t>2</a:t>
            </a:r>
            <a:r>
              <a:rPr sz="1200" spc="129" baseline="24691" dirty="0">
                <a:solidFill>
                  <a:schemeClr val="tx1"/>
                </a:solidFill>
                <a:cs typeface="Arial"/>
              </a:rPr>
              <a:t> </a:t>
            </a:r>
            <a:r>
              <a:rPr sz="1200" dirty="0">
                <a:solidFill>
                  <a:schemeClr val="tx1"/>
                </a:solidFill>
                <a:cs typeface="Arial"/>
              </a:rPr>
              <a:t>/</a:t>
            </a:r>
            <a:r>
              <a:rPr sz="1200" spc="-20" dirty="0">
                <a:solidFill>
                  <a:schemeClr val="tx1"/>
                </a:solidFill>
                <a:cs typeface="Arial"/>
              </a:rPr>
              <a:t> </a:t>
            </a:r>
            <a:r>
              <a:rPr sz="1200" spc="-13" dirty="0">
                <a:solidFill>
                  <a:schemeClr val="tx1"/>
                </a:solidFill>
                <a:cs typeface="Arial"/>
              </a:rPr>
              <a:t>Biotech</a:t>
            </a:r>
            <a:r>
              <a:rPr lang="en-US" sz="1200" spc="667" dirty="0">
                <a:solidFill>
                  <a:schemeClr val="tx1"/>
                </a:solidFill>
                <a:cs typeface="Arial"/>
              </a:rPr>
              <a:t> </a:t>
            </a:r>
            <a:r>
              <a:rPr sz="1200" dirty="0">
                <a:solidFill>
                  <a:schemeClr val="tx1"/>
                </a:solidFill>
                <a:cs typeface="Arial"/>
              </a:rPr>
              <a:t>ECM</a:t>
            </a:r>
            <a:r>
              <a:rPr sz="1200" spc="-20" dirty="0">
                <a:solidFill>
                  <a:schemeClr val="tx1"/>
                </a:solidFill>
                <a:cs typeface="Arial"/>
              </a:rPr>
              <a:t> </a:t>
            </a:r>
            <a:r>
              <a:rPr sz="1200" spc="-13" dirty="0">
                <a:solidFill>
                  <a:schemeClr val="tx1"/>
                </a:solidFill>
                <a:cs typeface="Arial"/>
              </a:rPr>
              <a:t>Issuance</a:t>
            </a:r>
            <a:endParaRPr sz="1200" dirty="0">
              <a:solidFill>
                <a:schemeClr val="tx1"/>
              </a:solidFill>
              <a:cs typeface="Arial"/>
            </a:endParaRPr>
          </a:p>
        </p:txBody>
      </p:sp>
      <p:sp>
        <p:nvSpPr>
          <p:cNvPr id="27" name="MAStat0">
            <a:extLst>
              <a:ext uri="{FF2B5EF4-FFF2-40B4-BE49-F238E27FC236}">
                <a16:creationId xmlns:a16="http://schemas.microsoft.com/office/drawing/2014/main" id="{9C9A59AF-BAC1-B05D-76CD-51C83F724C64}"/>
              </a:ext>
            </a:extLst>
          </p:cNvPr>
          <p:cNvSpPr/>
          <p:nvPr/>
        </p:nvSpPr>
        <p:spPr>
          <a:xfrm>
            <a:off x="2748788" y="3642360"/>
            <a:ext cx="2006600" cy="1201680"/>
          </a:xfrm>
          <a:prstGeom prst="roundRect">
            <a:avLst/>
          </a:prstGeom>
          <a:noFill/>
          <a:ln w="15875" cap="flat" cmpd="sng" algn="ctr">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8" name="object 43">
            <a:extLst>
              <a:ext uri="{FF2B5EF4-FFF2-40B4-BE49-F238E27FC236}">
                <a16:creationId xmlns:a16="http://schemas.microsoft.com/office/drawing/2014/main" id="{CF95BA63-0EF9-5F91-B518-E5D588AD1E83}"/>
              </a:ext>
            </a:extLst>
          </p:cNvPr>
          <p:cNvSpPr txBox="1"/>
          <p:nvPr/>
        </p:nvSpPr>
        <p:spPr>
          <a:xfrm>
            <a:off x="2913433" y="3795319"/>
            <a:ext cx="1778884" cy="633507"/>
          </a:xfrm>
          <a:prstGeom prst="rect">
            <a:avLst/>
          </a:prstGeom>
        </p:spPr>
        <p:txBody>
          <a:bodyPr vert="horz" wrap="square" lIns="0" tIns="17780" rIns="0" bIns="0" rtlCol="0">
            <a:spAutoFit/>
          </a:bodyPr>
          <a:lstStyle/>
          <a:p>
            <a:pPr marL="2540" algn="ctr">
              <a:spcBef>
                <a:spcPts val="140"/>
              </a:spcBef>
            </a:pPr>
            <a:r>
              <a:rPr sz="1600" dirty="0">
                <a:solidFill>
                  <a:srgbClr val="FFB81C"/>
                </a:solidFill>
                <a:cs typeface="Arial"/>
              </a:rPr>
              <a:t>10%</a:t>
            </a:r>
            <a:r>
              <a:rPr sz="1600" spc="-33" dirty="0">
                <a:solidFill>
                  <a:srgbClr val="FFB81C"/>
                </a:solidFill>
                <a:cs typeface="Arial"/>
              </a:rPr>
              <a:t> </a:t>
            </a:r>
            <a:r>
              <a:rPr sz="1600" dirty="0">
                <a:solidFill>
                  <a:srgbClr val="FFB81C"/>
                </a:solidFill>
                <a:cs typeface="Arial"/>
              </a:rPr>
              <a:t>/</a:t>
            </a:r>
            <a:r>
              <a:rPr sz="1600" spc="-33" dirty="0">
                <a:solidFill>
                  <a:srgbClr val="FFB81C"/>
                </a:solidFill>
                <a:cs typeface="Arial"/>
              </a:rPr>
              <a:t> 5%</a:t>
            </a:r>
            <a:endParaRPr sz="1600" dirty="0">
              <a:cs typeface="Arial"/>
            </a:endParaRPr>
          </a:p>
          <a:p>
            <a:pPr marL="50799" marR="40639" indent="-847" algn="ctr">
              <a:spcBef>
                <a:spcPts val="27"/>
              </a:spcBef>
            </a:pPr>
            <a:r>
              <a:rPr sz="1200" dirty="0">
                <a:solidFill>
                  <a:schemeClr val="tx1"/>
                </a:solidFill>
                <a:cs typeface="Arial"/>
              </a:rPr>
              <a:t>HK</a:t>
            </a:r>
            <a:r>
              <a:rPr sz="1200" spc="-27" dirty="0">
                <a:solidFill>
                  <a:schemeClr val="tx1"/>
                </a:solidFill>
                <a:cs typeface="Arial"/>
              </a:rPr>
              <a:t> </a:t>
            </a:r>
            <a:r>
              <a:rPr sz="1200" dirty="0">
                <a:solidFill>
                  <a:schemeClr val="tx1"/>
                </a:solidFill>
                <a:cs typeface="Arial"/>
              </a:rPr>
              <a:t>ECM</a:t>
            </a:r>
            <a:r>
              <a:rPr sz="1200" spc="-20" dirty="0">
                <a:solidFill>
                  <a:schemeClr val="tx1"/>
                </a:solidFill>
                <a:cs typeface="Arial"/>
              </a:rPr>
              <a:t> </a:t>
            </a:r>
            <a:r>
              <a:rPr sz="1200" dirty="0">
                <a:solidFill>
                  <a:schemeClr val="tx1"/>
                </a:solidFill>
                <a:cs typeface="Arial"/>
              </a:rPr>
              <a:t>Volume</a:t>
            </a:r>
            <a:r>
              <a:rPr sz="1200" spc="-7" dirty="0">
                <a:solidFill>
                  <a:schemeClr val="tx1"/>
                </a:solidFill>
                <a:cs typeface="Arial"/>
              </a:rPr>
              <a:t> </a:t>
            </a:r>
            <a:r>
              <a:rPr sz="1200" spc="-33" dirty="0">
                <a:solidFill>
                  <a:schemeClr val="tx1"/>
                </a:solidFill>
                <a:cs typeface="Arial"/>
              </a:rPr>
              <a:t>For</a:t>
            </a:r>
            <a:r>
              <a:rPr sz="1200" spc="667" dirty="0">
                <a:solidFill>
                  <a:schemeClr val="tx1"/>
                </a:solidFill>
                <a:cs typeface="Arial"/>
              </a:rPr>
              <a:t> </a:t>
            </a:r>
            <a:r>
              <a:rPr sz="1200" dirty="0">
                <a:solidFill>
                  <a:schemeClr val="tx1"/>
                </a:solidFill>
                <a:cs typeface="Arial"/>
              </a:rPr>
              <a:t>Healthcare</a:t>
            </a:r>
            <a:r>
              <a:rPr sz="1200" baseline="24691" dirty="0">
                <a:solidFill>
                  <a:schemeClr val="tx1"/>
                </a:solidFill>
                <a:cs typeface="Arial"/>
              </a:rPr>
              <a:t>2</a:t>
            </a:r>
            <a:r>
              <a:rPr sz="1200" spc="129" baseline="24691" dirty="0">
                <a:solidFill>
                  <a:schemeClr val="tx1"/>
                </a:solidFill>
                <a:cs typeface="Arial"/>
              </a:rPr>
              <a:t> </a:t>
            </a:r>
            <a:r>
              <a:rPr sz="1200" dirty="0">
                <a:solidFill>
                  <a:schemeClr val="tx1"/>
                </a:solidFill>
                <a:cs typeface="Arial"/>
              </a:rPr>
              <a:t>/</a:t>
            </a:r>
            <a:r>
              <a:rPr sz="1200" spc="-20" dirty="0">
                <a:solidFill>
                  <a:schemeClr val="tx1"/>
                </a:solidFill>
                <a:cs typeface="Arial"/>
              </a:rPr>
              <a:t> </a:t>
            </a:r>
            <a:r>
              <a:rPr sz="1200" spc="-13" dirty="0">
                <a:solidFill>
                  <a:schemeClr val="tx1"/>
                </a:solidFill>
                <a:cs typeface="Arial"/>
              </a:rPr>
              <a:t>Biotech</a:t>
            </a:r>
            <a:endParaRPr sz="1200" dirty="0">
              <a:solidFill>
                <a:schemeClr val="tx1"/>
              </a:solidFill>
              <a:cs typeface="Arial"/>
            </a:endParaRPr>
          </a:p>
        </p:txBody>
      </p:sp>
      <p:sp>
        <p:nvSpPr>
          <p:cNvPr id="33" name="文字方塊 32">
            <a:extLst>
              <a:ext uri="{FF2B5EF4-FFF2-40B4-BE49-F238E27FC236}">
                <a16:creationId xmlns:a16="http://schemas.microsoft.com/office/drawing/2014/main" id="{9B74EF78-01C2-0F00-BA77-FA2F496E2150}"/>
              </a:ext>
            </a:extLst>
          </p:cNvPr>
          <p:cNvSpPr txBox="1"/>
          <p:nvPr/>
        </p:nvSpPr>
        <p:spPr>
          <a:xfrm rot="10800000">
            <a:off x="293713" y="1498338"/>
            <a:ext cx="338554" cy="887148"/>
          </a:xfrm>
          <a:prstGeom prst="rect">
            <a:avLst/>
          </a:prstGeom>
          <a:noFill/>
        </p:spPr>
        <p:txBody>
          <a:bodyPr vert="eaVert" wrap="square" rtlCol="0">
            <a:spAutoFit/>
          </a:bodyPr>
          <a:lstStyle/>
          <a:p>
            <a:r>
              <a:rPr lang="en-US" sz="1000" dirty="0">
                <a:solidFill>
                  <a:schemeClr val="tx1"/>
                </a:solidFill>
              </a:rPr>
              <a:t>US$ bn</a:t>
            </a:r>
          </a:p>
        </p:txBody>
      </p:sp>
      <p:grpSp>
        <p:nvGrpSpPr>
          <p:cNvPr id="35" name="object 66">
            <a:extLst>
              <a:ext uri="{FF2B5EF4-FFF2-40B4-BE49-F238E27FC236}">
                <a16:creationId xmlns:a16="http://schemas.microsoft.com/office/drawing/2014/main" id="{CABE12F4-1EB9-143A-D984-5CC1BA5722CD}"/>
              </a:ext>
            </a:extLst>
          </p:cNvPr>
          <p:cNvGrpSpPr/>
          <p:nvPr/>
        </p:nvGrpSpPr>
        <p:grpSpPr>
          <a:xfrm>
            <a:off x="5083321" y="2209177"/>
            <a:ext cx="3652247" cy="2267051"/>
            <a:chOff x="3523488" y="3059871"/>
            <a:chExt cx="2496185" cy="381828"/>
          </a:xfrm>
        </p:grpSpPr>
        <p:sp>
          <p:nvSpPr>
            <p:cNvPr id="36" name="object 67">
              <a:extLst>
                <a:ext uri="{FF2B5EF4-FFF2-40B4-BE49-F238E27FC236}">
                  <a16:creationId xmlns:a16="http://schemas.microsoft.com/office/drawing/2014/main" id="{852F4C3E-EA01-C79A-6D14-93412958C453}"/>
                </a:ext>
              </a:extLst>
            </p:cNvPr>
            <p:cNvSpPr/>
            <p:nvPr/>
          </p:nvSpPr>
          <p:spPr>
            <a:xfrm>
              <a:off x="3616452" y="3059871"/>
              <a:ext cx="2308860" cy="178636"/>
            </a:xfrm>
            <a:custGeom>
              <a:avLst/>
              <a:gdLst/>
              <a:ahLst/>
              <a:cxnLst/>
              <a:rect l="l" t="t" r="r" b="b"/>
              <a:pathLst>
                <a:path w="2308860" h="189864">
                  <a:moveTo>
                    <a:pt x="312420" y="153924"/>
                  </a:moveTo>
                  <a:lnTo>
                    <a:pt x="0" y="153924"/>
                  </a:lnTo>
                  <a:lnTo>
                    <a:pt x="0" y="189484"/>
                  </a:lnTo>
                  <a:lnTo>
                    <a:pt x="312420" y="189484"/>
                  </a:lnTo>
                  <a:lnTo>
                    <a:pt x="312420" y="153924"/>
                  </a:lnTo>
                  <a:close/>
                </a:path>
                <a:path w="2308860" h="189864">
                  <a:moveTo>
                    <a:pt x="812292" y="96012"/>
                  </a:moveTo>
                  <a:lnTo>
                    <a:pt x="499872" y="96012"/>
                  </a:lnTo>
                  <a:lnTo>
                    <a:pt x="499872" y="189484"/>
                  </a:lnTo>
                  <a:lnTo>
                    <a:pt x="812292" y="189484"/>
                  </a:lnTo>
                  <a:lnTo>
                    <a:pt x="812292" y="96012"/>
                  </a:lnTo>
                  <a:close/>
                </a:path>
                <a:path w="2308860" h="189864">
                  <a:moveTo>
                    <a:pt x="1310640" y="173736"/>
                  </a:moveTo>
                  <a:lnTo>
                    <a:pt x="999744" y="173736"/>
                  </a:lnTo>
                  <a:lnTo>
                    <a:pt x="999744" y="189484"/>
                  </a:lnTo>
                  <a:lnTo>
                    <a:pt x="1310640" y="189484"/>
                  </a:lnTo>
                  <a:lnTo>
                    <a:pt x="1310640" y="173736"/>
                  </a:lnTo>
                  <a:close/>
                </a:path>
                <a:path w="2308860" h="189864">
                  <a:moveTo>
                    <a:pt x="1810512" y="153924"/>
                  </a:moveTo>
                  <a:lnTo>
                    <a:pt x="1498092" y="153924"/>
                  </a:lnTo>
                  <a:lnTo>
                    <a:pt x="1498092" y="189484"/>
                  </a:lnTo>
                  <a:lnTo>
                    <a:pt x="1810512" y="189484"/>
                  </a:lnTo>
                  <a:lnTo>
                    <a:pt x="1810512" y="153924"/>
                  </a:lnTo>
                  <a:close/>
                </a:path>
                <a:path w="2308860" h="189864">
                  <a:moveTo>
                    <a:pt x="2308860" y="0"/>
                  </a:moveTo>
                  <a:lnTo>
                    <a:pt x="1997964" y="0"/>
                  </a:lnTo>
                  <a:lnTo>
                    <a:pt x="1997964" y="189484"/>
                  </a:lnTo>
                  <a:lnTo>
                    <a:pt x="2308860" y="189484"/>
                  </a:lnTo>
                  <a:lnTo>
                    <a:pt x="2308860" y="0"/>
                  </a:lnTo>
                  <a:close/>
                </a:path>
              </a:pathLst>
            </a:custGeom>
            <a:solidFill>
              <a:srgbClr val="C00000"/>
            </a:solidFill>
            <a:ln>
              <a:solidFill>
                <a:schemeClr val="accent1"/>
              </a:solidFill>
            </a:ln>
          </p:spPr>
          <p:txBody>
            <a:bodyPr wrap="square" lIns="0" tIns="0" rIns="0" bIns="0" rtlCol="0"/>
            <a:lstStyle/>
            <a:p>
              <a:endParaRPr sz="2133" dirty="0"/>
            </a:p>
          </p:txBody>
        </p:sp>
        <p:sp>
          <p:nvSpPr>
            <p:cNvPr id="56" name="object 68">
              <a:extLst>
                <a:ext uri="{FF2B5EF4-FFF2-40B4-BE49-F238E27FC236}">
                  <a16:creationId xmlns:a16="http://schemas.microsoft.com/office/drawing/2014/main" id="{A887EF1F-517C-2DD3-541B-79F78219077D}"/>
                </a:ext>
              </a:extLst>
            </p:cNvPr>
            <p:cNvSpPr/>
            <p:nvPr/>
          </p:nvSpPr>
          <p:spPr>
            <a:xfrm>
              <a:off x="3523488" y="3441699"/>
              <a:ext cx="2496185" cy="0"/>
            </a:xfrm>
            <a:custGeom>
              <a:avLst/>
              <a:gdLst/>
              <a:ahLst/>
              <a:cxnLst/>
              <a:rect l="l" t="t" r="r" b="b"/>
              <a:pathLst>
                <a:path w="2496185">
                  <a:moveTo>
                    <a:pt x="0" y="0"/>
                  </a:moveTo>
                  <a:lnTo>
                    <a:pt x="2495931" y="0"/>
                  </a:lnTo>
                </a:path>
              </a:pathLst>
            </a:custGeom>
            <a:ln w="9525">
              <a:solidFill>
                <a:srgbClr val="D9D9D9"/>
              </a:solidFill>
            </a:ln>
          </p:spPr>
          <p:txBody>
            <a:bodyPr wrap="square" lIns="0" tIns="0" rIns="0" bIns="0" rtlCol="0"/>
            <a:lstStyle/>
            <a:p>
              <a:endParaRPr sz="2133" dirty="0"/>
            </a:p>
          </p:txBody>
        </p:sp>
      </p:grpSp>
      <p:sp>
        <p:nvSpPr>
          <p:cNvPr id="57" name="object 69">
            <a:extLst>
              <a:ext uri="{FF2B5EF4-FFF2-40B4-BE49-F238E27FC236}">
                <a16:creationId xmlns:a16="http://schemas.microsoft.com/office/drawing/2014/main" id="{FEF447A4-CB9B-5AC9-98F9-DA25E28CE0AC}"/>
              </a:ext>
            </a:extLst>
          </p:cNvPr>
          <p:cNvSpPr txBox="1"/>
          <p:nvPr/>
        </p:nvSpPr>
        <p:spPr>
          <a:xfrm>
            <a:off x="5319007" y="2884440"/>
            <a:ext cx="248662" cy="170987"/>
          </a:xfrm>
          <a:prstGeom prst="rect">
            <a:avLst/>
          </a:prstGeom>
        </p:spPr>
        <p:txBody>
          <a:bodyPr vert="horz" wrap="square" lIns="0" tIns="16933" rIns="0" bIns="0" rtlCol="0">
            <a:spAutoFit/>
          </a:bodyPr>
          <a:lstStyle/>
          <a:p>
            <a:pPr marL="16933">
              <a:spcBef>
                <a:spcPts val="133"/>
              </a:spcBef>
            </a:pPr>
            <a:r>
              <a:rPr sz="1000" spc="-33" dirty="0">
                <a:cs typeface="Arial"/>
              </a:rPr>
              <a:t>0.6</a:t>
            </a:r>
            <a:endParaRPr sz="1000" dirty="0">
              <a:cs typeface="Arial"/>
            </a:endParaRPr>
          </a:p>
        </p:txBody>
      </p:sp>
      <p:sp>
        <p:nvSpPr>
          <p:cNvPr id="58" name="object 70">
            <a:extLst>
              <a:ext uri="{FF2B5EF4-FFF2-40B4-BE49-F238E27FC236}">
                <a16:creationId xmlns:a16="http://schemas.microsoft.com/office/drawing/2014/main" id="{49D66BA5-6E4B-483D-A2DF-00D134E1E63D}"/>
              </a:ext>
            </a:extLst>
          </p:cNvPr>
          <p:cNvSpPr txBox="1"/>
          <p:nvPr/>
        </p:nvSpPr>
        <p:spPr>
          <a:xfrm>
            <a:off x="6045858" y="2560573"/>
            <a:ext cx="427477" cy="170987"/>
          </a:xfrm>
          <a:prstGeom prst="rect">
            <a:avLst/>
          </a:prstGeom>
        </p:spPr>
        <p:txBody>
          <a:bodyPr vert="horz" wrap="square" lIns="0" tIns="16933" rIns="0" bIns="0" rtlCol="0">
            <a:spAutoFit/>
          </a:bodyPr>
          <a:lstStyle/>
          <a:p>
            <a:pPr marL="16933">
              <a:spcBef>
                <a:spcPts val="133"/>
              </a:spcBef>
            </a:pPr>
            <a:r>
              <a:rPr sz="1000" spc="-33" dirty="0">
                <a:cs typeface="Arial"/>
              </a:rPr>
              <a:t>1.5</a:t>
            </a:r>
            <a:endParaRPr sz="1000" dirty="0">
              <a:cs typeface="Arial"/>
            </a:endParaRPr>
          </a:p>
        </p:txBody>
      </p:sp>
      <p:sp>
        <p:nvSpPr>
          <p:cNvPr id="59" name="object 71">
            <a:extLst>
              <a:ext uri="{FF2B5EF4-FFF2-40B4-BE49-F238E27FC236}">
                <a16:creationId xmlns:a16="http://schemas.microsoft.com/office/drawing/2014/main" id="{40919120-07E5-2A23-45EE-61D9CB768529}"/>
              </a:ext>
            </a:extLst>
          </p:cNvPr>
          <p:cNvSpPr txBox="1"/>
          <p:nvPr/>
        </p:nvSpPr>
        <p:spPr>
          <a:xfrm>
            <a:off x="6811289" y="2969933"/>
            <a:ext cx="496448" cy="170987"/>
          </a:xfrm>
          <a:prstGeom prst="rect">
            <a:avLst/>
          </a:prstGeom>
        </p:spPr>
        <p:txBody>
          <a:bodyPr vert="horz" wrap="square" lIns="0" tIns="16933" rIns="0" bIns="0" rtlCol="0">
            <a:spAutoFit/>
          </a:bodyPr>
          <a:lstStyle/>
          <a:p>
            <a:pPr marL="16933">
              <a:spcBef>
                <a:spcPts val="133"/>
              </a:spcBef>
            </a:pPr>
            <a:r>
              <a:rPr sz="1000" spc="-33" dirty="0">
                <a:cs typeface="Arial"/>
              </a:rPr>
              <a:t>0.3</a:t>
            </a:r>
            <a:endParaRPr sz="1000" dirty="0">
              <a:cs typeface="Arial"/>
            </a:endParaRPr>
          </a:p>
        </p:txBody>
      </p:sp>
      <p:sp>
        <p:nvSpPr>
          <p:cNvPr id="60" name="object 72">
            <a:extLst>
              <a:ext uri="{FF2B5EF4-FFF2-40B4-BE49-F238E27FC236}">
                <a16:creationId xmlns:a16="http://schemas.microsoft.com/office/drawing/2014/main" id="{19FE21A8-6333-4383-9644-94E9A91C05CB}"/>
              </a:ext>
            </a:extLst>
          </p:cNvPr>
          <p:cNvSpPr txBox="1"/>
          <p:nvPr/>
        </p:nvSpPr>
        <p:spPr>
          <a:xfrm>
            <a:off x="7494657" y="2862877"/>
            <a:ext cx="365899" cy="170987"/>
          </a:xfrm>
          <a:prstGeom prst="rect">
            <a:avLst/>
          </a:prstGeom>
        </p:spPr>
        <p:txBody>
          <a:bodyPr vert="horz" wrap="square" lIns="0" tIns="16933" rIns="0" bIns="0" rtlCol="0">
            <a:spAutoFit/>
          </a:bodyPr>
          <a:lstStyle/>
          <a:p>
            <a:pPr marL="16933">
              <a:spcBef>
                <a:spcPts val="133"/>
              </a:spcBef>
            </a:pPr>
            <a:r>
              <a:rPr sz="1000" spc="-33" dirty="0">
                <a:cs typeface="Arial"/>
              </a:rPr>
              <a:t>0.6</a:t>
            </a:r>
            <a:endParaRPr sz="1000" dirty="0">
              <a:cs typeface="Arial"/>
            </a:endParaRPr>
          </a:p>
        </p:txBody>
      </p:sp>
      <p:sp>
        <p:nvSpPr>
          <p:cNvPr id="61" name="object 73">
            <a:extLst>
              <a:ext uri="{FF2B5EF4-FFF2-40B4-BE49-F238E27FC236}">
                <a16:creationId xmlns:a16="http://schemas.microsoft.com/office/drawing/2014/main" id="{91C2F26D-EFEF-E83E-A786-59DCB194C97C}"/>
              </a:ext>
            </a:extLst>
          </p:cNvPr>
          <p:cNvSpPr txBox="1"/>
          <p:nvPr/>
        </p:nvSpPr>
        <p:spPr>
          <a:xfrm>
            <a:off x="8254356" y="1967448"/>
            <a:ext cx="415653" cy="170987"/>
          </a:xfrm>
          <a:prstGeom prst="rect">
            <a:avLst/>
          </a:prstGeom>
        </p:spPr>
        <p:txBody>
          <a:bodyPr vert="horz" wrap="square" lIns="0" tIns="16933" rIns="0" bIns="0" rtlCol="0">
            <a:spAutoFit/>
          </a:bodyPr>
          <a:lstStyle/>
          <a:p>
            <a:pPr marL="16933">
              <a:spcBef>
                <a:spcPts val="133"/>
              </a:spcBef>
            </a:pPr>
            <a:r>
              <a:rPr sz="1000" spc="-33" dirty="0">
                <a:cs typeface="Arial"/>
              </a:rPr>
              <a:t>3.0</a:t>
            </a:r>
            <a:endParaRPr sz="1000" dirty="0">
              <a:cs typeface="Arial"/>
            </a:endParaRPr>
          </a:p>
        </p:txBody>
      </p:sp>
      <p:sp>
        <p:nvSpPr>
          <p:cNvPr id="63" name="object 75">
            <a:extLst>
              <a:ext uri="{FF2B5EF4-FFF2-40B4-BE49-F238E27FC236}">
                <a16:creationId xmlns:a16="http://schemas.microsoft.com/office/drawing/2014/main" id="{6CD6317C-5D29-1570-AEB9-9A197D81000F}"/>
              </a:ext>
            </a:extLst>
          </p:cNvPr>
          <p:cNvSpPr txBox="1"/>
          <p:nvPr/>
        </p:nvSpPr>
        <p:spPr>
          <a:xfrm>
            <a:off x="7393117" y="3335377"/>
            <a:ext cx="584446" cy="170987"/>
          </a:xfrm>
          <a:prstGeom prst="rect">
            <a:avLst/>
          </a:prstGeom>
        </p:spPr>
        <p:txBody>
          <a:bodyPr vert="horz" wrap="square" lIns="0" tIns="16933" rIns="0" bIns="0" rtlCol="0">
            <a:spAutoFit/>
          </a:bodyPr>
          <a:lstStyle/>
          <a:p>
            <a:pPr marL="16933">
              <a:spcBef>
                <a:spcPts val="133"/>
              </a:spcBef>
            </a:pPr>
            <a:r>
              <a:rPr sz="1000" dirty="0">
                <a:cs typeface="Arial"/>
              </a:rPr>
              <a:t>2025</a:t>
            </a:r>
            <a:r>
              <a:rPr sz="1000" spc="-40" dirty="0">
                <a:cs typeface="Arial"/>
              </a:rPr>
              <a:t> </a:t>
            </a:r>
            <a:r>
              <a:rPr sz="1000" spc="-33" dirty="0">
                <a:cs typeface="Arial"/>
              </a:rPr>
              <a:t>Q1</a:t>
            </a:r>
            <a:endParaRPr sz="1000" dirty="0">
              <a:cs typeface="Arial"/>
            </a:endParaRPr>
          </a:p>
        </p:txBody>
      </p:sp>
      <p:sp>
        <p:nvSpPr>
          <p:cNvPr id="64" name="object 76">
            <a:extLst>
              <a:ext uri="{FF2B5EF4-FFF2-40B4-BE49-F238E27FC236}">
                <a16:creationId xmlns:a16="http://schemas.microsoft.com/office/drawing/2014/main" id="{95A3A686-E643-F60A-D670-0B014F315836}"/>
              </a:ext>
            </a:extLst>
          </p:cNvPr>
          <p:cNvSpPr txBox="1"/>
          <p:nvPr/>
        </p:nvSpPr>
        <p:spPr>
          <a:xfrm>
            <a:off x="8055974" y="3340546"/>
            <a:ext cx="654648" cy="170987"/>
          </a:xfrm>
          <a:prstGeom prst="rect">
            <a:avLst/>
          </a:prstGeom>
        </p:spPr>
        <p:txBody>
          <a:bodyPr vert="horz" wrap="square" lIns="0" tIns="16933" rIns="0" bIns="0" rtlCol="0">
            <a:spAutoFit/>
          </a:bodyPr>
          <a:lstStyle/>
          <a:p>
            <a:pPr marL="16933">
              <a:spcBef>
                <a:spcPts val="133"/>
              </a:spcBef>
            </a:pPr>
            <a:r>
              <a:rPr sz="1000" dirty="0">
                <a:cs typeface="Arial"/>
              </a:rPr>
              <a:t>2026</a:t>
            </a:r>
            <a:r>
              <a:rPr sz="1000" spc="-40" dirty="0">
                <a:cs typeface="Arial"/>
              </a:rPr>
              <a:t> </a:t>
            </a:r>
            <a:r>
              <a:rPr sz="1000" spc="-33" dirty="0">
                <a:cs typeface="Arial"/>
              </a:rPr>
              <a:t>Q1</a:t>
            </a:r>
            <a:endParaRPr sz="1000" dirty="0">
              <a:cs typeface="Arial"/>
            </a:endParaRPr>
          </a:p>
        </p:txBody>
      </p:sp>
      <p:sp>
        <p:nvSpPr>
          <p:cNvPr id="65" name="object 77">
            <a:extLst>
              <a:ext uri="{FF2B5EF4-FFF2-40B4-BE49-F238E27FC236}">
                <a16:creationId xmlns:a16="http://schemas.microsoft.com/office/drawing/2014/main" id="{8DAE3579-4333-2D58-A4E7-15A0EA15F0EF}"/>
              </a:ext>
            </a:extLst>
          </p:cNvPr>
          <p:cNvSpPr/>
          <p:nvPr/>
        </p:nvSpPr>
        <p:spPr>
          <a:xfrm>
            <a:off x="8047476" y="1936787"/>
            <a:ext cx="663145" cy="1645171"/>
          </a:xfrm>
          <a:custGeom>
            <a:avLst/>
            <a:gdLst/>
            <a:ahLst/>
            <a:cxnLst/>
            <a:rect l="l" t="t" r="r" b="b"/>
            <a:pathLst>
              <a:path w="407670" h="572770">
                <a:moveTo>
                  <a:pt x="0" y="572160"/>
                </a:moveTo>
                <a:lnTo>
                  <a:pt x="407314" y="572160"/>
                </a:lnTo>
                <a:lnTo>
                  <a:pt x="407314" y="0"/>
                </a:lnTo>
                <a:lnTo>
                  <a:pt x="0" y="0"/>
                </a:lnTo>
                <a:lnTo>
                  <a:pt x="0" y="572160"/>
                </a:lnTo>
                <a:close/>
              </a:path>
            </a:pathLst>
          </a:custGeom>
          <a:ln w="12700">
            <a:solidFill>
              <a:srgbClr val="F4364B"/>
            </a:solidFill>
            <a:prstDash val="sysDot"/>
          </a:ln>
        </p:spPr>
        <p:txBody>
          <a:bodyPr wrap="square" lIns="0" tIns="0" rIns="0" bIns="0" rtlCol="0"/>
          <a:lstStyle/>
          <a:p>
            <a:endParaRPr sz="2133"/>
          </a:p>
        </p:txBody>
      </p:sp>
      <p:sp>
        <p:nvSpPr>
          <p:cNvPr id="66" name="object 112">
            <a:extLst>
              <a:ext uri="{FF2B5EF4-FFF2-40B4-BE49-F238E27FC236}">
                <a16:creationId xmlns:a16="http://schemas.microsoft.com/office/drawing/2014/main" id="{4F5D8545-CA9A-EB55-4129-08EDAA04C7A8}"/>
              </a:ext>
            </a:extLst>
          </p:cNvPr>
          <p:cNvSpPr txBox="1"/>
          <p:nvPr/>
        </p:nvSpPr>
        <p:spPr>
          <a:xfrm>
            <a:off x="5106743" y="1695059"/>
            <a:ext cx="3233347" cy="170987"/>
          </a:xfrm>
          <a:prstGeom prst="rect">
            <a:avLst/>
          </a:prstGeom>
        </p:spPr>
        <p:txBody>
          <a:bodyPr vert="horz" wrap="square" lIns="0" tIns="16933" rIns="0" bIns="0" rtlCol="0">
            <a:spAutoFit/>
          </a:bodyPr>
          <a:lstStyle/>
          <a:p>
            <a:pPr marL="16933">
              <a:spcBef>
                <a:spcPts val="133"/>
              </a:spcBef>
            </a:pPr>
            <a:r>
              <a:rPr sz="1000" baseline="4629" dirty="0">
                <a:solidFill>
                  <a:srgbClr val="585858"/>
                </a:solidFill>
                <a:cs typeface="Arial"/>
              </a:rPr>
              <a:t>(US$bn)</a:t>
            </a:r>
            <a:r>
              <a:rPr sz="1000" spc="859" baseline="4629" dirty="0">
                <a:solidFill>
                  <a:srgbClr val="585858"/>
                </a:solidFill>
                <a:cs typeface="Arial"/>
              </a:rPr>
              <a:t> </a:t>
            </a:r>
            <a:r>
              <a:rPr sz="1000" dirty="0">
                <a:solidFill>
                  <a:srgbClr val="8D6000"/>
                </a:solidFill>
                <a:cs typeface="Arial"/>
              </a:rPr>
              <a:t>Q1</a:t>
            </a:r>
            <a:r>
              <a:rPr sz="1000" spc="-13" dirty="0">
                <a:solidFill>
                  <a:srgbClr val="8D6000"/>
                </a:solidFill>
                <a:cs typeface="Arial"/>
              </a:rPr>
              <a:t> </a:t>
            </a:r>
            <a:r>
              <a:rPr sz="1000" dirty="0">
                <a:solidFill>
                  <a:srgbClr val="8D6000"/>
                </a:solidFill>
                <a:cs typeface="Arial"/>
              </a:rPr>
              <a:t>HK</a:t>
            </a:r>
            <a:r>
              <a:rPr sz="1000" spc="-20" dirty="0">
                <a:solidFill>
                  <a:srgbClr val="8D6000"/>
                </a:solidFill>
                <a:cs typeface="Arial"/>
              </a:rPr>
              <a:t> </a:t>
            </a:r>
            <a:r>
              <a:rPr sz="1000" spc="-13" dirty="0">
                <a:solidFill>
                  <a:srgbClr val="8D6000"/>
                </a:solidFill>
                <a:cs typeface="Arial"/>
              </a:rPr>
              <a:t>Healthcare</a:t>
            </a:r>
            <a:r>
              <a:rPr sz="1000" spc="-20" dirty="0">
                <a:solidFill>
                  <a:srgbClr val="8D6000"/>
                </a:solidFill>
                <a:cs typeface="Arial"/>
              </a:rPr>
              <a:t> </a:t>
            </a:r>
            <a:r>
              <a:rPr sz="1000" dirty="0">
                <a:solidFill>
                  <a:srgbClr val="8D6000"/>
                </a:solidFill>
                <a:cs typeface="Arial"/>
              </a:rPr>
              <a:t>ECM</a:t>
            </a:r>
            <a:r>
              <a:rPr sz="1000" spc="-13" dirty="0">
                <a:solidFill>
                  <a:srgbClr val="8D6000"/>
                </a:solidFill>
                <a:cs typeface="Arial"/>
              </a:rPr>
              <a:t> </a:t>
            </a:r>
            <a:r>
              <a:rPr sz="1000" dirty="0">
                <a:solidFill>
                  <a:srgbClr val="8D6000"/>
                </a:solidFill>
                <a:cs typeface="Arial"/>
              </a:rPr>
              <a:t>Issuance Since</a:t>
            </a:r>
            <a:r>
              <a:rPr sz="1000" spc="-13" dirty="0">
                <a:solidFill>
                  <a:srgbClr val="8D6000"/>
                </a:solidFill>
                <a:cs typeface="Arial"/>
              </a:rPr>
              <a:t> </a:t>
            </a:r>
            <a:r>
              <a:rPr sz="1000" spc="-27" dirty="0">
                <a:solidFill>
                  <a:srgbClr val="8D6000"/>
                </a:solidFill>
                <a:cs typeface="Arial"/>
              </a:rPr>
              <a:t>2022</a:t>
            </a:r>
            <a:endParaRPr sz="1000" dirty="0">
              <a:cs typeface="Arial"/>
            </a:endParaRPr>
          </a:p>
        </p:txBody>
      </p:sp>
      <p:sp>
        <p:nvSpPr>
          <p:cNvPr id="67" name="矩形 66">
            <a:extLst>
              <a:ext uri="{FF2B5EF4-FFF2-40B4-BE49-F238E27FC236}">
                <a16:creationId xmlns:a16="http://schemas.microsoft.com/office/drawing/2014/main" id="{807B34A8-0F9B-332E-CDF0-D857804B0AE6}"/>
              </a:ext>
            </a:extLst>
          </p:cNvPr>
          <p:cNvSpPr/>
          <p:nvPr/>
        </p:nvSpPr>
        <p:spPr>
          <a:xfrm>
            <a:off x="5048250" y="4276015"/>
            <a:ext cx="3762408" cy="26932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bject 81">
            <a:extLst>
              <a:ext uri="{FF2B5EF4-FFF2-40B4-BE49-F238E27FC236}">
                <a16:creationId xmlns:a16="http://schemas.microsoft.com/office/drawing/2014/main" id="{C5734E74-2D41-76E6-94F3-DCD26DB07F75}"/>
              </a:ext>
            </a:extLst>
          </p:cNvPr>
          <p:cNvSpPr txBox="1"/>
          <p:nvPr/>
        </p:nvSpPr>
        <p:spPr>
          <a:xfrm>
            <a:off x="5106743" y="4177669"/>
            <a:ext cx="1106949" cy="447986"/>
          </a:xfrm>
          <a:prstGeom prst="rect">
            <a:avLst/>
          </a:prstGeom>
          <a:solidFill>
            <a:schemeClr val="bg1"/>
          </a:solidFill>
        </p:spPr>
        <p:txBody>
          <a:bodyPr vert="horz" wrap="square" lIns="0" tIns="16933" rIns="0" bIns="0" rtlCol="0">
            <a:spAutoFit/>
          </a:bodyPr>
          <a:lstStyle/>
          <a:p>
            <a:pPr marL="16933">
              <a:spcBef>
                <a:spcPts val="133"/>
              </a:spcBef>
            </a:pPr>
            <a:r>
              <a:rPr sz="1600" spc="-13" dirty="0">
                <a:solidFill>
                  <a:srgbClr val="FFB81C"/>
                </a:solidFill>
                <a:cs typeface="Arial"/>
              </a:rPr>
              <a:t>US$2.6bn</a:t>
            </a:r>
            <a:endParaRPr sz="1600" dirty="0">
              <a:cs typeface="Arial"/>
            </a:endParaRPr>
          </a:p>
          <a:p>
            <a:pPr marL="55032">
              <a:spcBef>
                <a:spcPts val="27"/>
              </a:spcBef>
            </a:pPr>
            <a:r>
              <a:rPr sz="1200" dirty="0">
                <a:solidFill>
                  <a:schemeClr val="tx1"/>
                </a:solidFill>
                <a:cs typeface="Arial"/>
              </a:rPr>
              <a:t>Funds</a:t>
            </a:r>
            <a:r>
              <a:rPr sz="1200" spc="-20" dirty="0">
                <a:solidFill>
                  <a:schemeClr val="tx1"/>
                </a:solidFill>
                <a:cs typeface="Arial"/>
              </a:rPr>
              <a:t> </a:t>
            </a:r>
            <a:r>
              <a:rPr sz="1200" spc="-13" dirty="0">
                <a:solidFill>
                  <a:schemeClr val="tx1"/>
                </a:solidFill>
                <a:cs typeface="Arial"/>
              </a:rPr>
              <a:t>Raised</a:t>
            </a:r>
            <a:endParaRPr sz="1200" dirty="0">
              <a:solidFill>
                <a:schemeClr val="tx1"/>
              </a:solidFill>
              <a:cs typeface="Arial"/>
            </a:endParaRPr>
          </a:p>
        </p:txBody>
      </p:sp>
      <p:sp>
        <p:nvSpPr>
          <p:cNvPr id="70" name="object 82">
            <a:extLst>
              <a:ext uri="{FF2B5EF4-FFF2-40B4-BE49-F238E27FC236}">
                <a16:creationId xmlns:a16="http://schemas.microsoft.com/office/drawing/2014/main" id="{AAB59859-1B49-6A88-B4C6-FDDDB29C2E6B}"/>
              </a:ext>
            </a:extLst>
          </p:cNvPr>
          <p:cNvSpPr txBox="1"/>
          <p:nvPr/>
        </p:nvSpPr>
        <p:spPr>
          <a:xfrm>
            <a:off x="6160406" y="4109813"/>
            <a:ext cx="1383629" cy="817317"/>
          </a:xfrm>
          <a:prstGeom prst="rect">
            <a:avLst/>
          </a:prstGeom>
          <a:solidFill>
            <a:schemeClr val="bg1"/>
          </a:solidFill>
        </p:spPr>
        <p:txBody>
          <a:bodyPr vert="horz" wrap="square" lIns="0" tIns="16933" rIns="0" bIns="0" rtlCol="0">
            <a:spAutoFit/>
          </a:bodyPr>
          <a:lstStyle/>
          <a:p>
            <a:pPr marL="1693" algn="ctr">
              <a:spcBef>
                <a:spcPts val="133"/>
              </a:spcBef>
            </a:pPr>
            <a:r>
              <a:rPr sz="1600" spc="-33" dirty="0">
                <a:solidFill>
                  <a:srgbClr val="FFB81C"/>
                </a:solidFill>
                <a:cs typeface="Arial"/>
              </a:rPr>
              <a:t>78%</a:t>
            </a:r>
            <a:endParaRPr sz="1600" dirty="0">
              <a:cs typeface="Arial"/>
            </a:endParaRPr>
          </a:p>
          <a:p>
            <a:pPr marL="50799" marR="40639" algn="ctr">
              <a:spcBef>
                <a:spcPts val="27"/>
              </a:spcBef>
            </a:pPr>
            <a:r>
              <a:rPr sz="1200" dirty="0">
                <a:solidFill>
                  <a:schemeClr val="tx1"/>
                </a:solidFill>
                <a:cs typeface="Arial"/>
              </a:rPr>
              <a:t>Issuers</a:t>
            </a:r>
            <a:r>
              <a:rPr sz="1200" spc="-27" dirty="0">
                <a:solidFill>
                  <a:schemeClr val="tx1"/>
                </a:solidFill>
                <a:cs typeface="Arial"/>
              </a:rPr>
              <a:t> with</a:t>
            </a:r>
            <a:r>
              <a:rPr sz="1200" spc="667" dirty="0">
                <a:solidFill>
                  <a:schemeClr val="tx1"/>
                </a:solidFill>
                <a:cs typeface="Arial"/>
              </a:rPr>
              <a:t> </a:t>
            </a:r>
            <a:r>
              <a:rPr sz="1200" spc="-13" dirty="0">
                <a:solidFill>
                  <a:schemeClr val="tx1"/>
                </a:solidFill>
                <a:cs typeface="Arial"/>
              </a:rPr>
              <a:t>Multiple</a:t>
            </a:r>
            <a:r>
              <a:rPr sz="1200" spc="667" dirty="0">
                <a:solidFill>
                  <a:schemeClr val="tx1"/>
                </a:solidFill>
                <a:cs typeface="Arial"/>
              </a:rPr>
              <a:t> </a:t>
            </a:r>
            <a:r>
              <a:rPr sz="1200" spc="-13" dirty="0">
                <a:solidFill>
                  <a:schemeClr val="tx1"/>
                </a:solidFill>
                <a:cs typeface="Arial"/>
              </a:rPr>
              <a:t>Issuance</a:t>
            </a:r>
            <a:r>
              <a:rPr sz="1200" spc="-20" baseline="24691" dirty="0">
                <a:solidFill>
                  <a:schemeClr val="tx1"/>
                </a:solidFill>
                <a:cs typeface="Arial"/>
              </a:rPr>
              <a:t>3</a:t>
            </a:r>
            <a:endParaRPr sz="1200" baseline="24691" dirty="0">
              <a:solidFill>
                <a:schemeClr val="tx1"/>
              </a:solidFill>
              <a:cs typeface="Arial"/>
            </a:endParaRPr>
          </a:p>
        </p:txBody>
      </p:sp>
      <p:grpSp>
        <p:nvGrpSpPr>
          <p:cNvPr id="71" name="object 88">
            <a:extLst>
              <a:ext uri="{FF2B5EF4-FFF2-40B4-BE49-F238E27FC236}">
                <a16:creationId xmlns:a16="http://schemas.microsoft.com/office/drawing/2014/main" id="{C9DA5BA7-05E6-02DD-4AB1-B2C502E1976E}"/>
              </a:ext>
            </a:extLst>
          </p:cNvPr>
          <p:cNvGrpSpPr/>
          <p:nvPr/>
        </p:nvGrpSpPr>
        <p:grpSpPr>
          <a:xfrm>
            <a:off x="7499193" y="4118091"/>
            <a:ext cx="1510326" cy="812572"/>
            <a:chOff x="5082792" y="4138547"/>
            <a:chExt cx="913715" cy="438917"/>
          </a:xfrm>
        </p:grpSpPr>
        <p:pic>
          <p:nvPicPr>
            <p:cNvPr id="73" name="object 90" descr="Notes: 1. Correct fonts won't load until you open this in ...">
              <a:extLst>
                <a:ext uri="{FF2B5EF4-FFF2-40B4-BE49-F238E27FC236}">
                  <a16:creationId xmlns:a16="http://schemas.microsoft.com/office/drawing/2014/main" id="{6FC95624-0E19-B64C-422E-485F142C9B1E}"/>
                </a:ext>
              </a:extLst>
            </p:cNvPr>
            <p:cNvPicPr/>
            <p:nvPr/>
          </p:nvPicPr>
          <p:blipFill>
            <a:blip r:embed="rId4" cstate="print"/>
            <a:stretch>
              <a:fillRect/>
            </a:stretch>
          </p:blipFill>
          <p:spPr>
            <a:xfrm>
              <a:off x="5082792" y="4138547"/>
              <a:ext cx="421639" cy="141275"/>
            </a:xfrm>
            <a:prstGeom prst="rect">
              <a:avLst/>
            </a:prstGeom>
          </p:spPr>
        </p:pic>
        <p:pic>
          <p:nvPicPr>
            <p:cNvPr id="74" name="object 91" descr="Company Overview - Shanghai Conant Optics Co., Ltd.">
              <a:extLst>
                <a:ext uri="{FF2B5EF4-FFF2-40B4-BE49-F238E27FC236}">
                  <a16:creationId xmlns:a16="http://schemas.microsoft.com/office/drawing/2014/main" id="{AB4FEFDB-3D84-47BD-231E-AF49CBADC2E4}"/>
                </a:ext>
              </a:extLst>
            </p:cNvPr>
            <p:cNvPicPr/>
            <p:nvPr/>
          </p:nvPicPr>
          <p:blipFill>
            <a:blip r:embed="rId5" cstate="print"/>
            <a:stretch>
              <a:fillRect/>
            </a:stretch>
          </p:blipFill>
          <p:spPr>
            <a:xfrm>
              <a:off x="5135625" y="4378912"/>
              <a:ext cx="348767" cy="198552"/>
            </a:xfrm>
            <a:prstGeom prst="rect">
              <a:avLst/>
            </a:prstGeom>
          </p:spPr>
        </p:pic>
        <p:pic>
          <p:nvPicPr>
            <p:cNvPr id="75" name="object 92" descr="Mirxes | Genomic Services | Next-Generation Sequencing (NGS)">
              <a:extLst>
                <a:ext uri="{FF2B5EF4-FFF2-40B4-BE49-F238E27FC236}">
                  <a16:creationId xmlns:a16="http://schemas.microsoft.com/office/drawing/2014/main" id="{605AE7CB-0152-8E72-302A-1CADA2F3C7EB}"/>
                </a:ext>
              </a:extLst>
            </p:cNvPr>
            <p:cNvPicPr/>
            <p:nvPr/>
          </p:nvPicPr>
          <p:blipFill>
            <a:blip r:embed="rId6" cstate="print"/>
            <a:stretch>
              <a:fillRect/>
            </a:stretch>
          </p:blipFill>
          <p:spPr>
            <a:xfrm>
              <a:off x="5555741" y="4152264"/>
              <a:ext cx="440766" cy="115547"/>
            </a:xfrm>
            <a:prstGeom prst="rect">
              <a:avLst/>
            </a:prstGeom>
          </p:spPr>
        </p:pic>
        <p:pic>
          <p:nvPicPr>
            <p:cNvPr id="76" name="object 93" descr="Hansoh Pharma and NiKang Therapeutics Enter into a ...">
              <a:extLst>
                <a:ext uri="{FF2B5EF4-FFF2-40B4-BE49-F238E27FC236}">
                  <a16:creationId xmlns:a16="http://schemas.microsoft.com/office/drawing/2014/main" id="{4D16BCA6-E000-2833-4F18-BC06013EEAF5}"/>
                </a:ext>
              </a:extLst>
            </p:cNvPr>
            <p:cNvPicPr/>
            <p:nvPr/>
          </p:nvPicPr>
          <p:blipFill>
            <a:blip r:embed="rId7" cstate="print"/>
            <a:stretch>
              <a:fillRect/>
            </a:stretch>
          </p:blipFill>
          <p:spPr>
            <a:xfrm>
              <a:off x="5539360" y="4397426"/>
              <a:ext cx="421639" cy="146723"/>
            </a:xfrm>
            <a:prstGeom prst="rect">
              <a:avLst/>
            </a:prstGeom>
          </p:spPr>
        </p:pic>
      </p:grpSp>
      <p:sp>
        <p:nvSpPr>
          <p:cNvPr id="79" name="object 42">
            <a:extLst>
              <a:ext uri="{FF2B5EF4-FFF2-40B4-BE49-F238E27FC236}">
                <a16:creationId xmlns:a16="http://schemas.microsoft.com/office/drawing/2014/main" id="{18310352-2B30-FB20-B576-29D065789BE0}"/>
              </a:ext>
            </a:extLst>
          </p:cNvPr>
          <p:cNvSpPr txBox="1"/>
          <p:nvPr/>
        </p:nvSpPr>
        <p:spPr>
          <a:xfrm>
            <a:off x="4843214" y="5062350"/>
            <a:ext cx="1556802" cy="879728"/>
          </a:xfrm>
          <a:prstGeom prst="rect">
            <a:avLst/>
          </a:prstGeom>
        </p:spPr>
        <p:txBody>
          <a:bodyPr vert="horz" wrap="square" lIns="0" tIns="17780" rIns="0" bIns="0" rtlCol="0">
            <a:spAutoFit/>
          </a:bodyPr>
          <a:lstStyle/>
          <a:p>
            <a:pPr algn="ctr">
              <a:spcBef>
                <a:spcPts val="140"/>
              </a:spcBef>
            </a:pPr>
            <a:r>
              <a:rPr lang="en-US" sz="1600" dirty="0">
                <a:solidFill>
                  <a:srgbClr val="FFB81C"/>
                </a:solidFill>
                <a:cs typeface="Arial"/>
              </a:rPr>
              <a:t>34%</a:t>
            </a:r>
            <a:endParaRPr sz="1600" dirty="0">
              <a:cs typeface="Arial"/>
            </a:endParaRPr>
          </a:p>
          <a:p>
            <a:pPr marL="204888" marR="196422" algn="ctr">
              <a:spcBef>
                <a:spcPts val="27"/>
              </a:spcBef>
            </a:pPr>
            <a:r>
              <a:rPr lang="en-US" sz="1000" dirty="0">
                <a:solidFill>
                  <a:schemeClr val="tx1"/>
                </a:solidFill>
                <a:cs typeface="Arial"/>
              </a:rPr>
              <a:t>Biotech's share of total institutional holdings in H1 2025</a:t>
            </a:r>
          </a:p>
        </p:txBody>
      </p:sp>
      <p:sp>
        <p:nvSpPr>
          <p:cNvPr id="84" name="文字方塊 83">
            <a:extLst>
              <a:ext uri="{FF2B5EF4-FFF2-40B4-BE49-F238E27FC236}">
                <a16:creationId xmlns:a16="http://schemas.microsoft.com/office/drawing/2014/main" id="{A9576125-32CC-6C5C-044F-8E8B4801B082}"/>
              </a:ext>
            </a:extLst>
          </p:cNvPr>
          <p:cNvSpPr txBox="1"/>
          <p:nvPr/>
        </p:nvSpPr>
        <p:spPr>
          <a:xfrm>
            <a:off x="656518" y="6197640"/>
            <a:ext cx="9120186" cy="553998"/>
          </a:xfrm>
          <a:prstGeom prst="rect">
            <a:avLst/>
          </a:prstGeom>
          <a:noFill/>
        </p:spPr>
        <p:txBody>
          <a:bodyPr wrap="square">
            <a:spAutoFit/>
          </a:bodyPr>
          <a:lstStyle/>
          <a:p>
            <a:r>
              <a:rPr lang="en-US" sz="600" b="0" i="1" dirty="0">
                <a:solidFill>
                  <a:schemeClr val="tx1"/>
                </a:solidFill>
                <a:latin typeface="+mj-lt"/>
              </a:rPr>
              <a:t>Note: </a:t>
            </a:r>
          </a:p>
          <a:p>
            <a:r>
              <a:rPr lang="en-US" sz="600" b="0" i="1" dirty="0">
                <a:solidFill>
                  <a:schemeClr val="tx1"/>
                </a:solidFill>
                <a:latin typeface="+mj-lt"/>
              </a:rPr>
              <a:t>1. For all HK IPOs with deal size of US$100mm or above	</a:t>
            </a:r>
          </a:p>
          <a:p>
            <a:r>
              <a:rPr lang="en-US" sz="600" b="0" i="1" dirty="0">
                <a:solidFill>
                  <a:schemeClr val="tx1"/>
                </a:solidFill>
                <a:latin typeface="+mj-lt"/>
              </a:rPr>
              <a:t>2. Healthcare ECM issuance is inclusive of biotech ECM issuance</a:t>
            </a:r>
          </a:p>
          <a:p>
            <a:r>
              <a:rPr lang="en-US" sz="600" b="0" i="1" dirty="0">
                <a:solidFill>
                  <a:schemeClr val="tx1"/>
                </a:solidFill>
                <a:latin typeface="+mj-lt"/>
              </a:rPr>
              <a:t>3. Refers to % issuers that completed follow-ons of US$50mm or above in 2026 with multiple issuance since 2025</a:t>
            </a:r>
          </a:p>
          <a:p>
            <a:r>
              <a:rPr lang="en-US" sz="600" b="0" i="1" dirty="0">
                <a:solidFill>
                  <a:schemeClr val="tx1"/>
                </a:solidFill>
                <a:latin typeface="+mj-lt"/>
              </a:rPr>
              <a:t>4. </a:t>
            </a:r>
            <a:r>
              <a:rPr lang="en-US" sz="600" b="0" i="1" dirty="0">
                <a:solidFill>
                  <a:schemeClr val="tx1"/>
                </a:solidFill>
              </a:rPr>
              <a:t>Sources: Dealogic and Bloomberg as of 31 Mar 2026</a:t>
            </a:r>
          </a:p>
        </p:txBody>
      </p:sp>
      <p:cxnSp>
        <p:nvCxnSpPr>
          <p:cNvPr id="89" name="直線單箭頭接點 88">
            <a:extLst>
              <a:ext uri="{FF2B5EF4-FFF2-40B4-BE49-F238E27FC236}">
                <a16:creationId xmlns:a16="http://schemas.microsoft.com/office/drawing/2014/main" id="{1B9D9558-E8DD-B977-D9DF-26A4883BEDBB}"/>
              </a:ext>
            </a:extLst>
          </p:cNvPr>
          <p:cNvCxnSpPr>
            <a:cxnSpLocks/>
          </p:cNvCxnSpPr>
          <p:nvPr/>
        </p:nvCxnSpPr>
        <p:spPr>
          <a:xfrm flipV="1">
            <a:off x="2249285" y="2120229"/>
            <a:ext cx="999005" cy="514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Rectangle: Rounded Corners 19">
            <a:extLst>
              <a:ext uri="{FF2B5EF4-FFF2-40B4-BE49-F238E27FC236}">
                <a16:creationId xmlns:a16="http://schemas.microsoft.com/office/drawing/2014/main" id="{1405901E-31F0-C4D0-E03F-F619B10211D3}"/>
              </a:ext>
            </a:extLst>
          </p:cNvPr>
          <p:cNvSpPr/>
          <p:nvPr/>
        </p:nvSpPr>
        <p:spPr>
          <a:xfrm>
            <a:off x="638631" y="1069083"/>
            <a:ext cx="4351303" cy="334511"/>
          </a:xfrm>
          <a:prstGeom prst="roundRect">
            <a:avLst>
              <a:gd name="adj" fmla="val 50000"/>
            </a:avLst>
          </a:prstGeom>
          <a:gradFill>
            <a:gsLst>
              <a:gs pos="0">
                <a:srgbClr val="FEB8B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0834" rtlCol="0" anchor="ctr"/>
          <a:lstStyle/>
          <a:p>
            <a:pPr marL="101531" defTabSz="1008309" eaLnBrk="0" hangingPunct="0">
              <a:spcBef>
                <a:spcPts val="336"/>
              </a:spcBef>
              <a:buClr>
                <a:srgbClr val="4276AA"/>
              </a:buClr>
              <a:buSzPct val="90000"/>
              <a:defRPr/>
            </a:pPr>
            <a:r>
              <a:rPr lang="en-US" sz="1200" dirty="0">
                <a:solidFill>
                  <a:srgbClr val="3D2B1F"/>
                </a:solidFill>
                <a:ea typeface="Liter" pitchFamily="34" charset="-122"/>
                <a:cs typeface="Liter" pitchFamily="34" charset="-120"/>
              </a:rPr>
              <a:t>Institutional Capital Flooding into HK Healthcare</a:t>
            </a:r>
            <a:endParaRPr lang="en-US" sz="1200" dirty="0"/>
          </a:p>
        </p:txBody>
      </p:sp>
      <p:sp>
        <p:nvSpPr>
          <p:cNvPr id="91" name="Rectangle: Rounded Corners 19">
            <a:extLst>
              <a:ext uri="{FF2B5EF4-FFF2-40B4-BE49-F238E27FC236}">
                <a16:creationId xmlns:a16="http://schemas.microsoft.com/office/drawing/2014/main" id="{B09A65F4-99E3-FBDA-BF3B-C8AFC0E8A9A5}"/>
              </a:ext>
            </a:extLst>
          </p:cNvPr>
          <p:cNvSpPr/>
          <p:nvPr/>
        </p:nvSpPr>
        <p:spPr>
          <a:xfrm>
            <a:off x="4901378" y="1083337"/>
            <a:ext cx="4351303" cy="334511"/>
          </a:xfrm>
          <a:prstGeom prst="roundRect">
            <a:avLst>
              <a:gd name="adj" fmla="val 50000"/>
            </a:avLst>
          </a:prstGeom>
          <a:gradFill>
            <a:gsLst>
              <a:gs pos="0">
                <a:srgbClr val="FEB8B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0834" rtlCol="0" anchor="ctr"/>
          <a:lstStyle/>
          <a:p>
            <a:pPr marL="16933">
              <a:spcBef>
                <a:spcPts val="133"/>
              </a:spcBef>
            </a:pPr>
            <a:r>
              <a:rPr lang="en-US" sz="1200" dirty="0">
                <a:solidFill>
                  <a:srgbClr val="3D2B1F"/>
                </a:solidFill>
                <a:ea typeface="Liter" pitchFamily="34" charset="-122"/>
              </a:rPr>
              <a:t>Strong Start in Healthcare ECM Issuance</a:t>
            </a:r>
          </a:p>
        </p:txBody>
      </p:sp>
      <p:sp>
        <p:nvSpPr>
          <p:cNvPr id="92" name="Rectangle: Rounded Corners 19">
            <a:extLst>
              <a:ext uri="{FF2B5EF4-FFF2-40B4-BE49-F238E27FC236}">
                <a16:creationId xmlns:a16="http://schemas.microsoft.com/office/drawing/2014/main" id="{65CD0E86-5503-FD4F-83F6-56D22BBB9FCE}"/>
              </a:ext>
            </a:extLst>
          </p:cNvPr>
          <p:cNvSpPr/>
          <p:nvPr/>
        </p:nvSpPr>
        <p:spPr>
          <a:xfrm>
            <a:off x="4945165" y="3682769"/>
            <a:ext cx="4266040" cy="334511"/>
          </a:xfrm>
          <a:prstGeom prst="roundRect">
            <a:avLst>
              <a:gd name="adj" fmla="val 50000"/>
            </a:avLst>
          </a:prstGeom>
          <a:gradFill>
            <a:gsLst>
              <a:gs pos="0">
                <a:srgbClr val="FEB8B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0834" rtlCol="0" anchor="ctr"/>
          <a:lstStyle/>
          <a:p>
            <a:pPr marL="16933">
              <a:spcBef>
                <a:spcPts val="133"/>
              </a:spcBef>
            </a:pPr>
            <a:r>
              <a:rPr lang="en-US" sz="1200" dirty="0">
                <a:solidFill>
                  <a:srgbClr val="3D2B1F"/>
                </a:solidFill>
                <a:ea typeface="Liter" pitchFamily="34" charset="-122"/>
              </a:rPr>
              <a:t>Slew of Follow-on Activity</a:t>
            </a:r>
          </a:p>
        </p:txBody>
      </p:sp>
      <p:sp>
        <p:nvSpPr>
          <p:cNvPr id="93" name="MAStat0">
            <a:extLst>
              <a:ext uri="{FF2B5EF4-FFF2-40B4-BE49-F238E27FC236}">
                <a16:creationId xmlns:a16="http://schemas.microsoft.com/office/drawing/2014/main" id="{1B5CC285-8B6C-B7CF-2E30-2DAED9EC7B04}"/>
              </a:ext>
            </a:extLst>
          </p:cNvPr>
          <p:cNvSpPr/>
          <p:nvPr/>
        </p:nvSpPr>
        <p:spPr>
          <a:xfrm>
            <a:off x="577254" y="4917922"/>
            <a:ext cx="2006600" cy="1201680"/>
          </a:xfrm>
          <a:prstGeom prst="roundRect">
            <a:avLst/>
          </a:prstGeom>
          <a:noFill/>
          <a:ln w="15875" cap="flat" cmpd="sng" algn="ctr">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94" name="MAStat0">
            <a:extLst>
              <a:ext uri="{FF2B5EF4-FFF2-40B4-BE49-F238E27FC236}">
                <a16:creationId xmlns:a16="http://schemas.microsoft.com/office/drawing/2014/main" id="{A35FE894-EAB9-1605-8967-72E70187DC5E}"/>
              </a:ext>
            </a:extLst>
          </p:cNvPr>
          <p:cNvSpPr/>
          <p:nvPr/>
        </p:nvSpPr>
        <p:spPr>
          <a:xfrm>
            <a:off x="2757078" y="4907483"/>
            <a:ext cx="2006600" cy="1201680"/>
          </a:xfrm>
          <a:prstGeom prst="roundRect">
            <a:avLst/>
          </a:prstGeom>
          <a:noFill/>
          <a:ln w="15875" cap="flat" cmpd="sng" algn="ctr">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95" name="object 102">
            <a:extLst>
              <a:ext uri="{FF2B5EF4-FFF2-40B4-BE49-F238E27FC236}">
                <a16:creationId xmlns:a16="http://schemas.microsoft.com/office/drawing/2014/main" id="{EDD89249-BA9D-EECE-E1C3-2580FAC2DB14}"/>
              </a:ext>
            </a:extLst>
          </p:cNvPr>
          <p:cNvSpPr txBox="1"/>
          <p:nvPr/>
        </p:nvSpPr>
        <p:spPr>
          <a:xfrm>
            <a:off x="895644" y="5135899"/>
            <a:ext cx="1393240" cy="632651"/>
          </a:xfrm>
          <a:prstGeom prst="rect">
            <a:avLst/>
          </a:prstGeom>
        </p:spPr>
        <p:txBody>
          <a:bodyPr vert="horz" wrap="square" lIns="0" tIns="16933" rIns="0" bIns="0" rtlCol="0">
            <a:spAutoFit/>
          </a:bodyPr>
          <a:lstStyle/>
          <a:p>
            <a:pPr marL="602812">
              <a:spcBef>
                <a:spcPts val="133"/>
              </a:spcBef>
            </a:pPr>
            <a:r>
              <a:rPr sz="1600" spc="-27" dirty="0">
                <a:solidFill>
                  <a:srgbClr val="00AF50"/>
                </a:solidFill>
                <a:cs typeface="Arial"/>
              </a:rPr>
              <a:t>108%</a:t>
            </a:r>
            <a:endParaRPr sz="1600" dirty="0">
              <a:cs typeface="Arial"/>
            </a:endParaRPr>
          </a:p>
          <a:p>
            <a:pPr marL="50799">
              <a:spcBef>
                <a:spcPts val="27"/>
              </a:spcBef>
            </a:pPr>
            <a:r>
              <a:rPr sz="1200" dirty="0">
                <a:solidFill>
                  <a:schemeClr val="tx1"/>
                </a:solidFill>
                <a:cs typeface="Arial"/>
              </a:rPr>
              <a:t>2025</a:t>
            </a:r>
            <a:r>
              <a:rPr sz="1200" spc="-13" dirty="0">
                <a:solidFill>
                  <a:schemeClr val="tx1"/>
                </a:solidFill>
                <a:cs typeface="Arial"/>
              </a:rPr>
              <a:t> </a:t>
            </a:r>
            <a:r>
              <a:rPr sz="1200" dirty="0">
                <a:solidFill>
                  <a:schemeClr val="tx1"/>
                </a:solidFill>
                <a:cs typeface="Arial"/>
              </a:rPr>
              <a:t>IPOs</a:t>
            </a:r>
            <a:r>
              <a:rPr sz="1200" baseline="24691" dirty="0">
                <a:solidFill>
                  <a:schemeClr val="tx1"/>
                </a:solidFill>
                <a:cs typeface="Arial"/>
              </a:rPr>
              <a:t>1</a:t>
            </a:r>
            <a:r>
              <a:rPr sz="1200" spc="139" baseline="24691" dirty="0">
                <a:solidFill>
                  <a:schemeClr val="tx1"/>
                </a:solidFill>
                <a:cs typeface="Arial"/>
              </a:rPr>
              <a:t> </a:t>
            </a:r>
            <a:r>
              <a:rPr sz="1200" dirty="0">
                <a:solidFill>
                  <a:schemeClr val="tx1"/>
                </a:solidFill>
                <a:cs typeface="Arial"/>
              </a:rPr>
              <a:t>Since</a:t>
            </a:r>
            <a:r>
              <a:rPr sz="1200" spc="-7" dirty="0">
                <a:solidFill>
                  <a:schemeClr val="tx1"/>
                </a:solidFill>
                <a:cs typeface="Arial"/>
              </a:rPr>
              <a:t> </a:t>
            </a:r>
            <a:r>
              <a:rPr sz="1200" spc="-13" dirty="0">
                <a:solidFill>
                  <a:schemeClr val="tx1"/>
                </a:solidFill>
                <a:cs typeface="Arial"/>
              </a:rPr>
              <a:t>Listing</a:t>
            </a:r>
            <a:endParaRPr sz="1200" dirty="0">
              <a:solidFill>
                <a:schemeClr val="tx1"/>
              </a:solidFill>
              <a:cs typeface="Arial"/>
            </a:endParaRPr>
          </a:p>
        </p:txBody>
      </p:sp>
      <p:sp>
        <p:nvSpPr>
          <p:cNvPr id="96" name="object 103">
            <a:extLst>
              <a:ext uri="{FF2B5EF4-FFF2-40B4-BE49-F238E27FC236}">
                <a16:creationId xmlns:a16="http://schemas.microsoft.com/office/drawing/2014/main" id="{DF52336D-8729-236B-134A-440AEC99EACC}"/>
              </a:ext>
            </a:extLst>
          </p:cNvPr>
          <p:cNvSpPr/>
          <p:nvPr/>
        </p:nvSpPr>
        <p:spPr>
          <a:xfrm>
            <a:off x="1192416" y="5180649"/>
            <a:ext cx="169675" cy="131437"/>
          </a:xfrm>
          <a:custGeom>
            <a:avLst/>
            <a:gdLst/>
            <a:ahLst/>
            <a:cxnLst/>
            <a:rect l="l" t="t" r="r" b="b"/>
            <a:pathLst>
              <a:path w="135254" h="104775">
                <a:moveTo>
                  <a:pt x="67563" y="0"/>
                </a:moveTo>
                <a:lnTo>
                  <a:pt x="0" y="104393"/>
                </a:lnTo>
                <a:lnTo>
                  <a:pt x="135000" y="104393"/>
                </a:lnTo>
                <a:lnTo>
                  <a:pt x="67563" y="0"/>
                </a:lnTo>
                <a:close/>
              </a:path>
            </a:pathLst>
          </a:custGeom>
          <a:solidFill>
            <a:srgbClr val="00AF50"/>
          </a:solidFill>
        </p:spPr>
        <p:txBody>
          <a:bodyPr wrap="square" lIns="0" tIns="0" rIns="0" bIns="0" rtlCol="0"/>
          <a:lstStyle/>
          <a:p>
            <a:endParaRPr sz="2133"/>
          </a:p>
        </p:txBody>
      </p:sp>
      <p:sp>
        <p:nvSpPr>
          <p:cNvPr id="97" name="object 122">
            <a:extLst>
              <a:ext uri="{FF2B5EF4-FFF2-40B4-BE49-F238E27FC236}">
                <a16:creationId xmlns:a16="http://schemas.microsoft.com/office/drawing/2014/main" id="{230692E7-67EA-8CEF-10D8-79086F3F326F}"/>
              </a:ext>
            </a:extLst>
          </p:cNvPr>
          <p:cNvSpPr txBox="1"/>
          <p:nvPr/>
        </p:nvSpPr>
        <p:spPr>
          <a:xfrm>
            <a:off x="3103526" y="5135899"/>
            <a:ext cx="1393240" cy="632651"/>
          </a:xfrm>
          <a:prstGeom prst="rect">
            <a:avLst/>
          </a:prstGeom>
        </p:spPr>
        <p:txBody>
          <a:bodyPr vert="horz" wrap="square" lIns="0" tIns="16933" rIns="0" bIns="0" rtlCol="0">
            <a:spAutoFit/>
          </a:bodyPr>
          <a:lstStyle/>
          <a:p>
            <a:pPr marL="656150">
              <a:spcBef>
                <a:spcPts val="133"/>
              </a:spcBef>
            </a:pPr>
            <a:r>
              <a:rPr sz="1600" spc="-33" dirty="0">
                <a:solidFill>
                  <a:srgbClr val="00AF50"/>
                </a:solidFill>
                <a:cs typeface="Arial"/>
              </a:rPr>
              <a:t>43%</a:t>
            </a:r>
            <a:endParaRPr sz="1600" dirty="0">
              <a:cs typeface="Arial"/>
            </a:endParaRPr>
          </a:p>
          <a:p>
            <a:pPr marL="50799">
              <a:spcBef>
                <a:spcPts val="27"/>
              </a:spcBef>
            </a:pPr>
            <a:r>
              <a:rPr sz="1200" dirty="0">
                <a:solidFill>
                  <a:schemeClr val="tx1"/>
                </a:solidFill>
                <a:cs typeface="Arial"/>
              </a:rPr>
              <a:t>2026</a:t>
            </a:r>
            <a:r>
              <a:rPr sz="1200" spc="-13" dirty="0">
                <a:solidFill>
                  <a:schemeClr val="tx1"/>
                </a:solidFill>
                <a:cs typeface="Arial"/>
              </a:rPr>
              <a:t> </a:t>
            </a:r>
            <a:r>
              <a:rPr sz="1200" dirty="0">
                <a:solidFill>
                  <a:schemeClr val="tx1"/>
                </a:solidFill>
                <a:cs typeface="Arial"/>
              </a:rPr>
              <a:t>IPOs</a:t>
            </a:r>
            <a:r>
              <a:rPr sz="1200" baseline="24691" dirty="0">
                <a:solidFill>
                  <a:schemeClr val="tx1"/>
                </a:solidFill>
                <a:cs typeface="Arial"/>
              </a:rPr>
              <a:t>1</a:t>
            </a:r>
            <a:r>
              <a:rPr sz="1200" spc="139" baseline="24691" dirty="0">
                <a:solidFill>
                  <a:schemeClr val="tx1"/>
                </a:solidFill>
                <a:cs typeface="Arial"/>
              </a:rPr>
              <a:t> </a:t>
            </a:r>
            <a:r>
              <a:rPr sz="1200" dirty="0">
                <a:solidFill>
                  <a:schemeClr val="tx1"/>
                </a:solidFill>
                <a:cs typeface="Arial"/>
              </a:rPr>
              <a:t>Since</a:t>
            </a:r>
            <a:r>
              <a:rPr sz="1200" spc="-7" dirty="0">
                <a:solidFill>
                  <a:schemeClr val="tx1"/>
                </a:solidFill>
                <a:cs typeface="Arial"/>
              </a:rPr>
              <a:t> </a:t>
            </a:r>
            <a:r>
              <a:rPr sz="1200" spc="-13" dirty="0">
                <a:solidFill>
                  <a:schemeClr val="tx1"/>
                </a:solidFill>
                <a:cs typeface="Arial"/>
              </a:rPr>
              <a:t>Listing</a:t>
            </a:r>
            <a:endParaRPr sz="1200" dirty="0">
              <a:solidFill>
                <a:schemeClr val="tx1"/>
              </a:solidFill>
              <a:cs typeface="Arial"/>
            </a:endParaRPr>
          </a:p>
        </p:txBody>
      </p:sp>
      <p:sp>
        <p:nvSpPr>
          <p:cNvPr id="98" name="object 123">
            <a:extLst>
              <a:ext uri="{FF2B5EF4-FFF2-40B4-BE49-F238E27FC236}">
                <a16:creationId xmlns:a16="http://schemas.microsoft.com/office/drawing/2014/main" id="{13201261-1F3A-35E3-DAC7-5E545654BD28}"/>
              </a:ext>
            </a:extLst>
          </p:cNvPr>
          <p:cNvSpPr/>
          <p:nvPr/>
        </p:nvSpPr>
        <p:spPr>
          <a:xfrm>
            <a:off x="3486107" y="5199696"/>
            <a:ext cx="169675" cy="131437"/>
          </a:xfrm>
          <a:custGeom>
            <a:avLst/>
            <a:gdLst/>
            <a:ahLst/>
            <a:cxnLst/>
            <a:rect l="l" t="t" r="r" b="b"/>
            <a:pathLst>
              <a:path w="135254" h="104775">
                <a:moveTo>
                  <a:pt x="67437" y="0"/>
                </a:moveTo>
                <a:lnTo>
                  <a:pt x="0" y="104393"/>
                </a:lnTo>
                <a:lnTo>
                  <a:pt x="135000" y="104393"/>
                </a:lnTo>
                <a:lnTo>
                  <a:pt x="67437" y="0"/>
                </a:lnTo>
                <a:close/>
              </a:path>
            </a:pathLst>
          </a:custGeom>
          <a:solidFill>
            <a:srgbClr val="00AF50"/>
          </a:solidFill>
        </p:spPr>
        <p:txBody>
          <a:bodyPr wrap="square" lIns="0" tIns="0" rIns="0" bIns="0" rtlCol="0"/>
          <a:lstStyle/>
          <a:p>
            <a:endParaRPr sz="2133"/>
          </a:p>
        </p:txBody>
      </p:sp>
      <p:sp>
        <p:nvSpPr>
          <p:cNvPr id="99" name="object 74">
            <a:extLst>
              <a:ext uri="{FF2B5EF4-FFF2-40B4-BE49-F238E27FC236}">
                <a16:creationId xmlns:a16="http://schemas.microsoft.com/office/drawing/2014/main" id="{EA01C436-F560-0468-5BB5-5FC3E0C364A5}"/>
              </a:ext>
            </a:extLst>
          </p:cNvPr>
          <p:cNvSpPr txBox="1"/>
          <p:nvPr/>
        </p:nvSpPr>
        <p:spPr>
          <a:xfrm>
            <a:off x="4953000" y="3340353"/>
            <a:ext cx="2240334" cy="337764"/>
          </a:xfrm>
          <a:prstGeom prst="rect">
            <a:avLst/>
          </a:prstGeom>
        </p:spPr>
        <p:txBody>
          <a:bodyPr vert="horz" wrap="square" lIns="0" tIns="16933" rIns="0" bIns="0" rtlCol="0">
            <a:spAutoFit/>
          </a:bodyPr>
          <a:lstStyle/>
          <a:p>
            <a:pPr marL="248067">
              <a:spcBef>
                <a:spcPts val="133"/>
              </a:spcBef>
              <a:tabLst>
                <a:tab pos="913530" algn="l"/>
                <a:tab pos="1578994" algn="l"/>
              </a:tabLst>
            </a:pPr>
            <a:r>
              <a:rPr sz="1000" dirty="0">
                <a:cs typeface="Arial"/>
              </a:rPr>
              <a:t>2022</a:t>
            </a:r>
            <a:r>
              <a:rPr sz="1000" spc="-40" dirty="0">
                <a:cs typeface="Arial"/>
              </a:rPr>
              <a:t> </a:t>
            </a:r>
            <a:r>
              <a:rPr sz="1000" spc="-33" dirty="0">
                <a:cs typeface="Arial"/>
              </a:rPr>
              <a:t>Q1</a:t>
            </a:r>
            <a:r>
              <a:rPr sz="1000" dirty="0">
                <a:cs typeface="Arial"/>
              </a:rPr>
              <a:t>	</a:t>
            </a:r>
            <a:r>
              <a:rPr lang="en-US" sz="1000" dirty="0">
                <a:cs typeface="Arial"/>
              </a:rPr>
              <a:t>    </a:t>
            </a:r>
            <a:r>
              <a:rPr sz="1000" dirty="0">
                <a:cs typeface="Arial"/>
              </a:rPr>
              <a:t>2023</a:t>
            </a:r>
            <a:r>
              <a:rPr sz="1000" spc="-40" dirty="0">
                <a:cs typeface="Arial"/>
              </a:rPr>
              <a:t> </a:t>
            </a:r>
            <a:r>
              <a:rPr sz="1000" spc="-33" dirty="0">
                <a:cs typeface="Arial"/>
              </a:rPr>
              <a:t>Q1</a:t>
            </a:r>
            <a:r>
              <a:rPr sz="1000" dirty="0">
                <a:cs typeface="Arial"/>
              </a:rPr>
              <a:t>	</a:t>
            </a:r>
            <a:r>
              <a:rPr lang="en-US" sz="1000" dirty="0">
                <a:cs typeface="Arial"/>
              </a:rPr>
              <a:t>     </a:t>
            </a:r>
            <a:r>
              <a:rPr sz="1000" dirty="0">
                <a:cs typeface="Arial"/>
              </a:rPr>
              <a:t>2024</a:t>
            </a:r>
            <a:r>
              <a:rPr sz="1000" spc="-40" dirty="0">
                <a:cs typeface="Arial"/>
              </a:rPr>
              <a:t> </a:t>
            </a:r>
            <a:r>
              <a:rPr sz="1000" spc="-33" dirty="0">
                <a:cs typeface="Arial"/>
              </a:rPr>
              <a:t>Q1</a:t>
            </a:r>
            <a:endParaRPr sz="1000" dirty="0">
              <a:cs typeface="Arial"/>
            </a:endParaRPr>
          </a:p>
          <a:p>
            <a:pPr>
              <a:spcBef>
                <a:spcPts val="487"/>
              </a:spcBef>
            </a:pPr>
            <a:endParaRPr sz="667" dirty="0">
              <a:cs typeface="Arial"/>
            </a:endParaRPr>
          </a:p>
        </p:txBody>
      </p:sp>
      <p:sp>
        <p:nvSpPr>
          <p:cNvPr id="2" name="object 77">
            <a:extLst>
              <a:ext uri="{FF2B5EF4-FFF2-40B4-BE49-F238E27FC236}">
                <a16:creationId xmlns:a16="http://schemas.microsoft.com/office/drawing/2014/main" id="{84EB8170-BAEE-81F9-3EA0-BBC5491C914E}"/>
              </a:ext>
            </a:extLst>
          </p:cNvPr>
          <p:cNvSpPr/>
          <p:nvPr/>
        </p:nvSpPr>
        <p:spPr>
          <a:xfrm>
            <a:off x="3335764" y="1556553"/>
            <a:ext cx="663145" cy="1872447"/>
          </a:xfrm>
          <a:custGeom>
            <a:avLst/>
            <a:gdLst/>
            <a:ahLst/>
            <a:cxnLst/>
            <a:rect l="l" t="t" r="r" b="b"/>
            <a:pathLst>
              <a:path w="407670" h="572770">
                <a:moveTo>
                  <a:pt x="0" y="572160"/>
                </a:moveTo>
                <a:lnTo>
                  <a:pt x="407314" y="572160"/>
                </a:lnTo>
                <a:lnTo>
                  <a:pt x="407314" y="0"/>
                </a:lnTo>
                <a:lnTo>
                  <a:pt x="0" y="0"/>
                </a:lnTo>
                <a:lnTo>
                  <a:pt x="0" y="572160"/>
                </a:lnTo>
                <a:close/>
              </a:path>
            </a:pathLst>
          </a:custGeom>
          <a:ln w="12700">
            <a:solidFill>
              <a:srgbClr val="F4364B"/>
            </a:solidFill>
            <a:prstDash val="sysDot"/>
          </a:ln>
        </p:spPr>
        <p:txBody>
          <a:bodyPr wrap="square" lIns="0" tIns="0" rIns="0" bIns="0" rtlCol="0"/>
          <a:lstStyle/>
          <a:p>
            <a:endParaRPr sz="2133"/>
          </a:p>
        </p:txBody>
      </p:sp>
    </p:spTree>
    <p:extLst>
      <p:ext uri="{BB962C8B-B14F-4D97-AF65-F5344CB8AC3E}">
        <p14:creationId xmlns:p14="http://schemas.microsoft.com/office/powerpoint/2010/main" val="7556895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5EEA003-E1AD-A318-8E12-993BCF843834}"/>
              </a:ext>
            </a:extLst>
          </p:cNvPr>
          <p:cNvSpPr>
            <a:spLocks noGrp="1"/>
          </p:cNvSpPr>
          <p:nvPr>
            <p:ph type="subTitle" idx="1"/>
          </p:nvPr>
        </p:nvSpPr>
        <p:spPr/>
        <p:txBody>
          <a:bodyPr/>
          <a:lstStyle/>
          <a:p>
            <a:r>
              <a:rPr lang="en-US" altLang="zh-TW" b="1" dirty="0"/>
              <a:t>Section III – SMG’s Potential Hong Kong Listing </a:t>
            </a:r>
            <a:endParaRPr lang="en-US" b="1" dirty="0"/>
          </a:p>
        </p:txBody>
      </p:sp>
      <p:sp>
        <p:nvSpPr>
          <p:cNvPr id="3" name="Title 2">
            <a:extLst>
              <a:ext uri="{FF2B5EF4-FFF2-40B4-BE49-F238E27FC236}">
                <a16:creationId xmlns:a16="http://schemas.microsoft.com/office/drawing/2014/main" id="{D7F4169B-052B-88EF-3252-67B47E7502C7}"/>
              </a:ext>
            </a:extLst>
          </p:cNvPr>
          <p:cNvSpPr>
            <a:spLocks noGrp="1"/>
          </p:cNvSpPr>
          <p:nvPr>
            <p:ph type="ctrTitle"/>
          </p:nvPr>
        </p:nvSpPr>
        <p:spPr>
          <a:xfrm>
            <a:off x="2242944" y="4131897"/>
            <a:ext cx="7200000" cy="492443"/>
          </a:xfrm>
        </p:spPr>
        <p:txBody>
          <a:bodyPr/>
          <a:lstStyle/>
          <a:p>
            <a:r>
              <a:rPr lang="en-US" dirty="0"/>
              <a:t>2. Comparable Analysis and Indicative Valuation</a:t>
            </a:r>
          </a:p>
        </p:txBody>
      </p:sp>
      <p:sp>
        <p:nvSpPr>
          <p:cNvPr id="4" name="Slide Number Placeholder 3">
            <a:extLst>
              <a:ext uri="{FF2B5EF4-FFF2-40B4-BE49-F238E27FC236}">
                <a16:creationId xmlns:a16="http://schemas.microsoft.com/office/drawing/2014/main" id="{7A71B016-92E1-61BF-D0ED-433171830529}"/>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40</a:t>
            </a:fld>
            <a:endParaRPr lang="en-US" altLang="en-US" b="0">
              <a:solidFill>
                <a:srgbClr val="000000"/>
              </a:solidFill>
            </a:endParaRPr>
          </a:p>
        </p:txBody>
      </p:sp>
    </p:spTree>
    <p:extLst>
      <p:ext uri="{BB962C8B-B14F-4D97-AF65-F5344CB8AC3E}">
        <p14:creationId xmlns:p14="http://schemas.microsoft.com/office/powerpoint/2010/main" val="11926565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06BE3-5C25-6567-8CE5-88F175BA6A02}"/>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E376238A-D3D5-D742-E5D4-C05788334410}"/>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41</a:t>
            </a:fld>
            <a:endParaRPr lang="en-US" altLang="en-US" b="0">
              <a:solidFill>
                <a:srgbClr val="000000"/>
              </a:solidFill>
            </a:endParaRPr>
          </a:p>
        </p:txBody>
      </p:sp>
      <p:sp>
        <p:nvSpPr>
          <p:cNvPr id="6" name="Title 1">
            <a:extLst>
              <a:ext uri="{FF2B5EF4-FFF2-40B4-BE49-F238E27FC236}">
                <a16:creationId xmlns:a16="http://schemas.microsoft.com/office/drawing/2014/main" id="{5AAD3A10-DC03-6863-FED2-57C81E0146F6}"/>
              </a:ext>
            </a:extLst>
          </p:cNvPr>
          <p:cNvSpPr txBox="1">
            <a:spLocks/>
          </p:cNvSpPr>
          <p:nvPr/>
        </p:nvSpPr>
        <p:spPr bwMode="auto">
          <a:xfrm>
            <a:off x="800973" y="411480"/>
            <a:ext cx="8494051" cy="577850"/>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lvl1pPr algn="l" rtl="0" eaLnBrk="0" fontAlgn="base" hangingPunct="0">
              <a:spcBef>
                <a:spcPct val="0"/>
              </a:spcBef>
              <a:spcAft>
                <a:spcPct val="0"/>
              </a:spcAft>
              <a:tabLst>
                <a:tab pos="457200" algn="l"/>
              </a:tabLst>
              <a:defRPr sz="22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a:lstStyle>
          <a:p>
            <a:r>
              <a:rPr lang="en-US" sz="2000" kern="0" dirty="0"/>
              <a:t>Comparable Analysis</a:t>
            </a:r>
            <a:endParaRPr lang="en-GB" sz="2000" kern="0" dirty="0"/>
          </a:p>
        </p:txBody>
      </p:sp>
      <p:sp>
        <p:nvSpPr>
          <p:cNvPr id="2" name="文字方塊 1">
            <a:extLst>
              <a:ext uri="{FF2B5EF4-FFF2-40B4-BE49-F238E27FC236}">
                <a16:creationId xmlns:a16="http://schemas.microsoft.com/office/drawing/2014/main" id="{4B050D8E-79D1-F248-EA15-560005935C63}"/>
              </a:ext>
            </a:extLst>
          </p:cNvPr>
          <p:cNvSpPr txBox="1"/>
          <p:nvPr/>
        </p:nvSpPr>
        <p:spPr>
          <a:xfrm>
            <a:off x="853159" y="-799048"/>
            <a:ext cx="8199681" cy="461665"/>
          </a:xfrm>
          <a:prstGeom prst="rect">
            <a:avLst/>
          </a:prstGeom>
          <a:noFill/>
        </p:spPr>
        <p:txBody>
          <a:bodyPr wrap="none" rtlCol="0">
            <a:spAutoFit/>
          </a:bodyPr>
          <a:lstStyle/>
          <a:p>
            <a:r>
              <a:rPr lang="en-US" dirty="0"/>
              <a:t>Reason for choosing these comparables, need to think</a:t>
            </a:r>
          </a:p>
        </p:txBody>
      </p:sp>
      <p:sp>
        <p:nvSpPr>
          <p:cNvPr id="37" name="Text 3">
            <a:extLst>
              <a:ext uri="{FF2B5EF4-FFF2-40B4-BE49-F238E27FC236}">
                <a16:creationId xmlns:a16="http://schemas.microsoft.com/office/drawing/2014/main" id="{A8FB2211-BD89-781F-E0B0-3FD217CB1DF0}"/>
              </a:ext>
            </a:extLst>
          </p:cNvPr>
          <p:cNvSpPr/>
          <p:nvPr/>
        </p:nvSpPr>
        <p:spPr>
          <a:xfrm>
            <a:off x="698500" y="990600"/>
            <a:ext cx="5080000" cy="330200"/>
          </a:xfrm>
          <a:prstGeom prst="rect">
            <a:avLst/>
          </a:prstGeom>
          <a:noFill/>
          <a:ln/>
        </p:spPr>
        <p:txBody>
          <a:bodyPr wrap="none" lIns="0" tIns="0" rIns="0" bIns="0" rtlCol="0" anchor="ctr"/>
          <a:lstStyle/>
          <a:p>
            <a:pPr>
              <a:lnSpc>
                <a:spcPct val="100000"/>
              </a:lnSpc>
            </a:pPr>
            <a:endParaRPr lang="en-US" sz="800" dirty="0">
              <a:latin typeface="+mj-lt"/>
            </a:endParaRPr>
          </a:p>
        </p:txBody>
      </p:sp>
      <p:grpSp>
        <p:nvGrpSpPr>
          <p:cNvPr id="52" name="群組 51">
            <a:extLst>
              <a:ext uri="{FF2B5EF4-FFF2-40B4-BE49-F238E27FC236}">
                <a16:creationId xmlns:a16="http://schemas.microsoft.com/office/drawing/2014/main" id="{76FE8B74-6896-11B7-1FA2-11D1510D70D0}"/>
              </a:ext>
            </a:extLst>
          </p:cNvPr>
          <p:cNvGrpSpPr/>
          <p:nvPr/>
        </p:nvGrpSpPr>
        <p:grpSpPr>
          <a:xfrm>
            <a:off x="0" y="1201699"/>
            <a:ext cx="2794000" cy="930485"/>
            <a:chOff x="952500" y="1609515"/>
            <a:chExt cx="2794000" cy="930485"/>
          </a:xfrm>
        </p:grpSpPr>
        <p:pic>
          <p:nvPicPr>
            <p:cNvPr id="39" name="Image 0" descr="https://kimi-img.moonshot.cn/pub/slides/okc/4djuavcessoia/mnt/agents/output/comparable_companies/images/ihh.png">
              <a:extLst>
                <a:ext uri="{FF2B5EF4-FFF2-40B4-BE49-F238E27FC236}">
                  <a16:creationId xmlns:a16="http://schemas.microsoft.com/office/drawing/2014/main" id="{69B3250E-5657-0866-073C-D3B2BC69C31E}"/>
                </a:ext>
              </a:extLst>
            </p:cNvPr>
            <p:cNvPicPr>
              <a:picLocks noChangeAspect="1"/>
            </p:cNvPicPr>
            <p:nvPr/>
          </p:nvPicPr>
          <p:blipFill>
            <a:blip r:embed="rId2"/>
            <a:srcRect l="-35227" r="-35227"/>
            <a:stretch/>
          </p:blipFill>
          <p:spPr>
            <a:xfrm>
              <a:off x="1116606" y="1609515"/>
              <a:ext cx="2336800" cy="690418"/>
            </a:xfrm>
            <a:prstGeom prst="rect">
              <a:avLst/>
            </a:prstGeom>
          </p:spPr>
        </p:pic>
        <p:sp>
          <p:nvSpPr>
            <p:cNvPr id="42" name="Text 5">
              <a:extLst>
                <a:ext uri="{FF2B5EF4-FFF2-40B4-BE49-F238E27FC236}">
                  <a16:creationId xmlns:a16="http://schemas.microsoft.com/office/drawing/2014/main" id="{9840E264-4F72-6901-6D28-319EBC9D4A4A}"/>
                </a:ext>
              </a:extLst>
            </p:cNvPr>
            <p:cNvSpPr/>
            <p:nvPr/>
          </p:nvSpPr>
          <p:spPr>
            <a:xfrm>
              <a:off x="952500" y="2362200"/>
              <a:ext cx="2794000" cy="177800"/>
            </a:xfrm>
            <a:prstGeom prst="rect">
              <a:avLst/>
            </a:prstGeom>
            <a:noFill/>
            <a:ln/>
          </p:spPr>
          <p:txBody>
            <a:bodyPr wrap="none" lIns="0" tIns="0" rIns="0" bIns="0" rtlCol="0" anchor="ctr"/>
            <a:lstStyle/>
            <a:p>
              <a:pPr algn="ctr">
                <a:lnSpc>
                  <a:spcPct val="100000"/>
                </a:lnSpc>
              </a:pPr>
              <a:r>
                <a:rPr lang="en-US" sz="800" dirty="0">
                  <a:solidFill>
                    <a:srgbClr val="6B7280"/>
                  </a:solidFill>
                  <a:latin typeface="+mj-lt"/>
                  <a:ea typeface="QuattrocentoSans" pitchFamily="34" charset="-122"/>
                  <a:cs typeface="QuattrocentoSans" pitchFamily="34" charset="-120"/>
                </a:rPr>
                <a:t>IHH Healthcare Bhd</a:t>
              </a:r>
              <a:endParaRPr lang="en-US" sz="800" dirty="0">
                <a:latin typeface="+mj-lt"/>
              </a:endParaRPr>
            </a:p>
          </p:txBody>
        </p:sp>
      </p:grpSp>
      <p:sp>
        <p:nvSpPr>
          <p:cNvPr id="43" name="Text 6">
            <a:extLst>
              <a:ext uri="{FF2B5EF4-FFF2-40B4-BE49-F238E27FC236}">
                <a16:creationId xmlns:a16="http://schemas.microsoft.com/office/drawing/2014/main" id="{0B89A2F6-BA73-CD26-95DF-AFFFAD1FFBCC}"/>
              </a:ext>
            </a:extLst>
          </p:cNvPr>
          <p:cNvSpPr/>
          <p:nvPr/>
        </p:nvSpPr>
        <p:spPr>
          <a:xfrm>
            <a:off x="2190498" y="1924222"/>
            <a:ext cx="2794000" cy="177800"/>
          </a:xfrm>
          <a:prstGeom prst="rect">
            <a:avLst/>
          </a:prstGeom>
          <a:noFill/>
          <a:ln/>
        </p:spPr>
        <p:txBody>
          <a:bodyPr wrap="none" lIns="0" tIns="0" rIns="0" bIns="0" rtlCol="0" anchor="ctr"/>
          <a:lstStyle/>
          <a:p>
            <a:pPr algn="ctr">
              <a:lnSpc>
                <a:spcPct val="100000"/>
              </a:lnSpc>
            </a:pPr>
            <a:r>
              <a:rPr lang="en-US" sz="800" dirty="0">
                <a:solidFill>
                  <a:srgbClr val="6B7280"/>
                </a:solidFill>
                <a:latin typeface="+mj-lt"/>
                <a:ea typeface="QuattrocentoSans" pitchFamily="34" charset="-122"/>
                <a:cs typeface="QuattrocentoSans" pitchFamily="34" charset="-120"/>
              </a:rPr>
              <a:t>Bangkok Dusit Medical Services</a:t>
            </a:r>
            <a:endParaRPr lang="en-US" sz="800" dirty="0">
              <a:latin typeface="+mj-lt"/>
            </a:endParaRPr>
          </a:p>
        </p:txBody>
      </p:sp>
      <p:sp>
        <p:nvSpPr>
          <p:cNvPr id="44" name="Text 7">
            <a:extLst>
              <a:ext uri="{FF2B5EF4-FFF2-40B4-BE49-F238E27FC236}">
                <a16:creationId xmlns:a16="http://schemas.microsoft.com/office/drawing/2014/main" id="{ED09AFA3-B4E1-AEDD-AFC2-72A83769A0F4}"/>
              </a:ext>
            </a:extLst>
          </p:cNvPr>
          <p:cNvSpPr/>
          <p:nvPr/>
        </p:nvSpPr>
        <p:spPr>
          <a:xfrm>
            <a:off x="4581274" y="1916284"/>
            <a:ext cx="2794000" cy="177800"/>
          </a:xfrm>
          <a:prstGeom prst="rect">
            <a:avLst/>
          </a:prstGeom>
          <a:noFill/>
          <a:ln/>
        </p:spPr>
        <p:txBody>
          <a:bodyPr wrap="none" lIns="0" tIns="0" rIns="0" bIns="0" rtlCol="0" anchor="ctr"/>
          <a:lstStyle/>
          <a:p>
            <a:pPr algn="ctr">
              <a:lnSpc>
                <a:spcPct val="100000"/>
              </a:lnSpc>
            </a:pPr>
            <a:r>
              <a:rPr lang="en-US" sz="800" dirty="0">
                <a:solidFill>
                  <a:srgbClr val="6B7280"/>
                </a:solidFill>
                <a:latin typeface="+mj-lt"/>
                <a:ea typeface="QuattrocentoSans" pitchFamily="34" charset="-122"/>
                <a:cs typeface="QuattrocentoSans" pitchFamily="34" charset="-120"/>
              </a:rPr>
              <a:t>Bumrungrad Hospital PCL</a:t>
            </a:r>
            <a:endParaRPr lang="en-US" sz="800" dirty="0">
              <a:latin typeface="+mj-lt"/>
            </a:endParaRPr>
          </a:p>
        </p:txBody>
      </p:sp>
      <p:grpSp>
        <p:nvGrpSpPr>
          <p:cNvPr id="57" name="群組 56">
            <a:extLst>
              <a:ext uri="{FF2B5EF4-FFF2-40B4-BE49-F238E27FC236}">
                <a16:creationId xmlns:a16="http://schemas.microsoft.com/office/drawing/2014/main" id="{BF2FB879-3D8F-C850-1451-527FDD02A114}"/>
              </a:ext>
            </a:extLst>
          </p:cNvPr>
          <p:cNvGrpSpPr/>
          <p:nvPr/>
        </p:nvGrpSpPr>
        <p:grpSpPr>
          <a:xfrm>
            <a:off x="6970754" y="1134158"/>
            <a:ext cx="2794000" cy="959926"/>
            <a:chOff x="12382500" y="1580074"/>
            <a:chExt cx="2794000" cy="959926"/>
          </a:xfrm>
        </p:grpSpPr>
        <p:pic>
          <p:nvPicPr>
            <p:cNvPr id="41" name="Image 3" descr="https://kimi-img.moonshot.cn/pub/slides/okc/4djuavcessoia/mnt/agents/output/comparable_companies/images/kpj.png">
              <a:extLst>
                <a:ext uri="{FF2B5EF4-FFF2-40B4-BE49-F238E27FC236}">
                  <a16:creationId xmlns:a16="http://schemas.microsoft.com/office/drawing/2014/main" id="{AD139C1F-0F25-2DA3-9FB3-7EC37EBCEBE2}"/>
                </a:ext>
              </a:extLst>
            </p:cNvPr>
            <p:cNvPicPr>
              <a:picLocks noChangeAspect="1"/>
            </p:cNvPicPr>
            <p:nvPr/>
          </p:nvPicPr>
          <p:blipFill>
            <a:blip r:embed="rId3"/>
            <a:srcRect l="-35227" r="-35227"/>
            <a:stretch/>
          </p:blipFill>
          <p:spPr>
            <a:xfrm>
              <a:off x="12946978" y="1580074"/>
              <a:ext cx="1613940" cy="825500"/>
            </a:xfrm>
            <a:prstGeom prst="rect">
              <a:avLst/>
            </a:prstGeom>
          </p:spPr>
        </p:pic>
        <p:sp>
          <p:nvSpPr>
            <p:cNvPr id="45" name="Text 8">
              <a:extLst>
                <a:ext uri="{FF2B5EF4-FFF2-40B4-BE49-F238E27FC236}">
                  <a16:creationId xmlns:a16="http://schemas.microsoft.com/office/drawing/2014/main" id="{FDC2C955-F031-75E3-B55A-3E2EAE4C29BC}"/>
                </a:ext>
              </a:extLst>
            </p:cNvPr>
            <p:cNvSpPr/>
            <p:nvPr/>
          </p:nvSpPr>
          <p:spPr>
            <a:xfrm>
              <a:off x="12382500" y="2362200"/>
              <a:ext cx="2794000" cy="177800"/>
            </a:xfrm>
            <a:prstGeom prst="rect">
              <a:avLst/>
            </a:prstGeom>
            <a:noFill/>
            <a:ln/>
          </p:spPr>
          <p:txBody>
            <a:bodyPr wrap="none" lIns="0" tIns="0" rIns="0" bIns="0" rtlCol="0" anchor="ctr"/>
            <a:lstStyle/>
            <a:p>
              <a:pPr algn="ctr">
                <a:lnSpc>
                  <a:spcPct val="100000"/>
                </a:lnSpc>
              </a:pPr>
              <a:r>
                <a:rPr lang="en-US" sz="800" dirty="0">
                  <a:solidFill>
                    <a:srgbClr val="6B7280"/>
                  </a:solidFill>
                  <a:latin typeface="+mj-lt"/>
                  <a:ea typeface="QuattrocentoSans" pitchFamily="34" charset="-122"/>
                  <a:cs typeface="QuattrocentoSans" pitchFamily="34" charset="-120"/>
                </a:rPr>
                <a:t>KPJ Healthcare Bhd</a:t>
              </a:r>
              <a:endParaRPr lang="en-US" sz="800" dirty="0">
                <a:latin typeface="+mj-lt"/>
              </a:endParaRPr>
            </a:p>
          </p:txBody>
        </p:sp>
      </p:grpSp>
      <p:sp>
        <p:nvSpPr>
          <p:cNvPr id="49" name="Text 9">
            <a:extLst>
              <a:ext uri="{FF2B5EF4-FFF2-40B4-BE49-F238E27FC236}">
                <a16:creationId xmlns:a16="http://schemas.microsoft.com/office/drawing/2014/main" id="{C1FBB333-4B40-885F-BB08-4AF601BF92F3}"/>
              </a:ext>
            </a:extLst>
          </p:cNvPr>
          <p:cNvSpPr/>
          <p:nvPr/>
        </p:nvSpPr>
        <p:spPr>
          <a:xfrm>
            <a:off x="1270000" y="3103734"/>
            <a:ext cx="2794000" cy="177800"/>
          </a:xfrm>
          <a:prstGeom prst="rect">
            <a:avLst/>
          </a:prstGeom>
          <a:noFill/>
          <a:ln/>
        </p:spPr>
        <p:txBody>
          <a:bodyPr wrap="none" lIns="0" tIns="0" rIns="0" bIns="0" rtlCol="0" anchor="ctr"/>
          <a:lstStyle/>
          <a:p>
            <a:pPr algn="ctr">
              <a:lnSpc>
                <a:spcPct val="100000"/>
              </a:lnSpc>
            </a:pPr>
            <a:r>
              <a:rPr lang="en-US" sz="800" dirty="0">
                <a:solidFill>
                  <a:srgbClr val="6B7280"/>
                </a:solidFill>
                <a:latin typeface="+mj-lt"/>
                <a:ea typeface="QuattrocentoSans" pitchFamily="34" charset="-122"/>
                <a:cs typeface="QuattrocentoSans" pitchFamily="34" charset="-120"/>
              </a:rPr>
              <a:t>Raffles Medical Group Ltd</a:t>
            </a:r>
            <a:endParaRPr lang="en-US" sz="800" dirty="0">
              <a:latin typeface="+mj-lt"/>
            </a:endParaRPr>
          </a:p>
        </p:txBody>
      </p:sp>
      <p:sp>
        <p:nvSpPr>
          <p:cNvPr id="50" name="Text 10">
            <a:extLst>
              <a:ext uri="{FF2B5EF4-FFF2-40B4-BE49-F238E27FC236}">
                <a16:creationId xmlns:a16="http://schemas.microsoft.com/office/drawing/2014/main" id="{37E805F2-624F-4A60-8E39-0303FE70DC55}"/>
              </a:ext>
            </a:extLst>
          </p:cNvPr>
          <p:cNvSpPr/>
          <p:nvPr/>
        </p:nvSpPr>
        <p:spPr>
          <a:xfrm>
            <a:off x="3515359" y="3073572"/>
            <a:ext cx="2794000" cy="177800"/>
          </a:xfrm>
          <a:prstGeom prst="rect">
            <a:avLst/>
          </a:prstGeom>
          <a:noFill/>
          <a:ln/>
        </p:spPr>
        <p:txBody>
          <a:bodyPr wrap="none" lIns="0" tIns="0" rIns="0" bIns="0" rtlCol="0" anchor="ctr"/>
          <a:lstStyle/>
          <a:p>
            <a:pPr algn="ctr">
              <a:lnSpc>
                <a:spcPct val="100000"/>
              </a:lnSpc>
            </a:pPr>
            <a:r>
              <a:rPr lang="en-US" sz="800" dirty="0">
                <a:solidFill>
                  <a:srgbClr val="6B7280"/>
                </a:solidFill>
                <a:latin typeface="+mj-lt"/>
                <a:ea typeface="QuattrocentoSans" pitchFamily="34" charset="-122"/>
                <a:cs typeface="QuattrocentoSans" pitchFamily="34" charset="-120"/>
              </a:rPr>
              <a:t>Bangkok Chain Hospital PCL</a:t>
            </a:r>
            <a:endParaRPr lang="en-US" sz="800" dirty="0">
              <a:latin typeface="+mj-lt"/>
            </a:endParaRPr>
          </a:p>
        </p:txBody>
      </p:sp>
      <p:sp>
        <p:nvSpPr>
          <p:cNvPr id="51" name="Text 11">
            <a:extLst>
              <a:ext uri="{FF2B5EF4-FFF2-40B4-BE49-F238E27FC236}">
                <a16:creationId xmlns:a16="http://schemas.microsoft.com/office/drawing/2014/main" id="{D9511FBE-C475-0600-315E-3FF3EF2A2A24}"/>
              </a:ext>
            </a:extLst>
          </p:cNvPr>
          <p:cNvSpPr/>
          <p:nvPr/>
        </p:nvSpPr>
        <p:spPr>
          <a:xfrm>
            <a:off x="5693410" y="3073572"/>
            <a:ext cx="2794000" cy="177800"/>
          </a:xfrm>
          <a:prstGeom prst="rect">
            <a:avLst/>
          </a:prstGeom>
          <a:noFill/>
          <a:ln/>
        </p:spPr>
        <p:txBody>
          <a:bodyPr wrap="none" lIns="0" tIns="0" rIns="0" bIns="0" rtlCol="0" anchor="ctr"/>
          <a:lstStyle/>
          <a:p>
            <a:pPr algn="ctr">
              <a:lnSpc>
                <a:spcPct val="100000"/>
              </a:lnSpc>
            </a:pPr>
            <a:r>
              <a:rPr lang="en-US" sz="800" dirty="0">
                <a:solidFill>
                  <a:srgbClr val="6B7280"/>
                </a:solidFill>
                <a:latin typeface="+mj-lt"/>
                <a:ea typeface="QuattrocentoSans" pitchFamily="34" charset="-122"/>
                <a:cs typeface="QuattrocentoSans" pitchFamily="34" charset="-120"/>
              </a:rPr>
              <a:t>Chularat Hospital PCL</a:t>
            </a:r>
            <a:endParaRPr lang="en-US" sz="800" dirty="0">
              <a:latin typeface="+mj-lt"/>
            </a:endParaRPr>
          </a:p>
        </p:txBody>
      </p:sp>
      <p:pic>
        <p:nvPicPr>
          <p:cNvPr id="8194" name="Picture 2" descr="Bangkok Dusit Medical Services - Wikipedia">
            <a:extLst>
              <a:ext uri="{FF2B5EF4-FFF2-40B4-BE49-F238E27FC236}">
                <a16:creationId xmlns:a16="http://schemas.microsoft.com/office/drawing/2014/main" id="{0F1BD070-F600-29E5-D596-621524EEDB3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33930" y="1348343"/>
            <a:ext cx="1107414" cy="412618"/>
          </a:xfrm>
          <a:prstGeom prst="rect">
            <a:avLst/>
          </a:prstGeom>
          <a:noFill/>
          <a:extLst>
            <a:ext uri="{909E8E84-426E-40DD-AFC4-6F175D3DCCD1}">
              <a14:hiddenFill xmlns:a14="http://schemas.microsoft.com/office/drawing/2010/main">
                <a:solidFill>
                  <a:srgbClr val="FFFFFF"/>
                </a:solidFill>
              </a14:hiddenFill>
            </a:ext>
          </a:extLst>
        </p:spPr>
      </p:pic>
      <p:pic>
        <p:nvPicPr>
          <p:cNvPr id="58" name="Image 7" descr="https://kimi-img.moonshot.cn/pub/slides/okc/4djuavcessoia/mnt/agents/output/comparable_companies/images/qm.png">
            <a:extLst>
              <a:ext uri="{FF2B5EF4-FFF2-40B4-BE49-F238E27FC236}">
                <a16:creationId xmlns:a16="http://schemas.microsoft.com/office/drawing/2014/main" id="{A5D6167E-E55E-E446-A046-4F56D172006A}"/>
              </a:ext>
            </a:extLst>
          </p:cNvPr>
          <p:cNvPicPr>
            <a:picLocks noChangeAspect="1"/>
          </p:cNvPicPr>
          <p:nvPr/>
        </p:nvPicPr>
        <p:blipFill>
          <a:blip r:embed="rId5"/>
          <a:srcRect l="-35227" r="-35227"/>
          <a:stretch/>
        </p:blipFill>
        <p:spPr>
          <a:xfrm>
            <a:off x="1163850" y="4431471"/>
            <a:ext cx="1823919" cy="784632"/>
          </a:xfrm>
          <a:prstGeom prst="rect">
            <a:avLst/>
          </a:prstGeom>
        </p:spPr>
      </p:pic>
      <p:pic>
        <p:nvPicPr>
          <p:cNvPr id="59" name="Image 8" descr="https://kimi-img.moonshot.cn/pub/slides/okc/4djuavcessoia/mnt/agents/output/comparable_companies/images/klinique.png">
            <a:extLst>
              <a:ext uri="{FF2B5EF4-FFF2-40B4-BE49-F238E27FC236}">
                <a16:creationId xmlns:a16="http://schemas.microsoft.com/office/drawing/2014/main" id="{4C9B7EBB-4B35-D7CF-BE37-561C59496E67}"/>
              </a:ext>
            </a:extLst>
          </p:cNvPr>
          <p:cNvPicPr>
            <a:picLocks noChangeAspect="1"/>
          </p:cNvPicPr>
          <p:nvPr/>
        </p:nvPicPr>
        <p:blipFill>
          <a:blip r:embed="rId6"/>
          <a:srcRect l="-35227" r="-35227"/>
          <a:stretch/>
        </p:blipFill>
        <p:spPr>
          <a:xfrm>
            <a:off x="4111832" y="4284627"/>
            <a:ext cx="1682334" cy="854042"/>
          </a:xfrm>
          <a:prstGeom prst="rect">
            <a:avLst/>
          </a:prstGeom>
        </p:spPr>
      </p:pic>
      <p:pic>
        <p:nvPicPr>
          <p:cNvPr id="60" name="Image 9" descr="https://kimi-img.moonshot.cn/pub/slides/okc/4djuavcessoia/mnt/agents/output/comparable_companies/images/isec.png">
            <a:extLst>
              <a:ext uri="{FF2B5EF4-FFF2-40B4-BE49-F238E27FC236}">
                <a16:creationId xmlns:a16="http://schemas.microsoft.com/office/drawing/2014/main" id="{95B40490-A145-7E0C-04E0-B7D1B5A61AEB}"/>
              </a:ext>
            </a:extLst>
          </p:cNvPr>
          <p:cNvPicPr>
            <a:picLocks noChangeAspect="1"/>
          </p:cNvPicPr>
          <p:nvPr/>
        </p:nvPicPr>
        <p:blipFill>
          <a:blip r:embed="rId7"/>
          <a:srcRect l="-35227" r="-35227"/>
          <a:stretch/>
        </p:blipFill>
        <p:spPr>
          <a:xfrm>
            <a:off x="6761061" y="4343838"/>
            <a:ext cx="1980837" cy="825500"/>
          </a:xfrm>
          <a:prstGeom prst="rect">
            <a:avLst/>
          </a:prstGeom>
        </p:spPr>
      </p:pic>
      <p:sp>
        <p:nvSpPr>
          <p:cNvPr id="61" name="Text 17">
            <a:extLst>
              <a:ext uri="{FF2B5EF4-FFF2-40B4-BE49-F238E27FC236}">
                <a16:creationId xmlns:a16="http://schemas.microsoft.com/office/drawing/2014/main" id="{808540C5-69A0-2924-16A1-2BC28B15415E}"/>
              </a:ext>
            </a:extLst>
          </p:cNvPr>
          <p:cNvSpPr/>
          <p:nvPr/>
        </p:nvSpPr>
        <p:spPr>
          <a:xfrm>
            <a:off x="766480" y="5117798"/>
            <a:ext cx="2794000" cy="177800"/>
          </a:xfrm>
          <a:prstGeom prst="rect">
            <a:avLst/>
          </a:prstGeom>
          <a:noFill/>
          <a:ln/>
        </p:spPr>
        <p:txBody>
          <a:bodyPr wrap="none" lIns="0" tIns="0" rIns="0" bIns="0" rtlCol="0" anchor="ctr"/>
          <a:lstStyle/>
          <a:p>
            <a:pPr algn="ctr">
              <a:lnSpc>
                <a:spcPct val="100000"/>
              </a:lnSpc>
            </a:pPr>
            <a:r>
              <a:rPr lang="en-US" sz="800" dirty="0">
                <a:solidFill>
                  <a:srgbClr val="6B7280"/>
                </a:solidFill>
                <a:latin typeface="+mj-lt"/>
                <a:ea typeface="QuattrocentoSans" pitchFamily="34" charset="-122"/>
                <a:cs typeface="QuattrocentoSans" pitchFamily="34" charset="-120"/>
              </a:rPr>
              <a:t>Q&amp;M Dental Group Singapore Ltd</a:t>
            </a:r>
            <a:endParaRPr lang="en-US" sz="800" dirty="0">
              <a:latin typeface="+mj-lt"/>
            </a:endParaRPr>
          </a:p>
        </p:txBody>
      </p:sp>
      <p:sp>
        <p:nvSpPr>
          <p:cNvPr id="62" name="Text 18">
            <a:extLst>
              <a:ext uri="{FF2B5EF4-FFF2-40B4-BE49-F238E27FC236}">
                <a16:creationId xmlns:a16="http://schemas.microsoft.com/office/drawing/2014/main" id="{97AC37AD-878C-32AA-021A-FDBE5F7211EF}"/>
              </a:ext>
            </a:extLst>
          </p:cNvPr>
          <p:cNvSpPr/>
          <p:nvPr/>
        </p:nvSpPr>
        <p:spPr>
          <a:xfrm>
            <a:off x="3560480" y="5117798"/>
            <a:ext cx="2794000" cy="177800"/>
          </a:xfrm>
          <a:prstGeom prst="rect">
            <a:avLst/>
          </a:prstGeom>
          <a:noFill/>
          <a:ln/>
        </p:spPr>
        <p:txBody>
          <a:bodyPr wrap="none" lIns="0" tIns="0" rIns="0" bIns="0" rtlCol="0" anchor="ctr"/>
          <a:lstStyle/>
          <a:p>
            <a:pPr algn="ctr">
              <a:lnSpc>
                <a:spcPct val="100000"/>
              </a:lnSpc>
            </a:pPr>
            <a:r>
              <a:rPr lang="en-US" sz="800" dirty="0">
                <a:solidFill>
                  <a:srgbClr val="6B7280"/>
                </a:solidFill>
                <a:latin typeface="+mj-lt"/>
                <a:ea typeface="QuattrocentoSans" pitchFamily="34" charset="-122"/>
                <a:cs typeface="QuattrocentoSans" pitchFamily="34" charset="-120"/>
              </a:rPr>
              <a:t>Klinique Medical Clinic PCL</a:t>
            </a:r>
            <a:endParaRPr lang="en-US" sz="800" dirty="0">
              <a:latin typeface="+mj-lt"/>
            </a:endParaRPr>
          </a:p>
        </p:txBody>
      </p:sp>
      <p:sp>
        <p:nvSpPr>
          <p:cNvPr id="63" name="Text 19">
            <a:extLst>
              <a:ext uri="{FF2B5EF4-FFF2-40B4-BE49-F238E27FC236}">
                <a16:creationId xmlns:a16="http://schemas.microsoft.com/office/drawing/2014/main" id="{DB163ABD-16BD-6297-1C19-CE8A9FA38EB5}"/>
              </a:ext>
            </a:extLst>
          </p:cNvPr>
          <p:cNvSpPr/>
          <p:nvPr/>
        </p:nvSpPr>
        <p:spPr>
          <a:xfrm>
            <a:off x="6354480" y="5117798"/>
            <a:ext cx="2794000" cy="177800"/>
          </a:xfrm>
          <a:prstGeom prst="rect">
            <a:avLst/>
          </a:prstGeom>
          <a:noFill/>
          <a:ln/>
        </p:spPr>
        <p:txBody>
          <a:bodyPr wrap="none" lIns="0" tIns="0" rIns="0" bIns="0" rtlCol="0" anchor="ctr"/>
          <a:lstStyle/>
          <a:p>
            <a:pPr algn="ctr">
              <a:lnSpc>
                <a:spcPct val="100000"/>
              </a:lnSpc>
            </a:pPr>
            <a:r>
              <a:rPr lang="en-US" sz="800" dirty="0">
                <a:solidFill>
                  <a:srgbClr val="6B7280"/>
                </a:solidFill>
                <a:latin typeface="+mj-lt"/>
                <a:ea typeface="QuattrocentoSans" pitchFamily="34" charset="-122"/>
                <a:cs typeface="QuattrocentoSans" pitchFamily="34" charset="-120"/>
              </a:rPr>
              <a:t>ISEC Healthcare Ltd</a:t>
            </a:r>
            <a:endParaRPr lang="en-US" sz="800" dirty="0">
              <a:latin typeface="+mj-lt"/>
            </a:endParaRPr>
          </a:p>
        </p:txBody>
      </p:sp>
      <p:pic>
        <p:nvPicPr>
          <p:cNvPr id="8196" name="Picture 4">
            <a:extLst>
              <a:ext uri="{FF2B5EF4-FFF2-40B4-BE49-F238E27FC236}">
                <a16:creationId xmlns:a16="http://schemas.microsoft.com/office/drawing/2014/main" id="{A4DCC6DD-BF18-3AD4-CFF3-7E009AC96B8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57384" y="2377959"/>
            <a:ext cx="1109949" cy="529360"/>
          </a:xfrm>
          <a:prstGeom prst="rect">
            <a:avLst/>
          </a:prstGeom>
          <a:noFill/>
          <a:extLst>
            <a:ext uri="{909E8E84-426E-40DD-AFC4-6F175D3DCCD1}">
              <a14:hiddenFill xmlns:a14="http://schemas.microsoft.com/office/drawing/2010/main">
                <a:solidFill>
                  <a:srgbClr val="FFFFFF"/>
                </a:solidFill>
              </a14:hiddenFill>
            </a:ext>
          </a:extLst>
        </p:spPr>
      </p:pic>
      <p:sp>
        <p:nvSpPr>
          <p:cNvPr id="8192" name="Text 20">
            <a:extLst>
              <a:ext uri="{FF2B5EF4-FFF2-40B4-BE49-F238E27FC236}">
                <a16:creationId xmlns:a16="http://schemas.microsoft.com/office/drawing/2014/main" id="{D864AF6D-123A-0071-90E2-6A4657708531}"/>
              </a:ext>
            </a:extLst>
          </p:cNvPr>
          <p:cNvSpPr/>
          <p:nvPr/>
        </p:nvSpPr>
        <p:spPr>
          <a:xfrm>
            <a:off x="730249" y="5483743"/>
            <a:ext cx="8445500" cy="1016000"/>
          </a:xfrm>
          <a:prstGeom prst="rect">
            <a:avLst/>
          </a:prstGeom>
          <a:noFill/>
          <a:ln/>
        </p:spPr>
        <p:txBody>
          <a:bodyPr wrap="square" lIns="0" tIns="0" rIns="0" bIns="0" rtlCol="0" anchor="t"/>
          <a:lstStyle/>
          <a:p>
            <a:pPr>
              <a:lnSpc>
                <a:spcPct val="150000"/>
              </a:lnSpc>
            </a:pPr>
            <a:endParaRPr lang="en-US" sz="800" dirty="0">
              <a:latin typeface="+mj-lt"/>
            </a:endParaRPr>
          </a:p>
        </p:txBody>
      </p:sp>
      <p:sp>
        <p:nvSpPr>
          <p:cNvPr id="8193" name="Text 12">
            <a:extLst>
              <a:ext uri="{FF2B5EF4-FFF2-40B4-BE49-F238E27FC236}">
                <a16:creationId xmlns:a16="http://schemas.microsoft.com/office/drawing/2014/main" id="{50852AF2-AB41-993C-7CCA-FECB57479A7D}"/>
              </a:ext>
            </a:extLst>
          </p:cNvPr>
          <p:cNvSpPr/>
          <p:nvPr/>
        </p:nvSpPr>
        <p:spPr>
          <a:xfrm>
            <a:off x="688306" y="3469757"/>
            <a:ext cx="8487443" cy="1016000"/>
          </a:xfrm>
          <a:prstGeom prst="rect">
            <a:avLst/>
          </a:prstGeom>
          <a:noFill/>
          <a:ln/>
        </p:spPr>
        <p:txBody>
          <a:bodyPr wrap="square" lIns="0" tIns="0" rIns="0" bIns="0" rtlCol="0" anchor="t"/>
          <a:lstStyle/>
          <a:p>
            <a:pPr>
              <a:lnSpc>
                <a:spcPct val="150000"/>
              </a:lnSpc>
            </a:pPr>
            <a:endParaRPr lang="en-US" sz="800" dirty="0">
              <a:latin typeface="+mj-lt"/>
            </a:endParaRPr>
          </a:p>
        </p:txBody>
      </p:sp>
      <p:sp>
        <p:nvSpPr>
          <p:cNvPr id="8199" name="Text 3">
            <a:extLst>
              <a:ext uri="{FF2B5EF4-FFF2-40B4-BE49-F238E27FC236}">
                <a16:creationId xmlns:a16="http://schemas.microsoft.com/office/drawing/2014/main" id="{AC14754C-44A7-6635-418B-669F6D2FEED5}"/>
              </a:ext>
            </a:extLst>
          </p:cNvPr>
          <p:cNvSpPr/>
          <p:nvPr/>
        </p:nvSpPr>
        <p:spPr>
          <a:xfrm>
            <a:off x="737726" y="4199575"/>
            <a:ext cx="5080000" cy="330200"/>
          </a:xfrm>
          <a:prstGeom prst="rect">
            <a:avLst/>
          </a:prstGeom>
          <a:noFill/>
          <a:ln/>
        </p:spPr>
        <p:txBody>
          <a:bodyPr wrap="none" lIns="0" tIns="0" rIns="0" bIns="0" rtlCol="0" anchor="ctr"/>
          <a:lstStyle/>
          <a:p>
            <a:pPr>
              <a:lnSpc>
                <a:spcPct val="100000"/>
              </a:lnSpc>
            </a:pPr>
            <a:endParaRPr lang="en-US" sz="800" dirty="0">
              <a:latin typeface="+mj-lt"/>
            </a:endParaRPr>
          </a:p>
        </p:txBody>
      </p:sp>
      <p:cxnSp>
        <p:nvCxnSpPr>
          <p:cNvPr id="8201" name="直線接點 8200">
            <a:extLst>
              <a:ext uri="{FF2B5EF4-FFF2-40B4-BE49-F238E27FC236}">
                <a16:creationId xmlns:a16="http://schemas.microsoft.com/office/drawing/2014/main" id="{944AB0AD-DE47-26C1-B4E3-835EA222B8E4}"/>
              </a:ext>
            </a:extLst>
          </p:cNvPr>
          <p:cNvCxnSpPr/>
          <p:nvPr/>
        </p:nvCxnSpPr>
        <p:spPr>
          <a:xfrm>
            <a:off x="737726" y="4193330"/>
            <a:ext cx="8438023" cy="31637"/>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SL Stock Price and Chart — SGX:BSL — TradingView">
            <a:extLst>
              <a:ext uri="{FF2B5EF4-FFF2-40B4-BE49-F238E27FC236}">
                <a16:creationId xmlns:a16="http://schemas.microsoft.com/office/drawing/2014/main" id="{CA4DF10A-ED05-8FD5-0EB3-5F84F26E797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275512" y="2255281"/>
            <a:ext cx="822326" cy="8223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umrungrad International Hospital - Wikipedia">
            <a:extLst>
              <a:ext uri="{FF2B5EF4-FFF2-40B4-BE49-F238E27FC236}">
                <a16:creationId xmlns:a16="http://schemas.microsoft.com/office/drawing/2014/main" id="{4F936958-7231-C673-98A2-822AF5414CE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60329" y="1311156"/>
            <a:ext cx="1323975" cy="49781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eneral Info | Chularat Hospital (CHG)">
            <a:extLst>
              <a:ext uri="{FF2B5EF4-FFF2-40B4-BE49-F238E27FC236}">
                <a16:creationId xmlns:a16="http://schemas.microsoft.com/office/drawing/2014/main" id="{FB921A86-D72C-BD88-7D64-0A9AA5C2A9F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0043" y="2437017"/>
            <a:ext cx="1990725" cy="40481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41">
            <a:extLst>
              <a:ext uri="{FF2B5EF4-FFF2-40B4-BE49-F238E27FC236}">
                <a16:creationId xmlns:a16="http://schemas.microsoft.com/office/drawing/2014/main" id="{57A2E967-94A8-73FE-9660-93EB2F754495}"/>
              </a:ext>
            </a:extLst>
          </p:cNvPr>
          <p:cNvSpPr txBox="1"/>
          <p:nvPr/>
        </p:nvSpPr>
        <p:spPr>
          <a:xfrm>
            <a:off x="751068" y="3353544"/>
            <a:ext cx="8441481" cy="689869"/>
          </a:xfrm>
          <a:prstGeom prst="rect">
            <a:avLst/>
          </a:prstGeom>
          <a:solidFill>
            <a:schemeClr val="tx2">
              <a:lumMod val="20000"/>
              <a:lumOff val="80000"/>
            </a:schemeClr>
          </a:solidFill>
          <a:effectLst>
            <a:outerShdw blurRad="50800" dist="38100" dir="2700000" algn="tl" rotWithShape="0">
              <a:prstClr val="black">
                <a:alpha val="40000"/>
              </a:prstClr>
            </a:outerShdw>
          </a:effectLst>
        </p:spPr>
        <p:txBody>
          <a:bodyPr wrap="square" rtlCol="0">
            <a:spAutoFit/>
          </a:bodyPr>
          <a:lstStyle/>
          <a:p>
            <a:pPr>
              <a:lnSpc>
                <a:spcPct val="150000"/>
              </a:lnSpc>
            </a:pPr>
            <a:r>
              <a:rPr lang="en-US" sz="900" dirty="0">
                <a:solidFill>
                  <a:srgbClr val="0B4F6C"/>
                </a:solidFill>
                <a:ea typeface="QuattrocentoSans" pitchFamily="34" charset="-122"/>
                <a:cs typeface="QuattrocentoSans" pitchFamily="34" charset="-120"/>
              </a:rPr>
              <a:t>Rationale </a:t>
            </a:r>
            <a:r>
              <a:rPr lang="en-US" sz="900" dirty="0">
                <a:solidFill>
                  <a:srgbClr val="0B4F6C"/>
                </a:solidFill>
                <a:ea typeface="QuattrocentoSans" pitchFamily="34" charset="-122"/>
              </a:rPr>
              <a:t>for Comparable Company Selection: </a:t>
            </a:r>
            <a:r>
              <a:rPr lang="en-US" sz="900" b="0" dirty="0">
                <a:solidFill>
                  <a:srgbClr val="1C1C1E"/>
                </a:solidFill>
                <a:ea typeface="QuattrocentoSans" pitchFamily="34" charset="-122"/>
                <a:cs typeface="QuattrocentoSans" pitchFamily="34" charset="-120"/>
              </a:rPr>
              <a:t>Large-scale integrated hospital operators across Southeast Asia with comparable geographic footprints (Singapore, Malaysia, Thailand). These peers share similar multi-hospital network business models covering inpatient and outpatient services, are listed on major regional exchanges with comparable regulatory environments, and serve similar patient demographics</a:t>
            </a:r>
            <a:endParaRPr lang="en-US" sz="900" dirty="0"/>
          </a:p>
        </p:txBody>
      </p:sp>
      <p:sp>
        <p:nvSpPr>
          <p:cNvPr id="4" name="TextBox 41">
            <a:extLst>
              <a:ext uri="{FF2B5EF4-FFF2-40B4-BE49-F238E27FC236}">
                <a16:creationId xmlns:a16="http://schemas.microsoft.com/office/drawing/2014/main" id="{78CC1288-CA5B-2828-EF91-80F9150B83CC}"/>
              </a:ext>
            </a:extLst>
          </p:cNvPr>
          <p:cNvSpPr txBox="1"/>
          <p:nvPr/>
        </p:nvSpPr>
        <p:spPr>
          <a:xfrm>
            <a:off x="686436" y="5403724"/>
            <a:ext cx="8441481" cy="689869"/>
          </a:xfrm>
          <a:prstGeom prst="rect">
            <a:avLst/>
          </a:prstGeom>
          <a:solidFill>
            <a:schemeClr val="tx2">
              <a:lumMod val="20000"/>
              <a:lumOff val="80000"/>
            </a:schemeClr>
          </a:solidFill>
          <a:effectLst>
            <a:outerShdw blurRad="50800" dist="38100" dir="2700000" algn="tl" rotWithShape="0">
              <a:prstClr val="black">
                <a:alpha val="40000"/>
              </a:prstClr>
            </a:outerShdw>
          </a:effectLst>
        </p:spPr>
        <p:txBody>
          <a:bodyPr wrap="square" rtlCol="0">
            <a:spAutoFit/>
          </a:bodyPr>
          <a:lstStyle/>
          <a:p>
            <a:pPr>
              <a:lnSpc>
                <a:spcPct val="150000"/>
              </a:lnSpc>
            </a:pPr>
            <a:r>
              <a:rPr lang="en-US" sz="900" dirty="0">
                <a:solidFill>
                  <a:srgbClr val="0B4F6C"/>
                </a:solidFill>
                <a:ea typeface="QuattrocentoSans" pitchFamily="34" charset="-122"/>
                <a:cs typeface="QuattrocentoSans" pitchFamily="34" charset="-120"/>
              </a:rPr>
              <a:t>Rationale </a:t>
            </a:r>
            <a:r>
              <a:rPr lang="en-US" sz="900" dirty="0">
                <a:solidFill>
                  <a:srgbClr val="0B4F6C"/>
                </a:solidFill>
                <a:ea typeface="QuattrocentoSans" pitchFamily="34" charset="-122"/>
              </a:rPr>
              <a:t>for Comparable Company Selection: </a:t>
            </a:r>
            <a:r>
              <a:rPr lang="en-US" sz="900" b="0" dirty="0">
                <a:solidFill>
                  <a:srgbClr val="1C1C1E"/>
                </a:solidFill>
                <a:ea typeface="QuattrocentoSans" pitchFamily="34" charset="-122"/>
                <a:cs typeface="QuattrocentoSans" pitchFamily="34" charset="-120"/>
              </a:rPr>
              <a:t>Focused clinic-based healthcare delivery models listed in Singapore and Thailand. These peers operate specialized service offerings (dental, aesthetic, eye care), pursue similar growth strategies through clinic network expansion, and target outpatient elective procedures with recurring patient visit patterns</a:t>
            </a:r>
            <a:endParaRPr lang="en-US" sz="900" b="0" dirty="0"/>
          </a:p>
        </p:txBody>
      </p:sp>
      <p:sp>
        <p:nvSpPr>
          <p:cNvPr id="5" name="Rectangle: Rounded Corners 19">
            <a:extLst>
              <a:ext uri="{FF2B5EF4-FFF2-40B4-BE49-F238E27FC236}">
                <a16:creationId xmlns:a16="http://schemas.microsoft.com/office/drawing/2014/main" id="{9F8E8DEA-5D79-D66E-00F0-9BAB2A9D9B63}"/>
              </a:ext>
            </a:extLst>
          </p:cNvPr>
          <p:cNvSpPr/>
          <p:nvPr/>
        </p:nvSpPr>
        <p:spPr>
          <a:xfrm>
            <a:off x="686184" y="1005999"/>
            <a:ext cx="2379200" cy="334511"/>
          </a:xfrm>
          <a:prstGeom prst="roundRect">
            <a:avLst>
              <a:gd name="adj" fmla="val 50000"/>
            </a:avLst>
          </a:prstGeom>
          <a:gradFill>
            <a:gsLst>
              <a:gs pos="0">
                <a:srgbClr val="FEB8B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0834" rtlCol="0" anchor="ctr"/>
          <a:lstStyle/>
          <a:p>
            <a:pPr marL="101531" defTabSz="1008309" eaLnBrk="0" fontAlgn="base" hangingPunct="0">
              <a:spcBef>
                <a:spcPts val="336"/>
              </a:spcBef>
              <a:spcAft>
                <a:spcPct val="0"/>
              </a:spcAft>
              <a:buClr>
                <a:srgbClr val="4276AA"/>
              </a:buClr>
              <a:buSzPct val="90000"/>
              <a:defRPr/>
            </a:pPr>
            <a:r>
              <a:rPr lang="en-GB" altLang="zh-CN" sz="1200" b="1" spc="-6" dirty="0">
                <a:solidFill>
                  <a:schemeClr val="tx1"/>
                </a:solidFill>
                <a:latin typeface="+mj-lt"/>
                <a:cs typeface="Arial" panose="020B0604020202020204" pitchFamily="34" charset="0"/>
              </a:rPr>
              <a:t>Healthcare Companies</a:t>
            </a:r>
          </a:p>
        </p:txBody>
      </p:sp>
      <p:sp>
        <p:nvSpPr>
          <p:cNvPr id="7" name="Rectangle: Rounded Corners 19">
            <a:extLst>
              <a:ext uri="{FF2B5EF4-FFF2-40B4-BE49-F238E27FC236}">
                <a16:creationId xmlns:a16="http://schemas.microsoft.com/office/drawing/2014/main" id="{4D60E5E8-7FB3-7CF7-2F04-9EFA96CF48C2}"/>
              </a:ext>
            </a:extLst>
          </p:cNvPr>
          <p:cNvSpPr/>
          <p:nvPr/>
        </p:nvSpPr>
        <p:spPr>
          <a:xfrm>
            <a:off x="653334" y="4231212"/>
            <a:ext cx="2794000" cy="334511"/>
          </a:xfrm>
          <a:prstGeom prst="roundRect">
            <a:avLst>
              <a:gd name="adj" fmla="val 50000"/>
            </a:avLst>
          </a:prstGeom>
          <a:gradFill>
            <a:gsLst>
              <a:gs pos="0">
                <a:srgbClr val="FEB8B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0834" rtlCol="0" anchor="ctr"/>
          <a:lstStyle/>
          <a:p>
            <a:pPr marL="101531" defTabSz="1008309" eaLnBrk="0" fontAlgn="base" hangingPunct="0">
              <a:spcBef>
                <a:spcPts val="336"/>
              </a:spcBef>
              <a:spcAft>
                <a:spcPct val="0"/>
              </a:spcAft>
              <a:buClr>
                <a:srgbClr val="4276AA"/>
              </a:buClr>
              <a:buSzPct val="90000"/>
              <a:defRPr/>
            </a:pPr>
            <a:r>
              <a:rPr lang="en-GB" altLang="zh-CN" sz="1200" b="1" spc="-6" dirty="0">
                <a:solidFill>
                  <a:schemeClr val="tx1"/>
                </a:solidFill>
                <a:latin typeface="+mj-lt"/>
                <a:cs typeface="Arial" panose="020B0604020202020204" pitchFamily="34" charset="0"/>
              </a:rPr>
              <a:t>Specialized clinics companies</a:t>
            </a:r>
          </a:p>
        </p:txBody>
      </p:sp>
    </p:spTree>
    <p:extLst>
      <p:ext uri="{BB962C8B-B14F-4D97-AF65-F5344CB8AC3E}">
        <p14:creationId xmlns:p14="http://schemas.microsoft.com/office/powerpoint/2010/main" val="3869484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9A15607A-8D2F-A45B-0F72-5F4E02437BEC}"/>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42</a:t>
            </a:fld>
            <a:endParaRPr lang="en-US" altLang="en-US" b="0">
              <a:solidFill>
                <a:srgbClr val="000000"/>
              </a:solidFill>
            </a:endParaRPr>
          </a:p>
        </p:txBody>
      </p:sp>
      <p:sp>
        <p:nvSpPr>
          <p:cNvPr id="6" name="Title 1">
            <a:extLst>
              <a:ext uri="{FF2B5EF4-FFF2-40B4-BE49-F238E27FC236}">
                <a16:creationId xmlns:a16="http://schemas.microsoft.com/office/drawing/2014/main" id="{CAE1C0FC-1B8B-EBFC-1579-1DECEFBC379F}"/>
              </a:ext>
            </a:extLst>
          </p:cNvPr>
          <p:cNvSpPr txBox="1">
            <a:spLocks/>
          </p:cNvSpPr>
          <p:nvPr/>
        </p:nvSpPr>
        <p:spPr bwMode="auto">
          <a:xfrm>
            <a:off x="800973" y="411480"/>
            <a:ext cx="8494051" cy="577850"/>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lvl1pPr algn="l" rtl="0" eaLnBrk="0" fontAlgn="base" hangingPunct="0">
              <a:spcBef>
                <a:spcPct val="0"/>
              </a:spcBef>
              <a:spcAft>
                <a:spcPct val="0"/>
              </a:spcAft>
              <a:tabLst>
                <a:tab pos="457200" algn="l"/>
              </a:tabLst>
              <a:defRPr sz="22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a:lstStyle>
          <a:p>
            <a:r>
              <a:rPr lang="en-US" sz="2000" kern="0" dirty="0"/>
              <a:t>Comparable Analysis (cont’d)</a:t>
            </a:r>
            <a:endParaRPr lang="en-GB" sz="2000" kern="0" dirty="0"/>
          </a:p>
        </p:txBody>
      </p:sp>
      <p:sp>
        <p:nvSpPr>
          <p:cNvPr id="7" name="TextBox 41">
            <a:extLst>
              <a:ext uri="{FF2B5EF4-FFF2-40B4-BE49-F238E27FC236}">
                <a16:creationId xmlns:a16="http://schemas.microsoft.com/office/drawing/2014/main" id="{FDFB388B-A737-98FC-E3BF-07EA99738A89}"/>
              </a:ext>
            </a:extLst>
          </p:cNvPr>
          <p:cNvSpPr txBox="1"/>
          <p:nvPr/>
        </p:nvSpPr>
        <p:spPr>
          <a:xfrm>
            <a:off x="717152" y="1055532"/>
            <a:ext cx="8494049" cy="861774"/>
          </a:xfrm>
          <a:prstGeom prst="rect">
            <a:avLst/>
          </a:prstGeom>
          <a:solidFill>
            <a:srgbClr val="FEBFB3"/>
          </a:solidFill>
          <a:effectLst>
            <a:outerShdw blurRad="50800" dist="38100" dir="2700000" algn="tl" rotWithShape="0">
              <a:prstClr val="black">
                <a:alpha val="40000"/>
              </a:prstClr>
            </a:outerShdw>
          </a:effectLst>
        </p:spPr>
        <p:txBody>
          <a:bodyPr wrap="square" rtlCol="0">
            <a:spAutoFit/>
          </a:bodyPr>
          <a:lstStyle/>
          <a:p>
            <a:pPr marL="171450" indent="-171450" algn="just">
              <a:spcBef>
                <a:spcPts val="0"/>
              </a:spcBef>
              <a:spcAft>
                <a:spcPts val="300"/>
              </a:spcAft>
              <a:buClr>
                <a:srgbClr val="C00000"/>
              </a:buClr>
              <a:buFont typeface="Wingdings 2" panose="05020102010507070707" pitchFamily="18" charset="2"/>
              <a:buChar char="¡"/>
            </a:pPr>
            <a:r>
              <a:rPr lang="en-US" sz="900" b="0" dirty="0">
                <a:solidFill>
                  <a:schemeClr val="tx1"/>
                </a:solidFill>
                <a:cs typeface="Arial" panose="020B0604020202020204" pitchFamily="34" charset="0"/>
              </a:rPr>
              <a:t>We understand that SMG currently has 2 main business streams, being (</a:t>
            </a:r>
            <a:r>
              <a:rPr lang="en-US" sz="900" b="0" dirty="0" err="1">
                <a:solidFill>
                  <a:schemeClr val="tx1"/>
                </a:solidFill>
                <a:cs typeface="Arial" panose="020B0604020202020204" pitchFamily="34" charset="0"/>
              </a:rPr>
              <a:t>i</a:t>
            </a:r>
            <a:r>
              <a:rPr lang="en-US" sz="900" b="0" dirty="0">
                <a:solidFill>
                  <a:schemeClr val="tx1"/>
                </a:solidFill>
                <a:cs typeface="Arial" panose="020B0604020202020204" pitchFamily="34" charset="0"/>
              </a:rPr>
              <a:t>) medical clinics across different disciplines &amp; imaging and screening services (collectively known as “Healthcare business”) and (ii) IVF clinic and fertility services (collectively known as “IVF business”). Hence, SOTP valuation will be used to separately value healthcare business &amp; IVF business.  </a:t>
            </a:r>
          </a:p>
          <a:p>
            <a:pPr marL="171450" indent="-171450" algn="just">
              <a:spcBef>
                <a:spcPts val="0"/>
              </a:spcBef>
              <a:spcAft>
                <a:spcPts val="300"/>
              </a:spcAft>
              <a:buClr>
                <a:srgbClr val="C00000"/>
              </a:buClr>
              <a:buFont typeface="Wingdings 2" panose="05020102010507070707" pitchFamily="18" charset="2"/>
              <a:buChar char="¡"/>
            </a:pPr>
            <a:r>
              <a:rPr lang="en-US" altLang="zh-TW" sz="900" b="0" dirty="0">
                <a:solidFill>
                  <a:schemeClr val="tx1"/>
                </a:solidFill>
                <a:cs typeface="Arial" panose="020B0604020202020204" pitchFamily="34" charset="0"/>
              </a:rPr>
              <a:t>For Healthcare business, </a:t>
            </a:r>
            <a:r>
              <a:rPr lang="en-US" sz="900" b="0" dirty="0">
                <a:solidFill>
                  <a:schemeClr val="tx1"/>
                </a:solidFill>
                <a:cs typeface="Arial" panose="020B0604020202020204" pitchFamily="34" charset="0"/>
              </a:rPr>
              <a:t>we believe investors will likely benchmark the valuation multiples of (</a:t>
            </a:r>
            <a:r>
              <a:rPr lang="en-US" sz="900" b="0" dirty="0" err="1">
                <a:solidFill>
                  <a:schemeClr val="tx1"/>
                </a:solidFill>
                <a:cs typeface="Arial" panose="020B0604020202020204" pitchFamily="34" charset="0"/>
              </a:rPr>
              <a:t>i</a:t>
            </a:r>
            <a:r>
              <a:rPr lang="en-US" sz="900" b="0" dirty="0">
                <a:solidFill>
                  <a:schemeClr val="tx1"/>
                </a:solidFill>
                <a:cs typeface="Arial" panose="020B0604020202020204" pitchFamily="34" charset="0"/>
              </a:rPr>
              <a:t>) SEA healthcare companies and (ii) SEA specialty clinics</a:t>
            </a:r>
          </a:p>
          <a:p>
            <a:pPr marL="171450" indent="-171450" algn="just">
              <a:spcBef>
                <a:spcPts val="0"/>
              </a:spcBef>
              <a:spcAft>
                <a:spcPts val="300"/>
              </a:spcAft>
              <a:buClr>
                <a:srgbClr val="C00000"/>
              </a:buClr>
              <a:buFont typeface="Wingdings 2" panose="05020102010507070707" pitchFamily="18" charset="2"/>
              <a:buChar char="¡"/>
            </a:pPr>
            <a:r>
              <a:rPr lang="en-US" sz="900" dirty="0">
                <a:solidFill>
                  <a:srgbClr val="C00000"/>
                </a:solidFill>
                <a:cs typeface="Arial" panose="020B0604020202020204" pitchFamily="34" charset="0"/>
              </a:rPr>
              <a:t>PE multiples as a primary metric alongside the EV/EBITDA multiples</a:t>
            </a:r>
            <a:endParaRPr lang="en-US" sz="900" b="0" dirty="0">
              <a:solidFill>
                <a:schemeClr val="tx1"/>
              </a:solidFill>
              <a:cs typeface="Arial" panose="020B0604020202020204" pitchFamily="34" charset="0"/>
            </a:endParaRPr>
          </a:p>
        </p:txBody>
      </p:sp>
      <p:graphicFrame>
        <p:nvGraphicFramePr>
          <p:cNvPr id="9" name="表格 8">
            <a:extLst>
              <a:ext uri="{FF2B5EF4-FFF2-40B4-BE49-F238E27FC236}">
                <a16:creationId xmlns:a16="http://schemas.microsoft.com/office/drawing/2014/main" id="{DD7DD982-D08A-9552-213B-AD5BEF6C7E1B}"/>
              </a:ext>
            </a:extLst>
          </p:cNvPr>
          <p:cNvGraphicFramePr>
            <a:graphicFrameLocks noGrp="1"/>
          </p:cNvGraphicFramePr>
          <p:nvPr>
            <p:extLst>
              <p:ext uri="{D42A27DB-BD31-4B8C-83A1-F6EECF244321}">
                <p14:modId xmlns:p14="http://schemas.microsoft.com/office/powerpoint/2010/main" val="3445546051"/>
              </p:ext>
            </p:extLst>
          </p:nvPr>
        </p:nvGraphicFramePr>
        <p:xfrm>
          <a:off x="736602" y="2060448"/>
          <a:ext cx="8474600" cy="3846579"/>
        </p:xfrm>
        <a:graphic>
          <a:graphicData uri="http://schemas.openxmlformats.org/drawingml/2006/table">
            <a:tbl>
              <a:tblPr/>
              <a:tblGrid>
                <a:gridCol w="1313644">
                  <a:extLst>
                    <a:ext uri="{9D8B030D-6E8A-4147-A177-3AD203B41FA5}">
                      <a16:colId xmlns:a16="http://schemas.microsoft.com/office/drawing/2014/main" val="3880861080"/>
                    </a:ext>
                  </a:extLst>
                </a:gridCol>
                <a:gridCol w="653738">
                  <a:extLst>
                    <a:ext uri="{9D8B030D-6E8A-4147-A177-3AD203B41FA5}">
                      <a16:colId xmlns:a16="http://schemas.microsoft.com/office/drawing/2014/main" val="1097813945"/>
                    </a:ext>
                  </a:extLst>
                </a:gridCol>
                <a:gridCol w="653738">
                  <a:extLst>
                    <a:ext uri="{9D8B030D-6E8A-4147-A177-3AD203B41FA5}">
                      <a16:colId xmlns:a16="http://schemas.microsoft.com/office/drawing/2014/main" val="222358393"/>
                    </a:ext>
                  </a:extLst>
                </a:gridCol>
                <a:gridCol w="511096">
                  <a:extLst>
                    <a:ext uri="{9D8B030D-6E8A-4147-A177-3AD203B41FA5}">
                      <a16:colId xmlns:a16="http://schemas.microsoft.com/office/drawing/2014/main" val="3508817455"/>
                    </a:ext>
                  </a:extLst>
                </a:gridCol>
                <a:gridCol w="511096">
                  <a:extLst>
                    <a:ext uri="{9D8B030D-6E8A-4147-A177-3AD203B41FA5}">
                      <a16:colId xmlns:a16="http://schemas.microsoft.com/office/drawing/2014/main" val="1877111913"/>
                    </a:ext>
                  </a:extLst>
                </a:gridCol>
                <a:gridCol w="511096">
                  <a:extLst>
                    <a:ext uri="{9D8B030D-6E8A-4147-A177-3AD203B41FA5}">
                      <a16:colId xmlns:a16="http://schemas.microsoft.com/office/drawing/2014/main" val="2615091350"/>
                    </a:ext>
                  </a:extLst>
                </a:gridCol>
                <a:gridCol w="511096">
                  <a:extLst>
                    <a:ext uri="{9D8B030D-6E8A-4147-A177-3AD203B41FA5}">
                      <a16:colId xmlns:a16="http://schemas.microsoft.com/office/drawing/2014/main" val="1968839240"/>
                    </a:ext>
                  </a:extLst>
                </a:gridCol>
                <a:gridCol w="511096">
                  <a:extLst>
                    <a:ext uri="{9D8B030D-6E8A-4147-A177-3AD203B41FA5}">
                      <a16:colId xmlns:a16="http://schemas.microsoft.com/office/drawing/2014/main" val="1721863948"/>
                    </a:ext>
                  </a:extLst>
                </a:gridCol>
                <a:gridCol w="511096">
                  <a:extLst>
                    <a:ext uri="{9D8B030D-6E8A-4147-A177-3AD203B41FA5}">
                      <a16:colId xmlns:a16="http://schemas.microsoft.com/office/drawing/2014/main" val="2199909748"/>
                    </a:ext>
                  </a:extLst>
                </a:gridCol>
                <a:gridCol w="511096">
                  <a:extLst>
                    <a:ext uri="{9D8B030D-6E8A-4147-A177-3AD203B41FA5}">
                      <a16:colId xmlns:a16="http://schemas.microsoft.com/office/drawing/2014/main" val="2186207547"/>
                    </a:ext>
                  </a:extLst>
                </a:gridCol>
                <a:gridCol w="284476">
                  <a:extLst>
                    <a:ext uri="{9D8B030D-6E8A-4147-A177-3AD203B41FA5}">
                      <a16:colId xmlns:a16="http://schemas.microsoft.com/office/drawing/2014/main" val="2859103223"/>
                    </a:ext>
                  </a:extLst>
                </a:gridCol>
                <a:gridCol w="284476">
                  <a:extLst>
                    <a:ext uri="{9D8B030D-6E8A-4147-A177-3AD203B41FA5}">
                      <a16:colId xmlns:a16="http://schemas.microsoft.com/office/drawing/2014/main" val="4216292914"/>
                    </a:ext>
                  </a:extLst>
                </a:gridCol>
                <a:gridCol w="284476">
                  <a:extLst>
                    <a:ext uri="{9D8B030D-6E8A-4147-A177-3AD203B41FA5}">
                      <a16:colId xmlns:a16="http://schemas.microsoft.com/office/drawing/2014/main" val="850985903"/>
                    </a:ext>
                  </a:extLst>
                </a:gridCol>
                <a:gridCol w="284476">
                  <a:extLst>
                    <a:ext uri="{9D8B030D-6E8A-4147-A177-3AD203B41FA5}">
                      <a16:colId xmlns:a16="http://schemas.microsoft.com/office/drawing/2014/main" val="1886189660"/>
                    </a:ext>
                  </a:extLst>
                </a:gridCol>
                <a:gridCol w="284476">
                  <a:extLst>
                    <a:ext uri="{9D8B030D-6E8A-4147-A177-3AD203B41FA5}">
                      <a16:colId xmlns:a16="http://schemas.microsoft.com/office/drawing/2014/main" val="4256161158"/>
                    </a:ext>
                  </a:extLst>
                </a:gridCol>
                <a:gridCol w="284476">
                  <a:extLst>
                    <a:ext uri="{9D8B030D-6E8A-4147-A177-3AD203B41FA5}">
                      <a16:colId xmlns:a16="http://schemas.microsoft.com/office/drawing/2014/main" val="2642684570"/>
                    </a:ext>
                  </a:extLst>
                </a:gridCol>
                <a:gridCol w="284476">
                  <a:extLst>
                    <a:ext uri="{9D8B030D-6E8A-4147-A177-3AD203B41FA5}">
                      <a16:colId xmlns:a16="http://schemas.microsoft.com/office/drawing/2014/main" val="2893779137"/>
                    </a:ext>
                  </a:extLst>
                </a:gridCol>
                <a:gridCol w="284476">
                  <a:extLst>
                    <a:ext uri="{9D8B030D-6E8A-4147-A177-3AD203B41FA5}">
                      <a16:colId xmlns:a16="http://schemas.microsoft.com/office/drawing/2014/main" val="1920450128"/>
                    </a:ext>
                  </a:extLst>
                </a:gridCol>
              </a:tblGrid>
              <a:tr h="195354">
                <a:tc rowSpan="3">
                  <a:txBody>
                    <a:bodyPr/>
                    <a:lstStyle/>
                    <a:p>
                      <a:pPr algn="ctr" fontAlgn="ctr">
                        <a:buNone/>
                      </a:pPr>
                      <a:r>
                        <a:rPr lang="en-US" sz="600" b="1" i="0" u="none" strike="noStrike" dirty="0">
                          <a:solidFill>
                            <a:srgbClr val="FFFFFF"/>
                          </a:solidFill>
                          <a:effectLst/>
                          <a:latin typeface="Aptos Narrow" panose="020B0004020202020204" pitchFamily="34" charset="0"/>
                        </a:rPr>
                        <a:t>Company Name</a:t>
                      </a:r>
                    </a:p>
                  </a:txBody>
                  <a:tcPr marL="0" marR="0" marT="0" marB="0" anchor="ctr">
                    <a:lnL>
                      <a:noFill/>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rowSpan="3">
                  <a:txBody>
                    <a:bodyPr/>
                    <a:lstStyle/>
                    <a:p>
                      <a:pPr algn="ctr" fontAlgn="ctr">
                        <a:buNone/>
                      </a:pPr>
                      <a:r>
                        <a:rPr lang="en-US" sz="600" b="1" i="0" u="none" strike="noStrike">
                          <a:solidFill>
                            <a:srgbClr val="FFFFFF"/>
                          </a:solidFill>
                          <a:effectLst/>
                          <a:latin typeface="Aptos Narrow" panose="020B0004020202020204" pitchFamily="34" charset="0"/>
                        </a:rPr>
                        <a:t>Stock Code</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rowSpan="3">
                  <a:txBody>
                    <a:bodyPr/>
                    <a:lstStyle/>
                    <a:p>
                      <a:pPr algn="ctr" fontAlgn="ctr">
                        <a:buNone/>
                      </a:pPr>
                      <a:r>
                        <a:rPr lang="en-US" sz="600" b="1" i="0" u="none" strike="noStrike">
                          <a:solidFill>
                            <a:srgbClr val="FFFFFF"/>
                          </a:solidFill>
                          <a:effectLst/>
                          <a:latin typeface="Aptos Narrow" panose="020B0004020202020204" pitchFamily="34" charset="0"/>
                        </a:rPr>
                        <a:t>Exchange</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gridSpan="7">
                  <a:txBody>
                    <a:bodyPr/>
                    <a:lstStyle/>
                    <a:p>
                      <a:pPr algn="ctr" fontAlgn="ctr">
                        <a:buNone/>
                      </a:pPr>
                      <a:r>
                        <a:rPr lang="en-US" sz="600" b="1" i="0" u="none" strike="noStrike" dirty="0">
                          <a:solidFill>
                            <a:srgbClr val="FFFFFF"/>
                          </a:solidFill>
                          <a:effectLst/>
                          <a:latin typeface="Aptos Narrow" panose="020B0004020202020204" pitchFamily="34" charset="0"/>
                        </a:rPr>
                        <a:t>Operating Data</a:t>
                      </a:r>
                    </a:p>
                  </a:txBody>
                  <a:tcPr marL="0" marR="0" marT="0" marB="0" anchor="ctr">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8">
                  <a:txBody>
                    <a:bodyPr/>
                    <a:lstStyle/>
                    <a:p>
                      <a:pPr algn="ctr" fontAlgn="ctr">
                        <a:buNone/>
                      </a:pPr>
                      <a:r>
                        <a:rPr lang="en-US" sz="600" b="1" i="0" u="none" strike="noStrike" dirty="0">
                          <a:solidFill>
                            <a:srgbClr val="FFFFFF"/>
                          </a:solidFill>
                          <a:effectLst/>
                          <a:latin typeface="Aptos Narrow" panose="020B0004020202020204" pitchFamily="34" charset="0"/>
                        </a:rPr>
                        <a:t>Valuation </a:t>
                      </a:r>
                    </a:p>
                  </a:txBody>
                  <a:tcPr marL="0" marR="0" marT="0" marB="0" anchor="ctr">
                    <a:lnL>
                      <a:noFill/>
                    </a:lnL>
                    <a:lnR>
                      <a:noFill/>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71148960"/>
                  </a:ext>
                </a:extLst>
              </a:tr>
              <a:tr h="195354">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Market Capitalization (SGD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TTM Revenue (SGD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nl-NL" sz="600" b="1" i="0" u="none" strike="noStrike" dirty="0">
                          <a:solidFill>
                            <a:srgbClr val="000000"/>
                          </a:solidFill>
                          <a:effectLst/>
                          <a:latin typeface="Aptos Narrow" panose="020B0004020202020204" pitchFamily="34" charset="0"/>
                        </a:rPr>
                        <a:t>TTM Net Profit (SGD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EBITDA Margin</a:t>
                      </a:r>
                      <a:br>
                        <a:rPr lang="en-US" sz="600" b="1" i="0" u="none" strike="noStrike" dirty="0">
                          <a:solidFill>
                            <a:srgbClr val="000000"/>
                          </a:solidFill>
                          <a:effectLst/>
                          <a:latin typeface="Aptos Narrow" panose="020B0004020202020204" pitchFamily="34" charset="0"/>
                        </a:rPr>
                      </a:br>
                      <a:r>
                        <a:rPr lang="en-US" sz="600" b="1" i="0" u="none" strike="noStrike" dirty="0">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NP Margin </a:t>
                      </a:r>
                    </a:p>
                    <a:p>
                      <a:pPr algn="ctr" fontAlgn="ctr">
                        <a:buNone/>
                      </a:pPr>
                      <a:r>
                        <a:rPr lang="en-US" sz="600" b="1" i="0" u="none" strike="noStrike" dirty="0">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Revenue Growth </a:t>
                      </a:r>
                    </a:p>
                    <a:p>
                      <a:pPr algn="ctr" fontAlgn="ctr">
                        <a:buNone/>
                      </a:pPr>
                      <a:r>
                        <a:rPr lang="en-US" sz="600" b="1" i="0" u="none" strike="noStrike" dirty="0">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NP Growth </a:t>
                      </a:r>
                    </a:p>
                    <a:p>
                      <a:pPr algn="ctr" fontAlgn="ctr">
                        <a:buNone/>
                      </a:pPr>
                      <a:r>
                        <a:rPr lang="en-US" sz="600" b="1" i="0" u="none" strike="noStrike" dirty="0">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gridSpan="4">
                  <a:txBody>
                    <a:bodyPr/>
                    <a:lstStyle/>
                    <a:p>
                      <a:pPr algn="ctr" fontAlgn="ctr">
                        <a:buNone/>
                      </a:pPr>
                      <a:r>
                        <a:rPr lang="en-US" sz="600" b="1" i="0" u="none" strike="noStrike" dirty="0">
                          <a:solidFill>
                            <a:srgbClr val="FFFFFF"/>
                          </a:solidFill>
                          <a:effectLst/>
                          <a:latin typeface="Aptos Narrow" panose="020B0004020202020204" pitchFamily="34" charset="0"/>
                        </a:rPr>
                        <a:t>PE Ratio (x)</a:t>
                      </a:r>
                    </a:p>
                  </a:txBody>
                  <a:tcPr marL="0" marR="0" marT="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buNone/>
                      </a:pPr>
                      <a:r>
                        <a:rPr lang="en-US" sz="600" b="1" i="0" u="none" strike="noStrike">
                          <a:solidFill>
                            <a:srgbClr val="FFFFFF"/>
                          </a:solidFill>
                          <a:effectLst/>
                          <a:latin typeface="Aptos Narrow" panose="020B0004020202020204" pitchFamily="34" charset="0"/>
                        </a:rPr>
                        <a:t>EV/EBITDA (x)</a:t>
                      </a:r>
                    </a:p>
                  </a:txBody>
                  <a:tcPr marL="0" marR="0" marT="0" marB="0" anchor="ctr">
                    <a:lnL>
                      <a:noFill/>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38184621"/>
                  </a:ext>
                </a:extLst>
              </a:tr>
              <a:tr h="28987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600" b="1" i="0" u="none" strike="noStrike" dirty="0">
                          <a:solidFill>
                            <a:srgbClr val="000000"/>
                          </a:solidFill>
                          <a:effectLst/>
                          <a:latin typeface="Aptos Narrow" panose="020B0004020202020204" pitchFamily="34" charset="0"/>
                        </a:rPr>
                        <a:t>TTM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dirty="0">
                          <a:solidFill>
                            <a:srgbClr val="000000"/>
                          </a:solidFill>
                          <a:effectLst/>
                          <a:latin typeface="Aptos Narrow" panose="020B0004020202020204" pitchFamily="34" charset="0"/>
                        </a:rPr>
                        <a:t>2026F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2027F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dirty="0">
                          <a:solidFill>
                            <a:srgbClr val="000000"/>
                          </a:solidFill>
                          <a:effectLst/>
                          <a:latin typeface="Aptos Narrow" panose="020B0004020202020204" pitchFamily="34" charset="0"/>
                        </a:rPr>
                        <a:t>2028F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TTM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2026F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2027F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2028F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extLst>
                  <a:ext uri="{0D108BD9-81ED-4DB2-BD59-A6C34878D82A}">
                    <a16:rowId xmlns:a16="http://schemas.microsoft.com/office/drawing/2014/main" val="3759878214"/>
                  </a:ext>
                </a:extLst>
              </a:tr>
              <a:tr h="171407">
                <a:tc>
                  <a:txBody>
                    <a:bodyPr/>
                    <a:lstStyle/>
                    <a:p>
                      <a:pPr algn="l" fontAlgn="ctr">
                        <a:buNone/>
                      </a:pPr>
                      <a:r>
                        <a:rPr lang="en-US" sz="600" b="1" i="0" u="none" strike="noStrike" dirty="0">
                          <a:solidFill>
                            <a:srgbClr val="000000"/>
                          </a:solidFill>
                          <a:effectLst/>
                          <a:latin typeface="Aptos Narrow" panose="020B0004020202020204" pitchFamily="34" charset="0"/>
                        </a:rPr>
                        <a:t>IHH Healthcare </a:t>
                      </a:r>
                      <a:r>
                        <a:rPr lang="en-US" sz="600" b="1" i="0" u="none" strike="noStrike" dirty="0" err="1">
                          <a:solidFill>
                            <a:srgbClr val="000000"/>
                          </a:solidFill>
                          <a:effectLst/>
                          <a:latin typeface="Aptos Narrow" panose="020B0004020202020204" pitchFamily="34" charset="0"/>
                        </a:rPr>
                        <a:t>Bhd</a:t>
                      </a:r>
                      <a:endParaRPr lang="en-US" sz="600" b="1"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IHH SP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Singapore</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25,271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7,860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641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8.2%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5.6%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-20.9%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39.4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34.6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30.5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26.1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14.7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14.7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13.1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11.6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61125320"/>
                  </a:ext>
                </a:extLst>
              </a:tr>
              <a:tr h="262153">
                <a:tc>
                  <a:txBody>
                    <a:bodyPr/>
                    <a:lstStyle/>
                    <a:p>
                      <a:pPr algn="l" fontAlgn="ctr">
                        <a:buNone/>
                      </a:pPr>
                      <a:r>
                        <a:rPr lang="en-US" sz="600" b="1" i="0" u="none" strike="noStrike" dirty="0">
                          <a:solidFill>
                            <a:srgbClr val="000000"/>
                          </a:solidFill>
                          <a:effectLst/>
                          <a:latin typeface="Aptos Narrow" panose="020B0004020202020204" pitchFamily="34" charset="0"/>
                        </a:rPr>
                        <a:t>Bangkok Dusit Medical Services</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BDMS TB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Bangkok</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11,423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4,434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630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24.3%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14.2%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3.4%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-0.9%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18.1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17.5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16.6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15.8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9.6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86986996"/>
                  </a:ext>
                </a:extLst>
              </a:tr>
              <a:tr h="262153">
                <a:tc>
                  <a:txBody>
                    <a:bodyPr/>
                    <a:lstStyle/>
                    <a:p>
                      <a:pPr algn="l" fontAlgn="ctr">
                        <a:buNone/>
                      </a:pPr>
                      <a:r>
                        <a:rPr lang="en-US" sz="600" b="1" i="0" u="none" strike="noStrike" dirty="0" err="1">
                          <a:solidFill>
                            <a:srgbClr val="000000"/>
                          </a:solidFill>
                          <a:effectLst/>
                          <a:latin typeface="Aptos Narrow" panose="020B0004020202020204" pitchFamily="34" charset="0"/>
                        </a:rPr>
                        <a:t>Bumrungrad</a:t>
                      </a:r>
                      <a:r>
                        <a:rPr lang="en-US" sz="600" b="1" i="0" u="none" strike="noStrike" dirty="0">
                          <a:solidFill>
                            <a:srgbClr val="000000"/>
                          </a:solidFill>
                          <a:effectLst/>
                          <a:latin typeface="Aptos Narrow" panose="020B0004020202020204" pitchFamily="34" charset="0"/>
                        </a:rPr>
                        <a:t> Hospital PCL</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BH TB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Bangkok</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5,622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999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299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40.4%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29.9%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-3.4%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18.8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19.5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18.8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17.9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13.1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12.3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11.4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561465851"/>
                  </a:ext>
                </a:extLst>
              </a:tr>
              <a:tr h="262153">
                <a:tc>
                  <a:txBody>
                    <a:bodyPr/>
                    <a:lstStyle/>
                    <a:p>
                      <a:pPr algn="l" fontAlgn="ctr">
                        <a:buNone/>
                      </a:pPr>
                      <a:r>
                        <a:rPr lang="en-US" sz="600" b="1" i="0" u="none" strike="noStrike" dirty="0">
                          <a:solidFill>
                            <a:srgbClr val="000000"/>
                          </a:solidFill>
                          <a:effectLst/>
                          <a:latin typeface="Aptos Narrow" panose="020B0004020202020204" pitchFamily="34" charset="0"/>
                        </a:rPr>
                        <a:t>KPJ Healthcare </a:t>
                      </a:r>
                      <a:r>
                        <a:rPr lang="en-US" sz="600" b="1" i="0" u="none" strike="noStrike" dirty="0" err="1">
                          <a:solidFill>
                            <a:srgbClr val="000000"/>
                          </a:solidFill>
                          <a:effectLst/>
                          <a:latin typeface="Aptos Narrow" panose="020B0004020202020204" pitchFamily="34" charset="0"/>
                        </a:rPr>
                        <a:t>Bhd</a:t>
                      </a:r>
                      <a:endParaRPr lang="en-US" sz="600" b="1"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KPJ MK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Bursa Malays</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4,657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1,300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112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23.7%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8.6%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3.4%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41.7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35.1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28.6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12.8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12.4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55732328"/>
                  </a:ext>
                </a:extLst>
              </a:tr>
              <a:tr h="393228">
                <a:tc>
                  <a:txBody>
                    <a:bodyPr/>
                    <a:lstStyle/>
                    <a:p>
                      <a:pPr algn="l" fontAlgn="ctr">
                        <a:buNone/>
                      </a:pPr>
                      <a:r>
                        <a:rPr lang="en-US" sz="600" b="1" i="0" u="none" strike="noStrike" dirty="0">
                          <a:solidFill>
                            <a:srgbClr val="000000"/>
                          </a:solidFill>
                          <a:effectLst/>
                          <a:latin typeface="Aptos Narrow" panose="020B0004020202020204" pitchFamily="34" charset="0"/>
                        </a:rPr>
                        <a:t>Raffles Medical Group Ltd</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RFMD SP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Singapore</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1,840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765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71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17.4%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9.2%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13.4%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26.1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25.0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23.8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9.9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578147892"/>
                  </a:ext>
                </a:extLst>
              </a:tr>
              <a:tr h="262153">
                <a:tc>
                  <a:txBody>
                    <a:bodyPr/>
                    <a:lstStyle/>
                    <a:p>
                      <a:pPr algn="l" fontAlgn="ctr">
                        <a:buNone/>
                      </a:pPr>
                      <a:r>
                        <a:rPr lang="en-US" sz="600" b="1" i="0" u="none" strike="noStrike" dirty="0">
                          <a:solidFill>
                            <a:srgbClr val="000000"/>
                          </a:solidFill>
                          <a:effectLst/>
                          <a:latin typeface="Aptos Narrow" panose="020B0004020202020204" pitchFamily="34" charset="0"/>
                        </a:rPr>
                        <a:t>Bangkok Chain Hospital PCL</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BCH TB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Bangkok</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916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474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52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24.2%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11.0%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17.5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16.3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15.9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15.5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7.9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7.9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7.3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6.6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22783182"/>
                  </a:ext>
                </a:extLst>
              </a:tr>
              <a:tr h="262153">
                <a:tc>
                  <a:txBody>
                    <a:bodyPr/>
                    <a:lstStyle/>
                    <a:p>
                      <a:pPr algn="l" fontAlgn="ctr">
                        <a:buNone/>
                      </a:pPr>
                      <a:r>
                        <a:rPr lang="en-US" sz="600" b="1" i="0" u="none" strike="noStrike" dirty="0" err="1">
                          <a:solidFill>
                            <a:srgbClr val="000000"/>
                          </a:solidFill>
                          <a:effectLst/>
                          <a:latin typeface="Aptos Narrow" panose="020B0004020202020204" pitchFamily="34" charset="0"/>
                        </a:rPr>
                        <a:t>Chularat</a:t>
                      </a:r>
                      <a:r>
                        <a:rPr lang="en-US" sz="600" b="1" i="0" u="none" strike="noStrike" dirty="0">
                          <a:solidFill>
                            <a:srgbClr val="000000"/>
                          </a:solidFill>
                          <a:effectLst/>
                          <a:latin typeface="Aptos Narrow" panose="020B0004020202020204" pitchFamily="34" charset="0"/>
                        </a:rPr>
                        <a:t> Hospital PCL</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CHG TB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Bangkok</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619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332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37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21.1%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11.1%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16.7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15.8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15.0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8.5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7.9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68193615"/>
                  </a:ext>
                </a:extLst>
              </a:tr>
              <a:tr h="262153">
                <a:tc>
                  <a:txBody>
                    <a:bodyPr/>
                    <a:lstStyle/>
                    <a:p>
                      <a:pPr algn="l" fontAlgn="ctr">
                        <a:buNone/>
                      </a:pPr>
                      <a:r>
                        <a:rPr lang="en-US" sz="600" b="1" i="0" u="none" strike="noStrike" dirty="0">
                          <a:solidFill>
                            <a:srgbClr val="000000"/>
                          </a:solidFill>
                          <a:effectLst/>
                          <a:latin typeface="Aptos Narrow" panose="020B0004020202020204" pitchFamily="34" charset="0"/>
                        </a:rPr>
                        <a:t>Q&amp;M Dental Group Singapore Ltd</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QNM SP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Singapore</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554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197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4.7%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9.2%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-34.7%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59.5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41.8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39.0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34.4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14.2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12.3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60985577"/>
                  </a:ext>
                </a:extLst>
              </a:tr>
              <a:tr h="262153">
                <a:tc>
                  <a:txBody>
                    <a:bodyPr/>
                    <a:lstStyle/>
                    <a:p>
                      <a:pPr algn="l" fontAlgn="ctr">
                        <a:buNone/>
                      </a:pPr>
                      <a:r>
                        <a:rPr lang="en-US" sz="600" b="1" i="0" u="none" strike="noStrike" dirty="0" err="1">
                          <a:solidFill>
                            <a:srgbClr val="000000"/>
                          </a:solidFill>
                          <a:effectLst/>
                          <a:latin typeface="Aptos Narrow" panose="020B0004020202020204" pitchFamily="34" charset="0"/>
                        </a:rPr>
                        <a:t>Klinique</a:t>
                      </a:r>
                      <a:r>
                        <a:rPr lang="en-US" sz="600" b="1" i="0" u="none" strike="noStrike" dirty="0">
                          <a:solidFill>
                            <a:srgbClr val="000000"/>
                          </a:solidFill>
                          <a:effectLst/>
                          <a:latin typeface="Aptos Narrow" panose="020B0004020202020204" pitchFamily="34" charset="0"/>
                        </a:rPr>
                        <a:t> Medical Clinic PCL/Th</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KLINIQ TB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Bangkok</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219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141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23.0%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19.2%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15.1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14.0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12.7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11.6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6.1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6.1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5.2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09067978"/>
                  </a:ext>
                </a:extLst>
              </a:tr>
              <a:tr h="241986">
                <a:tc>
                  <a:txBody>
                    <a:bodyPr/>
                    <a:lstStyle/>
                    <a:p>
                      <a:pPr algn="l" fontAlgn="ctr">
                        <a:buNone/>
                      </a:pPr>
                      <a:r>
                        <a:rPr lang="en-US" sz="600" b="1" i="0" u="none" strike="noStrike" dirty="0">
                          <a:solidFill>
                            <a:srgbClr val="000000"/>
                          </a:solidFill>
                          <a:effectLst/>
                          <a:latin typeface="Aptos Narrow" panose="020B0004020202020204" pitchFamily="34" charset="0"/>
                        </a:rPr>
                        <a:t>ISEC Healthcare Ltd</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ISEC SP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Singapore</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190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79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28.9%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16.9%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6.8%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12.2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11.4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7.2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6.4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233699829"/>
                  </a:ext>
                </a:extLst>
              </a:tr>
              <a:tr h="131075">
                <a:tc>
                  <a:txBody>
                    <a:bodyPr/>
                    <a:lstStyle/>
                    <a:p>
                      <a:pPr algn="ctr" fontAlgn="ctr">
                        <a:buNone/>
                      </a:pPr>
                      <a:endParaRPr lang="en-US" sz="600" b="1"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b">
                        <a:buNone/>
                      </a:pPr>
                      <a:endParaRPr lang="en-US" sz="600" b="0" i="0" u="none" strike="noStrike">
                        <a:solidFill>
                          <a:srgbClr val="000000"/>
                        </a:solidFill>
                        <a:effectLst/>
                        <a:latin typeface="Aptos Narrow" panose="020B0004020202020204" pitchFamily="34" charset="0"/>
                      </a:endParaRPr>
                    </a:p>
                  </a:txBody>
                  <a:tcPr marL="0" marR="0" marT="0" marB="0" anchor="b">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b">
                        <a:buNone/>
                      </a:pPr>
                      <a:endParaRPr lang="en-US" sz="600" b="0" i="0" u="none" strike="noStrike">
                        <a:solidFill>
                          <a:srgbClr val="000000"/>
                        </a:solidFill>
                        <a:effectLst/>
                        <a:latin typeface="Aptos Narrow" panose="020B0004020202020204" pitchFamily="34" charset="0"/>
                      </a:endParaRPr>
                    </a:p>
                  </a:txBody>
                  <a:tcPr marL="0" marR="0" marT="0" marB="0" anchor="b">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Max</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D9D9"/>
                    </a:solid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59.5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41.8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39.0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34.4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14.7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14.7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13.2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12.4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633880462"/>
                  </a:ext>
                </a:extLst>
              </a:tr>
              <a:tr h="131075">
                <a:tc>
                  <a:txBody>
                    <a:bodyPr/>
                    <a:lstStyle/>
                    <a:p>
                      <a:pPr algn="ctr" fontAlgn="ctr">
                        <a:buNone/>
                      </a:pPr>
                      <a:endParaRPr lang="en-US" sz="6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Median</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D9D9"/>
                    </a:solid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18.5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18.5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17.7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17.9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10.1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9.6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698755849"/>
                  </a:ext>
                </a:extLst>
              </a:tr>
              <a:tr h="131075">
                <a:tc>
                  <a:txBody>
                    <a:bodyPr/>
                    <a:lstStyle/>
                    <a:p>
                      <a:pPr algn="ctr" fontAlgn="ctr">
                        <a:buNone/>
                      </a:pPr>
                      <a:endParaRPr lang="en-US" sz="6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Mean</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D9D9"/>
                    </a:solid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26.7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23.2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21.6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20.6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10.9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9.9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9.5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11824031"/>
                  </a:ext>
                </a:extLst>
              </a:tr>
              <a:tr h="131075">
                <a:tc>
                  <a:txBody>
                    <a:bodyPr/>
                    <a:lstStyle/>
                    <a:p>
                      <a:pPr algn="ctr" fontAlgn="ctr">
                        <a:buNone/>
                      </a:pPr>
                      <a:endParaRPr lang="en-US" sz="600" b="1" i="0" u="none" strike="noStrike" dirty="0">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Min</a:t>
                      </a:r>
                    </a:p>
                  </a:txBody>
                  <a:tcPr marL="0" marR="0" marT="0" marB="0" anchor="ctr">
                    <a:lnL>
                      <a:noFill/>
                    </a:lnL>
                    <a:lnR>
                      <a:noFill/>
                    </a:lnR>
                    <a:lnT w="6350" cap="flat" cmpd="sng" algn="ctr">
                      <a:solidFill>
                        <a:srgbClr val="000000"/>
                      </a:solidFill>
                      <a:prstDash val="dot"/>
                      <a:round/>
                      <a:headEnd type="none" w="med" len="med"/>
                      <a:tailEnd type="none" w="med" len="med"/>
                    </a:lnT>
                    <a:lnB>
                      <a:noFill/>
                    </a:lnB>
                    <a:solidFill>
                      <a:srgbClr val="D9D9D9"/>
                    </a:solid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14.2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12.2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11.4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11.6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a:solidFill>
                            <a:srgbClr val="000000"/>
                          </a:solidFill>
                          <a:effectLst/>
                          <a:latin typeface="Aptos Narrow" panose="020B0004020202020204" pitchFamily="34" charset="0"/>
                          <a:ea typeface="+mn-ea"/>
                          <a:cs typeface="+mn-cs"/>
                        </a:rPr>
                        <a:t>6.1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6.1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5.7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5.2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504407353"/>
                  </a:ext>
                </a:extLst>
              </a:tr>
            </a:tbl>
          </a:graphicData>
        </a:graphic>
      </p:graphicFrame>
      <p:sp>
        <p:nvSpPr>
          <p:cNvPr id="2" name="Text Placeholder 1">
            <a:extLst>
              <a:ext uri="{FF2B5EF4-FFF2-40B4-BE49-F238E27FC236}">
                <a16:creationId xmlns:a16="http://schemas.microsoft.com/office/drawing/2014/main" id="{56ED6C80-81E3-E0BF-2943-1989AE2FFB3C}"/>
              </a:ext>
            </a:extLst>
          </p:cNvPr>
          <p:cNvSpPr txBox="1">
            <a:spLocks/>
          </p:cNvSpPr>
          <p:nvPr/>
        </p:nvSpPr>
        <p:spPr>
          <a:xfrm>
            <a:off x="736602" y="5954166"/>
            <a:ext cx="7312423"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en-US" sz="600" b="0" i="1" u="none" strike="noStrike" kern="1200" cap="none" spc="0" normalizeH="0" baseline="0" noProof="0">
                <a:ln>
                  <a:noFill/>
                </a:ln>
                <a:solidFill>
                  <a:schemeClr val="bg1">
                    <a:lumMod val="50000"/>
                  </a:schemeClr>
                </a:solidFill>
                <a:effectLst/>
                <a:uLnTx/>
                <a:uFillTx/>
                <a:latin typeface="+mn-lt"/>
                <a:ea typeface="+mn-ea"/>
                <a:cs typeface="+mn-cs"/>
              </a:defRPr>
            </a:lvl1pPr>
            <a:lvl2pPr marL="603647" indent="-232172" algn="l" rtl="0" eaLnBrk="0" fontAlgn="base" hangingPunct="0">
              <a:spcBef>
                <a:spcPct val="20000"/>
              </a:spcBef>
              <a:spcAft>
                <a:spcPct val="0"/>
              </a:spcAft>
              <a:buChar char="–"/>
              <a:defRPr sz="1300" kern="1200">
                <a:solidFill>
                  <a:schemeClr val="tx1"/>
                </a:solidFill>
                <a:latin typeface="+mn-lt"/>
                <a:ea typeface="+mn-ea"/>
                <a:cs typeface="+mn-cs"/>
              </a:defRPr>
            </a:lvl2pPr>
            <a:lvl3pPr marL="928688" indent="-185738" algn="l" rtl="0" eaLnBrk="0" fontAlgn="base" hangingPunct="0">
              <a:spcBef>
                <a:spcPct val="20000"/>
              </a:spcBef>
              <a:spcAft>
                <a:spcPct val="0"/>
              </a:spcAft>
              <a:buChar char="•"/>
              <a:defRPr sz="1300" kern="1200">
                <a:solidFill>
                  <a:schemeClr val="tx1"/>
                </a:solidFill>
                <a:latin typeface="+mn-lt"/>
                <a:ea typeface="+mn-ea"/>
                <a:cs typeface="+mn-cs"/>
              </a:defRPr>
            </a:lvl3pPr>
            <a:lvl4pPr marL="1300163" indent="-185738" algn="l" rtl="0" eaLnBrk="0" fontAlgn="base" hangingPunct="0">
              <a:spcBef>
                <a:spcPct val="20000"/>
              </a:spcBef>
              <a:spcAft>
                <a:spcPct val="0"/>
              </a:spcAft>
              <a:buChar char="–"/>
              <a:defRPr sz="1300" kern="1200">
                <a:solidFill>
                  <a:schemeClr val="tx1"/>
                </a:solidFill>
                <a:latin typeface="+mn-lt"/>
                <a:ea typeface="+mn-ea"/>
                <a:cs typeface="+mn-cs"/>
              </a:defRPr>
            </a:lvl4pPr>
            <a:lvl5pPr marL="1671638" indent="-185738" algn="l" rtl="0" eaLnBrk="0" fontAlgn="base" hangingPunct="0">
              <a:spcBef>
                <a:spcPct val="20000"/>
              </a:spcBef>
              <a:spcAft>
                <a:spcPct val="0"/>
              </a:spcAft>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Note: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Arial" panose="020B0604020202020204"/>
              </a:rPr>
              <a:t>1. </a:t>
            </a: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Source: Bloomberg, as of 6 May 2026</a:t>
            </a:r>
          </a:p>
        </p:txBody>
      </p:sp>
    </p:spTree>
    <p:extLst>
      <p:ext uri="{BB962C8B-B14F-4D97-AF65-F5344CB8AC3E}">
        <p14:creationId xmlns:p14="http://schemas.microsoft.com/office/powerpoint/2010/main" val="21496203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E26EB-25C5-5619-B194-7034DDEB56A4}"/>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D2EE62E3-513F-24B9-E309-04D288A5346E}"/>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43</a:t>
            </a:fld>
            <a:endParaRPr lang="en-US" altLang="en-US" b="0">
              <a:solidFill>
                <a:srgbClr val="000000"/>
              </a:solidFill>
            </a:endParaRPr>
          </a:p>
        </p:txBody>
      </p:sp>
      <p:sp>
        <p:nvSpPr>
          <p:cNvPr id="6" name="Title 1">
            <a:extLst>
              <a:ext uri="{FF2B5EF4-FFF2-40B4-BE49-F238E27FC236}">
                <a16:creationId xmlns:a16="http://schemas.microsoft.com/office/drawing/2014/main" id="{79673764-A0BD-E6F7-9557-1AC76BF2D466}"/>
              </a:ext>
            </a:extLst>
          </p:cNvPr>
          <p:cNvSpPr txBox="1">
            <a:spLocks/>
          </p:cNvSpPr>
          <p:nvPr/>
        </p:nvSpPr>
        <p:spPr bwMode="auto">
          <a:xfrm>
            <a:off x="800973" y="411480"/>
            <a:ext cx="8494051" cy="577850"/>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lvl1pPr algn="l" rtl="0" eaLnBrk="0" fontAlgn="base" hangingPunct="0">
              <a:spcBef>
                <a:spcPct val="0"/>
              </a:spcBef>
              <a:spcAft>
                <a:spcPct val="0"/>
              </a:spcAft>
              <a:tabLst>
                <a:tab pos="457200" algn="l"/>
              </a:tabLst>
              <a:defRPr sz="22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a:lstStyle>
          <a:p>
            <a:r>
              <a:rPr lang="en-US" sz="2000" kern="0" dirty="0"/>
              <a:t>Comparable Analysis (cont’d)</a:t>
            </a:r>
            <a:endParaRPr lang="en-GB" sz="2000" kern="0" dirty="0"/>
          </a:p>
        </p:txBody>
      </p:sp>
      <p:graphicFrame>
        <p:nvGraphicFramePr>
          <p:cNvPr id="4" name="表格 3">
            <a:extLst>
              <a:ext uri="{FF2B5EF4-FFF2-40B4-BE49-F238E27FC236}">
                <a16:creationId xmlns:a16="http://schemas.microsoft.com/office/drawing/2014/main" id="{DD200D9C-D866-2BFF-4B4A-EB9E0D9D3C96}"/>
              </a:ext>
            </a:extLst>
          </p:cNvPr>
          <p:cNvGraphicFramePr>
            <a:graphicFrameLocks noGrp="1"/>
          </p:cNvGraphicFramePr>
          <p:nvPr>
            <p:extLst>
              <p:ext uri="{D42A27DB-BD31-4B8C-83A1-F6EECF244321}">
                <p14:modId xmlns:p14="http://schemas.microsoft.com/office/powerpoint/2010/main" val="2643419774"/>
              </p:ext>
            </p:extLst>
          </p:nvPr>
        </p:nvGraphicFramePr>
        <p:xfrm>
          <a:off x="661925" y="1500549"/>
          <a:ext cx="8603676" cy="3927899"/>
        </p:xfrm>
        <a:graphic>
          <a:graphicData uri="http://schemas.openxmlformats.org/drawingml/2006/table">
            <a:tbl>
              <a:tblPr>
                <a:tableStyleId>{5C22544A-7EE6-4342-B048-85BDC9FD1C3A}</a:tableStyleId>
              </a:tblPr>
              <a:tblGrid>
                <a:gridCol w="1207297">
                  <a:extLst>
                    <a:ext uri="{9D8B030D-6E8A-4147-A177-3AD203B41FA5}">
                      <a16:colId xmlns:a16="http://schemas.microsoft.com/office/drawing/2014/main" val="2284749361"/>
                    </a:ext>
                  </a:extLst>
                </a:gridCol>
                <a:gridCol w="613489">
                  <a:extLst>
                    <a:ext uri="{9D8B030D-6E8A-4147-A177-3AD203B41FA5}">
                      <a16:colId xmlns:a16="http://schemas.microsoft.com/office/drawing/2014/main" val="1463990079"/>
                    </a:ext>
                  </a:extLst>
                </a:gridCol>
                <a:gridCol w="613489">
                  <a:extLst>
                    <a:ext uri="{9D8B030D-6E8A-4147-A177-3AD203B41FA5}">
                      <a16:colId xmlns:a16="http://schemas.microsoft.com/office/drawing/2014/main" val="2360152464"/>
                    </a:ext>
                  </a:extLst>
                </a:gridCol>
                <a:gridCol w="613489">
                  <a:extLst>
                    <a:ext uri="{9D8B030D-6E8A-4147-A177-3AD203B41FA5}">
                      <a16:colId xmlns:a16="http://schemas.microsoft.com/office/drawing/2014/main" val="2788290812"/>
                    </a:ext>
                  </a:extLst>
                </a:gridCol>
                <a:gridCol w="648000">
                  <a:extLst>
                    <a:ext uri="{9D8B030D-6E8A-4147-A177-3AD203B41FA5}">
                      <a16:colId xmlns:a16="http://schemas.microsoft.com/office/drawing/2014/main" val="890883985"/>
                    </a:ext>
                  </a:extLst>
                </a:gridCol>
                <a:gridCol w="613489">
                  <a:extLst>
                    <a:ext uri="{9D8B030D-6E8A-4147-A177-3AD203B41FA5}">
                      <a16:colId xmlns:a16="http://schemas.microsoft.com/office/drawing/2014/main" val="2314143589"/>
                    </a:ext>
                  </a:extLst>
                </a:gridCol>
                <a:gridCol w="613489">
                  <a:extLst>
                    <a:ext uri="{9D8B030D-6E8A-4147-A177-3AD203B41FA5}">
                      <a16:colId xmlns:a16="http://schemas.microsoft.com/office/drawing/2014/main" val="587451176"/>
                    </a:ext>
                  </a:extLst>
                </a:gridCol>
                <a:gridCol w="613489">
                  <a:extLst>
                    <a:ext uri="{9D8B030D-6E8A-4147-A177-3AD203B41FA5}">
                      <a16:colId xmlns:a16="http://schemas.microsoft.com/office/drawing/2014/main" val="2843994520"/>
                    </a:ext>
                  </a:extLst>
                </a:gridCol>
                <a:gridCol w="613489">
                  <a:extLst>
                    <a:ext uri="{9D8B030D-6E8A-4147-A177-3AD203B41FA5}">
                      <a16:colId xmlns:a16="http://schemas.microsoft.com/office/drawing/2014/main" val="918693996"/>
                    </a:ext>
                  </a:extLst>
                </a:gridCol>
                <a:gridCol w="613489">
                  <a:extLst>
                    <a:ext uri="{9D8B030D-6E8A-4147-A177-3AD203B41FA5}">
                      <a16:colId xmlns:a16="http://schemas.microsoft.com/office/drawing/2014/main" val="950041878"/>
                    </a:ext>
                  </a:extLst>
                </a:gridCol>
                <a:gridCol w="613489">
                  <a:extLst>
                    <a:ext uri="{9D8B030D-6E8A-4147-A177-3AD203B41FA5}">
                      <a16:colId xmlns:a16="http://schemas.microsoft.com/office/drawing/2014/main" val="308533200"/>
                    </a:ext>
                  </a:extLst>
                </a:gridCol>
                <a:gridCol w="613489">
                  <a:extLst>
                    <a:ext uri="{9D8B030D-6E8A-4147-A177-3AD203B41FA5}">
                      <a16:colId xmlns:a16="http://schemas.microsoft.com/office/drawing/2014/main" val="1792982108"/>
                    </a:ext>
                  </a:extLst>
                </a:gridCol>
                <a:gridCol w="613489">
                  <a:extLst>
                    <a:ext uri="{9D8B030D-6E8A-4147-A177-3AD203B41FA5}">
                      <a16:colId xmlns:a16="http://schemas.microsoft.com/office/drawing/2014/main" val="3512665569"/>
                    </a:ext>
                  </a:extLst>
                </a:gridCol>
              </a:tblGrid>
              <a:tr h="845732">
                <a:tc>
                  <a:txBody>
                    <a:bodyPr/>
                    <a:lstStyle/>
                    <a:p>
                      <a:pPr marL="0" algn="l" defTabSz="914400" rtl="0" eaLnBrk="1" fontAlgn="ctr" latinLnBrk="0" hangingPunct="1">
                        <a:buNone/>
                      </a:pPr>
                      <a:r>
                        <a:rPr lang="en-US" sz="800" b="1" kern="1200" dirty="0">
                          <a:solidFill>
                            <a:schemeClr val="bg1"/>
                          </a:solidFill>
                          <a:latin typeface="+mj-lt"/>
                          <a:ea typeface="+mn-ea"/>
                          <a:cs typeface="+mn-cs"/>
                        </a:rPr>
                        <a:t> </a:t>
                      </a: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a:solidFill>
                            <a:schemeClr val="bg1"/>
                          </a:solidFill>
                          <a:latin typeface="+mj-lt"/>
                          <a:ea typeface="+mn-ea"/>
                          <a:cs typeface="+mn-cs"/>
                        </a:rPr>
                        <a:t>SMG</a:t>
                      </a:r>
                      <a:r>
                        <a:rPr kumimoji="0" lang="en-SG" sz="800" b="1" u="none" strike="noStrike" kern="1200" cap="none" spc="0" normalizeH="0" baseline="30000" dirty="0">
                          <a:ln>
                            <a:noFill/>
                          </a:ln>
                          <a:solidFill>
                            <a:schemeClr val="bg1"/>
                          </a:solidFill>
                          <a:effectLst/>
                          <a:uLnTx/>
                          <a:uFillTx/>
                          <a:latin typeface="+mn-lt"/>
                          <a:ea typeface="+mn-ea"/>
                          <a:cs typeface="Arial" panose="020B0604020202020204" pitchFamily="34" charset="0"/>
                        </a:rPr>
                        <a:t>2</a:t>
                      </a:r>
                      <a:endParaRPr lang="en-US" sz="800" b="1" kern="1200" dirty="0">
                        <a:solidFill>
                          <a:schemeClr val="bg1"/>
                        </a:solidFill>
                        <a:latin typeface="+mj-lt"/>
                        <a:ea typeface="+mn-ea"/>
                        <a:cs typeface="+mn-cs"/>
                      </a:endParaRP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a:solidFill>
                            <a:schemeClr val="bg1"/>
                          </a:solidFill>
                          <a:latin typeface="+mj-lt"/>
                          <a:ea typeface="+mn-ea"/>
                          <a:cs typeface="+mn-cs"/>
                        </a:rPr>
                        <a:t>IHH Healthcare </a:t>
                      </a:r>
                      <a:r>
                        <a:rPr lang="en-US" sz="800" b="1" kern="1200" dirty="0" err="1">
                          <a:solidFill>
                            <a:schemeClr val="bg1"/>
                          </a:solidFill>
                          <a:latin typeface="+mj-lt"/>
                          <a:ea typeface="+mn-ea"/>
                          <a:cs typeface="+mn-cs"/>
                        </a:rPr>
                        <a:t>Bhd</a:t>
                      </a:r>
                      <a:endParaRPr lang="en-US" sz="800" b="1" kern="1200" dirty="0">
                        <a:solidFill>
                          <a:schemeClr val="bg1"/>
                        </a:solidFill>
                        <a:latin typeface="+mj-lt"/>
                        <a:ea typeface="+mn-ea"/>
                        <a:cs typeface="+mn-cs"/>
                      </a:endParaRP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a:solidFill>
                            <a:schemeClr val="bg1"/>
                          </a:solidFill>
                          <a:latin typeface="+mj-lt"/>
                          <a:ea typeface="+mn-ea"/>
                          <a:cs typeface="+mn-cs"/>
                        </a:rPr>
                        <a:t>Bangkok Dusit Medical Services</a:t>
                      </a: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err="1">
                          <a:solidFill>
                            <a:schemeClr val="bg1"/>
                          </a:solidFill>
                          <a:latin typeface="+mj-lt"/>
                          <a:ea typeface="+mn-ea"/>
                          <a:cs typeface="+mn-cs"/>
                        </a:rPr>
                        <a:t>Bumrungrad</a:t>
                      </a:r>
                      <a:r>
                        <a:rPr lang="en-US" sz="800" b="1" kern="1200" dirty="0">
                          <a:solidFill>
                            <a:schemeClr val="bg1"/>
                          </a:solidFill>
                          <a:latin typeface="+mj-lt"/>
                          <a:ea typeface="+mn-ea"/>
                          <a:cs typeface="+mn-cs"/>
                        </a:rPr>
                        <a:t> Hospital </a:t>
                      </a:r>
                    </a:p>
                    <a:p>
                      <a:pPr marL="0" algn="ctr" defTabSz="914400" rtl="0" eaLnBrk="1" fontAlgn="ctr" latinLnBrk="0" hangingPunct="1">
                        <a:buNone/>
                      </a:pPr>
                      <a:r>
                        <a:rPr lang="en-US" sz="800" b="1" kern="1200" dirty="0">
                          <a:solidFill>
                            <a:schemeClr val="bg1"/>
                          </a:solidFill>
                          <a:latin typeface="+mj-lt"/>
                          <a:ea typeface="+mn-ea"/>
                          <a:cs typeface="+mn-cs"/>
                        </a:rPr>
                        <a:t>PCL</a:t>
                      </a: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a:solidFill>
                            <a:schemeClr val="bg1"/>
                          </a:solidFill>
                          <a:latin typeface="+mj-lt"/>
                          <a:ea typeface="+mn-ea"/>
                          <a:cs typeface="+mn-cs"/>
                        </a:rPr>
                        <a:t>KPJ Healthcare </a:t>
                      </a:r>
                      <a:r>
                        <a:rPr lang="en-US" sz="800" b="1" kern="1200" dirty="0" err="1">
                          <a:solidFill>
                            <a:schemeClr val="bg1"/>
                          </a:solidFill>
                          <a:latin typeface="+mj-lt"/>
                          <a:ea typeface="+mn-ea"/>
                          <a:cs typeface="+mn-cs"/>
                        </a:rPr>
                        <a:t>Bhd</a:t>
                      </a:r>
                      <a:endParaRPr lang="en-US" sz="800" b="1" kern="1200" dirty="0">
                        <a:solidFill>
                          <a:schemeClr val="bg1"/>
                        </a:solidFill>
                        <a:latin typeface="+mj-lt"/>
                        <a:ea typeface="+mn-ea"/>
                        <a:cs typeface="+mn-cs"/>
                      </a:endParaRP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a:solidFill>
                            <a:schemeClr val="bg1"/>
                          </a:solidFill>
                          <a:latin typeface="+mj-lt"/>
                          <a:ea typeface="+mn-ea"/>
                          <a:cs typeface="+mn-cs"/>
                        </a:rPr>
                        <a:t>Raffles Medical Group Ltd</a:t>
                      </a: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a:solidFill>
                            <a:schemeClr val="bg1"/>
                          </a:solidFill>
                          <a:latin typeface="+mj-lt"/>
                          <a:ea typeface="+mn-ea"/>
                          <a:cs typeface="+mn-cs"/>
                        </a:rPr>
                        <a:t>Bangkok Chain Hospital PCL</a:t>
                      </a: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err="1">
                          <a:solidFill>
                            <a:schemeClr val="bg1"/>
                          </a:solidFill>
                          <a:latin typeface="+mj-lt"/>
                          <a:ea typeface="+mn-ea"/>
                          <a:cs typeface="+mn-cs"/>
                        </a:rPr>
                        <a:t>Chularat</a:t>
                      </a:r>
                      <a:r>
                        <a:rPr lang="en-US" sz="800" b="1" kern="1200" dirty="0">
                          <a:solidFill>
                            <a:schemeClr val="bg1"/>
                          </a:solidFill>
                          <a:latin typeface="+mj-lt"/>
                          <a:ea typeface="+mn-ea"/>
                          <a:cs typeface="+mn-cs"/>
                        </a:rPr>
                        <a:t> Hospital PCL</a:t>
                      </a: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a:solidFill>
                            <a:schemeClr val="bg1"/>
                          </a:solidFill>
                          <a:latin typeface="+mj-lt"/>
                          <a:ea typeface="+mn-ea"/>
                          <a:cs typeface="+mn-cs"/>
                        </a:rPr>
                        <a:t>Q&amp;M Dental Group Singapore Ltd</a:t>
                      </a: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err="1">
                          <a:solidFill>
                            <a:schemeClr val="bg1"/>
                          </a:solidFill>
                          <a:latin typeface="+mj-lt"/>
                          <a:ea typeface="+mn-ea"/>
                          <a:cs typeface="+mn-cs"/>
                        </a:rPr>
                        <a:t>Klinique</a:t>
                      </a:r>
                      <a:r>
                        <a:rPr lang="en-US" sz="800" b="1" kern="1200" dirty="0">
                          <a:solidFill>
                            <a:schemeClr val="bg1"/>
                          </a:solidFill>
                          <a:latin typeface="+mj-lt"/>
                          <a:ea typeface="+mn-ea"/>
                          <a:cs typeface="+mn-cs"/>
                        </a:rPr>
                        <a:t> Medical Clinic PCL/Th</a:t>
                      </a: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a:solidFill>
                            <a:schemeClr val="bg1"/>
                          </a:solidFill>
                          <a:latin typeface="+mj-lt"/>
                          <a:ea typeface="+mn-ea"/>
                          <a:cs typeface="+mn-cs"/>
                        </a:rPr>
                        <a:t>ISEC Healthcare Ltd</a:t>
                      </a:r>
                    </a:p>
                  </a:txBody>
                  <a:tcPr marL="6450" marR="6450" marT="6450" marB="0" anchor="ctr">
                    <a:lnB w="12700" cap="flat" cmpd="sng" algn="ctr">
                      <a:solidFill>
                        <a:schemeClr val="bg2"/>
                      </a:solidFill>
                      <a:prstDash val="sysDot"/>
                      <a:round/>
                      <a:headEnd type="none" w="med" len="med"/>
                      <a:tailEnd type="none" w="med" len="med"/>
                    </a:lnB>
                    <a:solidFill>
                      <a:srgbClr val="C00000"/>
                    </a:solidFill>
                  </a:tcPr>
                </a:tc>
                <a:tc>
                  <a:txBody>
                    <a:bodyPr/>
                    <a:lstStyle/>
                    <a:p>
                      <a:pPr marL="0" algn="ctr" defTabSz="914400" rtl="0" eaLnBrk="1" fontAlgn="ctr" latinLnBrk="0" hangingPunct="1">
                        <a:buNone/>
                      </a:pPr>
                      <a:r>
                        <a:rPr lang="en-US" sz="800" b="1" kern="1200" dirty="0">
                          <a:solidFill>
                            <a:schemeClr val="bg1"/>
                          </a:solidFill>
                          <a:latin typeface="+mj-lt"/>
                          <a:ea typeface="+mn-ea"/>
                          <a:cs typeface="+mn-cs"/>
                        </a:rPr>
                        <a:t>Average</a:t>
                      </a:r>
                    </a:p>
                  </a:txBody>
                  <a:tcPr marL="7620" marR="7620" marT="7620" marB="0" anchor="ctr">
                    <a:lnB w="12700" cap="flat" cmpd="sng" algn="ctr">
                      <a:solidFill>
                        <a:schemeClr val="bg2"/>
                      </a:solidFill>
                      <a:prstDash val="sysDot"/>
                      <a:round/>
                      <a:headEnd type="none" w="med" len="med"/>
                      <a:tailEnd type="none" w="med" len="med"/>
                    </a:lnB>
                    <a:solidFill>
                      <a:srgbClr val="C00000"/>
                    </a:solidFill>
                  </a:tcPr>
                </a:tc>
                <a:extLst>
                  <a:ext uri="{0D108BD9-81ED-4DB2-BD59-A6C34878D82A}">
                    <a16:rowId xmlns:a16="http://schemas.microsoft.com/office/drawing/2014/main" val="701295612"/>
                  </a:ext>
                </a:extLst>
              </a:tr>
              <a:tr h="351929">
                <a:tc>
                  <a:txBody>
                    <a:bodyPr/>
                    <a:lstStyle/>
                    <a:p>
                      <a:pPr algn="l" fontAlgn="ctr">
                        <a:buNone/>
                      </a:pPr>
                      <a:r>
                        <a:rPr lang="en-US" sz="800" b="1" u="none" strike="noStrike" dirty="0">
                          <a:effectLst/>
                          <a:latin typeface="+mj-lt"/>
                        </a:rPr>
                        <a:t>TTM Revenue (SGD 'm)</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b">
                        <a:buNone/>
                      </a:pPr>
                      <a:r>
                        <a:rPr lang="en-US" sz="800" u="none" strike="noStrike" dirty="0">
                          <a:effectLst/>
                          <a:latin typeface="+mj-lt"/>
                        </a:rPr>
                        <a:t>171 </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7,860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4,434</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999</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1,300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765</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474</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332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197</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141</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79</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rtl="0" fontAlgn="ctr">
                        <a:buNone/>
                      </a:pPr>
                      <a:r>
                        <a:rPr lang="en-US" sz="800" b="0" i="0" u="none" strike="noStrike" dirty="0">
                          <a:solidFill>
                            <a:srgbClr val="000000"/>
                          </a:solidFill>
                          <a:effectLst/>
                          <a:latin typeface="Arial" panose="020B0604020202020204" pitchFamily="34" charset="0"/>
                        </a:rPr>
                        <a:t>1,658</a:t>
                      </a:r>
                    </a:p>
                  </a:txBody>
                  <a:tcPr marL="7620" marR="7620" marT="762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solidFill>
                      <a:schemeClr val="bg1">
                        <a:lumMod val="85000"/>
                      </a:schemeClr>
                    </a:solidFill>
                  </a:tcPr>
                </a:tc>
                <a:extLst>
                  <a:ext uri="{0D108BD9-81ED-4DB2-BD59-A6C34878D82A}">
                    <a16:rowId xmlns:a16="http://schemas.microsoft.com/office/drawing/2014/main" val="1645733924"/>
                  </a:ext>
                </a:extLst>
              </a:tr>
              <a:tr h="338894">
                <a:tc>
                  <a:txBody>
                    <a:bodyPr/>
                    <a:lstStyle/>
                    <a:p>
                      <a:pPr algn="l" fontAlgn="ctr">
                        <a:buNone/>
                      </a:pPr>
                      <a:r>
                        <a:rPr lang="en-US" sz="800" b="1" u="none" strike="noStrike" dirty="0">
                          <a:effectLst/>
                          <a:latin typeface="+mj-lt"/>
                        </a:rPr>
                        <a:t>Revenue Growth (%)</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b="0" u="none" strike="noStrike" dirty="0">
                          <a:effectLst/>
                          <a:latin typeface="+mj-lt"/>
                        </a:rPr>
                        <a:t>12.0%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5.6%</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3.4%</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8.6%</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1.8%</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1.6%</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1.3%</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9.2%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19.2%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6.8%</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5.6%</a:t>
                      </a:r>
                    </a:p>
                  </a:txBody>
                  <a:tcPr marL="7620" marR="7620" marT="762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solidFill>
                      <a:schemeClr val="bg1">
                        <a:lumMod val="85000"/>
                      </a:schemeClr>
                    </a:solidFill>
                  </a:tcPr>
                </a:tc>
                <a:extLst>
                  <a:ext uri="{0D108BD9-81ED-4DB2-BD59-A6C34878D82A}">
                    <a16:rowId xmlns:a16="http://schemas.microsoft.com/office/drawing/2014/main" val="1991167454"/>
                  </a:ext>
                </a:extLst>
              </a:tr>
              <a:tr h="338894">
                <a:tc>
                  <a:txBody>
                    <a:bodyPr/>
                    <a:lstStyle/>
                    <a:p>
                      <a:pPr algn="l" fontAlgn="ctr">
                        <a:buNone/>
                      </a:pPr>
                      <a:r>
                        <a:rPr lang="en-US" sz="800" b="1" u="none" strike="noStrike" dirty="0">
                          <a:effectLst/>
                          <a:latin typeface="+mj-lt"/>
                        </a:rPr>
                        <a:t>25 to 27F Revenue CAGR </a:t>
                      </a:r>
                      <a:r>
                        <a:rPr lang="en-US" sz="800" b="1" u="none" strike="noStrike" kern="1200" dirty="0">
                          <a:solidFill>
                            <a:schemeClr val="dk1"/>
                          </a:solidFill>
                          <a:effectLst/>
                          <a:latin typeface="+mn-lt"/>
                          <a:ea typeface="+mn-ea"/>
                          <a:cs typeface="+mn-cs"/>
                        </a:rPr>
                        <a:t>(%)</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b="1" u="none" strike="noStrike" dirty="0">
                          <a:effectLst/>
                          <a:latin typeface="+mj-lt"/>
                        </a:rPr>
                        <a:t>6.6%</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5.9%</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2.9%</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2.5%</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5.9%</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2.2%</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3.0%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2.8%</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4.9%</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7.2%</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5.1%</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4.2%</a:t>
                      </a:r>
                    </a:p>
                  </a:txBody>
                  <a:tcPr marL="7620" marR="7620" marT="762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solidFill>
                      <a:schemeClr val="bg1">
                        <a:lumMod val="85000"/>
                      </a:schemeClr>
                    </a:solidFill>
                  </a:tcPr>
                </a:tc>
                <a:extLst>
                  <a:ext uri="{0D108BD9-81ED-4DB2-BD59-A6C34878D82A}">
                    <a16:rowId xmlns:a16="http://schemas.microsoft.com/office/drawing/2014/main" val="3564440188"/>
                  </a:ext>
                </a:extLst>
              </a:tr>
              <a:tr h="338894">
                <a:tc>
                  <a:txBody>
                    <a:bodyPr/>
                    <a:lstStyle/>
                    <a:p>
                      <a:pPr algn="l" fontAlgn="b">
                        <a:buNone/>
                      </a:pPr>
                      <a:r>
                        <a:rPr lang="en-US" sz="800" b="1" u="none" strike="noStrike" dirty="0">
                          <a:effectLst/>
                          <a:latin typeface="+mj-lt"/>
                        </a:rPr>
                        <a:t>GP Margin </a:t>
                      </a:r>
                      <a:r>
                        <a:rPr lang="en-US" sz="800" b="1" u="none" strike="noStrike" kern="1200" dirty="0">
                          <a:solidFill>
                            <a:schemeClr val="dk1"/>
                          </a:solidFill>
                          <a:effectLst/>
                          <a:latin typeface="+mn-lt"/>
                          <a:ea typeface="+mn-ea"/>
                          <a:cs typeface="+mn-cs"/>
                        </a:rPr>
                        <a:t>(%)</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b="1" u="none" strike="noStrike" dirty="0">
                          <a:effectLst/>
                          <a:latin typeface="+mj-lt"/>
                        </a:rPr>
                        <a:t>60.0%</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33.2%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36.1%</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51.7%</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44.6%</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45.4%</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27.9%</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28.4%</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27.9%</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50.5%</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42.1%</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38.8%</a:t>
                      </a:r>
                    </a:p>
                  </a:txBody>
                  <a:tcPr marL="7620" marR="7620" marT="762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solidFill>
                      <a:schemeClr val="bg1">
                        <a:lumMod val="85000"/>
                      </a:schemeClr>
                    </a:solidFill>
                  </a:tcPr>
                </a:tc>
                <a:extLst>
                  <a:ext uri="{0D108BD9-81ED-4DB2-BD59-A6C34878D82A}">
                    <a16:rowId xmlns:a16="http://schemas.microsoft.com/office/drawing/2014/main" val="2430645433"/>
                  </a:ext>
                </a:extLst>
              </a:tr>
              <a:tr h="338400">
                <a:tc>
                  <a:txBody>
                    <a:bodyPr/>
                    <a:lstStyle/>
                    <a:p>
                      <a:pPr algn="l" fontAlgn="b">
                        <a:buNone/>
                      </a:pPr>
                      <a:r>
                        <a:rPr lang="en-US" sz="800" b="1" u="none" strike="noStrike" dirty="0">
                          <a:effectLst/>
                          <a:latin typeface="+mj-lt"/>
                        </a:rPr>
                        <a:t>EBITDA Margin </a:t>
                      </a:r>
                      <a:r>
                        <a:rPr lang="en-US" sz="800" b="1" u="none" strike="noStrike" kern="1200" dirty="0">
                          <a:solidFill>
                            <a:schemeClr val="dk1"/>
                          </a:solidFill>
                          <a:effectLst/>
                          <a:latin typeface="+mn-lt"/>
                          <a:ea typeface="+mn-ea"/>
                          <a:cs typeface="+mn-cs"/>
                        </a:rPr>
                        <a:t>(%)</a:t>
                      </a:r>
                      <a:r>
                        <a:rPr lang="en-US" sz="800" b="1" u="none" strike="noStrike" dirty="0">
                          <a:effectLst/>
                          <a:latin typeface="+mj-lt"/>
                        </a:rPr>
                        <a:t> </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12.2%</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22.0%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24.3%</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40.4%</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23.7%</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17.4%</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24.2%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21.1%</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22.0%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23.0%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28.9%</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rtl="0" fontAlgn="ctr">
                        <a:buNone/>
                      </a:pPr>
                      <a:r>
                        <a:rPr lang="en-US" sz="800" b="0" i="0" u="none" strike="noStrike" dirty="0">
                          <a:solidFill>
                            <a:srgbClr val="000000"/>
                          </a:solidFill>
                          <a:effectLst/>
                          <a:latin typeface="Arial" panose="020B0604020202020204" pitchFamily="34" charset="0"/>
                        </a:rPr>
                        <a:t>24.7%</a:t>
                      </a:r>
                    </a:p>
                  </a:txBody>
                  <a:tcPr marL="7620" marR="7620" marT="762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solidFill>
                      <a:schemeClr val="bg1">
                        <a:lumMod val="85000"/>
                      </a:schemeClr>
                    </a:solidFill>
                  </a:tcPr>
                </a:tc>
                <a:extLst>
                  <a:ext uri="{0D108BD9-81ED-4DB2-BD59-A6C34878D82A}">
                    <a16:rowId xmlns:a16="http://schemas.microsoft.com/office/drawing/2014/main" val="1277130789"/>
                  </a:ext>
                </a:extLst>
              </a:tr>
              <a:tr h="338894">
                <a:tc>
                  <a:txBody>
                    <a:bodyPr/>
                    <a:lstStyle/>
                    <a:p>
                      <a:pPr algn="l" fontAlgn="b">
                        <a:buNone/>
                      </a:pPr>
                      <a:r>
                        <a:rPr lang="en-US" sz="800" b="1" u="none" strike="noStrike" dirty="0">
                          <a:effectLst/>
                          <a:latin typeface="+mj-lt"/>
                        </a:rPr>
                        <a:t>NP Margin </a:t>
                      </a:r>
                      <a:r>
                        <a:rPr lang="en-US" sz="800" b="1" u="none" strike="noStrike" kern="1200" dirty="0">
                          <a:solidFill>
                            <a:schemeClr val="dk1"/>
                          </a:solidFill>
                          <a:effectLst/>
                          <a:latin typeface="+mn-lt"/>
                          <a:ea typeface="+mn-ea"/>
                          <a:cs typeface="+mn-cs"/>
                        </a:rPr>
                        <a:t>(%)</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b="0" u="none" strike="noStrike" dirty="0">
                          <a:effectLst/>
                          <a:latin typeface="+mj-lt"/>
                        </a:rPr>
                        <a:t>3.2%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8.2%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14.2%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29.9%</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8.6%</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9.2%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11.0%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11.1%</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4.7%</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10.2%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16.9%</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rtl="0" fontAlgn="ctr">
                        <a:buNone/>
                      </a:pPr>
                      <a:r>
                        <a:rPr lang="en-US" sz="800" b="0" i="0" u="none" strike="noStrike" dirty="0">
                          <a:solidFill>
                            <a:srgbClr val="000000"/>
                          </a:solidFill>
                          <a:effectLst/>
                          <a:latin typeface="Arial" panose="020B0604020202020204" pitchFamily="34" charset="0"/>
                        </a:rPr>
                        <a:t>12.4%</a:t>
                      </a:r>
                    </a:p>
                  </a:txBody>
                  <a:tcPr marL="7620" marR="7620" marT="762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solidFill>
                      <a:schemeClr val="bg1">
                        <a:lumMod val="85000"/>
                      </a:schemeClr>
                    </a:solidFill>
                  </a:tcPr>
                </a:tc>
                <a:extLst>
                  <a:ext uri="{0D108BD9-81ED-4DB2-BD59-A6C34878D82A}">
                    <a16:rowId xmlns:a16="http://schemas.microsoft.com/office/drawing/2014/main" val="3135791563"/>
                  </a:ext>
                </a:extLst>
              </a:tr>
              <a:tr h="345439">
                <a:tc>
                  <a:txBody>
                    <a:bodyPr/>
                    <a:lstStyle/>
                    <a:p>
                      <a:pPr algn="l" fontAlgn="b">
                        <a:buNone/>
                      </a:pPr>
                      <a:r>
                        <a:rPr lang="en-US" sz="800" b="1" u="none" strike="noStrike" dirty="0">
                          <a:effectLst/>
                          <a:latin typeface="+mj-lt"/>
                        </a:rPr>
                        <a:t>26-28F Net Profit growth CAGR </a:t>
                      </a:r>
                      <a:r>
                        <a:rPr lang="en-US" sz="800" b="1" u="none" strike="noStrike" kern="1200" dirty="0">
                          <a:solidFill>
                            <a:schemeClr val="dk1"/>
                          </a:solidFill>
                          <a:effectLst/>
                          <a:latin typeface="+mn-lt"/>
                          <a:ea typeface="+mn-ea"/>
                          <a:cs typeface="+mn-cs"/>
                        </a:rPr>
                        <a:t>(%)</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b="1" u="none" strike="noStrike" dirty="0">
                          <a:effectLst/>
                          <a:latin typeface="+mj-lt"/>
                        </a:rPr>
                        <a:t>42.7%</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9.9%</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3.5%</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2.8%</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7.0%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6.3%</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1.6%</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2.2%</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6.7%</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6.5%</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n/a</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5.2%</a:t>
                      </a:r>
                    </a:p>
                  </a:txBody>
                  <a:tcPr marL="7620" marR="7620" marT="762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solidFill>
                      <a:schemeClr val="bg1">
                        <a:lumMod val="85000"/>
                      </a:schemeClr>
                    </a:solidFill>
                  </a:tcPr>
                </a:tc>
                <a:extLst>
                  <a:ext uri="{0D108BD9-81ED-4DB2-BD59-A6C34878D82A}">
                    <a16:rowId xmlns:a16="http://schemas.microsoft.com/office/drawing/2014/main" val="3569424894"/>
                  </a:ext>
                </a:extLst>
              </a:tr>
              <a:tr h="338894">
                <a:tc>
                  <a:txBody>
                    <a:bodyPr/>
                    <a:lstStyle/>
                    <a:p>
                      <a:pPr algn="l" fontAlgn="b">
                        <a:buNone/>
                      </a:pPr>
                      <a:r>
                        <a:rPr lang="en-US" sz="800" b="1" u="none" strike="noStrike" dirty="0">
                          <a:effectLst/>
                          <a:latin typeface="+mj-lt"/>
                        </a:rPr>
                        <a:t>Debt to equity </a:t>
                      </a:r>
                      <a:r>
                        <a:rPr lang="en-US" sz="800" b="1" u="none" strike="noStrike" kern="1200" dirty="0">
                          <a:solidFill>
                            <a:schemeClr val="dk1"/>
                          </a:solidFill>
                          <a:effectLst/>
                          <a:latin typeface="+mn-lt"/>
                          <a:ea typeface="+mn-ea"/>
                          <a:cs typeface="+mn-cs"/>
                        </a:rPr>
                        <a:t>(%)</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b">
                        <a:buNone/>
                      </a:pPr>
                      <a:r>
                        <a:rPr lang="en-US" sz="800" b="0" u="none" strike="noStrike" dirty="0">
                          <a:effectLst/>
                          <a:latin typeface="+mj-lt"/>
                        </a:rPr>
                        <a:t>29.6%</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45.6%</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15.9%</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0.3%</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131.9%</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8.3%</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6.1%</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7.1%</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138.8%</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38.0%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26.1%</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41.8%</a:t>
                      </a:r>
                    </a:p>
                  </a:txBody>
                  <a:tcPr marL="7620" marR="7620" marT="762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solidFill>
                      <a:schemeClr val="bg1">
                        <a:lumMod val="85000"/>
                      </a:schemeClr>
                    </a:solidFill>
                  </a:tcPr>
                </a:tc>
                <a:extLst>
                  <a:ext uri="{0D108BD9-81ED-4DB2-BD59-A6C34878D82A}">
                    <a16:rowId xmlns:a16="http://schemas.microsoft.com/office/drawing/2014/main" val="2589881438"/>
                  </a:ext>
                </a:extLst>
              </a:tr>
              <a:tr h="351929">
                <a:tc>
                  <a:txBody>
                    <a:bodyPr/>
                    <a:lstStyle/>
                    <a:p>
                      <a:pPr algn="l" fontAlgn="b">
                        <a:buNone/>
                      </a:pPr>
                      <a:r>
                        <a:rPr lang="en-US" sz="800" b="1" u="none" strike="noStrike" dirty="0">
                          <a:effectLst/>
                          <a:latin typeface="+mj-lt"/>
                        </a:rPr>
                        <a:t>Total Debt to Total Assets </a:t>
                      </a:r>
                      <a:r>
                        <a:rPr lang="en-US" sz="800" b="1" u="none" strike="noStrike" kern="1200" dirty="0">
                          <a:solidFill>
                            <a:schemeClr val="dk1"/>
                          </a:solidFill>
                          <a:effectLst/>
                          <a:latin typeface="+mn-lt"/>
                          <a:ea typeface="+mn-ea"/>
                          <a:cs typeface="+mn-cs"/>
                        </a:rPr>
                        <a:t>(%)</a:t>
                      </a:r>
                      <a:endParaRPr lang="en-US" sz="800" b="1"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b">
                        <a:buNone/>
                      </a:pPr>
                      <a:r>
                        <a:rPr lang="en-US" sz="800" b="0" u="none" strike="noStrike" dirty="0">
                          <a:effectLst/>
                          <a:latin typeface="+mj-lt"/>
                        </a:rPr>
                        <a:t>19.5%</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27.0%</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11.1%</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0.3%</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49.3%</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6.1%</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5.0%</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5.7%</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a:effectLst/>
                          <a:latin typeface="+mj-lt"/>
                        </a:rPr>
                        <a:t>53.5%</a:t>
                      </a:r>
                      <a:endParaRPr lang="en-US" sz="800" b="0" i="0" u="none" strike="noStrike">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20.3%</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800" u="none" strike="noStrike" dirty="0">
                          <a:effectLst/>
                          <a:latin typeface="+mj-lt"/>
                        </a:rPr>
                        <a:t>18.5%</a:t>
                      </a:r>
                      <a:endParaRPr lang="en-US" sz="800" b="0" i="0" u="none" strike="noStrike" dirty="0">
                        <a:solidFill>
                          <a:srgbClr val="000000"/>
                        </a:solidFill>
                        <a:effectLst/>
                        <a:latin typeface="+mj-lt"/>
                      </a:endParaRPr>
                    </a:p>
                  </a:txBody>
                  <a:tcPr marL="6450" marR="6450" marT="645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rtl="0" fontAlgn="ctr">
                        <a:buNone/>
                      </a:pPr>
                      <a:r>
                        <a:rPr lang="en-US" sz="800" b="0" i="0" u="none" strike="noStrike" dirty="0">
                          <a:solidFill>
                            <a:srgbClr val="000000"/>
                          </a:solidFill>
                          <a:effectLst/>
                          <a:latin typeface="Arial" panose="020B0604020202020204" pitchFamily="34" charset="0"/>
                        </a:rPr>
                        <a:t>19.7%</a:t>
                      </a:r>
                    </a:p>
                  </a:txBody>
                  <a:tcPr marL="7620" marR="7620" marT="7620" marB="0" anchor="ctr">
                    <a:lnL w="12700" cap="flat" cmpd="sng" algn="ctr">
                      <a:solidFill>
                        <a:schemeClr val="bg2"/>
                      </a:solidFill>
                      <a:prstDash val="sysDot"/>
                      <a:round/>
                      <a:headEnd type="none" w="med" len="med"/>
                      <a:tailEnd type="none" w="med" len="med"/>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solidFill>
                      <a:schemeClr val="bg1">
                        <a:lumMod val="85000"/>
                      </a:schemeClr>
                    </a:solidFill>
                  </a:tcPr>
                </a:tc>
                <a:extLst>
                  <a:ext uri="{0D108BD9-81ED-4DB2-BD59-A6C34878D82A}">
                    <a16:rowId xmlns:a16="http://schemas.microsoft.com/office/drawing/2014/main" val="1554715141"/>
                  </a:ext>
                </a:extLst>
              </a:tr>
            </a:tbl>
          </a:graphicData>
        </a:graphic>
      </p:graphicFrame>
      <p:pic>
        <p:nvPicPr>
          <p:cNvPr id="8" name="Picture 2" descr="http://www.differencebetween.info/sites/default/files/images/2/award.jpg">
            <a:extLst>
              <a:ext uri="{FF2B5EF4-FFF2-40B4-BE49-F238E27FC236}">
                <a16:creationId xmlns:a16="http://schemas.microsoft.com/office/drawing/2014/main" id="{46A99CF6-9586-A37B-CFB2-8B0EBD3C3C2D}"/>
              </a:ext>
            </a:extLst>
          </p:cNvPr>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316315" y="3143593"/>
            <a:ext cx="161728" cy="219367"/>
          </a:xfrm>
          <a:prstGeom prst="rect">
            <a:avLst/>
          </a:prstGeom>
          <a:noFill/>
        </p:spPr>
      </p:pic>
      <p:pic>
        <p:nvPicPr>
          <p:cNvPr id="9" name="Picture 2" descr="http://www.differencebetween.info/sites/default/files/images/2/award.jpg">
            <a:extLst>
              <a:ext uri="{FF2B5EF4-FFF2-40B4-BE49-F238E27FC236}">
                <a16:creationId xmlns:a16="http://schemas.microsoft.com/office/drawing/2014/main" id="{4F009969-44F9-8F53-E1B0-29E90D2AEF1D}"/>
              </a:ext>
            </a:extLst>
          </p:cNvPr>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319544" y="4504782"/>
            <a:ext cx="161728" cy="219367"/>
          </a:xfrm>
          <a:prstGeom prst="rect">
            <a:avLst/>
          </a:prstGeom>
          <a:noFill/>
        </p:spPr>
      </p:pic>
      <p:sp>
        <p:nvSpPr>
          <p:cNvPr id="2" name="Text Placeholder 1">
            <a:extLst>
              <a:ext uri="{FF2B5EF4-FFF2-40B4-BE49-F238E27FC236}">
                <a16:creationId xmlns:a16="http://schemas.microsoft.com/office/drawing/2014/main" id="{8795C0AF-E6AD-E7E7-BD8C-44F4BB287056}"/>
              </a:ext>
            </a:extLst>
          </p:cNvPr>
          <p:cNvSpPr txBox="1">
            <a:spLocks/>
          </p:cNvSpPr>
          <p:nvPr/>
        </p:nvSpPr>
        <p:spPr>
          <a:xfrm>
            <a:off x="661925" y="5871675"/>
            <a:ext cx="7312423" cy="276999"/>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en-US" sz="600" b="0" i="1" u="none" strike="noStrike" kern="1200" cap="none" spc="0" normalizeH="0" baseline="0" noProof="0">
                <a:ln>
                  <a:noFill/>
                </a:ln>
                <a:solidFill>
                  <a:schemeClr val="bg1">
                    <a:lumMod val="50000"/>
                  </a:schemeClr>
                </a:solidFill>
                <a:effectLst/>
                <a:uLnTx/>
                <a:uFillTx/>
                <a:latin typeface="+mn-lt"/>
                <a:ea typeface="+mn-ea"/>
                <a:cs typeface="+mn-cs"/>
              </a:defRPr>
            </a:lvl1pPr>
            <a:lvl2pPr marL="603647" indent="-232172" algn="l" rtl="0" eaLnBrk="0" fontAlgn="base" hangingPunct="0">
              <a:spcBef>
                <a:spcPct val="20000"/>
              </a:spcBef>
              <a:spcAft>
                <a:spcPct val="0"/>
              </a:spcAft>
              <a:buChar char="–"/>
              <a:defRPr sz="1300" kern="1200">
                <a:solidFill>
                  <a:schemeClr val="tx1"/>
                </a:solidFill>
                <a:latin typeface="+mn-lt"/>
                <a:ea typeface="+mn-ea"/>
                <a:cs typeface="+mn-cs"/>
              </a:defRPr>
            </a:lvl2pPr>
            <a:lvl3pPr marL="928688" indent="-185738" algn="l" rtl="0" eaLnBrk="0" fontAlgn="base" hangingPunct="0">
              <a:spcBef>
                <a:spcPct val="20000"/>
              </a:spcBef>
              <a:spcAft>
                <a:spcPct val="0"/>
              </a:spcAft>
              <a:buChar char="•"/>
              <a:defRPr sz="1300" kern="1200">
                <a:solidFill>
                  <a:schemeClr val="tx1"/>
                </a:solidFill>
                <a:latin typeface="+mn-lt"/>
                <a:ea typeface="+mn-ea"/>
                <a:cs typeface="+mn-cs"/>
              </a:defRPr>
            </a:lvl3pPr>
            <a:lvl4pPr marL="1300163" indent="-185738" algn="l" rtl="0" eaLnBrk="0" fontAlgn="base" hangingPunct="0">
              <a:spcBef>
                <a:spcPct val="20000"/>
              </a:spcBef>
              <a:spcAft>
                <a:spcPct val="0"/>
              </a:spcAft>
              <a:buChar char="–"/>
              <a:defRPr sz="1300" kern="1200">
                <a:solidFill>
                  <a:schemeClr val="tx1"/>
                </a:solidFill>
                <a:latin typeface="+mn-lt"/>
                <a:ea typeface="+mn-ea"/>
                <a:cs typeface="+mn-cs"/>
              </a:defRPr>
            </a:lvl4pPr>
            <a:lvl5pPr marL="1671638" indent="-185738" algn="l" rtl="0" eaLnBrk="0" fontAlgn="base" hangingPunct="0">
              <a:spcBef>
                <a:spcPct val="20000"/>
              </a:spcBef>
              <a:spcAft>
                <a:spcPct val="0"/>
              </a:spcAft>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Note:</a:t>
            </a:r>
          </a:p>
          <a:p>
            <a:pPr marR="0" lvl="0" algn="l" defTabSz="914400" rtl="0" eaLnBrk="1" fontAlgn="auto" latinLnBrk="0" hangingPunct="1">
              <a:lnSpc>
                <a:spcPct val="100000"/>
              </a:lnSpc>
              <a:spcBef>
                <a:spcPts val="0"/>
              </a:spcBef>
              <a:spcAft>
                <a:spcPts val="0"/>
              </a:spcAft>
              <a:buClrTx/>
              <a:buSzTx/>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1. Source: Bloomberg, as of 6 May 2026</a:t>
            </a:r>
          </a:p>
          <a:p>
            <a:pPr marR="0" lvl="0" algn="l" defTabSz="914400" rtl="0" eaLnBrk="1" fontAlgn="auto" latinLnBrk="0" hangingPunct="1">
              <a:lnSpc>
                <a:spcPct val="100000"/>
              </a:lnSpc>
              <a:spcBef>
                <a:spcPts val="0"/>
              </a:spcBef>
              <a:spcAft>
                <a:spcPts val="0"/>
              </a:spcAft>
              <a:buClrTx/>
              <a:buSzTx/>
              <a:tabLst/>
              <a:defRPr/>
            </a:pPr>
            <a:r>
              <a:rPr lang="en-US" dirty="0">
                <a:solidFill>
                  <a:schemeClr val="tx1"/>
                </a:solidFill>
                <a:latin typeface="Arial" panose="020B0604020202020204"/>
              </a:rPr>
              <a:t>2. Source: Company information </a:t>
            </a:r>
            <a:endParaRPr kumimoji="0" lang="en-US" b="0" i="1" u="none" strike="noStrike" kern="1200" cap="none" spc="0" normalizeH="0" baseline="0" noProof="0" dirty="0">
              <a:ln>
                <a:noFill/>
              </a:ln>
              <a:solidFill>
                <a:schemeClr val="tx1"/>
              </a:solidFill>
              <a:effectLst/>
              <a:uLnTx/>
              <a:uFillTx/>
              <a:latin typeface="Arial" panose="020B0604020202020204"/>
              <a:ea typeface="+mn-ea"/>
              <a:cs typeface="+mn-cs"/>
            </a:endParaRPr>
          </a:p>
        </p:txBody>
      </p:sp>
      <p:pic>
        <p:nvPicPr>
          <p:cNvPr id="13" name="Image 0" descr="https://kimi-img.moonshot.cn/pub/slides/okc/4djuavcessoia/mnt/agents/output/comparable_companies/images/ihh.png">
            <a:extLst>
              <a:ext uri="{FF2B5EF4-FFF2-40B4-BE49-F238E27FC236}">
                <a16:creationId xmlns:a16="http://schemas.microsoft.com/office/drawing/2014/main" id="{DD22D0BE-B25E-8094-F121-1569909AA515}"/>
              </a:ext>
            </a:extLst>
          </p:cNvPr>
          <p:cNvPicPr>
            <a:picLocks noChangeAspect="1"/>
          </p:cNvPicPr>
          <p:nvPr/>
        </p:nvPicPr>
        <p:blipFill>
          <a:blip r:embed="rId3"/>
          <a:srcRect l="-35227" r="-35227"/>
          <a:stretch/>
        </p:blipFill>
        <p:spPr>
          <a:xfrm>
            <a:off x="2094506" y="1078105"/>
            <a:ext cx="1405614" cy="415295"/>
          </a:xfrm>
          <a:prstGeom prst="rect">
            <a:avLst/>
          </a:prstGeom>
        </p:spPr>
      </p:pic>
      <p:pic>
        <p:nvPicPr>
          <p:cNvPr id="16" name="Image 3" descr="https://kimi-img.moonshot.cn/pub/slides/okc/4djuavcessoia/mnt/agents/output/comparable_companies/images/kpj.png">
            <a:extLst>
              <a:ext uri="{FF2B5EF4-FFF2-40B4-BE49-F238E27FC236}">
                <a16:creationId xmlns:a16="http://schemas.microsoft.com/office/drawing/2014/main" id="{EDDAB226-12E2-9EDC-9B5B-318D321EF6EA}"/>
              </a:ext>
            </a:extLst>
          </p:cNvPr>
          <p:cNvPicPr>
            <a:picLocks noChangeAspect="1"/>
          </p:cNvPicPr>
          <p:nvPr/>
        </p:nvPicPr>
        <p:blipFill>
          <a:blip r:embed="rId4"/>
          <a:srcRect l="-35227" r="-35227"/>
          <a:stretch/>
        </p:blipFill>
        <p:spPr>
          <a:xfrm>
            <a:off x="4283773" y="1078105"/>
            <a:ext cx="806970" cy="412750"/>
          </a:xfrm>
          <a:prstGeom prst="rect">
            <a:avLst/>
          </a:prstGeom>
        </p:spPr>
      </p:pic>
      <p:pic>
        <p:nvPicPr>
          <p:cNvPr id="18" name="Picture 2" descr="Bangkok Dusit Medical Services - Wikipedia">
            <a:extLst>
              <a:ext uri="{FF2B5EF4-FFF2-40B4-BE49-F238E27FC236}">
                <a16:creationId xmlns:a16="http://schemas.microsoft.com/office/drawing/2014/main" id="{49B74117-0537-63EB-B69C-BF3C41BE5C7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21673" y="1220110"/>
            <a:ext cx="553707" cy="206309"/>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 7" descr="https://kimi-img.moonshot.cn/pub/slides/okc/4djuavcessoia/mnt/agents/output/comparable_companies/images/qm.png">
            <a:extLst>
              <a:ext uri="{FF2B5EF4-FFF2-40B4-BE49-F238E27FC236}">
                <a16:creationId xmlns:a16="http://schemas.microsoft.com/office/drawing/2014/main" id="{56AD64A3-7DA8-FEAC-4BB5-D961892625F6}"/>
              </a:ext>
            </a:extLst>
          </p:cNvPr>
          <p:cNvPicPr>
            <a:picLocks noChangeAspect="1"/>
          </p:cNvPicPr>
          <p:nvPr/>
        </p:nvPicPr>
        <p:blipFill>
          <a:blip r:embed="rId6"/>
          <a:srcRect l="-35227" r="-35227"/>
          <a:stretch/>
        </p:blipFill>
        <p:spPr>
          <a:xfrm>
            <a:off x="6698769" y="1040713"/>
            <a:ext cx="806970" cy="437945"/>
          </a:xfrm>
          <a:prstGeom prst="rect">
            <a:avLst/>
          </a:prstGeom>
        </p:spPr>
      </p:pic>
      <p:pic>
        <p:nvPicPr>
          <p:cNvPr id="20" name="Image 8" descr="https://kimi-img.moonshot.cn/pub/slides/okc/4djuavcessoia/mnt/agents/output/comparable_companies/images/klinique.png">
            <a:extLst>
              <a:ext uri="{FF2B5EF4-FFF2-40B4-BE49-F238E27FC236}">
                <a16:creationId xmlns:a16="http://schemas.microsoft.com/office/drawing/2014/main" id="{2F034335-4B80-4C57-C571-718647A1E6A4}"/>
              </a:ext>
            </a:extLst>
          </p:cNvPr>
          <p:cNvPicPr>
            <a:picLocks noChangeAspect="1"/>
          </p:cNvPicPr>
          <p:nvPr/>
        </p:nvPicPr>
        <p:blipFill>
          <a:blip r:embed="rId7"/>
          <a:srcRect l="-35227" r="-35227"/>
          <a:stretch/>
        </p:blipFill>
        <p:spPr>
          <a:xfrm>
            <a:off x="7347373" y="1071008"/>
            <a:ext cx="779958" cy="395948"/>
          </a:xfrm>
          <a:prstGeom prst="rect">
            <a:avLst/>
          </a:prstGeom>
        </p:spPr>
      </p:pic>
      <p:pic>
        <p:nvPicPr>
          <p:cNvPr id="21" name="Image 9" descr="https://kimi-img.moonshot.cn/pub/slides/okc/4djuavcessoia/mnt/agents/output/comparable_companies/images/isec.png">
            <a:extLst>
              <a:ext uri="{FF2B5EF4-FFF2-40B4-BE49-F238E27FC236}">
                <a16:creationId xmlns:a16="http://schemas.microsoft.com/office/drawing/2014/main" id="{D3E357DD-AEF3-F091-5C3C-82104364202E}"/>
              </a:ext>
            </a:extLst>
          </p:cNvPr>
          <p:cNvPicPr>
            <a:picLocks noChangeAspect="1"/>
          </p:cNvPicPr>
          <p:nvPr/>
        </p:nvPicPr>
        <p:blipFill>
          <a:blip r:embed="rId8"/>
          <a:srcRect l="-35227" r="-35227"/>
          <a:stretch/>
        </p:blipFill>
        <p:spPr>
          <a:xfrm>
            <a:off x="7887100" y="1048881"/>
            <a:ext cx="914000" cy="406100"/>
          </a:xfrm>
          <a:prstGeom prst="rect">
            <a:avLst/>
          </a:prstGeom>
        </p:spPr>
      </p:pic>
      <p:pic>
        <p:nvPicPr>
          <p:cNvPr id="22" name="Picture 4">
            <a:extLst>
              <a:ext uri="{FF2B5EF4-FFF2-40B4-BE49-F238E27FC236}">
                <a16:creationId xmlns:a16="http://schemas.microsoft.com/office/drawing/2014/main" id="{1B437564-4AF0-FA7C-7F88-4E81DAC1468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589286" y="1172148"/>
            <a:ext cx="553707" cy="26407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BSL Stock Price and Chart — SGX:BSL — TradingView">
            <a:extLst>
              <a:ext uri="{FF2B5EF4-FFF2-40B4-BE49-F238E27FC236}">
                <a16:creationId xmlns:a16="http://schemas.microsoft.com/office/drawing/2014/main" id="{2C20B247-FF4F-72F1-22CB-FC4E84222B08}"/>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074727" y="1026388"/>
            <a:ext cx="440568" cy="44056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Bumrungrad International Hospital - Wikipedia">
            <a:extLst>
              <a:ext uri="{FF2B5EF4-FFF2-40B4-BE49-F238E27FC236}">
                <a16:creationId xmlns:a16="http://schemas.microsoft.com/office/drawing/2014/main" id="{FED6B5D8-EDB2-CD75-DB69-56768D1E7B6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675380" y="1176783"/>
            <a:ext cx="690002" cy="2594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echnical Analysis of Chularat Hospital ...">
            <a:extLst>
              <a:ext uri="{FF2B5EF4-FFF2-40B4-BE49-F238E27FC236}">
                <a16:creationId xmlns:a16="http://schemas.microsoft.com/office/drawing/2014/main" id="{FDECAD33-5B55-1C18-2B1D-45EA8170294E}"/>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290233" y="1038090"/>
            <a:ext cx="440568" cy="44056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About Us - Singapore Medical Group">
            <a:extLst>
              <a:ext uri="{FF2B5EF4-FFF2-40B4-BE49-F238E27FC236}">
                <a16:creationId xmlns:a16="http://schemas.microsoft.com/office/drawing/2014/main" id="{63EDCB15-AF79-3D58-67B3-D8C86B7AAA03}"/>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887739" y="1240253"/>
            <a:ext cx="480234" cy="16602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http://www.differencebetween.info/sites/default/files/images/2/award.jpg">
            <a:extLst>
              <a:ext uri="{FF2B5EF4-FFF2-40B4-BE49-F238E27FC236}">
                <a16:creationId xmlns:a16="http://schemas.microsoft.com/office/drawing/2014/main" id="{2DEB97C6-9090-B889-5EE1-75945C6BDCE9}"/>
              </a:ext>
            </a:extLst>
          </p:cNvPr>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316315" y="3464498"/>
            <a:ext cx="161728" cy="219367"/>
          </a:xfrm>
          <a:prstGeom prst="rect">
            <a:avLst/>
          </a:prstGeom>
          <a:noFill/>
        </p:spPr>
      </p:pic>
      <p:sp>
        <p:nvSpPr>
          <p:cNvPr id="5" name="Rectangle 56">
            <a:extLst>
              <a:ext uri="{FF2B5EF4-FFF2-40B4-BE49-F238E27FC236}">
                <a16:creationId xmlns:a16="http://schemas.microsoft.com/office/drawing/2014/main" id="{C448B248-CB9F-A11D-BED8-F72FEB4188C8}"/>
              </a:ext>
            </a:extLst>
          </p:cNvPr>
          <p:cNvSpPr/>
          <p:nvPr/>
        </p:nvSpPr>
        <p:spPr>
          <a:xfrm>
            <a:off x="1865054" y="1071007"/>
            <a:ext cx="611612" cy="4453493"/>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0385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0EADF-5FF9-9D59-C89A-0821398E71B0}"/>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1457D2D6-1366-FC5C-B8A3-E53AEF452F8E}"/>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latin typeface="+mj-lt"/>
              </a:rPr>
              <a:pPr>
                <a:spcBef>
                  <a:spcPct val="0"/>
                </a:spcBef>
                <a:defRPr/>
              </a:pPr>
              <a:t>44</a:t>
            </a:fld>
            <a:endParaRPr lang="en-US" altLang="en-US" b="0">
              <a:solidFill>
                <a:srgbClr val="000000"/>
              </a:solidFill>
              <a:latin typeface="+mj-lt"/>
            </a:endParaRPr>
          </a:p>
        </p:txBody>
      </p:sp>
      <p:sp>
        <p:nvSpPr>
          <p:cNvPr id="6" name="Title 1">
            <a:extLst>
              <a:ext uri="{FF2B5EF4-FFF2-40B4-BE49-F238E27FC236}">
                <a16:creationId xmlns:a16="http://schemas.microsoft.com/office/drawing/2014/main" id="{DEA1DC0D-3089-1133-4794-B35C6DB53051}"/>
              </a:ext>
            </a:extLst>
          </p:cNvPr>
          <p:cNvSpPr txBox="1">
            <a:spLocks/>
          </p:cNvSpPr>
          <p:nvPr/>
        </p:nvSpPr>
        <p:spPr bwMode="auto">
          <a:xfrm>
            <a:off x="800973" y="411480"/>
            <a:ext cx="8494051" cy="577850"/>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lvl1pPr algn="l" rtl="0" eaLnBrk="0" fontAlgn="base" hangingPunct="0">
              <a:spcBef>
                <a:spcPct val="0"/>
              </a:spcBef>
              <a:spcAft>
                <a:spcPct val="0"/>
              </a:spcAft>
              <a:tabLst>
                <a:tab pos="457200" algn="l"/>
              </a:tabLst>
              <a:defRPr sz="22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a:lstStyle>
          <a:p>
            <a:r>
              <a:rPr lang="en-US" sz="2000" kern="0" dirty="0"/>
              <a:t>Comparable Analysis (cont’d)</a:t>
            </a:r>
            <a:endParaRPr lang="en-GB" sz="2000" kern="0" dirty="0"/>
          </a:p>
        </p:txBody>
      </p:sp>
      <p:sp>
        <p:nvSpPr>
          <p:cNvPr id="2" name="文字方塊 1">
            <a:extLst>
              <a:ext uri="{FF2B5EF4-FFF2-40B4-BE49-F238E27FC236}">
                <a16:creationId xmlns:a16="http://schemas.microsoft.com/office/drawing/2014/main" id="{AA8FF139-1B6A-B160-452F-12D7F810EFA0}"/>
              </a:ext>
            </a:extLst>
          </p:cNvPr>
          <p:cNvSpPr txBox="1"/>
          <p:nvPr/>
        </p:nvSpPr>
        <p:spPr>
          <a:xfrm>
            <a:off x="59663" y="-888854"/>
            <a:ext cx="9652001" cy="461665"/>
          </a:xfrm>
          <a:prstGeom prst="rect">
            <a:avLst/>
          </a:prstGeom>
          <a:noFill/>
        </p:spPr>
        <p:txBody>
          <a:bodyPr wrap="none" rtlCol="0">
            <a:spAutoFit/>
          </a:bodyPr>
          <a:lstStyle/>
          <a:p>
            <a:r>
              <a:rPr lang="en-US" dirty="0">
                <a:latin typeface="+mj-lt"/>
              </a:rPr>
              <a:t>Reason, rationale for choosing these comparables, need to think</a:t>
            </a:r>
          </a:p>
        </p:txBody>
      </p:sp>
      <p:grpSp>
        <p:nvGrpSpPr>
          <p:cNvPr id="59" name="群組 58">
            <a:extLst>
              <a:ext uri="{FF2B5EF4-FFF2-40B4-BE49-F238E27FC236}">
                <a16:creationId xmlns:a16="http://schemas.microsoft.com/office/drawing/2014/main" id="{8479EB71-BFBE-DD02-F4CB-65E39521935B}"/>
              </a:ext>
            </a:extLst>
          </p:cNvPr>
          <p:cNvGrpSpPr/>
          <p:nvPr/>
        </p:nvGrpSpPr>
        <p:grpSpPr>
          <a:xfrm>
            <a:off x="1320118" y="1602762"/>
            <a:ext cx="2309894" cy="1788373"/>
            <a:chOff x="1270000" y="1968500"/>
            <a:chExt cx="3937000" cy="2806700"/>
          </a:xfrm>
        </p:grpSpPr>
        <p:pic>
          <p:nvPicPr>
            <p:cNvPr id="42" name="Image 0" descr="https://kimi-img.moonshot.cn/pub/slides/okc/dsduo6kcypxfw/mnt/agents/output/comparable_companies/images/jinxin_logo.png">
              <a:extLst>
                <a:ext uri="{FF2B5EF4-FFF2-40B4-BE49-F238E27FC236}">
                  <a16:creationId xmlns:a16="http://schemas.microsoft.com/office/drawing/2014/main" id="{A1ECCBAC-4634-FB74-05D1-101B06A249B8}"/>
                </a:ext>
              </a:extLst>
            </p:cNvPr>
            <p:cNvPicPr>
              <a:picLocks noChangeAspect="1"/>
            </p:cNvPicPr>
            <p:nvPr/>
          </p:nvPicPr>
          <p:blipFill>
            <a:blip r:embed="rId2"/>
            <a:srcRect/>
            <a:stretch/>
          </p:blipFill>
          <p:spPr>
            <a:xfrm>
              <a:off x="2476500" y="1968500"/>
              <a:ext cx="1524000" cy="1524000"/>
            </a:xfrm>
            <a:prstGeom prst="rect">
              <a:avLst/>
            </a:prstGeom>
          </p:spPr>
        </p:pic>
        <p:sp>
          <p:nvSpPr>
            <p:cNvPr id="43" name="Text 3">
              <a:extLst>
                <a:ext uri="{FF2B5EF4-FFF2-40B4-BE49-F238E27FC236}">
                  <a16:creationId xmlns:a16="http://schemas.microsoft.com/office/drawing/2014/main" id="{161C42B5-F681-F3C6-ACAF-5287BCD5E12F}"/>
                </a:ext>
              </a:extLst>
            </p:cNvPr>
            <p:cNvSpPr/>
            <p:nvPr/>
          </p:nvSpPr>
          <p:spPr>
            <a:xfrm>
              <a:off x="1270000" y="3799394"/>
              <a:ext cx="3937000" cy="381001"/>
            </a:xfrm>
            <a:prstGeom prst="rect">
              <a:avLst/>
            </a:prstGeom>
            <a:noFill/>
            <a:ln/>
          </p:spPr>
          <p:txBody>
            <a:bodyPr wrap="none" lIns="0" tIns="0" rIns="0" bIns="0" rtlCol="0" anchor="ctr"/>
            <a:lstStyle/>
            <a:p>
              <a:pPr algn="ctr">
                <a:lnSpc>
                  <a:spcPct val="100000"/>
                </a:lnSpc>
              </a:pPr>
              <a:r>
                <a:rPr lang="en-US" sz="1000" b="1" dirty="0">
                  <a:solidFill>
                    <a:srgbClr val="1E3A5F"/>
                  </a:solidFill>
                  <a:latin typeface="+mj-lt"/>
                  <a:ea typeface="Liter" pitchFamily="34" charset="-122"/>
                  <a:cs typeface="Liter" pitchFamily="34" charset="-120"/>
                </a:rPr>
                <a:t>Jinxin Fertility Group</a:t>
              </a:r>
              <a:endParaRPr lang="en-US" sz="1000" dirty="0">
                <a:latin typeface="+mj-lt"/>
              </a:endParaRPr>
            </a:p>
          </p:txBody>
        </p:sp>
        <p:sp>
          <p:nvSpPr>
            <p:cNvPr id="44" name="Text 4">
              <a:extLst>
                <a:ext uri="{FF2B5EF4-FFF2-40B4-BE49-F238E27FC236}">
                  <a16:creationId xmlns:a16="http://schemas.microsoft.com/office/drawing/2014/main" id="{FBE99CB5-34E4-8EB3-F53E-E110B19F2DC6}"/>
                </a:ext>
              </a:extLst>
            </p:cNvPr>
            <p:cNvSpPr/>
            <p:nvPr/>
          </p:nvSpPr>
          <p:spPr>
            <a:xfrm>
              <a:off x="1270000" y="4127500"/>
              <a:ext cx="3937000" cy="304800"/>
            </a:xfrm>
            <a:prstGeom prst="rect">
              <a:avLst/>
            </a:prstGeom>
            <a:noFill/>
            <a:ln/>
          </p:spPr>
          <p:txBody>
            <a:bodyPr wrap="none" lIns="0" tIns="0" rIns="0" bIns="0" rtlCol="0" anchor="ctr"/>
            <a:lstStyle/>
            <a:p>
              <a:pPr algn="ctr">
                <a:lnSpc>
                  <a:spcPct val="100000"/>
                </a:lnSpc>
              </a:pPr>
              <a:endParaRPr lang="en-US" sz="1000" dirty="0">
                <a:latin typeface="+mj-lt"/>
              </a:endParaRPr>
            </a:p>
          </p:txBody>
        </p:sp>
        <p:sp>
          <p:nvSpPr>
            <p:cNvPr id="45" name="Text 5">
              <a:extLst>
                <a:ext uri="{FF2B5EF4-FFF2-40B4-BE49-F238E27FC236}">
                  <a16:creationId xmlns:a16="http://schemas.microsoft.com/office/drawing/2014/main" id="{1898B224-49DC-BA86-4872-FEECA9D13C7B}"/>
                </a:ext>
              </a:extLst>
            </p:cNvPr>
            <p:cNvSpPr/>
            <p:nvPr/>
          </p:nvSpPr>
          <p:spPr>
            <a:xfrm>
              <a:off x="1270000" y="4470400"/>
              <a:ext cx="3937000" cy="304800"/>
            </a:xfrm>
            <a:prstGeom prst="rect">
              <a:avLst/>
            </a:prstGeom>
            <a:noFill/>
            <a:ln/>
          </p:spPr>
          <p:txBody>
            <a:bodyPr wrap="none" lIns="0" tIns="0" rIns="0" bIns="0" rtlCol="0" anchor="ctr"/>
            <a:lstStyle/>
            <a:p>
              <a:pPr algn="ctr">
                <a:lnSpc>
                  <a:spcPct val="100000"/>
                </a:lnSpc>
              </a:pPr>
              <a:endParaRPr lang="en-US" sz="1000" dirty="0">
                <a:latin typeface="+mj-lt"/>
              </a:endParaRPr>
            </a:p>
          </p:txBody>
        </p:sp>
      </p:grpSp>
      <p:grpSp>
        <p:nvGrpSpPr>
          <p:cNvPr id="60" name="群組 59">
            <a:extLst>
              <a:ext uri="{FF2B5EF4-FFF2-40B4-BE49-F238E27FC236}">
                <a16:creationId xmlns:a16="http://schemas.microsoft.com/office/drawing/2014/main" id="{E4C8A172-37CD-704E-99DE-071D360BBE07}"/>
              </a:ext>
            </a:extLst>
          </p:cNvPr>
          <p:cNvGrpSpPr/>
          <p:nvPr/>
        </p:nvGrpSpPr>
        <p:grpSpPr>
          <a:xfrm>
            <a:off x="3692990" y="1681198"/>
            <a:ext cx="2309894" cy="1788373"/>
            <a:chOff x="6159500" y="1968500"/>
            <a:chExt cx="3937000" cy="2806700"/>
          </a:xfrm>
        </p:grpSpPr>
        <p:pic>
          <p:nvPicPr>
            <p:cNvPr id="47" name="Image 1" descr="https://kimi-img.moonshot.cn/pub/slides/okc/dsduo6kcypxfw/mnt/agents/output/comparable_companies/images/alpha_logo.png">
              <a:extLst>
                <a:ext uri="{FF2B5EF4-FFF2-40B4-BE49-F238E27FC236}">
                  <a16:creationId xmlns:a16="http://schemas.microsoft.com/office/drawing/2014/main" id="{32975C45-657D-AFC9-5D0B-170AFD155849}"/>
                </a:ext>
              </a:extLst>
            </p:cNvPr>
            <p:cNvPicPr>
              <a:picLocks noChangeAspect="1"/>
            </p:cNvPicPr>
            <p:nvPr/>
          </p:nvPicPr>
          <p:blipFill>
            <a:blip r:embed="rId3"/>
            <a:srcRect l="-6268" r="-6268"/>
            <a:stretch/>
          </p:blipFill>
          <p:spPr>
            <a:xfrm>
              <a:off x="7366000" y="1968500"/>
              <a:ext cx="1524000" cy="1524000"/>
            </a:xfrm>
            <a:prstGeom prst="rect">
              <a:avLst/>
            </a:prstGeom>
          </p:spPr>
        </p:pic>
        <p:sp>
          <p:nvSpPr>
            <p:cNvPr id="48" name="Text 7">
              <a:extLst>
                <a:ext uri="{FF2B5EF4-FFF2-40B4-BE49-F238E27FC236}">
                  <a16:creationId xmlns:a16="http://schemas.microsoft.com/office/drawing/2014/main" id="{1C74E0BA-07CD-3BB2-B078-956B88B13154}"/>
                </a:ext>
              </a:extLst>
            </p:cNvPr>
            <p:cNvSpPr/>
            <p:nvPr/>
          </p:nvSpPr>
          <p:spPr>
            <a:xfrm>
              <a:off x="6159500" y="3683000"/>
              <a:ext cx="3937000" cy="381000"/>
            </a:xfrm>
            <a:prstGeom prst="rect">
              <a:avLst/>
            </a:prstGeom>
            <a:noFill/>
            <a:ln/>
          </p:spPr>
          <p:txBody>
            <a:bodyPr wrap="none" lIns="0" tIns="0" rIns="0" bIns="0" rtlCol="0" anchor="ctr"/>
            <a:lstStyle/>
            <a:p>
              <a:pPr algn="ctr">
                <a:lnSpc>
                  <a:spcPct val="100000"/>
                </a:lnSpc>
              </a:pPr>
              <a:r>
                <a:rPr lang="en-US" sz="1000" b="1" dirty="0">
                  <a:solidFill>
                    <a:srgbClr val="1E3A5F"/>
                  </a:solidFill>
                  <a:latin typeface="+mj-lt"/>
                  <a:ea typeface="Liter" pitchFamily="34" charset="-122"/>
                  <a:cs typeface="Liter" pitchFamily="34" charset="-120"/>
                </a:rPr>
                <a:t>Alpha IVF Group</a:t>
              </a:r>
              <a:endParaRPr lang="en-US" sz="1000" dirty="0">
                <a:latin typeface="+mj-lt"/>
              </a:endParaRPr>
            </a:p>
          </p:txBody>
        </p:sp>
        <p:sp>
          <p:nvSpPr>
            <p:cNvPr id="49" name="Text 8">
              <a:extLst>
                <a:ext uri="{FF2B5EF4-FFF2-40B4-BE49-F238E27FC236}">
                  <a16:creationId xmlns:a16="http://schemas.microsoft.com/office/drawing/2014/main" id="{ABE00BCF-8531-1EDE-575C-9922239B1AB9}"/>
                </a:ext>
              </a:extLst>
            </p:cNvPr>
            <p:cNvSpPr/>
            <p:nvPr/>
          </p:nvSpPr>
          <p:spPr>
            <a:xfrm>
              <a:off x="6159500" y="4127500"/>
              <a:ext cx="3937000" cy="304800"/>
            </a:xfrm>
            <a:prstGeom prst="rect">
              <a:avLst/>
            </a:prstGeom>
            <a:noFill/>
            <a:ln/>
          </p:spPr>
          <p:txBody>
            <a:bodyPr wrap="none" lIns="0" tIns="0" rIns="0" bIns="0" rtlCol="0" anchor="ctr"/>
            <a:lstStyle/>
            <a:p>
              <a:pPr algn="ctr">
                <a:lnSpc>
                  <a:spcPct val="100000"/>
                </a:lnSpc>
              </a:pPr>
              <a:endParaRPr lang="en-US" sz="1000" dirty="0">
                <a:latin typeface="+mj-lt"/>
              </a:endParaRPr>
            </a:p>
          </p:txBody>
        </p:sp>
        <p:sp>
          <p:nvSpPr>
            <p:cNvPr id="50" name="Text 9">
              <a:extLst>
                <a:ext uri="{FF2B5EF4-FFF2-40B4-BE49-F238E27FC236}">
                  <a16:creationId xmlns:a16="http://schemas.microsoft.com/office/drawing/2014/main" id="{91BEE3E0-58E5-6C3D-86B3-7AEBA5D4EFE6}"/>
                </a:ext>
              </a:extLst>
            </p:cNvPr>
            <p:cNvSpPr/>
            <p:nvPr/>
          </p:nvSpPr>
          <p:spPr>
            <a:xfrm>
              <a:off x="6159500" y="4470400"/>
              <a:ext cx="3937000" cy="304800"/>
            </a:xfrm>
            <a:prstGeom prst="rect">
              <a:avLst/>
            </a:prstGeom>
            <a:noFill/>
            <a:ln/>
          </p:spPr>
          <p:txBody>
            <a:bodyPr wrap="none" lIns="0" tIns="0" rIns="0" bIns="0" rtlCol="0" anchor="ctr"/>
            <a:lstStyle/>
            <a:p>
              <a:pPr algn="ctr">
                <a:lnSpc>
                  <a:spcPct val="100000"/>
                </a:lnSpc>
              </a:pPr>
              <a:endParaRPr lang="en-US" sz="1000" dirty="0">
                <a:latin typeface="+mj-lt"/>
              </a:endParaRPr>
            </a:p>
          </p:txBody>
        </p:sp>
      </p:grpSp>
      <p:grpSp>
        <p:nvGrpSpPr>
          <p:cNvPr id="61" name="群組 60">
            <a:extLst>
              <a:ext uri="{FF2B5EF4-FFF2-40B4-BE49-F238E27FC236}">
                <a16:creationId xmlns:a16="http://schemas.microsoft.com/office/drawing/2014/main" id="{B7647FC9-DFF7-5DE0-D9BB-1CCCA7C46199}"/>
              </a:ext>
            </a:extLst>
          </p:cNvPr>
          <p:cNvGrpSpPr/>
          <p:nvPr/>
        </p:nvGrpSpPr>
        <p:grpSpPr>
          <a:xfrm>
            <a:off x="6344130" y="1412687"/>
            <a:ext cx="2309894" cy="1862672"/>
            <a:chOff x="11049000" y="1851893"/>
            <a:chExt cx="3937000" cy="2923307"/>
          </a:xfrm>
        </p:grpSpPr>
        <p:pic>
          <p:nvPicPr>
            <p:cNvPr id="52" name="Image 2" descr="https://kimi-img.moonshot.cn/pub/slides/okc/dsduo6kcypxfw/mnt/agents/output/comparable_companies/images/monash_logo.png">
              <a:extLst>
                <a:ext uri="{FF2B5EF4-FFF2-40B4-BE49-F238E27FC236}">
                  <a16:creationId xmlns:a16="http://schemas.microsoft.com/office/drawing/2014/main" id="{F16F690B-17A7-E9AA-0786-631A348594D0}"/>
                </a:ext>
              </a:extLst>
            </p:cNvPr>
            <p:cNvPicPr>
              <a:picLocks noChangeAspect="1"/>
            </p:cNvPicPr>
            <p:nvPr/>
          </p:nvPicPr>
          <p:blipFill>
            <a:blip r:embed="rId4"/>
            <a:srcRect/>
            <a:stretch/>
          </p:blipFill>
          <p:spPr>
            <a:xfrm>
              <a:off x="11677657" y="1851893"/>
              <a:ext cx="2679686" cy="2679686"/>
            </a:xfrm>
            <a:prstGeom prst="rect">
              <a:avLst/>
            </a:prstGeom>
          </p:spPr>
        </p:pic>
        <p:sp>
          <p:nvSpPr>
            <p:cNvPr id="53" name="Text 11">
              <a:extLst>
                <a:ext uri="{FF2B5EF4-FFF2-40B4-BE49-F238E27FC236}">
                  <a16:creationId xmlns:a16="http://schemas.microsoft.com/office/drawing/2014/main" id="{4EB50BA5-2F79-7D5B-DD3B-FBF3EA6200F8}"/>
                </a:ext>
              </a:extLst>
            </p:cNvPr>
            <p:cNvSpPr/>
            <p:nvPr/>
          </p:nvSpPr>
          <p:spPr>
            <a:xfrm>
              <a:off x="11049000" y="3994105"/>
              <a:ext cx="3937000" cy="380999"/>
            </a:xfrm>
            <a:prstGeom prst="rect">
              <a:avLst/>
            </a:prstGeom>
            <a:noFill/>
            <a:ln/>
          </p:spPr>
          <p:txBody>
            <a:bodyPr wrap="none" lIns="0" tIns="0" rIns="0" bIns="0" rtlCol="0" anchor="ctr"/>
            <a:lstStyle/>
            <a:p>
              <a:pPr algn="ctr">
                <a:lnSpc>
                  <a:spcPct val="100000"/>
                </a:lnSpc>
              </a:pPr>
              <a:r>
                <a:rPr lang="en-US" sz="1000" b="1" dirty="0">
                  <a:solidFill>
                    <a:srgbClr val="1E3A5F"/>
                  </a:solidFill>
                  <a:latin typeface="+mj-lt"/>
                  <a:ea typeface="Liter" pitchFamily="34" charset="-122"/>
                  <a:cs typeface="Liter" pitchFamily="34" charset="-120"/>
                </a:rPr>
                <a:t>Monash IVF Group</a:t>
              </a:r>
              <a:endParaRPr lang="en-US" sz="1000" dirty="0">
                <a:latin typeface="+mj-lt"/>
              </a:endParaRPr>
            </a:p>
          </p:txBody>
        </p:sp>
        <p:sp>
          <p:nvSpPr>
            <p:cNvPr id="54" name="Text 12">
              <a:extLst>
                <a:ext uri="{FF2B5EF4-FFF2-40B4-BE49-F238E27FC236}">
                  <a16:creationId xmlns:a16="http://schemas.microsoft.com/office/drawing/2014/main" id="{CE09404B-73BB-B61E-E9DD-6DB4667BA838}"/>
                </a:ext>
              </a:extLst>
            </p:cNvPr>
            <p:cNvSpPr/>
            <p:nvPr/>
          </p:nvSpPr>
          <p:spPr>
            <a:xfrm>
              <a:off x="11049000" y="4127500"/>
              <a:ext cx="3937000" cy="304800"/>
            </a:xfrm>
            <a:prstGeom prst="rect">
              <a:avLst/>
            </a:prstGeom>
            <a:noFill/>
            <a:ln/>
          </p:spPr>
          <p:txBody>
            <a:bodyPr wrap="none" lIns="0" tIns="0" rIns="0" bIns="0" rtlCol="0" anchor="ctr"/>
            <a:lstStyle/>
            <a:p>
              <a:pPr algn="ctr">
                <a:lnSpc>
                  <a:spcPct val="100000"/>
                </a:lnSpc>
              </a:pPr>
              <a:endParaRPr lang="en-US" sz="1000" dirty="0">
                <a:latin typeface="+mj-lt"/>
              </a:endParaRPr>
            </a:p>
          </p:txBody>
        </p:sp>
        <p:sp>
          <p:nvSpPr>
            <p:cNvPr id="55" name="Text 13">
              <a:extLst>
                <a:ext uri="{FF2B5EF4-FFF2-40B4-BE49-F238E27FC236}">
                  <a16:creationId xmlns:a16="http://schemas.microsoft.com/office/drawing/2014/main" id="{5DCE5533-9927-39DD-3518-ACD02F5A5FA2}"/>
                </a:ext>
              </a:extLst>
            </p:cNvPr>
            <p:cNvSpPr/>
            <p:nvPr/>
          </p:nvSpPr>
          <p:spPr>
            <a:xfrm>
              <a:off x="11049000" y="4470400"/>
              <a:ext cx="3937000" cy="304800"/>
            </a:xfrm>
            <a:prstGeom prst="rect">
              <a:avLst/>
            </a:prstGeom>
            <a:noFill/>
            <a:ln/>
          </p:spPr>
          <p:txBody>
            <a:bodyPr wrap="none" lIns="0" tIns="0" rIns="0" bIns="0" rtlCol="0" anchor="ctr"/>
            <a:lstStyle/>
            <a:p>
              <a:pPr algn="ctr">
                <a:lnSpc>
                  <a:spcPct val="100000"/>
                </a:lnSpc>
              </a:pPr>
              <a:endParaRPr lang="en-US" sz="1000" dirty="0">
                <a:latin typeface="+mj-lt"/>
              </a:endParaRPr>
            </a:p>
          </p:txBody>
        </p:sp>
      </p:grpSp>
      <p:sp>
        <p:nvSpPr>
          <p:cNvPr id="58" name="Text 16">
            <a:extLst>
              <a:ext uri="{FF2B5EF4-FFF2-40B4-BE49-F238E27FC236}">
                <a16:creationId xmlns:a16="http://schemas.microsoft.com/office/drawing/2014/main" id="{C2AD9A92-E66D-08E1-C9C0-E1EB1CF1C4E9}"/>
              </a:ext>
            </a:extLst>
          </p:cNvPr>
          <p:cNvSpPr/>
          <p:nvPr/>
        </p:nvSpPr>
        <p:spPr>
          <a:xfrm>
            <a:off x="571853" y="4059585"/>
            <a:ext cx="9085517" cy="1162401"/>
          </a:xfrm>
          <a:prstGeom prst="rect">
            <a:avLst/>
          </a:prstGeom>
          <a:noFill/>
          <a:ln/>
        </p:spPr>
        <p:txBody>
          <a:bodyPr wrap="square" lIns="0" tIns="0" rIns="0" bIns="0" rtlCol="0" anchor="t"/>
          <a:lstStyle/>
          <a:p>
            <a:pPr>
              <a:lnSpc>
                <a:spcPct val="150000"/>
              </a:lnSpc>
            </a:pPr>
            <a:endParaRPr lang="en-US" sz="1000" dirty="0">
              <a:latin typeface="+mj-lt"/>
            </a:endParaRPr>
          </a:p>
        </p:txBody>
      </p:sp>
      <p:sp>
        <p:nvSpPr>
          <p:cNvPr id="4" name="TextBox 41">
            <a:extLst>
              <a:ext uri="{FF2B5EF4-FFF2-40B4-BE49-F238E27FC236}">
                <a16:creationId xmlns:a16="http://schemas.microsoft.com/office/drawing/2014/main" id="{E6496F9A-63BF-276C-7941-5F722395A5AB}"/>
              </a:ext>
            </a:extLst>
          </p:cNvPr>
          <p:cNvSpPr txBox="1"/>
          <p:nvPr/>
        </p:nvSpPr>
        <p:spPr>
          <a:xfrm>
            <a:off x="705612" y="3480790"/>
            <a:ext cx="8441481" cy="1451616"/>
          </a:xfrm>
          <a:prstGeom prst="rect">
            <a:avLst/>
          </a:prstGeom>
          <a:solidFill>
            <a:schemeClr val="tx2">
              <a:lumMod val="20000"/>
              <a:lumOff val="80000"/>
            </a:schemeClr>
          </a:solidFill>
          <a:effectLst>
            <a:outerShdw blurRad="50800" dist="38100" dir="2700000" algn="tl" rotWithShape="0">
              <a:prstClr val="black">
                <a:alpha val="40000"/>
              </a:prstClr>
            </a:outerShdw>
          </a:effectLst>
        </p:spPr>
        <p:txBody>
          <a:bodyPr wrap="square" rtlCol="0">
            <a:spAutoFit/>
          </a:bodyPr>
          <a:lstStyle/>
          <a:p>
            <a:pPr>
              <a:lnSpc>
                <a:spcPct val="150000"/>
              </a:lnSpc>
            </a:pPr>
            <a:r>
              <a:rPr lang="en-US" sz="1100" dirty="0">
                <a:solidFill>
                  <a:srgbClr val="0B4F6C"/>
                </a:solidFill>
                <a:ea typeface="QuattrocentoSans" pitchFamily="34" charset="-122"/>
                <a:cs typeface="QuattrocentoSans" pitchFamily="34" charset="-120"/>
              </a:rPr>
              <a:t>Rationale </a:t>
            </a:r>
            <a:r>
              <a:rPr lang="en-US" sz="1100" dirty="0">
                <a:solidFill>
                  <a:srgbClr val="0B4F6C"/>
                </a:solidFill>
                <a:ea typeface="QuattrocentoSans" pitchFamily="34" charset="-122"/>
              </a:rPr>
              <a:t>for Comparable Company Selection :</a:t>
            </a:r>
          </a:p>
          <a:p>
            <a:pPr>
              <a:lnSpc>
                <a:spcPct val="150000"/>
              </a:lnSpc>
            </a:pPr>
            <a:r>
              <a:rPr lang="en-US" sz="1000" b="0" dirty="0">
                <a:solidFill>
                  <a:srgbClr val="1A1A2E"/>
                </a:solidFill>
                <a:ea typeface="Quattrocento Sans" pitchFamily="34" charset="-122"/>
                <a:cs typeface="Quattrocento Sans" pitchFamily="34" charset="-120"/>
              </a:rPr>
              <a:t>1. Pure-Play IVF Focus: All three are dedicated fertility providers with </a:t>
            </a:r>
            <a:r>
              <a:rPr lang="en-US" altLang="zh-CN" sz="1000" b="0" dirty="0">
                <a:solidFill>
                  <a:srgbClr val="1A1A2E"/>
                </a:solidFill>
                <a:ea typeface="Quattrocento Sans" pitchFamily="34" charset="-122"/>
                <a:cs typeface="Quattrocento Sans" pitchFamily="34" charset="-120"/>
              </a:rPr>
              <a:t>IVF </a:t>
            </a:r>
            <a:r>
              <a:rPr lang="en-US" sz="1000" b="0" dirty="0">
                <a:solidFill>
                  <a:srgbClr val="1A1A2E"/>
                </a:solidFill>
                <a:ea typeface="Quattrocento Sans" pitchFamily="34" charset="-122"/>
                <a:cs typeface="Quattrocento Sans" pitchFamily="34" charset="-120"/>
              </a:rPr>
              <a:t>centered business models, mirroring SMG’s core operations.</a:t>
            </a:r>
            <a:endParaRPr lang="en-US" sz="1000" b="0" dirty="0"/>
          </a:p>
          <a:p>
            <a:pPr>
              <a:lnSpc>
                <a:spcPct val="150000"/>
              </a:lnSpc>
              <a:spcBef>
                <a:spcPts val="600"/>
              </a:spcBef>
            </a:pPr>
            <a:r>
              <a:rPr lang="en-US" sz="1000" b="0" dirty="0">
                <a:solidFill>
                  <a:srgbClr val="1A1A2E"/>
                </a:solidFill>
                <a:ea typeface="Quattrocento Sans" pitchFamily="34" charset="-122"/>
                <a:cs typeface="Quattrocento Sans" pitchFamily="34" charset="-120"/>
              </a:rPr>
              <a:t>2. Asia-Pacific Listed Peers: Listed on HKEx, Malaysia, and ASX with transparent valuation benchmarks.</a:t>
            </a:r>
            <a:endParaRPr lang="en-US" sz="1000" b="0" dirty="0"/>
          </a:p>
          <a:p>
            <a:pPr>
              <a:lnSpc>
                <a:spcPct val="150000"/>
              </a:lnSpc>
              <a:spcBef>
                <a:spcPts val="600"/>
              </a:spcBef>
            </a:pPr>
            <a:r>
              <a:rPr lang="en-US" sz="1000" b="0" dirty="0">
                <a:solidFill>
                  <a:srgbClr val="1A1A2E"/>
                </a:solidFill>
                <a:ea typeface="Quattrocento Sans" pitchFamily="34" charset="-122"/>
                <a:cs typeface="Quattrocento Sans" pitchFamily="34" charset="-120"/>
              </a:rPr>
              <a:t>3. Operational Benchmarking: Meaningful comparison across treatment volumes, success rates, and clinic networks.</a:t>
            </a:r>
          </a:p>
          <a:p>
            <a:pPr>
              <a:lnSpc>
                <a:spcPct val="150000"/>
              </a:lnSpc>
              <a:spcBef>
                <a:spcPts val="600"/>
              </a:spcBef>
            </a:pPr>
            <a:endParaRPr lang="en-US" sz="900" b="0" dirty="0"/>
          </a:p>
        </p:txBody>
      </p:sp>
      <p:sp>
        <p:nvSpPr>
          <p:cNvPr id="5" name="Text 3">
            <a:extLst>
              <a:ext uri="{FF2B5EF4-FFF2-40B4-BE49-F238E27FC236}">
                <a16:creationId xmlns:a16="http://schemas.microsoft.com/office/drawing/2014/main" id="{2497609F-2F21-258D-9AF6-4D6CB5901875}"/>
              </a:ext>
            </a:extLst>
          </p:cNvPr>
          <p:cNvSpPr/>
          <p:nvPr/>
        </p:nvSpPr>
        <p:spPr>
          <a:xfrm>
            <a:off x="698500" y="990600"/>
            <a:ext cx="5080000" cy="330200"/>
          </a:xfrm>
          <a:prstGeom prst="rect">
            <a:avLst/>
          </a:prstGeom>
          <a:noFill/>
          <a:ln/>
        </p:spPr>
        <p:txBody>
          <a:bodyPr wrap="none" lIns="0" tIns="0" rIns="0" bIns="0" rtlCol="0" anchor="ctr"/>
          <a:lstStyle/>
          <a:p>
            <a:pPr>
              <a:lnSpc>
                <a:spcPct val="100000"/>
              </a:lnSpc>
            </a:pPr>
            <a:endParaRPr lang="en-US" sz="800" dirty="0">
              <a:latin typeface="+mj-lt"/>
            </a:endParaRPr>
          </a:p>
        </p:txBody>
      </p:sp>
      <p:cxnSp>
        <p:nvCxnSpPr>
          <p:cNvPr id="7" name="直線接點 6">
            <a:extLst>
              <a:ext uri="{FF2B5EF4-FFF2-40B4-BE49-F238E27FC236}">
                <a16:creationId xmlns:a16="http://schemas.microsoft.com/office/drawing/2014/main" id="{E705934F-F991-42FC-D32D-F6C9C396D3D5}"/>
              </a:ext>
            </a:extLst>
          </p:cNvPr>
          <p:cNvCxnSpPr/>
          <p:nvPr/>
        </p:nvCxnSpPr>
        <p:spPr>
          <a:xfrm>
            <a:off x="737726" y="3336080"/>
            <a:ext cx="8438023" cy="3163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Rounded Corners 19">
            <a:extLst>
              <a:ext uri="{FF2B5EF4-FFF2-40B4-BE49-F238E27FC236}">
                <a16:creationId xmlns:a16="http://schemas.microsoft.com/office/drawing/2014/main" id="{56A00333-EF65-AB64-0190-FCECC0DB86AA}"/>
              </a:ext>
            </a:extLst>
          </p:cNvPr>
          <p:cNvSpPr/>
          <p:nvPr/>
        </p:nvSpPr>
        <p:spPr>
          <a:xfrm>
            <a:off x="705612" y="1078176"/>
            <a:ext cx="2987378" cy="334511"/>
          </a:xfrm>
          <a:prstGeom prst="roundRect">
            <a:avLst>
              <a:gd name="adj" fmla="val 50000"/>
            </a:avLst>
          </a:prstGeom>
          <a:gradFill>
            <a:gsLst>
              <a:gs pos="0">
                <a:srgbClr val="FEB8B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0834" rtlCol="0" anchor="ctr"/>
          <a:lstStyle/>
          <a:p>
            <a:pPr marL="101531" defTabSz="1008309" eaLnBrk="0" fontAlgn="base" hangingPunct="0">
              <a:spcBef>
                <a:spcPts val="336"/>
              </a:spcBef>
              <a:spcAft>
                <a:spcPct val="0"/>
              </a:spcAft>
              <a:buClr>
                <a:srgbClr val="4276AA"/>
              </a:buClr>
              <a:buSzPct val="90000"/>
              <a:defRPr/>
            </a:pPr>
            <a:r>
              <a:rPr lang="en-GB" altLang="zh-CN" sz="1200" b="1" spc="-6" dirty="0">
                <a:solidFill>
                  <a:schemeClr val="tx1"/>
                </a:solidFill>
                <a:latin typeface="+mj-lt"/>
                <a:cs typeface="Arial" panose="020B0604020202020204" pitchFamily="34" charset="0"/>
              </a:rPr>
              <a:t>IVF Companies</a:t>
            </a:r>
          </a:p>
        </p:txBody>
      </p:sp>
    </p:spTree>
    <p:extLst>
      <p:ext uri="{BB962C8B-B14F-4D97-AF65-F5344CB8AC3E}">
        <p14:creationId xmlns:p14="http://schemas.microsoft.com/office/powerpoint/2010/main" val="6412895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4FF72D-58D5-C941-4D41-13A2628AC134}"/>
              </a:ext>
            </a:extLst>
          </p:cNvPr>
          <p:cNvSpPr>
            <a:spLocks noGrp="1"/>
          </p:cNvSpPr>
          <p:nvPr>
            <p:ph type="title"/>
          </p:nvPr>
        </p:nvSpPr>
        <p:spPr/>
        <p:txBody>
          <a:bodyPr/>
          <a:lstStyle/>
          <a:p>
            <a:r>
              <a:rPr lang="en-US" sz="2000" dirty="0"/>
              <a:t>Comparable Analysis (cont’d)</a:t>
            </a:r>
          </a:p>
        </p:txBody>
      </p:sp>
      <p:sp>
        <p:nvSpPr>
          <p:cNvPr id="3" name="投影片編號版面配置區 2">
            <a:extLst>
              <a:ext uri="{FF2B5EF4-FFF2-40B4-BE49-F238E27FC236}">
                <a16:creationId xmlns:a16="http://schemas.microsoft.com/office/drawing/2014/main" id="{F186D70F-35BE-9748-7A35-E705DB4B1449}"/>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45</a:t>
            </a:fld>
            <a:endParaRPr lang="en-US" altLang="en-US" b="0" dirty="0">
              <a:solidFill>
                <a:srgbClr val="000000"/>
              </a:solidFill>
            </a:endParaRPr>
          </a:p>
        </p:txBody>
      </p:sp>
      <p:sp>
        <p:nvSpPr>
          <p:cNvPr id="5" name="TextBox 41">
            <a:extLst>
              <a:ext uri="{FF2B5EF4-FFF2-40B4-BE49-F238E27FC236}">
                <a16:creationId xmlns:a16="http://schemas.microsoft.com/office/drawing/2014/main" id="{70405F57-525C-1A19-6AA7-EA3EA857896A}"/>
              </a:ext>
            </a:extLst>
          </p:cNvPr>
          <p:cNvSpPr txBox="1"/>
          <p:nvPr/>
        </p:nvSpPr>
        <p:spPr>
          <a:xfrm>
            <a:off x="717152" y="1055532"/>
            <a:ext cx="8494049" cy="438582"/>
          </a:xfrm>
          <a:prstGeom prst="rect">
            <a:avLst/>
          </a:prstGeom>
          <a:solidFill>
            <a:srgbClr val="FEBFB3"/>
          </a:solidFill>
          <a:effectLst>
            <a:outerShdw blurRad="50800" dist="38100" dir="2700000" algn="tl" rotWithShape="0">
              <a:prstClr val="black">
                <a:alpha val="40000"/>
              </a:prstClr>
            </a:outerShdw>
          </a:effectLst>
        </p:spPr>
        <p:txBody>
          <a:bodyPr wrap="square" rtlCol="0">
            <a:spAutoFit/>
          </a:bodyPr>
          <a:lstStyle/>
          <a:p>
            <a:pPr marL="171450" indent="-171450" algn="just">
              <a:spcBef>
                <a:spcPts val="0"/>
              </a:spcBef>
              <a:spcAft>
                <a:spcPts val="300"/>
              </a:spcAft>
              <a:buClr>
                <a:srgbClr val="C00000"/>
              </a:buClr>
              <a:buFont typeface="Wingdings 2" panose="05020102010507070707" pitchFamily="18" charset="2"/>
              <a:buChar char="¡"/>
            </a:pPr>
            <a:r>
              <a:rPr lang="en-US" sz="1000" b="0" dirty="0">
                <a:solidFill>
                  <a:schemeClr val="tx1"/>
                </a:solidFill>
                <a:cs typeface="Arial" panose="020B0604020202020204" pitchFamily="34" charset="0"/>
              </a:rPr>
              <a:t>For the IVF business, </a:t>
            </a:r>
            <a:r>
              <a:rPr lang="en-US" altLang="zh-TW" sz="1000" b="0" dirty="0">
                <a:solidFill>
                  <a:schemeClr val="tx1"/>
                </a:solidFill>
                <a:cs typeface="Arial" panose="020B0604020202020204" pitchFamily="34" charset="0"/>
              </a:rPr>
              <a:t> </a:t>
            </a:r>
            <a:r>
              <a:rPr lang="en-US" sz="1000" b="0" dirty="0">
                <a:solidFill>
                  <a:schemeClr val="tx1"/>
                </a:solidFill>
                <a:cs typeface="Arial" panose="020B0604020202020204" pitchFamily="34" charset="0"/>
              </a:rPr>
              <a:t>we believe investors will likely benchmark the valuation multiples of pure play IVF comparable companies. </a:t>
            </a:r>
          </a:p>
          <a:p>
            <a:pPr marL="171450" indent="-171450" algn="just">
              <a:spcBef>
                <a:spcPts val="0"/>
              </a:spcBef>
              <a:spcAft>
                <a:spcPts val="300"/>
              </a:spcAft>
              <a:buClr>
                <a:srgbClr val="C00000"/>
              </a:buClr>
              <a:buFont typeface="Wingdings 2" panose="05020102010507070707" pitchFamily="18" charset="2"/>
              <a:buChar char="¡"/>
            </a:pPr>
            <a:r>
              <a:rPr lang="en-US" sz="1000" dirty="0">
                <a:solidFill>
                  <a:srgbClr val="C00000"/>
                </a:solidFill>
                <a:cs typeface="Arial" panose="020B0604020202020204" pitchFamily="34" charset="0"/>
              </a:rPr>
              <a:t>PE multiples as a primary metric alongside the EV/EBITDA multiples</a:t>
            </a:r>
            <a:endParaRPr lang="en-US" sz="1000" b="0" dirty="0">
              <a:solidFill>
                <a:schemeClr val="tx1"/>
              </a:solidFill>
              <a:cs typeface="Arial" panose="020B0604020202020204" pitchFamily="34" charset="0"/>
            </a:endParaRPr>
          </a:p>
        </p:txBody>
      </p:sp>
      <p:graphicFrame>
        <p:nvGraphicFramePr>
          <p:cNvPr id="8" name="表格 7">
            <a:extLst>
              <a:ext uri="{FF2B5EF4-FFF2-40B4-BE49-F238E27FC236}">
                <a16:creationId xmlns:a16="http://schemas.microsoft.com/office/drawing/2014/main" id="{4BDA422C-F291-3E2E-4A21-554439FBA4C3}"/>
              </a:ext>
            </a:extLst>
          </p:cNvPr>
          <p:cNvGraphicFramePr>
            <a:graphicFrameLocks noGrp="1"/>
          </p:cNvGraphicFramePr>
          <p:nvPr>
            <p:extLst>
              <p:ext uri="{D42A27DB-BD31-4B8C-83A1-F6EECF244321}">
                <p14:modId xmlns:p14="http://schemas.microsoft.com/office/powerpoint/2010/main" val="1118344737"/>
              </p:ext>
            </p:extLst>
          </p:nvPr>
        </p:nvGraphicFramePr>
        <p:xfrm>
          <a:off x="734785" y="1661510"/>
          <a:ext cx="8494071" cy="2130036"/>
        </p:xfrm>
        <a:graphic>
          <a:graphicData uri="http://schemas.openxmlformats.org/drawingml/2006/table">
            <a:tbl>
              <a:tblPr/>
              <a:tblGrid>
                <a:gridCol w="1265607">
                  <a:extLst>
                    <a:ext uri="{9D8B030D-6E8A-4147-A177-3AD203B41FA5}">
                      <a16:colId xmlns:a16="http://schemas.microsoft.com/office/drawing/2014/main" val="3477274346"/>
                    </a:ext>
                  </a:extLst>
                </a:gridCol>
                <a:gridCol w="629832">
                  <a:extLst>
                    <a:ext uri="{9D8B030D-6E8A-4147-A177-3AD203B41FA5}">
                      <a16:colId xmlns:a16="http://schemas.microsoft.com/office/drawing/2014/main" val="3281802721"/>
                    </a:ext>
                  </a:extLst>
                </a:gridCol>
                <a:gridCol w="629832">
                  <a:extLst>
                    <a:ext uri="{9D8B030D-6E8A-4147-A177-3AD203B41FA5}">
                      <a16:colId xmlns:a16="http://schemas.microsoft.com/office/drawing/2014/main" val="1871963654"/>
                    </a:ext>
                  </a:extLst>
                </a:gridCol>
                <a:gridCol w="540000">
                  <a:extLst>
                    <a:ext uri="{9D8B030D-6E8A-4147-A177-3AD203B41FA5}">
                      <a16:colId xmlns:a16="http://schemas.microsoft.com/office/drawing/2014/main" val="305686323"/>
                    </a:ext>
                  </a:extLst>
                </a:gridCol>
                <a:gridCol w="540000">
                  <a:extLst>
                    <a:ext uri="{9D8B030D-6E8A-4147-A177-3AD203B41FA5}">
                      <a16:colId xmlns:a16="http://schemas.microsoft.com/office/drawing/2014/main" val="1899210474"/>
                    </a:ext>
                  </a:extLst>
                </a:gridCol>
                <a:gridCol w="540000">
                  <a:extLst>
                    <a:ext uri="{9D8B030D-6E8A-4147-A177-3AD203B41FA5}">
                      <a16:colId xmlns:a16="http://schemas.microsoft.com/office/drawing/2014/main" val="4107075746"/>
                    </a:ext>
                  </a:extLst>
                </a:gridCol>
                <a:gridCol w="540000">
                  <a:extLst>
                    <a:ext uri="{9D8B030D-6E8A-4147-A177-3AD203B41FA5}">
                      <a16:colId xmlns:a16="http://schemas.microsoft.com/office/drawing/2014/main" val="115085050"/>
                    </a:ext>
                  </a:extLst>
                </a:gridCol>
                <a:gridCol w="540000">
                  <a:extLst>
                    <a:ext uri="{9D8B030D-6E8A-4147-A177-3AD203B41FA5}">
                      <a16:colId xmlns:a16="http://schemas.microsoft.com/office/drawing/2014/main" val="578958283"/>
                    </a:ext>
                  </a:extLst>
                </a:gridCol>
                <a:gridCol w="540000">
                  <a:extLst>
                    <a:ext uri="{9D8B030D-6E8A-4147-A177-3AD203B41FA5}">
                      <a16:colId xmlns:a16="http://schemas.microsoft.com/office/drawing/2014/main" val="2917824445"/>
                    </a:ext>
                  </a:extLst>
                </a:gridCol>
                <a:gridCol w="540000">
                  <a:extLst>
                    <a:ext uri="{9D8B030D-6E8A-4147-A177-3AD203B41FA5}">
                      <a16:colId xmlns:a16="http://schemas.microsoft.com/office/drawing/2014/main" val="4065644880"/>
                    </a:ext>
                  </a:extLst>
                </a:gridCol>
                <a:gridCol w="273600">
                  <a:extLst>
                    <a:ext uri="{9D8B030D-6E8A-4147-A177-3AD203B41FA5}">
                      <a16:colId xmlns:a16="http://schemas.microsoft.com/office/drawing/2014/main" val="3451664509"/>
                    </a:ext>
                  </a:extLst>
                </a:gridCol>
                <a:gridCol w="273600">
                  <a:extLst>
                    <a:ext uri="{9D8B030D-6E8A-4147-A177-3AD203B41FA5}">
                      <a16:colId xmlns:a16="http://schemas.microsoft.com/office/drawing/2014/main" val="2011470640"/>
                    </a:ext>
                  </a:extLst>
                </a:gridCol>
                <a:gridCol w="273600">
                  <a:extLst>
                    <a:ext uri="{9D8B030D-6E8A-4147-A177-3AD203B41FA5}">
                      <a16:colId xmlns:a16="http://schemas.microsoft.com/office/drawing/2014/main" val="120178568"/>
                    </a:ext>
                  </a:extLst>
                </a:gridCol>
                <a:gridCol w="273600">
                  <a:extLst>
                    <a:ext uri="{9D8B030D-6E8A-4147-A177-3AD203B41FA5}">
                      <a16:colId xmlns:a16="http://schemas.microsoft.com/office/drawing/2014/main" val="1679787625"/>
                    </a:ext>
                  </a:extLst>
                </a:gridCol>
                <a:gridCol w="273600">
                  <a:extLst>
                    <a:ext uri="{9D8B030D-6E8A-4147-A177-3AD203B41FA5}">
                      <a16:colId xmlns:a16="http://schemas.microsoft.com/office/drawing/2014/main" val="3320414575"/>
                    </a:ext>
                  </a:extLst>
                </a:gridCol>
                <a:gridCol w="273600">
                  <a:extLst>
                    <a:ext uri="{9D8B030D-6E8A-4147-A177-3AD203B41FA5}">
                      <a16:colId xmlns:a16="http://schemas.microsoft.com/office/drawing/2014/main" val="3412863834"/>
                    </a:ext>
                  </a:extLst>
                </a:gridCol>
                <a:gridCol w="273600">
                  <a:extLst>
                    <a:ext uri="{9D8B030D-6E8A-4147-A177-3AD203B41FA5}">
                      <a16:colId xmlns:a16="http://schemas.microsoft.com/office/drawing/2014/main" val="1827143374"/>
                    </a:ext>
                  </a:extLst>
                </a:gridCol>
                <a:gridCol w="273600">
                  <a:extLst>
                    <a:ext uri="{9D8B030D-6E8A-4147-A177-3AD203B41FA5}">
                      <a16:colId xmlns:a16="http://schemas.microsoft.com/office/drawing/2014/main" val="3274535757"/>
                    </a:ext>
                  </a:extLst>
                </a:gridCol>
              </a:tblGrid>
              <a:tr h="176459">
                <a:tc rowSpan="3">
                  <a:txBody>
                    <a:bodyPr/>
                    <a:lstStyle/>
                    <a:p>
                      <a:pPr algn="ctr" fontAlgn="ctr">
                        <a:buNone/>
                      </a:pPr>
                      <a:r>
                        <a:rPr lang="en-US" sz="600" b="1" i="0" u="none" strike="noStrike" dirty="0">
                          <a:solidFill>
                            <a:srgbClr val="FFFFFF"/>
                          </a:solidFill>
                          <a:effectLst/>
                          <a:latin typeface="Aptos Narrow" panose="020B0004020202020204" pitchFamily="34" charset="0"/>
                        </a:rPr>
                        <a:t>Company Name</a:t>
                      </a:r>
                    </a:p>
                  </a:txBody>
                  <a:tcPr marL="0" marR="0" marT="0" marB="0" anchor="ctr">
                    <a:lnL>
                      <a:noFill/>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rowSpan="3">
                  <a:txBody>
                    <a:bodyPr/>
                    <a:lstStyle/>
                    <a:p>
                      <a:pPr algn="ctr" fontAlgn="ctr">
                        <a:buNone/>
                      </a:pPr>
                      <a:r>
                        <a:rPr lang="en-US" sz="600" b="1" i="0" u="none" strike="noStrike" dirty="0">
                          <a:solidFill>
                            <a:srgbClr val="FFFFFF"/>
                          </a:solidFill>
                          <a:effectLst/>
                          <a:latin typeface="Aptos Narrow" panose="020B0004020202020204" pitchFamily="34" charset="0"/>
                        </a:rPr>
                        <a:t>Stock Code</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rowSpan="3">
                  <a:txBody>
                    <a:bodyPr/>
                    <a:lstStyle/>
                    <a:p>
                      <a:pPr algn="ctr" fontAlgn="ctr">
                        <a:buNone/>
                      </a:pPr>
                      <a:r>
                        <a:rPr lang="en-US" sz="600" b="1" i="0" u="none" strike="noStrike" dirty="0">
                          <a:solidFill>
                            <a:srgbClr val="FFFFFF"/>
                          </a:solidFill>
                          <a:effectLst/>
                          <a:latin typeface="Aptos Narrow" panose="020B0004020202020204" pitchFamily="34" charset="0"/>
                        </a:rPr>
                        <a:t>Exchange</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gridSpan="7">
                  <a:txBody>
                    <a:bodyPr/>
                    <a:lstStyle/>
                    <a:p>
                      <a:pPr algn="ctr" fontAlgn="ctr">
                        <a:buNone/>
                      </a:pPr>
                      <a:r>
                        <a:rPr lang="en-US" sz="600" b="1" i="0" u="none" strike="noStrike" dirty="0">
                          <a:solidFill>
                            <a:srgbClr val="FFFFFF"/>
                          </a:solidFill>
                          <a:effectLst/>
                          <a:latin typeface="Aptos Narrow" panose="020B0004020202020204" pitchFamily="34" charset="0"/>
                        </a:rPr>
                        <a:t>Operating Data</a:t>
                      </a:r>
                    </a:p>
                  </a:txBody>
                  <a:tcPr marL="0" marR="0" marT="0" marB="0" anchor="ctr">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8">
                  <a:txBody>
                    <a:bodyPr/>
                    <a:lstStyle/>
                    <a:p>
                      <a:pPr algn="ctr" fontAlgn="ctr">
                        <a:buNone/>
                      </a:pPr>
                      <a:r>
                        <a:rPr lang="en-US" sz="600" b="1" i="0" u="none" strike="noStrike">
                          <a:solidFill>
                            <a:srgbClr val="FFFFFF"/>
                          </a:solidFill>
                          <a:effectLst/>
                          <a:latin typeface="Aptos Narrow" panose="020B0004020202020204" pitchFamily="34" charset="0"/>
                        </a:rPr>
                        <a:t>Valuation </a:t>
                      </a:r>
                    </a:p>
                  </a:txBody>
                  <a:tcPr marL="0" marR="0" marT="0" marB="0" anchor="ctr">
                    <a:lnL>
                      <a:noFill/>
                    </a:lnL>
                    <a:lnR>
                      <a:noFill/>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02846991"/>
                  </a:ext>
                </a:extLst>
              </a:tr>
              <a:tr h="176459">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Market Capitalization (SGD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Revenue </a:t>
                      </a:r>
                    </a:p>
                    <a:p>
                      <a:pPr algn="ctr" fontAlgn="ctr">
                        <a:buNone/>
                      </a:pPr>
                      <a:r>
                        <a:rPr lang="en-US" sz="600" b="1" i="0" u="none" strike="noStrike" dirty="0">
                          <a:solidFill>
                            <a:srgbClr val="000000"/>
                          </a:solidFill>
                          <a:effectLst/>
                          <a:latin typeface="Aptos Narrow" panose="020B0004020202020204" pitchFamily="34" charset="0"/>
                        </a:rPr>
                        <a:t>(SGD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Net Profit </a:t>
                      </a:r>
                    </a:p>
                    <a:p>
                      <a:pPr algn="ctr" fontAlgn="ctr">
                        <a:buNone/>
                      </a:pPr>
                      <a:r>
                        <a:rPr lang="en-US" sz="600" b="1" i="0" u="none" strike="noStrike" dirty="0">
                          <a:solidFill>
                            <a:srgbClr val="000000"/>
                          </a:solidFill>
                          <a:effectLst/>
                          <a:latin typeface="Aptos Narrow" panose="020B0004020202020204" pitchFamily="34" charset="0"/>
                        </a:rPr>
                        <a:t>(SGD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a:solidFill>
                            <a:srgbClr val="000000"/>
                          </a:solidFill>
                          <a:effectLst/>
                          <a:latin typeface="Aptos Narrow" panose="020B0004020202020204" pitchFamily="34" charset="0"/>
                        </a:rPr>
                        <a:t>EBITDA Margin</a:t>
                      </a:r>
                      <a:br>
                        <a:rPr lang="en-US" sz="600" b="1" i="0" u="none" strike="noStrike">
                          <a:solidFill>
                            <a:srgbClr val="000000"/>
                          </a:solidFill>
                          <a:effectLst/>
                          <a:latin typeface="Aptos Narrow" panose="020B0004020202020204" pitchFamily="34" charset="0"/>
                        </a:rPr>
                      </a:br>
                      <a:r>
                        <a:rPr lang="en-US" sz="600" b="1" i="0" u="none" strike="noStrike">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NP Margin </a:t>
                      </a:r>
                    </a:p>
                    <a:p>
                      <a:pPr algn="ctr" fontAlgn="ctr">
                        <a:buNone/>
                      </a:pPr>
                      <a:r>
                        <a:rPr lang="en-US" sz="600" b="1" i="0" u="none" strike="noStrike" dirty="0">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a:solidFill>
                            <a:srgbClr val="000000"/>
                          </a:solidFill>
                          <a:effectLst/>
                          <a:latin typeface="Aptos Narrow" panose="020B0004020202020204" pitchFamily="34" charset="0"/>
                        </a:rPr>
                        <a:t>Revenue Growth (%)</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NP Growth </a:t>
                      </a:r>
                    </a:p>
                    <a:p>
                      <a:pPr algn="ctr" fontAlgn="ctr">
                        <a:buNone/>
                      </a:pPr>
                      <a:r>
                        <a:rPr lang="en-US" sz="600" b="1" i="0" u="none" strike="noStrike" dirty="0">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gridSpan="4">
                  <a:txBody>
                    <a:bodyPr/>
                    <a:lstStyle/>
                    <a:p>
                      <a:pPr algn="ctr" fontAlgn="ctr">
                        <a:buNone/>
                      </a:pPr>
                      <a:r>
                        <a:rPr lang="en-US" sz="600" b="1" i="0" u="none" strike="noStrike">
                          <a:solidFill>
                            <a:srgbClr val="FFFFFF"/>
                          </a:solidFill>
                          <a:effectLst/>
                          <a:latin typeface="Aptos Narrow" panose="020B0004020202020204" pitchFamily="34" charset="0"/>
                        </a:rPr>
                        <a:t>PE Ratio (x)</a:t>
                      </a:r>
                    </a:p>
                  </a:txBody>
                  <a:tcPr marL="0" marR="0" marT="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buNone/>
                      </a:pPr>
                      <a:r>
                        <a:rPr lang="en-US" sz="600" b="1" i="0" u="none" strike="noStrike" dirty="0">
                          <a:solidFill>
                            <a:srgbClr val="FFFFFF"/>
                          </a:solidFill>
                          <a:effectLst/>
                          <a:latin typeface="Aptos Narrow" panose="020B0004020202020204" pitchFamily="34" charset="0"/>
                        </a:rPr>
                        <a:t>EV/EBITDA (x)</a:t>
                      </a:r>
                    </a:p>
                  </a:txBody>
                  <a:tcPr marL="0" marR="0" marT="0" marB="0" anchor="ctr">
                    <a:lnL>
                      <a:noFill/>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13884397"/>
                  </a:ext>
                </a:extLst>
              </a:tr>
              <a:tr h="26184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600" b="1" i="0" u="none" strike="noStrike" dirty="0">
                          <a:solidFill>
                            <a:srgbClr val="000000"/>
                          </a:solidFill>
                          <a:effectLst/>
                          <a:latin typeface="Aptos Narrow" panose="020B0004020202020204" pitchFamily="34" charset="0"/>
                        </a:rPr>
                        <a:t>TTM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tc>
                  <a:txBody>
                    <a:bodyPr/>
                    <a:lstStyle/>
                    <a:p>
                      <a:pPr algn="ctr" fontAlgn="ctr">
                        <a:buNone/>
                      </a:pPr>
                      <a:r>
                        <a:rPr lang="en-US" sz="600" b="1" i="0" u="none" strike="noStrike" dirty="0">
                          <a:solidFill>
                            <a:srgbClr val="000000"/>
                          </a:solidFill>
                          <a:effectLst/>
                          <a:latin typeface="Aptos Narrow" panose="020B0004020202020204" pitchFamily="34" charset="0"/>
                        </a:rPr>
                        <a:t>2026F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2027F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2028F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TTM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2026F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2027F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2028F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extLst>
                  <a:ext uri="{0D108BD9-81ED-4DB2-BD59-A6C34878D82A}">
                    <a16:rowId xmlns:a16="http://schemas.microsoft.com/office/drawing/2014/main" val="2664854676"/>
                  </a:ext>
                </a:extLst>
              </a:tr>
              <a:tr h="170767">
                <a:tc>
                  <a:txBody>
                    <a:bodyPr/>
                    <a:lstStyle/>
                    <a:p>
                      <a:pPr algn="l" fontAlgn="ctr">
                        <a:buNone/>
                      </a:pPr>
                      <a:r>
                        <a:rPr lang="en-US" sz="600" b="1" i="0" u="none" strike="noStrike" dirty="0">
                          <a:solidFill>
                            <a:srgbClr val="FFFFFF"/>
                          </a:solidFill>
                          <a:effectLst/>
                          <a:latin typeface="Aptos Narrow" panose="020B0004020202020204" pitchFamily="34" charset="0"/>
                        </a:rPr>
                        <a:t>Asia Comparable Companies</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l" fontAlgn="ctr">
                        <a:buNone/>
                      </a:pPr>
                      <a:r>
                        <a:rPr lang="en-US" sz="600" b="1" i="0" u="none" strike="noStrike">
                          <a:solidFill>
                            <a:srgbClr val="000000"/>
                          </a:solidFill>
                          <a:effectLst/>
                          <a:latin typeface="Aptos Narrow" panose="020B0004020202020204" pitchFamily="34" charset="0"/>
                        </a:rPr>
                        <a:t> </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l" fontAlgn="ctr">
                        <a:buNone/>
                      </a:pPr>
                      <a:r>
                        <a:rPr lang="en-US" sz="600" b="1" i="0" u="none" strike="noStrike" dirty="0">
                          <a:solidFill>
                            <a:srgbClr val="000000"/>
                          </a:solidFill>
                          <a:effectLst/>
                          <a:latin typeface="Aptos Narrow" panose="020B0004020202020204" pitchFamily="34" charset="0"/>
                        </a:rPr>
                        <a:t> </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l" fontAlgn="ctr">
                        <a:buNone/>
                      </a:pPr>
                      <a:r>
                        <a:rPr lang="en-US" sz="600" b="1" i="0" u="none" strike="noStrike" dirty="0">
                          <a:solidFill>
                            <a:srgbClr val="000000"/>
                          </a:solidFill>
                          <a:effectLst/>
                          <a:latin typeface="Aptos Narrow" panose="020B0004020202020204" pitchFamily="34" charset="0"/>
                        </a:rPr>
                        <a:t> </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l" fontAlgn="ctr">
                        <a:buNone/>
                      </a:pPr>
                      <a:r>
                        <a:rPr lang="en-US" sz="600" b="1" i="0" u="none" strike="noStrike">
                          <a:solidFill>
                            <a:srgbClr val="000000"/>
                          </a:solidFill>
                          <a:effectLst/>
                          <a:latin typeface="Aptos Narrow" panose="020B0004020202020204" pitchFamily="34" charset="0"/>
                        </a:rPr>
                        <a:t> </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 </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 </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 </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 </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 </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 </a:t>
                      </a:r>
                    </a:p>
                  </a:txBody>
                  <a:tcPr marL="0" marR="0" marT="0"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 </a:t>
                      </a:r>
                    </a:p>
                  </a:txBody>
                  <a:tcPr marL="0" marR="0" marT="0"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 </a:t>
                      </a:r>
                    </a:p>
                  </a:txBody>
                  <a:tcPr marL="0" marR="0" marT="0"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 </a:t>
                      </a:r>
                    </a:p>
                  </a:txBody>
                  <a:tcPr marL="0" marR="0" marT="0"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 </a:t>
                      </a:r>
                    </a:p>
                  </a:txBody>
                  <a:tcPr marL="0" marR="0" marT="0"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 </a:t>
                      </a:r>
                    </a:p>
                  </a:txBody>
                  <a:tcPr marL="0" marR="0" marT="0"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 </a:t>
                      </a:r>
                    </a:p>
                  </a:txBody>
                  <a:tcPr marL="0" marR="0" marT="0"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 </a:t>
                      </a:r>
                    </a:p>
                  </a:txBody>
                  <a:tcPr marL="0" marR="0" marT="0"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extLst>
                  <a:ext uri="{0D108BD9-81ED-4DB2-BD59-A6C34878D82A}">
                    <a16:rowId xmlns:a16="http://schemas.microsoft.com/office/drawing/2014/main" val="312637121"/>
                  </a:ext>
                </a:extLst>
              </a:tr>
              <a:tr h="290304">
                <a:tc>
                  <a:txBody>
                    <a:bodyPr/>
                    <a:lstStyle/>
                    <a:p>
                      <a:pPr algn="l" fontAlgn="ctr">
                        <a:buNone/>
                      </a:pPr>
                      <a:r>
                        <a:rPr lang="en-US" sz="600" b="1" i="0" u="none" strike="noStrike" dirty="0" err="1">
                          <a:solidFill>
                            <a:srgbClr val="000000"/>
                          </a:solidFill>
                          <a:effectLst/>
                          <a:latin typeface="Aptos Narrow" panose="020B0004020202020204" pitchFamily="34" charset="0"/>
                        </a:rPr>
                        <a:t>Jinxin</a:t>
                      </a:r>
                      <a:r>
                        <a:rPr lang="en-US" sz="600" b="1" i="0" u="none" strike="noStrike" dirty="0">
                          <a:solidFill>
                            <a:srgbClr val="000000"/>
                          </a:solidFill>
                          <a:effectLst/>
                          <a:latin typeface="Aptos Narrow" panose="020B0004020202020204" pitchFamily="34" charset="0"/>
                        </a:rPr>
                        <a:t> Fertility Group Ltd</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1951 HK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Hong Kong</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1,061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481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-177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-18.8%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-36.8%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-5.8%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23.8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19.4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9.4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5818671"/>
                  </a:ext>
                </a:extLst>
              </a:tr>
              <a:tr h="290304">
                <a:tc>
                  <a:txBody>
                    <a:bodyPr/>
                    <a:lstStyle/>
                    <a:p>
                      <a:pPr algn="l" fontAlgn="ctr">
                        <a:buNone/>
                      </a:pPr>
                      <a:r>
                        <a:rPr lang="en-US" sz="600" b="1" i="0" u="none" strike="noStrike" dirty="0">
                          <a:solidFill>
                            <a:srgbClr val="000000"/>
                          </a:solidFill>
                          <a:effectLst/>
                          <a:latin typeface="Aptos Narrow" panose="020B0004020202020204" pitchFamily="34" charset="0"/>
                        </a:rPr>
                        <a:t>Alpha IVF Group </a:t>
                      </a:r>
                      <a:r>
                        <a:rPr lang="en-US" sz="600" b="1" i="0" u="none" strike="noStrike" dirty="0" err="1">
                          <a:solidFill>
                            <a:srgbClr val="000000"/>
                          </a:solidFill>
                          <a:effectLst/>
                          <a:latin typeface="Aptos Narrow" panose="020B0004020202020204" pitchFamily="34" charset="0"/>
                        </a:rPr>
                        <a:t>Bhd</a:t>
                      </a:r>
                      <a:endParaRPr lang="en-US" sz="600" b="1"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ALPHA MK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Malaysia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422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46.6%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32.5%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24.5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22.5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18.0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15.8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15.8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12.7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185153991"/>
                  </a:ext>
                </a:extLst>
              </a:tr>
              <a:tr h="290304">
                <a:tc>
                  <a:txBody>
                    <a:bodyPr/>
                    <a:lstStyle/>
                    <a:p>
                      <a:pPr algn="l" fontAlgn="ctr">
                        <a:buNone/>
                      </a:pPr>
                      <a:r>
                        <a:rPr lang="en-US" sz="600" b="1" i="0" u="none" strike="noStrike" dirty="0">
                          <a:solidFill>
                            <a:srgbClr val="000000"/>
                          </a:solidFill>
                          <a:effectLst/>
                          <a:latin typeface="Aptos Narrow" panose="020B0004020202020204" pitchFamily="34" charset="0"/>
                        </a:rPr>
                        <a:t>Monash IVF Group Ltd</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MVF AU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Australia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262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233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24.1%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9.2%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6.7%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12.2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14.7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12.5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6.3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6.3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5.8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607479269"/>
                  </a:ext>
                </a:extLst>
              </a:tr>
              <a:tr h="118399">
                <a:tc>
                  <a:txBody>
                    <a:bodyPr/>
                    <a:lstStyle/>
                    <a:p>
                      <a:pPr algn="ctr" fontAlgn="ctr">
                        <a:buNone/>
                      </a:pPr>
                      <a:endParaRPr lang="en-US" sz="600" b="1"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b">
                        <a:buNone/>
                      </a:pPr>
                      <a:r>
                        <a:rPr lang="en-US" sz="600" b="0" i="0" u="none" strike="noStrike">
                          <a:solidFill>
                            <a:srgbClr val="000000"/>
                          </a:solidFill>
                          <a:effectLst/>
                          <a:latin typeface="Aptos Narrow" panose="020B0004020202020204" pitchFamily="34" charset="0"/>
                        </a:rPr>
                        <a:t> </a:t>
                      </a: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b">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6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rtl="0" fontAlgn="ctr">
                        <a:buNone/>
                      </a:pPr>
                      <a:r>
                        <a:rPr lang="en-US" sz="600" b="0" i="0" u="none" strike="noStrike">
                          <a:solidFill>
                            <a:srgbClr val="000000"/>
                          </a:solidFill>
                          <a:effectLst/>
                          <a:latin typeface="Aptos Narrow" panose="020B0004020202020204" pitchFamily="34" charset="0"/>
                        </a:rPr>
                        <a:t>Max</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D9D9"/>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24.5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23.8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19.4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15.8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15.8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12.7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47555242"/>
                  </a:ext>
                </a:extLst>
              </a:tr>
              <a:tr h="118399">
                <a:tc>
                  <a:txBody>
                    <a:bodyPr/>
                    <a:lstStyle/>
                    <a:p>
                      <a:pPr algn="ctr" fontAlgn="ctr">
                        <a:buNone/>
                      </a:pPr>
                      <a:endParaRPr lang="en-US" sz="6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Median</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D9D9"/>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12.2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22.5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18.0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9.4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28510932"/>
                  </a:ext>
                </a:extLst>
              </a:tr>
              <a:tr h="118399">
                <a:tc>
                  <a:txBody>
                    <a:bodyPr/>
                    <a:lstStyle/>
                    <a:p>
                      <a:pPr algn="ctr" fontAlgn="ctr">
                        <a:buNone/>
                      </a:pPr>
                      <a:endParaRPr lang="en-US" sz="6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Mean</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D9D9"/>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10.2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20.3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17.1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9.5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8.5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41354550"/>
                  </a:ext>
                </a:extLst>
              </a:tr>
              <a:tr h="118399">
                <a:tc>
                  <a:txBody>
                    <a:bodyPr/>
                    <a:lstStyle/>
                    <a:p>
                      <a:pPr algn="ctr" fontAlgn="ctr">
                        <a:buNone/>
                      </a:pPr>
                      <a:endParaRPr lang="en-US" sz="6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dirty="0">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Min</a:t>
                      </a:r>
                    </a:p>
                  </a:txBody>
                  <a:tcPr marL="0" marR="0" marT="0" marB="0" anchor="ctr">
                    <a:lnL>
                      <a:noFill/>
                    </a:lnL>
                    <a:lnR>
                      <a:noFill/>
                    </a:lnR>
                    <a:lnT w="6350" cap="flat" cmpd="sng" algn="ctr">
                      <a:solidFill>
                        <a:srgbClr val="000000"/>
                      </a:solidFill>
                      <a:prstDash val="dot"/>
                      <a:round/>
                      <a:headEnd type="none" w="med" len="med"/>
                      <a:tailEnd type="none" w="med" len="med"/>
                    </a:lnT>
                    <a:lnB>
                      <a:noFill/>
                    </a:lnB>
                    <a:solidFill>
                      <a:srgbClr val="D9D9D9"/>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-6.0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14.7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13.9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12.5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6.3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6.3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718099892"/>
                  </a:ext>
                </a:extLst>
              </a:tr>
            </a:tbl>
          </a:graphicData>
        </a:graphic>
      </p:graphicFrame>
      <p:sp>
        <p:nvSpPr>
          <p:cNvPr id="6" name="Text Placeholder 1">
            <a:extLst>
              <a:ext uri="{FF2B5EF4-FFF2-40B4-BE49-F238E27FC236}">
                <a16:creationId xmlns:a16="http://schemas.microsoft.com/office/drawing/2014/main" id="{811F556F-EB36-3127-33E7-79DCC3C5C886}"/>
              </a:ext>
            </a:extLst>
          </p:cNvPr>
          <p:cNvSpPr txBox="1">
            <a:spLocks/>
          </p:cNvSpPr>
          <p:nvPr/>
        </p:nvSpPr>
        <p:spPr>
          <a:xfrm>
            <a:off x="717152" y="5954868"/>
            <a:ext cx="7312423"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en-US" sz="600" b="0" i="1" u="none" strike="noStrike" kern="1200" cap="none" spc="0" normalizeH="0" baseline="0" noProof="0">
                <a:ln>
                  <a:noFill/>
                </a:ln>
                <a:solidFill>
                  <a:schemeClr val="bg1">
                    <a:lumMod val="50000"/>
                  </a:schemeClr>
                </a:solidFill>
                <a:effectLst/>
                <a:uLnTx/>
                <a:uFillTx/>
                <a:latin typeface="+mn-lt"/>
                <a:ea typeface="+mn-ea"/>
                <a:cs typeface="+mn-cs"/>
              </a:defRPr>
            </a:lvl1pPr>
            <a:lvl2pPr marL="603647" indent="-232172" algn="l" rtl="0" eaLnBrk="0" fontAlgn="base" hangingPunct="0">
              <a:spcBef>
                <a:spcPct val="20000"/>
              </a:spcBef>
              <a:spcAft>
                <a:spcPct val="0"/>
              </a:spcAft>
              <a:buChar char="–"/>
              <a:defRPr sz="1300" kern="1200">
                <a:solidFill>
                  <a:schemeClr val="tx1"/>
                </a:solidFill>
                <a:latin typeface="+mn-lt"/>
                <a:ea typeface="+mn-ea"/>
                <a:cs typeface="+mn-cs"/>
              </a:defRPr>
            </a:lvl2pPr>
            <a:lvl3pPr marL="928688" indent="-185738" algn="l" rtl="0" eaLnBrk="0" fontAlgn="base" hangingPunct="0">
              <a:spcBef>
                <a:spcPct val="20000"/>
              </a:spcBef>
              <a:spcAft>
                <a:spcPct val="0"/>
              </a:spcAft>
              <a:buChar char="•"/>
              <a:defRPr sz="1300" kern="1200">
                <a:solidFill>
                  <a:schemeClr val="tx1"/>
                </a:solidFill>
                <a:latin typeface="+mn-lt"/>
                <a:ea typeface="+mn-ea"/>
                <a:cs typeface="+mn-cs"/>
              </a:defRPr>
            </a:lvl3pPr>
            <a:lvl4pPr marL="1300163" indent="-185738" algn="l" rtl="0" eaLnBrk="0" fontAlgn="base" hangingPunct="0">
              <a:spcBef>
                <a:spcPct val="20000"/>
              </a:spcBef>
              <a:spcAft>
                <a:spcPct val="0"/>
              </a:spcAft>
              <a:buChar char="–"/>
              <a:defRPr sz="1300" kern="1200">
                <a:solidFill>
                  <a:schemeClr val="tx1"/>
                </a:solidFill>
                <a:latin typeface="+mn-lt"/>
                <a:ea typeface="+mn-ea"/>
                <a:cs typeface="+mn-cs"/>
              </a:defRPr>
            </a:lvl4pPr>
            <a:lvl5pPr marL="1671638" indent="-185738" algn="l" rtl="0" eaLnBrk="0" fontAlgn="base" hangingPunct="0">
              <a:spcBef>
                <a:spcPct val="20000"/>
              </a:spcBef>
              <a:spcAft>
                <a:spcPct val="0"/>
              </a:spcAft>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Note:</a:t>
            </a:r>
          </a:p>
          <a:p>
            <a:pPr marR="0" lvl="0" algn="l" defTabSz="914400" rtl="0" eaLnBrk="1" fontAlgn="auto" latinLnBrk="0" hangingPunct="1">
              <a:lnSpc>
                <a:spcPct val="100000"/>
              </a:lnSpc>
              <a:spcBef>
                <a:spcPts val="0"/>
              </a:spcBef>
              <a:spcAft>
                <a:spcPts val="0"/>
              </a:spcAft>
              <a:buClrTx/>
              <a:buSzTx/>
              <a:tabLst/>
              <a:defRPr/>
            </a:pPr>
            <a:r>
              <a:rPr lang="en-US" dirty="0">
                <a:solidFill>
                  <a:schemeClr val="tx1"/>
                </a:solidFill>
                <a:latin typeface="Arial" panose="020B0604020202020204"/>
              </a:rPr>
              <a:t>1. </a:t>
            </a: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Source: Bloomberg, as of 6 May 2026</a:t>
            </a:r>
          </a:p>
        </p:txBody>
      </p:sp>
    </p:spTree>
    <p:extLst>
      <p:ext uri="{BB962C8B-B14F-4D97-AF65-F5344CB8AC3E}">
        <p14:creationId xmlns:p14="http://schemas.microsoft.com/office/powerpoint/2010/main" val="3749378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179B2-C106-C9F3-6E96-39F38AA2C5E5}"/>
            </a:ext>
          </a:extLst>
        </p:cNvPr>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DD916B73-2E6F-2DED-1D27-DAA37F1BECFC}"/>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46</a:t>
            </a:fld>
            <a:endParaRPr lang="en-US" altLang="en-US" b="0">
              <a:solidFill>
                <a:srgbClr val="000000"/>
              </a:solidFill>
            </a:endParaRPr>
          </a:p>
        </p:txBody>
      </p:sp>
      <p:sp>
        <p:nvSpPr>
          <p:cNvPr id="6" name="Title 1">
            <a:extLst>
              <a:ext uri="{FF2B5EF4-FFF2-40B4-BE49-F238E27FC236}">
                <a16:creationId xmlns:a16="http://schemas.microsoft.com/office/drawing/2014/main" id="{B688F7A1-4C48-40D9-7991-1489155A1FCF}"/>
              </a:ext>
            </a:extLst>
          </p:cNvPr>
          <p:cNvSpPr txBox="1">
            <a:spLocks/>
          </p:cNvSpPr>
          <p:nvPr/>
        </p:nvSpPr>
        <p:spPr bwMode="auto">
          <a:xfrm>
            <a:off x="800973" y="411480"/>
            <a:ext cx="8494051" cy="577850"/>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lvl1pPr algn="l" rtl="0" eaLnBrk="0" fontAlgn="base" hangingPunct="0">
              <a:spcBef>
                <a:spcPct val="0"/>
              </a:spcBef>
              <a:spcAft>
                <a:spcPct val="0"/>
              </a:spcAft>
              <a:tabLst>
                <a:tab pos="457200" algn="l"/>
              </a:tabLst>
              <a:defRPr sz="22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a:lstStyle>
          <a:p>
            <a:r>
              <a:rPr lang="en-US" sz="2000" kern="0" dirty="0"/>
              <a:t>Comparable Analysis (cont’d)</a:t>
            </a:r>
            <a:endParaRPr lang="en-GB" sz="2000" kern="0" dirty="0"/>
          </a:p>
        </p:txBody>
      </p:sp>
      <p:graphicFrame>
        <p:nvGraphicFramePr>
          <p:cNvPr id="2" name="Table 18">
            <a:extLst>
              <a:ext uri="{FF2B5EF4-FFF2-40B4-BE49-F238E27FC236}">
                <a16:creationId xmlns:a16="http://schemas.microsoft.com/office/drawing/2014/main" id="{A5EE0F8E-6BEE-6EB5-557A-E98DD4D2F2FE}"/>
              </a:ext>
            </a:extLst>
          </p:cNvPr>
          <p:cNvGraphicFramePr>
            <a:graphicFrameLocks noGrp="1"/>
          </p:cNvGraphicFramePr>
          <p:nvPr>
            <p:extLst>
              <p:ext uri="{D42A27DB-BD31-4B8C-83A1-F6EECF244321}">
                <p14:modId xmlns:p14="http://schemas.microsoft.com/office/powerpoint/2010/main" val="1957901882"/>
              </p:ext>
            </p:extLst>
          </p:nvPr>
        </p:nvGraphicFramePr>
        <p:xfrm>
          <a:off x="1036469" y="2186205"/>
          <a:ext cx="8098393" cy="3053401"/>
        </p:xfrm>
        <a:graphic>
          <a:graphicData uri="http://schemas.openxmlformats.org/drawingml/2006/table">
            <a:tbl>
              <a:tblPr firstCol="1" bandRow="1">
                <a:tableStyleId>{93296810-A885-4BE3-A3E7-6D5BEEA58F35}</a:tableStyleId>
              </a:tblPr>
              <a:tblGrid>
                <a:gridCol w="1383937">
                  <a:extLst>
                    <a:ext uri="{9D8B030D-6E8A-4147-A177-3AD203B41FA5}">
                      <a16:colId xmlns:a16="http://schemas.microsoft.com/office/drawing/2014/main" val="752541498"/>
                    </a:ext>
                  </a:extLst>
                </a:gridCol>
                <a:gridCol w="1678614">
                  <a:extLst>
                    <a:ext uri="{9D8B030D-6E8A-4147-A177-3AD203B41FA5}">
                      <a16:colId xmlns:a16="http://schemas.microsoft.com/office/drawing/2014/main" val="474768238"/>
                    </a:ext>
                  </a:extLst>
                </a:gridCol>
                <a:gridCol w="1678614">
                  <a:extLst>
                    <a:ext uri="{9D8B030D-6E8A-4147-A177-3AD203B41FA5}">
                      <a16:colId xmlns:a16="http://schemas.microsoft.com/office/drawing/2014/main" val="2594945654"/>
                    </a:ext>
                  </a:extLst>
                </a:gridCol>
                <a:gridCol w="1678614">
                  <a:extLst>
                    <a:ext uri="{9D8B030D-6E8A-4147-A177-3AD203B41FA5}">
                      <a16:colId xmlns:a16="http://schemas.microsoft.com/office/drawing/2014/main" val="3581669626"/>
                    </a:ext>
                  </a:extLst>
                </a:gridCol>
                <a:gridCol w="1678614">
                  <a:extLst>
                    <a:ext uri="{9D8B030D-6E8A-4147-A177-3AD203B41FA5}">
                      <a16:colId xmlns:a16="http://schemas.microsoft.com/office/drawing/2014/main" val="3801268835"/>
                    </a:ext>
                  </a:extLst>
                </a:gridCol>
              </a:tblGrid>
              <a:tr h="587211">
                <a:tc>
                  <a:txBody>
                    <a:bodyPr/>
                    <a:lstStyle/>
                    <a:p>
                      <a:pPr algn="l" rtl="0" fontAlgn="ctr">
                        <a:buNone/>
                      </a:pPr>
                      <a:r>
                        <a:rPr lang="en-US" sz="1100" b="1" i="0" u="none" strike="noStrike">
                          <a:solidFill>
                            <a:srgbClr val="1F1F1F"/>
                          </a:solidFill>
                          <a:effectLst/>
                          <a:latin typeface="Arial" panose="020B0604020202020204" pitchFamily="34" charset="0"/>
                        </a:rPr>
                        <a:t>Clinical Success Rate</a:t>
                      </a:r>
                    </a:p>
                  </a:txBody>
                  <a:tcPr marL="7620" marR="7620" marT="7620" marB="0" anchor="ctr">
                    <a:solidFill>
                      <a:schemeClr val="bg1">
                        <a:lumMod val="65000"/>
                      </a:schemeClr>
                    </a:solidFill>
                  </a:tcPr>
                </a:tc>
                <a:tc>
                  <a:txBody>
                    <a:bodyPr/>
                    <a:lstStyle/>
                    <a:p>
                      <a:pPr algn="l" rtl="0" fontAlgn="ctr">
                        <a:buNone/>
                      </a:pPr>
                      <a:r>
                        <a:rPr lang="en-US" sz="1100" b="0" i="0" u="none" strike="noStrike" dirty="0">
                          <a:solidFill>
                            <a:srgbClr val="1F1F1F"/>
                          </a:solidFill>
                          <a:effectLst/>
                          <a:latin typeface="Arial" panose="020B0604020202020204" pitchFamily="34" charset="0"/>
                        </a:rPr>
                        <a:t>~ average 47.4%</a:t>
                      </a:r>
                      <a:r>
                        <a:rPr lang="en-US" sz="1100" b="0" i="0" u="none" strike="noStrike" baseline="30000" dirty="0">
                          <a:solidFill>
                            <a:schemeClr val="tx1"/>
                          </a:solidFill>
                          <a:effectLst/>
                          <a:latin typeface="Arial" panose="020B0604020202020204" pitchFamily="34" charset="0"/>
                        </a:rPr>
                        <a:t>1</a:t>
                      </a:r>
                      <a:r>
                        <a:rPr lang="en-US" sz="1100" b="0" i="0" u="none" strike="noStrike" dirty="0">
                          <a:solidFill>
                            <a:srgbClr val="1F1F1F"/>
                          </a:solidFill>
                          <a:effectLst/>
                          <a:latin typeface="Arial" panose="020B0604020202020204" pitchFamily="34" charset="0"/>
                        </a:rPr>
                        <a:t> </a:t>
                      </a:r>
                      <a:r>
                        <a:rPr lang="en-US" sz="1100" b="1" i="0" u="none" strike="noStrike" dirty="0">
                          <a:solidFill>
                            <a:srgbClr val="1F1F1F"/>
                          </a:solidFill>
                          <a:effectLst/>
                          <a:latin typeface="Arial" panose="020B0604020202020204" pitchFamily="34" charset="0"/>
                        </a:rPr>
                        <a:t>higher than national average </a:t>
                      </a:r>
                      <a:r>
                        <a:rPr lang="en-US" sz="1100" b="0" i="0" u="none" strike="noStrike" dirty="0">
                          <a:solidFill>
                            <a:srgbClr val="1F1F1F"/>
                          </a:solidFill>
                          <a:effectLst/>
                          <a:latin typeface="Arial" panose="020B0604020202020204" pitchFamily="34" charset="0"/>
                        </a:rPr>
                        <a:t>of 46% (&lt;35 years old)</a:t>
                      </a:r>
                      <a:r>
                        <a:rPr kumimoji="0" lang="nl-NL" sz="1100" b="1" i="0" u="none" strike="noStrike" kern="1200" cap="none" spc="0" normalizeH="0" baseline="30000" noProof="0" dirty="0">
                          <a:ln>
                            <a:noFill/>
                          </a:ln>
                          <a:solidFill>
                            <a:schemeClr val="tx1"/>
                          </a:solidFill>
                          <a:effectLst/>
                          <a:uLnTx/>
                          <a:uFillTx/>
                          <a:latin typeface="Arial" panose="020B0604020202020204" pitchFamily="34" charset="0"/>
                          <a:ea typeface="DFKaiShu-GB5"/>
                          <a:cs typeface="Arial" panose="020B0604020202020204" pitchFamily="34" charset="0"/>
                        </a:rPr>
                        <a:t> </a:t>
                      </a:r>
                      <a:endParaRPr lang="en-US" sz="1100" b="0" i="0" u="none" strike="noStrike" dirty="0">
                        <a:solidFill>
                          <a:srgbClr val="1F1F1F"/>
                        </a:solidFill>
                        <a:effectLst/>
                        <a:latin typeface="Arial" panose="020B0604020202020204" pitchFamily="34" charset="0"/>
                      </a:endParaRP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~56.5%</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72%(&lt;34 years old)</a:t>
                      </a:r>
                      <a:r>
                        <a:rPr kumimoji="0" lang="nl-NL" sz="1100" b="1" i="0" u="none" strike="noStrike" kern="1200" cap="none" spc="0" normalizeH="0" baseline="30000" noProof="0" dirty="0">
                          <a:ln>
                            <a:noFill/>
                          </a:ln>
                          <a:solidFill>
                            <a:schemeClr val="tx1"/>
                          </a:solidFill>
                          <a:effectLst/>
                          <a:uLnTx/>
                          <a:uFillTx/>
                          <a:latin typeface="Arial" panose="020B0604020202020204" pitchFamily="34" charset="0"/>
                          <a:ea typeface="DFKaiShu-GB5"/>
                          <a:cs typeface="Arial" panose="020B0604020202020204" pitchFamily="34" charset="0"/>
                        </a:rPr>
                        <a:t> </a:t>
                      </a:r>
                      <a:endParaRPr lang="en-US" sz="1100" b="0" i="0" u="none" strike="noStrike" dirty="0">
                        <a:solidFill>
                          <a:srgbClr val="1F1F1F"/>
                        </a:solidFill>
                        <a:effectLst/>
                        <a:latin typeface="Arial" panose="020B0604020202020204" pitchFamily="34" charset="0"/>
                      </a:endParaRPr>
                    </a:p>
                  </a:txBody>
                  <a:tcPr marL="7620" marR="7620" marT="7620" marB="0" anchor="ctr"/>
                </a:tc>
                <a:tc>
                  <a:txBody>
                    <a:bodyPr/>
                    <a:lstStyle/>
                    <a:p>
                      <a:pPr algn="l" rtl="0" fontAlgn="ctr">
                        <a:buNone/>
                      </a:pPr>
                      <a:r>
                        <a:rPr lang="en-US" altLang="zh-CN" sz="1100" b="0" i="0" u="none" strike="noStrike" dirty="0">
                          <a:solidFill>
                            <a:srgbClr val="1F1F1F"/>
                          </a:solidFill>
                          <a:effectLst/>
                          <a:latin typeface="Arial" panose="020B0604020202020204" pitchFamily="34" charset="0"/>
                        </a:rPr>
                        <a:t>~</a:t>
                      </a:r>
                      <a:r>
                        <a:rPr lang="en-US" sz="1100" b="0" i="0" u="none" strike="noStrike" dirty="0">
                          <a:solidFill>
                            <a:srgbClr val="1F1F1F"/>
                          </a:solidFill>
                          <a:effectLst/>
                          <a:latin typeface="Arial" panose="020B0604020202020204" pitchFamily="34" charset="0"/>
                        </a:rPr>
                        <a:t>average </a:t>
                      </a:r>
                      <a:r>
                        <a:rPr lang="en-US" altLang="zh-CN" sz="1100" b="0" i="0" u="none" strike="noStrike" dirty="0">
                          <a:solidFill>
                            <a:srgbClr val="1F1F1F"/>
                          </a:solidFill>
                          <a:effectLst/>
                          <a:latin typeface="Arial" panose="020B0604020202020204" pitchFamily="34" charset="0"/>
                        </a:rPr>
                        <a:t>46.8%</a:t>
                      </a:r>
                      <a:r>
                        <a:rPr lang="en-US" altLang="zh-CN" sz="1100" b="0" i="0" u="none" strike="noStrike" baseline="30000" dirty="0">
                          <a:solidFill>
                            <a:schemeClr val="tx1"/>
                          </a:solidFill>
                          <a:effectLst/>
                          <a:latin typeface="Arial" panose="020B0604020202020204" pitchFamily="34" charset="0"/>
                        </a:rPr>
                        <a:t>1</a:t>
                      </a:r>
                      <a:r>
                        <a:rPr lang="en-US" altLang="zh-CN" sz="1100" b="0" i="0" u="none" strike="noStrike" dirty="0">
                          <a:solidFill>
                            <a:srgbClr val="1F1F1F"/>
                          </a:solidFill>
                          <a:effectLst/>
                          <a:latin typeface="Arial" panose="020B0604020202020204" pitchFamily="34" charset="0"/>
                        </a:rPr>
                        <a:t> </a:t>
                      </a:r>
                      <a:r>
                        <a:rPr lang="en-US" sz="1100" b="0" i="0" u="none" strike="noStrike" dirty="0">
                          <a:solidFill>
                            <a:srgbClr val="1F1F1F"/>
                          </a:solidFill>
                          <a:effectLst/>
                          <a:latin typeface="Arial" panose="020B0604020202020204" pitchFamily="34" charset="0"/>
                        </a:rPr>
                        <a:t>higher than national average of 46% (&lt;35 years old)</a:t>
                      </a:r>
                    </a:p>
                  </a:txBody>
                  <a:tcPr marL="7620" marR="7620" marT="7620" marB="0" anchor="ctr"/>
                </a:tc>
                <a:extLst>
                  <a:ext uri="{0D108BD9-81ED-4DB2-BD59-A6C34878D82A}">
                    <a16:rowId xmlns:a16="http://schemas.microsoft.com/office/drawing/2014/main" val="3779138882"/>
                  </a:ext>
                </a:extLst>
              </a:tr>
              <a:tr h="493238">
                <a:tc>
                  <a:txBody>
                    <a:bodyPr/>
                    <a:lstStyle/>
                    <a:p>
                      <a:pPr algn="l" rtl="0" fontAlgn="ctr">
                        <a:buNone/>
                      </a:pPr>
                      <a:r>
                        <a:rPr lang="en-US" sz="1100" b="1" i="0" u="none" strike="noStrike">
                          <a:solidFill>
                            <a:srgbClr val="1F1F1F"/>
                          </a:solidFill>
                          <a:effectLst/>
                          <a:latin typeface="Arial" panose="020B0604020202020204" pitchFamily="34" charset="0"/>
                        </a:rPr>
                        <a:t>Number of Clinics</a:t>
                      </a:r>
                    </a:p>
                  </a:txBody>
                  <a:tcPr marL="7620" marR="7620" marT="7620" marB="0" anchor="ctr">
                    <a:solidFill>
                      <a:schemeClr val="bg1">
                        <a:lumMod val="65000"/>
                      </a:schemeClr>
                    </a:solidFill>
                  </a:tcPr>
                </a:tc>
                <a:tc>
                  <a:txBody>
                    <a:bodyPr/>
                    <a:lstStyle/>
                    <a:p>
                      <a:pPr algn="l" rtl="0" fontAlgn="ctr">
                        <a:buNone/>
                      </a:pPr>
                      <a:r>
                        <a:rPr lang="en-US" sz="1100" b="0" i="0" u="none" strike="noStrike" dirty="0">
                          <a:solidFill>
                            <a:srgbClr val="1F1F1F"/>
                          </a:solidFill>
                          <a:effectLst/>
                          <a:latin typeface="Arial" panose="020B0604020202020204" pitchFamily="34" charset="0"/>
                        </a:rPr>
                        <a:t>17 IVF clinics; 50 consulting locations</a:t>
                      </a:r>
                      <a:endParaRPr lang="en-US" sz="1100" b="0" i="0" u="none" strike="noStrike" dirty="0">
                        <a:solidFill>
                          <a:schemeClr val="tx1"/>
                        </a:solidFill>
                        <a:effectLst/>
                        <a:latin typeface="Arial" panose="020B0604020202020204" pitchFamily="34" charset="0"/>
                      </a:endParaRP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6 hospitals/hospitals-within-hospitals </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4 major centers</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25+ clinics and service centers</a:t>
                      </a:r>
                    </a:p>
                  </a:txBody>
                  <a:tcPr marL="7620" marR="7620" marT="7620" marB="0" anchor="ctr"/>
                </a:tc>
                <a:extLst>
                  <a:ext uri="{0D108BD9-81ED-4DB2-BD59-A6C34878D82A}">
                    <a16:rowId xmlns:a16="http://schemas.microsoft.com/office/drawing/2014/main" val="1191745064"/>
                  </a:ext>
                </a:extLst>
              </a:tr>
              <a:tr h="493238">
                <a:tc>
                  <a:txBody>
                    <a:bodyPr/>
                    <a:lstStyle/>
                    <a:p>
                      <a:pPr algn="l" rtl="0" fontAlgn="ctr">
                        <a:buNone/>
                      </a:pPr>
                      <a:r>
                        <a:rPr lang="en-US" sz="1100" b="1" i="0" u="none" strike="noStrike">
                          <a:solidFill>
                            <a:srgbClr val="1F1F1F"/>
                          </a:solidFill>
                          <a:effectLst/>
                          <a:latin typeface="Arial" panose="020B0604020202020204" pitchFamily="34" charset="0"/>
                        </a:rPr>
                        <a:t>Locations</a:t>
                      </a:r>
                    </a:p>
                  </a:txBody>
                  <a:tcPr marL="7620" marR="7620" marT="7620" marB="0" anchor="ctr">
                    <a:solidFill>
                      <a:schemeClr val="bg1">
                        <a:lumMod val="65000"/>
                      </a:schemeClr>
                    </a:solidFill>
                  </a:tcPr>
                </a:tc>
                <a:tc>
                  <a:txBody>
                    <a:bodyPr/>
                    <a:lstStyle/>
                    <a:p>
                      <a:pPr algn="l" rtl="0" fontAlgn="ctr">
                        <a:buNone/>
                      </a:pPr>
                      <a:r>
                        <a:rPr lang="en-US" sz="1100" b="0" i="0" u="none" strike="noStrike" dirty="0">
                          <a:solidFill>
                            <a:srgbClr val="1F1F1F"/>
                          </a:solidFill>
                          <a:effectLst/>
                          <a:latin typeface="Arial" panose="020B0604020202020204" pitchFamily="34" charset="0"/>
                        </a:rPr>
                        <a:t>Australia, Singapore</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China, USA, Laos </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Malaysia, Singapore, Indonesia </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Australia, Vietnam, Singapore</a:t>
                      </a:r>
                      <a:r>
                        <a:rPr lang="en-US" sz="1100" b="0" i="0" u="none" strike="noStrike" baseline="30000" dirty="0">
                          <a:solidFill>
                            <a:schemeClr val="tx1"/>
                          </a:solidFill>
                          <a:effectLst/>
                          <a:latin typeface="Arial" panose="020B0604020202020204" pitchFamily="34" charset="0"/>
                        </a:rPr>
                        <a:t> </a:t>
                      </a:r>
                      <a:endParaRPr lang="en-US" sz="11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486303132"/>
                  </a:ext>
                </a:extLst>
              </a:tr>
              <a:tr h="493238">
                <a:tc>
                  <a:txBody>
                    <a:bodyPr/>
                    <a:lstStyle/>
                    <a:p>
                      <a:pPr algn="l" rtl="0" fontAlgn="ctr">
                        <a:buNone/>
                      </a:pPr>
                      <a:r>
                        <a:rPr lang="en-US" sz="1100" b="1" i="0" u="none" strike="noStrike" dirty="0">
                          <a:solidFill>
                            <a:srgbClr val="1F1F1F"/>
                          </a:solidFill>
                          <a:effectLst/>
                          <a:latin typeface="Arial" panose="020B0604020202020204" pitchFamily="34" charset="0"/>
                        </a:rPr>
                        <a:t>Number of IVF Clinicians</a:t>
                      </a:r>
                    </a:p>
                  </a:txBody>
                  <a:tcPr marL="7620" marR="7620" marT="7620" marB="0" anchor="ctr">
                    <a:solidFill>
                      <a:schemeClr val="bg1">
                        <a:lumMod val="65000"/>
                      </a:schemeClr>
                    </a:solidFill>
                  </a:tcPr>
                </a:tc>
                <a:tc>
                  <a:txBody>
                    <a:bodyPr/>
                    <a:lstStyle/>
                    <a:p>
                      <a:pPr algn="l" rtl="0" fontAlgn="ctr">
                        <a:buNone/>
                      </a:pPr>
                      <a:r>
                        <a:rPr lang="en-US" sz="1100" b="0" i="0" u="none" strike="noStrike" dirty="0">
                          <a:solidFill>
                            <a:srgbClr val="1F1F1F"/>
                          </a:solidFill>
                          <a:effectLst/>
                          <a:latin typeface="Arial" panose="020B0604020202020204" pitchFamily="34" charset="0"/>
                        </a:rPr>
                        <a:t>60+ specialized doctors</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~300+ total medical staff across networks</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28 specialized consultants/embryologists</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130+ fertility specialists</a:t>
                      </a:r>
                    </a:p>
                  </a:txBody>
                  <a:tcPr marL="7620" marR="7620" marT="7620" marB="0" anchor="ctr"/>
                </a:tc>
                <a:extLst>
                  <a:ext uri="{0D108BD9-81ED-4DB2-BD59-A6C34878D82A}">
                    <a16:rowId xmlns:a16="http://schemas.microsoft.com/office/drawing/2014/main" val="769534390"/>
                  </a:ext>
                </a:extLst>
              </a:tr>
              <a:tr h="493238">
                <a:tc>
                  <a:txBody>
                    <a:bodyPr/>
                    <a:lstStyle/>
                    <a:p>
                      <a:pPr algn="l" rtl="0" fontAlgn="ctr">
                        <a:buNone/>
                      </a:pPr>
                      <a:r>
                        <a:rPr lang="en-US" sz="1100" b="1" i="0" u="none" strike="noStrike" dirty="0">
                          <a:solidFill>
                            <a:srgbClr val="1F1F1F"/>
                          </a:solidFill>
                          <a:effectLst/>
                          <a:latin typeface="Arial" panose="020B0604020202020204" pitchFamily="34" charset="0"/>
                        </a:rPr>
                        <a:t>Partner with University</a:t>
                      </a:r>
                    </a:p>
                  </a:txBody>
                  <a:tcPr marL="7620" marR="7620" marT="7620" marB="0" anchor="ctr">
                    <a:solidFill>
                      <a:schemeClr val="bg1">
                        <a:lumMod val="65000"/>
                      </a:schemeClr>
                    </a:solidFill>
                  </a:tcPr>
                </a:tc>
                <a:tc>
                  <a:txBody>
                    <a:bodyPr/>
                    <a:lstStyle/>
                    <a:p>
                      <a:pPr algn="l" rtl="0" fontAlgn="ctr">
                        <a:buNone/>
                      </a:pPr>
                      <a:r>
                        <a:rPr lang="en-US" sz="1100" b="0" i="0" u="none" strike="noStrike" dirty="0">
                          <a:solidFill>
                            <a:srgbClr val="1F1F1F"/>
                          </a:solidFill>
                          <a:effectLst/>
                          <a:latin typeface="Arial" panose="020B0604020202020204" pitchFamily="34" charset="0"/>
                        </a:rPr>
                        <a:t>University of New South Wales</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University of Southern California</a:t>
                      </a:r>
                    </a:p>
                  </a:txBody>
                  <a:tcPr marL="7620" marR="7620" marT="7620" marB="0" anchor="ctr"/>
                </a:tc>
                <a:tc>
                  <a:txBody>
                    <a:bodyPr/>
                    <a:lstStyle/>
                    <a:p>
                      <a:pPr algn="l" rtl="0" fontAlgn="ctr">
                        <a:buNone/>
                      </a:pPr>
                      <a:r>
                        <a:rPr lang="en-US" sz="1100" dirty="0"/>
                        <a:t>IMU University</a:t>
                      </a:r>
                    </a:p>
                    <a:p>
                      <a:pPr algn="l" rtl="0" fontAlgn="ctr">
                        <a:buNone/>
                      </a:pPr>
                      <a:r>
                        <a:rPr lang="en-US" sz="1100" dirty="0"/>
                        <a:t>(Malaysia)</a:t>
                      </a:r>
                      <a:endParaRPr lang="en-US" sz="1100" b="0" i="0" u="none" strike="noStrike" dirty="0">
                        <a:solidFill>
                          <a:srgbClr val="1F1F1F"/>
                        </a:solidFill>
                        <a:effectLst/>
                        <a:latin typeface="Arial" panose="020B0604020202020204" pitchFamily="34" charset="0"/>
                      </a:endParaRP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Monash University </a:t>
                      </a:r>
                    </a:p>
                  </a:txBody>
                  <a:tcPr marL="7620" marR="7620" marT="7620" marB="0" anchor="ctr"/>
                </a:tc>
                <a:extLst>
                  <a:ext uri="{0D108BD9-81ED-4DB2-BD59-A6C34878D82A}">
                    <a16:rowId xmlns:a16="http://schemas.microsoft.com/office/drawing/2014/main" val="3766921492"/>
                  </a:ext>
                </a:extLst>
              </a:tr>
              <a:tr h="493238">
                <a:tc>
                  <a:txBody>
                    <a:bodyPr/>
                    <a:lstStyle/>
                    <a:p>
                      <a:pPr algn="l" rtl="0" fontAlgn="ctr">
                        <a:buNone/>
                      </a:pPr>
                      <a:r>
                        <a:rPr lang="en-US" sz="1100" b="1" i="0" u="none" strike="noStrike" dirty="0">
                          <a:solidFill>
                            <a:srgbClr val="1F1F1F"/>
                          </a:solidFill>
                          <a:effectLst/>
                          <a:latin typeface="Arial" panose="020B0604020202020204" pitchFamily="34" charset="0"/>
                        </a:rPr>
                        <a:t>Treatment volume</a:t>
                      </a:r>
                    </a:p>
                  </a:txBody>
                  <a:tcPr marL="7620" marR="7620" marT="7620" marB="0" anchor="ctr">
                    <a:solidFill>
                      <a:schemeClr val="bg1">
                        <a:lumMod val="65000"/>
                      </a:schemeClr>
                    </a:solidFill>
                  </a:tcPr>
                </a:tc>
                <a:tc>
                  <a:txBody>
                    <a:bodyPr/>
                    <a:lstStyle/>
                    <a:p>
                      <a:pPr algn="l" rtl="0" fontAlgn="ctr">
                        <a:buNone/>
                      </a:pPr>
                      <a:r>
                        <a:rPr lang="en-US" sz="1100" b="0" i="0" u="none" strike="noStrike" dirty="0">
                          <a:solidFill>
                            <a:srgbClr val="1F1F1F"/>
                          </a:solidFill>
                          <a:effectLst/>
                          <a:latin typeface="Arial" panose="020B0604020202020204" pitchFamily="34" charset="0"/>
                        </a:rPr>
                        <a:t>Over 23000+</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20000+ annually</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Over 10000+ </a:t>
                      </a:r>
                    </a:p>
                  </a:txBody>
                  <a:tcPr marL="7620" marR="7620" marT="7620" marB="0" anchor="ctr"/>
                </a:tc>
                <a:tc>
                  <a:txBody>
                    <a:bodyPr/>
                    <a:lstStyle/>
                    <a:p>
                      <a:pPr algn="l" rtl="0" fontAlgn="ctr">
                        <a:buNone/>
                      </a:pPr>
                      <a:r>
                        <a:rPr lang="en-US" sz="1100" b="0" i="0" u="none" strike="noStrike" dirty="0">
                          <a:solidFill>
                            <a:srgbClr val="1F1F1F"/>
                          </a:solidFill>
                          <a:effectLst/>
                          <a:latin typeface="Arial" panose="020B0604020202020204" pitchFamily="34" charset="0"/>
                        </a:rPr>
                        <a:t>Over 70,000+ </a:t>
                      </a:r>
                    </a:p>
                  </a:txBody>
                  <a:tcPr marL="7620" marR="7620" marT="7620" marB="0" anchor="ctr"/>
                </a:tc>
                <a:extLst>
                  <a:ext uri="{0D108BD9-81ED-4DB2-BD59-A6C34878D82A}">
                    <a16:rowId xmlns:a16="http://schemas.microsoft.com/office/drawing/2014/main" val="1043578482"/>
                  </a:ext>
                </a:extLst>
              </a:tr>
            </a:tbl>
          </a:graphicData>
        </a:graphic>
      </p:graphicFrame>
      <p:grpSp>
        <p:nvGrpSpPr>
          <p:cNvPr id="22" name="群組 21">
            <a:extLst>
              <a:ext uri="{FF2B5EF4-FFF2-40B4-BE49-F238E27FC236}">
                <a16:creationId xmlns:a16="http://schemas.microsoft.com/office/drawing/2014/main" id="{75883479-B1D3-0B83-F5DE-50E252F79550}"/>
              </a:ext>
            </a:extLst>
          </p:cNvPr>
          <p:cNvGrpSpPr/>
          <p:nvPr/>
        </p:nvGrpSpPr>
        <p:grpSpPr>
          <a:xfrm>
            <a:off x="4374978" y="1245019"/>
            <a:ext cx="1200592" cy="825470"/>
            <a:chOff x="1270000" y="1968500"/>
            <a:chExt cx="3937000" cy="2806700"/>
          </a:xfrm>
        </p:grpSpPr>
        <p:pic>
          <p:nvPicPr>
            <p:cNvPr id="23" name="Image 0" descr="https://kimi-img.moonshot.cn/pub/slides/okc/dsduo6kcypxfw/mnt/agents/output/comparable_companies/images/jinxin_logo.png">
              <a:extLst>
                <a:ext uri="{FF2B5EF4-FFF2-40B4-BE49-F238E27FC236}">
                  <a16:creationId xmlns:a16="http://schemas.microsoft.com/office/drawing/2014/main" id="{9C715566-1A2C-CE14-C174-EFCB51E1E0EC}"/>
                </a:ext>
              </a:extLst>
            </p:cNvPr>
            <p:cNvPicPr>
              <a:picLocks noChangeAspect="1"/>
            </p:cNvPicPr>
            <p:nvPr/>
          </p:nvPicPr>
          <p:blipFill>
            <a:blip r:embed="rId2"/>
            <a:srcRect/>
            <a:stretch/>
          </p:blipFill>
          <p:spPr>
            <a:xfrm>
              <a:off x="2457479" y="1968500"/>
              <a:ext cx="1543022" cy="1524000"/>
            </a:xfrm>
            <a:prstGeom prst="rect">
              <a:avLst/>
            </a:prstGeom>
          </p:spPr>
        </p:pic>
        <p:sp>
          <p:nvSpPr>
            <p:cNvPr id="24" name="Text 3">
              <a:extLst>
                <a:ext uri="{FF2B5EF4-FFF2-40B4-BE49-F238E27FC236}">
                  <a16:creationId xmlns:a16="http://schemas.microsoft.com/office/drawing/2014/main" id="{AE9891F1-3FC6-AB39-F6D9-C335D2574D5F}"/>
                </a:ext>
              </a:extLst>
            </p:cNvPr>
            <p:cNvSpPr/>
            <p:nvPr/>
          </p:nvSpPr>
          <p:spPr>
            <a:xfrm>
              <a:off x="1270000" y="3683000"/>
              <a:ext cx="3937000" cy="381000"/>
            </a:xfrm>
            <a:prstGeom prst="rect">
              <a:avLst/>
            </a:prstGeom>
            <a:noFill/>
            <a:ln/>
          </p:spPr>
          <p:txBody>
            <a:bodyPr wrap="none" lIns="0" tIns="0" rIns="0" bIns="0" rtlCol="0" anchor="ctr"/>
            <a:lstStyle/>
            <a:p>
              <a:pPr algn="ctr">
                <a:lnSpc>
                  <a:spcPct val="100000"/>
                </a:lnSpc>
              </a:pPr>
              <a:r>
                <a:rPr lang="en-US" sz="1000" b="1" dirty="0">
                  <a:solidFill>
                    <a:srgbClr val="1E3A5F"/>
                  </a:solidFill>
                  <a:latin typeface="+mj-lt"/>
                  <a:ea typeface="Liter" pitchFamily="34" charset="-122"/>
                  <a:cs typeface="Liter" pitchFamily="34" charset="-120"/>
                </a:rPr>
                <a:t>Jinxin Fertility Group</a:t>
              </a:r>
              <a:endParaRPr lang="en-US" sz="1000" dirty="0">
                <a:latin typeface="+mj-lt"/>
              </a:endParaRPr>
            </a:p>
          </p:txBody>
        </p:sp>
        <p:sp>
          <p:nvSpPr>
            <p:cNvPr id="26" name="Text 5">
              <a:extLst>
                <a:ext uri="{FF2B5EF4-FFF2-40B4-BE49-F238E27FC236}">
                  <a16:creationId xmlns:a16="http://schemas.microsoft.com/office/drawing/2014/main" id="{491AC170-7FBC-53D7-7288-B6D360A29FD9}"/>
                </a:ext>
              </a:extLst>
            </p:cNvPr>
            <p:cNvSpPr/>
            <p:nvPr/>
          </p:nvSpPr>
          <p:spPr>
            <a:xfrm>
              <a:off x="1270000" y="4470400"/>
              <a:ext cx="3937000" cy="304800"/>
            </a:xfrm>
            <a:prstGeom prst="rect">
              <a:avLst/>
            </a:prstGeom>
            <a:noFill/>
            <a:ln/>
          </p:spPr>
          <p:txBody>
            <a:bodyPr wrap="none" lIns="0" tIns="0" rIns="0" bIns="0" rtlCol="0" anchor="ctr"/>
            <a:lstStyle/>
            <a:p>
              <a:pPr algn="ctr">
                <a:lnSpc>
                  <a:spcPct val="100000"/>
                </a:lnSpc>
              </a:pPr>
              <a:endParaRPr lang="en-US" sz="1000" dirty="0">
                <a:latin typeface="+mj-lt"/>
              </a:endParaRPr>
            </a:p>
          </p:txBody>
        </p:sp>
      </p:grpSp>
      <p:grpSp>
        <p:nvGrpSpPr>
          <p:cNvPr id="27" name="群組 26">
            <a:extLst>
              <a:ext uri="{FF2B5EF4-FFF2-40B4-BE49-F238E27FC236}">
                <a16:creationId xmlns:a16="http://schemas.microsoft.com/office/drawing/2014/main" id="{F4F7E53E-4A76-D873-08F9-F89C53BE6071}"/>
              </a:ext>
            </a:extLst>
          </p:cNvPr>
          <p:cNvGrpSpPr/>
          <p:nvPr/>
        </p:nvGrpSpPr>
        <p:grpSpPr>
          <a:xfrm>
            <a:off x="6226687" y="1309274"/>
            <a:ext cx="617208" cy="767928"/>
            <a:chOff x="6159500" y="1968500"/>
            <a:chExt cx="3937000" cy="2806700"/>
          </a:xfrm>
        </p:grpSpPr>
        <p:pic>
          <p:nvPicPr>
            <p:cNvPr id="28" name="Image 1" descr="https://kimi-img.moonshot.cn/pub/slides/okc/dsduo6kcypxfw/mnt/agents/output/comparable_companies/images/alpha_logo.png">
              <a:extLst>
                <a:ext uri="{FF2B5EF4-FFF2-40B4-BE49-F238E27FC236}">
                  <a16:creationId xmlns:a16="http://schemas.microsoft.com/office/drawing/2014/main" id="{193D2E6E-42F6-C9F2-D61C-F43BA505D04C}"/>
                </a:ext>
              </a:extLst>
            </p:cNvPr>
            <p:cNvPicPr>
              <a:picLocks noChangeAspect="1"/>
            </p:cNvPicPr>
            <p:nvPr/>
          </p:nvPicPr>
          <p:blipFill>
            <a:blip r:embed="rId3"/>
            <a:srcRect l="-6268" r="-6268"/>
            <a:stretch/>
          </p:blipFill>
          <p:spPr>
            <a:xfrm>
              <a:off x="6636909" y="1968500"/>
              <a:ext cx="2730502" cy="1523998"/>
            </a:xfrm>
            <a:prstGeom prst="rect">
              <a:avLst/>
            </a:prstGeom>
          </p:spPr>
        </p:pic>
        <p:sp>
          <p:nvSpPr>
            <p:cNvPr id="29" name="Text 7">
              <a:extLst>
                <a:ext uri="{FF2B5EF4-FFF2-40B4-BE49-F238E27FC236}">
                  <a16:creationId xmlns:a16="http://schemas.microsoft.com/office/drawing/2014/main" id="{37BAA0BE-8C4C-C335-FA5C-C103ACBBC05D}"/>
                </a:ext>
              </a:extLst>
            </p:cNvPr>
            <p:cNvSpPr/>
            <p:nvPr/>
          </p:nvSpPr>
          <p:spPr>
            <a:xfrm>
              <a:off x="6159500" y="3683000"/>
              <a:ext cx="3937000" cy="381000"/>
            </a:xfrm>
            <a:prstGeom prst="rect">
              <a:avLst/>
            </a:prstGeom>
            <a:noFill/>
            <a:ln/>
          </p:spPr>
          <p:txBody>
            <a:bodyPr wrap="none" lIns="0" tIns="0" rIns="0" bIns="0" rtlCol="0" anchor="ctr"/>
            <a:lstStyle/>
            <a:p>
              <a:pPr algn="ctr">
                <a:lnSpc>
                  <a:spcPct val="100000"/>
                </a:lnSpc>
              </a:pPr>
              <a:r>
                <a:rPr lang="en-US" sz="1000" b="1" dirty="0">
                  <a:solidFill>
                    <a:srgbClr val="1E3A5F"/>
                  </a:solidFill>
                  <a:latin typeface="+mj-lt"/>
                  <a:ea typeface="Liter" pitchFamily="34" charset="-122"/>
                  <a:cs typeface="Liter" pitchFamily="34" charset="-120"/>
                </a:rPr>
                <a:t>Alpha IVF Group</a:t>
              </a:r>
              <a:endParaRPr lang="en-US" sz="1000" dirty="0">
                <a:latin typeface="+mj-lt"/>
              </a:endParaRPr>
            </a:p>
          </p:txBody>
        </p:sp>
        <p:sp>
          <p:nvSpPr>
            <p:cNvPr id="31" name="Text 9">
              <a:extLst>
                <a:ext uri="{FF2B5EF4-FFF2-40B4-BE49-F238E27FC236}">
                  <a16:creationId xmlns:a16="http://schemas.microsoft.com/office/drawing/2014/main" id="{238AB379-0934-57EB-3056-C160C7C3640D}"/>
                </a:ext>
              </a:extLst>
            </p:cNvPr>
            <p:cNvSpPr/>
            <p:nvPr/>
          </p:nvSpPr>
          <p:spPr>
            <a:xfrm>
              <a:off x="6159500" y="4470400"/>
              <a:ext cx="3937000" cy="304800"/>
            </a:xfrm>
            <a:prstGeom prst="rect">
              <a:avLst/>
            </a:prstGeom>
            <a:noFill/>
            <a:ln/>
          </p:spPr>
          <p:txBody>
            <a:bodyPr wrap="none" lIns="0" tIns="0" rIns="0" bIns="0" rtlCol="0" anchor="ctr"/>
            <a:lstStyle/>
            <a:p>
              <a:pPr algn="ctr">
                <a:lnSpc>
                  <a:spcPct val="100000"/>
                </a:lnSpc>
              </a:pPr>
              <a:endParaRPr lang="en-US" sz="1000" dirty="0">
                <a:latin typeface="+mj-lt"/>
              </a:endParaRPr>
            </a:p>
          </p:txBody>
        </p:sp>
      </p:grpSp>
      <p:grpSp>
        <p:nvGrpSpPr>
          <p:cNvPr id="32" name="群組 31">
            <a:extLst>
              <a:ext uri="{FF2B5EF4-FFF2-40B4-BE49-F238E27FC236}">
                <a16:creationId xmlns:a16="http://schemas.microsoft.com/office/drawing/2014/main" id="{DD78CC9C-81F2-8C2C-144C-262D841B28A0}"/>
              </a:ext>
            </a:extLst>
          </p:cNvPr>
          <p:cNvGrpSpPr/>
          <p:nvPr/>
        </p:nvGrpSpPr>
        <p:grpSpPr>
          <a:xfrm>
            <a:off x="7571832" y="956532"/>
            <a:ext cx="1366544" cy="1249457"/>
            <a:chOff x="11049000" y="2080826"/>
            <a:chExt cx="3937000" cy="2694374"/>
          </a:xfrm>
        </p:grpSpPr>
        <p:pic>
          <p:nvPicPr>
            <p:cNvPr id="33" name="Image 2" descr="https://kimi-img.moonshot.cn/pub/slides/okc/dsduo6kcypxfw/mnt/agents/output/comparable_companies/images/monash_logo.png">
              <a:extLst>
                <a:ext uri="{FF2B5EF4-FFF2-40B4-BE49-F238E27FC236}">
                  <a16:creationId xmlns:a16="http://schemas.microsoft.com/office/drawing/2014/main" id="{771336C6-FC1D-872D-96B0-505F29B504DB}"/>
                </a:ext>
              </a:extLst>
            </p:cNvPr>
            <p:cNvPicPr>
              <a:picLocks noChangeAspect="1"/>
            </p:cNvPicPr>
            <p:nvPr/>
          </p:nvPicPr>
          <p:blipFill>
            <a:blip r:embed="rId4"/>
            <a:srcRect/>
            <a:stretch/>
          </p:blipFill>
          <p:spPr>
            <a:xfrm>
              <a:off x="11897357" y="2080826"/>
              <a:ext cx="2240281" cy="2240281"/>
            </a:xfrm>
            <a:prstGeom prst="rect">
              <a:avLst/>
            </a:prstGeom>
          </p:spPr>
        </p:pic>
        <p:sp>
          <p:nvSpPr>
            <p:cNvPr id="34" name="Text 11">
              <a:extLst>
                <a:ext uri="{FF2B5EF4-FFF2-40B4-BE49-F238E27FC236}">
                  <a16:creationId xmlns:a16="http://schemas.microsoft.com/office/drawing/2014/main" id="{EFF6CFE2-0CBE-9359-70F2-C9C47B755ED6}"/>
                </a:ext>
              </a:extLst>
            </p:cNvPr>
            <p:cNvSpPr/>
            <p:nvPr/>
          </p:nvSpPr>
          <p:spPr>
            <a:xfrm>
              <a:off x="11049000" y="3792547"/>
              <a:ext cx="3937000" cy="380999"/>
            </a:xfrm>
            <a:prstGeom prst="rect">
              <a:avLst/>
            </a:prstGeom>
            <a:noFill/>
            <a:ln/>
          </p:spPr>
          <p:txBody>
            <a:bodyPr wrap="none" lIns="0" tIns="0" rIns="0" bIns="0" rtlCol="0" anchor="ctr"/>
            <a:lstStyle/>
            <a:p>
              <a:pPr algn="ctr">
                <a:lnSpc>
                  <a:spcPct val="100000"/>
                </a:lnSpc>
              </a:pPr>
              <a:r>
                <a:rPr lang="en-US" sz="1000" b="1" dirty="0">
                  <a:solidFill>
                    <a:srgbClr val="1E3A5F"/>
                  </a:solidFill>
                  <a:latin typeface="+mj-lt"/>
                  <a:ea typeface="Liter" pitchFamily="34" charset="-122"/>
                  <a:cs typeface="Liter" pitchFamily="34" charset="-120"/>
                </a:rPr>
                <a:t>Monash IVF Group</a:t>
              </a:r>
              <a:endParaRPr lang="en-US" sz="1000" dirty="0">
                <a:latin typeface="+mj-lt"/>
              </a:endParaRPr>
            </a:p>
          </p:txBody>
        </p:sp>
        <p:sp>
          <p:nvSpPr>
            <p:cNvPr id="36" name="Text 13">
              <a:extLst>
                <a:ext uri="{FF2B5EF4-FFF2-40B4-BE49-F238E27FC236}">
                  <a16:creationId xmlns:a16="http://schemas.microsoft.com/office/drawing/2014/main" id="{A169F272-6B65-B9CE-5FA2-9EFB0C914412}"/>
                </a:ext>
              </a:extLst>
            </p:cNvPr>
            <p:cNvSpPr/>
            <p:nvPr/>
          </p:nvSpPr>
          <p:spPr>
            <a:xfrm>
              <a:off x="11049000" y="4470400"/>
              <a:ext cx="3937000" cy="304800"/>
            </a:xfrm>
            <a:prstGeom prst="rect">
              <a:avLst/>
            </a:prstGeom>
            <a:noFill/>
            <a:ln/>
          </p:spPr>
          <p:txBody>
            <a:bodyPr wrap="none" lIns="0" tIns="0" rIns="0" bIns="0" rtlCol="0" anchor="ctr"/>
            <a:lstStyle/>
            <a:p>
              <a:pPr algn="ctr">
                <a:lnSpc>
                  <a:spcPct val="100000"/>
                </a:lnSpc>
              </a:pPr>
              <a:endParaRPr lang="en-US" sz="1000" dirty="0">
                <a:latin typeface="+mj-lt"/>
              </a:endParaRPr>
            </a:p>
          </p:txBody>
        </p:sp>
      </p:grpSp>
      <p:pic>
        <p:nvPicPr>
          <p:cNvPr id="42" name="圖片 41">
            <a:extLst>
              <a:ext uri="{FF2B5EF4-FFF2-40B4-BE49-F238E27FC236}">
                <a16:creationId xmlns:a16="http://schemas.microsoft.com/office/drawing/2014/main" id="{116377E3-955C-D97C-4F52-C428F354772C}"/>
              </a:ext>
            </a:extLst>
          </p:cNvPr>
          <p:cNvPicPr>
            <a:picLocks noChangeAspect="1"/>
          </p:cNvPicPr>
          <p:nvPr/>
        </p:nvPicPr>
        <p:blipFill>
          <a:blip r:embed="rId5"/>
          <a:stretch>
            <a:fillRect/>
          </a:stretch>
        </p:blipFill>
        <p:spPr>
          <a:xfrm>
            <a:off x="2579736" y="1368062"/>
            <a:ext cx="1387120" cy="448219"/>
          </a:xfrm>
          <a:prstGeom prst="rect">
            <a:avLst/>
          </a:prstGeom>
        </p:spPr>
      </p:pic>
      <p:sp>
        <p:nvSpPr>
          <p:cNvPr id="4" name="Text Placeholder 1">
            <a:extLst>
              <a:ext uri="{FF2B5EF4-FFF2-40B4-BE49-F238E27FC236}">
                <a16:creationId xmlns:a16="http://schemas.microsoft.com/office/drawing/2014/main" id="{EE8A10B5-F4DB-B113-04ED-DB2DD1069680}"/>
              </a:ext>
            </a:extLst>
          </p:cNvPr>
          <p:cNvSpPr txBox="1">
            <a:spLocks/>
          </p:cNvSpPr>
          <p:nvPr/>
        </p:nvSpPr>
        <p:spPr>
          <a:xfrm>
            <a:off x="715669" y="5486578"/>
            <a:ext cx="7312423" cy="73866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en-US" sz="600" b="0" i="1" u="none" strike="noStrike" kern="1200" cap="none" spc="0" normalizeH="0" baseline="0" noProof="0">
                <a:ln>
                  <a:noFill/>
                </a:ln>
                <a:solidFill>
                  <a:schemeClr val="bg1">
                    <a:lumMod val="50000"/>
                  </a:schemeClr>
                </a:solidFill>
                <a:effectLst/>
                <a:uLnTx/>
                <a:uFillTx/>
                <a:latin typeface="+mn-lt"/>
                <a:ea typeface="+mn-ea"/>
                <a:cs typeface="+mn-cs"/>
              </a:defRPr>
            </a:lvl1pPr>
            <a:lvl2pPr marL="603647" indent="-232172" algn="l" rtl="0" eaLnBrk="0" fontAlgn="base" hangingPunct="0">
              <a:spcBef>
                <a:spcPct val="20000"/>
              </a:spcBef>
              <a:spcAft>
                <a:spcPct val="0"/>
              </a:spcAft>
              <a:buChar char="–"/>
              <a:defRPr sz="1300" kern="1200">
                <a:solidFill>
                  <a:schemeClr val="tx1"/>
                </a:solidFill>
                <a:latin typeface="+mn-lt"/>
                <a:ea typeface="+mn-ea"/>
                <a:cs typeface="+mn-cs"/>
              </a:defRPr>
            </a:lvl2pPr>
            <a:lvl3pPr marL="928688" indent="-185738" algn="l" rtl="0" eaLnBrk="0" fontAlgn="base" hangingPunct="0">
              <a:spcBef>
                <a:spcPct val="20000"/>
              </a:spcBef>
              <a:spcAft>
                <a:spcPct val="0"/>
              </a:spcAft>
              <a:buChar char="•"/>
              <a:defRPr sz="1300" kern="1200">
                <a:solidFill>
                  <a:schemeClr val="tx1"/>
                </a:solidFill>
                <a:latin typeface="+mn-lt"/>
                <a:ea typeface="+mn-ea"/>
                <a:cs typeface="+mn-cs"/>
              </a:defRPr>
            </a:lvl3pPr>
            <a:lvl4pPr marL="1300163" indent="-185738" algn="l" rtl="0" eaLnBrk="0" fontAlgn="base" hangingPunct="0">
              <a:spcBef>
                <a:spcPct val="20000"/>
              </a:spcBef>
              <a:spcAft>
                <a:spcPct val="0"/>
              </a:spcAft>
              <a:buChar char="–"/>
              <a:defRPr sz="1300" kern="1200">
                <a:solidFill>
                  <a:schemeClr val="tx1"/>
                </a:solidFill>
                <a:latin typeface="+mn-lt"/>
                <a:ea typeface="+mn-ea"/>
                <a:cs typeface="+mn-cs"/>
              </a:defRPr>
            </a:lvl4pPr>
            <a:lvl5pPr marL="1671638" indent="-185738" algn="l" rtl="0" eaLnBrk="0" fontAlgn="base" hangingPunct="0">
              <a:spcBef>
                <a:spcPct val="20000"/>
              </a:spcBef>
              <a:spcAft>
                <a:spcPct val="0"/>
              </a:spcAft>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Source:</a:t>
            </a:r>
          </a:p>
          <a:p>
            <a:pPr marR="0" lvl="0" algn="l" defTabSz="914400" rtl="0" eaLnBrk="1" fontAlgn="auto" latinLnBrk="0" hangingPunct="1">
              <a:lnSpc>
                <a:spcPct val="100000"/>
              </a:lnSpc>
              <a:spcBef>
                <a:spcPts val="0"/>
              </a:spcBef>
              <a:spcAft>
                <a:spcPts val="0"/>
              </a:spcAft>
              <a:buClrTx/>
              <a:buSzTx/>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1. City Fertility website</a:t>
            </a:r>
            <a:endParaRPr lang="en-US" dirty="0">
              <a:solidFill>
                <a:schemeClr val="tx1"/>
              </a:solidFill>
              <a:latin typeface="Arial" panose="020B0604020202020204"/>
            </a:endParaRPr>
          </a:p>
          <a:p>
            <a:pPr marR="0" lvl="0" algn="l" defTabSz="914400" rtl="0" eaLnBrk="1" fontAlgn="auto" latinLnBrk="0" hangingPunct="1">
              <a:lnSpc>
                <a:spcPct val="100000"/>
              </a:lnSpc>
              <a:spcBef>
                <a:spcPts val="0"/>
              </a:spcBef>
              <a:spcAft>
                <a:spcPts val="0"/>
              </a:spcAft>
              <a:buClrTx/>
              <a:buSzTx/>
              <a:tabLst/>
              <a:defRPr/>
            </a:pPr>
            <a:r>
              <a:rPr lang="en-US" dirty="0">
                <a:solidFill>
                  <a:schemeClr val="tx1"/>
                </a:solidFill>
              </a:rPr>
              <a:t>2.  </a:t>
            </a:r>
            <a:r>
              <a:rPr lang="en-US" dirty="0" err="1">
                <a:solidFill>
                  <a:schemeClr val="tx1"/>
                </a:solidFill>
              </a:rPr>
              <a:t>Jinxin</a:t>
            </a:r>
            <a:r>
              <a:rPr lang="en-US" dirty="0">
                <a:solidFill>
                  <a:schemeClr val="tx1"/>
                </a:solidFill>
              </a:rPr>
              <a:t> Fertility annual reports and website</a:t>
            </a:r>
          </a:p>
          <a:p>
            <a:pPr>
              <a:defRPr/>
            </a:pPr>
            <a:r>
              <a:rPr lang="en-US" dirty="0">
                <a:solidFill>
                  <a:schemeClr val="tx1"/>
                </a:solidFill>
              </a:rPr>
              <a:t>3.  Alpha IVF Group annual reports and website</a:t>
            </a:r>
          </a:p>
          <a:p>
            <a:pPr>
              <a:defRPr/>
            </a:pPr>
            <a:r>
              <a:rPr lang="en-US" dirty="0">
                <a:solidFill>
                  <a:schemeClr val="tx1"/>
                </a:solidFill>
              </a:rPr>
              <a:t>4. Monash IVF Group annual reports and website</a:t>
            </a:r>
          </a:p>
          <a:p>
            <a:pPr>
              <a:defRPr/>
            </a:pPr>
            <a:r>
              <a:rPr lang="en-US" dirty="0">
                <a:solidFill>
                  <a:schemeClr val="tx1"/>
                </a:solidFill>
              </a:rPr>
              <a:t>Note</a:t>
            </a:r>
          </a:p>
          <a:p>
            <a:pPr>
              <a:defRPr/>
            </a:pPr>
            <a:r>
              <a:rPr lang="en-US" dirty="0">
                <a:solidFill>
                  <a:schemeClr val="tx1"/>
                </a:solidFill>
              </a:rPr>
              <a:t>1. Births Per Complete Egg Retrieval Cycle per YourIVFSuccess, Australian government website</a:t>
            </a:r>
          </a:p>
          <a:p>
            <a:pPr marL="228600" lvl="0" indent="-228600">
              <a:buFontTx/>
              <a:buAutoNum type="arabicParenBoth"/>
              <a:defRPr/>
            </a:pPr>
            <a:endParaRPr kumimoji="0" lang="en-US" b="0" i="1"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5" name="Rectangle 56">
            <a:extLst>
              <a:ext uri="{FF2B5EF4-FFF2-40B4-BE49-F238E27FC236}">
                <a16:creationId xmlns:a16="http://schemas.microsoft.com/office/drawing/2014/main" id="{B3044BDC-DE6F-77C1-2623-6E8CA7CC3E05}"/>
              </a:ext>
            </a:extLst>
          </p:cNvPr>
          <p:cNvSpPr/>
          <p:nvPr/>
        </p:nvSpPr>
        <p:spPr>
          <a:xfrm>
            <a:off x="2417085" y="1137879"/>
            <a:ext cx="1663425" cy="4186215"/>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Arial" panose="020B0604020202020204" pitchFamily="34" charset="0"/>
              <a:cs typeface="Arial" panose="020B0604020202020204" pitchFamily="34" charset="0"/>
            </a:endParaRPr>
          </a:p>
        </p:txBody>
      </p:sp>
      <p:pic>
        <p:nvPicPr>
          <p:cNvPr id="7" name="Picture 2" descr="http://www.differencebetween.info/sites/default/files/images/2/award.jpg">
            <a:extLst>
              <a:ext uri="{FF2B5EF4-FFF2-40B4-BE49-F238E27FC236}">
                <a16:creationId xmlns:a16="http://schemas.microsoft.com/office/drawing/2014/main" id="{4CE9D266-0329-CB2A-0E89-25C61A07829A}"/>
              </a:ext>
            </a:extLst>
          </p:cNvPr>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3799421" y="2561513"/>
            <a:ext cx="161728" cy="219367"/>
          </a:xfrm>
          <a:prstGeom prst="rect">
            <a:avLst/>
          </a:prstGeom>
          <a:noFill/>
        </p:spPr>
      </p:pic>
      <p:pic>
        <p:nvPicPr>
          <p:cNvPr id="9" name="Picture 2" descr="http://www.differencebetween.info/sites/default/files/images/2/award.jpg">
            <a:extLst>
              <a:ext uri="{FF2B5EF4-FFF2-40B4-BE49-F238E27FC236}">
                <a16:creationId xmlns:a16="http://schemas.microsoft.com/office/drawing/2014/main" id="{C94AAEAF-664D-2BBD-2B29-D06D92D0A8AB}"/>
              </a:ext>
            </a:extLst>
          </p:cNvPr>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3799421" y="2911127"/>
            <a:ext cx="161728" cy="219367"/>
          </a:xfrm>
          <a:prstGeom prst="rect">
            <a:avLst/>
          </a:prstGeom>
          <a:noFill/>
        </p:spPr>
      </p:pic>
    </p:spTree>
    <p:extLst>
      <p:ext uri="{BB962C8B-B14F-4D97-AF65-F5344CB8AC3E}">
        <p14:creationId xmlns:p14="http://schemas.microsoft.com/office/powerpoint/2010/main" val="31097278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8CDF4-BA4F-BA85-5950-DEA951384D8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C160E89-F6B3-9F45-875E-C3B4A6563780}"/>
              </a:ext>
            </a:extLst>
          </p:cNvPr>
          <p:cNvSpPr>
            <a:spLocks noGrp="1"/>
          </p:cNvSpPr>
          <p:nvPr>
            <p:ph type="title"/>
          </p:nvPr>
        </p:nvSpPr>
        <p:spPr/>
        <p:txBody>
          <a:bodyPr/>
          <a:lstStyle/>
          <a:p>
            <a:r>
              <a:rPr lang="en-US" dirty="0"/>
              <a:t>Stem cell comparable companies</a:t>
            </a:r>
          </a:p>
        </p:txBody>
      </p:sp>
      <p:sp>
        <p:nvSpPr>
          <p:cNvPr id="3" name="投影片編號版面配置區 2">
            <a:extLst>
              <a:ext uri="{FF2B5EF4-FFF2-40B4-BE49-F238E27FC236}">
                <a16:creationId xmlns:a16="http://schemas.microsoft.com/office/drawing/2014/main" id="{F4E55A60-1259-5111-DF17-21597F8304B7}"/>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47</a:t>
            </a:fld>
            <a:endParaRPr lang="en-US" altLang="en-US" b="0" dirty="0">
              <a:solidFill>
                <a:srgbClr val="000000"/>
              </a:solidFill>
            </a:endParaRPr>
          </a:p>
        </p:txBody>
      </p:sp>
      <p:sp>
        <p:nvSpPr>
          <p:cNvPr id="4" name="Text Placeholder 1">
            <a:extLst>
              <a:ext uri="{FF2B5EF4-FFF2-40B4-BE49-F238E27FC236}">
                <a16:creationId xmlns:a16="http://schemas.microsoft.com/office/drawing/2014/main" id="{2FE12FB1-7511-5472-A3D9-E1C26FBF74E0}"/>
              </a:ext>
            </a:extLst>
          </p:cNvPr>
          <p:cNvSpPr txBox="1">
            <a:spLocks/>
          </p:cNvSpPr>
          <p:nvPr/>
        </p:nvSpPr>
        <p:spPr>
          <a:xfrm>
            <a:off x="735901" y="5954467"/>
            <a:ext cx="7312423"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en-US" sz="600" b="0" i="1" u="none" strike="noStrike" kern="1200" cap="none" spc="0" normalizeH="0" baseline="0" noProof="0">
                <a:ln>
                  <a:noFill/>
                </a:ln>
                <a:solidFill>
                  <a:schemeClr val="bg1">
                    <a:lumMod val="50000"/>
                  </a:schemeClr>
                </a:solidFill>
                <a:effectLst/>
                <a:uLnTx/>
                <a:uFillTx/>
                <a:latin typeface="+mn-lt"/>
                <a:ea typeface="+mn-ea"/>
                <a:cs typeface="+mn-cs"/>
              </a:defRPr>
            </a:lvl1pPr>
            <a:lvl2pPr marL="603647" indent="-232172" algn="l" rtl="0" eaLnBrk="0" fontAlgn="base" hangingPunct="0">
              <a:spcBef>
                <a:spcPct val="20000"/>
              </a:spcBef>
              <a:spcAft>
                <a:spcPct val="0"/>
              </a:spcAft>
              <a:buChar char="–"/>
              <a:defRPr sz="1300" kern="1200">
                <a:solidFill>
                  <a:schemeClr val="tx1"/>
                </a:solidFill>
                <a:latin typeface="+mn-lt"/>
                <a:ea typeface="+mn-ea"/>
                <a:cs typeface="+mn-cs"/>
              </a:defRPr>
            </a:lvl2pPr>
            <a:lvl3pPr marL="928688" indent="-185738" algn="l" rtl="0" eaLnBrk="0" fontAlgn="base" hangingPunct="0">
              <a:spcBef>
                <a:spcPct val="20000"/>
              </a:spcBef>
              <a:spcAft>
                <a:spcPct val="0"/>
              </a:spcAft>
              <a:buChar char="•"/>
              <a:defRPr sz="1300" kern="1200">
                <a:solidFill>
                  <a:schemeClr val="tx1"/>
                </a:solidFill>
                <a:latin typeface="+mn-lt"/>
                <a:ea typeface="+mn-ea"/>
                <a:cs typeface="+mn-cs"/>
              </a:defRPr>
            </a:lvl3pPr>
            <a:lvl4pPr marL="1300163" indent="-185738" algn="l" rtl="0" eaLnBrk="0" fontAlgn="base" hangingPunct="0">
              <a:spcBef>
                <a:spcPct val="20000"/>
              </a:spcBef>
              <a:spcAft>
                <a:spcPct val="0"/>
              </a:spcAft>
              <a:buChar char="–"/>
              <a:defRPr sz="1300" kern="1200">
                <a:solidFill>
                  <a:schemeClr val="tx1"/>
                </a:solidFill>
                <a:latin typeface="+mn-lt"/>
                <a:ea typeface="+mn-ea"/>
                <a:cs typeface="+mn-cs"/>
              </a:defRPr>
            </a:lvl4pPr>
            <a:lvl5pPr marL="1671638" indent="-185738" algn="l" rtl="0" eaLnBrk="0" fontAlgn="base" hangingPunct="0">
              <a:spcBef>
                <a:spcPct val="20000"/>
              </a:spcBef>
              <a:spcAft>
                <a:spcPct val="0"/>
              </a:spcAft>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Note:</a:t>
            </a:r>
          </a:p>
          <a:p>
            <a:pPr marR="0" lvl="0" algn="l" defTabSz="914400" rtl="0" eaLnBrk="1" fontAlgn="auto" latinLnBrk="0" hangingPunct="1">
              <a:lnSpc>
                <a:spcPct val="100000"/>
              </a:lnSpc>
              <a:spcBef>
                <a:spcPts val="0"/>
              </a:spcBef>
              <a:spcAft>
                <a:spcPts val="0"/>
              </a:spcAft>
              <a:buClrTx/>
              <a:buSzTx/>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(1)Source: Bloomberg, as of 6 </a:t>
            </a:r>
            <a:r>
              <a:rPr lang="en-US" dirty="0">
                <a:solidFill>
                  <a:schemeClr val="tx1"/>
                </a:solidFill>
                <a:latin typeface="Arial" panose="020B0604020202020204"/>
              </a:rPr>
              <a:t>May</a:t>
            </a: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 2026</a:t>
            </a:r>
          </a:p>
        </p:txBody>
      </p:sp>
      <p:graphicFrame>
        <p:nvGraphicFramePr>
          <p:cNvPr id="10" name="表格 9">
            <a:extLst>
              <a:ext uri="{FF2B5EF4-FFF2-40B4-BE49-F238E27FC236}">
                <a16:creationId xmlns:a16="http://schemas.microsoft.com/office/drawing/2014/main" id="{B6354D48-CB0B-253E-80E4-FD65B84404E6}"/>
              </a:ext>
            </a:extLst>
          </p:cNvPr>
          <p:cNvGraphicFramePr>
            <a:graphicFrameLocks noGrp="1"/>
          </p:cNvGraphicFramePr>
          <p:nvPr>
            <p:extLst>
              <p:ext uri="{D42A27DB-BD31-4B8C-83A1-F6EECF244321}">
                <p14:modId xmlns:p14="http://schemas.microsoft.com/office/powerpoint/2010/main" val="3732967640"/>
              </p:ext>
            </p:extLst>
          </p:nvPr>
        </p:nvGraphicFramePr>
        <p:xfrm>
          <a:off x="735901" y="1103964"/>
          <a:ext cx="8475297" cy="3848657"/>
        </p:xfrm>
        <a:graphic>
          <a:graphicData uri="http://schemas.openxmlformats.org/drawingml/2006/table">
            <a:tbl>
              <a:tblPr/>
              <a:tblGrid>
                <a:gridCol w="1315960">
                  <a:extLst>
                    <a:ext uri="{9D8B030D-6E8A-4147-A177-3AD203B41FA5}">
                      <a16:colId xmlns:a16="http://schemas.microsoft.com/office/drawing/2014/main" val="349567504"/>
                    </a:ext>
                  </a:extLst>
                </a:gridCol>
                <a:gridCol w="609231">
                  <a:extLst>
                    <a:ext uri="{9D8B030D-6E8A-4147-A177-3AD203B41FA5}">
                      <a16:colId xmlns:a16="http://schemas.microsoft.com/office/drawing/2014/main" val="3565086275"/>
                    </a:ext>
                  </a:extLst>
                </a:gridCol>
                <a:gridCol w="589560">
                  <a:extLst>
                    <a:ext uri="{9D8B030D-6E8A-4147-A177-3AD203B41FA5}">
                      <a16:colId xmlns:a16="http://schemas.microsoft.com/office/drawing/2014/main" val="4182578827"/>
                    </a:ext>
                  </a:extLst>
                </a:gridCol>
                <a:gridCol w="509939">
                  <a:extLst>
                    <a:ext uri="{9D8B030D-6E8A-4147-A177-3AD203B41FA5}">
                      <a16:colId xmlns:a16="http://schemas.microsoft.com/office/drawing/2014/main" val="1004001118"/>
                    </a:ext>
                  </a:extLst>
                </a:gridCol>
                <a:gridCol w="509939">
                  <a:extLst>
                    <a:ext uri="{9D8B030D-6E8A-4147-A177-3AD203B41FA5}">
                      <a16:colId xmlns:a16="http://schemas.microsoft.com/office/drawing/2014/main" val="4122174495"/>
                    </a:ext>
                  </a:extLst>
                </a:gridCol>
                <a:gridCol w="509939">
                  <a:extLst>
                    <a:ext uri="{9D8B030D-6E8A-4147-A177-3AD203B41FA5}">
                      <a16:colId xmlns:a16="http://schemas.microsoft.com/office/drawing/2014/main" val="2905617460"/>
                    </a:ext>
                  </a:extLst>
                </a:gridCol>
                <a:gridCol w="509939">
                  <a:extLst>
                    <a:ext uri="{9D8B030D-6E8A-4147-A177-3AD203B41FA5}">
                      <a16:colId xmlns:a16="http://schemas.microsoft.com/office/drawing/2014/main" val="4131731567"/>
                    </a:ext>
                  </a:extLst>
                </a:gridCol>
                <a:gridCol w="509939">
                  <a:extLst>
                    <a:ext uri="{9D8B030D-6E8A-4147-A177-3AD203B41FA5}">
                      <a16:colId xmlns:a16="http://schemas.microsoft.com/office/drawing/2014/main" val="1636942825"/>
                    </a:ext>
                  </a:extLst>
                </a:gridCol>
                <a:gridCol w="509939">
                  <a:extLst>
                    <a:ext uri="{9D8B030D-6E8A-4147-A177-3AD203B41FA5}">
                      <a16:colId xmlns:a16="http://schemas.microsoft.com/office/drawing/2014/main" val="643515757"/>
                    </a:ext>
                  </a:extLst>
                </a:gridCol>
                <a:gridCol w="509939">
                  <a:extLst>
                    <a:ext uri="{9D8B030D-6E8A-4147-A177-3AD203B41FA5}">
                      <a16:colId xmlns:a16="http://schemas.microsoft.com/office/drawing/2014/main" val="545852073"/>
                    </a:ext>
                  </a:extLst>
                </a:gridCol>
                <a:gridCol w="401587">
                  <a:extLst>
                    <a:ext uri="{9D8B030D-6E8A-4147-A177-3AD203B41FA5}">
                      <a16:colId xmlns:a16="http://schemas.microsoft.com/office/drawing/2014/main" val="596769677"/>
                    </a:ext>
                  </a:extLst>
                </a:gridCol>
                <a:gridCol w="284198">
                  <a:extLst>
                    <a:ext uri="{9D8B030D-6E8A-4147-A177-3AD203B41FA5}">
                      <a16:colId xmlns:a16="http://schemas.microsoft.com/office/drawing/2014/main" val="330771045"/>
                    </a:ext>
                  </a:extLst>
                </a:gridCol>
                <a:gridCol w="284198">
                  <a:extLst>
                    <a:ext uri="{9D8B030D-6E8A-4147-A177-3AD203B41FA5}">
                      <a16:colId xmlns:a16="http://schemas.microsoft.com/office/drawing/2014/main" val="1283231249"/>
                    </a:ext>
                  </a:extLst>
                </a:gridCol>
                <a:gridCol w="284198">
                  <a:extLst>
                    <a:ext uri="{9D8B030D-6E8A-4147-A177-3AD203B41FA5}">
                      <a16:colId xmlns:a16="http://schemas.microsoft.com/office/drawing/2014/main" val="1109843592"/>
                    </a:ext>
                  </a:extLst>
                </a:gridCol>
                <a:gridCol w="284198">
                  <a:extLst>
                    <a:ext uri="{9D8B030D-6E8A-4147-A177-3AD203B41FA5}">
                      <a16:colId xmlns:a16="http://schemas.microsoft.com/office/drawing/2014/main" val="698123572"/>
                    </a:ext>
                  </a:extLst>
                </a:gridCol>
                <a:gridCol w="284198">
                  <a:extLst>
                    <a:ext uri="{9D8B030D-6E8A-4147-A177-3AD203B41FA5}">
                      <a16:colId xmlns:a16="http://schemas.microsoft.com/office/drawing/2014/main" val="2779628006"/>
                    </a:ext>
                  </a:extLst>
                </a:gridCol>
                <a:gridCol w="284198">
                  <a:extLst>
                    <a:ext uri="{9D8B030D-6E8A-4147-A177-3AD203B41FA5}">
                      <a16:colId xmlns:a16="http://schemas.microsoft.com/office/drawing/2014/main" val="2790767179"/>
                    </a:ext>
                  </a:extLst>
                </a:gridCol>
                <a:gridCol w="284198">
                  <a:extLst>
                    <a:ext uri="{9D8B030D-6E8A-4147-A177-3AD203B41FA5}">
                      <a16:colId xmlns:a16="http://schemas.microsoft.com/office/drawing/2014/main" val="204702906"/>
                    </a:ext>
                  </a:extLst>
                </a:gridCol>
              </a:tblGrid>
              <a:tr h="170149">
                <a:tc rowSpan="3">
                  <a:txBody>
                    <a:bodyPr/>
                    <a:lstStyle/>
                    <a:p>
                      <a:pPr algn="ctr" fontAlgn="ctr">
                        <a:buNone/>
                      </a:pPr>
                      <a:r>
                        <a:rPr lang="en-US" sz="600" b="1" i="0" u="none" strike="noStrike" dirty="0">
                          <a:solidFill>
                            <a:srgbClr val="FFFFFF"/>
                          </a:solidFill>
                          <a:effectLst/>
                          <a:latin typeface="Aptos Narrow" panose="020B0004020202020204" pitchFamily="34" charset="0"/>
                        </a:rPr>
                        <a:t>Company Name</a:t>
                      </a:r>
                    </a:p>
                  </a:txBody>
                  <a:tcPr marL="0" marR="0" marT="0" marB="0" anchor="ctr">
                    <a:lnL>
                      <a:noFill/>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rowSpan="3">
                  <a:txBody>
                    <a:bodyPr/>
                    <a:lstStyle/>
                    <a:p>
                      <a:pPr algn="ctr" fontAlgn="ctr">
                        <a:buNone/>
                      </a:pPr>
                      <a:r>
                        <a:rPr lang="en-US" sz="600" b="1" i="0" u="none" strike="noStrike" dirty="0">
                          <a:solidFill>
                            <a:srgbClr val="FFFFFF"/>
                          </a:solidFill>
                          <a:effectLst/>
                          <a:latin typeface="Aptos Narrow" panose="020B0004020202020204" pitchFamily="34" charset="0"/>
                        </a:rPr>
                        <a:t>Stock Code</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rowSpan="3">
                  <a:txBody>
                    <a:bodyPr/>
                    <a:lstStyle/>
                    <a:p>
                      <a:pPr algn="ctr" fontAlgn="ctr">
                        <a:buNone/>
                      </a:pPr>
                      <a:r>
                        <a:rPr lang="en-US" sz="600" b="1" i="0" u="none" strike="noStrike" dirty="0">
                          <a:solidFill>
                            <a:srgbClr val="FFFFFF"/>
                          </a:solidFill>
                          <a:effectLst/>
                          <a:latin typeface="Aptos Narrow" panose="020B0004020202020204" pitchFamily="34" charset="0"/>
                        </a:rPr>
                        <a:t> </a:t>
                      </a:r>
                    </a:p>
                    <a:p>
                      <a:pPr algn="ctr" fontAlgn="ctr">
                        <a:buNone/>
                      </a:pPr>
                      <a:r>
                        <a:rPr lang="en-US" sz="600" b="1" i="0" u="none" strike="noStrike" dirty="0">
                          <a:solidFill>
                            <a:srgbClr val="FFFFFF"/>
                          </a:solidFill>
                          <a:effectLst/>
                          <a:latin typeface="Aptos Narrow" panose="020B0004020202020204" pitchFamily="34" charset="0"/>
                        </a:rPr>
                        <a:t>Exchange</a:t>
                      </a:r>
                    </a:p>
                    <a:p>
                      <a:pPr algn="l" fontAlgn="ctr">
                        <a:buNone/>
                      </a:pPr>
                      <a:r>
                        <a:rPr lang="en-US" sz="600" b="1" i="0" u="none" strike="noStrike" dirty="0">
                          <a:solidFill>
                            <a:srgbClr val="FFFFFF"/>
                          </a:solidFill>
                          <a:effectLst/>
                          <a:latin typeface="Aptos Narrow" panose="020B0004020202020204" pitchFamily="34" charset="0"/>
                        </a:rPr>
                        <a:t> </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800000"/>
                    </a:solidFill>
                  </a:tcPr>
                </a:tc>
                <a:tc gridSpan="7">
                  <a:txBody>
                    <a:bodyPr/>
                    <a:lstStyle/>
                    <a:p>
                      <a:pPr algn="ctr" fontAlgn="ctr">
                        <a:buNone/>
                      </a:pPr>
                      <a:r>
                        <a:rPr lang="en-US" sz="600" b="1" i="0" u="none" strike="noStrike" dirty="0">
                          <a:solidFill>
                            <a:srgbClr val="FFFFFF"/>
                          </a:solidFill>
                          <a:effectLst/>
                          <a:latin typeface="Aptos Narrow" panose="020B0004020202020204" pitchFamily="34" charset="0"/>
                        </a:rPr>
                        <a:t>Operating Data</a:t>
                      </a:r>
                    </a:p>
                  </a:txBody>
                  <a:tcPr marL="0" marR="0" marT="0" marB="0" anchor="ctr">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8">
                  <a:txBody>
                    <a:bodyPr/>
                    <a:lstStyle/>
                    <a:p>
                      <a:pPr algn="ctr" fontAlgn="ctr">
                        <a:buNone/>
                      </a:pPr>
                      <a:r>
                        <a:rPr lang="en-US" sz="600" b="1" i="0" u="none" strike="noStrike">
                          <a:solidFill>
                            <a:srgbClr val="FFFFFF"/>
                          </a:solidFill>
                          <a:effectLst/>
                          <a:latin typeface="Aptos Narrow" panose="020B0004020202020204" pitchFamily="34" charset="0"/>
                        </a:rPr>
                        <a:t>Valuation </a:t>
                      </a:r>
                    </a:p>
                  </a:txBody>
                  <a:tcPr marL="0" marR="0" marT="0" marB="0" anchor="ctr">
                    <a:lnL>
                      <a:noFill/>
                    </a:lnL>
                    <a:lnR>
                      <a:noFill/>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0140449"/>
                  </a:ext>
                </a:extLst>
              </a:tr>
              <a:tr h="170149">
                <a:tc vMerge="1">
                  <a:txBody>
                    <a:bodyPr/>
                    <a:lstStyle/>
                    <a:p>
                      <a:endParaRPr lang="en-US"/>
                    </a:p>
                  </a:txBody>
                  <a:tcPr/>
                </a:tc>
                <a:tc vMerge="1">
                  <a:txBody>
                    <a:bodyPr/>
                    <a:lstStyle/>
                    <a:p>
                      <a:endParaRPr lang="en-US"/>
                    </a:p>
                  </a:txBody>
                  <a:tcPr/>
                </a:tc>
                <a:tc vMerge="1">
                  <a:txBody>
                    <a:bodyPr/>
                    <a:lstStyle/>
                    <a:p>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0000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Market Capitalization (SGD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Revenue </a:t>
                      </a:r>
                    </a:p>
                    <a:p>
                      <a:pPr algn="ctr" fontAlgn="ctr">
                        <a:buNone/>
                      </a:pPr>
                      <a:r>
                        <a:rPr lang="en-US" sz="600" b="1" i="0" u="none" strike="noStrike" dirty="0">
                          <a:solidFill>
                            <a:srgbClr val="000000"/>
                          </a:solidFill>
                          <a:effectLst/>
                          <a:latin typeface="Aptos Narrow" panose="020B0004020202020204" pitchFamily="34" charset="0"/>
                        </a:rPr>
                        <a:t>(SGD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Net Profit </a:t>
                      </a:r>
                    </a:p>
                    <a:p>
                      <a:pPr algn="ctr" fontAlgn="ctr">
                        <a:buNone/>
                      </a:pPr>
                      <a:r>
                        <a:rPr lang="en-US" sz="600" b="1" i="0" u="none" strike="noStrike" dirty="0">
                          <a:solidFill>
                            <a:srgbClr val="000000"/>
                          </a:solidFill>
                          <a:effectLst/>
                          <a:latin typeface="Aptos Narrow" panose="020B0004020202020204" pitchFamily="34" charset="0"/>
                        </a:rPr>
                        <a:t>(SGD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EBITDA Margin</a:t>
                      </a:r>
                      <a:br>
                        <a:rPr lang="en-US" sz="600" b="1" i="0" u="none" strike="noStrike" dirty="0">
                          <a:solidFill>
                            <a:srgbClr val="000000"/>
                          </a:solidFill>
                          <a:effectLst/>
                          <a:latin typeface="Aptos Narrow" panose="020B0004020202020204" pitchFamily="34" charset="0"/>
                        </a:rPr>
                      </a:br>
                      <a:r>
                        <a:rPr lang="en-US" sz="600" b="1" i="0" u="none" strike="noStrike" dirty="0">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NP Margin </a:t>
                      </a:r>
                    </a:p>
                    <a:p>
                      <a:pPr algn="ctr" fontAlgn="ctr">
                        <a:buNone/>
                      </a:pPr>
                      <a:r>
                        <a:rPr lang="en-US" sz="600" b="1" i="0" u="none" strike="noStrike" dirty="0">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Revenue </a:t>
                      </a:r>
                    </a:p>
                    <a:p>
                      <a:pPr algn="ctr" fontAlgn="ctr">
                        <a:buNone/>
                      </a:pPr>
                      <a:r>
                        <a:rPr lang="en-US" sz="600" b="1" i="0" u="none" strike="noStrike" dirty="0">
                          <a:solidFill>
                            <a:srgbClr val="000000"/>
                          </a:solidFill>
                          <a:effectLst/>
                          <a:latin typeface="Aptos Narrow" panose="020B0004020202020204" pitchFamily="34" charset="0"/>
                        </a:rPr>
                        <a:t>Growth </a:t>
                      </a:r>
                    </a:p>
                    <a:p>
                      <a:pPr algn="ctr" fontAlgn="ctr">
                        <a:buNone/>
                      </a:pPr>
                      <a:r>
                        <a:rPr lang="en-US" sz="600" b="1" i="0" u="none" strike="noStrike" dirty="0">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600" b="1" i="0" u="none" strike="noStrike" dirty="0">
                          <a:solidFill>
                            <a:srgbClr val="000000"/>
                          </a:solidFill>
                          <a:effectLst/>
                          <a:latin typeface="Aptos Narrow" panose="020B0004020202020204" pitchFamily="34" charset="0"/>
                        </a:rPr>
                        <a:t>NP Growth </a:t>
                      </a:r>
                    </a:p>
                    <a:p>
                      <a:pPr algn="ctr" fontAlgn="ctr">
                        <a:buNone/>
                      </a:pPr>
                      <a:r>
                        <a:rPr lang="en-US" sz="600" b="1" i="0" u="none" strike="noStrike" dirty="0">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gridSpan="4">
                  <a:txBody>
                    <a:bodyPr/>
                    <a:lstStyle/>
                    <a:p>
                      <a:pPr algn="ctr" fontAlgn="ctr">
                        <a:buNone/>
                      </a:pPr>
                      <a:r>
                        <a:rPr lang="en-US" sz="600" b="1" i="0" u="none" strike="noStrike">
                          <a:solidFill>
                            <a:srgbClr val="FFFFFF"/>
                          </a:solidFill>
                          <a:effectLst/>
                          <a:latin typeface="Aptos Narrow" panose="020B0004020202020204" pitchFamily="34" charset="0"/>
                        </a:rPr>
                        <a:t>PE Ratio (x)</a:t>
                      </a:r>
                    </a:p>
                  </a:txBody>
                  <a:tcPr marL="0" marR="0" marT="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buNone/>
                      </a:pPr>
                      <a:r>
                        <a:rPr lang="en-US" sz="600" b="1" i="0" u="none" strike="noStrike">
                          <a:solidFill>
                            <a:srgbClr val="FFFFFF"/>
                          </a:solidFill>
                          <a:effectLst/>
                          <a:latin typeface="Aptos Narrow" panose="020B0004020202020204" pitchFamily="34" charset="0"/>
                        </a:rPr>
                        <a:t>PS Ratio (x)</a:t>
                      </a:r>
                    </a:p>
                  </a:txBody>
                  <a:tcPr marL="0" marR="0" marT="0" marB="0" anchor="ctr">
                    <a:lnL>
                      <a:noFill/>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11151097"/>
                  </a:ext>
                </a:extLst>
              </a:tr>
              <a:tr h="252479">
                <a:tc vMerge="1">
                  <a:txBody>
                    <a:bodyPr/>
                    <a:lstStyle/>
                    <a:p>
                      <a:endParaRPr lang="en-US"/>
                    </a:p>
                  </a:txBody>
                  <a:tcPr/>
                </a:tc>
                <a:tc vMerge="1">
                  <a:txBody>
                    <a:bodyPr/>
                    <a:lstStyle/>
                    <a:p>
                      <a:endParaRPr lang="en-US"/>
                    </a:p>
                  </a:txBody>
                  <a:tcPr/>
                </a:tc>
                <a:tc vMerge="1">
                  <a:txBody>
                    <a:bodyPr/>
                    <a:lstStyle/>
                    <a:p>
                      <a:endParaRPr dirty="0"/>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80000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600" b="1" i="0" u="none" strike="noStrike">
                          <a:solidFill>
                            <a:srgbClr val="000000"/>
                          </a:solidFill>
                          <a:effectLst/>
                          <a:latin typeface="Aptos Narrow" panose="020B0004020202020204" pitchFamily="34" charset="0"/>
                        </a:rPr>
                        <a:t>TTM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2026F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2027F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2028F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TTM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2026F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2027F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600" b="1" i="0" u="none" strike="noStrike">
                          <a:solidFill>
                            <a:srgbClr val="000000"/>
                          </a:solidFill>
                          <a:effectLst/>
                          <a:latin typeface="Aptos Narrow" panose="020B0004020202020204" pitchFamily="34" charset="0"/>
                        </a:rPr>
                        <a:t>2028F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extLst>
                  <a:ext uri="{0D108BD9-81ED-4DB2-BD59-A6C34878D82A}">
                    <a16:rowId xmlns:a16="http://schemas.microsoft.com/office/drawing/2014/main" val="1804762380"/>
                  </a:ext>
                </a:extLst>
              </a:tr>
              <a:tr h="279922">
                <a:tc>
                  <a:txBody>
                    <a:bodyPr/>
                    <a:lstStyle/>
                    <a:p>
                      <a:pPr algn="l" fontAlgn="ctr">
                        <a:buNone/>
                      </a:pPr>
                      <a:r>
                        <a:rPr lang="en-US" sz="600" b="1" i="0" u="none" strike="noStrike" dirty="0" err="1">
                          <a:solidFill>
                            <a:srgbClr val="000000"/>
                          </a:solidFill>
                          <a:effectLst/>
                          <a:latin typeface="Aptos Narrow" panose="020B0004020202020204" pitchFamily="34" charset="0"/>
                        </a:rPr>
                        <a:t>Vcanbio</a:t>
                      </a:r>
                      <a:r>
                        <a:rPr lang="en-US" sz="600" b="1" i="0" u="none" strike="noStrike" dirty="0">
                          <a:solidFill>
                            <a:srgbClr val="000000"/>
                          </a:solidFill>
                          <a:effectLst/>
                          <a:latin typeface="Aptos Narrow" panose="020B0004020202020204" pitchFamily="34" charset="0"/>
                        </a:rPr>
                        <a:t> Cell &amp; Gene </a:t>
                      </a:r>
                      <a:r>
                        <a:rPr lang="en-US" sz="600" b="1" i="0" u="none" strike="noStrike" dirty="0" err="1">
                          <a:solidFill>
                            <a:srgbClr val="000000"/>
                          </a:solidFill>
                          <a:effectLst/>
                          <a:latin typeface="Aptos Narrow" panose="020B0004020202020204" pitchFamily="34" charset="0"/>
                        </a:rPr>
                        <a:t>Engineerin</a:t>
                      </a:r>
                      <a:endParaRPr lang="en-US" sz="600" b="1"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600645 CH Equity</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Shanghai</a:t>
                      </a:r>
                    </a:p>
                  </a:txBody>
                  <a:tcPr marL="0" marR="0" marT="0" marB="0" anchor="ctr">
                    <a:lnL>
                      <a:noFill/>
                    </a:lnL>
                    <a:lnR>
                      <a:noFill/>
                    </a:lnR>
                    <a:lnT>
                      <a:noFill/>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2,261</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264</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21</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18.7%</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7.9%</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-8.2%</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8.0</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extLst>
                  <a:ext uri="{0D108BD9-81ED-4DB2-BD59-A6C34878D82A}">
                    <a16:rowId xmlns:a16="http://schemas.microsoft.com/office/drawing/2014/main" val="437884392"/>
                  </a:ext>
                </a:extLst>
              </a:tr>
              <a:tr h="279922">
                <a:tc>
                  <a:txBody>
                    <a:bodyPr/>
                    <a:lstStyle/>
                    <a:p>
                      <a:pPr algn="l" fontAlgn="ctr">
                        <a:buNone/>
                      </a:pPr>
                      <a:r>
                        <a:rPr lang="en-US" sz="600" b="1" i="0" u="none" strike="noStrike" dirty="0" err="1">
                          <a:solidFill>
                            <a:srgbClr val="000000"/>
                          </a:solidFill>
                          <a:effectLst/>
                          <a:latin typeface="Aptos Narrow" panose="020B0004020202020204" pitchFamily="34" charset="0"/>
                        </a:rPr>
                        <a:t>Pharmicell</a:t>
                      </a:r>
                      <a:r>
                        <a:rPr lang="en-US" sz="600" b="1" i="0" u="none" strike="noStrike" dirty="0">
                          <a:solidFill>
                            <a:srgbClr val="000000"/>
                          </a:solidFill>
                          <a:effectLst/>
                          <a:latin typeface="Aptos Narrow" panose="020B0004020202020204" pitchFamily="34" charset="0"/>
                        </a:rPr>
                        <a:t> Co Ltd</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005690 KP Equity</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a:solidFill>
                            <a:srgbClr val="000000"/>
                          </a:solidFill>
                          <a:effectLst/>
                          <a:latin typeface="Aptos Narrow" panose="020B0004020202020204" pitchFamily="34" charset="0"/>
                        </a:rPr>
                        <a:t>Korea SE</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928</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105</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37</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32.7%</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35.3%</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75.9%</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25.0</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9.4</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extLst>
                  <a:ext uri="{0D108BD9-81ED-4DB2-BD59-A6C34878D82A}">
                    <a16:rowId xmlns:a16="http://schemas.microsoft.com/office/drawing/2014/main" val="527076565"/>
                  </a:ext>
                </a:extLst>
              </a:tr>
              <a:tr h="279922">
                <a:tc>
                  <a:txBody>
                    <a:bodyPr/>
                    <a:lstStyle/>
                    <a:p>
                      <a:pPr algn="l" fontAlgn="ctr">
                        <a:buNone/>
                      </a:pPr>
                      <a:r>
                        <a:rPr lang="en-US" sz="600" b="1" i="0" u="none" strike="noStrike" dirty="0">
                          <a:solidFill>
                            <a:srgbClr val="000000"/>
                          </a:solidFill>
                          <a:effectLst/>
                          <a:latin typeface="Aptos Narrow" panose="020B0004020202020204" pitchFamily="34" charset="0"/>
                        </a:rPr>
                        <a:t>TMC Life Sciences </a:t>
                      </a:r>
                      <a:r>
                        <a:rPr lang="en-US" sz="600" b="1" i="0" u="none" strike="noStrike" dirty="0" err="1">
                          <a:solidFill>
                            <a:srgbClr val="000000"/>
                          </a:solidFill>
                          <a:effectLst/>
                          <a:latin typeface="Aptos Narrow" panose="020B0004020202020204" pitchFamily="34" charset="0"/>
                        </a:rPr>
                        <a:t>Bhd</a:t>
                      </a:r>
                      <a:endParaRPr lang="en-US" sz="600" b="1" i="0" u="none" strike="noStrike" dirty="0">
                        <a:solidFill>
                          <a:srgbClr val="000000"/>
                        </a:solidFill>
                        <a:effectLst/>
                        <a:latin typeface="Aptos Narrow" panose="020B0004020202020204" pitchFamily="34" charset="0"/>
                      </a:endParaRP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TMCL MK Equity</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a:solidFill>
                            <a:srgbClr val="000000"/>
                          </a:solidFill>
                          <a:effectLst/>
                          <a:latin typeface="Aptos Narrow" panose="020B0004020202020204" pitchFamily="34" charset="0"/>
                        </a:rPr>
                        <a:t>Bursa Malays</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281</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104</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13.4%</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-0.3%</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-91.1%</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2.2</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39083526"/>
                  </a:ext>
                </a:extLst>
              </a:tr>
              <a:tr h="279922">
                <a:tc>
                  <a:txBody>
                    <a:bodyPr/>
                    <a:lstStyle/>
                    <a:p>
                      <a:pPr algn="l" fontAlgn="ctr">
                        <a:buNone/>
                      </a:pPr>
                      <a:r>
                        <a:rPr lang="en-US" sz="600" b="1" i="0" u="none" strike="noStrike" dirty="0" err="1">
                          <a:solidFill>
                            <a:srgbClr val="000000"/>
                          </a:solidFill>
                          <a:effectLst/>
                          <a:latin typeface="Aptos Narrow" panose="020B0004020202020204" pitchFamily="34" charset="0"/>
                        </a:rPr>
                        <a:t>Medeze</a:t>
                      </a:r>
                      <a:r>
                        <a:rPr lang="en-US" sz="600" b="1" i="0" u="none" strike="noStrike" dirty="0">
                          <a:solidFill>
                            <a:srgbClr val="000000"/>
                          </a:solidFill>
                          <a:effectLst/>
                          <a:latin typeface="Aptos Narrow" panose="020B0004020202020204" pitchFamily="34" charset="0"/>
                        </a:rPr>
                        <a:t> Group PCL</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MEDEZE TB Equity</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Bangkok</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255</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30</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33.2%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26.4%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32.6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18.5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12.4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7.6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52602459"/>
                  </a:ext>
                </a:extLst>
              </a:tr>
              <a:tr h="279922">
                <a:tc>
                  <a:txBody>
                    <a:bodyPr/>
                    <a:lstStyle/>
                    <a:p>
                      <a:pPr algn="l" fontAlgn="ctr">
                        <a:buNone/>
                      </a:pPr>
                      <a:r>
                        <a:rPr lang="en-US" sz="600" b="1" i="0" u="none" strike="noStrike" dirty="0" err="1">
                          <a:solidFill>
                            <a:srgbClr val="000000"/>
                          </a:solidFill>
                          <a:effectLst/>
                          <a:latin typeface="Aptos Narrow" panose="020B0004020202020204" pitchFamily="34" charset="0"/>
                        </a:rPr>
                        <a:t>FamiCord</a:t>
                      </a:r>
                      <a:r>
                        <a:rPr lang="en-US" sz="600" b="1" i="0" u="none" strike="noStrike" dirty="0">
                          <a:solidFill>
                            <a:srgbClr val="000000"/>
                          </a:solidFill>
                          <a:effectLst/>
                          <a:latin typeface="Aptos Narrow" panose="020B0004020202020204" pitchFamily="34" charset="0"/>
                        </a:rPr>
                        <a:t> AG</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V3V GR Equity</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a:solidFill>
                            <a:srgbClr val="000000"/>
                          </a:solidFill>
                          <a:effectLst/>
                          <a:latin typeface="Aptos Narrow" panose="020B0004020202020204" pitchFamily="34" charset="0"/>
                        </a:rPr>
                        <a:t>Xetra</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116</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6.6%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146.7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62.9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0.9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0.9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0.9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96235201"/>
                  </a:ext>
                </a:extLst>
              </a:tr>
              <a:tr h="279922">
                <a:tc>
                  <a:txBody>
                    <a:bodyPr/>
                    <a:lstStyle/>
                    <a:p>
                      <a:pPr algn="l" fontAlgn="ctr">
                        <a:buNone/>
                      </a:pPr>
                      <a:r>
                        <a:rPr lang="en-US" sz="600" b="1" i="0" u="none" strike="noStrike" dirty="0" err="1">
                          <a:solidFill>
                            <a:srgbClr val="000000"/>
                          </a:solidFill>
                          <a:effectLst/>
                          <a:latin typeface="Aptos Narrow" panose="020B0004020202020204" pitchFamily="34" charset="0"/>
                        </a:rPr>
                        <a:t>StemCell</a:t>
                      </a:r>
                      <a:r>
                        <a:rPr lang="en-US" sz="600" b="1" i="0" u="none" strike="noStrike" dirty="0">
                          <a:solidFill>
                            <a:srgbClr val="000000"/>
                          </a:solidFill>
                          <a:effectLst/>
                          <a:latin typeface="Aptos Narrow" panose="020B0004020202020204" pitchFamily="34" charset="0"/>
                        </a:rPr>
                        <a:t> Institute</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7096 JT Equity</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Tokyo</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61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20.4%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8.0%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24.1%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18.0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41.7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37.5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sngStrike" dirty="0">
                          <a:solidFill>
                            <a:srgbClr val="000000"/>
                          </a:solidFill>
                          <a:effectLst/>
                          <a:latin typeface="Aptos Narrow" panose="020B0004020202020204" pitchFamily="34" charset="0"/>
                        </a:rPr>
                        <a:t>23.5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25595238"/>
                  </a:ext>
                </a:extLst>
              </a:tr>
              <a:tr h="279922">
                <a:tc>
                  <a:txBody>
                    <a:bodyPr/>
                    <a:lstStyle/>
                    <a:p>
                      <a:pPr algn="l" fontAlgn="ctr">
                        <a:buNone/>
                      </a:pPr>
                      <a:r>
                        <a:rPr lang="en-US" sz="600" b="1" i="0" u="none" strike="noStrike" dirty="0" err="1">
                          <a:solidFill>
                            <a:srgbClr val="000000"/>
                          </a:solidFill>
                          <a:effectLst/>
                          <a:latin typeface="Aptos Narrow" panose="020B0004020202020204" pitchFamily="34" charset="0"/>
                        </a:rPr>
                        <a:t>Cordlife</a:t>
                      </a:r>
                      <a:r>
                        <a:rPr lang="en-US" sz="600" b="1" i="0" u="none" strike="noStrike" dirty="0">
                          <a:solidFill>
                            <a:srgbClr val="000000"/>
                          </a:solidFill>
                          <a:effectLst/>
                          <a:latin typeface="Aptos Narrow" panose="020B0004020202020204" pitchFamily="34" charset="0"/>
                        </a:rPr>
                        <a:t> Group Ltd</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a:solidFill>
                            <a:srgbClr val="000000"/>
                          </a:solidFill>
                          <a:effectLst/>
                          <a:latin typeface="Aptos Narrow" panose="020B0004020202020204" pitchFamily="34" charset="0"/>
                        </a:rPr>
                        <a:t>CLGL SP Equity</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a:solidFill>
                            <a:srgbClr val="000000"/>
                          </a:solidFill>
                          <a:effectLst/>
                          <a:latin typeface="Aptos Narrow" panose="020B0004020202020204" pitchFamily="34" charset="0"/>
                        </a:rPr>
                        <a:t>Singapore</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-25.7%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-32.5%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40.5%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33.1%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63977069"/>
                  </a:ext>
                </a:extLst>
              </a:tr>
              <a:tr h="279922">
                <a:tc>
                  <a:txBody>
                    <a:bodyPr/>
                    <a:lstStyle/>
                    <a:p>
                      <a:pPr algn="l" fontAlgn="ctr">
                        <a:buNone/>
                      </a:pPr>
                      <a:r>
                        <a:rPr lang="en-US" sz="600" b="1" i="0" u="none" strike="noStrike" dirty="0">
                          <a:solidFill>
                            <a:srgbClr val="000000"/>
                          </a:solidFill>
                          <a:effectLst/>
                          <a:latin typeface="Aptos Narrow" panose="020B0004020202020204" pitchFamily="34" charset="0"/>
                        </a:rPr>
                        <a:t>Cryo-Cell International Inc</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a:solidFill>
                            <a:srgbClr val="000000"/>
                          </a:solidFill>
                          <a:effectLst/>
                          <a:latin typeface="Aptos Narrow" panose="020B0004020202020204" pitchFamily="34" charset="0"/>
                        </a:rPr>
                        <a:t>CCEL US Equity</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a:solidFill>
                            <a:srgbClr val="000000"/>
                          </a:solidFill>
                          <a:effectLst/>
                          <a:latin typeface="Aptos Narrow" panose="020B0004020202020204" pitchFamily="34" charset="0"/>
                        </a:rPr>
                        <a:t>NYSEAmerican</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-7.7%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32.0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176.0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0.9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63706751"/>
                  </a:ext>
                </a:extLst>
              </a:tr>
              <a:tr h="279922">
                <a:tc>
                  <a:txBody>
                    <a:bodyPr/>
                    <a:lstStyle/>
                    <a:p>
                      <a:pPr algn="l" fontAlgn="ctr">
                        <a:buNone/>
                      </a:pPr>
                      <a:r>
                        <a:rPr lang="en-US" sz="600" b="1" i="0" u="none" strike="noStrike" dirty="0" err="1">
                          <a:solidFill>
                            <a:srgbClr val="000000"/>
                          </a:solidFill>
                          <a:effectLst/>
                          <a:latin typeface="Aptos Narrow" panose="020B0004020202020204" pitchFamily="34" charset="0"/>
                        </a:rPr>
                        <a:t>Celularity</a:t>
                      </a:r>
                      <a:r>
                        <a:rPr lang="en-US" sz="600" b="1" i="0" u="none" strike="noStrike" dirty="0">
                          <a:solidFill>
                            <a:srgbClr val="000000"/>
                          </a:solidFill>
                          <a:effectLst/>
                          <a:latin typeface="Aptos Narrow" panose="020B0004020202020204" pitchFamily="34" charset="0"/>
                        </a:rPr>
                        <a:t> Inc</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a:solidFill>
                            <a:srgbClr val="000000"/>
                          </a:solidFill>
                          <a:effectLst/>
                          <a:latin typeface="Aptos Narrow" panose="020B0004020202020204" pitchFamily="34" charset="0"/>
                        </a:rPr>
                        <a:t>CELU US Equity</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NASDAQ CM</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-120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-48.9%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138.1%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70.5%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0.5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996761901"/>
                  </a:ext>
                </a:extLst>
              </a:tr>
              <a:tr h="279922">
                <a:tc>
                  <a:txBody>
                    <a:bodyPr/>
                    <a:lstStyle/>
                    <a:p>
                      <a:pPr algn="l" fontAlgn="ctr">
                        <a:buNone/>
                      </a:pPr>
                      <a:r>
                        <a:rPr lang="en-US" sz="600" b="1" i="0" u="none" strike="noStrike" dirty="0" err="1">
                          <a:solidFill>
                            <a:srgbClr val="000000"/>
                          </a:solidFill>
                          <a:effectLst/>
                          <a:latin typeface="Aptos Narrow" panose="020B0004020202020204" pitchFamily="34" charset="0"/>
                        </a:rPr>
                        <a:t>NextCell</a:t>
                      </a:r>
                      <a:r>
                        <a:rPr lang="en-US" sz="600" b="1" i="0" u="none" strike="noStrike" dirty="0">
                          <a:solidFill>
                            <a:srgbClr val="000000"/>
                          </a:solidFill>
                          <a:effectLst/>
                          <a:latin typeface="Aptos Narrow" panose="020B0004020202020204" pitchFamily="34" charset="0"/>
                        </a:rPr>
                        <a:t> Pharma AB</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NXTCL SS Equity</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l" fontAlgn="ctr">
                        <a:buNone/>
                      </a:pPr>
                      <a:r>
                        <a:rPr lang="en-US" sz="600" b="0" i="0" u="none" strike="noStrike" dirty="0">
                          <a:solidFill>
                            <a:srgbClr val="000000"/>
                          </a:solidFill>
                          <a:effectLst/>
                          <a:latin typeface="Aptos Narrow" panose="020B0004020202020204" pitchFamily="34" charset="0"/>
                        </a:rPr>
                        <a:t>FN Stockholm</a:t>
                      </a:r>
                    </a:p>
                  </a:txBody>
                  <a:tcPr marL="0" marR="0" marT="0" marB="0" anchor="ctr">
                    <a:lnL>
                      <a:noFill/>
                    </a:lnL>
                    <a:lnR>
                      <a:noFill/>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n.m.</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16.2%</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-4.4</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8.3</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10.4</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8.7</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extLst>
                  <a:ext uri="{0D108BD9-81ED-4DB2-BD59-A6C34878D82A}">
                    <a16:rowId xmlns:a16="http://schemas.microsoft.com/office/drawing/2014/main" val="11858941"/>
                  </a:ext>
                </a:extLst>
              </a:tr>
              <a:tr h="114165">
                <a:tc>
                  <a:txBody>
                    <a:bodyPr/>
                    <a:lstStyle/>
                    <a:p>
                      <a:pPr algn="l" fontAlgn="ctr">
                        <a:buNone/>
                      </a:pPr>
                      <a:endParaRPr lang="en-US" sz="600" b="1"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l" fontAlgn="b">
                        <a:buNone/>
                      </a:pPr>
                      <a:endParaRPr lang="en-US" sz="600" b="0" i="0" u="none" strike="noStrike" dirty="0">
                        <a:solidFill>
                          <a:srgbClr val="000000"/>
                        </a:solidFill>
                        <a:effectLst/>
                        <a:latin typeface="Aptos Narrow" panose="020B0004020202020204" pitchFamily="34" charset="0"/>
                      </a:endParaRPr>
                    </a:p>
                  </a:txBody>
                  <a:tcPr marL="0" marR="0" marT="0" marB="0" anchor="b">
                    <a:lnL>
                      <a:noFill/>
                    </a:lnL>
                    <a:lnR>
                      <a:noFill/>
                    </a:lnR>
                    <a:lnT w="12700" cap="flat" cmpd="sng" algn="ctr">
                      <a:solidFill>
                        <a:schemeClr val="bg2"/>
                      </a:solidFill>
                      <a:prstDash val="sysDot"/>
                      <a:round/>
                      <a:headEnd type="none" w="med" len="med"/>
                      <a:tailEnd type="none" w="med" len="med"/>
                    </a:lnT>
                    <a:lnB>
                      <a:noFill/>
                    </a:lnB>
                    <a:noFill/>
                  </a:tcPr>
                </a:tc>
                <a:tc>
                  <a:txBody>
                    <a:bodyPr/>
                    <a:lstStyle/>
                    <a:p>
                      <a:pPr algn="l" fontAlgn="b">
                        <a:buNone/>
                      </a:pPr>
                      <a:endParaRPr lang="en-US" sz="600" b="0" i="0" u="none" strike="noStrike" dirty="0">
                        <a:solidFill>
                          <a:srgbClr val="000000"/>
                        </a:solidFill>
                        <a:effectLst/>
                        <a:latin typeface="Aptos Narrow" panose="020B0004020202020204" pitchFamily="34" charset="0"/>
                      </a:endParaRPr>
                    </a:p>
                  </a:txBody>
                  <a:tcPr marL="0" marR="0" marT="0" marB="0" anchor="b">
                    <a:lnL>
                      <a:noFill/>
                    </a:lnL>
                    <a:lnR>
                      <a:noFill/>
                    </a:lnR>
                    <a:lnT w="12700" cap="flat" cmpd="sng" algn="ctr">
                      <a:solidFill>
                        <a:schemeClr val="bg2"/>
                      </a:solidFill>
                      <a:prstDash val="sysDot"/>
                      <a:round/>
                      <a:headEnd type="none" w="med" len="med"/>
                      <a:tailEnd type="none" w="med" len="med"/>
                    </a:lnT>
                    <a:lnB>
                      <a:noFill/>
                    </a:lnB>
                    <a:noFill/>
                  </a:tcPr>
                </a:tc>
                <a:tc>
                  <a:txBody>
                    <a:bodyPr/>
                    <a:lstStyle/>
                    <a:p>
                      <a:pPr algn="ctr" fontAlgn="ctr">
                        <a:buNone/>
                      </a:pPr>
                      <a:endParaRPr lang="en-US" sz="6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l"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w="12700" cap="flat" cmpd="sng" algn="ctr">
                      <a:solidFill>
                        <a:schemeClr val="bg2"/>
                      </a:solidFill>
                      <a:prstDash val="sysDot"/>
                      <a:round/>
                      <a:headEnd type="none" w="med" len="med"/>
                      <a:tailEnd type="none" w="med" len="med"/>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w="12700" cap="flat" cmpd="sng" algn="ctr">
                      <a:solidFill>
                        <a:schemeClr val="bg2"/>
                      </a:solidFill>
                      <a:prstDash val="sysDot"/>
                      <a:round/>
                      <a:headEnd type="none" w="med" len="med"/>
                      <a:tailEnd type="none" w="med" len="med"/>
                    </a:lnT>
                    <a:lnB>
                      <a:noFill/>
                    </a:lnB>
                    <a:noFill/>
                  </a:tcPr>
                </a:tc>
                <a:tc>
                  <a:txBody>
                    <a:bodyPr/>
                    <a:lstStyle/>
                    <a:p>
                      <a:pPr algn="l"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w="12700" cap="flat" cmpd="sng" algn="ctr">
                      <a:solidFill>
                        <a:schemeClr val="bg2"/>
                      </a:solidFill>
                      <a:prstDash val="sysDot"/>
                      <a:round/>
                      <a:headEnd type="none" w="med" len="med"/>
                      <a:tailEnd type="none" w="med" len="med"/>
                    </a:lnT>
                    <a:lnB>
                      <a:noFill/>
                    </a:lnB>
                    <a:noFill/>
                  </a:tcPr>
                </a:tc>
                <a:tc>
                  <a:txBody>
                    <a:bodyPr/>
                    <a:lstStyle/>
                    <a:p>
                      <a:pPr algn="l" fontAlgn="ctr">
                        <a:buNone/>
                      </a:pPr>
                      <a:endParaRPr lang="en-US" sz="500" b="0" i="0" u="none" strike="noStrike" dirty="0">
                        <a:solidFill>
                          <a:srgbClr val="000000"/>
                        </a:solidFill>
                        <a:effectLst/>
                        <a:latin typeface="Aptos Narrow" panose="020B0004020202020204" pitchFamily="34" charset="0"/>
                      </a:endParaRPr>
                    </a:p>
                  </a:txBody>
                  <a:tcPr marL="0" marR="0" marT="0" marB="0" anchor="ctr">
                    <a:lnL>
                      <a:noFill/>
                    </a:lnL>
                    <a:lnR w="12700" cap="flat" cmpd="sng" algn="ctr">
                      <a:solidFill>
                        <a:schemeClr val="bg2"/>
                      </a:solidFill>
                      <a:prstDash val="sysDot"/>
                      <a:round/>
                      <a:headEnd type="none" w="med" len="med"/>
                      <a:tailEnd type="none" w="med" len="med"/>
                    </a:lnR>
                    <a:lnT w="6350" cap="flat" cmpd="sng" algn="ctr">
                      <a:solidFill>
                        <a:srgbClr val="000000"/>
                      </a:solidFill>
                      <a:prstDash val="dot"/>
                      <a:round/>
                      <a:headEnd type="none" w="med" len="med"/>
                      <a:tailEnd type="none" w="med" len="med"/>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Max</a:t>
                      </a:r>
                    </a:p>
                  </a:txBody>
                  <a:tcPr marL="0" marR="0" marT="0" marB="0" anchor="ctr">
                    <a:lnL w="12700" cap="flat" cmpd="sng" algn="ctr">
                      <a:solidFill>
                        <a:schemeClr val="bg2"/>
                      </a:solidFill>
                      <a:prstDash val="sysDot"/>
                      <a:round/>
                      <a:headEnd type="none" w="med" len="med"/>
                      <a:tailEnd type="none" w="med" len="med"/>
                    </a:lnL>
                    <a:lnR>
                      <a:noFill/>
                    </a:lnR>
                    <a:lnT w="12700" cap="flat" cmpd="sng" algn="ctr">
                      <a:solidFill>
                        <a:schemeClr val="bg2"/>
                      </a:solidFill>
                      <a:prstDash val="sysDot"/>
                      <a:round/>
                      <a:headEnd type="none" w="med" len="med"/>
                      <a:tailEnd type="none" w="med" len="med"/>
                    </a:lnT>
                    <a:lnB>
                      <a:noFill/>
                    </a:lnB>
                    <a:solidFill>
                      <a:srgbClr val="D9D9D9"/>
                    </a:solid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32.6</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146.7</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176.0</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kumimoji="0" lang="en-US" sz="600" b="0" i="0" u="none" strike="noStrike" kern="1200" cap="none" spc="0" normalizeH="0" baseline="0" noProof="0">
                          <a:ln>
                            <a:noFill/>
                          </a:ln>
                          <a:solidFill>
                            <a:srgbClr val="000000"/>
                          </a:solidFill>
                          <a:effectLst/>
                          <a:uLnTx/>
                          <a:uFillTx/>
                          <a:latin typeface="Aptos Narrow" panose="020B0004020202020204" pitchFamily="34" charset="0"/>
                          <a:ea typeface="STKaiti"/>
                          <a:cs typeface="+mn-cs"/>
                        </a:rPr>
                        <a:t>8.4</a:t>
                      </a:r>
                      <a:endParaRPr lang="en-US" sz="600" b="0" i="0" u="none" strike="noStrike" dirty="0">
                        <a:solidFill>
                          <a:srgbClr val="000000"/>
                        </a:solidFill>
                        <a:effectLst/>
                        <a:latin typeface="Aptos Narrow" panose="020B0004020202020204" pitchFamily="34" charset="0"/>
                      </a:endParaRP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9.4</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10.4</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8.7</a:t>
                      </a:r>
                    </a:p>
                  </a:txBody>
                  <a:tcPr marL="0" marR="0" marT="0" marB="0" anchor="ctr">
                    <a:lnL>
                      <a:noFill/>
                    </a:lnL>
                    <a:lnR>
                      <a:noFill/>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4.1</a:t>
                      </a:r>
                    </a:p>
                  </a:txBody>
                  <a:tcPr marL="0" marR="0" marT="0" marB="0" anchor="ctr">
                    <a:lnL>
                      <a:noFill/>
                    </a:lnL>
                    <a:lnR w="12700" cap="flat" cmpd="sng" algn="ctr">
                      <a:solidFill>
                        <a:schemeClr val="bg2"/>
                      </a:solidFill>
                      <a:prstDash val="sysDot"/>
                      <a:round/>
                      <a:headEnd type="none" w="med" len="med"/>
                      <a:tailEnd type="none" w="med" len="med"/>
                    </a:lnR>
                    <a:lnT w="12700" cap="flat" cmpd="sng" algn="ctr">
                      <a:solidFill>
                        <a:schemeClr val="bg2"/>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501051846"/>
                  </a:ext>
                </a:extLst>
              </a:tr>
              <a:tr h="114165">
                <a:tc>
                  <a:txBody>
                    <a:bodyPr/>
                    <a:lstStyle/>
                    <a:p>
                      <a:pPr algn="l" fontAlgn="ctr">
                        <a:buNone/>
                      </a:pPr>
                      <a:endParaRPr lang="en-US" sz="6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dirty="0">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500" b="0" i="0" u="none" strike="noStrike" dirty="0">
                        <a:solidFill>
                          <a:srgbClr val="000000"/>
                        </a:solidFill>
                        <a:effectLst/>
                        <a:latin typeface="Aptos Narrow" panose="020B0004020202020204" pitchFamily="34" charset="0"/>
                      </a:endParaRPr>
                    </a:p>
                  </a:txBody>
                  <a:tcPr marL="0" marR="0" marT="0" marB="0" anchor="ctr">
                    <a:lnL>
                      <a:noFill/>
                    </a:lnL>
                    <a:lnR w="12700" cap="flat" cmpd="sng" algn="ctr">
                      <a:solidFill>
                        <a:schemeClr val="bg2"/>
                      </a:solidFill>
                      <a:prstDash val="sysDot"/>
                      <a:round/>
                      <a:headEnd type="none" w="med" len="med"/>
                      <a:tailEnd type="none" w="med" len="med"/>
                    </a:lnR>
                    <a:lnT>
                      <a:noFill/>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Median</a:t>
                      </a:r>
                    </a:p>
                  </a:txBody>
                  <a:tcPr marL="0" marR="0" marT="0" marB="0" anchor="ctr">
                    <a:lnL w="12700" cap="flat" cmpd="sng" algn="ctr">
                      <a:solidFill>
                        <a:schemeClr val="bg2"/>
                      </a:solidFill>
                      <a:prstDash val="sysDot"/>
                      <a:round/>
                      <a:headEnd type="none" w="med" len="med"/>
                      <a:tailEnd type="none" w="med" len="med"/>
                    </a:lnL>
                    <a:lnR>
                      <a:noFill/>
                    </a:lnR>
                    <a:lnT>
                      <a:noFill/>
                    </a:lnT>
                    <a:lnB>
                      <a:noFill/>
                    </a:lnB>
                    <a:solidFill>
                      <a:srgbClr val="D9D9D9"/>
                    </a:solid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21.5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36.8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50.2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kumimoji="0" lang="en-US" sz="600" b="0" i="0" u="none" strike="noStrike" kern="1200" cap="none" spc="0" normalizeH="0" baseline="0" noProof="0">
                          <a:ln>
                            <a:noFill/>
                          </a:ln>
                          <a:solidFill>
                            <a:srgbClr val="000000"/>
                          </a:solidFill>
                          <a:effectLst/>
                          <a:uLnTx/>
                          <a:uFillTx/>
                          <a:latin typeface="Aptos Narrow" panose="020B0004020202020204" pitchFamily="34" charset="0"/>
                          <a:ea typeface="STKaiti"/>
                          <a:cs typeface="+mn-cs"/>
                        </a:rPr>
                        <a:t>8.4</a:t>
                      </a:r>
                      <a:endParaRPr lang="en-US" sz="6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2.0</a:t>
                      </a:r>
                    </a:p>
                  </a:txBody>
                  <a:tcPr marL="0" marR="0" marT="0" marB="0" anchor="ctr">
                    <a:lnL>
                      <a:noFill/>
                    </a:lnL>
                    <a:lnR w="12700" cap="flat" cmpd="sng" algn="ctr">
                      <a:solidFill>
                        <a:schemeClr val="bg2"/>
                      </a:solid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344752978"/>
                  </a:ext>
                </a:extLst>
              </a:tr>
              <a:tr h="114165">
                <a:tc>
                  <a:txBody>
                    <a:bodyPr/>
                    <a:lstStyle/>
                    <a:p>
                      <a:pPr algn="l" fontAlgn="ctr">
                        <a:buNone/>
                      </a:pPr>
                      <a:endParaRPr lang="en-US" sz="6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dirty="0">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500" b="0" i="0" u="none" strike="noStrike" dirty="0">
                        <a:solidFill>
                          <a:srgbClr val="000000"/>
                        </a:solidFill>
                        <a:effectLst/>
                        <a:latin typeface="Aptos Narrow" panose="020B0004020202020204" pitchFamily="34" charset="0"/>
                      </a:endParaRPr>
                    </a:p>
                  </a:txBody>
                  <a:tcPr marL="0" marR="0" marT="0" marB="0" anchor="ctr">
                    <a:lnL>
                      <a:noFill/>
                    </a:lnL>
                    <a:lnR w="12700" cap="flat" cmpd="sng" algn="ctr">
                      <a:solidFill>
                        <a:schemeClr val="bg2"/>
                      </a:solidFill>
                      <a:prstDash val="sysDot"/>
                      <a:round/>
                      <a:headEnd type="none" w="med" len="med"/>
                      <a:tailEnd type="none" w="med" len="med"/>
                    </a:lnR>
                    <a:lnT>
                      <a:noFill/>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Mean</a:t>
                      </a:r>
                    </a:p>
                  </a:txBody>
                  <a:tcPr marL="0" marR="0" marT="0" marB="0" anchor="ctr">
                    <a:lnL w="12700" cap="flat" cmpd="sng" algn="ctr">
                      <a:solidFill>
                        <a:schemeClr val="bg2"/>
                      </a:solidFill>
                      <a:prstDash val="sysDot"/>
                      <a:round/>
                      <a:headEnd type="none" w="med" len="med"/>
                      <a:tailEnd type="none" w="med" len="med"/>
                    </a:lnL>
                    <a:lnR>
                      <a:noFill/>
                    </a:lnR>
                    <a:lnT>
                      <a:noFill/>
                    </a:lnT>
                    <a:lnB>
                      <a:noFill/>
                    </a:lnB>
                    <a:solidFill>
                      <a:srgbClr val="D9D9D9"/>
                    </a:solid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17.8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59.7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72.2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kumimoji="0" lang="en-US" sz="600" b="0" i="0" u="none" strike="noStrike" kern="1200" cap="none" spc="0" normalizeH="0" baseline="0" noProof="0">
                          <a:ln>
                            <a:noFill/>
                          </a:ln>
                          <a:solidFill>
                            <a:srgbClr val="000000"/>
                          </a:solidFill>
                          <a:effectLst/>
                          <a:uLnTx/>
                          <a:uFillTx/>
                          <a:latin typeface="Aptos Narrow" panose="020B0004020202020204" pitchFamily="34" charset="0"/>
                          <a:ea typeface="STKaiti"/>
                          <a:cs typeface="+mn-cs"/>
                        </a:rPr>
                        <a:t>8.4</a:t>
                      </a:r>
                      <a:endParaRPr lang="en-US" sz="6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4.3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5.4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3.7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600" b="0" i="0" u="none" strike="noStrike">
                          <a:solidFill>
                            <a:srgbClr val="000000"/>
                          </a:solidFill>
                          <a:effectLst/>
                          <a:latin typeface="Aptos Narrow" panose="020B0004020202020204" pitchFamily="34" charset="0"/>
                        </a:rPr>
                        <a:t>2.3</a:t>
                      </a:r>
                    </a:p>
                  </a:txBody>
                  <a:tcPr marL="0" marR="0" marT="0" marB="0" anchor="ctr">
                    <a:lnL>
                      <a:noFill/>
                    </a:lnL>
                    <a:lnR w="12700" cap="flat" cmpd="sng" algn="ctr">
                      <a:solidFill>
                        <a:schemeClr val="bg2"/>
                      </a:solid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17760712"/>
                  </a:ext>
                </a:extLst>
              </a:tr>
              <a:tr h="114165">
                <a:tc>
                  <a:txBody>
                    <a:bodyPr/>
                    <a:lstStyle/>
                    <a:p>
                      <a:pPr algn="l" fontAlgn="ctr">
                        <a:buNone/>
                      </a:pPr>
                      <a:endParaRPr lang="en-US" sz="6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600" b="0" i="0" u="none" strike="noStrike">
                        <a:solidFill>
                          <a:srgbClr val="000000"/>
                        </a:solidFill>
                        <a:effectLst/>
                        <a:latin typeface="Aptos"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dirty="0">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6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l" fontAlgn="ctr">
                        <a:buNone/>
                      </a:pPr>
                      <a:endParaRPr lang="en-US" sz="500" b="0" i="0" u="none" strike="noStrike">
                        <a:solidFill>
                          <a:srgbClr val="000000"/>
                        </a:solidFill>
                        <a:effectLst/>
                        <a:latin typeface="Aptos Narrow" panose="020B0004020202020204" pitchFamily="34" charset="0"/>
                      </a:endParaRPr>
                    </a:p>
                  </a:txBody>
                  <a:tcPr marL="0" marR="0" marT="0" marB="0" anchor="ctr">
                    <a:lnL>
                      <a:noFill/>
                    </a:lnL>
                    <a:lnR w="12700" cap="flat" cmpd="sng" algn="ctr">
                      <a:solidFill>
                        <a:schemeClr val="bg2"/>
                      </a:solidFill>
                      <a:prstDash val="sysDot"/>
                      <a:round/>
                      <a:headEnd type="none" w="med" len="med"/>
                      <a:tailEnd type="none" w="med" len="med"/>
                    </a:lnR>
                    <a:lnT>
                      <a:noFill/>
                    </a:lnT>
                    <a:lnB>
                      <a:noFill/>
                    </a:lnB>
                    <a:noFill/>
                  </a:tcPr>
                </a:tc>
                <a:tc>
                  <a:txBody>
                    <a:bodyPr/>
                    <a:lstStyle/>
                    <a:p>
                      <a:pPr algn="ctr" rtl="0" fontAlgn="ctr">
                        <a:buNone/>
                      </a:pPr>
                      <a:r>
                        <a:rPr lang="en-US" sz="600" b="0" i="0" u="none" strike="noStrike" dirty="0">
                          <a:solidFill>
                            <a:srgbClr val="000000"/>
                          </a:solidFill>
                          <a:effectLst/>
                          <a:latin typeface="Aptos Narrow" panose="020B0004020202020204" pitchFamily="34" charset="0"/>
                        </a:rPr>
                        <a:t>Min</a:t>
                      </a:r>
                    </a:p>
                  </a:txBody>
                  <a:tcPr marL="0" marR="0" marT="0" marB="0" anchor="ctr">
                    <a:lnL w="12700" cap="flat" cmpd="sng" algn="ctr">
                      <a:solidFill>
                        <a:schemeClr val="bg2"/>
                      </a:solidFill>
                      <a:prstDash val="sysDot"/>
                      <a:round/>
                      <a:headEnd type="none" w="med" len="med"/>
                      <a:tailEnd type="none" w="med" len="med"/>
                    </a:lnL>
                    <a:lnR>
                      <a:noFill/>
                    </a:lnR>
                    <a:lnT>
                      <a:noFill/>
                    </a:lnT>
                    <a:lnB w="12700" cap="flat" cmpd="sng" algn="ctr">
                      <a:solidFill>
                        <a:schemeClr val="bg2"/>
                      </a:solidFill>
                      <a:prstDash val="sysDot"/>
                      <a:round/>
                      <a:headEnd type="none" w="med" len="med"/>
                      <a:tailEnd type="none" w="med" len="med"/>
                    </a:lnB>
                    <a:solidFill>
                      <a:srgbClr val="D9D9D9"/>
                    </a:solidFill>
                  </a:tcPr>
                </a:tc>
                <a:tc>
                  <a:txBody>
                    <a:bodyPr/>
                    <a:lstStyle/>
                    <a:p>
                      <a:pPr marL="0" algn="ctr" defTabSz="914400" rtl="0" eaLnBrk="1" fontAlgn="ctr" latinLnBrk="0" hangingPunct="1">
                        <a:buNone/>
                      </a:pPr>
                      <a:r>
                        <a:rPr lang="en-US" sz="600" b="0" i="0" u="none" strike="noStrike" kern="1200" dirty="0">
                          <a:solidFill>
                            <a:srgbClr val="000000"/>
                          </a:solidFill>
                          <a:effectLst/>
                          <a:latin typeface="Aptos Narrow" panose="020B0004020202020204" pitchFamily="34" charset="0"/>
                          <a:ea typeface="+mn-ea"/>
                          <a:cs typeface="+mn-cs"/>
                        </a:rPr>
                        <a:t>-4.4</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18.5</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12.4</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kumimoji="0" lang="en-US" sz="600" b="0" i="0" u="none" strike="noStrike" kern="1200" cap="none" spc="0" normalizeH="0" baseline="0" noProof="0" dirty="0">
                          <a:ln>
                            <a:noFill/>
                          </a:ln>
                          <a:solidFill>
                            <a:srgbClr val="000000"/>
                          </a:solidFill>
                          <a:effectLst/>
                          <a:uLnTx/>
                          <a:uFillTx/>
                          <a:latin typeface="Aptos Narrow" panose="020B0004020202020204" pitchFamily="34" charset="0"/>
                          <a:ea typeface="STKaiti"/>
                          <a:cs typeface="+mn-cs"/>
                        </a:rPr>
                        <a:t>8.4</a:t>
                      </a:r>
                      <a:endParaRPr lang="en-US" sz="6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0.5</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0.9</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0.9</a:t>
                      </a:r>
                    </a:p>
                  </a:txBody>
                  <a:tcPr marL="0" marR="0" marT="0" marB="0" anchor="ctr">
                    <a:lnL>
                      <a:noFill/>
                    </a:lnL>
                    <a:lnR>
                      <a:noFill/>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0.8</a:t>
                      </a:r>
                    </a:p>
                  </a:txBody>
                  <a:tcPr marL="0" marR="0" marT="0" marB="0" anchor="ctr">
                    <a:lnL>
                      <a:noFill/>
                    </a:lnL>
                    <a:lnR w="12700" cap="flat" cmpd="sng" algn="ctr">
                      <a:solidFill>
                        <a:schemeClr val="bg2"/>
                      </a:solidFill>
                      <a:prstDash val="sysDot"/>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bg2"/>
                      </a:solidFill>
                      <a:prstDash val="sysDot"/>
                      <a:round/>
                      <a:headEnd type="none" w="med" len="med"/>
                      <a:tailEnd type="none" w="med" len="med"/>
                    </a:lnB>
                    <a:noFill/>
                  </a:tcPr>
                </a:tc>
                <a:extLst>
                  <a:ext uri="{0D108BD9-81ED-4DB2-BD59-A6C34878D82A}">
                    <a16:rowId xmlns:a16="http://schemas.microsoft.com/office/drawing/2014/main" val="831196795"/>
                  </a:ext>
                </a:extLst>
              </a:tr>
            </a:tbl>
          </a:graphicData>
        </a:graphic>
      </p:graphicFrame>
    </p:spTree>
    <p:extLst>
      <p:ext uri="{BB962C8B-B14F-4D97-AF65-F5344CB8AC3E}">
        <p14:creationId xmlns:p14="http://schemas.microsoft.com/office/powerpoint/2010/main" val="59800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054B6-7E6C-4CC1-EDF3-F0038DACBB6C}"/>
            </a:ext>
          </a:extLst>
        </p:cNvPr>
        <p:cNvGrpSpPr/>
        <p:nvPr/>
      </p:nvGrpSpPr>
      <p:grpSpPr>
        <a:xfrm>
          <a:off x="0" y="0"/>
          <a:ext cx="0" cy="0"/>
          <a:chOff x="0" y="0"/>
          <a:chExt cx="0" cy="0"/>
        </a:xfrm>
      </p:grpSpPr>
      <p:graphicFrame>
        <p:nvGraphicFramePr>
          <p:cNvPr id="67" name="圖表 66">
            <a:extLst>
              <a:ext uri="{FF2B5EF4-FFF2-40B4-BE49-F238E27FC236}">
                <a16:creationId xmlns:a16="http://schemas.microsoft.com/office/drawing/2014/main" id="{D2A7D41A-9626-DC3C-D6D4-42140FAAC523}"/>
              </a:ext>
            </a:extLst>
          </p:cNvPr>
          <p:cNvGraphicFramePr/>
          <p:nvPr>
            <p:extLst>
              <p:ext uri="{D42A27DB-BD31-4B8C-83A1-F6EECF244321}">
                <p14:modId xmlns:p14="http://schemas.microsoft.com/office/powerpoint/2010/main" val="877657373"/>
              </p:ext>
            </p:extLst>
          </p:nvPr>
        </p:nvGraphicFramePr>
        <p:xfrm>
          <a:off x="955566" y="1429746"/>
          <a:ext cx="8267625" cy="4402667"/>
        </p:xfrm>
        <a:graphic>
          <a:graphicData uri="http://schemas.openxmlformats.org/drawingml/2006/chart">
            <c:chart xmlns:c="http://schemas.openxmlformats.org/drawingml/2006/chart" xmlns:r="http://schemas.openxmlformats.org/officeDocument/2006/relationships" r:id="rId3"/>
          </a:graphicData>
        </a:graphic>
      </p:graphicFrame>
      <p:sp>
        <p:nvSpPr>
          <p:cNvPr id="62" name="Rectangle 56">
            <a:extLst>
              <a:ext uri="{FF2B5EF4-FFF2-40B4-BE49-F238E27FC236}">
                <a16:creationId xmlns:a16="http://schemas.microsoft.com/office/drawing/2014/main" id="{28ACAB3D-34B3-AFEF-6A1C-0E242B42D2D4}"/>
              </a:ext>
            </a:extLst>
          </p:cNvPr>
          <p:cNvSpPr/>
          <p:nvPr/>
        </p:nvSpPr>
        <p:spPr>
          <a:xfrm>
            <a:off x="6250956" y="2730974"/>
            <a:ext cx="88884" cy="982866"/>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Arial" panose="020B0604020202020204" pitchFamily="34" charset="0"/>
              <a:cs typeface="Arial" panose="020B0604020202020204" pitchFamily="34" charset="0"/>
            </a:endParaRPr>
          </a:p>
        </p:txBody>
      </p:sp>
      <p:graphicFrame>
        <p:nvGraphicFramePr>
          <p:cNvPr id="65" name="圖表 64">
            <a:extLst>
              <a:ext uri="{FF2B5EF4-FFF2-40B4-BE49-F238E27FC236}">
                <a16:creationId xmlns:a16="http://schemas.microsoft.com/office/drawing/2014/main" id="{E3926B80-014F-641D-49FD-A61496FF69F4}"/>
              </a:ext>
            </a:extLst>
          </p:cNvPr>
          <p:cNvGraphicFramePr/>
          <p:nvPr>
            <p:extLst>
              <p:ext uri="{D42A27DB-BD31-4B8C-83A1-F6EECF244321}">
                <p14:modId xmlns:p14="http://schemas.microsoft.com/office/powerpoint/2010/main" val="2589022184"/>
              </p:ext>
            </p:extLst>
          </p:nvPr>
        </p:nvGraphicFramePr>
        <p:xfrm>
          <a:off x="-565415" y="1604614"/>
          <a:ext cx="6604000" cy="4402667"/>
        </p:xfrm>
        <a:graphic>
          <a:graphicData uri="http://schemas.openxmlformats.org/drawingml/2006/chart">
            <c:chart xmlns:c="http://schemas.openxmlformats.org/drawingml/2006/chart" xmlns:r="http://schemas.openxmlformats.org/officeDocument/2006/relationships" r:id="rId4"/>
          </a:graphicData>
        </a:graphic>
      </p:graphicFrame>
      <p:sp>
        <p:nvSpPr>
          <p:cNvPr id="10" name="Title 9">
            <a:extLst>
              <a:ext uri="{FF2B5EF4-FFF2-40B4-BE49-F238E27FC236}">
                <a16:creationId xmlns:a16="http://schemas.microsoft.com/office/drawing/2014/main" id="{CDC17E2C-1600-AFAD-88CC-0BF68B14E72E}"/>
              </a:ext>
            </a:extLst>
          </p:cNvPr>
          <p:cNvSpPr>
            <a:spLocks noGrp="1"/>
          </p:cNvSpPr>
          <p:nvPr>
            <p:ph type="title"/>
          </p:nvPr>
        </p:nvSpPr>
        <p:spPr>
          <a:xfrm>
            <a:off x="717153" y="381000"/>
            <a:ext cx="8494051" cy="577850"/>
          </a:xfrm>
        </p:spPr>
        <p:txBody>
          <a:bodyPr/>
          <a:lstStyle/>
          <a:p>
            <a:r>
              <a:rPr lang="en-US" sz="2000" dirty="0"/>
              <a:t>Indicative Valuation Analysis </a:t>
            </a:r>
          </a:p>
        </p:txBody>
      </p:sp>
      <p:sp>
        <p:nvSpPr>
          <p:cNvPr id="3" name="Text Placeholder 1">
            <a:extLst>
              <a:ext uri="{FF2B5EF4-FFF2-40B4-BE49-F238E27FC236}">
                <a16:creationId xmlns:a16="http://schemas.microsoft.com/office/drawing/2014/main" id="{AD3D581E-87BA-D5BE-A030-6E3D3F2D7BA9}"/>
              </a:ext>
            </a:extLst>
          </p:cNvPr>
          <p:cNvSpPr txBox="1">
            <a:spLocks/>
          </p:cNvSpPr>
          <p:nvPr/>
        </p:nvSpPr>
        <p:spPr>
          <a:xfrm>
            <a:off x="734785" y="6207097"/>
            <a:ext cx="7312423" cy="276999"/>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en-US" sz="600" b="0" i="1" u="none" strike="noStrike" kern="1200" cap="none" spc="0" normalizeH="0" baseline="0" noProof="0">
                <a:ln>
                  <a:noFill/>
                </a:ln>
                <a:solidFill>
                  <a:schemeClr val="bg1">
                    <a:lumMod val="50000"/>
                  </a:schemeClr>
                </a:solidFill>
                <a:effectLst/>
                <a:uLnTx/>
                <a:uFillTx/>
                <a:latin typeface="+mn-lt"/>
                <a:ea typeface="+mn-ea"/>
                <a:cs typeface="+mn-cs"/>
              </a:defRPr>
            </a:lvl1pPr>
            <a:lvl2pPr marL="603647" indent="-232172" algn="l" rtl="0" eaLnBrk="0" fontAlgn="base" hangingPunct="0">
              <a:spcBef>
                <a:spcPct val="20000"/>
              </a:spcBef>
              <a:spcAft>
                <a:spcPct val="0"/>
              </a:spcAft>
              <a:buChar char="–"/>
              <a:defRPr sz="1300" kern="1200">
                <a:solidFill>
                  <a:schemeClr val="tx1"/>
                </a:solidFill>
                <a:latin typeface="+mn-lt"/>
                <a:ea typeface="+mn-ea"/>
                <a:cs typeface="+mn-cs"/>
              </a:defRPr>
            </a:lvl2pPr>
            <a:lvl3pPr marL="928688" indent="-185738" algn="l" rtl="0" eaLnBrk="0" fontAlgn="base" hangingPunct="0">
              <a:spcBef>
                <a:spcPct val="20000"/>
              </a:spcBef>
              <a:spcAft>
                <a:spcPct val="0"/>
              </a:spcAft>
              <a:buChar char="•"/>
              <a:defRPr sz="1300" kern="1200">
                <a:solidFill>
                  <a:schemeClr val="tx1"/>
                </a:solidFill>
                <a:latin typeface="+mn-lt"/>
                <a:ea typeface="+mn-ea"/>
                <a:cs typeface="+mn-cs"/>
              </a:defRPr>
            </a:lvl3pPr>
            <a:lvl4pPr marL="1300163" indent="-185738" algn="l" rtl="0" eaLnBrk="0" fontAlgn="base" hangingPunct="0">
              <a:spcBef>
                <a:spcPct val="20000"/>
              </a:spcBef>
              <a:spcAft>
                <a:spcPct val="0"/>
              </a:spcAft>
              <a:buChar char="–"/>
              <a:defRPr sz="1300" kern="1200">
                <a:solidFill>
                  <a:schemeClr val="tx1"/>
                </a:solidFill>
                <a:latin typeface="+mn-lt"/>
                <a:ea typeface="+mn-ea"/>
                <a:cs typeface="+mn-cs"/>
              </a:defRPr>
            </a:lvl4pPr>
            <a:lvl5pPr marL="1671638" indent="-185738" algn="l" rtl="0" eaLnBrk="0" fontAlgn="base" hangingPunct="0">
              <a:spcBef>
                <a:spcPct val="20000"/>
              </a:spcBef>
              <a:spcAft>
                <a:spcPct val="0"/>
              </a:spcAft>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Note:</a:t>
            </a:r>
          </a:p>
          <a:p>
            <a:pPr marR="0" lvl="0" algn="l" defTabSz="914400" rtl="0" eaLnBrk="1" fontAlgn="auto" latinLnBrk="0" hangingPunct="1">
              <a:lnSpc>
                <a:spcPct val="100000"/>
              </a:lnSpc>
              <a:spcBef>
                <a:spcPts val="0"/>
              </a:spcBef>
              <a:spcAft>
                <a:spcPts val="0"/>
              </a:spcAft>
              <a:buClrTx/>
              <a:buSzTx/>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(1) Source: Bloomberg, as of </a:t>
            </a:r>
            <a:r>
              <a:rPr lang="en-US" dirty="0">
                <a:solidFill>
                  <a:schemeClr val="tx1"/>
                </a:solidFill>
                <a:latin typeface="Arial" panose="020B0604020202020204"/>
              </a:rPr>
              <a:t>6</a:t>
            </a: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 May 2026</a:t>
            </a:r>
          </a:p>
          <a:p>
            <a:pPr marR="0" lvl="0" algn="l" defTabSz="914400" rtl="0" eaLnBrk="1" fontAlgn="auto" latinLnBrk="0" hangingPunct="1">
              <a:lnSpc>
                <a:spcPct val="100000"/>
              </a:lnSpc>
              <a:spcBef>
                <a:spcPts val="0"/>
              </a:spcBef>
              <a:spcAft>
                <a:spcPts val="0"/>
              </a:spcAft>
              <a:buClrTx/>
              <a:buSzTx/>
              <a:tabLst/>
              <a:defRPr/>
            </a:pPr>
            <a:r>
              <a:rPr kumimoji="0" lang="en-US" b="0" i="1" u="none" strike="noStrike" kern="1200" cap="none" spc="0" normalizeH="0" baseline="0" noProof="0" dirty="0">
                <a:ln>
                  <a:noFill/>
                </a:ln>
                <a:solidFill>
                  <a:schemeClr val="tx1"/>
                </a:solidFill>
                <a:effectLst/>
                <a:uLnTx/>
                <a:uFillTx/>
                <a:latin typeface="Arial" panose="020B0604020202020204"/>
                <a:ea typeface="+mn-ea"/>
                <a:cs typeface="+mn-cs"/>
              </a:rPr>
              <a:t>(2) % of net debt allocation was reference to comparable companies average net debt to equity’s position</a:t>
            </a:r>
          </a:p>
        </p:txBody>
      </p:sp>
      <p:sp>
        <p:nvSpPr>
          <p:cNvPr id="12" name="Text Box 2589">
            <a:extLst>
              <a:ext uri="{FF2B5EF4-FFF2-40B4-BE49-F238E27FC236}">
                <a16:creationId xmlns:a16="http://schemas.microsoft.com/office/drawing/2014/main" id="{5993F40F-71F8-9490-770B-84EEED4CB525}"/>
              </a:ext>
            </a:extLst>
          </p:cNvPr>
          <p:cNvSpPr txBox="1">
            <a:spLocks noChangeArrowheads="1"/>
          </p:cNvSpPr>
          <p:nvPr/>
        </p:nvSpPr>
        <p:spPr bwMode="gray">
          <a:xfrm>
            <a:off x="716427" y="1030546"/>
            <a:ext cx="8494776" cy="862958"/>
          </a:xfrm>
          <a:prstGeom prst="rect">
            <a:avLst/>
          </a:prstGeom>
          <a:solidFill>
            <a:srgbClr val="FEBFB3"/>
          </a:solidFill>
          <a:ln w="9525" cap="flat" cmpd="sng" algn="ctr">
            <a:noFill/>
            <a:prstDash val="solid"/>
            <a:headEnd/>
            <a:tailEnd/>
          </a:ln>
          <a:effectLst>
            <a:outerShdw blurRad="50800" dist="38100" dir="2700000" algn="tl" rotWithShape="0">
              <a:prstClr val="black">
                <a:alpha val="40000"/>
              </a:prstClr>
            </a:outerShdw>
          </a:effectLst>
        </p:spPr>
        <p:txBody>
          <a:bodyPr wrap="square" lIns="84406" tIns="84406" rIns="84406" bIns="84406" anchor="t" anchorCtr="0">
            <a:spAutoFit/>
          </a:bodyPr>
          <a:lstStyle>
            <a:defPPr>
              <a:defRPr lang="en-US"/>
            </a:defPPr>
            <a:lvl1pPr marL="227013" indent="-227013" eaLnBrk="0" hangingPunct="0">
              <a:spcAft>
                <a:spcPts val="400"/>
              </a:spcAft>
              <a:buClr>
                <a:srgbClr val="BE050A"/>
              </a:buClr>
              <a:buFont typeface="Wingdings" pitchFamily="2" charset="2"/>
              <a:buChar char="n"/>
              <a:tabLst>
                <a:tab pos="1371600" algn="l"/>
              </a:tabLst>
              <a:defRPr sz="1100" kern="0">
                <a:solidFill>
                  <a:sysClr val="windowText" lastClr="000000"/>
                </a:solidFill>
                <a:latin typeface="+mj-lt"/>
                <a:ea typeface="+mj-ea"/>
              </a:defRPr>
            </a:lvl1pPr>
          </a:lstStyle>
          <a:p>
            <a:pPr algn="just">
              <a:spcAft>
                <a:spcPts val="0"/>
              </a:spcAft>
              <a:buFont typeface="Wingdings 2" panose="05020102010507070707" pitchFamily="18" charset="2"/>
              <a:buChar char="¡"/>
              <a:defRPr/>
            </a:pPr>
            <a:r>
              <a:rPr lang="en-US" altLang="zh-CN" sz="900" b="0" dirty="0">
                <a:solidFill>
                  <a:srgbClr val="000000"/>
                </a:solidFill>
                <a:cs typeface="Arial" panose="020B0604020202020204" pitchFamily="34" charset="0"/>
              </a:rPr>
              <a:t>Assuming SMG will list in 1H2027, investors generally will make reference to 2027 full year financials. To reflect the Company’s strong financial outlook over the coming years, suggest also guiding investors towards a 2028 valuation matrix (see below). </a:t>
            </a:r>
          </a:p>
          <a:p>
            <a:pPr marL="0" indent="0" algn="just">
              <a:spcAft>
                <a:spcPts val="0"/>
              </a:spcAft>
              <a:buNone/>
              <a:defRPr/>
            </a:pPr>
            <a:endParaRPr lang="en-US" altLang="zh-CN" sz="900" b="0" dirty="0">
              <a:solidFill>
                <a:srgbClr val="000000"/>
              </a:solidFill>
              <a:cs typeface="Arial" panose="020B0604020202020204" pitchFamily="34" charset="0"/>
            </a:endParaRPr>
          </a:p>
          <a:p>
            <a:pPr algn="just">
              <a:spcAft>
                <a:spcPts val="0"/>
              </a:spcAft>
              <a:buFont typeface="Wingdings 2" panose="05020102010507070707" pitchFamily="18" charset="2"/>
              <a:buChar char="¡"/>
              <a:defRPr/>
            </a:pPr>
            <a:r>
              <a:rPr lang="en-US" altLang="zh-CN" sz="900" b="0" dirty="0">
                <a:solidFill>
                  <a:srgbClr val="000000"/>
                </a:solidFill>
                <a:cs typeface="Arial" panose="020B0604020202020204" pitchFamily="34" charset="0"/>
              </a:rPr>
              <a:t>SMG will consist of (1) Healthcare business, (2) IVF business and (3) potential inclusion of stem cell business/other business. We believe a sum-of-the-parts (SOTP) approach is the most appropriate method to value SMG.</a:t>
            </a:r>
          </a:p>
        </p:txBody>
      </p:sp>
      <p:sp>
        <p:nvSpPr>
          <p:cNvPr id="33" name="Slide Number Placeholder 32">
            <a:extLst>
              <a:ext uri="{FF2B5EF4-FFF2-40B4-BE49-F238E27FC236}">
                <a16:creationId xmlns:a16="http://schemas.microsoft.com/office/drawing/2014/main" id="{184CED25-465F-7B6A-C9F7-81967C2EE56D}"/>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48</a:t>
            </a:fld>
            <a:endParaRPr lang="en-US" altLang="en-US" b="0" dirty="0">
              <a:solidFill>
                <a:srgbClr val="000000"/>
              </a:solidFill>
            </a:endParaRPr>
          </a:p>
        </p:txBody>
      </p:sp>
      <p:sp>
        <p:nvSpPr>
          <p:cNvPr id="27" name="Title 9">
            <a:extLst>
              <a:ext uri="{FF2B5EF4-FFF2-40B4-BE49-F238E27FC236}">
                <a16:creationId xmlns:a16="http://schemas.microsoft.com/office/drawing/2014/main" id="{A65C20B8-4BC7-B7A1-ADE5-8F8A8CE63854}"/>
              </a:ext>
            </a:extLst>
          </p:cNvPr>
          <p:cNvSpPr txBox="1">
            <a:spLocks/>
          </p:cNvSpPr>
          <p:nvPr/>
        </p:nvSpPr>
        <p:spPr bwMode="auto">
          <a:xfrm>
            <a:off x="639764" y="1856255"/>
            <a:ext cx="3172216" cy="352671"/>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lvl1pPr algn="l" rtl="0" eaLnBrk="0" fontAlgn="base" hangingPunct="0">
              <a:spcBef>
                <a:spcPct val="0"/>
              </a:spcBef>
              <a:spcAft>
                <a:spcPct val="0"/>
              </a:spcAft>
              <a:tabLst>
                <a:tab pos="457200" algn="l"/>
              </a:tabLst>
              <a:defRPr sz="22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a:lstStyle>
          <a:p>
            <a:endParaRPr lang="en-US" sz="1400" kern="0" dirty="0"/>
          </a:p>
        </p:txBody>
      </p:sp>
      <p:sp>
        <p:nvSpPr>
          <p:cNvPr id="28" name="Title 9">
            <a:extLst>
              <a:ext uri="{FF2B5EF4-FFF2-40B4-BE49-F238E27FC236}">
                <a16:creationId xmlns:a16="http://schemas.microsoft.com/office/drawing/2014/main" id="{A9DCF23D-2B06-C41E-9B0A-79E60BA05929}"/>
              </a:ext>
            </a:extLst>
          </p:cNvPr>
          <p:cNvSpPr txBox="1">
            <a:spLocks/>
          </p:cNvSpPr>
          <p:nvPr/>
        </p:nvSpPr>
        <p:spPr bwMode="auto">
          <a:xfrm>
            <a:off x="5806855" y="1872171"/>
            <a:ext cx="3172216" cy="352671"/>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lvl1pPr algn="l" rtl="0" eaLnBrk="0" fontAlgn="base" hangingPunct="0">
              <a:spcBef>
                <a:spcPct val="0"/>
              </a:spcBef>
              <a:spcAft>
                <a:spcPct val="0"/>
              </a:spcAft>
              <a:tabLst>
                <a:tab pos="457200" algn="l"/>
              </a:tabLst>
              <a:defRPr sz="22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a:lstStyle>
          <a:p>
            <a:endParaRPr lang="en-US" sz="1400" kern="0" dirty="0"/>
          </a:p>
        </p:txBody>
      </p:sp>
      <p:sp>
        <p:nvSpPr>
          <p:cNvPr id="13" name="Rectangle: Rounded Corners 22">
            <a:extLst>
              <a:ext uri="{FF2B5EF4-FFF2-40B4-BE49-F238E27FC236}">
                <a16:creationId xmlns:a16="http://schemas.microsoft.com/office/drawing/2014/main" id="{C8522778-335A-D19F-1A1A-51DB88796AEB}"/>
              </a:ext>
            </a:extLst>
          </p:cNvPr>
          <p:cNvSpPr/>
          <p:nvPr/>
        </p:nvSpPr>
        <p:spPr>
          <a:xfrm>
            <a:off x="5109453" y="1999006"/>
            <a:ext cx="3981782" cy="243031"/>
          </a:xfrm>
          <a:prstGeom prst="roundRect">
            <a:avLst>
              <a:gd name="adj" fmla="val 50000"/>
            </a:avLst>
          </a:prstGeom>
          <a:gradFill>
            <a:gsLst>
              <a:gs pos="0">
                <a:srgbClr val="FEB8B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0834" rtlCol="0" anchor="ctr"/>
          <a:lstStyle/>
          <a:p>
            <a:pPr marL="101531" defTabSz="1008309" eaLnBrk="0" hangingPunct="0">
              <a:spcBef>
                <a:spcPts val="336"/>
              </a:spcBef>
              <a:buClr>
                <a:srgbClr val="4276AA"/>
              </a:buClr>
              <a:buSzPct val="90000"/>
              <a:defRPr/>
            </a:pPr>
            <a:r>
              <a:rPr lang="en-US" altLang="zh-CN" sz="1200" spc="-6" dirty="0">
                <a:solidFill>
                  <a:schemeClr val="tx1"/>
                </a:solidFill>
                <a:cs typeface="Arial" panose="020B0604020202020204" pitchFamily="34" charset="0"/>
              </a:rPr>
              <a:t>IVF </a:t>
            </a:r>
            <a:r>
              <a:rPr lang="en-GB" altLang="zh-CN" sz="1200" spc="-6" dirty="0">
                <a:solidFill>
                  <a:schemeClr val="tx1"/>
                </a:solidFill>
                <a:cs typeface="Arial" panose="020B0604020202020204" pitchFamily="34" charset="0"/>
              </a:rPr>
              <a:t>business</a:t>
            </a:r>
          </a:p>
        </p:txBody>
      </p:sp>
      <p:grpSp>
        <p:nvGrpSpPr>
          <p:cNvPr id="17" name="群組 16">
            <a:extLst>
              <a:ext uri="{FF2B5EF4-FFF2-40B4-BE49-F238E27FC236}">
                <a16:creationId xmlns:a16="http://schemas.microsoft.com/office/drawing/2014/main" id="{120F79C9-0BEB-E063-D9C4-683C674FB11B}"/>
              </a:ext>
            </a:extLst>
          </p:cNvPr>
          <p:cNvGrpSpPr/>
          <p:nvPr/>
        </p:nvGrpSpPr>
        <p:grpSpPr>
          <a:xfrm>
            <a:off x="699530" y="3905578"/>
            <a:ext cx="4286676" cy="2101703"/>
            <a:chOff x="485775" y="4101737"/>
            <a:chExt cx="4082380" cy="1653830"/>
          </a:xfrm>
        </p:grpSpPr>
        <p:sp>
          <p:nvSpPr>
            <p:cNvPr id="19" name="Rectangle 4">
              <a:extLst>
                <a:ext uri="{FF2B5EF4-FFF2-40B4-BE49-F238E27FC236}">
                  <a16:creationId xmlns:a16="http://schemas.microsoft.com/office/drawing/2014/main" id="{E7016854-A421-EDC0-159D-F404758D2F67}"/>
                </a:ext>
              </a:extLst>
            </p:cNvPr>
            <p:cNvSpPr/>
            <p:nvPr/>
          </p:nvSpPr>
          <p:spPr>
            <a:xfrm>
              <a:off x="2920543" y="4178895"/>
              <a:ext cx="1433533" cy="137027"/>
            </a:xfrm>
            <a:prstGeom prst="rect">
              <a:avLst/>
            </a:prstGeom>
            <a:noFill/>
          </p:spPr>
          <p:txBody>
            <a:bodyPr wrap="none" lIns="0" tIns="0" rIns="0" bIns="0" rtlCol="0" anchor="b"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dirty="0">
                  <a:solidFill>
                    <a:srgbClr val="C00000"/>
                  </a:solidFill>
                  <a:latin typeface="Arial" panose="020B0604020202020204" pitchFamily="34" charset="0"/>
                  <a:ea typeface="DFKaiShu-GB5"/>
                  <a:cs typeface="Arial" panose="020B0604020202020204" pitchFamily="34" charset="0"/>
                </a:rPr>
                <a:t>Implied Valuation Multiple</a:t>
              </a:r>
              <a:endParaRPr lang="en-US" sz="900" b="1" dirty="0">
                <a:solidFill>
                  <a:srgbClr val="C00000"/>
                </a:solidFill>
                <a:latin typeface="Arial" panose="020B0604020202020204" pitchFamily="34" charset="0"/>
                <a:ea typeface="DFKaiShu-GB5"/>
                <a:cs typeface="Arial" panose="020B0604020202020204" pitchFamily="34" charset="0"/>
              </a:endParaRPr>
            </a:p>
          </p:txBody>
        </p:sp>
        <p:sp>
          <p:nvSpPr>
            <p:cNvPr id="20" name="Rectangle 33">
              <a:extLst>
                <a:ext uri="{FF2B5EF4-FFF2-40B4-BE49-F238E27FC236}">
                  <a16:creationId xmlns:a16="http://schemas.microsoft.com/office/drawing/2014/main" id="{E16677B4-B850-FE68-3F7E-B64A0666B621}"/>
                </a:ext>
              </a:extLst>
            </p:cNvPr>
            <p:cNvSpPr/>
            <p:nvPr/>
          </p:nvSpPr>
          <p:spPr>
            <a:xfrm>
              <a:off x="2951380" y="4732781"/>
              <a:ext cx="1501140" cy="843183"/>
            </a:xfrm>
            <a:prstGeom prst="rect">
              <a:avLst/>
            </a:prstGeom>
            <a:noFill/>
            <a:ln w="19050" cap="flat" cmpd="sng" algn="ctr">
              <a:noFill/>
              <a:prstDash val="solid"/>
            </a:ln>
            <a:effectLst/>
          </p:spPr>
          <p:txBody>
            <a:bodyPr rtlCol="0" anchor="ctr"/>
            <a:lstStyle/>
            <a:p>
              <a:pPr marL="11113" marR="0" lvl="0" algn="ctr" defTabSz="914400" eaLnBrk="1" fontAlgn="auto" latinLnBrk="0" hangingPunct="1">
                <a:lnSpc>
                  <a:spcPct val="100000"/>
                </a:lnSpc>
                <a:spcBef>
                  <a:spcPts val="0"/>
                </a:spcBef>
                <a:spcAft>
                  <a:spcPts val="0"/>
                </a:spcAft>
                <a:buClr>
                  <a:srgbClr val="E2231A"/>
                </a:buClr>
                <a:buSzTx/>
                <a:tabLst/>
                <a:defRPr/>
              </a:pPr>
              <a:r>
                <a:rPr lang="en-US" altLang="zh-CN" sz="900" kern="0" dirty="0">
                  <a:solidFill>
                    <a:schemeClr val="tx1"/>
                  </a:solidFill>
                  <a:latin typeface="Arial" panose="020B0604020202020204" pitchFamily="34" charset="0"/>
                  <a:ea typeface="DFKaiShu-GB5"/>
                  <a:cs typeface="Arial" panose="020B0604020202020204" pitchFamily="34" charset="0"/>
                </a:rPr>
                <a:t>2028F EV/EBITDA:</a:t>
              </a:r>
            </a:p>
            <a:p>
              <a:pPr marL="11113" marR="0" lvl="0" algn="ctr" defTabSz="914400" eaLnBrk="1" fontAlgn="auto" latinLnBrk="0" hangingPunct="1">
                <a:lnSpc>
                  <a:spcPct val="100000"/>
                </a:lnSpc>
                <a:spcBef>
                  <a:spcPts val="0"/>
                </a:spcBef>
                <a:spcAft>
                  <a:spcPts val="600"/>
                </a:spcAft>
                <a:buClr>
                  <a:srgbClr val="E2231A"/>
                </a:buClr>
                <a:buSzTx/>
                <a:tabLst/>
                <a:defRPr/>
              </a:pPr>
              <a:r>
                <a:rPr lang="en-US" altLang="zh-CN" sz="900" kern="0" dirty="0">
                  <a:solidFill>
                    <a:srgbClr val="C00000"/>
                  </a:solidFill>
                  <a:latin typeface="Arial" panose="020B0604020202020204" pitchFamily="34" charset="0"/>
                  <a:ea typeface="DFKaiShu-GB5"/>
                  <a:cs typeface="Arial" panose="020B0604020202020204" pitchFamily="34" charset="0"/>
                </a:rPr>
                <a:t>10.6x-15.7x</a:t>
              </a:r>
            </a:p>
          </p:txBody>
        </p:sp>
        <p:sp>
          <p:nvSpPr>
            <p:cNvPr id="30" name="Rectangle 40">
              <a:extLst>
                <a:ext uri="{FF2B5EF4-FFF2-40B4-BE49-F238E27FC236}">
                  <a16:creationId xmlns:a16="http://schemas.microsoft.com/office/drawing/2014/main" id="{EE129BD5-01BD-98AC-8B69-75FECA57EE48}"/>
                </a:ext>
              </a:extLst>
            </p:cNvPr>
            <p:cNvSpPr/>
            <p:nvPr/>
          </p:nvSpPr>
          <p:spPr>
            <a:xfrm>
              <a:off x="2886741" y="4238413"/>
              <a:ext cx="1501140" cy="765628"/>
            </a:xfrm>
            <a:prstGeom prst="rect">
              <a:avLst/>
            </a:prstGeom>
            <a:noFill/>
            <a:ln w="19050" cap="flat" cmpd="sng" algn="ctr">
              <a:noFill/>
              <a:prstDash val="solid"/>
            </a:ln>
            <a:effectLst/>
          </p:spPr>
          <p:txBody>
            <a:bodyPr rtlCol="0" anchor="ctr"/>
            <a:lstStyle/>
            <a:p>
              <a:pPr marL="11113" marR="0" lvl="0" algn="ctr" defTabSz="914400" eaLnBrk="1" fontAlgn="auto" latinLnBrk="0" hangingPunct="1">
                <a:lnSpc>
                  <a:spcPct val="100000"/>
                </a:lnSpc>
                <a:spcBef>
                  <a:spcPts val="0"/>
                </a:spcBef>
                <a:spcAft>
                  <a:spcPts val="0"/>
                </a:spcAft>
                <a:buClr>
                  <a:srgbClr val="E2231A"/>
                </a:buClr>
                <a:buSzTx/>
                <a:tabLst/>
                <a:defRPr/>
              </a:pPr>
              <a:r>
                <a:rPr lang="en-US" altLang="zh-CN" sz="900" kern="0" dirty="0">
                  <a:solidFill>
                    <a:schemeClr val="tx1"/>
                  </a:solidFill>
                  <a:latin typeface="Arial" panose="020B0604020202020204" pitchFamily="34" charset="0"/>
                  <a:ea typeface="DFKaiShu-GB5"/>
                  <a:cs typeface="Arial" panose="020B0604020202020204" pitchFamily="34" charset="0"/>
                </a:rPr>
                <a:t>2028F P/E:</a:t>
              </a:r>
            </a:p>
            <a:p>
              <a:pPr marL="11113" marR="0" lvl="0" algn="ctr" defTabSz="914400" eaLnBrk="1" fontAlgn="auto" latinLnBrk="0" hangingPunct="1">
                <a:lnSpc>
                  <a:spcPct val="100000"/>
                </a:lnSpc>
                <a:spcBef>
                  <a:spcPts val="0"/>
                </a:spcBef>
                <a:spcAft>
                  <a:spcPts val="600"/>
                </a:spcAft>
                <a:buClr>
                  <a:srgbClr val="E2231A"/>
                </a:buClr>
                <a:buSzTx/>
                <a:tabLst/>
                <a:defRPr/>
              </a:pPr>
              <a:r>
                <a:rPr lang="en-US" altLang="zh-CN" sz="900" kern="0" dirty="0">
                  <a:solidFill>
                    <a:srgbClr val="C00000"/>
                  </a:solidFill>
                  <a:latin typeface="Arial" panose="020B0604020202020204" pitchFamily="34" charset="0"/>
                  <a:ea typeface="DFKaiShu-GB5"/>
                  <a:cs typeface="Arial" panose="020B0604020202020204" pitchFamily="34" charset="0"/>
                </a:rPr>
                <a:t>18.3x-28.7x</a:t>
              </a:r>
            </a:p>
          </p:txBody>
        </p:sp>
        <p:sp>
          <p:nvSpPr>
            <p:cNvPr id="4" name="Rectangle 4">
              <a:extLst>
                <a:ext uri="{FF2B5EF4-FFF2-40B4-BE49-F238E27FC236}">
                  <a16:creationId xmlns:a16="http://schemas.microsoft.com/office/drawing/2014/main" id="{20636AB3-C8D6-CF30-AE1B-992D7C09124B}"/>
                </a:ext>
              </a:extLst>
            </p:cNvPr>
            <p:cNvSpPr/>
            <p:nvPr/>
          </p:nvSpPr>
          <p:spPr>
            <a:xfrm>
              <a:off x="792377" y="4112028"/>
              <a:ext cx="1820135" cy="217971"/>
            </a:xfrm>
            <a:prstGeom prst="rect">
              <a:avLst/>
            </a:prstGeom>
            <a:noFill/>
          </p:spPr>
          <p:txBody>
            <a:bodyPr wrap="square" lIns="0" tIns="0" rIns="0" bIns="0" rtlCol="0" anchor="b"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C00000"/>
                  </a:solidFill>
                  <a:effectLst/>
                  <a:uLnTx/>
                  <a:uFillTx/>
                  <a:latin typeface="Arial" panose="020B0604020202020204" pitchFamily="34" charset="0"/>
                  <a:ea typeface="DFKaiShu-GB5"/>
                  <a:cs typeface="Arial" panose="020B0604020202020204" pitchFamily="34" charset="0"/>
                </a:rPr>
                <a:t>Indicative HK Listing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C00000"/>
                  </a:solidFill>
                  <a:effectLst/>
                  <a:uLnTx/>
                  <a:uFillTx/>
                  <a:latin typeface="Arial" panose="020B0604020202020204" pitchFamily="34" charset="0"/>
                  <a:ea typeface="DFKaiShu-GB5"/>
                  <a:cs typeface="Arial" panose="020B0604020202020204" pitchFamily="34" charset="0"/>
                </a:rPr>
                <a:t>Equity Valuation Range (</a:t>
              </a:r>
              <a:r>
                <a:rPr lang="en-US" altLang="zh-CN" sz="900" dirty="0">
                  <a:solidFill>
                    <a:srgbClr val="C00000"/>
                  </a:solidFill>
                  <a:latin typeface="Arial" panose="020B0604020202020204" pitchFamily="34" charset="0"/>
                  <a:ea typeface="DFKaiShu-GB5"/>
                  <a:cs typeface="Arial" panose="020B0604020202020204" pitchFamily="34" charset="0"/>
                </a:rPr>
                <a:t>S$</a:t>
              </a:r>
              <a:r>
                <a:rPr kumimoji="0" lang="en-US" altLang="zh-CN" sz="900" b="1" i="0" u="none" strike="noStrike" kern="1200" cap="none" spc="0" normalizeH="0" baseline="0" noProof="0" dirty="0" err="1">
                  <a:ln>
                    <a:noFill/>
                  </a:ln>
                  <a:solidFill>
                    <a:srgbClr val="C00000"/>
                  </a:solidFill>
                  <a:effectLst/>
                  <a:uLnTx/>
                  <a:uFillTx/>
                  <a:latin typeface="Arial" panose="020B0604020202020204" pitchFamily="34" charset="0"/>
                  <a:ea typeface="DFKaiShu-GB5"/>
                  <a:cs typeface="Arial" panose="020B0604020202020204" pitchFamily="34" charset="0"/>
                </a:rPr>
                <a:t>mn</a:t>
              </a:r>
              <a:r>
                <a:rPr kumimoji="0" lang="en-US" altLang="zh-CN" sz="900" b="1" i="0" u="none" strike="noStrike" kern="1200" cap="none" spc="0" normalizeH="0" baseline="0" noProof="0" dirty="0">
                  <a:ln>
                    <a:noFill/>
                  </a:ln>
                  <a:solidFill>
                    <a:srgbClr val="C00000"/>
                  </a:solidFill>
                  <a:effectLst/>
                  <a:uLnTx/>
                  <a:uFillTx/>
                  <a:latin typeface="Arial" panose="020B0604020202020204" pitchFamily="34" charset="0"/>
                  <a:ea typeface="DFKaiShu-GB5"/>
                  <a:cs typeface="Arial" panose="020B0604020202020204" pitchFamily="34" charset="0"/>
                </a:rPr>
                <a:t>)</a:t>
              </a:r>
              <a:endParaRPr kumimoji="0" lang="en-US" sz="900" b="1" i="0" u="none" strike="noStrike" kern="1200" cap="none" spc="0" normalizeH="0" baseline="0" noProof="0" dirty="0">
                <a:ln>
                  <a:noFill/>
                </a:ln>
                <a:solidFill>
                  <a:srgbClr val="C00000"/>
                </a:solidFill>
                <a:effectLst/>
                <a:uLnTx/>
                <a:uFillTx/>
                <a:latin typeface="Arial" panose="020B0604020202020204" pitchFamily="34" charset="0"/>
                <a:ea typeface="DFKaiShu-GB5"/>
                <a:cs typeface="Arial" panose="020B0604020202020204" pitchFamily="34" charset="0"/>
              </a:endParaRPr>
            </a:p>
          </p:txBody>
        </p:sp>
        <p:sp>
          <p:nvSpPr>
            <p:cNvPr id="14" name="Rectangle: Rounded Corners 10">
              <a:extLst>
                <a:ext uri="{FF2B5EF4-FFF2-40B4-BE49-F238E27FC236}">
                  <a16:creationId xmlns:a16="http://schemas.microsoft.com/office/drawing/2014/main" id="{DEB182E1-F317-FDA3-EF69-ACC31783BAE4}"/>
                </a:ext>
              </a:extLst>
            </p:cNvPr>
            <p:cNvSpPr/>
            <p:nvPr/>
          </p:nvSpPr>
          <p:spPr>
            <a:xfrm>
              <a:off x="485775" y="4101737"/>
              <a:ext cx="4082380" cy="1653830"/>
            </a:xfrm>
            <a:prstGeom prst="roundRect">
              <a:avLst/>
            </a:prstGeom>
            <a:noFill/>
            <a:ln>
              <a:solidFill>
                <a:srgbClr val="C00000"/>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t">
              <a:noAutofit/>
            </a:bodyPr>
            <a:lstStyle/>
            <a:p>
              <a:pPr marL="173038" indent="-173038" defTabSz="1008309" eaLnBrk="0" hangingPunct="0">
                <a:spcBef>
                  <a:spcPct val="20000"/>
                </a:spcBef>
                <a:buClr>
                  <a:srgbClr val="C00000"/>
                </a:buClr>
                <a:buSzPct val="100000"/>
                <a:buFont typeface="Wingdings 2" panose="05020102010507070707" pitchFamily="18" charset="2"/>
                <a:buChar char="¡"/>
                <a:defRPr/>
              </a:pPr>
              <a:endParaRPr lang="en-HK" sz="1100" b="0" dirty="0">
                <a:solidFill>
                  <a:schemeClr val="tx1"/>
                </a:solidFill>
                <a:ea typeface="DFKaiShu-GB5" panose="03000509000000000000" pitchFamily="65" charset="-128"/>
                <a:cs typeface="Arial" panose="020B0604020202020204" pitchFamily="34" charset="0"/>
              </a:endParaRPr>
            </a:p>
          </p:txBody>
        </p:sp>
      </p:grpSp>
      <p:grpSp>
        <p:nvGrpSpPr>
          <p:cNvPr id="29" name="群組 28">
            <a:extLst>
              <a:ext uri="{FF2B5EF4-FFF2-40B4-BE49-F238E27FC236}">
                <a16:creationId xmlns:a16="http://schemas.microsoft.com/office/drawing/2014/main" id="{FD05A56E-F233-458A-C436-18AE4D069A46}"/>
              </a:ext>
            </a:extLst>
          </p:cNvPr>
          <p:cNvGrpSpPr/>
          <p:nvPr/>
        </p:nvGrpSpPr>
        <p:grpSpPr>
          <a:xfrm>
            <a:off x="732058" y="2227832"/>
            <a:ext cx="4220942" cy="1403158"/>
            <a:chOff x="485775" y="2563584"/>
            <a:chExt cx="4494811" cy="1487933"/>
          </a:xfrm>
        </p:grpSpPr>
        <p:sp>
          <p:nvSpPr>
            <p:cNvPr id="6" name="Rectangle 22">
              <a:extLst>
                <a:ext uri="{FF2B5EF4-FFF2-40B4-BE49-F238E27FC236}">
                  <a16:creationId xmlns:a16="http://schemas.microsoft.com/office/drawing/2014/main" id="{A9B7A5DA-D0EF-2A2D-881E-5D9A3CA11F71}"/>
                </a:ext>
              </a:extLst>
            </p:cNvPr>
            <p:cNvSpPr/>
            <p:nvPr/>
          </p:nvSpPr>
          <p:spPr>
            <a:xfrm>
              <a:off x="1344575" y="3293498"/>
              <a:ext cx="3590877" cy="758019"/>
            </a:xfrm>
            <a:prstGeom prst="rect">
              <a:avLst/>
            </a:prstGeom>
            <a:noFill/>
            <a:ln w="19050" cap="flat" cmpd="sng" algn="ctr">
              <a:noFill/>
              <a:prstDash val="solid"/>
            </a:ln>
            <a:effectLst/>
          </p:spPr>
          <p:txBody>
            <a:bodyPr lIns="45720" rIns="45720" rtlCol="0" anchor="ctr"/>
            <a:lstStyle/>
            <a:p>
              <a:pPr marL="182563" lvl="0" indent="-171450" defTabSz="914400">
                <a:buClr>
                  <a:srgbClr val="C00000"/>
                </a:buClr>
                <a:buFont typeface="Wingdings 2" panose="05020102010507070707" pitchFamily="18" charset="2"/>
                <a:buChar char="¡"/>
                <a:defRPr/>
              </a:pPr>
              <a:r>
                <a:rPr lang="en-US" altLang="zh-CN" sz="900" kern="0" dirty="0">
                  <a:solidFill>
                    <a:schemeClr val="tx1"/>
                  </a:solidFill>
                  <a:latin typeface="Arial" panose="020B0604020202020204" pitchFamily="34" charset="0"/>
                  <a:ea typeface="DFKaiShu-GB5"/>
                  <a:cs typeface="Arial" panose="020B0604020202020204" pitchFamily="34" charset="0"/>
                </a:rPr>
                <a:t>Company’s 2028F pre IFRS EBITDA: S$32.5 </a:t>
              </a:r>
              <a:r>
                <a:rPr lang="en-US" altLang="zh-CN" sz="900" kern="0" dirty="0" err="1">
                  <a:solidFill>
                    <a:schemeClr val="tx1"/>
                  </a:solidFill>
                  <a:latin typeface="Arial" panose="020B0604020202020204" pitchFamily="34" charset="0"/>
                  <a:ea typeface="DFKaiShu-GB5"/>
                  <a:cs typeface="Arial" panose="020B0604020202020204" pitchFamily="34" charset="0"/>
                </a:rPr>
                <a:t>mn</a:t>
              </a:r>
              <a:endParaRPr lang="en-US" altLang="zh-CN" sz="900" kern="0" dirty="0">
                <a:solidFill>
                  <a:schemeClr val="tx1"/>
                </a:solidFill>
                <a:latin typeface="Arial" panose="020B0604020202020204" pitchFamily="34" charset="0"/>
                <a:ea typeface="DFKaiShu-GB5"/>
                <a:cs typeface="Arial" panose="020B0604020202020204" pitchFamily="34" charset="0"/>
              </a:endParaRPr>
            </a:p>
            <a:p>
              <a:pPr marL="182563" indent="-171450">
                <a:buClr>
                  <a:srgbClr val="C00000"/>
                </a:buClr>
                <a:buFont typeface="Wingdings 2" panose="05020102010507070707" pitchFamily="18" charset="2"/>
                <a:buChar char="¡"/>
                <a:defRPr/>
              </a:pPr>
              <a:r>
                <a:rPr lang="en-US" altLang="zh-CN" sz="900" kern="0" dirty="0">
                  <a:solidFill>
                    <a:schemeClr val="tx1"/>
                  </a:solidFill>
                  <a:latin typeface="Arial" panose="020B0604020202020204" pitchFamily="34" charset="0"/>
                  <a:ea typeface="DFKaiShu-GB5"/>
                  <a:cs typeface="Arial" panose="020B0604020202020204" pitchFamily="34" charset="0"/>
                </a:rPr>
                <a:t>Net debt position S$81.9mn (SMG’s 2024 audited report) remains unchanged </a:t>
              </a:r>
            </a:p>
            <a:p>
              <a:pPr marL="182563" indent="-171450">
                <a:buClr>
                  <a:srgbClr val="C00000"/>
                </a:buClr>
                <a:buFont typeface="Wingdings 2" panose="05020102010507070707" pitchFamily="18" charset="2"/>
                <a:buChar char="¡"/>
                <a:defRPr/>
              </a:pPr>
              <a:r>
                <a:rPr lang="en-US" altLang="zh-CN" sz="900" kern="0" dirty="0">
                  <a:solidFill>
                    <a:schemeClr val="tx1"/>
                  </a:solidFill>
                  <a:latin typeface="Arial" panose="020B0604020202020204" pitchFamily="34" charset="0"/>
                  <a:ea typeface="DFKaiShu-GB5"/>
                  <a:cs typeface="Arial" panose="020B0604020202020204" pitchFamily="34" charset="0"/>
                </a:rPr>
                <a:t>36.2% of net debt</a:t>
              </a:r>
              <a:r>
                <a:rPr lang="en-US" sz="900" b="0" baseline="30000" dirty="0">
                  <a:solidFill>
                    <a:schemeClr val="tx1"/>
                  </a:solidFill>
                  <a:latin typeface="Arial" panose="020B0604020202020204" pitchFamily="34" charset="0"/>
                </a:rPr>
                <a:t>2</a:t>
              </a:r>
              <a:r>
                <a:rPr lang="en-US" altLang="zh-CN" sz="900" kern="0" dirty="0">
                  <a:solidFill>
                    <a:schemeClr val="tx1"/>
                  </a:solidFill>
                  <a:latin typeface="Arial" panose="020B0604020202020204" pitchFamily="34" charset="0"/>
                  <a:ea typeface="DFKaiShu-GB5"/>
                  <a:cs typeface="Arial" panose="020B0604020202020204" pitchFamily="34" charset="0"/>
                </a:rPr>
                <a:t> allocate to Healthcare business and 63.8% allocate to IVF business </a:t>
              </a:r>
            </a:p>
            <a:p>
              <a:pPr marL="182563" indent="-171450">
                <a:buClr>
                  <a:srgbClr val="C00000"/>
                </a:buClr>
                <a:buFont typeface="Wingdings 2" panose="05020102010507070707" pitchFamily="18" charset="2"/>
                <a:buChar char="¡"/>
                <a:defRPr/>
              </a:pPr>
              <a:endParaRPr lang="en-US" altLang="zh-CN" sz="900" kern="0" dirty="0">
                <a:solidFill>
                  <a:schemeClr val="tx1"/>
                </a:solidFill>
                <a:latin typeface="Arial" panose="020B0604020202020204" pitchFamily="34" charset="0"/>
                <a:ea typeface="DFKaiShu-GB5"/>
                <a:cs typeface="Arial" panose="020B0604020202020204" pitchFamily="34" charset="0"/>
              </a:endParaRPr>
            </a:p>
          </p:txBody>
        </p:sp>
        <p:grpSp>
          <p:nvGrpSpPr>
            <p:cNvPr id="26" name="群組 25">
              <a:extLst>
                <a:ext uri="{FF2B5EF4-FFF2-40B4-BE49-F238E27FC236}">
                  <a16:creationId xmlns:a16="http://schemas.microsoft.com/office/drawing/2014/main" id="{EE86FDF9-409E-830F-3CD1-29A27BBBF156}"/>
                </a:ext>
              </a:extLst>
            </p:cNvPr>
            <p:cNvGrpSpPr/>
            <p:nvPr/>
          </p:nvGrpSpPr>
          <p:grpSpPr>
            <a:xfrm>
              <a:off x="485775" y="2563584"/>
              <a:ext cx="4494811" cy="1430204"/>
              <a:chOff x="485775" y="2563584"/>
              <a:chExt cx="4494811" cy="1430204"/>
            </a:xfrm>
          </p:grpSpPr>
          <p:sp>
            <p:nvSpPr>
              <p:cNvPr id="15" name="Rectangle 25">
                <a:extLst>
                  <a:ext uri="{FF2B5EF4-FFF2-40B4-BE49-F238E27FC236}">
                    <a16:creationId xmlns:a16="http://schemas.microsoft.com/office/drawing/2014/main" id="{EC3FECFA-3051-FDFB-ADBA-EC87B0F52A12}"/>
                  </a:ext>
                </a:extLst>
              </p:cNvPr>
              <p:cNvSpPr/>
              <p:nvPr/>
            </p:nvSpPr>
            <p:spPr>
              <a:xfrm>
                <a:off x="1350157" y="2563584"/>
                <a:ext cx="3521895" cy="843183"/>
              </a:xfrm>
              <a:prstGeom prst="rect">
                <a:avLst/>
              </a:prstGeom>
              <a:noFill/>
              <a:ln w="19050" cap="flat" cmpd="sng" algn="ctr">
                <a:noFill/>
                <a:prstDash val="solid"/>
              </a:ln>
              <a:effectLst/>
            </p:spPr>
            <p:txBody>
              <a:bodyPr lIns="45720" rIns="45720" rtlCol="0" anchor="ctr"/>
              <a:lstStyle/>
              <a:p>
                <a:pPr marL="182563" marR="0" lvl="0" indent="-171450" defTabSz="914400" eaLnBrk="1" fontAlgn="auto" latinLnBrk="0" hangingPunct="1">
                  <a:lnSpc>
                    <a:spcPct val="100000"/>
                  </a:lnSpc>
                  <a:spcBef>
                    <a:spcPts val="0"/>
                  </a:spcBef>
                  <a:spcAft>
                    <a:spcPts val="0"/>
                  </a:spcAft>
                  <a:buClr>
                    <a:srgbClr val="C00000"/>
                  </a:buClr>
                  <a:buSzTx/>
                  <a:buFont typeface="Wingdings 2" panose="05020102010507070707" pitchFamily="18" charset="2"/>
                  <a:buChar char="¡"/>
                  <a:tabLst/>
                  <a:defRPr/>
                </a:pPr>
                <a:r>
                  <a:rPr lang="en-US" altLang="zh-CN" sz="900" kern="0" dirty="0">
                    <a:solidFill>
                      <a:schemeClr val="tx1"/>
                    </a:solidFill>
                    <a:latin typeface="Arial" panose="020B0604020202020204" pitchFamily="34" charset="0"/>
                    <a:ea typeface="DFKaiShu-GB5"/>
                    <a:cs typeface="Arial" panose="020B0604020202020204" pitchFamily="34" charset="0"/>
                  </a:rPr>
                  <a:t>Company’s 2028F net profit : S$15.9 </a:t>
                </a:r>
                <a:r>
                  <a:rPr lang="en-US" altLang="zh-CN" sz="900" kern="0" dirty="0" err="1">
                    <a:solidFill>
                      <a:schemeClr val="tx1"/>
                    </a:solidFill>
                    <a:latin typeface="Arial" panose="020B0604020202020204" pitchFamily="34" charset="0"/>
                    <a:ea typeface="DFKaiShu-GB5"/>
                    <a:cs typeface="Arial" panose="020B0604020202020204" pitchFamily="34" charset="0"/>
                  </a:rPr>
                  <a:t>mn</a:t>
                </a:r>
                <a:endParaRPr lang="en-US" altLang="zh-CN" sz="900" kern="0" dirty="0">
                  <a:solidFill>
                    <a:schemeClr val="tx1"/>
                  </a:solidFill>
                  <a:latin typeface="Arial" panose="020B0604020202020204" pitchFamily="34" charset="0"/>
                  <a:ea typeface="DFKaiShu-GB5"/>
                  <a:cs typeface="Arial" panose="020B0604020202020204" pitchFamily="34" charset="0"/>
                </a:endParaRPr>
              </a:p>
              <a:p>
                <a:pPr marL="182563" indent="-171450" fontAlgn="auto">
                  <a:spcBef>
                    <a:spcPts val="0"/>
                  </a:spcBef>
                  <a:spcAft>
                    <a:spcPts val="0"/>
                  </a:spcAft>
                  <a:buClr>
                    <a:srgbClr val="C00000"/>
                  </a:buClr>
                  <a:buFont typeface="Wingdings 2" panose="05020102010507070707" pitchFamily="18" charset="2"/>
                  <a:buChar char="¡"/>
                  <a:defRPr/>
                </a:pPr>
                <a:r>
                  <a:rPr lang="en-US" altLang="zh-CN" sz="900" kern="0" dirty="0">
                    <a:solidFill>
                      <a:schemeClr val="tx1"/>
                    </a:solidFill>
                    <a:latin typeface="Arial" panose="020B0604020202020204" pitchFamily="34" charset="0"/>
                    <a:ea typeface="DFKaiShu-GB5"/>
                    <a:cs typeface="Arial" panose="020B0604020202020204" pitchFamily="34" charset="0"/>
                  </a:rPr>
                  <a:t>Healthcare business contribute 55% and IVF contribute 45% of net profit</a:t>
                </a:r>
              </a:p>
            </p:txBody>
          </p:sp>
          <p:sp>
            <p:nvSpPr>
              <p:cNvPr id="21" name="Rectangle: Rounded Corners 12">
                <a:extLst>
                  <a:ext uri="{FF2B5EF4-FFF2-40B4-BE49-F238E27FC236}">
                    <a16:creationId xmlns:a16="http://schemas.microsoft.com/office/drawing/2014/main" id="{6439AE23-FA5C-FF24-D63D-E8E7F7FDE5BC}"/>
                  </a:ext>
                </a:extLst>
              </p:cNvPr>
              <p:cNvSpPr/>
              <p:nvPr/>
            </p:nvSpPr>
            <p:spPr>
              <a:xfrm>
                <a:off x="672749" y="3273077"/>
                <a:ext cx="621291" cy="660170"/>
              </a:xfrm>
              <a:prstGeom prst="roundRect">
                <a:avLst>
                  <a:gd name="adj" fmla="val 5681"/>
                </a:avLst>
              </a:prstGeom>
              <a:solidFill>
                <a:schemeClr val="accent1"/>
              </a:solidFill>
              <a:ln w="25400" cap="flat" cmpd="sng" algn="ctr">
                <a:noFill/>
                <a:prstDash val="solid"/>
              </a:ln>
              <a:effectLst/>
            </p:spPr>
            <p:txBody>
              <a:bodyPr lIns="9144" rIns="9144" rtlCol="0" anchor="ctr"/>
              <a:lstStyle/>
              <a:p>
                <a:pPr marL="0" marR="0" lvl="0" indent="0" algn="ctr" defTabSz="914400" eaLnBrk="1" fontAlgn="auto" latinLnBrk="0" hangingPunct="1">
                  <a:lnSpc>
                    <a:spcPct val="120000"/>
                  </a:lnSpc>
                  <a:spcBef>
                    <a:spcPts val="0"/>
                  </a:spcBef>
                  <a:spcAft>
                    <a:spcPts val="0"/>
                  </a:spcAft>
                  <a:buClrTx/>
                  <a:buSzTx/>
                  <a:buFontTx/>
                  <a:buNone/>
                  <a:tabLst/>
                  <a:defRPr/>
                </a:pPr>
                <a:r>
                  <a:rPr lang="en-US" altLang="zh-CN" sz="900" b="1" kern="0" dirty="0">
                    <a:solidFill>
                      <a:schemeClr val="bg1"/>
                    </a:solidFill>
                    <a:latin typeface="Arial" panose="020B0604020202020204" pitchFamily="34" charset="0"/>
                    <a:ea typeface="DFKaiShu-GB5"/>
                    <a:cs typeface="Arial" panose="020B0604020202020204" pitchFamily="34" charset="0"/>
                  </a:rPr>
                  <a:t>EV</a:t>
                </a:r>
                <a:r>
                  <a:rPr kumimoji="0" lang="en-US" sz="900" b="1" i="0" u="none" strike="noStrike" kern="0" cap="none" spc="0" normalizeH="0" baseline="0" noProof="0" dirty="0">
                    <a:ln>
                      <a:noFill/>
                    </a:ln>
                    <a:solidFill>
                      <a:schemeClr val="bg1"/>
                    </a:solidFill>
                    <a:effectLst/>
                    <a:uLnTx/>
                    <a:uFillTx/>
                    <a:latin typeface="Arial" panose="020B0604020202020204" pitchFamily="34" charset="0"/>
                    <a:ea typeface="DFKaiShuW5-B5" panose="03000509000000000000" pitchFamily="65" charset="-128"/>
                    <a:cs typeface="Arial" panose="020B0604020202020204" pitchFamily="34" charset="0"/>
                  </a:rPr>
                  <a:t>/</a:t>
                </a:r>
                <a:br>
                  <a:rPr kumimoji="0" lang="en-US" sz="900" b="1" i="0" u="none" strike="noStrike" kern="0" cap="none" spc="0" normalizeH="0" baseline="0" noProof="0" dirty="0">
                    <a:ln>
                      <a:noFill/>
                    </a:ln>
                    <a:solidFill>
                      <a:schemeClr val="bg1"/>
                    </a:solidFill>
                    <a:effectLst/>
                    <a:uLnTx/>
                    <a:uFillTx/>
                    <a:latin typeface="Arial" panose="020B0604020202020204" pitchFamily="34" charset="0"/>
                    <a:ea typeface="DFKaiShuW5-B5" panose="03000509000000000000" pitchFamily="65" charset="-128"/>
                    <a:cs typeface="Arial" panose="020B0604020202020204" pitchFamily="34" charset="0"/>
                  </a:rPr>
                </a:br>
                <a:r>
                  <a:rPr lang="en-US" sz="900" b="1" kern="0" dirty="0">
                    <a:solidFill>
                      <a:schemeClr val="bg1"/>
                    </a:solidFill>
                    <a:latin typeface="Arial" panose="020B0604020202020204" pitchFamily="34" charset="0"/>
                    <a:ea typeface="DFKaiShu-GB5"/>
                    <a:cs typeface="Arial" panose="020B0604020202020204" pitchFamily="34" charset="0"/>
                  </a:rPr>
                  <a:t>EBITDA</a:t>
                </a:r>
                <a:endParaRPr kumimoji="0" lang="en-US" sz="900" b="1" i="0" u="none" strike="noStrike" kern="0" cap="none" spc="0" normalizeH="0" baseline="0" noProof="0" dirty="0">
                  <a:ln>
                    <a:noFill/>
                  </a:ln>
                  <a:solidFill>
                    <a:schemeClr val="bg1"/>
                  </a:solidFill>
                  <a:effectLst/>
                  <a:uLnTx/>
                  <a:uFillTx/>
                  <a:latin typeface="Arial" panose="020B0604020202020204" pitchFamily="34" charset="0"/>
                  <a:ea typeface="DFKaiShu-GB5"/>
                  <a:cs typeface="Arial" panose="020B0604020202020204" pitchFamily="34" charset="0"/>
                </a:endParaRPr>
              </a:p>
            </p:txBody>
          </p:sp>
          <p:sp>
            <p:nvSpPr>
              <p:cNvPr id="22" name="Rectangle: Rounded Corners 24">
                <a:extLst>
                  <a:ext uri="{FF2B5EF4-FFF2-40B4-BE49-F238E27FC236}">
                    <a16:creationId xmlns:a16="http://schemas.microsoft.com/office/drawing/2014/main" id="{C435621F-C8F3-5FC7-9B56-E0C3485908F9}"/>
                  </a:ext>
                </a:extLst>
              </p:cNvPr>
              <p:cNvSpPr/>
              <p:nvPr/>
            </p:nvSpPr>
            <p:spPr>
              <a:xfrm>
                <a:off x="667512" y="2805287"/>
                <a:ext cx="621291" cy="373976"/>
              </a:xfrm>
              <a:prstGeom prst="roundRect">
                <a:avLst>
                  <a:gd name="adj" fmla="val 5681"/>
                </a:avLst>
              </a:prstGeom>
              <a:solidFill>
                <a:schemeClr val="accent1"/>
              </a:solidFill>
              <a:ln w="25400" cap="flat" cmpd="sng" algn="ctr">
                <a:noFill/>
                <a:prstDash val="solid"/>
              </a:ln>
              <a:effectLst/>
            </p:spPr>
            <p:txBody>
              <a:bodyPr lIns="9144" rIns="9144" rtlCol="0" anchor="ct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bg1"/>
                    </a:solidFill>
                    <a:effectLst/>
                    <a:uLnTx/>
                    <a:uFillTx/>
                    <a:latin typeface="Arial" panose="020B0604020202020204" pitchFamily="34" charset="0"/>
                    <a:ea typeface="DFKaiShu-GB5"/>
                    <a:cs typeface="Arial" panose="020B0604020202020204" pitchFamily="34" charset="0"/>
                  </a:rPr>
                  <a:t>P/E</a:t>
                </a:r>
              </a:p>
            </p:txBody>
          </p:sp>
          <p:cxnSp>
            <p:nvCxnSpPr>
              <p:cNvPr id="48" name="Straight Connector 16">
                <a:extLst>
                  <a:ext uri="{FF2B5EF4-FFF2-40B4-BE49-F238E27FC236}">
                    <a16:creationId xmlns:a16="http://schemas.microsoft.com/office/drawing/2014/main" id="{728C184D-9F2B-D22F-8B26-6392334B29B4}"/>
                  </a:ext>
                </a:extLst>
              </p:cNvPr>
              <p:cNvCxnSpPr>
                <a:cxnSpLocks/>
              </p:cNvCxnSpPr>
              <p:nvPr/>
            </p:nvCxnSpPr>
            <p:spPr>
              <a:xfrm>
                <a:off x="694560" y="3224235"/>
                <a:ext cx="40485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Rectangle: Rounded Corners 10">
                <a:extLst>
                  <a:ext uri="{FF2B5EF4-FFF2-40B4-BE49-F238E27FC236}">
                    <a16:creationId xmlns:a16="http://schemas.microsoft.com/office/drawing/2014/main" id="{82C57398-2F3D-F0F0-04A2-84B43A502EB0}"/>
                  </a:ext>
                </a:extLst>
              </p:cNvPr>
              <p:cNvSpPr/>
              <p:nvPr/>
            </p:nvSpPr>
            <p:spPr>
              <a:xfrm>
                <a:off x="485775" y="2675070"/>
                <a:ext cx="4494811" cy="1318718"/>
              </a:xfrm>
              <a:prstGeom prst="roundRect">
                <a:avLst/>
              </a:prstGeom>
              <a:noFill/>
              <a:ln>
                <a:solidFill>
                  <a:srgbClr val="C00000"/>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t">
                <a:noAutofit/>
              </a:bodyPr>
              <a:lstStyle/>
              <a:p>
                <a:pPr marL="173038" indent="-173038" defTabSz="1008309" eaLnBrk="0" hangingPunct="0">
                  <a:spcBef>
                    <a:spcPct val="20000"/>
                  </a:spcBef>
                  <a:buClr>
                    <a:srgbClr val="C00000"/>
                  </a:buClr>
                  <a:buSzPct val="100000"/>
                  <a:buFont typeface="Wingdings 2" panose="05020102010507070707" pitchFamily="18" charset="2"/>
                  <a:buChar char="¡"/>
                  <a:defRPr/>
                </a:pPr>
                <a:endParaRPr lang="en-HK" sz="1100" b="0" dirty="0">
                  <a:solidFill>
                    <a:schemeClr val="tx1"/>
                  </a:solidFill>
                  <a:ea typeface="DFKaiShu-GB5" panose="03000509000000000000" pitchFamily="65" charset="-128"/>
                  <a:cs typeface="Arial" panose="020B0604020202020204" pitchFamily="34" charset="0"/>
                </a:endParaRPr>
              </a:p>
            </p:txBody>
          </p:sp>
        </p:grpSp>
      </p:grpSp>
      <p:sp>
        <p:nvSpPr>
          <p:cNvPr id="16" name="Rectangle 25">
            <a:extLst>
              <a:ext uri="{FF2B5EF4-FFF2-40B4-BE49-F238E27FC236}">
                <a16:creationId xmlns:a16="http://schemas.microsoft.com/office/drawing/2014/main" id="{334851CC-0365-01EF-B7CF-4AE4D570867F}"/>
              </a:ext>
            </a:extLst>
          </p:cNvPr>
          <p:cNvSpPr/>
          <p:nvPr/>
        </p:nvSpPr>
        <p:spPr>
          <a:xfrm>
            <a:off x="1003979" y="5658550"/>
            <a:ext cx="3378588" cy="395298"/>
          </a:xfrm>
          <a:prstGeom prst="rect">
            <a:avLst/>
          </a:prstGeom>
          <a:noFill/>
          <a:ln w="19050" cap="flat" cmpd="sng" algn="ctr">
            <a:noFill/>
            <a:prstDash val="solid"/>
          </a:ln>
          <a:effectLst/>
        </p:spPr>
        <p:txBody>
          <a:bodyPr lIns="45720" rIns="45720" rtlCol="0" anchor="ctr"/>
          <a:lstStyle/>
          <a:p>
            <a:pPr marL="182563" marR="0" lvl="0" indent="-171450" defTabSz="914400" eaLnBrk="1" fontAlgn="auto" latinLnBrk="0" hangingPunct="1">
              <a:lnSpc>
                <a:spcPct val="100000"/>
              </a:lnSpc>
              <a:spcBef>
                <a:spcPts val="0"/>
              </a:spcBef>
              <a:spcAft>
                <a:spcPts val="0"/>
              </a:spcAft>
              <a:buClr>
                <a:srgbClr val="C00000"/>
              </a:buClr>
              <a:buSzTx/>
              <a:buFont typeface="Wingdings 2" panose="05020102010507070707" pitchFamily="18" charset="2"/>
              <a:buChar char="¡"/>
              <a:tabLst/>
              <a:defRPr/>
            </a:pPr>
            <a:r>
              <a:rPr lang="en-US" altLang="zh-CN" sz="1000" kern="0" dirty="0">
                <a:solidFill>
                  <a:schemeClr val="tx1"/>
                </a:solidFill>
                <a:latin typeface="Arial" panose="020B0604020202020204" pitchFamily="34" charset="0"/>
                <a:ea typeface="DFKaiShu-GB5"/>
                <a:cs typeface="Arial" panose="020B0604020202020204" pitchFamily="34" charset="0"/>
              </a:rPr>
              <a:t>Valuation of Healthcare : S$160mn - S$251mn</a:t>
            </a:r>
          </a:p>
          <a:p>
            <a:pPr marL="11113" fontAlgn="auto">
              <a:spcBef>
                <a:spcPts val="0"/>
              </a:spcBef>
              <a:spcAft>
                <a:spcPts val="0"/>
              </a:spcAft>
              <a:buClr>
                <a:srgbClr val="C00000"/>
              </a:buClr>
              <a:defRPr/>
            </a:pPr>
            <a:endParaRPr lang="en-US" altLang="zh-CN" sz="900" kern="0" dirty="0">
              <a:solidFill>
                <a:schemeClr val="tx1"/>
              </a:solidFill>
              <a:latin typeface="Arial" panose="020B0604020202020204" pitchFamily="34" charset="0"/>
              <a:ea typeface="DFKaiShu-GB5"/>
              <a:cs typeface="Arial" panose="020B0604020202020204" pitchFamily="34" charset="0"/>
            </a:endParaRPr>
          </a:p>
        </p:txBody>
      </p:sp>
      <p:sp>
        <p:nvSpPr>
          <p:cNvPr id="24" name="Rectangle 56">
            <a:extLst>
              <a:ext uri="{FF2B5EF4-FFF2-40B4-BE49-F238E27FC236}">
                <a16:creationId xmlns:a16="http://schemas.microsoft.com/office/drawing/2014/main" id="{73030E6D-5DC0-81E4-BE5A-3A2F9B58EF53}"/>
              </a:ext>
            </a:extLst>
          </p:cNvPr>
          <p:cNvSpPr/>
          <p:nvPr/>
        </p:nvSpPr>
        <p:spPr>
          <a:xfrm>
            <a:off x="1558026" y="4252336"/>
            <a:ext cx="627063" cy="1175918"/>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Arial" panose="020B0604020202020204" pitchFamily="34" charset="0"/>
              <a:cs typeface="Arial" panose="020B0604020202020204" pitchFamily="34" charset="0"/>
            </a:endParaRPr>
          </a:p>
        </p:txBody>
      </p:sp>
      <p:grpSp>
        <p:nvGrpSpPr>
          <p:cNvPr id="38" name="群組 37">
            <a:extLst>
              <a:ext uri="{FF2B5EF4-FFF2-40B4-BE49-F238E27FC236}">
                <a16:creationId xmlns:a16="http://schemas.microsoft.com/office/drawing/2014/main" id="{0CFBA3BC-C739-77D8-3782-915C4307280C}"/>
              </a:ext>
            </a:extLst>
          </p:cNvPr>
          <p:cNvGrpSpPr/>
          <p:nvPr/>
        </p:nvGrpSpPr>
        <p:grpSpPr>
          <a:xfrm>
            <a:off x="5109453" y="2327051"/>
            <a:ext cx="3981782" cy="1868605"/>
            <a:chOff x="485775" y="3980715"/>
            <a:chExt cx="4467225" cy="1889399"/>
          </a:xfrm>
        </p:grpSpPr>
        <p:sp>
          <p:nvSpPr>
            <p:cNvPr id="43" name="Rectangle 4">
              <a:extLst>
                <a:ext uri="{FF2B5EF4-FFF2-40B4-BE49-F238E27FC236}">
                  <a16:creationId xmlns:a16="http://schemas.microsoft.com/office/drawing/2014/main" id="{B2E49567-AF2D-9447-200D-BCB3888FE65F}"/>
                </a:ext>
              </a:extLst>
            </p:cNvPr>
            <p:cNvSpPr/>
            <p:nvPr/>
          </p:nvSpPr>
          <p:spPr>
            <a:xfrm>
              <a:off x="3045067" y="4061004"/>
              <a:ext cx="1769660" cy="155601"/>
            </a:xfrm>
            <a:prstGeom prst="rect">
              <a:avLst/>
            </a:prstGeom>
            <a:noFill/>
          </p:spPr>
          <p:txBody>
            <a:bodyPr wrap="none" lIns="0" tIns="0" rIns="0" bIns="0" rtlCol="0" anchor="b"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solidFill>
                    <a:srgbClr val="C00000"/>
                  </a:solidFill>
                  <a:latin typeface="Arial" panose="020B0604020202020204" pitchFamily="34" charset="0"/>
                  <a:ea typeface="DFKaiShu-GB5"/>
                  <a:cs typeface="Arial" panose="020B0604020202020204" pitchFamily="34" charset="0"/>
                </a:rPr>
                <a:t>Implied Valuation Multiple</a:t>
              </a:r>
              <a:endParaRPr lang="en-US" sz="1000" b="1" dirty="0">
                <a:solidFill>
                  <a:srgbClr val="C00000"/>
                </a:solidFill>
                <a:latin typeface="Arial" panose="020B0604020202020204" pitchFamily="34" charset="0"/>
                <a:ea typeface="DFKaiShu-GB5"/>
                <a:cs typeface="Arial" panose="020B0604020202020204" pitchFamily="34" charset="0"/>
              </a:endParaRPr>
            </a:p>
          </p:txBody>
        </p:sp>
        <p:sp>
          <p:nvSpPr>
            <p:cNvPr id="44" name="Rectangle 33">
              <a:extLst>
                <a:ext uri="{FF2B5EF4-FFF2-40B4-BE49-F238E27FC236}">
                  <a16:creationId xmlns:a16="http://schemas.microsoft.com/office/drawing/2014/main" id="{E491445A-9297-482A-B250-5152D1352279}"/>
                </a:ext>
              </a:extLst>
            </p:cNvPr>
            <p:cNvSpPr/>
            <p:nvPr/>
          </p:nvSpPr>
          <p:spPr>
            <a:xfrm>
              <a:off x="3313587" y="4785887"/>
              <a:ext cx="1501140" cy="843183"/>
            </a:xfrm>
            <a:prstGeom prst="rect">
              <a:avLst/>
            </a:prstGeom>
            <a:noFill/>
            <a:ln w="19050" cap="flat" cmpd="sng" algn="ctr">
              <a:noFill/>
              <a:prstDash val="solid"/>
            </a:ln>
            <a:effectLst/>
          </p:spPr>
          <p:txBody>
            <a:bodyPr rtlCol="0" anchor="ctr"/>
            <a:lstStyle/>
            <a:p>
              <a:pPr marL="11113" marR="0" lvl="0" algn="ctr" defTabSz="914400" eaLnBrk="1" fontAlgn="auto" latinLnBrk="0" hangingPunct="1">
                <a:lnSpc>
                  <a:spcPct val="100000"/>
                </a:lnSpc>
                <a:spcBef>
                  <a:spcPts val="0"/>
                </a:spcBef>
                <a:spcAft>
                  <a:spcPts val="0"/>
                </a:spcAft>
                <a:buClr>
                  <a:srgbClr val="E2231A"/>
                </a:buClr>
                <a:buSzTx/>
                <a:tabLst/>
                <a:defRPr/>
              </a:pPr>
              <a:r>
                <a:rPr lang="en-US" altLang="zh-CN" sz="1000" kern="0" dirty="0">
                  <a:solidFill>
                    <a:schemeClr val="tx1"/>
                  </a:solidFill>
                  <a:latin typeface="Arial" panose="020B0604020202020204" pitchFamily="34" charset="0"/>
                  <a:ea typeface="DFKaiShu-GB5"/>
                  <a:cs typeface="Arial" panose="020B0604020202020204" pitchFamily="34" charset="0"/>
                </a:rPr>
                <a:t>2028F EV/EBITDA:</a:t>
              </a:r>
            </a:p>
            <a:p>
              <a:pPr marL="11113" marR="0" lvl="0" algn="ctr" defTabSz="914400" eaLnBrk="1" fontAlgn="auto" latinLnBrk="0" hangingPunct="1">
                <a:lnSpc>
                  <a:spcPct val="100000"/>
                </a:lnSpc>
                <a:spcBef>
                  <a:spcPts val="0"/>
                </a:spcBef>
                <a:spcAft>
                  <a:spcPts val="600"/>
                </a:spcAft>
                <a:buClr>
                  <a:srgbClr val="E2231A"/>
                </a:buClr>
                <a:buSzTx/>
                <a:tabLst/>
                <a:defRPr/>
              </a:pPr>
              <a:r>
                <a:rPr lang="en-US" altLang="zh-CN" sz="1000" kern="0" dirty="0">
                  <a:solidFill>
                    <a:srgbClr val="C00000"/>
                  </a:solidFill>
                  <a:latin typeface="Arial" panose="020B0604020202020204" pitchFamily="34" charset="0"/>
                  <a:ea typeface="DFKaiShu-GB5"/>
                  <a:cs typeface="Arial" panose="020B0604020202020204" pitchFamily="34" charset="0"/>
                </a:rPr>
                <a:t>10.1x-10.4x</a:t>
              </a:r>
            </a:p>
          </p:txBody>
        </p:sp>
        <p:sp>
          <p:nvSpPr>
            <p:cNvPr id="49" name="Rectangle 40">
              <a:extLst>
                <a:ext uri="{FF2B5EF4-FFF2-40B4-BE49-F238E27FC236}">
                  <a16:creationId xmlns:a16="http://schemas.microsoft.com/office/drawing/2014/main" id="{5AF6C213-B917-173E-DBD4-5BF7A7DFEA83}"/>
                </a:ext>
              </a:extLst>
            </p:cNvPr>
            <p:cNvSpPr/>
            <p:nvPr/>
          </p:nvSpPr>
          <p:spPr>
            <a:xfrm>
              <a:off x="3248948" y="4213962"/>
              <a:ext cx="1501140" cy="843183"/>
            </a:xfrm>
            <a:prstGeom prst="rect">
              <a:avLst/>
            </a:prstGeom>
            <a:noFill/>
            <a:ln w="19050" cap="flat" cmpd="sng" algn="ctr">
              <a:noFill/>
              <a:prstDash val="solid"/>
            </a:ln>
            <a:effectLst/>
          </p:spPr>
          <p:txBody>
            <a:bodyPr rtlCol="0" anchor="ctr"/>
            <a:lstStyle/>
            <a:p>
              <a:pPr marL="11113" marR="0" lvl="0" algn="ctr" defTabSz="914400" eaLnBrk="1" fontAlgn="auto" latinLnBrk="0" hangingPunct="1">
                <a:lnSpc>
                  <a:spcPct val="100000"/>
                </a:lnSpc>
                <a:spcBef>
                  <a:spcPts val="0"/>
                </a:spcBef>
                <a:spcAft>
                  <a:spcPts val="0"/>
                </a:spcAft>
                <a:buClr>
                  <a:srgbClr val="E2231A"/>
                </a:buClr>
                <a:buSzTx/>
                <a:tabLst/>
                <a:defRPr/>
              </a:pPr>
              <a:r>
                <a:rPr lang="en-US" altLang="zh-CN" sz="900" kern="0" dirty="0">
                  <a:solidFill>
                    <a:schemeClr val="tx1"/>
                  </a:solidFill>
                  <a:latin typeface="Arial" panose="020B0604020202020204" pitchFamily="34" charset="0"/>
                  <a:ea typeface="DFKaiShu-GB5"/>
                  <a:cs typeface="Arial" panose="020B0604020202020204" pitchFamily="34" charset="0"/>
                </a:rPr>
                <a:t>2028F P/E:</a:t>
              </a:r>
            </a:p>
            <a:p>
              <a:pPr marL="11113" marR="0" lvl="0" algn="ctr" defTabSz="914400" eaLnBrk="1" fontAlgn="auto" latinLnBrk="0" hangingPunct="1">
                <a:lnSpc>
                  <a:spcPct val="100000"/>
                </a:lnSpc>
                <a:spcBef>
                  <a:spcPts val="0"/>
                </a:spcBef>
                <a:spcAft>
                  <a:spcPts val="600"/>
                </a:spcAft>
                <a:buClr>
                  <a:srgbClr val="E2231A"/>
                </a:buClr>
                <a:buSzTx/>
                <a:tabLst/>
                <a:defRPr/>
              </a:pPr>
              <a:r>
                <a:rPr lang="en-US" altLang="zh-CN" sz="900" kern="0" dirty="0">
                  <a:solidFill>
                    <a:srgbClr val="C00000"/>
                  </a:solidFill>
                  <a:latin typeface="Arial" panose="020B0604020202020204" pitchFamily="34" charset="0"/>
                  <a:ea typeface="DFKaiShu-GB5"/>
                  <a:cs typeface="Arial" panose="020B0604020202020204" pitchFamily="34" charset="0"/>
                </a:rPr>
                <a:t>13.4x-13.9x</a:t>
              </a:r>
            </a:p>
          </p:txBody>
        </p:sp>
        <p:sp>
          <p:nvSpPr>
            <p:cNvPr id="52" name="Rectangle 4">
              <a:extLst>
                <a:ext uri="{FF2B5EF4-FFF2-40B4-BE49-F238E27FC236}">
                  <a16:creationId xmlns:a16="http://schemas.microsoft.com/office/drawing/2014/main" id="{DE76AB39-0B65-2D95-370F-CB88395DE063}"/>
                </a:ext>
              </a:extLst>
            </p:cNvPr>
            <p:cNvSpPr/>
            <p:nvPr/>
          </p:nvSpPr>
          <p:spPr>
            <a:xfrm>
              <a:off x="809306" y="4010585"/>
              <a:ext cx="2129347" cy="311202"/>
            </a:xfrm>
            <a:prstGeom prst="rect">
              <a:avLst/>
            </a:prstGeom>
            <a:noFill/>
          </p:spPr>
          <p:txBody>
            <a:bodyPr wrap="none" lIns="0" tIns="0" rIns="0" bIns="0" rtlCol="0" anchor="b"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C00000"/>
                  </a:solidFill>
                  <a:effectLst/>
                  <a:uLnTx/>
                  <a:uFillTx/>
                  <a:latin typeface="Arial" panose="020B0604020202020204" pitchFamily="34" charset="0"/>
                  <a:ea typeface="DFKaiShu-GB5"/>
                  <a:cs typeface="Arial" panose="020B0604020202020204" pitchFamily="34" charset="0"/>
                </a:rPr>
                <a:t>Indicative HK Listing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C00000"/>
                  </a:solidFill>
                  <a:effectLst/>
                  <a:uLnTx/>
                  <a:uFillTx/>
                  <a:latin typeface="Arial" panose="020B0604020202020204" pitchFamily="34" charset="0"/>
                  <a:ea typeface="DFKaiShu-GB5"/>
                  <a:cs typeface="Arial" panose="020B0604020202020204" pitchFamily="34" charset="0"/>
                </a:rPr>
                <a:t>Equity Valuation Range (</a:t>
              </a:r>
              <a:r>
                <a:rPr lang="en-US" altLang="zh-CN" sz="1000" dirty="0">
                  <a:solidFill>
                    <a:srgbClr val="C00000"/>
                  </a:solidFill>
                  <a:latin typeface="Arial" panose="020B0604020202020204" pitchFamily="34" charset="0"/>
                  <a:ea typeface="DFKaiShu-GB5"/>
                  <a:cs typeface="Arial" panose="020B0604020202020204" pitchFamily="34" charset="0"/>
                </a:rPr>
                <a:t>S$</a:t>
              </a:r>
              <a:r>
                <a:rPr kumimoji="0" lang="en-US" altLang="zh-CN" sz="1000" b="1" i="0" u="none" strike="noStrike" kern="1200" cap="none" spc="0" normalizeH="0" baseline="0" noProof="0" dirty="0" err="1">
                  <a:ln>
                    <a:noFill/>
                  </a:ln>
                  <a:solidFill>
                    <a:srgbClr val="C00000"/>
                  </a:solidFill>
                  <a:effectLst/>
                  <a:uLnTx/>
                  <a:uFillTx/>
                  <a:latin typeface="Arial" panose="020B0604020202020204" pitchFamily="34" charset="0"/>
                  <a:ea typeface="DFKaiShu-GB5"/>
                  <a:cs typeface="Arial" panose="020B0604020202020204" pitchFamily="34" charset="0"/>
                </a:rPr>
                <a:t>mn</a:t>
              </a:r>
              <a:r>
                <a:rPr kumimoji="0" lang="en-US" altLang="zh-CN" sz="1000" b="1" i="0" u="none" strike="noStrike" kern="1200" cap="none" spc="0" normalizeH="0" baseline="0" noProof="0" dirty="0">
                  <a:ln>
                    <a:noFill/>
                  </a:ln>
                  <a:solidFill>
                    <a:srgbClr val="C00000"/>
                  </a:solidFill>
                  <a:effectLst/>
                  <a:uLnTx/>
                  <a:uFillTx/>
                  <a:latin typeface="Arial" panose="020B0604020202020204" pitchFamily="34" charset="0"/>
                  <a:ea typeface="DFKaiShu-GB5"/>
                  <a:cs typeface="Arial" panose="020B0604020202020204" pitchFamily="34" charset="0"/>
                </a:rPr>
                <a:t>)</a:t>
              </a:r>
              <a:endParaRPr kumimoji="0" lang="en-US" sz="1000" b="1" i="0" u="none" strike="noStrike" kern="1200" cap="none" spc="0" normalizeH="0" baseline="0" noProof="0" dirty="0">
                <a:ln>
                  <a:noFill/>
                </a:ln>
                <a:solidFill>
                  <a:srgbClr val="C00000"/>
                </a:solidFill>
                <a:effectLst/>
                <a:uLnTx/>
                <a:uFillTx/>
                <a:latin typeface="Arial" panose="020B0604020202020204" pitchFamily="34" charset="0"/>
                <a:ea typeface="DFKaiShu-GB5"/>
                <a:cs typeface="Arial" panose="020B0604020202020204" pitchFamily="34" charset="0"/>
              </a:endParaRPr>
            </a:p>
          </p:txBody>
        </p:sp>
        <p:sp>
          <p:nvSpPr>
            <p:cNvPr id="51" name="Rectangle: Rounded Corners 10">
              <a:extLst>
                <a:ext uri="{FF2B5EF4-FFF2-40B4-BE49-F238E27FC236}">
                  <a16:creationId xmlns:a16="http://schemas.microsoft.com/office/drawing/2014/main" id="{BF85C6A1-1DBE-BC5F-7812-E8A3B0930F2F}"/>
                </a:ext>
              </a:extLst>
            </p:cNvPr>
            <p:cNvSpPr/>
            <p:nvPr/>
          </p:nvSpPr>
          <p:spPr>
            <a:xfrm>
              <a:off x="485775" y="3980715"/>
              <a:ext cx="4467225" cy="1889399"/>
            </a:xfrm>
            <a:prstGeom prst="roundRect">
              <a:avLst/>
            </a:prstGeom>
            <a:noFill/>
            <a:ln>
              <a:solidFill>
                <a:srgbClr val="C00000"/>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t">
              <a:noAutofit/>
            </a:bodyPr>
            <a:lstStyle/>
            <a:p>
              <a:pPr marL="173038" indent="-173038" defTabSz="1008309" eaLnBrk="0" hangingPunct="0">
                <a:spcBef>
                  <a:spcPct val="20000"/>
                </a:spcBef>
                <a:buClr>
                  <a:srgbClr val="C00000"/>
                </a:buClr>
                <a:buSzPct val="100000"/>
                <a:buFont typeface="Wingdings 2" panose="05020102010507070707" pitchFamily="18" charset="2"/>
                <a:buChar char="¡"/>
                <a:defRPr/>
              </a:pPr>
              <a:endParaRPr lang="en-HK" sz="1100" b="0" dirty="0">
                <a:solidFill>
                  <a:schemeClr val="tx1"/>
                </a:solidFill>
                <a:ea typeface="DFKaiShu-GB5" panose="03000509000000000000" pitchFamily="65" charset="-128"/>
                <a:cs typeface="Arial" panose="020B0604020202020204" pitchFamily="34" charset="0"/>
              </a:endParaRPr>
            </a:p>
          </p:txBody>
        </p:sp>
      </p:grpSp>
      <p:sp>
        <p:nvSpPr>
          <p:cNvPr id="63" name="Rectangle 25">
            <a:extLst>
              <a:ext uri="{FF2B5EF4-FFF2-40B4-BE49-F238E27FC236}">
                <a16:creationId xmlns:a16="http://schemas.microsoft.com/office/drawing/2014/main" id="{78603F89-ADB7-D82F-2611-3CBC8404FF8F}"/>
              </a:ext>
            </a:extLst>
          </p:cNvPr>
          <p:cNvSpPr/>
          <p:nvPr/>
        </p:nvSpPr>
        <p:spPr>
          <a:xfrm>
            <a:off x="5348089" y="3884218"/>
            <a:ext cx="3864192" cy="280240"/>
          </a:xfrm>
          <a:prstGeom prst="rect">
            <a:avLst/>
          </a:prstGeom>
          <a:noFill/>
          <a:ln w="19050" cap="flat" cmpd="sng" algn="ctr">
            <a:noFill/>
            <a:prstDash val="solid"/>
          </a:ln>
          <a:effectLst/>
        </p:spPr>
        <p:txBody>
          <a:bodyPr lIns="45720" rIns="45720" rtlCol="0" anchor="ctr"/>
          <a:lstStyle/>
          <a:p>
            <a:pPr marL="182563" marR="0" lvl="0" indent="-171450" defTabSz="914400" eaLnBrk="1" fontAlgn="auto" latinLnBrk="0" hangingPunct="1">
              <a:lnSpc>
                <a:spcPct val="100000"/>
              </a:lnSpc>
              <a:spcBef>
                <a:spcPts val="0"/>
              </a:spcBef>
              <a:spcAft>
                <a:spcPts val="0"/>
              </a:spcAft>
              <a:buClr>
                <a:srgbClr val="C00000"/>
              </a:buClr>
              <a:buSzTx/>
              <a:buFont typeface="Wingdings 2" panose="05020102010507070707" pitchFamily="18" charset="2"/>
              <a:buChar char="¡"/>
              <a:tabLst/>
              <a:defRPr/>
            </a:pPr>
            <a:r>
              <a:rPr lang="en-US" altLang="zh-CN" sz="1000" kern="0" dirty="0">
                <a:solidFill>
                  <a:schemeClr val="tx1"/>
                </a:solidFill>
                <a:latin typeface="Arial" panose="020B0604020202020204" pitchFamily="34" charset="0"/>
                <a:ea typeface="DFKaiShu-GB5"/>
                <a:cs typeface="Arial" panose="020B0604020202020204" pitchFamily="34" charset="0"/>
              </a:rPr>
              <a:t>Valuation of IVF : S$96mn - S$99mn</a:t>
            </a:r>
          </a:p>
        </p:txBody>
      </p:sp>
      <p:sp>
        <p:nvSpPr>
          <p:cNvPr id="35" name="Rectangle: Rounded Corners 22">
            <a:extLst>
              <a:ext uri="{FF2B5EF4-FFF2-40B4-BE49-F238E27FC236}">
                <a16:creationId xmlns:a16="http://schemas.microsoft.com/office/drawing/2014/main" id="{44DE2F62-23B7-A32D-A507-0EE3DEF74556}"/>
              </a:ext>
            </a:extLst>
          </p:cNvPr>
          <p:cNvSpPr/>
          <p:nvPr/>
        </p:nvSpPr>
        <p:spPr>
          <a:xfrm>
            <a:off x="5166646" y="4336762"/>
            <a:ext cx="3981782" cy="243031"/>
          </a:xfrm>
          <a:prstGeom prst="roundRect">
            <a:avLst>
              <a:gd name="adj" fmla="val 50000"/>
            </a:avLst>
          </a:prstGeom>
          <a:gradFill flip="none" rotWithShape="1">
            <a:gsLst>
              <a:gs pos="0">
                <a:schemeClr val="accent6">
                  <a:lumMod val="40000"/>
                  <a:lumOff val="60000"/>
                  <a:tint val="66000"/>
                  <a:satMod val="160000"/>
                </a:schemeClr>
              </a:gs>
              <a:gs pos="50000">
                <a:schemeClr val="accent6">
                  <a:lumMod val="40000"/>
                  <a:lumOff val="60000"/>
                  <a:tint val="44500"/>
                  <a:satMod val="160000"/>
                </a:schemeClr>
              </a:gs>
              <a:gs pos="100000">
                <a:schemeClr val="accent6">
                  <a:lumMod val="40000"/>
                  <a:lumOff val="60000"/>
                  <a:tint val="23500"/>
                  <a:satMod val="16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100834" rtlCol="0" anchor="ctr"/>
          <a:lstStyle/>
          <a:p>
            <a:pPr marL="101531" defTabSz="1008309" eaLnBrk="0" hangingPunct="0">
              <a:spcBef>
                <a:spcPts val="336"/>
              </a:spcBef>
              <a:buClr>
                <a:srgbClr val="4276AA"/>
              </a:buClr>
              <a:buSzPct val="90000"/>
              <a:defRPr/>
            </a:pPr>
            <a:r>
              <a:rPr lang="en-US" altLang="zh-CN" sz="1200" spc="-6" dirty="0">
                <a:solidFill>
                  <a:schemeClr val="tx1"/>
                </a:solidFill>
                <a:cs typeface="Arial" panose="020B0604020202020204" pitchFamily="34" charset="0"/>
              </a:rPr>
              <a:t>Potential inclusion of stem cell/ other business</a:t>
            </a:r>
            <a:endParaRPr lang="en-GB" altLang="zh-CN" sz="1200" spc="-6" dirty="0">
              <a:solidFill>
                <a:schemeClr val="tx1"/>
              </a:solidFill>
              <a:cs typeface="Arial" panose="020B0604020202020204" pitchFamily="34" charset="0"/>
            </a:endParaRPr>
          </a:p>
        </p:txBody>
      </p:sp>
      <p:sp>
        <p:nvSpPr>
          <p:cNvPr id="37" name="Rectangle: Rounded Corners 10">
            <a:extLst>
              <a:ext uri="{FF2B5EF4-FFF2-40B4-BE49-F238E27FC236}">
                <a16:creationId xmlns:a16="http://schemas.microsoft.com/office/drawing/2014/main" id="{957FC4FE-F6A0-250A-7C4E-382C9278CFA7}"/>
              </a:ext>
            </a:extLst>
          </p:cNvPr>
          <p:cNvSpPr/>
          <p:nvPr/>
        </p:nvSpPr>
        <p:spPr>
          <a:xfrm>
            <a:off x="5136752" y="4688240"/>
            <a:ext cx="4036816" cy="1198500"/>
          </a:xfrm>
          <a:prstGeom prst="roundRect">
            <a:avLst/>
          </a:prstGeom>
          <a:noFill/>
          <a:ln>
            <a:solidFill>
              <a:srgbClr val="C00000"/>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t">
            <a:noAutofit/>
          </a:bodyPr>
          <a:lstStyle/>
          <a:p>
            <a:pPr marL="173038" indent="-173038" defTabSz="1008309" eaLnBrk="0" hangingPunct="0">
              <a:spcBef>
                <a:spcPct val="20000"/>
              </a:spcBef>
              <a:buClr>
                <a:srgbClr val="C00000"/>
              </a:buClr>
              <a:buSzPct val="100000"/>
              <a:buFont typeface="Wingdings 2" panose="05020102010507070707" pitchFamily="18" charset="2"/>
              <a:buChar char="¡"/>
              <a:defRPr/>
            </a:pPr>
            <a:endParaRPr lang="en-HK" sz="1100" b="0" dirty="0">
              <a:solidFill>
                <a:schemeClr val="tx1"/>
              </a:solidFill>
              <a:ea typeface="DFKaiShu-GB5" panose="03000509000000000000" pitchFamily="65" charset="-128"/>
              <a:cs typeface="Arial" panose="020B0604020202020204" pitchFamily="34" charset="0"/>
            </a:endParaRPr>
          </a:p>
        </p:txBody>
      </p:sp>
      <p:sp>
        <p:nvSpPr>
          <p:cNvPr id="39" name="Rectangle: Rounded Corners 22">
            <a:extLst>
              <a:ext uri="{FF2B5EF4-FFF2-40B4-BE49-F238E27FC236}">
                <a16:creationId xmlns:a16="http://schemas.microsoft.com/office/drawing/2014/main" id="{7A7DC665-E80B-25D8-A81A-E3A673051737}"/>
              </a:ext>
            </a:extLst>
          </p:cNvPr>
          <p:cNvSpPr/>
          <p:nvPr/>
        </p:nvSpPr>
        <p:spPr>
          <a:xfrm>
            <a:off x="693160" y="3623070"/>
            <a:ext cx="4036815" cy="243031"/>
          </a:xfrm>
          <a:prstGeom prst="roundRect">
            <a:avLst>
              <a:gd name="adj" fmla="val 50000"/>
            </a:avLst>
          </a:prstGeom>
          <a:gradFill>
            <a:gsLst>
              <a:gs pos="0">
                <a:srgbClr val="FEB8B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0834" rtlCol="0" anchor="ctr"/>
          <a:lstStyle/>
          <a:p>
            <a:pPr marL="101531" defTabSz="1008309" eaLnBrk="0" fontAlgn="base" hangingPunct="0">
              <a:spcBef>
                <a:spcPts val="336"/>
              </a:spcBef>
              <a:spcAft>
                <a:spcPct val="0"/>
              </a:spcAft>
              <a:buClr>
                <a:srgbClr val="4276AA"/>
              </a:buClr>
              <a:buSzPct val="90000"/>
              <a:defRPr/>
            </a:pPr>
            <a:r>
              <a:rPr lang="en-GB" altLang="zh-CN" sz="1200" b="1" spc="-6" dirty="0">
                <a:solidFill>
                  <a:schemeClr val="tx1"/>
                </a:solidFill>
                <a:cs typeface="Arial" panose="020B0604020202020204" pitchFamily="34" charset="0"/>
              </a:rPr>
              <a:t>Healthcare </a:t>
            </a:r>
            <a:r>
              <a:rPr lang="en-US" altLang="zh-CN" sz="1200" spc="-6" dirty="0">
                <a:solidFill>
                  <a:schemeClr val="tx1"/>
                </a:solidFill>
                <a:cs typeface="Arial" panose="020B0604020202020204" pitchFamily="34" charset="0"/>
              </a:rPr>
              <a:t>business</a:t>
            </a:r>
            <a:endParaRPr lang="en-GB" altLang="zh-CN" sz="1200" b="1" spc="-6" dirty="0">
              <a:solidFill>
                <a:schemeClr val="tx1"/>
              </a:solidFill>
              <a:cs typeface="Arial" panose="020B0604020202020204" pitchFamily="34" charset="0"/>
            </a:endParaRPr>
          </a:p>
        </p:txBody>
      </p:sp>
      <p:sp>
        <p:nvSpPr>
          <p:cNvPr id="55" name="Rectangle: Rounded Corners 22">
            <a:extLst>
              <a:ext uri="{FF2B5EF4-FFF2-40B4-BE49-F238E27FC236}">
                <a16:creationId xmlns:a16="http://schemas.microsoft.com/office/drawing/2014/main" id="{FCD697AA-969E-308B-7161-151C087164EE}"/>
              </a:ext>
            </a:extLst>
          </p:cNvPr>
          <p:cNvSpPr/>
          <p:nvPr/>
        </p:nvSpPr>
        <p:spPr>
          <a:xfrm>
            <a:off x="732058" y="2001466"/>
            <a:ext cx="3981782" cy="243031"/>
          </a:xfrm>
          <a:prstGeom prst="roundRect">
            <a:avLst>
              <a:gd name="adj" fmla="val 50000"/>
            </a:avLst>
          </a:prstGeom>
          <a:gradFill>
            <a:gsLst>
              <a:gs pos="0">
                <a:srgbClr val="FEB8B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0834" rtlCol="0" anchor="ctr"/>
          <a:lstStyle/>
          <a:p>
            <a:pPr marL="101531" defTabSz="1008309" eaLnBrk="0" hangingPunct="0">
              <a:spcBef>
                <a:spcPts val="336"/>
              </a:spcBef>
              <a:buClr>
                <a:srgbClr val="4276AA"/>
              </a:buClr>
              <a:buSzPct val="90000"/>
              <a:defRPr/>
            </a:pPr>
            <a:r>
              <a:rPr lang="en-US" altLang="zh-CN" sz="1200" spc="-6" dirty="0">
                <a:solidFill>
                  <a:schemeClr val="tx1"/>
                </a:solidFill>
                <a:cs typeface="Arial" panose="020B0604020202020204" pitchFamily="34" charset="0"/>
              </a:rPr>
              <a:t>Assumptions</a:t>
            </a:r>
          </a:p>
        </p:txBody>
      </p:sp>
      <p:sp>
        <p:nvSpPr>
          <p:cNvPr id="60" name="Rectangle 25">
            <a:extLst>
              <a:ext uri="{FF2B5EF4-FFF2-40B4-BE49-F238E27FC236}">
                <a16:creationId xmlns:a16="http://schemas.microsoft.com/office/drawing/2014/main" id="{9C86B596-13AE-5EBB-1475-6B74E9A5A6ED}"/>
              </a:ext>
            </a:extLst>
          </p:cNvPr>
          <p:cNvSpPr/>
          <p:nvPr/>
        </p:nvSpPr>
        <p:spPr>
          <a:xfrm>
            <a:off x="5207232" y="4726705"/>
            <a:ext cx="3924673" cy="1162788"/>
          </a:xfrm>
          <a:prstGeom prst="rect">
            <a:avLst/>
          </a:prstGeom>
          <a:noFill/>
          <a:ln w="19050" cap="flat" cmpd="sng" algn="ctr">
            <a:noFill/>
            <a:prstDash val="solid"/>
          </a:ln>
          <a:effectLst/>
        </p:spPr>
        <p:txBody>
          <a:bodyPr lIns="45720" rIns="45720" rtlCol="0" anchor="ctr"/>
          <a:lstStyle/>
          <a:p>
            <a:pPr marL="182563" indent="-171450">
              <a:buClr>
                <a:srgbClr val="C00000"/>
              </a:buClr>
              <a:buFont typeface="Wingdings 2" panose="05020102010507070707" pitchFamily="18" charset="2"/>
              <a:buChar char="¡"/>
              <a:defRPr/>
            </a:pPr>
            <a:r>
              <a:rPr lang="en-US" sz="1000" b="0" kern="0" dirty="0">
                <a:solidFill>
                  <a:schemeClr val="tx1"/>
                </a:solidFill>
                <a:latin typeface="Arial" panose="020B0604020202020204" pitchFamily="34" charset="0"/>
                <a:ea typeface="DFKaiShu-GB5"/>
                <a:cs typeface="Arial" panose="020B0604020202020204" pitchFamily="34" charset="0"/>
              </a:rPr>
              <a:t>Based on our analysis, the valuation of healthcare and IVF business of the company is about S$256mn - S$350mn. The company should consider the inclusion of stem cell or other business in the listing group to reach a valuation of approximately S$511mn, equivalent to USD400mn to attract a wider group of audience</a:t>
            </a:r>
            <a:endParaRPr lang="en-US" altLang="zh-CN" sz="1000" b="0" kern="0" dirty="0">
              <a:solidFill>
                <a:schemeClr val="tx1"/>
              </a:solidFill>
              <a:latin typeface="Arial" panose="020B0604020202020204" pitchFamily="34" charset="0"/>
              <a:ea typeface="DFKaiShu-GB5"/>
              <a:cs typeface="Arial" panose="020B0604020202020204" pitchFamily="34" charset="0"/>
            </a:endParaRPr>
          </a:p>
        </p:txBody>
      </p:sp>
      <p:sp>
        <p:nvSpPr>
          <p:cNvPr id="2" name="文字方塊 1">
            <a:extLst>
              <a:ext uri="{FF2B5EF4-FFF2-40B4-BE49-F238E27FC236}">
                <a16:creationId xmlns:a16="http://schemas.microsoft.com/office/drawing/2014/main" id="{E6C1D340-7515-D150-ECBE-22066894E237}"/>
              </a:ext>
            </a:extLst>
          </p:cNvPr>
          <p:cNvSpPr txBox="1"/>
          <p:nvPr/>
        </p:nvSpPr>
        <p:spPr>
          <a:xfrm>
            <a:off x="1374866" y="5441756"/>
            <a:ext cx="501049" cy="246221"/>
          </a:xfrm>
          <a:prstGeom prst="rect">
            <a:avLst/>
          </a:prstGeom>
          <a:noFill/>
        </p:spPr>
        <p:txBody>
          <a:bodyPr wrap="square" rtlCol="0">
            <a:spAutoFit/>
          </a:bodyPr>
          <a:lstStyle/>
          <a:p>
            <a:r>
              <a:rPr lang="en-US" sz="1000" dirty="0">
                <a:solidFill>
                  <a:schemeClr val="bg2">
                    <a:lumMod val="75000"/>
                  </a:schemeClr>
                </a:solidFill>
              </a:rPr>
              <a:t>160</a:t>
            </a:r>
          </a:p>
        </p:txBody>
      </p:sp>
      <p:sp>
        <p:nvSpPr>
          <p:cNvPr id="5" name="文字方塊 4">
            <a:extLst>
              <a:ext uri="{FF2B5EF4-FFF2-40B4-BE49-F238E27FC236}">
                <a16:creationId xmlns:a16="http://schemas.microsoft.com/office/drawing/2014/main" id="{7679651D-0453-0823-8F9F-7353EADD6D1A}"/>
              </a:ext>
            </a:extLst>
          </p:cNvPr>
          <p:cNvSpPr txBox="1"/>
          <p:nvPr/>
        </p:nvSpPr>
        <p:spPr>
          <a:xfrm>
            <a:off x="1995375" y="5435360"/>
            <a:ext cx="501049" cy="246221"/>
          </a:xfrm>
          <a:prstGeom prst="rect">
            <a:avLst/>
          </a:prstGeom>
          <a:noFill/>
        </p:spPr>
        <p:txBody>
          <a:bodyPr wrap="square" rtlCol="0">
            <a:spAutoFit/>
          </a:bodyPr>
          <a:lstStyle/>
          <a:p>
            <a:r>
              <a:rPr lang="en-US" sz="1000" dirty="0">
                <a:solidFill>
                  <a:schemeClr val="bg2">
                    <a:lumMod val="75000"/>
                  </a:schemeClr>
                </a:solidFill>
              </a:rPr>
              <a:t>251</a:t>
            </a:r>
          </a:p>
        </p:txBody>
      </p:sp>
      <p:sp>
        <p:nvSpPr>
          <p:cNvPr id="11" name="文字方塊 10">
            <a:extLst>
              <a:ext uri="{FF2B5EF4-FFF2-40B4-BE49-F238E27FC236}">
                <a16:creationId xmlns:a16="http://schemas.microsoft.com/office/drawing/2014/main" id="{9CF65C7B-A3B4-E215-73C3-B76D9FF61C27}"/>
              </a:ext>
            </a:extLst>
          </p:cNvPr>
          <p:cNvSpPr txBox="1"/>
          <p:nvPr/>
        </p:nvSpPr>
        <p:spPr>
          <a:xfrm>
            <a:off x="6051132" y="3680462"/>
            <a:ext cx="501049" cy="230832"/>
          </a:xfrm>
          <a:prstGeom prst="rect">
            <a:avLst/>
          </a:prstGeom>
          <a:noFill/>
        </p:spPr>
        <p:txBody>
          <a:bodyPr wrap="square" rtlCol="0">
            <a:spAutoFit/>
          </a:bodyPr>
          <a:lstStyle/>
          <a:p>
            <a:r>
              <a:rPr lang="en-US" sz="900" dirty="0">
                <a:solidFill>
                  <a:schemeClr val="bg2">
                    <a:lumMod val="75000"/>
                  </a:schemeClr>
                </a:solidFill>
              </a:rPr>
              <a:t>96</a:t>
            </a:r>
          </a:p>
        </p:txBody>
      </p:sp>
      <p:sp>
        <p:nvSpPr>
          <p:cNvPr id="18" name="文字方塊 17">
            <a:extLst>
              <a:ext uri="{FF2B5EF4-FFF2-40B4-BE49-F238E27FC236}">
                <a16:creationId xmlns:a16="http://schemas.microsoft.com/office/drawing/2014/main" id="{46EDC7AC-FB1E-A8E0-4EDB-BBFA86B36FBC}"/>
              </a:ext>
            </a:extLst>
          </p:cNvPr>
          <p:cNvSpPr txBox="1"/>
          <p:nvPr/>
        </p:nvSpPr>
        <p:spPr>
          <a:xfrm>
            <a:off x="6249334" y="3680462"/>
            <a:ext cx="501049" cy="230832"/>
          </a:xfrm>
          <a:prstGeom prst="rect">
            <a:avLst/>
          </a:prstGeom>
          <a:noFill/>
        </p:spPr>
        <p:txBody>
          <a:bodyPr wrap="square" rtlCol="0">
            <a:spAutoFit/>
          </a:bodyPr>
          <a:lstStyle/>
          <a:p>
            <a:r>
              <a:rPr lang="en-US" sz="900" dirty="0">
                <a:solidFill>
                  <a:schemeClr val="bg2">
                    <a:lumMod val="75000"/>
                  </a:schemeClr>
                </a:solidFill>
              </a:rPr>
              <a:t>99</a:t>
            </a:r>
          </a:p>
        </p:txBody>
      </p:sp>
      <p:sp>
        <p:nvSpPr>
          <p:cNvPr id="50" name="文字方塊 49">
            <a:extLst>
              <a:ext uri="{FF2B5EF4-FFF2-40B4-BE49-F238E27FC236}">
                <a16:creationId xmlns:a16="http://schemas.microsoft.com/office/drawing/2014/main" id="{190614A4-41C5-A4E0-5E9C-FC94815597ED}"/>
              </a:ext>
            </a:extLst>
          </p:cNvPr>
          <p:cNvSpPr txBox="1"/>
          <p:nvPr/>
        </p:nvSpPr>
        <p:spPr>
          <a:xfrm>
            <a:off x="1651372" y="4563179"/>
            <a:ext cx="350397" cy="200055"/>
          </a:xfrm>
          <a:prstGeom prst="rect">
            <a:avLst/>
          </a:prstGeom>
          <a:noFill/>
        </p:spPr>
        <p:txBody>
          <a:bodyPr wrap="square" rtlCol="0">
            <a:spAutoFit/>
          </a:bodyPr>
          <a:lstStyle/>
          <a:p>
            <a:r>
              <a:rPr lang="en-US" sz="700" dirty="0">
                <a:solidFill>
                  <a:schemeClr val="bg2">
                    <a:lumMod val="75000"/>
                  </a:schemeClr>
                </a:solidFill>
              </a:rPr>
              <a:t>Mid</a:t>
            </a:r>
          </a:p>
        </p:txBody>
      </p:sp>
      <p:sp>
        <p:nvSpPr>
          <p:cNvPr id="54" name="文字方塊 53">
            <a:extLst>
              <a:ext uri="{FF2B5EF4-FFF2-40B4-BE49-F238E27FC236}">
                <a16:creationId xmlns:a16="http://schemas.microsoft.com/office/drawing/2014/main" id="{D27342CA-723A-1B20-71A9-B5605E11A083}"/>
              </a:ext>
            </a:extLst>
          </p:cNvPr>
          <p:cNvSpPr txBox="1"/>
          <p:nvPr/>
        </p:nvSpPr>
        <p:spPr>
          <a:xfrm>
            <a:off x="2349207" y="4559728"/>
            <a:ext cx="501049" cy="200055"/>
          </a:xfrm>
          <a:prstGeom prst="rect">
            <a:avLst/>
          </a:prstGeom>
          <a:noFill/>
        </p:spPr>
        <p:txBody>
          <a:bodyPr wrap="square" rtlCol="0">
            <a:spAutoFit/>
          </a:bodyPr>
          <a:lstStyle/>
          <a:p>
            <a:r>
              <a:rPr lang="en-US" sz="700" dirty="0">
                <a:solidFill>
                  <a:schemeClr val="bg2">
                    <a:lumMod val="75000"/>
                  </a:schemeClr>
                </a:solidFill>
              </a:rPr>
              <a:t>High</a:t>
            </a:r>
          </a:p>
        </p:txBody>
      </p:sp>
      <p:sp>
        <p:nvSpPr>
          <p:cNvPr id="56" name="文字方塊 55">
            <a:extLst>
              <a:ext uri="{FF2B5EF4-FFF2-40B4-BE49-F238E27FC236}">
                <a16:creationId xmlns:a16="http://schemas.microsoft.com/office/drawing/2014/main" id="{EB2F30CE-0D33-E122-0748-822DC229DDBC}"/>
              </a:ext>
            </a:extLst>
          </p:cNvPr>
          <p:cNvSpPr txBox="1"/>
          <p:nvPr/>
        </p:nvSpPr>
        <p:spPr>
          <a:xfrm>
            <a:off x="1157919" y="5072377"/>
            <a:ext cx="501049" cy="200055"/>
          </a:xfrm>
          <a:prstGeom prst="rect">
            <a:avLst/>
          </a:prstGeom>
          <a:noFill/>
        </p:spPr>
        <p:txBody>
          <a:bodyPr wrap="square" rtlCol="0">
            <a:spAutoFit/>
          </a:bodyPr>
          <a:lstStyle/>
          <a:p>
            <a:r>
              <a:rPr lang="en-US" sz="700" dirty="0">
                <a:solidFill>
                  <a:schemeClr val="bg2">
                    <a:lumMod val="75000"/>
                  </a:schemeClr>
                </a:solidFill>
              </a:rPr>
              <a:t>Mid</a:t>
            </a:r>
          </a:p>
        </p:txBody>
      </p:sp>
      <p:sp>
        <p:nvSpPr>
          <p:cNvPr id="57" name="文字方塊 56">
            <a:extLst>
              <a:ext uri="{FF2B5EF4-FFF2-40B4-BE49-F238E27FC236}">
                <a16:creationId xmlns:a16="http://schemas.microsoft.com/office/drawing/2014/main" id="{9C63F4C2-EC3B-B497-6E8D-0D16F44D6113}"/>
              </a:ext>
            </a:extLst>
          </p:cNvPr>
          <p:cNvSpPr txBox="1"/>
          <p:nvPr/>
        </p:nvSpPr>
        <p:spPr>
          <a:xfrm>
            <a:off x="1611231" y="5072377"/>
            <a:ext cx="501049" cy="200055"/>
          </a:xfrm>
          <a:prstGeom prst="rect">
            <a:avLst/>
          </a:prstGeom>
          <a:noFill/>
        </p:spPr>
        <p:txBody>
          <a:bodyPr wrap="square" rtlCol="0">
            <a:spAutoFit/>
          </a:bodyPr>
          <a:lstStyle/>
          <a:p>
            <a:r>
              <a:rPr lang="en-US" sz="700" dirty="0">
                <a:solidFill>
                  <a:schemeClr val="bg2">
                    <a:lumMod val="75000"/>
                  </a:schemeClr>
                </a:solidFill>
              </a:rPr>
              <a:t>High</a:t>
            </a:r>
          </a:p>
        </p:txBody>
      </p:sp>
    </p:spTree>
    <p:extLst>
      <p:ext uri="{BB962C8B-B14F-4D97-AF65-F5344CB8AC3E}">
        <p14:creationId xmlns:p14="http://schemas.microsoft.com/office/powerpoint/2010/main" val="40624513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CD163-4B20-6DAE-6747-CE695A9BBCD7}"/>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D8D7BCFB-8C66-260B-97A5-D045A6006353}"/>
              </a:ext>
            </a:extLst>
          </p:cNvPr>
          <p:cNvSpPr>
            <a:spLocks noGrp="1"/>
          </p:cNvSpPr>
          <p:nvPr>
            <p:ph type="subTitle" idx="1"/>
          </p:nvPr>
        </p:nvSpPr>
        <p:spPr/>
        <p:txBody>
          <a:bodyPr/>
          <a:lstStyle/>
          <a:p>
            <a:r>
              <a:rPr lang="en-US" altLang="zh-TW" b="1" dirty="0"/>
              <a:t>Section III – </a:t>
            </a:r>
            <a:r>
              <a:rPr lang="en-US" altLang="zh-TW" dirty="0"/>
              <a:t>SMG’s Potential Hong Kong Listing </a:t>
            </a:r>
            <a:endParaRPr lang="en-US" b="1" dirty="0"/>
          </a:p>
        </p:txBody>
      </p:sp>
      <p:sp>
        <p:nvSpPr>
          <p:cNvPr id="3" name="Title 2">
            <a:extLst>
              <a:ext uri="{FF2B5EF4-FFF2-40B4-BE49-F238E27FC236}">
                <a16:creationId xmlns:a16="http://schemas.microsoft.com/office/drawing/2014/main" id="{5BEDFD12-2259-3A59-FAEB-F0BD8E301480}"/>
              </a:ext>
            </a:extLst>
          </p:cNvPr>
          <p:cNvSpPr>
            <a:spLocks noGrp="1"/>
          </p:cNvSpPr>
          <p:nvPr>
            <p:ph type="ctrTitle"/>
          </p:nvPr>
        </p:nvSpPr>
        <p:spPr>
          <a:xfrm>
            <a:off x="2242944" y="4131897"/>
            <a:ext cx="7200000" cy="492443"/>
          </a:xfrm>
        </p:spPr>
        <p:txBody>
          <a:bodyPr/>
          <a:lstStyle/>
          <a:p>
            <a:r>
              <a:rPr lang="en-US" dirty="0"/>
              <a:t>3. IPO Execution Plan and Considerations</a:t>
            </a:r>
          </a:p>
        </p:txBody>
      </p:sp>
      <p:sp>
        <p:nvSpPr>
          <p:cNvPr id="4" name="Slide Number Placeholder 3">
            <a:extLst>
              <a:ext uri="{FF2B5EF4-FFF2-40B4-BE49-F238E27FC236}">
                <a16:creationId xmlns:a16="http://schemas.microsoft.com/office/drawing/2014/main" id="{1B3FD26F-2541-20EC-9F66-967FF574F495}"/>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49</a:t>
            </a:fld>
            <a:endParaRPr lang="en-US" altLang="en-US" b="0">
              <a:solidFill>
                <a:srgbClr val="000000"/>
              </a:solidFill>
            </a:endParaRPr>
          </a:p>
        </p:txBody>
      </p:sp>
    </p:spTree>
    <p:extLst>
      <p:ext uri="{BB962C8B-B14F-4D97-AF65-F5344CB8AC3E}">
        <p14:creationId xmlns:p14="http://schemas.microsoft.com/office/powerpoint/2010/main" val="21233385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D7EF05-AE8E-A3D3-A886-7E18391CBF9A}"/>
              </a:ext>
            </a:extLst>
          </p:cNvPr>
          <p:cNvSpPr>
            <a:spLocks noGrp="1"/>
          </p:cNvSpPr>
          <p:nvPr>
            <p:ph type="title"/>
          </p:nvPr>
        </p:nvSpPr>
        <p:spPr/>
        <p:txBody>
          <a:bodyPr/>
          <a:lstStyle/>
          <a:p>
            <a:r>
              <a:rPr lang="en-SG" sz="2000" b="1" dirty="0"/>
              <a:t>Indicative HK Listing Timetable </a:t>
            </a:r>
            <a:endParaRPr lang="en-US" sz="2000" b="1" dirty="0"/>
          </a:p>
        </p:txBody>
      </p:sp>
      <p:sp>
        <p:nvSpPr>
          <p:cNvPr id="4" name="Slide Number Placeholder 3">
            <a:extLst>
              <a:ext uri="{FF2B5EF4-FFF2-40B4-BE49-F238E27FC236}">
                <a16:creationId xmlns:a16="http://schemas.microsoft.com/office/drawing/2014/main" id="{DCC2D8BC-EB84-359B-5956-0C0BEA3B2803}"/>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50</a:t>
            </a:fld>
            <a:endParaRPr lang="en-US" altLang="en-US" b="0">
              <a:solidFill>
                <a:srgbClr val="000000"/>
              </a:solidFill>
            </a:endParaRPr>
          </a:p>
        </p:txBody>
      </p:sp>
      <p:pic>
        <p:nvPicPr>
          <p:cNvPr id="3" name="object 4">
            <a:extLst>
              <a:ext uri="{FF2B5EF4-FFF2-40B4-BE49-F238E27FC236}">
                <a16:creationId xmlns:a16="http://schemas.microsoft.com/office/drawing/2014/main" id="{51F8661B-8B1E-BF40-D09C-CB1678BB764A}"/>
              </a:ext>
            </a:extLst>
          </p:cNvPr>
          <p:cNvPicPr/>
          <p:nvPr/>
        </p:nvPicPr>
        <p:blipFill>
          <a:blip r:embed="rId2" cstate="print"/>
          <a:stretch>
            <a:fillRect/>
          </a:stretch>
        </p:blipFill>
        <p:spPr>
          <a:xfrm>
            <a:off x="225464" y="1775077"/>
            <a:ext cx="7044317" cy="4103624"/>
          </a:xfrm>
          <a:prstGeom prst="rect">
            <a:avLst/>
          </a:prstGeom>
        </p:spPr>
      </p:pic>
      <p:sp>
        <p:nvSpPr>
          <p:cNvPr id="7" name="TextBox 6">
            <a:extLst>
              <a:ext uri="{FF2B5EF4-FFF2-40B4-BE49-F238E27FC236}">
                <a16:creationId xmlns:a16="http://schemas.microsoft.com/office/drawing/2014/main" id="{317440C3-08DD-42C5-5E8E-7D3D499BB460}"/>
              </a:ext>
            </a:extLst>
          </p:cNvPr>
          <p:cNvSpPr txBox="1"/>
          <p:nvPr/>
        </p:nvSpPr>
        <p:spPr>
          <a:xfrm>
            <a:off x="3399186" y="4990560"/>
            <a:ext cx="4516733" cy="486095"/>
          </a:xfrm>
          <a:prstGeom prst="rect">
            <a:avLst/>
          </a:prstGeom>
          <a:noFill/>
        </p:spPr>
        <p:txBody>
          <a:bodyPr wrap="square" rtlCol="0">
            <a:spAutoFit/>
          </a:bodyPr>
          <a:lstStyle/>
          <a:p>
            <a:pPr marL="270351" indent="-138271" defTabSz="742871">
              <a:buClr>
                <a:srgbClr val="96999B"/>
              </a:buClr>
              <a:buFont typeface="Symbol"/>
              <a:buChar char=""/>
              <a:tabLst>
                <a:tab pos="270867" algn="l"/>
              </a:tabLst>
              <a:defRPr/>
            </a:pPr>
            <a:r>
              <a:rPr lang="en-US" altLang="zh-CN" sz="853" dirty="0">
                <a:solidFill>
                  <a:srgbClr val="000000"/>
                </a:solidFill>
                <a:cs typeface="Times New Roman" panose="02020603050405020304" pitchFamily="18" charset="0"/>
              </a:rPr>
              <a:t>Discussion on restructuring and potential inclusion of other business into the listing entity</a:t>
            </a:r>
          </a:p>
          <a:p>
            <a:pPr marL="270351" indent="-138271" defTabSz="742871">
              <a:buClr>
                <a:srgbClr val="96999B"/>
              </a:buClr>
              <a:buFont typeface="Symbol"/>
              <a:buChar char=""/>
              <a:tabLst>
                <a:tab pos="270867" algn="l"/>
              </a:tabLst>
              <a:defRPr/>
            </a:pPr>
            <a:r>
              <a:rPr lang="en-US" altLang="zh-CN" sz="853" dirty="0">
                <a:solidFill>
                  <a:srgbClr val="000000"/>
                </a:solidFill>
                <a:cs typeface="Times New Roman" panose="02020603050405020304" pitchFamily="18" charset="0"/>
              </a:rPr>
              <a:t>Prepare financial model</a:t>
            </a:r>
          </a:p>
        </p:txBody>
      </p:sp>
      <p:sp>
        <p:nvSpPr>
          <p:cNvPr id="9" name="TextBox 8">
            <a:extLst>
              <a:ext uri="{FF2B5EF4-FFF2-40B4-BE49-F238E27FC236}">
                <a16:creationId xmlns:a16="http://schemas.microsoft.com/office/drawing/2014/main" id="{FD88089D-2088-2328-F01F-547956921B12}"/>
              </a:ext>
            </a:extLst>
          </p:cNvPr>
          <p:cNvSpPr txBox="1"/>
          <p:nvPr/>
        </p:nvSpPr>
        <p:spPr>
          <a:xfrm>
            <a:off x="2555199" y="5520988"/>
            <a:ext cx="4713979" cy="617348"/>
          </a:xfrm>
          <a:prstGeom prst="rect">
            <a:avLst/>
          </a:prstGeom>
          <a:noFill/>
        </p:spPr>
        <p:txBody>
          <a:bodyPr wrap="square" rtlCol="0">
            <a:spAutoFit/>
          </a:bodyPr>
          <a:lstStyle/>
          <a:p>
            <a:pPr marL="270351" indent="-138271" defTabSz="742871">
              <a:buClr>
                <a:srgbClr val="96999B"/>
              </a:buClr>
              <a:buFont typeface="Symbol"/>
              <a:buChar char=""/>
              <a:tabLst>
                <a:tab pos="270867" algn="l"/>
              </a:tabLst>
              <a:defRPr/>
            </a:pPr>
            <a:r>
              <a:rPr lang="en-US" altLang="zh-TW" sz="853" dirty="0">
                <a:solidFill>
                  <a:srgbClr val="C00000"/>
                </a:solidFill>
                <a:latin typeface="+mj-lt"/>
                <a:ea typeface="+mj-ea"/>
                <a:cs typeface="Arial" panose="020B0604020202020204" pitchFamily="34" charset="0"/>
              </a:rPr>
              <a:t>Kickoff</a:t>
            </a:r>
          </a:p>
          <a:p>
            <a:pPr marL="270351" indent="-138271" defTabSz="742871">
              <a:buClr>
                <a:srgbClr val="96999B"/>
              </a:buClr>
              <a:buFont typeface="Symbol"/>
              <a:buChar char=""/>
              <a:tabLst>
                <a:tab pos="270867" algn="l"/>
              </a:tabLst>
              <a:defRPr/>
            </a:pPr>
            <a:r>
              <a:rPr lang="en-US" altLang="zh-CN" sz="853" dirty="0">
                <a:solidFill>
                  <a:srgbClr val="000000"/>
                </a:solidFill>
                <a:latin typeface="+mj-lt"/>
                <a:ea typeface="+mj-ea"/>
                <a:cs typeface="Times New Roman" panose="02020603050405020304" pitchFamily="18" charset="0"/>
              </a:rPr>
              <a:t>Commence FY2024 – FY2025 audit and internal control work</a:t>
            </a:r>
          </a:p>
          <a:p>
            <a:pPr marL="270351" indent="-138271" defTabSz="742871">
              <a:buClr>
                <a:srgbClr val="96999B"/>
              </a:buClr>
              <a:buFont typeface="Symbol"/>
              <a:buChar char=""/>
              <a:tabLst>
                <a:tab pos="270867" algn="l"/>
              </a:tabLst>
              <a:defRPr/>
            </a:pPr>
            <a:r>
              <a:rPr lang="en-US" altLang="zh-CN" sz="853" dirty="0">
                <a:solidFill>
                  <a:srgbClr val="000000"/>
                </a:solidFill>
                <a:latin typeface="+mj-lt"/>
                <a:ea typeface="+mj-ea"/>
                <a:cs typeface="Times New Roman" panose="02020603050405020304" pitchFamily="18" charset="0"/>
              </a:rPr>
              <a:t>Conduct due diligence (business, legal, financial, third-party, etc.)</a:t>
            </a:r>
          </a:p>
          <a:p>
            <a:pPr marL="270351" indent="-138271" defTabSz="742871">
              <a:buClr>
                <a:srgbClr val="96999B"/>
              </a:buClr>
              <a:buFont typeface="Symbol"/>
              <a:buChar char=""/>
              <a:tabLst>
                <a:tab pos="270867" algn="l"/>
              </a:tabLst>
              <a:defRPr/>
            </a:pPr>
            <a:endParaRPr lang="en-US" altLang="zh-CN" sz="853" dirty="0">
              <a:solidFill>
                <a:srgbClr val="000000"/>
              </a:solidFill>
              <a:latin typeface="+mj-lt"/>
              <a:ea typeface="+mj-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F52771C6-C97B-EF65-FE17-198561686E6E}"/>
              </a:ext>
            </a:extLst>
          </p:cNvPr>
          <p:cNvCxnSpPr>
            <a:cxnSpLocks/>
          </p:cNvCxnSpPr>
          <p:nvPr/>
        </p:nvCxnSpPr>
        <p:spPr bwMode="auto">
          <a:xfrm>
            <a:off x="720765" y="4198494"/>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A1527099-2C99-2972-D801-1082F49420A5}"/>
              </a:ext>
            </a:extLst>
          </p:cNvPr>
          <p:cNvCxnSpPr>
            <a:cxnSpLocks/>
          </p:cNvCxnSpPr>
          <p:nvPr/>
        </p:nvCxnSpPr>
        <p:spPr bwMode="auto">
          <a:xfrm>
            <a:off x="713025" y="5865807"/>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12" name="Straight Arrow Connector 11">
            <a:extLst>
              <a:ext uri="{FF2B5EF4-FFF2-40B4-BE49-F238E27FC236}">
                <a16:creationId xmlns:a16="http://schemas.microsoft.com/office/drawing/2014/main" id="{CDE5E53E-EFCA-1699-C705-C91821CECD34}"/>
              </a:ext>
            </a:extLst>
          </p:cNvPr>
          <p:cNvCxnSpPr>
            <a:cxnSpLocks/>
          </p:cNvCxnSpPr>
          <p:nvPr/>
        </p:nvCxnSpPr>
        <p:spPr bwMode="auto">
          <a:xfrm flipH="1" flipV="1">
            <a:off x="896574" y="4209282"/>
            <a:ext cx="6823" cy="305584"/>
          </a:xfrm>
          <a:prstGeom prst="straightConnector1">
            <a:avLst/>
          </a:prstGeom>
          <a:noFill/>
          <a:ln w="12700" cap="flat" cmpd="sng" algn="ctr">
            <a:solidFill>
              <a:srgbClr val="B2B2B2"/>
            </a:solidFill>
            <a:prstDash val="lgDash"/>
            <a:round/>
            <a:headEnd type="none" w="med" len="med"/>
            <a:tailEnd type="triangle"/>
          </a:ln>
          <a:effectLst/>
        </p:spPr>
      </p:cxnSp>
      <p:cxnSp>
        <p:nvCxnSpPr>
          <p:cNvPr id="13" name="Straight Arrow Connector 12">
            <a:extLst>
              <a:ext uri="{FF2B5EF4-FFF2-40B4-BE49-F238E27FC236}">
                <a16:creationId xmlns:a16="http://schemas.microsoft.com/office/drawing/2014/main" id="{537FC977-C6D1-F67C-0C74-3166EC0D962F}"/>
              </a:ext>
            </a:extLst>
          </p:cNvPr>
          <p:cNvCxnSpPr>
            <a:cxnSpLocks/>
          </p:cNvCxnSpPr>
          <p:nvPr/>
        </p:nvCxnSpPr>
        <p:spPr bwMode="auto">
          <a:xfrm>
            <a:off x="899385" y="4757136"/>
            <a:ext cx="0" cy="1114425"/>
          </a:xfrm>
          <a:prstGeom prst="straightConnector1">
            <a:avLst/>
          </a:prstGeom>
          <a:noFill/>
          <a:ln w="12700" cap="flat" cmpd="sng" algn="ctr">
            <a:solidFill>
              <a:srgbClr val="B2B2B2"/>
            </a:solidFill>
            <a:prstDash val="lgDash"/>
            <a:round/>
            <a:headEnd type="none" w="med" len="med"/>
            <a:tailEnd type="triangle"/>
          </a:ln>
          <a:effectLst/>
        </p:spPr>
      </p:cxnSp>
      <p:sp>
        <p:nvSpPr>
          <p:cNvPr id="14" name="TextBox 13">
            <a:extLst>
              <a:ext uri="{FF2B5EF4-FFF2-40B4-BE49-F238E27FC236}">
                <a16:creationId xmlns:a16="http://schemas.microsoft.com/office/drawing/2014/main" id="{0EAC0032-0AD1-8C5B-16EE-26B0F197A2E5}"/>
              </a:ext>
            </a:extLst>
          </p:cNvPr>
          <p:cNvSpPr txBox="1"/>
          <p:nvPr/>
        </p:nvSpPr>
        <p:spPr>
          <a:xfrm>
            <a:off x="5349981" y="3153598"/>
            <a:ext cx="4018536" cy="486095"/>
          </a:xfrm>
          <a:prstGeom prst="rect">
            <a:avLst/>
          </a:prstGeom>
          <a:noFill/>
        </p:spPr>
        <p:txBody>
          <a:bodyPr wrap="square" rtlCol="0">
            <a:spAutoFit/>
          </a:bodyPr>
          <a:lstStyle/>
          <a:p>
            <a:pPr marL="270351" indent="-138271" defTabSz="742871" fontAlgn="auto">
              <a:spcBef>
                <a:spcPts val="0"/>
              </a:spcBef>
              <a:spcAft>
                <a:spcPts val="0"/>
              </a:spcAft>
              <a:buClr>
                <a:srgbClr val="96999B"/>
              </a:buClr>
              <a:buFont typeface="Symbol"/>
              <a:buChar char=""/>
              <a:tabLst>
                <a:tab pos="270867" algn="l"/>
              </a:tabLst>
              <a:defRPr/>
            </a:pPr>
            <a:r>
              <a:rPr lang="en-US" altLang="zh-TW" sz="853" dirty="0">
                <a:solidFill>
                  <a:schemeClr val="tx1"/>
                </a:solidFill>
                <a:latin typeface="+mj-lt"/>
                <a:ea typeface="+mj-ea"/>
                <a:cs typeface="Arial" panose="020B0604020202020204" pitchFamily="34" charset="0"/>
              </a:rPr>
              <a:t>Analyst presentation</a:t>
            </a:r>
          </a:p>
          <a:p>
            <a:pPr marL="270351" indent="-138271" defTabSz="742871" fontAlgn="auto">
              <a:spcBef>
                <a:spcPts val="0"/>
              </a:spcBef>
              <a:spcAft>
                <a:spcPts val="0"/>
              </a:spcAft>
              <a:buClr>
                <a:srgbClr val="96999B"/>
              </a:buClr>
              <a:buFont typeface="Symbol"/>
              <a:buChar char=""/>
              <a:tabLst>
                <a:tab pos="270867" algn="l"/>
              </a:tabLst>
              <a:defRPr/>
            </a:pPr>
            <a:r>
              <a:rPr lang="en-US" altLang="zh-CN" sz="853" dirty="0">
                <a:solidFill>
                  <a:schemeClr val="tx1"/>
                </a:solidFill>
                <a:latin typeface="+mj-lt"/>
                <a:ea typeface="+mj-ea"/>
                <a:cs typeface="Arial" panose="020B0604020202020204" pitchFamily="34" charset="0"/>
              </a:rPr>
              <a:t>Non-deal roadshow</a:t>
            </a:r>
          </a:p>
          <a:p>
            <a:pPr marL="270351" indent="-138271" defTabSz="742871" fontAlgn="auto">
              <a:spcBef>
                <a:spcPts val="0"/>
              </a:spcBef>
              <a:spcAft>
                <a:spcPts val="0"/>
              </a:spcAft>
              <a:buClr>
                <a:srgbClr val="96999B"/>
              </a:buClr>
              <a:buFont typeface="Symbol"/>
              <a:buChar char=""/>
              <a:tabLst>
                <a:tab pos="270867" algn="l"/>
              </a:tabLst>
              <a:defRPr/>
            </a:pPr>
            <a:r>
              <a:rPr lang="en-US" altLang="zh-CN" sz="853" dirty="0">
                <a:solidFill>
                  <a:schemeClr val="tx1"/>
                </a:solidFill>
                <a:latin typeface="+mj-lt"/>
                <a:ea typeface="+mj-ea"/>
                <a:cs typeface="Arial" panose="020B0604020202020204" pitchFamily="34" charset="0"/>
              </a:rPr>
              <a:t>Address regulatory inquiries</a:t>
            </a:r>
          </a:p>
        </p:txBody>
      </p:sp>
      <p:sp>
        <p:nvSpPr>
          <p:cNvPr id="15" name="TextBox 14">
            <a:extLst>
              <a:ext uri="{FF2B5EF4-FFF2-40B4-BE49-F238E27FC236}">
                <a16:creationId xmlns:a16="http://schemas.microsoft.com/office/drawing/2014/main" id="{D357021F-8814-8B96-7190-4221F6E2D778}"/>
              </a:ext>
            </a:extLst>
          </p:cNvPr>
          <p:cNvSpPr txBox="1"/>
          <p:nvPr/>
        </p:nvSpPr>
        <p:spPr>
          <a:xfrm>
            <a:off x="7076119" y="1918433"/>
            <a:ext cx="2705989" cy="879856"/>
          </a:xfrm>
          <a:prstGeom prst="rect">
            <a:avLst/>
          </a:prstGeom>
          <a:noFill/>
        </p:spPr>
        <p:txBody>
          <a:bodyPr wrap="square" rtlCol="0">
            <a:spAutoFit/>
          </a:bodyPr>
          <a:lstStyle/>
          <a:p>
            <a:pPr marL="270351" indent="-138271" defTabSz="742871" fontAlgn="auto">
              <a:spcBef>
                <a:spcPts val="0"/>
              </a:spcBef>
              <a:spcAft>
                <a:spcPts val="0"/>
              </a:spcAft>
              <a:buClr>
                <a:srgbClr val="96999B"/>
              </a:buClr>
              <a:buFont typeface="Symbol"/>
              <a:buChar char=""/>
              <a:tabLst>
                <a:tab pos="270867" algn="l"/>
              </a:tabLst>
              <a:defRPr/>
            </a:pPr>
            <a:r>
              <a:rPr lang="en-US" altLang="zh-TW" sz="853" dirty="0">
                <a:solidFill>
                  <a:schemeClr val="tx1"/>
                </a:solidFill>
                <a:latin typeface="+mj-lt"/>
                <a:ea typeface="+mj-ea"/>
                <a:cs typeface="Arial" panose="020B0604020202020204" pitchFamily="34" charset="0"/>
              </a:rPr>
              <a:t>Pre-deal investor education</a:t>
            </a:r>
          </a:p>
          <a:p>
            <a:pPr marL="270351" indent="-138271" defTabSz="742871" fontAlgn="auto">
              <a:spcBef>
                <a:spcPts val="0"/>
              </a:spcBef>
              <a:spcAft>
                <a:spcPts val="0"/>
              </a:spcAft>
              <a:buClr>
                <a:srgbClr val="96999B"/>
              </a:buClr>
              <a:buFont typeface="Symbol"/>
              <a:buChar char=""/>
              <a:tabLst>
                <a:tab pos="270867" algn="l"/>
              </a:tabLst>
              <a:defRPr/>
            </a:pPr>
            <a:r>
              <a:rPr lang="en-US" altLang="zh-TW" sz="853" dirty="0">
                <a:solidFill>
                  <a:schemeClr val="tx1"/>
                </a:solidFill>
                <a:latin typeface="+mj-lt"/>
                <a:ea typeface="+mj-ea"/>
                <a:cs typeface="Arial" panose="020B0604020202020204" pitchFamily="34" charset="0"/>
              </a:rPr>
              <a:t>Bulk-print prospectus</a:t>
            </a:r>
          </a:p>
          <a:p>
            <a:pPr marL="270351" indent="-138271" defTabSz="742871" fontAlgn="auto">
              <a:spcBef>
                <a:spcPts val="0"/>
              </a:spcBef>
              <a:spcAft>
                <a:spcPts val="0"/>
              </a:spcAft>
              <a:buClr>
                <a:srgbClr val="96999B"/>
              </a:buClr>
              <a:buFont typeface="Symbol"/>
              <a:buChar char=""/>
              <a:tabLst>
                <a:tab pos="270867" algn="l"/>
              </a:tabLst>
              <a:defRPr/>
            </a:pPr>
            <a:r>
              <a:rPr lang="en-US" altLang="zh-TW" sz="853" dirty="0">
                <a:solidFill>
                  <a:schemeClr val="tx1"/>
                </a:solidFill>
                <a:latin typeface="+mj-lt"/>
                <a:ea typeface="+mj-ea"/>
                <a:cs typeface="Arial" panose="020B0604020202020204" pitchFamily="34" charset="0"/>
              </a:rPr>
              <a:t>Roadshow and HKPO</a:t>
            </a:r>
          </a:p>
          <a:p>
            <a:pPr marL="270351" indent="-138271" defTabSz="742871" fontAlgn="auto">
              <a:spcBef>
                <a:spcPts val="0"/>
              </a:spcBef>
              <a:spcAft>
                <a:spcPts val="0"/>
              </a:spcAft>
              <a:buClr>
                <a:srgbClr val="96999B"/>
              </a:buClr>
              <a:buFont typeface="Symbol"/>
              <a:buChar char=""/>
              <a:tabLst>
                <a:tab pos="270867" algn="l"/>
              </a:tabLst>
              <a:defRPr/>
            </a:pPr>
            <a:r>
              <a:rPr lang="en-US" altLang="zh-TW" sz="853" dirty="0">
                <a:solidFill>
                  <a:schemeClr val="tx1"/>
                </a:solidFill>
                <a:latin typeface="+mj-lt"/>
                <a:ea typeface="+mj-ea"/>
                <a:cs typeface="Arial" panose="020B0604020202020204" pitchFamily="34" charset="0"/>
              </a:rPr>
              <a:t>Pricing and allocation</a:t>
            </a:r>
          </a:p>
          <a:p>
            <a:pPr marL="270351" indent="-138271" defTabSz="742871" fontAlgn="auto">
              <a:spcBef>
                <a:spcPts val="0"/>
              </a:spcBef>
              <a:spcAft>
                <a:spcPts val="0"/>
              </a:spcAft>
              <a:buClr>
                <a:srgbClr val="96999B"/>
              </a:buClr>
              <a:buFont typeface="Symbol"/>
              <a:buChar char=""/>
              <a:tabLst>
                <a:tab pos="270867" algn="l"/>
              </a:tabLst>
              <a:defRPr/>
            </a:pPr>
            <a:r>
              <a:rPr lang="en-GB" altLang="zh-TW" sz="853" dirty="0">
                <a:solidFill>
                  <a:srgbClr val="C00000"/>
                </a:solidFill>
                <a:latin typeface="+mj-lt"/>
                <a:ea typeface="+mj-ea"/>
                <a:cs typeface="Arial" panose="020B0604020202020204" pitchFamily="34" charset="0"/>
              </a:rPr>
              <a:t>L</a:t>
            </a:r>
            <a:r>
              <a:rPr lang="en-US" altLang="zh-TW" sz="853" dirty="0" err="1">
                <a:solidFill>
                  <a:srgbClr val="C00000"/>
                </a:solidFill>
                <a:latin typeface="+mj-lt"/>
                <a:ea typeface="+mj-ea"/>
                <a:cs typeface="Arial" panose="020B0604020202020204" pitchFamily="34" charset="0"/>
              </a:rPr>
              <a:t>isting</a:t>
            </a:r>
            <a:endParaRPr lang="en-US" altLang="zh-TW" sz="853" dirty="0">
              <a:solidFill>
                <a:srgbClr val="C00000"/>
              </a:solidFill>
              <a:latin typeface="+mj-lt"/>
              <a:ea typeface="+mj-ea"/>
              <a:cs typeface="Arial" panose="020B0604020202020204" pitchFamily="34" charset="0"/>
            </a:endParaRPr>
          </a:p>
          <a:p>
            <a:pPr marL="270351" indent="-138271" defTabSz="742871">
              <a:buClr>
                <a:srgbClr val="96999B"/>
              </a:buClr>
              <a:buFont typeface="Symbol"/>
              <a:buChar char=""/>
              <a:tabLst>
                <a:tab pos="270867" algn="l"/>
              </a:tabLst>
              <a:defRPr/>
            </a:pPr>
            <a:endParaRPr lang="en-US" altLang="zh-TW" sz="853" dirty="0">
              <a:solidFill>
                <a:schemeClr val="tx1"/>
              </a:solidFill>
              <a:latin typeface="+mj-lt"/>
              <a:ea typeface="+mj-ea"/>
              <a:cs typeface="Arial" panose="020B0604020202020204" pitchFamily="34" charset="0"/>
            </a:endParaRPr>
          </a:p>
        </p:txBody>
      </p:sp>
      <p:sp>
        <p:nvSpPr>
          <p:cNvPr id="16" name="TextBox 15">
            <a:extLst>
              <a:ext uri="{FF2B5EF4-FFF2-40B4-BE49-F238E27FC236}">
                <a16:creationId xmlns:a16="http://schemas.microsoft.com/office/drawing/2014/main" id="{F3856B9E-12A9-7D8B-A728-17646B1F8DBE}"/>
              </a:ext>
            </a:extLst>
          </p:cNvPr>
          <p:cNvSpPr txBox="1"/>
          <p:nvPr/>
        </p:nvSpPr>
        <p:spPr>
          <a:xfrm>
            <a:off x="6094969" y="2637831"/>
            <a:ext cx="3722949" cy="486095"/>
          </a:xfrm>
          <a:prstGeom prst="rect">
            <a:avLst/>
          </a:prstGeom>
          <a:noFill/>
        </p:spPr>
        <p:txBody>
          <a:bodyPr wrap="square" rtlCol="0">
            <a:spAutoFit/>
          </a:bodyPr>
          <a:lstStyle/>
          <a:p>
            <a:pPr marL="270351" indent="-138271" defTabSz="742871" fontAlgn="auto">
              <a:spcBef>
                <a:spcPts val="0"/>
              </a:spcBef>
              <a:spcAft>
                <a:spcPts val="0"/>
              </a:spcAft>
              <a:buClr>
                <a:srgbClr val="96999B"/>
              </a:buClr>
              <a:buFont typeface="Symbol"/>
              <a:buChar char=""/>
              <a:tabLst>
                <a:tab pos="270867" algn="l"/>
              </a:tabLst>
              <a:defRPr/>
            </a:pPr>
            <a:r>
              <a:rPr lang="en-US" altLang="zh-CN" sz="853" dirty="0">
                <a:solidFill>
                  <a:schemeClr val="tx1"/>
                </a:solidFill>
                <a:latin typeface="+mj-lt"/>
                <a:ea typeface="+mj-ea"/>
                <a:cs typeface="Arial" panose="020B0604020202020204" pitchFamily="34" charset="0"/>
              </a:rPr>
              <a:t>Lock-in potential cornerstone and anchor investors</a:t>
            </a:r>
          </a:p>
          <a:p>
            <a:pPr marL="270351" indent="-138271" defTabSz="742871" fontAlgn="auto">
              <a:spcBef>
                <a:spcPts val="0"/>
              </a:spcBef>
              <a:spcAft>
                <a:spcPts val="0"/>
              </a:spcAft>
              <a:buClr>
                <a:srgbClr val="96999B"/>
              </a:buClr>
              <a:buFont typeface="Symbol"/>
              <a:buChar char=""/>
              <a:tabLst>
                <a:tab pos="270867" algn="l"/>
              </a:tabLst>
              <a:defRPr/>
            </a:pPr>
            <a:r>
              <a:rPr lang="en-US" altLang="zh-CN" sz="853" dirty="0">
                <a:solidFill>
                  <a:srgbClr val="C00000"/>
                </a:solidFill>
                <a:latin typeface="+mj-lt"/>
                <a:ea typeface="+mj-ea"/>
                <a:cs typeface="Arial" panose="020B0604020202020204" pitchFamily="34" charset="0"/>
              </a:rPr>
              <a:t>Obtain shareholder approval (where applicable)</a:t>
            </a:r>
          </a:p>
          <a:p>
            <a:pPr marL="270351" indent="-138271" defTabSz="742871" fontAlgn="auto">
              <a:spcBef>
                <a:spcPts val="0"/>
              </a:spcBef>
              <a:spcAft>
                <a:spcPts val="0"/>
              </a:spcAft>
              <a:buClr>
                <a:srgbClr val="96999B"/>
              </a:buClr>
              <a:buFont typeface="Symbol"/>
              <a:buChar char=""/>
              <a:tabLst>
                <a:tab pos="270867" algn="l"/>
              </a:tabLst>
              <a:defRPr/>
            </a:pPr>
            <a:r>
              <a:rPr lang="en-US" altLang="zh-TW" sz="853" dirty="0" err="1">
                <a:solidFill>
                  <a:srgbClr val="C00000"/>
                </a:solidFill>
                <a:latin typeface="+mj-lt"/>
                <a:ea typeface="+mj-ea"/>
                <a:cs typeface="Arial" panose="020B0604020202020204" pitchFamily="34" charset="0"/>
              </a:rPr>
              <a:t>HKEx</a:t>
            </a:r>
            <a:r>
              <a:rPr lang="en-US" altLang="zh-TW" sz="853" dirty="0">
                <a:solidFill>
                  <a:srgbClr val="C00000"/>
                </a:solidFill>
                <a:latin typeface="+mj-lt"/>
                <a:ea typeface="+mj-ea"/>
                <a:cs typeface="Arial" panose="020B0604020202020204" pitchFamily="34" charset="0"/>
              </a:rPr>
              <a:t> listing hearing</a:t>
            </a:r>
          </a:p>
        </p:txBody>
      </p:sp>
      <p:cxnSp>
        <p:nvCxnSpPr>
          <p:cNvPr id="17" name="Straight Connector 16">
            <a:extLst>
              <a:ext uri="{FF2B5EF4-FFF2-40B4-BE49-F238E27FC236}">
                <a16:creationId xmlns:a16="http://schemas.microsoft.com/office/drawing/2014/main" id="{2550B7CD-AF41-CA3C-9B82-6F863EEE3969}"/>
              </a:ext>
            </a:extLst>
          </p:cNvPr>
          <p:cNvCxnSpPr>
            <a:cxnSpLocks/>
          </p:cNvCxnSpPr>
          <p:nvPr/>
        </p:nvCxnSpPr>
        <p:spPr bwMode="auto">
          <a:xfrm>
            <a:off x="708553" y="2579803"/>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E59800AE-F57B-E918-8D51-306048F70123}"/>
              </a:ext>
            </a:extLst>
          </p:cNvPr>
          <p:cNvCxnSpPr>
            <a:cxnSpLocks/>
          </p:cNvCxnSpPr>
          <p:nvPr/>
        </p:nvCxnSpPr>
        <p:spPr bwMode="auto">
          <a:xfrm>
            <a:off x="720764" y="1927335"/>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19" name="Straight Arrow Connector 18">
            <a:extLst>
              <a:ext uri="{FF2B5EF4-FFF2-40B4-BE49-F238E27FC236}">
                <a16:creationId xmlns:a16="http://schemas.microsoft.com/office/drawing/2014/main" id="{B80B320A-9586-A8CD-BB71-D9FB46BB5A32}"/>
              </a:ext>
            </a:extLst>
          </p:cNvPr>
          <p:cNvCxnSpPr>
            <a:cxnSpLocks/>
          </p:cNvCxnSpPr>
          <p:nvPr/>
        </p:nvCxnSpPr>
        <p:spPr bwMode="auto">
          <a:xfrm flipH="1" flipV="1">
            <a:off x="897145" y="1915395"/>
            <a:ext cx="6925" cy="194614"/>
          </a:xfrm>
          <a:prstGeom prst="straightConnector1">
            <a:avLst/>
          </a:prstGeom>
          <a:noFill/>
          <a:ln w="12700" cap="flat" cmpd="sng" algn="ctr">
            <a:solidFill>
              <a:srgbClr val="B2B2B2"/>
            </a:solidFill>
            <a:prstDash val="lgDash"/>
            <a:round/>
            <a:headEnd type="none" w="med" len="med"/>
            <a:tailEnd type="triangle"/>
          </a:ln>
          <a:effectLst/>
        </p:spPr>
      </p:cxnSp>
      <p:cxnSp>
        <p:nvCxnSpPr>
          <p:cNvPr id="20" name="Straight Arrow Connector 19">
            <a:extLst>
              <a:ext uri="{FF2B5EF4-FFF2-40B4-BE49-F238E27FC236}">
                <a16:creationId xmlns:a16="http://schemas.microsoft.com/office/drawing/2014/main" id="{AD85F1A5-EEA1-597A-BDB4-DEEFA21B32AF}"/>
              </a:ext>
            </a:extLst>
          </p:cNvPr>
          <p:cNvCxnSpPr>
            <a:cxnSpLocks/>
          </p:cNvCxnSpPr>
          <p:nvPr/>
        </p:nvCxnSpPr>
        <p:spPr bwMode="auto">
          <a:xfrm flipH="1">
            <a:off x="899286" y="2378264"/>
            <a:ext cx="4784" cy="202021"/>
          </a:xfrm>
          <a:prstGeom prst="straightConnector1">
            <a:avLst/>
          </a:prstGeom>
          <a:noFill/>
          <a:ln w="12700" cap="flat" cmpd="sng" algn="ctr">
            <a:solidFill>
              <a:srgbClr val="B2B2B2"/>
            </a:solidFill>
            <a:prstDash val="lgDash"/>
            <a:round/>
            <a:headEnd type="none" w="med" len="med"/>
            <a:tailEnd type="triangle"/>
          </a:ln>
          <a:effectLst/>
        </p:spPr>
      </p:cxnSp>
      <p:sp>
        <p:nvSpPr>
          <p:cNvPr id="21" name="TextBox 20">
            <a:extLst>
              <a:ext uri="{FF2B5EF4-FFF2-40B4-BE49-F238E27FC236}">
                <a16:creationId xmlns:a16="http://schemas.microsoft.com/office/drawing/2014/main" id="{083F70E5-4454-A9F2-F915-D735207B8DF9}"/>
              </a:ext>
            </a:extLst>
          </p:cNvPr>
          <p:cNvSpPr txBox="1"/>
          <p:nvPr/>
        </p:nvSpPr>
        <p:spPr>
          <a:xfrm>
            <a:off x="5884960" y="2125933"/>
            <a:ext cx="859511" cy="242374"/>
          </a:xfrm>
          <a:prstGeom prst="rect">
            <a:avLst/>
          </a:prstGeom>
          <a:solidFill>
            <a:srgbClr val="C00000"/>
          </a:solidFill>
        </p:spPr>
        <p:txBody>
          <a:bodyPr wrap="square" rtlCol="0">
            <a:spAutoFit/>
          </a:bodyPr>
          <a:lstStyle/>
          <a:p>
            <a:pPr algn="ctr" eaLnBrk="0" fontAlgn="base" hangingPunct="0">
              <a:spcBef>
                <a:spcPct val="0"/>
              </a:spcBef>
              <a:spcAft>
                <a:spcPct val="200000"/>
              </a:spcAft>
              <a:buClr>
                <a:srgbClr val="BE050A"/>
              </a:buClr>
              <a:buFont typeface="Wingdings" pitchFamily="2" charset="2"/>
              <a:buNone/>
            </a:pPr>
            <a:r>
              <a:rPr lang="en-US" altLang="zh-CN" sz="975" spc="-16" dirty="0">
                <a:solidFill>
                  <a:srgbClr val="FFFFFF"/>
                </a:solidFill>
                <a:latin typeface="+mj-lt"/>
                <a:ea typeface="+mj-ea"/>
                <a:cs typeface="Arial" panose="020B0604020202020204" pitchFamily="34" charset="0"/>
              </a:rPr>
              <a:t>Jun</a:t>
            </a:r>
            <a:r>
              <a:rPr lang="en-US" altLang="zh-TW" sz="975" spc="-16" dirty="0">
                <a:solidFill>
                  <a:srgbClr val="FFFFFF"/>
                </a:solidFill>
                <a:latin typeface="+mj-lt"/>
                <a:ea typeface="+mj-ea"/>
                <a:cs typeface="Arial" panose="020B0604020202020204" pitchFamily="34" charset="0"/>
              </a:rPr>
              <a:t> 2027</a:t>
            </a:r>
            <a:endParaRPr lang="en-US" sz="975" spc="-16" dirty="0">
              <a:solidFill>
                <a:srgbClr val="FFFFFF"/>
              </a:solidFill>
              <a:latin typeface="+mj-lt"/>
              <a:ea typeface="+mj-ea"/>
              <a:cs typeface="Arial" panose="020B0604020202020204" pitchFamily="34" charset="0"/>
            </a:endParaRPr>
          </a:p>
        </p:txBody>
      </p:sp>
      <p:sp>
        <p:nvSpPr>
          <p:cNvPr id="24" name="TextBox 23">
            <a:extLst>
              <a:ext uri="{FF2B5EF4-FFF2-40B4-BE49-F238E27FC236}">
                <a16:creationId xmlns:a16="http://schemas.microsoft.com/office/drawing/2014/main" id="{30E8EB34-6568-93CF-D57F-69442746FA8D}"/>
              </a:ext>
            </a:extLst>
          </p:cNvPr>
          <p:cNvSpPr txBox="1"/>
          <p:nvPr/>
        </p:nvSpPr>
        <p:spPr>
          <a:xfrm>
            <a:off x="4533144" y="3731237"/>
            <a:ext cx="4033525" cy="617348"/>
          </a:xfrm>
          <a:prstGeom prst="rect">
            <a:avLst/>
          </a:prstGeom>
          <a:noFill/>
        </p:spPr>
        <p:txBody>
          <a:bodyPr wrap="square" rtlCol="0">
            <a:spAutoFit/>
          </a:bodyPr>
          <a:lstStyle/>
          <a:p>
            <a:pPr marL="270351" indent="-138271" defTabSz="742871">
              <a:buClr>
                <a:srgbClr val="96999B"/>
              </a:buClr>
              <a:buFont typeface="Symbol"/>
              <a:buChar char=""/>
              <a:tabLst>
                <a:tab pos="270867" algn="l"/>
              </a:tabLst>
              <a:defRPr/>
            </a:pPr>
            <a:r>
              <a:rPr lang="en-US" altLang="zh-TW" sz="853" dirty="0">
                <a:solidFill>
                  <a:srgbClr val="C00000"/>
                </a:solidFill>
                <a:cs typeface="Arial" panose="020B0604020202020204" pitchFamily="34" charset="0"/>
              </a:rPr>
              <a:t>Complete necessary </a:t>
            </a:r>
            <a:r>
              <a:rPr lang="en-US" altLang="zh-TW" sz="853" dirty="0" err="1">
                <a:solidFill>
                  <a:srgbClr val="C00000"/>
                </a:solidFill>
                <a:cs typeface="Arial" panose="020B0604020202020204" pitchFamily="34" charset="0"/>
              </a:rPr>
              <a:t>sharehold</a:t>
            </a:r>
            <a:r>
              <a:rPr lang="en-US" altLang="zh-CN" sz="853" dirty="0" err="1">
                <a:solidFill>
                  <a:srgbClr val="000000"/>
                </a:solidFill>
                <a:cs typeface="Arial" panose="020B0604020202020204" pitchFamily="34" charset="0"/>
              </a:rPr>
              <a:t>Finalize</a:t>
            </a:r>
            <a:r>
              <a:rPr lang="en-US" altLang="zh-CN" sz="853" dirty="0">
                <a:solidFill>
                  <a:srgbClr val="000000"/>
                </a:solidFill>
                <a:cs typeface="Arial" panose="020B0604020202020204" pitchFamily="34" charset="0"/>
              </a:rPr>
              <a:t> application proof and A1 pack</a:t>
            </a:r>
          </a:p>
          <a:p>
            <a:pPr marL="270351" indent="-138271" defTabSz="742871">
              <a:buClr>
                <a:srgbClr val="96999B"/>
              </a:buClr>
              <a:buFont typeface="Symbol"/>
              <a:buChar char=""/>
              <a:tabLst>
                <a:tab pos="270867" algn="l"/>
              </a:tabLst>
              <a:defRPr/>
            </a:pPr>
            <a:r>
              <a:rPr lang="en-US" altLang="zh-TW" sz="853" dirty="0" err="1">
                <a:solidFill>
                  <a:srgbClr val="C00000"/>
                </a:solidFill>
                <a:cs typeface="Arial" panose="020B0604020202020204" pitchFamily="34" charset="0"/>
              </a:rPr>
              <a:t>ers</a:t>
            </a:r>
            <a:r>
              <a:rPr lang="en-US" altLang="zh-TW" sz="853" dirty="0">
                <a:solidFill>
                  <a:srgbClr val="C00000"/>
                </a:solidFill>
                <a:cs typeface="Arial" panose="020B0604020202020204" pitchFamily="34" charset="0"/>
              </a:rPr>
              <a:t> / parent</a:t>
            </a:r>
            <a:r>
              <a:rPr lang="zh-TW" altLang="en-US" sz="853" dirty="0">
                <a:solidFill>
                  <a:srgbClr val="C00000"/>
                </a:solidFill>
                <a:cs typeface="Arial" panose="020B0604020202020204" pitchFamily="34" charset="0"/>
              </a:rPr>
              <a:t> </a:t>
            </a:r>
            <a:r>
              <a:rPr lang="en-US" altLang="zh-TW" sz="853" dirty="0" err="1">
                <a:solidFill>
                  <a:srgbClr val="C00000"/>
                </a:solidFill>
                <a:cs typeface="Arial" panose="020B0604020202020204" pitchFamily="34" charset="0"/>
              </a:rPr>
              <a:t>listco’s</a:t>
            </a:r>
            <a:r>
              <a:rPr lang="zh-TW" altLang="en-US" sz="853" dirty="0">
                <a:solidFill>
                  <a:srgbClr val="C00000"/>
                </a:solidFill>
                <a:cs typeface="Arial" panose="020B0604020202020204" pitchFamily="34" charset="0"/>
              </a:rPr>
              <a:t> </a:t>
            </a:r>
            <a:r>
              <a:rPr lang="en-US" altLang="zh-TW" sz="853" dirty="0">
                <a:solidFill>
                  <a:srgbClr val="C00000"/>
                </a:solidFill>
                <a:cs typeface="Arial" panose="020B0604020202020204" pitchFamily="34" charset="0"/>
              </a:rPr>
              <a:t>regulatory procedure </a:t>
            </a:r>
            <a:r>
              <a:rPr lang="en-US" altLang="zh-CN" sz="853" dirty="0">
                <a:solidFill>
                  <a:srgbClr val="C00000"/>
                </a:solidFill>
                <a:cs typeface="Arial" panose="020B0604020202020204" pitchFamily="34" charset="0"/>
              </a:rPr>
              <a:t>(where applicable)</a:t>
            </a:r>
            <a:r>
              <a:rPr lang="en-US" altLang="zh-TW" sz="853" dirty="0">
                <a:solidFill>
                  <a:srgbClr val="C00000"/>
                </a:solidFill>
                <a:cs typeface="Arial" panose="020B0604020202020204" pitchFamily="34" charset="0"/>
              </a:rPr>
              <a:t> </a:t>
            </a:r>
          </a:p>
          <a:p>
            <a:pPr marL="270351" indent="-138271" defTabSz="742871">
              <a:buClr>
                <a:srgbClr val="96999B"/>
              </a:buClr>
              <a:buFont typeface="Symbol"/>
              <a:buChar char=""/>
              <a:tabLst>
                <a:tab pos="270867" algn="l"/>
              </a:tabLst>
              <a:defRPr/>
            </a:pPr>
            <a:r>
              <a:rPr lang="en-US" altLang="zh-TW" sz="853" dirty="0">
                <a:solidFill>
                  <a:srgbClr val="C00000"/>
                </a:solidFill>
                <a:cs typeface="Arial" panose="020B0604020202020204" pitchFamily="34" charset="0"/>
              </a:rPr>
              <a:t>Submit A1 listing application to HKEx </a:t>
            </a:r>
          </a:p>
        </p:txBody>
      </p:sp>
      <p:cxnSp>
        <p:nvCxnSpPr>
          <p:cNvPr id="25" name="Straight Connector 24">
            <a:extLst>
              <a:ext uri="{FF2B5EF4-FFF2-40B4-BE49-F238E27FC236}">
                <a16:creationId xmlns:a16="http://schemas.microsoft.com/office/drawing/2014/main" id="{E536E49C-F7D4-794B-F2A3-86C5112EDE3B}"/>
              </a:ext>
            </a:extLst>
          </p:cNvPr>
          <p:cNvCxnSpPr>
            <a:cxnSpLocks/>
          </p:cNvCxnSpPr>
          <p:nvPr/>
        </p:nvCxnSpPr>
        <p:spPr bwMode="auto">
          <a:xfrm>
            <a:off x="716292" y="2579752"/>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FE050291-0561-10F7-30F6-FC7566274A79}"/>
              </a:ext>
            </a:extLst>
          </p:cNvPr>
          <p:cNvCxnSpPr>
            <a:cxnSpLocks/>
          </p:cNvCxnSpPr>
          <p:nvPr/>
        </p:nvCxnSpPr>
        <p:spPr bwMode="auto">
          <a:xfrm>
            <a:off x="717954" y="4191420"/>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27" name="Straight Arrow Connector 26">
            <a:extLst>
              <a:ext uri="{FF2B5EF4-FFF2-40B4-BE49-F238E27FC236}">
                <a16:creationId xmlns:a16="http://schemas.microsoft.com/office/drawing/2014/main" id="{18811ADE-E835-4FE1-2F7D-FB7D1FAD9A0F}"/>
              </a:ext>
            </a:extLst>
          </p:cNvPr>
          <p:cNvCxnSpPr>
            <a:cxnSpLocks/>
          </p:cNvCxnSpPr>
          <p:nvPr/>
        </p:nvCxnSpPr>
        <p:spPr bwMode="auto">
          <a:xfrm flipV="1">
            <a:off x="896574" y="2563797"/>
            <a:ext cx="0" cy="395580"/>
          </a:xfrm>
          <a:prstGeom prst="straightConnector1">
            <a:avLst/>
          </a:prstGeom>
          <a:noFill/>
          <a:ln w="12700" cap="flat" cmpd="sng" algn="ctr">
            <a:solidFill>
              <a:srgbClr val="B2B2B2"/>
            </a:solidFill>
            <a:prstDash val="lgDash"/>
            <a:round/>
            <a:headEnd type="none" w="med" len="med"/>
            <a:tailEnd type="triangle"/>
          </a:ln>
          <a:effectLst/>
        </p:spPr>
      </p:cxnSp>
      <p:cxnSp>
        <p:nvCxnSpPr>
          <p:cNvPr id="28" name="Straight Arrow Connector 27">
            <a:extLst>
              <a:ext uri="{FF2B5EF4-FFF2-40B4-BE49-F238E27FC236}">
                <a16:creationId xmlns:a16="http://schemas.microsoft.com/office/drawing/2014/main" id="{17C02B39-9043-DC7C-7D9A-853F53721892}"/>
              </a:ext>
            </a:extLst>
          </p:cNvPr>
          <p:cNvCxnSpPr>
            <a:cxnSpLocks/>
          </p:cNvCxnSpPr>
          <p:nvPr/>
        </p:nvCxnSpPr>
        <p:spPr bwMode="auto">
          <a:xfrm>
            <a:off x="896574" y="3162659"/>
            <a:ext cx="0" cy="979902"/>
          </a:xfrm>
          <a:prstGeom prst="straightConnector1">
            <a:avLst/>
          </a:prstGeom>
          <a:noFill/>
          <a:ln w="12700" cap="flat" cmpd="sng" algn="ctr">
            <a:solidFill>
              <a:srgbClr val="B2B2B2"/>
            </a:solidFill>
            <a:prstDash val="lgDash"/>
            <a:round/>
            <a:headEnd type="none" w="med" len="med"/>
            <a:tailEnd type="triangle"/>
          </a:ln>
          <a:effectLst/>
        </p:spPr>
      </p:cxnSp>
      <p:sp>
        <p:nvSpPr>
          <p:cNvPr id="29" name="TextBox 28">
            <a:extLst>
              <a:ext uri="{FF2B5EF4-FFF2-40B4-BE49-F238E27FC236}">
                <a16:creationId xmlns:a16="http://schemas.microsoft.com/office/drawing/2014/main" id="{DBA64280-F2D7-336F-C658-6274B5D0FA3B}"/>
              </a:ext>
            </a:extLst>
          </p:cNvPr>
          <p:cNvSpPr txBox="1"/>
          <p:nvPr/>
        </p:nvSpPr>
        <p:spPr>
          <a:xfrm>
            <a:off x="439813" y="4504078"/>
            <a:ext cx="927168" cy="242374"/>
          </a:xfrm>
          <a:prstGeom prst="rect">
            <a:avLst/>
          </a:prstGeom>
          <a:solidFill>
            <a:srgbClr val="FFFFFF"/>
          </a:solidFill>
        </p:spPr>
        <p:txBody>
          <a:bodyPr wrap="square" rtlCol="0">
            <a:spAutoFit/>
          </a:bodyPr>
          <a:lstStyle/>
          <a:p>
            <a:pPr algn="ctr" defTabSz="742950" eaLnBrk="0" hangingPunct="0">
              <a:spcAft>
                <a:spcPct val="200000"/>
              </a:spcAft>
              <a:buClr>
                <a:srgbClr val="BE050A"/>
              </a:buClr>
              <a:defRPr/>
            </a:pPr>
            <a:r>
              <a:rPr lang="en-US" altLang="zh-CN" sz="975" kern="0" dirty="0">
                <a:solidFill>
                  <a:srgbClr val="C00000"/>
                </a:solidFill>
                <a:latin typeface="+mj-lt"/>
                <a:ea typeface="+mj-ea"/>
                <a:cs typeface="Arial" panose="020B0604020202020204" pitchFamily="34" charset="0"/>
              </a:rPr>
              <a:t>Preparation</a:t>
            </a:r>
            <a:endParaRPr lang="zh-CN" altLang="en-US" sz="975" kern="0" dirty="0">
              <a:solidFill>
                <a:srgbClr val="C00000"/>
              </a:solidFill>
              <a:latin typeface="+mj-lt"/>
              <a:ea typeface="+mj-ea"/>
              <a:cs typeface="Arial" panose="020B0604020202020204" pitchFamily="34" charset="0"/>
            </a:endParaRPr>
          </a:p>
        </p:txBody>
      </p:sp>
      <p:sp>
        <p:nvSpPr>
          <p:cNvPr id="30" name="TextBox 29">
            <a:extLst>
              <a:ext uri="{FF2B5EF4-FFF2-40B4-BE49-F238E27FC236}">
                <a16:creationId xmlns:a16="http://schemas.microsoft.com/office/drawing/2014/main" id="{579A314D-0A0F-1B97-B104-E9565986FFDC}"/>
              </a:ext>
            </a:extLst>
          </p:cNvPr>
          <p:cNvSpPr txBox="1"/>
          <p:nvPr/>
        </p:nvSpPr>
        <p:spPr>
          <a:xfrm>
            <a:off x="496532" y="2110008"/>
            <a:ext cx="815075" cy="242374"/>
          </a:xfrm>
          <a:prstGeom prst="rect">
            <a:avLst/>
          </a:prstGeom>
          <a:solidFill>
            <a:srgbClr val="FFFFFF"/>
          </a:solidFill>
        </p:spPr>
        <p:txBody>
          <a:bodyPr wrap="square" rtlCol="0">
            <a:spAutoFit/>
          </a:bodyPr>
          <a:lstStyle/>
          <a:p>
            <a:pPr algn="ctr" defTabSz="742950" eaLnBrk="0" hangingPunct="0">
              <a:spcAft>
                <a:spcPct val="200000"/>
              </a:spcAft>
              <a:buClr>
                <a:srgbClr val="BE050A"/>
              </a:buClr>
              <a:defRPr/>
            </a:pPr>
            <a:r>
              <a:rPr lang="en-US" altLang="zh-CN" sz="975" kern="0">
                <a:solidFill>
                  <a:srgbClr val="C00000"/>
                </a:solidFill>
                <a:latin typeface="+mj-lt"/>
                <a:ea typeface="+mj-ea"/>
                <a:cs typeface="Arial" panose="020B0604020202020204" pitchFamily="34" charset="0"/>
              </a:rPr>
              <a:t>Marketing</a:t>
            </a:r>
            <a:endParaRPr lang="zh-CN" altLang="en-US" sz="975" kern="0">
              <a:solidFill>
                <a:srgbClr val="C00000"/>
              </a:solidFill>
              <a:latin typeface="+mj-lt"/>
              <a:ea typeface="+mj-ea"/>
              <a:cs typeface="Arial" panose="020B0604020202020204" pitchFamily="34" charset="0"/>
            </a:endParaRPr>
          </a:p>
        </p:txBody>
      </p:sp>
      <p:sp>
        <p:nvSpPr>
          <p:cNvPr id="31" name="TextBox 30">
            <a:extLst>
              <a:ext uri="{FF2B5EF4-FFF2-40B4-BE49-F238E27FC236}">
                <a16:creationId xmlns:a16="http://schemas.microsoft.com/office/drawing/2014/main" id="{DEA2D86E-8986-2128-2602-D8BE583D081E}"/>
              </a:ext>
            </a:extLst>
          </p:cNvPr>
          <p:cNvSpPr txBox="1"/>
          <p:nvPr/>
        </p:nvSpPr>
        <p:spPr>
          <a:xfrm>
            <a:off x="481909" y="2931668"/>
            <a:ext cx="859510" cy="392415"/>
          </a:xfrm>
          <a:prstGeom prst="rect">
            <a:avLst/>
          </a:prstGeom>
          <a:solidFill>
            <a:srgbClr val="FFFFFF"/>
          </a:solidFill>
        </p:spPr>
        <p:txBody>
          <a:bodyPr wrap="square" rtlCol="0">
            <a:spAutoFit/>
          </a:bodyPr>
          <a:lstStyle/>
          <a:p>
            <a:pPr algn="ctr" defTabSz="742950" eaLnBrk="0" hangingPunct="0">
              <a:spcAft>
                <a:spcPct val="200000"/>
              </a:spcAft>
              <a:buClr>
                <a:srgbClr val="BE050A"/>
              </a:buClr>
              <a:defRPr/>
            </a:pPr>
            <a:r>
              <a:rPr lang="en-US" altLang="zh-CN" sz="975" kern="0">
                <a:solidFill>
                  <a:srgbClr val="C00000"/>
                </a:solidFill>
                <a:latin typeface="+mj-lt"/>
                <a:ea typeface="+mj-ea"/>
                <a:cs typeface="Arial" panose="020B0604020202020204" pitchFamily="34" charset="0"/>
              </a:rPr>
              <a:t>Regulatory vetting</a:t>
            </a:r>
            <a:endParaRPr lang="zh-CN" altLang="en-US" sz="975" kern="0">
              <a:solidFill>
                <a:srgbClr val="C00000"/>
              </a:solidFill>
              <a:latin typeface="+mj-lt"/>
              <a:ea typeface="+mj-ea"/>
              <a:cs typeface="Arial" panose="020B0604020202020204" pitchFamily="34" charset="0"/>
            </a:endParaRPr>
          </a:p>
        </p:txBody>
      </p:sp>
      <p:sp>
        <p:nvSpPr>
          <p:cNvPr id="33" name="TextBox 32">
            <a:extLst>
              <a:ext uri="{FF2B5EF4-FFF2-40B4-BE49-F238E27FC236}">
                <a16:creationId xmlns:a16="http://schemas.microsoft.com/office/drawing/2014/main" id="{3655A78B-95D4-37E7-5DC5-8E44DDB1A809}"/>
              </a:ext>
            </a:extLst>
          </p:cNvPr>
          <p:cNvSpPr txBox="1"/>
          <p:nvPr/>
        </p:nvSpPr>
        <p:spPr>
          <a:xfrm>
            <a:off x="5183790" y="2678671"/>
            <a:ext cx="859511" cy="392415"/>
          </a:xfrm>
          <a:prstGeom prst="rect">
            <a:avLst/>
          </a:prstGeom>
          <a:solidFill>
            <a:srgbClr val="595959"/>
          </a:solidFill>
        </p:spPr>
        <p:txBody>
          <a:bodyPr wrap="square" rtlCol="0">
            <a:spAutoFit/>
          </a:bodyPr>
          <a:lstStyle/>
          <a:p>
            <a:pPr algn="ctr" defTabSz="742950" eaLnBrk="0" hangingPunct="0">
              <a:spcAft>
                <a:spcPct val="200000"/>
              </a:spcAft>
              <a:buClr>
                <a:srgbClr val="BE050A"/>
              </a:buClr>
              <a:defRPr/>
            </a:pPr>
            <a:r>
              <a:rPr lang="en-US" altLang="zh-TW" sz="975" kern="0" spc="-16" dirty="0">
                <a:solidFill>
                  <a:srgbClr val="FFFFFF"/>
                </a:solidFill>
                <a:latin typeface="+mj-lt"/>
                <a:ea typeface="+mj-ea"/>
                <a:cs typeface="Arial" panose="020B0604020202020204" pitchFamily="34" charset="0"/>
              </a:rPr>
              <a:t>Apr </a:t>
            </a:r>
            <a:r>
              <a:rPr lang="en-US" altLang="zh-TW" sz="975" kern="0" spc="-16" dirty="0">
                <a:solidFill>
                  <a:srgbClr val="FFFFFF"/>
                </a:solidFill>
                <a:cs typeface="Arial" panose="020B0604020202020204" pitchFamily="34" charset="0"/>
              </a:rPr>
              <a:t>–</a:t>
            </a:r>
            <a:r>
              <a:rPr lang="en-US" altLang="zh-TW" sz="975" kern="0" spc="-16" dirty="0">
                <a:solidFill>
                  <a:srgbClr val="FFFFFF"/>
                </a:solidFill>
                <a:latin typeface="+mj-lt"/>
                <a:ea typeface="+mj-ea"/>
                <a:cs typeface="Arial" panose="020B0604020202020204" pitchFamily="34" charset="0"/>
              </a:rPr>
              <a:t> May</a:t>
            </a:r>
            <a:br>
              <a:rPr lang="en-US" altLang="zh-TW" sz="975" kern="0" spc="-16" dirty="0">
                <a:solidFill>
                  <a:srgbClr val="FFFFFF"/>
                </a:solidFill>
                <a:latin typeface="+mj-lt"/>
                <a:ea typeface="+mj-ea"/>
                <a:cs typeface="Arial" panose="020B0604020202020204" pitchFamily="34" charset="0"/>
              </a:rPr>
            </a:br>
            <a:r>
              <a:rPr lang="en-US" altLang="zh-TW" sz="975" kern="0" spc="-16" dirty="0">
                <a:solidFill>
                  <a:srgbClr val="FFFFFF"/>
                </a:solidFill>
                <a:latin typeface="+mj-lt"/>
                <a:ea typeface="+mj-ea"/>
                <a:cs typeface="Arial" panose="020B0604020202020204" pitchFamily="34" charset="0"/>
              </a:rPr>
              <a:t>2027</a:t>
            </a:r>
            <a:endParaRPr lang="en-US" sz="975" kern="0" spc="-16" dirty="0">
              <a:solidFill>
                <a:srgbClr val="FFFFFF"/>
              </a:solidFill>
              <a:latin typeface="+mj-lt"/>
              <a:ea typeface="+mj-ea"/>
              <a:cs typeface="Arial" panose="020B0604020202020204" pitchFamily="34" charset="0"/>
            </a:endParaRPr>
          </a:p>
        </p:txBody>
      </p:sp>
      <p:sp>
        <p:nvSpPr>
          <p:cNvPr id="34" name="TextBox 33">
            <a:extLst>
              <a:ext uri="{FF2B5EF4-FFF2-40B4-BE49-F238E27FC236}">
                <a16:creationId xmlns:a16="http://schemas.microsoft.com/office/drawing/2014/main" id="{3A58A845-8D03-CA9A-E08B-2F418BF7D83A}"/>
              </a:ext>
            </a:extLst>
          </p:cNvPr>
          <p:cNvSpPr txBox="1"/>
          <p:nvPr/>
        </p:nvSpPr>
        <p:spPr>
          <a:xfrm>
            <a:off x="3635848" y="3842524"/>
            <a:ext cx="859511" cy="392415"/>
          </a:xfrm>
          <a:prstGeom prst="rect">
            <a:avLst/>
          </a:prstGeom>
          <a:solidFill>
            <a:srgbClr val="C00000"/>
          </a:solidFill>
        </p:spPr>
        <p:txBody>
          <a:bodyPr wrap="square" rtlCol="0">
            <a:spAutoFit/>
          </a:bodyPr>
          <a:lstStyle/>
          <a:p>
            <a:pPr algn="ctr" defTabSz="742950" eaLnBrk="0" hangingPunct="0">
              <a:spcAft>
                <a:spcPct val="200000"/>
              </a:spcAft>
              <a:buClr>
                <a:srgbClr val="BE050A"/>
              </a:buClr>
              <a:defRPr/>
            </a:pPr>
            <a:r>
              <a:rPr lang="en-US" altLang="zh-TW" sz="975" kern="0" spc="-16" dirty="0">
                <a:solidFill>
                  <a:srgbClr val="FFFFFF"/>
                </a:solidFill>
                <a:latin typeface="+mj-lt"/>
                <a:ea typeface="+mj-ea"/>
                <a:cs typeface="Arial" panose="020B0604020202020204" pitchFamily="34" charset="0"/>
              </a:rPr>
              <a:t>Jan</a:t>
            </a:r>
            <a:br>
              <a:rPr lang="en-US" altLang="zh-TW" sz="975" kern="0" spc="-16" dirty="0">
                <a:solidFill>
                  <a:srgbClr val="FFFFFF"/>
                </a:solidFill>
                <a:latin typeface="+mj-lt"/>
                <a:ea typeface="+mj-ea"/>
                <a:cs typeface="Arial" panose="020B0604020202020204" pitchFamily="34" charset="0"/>
              </a:rPr>
            </a:br>
            <a:r>
              <a:rPr lang="en-US" altLang="zh-TW" sz="975" kern="0" spc="-16" dirty="0">
                <a:solidFill>
                  <a:srgbClr val="FFFFFF"/>
                </a:solidFill>
                <a:latin typeface="+mj-lt"/>
                <a:ea typeface="+mj-ea"/>
                <a:cs typeface="Arial" panose="020B0604020202020204" pitchFamily="34" charset="0"/>
              </a:rPr>
              <a:t>2026</a:t>
            </a:r>
            <a:endParaRPr lang="en-US" sz="975" kern="0" spc="-16" dirty="0">
              <a:solidFill>
                <a:srgbClr val="FFFFFF"/>
              </a:solidFill>
              <a:latin typeface="+mj-lt"/>
              <a:ea typeface="+mj-ea"/>
              <a:cs typeface="Arial" panose="020B0604020202020204" pitchFamily="34" charset="0"/>
            </a:endParaRPr>
          </a:p>
        </p:txBody>
      </p:sp>
      <p:sp>
        <p:nvSpPr>
          <p:cNvPr id="35" name="TextBox 34">
            <a:extLst>
              <a:ext uri="{FF2B5EF4-FFF2-40B4-BE49-F238E27FC236}">
                <a16:creationId xmlns:a16="http://schemas.microsoft.com/office/drawing/2014/main" id="{2BDB4E28-FEB1-2BC1-CA9B-7BED0E85A825}"/>
              </a:ext>
            </a:extLst>
          </p:cNvPr>
          <p:cNvSpPr txBox="1"/>
          <p:nvPr/>
        </p:nvSpPr>
        <p:spPr>
          <a:xfrm>
            <a:off x="2555219" y="4998722"/>
            <a:ext cx="859511" cy="392415"/>
          </a:xfrm>
          <a:prstGeom prst="rect">
            <a:avLst/>
          </a:prstGeom>
          <a:solidFill>
            <a:srgbClr val="595959"/>
          </a:solidFill>
        </p:spPr>
        <p:txBody>
          <a:bodyPr wrap="square" rtlCol="0">
            <a:spAutoFit/>
          </a:bodyPr>
          <a:lstStyle/>
          <a:p>
            <a:pPr algn="ctr" defTabSz="742950" eaLnBrk="0" hangingPunct="0">
              <a:spcAft>
                <a:spcPct val="200000"/>
              </a:spcAft>
              <a:buClr>
                <a:srgbClr val="BE050A"/>
              </a:buClr>
              <a:defRPr/>
            </a:pPr>
            <a:r>
              <a:rPr lang="en-US" altLang="zh-TW" sz="975" kern="0" spc="-16" dirty="0">
                <a:solidFill>
                  <a:srgbClr val="FFFFFF"/>
                </a:solidFill>
                <a:latin typeface="+mj-lt"/>
                <a:ea typeface="+mj-ea"/>
                <a:cs typeface="Arial" panose="020B0604020202020204" pitchFamily="34" charset="0"/>
              </a:rPr>
              <a:t>Jul – Oct 2026</a:t>
            </a:r>
            <a:endParaRPr lang="en-US" sz="975" kern="0" spc="-16" dirty="0">
              <a:solidFill>
                <a:srgbClr val="FFFFFF"/>
              </a:solidFill>
              <a:latin typeface="+mj-lt"/>
              <a:ea typeface="+mj-ea"/>
              <a:cs typeface="Arial" panose="020B0604020202020204" pitchFamily="34" charset="0"/>
            </a:endParaRPr>
          </a:p>
        </p:txBody>
      </p:sp>
      <p:sp>
        <p:nvSpPr>
          <p:cNvPr id="36" name="TextBox 35">
            <a:extLst>
              <a:ext uri="{FF2B5EF4-FFF2-40B4-BE49-F238E27FC236}">
                <a16:creationId xmlns:a16="http://schemas.microsoft.com/office/drawing/2014/main" id="{9AA0B672-917A-DD6A-0D3D-197FE533F5AC}"/>
              </a:ext>
            </a:extLst>
          </p:cNvPr>
          <p:cNvSpPr txBox="1"/>
          <p:nvPr/>
        </p:nvSpPr>
        <p:spPr>
          <a:xfrm>
            <a:off x="1699534" y="5601795"/>
            <a:ext cx="859511" cy="242374"/>
          </a:xfrm>
          <a:prstGeom prst="rect">
            <a:avLst/>
          </a:prstGeom>
          <a:solidFill>
            <a:srgbClr val="595959"/>
          </a:solidFill>
        </p:spPr>
        <p:txBody>
          <a:bodyPr wrap="square" rtlCol="0">
            <a:spAutoFit/>
          </a:bodyPr>
          <a:lstStyle/>
          <a:p>
            <a:pPr algn="ctr" defTabSz="742950" eaLnBrk="0" hangingPunct="0">
              <a:spcAft>
                <a:spcPct val="200000"/>
              </a:spcAft>
              <a:buClr>
                <a:srgbClr val="BE050A"/>
              </a:buClr>
              <a:defRPr/>
            </a:pPr>
            <a:r>
              <a:rPr lang="en-US" altLang="zh-TW" sz="975" kern="0" spc="-16" dirty="0">
                <a:solidFill>
                  <a:srgbClr val="FFFFFF"/>
                </a:solidFill>
                <a:latin typeface="+mj-lt"/>
                <a:ea typeface="+mj-ea"/>
                <a:cs typeface="Arial" panose="020B0604020202020204" pitchFamily="34" charset="0"/>
              </a:rPr>
              <a:t>Jun 2026</a:t>
            </a:r>
            <a:endParaRPr lang="en-US" sz="975" kern="0" spc="-16" dirty="0">
              <a:solidFill>
                <a:srgbClr val="FFFFFF"/>
              </a:solidFill>
              <a:latin typeface="+mj-lt"/>
              <a:ea typeface="+mj-ea"/>
              <a:cs typeface="Arial" panose="020B0604020202020204" pitchFamily="34" charset="0"/>
            </a:endParaRPr>
          </a:p>
        </p:txBody>
      </p:sp>
      <p:sp>
        <p:nvSpPr>
          <p:cNvPr id="8" name="TextBox 7">
            <a:extLst>
              <a:ext uri="{FF2B5EF4-FFF2-40B4-BE49-F238E27FC236}">
                <a16:creationId xmlns:a16="http://schemas.microsoft.com/office/drawing/2014/main" id="{F4B3A0C4-58A0-BAC0-E30D-1D49838D3CDF}"/>
              </a:ext>
            </a:extLst>
          </p:cNvPr>
          <p:cNvSpPr txBox="1"/>
          <p:nvPr/>
        </p:nvSpPr>
        <p:spPr>
          <a:xfrm>
            <a:off x="708553" y="1111754"/>
            <a:ext cx="8502652" cy="610791"/>
          </a:xfrm>
          <a:prstGeom prst="rect">
            <a:avLst/>
          </a:prstGeom>
          <a:solidFill>
            <a:schemeClr val="accent2">
              <a:lumMod val="20000"/>
              <a:lumOff val="80000"/>
              <a:alpha val="61000"/>
            </a:schemeClr>
          </a:solidFill>
          <a:ln>
            <a:solidFill>
              <a:schemeClr val="accent2"/>
            </a:solidFill>
          </a:ln>
        </p:spPr>
        <p:txBody>
          <a:bodyPr wrap="square" anchor="ctr">
            <a:noAutofit/>
          </a:bodyPr>
          <a:lstStyle/>
          <a:p>
            <a:pPr marL="171450" indent="-171450" algn="l">
              <a:spcBef>
                <a:spcPts val="0"/>
              </a:spcBef>
              <a:buSzPct val="100000"/>
              <a:buFont typeface="Arial" panose="020B0604020202020204" pitchFamily="34" charset="0"/>
              <a:buChar char="•"/>
            </a:pPr>
            <a:r>
              <a:rPr lang="en-US" altLang="zh-CN" sz="1100" b="0" dirty="0">
                <a:solidFill>
                  <a:schemeClr val="tx1"/>
                </a:solidFill>
                <a:latin typeface="+mj-lt"/>
                <a:ea typeface="+mj-ea"/>
                <a:cs typeface="Times New Roman" panose="02020603050405020304" pitchFamily="18" charset="0"/>
              </a:rPr>
              <a:t>HK IPO can typically be completed within </a:t>
            </a:r>
            <a:r>
              <a:rPr lang="en-US" altLang="zh-CN" sz="1100" dirty="0">
                <a:solidFill>
                  <a:srgbClr val="C00000"/>
                </a:solidFill>
                <a:latin typeface="+mj-lt"/>
                <a:ea typeface="+mj-ea"/>
                <a:cs typeface="Times New Roman" panose="02020603050405020304" pitchFamily="18" charset="0"/>
              </a:rPr>
              <a:t>8-12 months</a:t>
            </a:r>
            <a:r>
              <a:rPr lang="en-US" altLang="zh-CN" sz="1100" b="0" dirty="0">
                <a:solidFill>
                  <a:schemeClr val="tx1"/>
                </a:solidFill>
                <a:latin typeface="+mj-lt"/>
                <a:ea typeface="+mj-ea"/>
                <a:cs typeface="Times New Roman" panose="02020603050405020304" pitchFamily="18" charset="0"/>
              </a:rPr>
              <a:t>, subject to regulatory approvals and market sentiment </a:t>
            </a:r>
          </a:p>
          <a:p>
            <a:pPr marL="171450" indent="-171450" algn="l">
              <a:spcBef>
                <a:spcPts val="0"/>
              </a:spcBef>
              <a:buSzPct val="100000"/>
              <a:buFont typeface="Arial" panose="020B0604020202020204" pitchFamily="34" charset="0"/>
              <a:buChar char="•"/>
            </a:pPr>
            <a:r>
              <a:rPr lang="en-US" altLang="zh-CN" sz="1100" b="0" dirty="0">
                <a:solidFill>
                  <a:schemeClr val="tx1"/>
                </a:solidFill>
                <a:latin typeface="+mj-lt"/>
                <a:ea typeface="+mj-ea"/>
                <a:cs typeface="Times New Roman" panose="02020603050405020304" pitchFamily="18" charset="0"/>
              </a:rPr>
              <a:t>Assuming </a:t>
            </a:r>
            <a:r>
              <a:rPr lang="en-US" altLang="zh-CN" sz="1100" b="1" dirty="0">
                <a:solidFill>
                  <a:srgbClr val="C00000"/>
                </a:solidFill>
                <a:latin typeface="+mj-lt"/>
                <a:ea typeface="+mj-ea"/>
                <a:cs typeface="Times New Roman" panose="02020603050405020304" pitchFamily="18" charset="0"/>
              </a:rPr>
              <a:t>A1 listing application submitted in January 2027, listing on HKEx could take place </a:t>
            </a:r>
            <a:r>
              <a:rPr lang="en-US" altLang="zh-CN" sz="1100" dirty="0">
                <a:solidFill>
                  <a:srgbClr val="C00000"/>
                </a:solidFill>
                <a:latin typeface="+mj-lt"/>
                <a:ea typeface="+mj-ea"/>
                <a:cs typeface="Times New Roman" panose="02020603050405020304" pitchFamily="18" charset="0"/>
              </a:rPr>
              <a:t>by June 2027</a:t>
            </a:r>
            <a:endParaRPr lang="en-US" altLang="zh-CN" sz="1100" b="0" dirty="0">
              <a:solidFill>
                <a:schemeClr val="tx1"/>
              </a:solidFill>
              <a:effectLst/>
              <a:latin typeface="+mj-lt"/>
              <a:ea typeface="+mj-ea"/>
              <a:cs typeface="Times New Roman" panose="02020603050405020304" pitchFamily="18" charset="0"/>
            </a:endParaRPr>
          </a:p>
        </p:txBody>
      </p:sp>
      <p:sp>
        <p:nvSpPr>
          <p:cNvPr id="37" name="TextBox 36">
            <a:extLst>
              <a:ext uri="{FF2B5EF4-FFF2-40B4-BE49-F238E27FC236}">
                <a16:creationId xmlns:a16="http://schemas.microsoft.com/office/drawing/2014/main" id="{0F64E7F1-DC29-2552-7CE2-10F39D6F9D06}"/>
              </a:ext>
            </a:extLst>
          </p:cNvPr>
          <p:cNvSpPr txBox="1"/>
          <p:nvPr/>
        </p:nvSpPr>
        <p:spPr>
          <a:xfrm>
            <a:off x="4427939" y="3268481"/>
            <a:ext cx="859511" cy="392415"/>
          </a:xfrm>
          <a:prstGeom prst="rect">
            <a:avLst/>
          </a:prstGeom>
          <a:solidFill>
            <a:srgbClr val="595959"/>
          </a:solidFill>
        </p:spPr>
        <p:txBody>
          <a:bodyPr wrap="square" rtlCol="0">
            <a:spAutoFit/>
          </a:bodyPr>
          <a:lstStyle/>
          <a:p>
            <a:pPr algn="ctr" defTabSz="742950" eaLnBrk="0" hangingPunct="0">
              <a:spcAft>
                <a:spcPct val="200000"/>
              </a:spcAft>
              <a:buClr>
                <a:srgbClr val="BE050A"/>
              </a:buClr>
              <a:defRPr/>
            </a:pPr>
            <a:r>
              <a:rPr lang="en-US" altLang="zh-TW" sz="975" kern="0" spc="-16" dirty="0">
                <a:solidFill>
                  <a:srgbClr val="FFFFFF"/>
                </a:solidFill>
                <a:latin typeface="+mj-lt"/>
                <a:ea typeface="+mj-ea"/>
                <a:cs typeface="Arial" panose="020B0604020202020204" pitchFamily="34" charset="0"/>
              </a:rPr>
              <a:t>Feb 2026 - Mar 2027</a:t>
            </a:r>
            <a:endParaRPr lang="en-US" sz="975" kern="0" spc="-16" dirty="0">
              <a:solidFill>
                <a:srgbClr val="FFFFFF"/>
              </a:solidFill>
              <a:latin typeface="+mj-lt"/>
              <a:ea typeface="+mj-ea"/>
              <a:cs typeface="Arial" panose="020B0604020202020204" pitchFamily="34" charset="0"/>
            </a:endParaRPr>
          </a:p>
        </p:txBody>
      </p:sp>
      <p:sp>
        <p:nvSpPr>
          <p:cNvPr id="2" name="矩形 1568">
            <a:extLst>
              <a:ext uri="{FF2B5EF4-FFF2-40B4-BE49-F238E27FC236}">
                <a16:creationId xmlns:a16="http://schemas.microsoft.com/office/drawing/2014/main" id="{7BA0340F-91AF-B445-2D4E-A51A70A751B9}"/>
              </a:ext>
            </a:extLst>
          </p:cNvPr>
          <p:cNvSpPr/>
          <p:nvPr/>
        </p:nvSpPr>
        <p:spPr>
          <a:xfrm>
            <a:off x="1669134" y="1884066"/>
            <a:ext cx="3174922" cy="604100"/>
          </a:xfrm>
          <a:prstGeom prst="rect">
            <a:avLst/>
          </a:prstGeom>
          <a:solidFill>
            <a:schemeClr val="bg1"/>
          </a:solidFill>
          <a:ln w="952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7560" tIns="36693" rIns="37560" bIns="36693" numCol="1" spcCol="0" rtlCol="0" fromWordArt="0" anchor="ctr" anchorCtr="0" forceAA="0" compatLnSpc="1">
            <a:noAutofit/>
          </a:bodyPr>
          <a:lstStyle>
            <a:defPPr>
              <a:defRPr lang="ko-KR">
                <a:solidFill>
                  <a:schemeClr val="lt1"/>
                </a:solidFill>
              </a:defRP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R="0" lvl="0" algn="just" defTabSz="914400" rtl="0" eaLnBrk="1" fontAlgn="auto" latinLnBrk="0" hangingPunct="1">
              <a:lnSpc>
                <a:spcPct val="100000"/>
              </a:lnSpc>
              <a:spcBef>
                <a:spcPts val="320"/>
              </a:spcBef>
              <a:spcAft>
                <a:spcPts val="0"/>
              </a:spcAft>
              <a:buClrTx/>
              <a:buSzTx/>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楷体_GB2312" panose="02010609030101010101" pitchFamily="49" charset="-122"/>
                <a:cs typeface="Arial" panose="020B0604020202020204" pitchFamily="34" charset="0"/>
                <a:sym typeface="Arial" panose="020B0604020202020204" pitchFamily="34" charset="0"/>
              </a:rPr>
              <a:t>Current timeline is primarily based on assumption that limited secondary listing preparation work and regulatory approval would be required</a:t>
            </a:r>
          </a:p>
        </p:txBody>
      </p:sp>
      <p:cxnSp>
        <p:nvCxnSpPr>
          <p:cNvPr id="22" name="Straight Connector 21">
            <a:extLst>
              <a:ext uri="{FF2B5EF4-FFF2-40B4-BE49-F238E27FC236}">
                <a16:creationId xmlns:a16="http://schemas.microsoft.com/office/drawing/2014/main" id="{341BE994-ED3C-C176-FD17-4979682DC82B}"/>
              </a:ext>
            </a:extLst>
          </p:cNvPr>
          <p:cNvCxnSpPr>
            <a:cxnSpLocks/>
          </p:cNvCxnSpPr>
          <p:nvPr/>
        </p:nvCxnSpPr>
        <p:spPr>
          <a:xfrm flipH="1">
            <a:off x="1250441" y="2237734"/>
            <a:ext cx="282251" cy="0"/>
          </a:xfrm>
          <a:prstGeom prst="line">
            <a:avLst/>
          </a:prstGeom>
          <a:ln w="12700">
            <a:solidFill>
              <a:srgbClr val="C00000"/>
            </a:solidFill>
            <a:headEnd type="oval"/>
          </a:ln>
        </p:spPr>
        <p:style>
          <a:lnRef idx="1">
            <a:schemeClr val="accent1"/>
          </a:lnRef>
          <a:fillRef idx="0">
            <a:schemeClr val="accent1"/>
          </a:fillRef>
          <a:effectRef idx="0">
            <a:schemeClr val="accent1"/>
          </a:effectRef>
          <a:fontRef idx="minor">
            <a:schemeClr val="tx1"/>
          </a:fontRef>
        </p:style>
      </p:cxnSp>
      <p:sp>
        <p:nvSpPr>
          <p:cNvPr id="71" name="Title 4">
            <a:extLst>
              <a:ext uri="{FF2B5EF4-FFF2-40B4-BE49-F238E27FC236}">
                <a16:creationId xmlns:a16="http://schemas.microsoft.com/office/drawing/2014/main" id="{500F8933-37A4-910B-EA53-527FC22D2D1D}"/>
              </a:ext>
            </a:extLst>
          </p:cNvPr>
          <p:cNvSpPr txBox="1">
            <a:spLocks/>
          </p:cNvSpPr>
          <p:nvPr/>
        </p:nvSpPr>
        <p:spPr bwMode="auto">
          <a:xfrm>
            <a:off x="11633550" y="533904"/>
            <a:ext cx="8494051" cy="577850"/>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lvl1pPr algn="l" rtl="0" eaLnBrk="0" fontAlgn="base" hangingPunct="0">
              <a:spcBef>
                <a:spcPct val="0"/>
              </a:spcBef>
              <a:spcAft>
                <a:spcPct val="0"/>
              </a:spcAft>
              <a:tabLst>
                <a:tab pos="457200" algn="l"/>
              </a:tabLst>
              <a:defRPr sz="22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a:lstStyle>
          <a:p>
            <a:r>
              <a:rPr lang="en-SG" kern="0" dirty="0"/>
              <a:t>Indicative HK Listing Timetable </a:t>
            </a:r>
            <a:endParaRPr lang="en-US" kern="0" dirty="0"/>
          </a:p>
        </p:txBody>
      </p:sp>
      <p:sp>
        <p:nvSpPr>
          <p:cNvPr id="72" name="Slide Number Placeholder 3">
            <a:extLst>
              <a:ext uri="{FF2B5EF4-FFF2-40B4-BE49-F238E27FC236}">
                <a16:creationId xmlns:a16="http://schemas.microsoft.com/office/drawing/2014/main" id="{EE121783-1E2E-DE00-0B05-CAFBA937A5F8}"/>
              </a:ext>
            </a:extLst>
          </p:cNvPr>
          <p:cNvSpPr txBox="1">
            <a:spLocks/>
          </p:cNvSpPr>
          <p:nvPr/>
        </p:nvSpPr>
        <p:spPr bwMode="auto">
          <a:xfrm>
            <a:off x="19472361" y="6523542"/>
            <a:ext cx="1155700" cy="381000"/>
          </a:xfrm>
          <a:prstGeom prst="rect">
            <a:avLst/>
          </a:prstGeom>
          <a:noFill/>
          <a:ln w="9525">
            <a:noFill/>
            <a:miter lim="800000"/>
            <a:headEnd/>
            <a:tailEnd/>
          </a:ln>
          <a:effectLst/>
        </p:spPr>
        <p:txBody>
          <a:bodyPr vert="horz" wrap="none" lIns="45720" tIns="45720" rIns="45720" bIns="45720" numCol="1" anchor="ctr" anchorCtr="0" compatLnSpc="1">
            <a:prstTxWarp prst="textNoShape">
              <a:avLst/>
            </a:prstTxWarp>
          </a:bodyPr>
          <a:lstStyle>
            <a:defPPr>
              <a:defRPr lang="en-US"/>
            </a:defPPr>
            <a:lvl1pPr algn="r" rtl="0" eaLnBrk="0" fontAlgn="base" hangingPunct="0">
              <a:spcBef>
                <a:spcPct val="0"/>
              </a:spcBef>
              <a:spcAft>
                <a:spcPct val="0"/>
              </a:spcAft>
              <a:defRPr sz="900" b="1" kern="1200">
                <a:solidFill>
                  <a:schemeClr val="bg2"/>
                </a:solidFill>
                <a:latin typeface="+mn-lt"/>
                <a:ea typeface="DFKaiShu-GB5" pitchFamily="65" charset="-128"/>
                <a:cs typeface="+mn-cs"/>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a:lstStyle>
          <a:p>
            <a:pPr>
              <a:defRPr/>
            </a:pPr>
            <a:fld id="{EFB97E77-A14C-4D4A-B483-93BB0C8192BC}" type="slidenum">
              <a:rPr lang="en-US" altLang="en-US" b="0" smtClean="0">
                <a:solidFill>
                  <a:srgbClr val="000000"/>
                </a:solidFill>
              </a:rPr>
              <a:pPr>
                <a:defRPr/>
              </a:pPr>
              <a:t>50</a:t>
            </a:fld>
            <a:endParaRPr lang="en-US" altLang="en-US" b="0">
              <a:solidFill>
                <a:srgbClr val="000000"/>
              </a:solidFill>
            </a:endParaRPr>
          </a:p>
        </p:txBody>
      </p:sp>
      <p:pic>
        <p:nvPicPr>
          <p:cNvPr id="73" name="object 4">
            <a:extLst>
              <a:ext uri="{FF2B5EF4-FFF2-40B4-BE49-F238E27FC236}">
                <a16:creationId xmlns:a16="http://schemas.microsoft.com/office/drawing/2014/main" id="{17430726-F72B-F5AE-D655-7CE8680D9078}"/>
              </a:ext>
            </a:extLst>
          </p:cNvPr>
          <p:cNvPicPr/>
          <p:nvPr/>
        </p:nvPicPr>
        <p:blipFill>
          <a:blip r:embed="rId2" cstate="print"/>
          <a:stretch>
            <a:fillRect/>
          </a:stretch>
        </p:blipFill>
        <p:spPr>
          <a:xfrm>
            <a:off x="11141861" y="1927981"/>
            <a:ext cx="7044317" cy="4103624"/>
          </a:xfrm>
          <a:prstGeom prst="rect">
            <a:avLst/>
          </a:prstGeom>
        </p:spPr>
      </p:pic>
      <p:sp>
        <p:nvSpPr>
          <p:cNvPr id="74" name="TextBox 6">
            <a:extLst>
              <a:ext uri="{FF2B5EF4-FFF2-40B4-BE49-F238E27FC236}">
                <a16:creationId xmlns:a16="http://schemas.microsoft.com/office/drawing/2014/main" id="{AAA0582C-1F07-3D27-2757-D4C809073F5E}"/>
              </a:ext>
            </a:extLst>
          </p:cNvPr>
          <p:cNvSpPr txBox="1"/>
          <p:nvPr/>
        </p:nvSpPr>
        <p:spPr>
          <a:xfrm>
            <a:off x="14386068" y="5015829"/>
            <a:ext cx="4516733" cy="486095"/>
          </a:xfrm>
          <a:prstGeom prst="rect">
            <a:avLst/>
          </a:prstGeom>
          <a:noFill/>
        </p:spPr>
        <p:txBody>
          <a:bodyPr wrap="square" rtlCol="0">
            <a:spAutoFit/>
          </a:bodyPr>
          <a:lstStyle/>
          <a:p>
            <a:pPr marL="270351" indent="-138271" defTabSz="742871">
              <a:buClr>
                <a:srgbClr val="96999B"/>
              </a:buClr>
              <a:buFont typeface="Symbol"/>
              <a:buChar char=""/>
              <a:tabLst>
                <a:tab pos="270867" algn="l"/>
              </a:tabLst>
              <a:defRPr/>
            </a:pPr>
            <a:r>
              <a:rPr lang="en-US" altLang="zh-CN" sz="853">
                <a:solidFill>
                  <a:srgbClr val="000000"/>
                </a:solidFill>
                <a:latin typeface="+mj-lt"/>
                <a:ea typeface="+mj-ea"/>
                <a:cs typeface="Times New Roman" panose="02020603050405020304" pitchFamily="18" charset="0"/>
              </a:rPr>
              <a:t>Finetune equity story and prospectus drafting</a:t>
            </a:r>
            <a:endParaRPr lang="en-US" altLang="zh-TW" sz="853">
              <a:solidFill>
                <a:srgbClr val="000000"/>
              </a:solidFill>
              <a:latin typeface="+mj-lt"/>
              <a:ea typeface="+mj-ea"/>
              <a:cs typeface="Times New Roman" panose="02020603050405020304" pitchFamily="18" charset="0"/>
            </a:endParaRPr>
          </a:p>
          <a:p>
            <a:pPr marL="270351" indent="-138271" defTabSz="742871">
              <a:buClr>
                <a:srgbClr val="96999B"/>
              </a:buClr>
              <a:buFont typeface="Symbol"/>
              <a:buChar char=""/>
              <a:tabLst>
                <a:tab pos="270867" algn="l"/>
              </a:tabLst>
              <a:defRPr/>
            </a:pPr>
            <a:r>
              <a:rPr lang="en-US" altLang="zh-CN" sz="853">
                <a:solidFill>
                  <a:srgbClr val="000000"/>
                </a:solidFill>
                <a:latin typeface="+mj-lt"/>
                <a:ea typeface="+mj-ea"/>
                <a:cs typeface="Times New Roman" panose="02020603050405020304" pitchFamily="18" charset="0"/>
              </a:rPr>
              <a:t>Prepare financial model</a:t>
            </a:r>
            <a:endParaRPr lang="en-US" altLang="zh-TW" sz="853">
              <a:solidFill>
                <a:srgbClr val="000000"/>
              </a:solidFill>
              <a:latin typeface="+mj-lt"/>
              <a:ea typeface="+mj-ea"/>
              <a:cs typeface="Times New Roman" panose="02020603050405020304" pitchFamily="18" charset="0"/>
            </a:endParaRPr>
          </a:p>
          <a:p>
            <a:pPr marL="270351" indent="-138271" defTabSz="742871">
              <a:buClr>
                <a:srgbClr val="96999B"/>
              </a:buClr>
              <a:buFont typeface="Symbol"/>
              <a:buChar char=""/>
              <a:tabLst>
                <a:tab pos="270867" algn="l"/>
              </a:tabLst>
              <a:defRPr/>
            </a:pPr>
            <a:r>
              <a:rPr lang="en-US" altLang="zh-CN" sz="853">
                <a:solidFill>
                  <a:srgbClr val="000000"/>
                </a:solidFill>
                <a:latin typeface="+mj-lt"/>
                <a:ea typeface="+mj-ea"/>
                <a:cs typeface="Times New Roman" panose="02020603050405020304" pitchFamily="18" charset="0"/>
              </a:rPr>
              <a:t>Obtain </a:t>
            </a:r>
            <a:r>
              <a:rPr lang="en-US" altLang="zh-CN" sz="853" err="1">
                <a:solidFill>
                  <a:srgbClr val="000000"/>
                </a:solidFill>
                <a:latin typeface="+mj-lt"/>
                <a:ea typeface="+mj-ea"/>
                <a:cs typeface="Times New Roman" panose="02020603050405020304" pitchFamily="18" charset="0"/>
              </a:rPr>
              <a:t>HKEx</a:t>
            </a:r>
            <a:r>
              <a:rPr lang="en-US" altLang="zh-CN" sz="853">
                <a:solidFill>
                  <a:srgbClr val="000000"/>
                </a:solidFill>
                <a:latin typeface="+mj-lt"/>
                <a:ea typeface="+mj-ea"/>
                <a:cs typeface="Times New Roman" panose="02020603050405020304" pitchFamily="18" charset="0"/>
              </a:rPr>
              <a:t> Pre-A1 approval</a:t>
            </a:r>
          </a:p>
        </p:txBody>
      </p:sp>
      <p:sp>
        <p:nvSpPr>
          <p:cNvPr id="75" name="TextBox 8">
            <a:extLst>
              <a:ext uri="{FF2B5EF4-FFF2-40B4-BE49-F238E27FC236}">
                <a16:creationId xmlns:a16="http://schemas.microsoft.com/office/drawing/2014/main" id="{D6E136F8-A1EC-69F0-CF2D-3A20DA9EDBD6}"/>
              </a:ext>
            </a:extLst>
          </p:cNvPr>
          <p:cNvSpPr txBox="1"/>
          <p:nvPr/>
        </p:nvSpPr>
        <p:spPr>
          <a:xfrm>
            <a:off x="13471596" y="5643412"/>
            <a:ext cx="4713979" cy="486095"/>
          </a:xfrm>
          <a:prstGeom prst="rect">
            <a:avLst/>
          </a:prstGeom>
          <a:noFill/>
        </p:spPr>
        <p:txBody>
          <a:bodyPr wrap="square" rtlCol="0">
            <a:spAutoFit/>
          </a:bodyPr>
          <a:lstStyle/>
          <a:p>
            <a:pPr marL="270351" indent="-138271" defTabSz="742871">
              <a:buClr>
                <a:srgbClr val="96999B"/>
              </a:buClr>
              <a:buFont typeface="Symbol"/>
              <a:buChar char=""/>
              <a:tabLst>
                <a:tab pos="270867" algn="l"/>
              </a:tabLst>
              <a:defRPr/>
            </a:pPr>
            <a:r>
              <a:rPr lang="en-US" altLang="zh-TW" sz="853" dirty="0">
                <a:solidFill>
                  <a:srgbClr val="C00000"/>
                </a:solidFill>
                <a:latin typeface="+mj-lt"/>
                <a:ea typeface="+mj-ea"/>
                <a:cs typeface="Arial" panose="020B0604020202020204" pitchFamily="34" charset="0"/>
              </a:rPr>
              <a:t>Kickoff</a:t>
            </a:r>
          </a:p>
          <a:p>
            <a:pPr marL="270351" indent="-138271" defTabSz="742871">
              <a:buClr>
                <a:srgbClr val="96999B"/>
              </a:buClr>
              <a:buFont typeface="Symbol"/>
              <a:buChar char=""/>
              <a:tabLst>
                <a:tab pos="270867" algn="l"/>
              </a:tabLst>
              <a:defRPr/>
            </a:pPr>
            <a:r>
              <a:rPr lang="en-US" altLang="zh-CN" sz="853" dirty="0">
                <a:solidFill>
                  <a:srgbClr val="000000"/>
                </a:solidFill>
                <a:latin typeface="+mj-lt"/>
                <a:ea typeface="+mj-ea"/>
                <a:cs typeface="Times New Roman" panose="02020603050405020304" pitchFamily="18" charset="0"/>
              </a:rPr>
              <a:t>Commence FY2023 – FY2024 &amp; 9M2025 audit and internal control work</a:t>
            </a:r>
          </a:p>
          <a:p>
            <a:pPr marL="270351" indent="-138271" defTabSz="742871">
              <a:buClr>
                <a:srgbClr val="96999B"/>
              </a:buClr>
              <a:buFont typeface="Symbol"/>
              <a:buChar char=""/>
              <a:tabLst>
                <a:tab pos="270867" algn="l"/>
              </a:tabLst>
              <a:defRPr/>
            </a:pPr>
            <a:r>
              <a:rPr lang="en-US" altLang="zh-CN" sz="853" dirty="0">
                <a:solidFill>
                  <a:srgbClr val="000000"/>
                </a:solidFill>
                <a:latin typeface="+mj-lt"/>
                <a:ea typeface="+mj-ea"/>
                <a:cs typeface="Times New Roman" panose="02020603050405020304" pitchFamily="18" charset="0"/>
              </a:rPr>
              <a:t>Conduct due diligence (business, legal, financial, third-party, etc.)</a:t>
            </a:r>
          </a:p>
        </p:txBody>
      </p:sp>
      <p:cxnSp>
        <p:nvCxnSpPr>
          <p:cNvPr id="76" name="Straight Connector 9">
            <a:extLst>
              <a:ext uri="{FF2B5EF4-FFF2-40B4-BE49-F238E27FC236}">
                <a16:creationId xmlns:a16="http://schemas.microsoft.com/office/drawing/2014/main" id="{FCCD008C-C51D-CD70-BFA0-7B0C71F529CE}"/>
              </a:ext>
            </a:extLst>
          </p:cNvPr>
          <p:cNvCxnSpPr>
            <a:cxnSpLocks/>
          </p:cNvCxnSpPr>
          <p:nvPr/>
        </p:nvCxnSpPr>
        <p:spPr bwMode="auto">
          <a:xfrm>
            <a:off x="11637162" y="4351398"/>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77" name="Straight Connector 10">
            <a:extLst>
              <a:ext uri="{FF2B5EF4-FFF2-40B4-BE49-F238E27FC236}">
                <a16:creationId xmlns:a16="http://schemas.microsoft.com/office/drawing/2014/main" id="{F1A5360A-F83A-6FE6-7CE0-3CA4F4434F0F}"/>
              </a:ext>
            </a:extLst>
          </p:cNvPr>
          <p:cNvCxnSpPr>
            <a:cxnSpLocks/>
          </p:cNvCxnSpPr>
          <p:nvPr/>
        </p:nvCxnSpPr>
        <p:spPr bwMode="auto">
          <a:xfrm>
            <a:off x="11629422" y="6018711"/>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78" name="Straight Arrow Connector 11">
            <a:extLst>
              <a:ext uri="{FF2B5EF4-FFF2-40B4-BE49-F238E27FC236}">
                <a16:creationId xmlns:a16="http://schemas.microsoft.com/office/drawing/2014/main" id="{F921FFB7-F0AD-5810-78F1-C2B0CD04C529}"/>
              </a:ext>
            </a:extLst>
          </p:cNvPr>
          <p:cNvCxnSpPr>
            <a:cxnSpLocks/>
            <a:stCxn id="93" idx="0"/>
          </p:cNvCxnSpPr>
          <p:nvPr/>
        </p:nvCxnSpPr>
        <p:spPr bwMode="auto">
          <a:xfrm flipH="1" flipV="1">
            <a:off x="11812971" y="4247886"/>
            <a:ext cx="6823" cy="305584"/>
          </a:xfrm>
          <a:prstGeom prst="straightConnector1">
            <a:avLst/>
          </a:prstGeom>
          <a:noFill/>
          <a:ln w="12700" cap="flat" cmpd="sng" algn="ctr">
            <a:solidFill>
              <a:srgbClr val="B2B2B2"/>
            </a:solidFill>
            <a:prstDash val="lgDash"/>
            <a:round/>
            <a:headEnd type="none" w="med" len="med"/>
            <a:tailEnd type="triangle"/>
          </a:ln>
          <a:effectLst/>
        </p:spPr>
      </p:cxnSp>
      <p:cxnSp>
        <p:nvCxnSpPr>
          <p:cNvPr id="79" name="Straight Arrow Connector 12">
            <a:extLst>
              <a:ext uri="{FF2B5EF4-FFF2-40B4-BE49-F238E27FC236}">
                <a16:creationId xmlns:a16="http://schemas.microsoft.com/office/drawing/2014/main" id="{A74D9CAB-E6ED-44F1-F5E6-0132D432AEB1}"/>
              </a:ext>
            </a:extLst>
          </p:cNvPr>
          <p:cNvCxnSpPr>
            <a:cxnSpLocks/>
          </p:cNvCxnSpPr>
          <p:nvPr/>
        </p:nvCxnSpPr>
        <p:spPr bwMode="auto">
          <a:xfrm>
            <a:off x="11815782" y="4910040"/>
            <a:ext cx="0" cy="1114425"/>
          </a:xfrm>
          <a:prstGeom prst="straightConnector1">
            <a:avLst/>
          </a:prstGeom>
          <a:noFill/>
          <a:ln w="12700" cap="flat" cmpd="sng" algn="ctr">
            <a:solidFill>
              <a:srgbClr val="B2B2B2"/>
            </a:solidFill>
            <a:prstDash val="lgDash"/>
            <a:round/>
            <a:headEnd type="none" w="med" len="med"/>
            <a:tailEnd type="triangle"/>
          </a:ln>
          <a:effectLst/>
        </p:spPr>
      </p:cxnSp>
      <p:sp>
        <p:nvSpPr>
          <p:cNvPr id="80" name="TextBox 13">
            <a:extLst>
              <a:ext uri="{FF2B5EF4-FFF2-40B4-BE49-F238E27FC236}">
                <a16:creationId xmlns:a16="http://schemas.microsoft.com/office/drawing/2014/main" id="{19C587A3-19DE-526C-C95F-8BD08689B732}"/>
              </a:ext>
            </a:extLst>
          </p:cNvPr>
          <p:cNvSpPr txBox="1"/>
          <p:nvPr/>
        </p:nvSpPr>
        <p:spPr>
          <a:xfrm>
            <a:off x="16226086" y="3602468"/>
            <a:ext cx="4018536" cy="486095"/>
          </a:xfrm>
          <a:prstGeom prst="rect">
            <a:avLst/>
          </a:prstGeom>
          <a:noFill/>
        </p:spPr>
        <p:txBody>
          <a:bodyPr wrap="square" rtlCol="0">
            <a:spAutoFit/>
          </a:bodyPr>
          <a:lstStyle/>
          <a:p>
            <a:pPr marL="270351" indent="-138271" defTabSz="742871" fontAlgn="auto">
              <a:spcBef>
                <a:spcPts val="0"/>
              </a:spcBef>
              <a:spcAft>
                <a:spcPts val="0"/>
              </a:spcAft>
              <a:buClr>
                <a:srgbClr val="96999B"/>
              </a:buClr>
              <a:buFont typeface="Symbol"/>
              <a:buChar char=""/>
              <a:tabLst>
                <a:tab pos="270867" algn="l"/>
              </a:tabLst>
              <a:defRPr/>
            </a:pPr>
            <a:r>
              <a:rPr lang="en-US" altLang="zh-TW" sz="853">
                <a:solidFill>
                  <a:schemeClr val="tx1"/>
                </a:solidFill>
                <a:latin typeface="+mj-lt"/>
                <a:ea typeface="+mj-ea"/>
                <a:cs typeface="Arial" panose="020B0604020202020204" pitchFamily="34" charset="0"/>
              </a:rPr>
              <a:t>Analyst presentation</a:t>
            </a:r>
          </a:p>
          <a:p>
            <a:pPr marL="270351" indent="-138271" defTabSz="742871" fontAlgn="auto">
              <a:spcBef>
                <a:spcPts val="0"/>
              </a:spcBef>
              <a:spcAft>
                <a:spcPts val="0"/>
              </a:spcAft>
              <a:buClr>
                <a:srgbClr val="96999B"/>
              </a:buClr>
              <a:buFont typeface="Symbol"/>
              <a:buChar char=""/>
              <a:tabLst>
                <a:tab pos="270867" algn="l"/>
              </a:tabLst>
              <a:defRPr/>
            </a:pPr>
            <a:r>
              <a:rPr lang="en-US" altLang="zh-CN" sz="853">
                <a:solidFill>
                  <a:schemeClr val="tx1"/>
                </a:solidFill>
                <a:latin typeface="+mj-lt"/>
                <a:ea typeface="+mj-ea"/>
                <a:cs typeface="Arial" panose="020B0604020202020204" pitchFamily="34" charset="0"/>
              </a:rPr>
              <a:t>Non-deal roadshow</a:t>
            </a:r>
          </a:p>
          <a:p>
            <a:pPr marL="270351" indent="-138271" defTabSz="742871" fontAlgn="auto">
              <a:spcBef>
                <a:spcPts val="0"/>
              </a:spcBef>
              <a:spcAft>
                <a:spcPts val="0"/>
              </a:spcAft>
              <a:buClr>
                <a:srgbClr val="96999B"/>
              </a:buClr>
              <a:buFont typeface="Symbol"/>
              <a:buChar char=""/>
              <a:tabLst>
                <a:tab pos="270867" algn="l"/>
              </a:tabLst>
              <a:defRPr/>
            </a:pPr>
            <a:r>
              <a:rPr lang="en-US" altLang="zh-CN" sz="853">
                <a:solidFill>
                  <a:schemeClr val="tx1"/>
                </a:solidFill>
                <a:latin typeface="+mj-lt"/>
                <a:ea typeface="+mj-ea"/>
                <a:cs typeface="Arial" panose="020B0604020202020204" pitchFamily="34" charset="0"/>
              </a:rPr>
              <a:t>Address regulatory inquiries</a:t>
            </a:r>
          </a:p>
        </p:txBody>
      </p:sp>
      <p:sp>
        <p:nvSpPr>
          <p:cNvPr id="81" name="TextBox 14">
            <a:extLst>
              <a:ext uri="{FF2B5EF4-FFF2-40B4-BE49-F238E27FC236}">
                <a16:creationId xmlns:a16="http://schemas.microsoft.com/office/drawing/2014/main" id="{1C446A06-4D83-210B-388B-9ABA4FFB5278}"/>
              </a:ext>
            </a:extLst>
          </p:cNvPr>
          <p:cNvSpPr txBox="1"/>
          <p:nvPr/>
        </p:nvSpPr>
        <p:spPr>
          <a:xfrm>
            <a:off x="17992516" y="2071337"/>
            <a:ext cx="2705989" cy="879856"/>
          </a:xfrm>
          <a:prstGeom prst="rect">
            <a:avLst/>
          </a:prstGeom>
          <a:noFill/>
        </p:spPr>
        <p:txBody>
          <a:bodyPr wrap="square" rtlCol="0">
            <a:spAutoFit/>
          </a:bodyPr>
          <a:lstStyle/>
          <a:p>
            <a:pPr marL="270351" indent="-138271" defTabSz="742871" fontAlgn="auto">
              <a:spcBef>
                <a:spcPts val="0"/>
              </a:spcBef>
              <a:spcAft>
                <a:spcPts val="0"/>
              </a:spcAft>
              <a:buClr>
                <a:srgbClr val="96999B"/>
              </a:buClr>
              <a:buFont typeface="Symbol"/>
              <a:buChar char=""/>
              <a:tabLst>
                <a:tab pos="270867" algn="l"/>
              </a:tabLst>
              <a:defRPr/>
            </a:pPr>
            <a:r>
              <a:rPr lang="en-US" altLang="zh-TW" sz="853">
                <a:solidFill>
                  <a:schemeClr val="tx1"/>
                </a:solidFill>
                <a:latin typeface="+mj-lt"/>
                <a:ea typeface="+mj-ea"/>
                <a:cs typeface="Arial" panose="020B0604020202020204" pitchFamily="34" charset="0"/>
              </a:rPr>
              <a:t>Pre-deal investor education</a:t>
            </a:r>
          </a:p>
          <a:p>
            <a:pPr marL="270351" indent="-138271" defTabSz="742871" fontAlgn="auto">
              <a:spcBef>
                <a:spcPts val="0"/>
              </a:spcBef>
              <a:spcAft>
                <a:spcPts val="0"/>
              </a:spcAft>
              <a:buClr>
                <a:srgbClr val="96999B"/>
              </a:buClr>
              <a:buFont typeface="Symbol"/>
              <a:buChar char=""/>
              <a:tabLst>
                <a:tab pos="270867" algn="l"/>
              </a:tabLst>
              <a:defRPr/>
            </a:pPr>
            <a:r>
              <a:rPr lang="en-US" altLang="zh-TW" sz="853">
                <a:solidFill>
                  <a:schemeClr val="tx1"/>
                </a:solidFill>
                <a:latin typeface="+mj-lt"/>
                <a:ea typeface="+mj-ea"/>
                <a:cs typeface="Arial" panose="020B0604020202020204" pitchFamily="34" charset="0"/>
              </a:rPr>
              <a:t>Bulk-print prospectus</a:t>
            </a:r>
          </a:p>
          <a:p>
            <a:pPr marL="270351" indent="-138271" defTabSz="742871" fontAlgn="auto">
              <a:spcBef>
                <a:spcPts val="0"/>
              </a:spcBef>
              <a:spcAft>
                <a:spcPts val="0"/>
              </a:spcAft>
              <a:buClr>
                <a:srgbClr val="96999B"/>
              </a:buClr>
              <a:buFont typeface="Symbol"/>
              <a:buChar char=""/>
              <a:tabLst>
                <a:tab pos="270867" algn="l"/>
              </a:tabLst>
              <a:defRPr/>
            </a:pPr>
            <a:r>
              <a:rPr lang="en-US" altLang="zh-TW" sz="853">
                <a:solidFill>
                  <a:schemeClr val="tx1"/>
                </a:solidFill>
                <a:latin typeface="+mj-lt"/>
                <a:ea typeface="+mj-ea"/>
                <a:cs typeface="Arial" panose="020B0604020202020204" pitchFamily="34" charset="0"/>
              </a:rPr>
              <a:t>Roadshow and HKPO</a:t>
            </a:r>
          </a:p>
          <a:p>
            <a:pPr marL="270351" indent="-138271" defTabSz="742871" fontAlgn="auto">
              <a:spcBef>
                <a:spcPts val="0"/>
              </a:spcBef>
              <a:spcAft>
                <a:spcPts val="0"/>
              </a:spcAft>
              <a:buClr>
                <a:srgbClr val="96999B"/>
              </a:buClr>
              <a:buFont typeface="Symbol"/>
              <a:buChar char=""/>
              <a:tabLst>
                <a:tab pos="270867" algn="l"/>
              </a:tabLst>
              <a:defRPr/>
            </a:pPr>
            <a:r>
              <a:rPr lang="en-US" altLang="zh-TW" sz="853">
                <a:solidFill>
                  <a:schemeClr val="tx1"/>
                </a:solidFill>
                <a:latin typeface="+mj-lt"/>
                <a:ea typeface="+mj-ea"/>
                <a:cs typeface="Arial" panose="020B0604020202020204" pitchFamily="34" charset="0"/>
              </a:rPr>
              <a:t>Pricing and allocation</a:t>
            </a:r>
          </a:p>
          <a:p>
            <a:pPr marL="270351" indent="-138271" defTabSz="742871" fontAlgn="auto">
              <a:spcBef>
                <a:spcPts val="0"/>
              </a:spcBef>
              <a:spcAft>
                <a:spcPts val="0"/>
              </a:spcAft>
              <a:buClr>
                <a:srgbClr val="96999B"/>
              </a:buClr>
              <a:buFont typeface="Symbol"/>
              <a:buChar char=""/>
              <a:tabLst>
                <a:tab pos="270867" algn="l"/>
              </a:tabLst>
              <a:defRPr/>
            </a:pPr>
            <a:r>
              <a:rPr lang="en-GB" altLang="zh-TW" sz="853">
                <a:solidFill>
                  <a:srgbClr val="C00000"/>
                </a:solidFill>
                <a:latin typeface="+mj-lt"/>
                <a:ea typeface="+mj-ea"/>
                <a:cs typeface="Arial" panose="020B0604020202020204" pitchFamily="34" charset="0"/>
              </a:rPr>
              <a:t>L</a:t>
            </a:r>
            <a:r>
              <a:rPr lang="en-US" altLang="zh-TW" sz="853" err="1">
                <a:solidFill>
                  <a:srgbClr val="C00000"/>
                </a:solidFill>
                <a:latin typeface="+mj-lt"/>
                <a:ea typeface="+mj-ea"/>
                <a:cs typeface="Arial" panose="020B0604020202020204" pitchFamily="34" charset="0"/>
              </a:rPr>
              <a:t>isting</a:t>
            </a:r>
            <a:endParaRPr lang="en-US" altLang="zh-TW" sz="853">
              <a:solidFill>
                <a:srgbClr val="C00000"/>
              </a:solidFill>
              <a:latin typeface="+mj-lt"/>
              <a:ea typeface="+mj-ea"/>
              <a:cs typeface="Arial" panose="020B0604020202020204" pitchFamily="34" charset="0"/>
            </a:endParaRPr>
          </a:p>
          <a:p>
            <a:pPr marL="270351" indent="-138271" defTabSz="742871">
              <a:buClr>
                <a:srgbClr val="96999B"/>
              </a:buClr>
              <a:buFont typeface="Symbol"/>
              <a:buChar char=""/>
              <a:tabLst>
                <a:tab pos="270867" algn="l"/>
              </a:tabLst>
              <a:defRPr/>
            </a:pPr>
            <a:endParaRPr lang="en-US" altLang="zh-TW" sz="853">
              <a:solidFill>
                <a:schemeClr val="tx1"/>
              </a:solidFill>
              <a:latin typeface="+mj-lt"/>
              <a:ea typeface="+mj-ea"/>
              <a:cs typeface="Arial" panose="020B0604020202020204" pitchFamily="34" charset="0"/>
            </a:endParaRPr>
          </a:p>
        </p:txBody>
      </p:sp>
      <p:sp>
        <p:nvSpPr>
          <p:cNvPr id="82" name="TextBox 15">
            <a:extLst>
              <a:ext uri="{FF2B5EF4-FFF2-40B4-BE49-F238E27FC236}">
                <a16:creationId xmlns:a16="http://schemas.microsoft.com/office/drawing/2014/main" id="{DA1C18DD-EBF0-E337-584B-DBB0A3452A19}"/>
              </a:ext>
            </a:extLst>
          </p:cNvPr>
          <p:cNvSpPr txBox="1"/>
          <p:nvPr/>
        </p:nvSpPr>
        <p:spPr>
          <a:xfrm>
            <a:off x="16889289" y="2881100"/>
            <a:ext cx="3722949" cy="486095"/>
          </a:xfrm>
          <a:prstGeom prst="rect">
            <a:avLst/>
          </a:prstGeom>
          <a:noFill/>
        </p:spPr>
        <p:txBody>
          <a:bodyPr wrap="square" rtlCol="0">
            <a:spAutoFit/>
          </a:bodyPr>
          <a:lstStyle/>
          <a:p>
            <a:pPr marL="270351" indent="-138271" defTabSz="742871" fontAlgn="auto">
              <a:spcBef>
                <a:spcPts val="0"/>
              </a:spcBef>
              <a:spcAft>
                <a:spcPts val="0"/>
              </a:spcAft>
              <a:buClr>
                <a:srgbClr val="96999B"/>
              </a:buClr>
              <a:buFont typeface="Symbol"/>
              <a:buChar char=""/>
              <a:tabLst>
                <a:tab pos="270867" algn="l"/>
              </a:tabLst>
              <a:defRPr/>
            </a:pPr>
            <a:r>
              <a:rPr lang="en-US" altLang="zh-CN" sz="853">
                <a:solidFill>
                  <a:schemeClr val="tx1"/>
                </a:solidFill>
                <a:latin typeface="+mj-lt"/>
                <a:ea typeface="+mj-ea"/>
                <a:cs typeface="Arial" panose="020B0604020202020204" pitchFamily="34" charset="0"/>
              </a:rPr>
              <a:t>Lock-in potential cornerstone and anchor investors</a:t>
            </a:r>
          </a:p>
          <a:p>
            <a:pPr marL="270351" indent="-138271" defTabSz="742871" fontAlgn="auto">
              <a:spcBef>
                <a:spcPts val="0"/>
              </a:spcBef>
              <a:spcAft>
                <a:spcPts val="0"/>
              </a:spcAft>
              <a:buClr>
                <a:srgbClr val="96999B"/>
              </a:buClr>
              <a:buFont typeface="Symbol"/>
              <a:buChar char=""/>
              <a:tabLst>
                <a:tab pos="270867" algn="l"/>
              </a:tabLst>
              <a:defRPr/>
            </a:pPr>
            <a:r>
              <a:rPr lang="en-US" altLang="zh-CN" sz="853">
                <a:solidFill>
                  <a:srgbClr val="C00000"/>
                </a:solidFill>
                <a:latin typeface="+mj-lt"/>
                <a:ea typeface="+mj-ea"/>
                <a:cs typeface="Arial" panose="020B0604020202020204" pitchFamily="34" charset="0"/>
              </a:rPr>
              <a:t>Obtain IDX, OJK and shareholder approval (where applicable)</a:t>
            </a:r>
          </a:p>
          <a:p>
            <a:pPr marL="270351" indent="-138271" defTabSz="742871" fontAlgn="auto">
              <a:spcBef>
                <a:spcPts val="0"/>
              </a:spcBef>
              <a:spcAft>
                <a:spcPts val="0"/>
              </a:spcAft>
              <a:buClr>
                <a:srgbClr val="96999B"/>
              </a:buClr>
              <a:buFont typeface="Symbol"/>
              <a:buChar char=""/>
              <a:tabLst>
                <a:tab pos="270867" algn="l"/>
              </a:tabLst>
              <a:defRPr/>
            </a:pPr>
            <a:r>
              <a:rPr lang="en-US" altLang="zh-TW" sz="853" err="1">
                <a:solidFill>
                  <a:srgbClr val="C00000"/>
                </a:solidFill>
                <a:latin typeface="+mj-lt"/>
                <a:ea typeface="+mj-ea"/>
                <a:cs typeface="Arial" panose="020B0604020202020204" pitchFamily="34" charset="0"/>
              </a:rPr>
              <a:t>HKEx</a:t>
            </a:r>
            <a:r>
              <a:rPr lang="en-US" altLang="zh-TW" sz="853">
                <a:solidFill>
                  <a:srgbClr val="C00000"/>
                </a:solidFill>
                <a:latin typeface="+mj-lt"/>
                <a:ea typeface="+mj-ea"/>
                <a:cs typeface="Arial" panose="020B0604020202020204" pitchFamily="34" charset="0"/>
              </a:rPr>
              <a:t> listing hearing</a:t>
            </a:r>
          </a:p>
        </p:txBody>
      </p:sp>
      <p:cxnSp>
        <p:nvCxnSpPr>
          <p:cNvPr id="83" name="Straight Connector 16">
            <a:extLst>
              <a:ext uri="{FF2B5EF4-FFF2-40B4-BE49-F238E27FC236}">
                <a16:creationId xmlns:a16="http://schemas.microsoft.com/office/drawing/2014/main" id="{3DD455FA-4715-B432-6786-9344E24265EB}"/>
              </a:ext>
            </a:extLst>
          </p:cNvPr>
          <p:cNvCxnSpPr>
            <a:cxnSpLocks/>
          </p:cNvCxnSpPr>
          <p:nvPr/>
        </p:nvCxnSpPr>
        <p:spPr bwMode="auto">
          <a:xfrm>
            <a:off x="11624950" y="2732707"/>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84" name="Straight Connector 17">
            <a:extLst>
              <a:ext uri="{FF2B5EF4-FFF2-40B4-BE49-F238E27FC236}">
                <a16:creationId xmlns:a16="http://schemas.microsoft.com/office/drawing/2014/main" id="{7C42D7B6-23DB-455A-DF86-E6026C4BD6DF}"/>
              </a:ext>
            </a:extLst>
          </p:cNvPr>
          <p:cNvCxnSpPr>
            <a:cxnSpLocks/>
          </p:cNvCxnSpPr>
          <p:nvPr/>
        </p:nvCxnSpPr>
        <p:spPr bwMode="auto">
          <a:xfrm>
            <a:off x="11637161" y="2080239"/>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85" name="Straight Arrow Connector 18">
            <a:extLst>
              <a:ext uri="{FF2B5EF4-FFF2-40B4-BE49-F238E27FC236}">
                <a16:creationId xmlns:a16="http://schemas.microsoft.com/office/drawing/2014/main" id="{22C66364-2E8E-7D33-5F06-06F02B10255A}"/>
              </a:ext>
            </a:extLst>
          </p:cNvPr>
          <p:cNvCxnSpPr>
            <a:cxnSpLocks/>
          </p:cNvCxnSpPr>
          <p:nvPr/>
        </p:nvCxnSpPr>
        <p:spPr bwMode="auto">
          <a:xfrm flipH="1" flipV="1">
            <a:off x="11813542" y="2068299"/>
            <a:ext cx="6925" cy="194614"/>
          </a:xfrm>
          <a:prstGeom prst="straightConnector1">
            <a:avLst/>
          </a:prstGeom>
          <a:noFill/>
          <a:ln w="12700" cap="flat" cmpd="sng" algn="ctr">
            <a:solidFill>
              <a:srgbClr val="B2B2B2"/>
            </a:solidFill>
            <a:prstDash val="lgDash"/>
            <a:round/>
            <a:headEnd type="none" w="med" len="med"/>
            <a:tailEnd type="triangle"/>
          </a:ln>
          <a:effectLst/>
        </p:spPr>
      </p:cxnSp>
      <p:cxnSp>
        <p:nvCxnSpPr>
          <p:cNvPr id="86" name="Straight Arrow Connector 19">
            <a:extLst>
              <a:ext uri="{FF2B5EF4-FFF2-40B4-BE49-F238E27FC236}">
                <a16:creationId xmlns:a16="http://schemas.microsoft.com/office/drawing/2014/main" id="{CAFC07F4-7F55-99CE-137E-72972F0904D3}"/>
              </a:ext>
            </a:extLst>
          </p:cNvPr>
          <p:cNvCxnSpPr>
            <a:cxnSpLocks/>
          </p:cNvCxnSpPr>
          <p:nvPr/>
        </p:nvCxnSpPr>
        <p:spPr bwMode="auto">
          <a:xfrm flipH="1">
            <a:off x="11815683" y="2531168"/>
            <a:ext cx="4784" cy="202021"/>
          </a:xfrm>
          <a:prstGeom prst="straightConnector1">
            <a:avLst/>
          </a:prstGeom>
          <a:noFill/>
          <a:ln w="12700" cap="flat" cmpd="sng" algn="ctr">
            <a:solidFill>
              <a:srgbClr val="B2B2B2"/>
            </a:solidFill>
            <a:prstDash val="lgDash"/>
            <a:round/>
            <a:headEnd type="none" w="med" len="med"/>
            <a:tailEnd type="triangle"/>
          </a:ln>
          <a:effectLst/>
        </p:spPr>
      </p:cxnSp>
      <p:sp>
        <p:nvSpPr>
          <p:cNvPr id="87" name="TextBox 20">
            <a:extLst>
              <a:ext uri="{FF2B5EF4-FFF2-40B4-BE49-F238E27FC236}">
                <a16:creationId xmlns:a16="http://schemas.microsoft.com/office/drawing/2014/main" id="{C93B0860-A627-C067-66A8-149FEE7F7438}"/>
              </a:ext>
            </a:extLst>
          </p:cNvPr>
          <p:cNvSpPr txBox="1"/>
          <p:nvPr/>
        </p:nvSpPr>
        <p:spPr>
          <a:xfrm>
            <a:off x="16801357" y="2278837"/>
            <a:ext cx="859511" cy="242374"/>
          </a:xfrm>
          <a:prstGeom prst="rect">
            <a:avLst/>
          </a:prstGeom>
          <a:solidFill>
            <a:srgbClr val="C00000"/>
          </a:solidFill>
        </p:spPr>
        <p:txBody>
          <a:bodyPr wrap="square" rtlCol="0">
            <a:spAutoFit/>
          </a:bodyPr>
          <a:lstStyle/>
          <a:p>
            <a:pPr algn="ctr" eaLnBrk="0" fontAlgn="base" hangingPunct="0">
              <a:spcBef>
                <a:spcPct val="0"/>
              </a:spcBef>
              <a:spcAft>
                <a:spcPct val="200000"/>
              </a:spcAft>
              <a:buClr>
                <a:srgbClr val="BE050A"/>
              </a:buClr>
              <a:buFont typeface="Wingdings" pitchFamily="2" charset="2"/>
              <a:buNone/>
            </a:pPr>
            <a:r>
              <a:rPr lang="en-US" altLang="zh-TW" sz="975" spc="-16">
                <a:solidFill>
                  <a:srgbClr val="FFFFFF"/>
                </a:solidFill>
                <a:latin typeface="+mj-lt"/>
                <a:ea typeface="+mj-ea"/>
                <a:cs typeface="Arial" panose="020B0604020202020204" pitchFamily="34" charset="0"/>
              </a:rPr>
              <a:t>Jun 2026</a:t>
            </a:r>
            <a:endParaRPr lang="en-US" sz="975" spc="-16">
              <a:solidFill>
                <a:srgbClr val="FFFFFF"/>
              </a:solidFill>
              <a:latin typeface="+mj-lt"/>
              <a:ea typeface="+mj-ea"/>
              <a:cs typeface="Arial" panose="020B0604020202020204" pitchFamily="34" charset="0"/>
            </a:endParaRPr>
          </a:p>
        </p:txBody>
      </p:sp>
      <p:sp>
        <p:nvSpPr>
          <p:cNvPr id="88" name="TextBox 23">
            <a:extLst>
              <a:ext uri="{FF2B5EF4-FFF2-40B4-BE49-F238E27FC236}">
                <a16:creationId xmlns:a16="http://schemas.microsoft.com/office/drawing/2014/main" id="{7D79C598-8F08-FCDE-8C12-A036225A1FB0}"/>
              </a:ext>
            </a:extLst>
          </p:cNvPr>
          <p:cNvSpPr txBox="1"/>
          <p:nvPr/>
        </p:nvSpPr>
        <p:spPr>
          <a:xfrm>
            <a:off x="15438835" y="4295465"/>
            <a:ext cx="4414528" cy="486095"/>
          </a:xfrm>
          <a:prstGeom prst="rect">
            <a:avLst/>
          </a:prstGeom>
          <a:noFill/>
        </p:spPr>
        <p:txBody>
          <a:bodyPr wrap="square" rtlCol="0">
            <a:spAutoFit/>
          </a:bodyPr>
          <a:lstStyle/>
          <a:p>
            <a:pPr marL="270351" indent="-138271" defTabSz="742871">
              <a:buClr>
                <a:srgbClr val="96999B"/>
              </a:buClr>
              <a:buFont typeface="Symbol"/>
              <a:buChar char=""/>
              <a:tabLst>
                <a:tab pos="270867" algn="l"/>
              </a:tabLst>
              <a:defRPr/>
            </a:pPr>
            <a:r>
              <a:rPr lang="en-US" altLang="zh-CN" sz="853">
                <a:solidFill>
                  <a:srgbClr val="000000"/>
                </a:solidFill>
                <a:latin typeface="+mj-lt"/>
                <a:ea typeface="+mj-ea"/>
                <a:cs typeface="Arial" panose="020B0604020202020204" pitchFamily="34" charset="0"/>
              </a:rPr>
              <a:t>Finalize application proof and A1 pack</a:t>
            </a:r>
          </a:p>
          <a:p>
            <a:pPr marL="270351" indent="-138271" defTabSz="742871">
              <a:buClr>
                <a:srgbClr val="96999B"/>
              </a:buClr>
              <a:buFont typeface="Symbol"/>
              <a:buChar char=""/>
              <a:tabLst>
                <a:tab pos="270867" algn="l"/>
              </a:tabLst>
              <a:defRPr/>
            </a:pPr>
            <a:r>
              <a:rPr lang="en-US" altLang="zh-TW" sz="853">
                <a:solidFill>
                  <a:srgbClr val="C00000"/>
                </a:solidFill>
                <a:latin typeface="+mj-lt"/>
                <a:ea typeface="+mj-ea"/>
                <a:cs typeface="Arial" panose="020B0604020202020204" pitchFamily="34" charset="0"/>
              </a:rPr>
              <a:t>Complete necessary internal / Indo regulatory procedure </a:t>
            </a:r>
            <a:r>
              <a:rPr lang="en-US" altLang="zh-CN" sz="853">
                <a:solidFill>
                  <a:srgbClr val="C00000"/>
                </a:solidFill>
                <a:cs typeface="Arial" panose="020B0604020202020204" pitchFamily="34" charset="0"/>
              </a:rPr>
              <a:t>(where applicable)</a:t>
            </a:r>
            <a:r>
              <a:rPr lang="en-US" altLang="zh-TW" sz="853">
                <a:solidFill>
                  <a:srgbClr val="C00000"/>
                </a:solidFill>
                <a:latin typeface="+mj-lt"/>
                <a:ea typeface="+mj-ea"/>
                <a:cs typeface="Arial" panose="020B0604020202020204" pitchFamily="34" charset="0"/>
              </a:rPr>
              <a:t> </a:t>
            </a:r>
          </a:p>
          <a:p>
            <a:pPr marL="270351" indent="-138271" defTabSz="742871">
              <a:buClr>
                <a:srgbClr val="96999B"/>
              </a:buClr>
              <a:buFont typeface="Symbol"/>
              <a:buChar char=""/>
              <a:tabLst>
                <a:tab pos="270867" algn="l"/>
              </a:tabLst>
              <a:defRPr/>
            </a:pPr>
            <a:r>
              <a:rPr lang="en-US" altLang="zh-TW" sz="853">
                <a:solidFill>
                  <a:srgbClr val="C00000"/>
                </a:solidFill>
                <a:latin typeface="+mj-lt"/>
                <a:ea typeface="+mj-ea"/>
                <a:cs typeface="Arial" panose="020B0604020202020204" pitchFamily="34" charset="0"/>
              </a:rPr>
              <a:t>Submit A1 listing application to </a:t>
            </a:r>
            <a:r>
              <a:rPr lang="en-US" altLang="zh-TW" sz="853" err="1">
                <a:solidFill>
                  <a:srgbClr val="C00000"/>
                </a:solidFill>
                <a:latin typeface="+mj-lt"/>
                <a:ea typeface="+mj-ea"/>
                <a:cs typeface="Arial" panose="020B0604020202020204" pitchFamily="34" charset="0"/>
              </a:rPr>
              <a:t>HKEx</a:t>
            </a:r>
            <a:r>
              <a:rPr lang="en-US" altLang="zh-TW" sz="853">
                <a:solidFill>
                  <a:srgbClr val="C00000"/>
                </a:solidFill>
                <a:latin typeface="+mj-lt"/>
                <a:ea typeface="+mj-ea"/>
                <a:cs typeface="Arial" panose="020B0604020202020204" pitchFamily="34" charset="0"/>
              </a:rPr>
              <a:t> </a:t>
            </a:r>
          </a:p>
        </p:txBody>
      </p:sp>
      <p:cxnSp>
        <p:nvCxnSpPr>
          <p:cNvPr id="89" name="Straight Connector 24">
            <a:extLst>
              <a:ext uri="{FF2B5EF4-FFF2-40B4-BE49-F238E27FC236}">
                <a16:creationId xmlns:a16="http://schemas.microsoft.com/office/drawing/2014/main" id="{FE3B4947-A597-36D2-634E-3193305EC00F}"/>
              </a:ext>
            </a:extLst>
          </p:cNvPr>
          <p:cNvCxnSpPr>
            <a:cxnSpLocks/>
          </p:cNvCxnSpPr>
          <p:nvPr/>
        </p:nvCxnSpPr>
        <p:spPr bwMode="auto">
          <a:xfrm>
            <a:off x="11632689" y="2732656"/>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90" name="Straight Connector 25">
            <a:extLst>
              <a:ext uri="{FF2B5EF4-FFF2-40B4-BE49-F238E27FC236}">
                <a16:creationId xmlns:a16="http://schemas.microsoft.com/office/drawing/2014/main" id="{FD6408FF-328C-D3BA-5D5E-54761BCEAADF}"/>
              </a:ext>
            </a:extLst>
          </p:cNvPr>
          <p:cNvCxnSpPr>
            <a:cxnSpLocks/>
          </p:cNvCxnSpPr>
          <p:nvPr/>
        </p:nvCxnSpPr>
        <p:spPr bwMode="auto">
          <a:xfrm>
            <a:off x="11634351" y="4344324"/>
            <a:ext cx="391884" cy="0"/>
          </a:xfrm>
          <a:prstGeom prst="line">
            <a:avLst/>
          </a:prstGeom>
          <a:noFill/>
          <a:ln w="12700" cap="flat" cmpd="sng" algn="ctr">
            <a:solidFill>
              <a:srgbClr val="B2B2B2"/>
            </a:solidFill>
            <a:prstDash val="solid"/>
            <a:round/>
            <a:headEnd type="none" w="med" len="med"/>
            <a:tailEnd type="none" w="med" len="med"/>
          </a:ln>
          <a:effectLst/>
        </p:spPr>
      </p:cxnSp>
      <p:cxnSp>
        <p:nvCxnSpPr>
          <p:cNvPr id="91" name="Straight Arrow Connector 26">
            <a:extLst>
              <a:ext uri="{FF2B5EF4-FFF2-40B4-BE49-F238E27FC236}">
                <a16:creationId xmlns:a16="http://schemas.microsoft.com/office/drawing/2014/main" id="{617C2633-30E1-F424-7301-B20A64BD7BF4}"/>
              </a:ext>
            </a:extLst>
          </p:cNvPr>
          <p:cNvCxnSpPr>
            <a:cxnSpLocks/>
          </p:cNvCxnSpPr>
          <p:nvPr/>
        </p:nvCxnSpPr>
        <p:spPr bwMode="auto">
          <a:xfrm flipV="1">
            <a:off x="11812971" y="2716701"/>
            <a:ext cx="0" cy="395580"/>
          </a:xfrm>
          <a:prstGeom prst="straightConnector1">
            <a:avLst/>
          </a:prstGeom>
          <a:noFill/>
          <a:ln w="12700" cap="flat" cmpd="sng" algn="ctr">
            <a:solidFill>
              <a:srgbClr val="B2B2B2"/>
            </a:solidFill>
            <a:prstDash val="lgDash"/>
            <a:round/>
            <a:headEnd type="none" w="med" len="med"/>
            <a:tailEnd type="triangle"/>
          </a:ln>
          <a:effectLst/>
        </p:spPr>
      </p:cxnSp>
      <p:cxnSp>
        <p:nvCxnSpPr>
          <p:cNvPr id="92" name="Straight Arrow Connector 27">
            <a:extLst>
              <a:ext uri="{FF2B5EF4-FFF2-40B4-BE49-F238E27FC236}">
                <a16:creationId xmlns:a16="http://schemas.microsoft.com/office/drawing/2014/main" id="{EAFFB09C-B6C8-52B5-B015-FE7695AC95C7}"/>
              </a:ext>
            </a:extLst>
          </p:cNvPr>
          <p:cNvCxnSpPr>
            <a:cxnSpLocks/>
          </p:cNvCxnSpPr>
          <p:nvPr/>
        </p:nvCxnSpPr>
        <p:spPr bwMode="auto">
          <a:xfrm>
            <a:off x="11812971" y="3364422"/>
            <a:ext cx="0" cy="979902"/>
          </a:xfrm>
          <a:prstGeom prst="straightConnector1">
            <a:avLst/>
          </a:prstGeom>
          <a:noFill/>
          <a:ln w="12700" cap="flat" cmpd="sng" algn="ctr">
            <a:solidFill>
              <a:srgbClr val="B2B2B2"/>
            </a:solidFill>
            <a:prstDash val="lgDash"/>
            <a:round/>
            <a:headEnd type="none" w="med" len="med"/>
            <a:tailEnd type="triangle"/>
          </a:ln>
          <a:effectLst/>
        </p:spPr>
      </p:cxnSp>
      <p:sp>
        <p:nvSpPr>
          <p:cNvPr id="93" name="TextBox 28">
            <a:extLst>
              <a:ext uri="{FF2B5EF4-FFF2-40B4-BE49-F238E27FC236}">
                <a16:creationId xmlns:a16="http://schemas.microsoft.com/office/drawing/2014/main" id="{86ABDB1C-991F-1254-2F11-F3580F7187B0}"/>
              </a:ext>
            </a:extLst>
          </p:cNvPr>
          <p:cNvSpPr txBox="1"/>
          <p:nvPr/>
        </p:nvSpPr>
        <p:spPr>
          <a:xfrm>
            <a:off x="11356210" y="4656982"/>
            <a:ext cx="927168" cy="242374"/>
          </a:xfrm>
          <a:prstGeom prst="rect">
            <a:avLst/>
          </a:prstGeom>
          <a:solidFill>
            <a:srgbClr val="FFFFFF"/>
          </a:solidFill>
        </p:spPr>
        <p:txBody>
          <a:bodyPr wrap="square" rtlCol="0">
            <a:spAutoFit/>
          </a:bodyPr>
          <a:lstStyle/>
          <a:p>
            <a:pPr algn="ctr" defTabSz="742950" eaLnBrk="0" hangingPunct="0">
              <a:spcAft>
                <a:spcPct val="200000"/>
              </a:spcAft>
              <a:buClr>
                <a:srgbClr val="BE050A"/>
              </a:buClr>
              <a:defRPr/>
            </a:pPr>
            <a:r>
              <a:rPr lang="en-US" altLang="zh-CN" sz="975" kern="0">
                <a:solidFill>
                  <a:srgbClr val="C00000"/>
                </a:solidFill>
                <a:latin typeface="+mj-lt"/>
                <a:ea typeface="+mj-ea"/>
                <a:cs typeface="Arial" panose="020B0604020202020204" pitchFamily="34" charset="0"/>
              </a:rPr>
              <a:t>Preparation</a:t>
            </a:r>
            <a:endParaRPr lang="zh-CN" altLang="en-US" sz="975" kern="0">
              <a:solidFill>
                <a:srgbClr val="C00000"/>
              </a:solidFill>
              <a:latin typeface="+mj-lt"/>
              <a:ea typeface="+mj-ea"/>
              <a:cs typeface="Arial" panose="020B0604020202020204" pitchFamily="34" charset="0"/>
            </a:endParaRPr>
          </a:p>
        </p:txBody>
      </p:sp>
      <p:sp>
        <p:nvSpPr>
          <p:cNvPr id="94" name="TextBox 29">
            <a:extLst>
              <a:ext uri="{FF2B5EF4-FFF2-40B4-BE49-F238E27FC236}">
                <a16:creationId xmlns:a16="http://schemas.microsoft.com/office/drawing/2014/main" id="{C75DF100-0A7A-1442-713D-1D2E7E3B5F0C}"/>
              </a:ext>
            </a:extLst>
          </p:cNvPr>
          <p:cNvSpPr txBox="1"/>
          <p:nvPr/>
        </p:nvSpPr>
        <p:spPr>
          <a:xfrm>
            <a:off x="11412929" y="2262912"/>
            <a:ext cx="815075" cy="242374"/>
          </a:xfrm>
          <a:prstGeom prst="rect">
            <a:avLst/>
          </a:prstGeom>
          <a:solidFill>
            <a:srgbClr val="FFFFFF"/>
          </a:solidFill>
        </p:spPr>
        <p:txBody>
          <a:bodyPr wrap="square" rtlCol="0">
            <a:spAutoFit/>
          </a:bodyPr>
          <a:lstStyle/>
          <a:p>
            <a:pPr algn="ctr" defTabSz="742950" eaLnBrk="0" hangingPunct="0">
              <a:spcAft>
                <a:spcPct val="200000"/>
              </a:spcAft>
              <a:buClr>
                <a:srgbClr val="BE050A"/>
              </a:buClr>
              <a:defRPr/>
            </a:pPr>
            <a:r>
              <a:rPr lang="en-US" altLang="zh-CN" sz="975" kern="0">
                <a:solidFill>
                  <a:srgbClr val="C00000"/>
                </a:solidFill>
                <a:latin typeface="+mj-lt"/>
                <a:ea typeface="+mj-ea"/>
                <a:cs typeface="Arial" panose="020B0604020202020204" pitchFamily="34" charset="0"/>
              </a:rPr>
              <a:t>Marketing</a:t>
            </a:r>
            <a:endParaRPr lang="zh-CN" altLang="en-US" sz="975" kern="0">
              <a:solidFill>
                <a:srgbClr val="C00000"/>
              </a:solidFill>
              <a:latin typeface="+mj-lt"/>
              <a:ea typeface="+mj-ea"/>
              <a:cs typeface="Arial" panose="020B0604020202020204" pitchFamily="34" charset="0"/>
            </a:endParaRPr>
          </a:p>
        </p:txBody>
      </p:sp>
      <p:sp>
        <p:nvSpPr>
          <p:cNvPr id="95" name="TextBox 30">
            <a:extLst>
              <a:ext uri="{FF2B5EF4-FFF2-40B4-BE49-F238E27FC236}">
                <a16:creationId xmlns:a16="http://schemas.microsoft.com/office/drawing/2014/main" id="{5BB3777E-A4C2-8843-E790-FC97D3FB6A29}"/>
              </a:ext>
            </a:extLst>
          </p:cNvPr>
          <p:cNvSpPr txBox="1"/>
          <p:nvPr/>
        </p:nvSpPr>
        <p:spPr>
          <a:xfrm>
            <a:off x="11398306" y="3084572"/>
            <a:ext cx="859510" cy="392415"/>
          </a:xfrm>
          <a:prstGeom prst="rect">
            <a:avLst/>
          </a:prstGeom>
          <a:solidFill>
            <a:srgbClr val="FFFFFF"/>
          </a:solidFill>
        </p:spPr>
        <p:txBody>
          <a:bodyPr wrap="square" rtlCol="0">
            <a:spAutoFit/>
          </a:bodyPr>
          <a:lstStyle/>
          <a:p>
            <a:pPr algn="ctr" defTabSz="742950" eaLnBrk="0" hangingPunct="0">
              <a:spcAft>
                <a:spcPct val="200000"/>
              </a:spcAft>
              <a:buClr>
                <a:srgbClr val="BE050A"/>
              </a:buClr>
              <a:defRPr/>
            </a:pPr>
            <a:r>
              <a:rPr lang="en-US" altLang="zh-CN" sz="975" kern="0">
                <a:solidFill>
                  <a:srgbClr val="C00000"/>
                </a:solidFill>
                <a:latin typeface="+mj-lt"/>
                <a:ea typeface="+mj-ea"/>
                <a:cs typeface="Arial" panose="020B0604020202020204" pitchFamily="34" charset="0"/>
              </a:rPr>
              <a:t>Regulatory vetting</a:t>
            </a:r>
            <a:endParaRPr lang="zh-CN" altLang="en-US" sz="975" kern="0">
              <a:solidFill>
                <a:srgbClr val="C00000"/>
              </a:solidFill>
              <a:latin typeface="+mj-lt"/>
              <a:ea typeface="+mj-ea"/>
              <a:cs typeface="Arial" panose="020B0604020202020204" pitchFamily="34" charset="0"/>
            </a:endParaRPr>
          </a:p>
        </p:txBody>
      </p:sp>
      <p:sp>
        <p:nvSpPr>
          <p:cNvPr id="96" name="TextBox 32">
            <a:extLst>
              <a:ext uri="{FF2B5EF4-FFF2-40B4-BE49-F238E27FC236}">
                <a16:creationId xmlns:a16="http://schemas.microsoft.com/office/drawing/2014/main" id="{9BF520B0-650B-D6CE-A20A-DFA4F78D28AA}"/>
              </a:ext>
            </a:extLst>
          </p:cNvPr>
          <p:cNvSpPr txBox="1"/>
          <p:nvPr/>
        </p:nvSpPr>
        <p:spPr>
          <a:xfrm>
            <a:off x="15978110" y="2921940"/>
            <a:ext cx="859511" cy="392415"/>
          </a:xfrm>
          <a:prstGeom prst="rect">
            <a:avLst/>
          </a:prstGeom>
          <a:solidFill>
            <a:srgbClr val="595959"/>
          </a:solidFill>
        </p:spPr>
        <p:txBody>
          <a:bodyPr wrap="square" rtlCol="0">
            <a:spAutoFit/>
          </a:bodyPr>
          <a:lstStyle/>
          <a:p>
            <a:pPr algn="ctr" defTabSz="742950" eaLnBrk="0" hangingPunct="0">
              <a:spcAft>
                <a:spcPct val="200000"/>
              </a:spcAft>
              <a:buClr>
                <a:srgbClr val="BE050A"/>
              </a:buClr>
              <a:defRPr/>
            </a:pPr>
            <a:r>
              <a:rPr lang="en-US" altLang="zh-TW" sz="975" kern="0" spc="-16" dirty="0">
                <a:solidFill>
                  <a:srgbClr val="FFFFFF"/>
                </a:solidFill>
                <a:latin typeface="+mj-lt"/>
                <a:ea typeface="+mj-ea"/>
                <a:cs typeface="Arial" panose="020B0604020202020204" pitchFamily="34" charset="0"/>
              </a:rPr>
              <a:t>Apr - May 2026</a:t>
            </a:r>
            <a:endParaRPr lang="en-US" sz="975" kern="0" spc="-16" dirty="0">
              <a:solidFill>
                <a:srgbClr val="FFFFFF"/>
              </a:solidFill>
              <a:latin typeface="+mj-lt"/>
              <a:ea typeface="+mj-ea"/>
              <a:cs typeface="Arial" panose="020B0604020202020204" pitchFamily="34" charset="0"/>
            </a:endParaRPr>
          </a:p>
        </p:txBody>
      </p:sp>
      <p:sp>
        <p:nvSpPr>
          <p:cNvPr id="97" name="TextBox 33">
            <a:extLst>
              <a:ext uri="{FF2B5EF4-FFF2-40B4-BE49-F238E27FC236}">
                <a16:creationId xmlns:a16="http://schemas.microsoft.com/office/drawing/2014/main" id="{2EFBC7AE-451E-28EC-3C52-26205DC7E1EE}"/>
              </a:ext>
            </a:extLst>
          </p:cNvPr>
          <p:cNvSpPr txBox="1"/>
          <p:nvPr/>
        </p:nvSpPr>
        <p:spPr>
          <a:xfrm>
            <a:off x="14541539" y="4406752"/>
            <a:ext cx="859511" cy="242374"/>
          </a:xfrm>
          <a:prstGeom prst="rect">
            <a:avLst/>
          </a:prstGeom>
          <a:solidFill>
            <a:srgbClr val="C00000"/>
          </a:solidFill>
        </p:spPr>
        <p:txBody>
          <a:bodyPr wrap="square" rtlCol="0">
            <a:spAutoFit/>
          </a:bodyPr>
          <a:lstStyle/>
          <a:p>
            <a:pPr algn="ctr" defTabSz="742950" eaLnBrk="0" hangingPunct="0">
              <a:spcAft>
                <a:spcPct val="200000"/>
              </a:spcAft>
              <a:buClr>
                <a:srgbClr val="BE050A"/>
              </a:buClr>
              <a:defRPr/>
            </a:pPr>
            <a:r>
              <a:rPr lang="en-US" altLang="zh-TW" sz="975" kern="0" spc="-16">
                <a:solidFill>
                  <a:srgbClr val="FFFFFF"/>
                </a:solidFill>
                <a:latin typeface="+mj-lt"/>
                <a:ea typeface="+mj-ea"/>
                <a:cs typeface="Arial" panose="020B0604020202020204" pitchFamily="34" charset="0"/>
              </a:rPr>
              <a:t>Feb 2026</a:t>
            </a:r>
            <a:endParaRPr lang="en-US" sz="975" kern="0" spc="-16">
              <a:solidFill>
                <a:srgbClr val="FFFFFF"/>
              </a:solidFill>
              <a:latin typeface="+mj-lt"/>
              <a:ea typeface="+mj-ea"/>
              <a:cs typeface="Arial" panose="020B0604020202020204" pitchFamily="34" charset="0"/>
            </a:endParaRPr>
          </a:p>
        </p:txBody>
      </p:sp>
      <p:sp>
        <p:nvSpPr>
          <p:cNvPr id="98" name="TextBox 34">
            <a:extLst>
              <a:ext uri="{FF2B5EF4-FFF2-40B4-BE49-F238E27FC236}">
                <a16:creationId xmlns:a16="http://schemas.microsoft.com/office/drawing/2014/main" id="{CFCE8846-F1A0-926B-5ABB-B92469ADA4E7}"/>
              </a:ext>
            </a:extLst>
          </p:cNvPr>
          <p:cNvSpPr txBox="1"/>
          <p:nvPr/>
        </p:nvSpPr>
        <p:spPr>
          <a:xfrm>
            <a:off x="13481141" y="5123051"/>
            <a:ext cx="859511" cy="242374"/>
          </a:xfrm>
          <a:prstGeom prst="rect">
            <a:avLst/>
          </a:prstGeom>
          <a:solidFill>
            <a:srgbClr val="595959"/>
          </a:solidFill>
        </p:spPr>
        <p:txBody>
          <a:bodyPr wrap="square" rtlCol="0">
            <a:spAutoFit/>
          </a:bodyPr>
          <a:lstStyle/>
          <a:p>
            <a:pPr algn="ctr" defTabSz="742950" eaLnBrk="0" hangingPunct="0">
              <a:spcAft>
                <a:spcPct val="200000"/>
              </a:spcAft>
              <a:buClr>
                <a:srgbClr val="BE050A"/>
              </a:buClr>
              <a:defRPr/>
            </a:pPr>
            <a:r>
              <a:rPr lang="en-US" altLang="zh-TW" sz="975" kern="0" spc="-16">
                <a:solidFill>
                  <a:srgbClr val="FFFFFF"/>
                </a:solidFill>
                <a:latin typeface="+mj-lt"/>
                <a:ea typeface="+mj-ea"/>
                <a:cs typeface="Arial" panose="020B0604020202020204" pitchFamily="34" charset="0"/>
              </a:rPr>
              <a:t>Jan 2026</a:t>
            </a:r>
            <a:endParaRPr lang="en-US" sz="975" kern="0" spc="-16">
              <a:solidFill>
                <a:srgbClr val="FFFFFF"/>
              </a:solidFill>
              <a:latin typeface="+mj-lt"/>
              <a:ea typeface="+mj-ea"/>
              <a:cs typeface="Arial" panose="020B0604020202020204" pitchFamily="34" charset="0"/>
            </a:endParaRPr>
          </a:p>
        </p:txBody>
      </p:sp>
      <p:sp>
        <p:nvSpPr>
          <p:cNvPr id="99" name="TextBox 35">
            <a:extLst>
              <a:ext uri="{FF2B5EF4-FFF2-40B4-BE49-F238E27FC236}">
                <a16:creationId xmlns:a16="http://schemas.microsoft.com/office/drawing/2014/main" id="{0104B311-B1A7-48D0-810C-BF8C6A80051D}"/>
              </a:ext>
            </a:extLst>
          </p:cNvPr>
          <p:cNvSpPr txBox="1"/>
          <p:nvPr/>
        </p:nvSpPr>
        <p:spPr>
          <a:xfrm>
            <a:off x="12615931" y="5754699"/>
            <a:ext cx="859511" cy="242374"/>
          </a:xfrm>
          <a:prstGeom prst="rect">
            <a:avLst/>
          </a:prstGeom>
          <a:solidFill>
            <a:srgbClr val="595959"/>
          </a:solidFill>
        </p:spPr>
        <p:txBody>
          <a:bodyPr wrap="square" rtlCol="0">
            <a:spAutoFit/>
          </a:bodyPr>
          <a:lstStyle/>
          <a:p>
            <a:pPr algn="ctr" defTabSz="742950" eaLnBrk="0" hangingPunct="0">
              <a:spcAft>
                <a:spcPct val="200000"/>
              </a:spcAft>
              <a:buClr>
                <a:srgbClr val="BE050A"/>
              </a:buClr>
              <a:defRPr/>
            </a:pPr>
            <a:r>
              <a:rPr lang="en-US" altLang="zh-TW" sz="975" kern="0" spc="-16" dirty="0">
                <a:solidFill>
                  <a:srgbClr val="FFFFFF"/>
                </a:solidFill>
                <a:latin typeface="+mj-lt"/>
                <a:ea typeface="+mj-ea"/>
                <a:cs typeface="Arial" panose="020B0604020202020204" pitchFamily="34" charset="0"/>
              </a:rPr>
              <a:t>Dec 2025</a:t>
            </a:r>
            <a:endParaRPr lang="en-US" sz="975" kern="0" spc="-16" dirty="0">
              <a:solidFill>
                <a:srgbClr val="FFFFFF"/>
              </a:solidFill>
              <a:latin typeface="+mj-lt"/>
              <a:ea typeface="+mj-ea"/>
              <a:cs typeface="Arial" panose="020B0604020202020204" pitchFamily="34" charset="0"/>
            </a:endParaRPr>
          </a:p>
        </p:txBody>
      </p:sp>
      <p:sp>
        <p:nvSpPr>
          <p:cNvPr id="100" name="TextBox 7">
            <a:extLst>
              <a:ext uri="{FF2B5EF4-FFF2-40B4-BE49-F238E27FC236}">
                <a16:creationId xmlns:a16="http://schemas.microsoft.com/office/drawing/2014/main" id="{4D5BB8A3-58CC-5796-5778-132A1BD2D90B}"/>
              </a:ext>
            </a:extLst>
          </p:cNvPr>
          <p:cNvSpPr txBox="1"/>
          <p:nvPr/>
        </p:nvSpPr>
        <p:spPr>
          <a:xfrm>
            <a:off x="11412929" y="1264658"/>
            <a:ext cx="8942860" cy="610791"/>
          </a:xfrm>
          <a:prstGeom prst="rect">
            <a:avLst/>
          </a:prstGeom>
          <a:solidFill>
            <a:schemeClr val="accent2">
              <a:lumMod val="20000"/>
              <a:lumOff val="80000"/>
              <a:alpha val="61000"/>
            </a:schemeClr>
          </a:solidFill>
          <a:ln>
            <a:solidFill>
              <a:schemeClr val="accent2"/>
            </a:solidFill>
          </a:ln>
        </p:spPr>
        <p:txBody>
          <a:bodyPr wrap="square" anchor="ctr">
            <a:noAutofit/>
          </a:bodyPr>
          <a:lstStyle/>
          <a:p>
            <a:pPr marL="171450" indent="-171450" algn="l">
              <a:spcBef>
                <a:spcPts val="0"/>
              </a:spcBef>
              <a:buSzPct val="100000"/>
              <a:buFont typeface="Arial" panose="020B0604020202020204" pitchFamily="34" charset="0"/>
              <a:buChar char="•"/>
            </a:pPr>
            <a:r>
              <a:rPr lang="en-US" altLang="zh-CN" sz="1100" b="0" dirty="0">
                <a:solidFill>
                  <a:schemeClr val="tx1"/>
                </a:solidFill>
                <a:latin typeface="+mj-lt"/>
                <a:ea typeface="+mj-ea"/>
                <a:cs typeface="Times New Roman" panose="02020603050405020304" pitchFamily="18" charset="0"/>
              </a:rPr>
              <a:t>HK IPO can be completed within </a:t>
            </a:r>
            <a:r>
              <a:rPr lang="en-US" altLang="zh-CN" sz="1100" dirty="0">
                <a:solidFill>
                  <a:srgbClr val="C00000"/>
                </a:solidFill>
                <a:latin typeface="+mj-lt"/>
                <a:ea typeface="+mj-ea"/>
                <a:cs typeface="Times New Roman" panose="02020603050405020304" pitchFamily="18" charset="0"/>
              </a:rPr>
              <a:t>6-7 months</a:t>
            </a:r>
            <a:r>
              <a:rPr lang="en-US" altLang="zh-CN" sz="1100" b="0" dirty="0">
                <a:solidFill>
                  <a:schemeClr val="tx1"/>
                </a:solidFill>
                <a:latin typeface="+mj-lt"/>
                <a:ea typeface="+mj-ea"/>
                <a:cs typeface="Times New Roman" panose="02020603050405020304" pitchFamily="18" charset="0"/>
              </a:rPr>
              <a:t>, subject to regulatory approvals and market sentiment </a:t>
            </a:r>
          </a:p>
          <a:p>
            <a:pPr marL="171450" indent="-171450" algn="l">
              <a:spcBef>
                <a:spcPts val="0"/>
              </a:spcBef>
              <a:buSzPct val="100000"/>
              <a:buFont typeface="Arial" panose="020B0604020202020204" pitchFamily="34" charset="0"/>
              <a:buChar char="•"/>
            </a:pPr>
            <a:r>
              <a:rPr lang="en-US" altLang="zh-CN" sz="1100" b="0" dirty="0">
                <a:solidFill>
                  <a:schemeClr val="tx1"/>
                </a:solidFill>
                <a:latin typeface="+mj-lt"/>
                <a:ea typeface="+mj-ea"/>
                <a:cs typeface="Times New Roman" panose="02020603050405020304" pitchFamily="18" charset="0"/>
              </a:rPr>
              <a:t>Assuming </a:t>
            </a:r>
            <a:r>
              <a:rPr lang="en-US" altLang="zh-CN" sz="1100" b="1" dirty="0">
                <a:solidFill>
                  <a:srgbClr val="C00000"/>
                </a:solidFill>
                <a:latin typeface="+mj-lt"/>
                <a:ea typeface="+mj-ea"/>
                <a:cs typeface="Times New Roman" panose="02020603050405020304" pitchFamily="18" charset="0"/>
              </a:rPr>
              <a:t>A1 listing application submitted in early 2026, listing on </a:t>
            </a:r>
            <a:r>
              <a:rPr lang="en-US" altLang="zh-CN" sz="1100" b="1" dirty="0" err="1">
                <a:solidFill>
                  <a:srgbClr val="C00000"/>
                </a:solidFill>
                <a:latin typeface="+mj-lt"/>
                <a:ea typeface="+mj-ea"/>
                <a:cs typeface="Times New Roman" panose="02020603050405020304" pitchFamily="18" charset="0"/>
              </a:rPr>
              <a:t>HKEx</a:t>
            </a:r>
            <a:r>
              <a:rPr lang="en-US" altLang="zh-CN" sz="1100" b="1" dirty="0">
                <a:solidFill>
                  <a:srgbClr val="C00000"/>
                </a:solidFill>
                <a:latin typeface="+mj-lt"/>
                <a:ea typeface="+mj-ea"/>
                <a:cs typeface="Times New Roman" panose="02020603050405020304" pitchFamily="18" charset="0"/>
              </a:rPr>
              <a:t> could take place </a:t>
            </a:r>
            <a:r>
              <a:rPr lang="en-US" altLang="zh-CN" sz="1100" dirty="0">
                <a:solidFill>
                  <a:srgbClr val="C00000"/>
                </a:solidFill>
                <a:latin typeface="+mj-lt"/>
                <a:ea typeface="+mj-ea"/>
                <a:cs typeface="Times New Roman" panose="02020603050405020304" pitchFamily="18" charset="0"/>
              </a:rPr>
              <a:t>by mid 2026, </a:t>
            </a:r>
            <a:r>
              <a:rPr lang="en-US" altLang="zh-CN" sz="1100" b="0" dirty="0">
                <a:solidFill>
                  <a:schemeClr val="tx1"/>
                </a:solidFill>
                <a:latin typeface="+mj-lt"/>
                <a:ea typeface="+mj-ea"/>
                <a:cs typeface="Times New Roman" panose="02020603050405020304" pitchFamily="18" charset="0"/>
              </a:rPr>
              <a:t>so as to capture the growth potential from construction of CIL and SMG price upward trend</a:t>
            </a:r>
            <a:endParaRPr lang="en-US" altLang="zh-CN" sz="1100" b="0" dirty="0">
              <a:solidFill>
                <a:schemeClr val="tx1"/>
              </a:solidFill>
              <a:effectLst/>
              <a:latin typeface="+mj-lt"/>
              <a:ea typeface="+mj-ea"/>
              <a:cs typeface="Times New Roman" panose="02020603050405020304" pitchFamily="18" charset="0"/>
            </a:endParaRPr>
          </a:p>
        </p:txBody>
      </p:sp>
      <p:sp>
        <p:nvSpPr>
          <p:cNvPr id="101" name="TextBox 36">
            <a:extLst>
              <a:ext uri="{FF2B5EF4-FFF2-40B4-BE49-F238E27FC236}">
                <a16:creationId xmlns:a16="http://schemas.microsoft.com/office/drawing/2014/main" id="{C95CC1CC-0746-10C2-179F-1513838D27E8}"/>
              </a:ext>
            </a:extLst>
          </p:cNvPr>
          <p:cNvSpPr txBox="1"/>
          <p:nvPr/>
        </p:nvSpPr>
        <p:spPr>
          <a:xfrm>
            <a:off x="15304044" y="3717351"/>
            <a:ext cx="859511" cy="242374"/>
          </a:xfrm>
          <a:prstGeom prst="rect">
            <a:avLst/>
          </a:prstGeom>
          <a:solidFill>
            <a:srgbClr val="595959"/>
          </a:solidFill>
        </p:spPr>
        <p:txBody>
          <a:bodyPr wrap="square" rtlCol="0">
            <a:spAutoFit/>
          </a:bodyPr>
          <a:lstStyle/>
          <a:p>
            <a:pPr algn="ctr" defTabSz="742950" eaLnBrk="0" hangingPunct="0">
              <a:spcAft>
                <a:spcPct val="200000"/>
              </a:spcAft>
              <a:buClr>
                <a:srgbClr val="BE050A"/>
              </a:buClr>
              <a:defRPr/>
            </a:pPr>
            <a:r>
              <a:rPr lang="en-US" altLang="zh-TW" sz="975" kern="0" spc="-16">
                <a:solidFill>
                  <a:srgbClr val="FFFFFF"/>
                </a:solidFill>
                <a:latin typeface="+mj-lt"/>
                <a:ea typeface="+mj-ea"/>
                <a:cs typeface="Arial" panose="020B0604020202020204" pitchFamily="34" charset="0"/>
              </a:rPr>
              <a:t>Mar 2026</a:t>
            </a:r>
            <a:endParaRPr lang="en-US" sz="975" kern="0" spc="-16">
              <a:solidFill>
                <a:srgbClr val="FFFFFF"/>
              </a:solidFill>
              <a:latin typeface="+mj-lt"/>
              <a:ea typeface="+mj-ea"/>
              <a:cs typeface="Arial" panose="020B0604020202020204" pitchFamily="34" charset="0"/>
            </a:endParaRPr>
          </a:p>
        </p:txBody>
      </p:sp>
      <p:sp>
        <p:nvSpPr>
          <p:cNvPr id="102" name="矩形 1568">
            <a:extLst>
              <a:ext uri="{FF2B5EF4-FFF2-40B4-BE49-F238E27FC236}">
                <a16:creationId xmlns:a16="http://schemas.microsoft.com/office/drawing/2014/main" id="{19DA29EA-81ED-B4B8-D11F-AD902A800300}"/>
              </a:ext>
            </a:extLst>
          </p:cNvPr>
          <p:cNvSpPr/>
          <p:nvPr/>
        </p:nvSpPr>
        <p:spPr>
          <a:xfrm>
            <a:off x="12585531" y="2036970"/>
            <a:ext cx="3174922" cy="604100"/>
          </a:xfrm>
          <a:prstGeom prst="rect">
            <a:avLst/>
          </a:prstGeom>
          <a:solidFill>
            <a:schemeClr val="bg1"/>
          </a:solidFill>
          <a:ln w="952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7560" tIns="36693" rIns="37560" bIns="36693" numCol="1" spcCol="0" rtlCol="0" fromWordArt="0" anchor="ctr" anchorCtr="0" forceAA="0" compatLnSpc="1">
            <a:noAutofit/>
          </a:bodyPr>
          <a:lstStyle>
            <a:defPPr>
              <a:defRPr lang="ko-KR">
                <a:solidFill>
                  <a:schemeClr val="lt1"/>
                </a:solidFill>
              </a:defRP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R="0" lvl="0" algn="just" defTabSz="914400" rtl="0" eaLnBrk="1" fontAlgn="auto" latinLnBrk="0" hangingPunct="1">
              <a:lnSpc>
                <a:spcPct val="100000"/>
              </a:lnSpc>
              <a:spcBef>
                <a:spcPts val="320"/>
              </a:spcBef>
              <a:spcAft>
                <a:spcPts val="0"/>
              </a:spcAft>
              <a:buClrTx/>
              <a:buSzTx/>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楷体_GB2312" panose="02010609030101010101" pitchFamily="49" charset="-122"/>
                <a:cs typeface="Arial" panose="020B0604020202020204" pitchFamily="34" charset="0"/>
                <a:sym typeface="Arial" panose="020B0604020202020204" pitchFamily="34" charset="0"/>
              </a:rPr>
              <a:t>Current timeline is primarily based on assumption that limited secondary listing preparation work and regulatory approval would be required</a:t>
            </a:r>
          </a:p>
        </p:txBody>
      </p:sp>
      <p:cxnSp>
        <p:nvCxnSpPr>
          <p:cNvPr id="103" name="Straight Connector 21">
            <a:extLst>
              <a:ext uri="{FF2B5EF4-FFF2-40B4-BE49-F238E27FC236}">
                <a16:creationId xmlns:a16="http://schemas.microsoft.com/office/drawing/2014/main" id="{9A31E3EC-340B-5FC2-BB22-AD6A5FE95299}"/>
              </a:ext>
            </a:extLst>
          </p:cNvPr>
          <p:cNvCxnSpPr>
            <a:cxnSpLocks/>
          </p:cNvCxnSpPr>
          <p:nvPr/>
        </p:nvCxnSpPr>
        <p:spPr>
          <a:xfrm flipH="1">
            <a:off x="12166838" y="2390638"/>
            <a:ext cx="282251" cy="0"/>
          </a:xfrm>
          <a:prstGeom prst="line">
            <a:avLst/>
          </a:prstGeom>
          <a:ln w="12700">
            <a:solidFill>
              <a:srgbClr val="C00000"/>
            </a:solidFill>
            <a:headEnd type="oval"/>
          </a:ln>
        </p:spPr>
        <p:style>
          <a:lnRef idx="1">
            <a:schemeClr val="accent1"/>
          </a:lnRef>
          <a:fillRef idx="0">
            <a:schemeClr val="accent1"/>
          </a:fillRef>
          <a:effectRef idx="0">
            <a:schemeClr val="accent1"/>
          </a:effectRef>
          <a:fontRef idx="minor">
            <a:schemeClr val="tx1"/>
          </a:fontRef>
        </p:style>
      </p:cxnSp>
      <p:sp>
        <p:nvSpPr>
          <p:cNvPr id="104" name="Text Placeholder 4">
            <a:extLst>
              <a:ext uri="{FF2B5EF4-FFF2-40B4-BE49-F238E27FC236}">
                <a16:creationId xmlns:a16="http://schemas.microsoft.com/office/drawing/2014/main" id="{86358954-2FC0-9119-16EE-70F0FE95E531}"/>
              </a:ext>
            </a:extLst>
          </p:cNvPr>
          <p:cNvSpPr txBox="1">
            <a:spLocks/>
          </p:cNvSpPr>
          <p:nvPr/>
        </p:nvSpPr>
        <p:spPr bwMode="auto">
          <a:xfrm>
            <a:off x="11633550" y="6093964"/>
            <a:ext cx="8494776" cy="230832"/>
          </a:xfrm>
          <a:prstGeom prst="rect">
            <a:avLst/>
          </a:prstGeom>
          <a:noFill/>
          <a:ln w="9525">
            <a:noFill/>
            <a:miter lim="800000"/>
            <a:headEnd/>
            <a:tailEnd/>
          </a:ln>
        </p:spPr>
        <p:txBody>
          <a:bodyPr vert="horz" wrap="square" lIns="0" tIns="45720" rIns="0" bIns="45720" numCol="1" anchor="b" anchorCtr="0" compatLnSpc="1">
            <a:prstTxWarp prst="textNoShape">
              <a:avLst/>
            </a:prstTxWarp>
            <a:spAutoFit/>
          </a:bodyPr>
          <a:lstStyle>
            <a:lvl1pPr marL="284163" indent="-284163" algn="l" rtl="0" eaLnBrk="0" fontAlgn="base" hangingPunct="0">
              <a:spcBef>
                <a:spcPts val="200"/>
              </a:spcBef>
              <a:spcAft>
                <a:spcPts val="200"/>
              </a:spcAft>
              <a:buClr>
                <a:srgbClr val="BE050A"/>
              </a:buClr>
              <a:buFont typeface="Wingdings 2" panose="05020102010507070707" pitchFamily="18" charset="2"/>
              <a:buChar char="¡"/>
              <a:defRPr sz="1600">
                <a:solidFill>
                  <a:schemeClr val="tx1"/>
                </a:solidFill>
                <a:latin typeface="+mn-lt"/>
                <a:ea typeface="+mn-ea"/>
                <a:cs typeface="+mn-cs"/>
              </a:defRPr>
            </a:lvl1pPr>
            <a:lvl2pPr marL="684213" indent="-285750" algn="l" rtl="0" eaLnBrk="0" fontAlgn="base" hangingPunct="0">
              <a:spcBef>
                <a:spcPts val="200"/>
              </a:spcBef>
              <a:spcAft>
                <a:spcPts val="200"/>
              </a:spcAft>
              <a:buClr>
                <a:srgbClr val="626262"/>
              </a:buClr>
              <a:buFont typeface="Arial" panose="020B0604020202020204" pitchFamily="34" charset="0"/>
              <a:buChar char="―"/>
              <a:defRPr sz="1500">
                <a:solidFill>
                  <a:schemeClr val="tx1"/>
                </a:solidFill>
                <a:latin typeface="+mn-lt"/>
                <a:ea typeface="+mn-ea"/>
                <a:cs typeface="+mn-cs"/>
              </a:defRPr>
            </a:lvl2pPr>
            <a:lvl3pPr marL="1068388" indent="-269875" algn="l" rtl="0" eaLnBrk="0" fontAlgn="base" hangingPunct="0">
              <a:spcBef>
                <a:spcPts val="200"/>
              </a:spcBef>
              <a:spcAft>
                <a:spcPts val="200"/>
              </a:spcAft>
              <a:buFont typeface="Arial" panose="020B0604020202020204" pitchFamily="34" charset="0"/>
              <a:buChar char="‒"/>
              <a:defRPr sz="1500">
                <a:solidFill>
                  <a:schemeClr val="tx1"/>
                </a:solidFill>
                <a:latin typeface="+mn-lt"/>
                <a:ea typeface="+mn-ea"/>
                <a:cs typeface="+mn-cs"/>
              </a:defRPr>
            </a:lvl3pPr>
            <a:lvl4pPr marL="1484313" indent="-301625" algn="l" rtl="0" eaLnBrk="0" fontAlgn="base" hangingPunct="0">
              <a:spcBef>
                <a:spcPts val="200"/>
              </a:spcBef>
              <a:spcAft>
                <a:spcPts val="200"/>
              </a:spcAft>
              <a:buChar char="–"/>
              <a:defRPr sz="1500">
                <a:solidFill>
                  <a:schemeClr val="tx1"/>
                </a:solidFill>
                <a:latin typeface="+mn-lt"/>
                <a:ea typeface="+mn-ea"/>
                <a:cs typeface="+mn-cs"/>
              </a:defRPr>
            </a:lvl4pPr>
            <a:lvl5pPr marL="1827213" indent="-228600" algn="l" rtl="0" eaLnBrk="0" fontAlgn="base" hangingPunct="0">
              <a:spcBef>
                <a:spcPts val="200"/>
              </a:spcBef>
              <a:spcAft>
                <a:spcPts val="200"/>
              </a:spcAft>
              <a:buChar char="»"/>
              <a:defRPr sz="1500">
                <a:solidFill>
                  <a:schemeClr val="tx1"/>
                </a:solidFill>
                <a:latin typeface="+mn-lt"/>
                <a:ea typeface="+mn-ea"/>
                <a:cs typeface="+mn-cs"/>
              </a:defRPr>
            </a:lvl5pPr>
            <a:lvl6pPr marL="2284413" indent="-228600" algn="l" rtl="0" fontAlgn="base">
              <a:spcBef>
                <a:spcPct val="0"/>
              </a:spcBef>
              <a:spcAft>
                <a:spcPct val="30000"/>
              </a:spcAft>
              <a:buChar char="»"/>
              <a:defRPr sz="1500">
                <a:solidFill>
                  <a:schemeClr val="tx1"/>
                </a:solidFill>
                <a:latin typeface="+mn-lt"/>
                <a:ea typeface="+mn-ea"/>
                <a:cs typeface="+mn-cs"/>
              </a:defRPr>
            </a:lvl6pPr>
            <a:lvl7pPr marL="2741613" indent="-228600" algn="l" rtl="0" fontAlgn="base">
              <a:spcBef>
                <a:spcPct val="0"/>
              </a:spcBef>
              <a:spcAft>
                <a:spcPct val="30000"/>
              </a:spcAft>
              <a:buChar char="»"/>
              <a:defRPr sz="1500">
                <a:solidFill>
                  <a:schemeClr val="tx1"/>
                </a:solidFill>
                <a:latin typeface="+mn-lt"/>
                <a:ea typeface="+mn-ea"/>
                <a:cs typeface="+mn-cs"/>
              </a:defRPr>
            </a:lvl7pPr>
            <a:lvl8pPr marL="3198813" indent="-228600" algn="l" rtl="0" fontAlgn="base">
              <a:spcBef>
                <a:spcPct val="0"/>
              </a:spcBef>
              <a:spcAft>
                <a:spcPct val="30000"/>
              </a:spcAft>
              <a:buChar char="»"/>
              <a:defRPr sz="1500">
                <a:solidFill>
                  <a:schemeClr val="tx1"/>
                </a:solidFill>
                <a:latin typeface="+mn-lt"/>
                <a:ea typeface="+mn-ea"/>
                <a:cs typeface="+mn-cs"/>
              </a:defRPr>
            </a:lvl8pPr>
            <a:lvl9pPr marL="3656013" indent="-228600" algn="l" rtl="0" fontAlgn="base">
              <a:spcBef>
                <a:spcPct val="0"/>
              </a:spcBef>
              <a:spcAft>
                <a:spcPct val="30000"/>
              </a:spcAft>
              <a:buChar char="»"/>
              <a:defRPr sz="1500">
                <a:solidFill>
                  <a:schemeClr val="tx1"/>
                </a:solidFill>
                <a:latin typeface="+mn-lt"/>
                <a:ea typeface="+mn-ea"/>
                <a:cs typeface="+mn-cs"/>
              </a:defRPr>
            </a:lvl9pPr>
          </a:lstStyle>
          <a:p>
            <a:pPr marL="0" indent="0">
              <a:spcBef>
                <a:spcPts val="0"/>
              </a:spcBef>
              <a:spcAft>
                <a:spcPts val="0"/>
              </a:spcAft>
              <a:buNone/>
              <a:tabLst>
                <a:tab pos="228600" algn="l"/>
              </a:tabLst>
            </a:pPr>
            <a:r>
              <a:rPr lang="en-US" altLang="zh-TW" sz="900" b="0" i="1" kern="0" dirty="0"/>
              <a:t>Source: Company information</a:t>
            </a:r>
          </a:p>
        </p:txBody>
      </p:sp>
      <p:sp>
        <p:nvSpPr>
          <p:cNvPr id="6" name="TextBox 13">
            <a:extLst>
              <a:ext uri="{FF2B5EF4-FFF2-40B4-BE49-F238E27FC236}">
                <a16:creationId xmlns:a16="http://schemas.microsoft.com/office/drawing/2014/main" id="{782EC589-2061-32CC-4058-73976F59C0C1}"/>
              </a:ext>
            </a:extLst>
          </p:cNvPr>
          <p:cNvSpPr txBox="1"/>
          <p:nvPr/>
        </p:nvSpPr>
        <p:spPr>
          <a:xfrm>
            <a:off x="3967868" y="4397068"/>
            <a:ext cx="4018536" cy="617348"/>
          </a:xfrm>
          <a:prstGeom prst="rect">
            <a:avLst/>
          </a:prstGeom>
          <a:noFill/>
        </p:spPr>
        <p:txBody>
          <a:bodyPr wrap="square" rtlCol="0">
            <a:spAutoFit/>
          </a:bodyPr>
          <a:lstStyle/>
          <a:p>
            <a:pPr marL="270351" indent="-138271" defTabSz="742871" fontAlgn="auto">
              <a:spcBef>
                <a:spcPts val="0"/>
              </a:spcBef>
              <a:spcAft>
                <a:spcPts val="0"/>
              </a:spcAft>
              <a:buClr>
                <a:srgbClr val="96999B"/>
              </a:buClr>
              <a:buFont typeface="Symbol"/>
              <a:buChar char=""/>
              <a:tabLst>
                <a:tab pos="270867" algn="l"/>
              </a:tabLst>
              <a:defRPr/>
            </a:pPr>
            <a:r>
              <a:rPr lang="en-US" altLang="zh-CN" sz="853" dirty="0">
                <a:solidFill>
                  <a:schemeClr val="tx1"/>
                </a:solidFill>
                <a:latin typeface="+mj-lt"/>
                <a:ea typeface="+mj-ea"/>
                <a:cs typeface="Arial" panose="020B0604020202020204" pitchFamily="34" charset="0"/>
              </a:rPr>
              <a:t>Complete internal control rectification</a:t>
            </a:r>
          </a:p>
          <a:p>
            <a:pPr marL="270351" indent="-138271" defTabSz="742871" fontAlgn="auto">
              <a:spcBef>
                <a:spcPts val="0"/>
              </a:spcBef>
              <a:spcAft>
                <a:spcPts val="0"/>
              </a:spcAft>
              <a:buClr>
                <a:srgbClr val="96999B"/>
              </a:buClr>
              <a:buFont typeface="Symbol"/>
              <a:buChar char=""/>
              <a:tabLst>
                <a:tab pos="270867" algn="l"/>
              </a:tabLst>
              <a:defRPr/>
            </a:pPr>
            <a:r>
              <a:rPr lang="en-US" altLang="zh-CN" sz="853" dirty="0">
                <a:solidFill>
                  <a:srgbClr val="000000"/>
                </a:solidFill>
                <a:cs typeface="Times New Roman" panose="02020603050405020304" pitchFamily="18" charset="0"/>
              </a:rPr>
              <a:t>Commence FY2026 9M audit and internal control work</a:t>
            </a:r>
          </a:p>
          <a:p>
            <a:pPr marL="270351" indent="-138271" defTabSz="742871" fontAlgn="auto">
              <a:spcBef>
                <a:spcPts val="0"/>
              </a:spcBef>
              <a:spcAft>
                <a:spcPts val="0"/>
              </a:spcAft>
              <a:buClr>
                <a:srgbClr val="96999B"/>
              </a:buClr>
              <a:buFont typeface="Symbol"/>
              <a:buChar char=""/>
              <a:tabLst>
                <a:tab pos="270867" algn="l"/>
              </a:tabLst>
              <a:defRPr/>
            </a:pPr>
            <a:r>
              <a:rPr lang="en-US" altLang="zh-CN" sz="853" dirty="0">
                <a:solidFill>
                  <a:schemeClr val="tx1"/>
                </a:solidFill>
                <a:latin typeface="+mj-lt"/>
                <a:ea typeface="+mj-ea"/>
                <a:cs typeface="Arial" panose="020B0604020202020204" pitchFamily="34" charset="0"/>
              </a:rPr>
              <a:t>Supplement third-party due diligence work for FY2026 9M</a:t>
            </a:r>
          </a:p>
          <a:p>
            <a:pPr marL="270351" indent="-138271" defTabSz="742871" fontAlgn="auto">
              <a:spcBef>
                <a:spcPts val="0"/>
              </a:spcBef>
              <a:spcAft>
                <a:spcPts val="0"/>
              </a:spcAft>
              <a:buClr>
                <a:srgbClr val="96999B"/>
              </a:buClr>
              <a:buFont typeface="Symbol"/>
              <a:buChar char=""/>
              <a:tabLst>
                <a:tab pos="270867" algn="l"/>
              </a:tabLst>
              <a:defRPr/>
            </a:pPr>
            <a:r>
              <a:rPr lang="en-US" altLang="zh-CN" sz="853" dirty="0">
                <a:solidFill>
                  <a:srgbClr val="000000"/>
                </a:solidFill>
                <a:cs typeface="Times New Roman" panose="02020603050405020304" pitchFamily="18" charset="0"/>
              </a:rPr>
              <a:t>Finetune equity story and prospectus drafting</a:t>
            </a:r>
            <a:endParaRPr lang="en-US" altLang="zh-TW" sz="853" dirty="0">
              <a:solidFill>
                <a:srgbClr val="000000"/>
              </a:solidFill>
              <a:cs typeface="Times New Roman" panose="02020603050405020304" pitchFamily="18" charset="0"/>
            </a:endParaRPr>
          </a:p>
        </p:txBody>
      </p:sp>
      <p:sp>
        <p:nvSpPr>
          <p:cNvPr id="32" name="TextBox 36">
            <a:extLst>
              <a:ext uri="{FF2B5EF4-FFF2-40B4-BE49-F238E27FC236}">
                <a16:creationId xmlns:a16="http://schemas.microsoft.com/office/drawing/2014/main" id="{DCF5A74C-DCB6-4978-59AB-435EB1647A78}"/>
              </a:ext>
            </a:extLst>
          </p:cNvPr>
          <p:cNvSpPr txBox="1"/>
          <p:nvPr/>
        </p:nvSpPr>
        <p:spPr>
          <a:xfrm>
            <a:off x="3184285" y="4390646"/>
            <a:ext cx="859511" cy="392415"/>
          </a:xfrm>
          <a:prstGeom prst="rect">
            <a:avLst/>
          </a:prstGeom>
          <a:solidFill>
            <a:srgbClr val="595959"/>
          </a:solidFill>
        </p:spPr>
        <p:txBody>
          <a:bodyPr wrap="square" rtlCol="0">
            <a:spAutoFit/>
          </a:bodyPr>
          <a:lstStyle/>
          <a:p>
            <a:pPr algn="ctr" defTabSz="742950" eaLnBrk="0" hangingPunct="0">
              <a:spcAft>
                <a:spcPct val="200000"/>
              </a:spcAft>
              <a:buClr>
                <a:srgbClr val="BE050A"/>
              </a:buClr>
              <a:defRPr/>
            </a:pPr>
            <a:r>
              <a:rPr lang="en-US" altLang="zh-TW" sz="975" kern="0" spc="-16" dirty="0">
                <a:solidFill>
                  <a:srgbClr val="FFFFFF"/>
                </a:solidFill>
                <a:cs typeface="Arial" panose="020B0604020202020204" pitchFamily="34" charset="0"/>
              </a:rPr>
              <a:t>Nov </a:t>
            </a:r>
            <a:br>
              <a:rPr lang="en-US" altLang="zh-TW" sz="975" kern="0" spc="-16" dirty="0">
                <a:solidFill>
                  <a:srgbClr val="FFFFFF"/>
                </a:solidFill>
                <a:cs typeface="Arial" panose="020B0604020202020204" pitchFamily="34" charset="0"/>
              </a:rPr>
            </a:br>
            <a:r>
              <a:rPr lang="en-US" altLang="zh-TW" sz="975" kern="0" spc="-16" dirty="0">
                <a:solidFill>
                  <a:srgbClr val="FFFFFF"/>
                </a:solidFill>
                <a:cs typeface="Arial" panose="020B0604020202020204" pitchFamily="34" charset="0"/>
              </a:rPr>
              <a:t>2026</a:t>
            </a:r>
            <a:endParaRPr lang="en-US" sz="975" kern="0" spc="-16" dirty="0">
              <a:solidFill>
                <a:srgbClr val="FFFFFF"/>
              </a:solidFill>
              <a:cs typeface="Arial" panose="020B0604020202020204" pitchFamily="34" charset="0"/>
            </a:endParaRPr>
          </a:p>
        </p:txBody>
      </p:sp>
    </p:spTree>
    <p:extLst>
      <p:ext uri="{BB962C8B-B14F-4D97-AF65-F5344CB8AC3E}">
        <p14:creationId xmlns:p14="http://schemas.microsoft.com/office/powerpoint/2010/main" val="41006656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B487D-0B8B-D097-F1B8-7CE93479249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F1FC5E-7DB7-13AE-E8A2-E234E856C033}"/>
              </a:ext>
            </a:extLst>
          </p:cNvPr>
          <p:cNvSpPr>
            <a:spLocks noGrp="1"/>
          </p:cNvSpPr>
          <p:nvPr>
            <p:ph type="title"/>
          </p:nvPr>
        </p:nvSpPr>
        <p:spPr/>
        <p:txBody>
          <a:bodyPr/>
          <a:lstStyle/>
          <a:p>
            <a:r>
              <a:rPr lang="en-US" sz="2000" b="1" dirty="0"/>
              <a:t>Marketing Timetable to Optimize Success of HK Listing</a:t>
            </a:r>
          </a:p>
        </p:txBody>
      </p:sp>
      <p:sp>
        <p:nvSpPr>
          <p:cNvPr id="4" name="Slide Number Placeholder 3">
            <a:extLst>
              <a:ext uri="{FF2B5EF4-FFF2-40B4-BE49-F238E27FC236}">
                <a16:creationId xmlns:a16="http://schemas.microsoft.com/office/drawing/2014/main" id="{A8BCDE11-5572-5654-FB75-C239B2535BB9}"/>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51</a:t>
            </a:fld>
            <a:endParaRPr lang="en-US" altLang="en-US" b="0">
              <a:solidFill>
                <a:srgbClr val="000000"/>
              </a:solidFill>
            </a:endParaRPr>
          </a:p>
        </p:txBody>
      </p:sp>
      <p:sp>
        <p:nvSpPr>
          <p:cNvPr id="38" name="Text Placeholder 4">
            <a:extLst>
              <a:ext uri="{FF2B5EF4-FFF2-40B4-BE49-F238E27FC236}">
                <a16:creationId xmlns:a16="http://schemas.microsoft.com/office/drawing/2014/main" id="{A0B033D7-99C0-88DC-87F1-4FFEEB83DA3B}"/>
              </a:ext>
            </a:extLst>
          </p:cNvPr>
          <p:cNvSpPr txBox="1">
            <a:spLocks/>
          </p:cNvSpPr>
          <p:nvPr/>
        </p:nvSpPr>
        <p:spPr bwMode="auto">
          <a:xfrm>
            <a:off x="717153" y="5987226"/>
            <a:ext cx="8494776" cy="184666"/>
          </a:xfrm>
          <a:prstGeom prst="rect">
            <a:avLst/>
          </a:prstGeom>
          <a:noFill/>
          <a:ln w="9525">
            <a:noFill/>
            <a:miter lim="800000"/>
            <a:headEnd/>
            <a:tailEnd/>
          </a:ln>
        </p:spPr>
        <p:txBody>
          <a:bodyPr vert="horz" wrap="square" lIns="0" tIns="45720" rIns="0" bIns="45720" numCol="1" anchor="b" anchorCtr="0" compatLnSpc="1">
            <a:prstTxWarp prst="textNoShape">
              <a:avLst/>
            </a:prstTxWarp>
            <a:spAutoFit/>
          </a:bodyPr>
          <a:lstStyle>
            <a:lvl1pPr marL="284163" indent="-284163" algn="l" rtl="0" eaLnBrk="0" fontAlgn="base" hangingPunct="0">
              <a:spcBef>
                <a:spcPts val="200"/>
              </a:spcBef>
              <a:spcAft>
                <a:spcPts val="200"/>
              </a:spcAft>
              <a:buClr>
                <a:srgbClr val="BE050A"/>
              </a:buClr>
              <a:buFont typeface="Wingdings 2" panose="05020102010507070707" pitchFamily="18" charset="2"/>
              <a:buChar char="¡"/>
              <a:defRPr sz="1600">
                <a:solidFill>
                  <a:schemeClr val="tx1"/>
                </a:solidFill>
                <a:latin typeface="+mn-lt"/>
                <a:ea typeface="+mn-ea"/>
                <a:cs typeface="+mn-cs"/>
              </a:defRPr>
            </a:lvl1pPr>
            <a:lvl2pPr marL="684213" indent="-285750" algn="l" rtl="0" eaLnBrk="0" fontAlgn="base" hangingPunct="0">
              <a:spcBef>
                <a:spcPts val="200"/>
              </a:spcBef>
              <a:spcAft>
                <a:spcPts val="200"/>
              </a:spcAft>
              <a:buClr>
                <a:srgbClr val="626262"/>
              </a:buClr>
              <a:buFont typeface="Arial" panose="020B0604020202020204" pitchFamily="34" charset="0"/>
              <a:buChar char="―"/>
              <a:defRPr sz="1500">
                <a:solidFill>
                  <a:schemeClr val="tx1"/>
                </a:solidFill>
                <a:latin typeface="+mn-lt"/>
                <a:ea typeface="+mn-ea"/>
                <a:cs typeface="+mn-cs"/>
              </a:defRPr>
            </a:lvl2pPr>
            <a:lvl3pPr marL="1068388" indent="-269875" algn="l" rtl="0" eaLnBrk="0" fontAlgn="base" hangingPunct="0">
              <a:spcBef>
                <a:spcPts val="200"/>
              </a:spcBef>
              <a:spcAft>
                <a:spcPts val="200"/>
              </a:spcAft>
              <a:buFont typeface="Arial" panose="020B0604020202020204" pitchFamily="34" charset="0"/>
              <a:buChar char="‒"/>
              <a:defRPr sz="1500">
                <a:solidFill>
                  <a:schemeClr val="tx1"/>
                </a:solidFill>
                <a:latin typeface="+mn-lt"/>
                <a:ea typeface="+mn-ea"/>
                <a:cs typeface="+mn-cs"/>
              </a:defRPr>
            </a:lvl3pPr>
            <a:lvl4pPr marL="1484313" indent="-301625" algn="l" rtl="0" eaLnBrk="0" fontAlgn="base" hangingPunct="0">
              <a:spcBef>
                <a:spcPts val="200"/>
              </a:spcBef>
              <a:spcAft>
                <a:spcPts val="200"/>
              </a:spcAft>
              <a:buChar char="–"/>
              <a:defRPr sz="1500">
                <a:solidFill>
                  <a:schemeClr val="tx1"/>
                </a:solidFill>
                <a:latin typeface="+mn-lt"/>
                <a:ea typeface="+mn-ea"/>
                <a:cs typeface="+mn-cs"/>
              </a:defRPr>
            </a:lvl4pPr>
            <a:lvl5pPr marL="1827213" indent="-228600" algn="l" rtl="0" eaLnBrk="0" fontAlgn="base" hangingPunct="0">
              <a:spcBef>
                <a:spcPts val="200"/>
              </a:spcBef>
              <a:spcAft>
                <a:spcPts val="200"/>
              </a:spcAft>
              <a:buChar char="»"/>
              <a:defRPr sz="1500">
                <a:solidFill>
                  <a:schemeClr val="tx1"/>
                </a:solidFill>
                <a:latin typeface="+mn-lt"/>
                <a:ea typeface="+mn-ea"/>
                <a:cs typeface="+mn-cs"/>
              </a:defRPr>
            </a:lvl5pPr>
            <a:lvl6pPr marL="2284413" indent="-228600" algn="l" rtl="0" fontAlgn="base">
              <a:spcBef>
                <a:spcPct val="0"/>
              </a:spcBef>
              <a:spcAft>
                <a:spcPct val="30000"/>
              </a:spcAft>
              <a:buChar char="»"/>
              <a:defRPr sz="1500">
                <a:solidFill>
                  <a:schemeClr val="tx1"/>
                </a:solidFill>
                <a:latin typeface="+mn-lt"/>
                <a:ea typeface="+mn-ea"/>
                <a:cs typeface="+mn-cs"/>
              </a:defRPr>
            </a:lvl6pPr>
            <a:lvl7pPr marL="2741613" indent="-228600" algn="l" rtl="0" fontAlgn="base">
              <a:spcBef>
                <a:spcPct val="0"/>
              </a:spcBef>
              <a:spcAft>
                <a:spcPct val="30000"/>
              </a:spcAft>
              <a:buChar char="»"/>
              <a:defRPr sz="1500">
                <a:solidFill>
                  <a:schemeClr val="tx1"/>
                </a:solidFill>
                <a:latin typeface="+mn-lt"/>
                <a:ea typeface="+mn-ea"/>
                <a:cs typeface="+mn-cs"/>
              </a:defRPr>
            </a:lvl7pPr>
            <a:lvl8pPr marL="3198813" indent="-228600" algn="l" rtl="0" fontAlgn="base">
              <a:spcBef>
                <a:spcPct val="0"/>
              </a:spcBef>
              <a:spcAft>
                <a:spcPct val="30000"/>
              </a:spcAft>
              <a:buChar char="»"/>
              <a:defRPr sz="1500">
                <a:solidFill>
                  <a:schemeClr val="tx1"/>
                </a:solidFill>
                <a:latin typeface="+mn-lt"/>
                <a:ea typeface="+mn-ea"/>
                <a:cs typeface="+mn-cs"/>
              </a:defRPr>
            </a:lvl8pPr>
            <a:lvl9pPr marL="3656013" indent="-228600" algn="l" rtl="0" fontAlgn="base">
              <a:spcBef>
                <a:spcPct val="0"/>
              </a:spcBef>
              <a:spcAft>
                <a:spcPct val="30000"/>
              </a:spcAft>
              <a:buChar char="»"/>
              <a:defRPr sz="1500">
                <a:solidFill>
                  <a:schemeClr val="tx1"/>
                </a:solidFill>
                <a:latin typeface="+mn-lt"/>
                <a:ea typeface="+mn-ea"/>
                <a:cs typeface="+mn-cs"/>
              </a:defRPr>
            </a:lvl9pPr>
          </a:lstStyle>
          <a:p>
            <a:pPr marL="0" indent="0">
              <a:spcBef>
                <a:spcPts val="0"/>
              </a:spcBef>
              <a:spcAft>
                <a:spcPts val="0"/>
              </a:spcAft>
              <a:buNone/>
              <a:tabLst>
                <a:tab pos="228600" algn="l"/>
              </a:tabLst>
            </a:pPr>
            <a:r>
              <a:rPr lang="en-US" altLang="zh-TW" sz="600" b="0" i="1" kern="0" dirty="0"/>
              <a:t>Note: 1. the above timetable is subject to regulatory approvals and market sentiment </a:t>
            </a:r>
          </a:p>
        </p:txBody>
      </p:sp>
      <p:sp>
        <p:nvSpPr>
          <p:cNvPr id="6" name="Rectangle 5">
            <a:extLst>
              <a:ext uri="{FF2B5EF4-FFF2-40B4-BE49-F238E27FC236}">
                <a16:creationId xmlns:a16="http://schemas.microsoft.com/office/drawing/2014/main" id="{61E2C8AB-D949-5AB8-3C87-C6F0AF23D315}"/>
              </a:ext>
            </a:extLst>
          </p:cNvPr>
          <p:cNvSpPr/>
          <p:nvPr/>
        </p:nvSpPr>
        <p:spPr>
          <a:xfrm>
            <a:off x="2131187" y="1526748"/>
            <a:ext cx="7845552" cy="3017520"/>
          </a:xfrm>
          <a:prstGeom prst="rect">
            <a:avLst/>
          </a:prstGeom>
          <a:noFill/>
        </p:spPr>
        <p:txBody>
          <a:bodyPr/>
          <a:lstStyle/>
          <a:p>
            <a:endParaRPr lang="en-US"/>
          </a:p>
        </p:txBody>
      </p:sp>
      <p:sp>
        <p:nvSpPr>
          <p:cNvPr id="23" name="L-Shape 22">
            <a:extLst>
              <a:ext uri="{FF2B5EF4-FFF2-40B4-BE49-F238E27FC236}">
                <a16:creationId xmlns:a16="http://schemas.microsoft.com/office/drawing/2014/main" id="{BD5EC985-C3D5-6FB6-2435-5AA80D3709C7}"/>
              </a:ext>
            </a:extLst>
          </p:cNvPr>
          <p:cNvSpPr/>
          <p:nvPr/>
        </p:nvSpPr>
        <p:spPr>
          <a:xfrm rot="5400000">
            <a:off x="2347772" y="2972833"/>
            <a:ext cx="722058" cy="855393"/>
          </a:xfrm>
          <a:prstGeom prst="corner">
            <a:avLst>
              <a:gd name="adj1" fmla="val 16120"/>
              <a:gd name="adj2" fmla="val 16110"/>
            </a:avLst>
          </a:prstGeom>
          <a:solidFill>
            <a:schemeClr val="tx1">
              <a:lumMod val="50000"/>
              <a:lumOff val="50000"/>
            </a:schemeClr>
          </a:solidFill>
          <a:ln>
            <a:solidFill>
              <a:schemeClr val="tx1">
                <a:lumMod val="50000"/>
                <a:lumOff val="50000"/>
              </a:schemeClr>
            </a:solidFill>
          </a:ln>
        </p:spPr>
        <p:style>
          <a:lnRef idx="2">
            <a:scrgbClr r="0" g="0" b="0"/>
          </a:lnRef>
          <a:fillRef idx="1">
            <a:scrgbClr r="0" g="0" b="0"/>
          </a:fillRef>
          <a:effectRef idx="0">
            <a:schemeClr val="accent1">
              <a:shade val="50000"/>
              <a:hueOff val="0"/>
              <a:satOff val="0"/>
              <a:lumOff val="0"/>
              <a:alphaOff val="0"/>
            </a:schemeClr>
          </a:effectRef>
          <a:fontRef idx="minor">
            <a:schemeClr val="lt1"/>
          </a:fontRef>
        </p:style>
        <p:txBody>
          <a:bodyPr/>
          <a:lstStyle/>
          <a:p>
            <a:endParaRPr lang="en-US"/>
          </a:p>
        </p:txBody>
      </p:sp>
      <p:sp>
        <p:nvSpPr>
          <p:cNvPr id="32" name="Freeform: Shape 31">
            <a:extLst>
              <a:ext uri="{FF2B5EF4-FFF2-40B4-BE49-F238E27FC236}">
                <a16:creationId xmlns:a16="http://schemas.microsoft.com/office/drawing/2014/main" id="{F86F67F1-EF86-F14E-4018-D47D725AFC17}"/>
              </a:ext>
            </a:extLst>
          </p:cNvPr>
          <p:cNvSpPr/>
          <p:nvPr/>
        </p:nvSpPr>
        <p:spPr>
          <a:xfrm>
            <a:off x="2338436" y="3185691"/>
            <a:ext cx="1084711" cy="950813"/>
          </a:xfrm>
          <a:custGeom>
            <a:avLst/>
            <a:gdLst>
              <a:gd name="connsiteX0" fmla="*/ 0 w 1084711"/>
              <a:gd name="connsiteY0" fmla="*/ 0 h 950813"/>
              <a:gd name="connsiteX1" fmla="*/ 1084711 w 1084711"/>
              <a:gd name="connsiteY1" fmla="*/ 0 h 950813"/>
              <a:gd name="connsiteX2" fmla="*/ 1084711 w 1084711"/>
              <a:gd name="connsiteY2" fmla="*/ 950813 h 950813"/>
              <a:gd name="connsiteX3" fmla="*/ 0 w 1084711"/>
              <a:gd name="connsiteY3" fmla="*/ 950813 h 950813"/>
              <a:gd name="connsiteX4" fmla="*/ 0 w 1084711"/>
              <a:gd name="connsiteY4" fmla="*/ 0 h 950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711" h="950813">
                <a:moveTo>
                  <a:pt x="0" y="0"/>
                </a:moveTo>
                <a:lnTo>
                  <a:pt x="1084711" y="0"/>
                </a:lnTo>
                <a:lnTo>
                  <a:pt x="1084711" y="950813"/>
                </a:lnTo>
                <a:lnTo>
                  <a:pt x="0" y="9508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en-US" altLang="zh-CN" sz="1000" b="1" kern="1200" dirty="0">
                <a:solidFill>
                  <a:srgbClr val="C00000"/>
                </a:solidFill>
                <a:latin typeface="+mj-lt"/>
                <a:ea typeface="+mj-ea"/>
              </a:rPr>
              <a:t>Late Jan 2026</a:t>
            </a:r>
          </a:p>
          <a:p>
            <a:pPr marL="0" lvl="0" indent="0" algn="ctr" defTabSz="533400">
              <a:lnSpc>
                <a:spcPct val="90000"/>
              </a:lnSpc>
              <a:spcBef>
                <a:spcPct val="0"/>
              </a:spcBef>
              <a:spcAft>
                <a:spcPct val="35000"/>
              </a:spcAft>
              <a:buNone/>
            </a:pPr>
            <a:r>
              <a:rPr lang="en-US" altLang="zh-CN" sz="1000" b="1" kern="1200" dirty="0">
                <a:latin typeface="+mj-lt"/>
                <a:ea typeface="+mj-ea"/>
              </a:rPr>
              <a:t>Analyst Presentation</a:t>
            </a:r>
          </a:p>
        </p:txBody>
      </p:sp>
      <p:sp>
        <p:nvSpPr>
          <p:cNvPr id="40" name="Isosceles Triangle 39">
            <a:extLst>
              <a:ext uri="{FF2B5EF4-FFF2-40B4-BE49-F238E27FC236}">
                <a16:creationId xmlns:a16="http://schemas.microsoft.com/office/drawing/2014/main" id="{71707639-4027-2615-0A9C-041E70C5C6C7}"/>
              </a:ext>
            </a:extLst>
          </p:cNvPr>
          <p:cNvSpPr/>
          <p:nvPr/>
        </p:nvSpPr>
        <p:spPr>
          <a:xfrm>
            <a:off x="3148273" y="2834838"/>
            <a:ext cx="204662" cy="204662"/>
          </a:xfrm>
          <a:prstGeom prst="triangle">
            <a:avLst>
              <a:gd name="adj" fmla="val 100000"/>
            </a:avLst>
          </a:prstGeom>
          <a:solidFill>
            <a:schemeClr val="tx1">
              <a:lumMod val="50000"/>
              <a:lumOff val="50000"/>
            </a:schemeClr>
          </a:solidFill>
          <a:ln>
            <a:solidFill>
              <a:schemeClr val="tx1">
                <a:lumMod val="50000"/>
                <a:lumOff val="50000"/>
              </a:schemeClr>
            </a:solidFill>
          </a:ln>
        </p:spPr>
        <p:style>
          <a:lnRef idx="2">
            <a:scrgbClr r="0" g="0" b="0"/>
          </a:lnRef>
          <a:fillRef idx="1">
            <a:scrgbClr r="0" g="0" b="0"/>
          </a:fillRef>
          <a:effectRef idx="0">
            <a:schemeClr val="accent1">
              <a:shade val="50000"/>
              <a:hueOff val="0"/>
              <a:satOff val="-10697"/>
              <a:lumOff val="9334"/>
              <a:alphaOff val="0"/>
            </a:schemeClr>
          </a:effectRef>
          <a:fontRef idx="minor">
            <a:schemeClr val="lt1"/>
          </a:fontRef>
        </p:style>
        <p:txBody>
          <a:bodyPr/>
          <a:lstStyle/>
          <a:p>
            <a:endParaRPr lang="en-US"/>
          </a:p>
        </p:txBody>
      </p:sp>
      <p:sp>
        <p:nvSpPr>
          <p:cNvPr id="41" name="L-Shape 40">
            <a:extLst>
              <a:ext uri="{FF2B5EF4-FFF2-40B4-BE49-F238E27FC236}">
                <a16:creationId xmlns:a16="http://schemas.microsoft.com/office/drawing/2014/main" id="{48D56596-AFAF-7B93-C71A-FA8723A61DF8}"/>
              </a:ext>
            </a:extLst>
          </p:cNvPr>
          <p:cNvSpPr/>
          <p:nvPr/>
        </p:nvSpPr>
        <p:spPr>
          <a:xfrm rot="5400000">
            <a:off x="3482808" y="2757995"/>
            <a:ext cx="722058" cy="855393"/>
          </a:xfrm>
          <a:prstGeom prst="corner">
            <a:avLst>
              <a:gd name="adj1" fmla="val 16120"/>
              <a:gd name="adj2" fmla="val 16110"/>
            </a:avLst>
          </a:prstGeom>
          <a:solidFill>
            <a:schemeClr val="bg1">
              <a:lumMod val="85000"/>
            </a:schemeClr>
          </a:solidFill>
          <a:ln>
            <a:solidFill>
              <a:schemeClr val="bg1">
                <a:lumMod val="85000"/>
              </a:schemeClr>
            </a:solidFill>
          </a:ln>
        </p:spPr>
        <p:style>
          <a:lnRef idx="2">
            <a:scrgbClr r="0" g="0" b="0"/>
          </a:lnRef>
          <a:fillRef idx="1">
            <a:scrgbClr r="0" g="0" b="0"/>
          </a:fillRef>
          <a:effectRef idx="0">
            <a:schemeClr val="accent1">
              <a:shade val="50000"/>
              <a:hueOff val="0"/>
              <a:satOff val="-21393"/>
              <a:lumOff val="18667"/>
              <a:alphaOff val="0"/>
            </a:schemeClr>
          </a:effectRef>
          <a:fontRef idx="minor">
            <a:schemeClr val="lt1"/>
          </a:fontRef>
        </p:style>
        <p:txBody>
          <a:bodyPr/>
          <a:lstStyle/>
          <a:p>
            <a:endParaRPr lang="en-US"/>
          </a:p>
        </p:txBody>
      </p:sp>
      <p:sp>
        <p:nvSpPr>
          <p:cNvPr id="42" name="Freeform: Shape 41">
            <a:extLst>
              <a:ext uri="{FF2B5EF4-FFF2-40B4-BE49-F238E27FC236}">
                <a16:creationId xmlns:a16="http://schemas.microsoft.com/office/drawing/2014/main" id="{469D3D7E-9E5E-8D5D-9A63-461B3B7DC10A}"/>
              </a:ext>
            </a:extLst>
          </p:cNvPr>
          <p:cNvSpPr/>
          <p:nvPr/>
        </p:nvSpPr>
        <p:spPr>
          <a:xfrm>
            <a:off x="3538770" y="2943953"/>
            <a:ext cx="979246" cy="950813"/>
          </a:xfrm>
          <a:custGeom>
            <a:avLst/>
            <a:gdLst>
              <a:gd name="connsiteX0" fmla="*/ 0 w 1084711"/>
              <a:gd name="connsiteY0" fmla="*/ 0 h 950813"/>
              <a:gd name="connsiteX1" fmla="*/ 1084711 w 1084711"/>
              <a:gd name="connsiteY1" fmla="*/ 0 h 950813"/>
              <a:gd name="connsiteX2" fmla="*/ 1084711 w 1084711"/>
              <a:gd name="connsiteY2" fmla="*/ 950813 h 950813"/>
              <a:gd name="connsiteX3" fmla="*/ 0 w 1084711"/>
              <a:gd name="connsiteY3" fmla="*/ 950813 h 950813"/>
              <a:gd name="connsiteX4" fmla="*/ 0 w 1084711"/>
              <a:gd name="connsiteY4" fmla="*/ 0 h 950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711" h="950813">
                <a:moveTo>
                  <a:pt x="0" y="0"/>
                </a:moveTo>
                <a:lnTo>
                  <a:pt x="1084711" y="0"/>
                </a:lnTo>
                <a:lnTo>
                  <a:pt x="1084711" y="950813"/>
                </a:lnTo>
                <a:lnTo>
                  <a:pt x="0" y="9508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t" anchorCtr="0">
            <a:noAutofit/>
          </a:bodyPr>
          <a:lstStyle/>
          <a:p>
            <a:pPr lvl="0" algn="ctr" defTabSz="533400">
              <a:lnSpc>
                <a:spcPct val="90000"/>
              </a:lnSpc>
              <a:spcAft>
                <a:spcPct val="35000"/>
              </a:spcAft>
            </a:pPr>
            <a:r>
              <a:rPr lang="en-US" altLang="zh-CN" sz="1000" dirty="0">
                <a:solidFill>
                  <a:srgbClr val="C00000"/>
                </a:solidFill>
                <a:latin typeface="+mj-lt"/>
                <a:ea typeface="+mj-ea"/>
              </a:rPr>
              <a:t>Feb </a:t>
            </a:r>
            <a:r>
              <a:rPr lang="en-US" altLang="zh-CN" sz="1000" dirty="0">
                <a:solidFill>
                  <a:srgbClr val="C00000"/>
                </a:solidFill>
              </a:rPr>
              <a:t>–</a:t>
            </a:r>
            <a:r>
              <a:rPr lang="en-US" altLang="zh-CN" sz="1000" dirty="0">
                <a:solidFill>
                  <a:srgbClr val="C00000"/>
                </a:solidFill>
                <a:latin typeface="+mj-lt"/>
                <a:ea typeface="+mj-ea"/>
              </a:rPr>
              <a:t> Early Mar</a:t>
            </a:r>
            <a:r>
              <a:rPr lang="zh-CN" altLang="en-US" sz="1000" dirty="0">
                <a:solidFill>
                  <a:srgbClr val="C00000"/>
                </a:solidFill>
                <a:latin typeface="+mj-lt"/>
                <a:ea typeface="+mj-ea"/>
              </a:rPr>
              <a:t> </a:t>
            </a:r>
            <a:r>
              <a:rPr lang="en-US" altLang="zh-CN" sz="1000" dirty="0">
                <a:solidFill>
                  <a:srgbClr val="C00000"/>
                </a:solidFill>
                <a:latin typeface="+mj-lt"/>
                <a:ea typeface="+mj-ea"/>
              </a:rPr>
              <a:t>2026</a:t>
            </a:r>
            <a:endParaRPr lang="en-US" altLang="zh-CN" sz="1000" b="1" kern="1200" dirty="0">
              <a:solidFill>
                <a:srgbClr val="C00000"/>
              </a:solidFill>
              <a:latin typeface="+mj-lt"/>
              <a:ea typeface="+mj-ea"/>
            </a:endParaRPr>
          </a:p>
          <a:p>
            <a:pPr marL="0" lvl="0" indent="0" algn="ctr" defTabSz="533400">
              <a:lnSpc>
                <a:spcPct val="90000"/>
              </a:lnSpc>
              <a:spcBef>
                <a:spcPct val="0"/>
              </a:spcBef>
              <a:spcAft>
                <a:spcPct val="35000"/>
              </a:spcAft>
              <a:buFontTx/>
              <a:buNone/>
            </a:pPr>
            <a:r>
              <a:rPr lang="en-US" altLang="zh-CN" sz="1000" b="1" kern="1200" dirty="0">
                <a:solidFill>
                  <a:schemeClr val="tx1"/>
                </a:solidFill>
                <a:latin typeface="+mj-lt"/>
                <a:ea typeface="+mj-ea"/>
                <a:cs typeface="Times New Roman" panose="02020603050405020304" pitchFamily="18" charset="0"/>
              </a:rPr>
              <a:t>Management Training</a:t>
            </a:r>
          </a:p>
        </p:txBody>
      </p:sp>
      <p:sp>
        <p:nvSpPr>
          <p:cNvPr id="43" name="Isosceles Triangle 42">
            <a:extLst>
              <a:ext uri="{FF2B5EF4-FFF2-40B4-BE49-F238E27FC236}">
                <a16:creationId xmlns:a16="http://schemas.microsoft.com/office/drawing/2014/main" id="{0B6559E1-50A2-E5C4-B572-D63F449FEBB7}"/>
              </a:ext>
            </a:extLst>
          </p:cNvPr>
          <p:cNvSpPr/>
          <p:nvPr/>
        </p:nvSpPr>
        <p:spPr>
          <a:xfrm>
            <a:off x="4286391" y="2625594"/>
            <a:ext cx="204662" cy="204662"/>
          </a:xfrm>
          <a:prstGeom prst="triangle">
            <a:avLst>
              <a:gd name="adj" fmla="val 100000"/>
            </a:avLst>
          </a:prstGeom>
          <a:solidFill>
            <a:schemeClr val="bg1">
              <a:lumMod val="85000"/>
            </a:schemeClr>
          </a:solidFill>
          <a:ln>
            <a:solidFill>
              <a:schemeClr val="bg1">
                <a:lumMod val="85000"/>
              </a:schemeClr>
            </a:solidFill>
          </a:ln>
        </p:spPr>
        <p:style>
          <a:lnRef idx="2">
            <a:scrgbClr r="0" g="0" b="0"/>
          </a:lnRef>
          <a:fillRef idx="1">
            <a:scrgbClr r="0" g="0" b="0"/>
          </a:fillRef>
          <a:effectRef idx="0">
            <a:schemeClr val="accent1">
              <a:shade val="50000"/>
              <a:hueOff val="0"/>
              <a:satOff val="-32090"/>
              <a:lumOff val="28001"/>
              <a:alphaOff val="0"/>
            </a:schemeClr>
          </a:effectRef>
          <a:fontRef idx="minor">
            <a:schemeClr val="lt1"/>
          </a:fontRef>
        </p:style>
        <p:txBody>
          <a:bodyPr/>
          <a:lstStyle/>
          <a:p>
            <a:endParaRPr lang="en-US"/>
          </a:p>
        </p:txBody>
      </p:sp>
      <p:sp>
        <p:nvSpPr>
          <p:cNvPr id="44" name="L-Shape 43">
            <a:extLst>
              <a:ext uri="{FF2B5EF4-FFF2-40B4-BE49-F238E27FC236}">
                <a16:creationId xmlns:a16="http://schemas.microsoft.com/office/drawing/2014/main" id="{4BFE170C-52A0-A400-6194-E80B0F8C7309}"/>
              </a:ext>
            </a:extLst>
          </p:cNvPr>
          <p:cNvSpPr/>
          <p:nvPr/>
        </p:nvSpPr>
        <p:spPr>
          <a:xfrm rot="5400000">
            <a:off x="4622983" y="2558927"/>
            <a:ext cx="722058" cy="855393"/>
          </a:xfrm>
          <a:prstGeom prst="corner">
            <a:avLst>
              <a:gd name="adj1" fmla="val 16120"/>
              <a:gd name="adj2" fmla="val 16110"/>
            </a:avLst>
          </a:prstGeom>
          <a:solidFill>
            <a:srgbClr val="DB9F9F"/>
          </a:solidFill>
          <a:ln>
            <a:solidFill>
              <a:srgbClr val="DB9F9F"/>
            </a:solidFill>
          </a:ln>
        </p:spPr>
        <p:style>
          <a:lnRef idx="2">
            <a:scrgbClr r="0" g="0" b="0"/>
          </a:lnRef>
          <a:fillRef idx="1">
            <a:scrgbClr r="0" g="0" b="0"/>
          </a:fillRef>
          <a:effectRef idx="0">
            <a:schemeClr val="accent1">
              <a:shade val="50000"/>
              <a:hueOff val="0"/>
              <a:satOff val="-42787"/>
              <a:lumOff val="37335"/>
              <a:alphaOff val="0"/>
            </a:schemeClr>
          </a:effectRef>
          <a:fontRef idx="minor">
            <a:schemeClr val="lt1"/>
          </a:fontRef>
        </p:style>
        <p:txBody>
          <a:bodyPr/>
          <a:lstStyle/>
          <a:p>
            <a:endParaRPr lang="en-US"/>
          </a:p>
        </p:txBody>
      </p:sp>
      <p:sp>
        <p:nvSpPr>
          <p:cNvPr id="45" name="Freeform: Shape 44">
            <a:extLst>
              <a:ext uri="{FF2B5EF4-FFF2-40B4-BE49-F238E27FC236}">
                <a16:creationId xmlns:a16="http://schemas.microsoft.com/office/drawing/2014/main" id="{1234E775-8EE3-496B-B7DD-C72E0C19F0A8}"/>
              </a:ext>
            </a:extLst>
          </p:cNvPr>
          <p:cNvSpPr/>
          <p:nvPr/>
        </p:nvSpPr>
        <p:spPr>
          <a:xfrm>
            <a:off x="4686907" y="2727925"/>
            <a:ext cx="960526" cy="950813"/>
          </a:xfrm>
          <a:custGeom>
            <a:avLst/>
            <a:gdLst>
              <a:gd name="connsiteX0" fmla="*/ 0 w 1188724"/>
              <a:gd name="connsiteY0" fmla="*/ 0 h 950813"/>
              <a:gd name="connsiteX1" fmla="*/ 1188724 w 1188724"/>
              <a:gd name="connsiteY1" fmla="*/ 0 h 950813"/>
              <a:gd name="connsiteX2" fmla="*/ 1188724 w 1188724"/>
              <a:gd name="connsiteY2" fmla="*/ 950813 h 950813"/>
              <a:gd name="connsiteX3" fmla="*/ 0 w 1188724"/>
              <a:gd name="connsiteY3" fmla="*/ 950813 h 950813"/>
              <a:gd name="connsiteX4" fmla="*/ 0 w 1188724"/>
              <a:gd name="connsiteY4" fmla="*/ 0 h 950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724" h="950813">
                <a:moveTo>
                  <a:pt x="0" y="0"/>
                </a:moveTo>
                <a:lnTo>
                  <a:pt x="1188724" y="0"/>
                </a:lnTo>
                <a:lnTo>
                  <a:pt x="1188724" y="950813"/>
                </a:lnTo>
                <a:lnTo>
                  <a:pt x="0" y="9508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45720" rIns="0" bIns="45720" numCol="1" spcCol="1270" anchor="t" anchorCtr="0">
            <a:noAutofit/>
          </a:bodyPr>
          <a:lstStyle/>
          <a:p>
            <a:pPr marL="0" lvl="0" indent="0" algn="ctr" defTabSz="533400">
              <a:lnSpc>
                <a:spcPct val="90000"/>
              </a:lnSpc>
              <a:spcBef>
                <a:spcPct val="0"/>
              </a:spcBef>
              <a:spcAft>
                <a:spcPct val="35000"/>
              </a:spcAft>
              <a:buNone/>
            </a:pPr>
            <a:r>
              <a:rPr lang="en-US" altLang="zh-CN" sz="1000" b="1" dirty="0">
                <a:solidFill>
                  <a:srgbClr val="C00000"/>
                </a:solidFill>
                <a:latin typeface="+mj-lt"/>
                <a:ea typeface="+mj-ea"/>
              </a:rPr>
              <a:t>Mid Mar – Apr 2027</a:t>
            </a:r>
            <a:endParaRPr lang="en-US" altLang="zh-CN" sz="1000" b="1" kern="1200" dirty="0">
              <a:solidFill>
                <a:srgbClr val="C00000"/>
              </a:solidFill>
              <a:latin typeface="+mj-lt"/>
              <a:ea typeface="+mj-ea"/>
            </a:endParaRPr>
          </a:p>
          <a:p>
            <a:pPr marL="0" lvl="0" indent="0" algn="ctr" defTabSz="533400">
              <a:lnSpc>
                <a:spcPct val="90000"/>
              </a:lnSpc>
              <a:spcBef>
                <a:spcPct val="0"/>
              </a:spcBef>
              <a:spcAft>
                <a:spcPct val="35000"/>
              </a:spcAft>
              <a:buNone/>
            </a:pPr>
            <a:r>
              <a:rPr lang="en-US" altLang="zh-CN" sz="1000" b="1" kern="1200" dirty="0">
                <a:latin typeface="+mj-lt"/>
                <a:ea typeface="+mj-ea"/>
              </a:rPr>
              <a:t>Investors  meeting</a:t>
            </a:r>
            <a:endParaRPr lang="en-US" sz="1000" b="1" kern="1200" dirty="0">
              <a:latin typeface="+mj-lt"/>
              <a:ea typeface="+mj-ea"/>
            </a:endParaRPr>
          </a:p>
        </p:txBody>
      </p:sp>
      <p:sp>
        <p:nvSpPr>
          <p:cNvPr id="46" name="Isosceles Triangle 45">
            <a:extLst>
              <a:ext uri="{FF2B5EF4-FFF2-40B4-BE49-F238E27FC236}">
                <a16:creationId xmlns:a16="http://schemas.microsoft.com/office/drawing/2014/main" id="{4D2C3BD5-FF37-53CD-1CFA-D8E134ED67FD}"/>
              </a:ext>
            </a:extLst>
          </p:cNvPr>
          <p:cNvSpPr/>
          <p:nvPr/>
        </p:nvSpPr>
        <p:spPr>
          <a:xfrm>
            <a:off x="5423801" y="2416909"/>
            <a:ext cx="204662" cy="204662"/>
          </a:xfrm>
          <a:prstGeom prst="triangle">
            <a:avLst>
              <a:gd name="adj" fmla="val 100000"/>
            </a:avLst>
          </a:prstGeom>
        </p:spPr>
        <p:style>
          <a:lnRef idx="2">
            <a:schemeClr val="accent1">
              <a:shade val="50000"/>
              <a:hueOff val="0"/>
              <a:satOff val="-53484"/>
              <a:lumOff val="46668"/>
              <a:alphaOff val="0"/>
            </a:schemeClr>
          </a:lnRef>
          <a:fillRef idx="1">
            <a:schemeClr val="accent1">
              <a:shade val="50000"/>
              <a:hueOff val="0"/>
              <a:satOff val="-53484"/>
              <a:lumOff val="46668"/>
              <a:alphaOff val="0"/>
            </a:schemeClr>
          </a:fillRef>
          <a:effectRef idx="0">
            <a:schemeClr val="accent1">
              <a:shade val="50000"/>
              <a:hueOff val="0"/>
              <a:satOff val="-53484"/>
              <a:lumOff val="46668"/>
              <a:alphaOff val="0"/>
            </a:schemeClr>
          </a:effectRef>
          <a:fontRef idx="minor">
            <a:schemeClr val="lt1"/>
          </a:fontRef>
        </p:style>
        <p:txBody>
          <a:bodyPr/>
          <a:lstStyle/>
          <a:p>
            <a:endParaRPr lang="en-US"/>
          </a:p>
        </p:txBody>
      </p:sp>
      <p:sp>
        <p:nvSpPr>
          <p:cNvPr id="47" name="L-Shape 46">
            <a:extLst>
              <a:ext uri="{FF2B5EF4-FFF2-40B4-BE49-F238E27FC236}">
                <a16:creationId xmlns:a16="http://schemas.microsoft.com/office/drawing/2014/main" id="{367E3C76-F88B-2CE7-B756-DE896BA03D37}"/>
              </a:ext>
            </a:extLst>
          </p:cNvPr>
          <p:cNvSpPr/>
          <p:nvPr/>
        </p:nvSpPr>
        <p:spPr>
          <a:xfrm rot="5400000">
            <a:off x="5758225" y="2346276"/>
            <a:ext cx="722058" cy="855393"/>
          </a:xfrm>
          <a:prstGeom prst="corner">
            <a:avLst>
              <a:gd name="adj1" fmla="val 16120"/>
              <a:gd name="adj2" fmla="val 16110"/>
            </a:avLst>
          </a:prstGeom>
          <a:solidFill>
            <a:srgbClr val="D77474"/>
          </a:solidFill>
          <a:ln>
            <a:solidFill>
              <a:srgbClr val="D77474"/>
            </a:solidFill>
          </a:ln>
        </p:spPr>
        <p:style>
          <a:lnRef idx="2">
            <a:scrgbClr r="0" g="0" b="0"/>
          </a:lnRef>
          <a:fillRef idx="1">
            <a:scrgbClr r="0" g="0" b="0"/>
          </a:fillRef>
          <a:effectRef idx="0">
            <a:schemeClr val="accent1">
              <a:shade val="50000"/>
              <a:hueOff val="0"/>
              <a:satOff val="-53484"/>
              <a:lumOff val="46668"/>
              <a:alphaOff val="0"/>
            </a:schemeClr>
          </a:effectRef>
          <a:fontRef idx="minor">
            <a:schemeClr val="lt1"/>
          </a:fontRef>
        </p:style>
        <p:txBody>
          <a:bodyPr/>
          <a:lstStyle/>
          <a:p>
            <a:endParaRPr lang="en-US"/>
          </a:p>
        </p:txBody>
      </p:sp>
      <p:sp>
        <p:nvSpPr>
          <p:cNvPr id="48" name="Freeform: Shape 47">
            <a:extLst>
              <a:ext uri="{FF2B5EF4-FFF2-40B4-BE49-F238E27FC236}">
                <a16:creationId xmlns:a16="http://schemas.microsoft.com/office/drawing/2014/main" id="{2275168D-D743-E978-1FBB-A031D44B4839}"/>
              </a:ext>
            </a:extLst>
          </p:cNvPr>
          <p:cNvSpPr/>
          <p:nvPr/>
        </p:nvSpPr>
        <p:spPr>
          <a:xfrm>
            <a:off x="5764981" y="2540759"/>
            <a:ext cx="1084711" cy="950813"/>
          </a:xfrm>
          <a:custGeom>
            <a:avLst/>
            <a:gdLst>
              <a:gd name="connsiteX0" fmla="*/ 0 w 1084711"/>
              <a:gd name="connsiteY0" fmla="*/ 0 h 950813"/>
              <a:gd name="connsiteX1" fmla="*/ 1084711 w 1084711"/>
              <a:gd name="connsiteY1" fmla="*/ 0 h 950813"/>
              <a:gd name="connsiteX2" fmla="*/ 1084711 w 1084711"/>
              <a:gd name="connsiteY2" fmla="*/ 950813 h 950813"/>
              <a:gd name="connsiteX3" fmla="*/ 0 w 1084711"/>
              <a:gd name="connsiteY3" fmla="*/ 950813 h 950813"/>
              <a:gd name="connsiteX4" fmla="*/ 0 w 1084711"/>
              <a:gd name="connsiteY4" fmla="*/ 0 h 950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711" h="950813">
                <a:moveTo>
                  <a:pt x="0" y="0"/>
                </a:moveTo>
                <a:lnTo>
                  <a:pt x="1084711" y="0"/>
                </a:lnTo>
                <a:lnTo>
                  <a:pt x="1084711" y="950813"/>
                </a:lnTo>
                <a:lnTo>
                  <a:pt x="0" y="9508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en-US" altLang="zh-CN" sz="1000" kern="1200" dirty="0">
                <a:solidFill>
                  <a:srgbClr val="C00000"/>
                </a:solidFill>
                <a:latin typeface="+mj-lt"/>
                <a:ea typeface="+mj-ea"/>
              </a:rPr>
              <a:t>May – Early Jun 2027</a:t>
            </a:r>
            <a:endParaRPr lang="en-US" altLang="zh-CN" sz="1000" b="1" kern="1200" dirty="0">
              <a:solidFill>
                <a:srgbClr val="C00000"/>
              </a:solidFill>
              <a:latin typeface="+mj-lt"/>
              <a:ea typeface="+mj-ea"/>
            </a:endParaRPr>
          </a:p>
          <a:p>
            <a:pPr marL="0" lvl="0" indent="0" algn="ctr" defTabSz="533400">
              <a:lnSpc>
                <a:spcPct val="90000"/>
              </a:lnSpc>
              <a:spcBef>
                <a:spcPct val="0"/>
              </a:spcBef>
              <a:spcAft>
                <a:spcPct val="35000"/>
              </a:spcAft>
              <a:buNone/>
            </a:pPr>
            <a:r>
              <a:rPr lang="en-US" altLang="zh-CN" sz="1000" b="1" kern="1200" dirty="0">
                <a:cs typeface="Arial" panose="020B0604020202020204" pitchFamily="34" charset="0"/>
              </a:rPr>
              <a:t>Analyst Pre-Roadshow</a:t>
            </a:r>
            <a:endParaRPr lang="en-US" sz="1000" b="1" kern="1200" dirty="0">
              <a:latin typeface="+mj-lt"/>
              <a:ea typeface="+mj-ea"/>
            </a:endParaRPr>
          </a:p>
        </p:txBody>
      </p:sp>
      <p:sp>
        <p:nvSpPr>
          <p:cNvPr id="49" name="Isosceles Triangle 48">
            <a:extLst>
              <a:ext uri="{FF2B5EF4-FFF2-40B4-BE49-F238E27FC236}">
                <a16:creationId xmlns:a16="http://schemas.microsoft.com/office/drawing/2014/main" id="{25302587-C898-C16E-F588-DCB3F61BFA7C}"/>
              </a:ext>
            </a:extLst>
          </p:cNvPr>
          <p:cNvSpPr/>
          <p:nvPr/>
        </p:nvSpPr>
        <p:spPr>
          <a:xfrm>
            <a:off x="6563254" y="2208281"/>
            <a:ext cx="204662" cy="204662"/>
          </a:xfrm>
          <a:prstGeom prst="triangle">
            <a:avLst>
              <a:gd name="adj" fmla="val 100000"/>
            </a:avLst>
          </a:prstGeom>
        </p:spPr>
        <p:style>
          <a:lnRef idx="2">
            <a:schemeClr val="accent1">
              <a:shade val="50000"/>
              <a:hueOff val="0"/>
              <a:satOff val="-42787"/>
              <a:lumOff val="37335"/>
              <a:alphaOff val="0"/>
            </a:schemeClr>
          </a:lnRef>
          <a:fillRef idx="1">
            <a:schemeClr val="accent1">
              <a:shade val="50000"/>
              <a:hueOff val="0"/>
              <a:satOff val="-42787"/>
              <a:lumOff val="37335"/>
              <a:alphaOff val="0"/>
            </a:schemeClr>
          </a:fillRef>
          <a:effectRef idx="0">
            <a:schemeClr val="accent1">
              <a:shade val="50000"/>
              <a:hueOff val="0"/>
              <a:satOff val="-42787"/>
              <a:lumOff val="37335"/>
              <a:alphaOff val="0"/>
            </a:schemeClr>
          </a:effectRef>
          <a:fontRef idx="minor">
            <a:schemeClr val="lt1"/>
          </a:fontRef>
        </p:style>
        <p:txBody>
          <a:bodyPr/>
          <a:lstStyle/>
          <a:p>
            <a:endParaRPr lang="en-US"/>
          </a:p>
        </p:txBody>
      </p:sp>
      <p:sp>
        <p:nvSpPr>
          <p:cNvPr id="50" name="L-Shape 49">
            <a:extLst>
              <a:ext uri="{FF2B5EF4-FFF2-40B4-BE49-F238E27FC236}">
                <a16:creationId xmlns:a16="http://schemas.microsoft.com/office/drawing/2014/main" id="{FC5F65FC-C957-A544-C353-5E2C9612C9DB}"/>
              </a:ext>
            </a:extLst>
          </p:cNvPr>
          <p:cNvSpPr/>
          <p:nvPr/>
        </p:nvSpPr>
        <p:spPr>
          <a:xfrm rot="5400000">
            <a:off x="6889714" y="2141614"/>
            <a:ext cx="722058" cy="855393"/>
          </a:xfrm>
          <a:prstGeom prst="corner">
            <a:avLst>
              <a:gd name="adj1" fmla="val 16120"/>
              <a:gd name="adj2" fmla="val 16110"/>
            </a:avLst>
          </a:prstGeom>
        </p:spPr>
        <p:style>
          <a:lnRef idx="2">
            <a:schemeClr val="accent1">
              <a:shade val="50000"/>
              <a:hueOff val="0"/>
              <a:satOff val="-32090"/>
              <a:lumOff val="28001"/>
              <a:alphaOff val="0"/>
            </a:schemeClr>
          </a:lnRef>
          <a:fillRef idx="1">
            <a:schemeClr val="accent1">
              <a:shade val="50000"/>
              <a:hueOff val="0"/>
              <a:satOff val="-32090"/>
              <a:lumOff val="28001"/>
              <a:alphaOff val="0"/>
            </a:schemeClr>
          </a:fillRef>
          <a:effectRef idx="0">
            <a:schemeClr val="accent1">
              <a:shade val="50000"/>
              <a:hueOff val="0"/>
              <a:satOff val="-32090"/>
              <a:lumOff val="28001"/>
              <a:alphaOff val="0"/>
            </a:schemeClr>
          </a:effectRef>
          <a:fontRef idx="minor">
            <a:schemeClr val="lt1"/>
          </a:fontRef>
        </p:style>
        <p:txBody>
          <a:bodyPr/>
          <a:lstStyle/>
          <a:p>
            <a:endParaRPr lang="en-US"/>
          </a:p>
        </p:txBody>
      </p:sp>
      <p:sp>
        <p:nvSpPr>
          <p:cNvPr id="51" name="Freeform: Shape 50">
            <a:extLst>
              <a:ext uri="{FF2B5EF4-FFF2-40B4-BE49-F238E27FC236}">
                <a16:creationId xmlns:a16="http://schemas.microsoft.com/office/drawing/2014/main" id="{51D09F0A-35B9-C486-321F-ACD4CBA96B5B}"/>
              </a:ext>
            </a:extLst>
          </p:cNvPr>
          <p:cNvSpPr/>
          <p:nvPr/>
        </p:nvSpPr>
        <p:spPr>
          <a:xfrm>
            <a:off x="6748001" y="2335506"/>
            <a:ext cx="1293399" cy="950813"/>
          </a:xfrm>
          <a:custGeom>
            <a:avLst/>
            <a:gdLst>
              <a:gd name="connsiteX0" fmla="*/ 0 w 1293399"/>
              <a:gd name="connsiteY0" fmla="*/ 0 h 950813"/>
              <a:gd name="connsiteX1" fmla="*/ 1293399 w 1293399"/>
              <a:gd name="connsiteY1" fmla="*/ 0 h 950813"/>
              <a:gd name="connsiteX2" fmla="*/ 1293399 w 1293399"/>
              <a:gd name="connsiteY2" fmla="*/ 950813 h 950813"/>
              <a:gd name="connsiteX3" fmla="*/ 0 w 1293399"/>
              <a:gd name="connsiteY3" fmla="*/ 950813 h 950813"/>
              <a:gd name="connsiteX4" fmla="*/ 0 w 1293399"/>
              <a:gd name="connsiteY4" fmla="*/ 0 h 950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399" h="950813">
                <a:moveTo>
                  <a:pt x="0" y="0"/>
                </a:moveTo>
                <a:lnTo>
                  <a:pt x="1293399" y="0"/>
                </a:lnTo>
                <a:lnTo>
                  <a:pt x="1293399" y="950813"/>
                </a:lnTo>
                <a:lnTo>
                  <a:pt x="0" y="9508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en-US" altLang="zh-CN" sz="1000" kern="1200" dirty="0">
                <a:solidFill>
                  <a:srgbClr val="C00000"/>
                </a:solidFill>
                <a:latin typeface="+mj-lt"/>
                <a:ea typeface="+mj-ea"/>
              </a:rPr>
              <a:t>Jun 2027</a:t>
            </a:r>
            <a:endParaRPr lang="en-US" altLang="zh-CN" sz="1000" b="1" kern="1200" dirty="0">
              <a:solidFill>
                <a:srgbClr val="C00000"/>
              </a:solidFill>
              <a:latin typeface="+mj-lt"/>
              <a:ea typeface="+mj-ea"/>
            </a:endParaRPr>
          </a:p>
          <a:p>
            <a:pPr marL="0" lvl="0" indent="0" algn="ctr" defTabSz="533400">
              <a:lnSpc>
                <a:spcPct val="90000"/>
              </a:lnSpc>
              <a:spcBef>
                <a:spcPct val="0"/>
              </a:spcBef>
              <a:spcAft>
                <a:spcPct val="35000"/>
              </a:spcAft>
              <a:buNone/>
            </a:pPr>
            <a:r>
              <a:rPr lang="en-US" altLang="zh-CN" sz="1000" b="1" kern="1200" dirty="0">
                <a:latin typeface="+mj-lt"/>
                <a:ea typeface="+mj-ea"/>
              </a:rPr>
              <a:t>Management Roadshow/</a:t>
            </a:r>
            <a:br>
              <a:rPr lang="en-US" altLang="zh-CN" sz="1000" b="1" kern="1200" dirty="0">
                <a:latin typeface="+mj-lt"/>
                <a:ea typeface="+mj-ea"/>
              </a:rPr>
            </a:br>
            <a:r>
              <a:rPr lang="en-US" altLang="zh-CN" sz="1000" b="1" kern="1200" dirty="0">
                <a:latin typeface="+mj-lt"/>
                <a:ea typeface="+mj-ea"/>
              </a:rPr>
              <a:t>Book-building</a:t>
            </a:r>
            <a:endParaRPr lang="en-US" sz="1000" b="1" kern="1200" dirty="0">
              <a:latin typeface="+mj-lt"/>
              <a:ea typeface="+mj-ea"/>
            </a:endParaRPr>
          </a:p>
        </p:txBody>
      </p:sp>
      <p:sp>
        <p:nvSpPr>
          <p:cNvPr id="52" name="Isosceles Triangle 51">
            <a:extLst>
              <a:ext uri="{FF2B5EF4-FFF2-40B4-BE49-F238E27FC236}">
                <a16:creationId xmlns:a16="http://schemas.microsoft.com/office/drawing/2014/main" id="{652299CD-3B69-0CF8-B0E6-5A8BB14E578B}"/>
              </a:ext>
            </a:extLst>
          </p:cNvPr>
          <p:cNvSpPr/>
          <p:nvPr/>
        </p:nvSpPr>
        <p:spPr>
          <a:xfrm>
            <a:off x="7683981" y="2003302"/>
            <a:ext cx="204662" cy="204662"/>
          </a:xfrm>
          <a:prstGeom prst="triangle">
            <a:avLst>
              <a:gd name="adj" fmla="val 100000"/>
            </a:avLst>
          </a:prstGeom>
          <a:solidFill>
            <a:srgbClr val="D84345"/>
          </a:solidFill>
          <a:ln>
            <a:solidFill>
              <a:srgbClr val="D84345"/>
            </a:solidFill>
          </a:ln>
        </p:spPr>
        <p:style>
          <a:lnRef idx="2">
            <a:scrgbClr r="0" g="0" b="0"/>
          </a:lnRef>
          <a:fillRef idx="1">
            <a:scrgbClr r="0" g="0" b="0"/>
          </a:fillRef>
          <a:effectRef idx="0">
            <a:schemeClr val="accent1">
              <a:shade val="50000"/>
              <a:hueOff val="0"/>
              <a:satOff val="-21393"/>
              <a:lumOff val="18667"/>
              <a:alphaOff val="0"/>
            </a:schemeClr>
          </a:effectRef>
          <a:fontRef idx="minor">
            <a:schemeClr val="lt1"/>
          </a:fontRef>
        </p:style>
        <p:txBody>
          <a:bodyPr/>
          <a:lstStyle/>
          <a:p>
            <a:endParaRPr lang="en-US"/>
          </a:p>
        </p:txBody>
      </p:sp>
      <p:sp>
        <p:nvSpPr>
          <p:cNvPr id="53" name="L-Shape 52">
            <a:extLst>
              <a:ext uri="{FF2B5EF4-FFF2-40B4-BE49-F238E27FC236}">
                <a16:creationId xmlns:a16="http://schemas.microsoft.com/office/drawing/2014/main" id="{9CDEEEF6-1529-0E66-D223-E3B2B2B03CB3}"/>
              </a:ext>
            </a:extLst>
          </p:cNvPr>
          <p:cNvSpPr/>
          <p:nvPr/>
        </p:nvSpPr>
        <p:spPr>
          <a:xfrm rot="5400000">
            <a:off x="8005685" y="1930933"/>
            <a:ext cx="722058" cy="855393"/>
          </a:xfrm>
          <a:prstGeom prst="corner">
            <a:avLst>
              <a:gd name="adj1" fmla="val 16120"/>
              <a:gd name="adj2" fmla="val 16110"/>
            </a:avLst>
          </a:prstGeom>
        </p:spPr>
        <p:style>
          <a:lnRef idx="2">
            <a:schemeClr val="accent1">
              <a:shade val="50000"/>
              <a:hueOff val="0"/>
              <a:satOff val="-10697"/>
              <a:lumOff val="9334"/>
              <a:alphaOff val="0"/>
            </a:schemeClr>
          </a:lnRef>
          <a:fillRef idx="1">
            <a:schemeClr val="accent1">
              <a:shade val="50000"/>
              <a:hueOff val="0"/>
              <a:satOff val="-10697"/>
              <a:lumOff val="9334"/>
              <a:alphaOff val="0"/>
            </a:schemeClr>
          </a:fillRef>
          <a:effectRef idx="0">
            <a:schemeClr val="accent1">
              <a:shade val="50000"/>
              <a:hueOff val="0"/>
              <a:satOff val="-10697"/>
              <a:lumOff val="9334"/>
              <a:alphaOff val="0"/>
            </a:schemeClr>
          </a:effectRef>
          <a:fontRef idx="minor">
            <a:schemeClr val="lt1"/>
          </a:fontRef>
        </p:style>
        <p:txBody>
          <a:bodyPr/>
          <a:lstStyle/>
          <a:p>
            <a:endParaRPr lang="en-US"/>
          </a:p>
        </p:txBody>
      </p:sp>
      <p:sp>
        <p:nvSpPr>
          <p:cNvPr id="54" name="Freeform: Shape 53">
            <a:extLst>
              <a:ext uri="{FF2B5EF4-FFF2-40B4-BE49-F238E27FC236}">
                <a16:creationId xmlns:a16="http://schemas.microsoft.com/office/drawing/2014/main" id="{596F022C-DB48-B4B0-D043-2BF0D8556CCC}"/>
              </a:ext>
            </a:extLst>
          </p:cNvPr>
          <p:cNvSpPr/>
          <p:nvPr/>
        </p:nvSpPr>
        <p:spPr>
          <a:xfrm>
            <a:off x="7907811" y="2150871"/>
            <a:ext cx="1084711" cy="950813"/>
          </a:xfrm>
          <a:custGeom>
            <a:avLst/>
            <a:gdLst>
              <a:gd name="connsiteX0" fmla="*/ 0 w 1084711"/>
              <a:gd name="connsiteY0" fmla="*/ 0 h 950813"/>
              <a:gd name="connsiteX1" fmla="*/ 1084711 w 1084711"/>
              <a:gd name="connsiteY1" fmla="*/ 0 h 950813"/>
              <a:gd name="connsiteX2" fmla="*/ 1084711 w 1084711"/>
              <a:gd name="connsiteY2" fmla="*/ 950813 h 950813"/>
              <a:gd name="connsiteX3" fmla="*/ 0 w 1084711"/>
              <a:gd name="connsiteY3" fmla="*/ 950813 h 950813"/>
              <a:gd name="connsiteX4" fmla="*/ 0 w 1084711"/>
              <a:gd name="connsiteY4" fmla="*/ 0 h 950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711" h="950813">
                <a:moveTo>
                  <a:pt x="0" y="0"/>
                </a:moveTo>
                <a:lnTo>
                  <a:pt x="1084711" y="0"/>
                </a:lnTo>
                <a:lnTo>
                  <a:pt x="1084711" y="950813"/>
                </a:lnTo>
                <a:lnTo>
                  <a:pt x="0" y="9508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en-US" altLang="zh-CN" sz="1000" b="1" kern="1200" dirty="0">
                <a:solidFill>
                  <a:srgbClr val="C00000"/>
                </a:solidFill>
                <a:latin typeface="+mj-lt"/>
                <a:ea typeface="+mj-ea"/>
              </a:rPr>
              <a:t>Pricing</a:t>
            </a:r>
          </a:p>
          <a:p>
            <a:pPr marL="0" lvl="0" indent="0" algn="ctr" defTabSz="533400">
              <a:lnSpc>
                <a:spcPct val="90000"/>
              </a:lnSpc>
              <a:spcBef>
                <a:spcPct val="0"/>
              </a:spcBef>
              <a:spcAft>
                <a:spcPct val="35000"/>
              </a:spcAft>
              <a:buNone/>
            </a:pPr>
            <a:r>
              <a:rPr lang="en-US" altLang="zh-CN" sz="1000" b="1" kern="1200" dirty="0">
                <a:latin typeface="+mj-lt"/>
                <a:ea typeface="+mj-ea"/>
              </a:rPr>
              <a:t>Pricing and Placement</a:t>
            </a:r>
            <a:endParaRPr lang="en-US" sz="1000" b="1" kern="1200" dirty="0">
              <a:latin typeface="+mj-lt"/>
              <a:ea typeface="+mj-ea"/>
            </a:endParaRPr>
          </a:p>
        </p:txBody>
      </p:sp>
      <p:sp>
        <p:nvSpPr>
          <p:cNvPr id="55" name="Rectangle 6">
            <a:extLst>
              <a:ext uri="{FF2B5EF4-FFF2-40B4-BE49-F238E27FC236}">
                <a16:creationId xmlns:a16="http://schemas.microsoft.com/office/drawing/2014/main" id="{006096A8-4462-BDEE-9817-29D7F50E042A}"/>
              </a:ext>
            </a:extLst>
          </p:cNvPr>
          <p:cNvSpPr>
            <a:spLocks noChangeAspect="1" noChangeArrowheads="1"/>
          </p:cNvSpPr>
          <p:nvPr/>
        </p:nvSpPr>
        <p:spPr bwMode="gray">
          <a:xfrm>
            <a:off x="717152" y="1077210"/>
            <a:ext cx="8494051" cy="241430"/>
          </a:xfrm>
          <a:prstGeom prst="rect">
            <a:avLst/>
          </a:prstGeom>
          <a:solidFill>
            <a:srgbClr val="CC0000"/>
          </a:solidFill>
          <a:ln w="6350">
            <a:noFill/>
            <a:miter lim="800000"/>
            <a:headEnd/>
            <a:tailEnd/>
          </a:ln>
        </p:spPr>
        <p:txBody>
          <a:bodyPr wrap="square" lIns="86222" tIns="34489" rIns="0" bIns="34489">
            <a:spAutoFit/>
          </a:bodyPr>
          <a:lstStyle>
            <a:lvl1pPr marL="342900" indent="-342900" defTabSz="1019175">
              <a:spcBef>
                <a:spcPct val="20000"/>
              </a:spcBef>
              <a:buFont typeface="Arial" panose="020B0604020202020204" pitchFamily="34" charset="0"/>
              <a:buChar char="•"/>
              <a:defRPr sz="3200">
                <a:solidFill>
                  <a:schemeClr val="tx1"/>
                </a:solidFill>
                <a:latin typeface="Calibri" panose="020F0502020204030204" pitchFamily="34" charset="0"/>
              </a:defRPr>
            </a:lvl1pPr>
            <a:lvl2pPr defTabSz="101917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101917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101917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101917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10191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10191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10191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10191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lvl="1" algn="ctr" eaLnBrk="1" hangingPunct="1">
              <a:lnSpc>
                <a:spcPct val="110000"/>
              </a:lnSpc>
              <a:spcBef>
                <a:spcPts val="94"/>
              </a:spcBef>
              <a:buClr>
                <a:srgbClr val="7397BC"/>
              </a:buClr>
              <a:buSzPct val="92000"/>
              <a:buNone/>
              <a:defRPr/>
            </a:pPr>
            <a:r>
              <a:rPr lang="en-US" altLang="zh-CN" sz="1100" b="1" dirty="0">
                <a:solidFill>
                  <a:schemeClr val="bg1"/>
                </a:solidFill>
                <a:latin typeface="+mj-lt"/>
                <a:ea typeface="+mj-ea"/>
                <a:cs typeface="Times New Roman" panose="02020603050405020304" pitchFamily="18" charset="0"/>
              </a:rPr>
              <a:t>DBS to bring in investors through our comprehensive network, which is the key to success of HK listing</a:t>
            </a:r>
            <a:endParaRPr lang="zh-CN" altLang="en-US" sz="1100" b="1" dirty="0">
              <a:solidFill>
                <a:schemeClr val="bg1"/>
              </a:solidFill>
              <a:latin typeface="+mj-lt"/>
              <a:ea typeface="+mj-ea"/>
              <a:cs typeface="Times New Roman" panose="02020603050405020304" pitchFamily="18" charset="0"/>
            </a:endParaRPr>
          </a:p>
        </p:txBody>
      </p:sp>
      <p:sp>
        <p:nvSpPr>
          <p:cNvPr id="56" name="Rectangle 29">
            <a:extLst>
              <a:ext uri="{FF2B5EF4-FFF2-40B4-BE49-F238E27FC236}">
                <a16:creationId xmlns:a16="http://schemas.microsoft.com/office/drawing/2014/main" id="{91F68B44-EEEC-33E5-FF88-375147B27347}"/>
              </a:ext>
            </a:extLst>
          </p:cNvPr>
          <p:cNvSpPr>
            <a:spLocks noChangeArrowheads="1"/>
          </p:cNvSpPr>
          <p:nvPr>
            <p:custDataLst>
              <p:tags r:id="rId1"/>
            </p:custDataLst>
          </p:nvPr>
        </p:nvSpPr>
        <p:spPr bwMode="gray">
          <a:xfrm>
            <a:off x="2366910" y="3797661"/>
            <a:ext cx="1019807" cy="1628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sm"/>
                <a:tailEnd type="none" w="sm" len="sm"/>
              </a14:hiddenLine>
            </a:ext>
          </a:extLst>
        </p:spPr>
        <p:txBody>
          <a:bodyPr wrap="square" lIns="36576" tIns="36576" rIns="36576" bIns="36576">
            <a:spAutoFit/>
          </a:bodyPr>
          <a:lstStyle>
            <a:lvl1pPr marL="342900" indent="-342900" defTabSz="995363">
              <a:spcBef>
                <a:spcPct val="20000"/>
              </a:spcBef>
              <a:buFont typeface="Arial" panose="020B0604020202020204" pitchFamily="34" charset="0"/>
              <a:buChar char="•"/>
              <a:defRPr sz="3200">
                <a:solidFill>
                  <a:schemeClr val="tx1"/>
                </a:solidFill>
                <a:latin typeface="Calibri" panose="020F0502020204030204" pitchFamily="34" charset="0"/>
              </a:defRPr>
            </a:lvl1pPr>
            <a:lvl2pPr marL="149225" indent="-147638" defTabSz="995363">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95363">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lgn="l" eaLnBrk="1" hangingPunct="1">
              <a:lnSpc>
                <a:spcPct val="110000"/>
              </a:lnSpc>
              <a:spcBef>
                <a:spcPts val="283"/>
              </a:spcBef>
              <a:buClr>
                <a:srgbClr val="C00000"/>
              </a:buClr>
              <a:buSzPct val="92000"/>
              <a:buFont typeface="Wingdings" panose="05000000000000000000" pitchFamily="2" charset="2"/>
              <a:buChar char="§"/>
              <a:defRPr/>
            </a:pPr>
            <a:r>
              <a:rPr lang="en-US" altLang="zh-CN" sz="900" b="0">
                <a:latin typeface="+mj-lt"/>
                <a:ea typeface="+mj-ea"/>
                <a:cs typeface="DFKaiShu-GB5" panose="03000509000000000000" pitchFamily="65" charset="-128"/>
              </a:rPr>
              <a:t>Discussion on analyst research report</a:t>
            </a:r>
          </a:p>
          <a:p>
            <a:pPr lvl="1" algn="l" eaLnBrk="1" hangingPunct="1">
              <a:lnSpc>
                <a:spcPct val="110000"/>
              </a:lnSpc>
              <a:spcBef>
                <a:spcPts val="283"/>
              </a:spcBef>
              <a:buClr>
                <a:srgbClr val="C00000"/>
              </a:buClr>
              <a:buSzPct val="92000"/>
              <a:buFont typeface="Wingdings" panose="05000000000000000000" pitchFamily="2" charset="2"/>
              <a:buChar char="§"/>
              <a:defRPr/>
            </a:pPr>
            <a:r>
              <a:rPr lang="en-US" altLang="zh-CN" sz="900">
                <a:latin typeface="+mj-lt"/>
                <a:ea typeface="+mj-ea"/>
                <a:cs typeface="DFKaiShu-GB5" panose="03000509000000000000" pitchFamily="65" charset="-128"/>
              </a:rPr>
              <a:t>Provide guidance to analysts through Analyst Presentation and internal meetings</a:t>
            </a:r>
            <a:endParaRPr lang="en-US" altLang="zh-CN" sz="900" b="0">
              <a:latin typeface="+mj-lt"/>
              <a:ea typeface="+mj-ea"/>
              <a:cs typeface="DFKaiShu-GB5" panose="03000509000000000000" pitchFamily="65" charset="-128"/>
            </a:endParaRPr>
          </a:p>
        </p:txBody>
      </p:sp>
      <p:sp>
        <p:nvSpPr>
          <p:cNvPr id="57" name="Rectangle 33">
            <a:extLst>
              <a:ext uri="{FF2B5EF4-FFF2-40B4-BE49-F238E27FC236}">
                <a16:creationId xmlns:a16="http://schemas.microsoft.com/office/drawing/2014/main" id="{C036DBA5-4AF7-DCA6-4082-A7A251DB7A27}"/>
              </a:ext>
            </a:extLst>
          </p:cNvPr>
          <p:cNvSpPr>
            <a:spLocks noChangeArrowheads="1"/>
          </p:cNvSpPr>
          <p:nvPr>
            <p:custDataLst>
              <p:tags r:id="rId2"/>
            </p:custDataLst>
          </p:nvPr>
        </p:nvSpPr>
        <p:spPr bwMode="gray">
          <a:xfrm>
            <a:off x="3521359" y="3637645"/>
            <a:ext cx="1103930" cy="238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type="none" w="sm" len="sm"/>
                <a:tailEnd type="none" w="sm" len="sm"/>
              </a14:hiddenLine>
            </a:ext>
          </a:extLst>
        </p:spPr>
        <p:txBody>
          <a:bodyPr wrap="square" lIns="36576" tIns="36576" rIns="36576" bIns="36576">
            <a:spAutoFit/>
          </a:bodyPr>
          <a:lstStyle>
            <a:lvl1pPr marL="342900" indent="-342900" defTabSz="995363">
              <a:spcBef>
                <a:spcPct val="20000"/>
              </a:spcBef>
              <a:buFont typeface="Arial" panose="020B0604020202020204" pitchFamily="34" charset="0"/>
              <a:buChar char="•"/>
              <a:defRPr sz="3200">
                <a:solidFill>
                  <a:schemeClr val="tx1"/>
                </a:solidFill>
                <a:latin typeface="Calibri" panose="020F0502020204030204" pitchFamily="34" charset="0"/>
              </a:defRPr>
            </a:lvl1pPr>
            <a:lvl2pPr marL="149225" indent="-147638" defTabSz="995363">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95363">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lnSpc>
                <a:spcPct val="110000"/>
              </a:lnSpc>
              <a:spcBef>
                <a:spcPts val="283"/>
              </a:spcBef>
              <a:buClr>
                <a:srgbClr val="C00000"/>
              </a:buClr>
              <a:buSzPct val="92000"/>
              <a:buFont typeface="Wingdings" panose="05000000000000000000" pitchFamily="2" charset="2"/>
              <a:buChar char="§"/>
              <a:defRPr/>
            </a:pPr>
            <a:r>
              <a:rPr lang="en-US" altLang="zh-CN" sz="900" b="0" dirty="0">
                <a:latin typeface="+mj-lt"/>
                <a:ea typeface="+mj-ea"/>
                <a:cs typeface="DFKaiShu-GB5" panose="03000509000000000000" pitchFamily="65" charset="-128"/>
              </a:rPr>
              <a:t>Company’s management will</a:t>
            </a:r>
            <a:r>
              <a:rPr lang="en-US" altLang="zh-CN" sz="900" dirty="0">
                <a:latin typeface="+mj-lt"/>
                <a:ea typeface="+mj-ea"/>
                <a:cs typeface="DFKaiShu-GB5" panose="03000509000000000000" pitchFamily="65" charset="-128"/>
              </a:rPr>
              <a:t> be trained to prepare for potential questions likely to be asked by investors during the roadshow </a:t>
            </a:r>
          </a:p>
          <a:p>
            <a:pPr lvl="1" eaLnBrk="1" hangingPunct="1">
              <a:lnSpc>
                <a:spcPct val="110000"/>
              </a:lnSpc>
              <a:spcBef>
                <a:spcPts val="283"/>
              </a:spcBef>
              <a:buClr>
                <a:srgbClr val="C00000"/>
              </a:buClr>
              <a:buSzPct val="92000"/>
              <a:buFont typeface="Wingdings" panose="05000000000000000000" pitchFamily="2" charset="2"/>
              <a:buChar char="§"/>
              <a:defRPr/>
            </a:pPr>
            <a:r>
              <a:rPr lang="en-US" altLang="zh-CN" sz="900" b="0" dirty="0">
                <a:latin typeface="+mj-lt"/>
                <a:ea typeface="+mj-ea"/>
                <a:cs typeface="DFKaiShu-GB5" panose="03000509000000000000" pitchFamily="65" charset="-128"/>
              </a:rPr>
              <a:t>Management to provide feedback and opinions on</a:t>
            </a:r>
            <a:r>
              <a:rPr lang="en-US" altLang="zh-CN" sz="900" dirty="0">
                <a:latin typeface="+mj-lt"/>
                <a:ea typeface="+mj-ea"/>
                <a:cs typeface="DFKaiShu-GB5" panose="03000509000000000000" pitchFamily="65" charset="-128"/>
              </a:rPr>
              <a:t> </a:t>
            </a:r>
            <a:r>
              <a:rPr lang="en-US" altLang="zh-CN" sz="900" b="0" dirty="0">
                <a:latin typeface="+mj-lt"/>
                <a:ea typeface="+mj-ea"/>
                <a:cs typeface="DFKaiShu-GB5" panose="03000509000000000000" pitchFamily="65" charset="-128"/>
              </a:rPr>
              <a:t>the roadshow schedule</a:t>
            </a:r>
          </a:p>
        </p:txBody>
      </p:sp>
      <p:sp>
        <p:nvSpPr>
          <p:cNvPr id="58" name="Rectangle 28">
            <a:extLst>
              <a:ext uri="{FF2B5EF4-FFF2-40B4-BE49-F238E27FC236}">
                <a16:creationId xmlns:a16="http://schemas.microsoft.com/office/drawing/2014/main" id="{7546FC53-E5AA-25A8-557A-50209F615C1E}"/>
              </a:ext>
            </a:extLst>
          </p:cNvPr>
          <p:cNvSpPr>
            <a:spLocks noChangeArrowheads="1"/>
          </p:cNvSpPr>
          <p:nvPr>
            <p:custDataLst>
              <p:tags r:id="rId3"/>
            </p:custDataLst>
          </p:nvPr>
        </p:nvSpPr>
        <p:spPr bwMode="gray">
          <a:xfrm>
            <a:off x="4643593" y="3399468"/>
            <a:ext cx="1193958" cy="2615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type="none" w="sm" len="sm"/>
                <a:tailEnd type="none" w="sm" len="sm"/>
              </a14:hiddenLine>
            </a:ext>
          </a:extLst>
        </p:spPr>
        <p:txBody>
          <a:bodyPr wrap="square" lIns="36576" tIns="36576" rIns="36576" bIns="36576">
            <a:spAutoFit/>
          </a:bodyPr>
          <a:lstStyle>
            <a:lvl1pPr marL="342900" indent="-342900" defTabSz="995363">
              <a:spcBef>
                <a:spcPct val="20000"/>
              </a:spcBef>
              <a:buFont typeface="Arial" panose="020B0604020202020204" pitchFamily="34" charset="0"/>
              <a:buChar char="•"/>
              <a:defRPr sz="3200">
                <a:solidFill>
                  <a:schemeClr val="tx1"/>
                </a:solidFill>
                <a:latin typeface="Calibri" panose="020F0502020204030204" pitchFamily="34" charset="0"/>
              </a:defRPr>
            </a:lvl1pPr>
            <a:lvl2pPr marL="149225" indent="-147638" defTabSz="995363">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95363">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lnSpc>
                <a:spcPct val="110000"/>
              </a:lnSpc>
              <a:spcBef>
                <a:spcPts val="283"/>
              </a:spcBef>
              <a:buClr>
                <a:srgbClr val="C00000"/>
              </a:buClr>
              <a:buSzPct val="92000"/>
              <a:buFont typeface="Wingdings" panose="05000000000000000000" pitchFamily="2" charset="2"/>
              <a:buChar char="§"/>
              <a:defRPr/>
            </a:pPr>
            <a:r>
              <a:rPr lang="en-US" altLang="zh-CN" sz="900" dirty="0">
                <a:latin typeface="+mj-lt"/>
                <a:ea typeface="+mj-ea"/>
                <a:cs typeface="DFKaiShu-GB5" panose="03000509000000000000" pitchFamily="65" charset="-128"/>
              </a:rPr>
              <a:t>Mobilize global distribution channel to dispense company story</a:t>
            </a:r>
          </a:p>
          <a:p>
            <a:pPr lvl="1">
              <a:lnSpc>
                <a:spcPct val="110000"/>
              </a:lnSpc>
              <a:spcBef>
                <a:spcPts val="283"/>
              </a:spcBef>
              <a:buClr>
                <a:srgbClr val="C00000"/>
              </a:buClr>
              <a:buSzPct val="92000"/>
              <a:buFont typeface="Wingdings" panose="05000000000000000000" pitchFamily="2" charset="2"/>
              <a:buChar char="§"/>
              <a:defRPr/>
            </a:pPr>
            <a:r>
              <a:rPr lang="en-US" altLang="zh-CN" sz="900" b="0" dirty="0">
                <a:latin typeface="+mj-lt"/>
                <a:ea typeface="+mj-ea"/>
                <a:cs typeface="DFKaiShu-GB5" panose="03000509000000000000" pitchFamily="65" charset="-128"/>
              </a:rPr>
              <a:t>Consolidate queries from al potential investors and </a:t>
            </a:r>
            <a:r>
              <a:rPr lang="en-US" altLang="zh-CN" sz="900" dirty="0">
                <a:latin typeface="+mj-lt"/>
                <a:ea typeface="+mj-ea"/>
                <a:cs typeface="DFKaiShu-GB5" panose="03000509000000000000" pitchFamily="65" charset="-128"/>
              </a:rPr>
              <a:t>timely communicate </a:t>
            </a:r>
            <a:r>
              <a:rPr lang="en-US" altLang="zh-CN" sz="900" b="0" dirty="0">
                <a:latin typeface="+mj-lt"/>
                <a:ea typeface="+mj-ea"/>
                <a:cs typeface="DFKaiShu-GB5" panose="03000509000000000000" pitchFamily="65" charset="-128"/>
              </a:rPr>
              <a:t>with management</a:t>
            </a:r>
            <a:endParaRPr lang="en-US" altLang="zh-CN" sz="900" dirty="0">
              <a:latin typeface="+mj-lt"/>
              <a:ea typeface="+mj-ea"/>
              <a:cs typeface="DFKaiShu-GB5" panose="03000509000000000000" pitchFamily="65" charset="-128"/>
            </a:endParaRPr>
          </a:p>
          <a:p>
            <a:pPr lvl="1">
              <a:lnSpc>
                <a:spcPct val="110000"/>
              </a:lnSpc>
              <a:spcBef>
                <a:spcPts val="283"/>
              </a:spcBef>
              <a:buClr>
                <a:srgbClr val="C00000"/>
              </a:buClr>
              <a:buSzPct val="92000"/>
              <a:buFont typeface="Wingdings" panose="05000000000000000000" pitchFamily="2" charset="2"/>
              <a:buChar char="§"/>
              <a:defRPr/>
            </a:pPr>
            <a:r>
              <a:rPr lang="en-US" altLang="zh-CN" sz="900" b="0" dirty="0">
                <a:latin typeface="+mj-lt"/>
                <a:ea typeface="+mj-ea"/>
                <a:cs typeface="DFKaiShu-GB5" panose="03000509000000000000" pitchFamily="65" charset="-128"/>
              </a:rPr>
              <a:t>Identify main target investor group</a:t>
            </a:r>
            <a:endParaRPr lang="en-US" altLang="zh-CN" sz="900" dirty="0">
              <a:latin typeface="+mj-lt"/>
              <a:ea typeface="+mj-ea"/>
              <a:cs typeface="DFKaiShu-GB5" panose="03000509000000000000" pitchFamily="65" charset="-128"/>
            </a:endParaRPr>
          </a:p>
          <a:p>
            <a:pPr lvl="1">
              <a:lnSpc>
                <a:spcPct val="110000"/>
              </a:lnSpc>
              <a:spcBef>
                <a:spcPts val="283"/>
              </a:spcBef>
              <a:buClr>
                <a:srgbClr val="C00000"/>
              </a:buClr>
              <a:buSzPct val="92000"/>
              <a:buFont typeface="Wingdings" panose="05000000000000000000" pitchFamily="2" charset="2"/>
              <a:buChar char="§"/>
              <a:defRPr/>
            </a:pPr>
            <a:r>
              <a:rPr lang="en-US" altLang="zh-CN" sz="900" b="0" dirty="0">
                <a:latin typeface="+mj-lt"/>
                <a:ea typeface="+mj-ea"/>
                <a:cs typeface="DFKaiShu-GB5" panose="03000509000000000000" pitchFamily="65" charset="-128"/>
              </a:rPr>
              <a:t>Identify best practical</a:t>
            </a:r>
            <a:r>
              <a:rPr lang="en-US" altLang="zh-CN" sz="900" dirty="0">
                <a:latin typeface="+mj-lt"/>
                <a:ea typeface="+mj-ea"/>
                <a:cs typeface="DFKaiShu-GB5" panose="03000509000000000000" pitchFamily="65" charset="-128"/>
              </a:rPr>
              <a:t> price range for IPO</a:t>
            </a:r>
            <a:endParaRPr lang="zh-CN" altLang="en-US" sz="900" b="0" dirty="0">
              <a:latin typeface="+mj-lt"/>
              <a:ea typeface="+mj-ea"/>
              <a:cs typeface="DFKaiShu-GB5" panose="03000509000000000000" pitchFamily="65" charset="-128"/>
            </a:endParaRPr>
          </a:p>
        </p:txBody>
      </p:sp>
      <p:sp>
        <p:nvSpPr>
          <p:cNvPr id="59" name="Rectangle 29">
            <a:extLst>
              <a:ext uri="{FF2B5EF4-FFF2-40B4-BE49-F238E27FC236}">
                <a16:creationId xmlns:a16="http://schemas.microsoft.com/office/drawing/2014/main" id="{40578B31-8D99-18EB-C1C4-DB46DB1B1A5B}"/>
              </a:ext>
            </a:extLst>
          </p:cNvPr>
          <p:cNvSpPr>
            <a:spLocks noChangeArrowheads="1"/>
          </p:cNvSpPr>
          <p:nvPr>
            <p:custDataLst>
              <p:tags r:id="rId4"/>
            </p:custDataLst>
          </p:nvPr>
        </p:nvSpPr>
        <p:spPr bwMode="gray">
          <a:xfrm>
            <a:off x="5787294" y="3229889"/>
            <a:ext cx="1048547" cy="2084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sm"/>
                <a:tailEnd type="none" w="sm" len="sm"/>
              </a14:hiddenLine>
            </a:ext>
          </a:extLst>
        </p:spPr>
        <p:txBody>
          <a:bodyPr wrap="square" lIns="36576" tIns="36576" rIns="36576" bIns="36576">
            <a:spAutoFit/>
          </a:bodyPr>
          <a:lstStyle>
            <a:lvl1pPr marL="342900" indent="-342900" defTabSz="995363">
              <a:spcBef>
                <a:spcPct val="20000"/>
              </a:spcBef>
              <a:buFont typeface="Arial" panose="020B0604020202020204" pitchFamily="34" charset="0"/>
              <a:buChar char="•"/>
              <a:defRPr sz="3200">
                <a:solidFill>
                  <a:schemeClr val="tx1"/>
                </a:solidFill>
                <a:latin typeface="Calibri" panose="020F0502020204030204" pitchFamily="34" charset="0"/>
              </a:defRPr>
            </a:lvl1pPr>
            <a:lvl2pPr marL="149225" indent="-147638" defTabSz="995363">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95363">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lnSpc>
                <a:spcPct val="110000"/>
              </a:lnSpc>
              <a:spcBef>
                <a:spcPts val="283"/>
              </a:spcBef>
              <a:buClr>
                <a:srgbClr val="C00000"/>
              </a:buClr>
              <a:buSzPct val="92000"/>
              <a:buFont typeface="Wingdings" panose="05000000000000000000" pitchFamily="2" charset="2"/>
              <a:buChar char="§"/>
              <a:defRPr/>
            </a:pPr>
            <a:r>
              <a:rPr lang="en-US" altLang="zh-CN" sz="900" b="0" dirty="0">
                <a:latin typeface="+mj-lt"/>
                <a:ea typeface="+mj-ea"/>
                <a:cs typeface="DFKaiShu-GB5" panose="03000509000000000000" pitchFamily="65" charset="-128"/>
              </a:rPr>
              <a:t>Research</a:t>
            </a:r>
            <a:r>
              <a:rPr lang="en-US" altLang="zh-CN" sz="900" dirty="0">
                <a:latin typeface="+mj-lt"/>
                <a:ea typeface="+mj-ea"/>
                <a:cs typeface="DFKaiShu-GB5" panose="03000509000000000000" pitchFamily="65" charset="-128"/>
              </a:rPr>
              <a:t> </a:t>
            </a:r>
            <a:r>
              <a:rPr lang="en-US" altLang="zh-CN" sz="900" b="0" dirty="0">
                <a:latin typeface="+mj-lt"/>
                <a:ea typeface="+mj-ea"/>
                <a:cs typeface="DFKaiShu-GB5" panose="03000509000000000000" pitchFamily="65" charset="-128"/>
              </a:rPr>
              <a:t>analyst to </a:t>
            </a:r>
            <a:r>
              <a:rPr lang="en-US" altLang="zh-CN" sz="900" dirty="0">
                <a:latin typeface="Arial" panose="020B0604020202020204" pitchFamily="34" charset="0"/>
              </a:rPr>
              <a:t>convey their independent view on the company</a:t>
            </a:r>
            <a:endParaRPr lang="en-US" altLang="zh-CN" sz="900" b="0" dirty="0">
              <a:latin typeface="+mj-lt"/>
              <a:ea typeface="+mj-ea"/>
              <a:cs typeface="DFKaiShu-GB5" panose="03000509000000000000" pitchFamily="65" charset="-128"/>
            </a:endParaRPr>
          </a:p>
          <a:p>
            <a:pPr lvl="1">
              <a:lnSpc>
                <a:spcPct val="110000"/>
              </a:lnSpc>
              <a:spcBef>
                <a:spcPts val="283"/>
              </a:spcBef>
              <a:buClr>
                <a:srgbClr val="C00000"/>
              </a:buClr>
              <a:buSzPct val="92000"/>
              <a:buFont typeface="Wingdings" panose="05000000000000000000" pitchFamily="2" charset="2"/>
              <a:buChar char="§"/>
              <a:defRPr/>
            </a:pPr>
            <a:r>
              <a:rPr lang="en-US" altLang="zh-CN" sz="900" dirty="0">
                <a:latin typeface="Arial" panose="020B0604020202020204" pitchFamily="34" charset="0"/>
              </a:rPr>
              <a:t>Analyst to educate investors on overview and forecasts of company and industry</a:t>
            </a:r>
            <a:endParaRPr lang="en-US" altLang="zh-CN" sz="900" b="0" dirty="0">
              <a:latin typeface="+mj-lt"/>
              <a:ea typeface="+mj-ea"/>
              <a:cs typeface="DFKaiShu-GB5" panose="03000509000000000000" pitchFamily="65" charset="-128"/>
            </a:endParaRPr>
          </a:p>
        </p:txBody>
      </p:sp>
      <p:sp>
        <p:nvSpPr>
          <p:cNvPr id="60" name="Rectangle 27">
            <a:extLst>
              <a:ext uri="{FF2B5EF4-FFF2-40B4-BE49-F238E27FC236}">
                <a16:creationId xmlns:a16="http://schemas.microsoft.com/office/drawing/2014/main" id="{58B4B639-1A20-55C9-B3F7-49D42F6981B6}"/>
              </a:ext>
            </a:extLst>
          </p:cNvPr>
          <p:cNvSpPr>
            <a:spLocks noChangeArrowheads="1"/>
          </p:cNvSpPr>
          <p:nvPr>
            <p:custDataLst>
              <p:tags r:id="rId5"/>
            </p:custDataLst>
          </p:nvPr>
        </p:nvSpPr>
        <p:spPr bwMode="gray">
          <a:xfrm>
            <a:off x="6917101" y="3022848"/>
            <a:ext cx="1126488" cy="3147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type="none" w="sm" len="sm"/>
                <a:tailEnd type="none" w="sm" len="sm"/>
              </a14:hiddenLine>
            </a:ext>
          </a:extLst>
        </p:spPr>
        <p:txBody>
          <a:bodyPr wrap="square" lIns="36576" tIns="36576" rIns="36576" bIns="36576">
            <a:spAutoFit/>
          </a:bodyPr>
          <a:lstStyle>
            <a:lvl1pPr marL="342900" indent="-342900" defTabSz="995363">
              <a:spcBef>
                <a:spcPct val="20000"/>
              </a:spcBef>
              <a:buFont typeface="Arial" panose="020B0604020202020204" pitchFamily="34" charset="0"/>
              <a:buChar char="•"/>
              <a:defRPr sz="3200">
                <a:solidFill>
                  <a:schemeClr val="tx1"/>
                </a:solidFill>
                <a:latin typeface="Calibri" panose="020F0502020204030204" pitchFamily="34" charset="0"/>
              </a:defRPr>
            </a:lvl1pPr>
            <a:lvl2pPr marL="149225" indent="-147638" defTabSz="995363">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95363">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lnSpc>
                <a:spcPct val="110000"/>
              </a:lnSpc>
              <a:spcBef>
                <a:spcPts val="283"/>
              </a:spcBef>
              <a:buClr>
                <a:srgbClr val="C00000"/>
              </a:buClr>
              <a:buSzPct val="92000"/>
              <a:buFont typeface="Wingdings" panose="05000000000000000000" pitchFamily="2" charset="2"/>
              <a:buChar char="§"/>
              <a:defRPr/>
            </a:pPr>
            <a:r>
              <a:rPr lang="en-US" altLang="zh-CN" sz="900" b="0" dirty="0">
                <a:latin typeface="+mj-lt"/>
                <a:ea typeface="+mj-ea"/>
                <a:cs typeface="DFKaiShu-GB5" panose="03000509000000000000" pitchFamily="65" charset="-128"/>
              </a:rPr>
              <a:t>Utilize all resources, such as research analysts, sales team, investment bankers and other specialists,  to </a:t>
            </a:r>
            <a:r>
              <a:rPr lang="en-US" altLang="zh-CN" sz="900" dirty="0">
                <a:latin typeface="+mj-lt"/>
                <a:ea typeface="+mj-ea"/>
                <a:cs typeface="DFKaiShu-GB5" panose="03000509000000000000" pitchFamily="65" charset="-128"/>
              </a:rPr>
              <a:t>help management prepare for roadshow</a:t>
            </a:r>
            <a:endParaRPr lang="en-US" altLang="zh-CN" sz="900" b="0" dirty="0">
              <a:latin typeface="+mj-lt"/>
              <a:ea typeface="+mj-ea"/>
              <a:cs typeface="DFKaiShu-GB5" panose="03000509000000000000" pitchFamily="65" charset="-128"/>
            </a:endParaRPr>
          </a:p>
          <a:p>
            <a:pPr lvl="1" eaLnBrk="1" hangingPunct="1">
              <a:lnSpc>
                <a:spcPct val="110000"/>
              </a:lnSpc>
              <a:spcBef>
                <a:spcPts val="283"/>
              </a:spcBef>
              <a:buClr>
                <a:srgbClr val="C00000"/>
              </a:buClr>
              <a:buSzPct val="92000"/>
              <a:buFont typeface="Wingdings" panose="05000000000000000000" pitchFamily="2" charset="2"/>
              <a:buChar char="§"/>
              <a:defRPr/>
            </a:pPr>
            <a:r>
              <a:rPr lang="en-US" altLang="zh-CN" sz="900" dirty="0">
                <a:latin typeface="+mj-lt"/>
                <a:ea typeface="+mj-ea"/>
                <a:cs typeface="DFKaiShu-GB5" panose="03000509000000000000" pitchFamily="65" charset="-128"/>
              </a:rPr>
              <a:t>Management roadshow is carried to convert initial interest generated at the PDIE into actual demand (</a:t>
            </a:r>
            <a:r>
              <a:rPr lang="en-US" altLang="zh-CN" sz="900" b="0" dirty="0">
                <a:latin typeface="+mj-lt"/>
                <a:ea typeface="+mj-ea"/>
                <a:cs typeface="DFKaiShu-GB5" panose="03000509000000000000" pitchFamily="65" charset="-128"/>
              </a:rPr>
              <a:t>book-building)</a:t>
            </a:r>
            <a:endParaRPr lang="zh-CN" altLang="en-US" sz="900" b="0" dirty="0">
              <a:latin typeface="+mj-lt"/>
              <a:ea typeface="+mj-ea"/>
              <a:cs typeface="DFKaiShu-GB5" panose="03000509000000000000" pitchFamily="65" charset="-128"/>
            </a:endParaRPr>
          </a:p>
        </p:txBody>
      </p:sp>
      <p:sp>
        <p:nvSpPr>
          <p:cNvPr id="61" name="Rectangle 30">
            <a:extLst>
              <a:ext uri="{FF2B5EF4-FFF2-40B4-BE49-F238E27FC236}">
                <a16:creationId xmlns:a16="http://schemas.microsoft.com/office/drawing/2014/main" id="{C92BCFE1-4C06-43E4-1639-E88999C02686}"/>
              </a:ext>
            </a:extLst>
          </p:cNvPr>
          <p:cNvSpPr>
            <a:spLocks noChangeArrowheads="1"/>
          </p:cNvSpPr>
          <p:nvPr>
            <p:custDataLst>
              <p:tags r:id="rId6"/>
            </p:custDataLst>
          </p:nvPr>
        </p:nvSpPr>
        <p:spPr bwMode="gray">
          <a:xfrm>
            <a:off x="8032914" y="2757670"/>
            <a:ext cx="1007516" cy="177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type="none" w="sm" len="sm"/>
                <a:tailEnd type="none" w="sm" len="sm"/>
              </a14:hiddenLine>
            </a:ext>
          </a:extLst>
        </p:spPr>
        <p:txBody>
          <a:bodyPr wrap="square" lIns="36576" tIns="36576" rIns="36576" bIns="36576">
            <a:spAutoFit/>
          </a:bodyPr>
          <a:lstStyle>
            <a:lvl1pPr marL="342900" indent="-342900" defTabSz="995363">
              <a:spcBef>
                <a:spcPct val="20000"/>
              </a:spcBef>
              <a:buFont typeface="Arial" panose="020B0604020202020204" pitchFamily="34" charset="0"/>
              <a:buChar char="•"/>
              <a:defRPr sz="3200">
                <a:solidFill>
                  <a:schemeClr val="tx1"/>
                </a:solidFill>
                <a:latin typeface="Calibri" panose="020F0502020204030204" pitchFamily="34" charset="0"/>
              </a:defRPr>
            </a:lvl1pPr>
            <a:lvl2pPr marL="149225" indent="-147638" defTabSz="995363">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95363">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lnSpc>
                <a:spcPct val="110000"/>
              </a:lnSpc>
              <a:spcBef>
                <a:spcPts val="283"/>
              </a:spcBef>
              <a:buClr>
                <a:srgbClr val="C00000"/>
              </a:buClr>
              <a:buSzPct val="92000"/>
              <a:buFont typeface="Wingdings" panose="05000000000000000000" pitchFamily="2" charset="2"/>
              <a:buChar char="§"/>
              <a:defRPr/>
            </a:pPr>
            <a:r>
              <a:rPr lang="en-US" altLang="zh-CN" sz="900" dirty="0">
                <a:latin typeface="+mj-lt"/>
                <a:ea typeface="+mj-ea"/>
                <a:cs typeface="DFKaiShu-GB5" panose="03000509000000000000" pitchFamily="65" charset="-128"/>
              </a:rPr>
              <a:t>Optimize company equity value</a:t>
            </a:r>
          </a:p>
          <a:p>
            <a:pPr lvl="1">
              <a:lnSpc>
                <a:spcPct val="110000"/>
              </a:lnSpc>
              <a:spcBef>
                <a:spcPts val="283"/>
              </a:spcBef>
              <a:buClr>
                <a:srgbClr val="C00000"/>
              </a:buClr>
              <a:buSzPct val="92000"/>
              <a:buFont typeface="Wingdings" panose="05000000000000000000" pitchFamily="2" charset="2"/>
              <a:buChar char="§"/>
              <a:defRPr/>
            </a:pPr>
            <a:r>
              <a:rPr lang="en-US" altLang="zh-CN" sz="900" dirty="0">
                <a:latin typeface="+mj-lt"/>
                <a:ea typeface="+mj-ea"/>
                <a:cs typeface="DFKaiShu-GB5" panose="03000509000000000000" pitchFamily="65" charset="-128"/>
              </a:rPr>
              <a:t>Bring in long-term investors with strong interests to improve post listing performance</a:t>
            </a:r>
          </a:p>
        </p:txBody>
      </p:sp>
      <p:sp>
        <p:nvSpPr>
          <p:cNvPr id="62" name="Arrow: Up 61">
            <a:extLst>
              <a:ext uri="{FF2B5EF4-FFF2-40B4-BE49-F238E27FC236}">
                <a16:creationId xmlns:a16="http://schemas.microsoft.com/office/drawing/2014/main" id="{85A4F74F-253B-7EC0-492E-3195792927C2}"/>
              </a:ext>
            </a:extLst>
          </p:cNvPr>
          <p:cNvSpPr/>
          <p:nvPr/>
        </p:nvSpPr>
        <p:spPr>
          <a:xfrm rot="4757144">
            <a:off x="4804087" y="-344728"/>
            <a:ext cx="349105" cy="5055826"/>
          </a:xfrm>
          <a:prstGeom prst="upArrow">
            <a:avLst/>
          </a:prstGeom>
          <a:gradFill>
            <a:gsLst>
              <a:gs pos="0">
                <a:schemeClr val="tx1">
                  <a:lumMod val="75000"/>
                  <a:lumOff val="25000"/>
                </a:schemeClr>
              </a:gs>
              <a:gs pos="50000">
                <a:schemeClr val="accent1">
                  <a:shade val="67500"/>
                  <a:satMod val="115000"/>
                </a:schemeClr>
              </a:gs>
              <a:gs pos="96000">
                <a:schemeClr val="accent1">
                  <a:shade val="100000"/>
                  <a:satMod val="11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Picture 4" descr="hkexlogo">
            <a:extLst>
              <a:ext uri="{FF2B5EF4-FFF2-40B4-BE49-F238E27FC236}">
                <a16:creationId xmlns:a16="http://schemas.microsoft.com/office/drawing/2014/main" id="{E2E4A54C-7EDC-5B19-AA56-E46E61E35EF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08466" y="1409042"/>
            <a:ext cx="935571" cy="436599"/>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3">
            <a:extLst>
              <a:ext uri="{FF2B5EF4-FFF2-40B4-BE49-F238E27FC236}">
                <a16:creationId xmlns:a16="http://schemas.microsoft.com/office/drawing/2014/main" id="{579662FD-C5CD-9238-C93F-7FE3DEFC0201}"/>
              </a:ext>
            </a:extLst>
          </p:cNvPr>
          <p:cNvPicPr>
            <a:picLocks noChangeAspect="1"/>
          </p:cNvPicPr>
          <p:nvPr/>
        </p:nvPicPr>
        <p:blipFill rotWithShape="1">
          <a:blip r:embed="rId10">
            <a:clrChange>
              <a:clrFrom>
                <a:srgbClr val="FFFFFF"/>
              </a:clrFrom>
              <a:clrTo>
                <a:srgbClr val="FFFFFF">
                  <a:alpha val="0"/>
                </a:srgbClr>
              </a:clrTo>
            </a:clrChange>
          </a:blip>
          <a:srcRect l="12729" t="14549" r="10899" b="13055"/>
          <a:stretch/>
        </p:blipFill>
        <p:spPr>
          <a:xfrm>
            <a:off x="1161288" y="2565980"/>
            <a:ext cx="922038" cy="476289"/>
          </a:xfrm>
          <a:prstGeom prst="rect">
            <a:avLst/>
          </a:prstGeom>
        </p:spPr>
      </p:pic>
      <p:sp>
        <p:nvSpPr>
          <p:cNvPr id="65" name="TextBox 64">
            <a:extLst>
              <a:ext uri="{FF2B5EF4-FFF2-40B4-BE49-F238E27FC236}">
                <a16:creationId xmlns:a16="http://schemas.microsoft.com/office/drawing/2014/main" id="{1CAA3D44-2B37-C158-7B44-EF36FF2B3F38}"/>
              </a:ext>
            </a:extLst>
          </p:cNvPr>
          <p:cNvSpPr txBox="1"/>
          <p:nvPr/>
        </p:nvSpPr>
        <p:spPr>
          <a:xfrm>
            <a:off x="717152" y="1398250"/>
            <a:ext cx="4032648" cy="338554"/>
          </a:xfrm>
          <a:prstGeom prst="rect">
            <a:avLst/>
          </a:prstGeom>
          <a:noFill/>
        </p:spPr>
        <p:txBody>
          <a:bodyPr wrap="square" lIns="0" tIns="0" rIns="0" bIns="0" rtlCol="0">
            <a:spAutoFit/>
          </a:bodyPr>
          <a:lstStyle/>
          <a:p>
            <a:pPr algn="ctr"/>
            <a:r>
              <a:rPr lang="en-US" altLang="zh-CN" sz="1100" b="1" dirty="0">
                <a:solidFill>
                  <a:schemeClr val="tx1"/>
                </a:solidFill>
                <a:ea typeface="DFKaiShu-GB5" panose="03000509000000000000" pitchFamily="65" charset="-128"/>
                <a:cs typeface="DFKaiShu-GB5" panose="03000509000000000000" pitchFamily="65" charset="-128"/>
              </a:rPr>
              <a:t>Pre and Post A1 application submission timeline (expected A1 filing by End of Jan 2027 and listing in Jun 2027):</a:t>
            </a:r>
            <a:endParaRPr lang="en-US" sz="1100" b="1" dirty="0">
              <a:solidFill>
                <a:schemeClr val="tx1"/>
              </a:solidFill>
              <a:ea typeface="DFKaiShu-GB5" panose="03000509000000000000" pitchFamily="65" charset="-128"/>
              <a:cs typeface="DFKaiShu-GB5" panose="03000509000000000000" pitchFamily="65" charset="-128"/>
            </a:endParaRPr>
          </a:p>
        </p:txBody>
      </p:sp>
      <p:sp>
        <p:nvSpPr>
          <p:cNvPr id="66" name="L-Shape 65">
            <a:extLst>
              <a:ext uri="{FF2B5EF4-FFF2-40B4-BE49-F238E27FC236}">
                <a16:creationId xmlns:a16="http://schemas.microsoft.com/office/drawing/2014/main" id="{1860823D-F9C7-3FE3-6320-56AF21021432}"/>
              </a:ext>
            </a:extLst>
          </p:cNvPr>
          <p:cNvSpPr/>
          <p:nvPr/>
        </p:nvSpPr>
        <p:spPr>
          <a:xfrm rot="5400000">
            <a:off x="1222849" y="3174798"/>
            <a:ext cx="722058" cy="855393"/>
          </a:xfrm>
          <a:prstGeom prst="corner">
            <a:avLst>
              <a:gd name="adj1" fmla="val 16120"/>
              <a:gd name="adj2" fmla="val 16110"/>
            </a:avLst>
          </a:prstGeom>
          <a:solidFill>
            <a:schemeClr val="tx1">
              <a:lumMod val="75000"/>
              <a:lumOff val="25000"/>
            </a:schemeClr>
          </a:solidFill>
          <a:ln>
            <a:solidFill>
              <a:schemeClr val="tx1">
                <a:lumMod val="75000"/>
                <a:lumOff val="25000"/>
              </a:schemeClr>
            </a:solidFill>
          </a:ln>
        </p:spPr>
        <p:style>
          <a:lnRef idx="2">
            <a:scrgbClr r="0" g="0" b="0"/>
          </a:lnRef>
          <a:fillRef idx="1">
            <a:scrgbClr r="0" g="0" b="0"/>
          </a:fillRef>
          <a:effectRef idx="0">
            <a:schemeClr val="accent1">
              <a:shade val="50000"/>
              <a:hueOff val="0"/>
              <a:satOff val="0"/>
              <a:lumOff val="0"/>
              <a:alphaOff val="0"/>
            </a:schemeClr>
          </a:effectRef>
          <a:fontRef idx="minor">
            <a:schemeClr val="lt1"/>
          </a:fontRef>
        </p:style>
        <p:txBody>
          <a:bodyPr/>
          <a:lstStyle/>
          <a:p>
            <a:endParaRPr lang="en-US"/>
          </a:p>
        </p:txBody>
      </p:sp>
      <p:sp>
        <p:nvSpPr>
          <p:cNvPr id="67" name="Isosceles Triangle 66">
            <a:extLst>
              <a:ext uri="{FF2B5EF4-FFF2-40B4-BE49-F238E27FC236}">
                <a16:creationId xmlns:a16="http://schemas.microsoft.com/office/drawing/2014/main" id="{2C6A55E6-A411-0ED9-275A-8257914C92C3}"/>
              </a:ext>
            </a:extLst>
          </p:cNvPr>
          <p:cNvSpPr/>
          <p:nvPr/>
        </p:nvSpPr>
        <p:spPr>
          <a:xfrm>
            <a:off x="2015289" y="3042902"/>
            <a:ext cx="204662" cy="204662"/>
          </a:xfrm>
          <a:prstGeom prst="triangle">
            <a:avLst>
              <a:gd name="adj" fmla="val 100000"/>
            </a:avLst>
          </a:prstGeom>
          <a:solidFill>
            <a:schemeClr val="tx1">
              <a:lumMod val="75000"/>
              <a:lumOff val="25000"/>
            </a:schemeClr>
          </a:solidFill>
          <a:ln>
            <a:solidFill>
              <a:schemeClr val="tx1">
                <a:lumMod val="75000"/>
                <a:lumOff val="25000"/>
              </a:schemeClr>
            </a:solidFill>
          </a:ln>
        </p:spPr>
        <p:style>
          <a:lnRef idx="2">
            <a:scrgbClr r="0" g="0" b="0"/>
          </a:lnRef>
          <a:fillRef idx="1">
            <a:scrgbClr r="0" g="0" b="0"/>
          </a:fillRef>
          <a:effectRef idx="0">
            <a:schemeClr val="accent1">
              <a:shade val="50000"/>
              <a:hueOff val="0"/>
              <a:satOff val="-10697"/>
              <a:lumOff val="9334"/>
              <a:alphaOff val="0"/>
            </a:schemeClr>
          </a:effectRef>
          <a:fontRef idx="minor">
            <a:schemeClr val="lt1"/>
          </a:fontRef>
        </p:style>
        <p:txBody>
          <a:bodyPr/>
          <a:lstStyle/>
          <a:p>
            <a:endParaRPr lang="en-US"/>
          </a:p>
        </p:txBody>
      </p:sp>
      <p:sp>
        <p:nvSpPr>
          <p:cNvPr id="68" name="Rectangle 29">
            <a:extLst>
              <a:ext uri="{FF2B5EF4-FFF2-40B4-BE49-F238E27FC236}">
                <a16:creationId xmlns:a16="http://schemas.microsoft.com/office/drawing/2014/main" id="{ADFB71EA-A005-3A7F-CF1A-090030C03A61}"/>
              </a:ext>
            </a:extLst>
          </p:cNvPr>
          <p:cNvSpPr>
            <a:spLocks noChangeArrowheads="1"/>
          </p:cNvSpPr>
          <p:nvPr>
            <p:custDataLst>
              <p:tags r:id="rId7"/>
            </p:custDataLst>
          </p:nvPr>
        </p:nvSpPr>
        <p:spPr bwMode="gray">
          <a:xfrm>
            <a:off x="1184296" y="3994698"/>
            <a:ext cx="1072053" cy="166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sm"/>
                <a:tailEnd type="none" w="sm" len="sm"/>
              </a14:hiddenLine>
            </a:ext>
          </a:extLst>
        </p:spPr>
        <p:txBody>
          <a:bodyPr wrap="square" lIns="36576" tIns="36576" rIns="36576" bIns="36576">
            <a:spAutoFit/>
          </a:bodyPr>
          <a:lstStyle>
            <a:lvl1pPr marL="342900" indent="-342900" defTabSz="995363">
              <a:spcBef>
                <a:spcPct val="20000"/>
              </a:spcBef>
              <a:buFont typeface="Arial" panose="020B0604020202020204" pitchFamily="34" charset="0"/>
              <a:buChar char="•"/>
              <a:defRPr sz="3200">
                <a:solidFill>
                  <a:schemeClr val="tx1"/>
                </a:solidFill>
                <a:latin typeface="Calibri" panose="020F0502020204030204" pitchFamily="34" charset="0"/>
              </a:defRPr>
            </a:lvl1pPr>
            <a:lvl2pPr marL="149225" indent="-147638" defTabSz="995363">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95363">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95363">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953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lgn="l" eaLnBrk="1" hangingPunct="1">
              <a:lnSpc>
                <a:spcPct val="110000"/>
              </a:lnSpc>
              <a:spcBef>
                <a:spcPts val="283"/>
              </a:spcBef>
              <a:buClr>
                <a:srgbClr val="C00000"/>
              </a:buClr>
              <a:buSzPct val="92000"/>
              <a:buFont typeface="Wingdings" panose="05000000000000000000" pitchFamily="2" charset="2"/>
              <a:buChar char="§"/>
              <a:defRPr/>
            </a:pPr>
            <a:r>
              <a:rPr lang="en-US" altLang="zh-CN" sz="900" b="0" dirty="0">
                <a:latin typeface="+mj-lt"/>
                <a:ea typeface="+mj-ea"/>
                <a:cs typeface="DFKaiShu-GB5" panose="03000509000000000000" pitchFamily="65" charset="-128"/>
              </a:rPr>
              <a:t>Initiate outreach to key potential investors</a:t>
            </a:r>
          </a:p>
          <a:p>
            <a:pPr lvl="1" algn="l" eaLnBrk="1" hangingPunct="1">
              <a:lnSpc>
                <a:spcPct val="110000"/>
              </a:lnSpc>
              <a:spcBef>
                <a:spcPts val="283"/>
              </a:spcBef>
              <a:buClr>
                <a:srgbClr val="C00000"/>
              </a:buClr>
              <a:buSzPct val="92000"/>
              <a:buFont typeface="Wingdings" panose="05000000000000000000" pitchFamily="2" charset="2"/>
              <a:buChar char="§"/>
              <a:defRPr/>
            </a:pPr>
            <a:r>
              <a:rPr lang="en-US" altLang="zh-CN" sz="900" dirty="0">
                <a:latin typeface="+mj-lt"/>
                <a:ea typeface="+mj-ea"/>
                <a:cs typeface="DFKaiShu-GB5" panose="03000509000000000000" pitchFamily="65" charset="-128"/>
              </a:rPr>
              <a:t>Execute NDA and commence info sharing and conversations</a:t>
            </a:r>
          </a:p>
          <a:p>
            <a:pPr lvl="1" algn="l" eaLnBrk="1" hangingPunct="1">
              <a:lnSpc>
                <a:spcPct val="110000"/>
              </a:lnSpc>
              <a:spcBef>
                <a:spcPts val="283"/>
              </a:spcBef>
              <a:buClr>
                <a:srgbClr val="C00000"/>
              </a:buClr>
              <a:buSzPct val="92000"/>
              <a:buFont typeface="Wingdings" panose="05000000000000000000" pitchFamily="2" charset="2"/>
              <a:buChar char="§"/>
              <a:defRPr/>
            </a:pPr>
            <a:r>
              <a:rPr lang="en-US" altLang="zh-CN" sz="900" b="0" dirty="0">
                <a:latin typeface="+mj-lt"/>
                <a:ea typeface="+mj-ea"/>
                <a:cs typeface="DFKaiShu-GB5" panose="03000509000000000000" pitchFamily="65" charset="-128"/>
              </a:rPr>
              <a:t>Water testing on preliminary interest level</a:t>
            </a:r>
          </a:p>
        </p:txBody>
      </p:sp>
      <p:sp>
        <p:nvSpPr>
          <p:cNvPr id="69" name="Freeform: Shape 68">
            <a:extLst>
              <a:ext uri="{FF2B5EF4-FFF2-40B4-BE49-F238E27FC236}">
                <a16:creationId xmlns:a16="http://schemas.microsoft.com/office/drawing/2014/main" id="{860492C9-77A1-4C9D-C5CA-83180BD4A41A}"/>
              </a:ext>
            </a:extLst>
          </p:cNvPr>
          <p:cNvSpPr/>
          <p:nvPr/>
        </p:nvSpPr>
        <p:spPr>
          <a:xfrm>
            <a:off x="1243243" y="3361522"/>
            <a:ext cx="809194" cy="950813"/>
          </a:xfrm>
          <a:custGeom>
            <a:avLst/>
            <a:gdLst>
              <a:gd name="connsiteX0" fmla="*/ 0 w 1084711"/>
              <a:gd name="connsiteY0" fmla="*/ 0 h 950813"/>
              <a:gd name="connsiteX1" fmla="*/ 1084711 w 1084711"/>
              <a:gd name="connsiteY1" fmla="*/ 0 h 950813"/>
              <a:gd name="connsiteX2" fmla="*/ 1084711 w 1084711"/>
              <a:gd name="connsiteY2" fmla="*/ 950813 h 950813"/>
              <a:gd name="connsiteX3" fmla="*/ 0 w 1084711"/>
              <a:gd name="connsiteY3" fmla="*/ 950813 h 950813"/>
              <a:gd name="connsiteX4" fmla="*/ 0 w 1084711"/>
              <a:gd name="connsiteY4" fmla="*/ 0 h 950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711" h="950813">
                <a:moveTo>
                  <a:pt x="0" y="0"/>
                </a:moveTo>
                <a:lnTo>
                  <a:pt x="1084711" y="0"/>
                </a:lnTo>
                <a:lnTo>
                  <a:pt x="1084711" y="950813"/>
                </a:lnTo>
                <a:lnTo>
                  <a:pt x="0" y="9508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en-US" altLang="zh-CN" sz="1000" dirty="0">
                <a:solidFill>
                  <a:srgbClr val="C00000"/>
                </a:solidFill>
                <a:latin typeface="+mj-lt"/>
                <a:ea typeface="+mj-ea"/>
              </a:rPr>
              <a:t>Jul</a:t>
            </a:r>
            <a:r>
              <a:rPr lang="en-US" altLang="zh-CN" sz="1000" b="1" kern="1200" dirty="0">
                <a:solidFill>
                  <a:srgbClr val="C00000"/>
                </a:solidFill>
                <a:latin typeface="+mj-lt"/>
                <a:ea typeface="+mj-ea"/>
              </a:rPr>
              <a:t> – Oct 2026</a:t>
            </a:r>
          </a:p>
          <a:p>
            <a:pPr marL="0" lvl="0" indent="0" algn="ctr" defTabSz="533400">
              <a:lnSpc>
                <a:spcPct val="90000"/>
              </a:lnSpc>
              <a:spcBef>
                <a:spcPct val="0"/>
              </a:spcBef>
              <a:spcAft>
                <a:spcPct val="35000"/>
              </a:spcAft>
              <a:buNone/>
            </a:pPr>
            <a:r>
              <a:rPr lang="en-US" altLang="zh-CN" sz="1000" b="1" dirty="0">
                <a:latin typeface="+mj-lt"/>
                <a:ea typeface="+mj-ea"/>
              </a:rPr>
              <a:t>Water Testing</a:t>
            </a:r>
            <a:endParaRPr lang="en-US" altLang="zh-CN" sz="1000" b="1" kern="1200" dirty="0">
              <a:latin typeface="+mj-lt"/>
              <a:ea typeface="+mj-ea"/>
            </a:endParaRPr>
          </a:p>
          <a:p>
            <a:pPr marL="0" lvl="0" indent="0" algn="ctr" defTabSz="533400">
              <a:lnSpc>
                <a:spcPct val="90000"/>
              </a:lnSpc>
              <a:spcBef>
                <a:spcPct val="0"/>
              </a:spcBef>
              <a:spcAft>
                <a:spcPct val="35000"/>
              </a:spcAft>
              <a:buNone/>
            </a:pPr>
            <a:endParaRPr lang="en-US" sz="1000" b="1" kern="1200" dirty="0">
              <a:latin typeface="+mj-lt"/>
              <a:ea typeface="+mj-ea"/>
            </a:endParaRPr>
          </a:p>
        </p:txBody>
      </p:sp>
      <p:cxnSp>
        <p:nvCxnSpPr>
          <p:cNvPr id="70" name="Straight Connector 69">
            <a:extLst>
              <a:ext uri="{FF2B5EF4-FFF2-40B4-BE49-F238E27FC236}">
                <a16:creationId xmlns:a16="http://schemas.microsoft.com/office/drawing/2014/main" id="{82DBFDBA-3B9E-D8C9-4855-5B6D43CDAC65}"/>
              </a:ext>
            </a:extLst>
          </p:cNvPr>
          <p:cNvCxnSpPr>
            <a:cxnSpLocks/>
          </p:cNvCxnSpPr>
          <p:nvPr/>
        </p:nvCxnSpPr>
        <p:spPr>
          <a:xfrm flipH="1">
            <a:off x="2235766" y="1806391"/>
            <a:ext cx="17086" cy="4068854"/>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26315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294C31-B8DD-22F8-EED8-C825AA498A55}"/>
              </a:ext>
            </a:extLst>
          </p:cNvPr>
          <p:cNvSpPr>
            <a:spLocks noGrp="1"/>
          </p:cNvSpPr>
          <p:nvPr>
            <p:ph type="title"/>
          </p:nvPr>
        </p:nvSpPr>
        <p:spPr/>
        <p:txBody>
          <a:bodyPr/>
          <a:lstStyle/>
          <a:p>
            <a:r>
              <a:rPr lang="en-US" sz="2000" dirty="0"/>
              <a:t>Listing Consideration</a:t>
            </a:r>
          </a:p>
        </p:txBody>
      </p:sp>
      <p:sp>
        <p:nvSpPr>
          <p:cNvPr id="3" name="投影片編號版面配置區 2">
            <a:extLst>
              <a:ext uri="{FF2B5EF4-FFF2-40B4-BE49-F238E27FC236}">
                <a16:creationId xmlns:a16="http://schemas.microsoft.com/office/drawing/2014/main" id="{1636C5D9-1CC5-2AB9-8582-A0224ED46317}"/>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52</a:t>
            </a:fld>
            <a:endParaRPr lang="en-US" altLang="en-US" b="0">
              <a:solidFill>
                <a:srgbClr val="000000"/>
              </a:solidFill>
            </a:endParaRPr>
          </a:p>
        </p:txBody>
      </p:sp>
      <p:graphicFrame>
        <p:nvGraphicFramePr>
          <p:cNvPr id="4" name="表格 3">
            <a:extLst>
              <a:ext uri="{FF2B5EF4-FFF2-40B4-BE49-F238E27FC236}">
                <a16:creationId xmlns:a16="http://schemas.microsoft.com/office/drawing/2014/main" id="{9A39956C-CDCC-9F99-4985-1CC1C14A59AC}"/>
              </a:ext>
            </a:extLst>
          </p:cNvPr>
          <p:cNvGraphicFramePr>
            <a:graphicFrameLocks noGrp="1"/>
          </p:cNvGraphicFramePr>
          <p:nvPr>
            <p:extLst>
              <p:ext uri="{D42A27DB-BD31-4B8C-83A1-F6EECF244321}">
                <p14:modId xmlns:p14="http://schemas.microsoft.com/office/powerpoint/2010/main" val="1291911791"/>
              </p:ext>
            </p:extLst>
          </p:nvPr>
        </p:nvGraphicFramePr>
        <p:xfrm>
          <a:off x="717550" y="1064381"/>
          <a:ext cx="8493654" cy="4624943"/>
        </p:xfrm>
        <a:graphic>
          <a:graphicData uri="http://schemas.openxmlformats.org/drawingml/2006/table">
            <a:tbl>
              <a:tblPr firstRow="1" bandRow="1">
                <a:tableStyleId>{5C22544A-7EE6-4342-B048-85BDC9FD1C3A}</a:tableStyleId>
              </a:tblPr>
              <a:tblGrid>
                <a:gridCol w="1188886">
                  <a:extLst>
                    <a:ext uri="{9D8B030D-6E8A-4147-A177-3AD203B41FA5}">
                      <a16:colId xmlns:a16="http://schemas.microsoft.com/office/drawing/2014/main" val="1595605238"/>
                    </a:ext>
                  </a:extLst>
                </a:gridCol>
                <a:gridCol w="7304768">
                  <a:extLst>
                    <a:ext uri="{9D8B030D-6E8A-4147-A177-3AD203B41FA5}">
                      <a16:colId xmlns:a16="http://schemas.microsoft.com/office/drawing/2014/main" val="4283083510"/>
                    </a:ext>
                  </a:extLst>
                </a:gridCol>
              </a:tblGrid>
              <a:tr h="253547">
                <a:tc>
                  <a:txBody>
                    <a:bodyPr/>
                    <a:lstStyle/>
                    <a:p>
                      <a:pPr marL="0" marR="0" indent="0" algn="l" defTabSz="914400" rtl="0" eaLnBrk="1" fontAlgn="auto" latinLnBrk="0" hangingPunct="1">
                        <a:lnSpc>
                          <a:spcPct val="95000"/>
                        </a:lnSpc>
                        <a:spcBef>
                          <a:spcPts val="0"/>
                        </a:spcBef>
                        <a:spcAft>
                          <a:spcPts val="0"/>
                        </a:spcAft>
                        <a:buClrTx/>
                        <a:buSzTx/>
                        <a:buFontTx/>
                        <a:buNone/>
                        <a:tabLst/>
                        <a:defRPr/>
                      </a:pPr>
                      <a:r>
                        <a:rPr lang="en-US" altLang="zh-CN" sz="1050" b="1" kern="1200" dirty="0">
                          <a:solidFill>
                            <a:schemeClr val="bg1"/>
                          </a:solidFill>
                          <a:latin typeface="Arial" panose="020B0604020202020204" pitchFamily="34" charset="0"/>
                          <a:ea typeface="Kaiti" panose="02010609060101010101" pitchFamily="49" charset="-122"/>
                          <a:cs typeface="Arial" panose="020B0604020202020204" pitchFamily="34" charset="0"/>
                        </a:rPr>
                        <a:t>Key items</a:t>
                      </a:r>
                      <a:endParaRPr lang="en-GB" sz="1050" b="1" kern="1200" dirty="0">
                        <a:solidFill>
                          <a:schemeClr val="bg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a:lnSpc>
                          <a:spcPct val="95000"/>
                        </a:lnSpc>
                      </a:pPr>
                      <a:r>
                        <a:rPr lang="en-US" altLang="zh-CN" sz="1050" dirty="0">
                          <a:solidFill>
                            <a:schemeClr val="bg1"/>
                          </a:solidFill>
                          <a:latin typeface="Arial" panose="020B0604020202020204" pitchFamily="34" charset="0"/>
                          <a:ea typeface="Kaiti" panose="02010609060101010101" pitchFamily="49" charset="-122"/>
                          <a:cs typeface="Arial" panose="020B0604020202020204" pitchFamily="34" charset="0"/>
                        </a:rPr>
                        <a:t>Consideration / Recommendation</a:t>
                      </a:r>
                      <a:endParaRPr lang="pl-PL" sz="1050" dirty="0">
                        <a:solidFill>
                          <a:schemeClr val="bg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2032904243"/>
                  </a:ext>
                </a:extLst>
              </a:tr>
              <a:tr h="1435172">
                <a:tc>
                  <a:txBody>
                    <a:bodyPr/>
                    <a:lstStyle/>
                    <a:p>
                      <a:pPr algn="l">
                        <a:lnSpc>
                          <a:spcPct val="100000"/>
                        </a:lnSpc>
                        <a:spcAft>
                          <a:spcPts val="600"/>
                        </a:spcAft>
                      </a:pPr>
                      <a:r>
                        <a:rPr lang="en-US" altLang="zh-CN" sz="1000" b="1" dirty="0">
                          <a:solidFill>
                            <a:schemeClr val="tx1"/>
                          </a:solidFill>
                          <a:latin typeface="+mj-lt"/>
                          <a:ea typeface="Kaiti" panose="02010609060101010101" pitchFamily="49" charset="-122"/>
                        </a:rPr>
                        <a:t>M&amp;A/ Restructuring Consideration</a:t>
                      </a:r>
                      <a:endParaRPr lang="en-GB" sz="1000" b="1" dirty="0">
                        <a:solidFill>
                          <a:schemeClr val="tx1"/>
                        </a:solidFill>
                        <a:latin typeface="+mj-lt"/>
                        <a:ea typeface="Kaiti" panose="02010609060101010101" pitchFamily="49" charset="-122"/>
                      </a:endParaRPr>
                    </a:p>
                  </a:txBody>
                  <a:tcPr marL="36000" marR="36000" marT="36000" marB="36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just" defTabSz="914400" rtl="0" eaLnBrk="1" fontAlgn="base" latinLnBrk="0" hangingPunct="1">
                        <a:lnSpc>
                          <a:spcPct val="100000"/>
                        </a:lnSpc>
                        <a:spcBef>
                          <a:spcPts val="0"/>
                        </a:spcBef>
                        <a:spcAft>
                          <a:spcPts val="600"/>
                        </a:spcAft>
                        <a:buClrTx/>
                        <a:buSzPct val="100000"/>
                        <a:buFont typeface="Arial" panose="020B0604020202020204" pitchFamily="34" charset="0"/>
                        <a:buNone/>
                      </a:pP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M&amp;A / Restructuring are generally permitted prior to listing. Below are some considerations from regulatory perspective:</a:t>
                      </a:r>
                    </a:p>
                    <a:p>
                      <a:pPr marL="171450" lvl="2" indent="-171450" algn="just"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If a new applicant acquires a material business (representing 25% or more under percentage ratios) during the track record period, they must disclose audited financial information for that business prior to the acquisition. This must be included within the accountants' report.</a:t>
                      </a:r>
                    </a:p>
                    <a:p>
                      <a:pPr marL="171450" lvl="2" indent="-171450" algn="just"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The issuer must demonstrate its ability to satisfy the relevant listing eligibility criteria (e.g., </a:t>
                      </a:r>
                      <a:r>
                        <a:rPr lang="en-US" sz="1000" b="0" kern="1200" baseline="0" dirty="0" err="1">
                          <a:solidFill>
                            <a:schemeClr val="tx1"/>
                          </a:solidFill>
                          <a:latin typeface="Arial" panose="020B0604020202020204" pitchFamily="34" charset="0"/>
                          <a:ea typeface="Kaiti" panose="02010609060101010101" pitchFamily="49" charset="-122"/>
                          <a:cs typeface="Arial" panose="020B0604020202020204" pitchFamily="34" charset="0"/>
                        </a:rPr>
                        <a:t>HKEx</a:t>
                      </a: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 Listing Rule 8.05) on a standalone basis, excluding any financial contribution from the acquired entity.</a:t>
                      </a:r>
                    </a:p>
                    <a:p>
                      <a:pPr marL="171450" lvl="2" indent="-171450" algn="l"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Whether the management </a:t>
                      </a: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possess the requisite technical expertise and industry experience to oversee and operate the newly acquired business operations</a:t>
                      </a:r>
                    </a:p>
                    <a:p>
                      <a:pPr marL="171450" lvl="2" indent="-171450" algn="l"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Issuer is advised to seek legal opinion on the timing/cost/feasibility and whether shareholders approval required at listed parent (CHA Biotech) level</a:t>
                      </a:r>
                      <a:endParaRPr lang="pl-PL"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5063938"/>
                  </a:ext>
                </a:extLst>
              </a:tr>
              <a:tr h="1103196">
                <a:tc>
                  <a:txBody>
                    <a:bodyPr/>
                    <a:lstStyle/>
                    <a:p>
                      <a:pPr algn="l">
                        <a:lnSpc>
                          <a:spcPct val="100000"/>
                        </a:lnSpc>
                        <a:spcAft>
                          <a:spcPts val="600"/>
                        </a:spcAft>
                      </a:pPr>
                      <a:r>
                        <a:rPr lang="en-US" altLang="zh-CN" sz="1000" b="1" dirty="0">
                          <a:solidFill>
                            <a:schemeClr val="tx1"/>
                          </a:solidFill>
                          <a:latin typeface="+mj-lt"/>
                          <a:ea typeface="Kaiti" panose="02010609060101010101" pitchFamily="49" charset="-122"/>
                        </a:rPr>
                        <a:t>Use of Proceeds (“UOP”)</a:t>
                      </a:r>
                      <a:endParaRPr lang="en-GB" sz="1000" b="1" dirty="0">
                        <a:solidFill>
                          <a:schemeClr val="tx1"/>
                        </a:solidFill>
                        <a:latin typeface="+mj-lt"/>
                        <a:ea typeface="Kaiti" panose="02010609060101010101" pitchFamily="49" charset="-122"/>
                      </a:endParaRPr>
                    </a:p>
                  </a:txBody>
                  <a:tcPr marL="36000" marR="36000" marT="36000" marB="36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l" defTabSz="914400" rtl="0" eaLnBrk="1" fontAlgn="base" latinLnBrk="0" hangingPunct="1">
                        <a:lnSpc>
                          <a:spcPct val="100000"/>
                        </a:lnSpc>
                        <a:spcBef>
                          <a:spcPts val="0"/>
                        </a:spcBef>
                        <a:spcAft>
                          <a:spcPts val="600"/>
                        </a:spcAft>
                        <a:buClrTx/>
                        <a:buSzPct val="100000"/>
                        <a:buFont typeface="Arial" panose="020B0604020202020204" pitchFamily="34" charset="0"/>
                        <a:buNone/>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Investors general will look at the reasonableness of the use of proceeds to further assess the growth potential of the issuer. Below are some recommendations that the company could consider:</a:t>
                      </a:r>
                    </a:p>
                    <a:p>
                      <a:pPr marL="171450" lvl="2" indent="-171450" algn="l"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Replicate successful business model in different regions (i.e. replicate Japan stem cell business to Thailand)</a:t>
                      </a:r>
                    </a:p>
                    <a:p>
                      <a:pPr marL="171450" lvl="2" indent="-171450" algn="l"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Leverage on previous successful M&amp;A (i.e. acquiring City Fertility and scale up more than 3 times in terms of the revenue and profitability), the company can establish a secondary growth engine alongside organic growth</a:t>
                      </a:r>
                    </a:p>
                    <a:p>
                      <a:pPr marL="171450" lvl="2" indent="-171450" algn="l"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Facilitate development of high-growth business that is unique in Hong Kong capital markets (i.e. stem cell business)</a:t>
                      </a:r>
                      <a:endParaRPr lang="zh-CN" alt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196043"/>
                  </a:ext>
                </a:extLst>
              </a:tr>
              <a:tr h="1246025">
                <a:tc>
                  <a:txBody>
                    <a:bodyPr/>
                    <a:lstStyle/>
                    <a:p>
                      <a:pPr algn="l">
                        <a:lnSpc>
                          <a:spcPct val="100000"/>
                        </a:lnSpc>
                        <a:spcAft>
                          <a:spcPts val="600"/>
                        </a:spcAft>
                      </a:pPr>
                      <a:r>
                        <a:rPr lang="en-US" altLang="zh-CN" sz="1000" b="1" dirty="0">
                          <a:solidFill>
                            <a:schemeClr val="tx1"/>
                          </a:solidFill>
                          <a:latin typeface="Arial" panose="020B0604020202020204" pitchFamily="34" charset="0"/>
                          <a:ea typeface="Kaiti" panose="02010609060101010101" pitchFamily="49" charset="-122"/>
                          <a:cs typeface="Arial" panose="020B0604020202020204" pitchFamily="34" charset="0"/>
                        </a:rPr>
                        <a:t>Business Delineation - Competing Business</a:t>
                      </a:r>
                      <a:endParaRPr lang="en-GB" sz="1000" b="1" dirty="0">
                        <a:solidFill>
                          <a:schemeClr val="tx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l" defTabSz="914400" rtl="0" eaLnBrk="1" fontAlgn="base" latinLnBrk="0" hangingPunct="1">
                        <a:lnSpc>
                          <a:spcPct val="100000"/>
                        </a:lnSpc>
                        <a:spcBef>
                          <a:spcPts val="0"/>
                        </a:spcBef>
                        <a:spcAft>
                          <a:spcPts val="0"/>
                        </a:spcAft>
                        <a:buClrTx/>
                        <a:buSzPct val="100000"/>
                        <a:buFont typeface="Wingdings" panose="05000000000000000000" pitchFamily="2" charset="2"/>
                        <a:buNone/>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When a controlling shareholder retains an interest in a business that competes with the listing applicant (an "Excluded Business"), the following disclosures are required in the prospectus under the Listing Rules:</a:t>
                      </a:r>
                    </a:p>
                    <a:p>
                      <a:pPr marL="0" lvl="2" indent="0" algn="l" defTabSz="914400" rtl="0" eaLnBrk="1" fontAlgn="base" latinLnBrk="0" hangingPunct="1">
                        <a:lnSpc>
                          <a:spcPct val="100000"/>
                        </a:lnSpc>
                        <a:spcBef>
                          <a:spcPts val="0"/>
                        </a:spcBef>
                        <a:spcAft>
                          <a:spcPts val="0"/>
                        </a:spcAft>
                        <a:buClrTx/>
                        <a:buSzPct val="100000"/>
                        <a:buFont typeface="Wingdings" panose="05000000000000000000" pitchFamily="2" charset="2"/>
                        <a:buNone/>
                      </a:pPr>
                      <a:endPar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171450" lvl="2" indent="-171450" algn="l"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Rationale for Exclusion: Provide clear reasons for not including the Excluded Business within the listing group.</a:t>
                      </a:r>
                    </a:p>
                    <a:p>
                      <a:pPr marL="171450" lvl="2" indent="-171450" algn="l"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Business Description &amp; Management: Detail the nature, scope, and scale of the Excluded Business and its management team to allow investors to assess the level of competition.</a:t>
                      </a:r>
                    </a:p>
                    <a:p>
                      <a:pPr marL="171450" lvl="2" indent="-171450" algn="l"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Operational Independence: Present facts demonstrating that the applicant can operate independently and in its own best interests, separate from the Excluded Business.</a:t>
                      </a:r>
                    </a:p>
                    <a:p>
                      <a:pPr marL="171450" lvl="2" indent="-171450" algn="l" defTabSz="914400" rtl="0" eaLnBrk="1" fontAlgn="base" latinLnBrk="0" hangingPunct="1">
                        <a:lnSpc>
                          <a:spcPct val="100000"/>
                        </a:lnSpc>
                        <a:spcBef>
                          <a:spcPts val="0"/>
                        </a:spcBef>
                        <a:spcAft>
                          <a:spcPts val="0"/>
                        </a:spcAft>
                        <a:buClrTx/>
                        <a:buSzPct val="100000"/>
                        <a:buFont typeface="Wingdings" panose="05000000000000000000" pitchFamily="2" charset="2"/>
                        <a:buChar cha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Future Injection Plans: State whether the controlling shareholder intends to inject the Excluded Business into the applicant in the future, including the anticipated timing or reasons for not doing so.</a:t>
                      </a:r>
                    </a:p>
                  </a:txBody>
                  <a:tcPr marL="36000" marR="36000" marT="36000" marB="36000">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342465"/>
                  </a:ext>
                </a:extLst>
              </a:tr>
            </a:tbl>
          </a:graphicData>
        </a:graphic>
      </p:graphicFrame>
    </p:spTree>
    <p:extLst>
      <p:ext uri="{BB962C8B-B14F-4D97-AF65-F5344CB8AC3E}">
        <p14:creationId xmlns:p14="http://schemas.microsoft.com/office/powerpoint/2010/main" val="16746619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8891E1-FCB2-3592-C113-6D134DFC4A4C}"/>
              </a:ext>
            </a:extLst>
          </p:cNvPr>
          <p:cNvSpPr>
            <a:spLocks noGrp="1"/>
          </p:cNvSpPr>
          <p:nvPr>
            <p:ph type="title"/>
          </p:nvPr>
        </p:nvSpPr>
        <p:spPr/>
        <p:txBody>
          <a:bodyPr/>
          <a:lstStyle/>
          <a:p>
            <a:r>
              <a:rPr lang="en-US" sz="2000" dirty="0"/>
              <a:t>Listing Consideration (cont'd)</a:t>
            </a:r>
          </a:p>
        </p:txBody>
      </p:sp>
      <p:sp>
        <p:nvSpPr>
          <p:cNvPr id="3" name="投影片編號版面配置區 2">
            <a:extLst>
              <a:ext uri="{FF2B5EF4-FFF2-40B4-BE49-F238E27FC236}">
                <a16:creationId xmlns:a16="http://schemas.microsoft.com/office/drawing/2014/main" id="{956B1DF6-8FEE-9A79-24C5-07223C4F697E}"/>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53</a:t>
            </a:fld>
            <a:endParaRPr lang="en-US" altLang="en-US" b="0">
              <a:solidFill>
                <a:srgbClr val="000000"/>
              </a:solidFill>
            </a:endParaRPr>
          </a:p>
        </p:txBody>
      </p:sp>
      <p:graphicFrame>
        <p:nvGraphicFramePr>
          <p:cNvPr id="5" name="表格 4">
            <a:extLst>
              <a:ext uri="{FF2B5EF4-FFF2-40B4-BE49-F238E27FC236}">
                <a16:creationId xmlns:a16="http://schemas.microsoft.com/office/drawing/2014/main" id="{A84C1FB0-8427-8BEC-FA7C-CCE0D11E550B}"/>
              </a:ext>
            </a:extLst>
          </p:cNvPr>
          <p:cNvGraphicFramePr>
            <a:graphicFrameLocks noGrp="1"/>
          </p:cNvGraphicFramePr>
          <p:nvPr>
            <p:extLst>
              <p:ext uri="{D42A27DB-BD31-4B8C-83A1-F6EECF244321}">
                <p14:modId xmlns:p14="http://schemas.microsoft.com/office/powerpoint/2010/main" val="4206233794"/>
              </p:ext>
            </p:extLst>
          </p:nvPr>
        </p:nvGraphicFramePr>
        <p:xfrm>
          <a:off x="717550" y="1072001"/>
          <a:ext cx="8493654" cy="5084019"/>
        </p:xfrm>
        <a:graphic>
          <a:graphicData uri="http://schemas.openxmlformats.org/drawingml/2006/table">
            <a:tbl>
              <a:tblPr firstRow="1" bandRow="1">
                <a:tableStyleId>{5C22544A-7EE6-4342-B048-85BDC9FD1C3A}</a:tableStyleId>
              </a:tblPr>
              <a:tblGrid>
                <a:gridCol w="1188886">
                  <a:extLst>
                    <a:ext uri="{9D8B030D-6E8A-4147-A177-3AD203B41FA5}">
                      <a16:colId xmlns:a16="http://schemas.microsoft.com/office/drawing/2014/main" val="1595605238"/>
                    </a:ext>
                  </a:extLst>
                </a:gridCol>
                <a:gridCol w="7304768">
                  <a:extLst>
                    <a:ext uri="{9D8B030D-6E8A-4147-A177-3AD203B41FA5}">
                      <a16:colId xmlns:a16="http://schemas.microsoft.com/office/drawing/2014/main" val="4283083510"/>
                    </a:ext>
                  </a:extLst>
                </a:gridCol>
              </a:tblGrid>
              <a:tr h="170284">
                <a:tc>
                  <a:txBody>
                    <a:bodyPr/>
                    <a:lstStyle/>
                    <a:p>
                      <a:pPr marL="0" marR="0" indent="0" algn="l" defTabSz="914400" rtl="0" eaLnBrk="1" fontAlgn="auto" latinLnBrk="0" hangingPunct="1">
                        <a:lnSpc>
                          <a:spcPct val="95000"/>
                        </a:lnSpc>
                        <a:spcBef>
                          <a:spcPts val="0"/>
                        </a:spcBef>
                        <a:spcAft>
                          <a:spcPts val="0"/>
                        </a:spcAft>
                        <a:buClrTx/>
                        <a:buSzTx/>
                        <a:buFontTx/>
                        <a:buNone/>
                        <a:tabLst/>
                        <a:defRPr/>
                      </a:pPr>
                      <a:r>
                        <a:rPr lang="en-US" altLang="zh-CN" sz="1050" b="1" kern="1200" dirty="0">
                          <a:solidFill>
                            <a:schemeClr val="bg1"/>
                          </a:solidFill>
                          <a:latin typeface="Arial" panose="020B0604020202020204" pitchFamily="34" charset="0"/>
                          <a:ea typeface="Kaiti" panose="02010609060101010101" pitchFamily="49" charset="-122"/>
                          <a:cs typeface="Arial" panose="020B0604020202020204" pitchFamily="34" charset="0"/>
                        </a:rPr>
                        <a:t>Key issues</a:t>
                      </a:r>
                      <a:endParaRPr lang="en-GB" sz="1050" b="1" kern="1200" dirty="0">
                        <a:solidFill>
                          <a:schemeClr val="bg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a:lnSpc>
                          <a:spcPct val="95000"/>
                        </a:lnSpc>
                      </a:pPr>
                      <a:r>
                        <a:rPr lang="en-US" altLang="zh-CN" sz="1050" dirty="0">
                          <a:solidFill>
                            <a:schemeClr val="bg1"/>
                          </a:solidFill>
                          <a:latin typeface="Arial" panose="020B0604020202020204" pitchFamily="34" charset="0"/>
                          <a:ea typeface="Kaiti" panose="02010609060101010101" pitchFamily="49" charset="-122"/>
                          <a:cs typeface="Arial" panose="020B0604020202020204" pitchFamily="34" charset="0"/>
                        </a:rPr>
                        <a:t>Consideration / Recommendation</a:t>
                      </a:r>
                      <a:endParaRPr lang="pl-PL" sz="1050" dirty="0">
                        <a:solidFill>
                          <a:schemeClr val="bg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2032904243"/>
                  </a:ext>
                </a:extLst>
              </a:tr>
              <a:tr h="981483">
                <a:tc>
                  <a:txBody>
                    <a:bodyPr/>
                    <a:lstStyle/>
                    <a:p>
                      <a:pPr algn="l">
                        <a:lnSpc>
                          <a:spcPct val="100000"/>
                        </a:lnSpc>
                        <a:spcAft>
                          <a:spcPts val="600"/>
                        </a:spcAft>
                      </a:pPr>
                      <a:r>
                        <a:rPr lang="en-US" altLang="zh-CN" sz="1000" b="1" dirty="0">
                          <a:solidFill>
                            <a:schemeClr val="tx1"/>
                          </a:solidFill>
                          <a:latin typeface="Arial" panose="020B0604020202020204" pitchFamily="34" charset="0"/>
                          <a:ea typeface="Kaiti" panose="02010609060101010101" pitchFamily="49" charset="-122"/>
                          <a:cs typeface="Arial" panose="020B0604020202020204" pitchFamily="34" charset="0"/>
                        </a:rPr>
                        <a:t>Secondary Fund-Raising Opportunities</a:t>
                      </a:r>
                      <a:endParaRPr lang="en-GB" sz="1000" b="1" dirty="0">
                        <a:solidFill>
                          <a:schemeClr val="tx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just" defTabSz="914400" rtl="0" eaLnBrk="1" fontAlgn="base" latinLnBrk="0" hangingPunct="1">
                        <a:lnSpc>
                          <a:spcPct val="100000"/>
                        </a:lnSpc>
                        <a:spcBef>
                          <a:spcPts val="0"/>
                        </a:spcBef>
                        <a:spcAft>
                          <a:spcPts val="600"/>
                        </a:spcAft>
                        <a:buClrTx/>
                        <a:buSzPct val="100000"/>
                        <a:buFont typeface="Arial" panose="020B0604020202020204" pitchFamily="34" charset="0"/>
                        <a:buNone/>
                      </a:pP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Secondary fund-raising is a good opportunity for listed company to further raise capital from the capital markets, especially because:</a:t>
                      </a:r>
                    </a:p>
                    <a:p>
                      <a:pPr marL="171450" marR="0" lvl="2" indent="-171450" algn="just" defTabSz="914400" rtl="0" eaLnBrk="1" fontAlgn="base" latinLnBrk="0" hangingPunct="1">
                        <a:lnSpc>
                          <a:spcPct val="100000"/>
                        </a:lnSpc>
                        <a:spcBef>
                          <a:spcPts val="0"/>
                        </a:spcBef>
                        <a:spcAft>
                          <a:spcPts val="600"/>
                        </a:spcAft>
                        <a:buClrTx/>
                        <a:buSzPct val="100000"/>
                        <a:buFont typeface="Wingdings" panose="05000000000000000000" pitchFamily="2" charset="2"/>
                        <a:buChar char="§"/>
                        <a:tabLst/>
                        <a:defRPr/>
                      </a:pP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Hong Kong </a:t>
                      </a: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Stock Exchange</a:t>
                      </a: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 has a generally strong trading volume and liquidity thanks to diversified investor base, including international financial institutions and PRC investors through northbound and southbound connect channels</a:t>
                      </a:r>
                    </a:p>
                    <a:p>
                      <a:pPr marL="171450" marR="0" lvl="2" indent="-171450" algn="just" defTabSz="914400" rtl="0" eaLnBrk="1" fontAlgn="base" latinLnBrk="0" hangingPunct="1">
                        <a:lnSpc>
                          <a:spcPct val="100000"/>
                        </a:lnSpc>
                        <a:spcBef>
                          <a:spcPts val="0"/>
                        </a:spcBef>
                        <a:spcAft>
                          <a:spcPts val="600"/>
                        </a:spcAft>
                        <a:buClrTx/>
                        <a:buSzPct val="100000"/>
                        <a:buFont typeface="Wingdings" panose="05000000000000000000" pitchFamily="2" charset="2"/>
                        <a:buChar char="§"/>
                        <a:tabLst/>
                        <a:defRPr/>
                      </a:pP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In 2025, three issuers have successful completed secondary fund-raising in Hong Kong equity market (i.e. </a:t>
                      </a:r>
                      <a:r>
                        <a:rPr lang="en-US" sz="1000" b="0" kern="1200" baseline="0" dirty="0" err="1">
                          <a:solidFill>
                            <a:schemeClr val="tx1"/>
                          </a:solidFill>
                          <a:latin typeface="Arial" panose="020B0604020202020204" pitchFamily="34" charset="0"/>
                          <a:ea typeface="Kaiti" panose="02010609060101010101" pitchFamily="49" charset="-122"/>
                          <a:cs typeface="Arial" panose="020B0604020202020204" pitchFamily="34" charset="0"/>
                        </a:rPr>
                        <a:t>Mirxes</a:t>
                      </a: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 Holding (2629.HK), Nanshan </a:t>
                      </a:r>
                      <a:r>
                        <a:rPr lang="en-US" sz="1000" b="0" kern="1200" baseline="0" dirty="0" err="1">
                          <a:solidFill>
                            <a:schemeClr val="tx1"/>
                          </a:solidFill>
                          <a:latin typeface="Arial" panose="020B0604020202020204" pitchFamily="34" charset="0"/>
                          <a:ea typeface="Kaiti" panose="02010609060101010101" pitchFamily="49" charset="-122"/>
                          <a:cs typeface="Arial" panose="020B0604020202020204" pitchFamily="34" charset="0"/>
                        </a:rPr>
                        <a:t>Aluminium</a:t>
                      </a: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 (2610.HK)) and J&amp;T Global Express Limited (1519.HK) with aggregate deal size of approximately S$1,197.6mn, demonstrating sustained investor appetite for international issuers</a:t>
                      </a:r>
                      <a:endParaRPr lang="pl-PL"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5063938"/>
                  </a:ext>
                </a:extLst>
              </a:tr>
              <a:tr h="1098127">
                <a:tc>
                  <a:txBody>
                    <a:bodyPr/>
                    <a:lstStyle/>
                    <a:p>
                      <a:pPr algn="l">
                        <a:lnSpc>
                          <a:spcPct val="100000"/>
                        </a:lnSpc>
                        <a:spcAft>
                          <a:spcPts val="600"/>
                        </a:spcAft>
                      </a:pPr>
                      <a:r>
                        <a:rPr lang="en-GB" sz="1000" b="1" dirty="0">
                          <a:solidFill>
                            <a:schemeClr val="tx1"/>
                          </a:solidFill>
                          <a:latin typeface="Arial" panose="020B0604020202020204" pitchFamily="34" charset="0"/>
                          <a:ea typeface="Kaiti" panose="02010609060101010101" pitchFamily="49" charset="-122"/>
                          <a:cs typeface="Arial" panose="020B0604020202020204" pitchFamily="34" charset="0"/>
                        </a:rPr>
                        <a:t>Listed parent’s (CHA Biotech) consideration</a:t>
                      </a:r>
                    </a:p>
                  </a:txBody>
                  <a:tcPr marL="36000" marR="36000" marT="36000" marB="36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just" defTabSz="914400" rtl="0" eaLnBrk="1" fontAlgn="base" latinLnBrk="0" hangingPunct="1">
                        <a:lnSpc>
                          <a:spcPct val="100000"/>
                        </a:lnSpc>
                        <a:spcBef>
                          <a:spcPts val="0"/>
                        </a:spcBef>
                        <a:spcAft>
                          <a:spcPts val="600"/>
                        </a:spcAft>
                        <a:buClrTx/>
                        <a:buSzPct val="100000"/>
                        <a:buFont typeface="Arial" panose="020B0604020202020204" pitchFamily="34" charset="0"/>
                        <a:buNone/>
                      </a:pP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Since CHA Biotech is the parent of the issuer, below are some of the key consideration:</a:t>
                      </a:r>
                    </a:p>
                    <a:p>
                      <a:pPr marL="171450" lvl="2" indent="-171450" algn="just" defTabSz="914400" rtl="0" eaLnBrk="1" fontAlgn="base" latinLnBrk="0" hangingPunct="1">
                        <a:lnSpc>
                          <a:spcPct val="100000"/>
                        </a:lnSpc>
                        <a:spcBef>
                          <a:spcPts val="0"/>
                        </a:spcBef>
                        <a:spcAft>
                          <a:spcPts val="600"/>
                        </a:spcAft>
                        <a:buClrTx/>
                        <a:buSzPct val="100000"/>
                        <a:buFont typeface="Wingdings" panose="05000000000000000000" pitchFamily="2" charset="2"/>
                        <a:buChar char="§"/>
                      </a:pPr>
                      <a:r>
                        <a:rPr 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Determining whether the transaction constitute a spin-off and a separate listing; if yes, we advise the issuer to seek legal advisor opinion on any disclosure obligations, regulatory approval, and shareholder approval are required.</a:t>
                      </a:r>
                    </a:p>
                    <a:p>
                      <a:pPr marL="171450" marR="0" lvl="2" indent="-171450" algn="just" defTabSz="914400" rtl="0" eaLnBrk="1" fontAlgn="base" latinLnBrk="0" hangingPunct="1">
                        <a:lnSpc>
                          <a:spcPct val="100000"/>
                        </a:lnSpc>
                        <a:spcBef>
                          <a:spcPts val="0"/>
                        </a:spcBef>
                        <a:spcAft>
                          <a:spcPts val="600"/>
                        </a:spcAft>
                        <a:buClrTx/>
                        <a:buSzPct val="100000"/>
                        <a:buFont typeface="Wingdings" panose="05000000000000000000" pitchFamily="2" charset="2"/>
                        <a:buChar char="§"/>
                        <a:tabLst/>
                        <a:defRP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Existing shareholder subscription (if any): If existing shareholders intend to participate in the IPO subscription, it is recommended that they communicate with the sponsor and legal counsel as early as possible to assess the feasibility and apply for the relevant regulatory waivers where applicable.</a:t>
                      </a:r>
                      <a:endParaRPr lang="zh-CN" alt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196043"/>
                  </a:ext>
                </a:extLst>
              </a:tr>
              <a:tr h="729107">
                <a:tc>
                  <a:txBody>
                    <a:bodyPr/>
                    <a:lstStyle/>
                    <a:p>
                      <a:pPr algn="l">
                        <a:lnSpc>
                          <a:spcPct val="100000"/>
                        </a:lnSpc>
                        <a:spcAft>
                          <a:spcPts val="600"/>
                        </a:spcAft>
                      </a:pPr>
                      <a:r>
                        <a:rPr lang="en-GB" sz="1000" b="1" dirty="0">
                          <a:solidFill>
                            <a:schemeClr val="tx1"/>
                          </a:solidFill>
                          <a:latin typeface="Arial" panose="020B0604020202020204" pitchFamily="34" charset="0"/>
                          <a:ea typeface="Kaiti" panose="02010609060101010101" pitchFamily="49" charset="-122"/>
                          <a:cs typeface="Arial" panose="020B0604020202020204" pitchFamily="34" charset="0"/>
                        </a:rPr>
                        <a:t>Pre IPO investment          (if any)</a:t>
                      </a:r>
                    </a:p>
                  </a:txBody>
                  <a:tcPr marL="36000" marR="36000" marT="36000" marB="36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2" indent="0" algn="just" defTabSz="914400" rtl="0" eaLnBrk="1" fontAlgn="base" latinLnBrk="0" hangingPunct="1">
                        <a:lnSpc>
                          <a:spcPct val="100000"/>
                        </a:lnSpc>
                        <a:spcBef>
                          <a:spcPts val="0"/>
                        </a:spcBef>
                        <a:spcAft>
                          <a:spcPts val="600"/>
                        </a:spcAft>
                        <a:buClrTx/>
                        <a:buSzPct val="100000"/>
                        <a:buFont typeface="Wingdings" panose="05000000000000000000" pitchFamily="2" charset="2"/>
                        <a:buNone/>
                        <a:tabLst/>
                        <a:defRP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Pre-IPO is a very common step prior to listing, below set out the requirement of the </a:t>
                      </a:r>
                      <a:r>
                        <a:rPr lang="en-US" altLang="zh-CN" sz="1000" b="0" kern="1200" baseline="0" dirty="0" err="1">
                          <a:solidFill>
                            <a:schemeClr val="tx1"/>
                          </a:solidFill>
                          <a:latin typeface="Arial" panose="020B0604020202020204" pitchFamily="34" charset="0"/>
                          <a:ea typeface="Kaiti" panose="02010609060101010101" pitchFamily="49" charset="-122"/>
                          <a:cs typeface="Arial" panose="020B0604020202020204" pitchFamily="34" charset="0"/>
                        </a:rPr>
                        <a:t>HKEx</a:t>
                      </a: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 and our suggestion:</a:t>
                      </a:r>
                    </a:p>
                    <a:p>
                      <a:pPr marL="171450" marR="0" lvl="2" indent="-171450" algn="just" defTabSz="914400" rtl="0" eaLnBrk="1" fontAlgn="base" latinLnBrk="0" hangingPunct="1">
                        <a:lnSpc>
                          <a:spcPct val="100000"/>
                        </a:lnSpc>
                        <a:spcBef>
                          <a:spcPts val="0"/>
                        </a:spcBef>
                        <a:spcAft>
                          <a:spcPts val="600"/>
                        </a:spcAft>
                        <a:buClrTx/>
                        <a:buSzPct val="100000"/>
                        <a:buFont typeface="Wingdings" panose="05000000000000000000" pitchFamily="2" charset="2"/>
                        <a:buChar char="§"/>
                        <a:tabLst/>
                        <a:defRP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If an investor makes a Pre-IPO investment in a company, the relevant settlement must be completed at least 28 days prior to the submission of the listing application. If settlement is not completed by this deadline, </a:t>
                      </a:r>
                      <a:r>
                        <a:rPr lang="en-US" altLang="zh-CN" sz="1000" b="0" kern="1200" baseline="0" dirty="0" err="1">
                          <a:solidFill>
                            <a:schemeClr val="tx1"/>
                          </a:solidFill>
                          <a:latin typeface="Arial" panose="020B0604020202020204" pitchFamily="34" charset="0"/>
                          <a:ea typeface="Kaiti" panose="02010609060101010101" pitchFamily="49" charset="-122"/>
                          <a:cs typeface="Arial" panose="020B0604020202020204" pitchFamily="34" charset="0"/>
                        </a:rPr>
                        <a:t>HKEx</a:t>
                      </a: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 will postpone the first day of trading of the issuer's securities to 120 days after the completion of the pre-IPO investment. </a:t>
                      </a:r>
                    </a:p>
                    <a:p>
                      <a:pPr marL="171450" marR="0" lvl="2" indent="-171450" algn="just" defTabSz="914400" rtl="0" eaLnBrk="1" fontAlgn="base" latinLnBrk="0" hangingPunct="1">
                        <a:lnSpc>
                          <a:spcPct val="100000"/>
                        </a:lnSpc>
                        <a:spcBef>
                          <a:spcPts val="0"/>
                        </a:spcBef>
                        <a:spcAft>
                          <a:spcPts val="600"/>
                        </a:spcAft>
                        <a:buClrTx/>
                        <a:buSzPct val="100000"/>
                        <a:buFont typeface="Wingdings" panose="05000000000000000000" pitchFamily="2" charset="2"/>
                        <a:buChar char="§"/>
                        <a:tabLst/>
                        <a:defRP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If there is any Pre-IPO investment, it is suggested for the issuer to complete the transaction as soon as possible and discuss the potential impact to the listing timetable with the sponsor and the legal advisors. </a:t>
                      </a:r>
                      <a:endParaRPr lang="zh-CN" alt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6143606"/>
                  </a:ext>
                </a:extLst>
              </a:tr>
              <a:tr h="1098127">
                <a:tc>
                  <a:txBody>
                    <a:bodyPr/>
                    <a:lstStyle/>
                    <a:p>
                      <a:pPr algn="l">
                        <a:lnSpc>
                          <a:spcPct val="100000"/>
                        </a:lnSpc>
                        <a:spcAft>
                          <a:spcPts val="600"/>
                        </a:spcAft>
                      </a:pPr>
                      <a:r>
                        <a:rPr lang="en-GB" sz="1000" b="1" dirty="0">
                          <a:solidFill>
                            <a:schemeClr val="tx1"/>
                          </a:solidFill>
                          <a:latin typeface="Arial" panose="020B0604020202020204" pitchFamily="34" charset="0"/>
                          <a:ea typeface="Kaiti" panose="02010609060101010101" pitchFamily="49" charset="-122"/>
                          <a:cs typeface="Arial" panose="020B0604020202020204" pitchFamily="34" charset="0"/>
                        </a:rPr>
                        <a:t>Connected transactions</a:t>
                      </a:r>
                    </a:p>
                    <a:p>
                      <a:pPr algn="l">
                        <a:lnSpc>
                          <a:spcPct val="100000"/>
                        </a:lnSpc>
                        <a:spcAft>
                          <a:spcPts val="600"/>
                        </a:spcAft>
                      </a:pPr>
                      <a:endParaRPr lang="en-GB" sz="1000" b="1" dirty="0">
                        <a:solidFill>
                          <a:schemeClr val="tx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2" indent="0" algn="just" defTabSz="914400" rtl="0" eaLnBrk="1" fontAlgn="base" latinLnBrk="0" hangingPunct="1">
                        <a:lnSpc>
                          <a:spcPct val="100000"/>
                        </a:lnSpc>
                        <a:spcBef>
                          <a:spcPts val="0"/>
                        </a:spcBef>
                        <a:spcAft>
                          <a:spcPts val="600"/>
                        </a:spcAft>
                        <a:buClrTx/>
                        <a:buSzPct val="100000"/>
                        <a:buFont typeface="Wingdings" panose="05000000000000000000" pitchFamily="2" charset="2"/>
                        <a:buNone/>
                        <a:tabLst/>
                        <a:defRP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A connected transaction is a transaction between a listed issuer (or its subsidiaries) and a "connected person," such as directors, substantial shareholders, or their associates. Below are some key points to consider:</a:t>
                      </a:r>
                    </a:p>
                    <a:p>
                      <a:pPr marL="171450" marR="0" lvl="2" indent="-171450" algn="just" defTabSz="914400" rtl="0" eaLnBrk="1" fontAlgn="base" latinLnBrk="0" hangingPunct="1">
                        <a:lnSpc>
                          <a:spcPct val="100000"/>
                        </a:lnSpc>
                        <a:spcBef>
                          <a:spcPts val="0"/>
                        </a:spcBef>
                        <a:spcAft>
                          <a:spcPts val="600"/>
                        </a:spcAft>
                        <a:buClrTx/>
                        <a:buSzPct val="100000"/>
                        <a:buFont typeface="Wingdings" panose="05000000000000000000" pitchFamily="2" charset="2"/>
                        <a:buChar char="§"/>
                        <a:tabLst/>
                        <a:defRP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If connected transaction exists, the company is required to collate all connected transactions during the track record period, apply to the </a:t>
                      </a:r>
                      <a:r>
                        <a:rPr lang="en-US" altLang="zh-CN" sz="1000" b="0" kern="1200" baseline="0" dirty="0" err="1">
                          <a:solidFill>
                            <a:schemeClr val="tx1"/>
                          </a:solidFill>
                          <a:latin typeface="Arial" panose="020B0604020202020204" pitchFamily="34" charset="0"/>
                          <a:ea typeface="Kaiti" panose="02010609060101010101" pitchFamily="49" charset="-122"/>
                          <a:cs typeface="Arial" panose="020B0604020202020204" pitchFamily="34" charset="0"/>
                        </a:rPr>
                        <a:t>HKEx</a:t>
                      </a: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 for waivers for continuing connected transactions based on their nature, and set annual caps for the transaction amounts for the next three years. </a:t>
                      </a:r>
                    </a:p>
                    <a:p>
                      <a:pPr marL="171450" marR="0" lvl="2" indent="-171450" algn="just" defTabSz="914400" rtl="0" eaLnBrk="1" fontAlgn="base" latinLnBrk="0" hangingPunct="1">
                        <a:lnSpc>
                          <a:spcPct val="100000"/>
                        </a:lnSpc>
                        <a:spcBef>
                          <a:spcPts val="0"/>
                        </a:spcBef>
                        <a:spcAft>
                          <a:spcPts val="600"/>
                        </a:spcAft>
                        <a:buClrTx/>
                        <a:buSzPct val="100000"/>
                        <a:buFont typeface="Wingdings" panose="05000000000000000000" pitchFamily="2" charset="2"/>
                        <a:buChar char="§"/>
                        <a:tabLst/>
                        <a:defRPr/>
                      </a:pPr>
                      <a:r>
                        <a:rPr lang="en-US" altLang="zh-CN"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rPr>
                        <a:t>The Company needs to prove that all connected transactions are on normal commercial terms and are fair &amp; reasonable, and should not result in reliance on its controlling shareholders or their close associates in the future. </a:t>
                      </a:r>
                      <a:endParaRPr lang="zh-CN" altLang="en-US" sz="1000" b="0" kern="1200" baseline="0" dirty="0">
                        <a:solidFill>
                          <a:schemeClr val="tx1"/>
                        </a:solidFill>
                        <a:latin typeface="Arial" panose="020B0604020202020204" pitchFamily="34" charset="0"/>
                        <a:ea typeface="Kaiti" panose="02010609060101010101" pitchFamily="49" charset="-122"/>
                        <a:cs typeface="Arial" panose="020B0604020202020204" pitchFamily="34" charset="0"/>
                      </a:endParaRPr>
                    </a:p>
                  </a:txBody>
                  <a:tcPr marL="36000" marR="36000" marT="36000" marB="36000">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5179974"/>
                  </a:ext>
                </a:extLst>
              </a:tr>
            </a:tbl>
          </a:graphicData>
        </a:graphic>
      </p:graphicFrame>
    </p:spTree>
    <p:extLst>
      <p:ext uri="{BB962C8B-B14F-4D97-AF65-F5344CB8AC3E}">
        <p14:creationId xmlns:p14="http://schemas.microsoft.com/office/powerpoint/2010/main" val="3558377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AE440-644B-20A8-59F4-0D541ECD843D}"/>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741AEFA7-CD8D-75E4-430D-94DAED17EDC6}"/>
              </a:ext>
            </a:extLst>
          </p:cNvPr>
          <p:cNvSpPr>
            <a:spLocks noGrp="1"/>
          </p:cNvSpPr>
          <p:nvPr>
            <p:ph type="subTitle" idx="1"/>
          </p:nvPr>
        </p:nvSpPr>
        <p:spPr/>
        <p:txBody>
          <a:bodyPr/>
          <a:lstStyle/>
          <a:p>
            <a:r>
              <a:rPr lang="en-US" altLang="zh-TW" b="1" dirty="0"/>
              <a:t>Section </a:t>
            </a:r>
            <a:r>
              <a:rPr lang="en-US" altLang="zh-TW" dirty="0"/>
              <a:t>III</a:t>
            </a:r>
            <a:r>
              <a:rPr lang="en-US" altLang="zh-TW" b="1" dirty="0"/>
              <a:t> – </a:t>
            </a:r>
            <a:r>
              <a:rPr lang="en-US" altLang="zh-TW" dirty="0"/>
              <a:t>SMG’s Potential Hong Kong Listing </a:t>
            </a:r>
            <a:endParaRPr lang="en-US" b="1" dirty="0"/>
          </a:p>
        </p:txBody>
      </p:sp>
      <p:sp>
        <p:nvSpPr>
          <p:cNvPr id="3" name="Title 2">
            <a:extLst>
              <a:ext uri="{FF2B5EF4-FFF2-40B4-BE49-F238E27FC236}">
                <a16:creationId xmlns:a16="http://schemas.microsoft.com/office/drawing/2014/main" id="{35D00B6E-2A4C-D291-90AA-533E719DD2A5}"/>
              </a:ext>
            </a:extLst>
          </p:cNvPr>
          <p:cNvSpPr>
            <a:spLocks noGrp="1"/>
          </p:cNvSpPr>
          <p:nvPr>
            <p:ph type="ctrTitle"/>
          </p:nvPr>
        </p:nvSpPr>
        <p:spPr>
          <a:xfrm>
            <a:off x="2242944" y="4131897"/>
            <a:ext cx="7200000" cy="492443"/>
          </a:xfrm>
        </p:spPr>
        <p:txBody>
          <a:bodyPr/>
          <a:lstStyle/>
          <a:p>
            <a:r>
              <a:rPr lang="en-SG" dirty="0"/>
              <a:t>4. Key Investors Selection and </a:t>
            </a:r>
            <a:r>
              <a:rPr lang="en-US" altLang="zh-TW" dirty="0"/>
              <a:t>Recommendation</a:t>
            </a:r>
            <a:endParaRPr lang="en-US" dirty="0"/>
          </a:p>
        </p:txBody>
      </p:sp>
      <p:sp>
        <p:nvSpPr>
          <p:cNvPr id="4" name="Slide Number Placeholder 3">
            <a:extLst>
              <a:ext uri="{FF2B5EF4-FFF2-40B4-BE49-F238E27FC236}">
                <a16:creationId xmlns:a16="http://schemas.microsoft.com/office/drawing/2014/main" id="{A047B886-0EE5-D523-7653-1944BABCC958}"/>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54</a:t>
            </a:fld>
            <a:endParaRPr lang="en-US" altLang="en-US" b="0">
              <a:solidFill>
                <a:srgbClr val="000000"/>
              </a:solidFill>
            </a:endParaRPr>
          </a:p>
        </p:txBody>
      </p:sp>
    </p:spTree>
    <p:extLst>
      <p:ext uri="{BB962C8B-B14F-4D97-AF65-F5344CB8AC3E}">
        <p14:creationId xmlns:p14="http://schemas.microsoft.com/office/powerpoint/2010/main" val="26137590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D7EF05-AE8E-A3D3-A886-7E18391CBF9A}"/>
              </a:ext>
            </a:extLst>
          </p:cNvPr>
          <p:cNvSpPr>
            <a:spLocks noGrp="1"/>
          </p:cNvSpPr>
          <p:nvPr>
            <p:ph type="title"/>
          </p:nvPr>
        </p:nvSpPr>
        <p:spPr/>
        <p:txBody>
          <a:bodyPr/>
          <a:lstStyle/>
          <a:p>
            <a:r>
              <a:rPr lang="en-US" altLang="zh-CN" sz="2000" b="1" dirty="0"/>
              <a:t>DBS’ Unique Investor Base</a:t>
            </a:r>
            <a:endParaRPr lang="en-US" sz="2000" b="1" dirty="0"/>
          </a:p>
        </p:txBody>
      </p:sp>
      <p:grpSp>
        <p:nvGrpSpPr>
          <p:cNvPr id="35" name="Group 34">
            <a:extLst>
              <a:ext uri="{FF2B5EF4-FFF2-40B4-BE49-F238E27FC236}">
                <a16:creationId xmlns:a16="http://schemas.microsoft.com/office/drawing/2014/main" id="{29A3F69E-29C8-6C86-F44A-6047F8AE1251}"/>
              </a:ext>
            </a:extLst>
          </p:cNvPr>
          <p:cNvGrpSpPr/>
          <p:nvPr/>
        </p:nvGrpSpPr>
        <p:grpSpPr>
          <a:xfrm>
            <a:off x="1076055" y="2416349"/>
            <a:ext cx="7498986" cy="3602138"/>
            <a:chOff x="1076054" y="2213327"/>
            <a:chExt cx="7921641" cy="3805160"/>
          </a:xfrm>
        </p:grpSpPr>
        <p:grpSp>
          <p:nvGrpSpPr>
            <p:cNvPr id="6" name="Group 5">
              <a:extLst>
                <a:ext uri="{FF2B5EF4-FFF2-40B4-BE49-F238E27FC236}">
                  <a16:creationId xmlns:a16="http://schemas.microsoft.com/office/drawing/2014/main" id="{CBD44DD7-6127-F726-4C2A-D8AFB021ABA8}"/>
                </a:ext>
              </a:extLst>
            </p:cNvPr>
            <p:cNvGrpSpPr/>
            <p:nvPr/>
          </p:nvGrpSpPr>
          <p:grpSpPr>
            <a:xfrm>
              <a:off x="3029090" y="2213327"/>
              <a:ext cx="3702486" cy="3805160"/>
              <a:chOff x="3996713" y="1132710"/>
              <a:chExt cx="4241498" cy="4614597"/>
            </a:xfrm>
          </p:grpSpPr>
          <p:sp>
            <p:nvSpPr>
              <p:cNvPr id="7" name="Freeform: Shape 6">
                <a:extLst>
                  <a:ext uri="{FF2B5EF4-FFF2-40B4-BE49-F238E27FC236}">
                    <a16:creationId xmlns:a16="http://schemas.microsoft.com/office/drawing/2014/main" id="{7A6E0690-F585-520E-FEFE-22D531F4E45A}"/>
                  </a:ext>
                </a:extLst>
              </p:cNvPr>
              <p:cNvSpPr/>
              <p:nvPr/>
            </p:nvSpPr>
            <p:spPr>
              <a:xfrm>
                <a:off x="5402936" y="1132710"/>
                <a:ext cx="1367037" cy="1367037"/>
              </a:xfrm>
              <a:custGeom>
                <a:avLst/>
                <a:gdLst>
                  <a:gd name="connsiteX0" fmla="*/ 0 w 1371596"/>
                  <a:gd name="connsiteY0" fmla="*/ 685798 h 1371596"/>
                  <a:gd name="connsiteX1" fmla="*/ 685798 w 1371596"/>
                  <a:gd name="connsiteY1" fmla="*/ 0 h 1371596"/>
                  <a:gd name="connsiteX2" fmla="*/ 1371596 w 1371596"/>
                  <a:gd name="connsiteY2" fmla="*/ 685798 h 1371596"/>
                  <a:gd name="connsiteX3" fmla="*/ 685798 w 1371596"/>
                  <a:gd name="connsiteY3" fmla="*/ 1371596 h 1371596"/>
                  <a:gd name="connsiteX4" fmla="*/ 0 w 1371596"/>
                  <a:gd name="connsiteY4" fmla="*/ 685798 h 1371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1596" h="1371596">
                    <a:moveTo>
                      <a:pt x="0" y="685798"/>
                    </a:moveTo>
                    <a:cubicBezTo>
                      <a:pt x="0" y="307042"/>
                      <a:pt x="307042" y="0"/>
                      <a:pt x="685798" y="0"/>
                    </a:cubicBezTo>
                    <a:cubicBezTo>
                      <a:pt x="1064554" y="0"/>
                      <a:pt x="1371596" y="307042"/>
                      <a:pt x="1371596" y="685798"/>
                    </a:cubicBezTo>
                    <a:cubicBezTo>
                      <a:pt x="1371596" y="1064554"/>
                      <a:pt x="1064554" y="1371596"/>
                      <a:pt x="685798" y="1371596"/>
                    </a:cubicBezTo>
                    <a:cubicBezTo>
                      <a:pt x="307042" y="1371596"/>
                      <a:pt x="0" y="1064554"/>
                      <a:pt x="0" y="685798"/>
                    </a:cubicBezTo>
                    <a:close/>
                  </a:path>
                </a:pathLst>
              </a:custGeom>
              <a:solidFill>
                <a:schemeClr val="bg2">
                  <a:lumMod val="90000"/>
                </a:schemeClr>
              </a:solidFill>
              <a:ln w="12700">
                <a:miter lim="400000"/>
              </a:ln>
            </p:spPr>
            <p:txBody>
              <a:bodyPr wrap="square" lIns="28575" tIns="28575" rIns="28575" bIns="28575" anchor="ctr">
                <a:noAutofit/>
              </a:bodyPr>
              <a:lstStyle/>
              <a:p>
                <a:endParaRPr lang="en-US" sz="2250">
                  <a:solidFill>
                    <a:srgbClr val="FFFFFF"/>
                  </a:solidFill>
                </a:endParaRPr>
              </a:p>
            </p:txBody>
          </p:sp>
          <p:sp>
            <p:nvSpPr>
              <p:cNvPr id="8" name="Freeform: Shape 7">
                <a:extLst>
                  <a:ext uri="{FF2B5EF4-FFF2-40B4-BE49-F238E27FC236}">
                    <a16:creationId xmlns:a16="http://schemas.microsoft.com/office/drawing/2014/main" id="{25BD433A-7D95-CA10-24E2-05A5647C0628}"/>
                  </a:ext>
                </a:extLst>
              </p:cNvPr>
              <p:cNvSpPr/>
              <p:nvPr/>
            </p:nvSpPr>
            <p:spPr>
              <a:xfrm>
                <a:off x="6828250" y="1928087"/>
                <a:ext cx="1367037" cy="1367037"/>
              </a:xfrm>
              <a:custGeom>
                <a:avLst/>
                <a:gdLst>
                  <a:gd name="connsiteX0" fmla="*/ 0 w 1371596"/>
                  <a:gd name="connsiteY0" fmla="*/ 685798 h 1371596"/>
                  <a:gd name="connsiteX1" fmla="*/ 685798 w 1371596"/>
                  <a:gd name="connsiteY1" fmla="*/ 0 h 1371596"/>
                  <a:gd name="connsiteX2" fmla="*/ 1371596 w 1371596"/>
                  <a:gd name="connsiteY2" fmla="*/ 685798 h 1371596"/>
                  <a:gd name="connsiteX3" fmla="*/ 685798 w 1371596"/>
                  <a:gd name="connsiteY3" fmla="*/ 1371596 h 1371596"/>
                  <a:gd name="connsiteX4" fmla="*/ 0 w 1371596"/>
                  <a:gd name="connsiteY4" fmla="*/ 685798 h 1371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1596" h="1371596">
                    <a:moveTo>
                      <a:pt x="0" y="685798"/>
                    </a:moveTo>
                    <a:cubicBezTo>
                      <a:pt x="0" y="307042"/>
                      <a:pt x="307042" y="0"/>
                      <a:pt x="685798" y="0"/>
                    </a:cubicBezTo>
                    <a:cubicBezTo>
                      <a:pt x="1064554" y="0"/>
                      <a:pt x="1371596" y="307042"/>
                      <a:pt x="1371596" y="685798"/>
                    </a:cubicBezTo>
                    <a:cubicBezTo>
                      <a:pt x="1371596" y="1064554"/>
                      <a:pt x="1064554" y="1371596"/>
                      <a:pt x="685798" y="1371596"/>
                    </a:cubicBezTo>
                    <a:cubicBezTo>
                      <a:pt x="307042" y="1371596"/>
                      <a:pt x="0" y="1064554"/>
                      <a:pt x="0" y="685798"/>
                    </a:cubicBezTo>
                    <a:close/>
                  </a:path>
                </a:pathLst>
              </a:custGeom>
              <a:solidFill>
                <a:schemeClr val="bg2">
                  <a:lumMod val="90000"/>
                </a:schemeClr>
              </a:solidFill>
              <a:ln w="12700">
                <a:miter lim="400000"/>
              </a:ln>
            </p:spPr>
            <p:txBody>
              <a:bodyPr wrap="square" lIns="28575" tIns="28575" rIns="28575" bIns="28575" anchor="ctr">
                <a:noAutofit/>
              </a:bodyPr>
              <a:lstStyle/>
              <a:p>
                <a:endParaRPr lang="en-US" sz="2250">
                  <a:solidFill>
                    <a:srgbClr val="FFFFFF"/>
                  </a:solidFill>
                </a:endParaRPr>
              </a:p>
            </p:txBody>
          </p:sp>
          <p:sp>
            <p:nvSpPr>
              <p:cNvPr id="9" name="Freeform: Shape 8">
                <a:extLst>
                  <a:ext uri="{FF2B5EF4-FFF2-40B4-BE49-F238E27FC236}">
                    <a16:creationId xmlns:a16="http://schemas.microsoft.com/office/drawing/2014/main" id="{6B8B9311-C8CE-BDB6-E8E6-7F24BE0465ED}"/>
                  </a:ext>
                </a:extLst>
              </p:cNvPr>
              <p:cNvSpPr/>
              <p:nvPr/>
            </p:nvSpPr>
            <p:spPr>
              <a:xfrm>
                <a:off x="6871174" y="3562876"/>
                <a:ext cx="1367037" cy="1367037"/>
              </a:xfrm>
              <a:custGeom>
                <a:avLst/>
                <a:gdLst>
                  <a:gd name="connsiteX0" fmla="*/ 0 w 1371596"/>
                  <a:gd name="connsiteY0" fmla="*/ 685798 h 1371596"/>
                  <a:gd name="connsiteX1" fmla="*/ 685798 w 1371596"/>
                  <a:gd name="connsiteY1" fmla="*/ 0 h 1371596"/>
                  <a:gd name="connsiteX2" fmla="*/ 1371596 w 1371596"/>
                  <a:gd name="connsiteY2" fmla="*/ 685798 h 1371596"/>
                  <a:gd name="connsiteX3" fmla="*/ 685798 w 1371596"/>
                  <a:gd name="connsiteY3" fmla="*/ 1371596 h 1371596"/>
                  <a:gd name="connsiteX4" fmla="*/ 0 w 1371596"/>
                  <a:gd name="connsiteY4" fmla="*/ 685798 h 1371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1596" h="1371596">
                    <a:moveTo>
                      <a:pt x="0" y="685798"/>
                    </a:moveTo>
                    <a:cubicBezTo>
                      <a:pt x="0" y="307042"/>
                      <a:pt x="307042" y="0"/>
                      <a:pt x="685798" y="0"/>
                    </a:cubicBezTo>
                    <a:cubicBezTo>
                      <a:pt x="1064554" y="0"/>
                      <a:pt x="1371596" y="307042"/>
                      <a:pt x="1371596" y="685798"/>
                    </a:cubicBezTo>
                    <a:cubicBezTo>
                      <a:pt x="1371596" y="1064554"/>
                      <a:pt x="1064554" y="1371596"/>
                      <a:pt x="685798" y="1371596"/>
                    </a:cubicBezTo>
                    <a:cubicBezTo>
                      <a:pt x="307042" y="1371596"/>
                      <a:pt x="0" y="1064554"/>
                      <a:pt x="0" y="685798"/>
                    </a:cubicBezTo>
                    <a:close/>
                  </a:path>
                </a:pathLst>
              </a:custGeom>
              <a:solidFill>
                <a:schemeClr val="bg2">
                  <a:lumMod val="90000"/>
                </a:schemeClr>
              </a:solidFill>
              <a:ln w="12700">
                <a:miter lim="400000"/>
              </a:ln>
            </p:spPr>
            <p:txBody>
              <a:bodyPr wrap="square" lIns="28575" tIns="28575" rIns="28575" bIns="28575" anchor="ctr">
                <a:noAutofit/>
              </a:bodyPr>
              <a:lstStyle/>
              <a:p>
                <a:endParaRPr lang="en-US" sz="2250">
                  <a:solidFill>
                    <a:srgbClr val="FFFFFF"/>
                  </a:solidFill>
                </a:endParaRPr>
              </a:p>
            </p:txBody>
          </p:sp>
          <p:sp>
            <p:nvSpPr>
              <p:cNvPr id="10" name="Freeform: Shape 9">
                <a:extLst>
                  <a:ext uri="{FF2B5EF4-FFF2-40B4-BE49-F238E27FC236}">
                    <a16:creationId xmlns:a16="http://schemas.microsoft.com/office/drawing/2014/main" id="{B18DBD08-FA2B-B90B-ECB9-99558256FE39}"/>
                  </a:ext>
                </a:extLst>
              </p:cNvPr>
              <p:cNvSpPr/>
              <p:nvPr/>
            </p:nvSpPr>
            <p:spPr>
              <a:xfrm>
                <a:off x="5412481" y="4380270"/>
                <a:ext cx="1367037" cy="1367037"/>
              </a:xfrm>
              <a:custGeom>
                <a:avLst/>
                <a:gdLst>
                  <a:gd name="connsiteX0" fmla="*/ 0 w 1371596"/>
                  <a:gd name="connsiteY0" fmla="*/ 685798 h 1371596"/>
                  <a:gd name="connsiteX1" fmla="*/ 685798 w 1371596"/>
                  <a:gd name="connsiteY1" fmla="*/ 0 h 1371596"/>
                  <a:gd name="connsiteX2" fmla="*/ 1371596 w 1371596"/>
                  <a:gd name="connsiteY2" fmla="*/ 685798 h 1371596"/>
                  <a:gd name="connsiteX3" fmla="*/ 685798 w 1371596"/>
                  <a:gd name="connsiteY3" fmla="*/ 1371596 h 1371596"/>
                  <a:gd name="connsiteX4" fmla="*/ 0 w 1371596"/>
                  <a:gd name="connsiteY4" fmla="*/ 685798 h 1371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1596" h="1371596">
                    <a:moveTo>
                      <a:pt x="0" y="685798"/>
                    </a:moveTo>
                    <a:cubicBezTo>
                      <a:pt x="0" y="307042"/>
                      <a:pt x="307042" y="0"/>
                      <a:pt x="685798" y="0"/>
                    </a:cubicBezTo>
                    <a:cubicBezTo>
                      <a:pt x="1064554" y="0"/>
                      <a:pt x="1371596" y="307042"/>
                      <a:pt x="1371596" y="685798"/>
                    </a:cubicBezTo>
                    <a:cubicBezTo>
                      <a:pt x="1371596" y="1064554"/>
                      <a:pt x="1064554" y="1371596"/>
                      <a:pt x="685798" y="1371596"/>
                    </a:cubicBezTo>
                    <a:cubicBezTo>
                      <a:pt x="307042" y="1371596"/>
                      <a:pt x="0" y="1064554"/>
                      <a:pt x="0" y="685798"/>
                    </a:cubicBezTo>
                    <a:close/>
                  </a:path>
                </a:pathLst>
              </a:custGeom>
              <a:solidFill>
                <a:schemeClr val="bg2">
                  <a:lumMod val="90000"/>
                </a:schemeClr>
              </a:solidFill>
              <a:ln w="12700">
                <a:miter lim="400000"/>
              </a:ln>
            </p:spPr>
            <p:txBody>
              <a:bodyPr wrap="square" lIns="28575" tIns="28575" rIns="28575" bIns="28575" anchor="ctr">
                <a:noAutofit/>
              </a:bodyPr>
              <a:lstStyle/>
              <a:p>
                <a:endParaRPr lang="en-US" sz="2250">
                  <a:solidFill>
                    <a:srgbClr val="FFFFFF"/>
                  </a:solidFill>
                </a:endParaRPr>
              </a:p>
            </p:txBody>
          </p:sp>
          <p:sp>
            <p:nvSpPr>
              <p:cNvPr id="11" name="Freeform: Shape 10">
                <a:extLst>
                  <a:ext uri="{FF2B5EF4-FFF2-40B4-BE49-F238E27FC236}">
                    <a16:creationId xmlns:a16="http://schemas.microsoft.com/office/drawing/2014/main" id="{11A9F920-C1F4-D9BB-627C-5853CCB4B15D}"/>
                  </a:ext>
                </a:extLst>
              </p:cNvPr>
              <p:cNvSpPr/>
              <p:nvPr/>
            </p:nvSpPr>
            <p:spPr>
              <a:xfrm>
                <a:off x="3996713" y="3562876"/>
                <a:ext cx="1367037" cy="1367037"/>
              </a:xfrm>
              <a:custGeom>
                <a:avLst/>
                <a:gdLst>
                  <a:gd name="connsiteX0" fmla="*/ 0 w 1371596"/>
                  <a:gd name="connsiteY0" fmla="*/ 685798 h 1371596"/>
                  <a:gd name="connsiteX1" fmla="*/ 685798 w 1371596"/>
                  <a:gd name="connsiteY1" fmla="*/ 0 h 1371596"/>
                  <a:gd name="connsiteX2" fmla="*/ 1371596 w 1371596"/>
                  <a:gd name="connsiteY2" fmla="*/ 685798 h 1371596"/>
                  <a:gd name="connsiteX3" fmla="*/ 685798 w 1371596"/>
                  <a:gd name="connsiteY3" fmla="*/ 1371596 h 1371596"/>
                  <a:gd name="connsiteX4" fmla="*/ 0 w 1371596"/>
                  <a:gd name="connsiteY4" fmla="*/ 685798 h 1371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1596" h="1371596">
                    <a:moveTo>
                      <a:pt x="0" y="685798"/>
                    </a:moveTo>
                    <a:cubicBezTo>
                      <a:pt x="0" y="307042"/>
                      <a:pt x="307042" y="0"/>
                      <a:pt x="685798" y="0"/>
                    </a:cubicBezTo>
                    <a:cubicBezTo>
                      <a:pt x="1064554" y="0"/>
                      <a:pt x="1371596" y="307042"/>
                      <a:pt x="1371596" y="685798"/>
                    </a:cubicBezTo>
                    <a:cubicBezTo>
                      <a:pt x="1371596" y="1064554"/>
                      <a:pt x="1064554" y="1371596"/>
                      <a:pt x="685798" y="1371596"/>
                    </a:cubicBezTo>
                    <a:cubicBezTo>
                      <a:pt x="307042" y="1371596"/>
                      <a:pt x="0" y="1064554"/>
                      <a:pt x="0" y="685798"/>
                    </a:cubicBezTo>
                    <a:close/>
                  </a:path>
                </a:pathLst>
              </a:custGeom>
              <a:solidFill>
                <a:schemeClr val="bg2">
                  <a:lumMod val="90000"/>
                </a:schemeClr>
              </a:solidFill>
              <a:ln w="12700">
                <a:miter lim="400000"/>
              </a:ln>
            </p:spPr>
            <p:txBody>
              <a:bodyPr wrap="square" lIns="28575" tIns="28575" rIns="28575" bIns="28575" anchor="ctr">
                <a:noAutofit/>
              </a:bodyPr>
              <a:lstStyle/>
              <a:p>
                <a:endParaRPr lang="en-US" sz="2250">
                  <a:solidFill>
                    <a:srgbClr val="FFFFFF"/>
                  </a:solidFill>
                </a:endParaRPr>
              </a:p>
            </p:txBody>
          </p:sp>
          <p:sp>
            <p:nvSpPr>
              <p:cNvPr id="12" name="Freeform: Shape 11">
                <a:extLst>
                  <a:ext uri="{FF2B5EF4-FFF2-40B4-BE49-F238E27FC236}">
                    <a16:creationId xmlns:a16="http://schemas.microsoft.com/office/drawing/2014/main" id="{5689608F-F0C7-AEDE-46F0-4C8A174E81C6}"/>
                  </a:ext>
                </a:extLst>
              </p:cNvPr>
              <p:cNvSpPr/>
              <p:nvPr/>
            </p:nvSpPr>
            <p:spPr>
              <a:xfrm>
                <a:off x="3996713" y="1928087"/>
                <a:ext cx="1367037" cy="1367037"/>
              </a:xfrm>
              <a:custGeom>
                <a:avLst/>
                <a:gdLst>
                  <a:gd name="connsiteX0" fmla="*/ 0 w 1371596"/>
                  <a:gd name="connsiteY0" fmla="*/ 685798 h 1371596"/>
                  <a:gd name="connsiteX1" fmla="*/ 685798 w 1371596"/>
                  <a:gd name="connsiteY1" fmla="*/ 0 h 1371596"/>
                  <a:gd name="connsiteX2" fmla="*/ 1371596 w 1371596"/>
                  <a:gd name="connsiteY2" fmla="*/ 685798 h 1371596"/>
                  <a:gd name="connsiteX3" fmla="*/ 685798 w 1371596"/>
                  <a:gd name="connsiteY3" fmla="*/ 1371596 h 1371596"/>
                  <a:gd name="connsiteX4" fmla="*/ 0 w 1371596"/>
                  <a:gd name="connsiteY4" fmla="*/ 685798 h 1371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1596" h="1371596">
                    <a:moveTo>
                      <a:pt x="0" y="685798"/>
                    </a:moveTo>
                    <a:cubicBezTo>
                      <a:pt x="0" y="307042"/>
                      <a:pt x="307042" y="0"/>
                      <a:pt x="685798" y="0"/>
                    </a:cubicBezTo>
                    <a:cubicBezTo>
                      <a:pt x="1064554" y="0"/>
                      <a:pt x="1371596" y="307042"/>
                      <a:pt x="1371596" y="685798"/>
                    </a:cubicBezTo>
                    <a:cubicBezTo>
                      <a:pt x="1371596" y="1064554"/>
                      <a:pt x="1064554" y="1371596"/>
                      <a:pt x="685798" y="1371596"/>
                    </a:cubicBezTo>
                    <a:cubicBezTo>
                      <a:pt x="307042" y="1371596"/>
                      <a:pt x="0" y="1064554"/>
                      <a:pt x="0" y="685798"/>
                    </a:cubicBezTo>
                    <a:close/>
                  </a:path>
                </a:pathLst>
              </a:custGeom>
              <a:solidFill>
                <a:schemeClr val="bg2">
                  <a:lumMod val="90000"/>
                </a:schemeClr>
              </a:solidFill>
              <a:ln w="12700">
                <a:miter lim="400000"/>
              </a:ln>
            </p:spPr>
            <p:txBody>
              <a:bodyPr wrap="square" lIns="28575" tIns="28575" rIns="28575" bIns="28575" anchor="ctr">
                <a:noAutofit/>
              </a:bodyPr>
              <a:lstStyle/>
              <a:p>
                <a:endParaRPr lang="en-US" sz="2250">
                  <a:solidFill>
                    <a:srgbClr val="FFFFFF"/>
                  </a:solidFill>
                </a:endParaRPr>
              </a:p>
            </p:txBody>
          </p:sp>
          <p:sp>
            <p:nvSpPr>
              <p:cNvPr id="13" name="Freeform: Shape 12">
                <a:extLst>
                  <a:ext uri="{FF2B5EF4-FFF2-40B4-BE49-F238E27FC236}">
                    <a16:creationId xmlns:a16="http://schemas.microsoft.com/office/drawing/2014/main" id="{6540D4B5-AE2E-7F86-D4C1-C82E0E438BAD}"/>
                  </a:ext>
                </a:extLst>
              </p:cNvPr>
              <p:cNvSpPr/>
              <p:nvPr/>
            </p:nvSpPr>
            <p:spPr>
              <a:xfrm>
                <a:off x="5451669" y="1872609"/>
                <a:ext cx="1288663" cy="605123"/>
              </a:xfrm>
              <a:custGeom>
                <a:avLst/>
                <a:gdLst>
                  <a:gd name="connsiteX0" fmla="*/ 644332 w 1288663"/>
                  <a:gd name="connsiteY0" fmla="*/ 0 h 605123"/>
                  <a:gd name="connsiteX1" fmla="*/ 1250150 w 1288663"/>
                  <a:gd name="connsiteY1" fmla="*/ 122309 h 605123"/>
                  <a:gd name="connsiteX2" fmla="*/ 1288663 w 1288663"/>
                  <a:gd name="connsiteY2" fmla="*/ 140862 h 605123"/>
                  <a:gd name="connsiteX3" fmla="*/ 1274136 w 1288663"/>
                  <a:gd name="connsiteY3" fmla="*/ 187661 h 605123"/>
                  <a:gd name="connsiteX4" fmla="*/ 644332 w 1288663"/>
                  <a:gd name="connsiteY4" fmla="*/ 605123 h 605123"/>
                  <a:gd name="connsiteX5" fmla="*/ 14528 w 1288663"/>
                  <a:gd name="connsiteY5" fmla="*/ 187661 h 605123"/>
                  <a:gd name="connsiteX6" fmla="*/ 0 w 1288663"/>
                  <a:gd name="connsiteY6" fmla="*/ 140862 h 605123"/>
                  <a:gd name="connsiteX7" fmla="*/ 38514 w 1288663"/>
                  <a:gd name="connsiteY7" fmla="*/ 122309 h 605123"/>
                  <a:gd name="connsiteX8" fmla="*/ 644332 w 1288663"/>
                  <a:gd name="connsiteY8" fmla="*/ 0 h 60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8663" h="605123">
                    <a:moveTo>
                      <a:pt x="644332" y="0"/>
                    </a:moveTo>
                    <a:cubicBezTo>
                      <a:pt x="859225" y="0"/>
                      <a:pt x="1063946" y="43551"/>
                      <a:pt x="1250150" y="122309"/>
                    </a:cubicBezTo>
                    <a:lnTo>
                      <a:pt x="1288663" y="140862"/>
                    </a:lnTo>
                    <a:lnTo>
                      <a:pt x="1274136" y="187661"/>
                    </a:lnTo>
                    <a:cubicBezTo>
                      <a:pt x="1170372" y="432986"/>
                      <a:pt x="927455" y="605123"/>
                      <a:pt x="644332" y="605123"/>
                    </a:cubicBezTo>
                    <a:cubicBezTo>
                      <a:pt x="361209" y="605123"/>
                      <a:pt x="118291" y="432986"/>
                      <a:pt x="14528" y="187661"/>
                    </a:cubicBezTo>
                    <a:lnTo>
                      <a:pt x="0" y="140862"/>
                    </a:lnTo>
                    <a:lnTo>
                      <a:pt x="38514" y="122309"/>
                    </a:lnTo>
                    <a:cubicBezTo>
                      <a:pt x="224718" y="43551"/>
                      <a:pt x="429439" y="0"/>
                      <a:pt x="644332" y="0"/>
                    </a:cubicBezTo>
                    <a:close/>
                  </a:path>
                </a:pathLst>
              </a:custGeom>
              <a:solidFill>
                <a:schemeClr val="accent4"/>
              </a:solidFill>
              <a:ln w="12700">
                <a:miter lim="400000"/>
              </a:ln>
            </p:spPr>
            <p:txBody>
              <a:bodyPr wrap="square" lIns="28575" tIns="28575" rIns="28575" bIns="28575" anchor="ctr">
                <a:noAutofit/>
              </a:bodyPr>
              <a:lstStyle/>
              <a:p>
                <a:pPr algn="ctr"/>
                <a:r>
                  <a:rPr lang="en-US" b="1">
                    <a:solidFill>
                      <a:srgbClr val="FFFFFF"/>
                    </a:solidFill>
                  </a:rPr>
                  <a:t>01</a:t>
                </a:r>
              </a:p>
            </p:txBody>
          </p:sp>
          <p:sp>
            <p:nvSpPr>
              <p:cNvPr id="14" name="Freeform: Shape 13">
                <a:extLst>
                  <a:ext uri="{FF2B5EF4-FFF2-40B4-BE49-F238E27FC236}">
                    <a16:creationId xmlns:a16="http://schemas.microsoft.com/office/drawing/2014/main" id="{C9A958CE-B563-1DAB-DD3C-C8C00048298D}"/>
                  </a:ext>
                </a:extLst>
              </p:cNvPr>
              <p:cNvSpPr/>
              <p:nvPr/>
            </p:nvSpPr>
            <p:spPr>
              <a:xfrm>
                <a:off x="6828250" y="2163340"/>
                <a:ext cx="816704" cy="1131784"/>
              </a:xfrm>
              <a:custGeom>
                <a:avLst/>
                <a:gdLst>
                  <a:gd name="connsiteX0" fmla="*/ 171275 w 816704"/>
                  <a:gd name="connsiteY0" fmla="*/ 0 h 1131784"/>
                  <a:gd name="connsiteX1" fmla="*/ 257760 w 816704"/>
                  <a:gd name="connsiteY1" fmla="*/ 64672 h 1131784"/>
                  <a:gd name="connsiteX2" fmla="*/ 816107 w 816704"/>
                  <a:gd name="connsiteY2" fmla="*/ 1106528 h 1131784"/>
                  <a:gd name="connsiteX3" fmla="*/ 816704 w 816704"/>
                  <a:gd name="connsiteY3" fmla="*/ 1118358 h 1131784"/>
                  <a:gd name="connsiteX4" fmla="*/ 683519 w 816704"/>
                  <a:gd name="connsiteY4" fmla="*/ 1131784 h 1131784"/>
                  <a:gd name="connsiteX5" fmla="*/ 0 w 816704"/>
                  <a:gd name="connsiteY5" fmla="*/ 448266 h 1131784"/>
                  <a:gd name="connsiteX6" fmla="*/ 116734 w 816704"/>
                  <a:gd name="connsiteY6" fmla="*/ 66104 h 1131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704" h="1131784">
                    <a:moveTo>
                      <a:pt x="171275" y="0"/>
                    </a:moveTo>
                    <a:lnTo>
                      <a:pt x="257760" y="64672"/>
                    </a:lnTo>
                    <a:cubicBezTo>
                      <a:pt x="565230" y="318419"/>
                      <a:pt x="773599" y="687957"/>
                      <a:pt x="816107" y="1106528"/>
                    </a:cubicBezTo>
                    <a:lnTo>
                      <a:pt x="816704" y="1118358"/>
                    </a:lnTo>
                    <a:lnTo>
                      <a:pt x="683519" y="1131784"/>
                    </a:lnTo>
                    <a:cubicBezTo>
                      <a:pt x="306022" y="1131784"/>
                      <a:pt x="0" y="825763"/>
                      <a:pt x="0" y="448266"/>
                    </a:cubicBezTo>
                    <a:cubicBezTo>
                      <a:pt x="0" y="306704"/>
                      <a:pt x="43035" y="175194"/>
                      <a:pt x="116734" y="66104"/>
                    </a:cubicBezTo>
                    <a:close/>
                  </a:path>
                </a:pathLst>
              </a:custGeom>
              <a:solidFill>
                <a:schemeClr val="accent2"/>
              </a:solidFill>
              <a:ln w="12700">
                <a:miter lim="400000"/>
              </a:ln>
            </p:spPr>
            <p:txBody>
              <a:bodyPr wrap="square" lIns="137160" tIns="28575" rIns="28575" bIns="28575" anchor="ctr">
                <a:noAutofit/>
              </a:bodyPr>
              <a:lstStyle/>
              <a:p>
                <a:r>
                  <a:rPr lang="en-US" b="1">
                    <a:solidFill>
                      <a:schemeClr val="tx1">
                        <a:lumMod val="85000"/>
                        <a:lumOff val="15000"/>
                      </a:schemeClr>
                    </a:solidFill>
                  </a:rPr>
                  <a:t>02</a:t>
                </a:r>
              </a:p>
            </p:txBody>
          </p:sp>
          <p:sp>
            <p:nvSpPr>
              <p:cNvPr id="15" name="Freeform: Shape 14">
                <a:extLst>
                  <a:ext uri="{FF2B5EF4-FFF2-40B4-BE49-F238E27FC236}">
                    <a16:creationId xmlns:a16="http://schemas.microsoft.com/office/drawing/2014/main" id="{96DF95F2-40F2-B09B-BB72-E72FC8F31447}"/>
                  </a:ext>
                </a:extLst>
              </p:cNvPr>
              <p:cNvSpPr/>
              <p:nvPr/>
            </p:nvSpPr>
            <p:spPr>
              <a:xfrm>
                <a:off x="6828250" y="3562876"/>
                <a:ext cx="816704" cy="1131784"/>
              </a:xfrm>
              <a:custGeom>
                <a:avLst/>
                <a:gdLst>
                  <a:gd name="connsiteX0" fmla="*/ 683519 w 816704"/>
                  <a:gd name="connsiteY0" fmla="*/ 0 h 1131784"/>
                  <a:gd name="connsiteX1" fmla="*/ 816704 w 816704"/>
                  <a:gd name="connsiteY1" fmla="*/ 13426 h 1131784"/>
                  <a:gd name="connsiteX2" fmla="*/ 816107 w 816704"/>
                  <a:gd name="connsiteY2" fmla="*/ 25256 h 1131784"/>
                  <a:gd name="connsiteX3" fmla="*/ 257760 w 816704"/>
                  <a:gd name="connsiteY3" fmla="*/ 1067112 h 1131784"/>
                  <a:gd name="connsiteX4" fmla="*/ 171275 w 816704"/>
                  <a:gd name="connsiteY4" fmla="*/ 1131784 h 1131784"/>
                  <a:gd name="connsiteX5" fmla="*/ 116734 w 816704"/>
                  <a:gd name="connsiteY5" fmla="*/ 1065681 h 1131784"/>
                  <a:gd name="connsiteX6" fmla="*/ 0 w 816704"/>
                  <a:gd name="connsiteY6" fmla="*/ 683519 h 1131784"/>
                  <a:gd name="connsiteX7" fmla="*/ 683519 w 816704"/>
                  <a:gd name="connsiteY7" fmla="*/ 0 h 1131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704" h="1131784">
                    <a:moveTo>
                      <a:pt x="683519" y="0"/>
                    </a:moveTo>
                    <a:lnTo>
                      <a:pt x="816704" y="13426"/>
                    </a:lnTo>
                    <a:lnTo>
                      <a:pt x="816107" y="25256"/>
                    </a:lnTo>
                    <a:cubicBezTo>
                      <a:pt x="773599" y="443827"/>
                      <a:pt x="565230" y="813365"/>
                      <a:pt x="257760" y="1067112"/>
                    </a:cubicBezTo>
                    <a:lnTo>
                      <a:pt x="171275" y="1131784"/>
                    </a:lnTo>
                    <a:lnTo>
                      <a:pt x="116734" y="1065681"/>
                    </a:lnTo>
                    <a:cubicBezTo>
                      <a:pt x="43035" y="956590"/>
                      <a:pt x="0" y="825080"/>
                      <a:pt x="0" y="683519"/>
                    </a:cubicBezTo>
                    <a:cubicBezTo>
                      <a:pt x="0" y="306022"/>
                      <a:pt x="306022" y="0"/>
                      <a:pt x="683519" y="0"/>
                    </a:cubicBezTo>
                    <a:close/>
                  </a:path>
                </a:pathLst>
              </a:custGeom>
              <a:solidFill>
                <a:schemeClr val="accent3"/>
              </a:solidFill>
              <a:ln w="12700">
                <a:miter lim="400000"/>
              </a:ln>
            </p:spPr>
            <p:txBody>
              <a:bodyPr wrap="square" lIns="137160" tIns="28575" rIns="28575" bIns="28575" anchor="ctr">
                <a:noAutofit/>
              </a:bodyPr>
              <a:lstStyle/>
              <a:p>
                <a:r>
                  <a:rPr lang="en-US" b="1">
                    <a:solidFill>
                      <a:schemeClr val="bg1"/>
                    </a:solidFill>
                  </a:rPr>
                  <a:t>03</a:t>
                </a:r>
              </a:p>
            </p:txBody>
          </p:sp>
          <p:sp>
            <p:nvSpPr>
              <p:cNvPr id="16" name="Freeform: Shape 15">
                <a:extLst>
                  <a:ext uri="{FF2B5EF4-FFF2-40B4-BE49-F238E27FC236}">
                    <a16:creationId xmlns:a16="http://schemas.microsoft.com/office/drawing/2014/main" id="{38DF486C-CCBD-E740-3440-C34A845E6612}"/>
                  </a:ext>
                </a:extLst>
              </p:cNvPr>
              <p:cNvSpPr/>
              <p:nvPr/>
            </p:nvSpPr>
            <p:spPr>
              <a:xfrm>
                <a:off x="4547046" y="3562876"/>
                <a:ext cx="816704" cy="1131784"/>
              </a:xfrm>
              <a:custGeom>
                <a:avLst/>
                <a:gdLst>
                  <a:gd name="connsiteX0" fmla="*/ 133186 w 816704"/>
                  <a:gd name="connsiteY0" fmla="*/ 0 h 1131784"/>
                  <a:gd name="connsiteX1" fmla="*/ 816704 w 816704"/>
                  <a:gd name="connsiteY1" fmla="*/ 683519 h 1131784"/>
                  <a:gd name="connsiteX2" fmla="*/ 699970 w 816704"/>
                  <a:gd name="connsiteY2" fmla="*/ 1065681 h 1131784"/>
                  <a:gd name="connsiteX3" fmla="*/ 645429 w 816704"/>
                  <a:gd name="connsiteY3" fmla="*/ 1131784 h 1131784"/>
                  <a:gd name="connsiteX4" fmla="*/ 558944 w 816704"/>
                  <a:gd name="connsiteY4" fmla="*/ 1067112 h 1131784"/>
                  <a:gd name="connsiteX5" fmla="*/ 598 w 816704"/>
                  <a:gd name="connsiteY5" fmla="*/ 25256 h 1131784"/>
                  <a:gd name="connsiteX6" fmla="*/ 0 w 816704"/>
                  <a:gd name="connsiteY6" fmla="*/ 13426 h 1131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704" h="1131784">
                    <a:moveTo>
                      <a:pt x="133186" y="0"/>
                    </a:moveTo>
                    <a:cubicBezTo>
                      <a:pt x="510683" y="0"/>
                      <a:pt x="816704" y="306022"/>
                      <a:pt x="816704" y="683519"/>
                    </a:cubicBezTo>
                    <a:cubicBezTo>
                      <a:pt x="816704" y="825080"/>
                      <a:pt x="773670" y="956590"/>
                      <a:pt x="699970" y="1065681"/>
                    </a:cubicBezTo>
                    <a:lnTo>
                      <a:pt x="645429" y="1131784"/>
                    </a:lnTo>
                    <a:lnTo>
                      <a:pt x="558944" y="1067112"/>
                    </a:lnTo>
                    <a:cubicBezTo>
                      <a:pt x="251474" y="813365"/>
                      <a:pt x="43106" y="443827"/>
                      <a:pt x="598" y="25256"/>
                    </a:cubicBezTo>
                    <a:lnTo>
                      <a:pt x="0" y="13426"/>
                    </a:lnTo>
                    <a:close/>
                  </a:path>
                </a:pathLst>
              </a:custGeom>
              <a:solidFill>
                <a:schemeClr val="accent1"/>
              </a:solidFill>
              <a:ln w="12700">
                <a:miter lim="400000"/>
              </a:ln>
            </p:spPr>
            <p:txBody>
              <a:bodyPr wrap="square" lIns="28575" tIns="28575" rIns="137160" bIns="28575" anchor="ctr">
                <a:noAutofit/>
              </a:bodyPr>
              <a:lstStyle/>
              <a:p>
                <a:pPr algn="r"/>
                <a:r>
                  <a:rPr lang="en-US" b="1">
                    <a:solidFill>
                      <a:srgbClr val="FFFFFF"/>
                    </a:solidFill>
                  </a:rPr>
                  <a:t>05</a:t>
                </a:r>
              </a:p>
            </p:txBody>
          </p:sp>
          <p:sp>
            <p:nvSpPr>
              <p:cNvPr id="17" name="Freeform: Shape 16">
                <a:extLst>
                  <a:ext uri="{FF2B5EF4-FFF2-40B4-BE49-F238E27FC236}">
                    <a16:creationId xmlns:a16="http://schemas.microsoft.com/office/drawing/2014/main" id="{80C33137-FD1A-D44C-AA24-AC7DAC31839F}"/>
                  </a:ext>
                </a:extLst>
              </p:cNvPr>
              <p:cNvSpPr/>
              <p:nvPr/>
            </p:nvSpPr>
            <p:spPr>
              <a:xfrm>
                <a:off x="4547046" y="2163340"/>
                <a:ext cx="816704" cy="1131784"/>
              </a:xfrm>
              <a:custGeom>
                <a:avLst/>
                <a:gdLst>
                  <a:gd name="connsiteX0" fmla="*/ 645429 w 816704"/>
                  <a:gd name="connsiteY0" fmla="*/ 0 h 1131784"/>
                  <a:gd name="connsiteX1" fmla="*/ 699970 w 816704"/>
                  <a:gd name="connsiteY1" fmla="*/ 66104 h 1131784"/>
                  <a:gd name="connsiteX2" fmla="*/ 816704 w 816704"/>
                  <a:gd name="connsiteY2" fmla="*/ 448266 h 1131784"/>
                  <a:gd name="connsiteX3" fmla="*/ 133186 w 816704"/>
                  <a:gd name="connsiteY3" fmla="*/ 1131784 h 1131784"/>
                  <a:gd name="connsiteX4" fmla="*/ 0 w 816704"/>
                  <a:gd name="connsiteY4" fmla="*/ 1118358 h 1131784"/>
                  <a:gd name="connsiteX5" fmla="*/ 598 w 816704"/>
                  <a:gd name="connsiteY5" fmla="*/ 1106528 h 1131784"/>
                  <a:gd name="connsiteX6" fmla="*/ 558944 w 816704"/>
                  <a:gd name="connsiteY6" fmla="*/ 64672 h 1131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704" h="1131784">
                    <a:moveTo>
                      <a:pt x="645429" y="0"/>
                    </a:moveTo>
                    <a:lnTo>
                      <a:pt x="699970" y="66104"/>
                    </a:lnTo>
                    <a:cubicBezTo>
                      <a:pt x="773670" y="175194"/>
                      <a:pt x="816704" y="306704"/>
                      <a:pt x="816704" y="448266"/>
                    </a:cubicBezTo>
                    <a:cubicBezTo>
                      <a:pt x="816704" y="825763"/>
                      <a:pt x="510683" y="1131784"/>
                      <a:pt x="133186" y="1131784"/>
                    </a:cubicBezTo>
                    <a:lnTo>
                      <a:pt x="0" y="1118358"/>
                    </a:lnTo>
                    <a:lnTo>
                      <a:pt x="598" y="1106528"/>
                    </a:lnTo>
                    <a:cubicBezTo>
                      <a:pt x="43106" y="687957"/>
                      <a:pt x="251474" y="318419"/>
                      <a:pt x="558944" y="64672"/>
                    </a:cubicBezTo>
                    <a:close/>
                  </a:path>
                </a:pathLst>
              </a:custGeom>
              <a:solidFill>
                <a:schemeClr val="accent5"/>
              </a:solidFill>
              <a:ln w="12700">
                <a:miter lim="400000"/>
              </a:ln>
            </p:spPr>
            <p:txBody>
              <a:bodyPr wrap="square" lIns="28575" tIns="28575" rIns="137160" bIns="28575" anchor="ctr">
                <a:noAutofit/>
              </a:bodyPr>
              <a:lstStyle/>
              <a:p>
                <a:pPr algn="r"/>
                <a:r>
                  <a:rPr lang="en-US" b="1">
                    <a:solidFill>
                      <a:schemeClr val="tx1">
                        <a:lumMod val="85000"/>
                        <a:lumOff val="15000"/>
                      </a:schemeClr>
                    </a:solidFill>
                  </a:rPr>
                  <a:t>06</a:t>
                </a:r>
              </a:p>
            </p:txBody>
          </p:sp>
          <p:sp>
            <p:nvSpPr>
              <p:cNvPr id="19" name="Freeform: Shape 18">
                <a:extLst>
                  <a:ext uri="{FF2B5EF4-FFF2-40B4-BE49-F238E27FC236}">
                    <a16:creationId xmlns:a16="http://schemas.microsoft.com/office/drawing/2014/main" id="{8F3D9CBE-4C53-603F-4ED8-DA2C086BE2B2}"/>
                  </a:ext>
                </a:extLst>
              </p:cNvPr>
              <p:cNvSpPr/>
              <p:nvPr/>
            </p:nvSpPr>
            <p:spPr>
              <a:xfrm>
                <a:off x="5451669" y="4380270"/>
                <a:ext cx="1288662" cy="605122"/>
              </a:xfrm>
              <a:custGeom>
                <a:avLst/>
                <a:gdLst>
                  <a:gd name="connsiteX0" fmla="*/ 644331 w 1288662"/>
                  <a:gd name="connsiteY0" fmla="*/ 0 h 605122"/>
                  <a:gd name="connsiteX1" fmla="*/ 1274135 w 1288662"/>
                  <a:gd name="connsiteY1" fmla="*/ 417462 h 605122"/>
                  <a:gd name="connsiteX2" fmla="*/ 1288662 w 1288662"/>
                  <a:gd name="connsiteY2" fmla="*/ 464261 h 605122"/>
                  <a:gd name="connsiteX3" fmla="*/ 1250149 w 1288662"/>
                  <a:gd name="connsiteY3" fmla="*/ 482813 h 605122"/>
                  <a:gd name="connsiteX4" fmla="*/ 644331 w 1288662"/>
                  <a:gd name="connsiteY4" fmla="*/ 605122 h 605122"/>
                  <a:gd name="connsiteX5" fmla="*/ 38513 w 1288662"/>
                  <a:gd name="connsiteY5" fmla="*/ 482813 h 605122"/>
                  <a:gd name="connsiteX6" fmla="*/ 0 w 1288662"/>
                  <a:gd name="connsiteY6" fmla="*/ 464260 h 605122"/>
                  <a:gd name="connsiteX7" fmla="*/ 14527 w 1288662"/>
                  <a:gd name="connsiteY7" fmla="*/ 417462 h 605122"/>
                  <a:gd name="connsiteX8" fmla="*/ 644331 w 1288662"/>
                  <a:gd name="connsiteY8" fmla="*/ 0 h 605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8662" h="605122">
                    <a:moveTo>
                      <a:pt x="644331" y="0"/>
                    </a:moveTo>
                    <a:cubicBezTo>
                      <a:pt x="927454" y="0"/>
                      <a:pt x="1170371" y="172137"/>
                      <a:pt x="1274135" y="417462"/>
                    </a:cubicBezTo>
                    <a:lnTo>
                      <a:pt x="1288662" y="464261"/>
                    </a:lnTo>
                    <a:lnTo>
                      <a:pt x="1250149" y="482813"/>
                    </a:lnTo>
                    <a:cubicBezTo>
                      <a:pt x="1063945" y="561571"/>
                      <a:pt x="859224" y="605122"/>
                      <a:pt x="644331" y="605122"/>
                    </a:cubicBezTo>
                    <a:cubicBezTo>
                      <a:pt x="429438" y="605122"/>
                      <a:pt x="224717" y="561571"/>
                      <a:pt x="38513" y="482813"/>
                    </a:cubicBezTo>
                    <a:lnTo>
                      <a:pt x="0" y="464260"/>
                    </a:lnTo>
                    <a:lnTo>
                      <a:pt x="14527" y="417462"/>
                    </a:lnTo>
                    <a:cubicBezTo>
                      <a:pt x="118290" y="172137"/>
                      <a:pt x="361208" y="0"/>
                      <a:pt x="644331" y="0"/>
                    </a:cubicBezTo>
                    <a:close/>
                  </a:path>
                </a:pathLst>
              </a:custGeom>
              <a:solidFill>
                <a:schemeClr val="accent6"/>
              </a:solidFill>
              <a:ln w="12700">
                <a:miter lim="400000"/>
              </a:ln>
            </p:spPr>
            <p:txBody>
              <a:bodyPr wrap="square" lIns="28575" tIns="28575" rIns="28575" bIns="28575" anchor="ctr">
                <a:noAutofit/>
              </a:bodyPr>
              <a:lstStyle/>
              <a:p>
                <a:pPr algn="ctr"/>
                <a:r>
                  <a:rPr lang="en-US" b="1">
                    <a:solidFill>
                      <a:srgbClr val="FFFFFF"/>
                    </a:solidFill>
                  </a:rPr>
                  <a:t>04</a:t>
                </a:r>
              </a:p>
            </p:txBody>
          </p:sp>
        </p:grpSp>
        <p:sp>
          <p:nvSpPr>
            <p:cNvPr id="20" name="Rectangle 19">
              <a:extLst>
                <a:ext uri="{FF2B5EF4-FFF2-40B4-BE49-F238E27FC236}">
                  <a16:creationId xmlns:a16="http://schemas.microsoft.com/office/drawing/2014/main" id="{79B1874B-C6E0-28D8-A28F-4663CF60DE3A}"/>
                </a:ext>
              </a:extLst>
            </p:cNvPr>
            <p:cNvSpPr/>
            <p:nvPr/>
          </p:nvSpPr>
          <p:spPr>
            <a:xfrm>
              <a:off x="1131930" y="3004481"/>
              <a:ext cx="2264974" cy="461665"/>
            </a:xfrm>
            <a:prstGeom prst="rect">
              <a:avLst/>
            </a:prstGeom>
          </p:spPr>
          <p:txBody>
            <a:bodyPr wrap="square">
              <a:spAutoFit/>
            </a:bodyPr>
            <a:lstStyle/>
            <a:p>
              <a:pPr algn="ctr" defTabSz="685800" eaLnBrk="0" fontAlgn="base" hangingPunct="0">
                <a:spcBef>
                  <a:spcPct val="0"/>
                </a:spcBef>
                <a:spcAft>
                  <a:spcPct val="0"/>
                </a:spcAft>
                <a:defRPr/>
              </a:pPr>
              <a:r>
                <a:rPr lang="en-US" altLang="zh-CN" sz="1200" b="1">
                  <a:solidFill>
                    <a:srgbClr val="000000"/>
                  </a:solidFill>
                  <a:latin typeface="+mn-lt"/>
                  <a:ea typeface="STKaiti"/>
                </a:rPr>
                <a:t>DBS Private Bank / </a:t>
              </a:r>
            </a:p>
            <a:p>
              <a:pPr algn="ctr" defTabSz="685800" eaLnBrk="0" fontAlgn="base" hangingPunct="0">
                <a:spcBef>
                  <a:spcPct val="0"/>
                </a:spcBef>
                <a:spcAft>
                  <a:spcPct val="0"/>
                </a:spcAft>
                <a:defRPr/>
              </a:pPr>
              <a:r>
                <a:rPr lang="en-US" altLang="zh-CN" sz="1200" b="1">
                  <a:solidFill>
                    <a:srgbClr val="000000"/>
                  </a:solidFill>
                  <a:latin typeface="+mn-lt"/>
                  <a:ea typeface="STKaiti"/>
                </a:rPr>
                <a:t>Family Offices</a:t>
              </a:r>
            </a:p>
          </p:txBody>
        </p:sp>
        <p:sp>
          <p:nvSpPr>
            <p:cNvPr id="21" name="Rectangle 20">
              <a:extLst>
                <a:ext uri="{FF2B5EF4-FFF2-40B4-BE49-F238E27FC236}">
                  <a16:creationId xmlns:a16="http://schemas.microsoft.com/office/drawing/2014/main" id="{9F340FD3-B494-6A64-0ED2-C8AA8BFC6715}"/>
                </a:ext>
              </a:extLst>
            </p:cNvPr>
            <p:cNvSpPr/>
            <p:nvPr/>
          </p:nvSpPr>
          <p:spPr>
            <a:xfrm>
              <a:off x="5531634" y="5454863"/>
              <a:ext cx="2551661" cy="461665"/>
            </a:xfrm>
            <a:prstGeom prst="rect">
              <a:avLst/>
            </a:prstGeom>
          </p:spPr>
          <p:txBody>
            <a:bodyPr wrap="square">
              <a:spAutoFit/>
            </a:bodyPr>
            <a:lstStyle/>
            <a:p>
              <a:pPr defTabSz="685800" eaLnBrk="0" fontAlgn="base" hangingPunct="0">
                <a:spcBef>
                  <a:spcPct val="0"/>
                </a:spcBef>
                <a:spcAft>
                  <a:spcPct val="0"/>
                </a:spcAft>
                <a:defRPr/>
              </a:pPr>
              <a:r>
                <a:rPr lang="en-US" sz="1200">
                  <a:solidFill>
                    <a:srgbClr val="000000"/>
                  </a:solidFill>
                  <a:latin typeface="+mn-lt"/>
                  <a:ea typeface="STKaiti"/>
                </a:rPr>
                <a:t>Active SEA Funds that Invest in Hong Kong Equities</a:t>
              </a:r>
              <a:endParaRPr lang="en-US" altLang="zh-CN" sz="1200">
                <a:solidFill>
                  <a:srgbClr val="000000"/>
                </a:solidFill>
                <a:latin typeface="+mn-lt"/>
                <a:ea typeface="STKaiti"/>
              </a:endParaRPr>
            </a:p>
          </p:txBody>
        </p:sp>
        <p:sp>
          <p:nvSpPr>
            <p:cNvPr id="22" name="Rectangle 21">
              <a:extLst>
                <a:ext uri="{FF2B5EF4-FFF2-40B4-BE49-F238E27FC236}">
                  <a16:creationId xmlns:a16="http://schemas.microsoft.com/office/drawing/2014/main" id="{69AFBD72-1FC3-F5C2-E2E0-7A529B9FFC7E}"/>
                </a:ext>
              </a:extLst>
            </p:cNvPr>
            <p:cNvSpPr/>
            <p:nvPr/>
          </p:nvSpPr>
          <p:spPr>
            <a:xfrm>
              <a:off x="6694106" y="3072932"/>
              <a:ext cx="2303589" cy="461665"/>
            </a:xfrm>
            <a:prstGeom prst="rect">
              <a:avLst/>
            </a:prstGeom>
          </p:spPr>
          <p:txBody>
            <a:bodyPr wrap="square">
              <a:spAutoFit/>
            </a:bodyPr>
            <a:lstStyle/>
            <a:p>
              <a:pPr algn="ctr" defTabSz="685800" eaLnBrk="0" fontAlgn="base" hangingPunct="0">
                <a:spcBef>
                  <a:spcPct val="0"/>
                </a:spcBef>
                <a:spcAft>
                  <a:spcPct val="0"/>
                </a:spcAft>
                <a:defRPr/>
              </a:pPr>
              <a:r>
                <a:rPr lang="en-US" altLang="zh-CN" sz="1200">
                  <a:solidFill>
                    <a:srgbClr val="000000"/>
                  </a:solidFill>
                  <a:latin typeface="+mn-lt"/>
                  <a:ea typeface="STKaiti"/>
                </a:rPr>
                <a:t>Long-only Funds </a:t>
              </a:r>
              <a:r>
                <a:rPr lang="en-US" altLang="zh-CN" sz="1200" b="1">
                  <a:solidFill>
                    <a:srgbClr val="000000"/>
                  </a:solidFill>
                  <a:latin typeface="+mn-lt"/>
                  <a:ea typeface="STKaiti"/>
                </a:rPr>
                <a:t>that are </a:t>
              </a:r>
              <a:r>
                <a:rPr lang="en-US" altLang="zh-CN" sz="1200">
                  <a:solidFill>
                    <a:srgbClr val="000000"/>
                  </a:solidFill>
                  <a:latin typeface="+mn-lt"/>
                  <a:ea typeface="STKaiti"/>
                </a:rPr>
                <a:t>F</a:t>
              </a:r>
              <a:r>
                <a:rPr lang="en-US" altLang="zh-CN" sz="1200" b="1">
                  <a:solidFill>
                    <a:srgbClr val="000000"/>
                  </a:solidFill>
                  <a:latin typeface="+mn-lt"/>
                  <a:ea typeface="STKaiti"/>
                </a:rPr>
                <a:t>amiliar with the Sector</a:t>
              </a:r>
            </a:p>
          </p:txBody>
        </p:sp>
        <p:pic>
          <p:nvPicPr>
            <p:cNvPr id="23" name="Picture 14" descr="Image result for asean icon">
              <a:extLst>
                <a:ext uri="{FF2B5EF4-FFF2-40B4-BE49-F238E27FC236}">
                  <a16:creationId xmlns:a16="http://schemas.microsoft.com/office/drawing/2014/main" id="{98CC7805-8B12-0D6B-F5C9-48A21075FF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87612" y="5390218"/>
              <a:ext cx="509528" cy="50952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1A776CF3-4CD0-028D-F44F-46F3F5F7E5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82368" y="5397643"/>
              <a:ext cx="672569" cy="504427"/>
            </a:xfrm>
            <a:prstGeom prst="rect">
              <a:avLst/>
            </a:prstGeom>
          </p:spPr>
        </p:pic>
        <p:pic>
          <p:nvPicPr>
            <p:cNvPr id="25" name="Picture 24">
              <a:extLst>
                <a:ext uri="{FF2B5EF4-FFF2-40B4-BE49-F238E27FC236}">
                  <a16:creationId xmlns:a16="http://schemas.microsoft.com/office/drawing/2014/main" id="{B2ECA67B-3B76-43CF-A702-D325D5829B5B}"/>
                </a:ext>
              </a:extLst>
            </p:cNvPr>
            <p:cNvPicPr>
              <a:picLocks noChangeAspect="1"/>
            </p:cNvPicPr>
            <p:nvPr/>
          </p:nvPicPr>
          <p:blipFill>
            <a:blip r:embed="rId5"/>
            <a:srcRect l="3481" t="36223" r="68198" b="36734"/>
            <a:stretch/>
          </p:blipFill>
          <p:spPr>
            <a:xfrm>
              <a:off x="3110523" y="3135761"/>
              <a:ext cx="483469" cy="461666"/>
            </a:xfrm>
            <a:prstGeom prst="rect">
              <a:avLst/>
            </a:prstGeom>
          </p:spPr>
        </p:pic>
        <p:sp>
          <p:nvSpPr>
            <p:cNvPr id="26" name="Rectangle 25">
              <a:extLst>
                <a:ext uri="{FF2B5EF4-FFF2-40B4-BE49-F238E27FC236}">
                  <a16:creationId xmlns:a16="http://schemas.microsoft.com/office/drawing/2014/main" id="{A3B78DE8-D4FD-48F6-A056-389A6075EF09}"/>
                </a:ext>
              </a:extLst>
            </p:cNvPr>
            <p:cNvSpPr/>
            <p:nvPr/>
          </p:nvSpPr>
          <p:spPr>
            <a:xfrm>
              <a:off x="1076054" y="4734353"/>
              <a:ext cx="1879656" cy="461665"/>
            </a:xfrm>
            <a:prstGeom prst="rect">
              <a:avLst/>
            </a:prstGeom>
          </p:spPr>
          <p:txBody>
            <a:bodyPr wrap="square">
              <a:spAutoFit/>
            </a:bodyPr>
            <a:lstStyle/>
            <a:p>
              <a:pPr algn="ctr" defTabSz="685800" eaLnBrk="0" fontAlgn="base" hangingPunct="0">
                <a:spcBef>
                  <a:spcPct val="0"/>
                </a:spcBef>
                <a:spcAft>
                  <a:spcPct val="0"/>
                </a:spcAft>
                <a:defRPr/>
              </a:pPr>
              <a:r>
                <a:rPr lang="en-US" altLang="zh-CN" sz="1200" b="1">
                  <a:solidFill>
                    <a:srgbClr val="000000"/>
                  </a:solidFill>
                  <a:latin typeface="+mn-lt"/>
                  <a:ea typeface="STKaiti"/>
                </a:rPr>
                <a:t>Active Hedge Funds in Hong Kong</a:t>
              </a:r>
            </a:p>
          </p:txBody>
        </p:sp>
        <p:pic>
          <p:nvPicPr>
            <p:cNvPr id="27" name="Graphic 26" descr="Greek Temple with solid fill">
              <a:extLst>
                <a:ext uri="{FF2B5EF4-FFF2-40B4-BE49-F238E27FC236}">
                  <a16:creationId xmlns:a16="http://schemas.microsoft.com/office/drawing/2014/main" id="{951B24FB-7E52-4BF0-9B3E-5D40A9714CB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7691" y="4638208"/>
              <a:ext cx="522978" cy="522978"/>
            </a:xfrm>
            <a:prstGeom prst="rect">
              <a:avLst/>
            </a:prstGeom>
          </p:spPr>
        </p:pic>
        <p:sp>
          <p:nvSpPr>
            <p:cNvPr id="28" name="Rectangle 27">
              <a:extLst>
                <a:ext uri="{FF2B5EF4-FFF2-40B4-BE49-F238E27FC236}">
                  <a16:creationId xmlns:a16="http://schemas.microsoft.com/office/drawing/2014/main" id="{D43B99B5-66DC-FD17-6203-E93B9F9DB608}"/>
                </a:ext>
              </a:extLst>
            </p:cNvPr>
            <p:cNvSpPr/>
            <p:nvPr/>
          </p:nvSpPr>
          <p:spPr>
            <a:xfrm>
              <a:off x="6652160" y="4668153"/>
              <a:ext cx="1988920" cy="276999"/>
            </a:xfrm>
            <a:prstGeom prst="rect">
              <a:avLst/>
            </a:prstGeom>
          </p:spPr>
          <p:txBody>
            <a:bodyPr wrap="square">
              <a:spAutoFit/>
            </a:bodyPr>
            <a:lstStyle/>
            <a:p>
              <a:pPr algn="ctr" defTabSz="685800" eaLnBrk="0" fontAlgn="base" hangingPunct="0">
                <a:spcBef>
                  <a:spcPct val="0"/>
                </a:spcBef>
                <a:spcAft>
                  <a:spcPct val="0"/>
                </a:spcAft>
                <a:defRPr/>
              </a:pPr>
              <a:r>
                <a:rPr lang="en-US" altLang="zh-CN" sz="1200" b="1">
                  <a:solidFill>
                    <a:srgbClr val="000000"/>
                  </a:solidFill>
                  <a:latin typeface="+mn-lt"/>
                  <a:ea typeface="STKaiti"/>
                </a:rPr>
                <a:t>Sovereign Wealth Funds</a:t>
              </a:r>
            </a:p>
          </p:txBody>
        </p:sp>
        <p:pic>
          <p:nvPicPr>
            <p:cNvPr id="29" name="Graphic 28" descr="Bar graph with upward trend with solid fill">
              <a:extLst>
                <a:ext uri="{FF2B5EF4-FFF2-40B4-BE49-F238E27FC236}">
                  <a16:creationId xmlns:a16="http://schemas.microsoft.com/office/drawing/2014/main" id="{0BA15AAA-B13B-2056-ABFA-B31C468867C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23680" y="4648126"/>
              <a:ext cx="547892" cy="547892"/>
            </a:xfrm>
            <a:prstGeom prst="rect">
              <a:avLst/>
            </a:prstGeom>
          </p:spPr>
        </p:pic>
        <p:pic>
          <p:nvPicPr>
            <p:cNvPr id="30" name="Graphic 29" descr="City outline">
              <a:extLst>
                <a:ext uri="{FF2B5EF4-FFF2-40B4-BE49-F238E27FC236}">
                  <a16:creationId xmlns:a16="http://schemas.microsoft.com/office/drawing/2014/main" id="{C189953E-AE4B-DDE7-030C-90B63F676E4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59866" y="2229050"/>
              <a:ext cx="603462" cy="603462"/>
            </a:xfrm>
            <a:prstGeom prst="rect">
              <a:avLst/>
            </a:prstGeom>
          </p:spPr>
        </p:pic>
        <p:sp>
          <p:nvSpPr>
            <p:cNvPr id="31" name="Rectangle 30">
              <a:extLst>
                <a:ext uri="{FF2B5EF4-FFF2-40B4-BE49-F238E27FC236}">
                  <a16:creationId xmlns:a16="http://schemas.microsoft.com/office/drawing/2014/main" id="{A293E30B-7016-7597-060F-169B64BF8F65}"/>
                </a:ext>
              </a:extLst>
            </p:cNvPr>
            <p:cNvSpPr/>
            <p:nvPr/>
          </p:nvSpPr>
          <p:spPr>
            <a:xfrm>
              <a:off x="5293292" y="2267145"/>
              <a:ext cx="2717735" cy="276999"/>
            </a:xfrm>
            <a:prstGeom prst="rect">
              <a:avLst/>
            </a:prstGeom>
          </p:spPr>
          <p:txBody>
            <a:bodyPr wrap="square">
              <a:spAutoFit/>
            </a:bodyPr>
            <a:lstStyle/>
            <a:p>
              <a:pPr algn="ctr" defTabSz="685800" eaLnBrk="0" fontAlgn="base" hangingPunct="0">
                <a:spcBef>
                  <a:spcPct val="0"/>
                </a:spcBef>
                <a:spcAft>
                  <a:spcPct val="0"/>
                </a:spcAft>
                <a:defRPr/>
              </a:pPr>
              <a:r>
                <a:rPr lang="en-US" altLang="zh-CN" sz="1200" b="1">
                  <a:solidFill>
                    <a:srgbClr val="000000"/>
                  </a:solidFill>
                  <a:latin typeface="+mn-lt"/>
                  <a:ea typeface="STKaiti"/>
                </a:rPr>
                <a:t>Corporate and Strategic Investors</a:t>
              </a:r>
            </a:p>
          </p:txBody>
        </p:sp>
        <p:pic>
          <p:nvPicPr>
            <p:cNvPr id="33" name="Picture 32" descr="A black background with a black square&#10;&#10;AI-generated content may be incorrect.">
              <a:extLst>
                <a:ext uri="{FF2B5EF4-FFF2-40B4-BE49-F238E27FC236}">
                  <a16:creationId xmlns:a16="http://schemas.microsoft.com/office/drawing/2014/main" id="{FC03224D-1AD1-AFDF-2C90-CBBB30FED8E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015978" y="3041877"/>
              <a:ext cx="596696" cy="596696"/>
            </a:xfrm>
            <a:prstGeom prst="rect">
              <a:avLst/>
            </a:prstGeom>
          </p:spPr>
        </p:pic>
      </p:grpSp>
      <p:sp>
        <p:nvSpPr>
          <p:cNvPr id="34" name="Text Box 2589">
            <a:extLst>
              <a:ext uri="{FF2B5EF4-FFF2-40B4-BE49-F238E27FC236}">
                <a16:creationId xmlns:a16="http://schemas.microsoft.com/office/drawing/2014/main" id="{77B4466B-6DCF-3B24-FC35-BFB54EFD1521}"/>
              </a:ext>
            </a:extLst>
          </p:cNvPr>
          <p:cNvSpPr txBox="1">
            <a:spLocks noChangeArrowheads="1"/>
          </p:cNvSpPr>
          <p:nvPr/>
        </p:nvSpPr>
        <p:spPr bwMode="gray">
          <a:xfrm>
            <a:off x="717153" y="1131462"/>
            <a:ext cx="8496300" cy="1107996"/>
          </a:xfrm>
          <a:prstGeom prst="rect">
            <a:avLst/>
          </a:prstGeom>
          <a:solidFill>
            <a:srgbClr val="FEBFB3"/>
          </a:solidFill>
          <a:ln w="9525" cap="flat" cmpd="sng" algn="ctr">
            <a:noFill/>
            <a:prstDash val="solid"/>
            <a:headEnd/>
            <a:tailEnd/>
          </a:ln>
          <a:effectLst>
            <a:outerShdw blurRad="50800" dist="38100" dir="2700000" algn="tl" rotWithShape="0">
              <a:prstClr val="black">
                <a:alpha val="40000"/>
              </a:prstClr>
            </a:outerShdw>
          </a:effectLst>
        </p:spPr>
        <p:txBody>
          <a:bodyPr wrap="square" lIns="91440" tIns="91440" rIns="91440" bIns="91440" anchor="t" anchorCtr="0">
            <a:spAutoFit/>
          </a:bodyPr>
          <a:lstStyle/>
          <a:p>
            <a:pPr marL="209550" lvl="0" indent="-209550" algn="just" fontAlgn="auto">
              <a:spcBef>
                <a:spcPts val="0"/>
              </a:spcBef>
              <a:spcAft>
                <a:spcPts val="0"/>
              </a:spcAft>
              <a:buClr>
                <a:srgbClr val="BE050A"/>
              </a:buClr>
              <a:buFont typeface="Wingdings" pitchFamily="2" charset="2"/>
              <a:buChar char="n"/>
              <a:tabLst>
                <a:tab pos="1266124" algn="l"/>
              </a:tabLst>
              <a:defRPr/>
            </a:pPr>
            <a:r>
              <a:rPr lang="en-US" altLang="zh-CN" sz="1200" b="0" kern="0" dirty="0">
                <a:solidFill>
                  <a:sysClr val="windowText" lastClr="000000"/>
                </a:solidFill>
                <a:latin typeface="Calibri"/>
                <a:cs typeface="Calibri"/>
              </a:rPr>
              <a:t>DBS aims to leverage its distinctive investor network to support the distribution of SMG’s shares.</a:t>
            </a:r>
            <a:endParaRPr lang="en-US" sz="1800" dirty="0">
              <a:solidFill>
                <a:sysClr val="windowText" lastClr="000000"/>
              </a:solidFill>
              <a:latin typeface="Calibri"/>
              <a:cs typeface="Calibri"/>
            </a:endParaRPr>
          </a:p>
          <a:p>
            <a:pPr marL="209550" lvl="0" indent="-209550" algn="just" fontAlgn="auto">
              <a:spcBef>
                <a:spcPts val="0"/>
              </a:spcBef>
              <a:spcAft>
                <a:spcPts val="0"/>
              </a:spcAft>
              <a:buClr>
                <a:srgbClr val="BE050A"/>
              </a:buClr>
              <a:buFont typeface="Wingdings" pitchFamily="2" charset="2"/>
              <a:buChar char="n"/>
              <a:tabLst>
                <a:tab pos="1266124" algn="l"/>
              </a:tabLst>
              <a:defRPr/>
            </a:pPr>
            <a:r>
              <a:rPr lang="en-US" altLang="zh-CN" sz="1200" b="0" kern="0" dirty="0">
                <a:solidFill>
                  <a:sysClr val="windowText" lastClr="000000"/>
                </a:solidFill>
                <a:latin typeface="Calibri"/>
                <a:cs typeface="Calibri"/>
              </a:rPr>
              <a:t>The following types of institutions/investors maintain close cooperation with DBS and demonstrate strong potential investment interest in IPOs</a:t>
            </a:r>
          </a:p>
          <a:p>
            <a:pPr marL="209550" lvl="0" indent="-209550" algn="just" fontAlgn="auto">
              <a:spcBef>
                <a:spcPts val="0"/>
              </a:spcBef>
              <a:spcAft>
                <a:spcPts val="0"/>
              </a:spcAft>
              <a:buClr>
                <a:srgbClr val="BE050A"/>
              </a:buClr>
              <a:buFont typeface="Wingdings" pitchFamily="2" charset="2"/>
              <a:buChar char="n"/>
              <a:tabLst>
                <a:tab pos="1266124" algn="l"/>
              </a:tabLst>
              <a:defRPr/>
            </a:pPr>
            <a:r>
              <a:rPr lang="en-US" altLang="zh-CN" sz="1200" b="0" kern="0" dirty="0">
                <a:solidFill>
                  <a:sysClr val="windowText" lastClr="000000"/>
                </a:solidFill>
                <a:latin typeface="Calibri"/>
                <a:cs typeface="Calibri"/>
              </a:rPr>
              <a:t>With DBS’s leading position in Greater China, Singapore and Southeast Asia, we have strong influence over these investors. We believe our outstanding investor coverage network surpasses that of other global investment banks</a:t>
            </a:r>
          </a:p>
        </p:txBody>
      </p:sp>
      <p:sp>
        <p:nvSpPr>
          <p:cNvPr id="3" name="Slide Number Placeholder 2">
            <a:extLst>
              <a:ext uri="{FF2B5EF4-FFF2-40B4-BE49-F238E27FC236}">
                <a16:creationId xmlns:a16="http://schemas.microsoft.com/office/drawing/2014/main" id="{617E4F85-2311-E124-B979-BA0020923C3F}"/>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55</a:t>
            </a:fld>
            <a:endParaRPr lang="en-US" altLang="en-US" b="0">
              <a:solidFill>
                <a:srgbClr val="000000"/>
              </a:solidFill>
            </a:endParaRPr>
          </a:p>
        </p:txBody>
      </p:sp>
      <p:pic>
        <p:nvPicPr>
          <p:cNvPr id="1026" name="Picture 2" descr="About Us - Singapore Medical Group">
            <a:extLst>
              <a:ext uri="{FF2B5EF4-FFF2-40B4-BE49-F238E27FC236}">
                <a16:creationId xmlns:a16="http://schemas.microsoft.com/office/drawing/2014/main" id="{61B70A18-0372-06C7-33FF-43001A4C702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05657" y="3918158"/>
            <a:ext cx="1492158" cy="515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931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CBD69-B7B0-F0FE-E6A3-38B9352B4F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59452EE-5430-75A0-B08E-166D5DC8B653}"/>
              </a:ext>
            </a:extLst>
          </p:cNvPr>
          <p:cNvSpPr>
            <a:spLocks noGrp="1"/>
          </p:cNvSpPr>
          <p:nvPr>
            <p:ph type="title"/>
          </p:nvPr>
        </p:nvSpPr>
        <p:spPr/>
        <p:txBody>
          <a:bodyPr/>
          <a:lstStyle/>
          <a:p>
            <a:r>
              <a:rPr lang="en-US" altLang="zh-CN" sz="2000" b="1" dirty="0">
                <a:latin typeface="+mn-lt"/>
              </a:rPr>
              <a:t>1. Corporate and Strategic Investors</a:t>
            </a:r>
            <a:endParaRPr lang="en-US" sz="2000" b="1" dirty="0">
              <a:latin typeface="+mn-lt"/>
            </a:endParaRPr>
          </a:p>
        </p:txBody>
      </p:sp>
      <p:graphicFrame>
        <p:nvGraphicFramePr>
          <p:cNvPr id="2" name="Table 1">
            <a:extLst>
              <a:ext uri="{FF2B5EF4-FFF2-40B4-BE49-F238E27FC236}">
                <a16:creationId xmlns:a16="http://schemas.microsoft.com/office/drawing/2014/main" id="{9EF0B56D-ED5B-0F8C-BC9D-9BBAF341924A}"/>
              </a:ext>
            </a:extLst>
          </p:cNvPr>
          <p:cNvGraphicFramePr>
            <a:graphicFrameLocks noGrp="1"/>
          </p:cNvGraphicFramePr>
          <p:nvPr/>
        </p:nvGraphicFramePr>
        <p:xfrm>
          <a:off x="4754880" y="1151590"/>
          <a:ext cx="4465320" cy="4890016"/>
        </p:xfrm>
        <a:graphic>
          <a:graphicData uri="http://schemas.openxmlformats.org/drawingml/2006/table">
            <a:tbl>
              <a:tblPr firstRow="1" bandRow="1">
                <a:tableStyleId>{5C22544A-7EE6-4342-B048-85BDC9FD1C3A}</a:tableStyleId>
              </a:tblPr>
              <a:tblGrid>
                <a:gridCol w="371538">
                  <a:extLst>
                    <a:ext uri="{9D8B030D-6E8A-4147-A177-3AD203B41FA5}">
                      <a16:colId xmlns:a16="http://schemas.microsoft.com/office/drawing/2014/main" val="1235789269"/>
                    </a:ext>
                  </a:extLst>
                </a:gridCol>
                <a:gridCol w="1688477">
                  <a:extLst>
                    <a:ext uri="{9D8B030D-6E8A-4147-A177-3AD203B41FA5}">
                      <a16:colId xmlns:a16="http://schemas.microsoft.com/office/drawing/2014/main" val="2196379299"/>
                    </a:ext>
                  </a:extLst>
                </a:gridCol>
                <a:gridCol w="1308782">
                  <a:extLst>
                    <a:ext uri="{9D8B030D-6E8A-4147-A177-3AD203B41FA5}">
                      <a16:colId xmlns:a16="http://schemas.microsoft.com/office/drawing/2014/main" val="3017675633"/>
                    </a:ext>
                  </a:extLst>
                </a:gridCol>
                <a:gridCol w="1096523">
                  <a:extLst>
                    <a:ext uri="{9D8B030D-6E8A-4147-A177-3AD203B41FA5}">
                      <a16:colId xmlns:a16="http://schemas.microsoft.com/office/drawing/2014/main" val="1532800113"/>
                    </a:ext>
                  </a:extLst>
                </a:gridCol>
              </a:tblGrid>
              <a:tr h="305626">
                <a:tc>
                  <a:txBody>
                    <a:bodyPr/>
                    <a:lstStyle/>
                    <a:p>
                      <a:pPr algn="ctr"/>
                      <a:r>
                        <a:rPr lang="en-US" sz="1100" dirty="0">
                          <a:latin typeface="+mj-lt"/>
                          <a:cs typeface="Arial" panose="020B0604020202020204" pitchFamily="34" charset="0"/>
                        </a:rPr>
                        <a:t>#</a:t>
                      </a:r>
                    </a:p>
                  </a:txBody>
                  <a:tcPr marL="45720" marR="45720" marT="27432" marB="27432" anchor="ctr"/>
                </a:tc>
                <a:tc>
                  <a:txBody>
                    <a:bodyPr/>
                    <a:lstStyle/>
                    <a:p>
                      <a:pPr algn="ctr"/>
                      <a:r>
                        <a:rPr lang="en-US" altLang="zh-CN" sz="1100" dirty="0">
                          <a:latin typeface="+mj-lt"/>
                          <a:cs typeface="Arial" panose="020B0604020202020204" pitchFamily="34" charset="0"/>
                        </a:rPr>
                        <a:t>Investor</a:t>
                      </a:r>
                      <a:endParaRPr lang="en-US" sz="1100" dirty="0">
                        <a:latin typeface="+mj-lt"/>
                        <a:cs typeface="Arial" panose="020B0604020202020204" pitchFamily="34" charset="0"/>
                      </a:endParaRPr>
                    </a:p>
                  </a:txBody>
                  <a:tcPr marL="45720" marR="45720" marT="27432" marB="27432" anchor="ctr"/>
                </a:tc>
                <a:tc>
                  <a:txBody>
                    <a:bodyPr/>
                    <a:lstStyle/>
                    <a:p>
                      <a:pPr algn="ctr"/>
                      <a:r>
                        <a:rPr lang="en-US" sz="1100" dirty="0">
                          <a:latin typeface="+mj-lt"/>
                          <a:cs typeface="Arial" panose="020B0604020202020204" pitchFamily="34" charset="0"/>
                        </a:rPr>
                        <a:t>Major Business</a:t>
                      </a:r>
                    </a:p>
                  </a:txBody>
                  <a:tcPr marL="45720" marR="45720" marT="27432" marB="27432" anchor="ctr"/>
                </a:tc>
                <a:tc>
                  <a:txBody>
                    <a:bodyPr/>
                    <a:lstStyle/>
                    <a:p>
                      <a:pPr algn="ctr"/>
                      <a:r>
                        <a:rPr lang="en-US" sz="1100">
                          <a:latin typeface="+mj-lt"/>
                          <a:cs typeface="Arial" panose="020B0604020202020204" pitchFamily="34" charset="0"/>
                        </a:rPr>
                        <a:t>Region</a:t>
                      </a:r>
                    </a:p>
                  </a:txBody>
                  <a:tcPr marL="45720" marR="45720" marT="27432" marB="27432" anchor="ctr"/>
                </a:tc>
                <a:extLst>
                  <a:ext uri="{0D108BD9-81ED-4DB2-BD59-A6C34878D82A}">
                    <a16:rowId xmlns:a16="http://schemas.microsoft.com/office/drawing/2014/main" val="2086935850"/>
                  </a:ext>
                </a:extLst>
              </a:tr>
              <a:tr h="305626">
                <a:tc>
                  <a:txBody>
                    <a:bodyPr/>
                    <a:lstStyle/>
                    <a:p>
                      <a:pPr algn="ctr" rtl="0" fontAlgn="b"/>
                      <a:r>
                        <a:rPr lang="en-US" sz="1100" b="0" i="0" u="none" strike="noStrike" dirty="0">
                          <a:solidFill>
                            <a:schemeClr val="tx1"/>
                          </a:solidFill>
                          <a:effectLst/>
                          <a:latin typeface="+mj-lt"/>
                        </a:rPr>
                        <a:t>1</a:t>
                      </a:r>
                    </a:p>
                  </a:txBody>
                  <a:tcPr marL="45720" marR="45720" marT="27432" marB="27432"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AIA</a:t>
                      </a: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Insurance</a:t>
                      </a: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Hong Kong</a:t>
                      </a: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898378524"/>
                  </a:ext>
                </a:extLst>
              </a:tr>
              <a:tr h="305626">
                <a:tc>
                  <a:txBody>
                    <a:bodyPr/>
                    <a:lstStyle/>
                    <a:p>
                      <a:pPr marL="0" algn="ctr" defTabSz="914400" rtl="0" eaLnBrk="1" fontAlgn="b" latinLnBrk="0" hangingPunct="1">
                        <a:buNone/>
                      </a:pPr>
                      <a:r>
                        <a:rPr lang="en-US" sz="1100" b="0" i="0" u="none" strike="noStrike" kern="1200" dirty="0">
                          <a:solidFill>
                            <a:srgbClr val="000000"/>
                          </a:solidFill>
                          <a:effectLst/>
                          <a:latin typeface="+mj-lt"/>
                          <a:ea typeface="+mn-ea"/>
                          <a:cs typeface="+mn-cs"/>
                        </a:rPr>
                        <a:t>2</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China Life Insurance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Insurance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957671457"/>
                  </a:ext>
                </a:extLst>
              </a:tr>
              <a:tr h="305626">
                <a:tc>
                  <a:txBody>
                    <a:bodyPr/>
                    <a:lstStyle/>
                    <a:p>
                      <a:pPr marL="0" algn="ctr" defTabSz="914400" rtl="0" eaLnBrk="1" fontAlgn="b" latinLnBrk="0" hangingPunct="1">
                        <a:buNone/>
                      </a:pPr>
                      <a:r>
                        <a:rPr lang="en-US" sz="1100" b="0" i="0" u="none" strike="noStrike" kern="1200" dirty="0">
                          <a:solidFill>
                            <a:srgbClr val="000000"/>
                          </a:solidFill>
                          <a:effectLst/>
                          <a:latin typeface="+mj-lt"/>
                          <a:ea typeface="+mn-ea"/>
                          <a:cs typeface="+mn-cs"/>
                        </a:rPr>
                        <a:t>3</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Prudential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Insurance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853189411"/>
                  </a:ext>
                </a:extLst>
              </a:tr>
              <a:tr h="305626">
                <a:tc>
                  <a:txBody>
                    <a:bodyPr/>
                    <a:lstStyle/>
                    <a:p>
                      <a:pPr marL="0" algn="ctr" defTabSz="914400" rtl="0" eaLnBrk="1" fontAlgn="b" latinLnBrk="0" hangingPunct="1">
                        <a:buNone/>
                      </a:pPr>
                      <a:r>
                        <a:rPr lang="en-GB" sz="1100" b="0" i="0" u="none" strike="noStrike" kern="1200">
                          <a:solidFill>
                            <a:srgbClr val="000000"/>
                          </a:solidFill>
                          <a:effectLst/>
                          <a:latin typeface="+mj-lt"/>
                          <a:ea typeface="+mn-ea"/>
                          <a:cs typeface="+mn-cs"/>
                        </a:rPr>
                        <a:t>4</a:t>
                      </a:r>
                      <a:endParaRPr lang="en-US" sz="1100" b="0" i="0" u="none" strike="noStrike" kern="1200">
                        <a:solidFill>
                          <a:srgbClr val="000000"/>
                        </a:solidFill>
                        <a:effectLst/>
                        <a:latin typeface="+mj-lt"/>
                        <a:ea typeface="+mn-ea"/>
                        <a:cs typeface="+mn-cs"/>
                      </a:endParaRP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Taikang Insurance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Insurance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854135969"/>
                  </a:ext>
                </a:extLst>
              </a:tr>
              <a:tr h="305626">
                <a:tc>
                  <a:txBody>
                    <a:bodyPr/>
                    <a:lstStyle/>
                    <a:p>
                      <a:pPr marL="0" algn="ctr" defTabSz="914400" rtl="0" eaLnBrk="1" fontAlgn="b" latinLnBrk="0" hangingPunct="1">
                        <a:buNone/>
                      </a:pPr>
                      <a:r>
                        <a:rPr lang="en-GB" sz="1100" b="0" i="0" u="none" strike="noStrike" kern="1200">
                          <a:solidFill>
                            <a:srgbClr val="000000"/>
                          </a:solidFill>
                          <a:effectLst/>
                          <a:latin typeface="+mj-lt"/>
                          <a:ea typeface="+mn-ea"/>
                          <a:cs typeface="+mn-cs"/>
                        </a:rPr>
                        <a:t>5</a:t>
                      </a:r>
                      <a:endParaRPr lang="en-US" sz="1100" b="0" i="0" u="none" strike="noStrike" kern="1200">
                        <a:solidFill>
                          <a:srgbClr val="000000"/>
                        </a:solidFill>
                        <a:effectLst/>
                        <a:latin typeface="+mj-lt"/>
                        <a:ea typeface="+mn-ea"/>
                        <a:cs typeface="+mn-cs"/>
                      </a:endParaRP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BDMS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Hospital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Thailand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4039803664"/>
                  </a:ext>
                </a:extLst>
              </a:tr>
              <a:tr h="305626">
                <a:tc>
                  <a:txBody>
                    <a:bodyPr/>
                    <a:lstStyle/>
                    <a:p>
                      <a:pPr marL="0" algn="ctr" defTabSz="914400" rtl="0" eaLnBrk="1" fontAlgn="b" latinLnBrk="0" hangingPunct="1">
                        <a:buNone/>
                      </a:pPr>
                      <a:r>
                        <a:rPr lang="en-GB" sz="1100" b="0" i="0" u="none" strike="noStrike" kern="1200">
                          <a:solidFill>
                            <a:srgbClr val="000000"/>
                          </a:solidFill>
                          <a:effectLst/>
                          <a:latin typeface="+mj-lt"/>
                          <a:ea typeface="+mn-ea"/>
                          <a:cs typeface="+mn-cs"/>
                        </a:rPr>
                        <a:t>6</a:t>
                      </a:r>
                      <a:endParaRPr lang="en-US" sz="1100" b="0" i="0" u="none" strike="noStrike" kern="1200">
                        <a:solidFill>
                          <a:srgbClr val="000000"/>
                        </a:solidFill>
                        <a:effectLst/>
                        <a:latin typeface="+mj-lt"/>
                        <a:ea typeface="+mn-ea"/>
                        <a:cs typeface="+mn-cs"/>
                      </a:endParaRP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Bumrungrad International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Hospital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Thailand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371454734"/>
                  </a:ext>
                </a:extLst>
              </a:tr>
              <a:tr h="305626">
                <a:tc>
                  <a:txBody>
                    <a:bodyPr/>
                    <a:lstStyle/>
                    <a:p>
                      <a:pPr marL="0" algn="ctr" defTabSz="914400" rtl="0" eaLnBrk="1" fontAlgn="b" latinLnBrk="0" hangingPunct="1">
                        <a:buNone/>
                      </a:pPr>
                      <a:r>
                        <a:rPr lang="en-GB" sz="1100" b="0" i="0" u="none" strike="noStrike" kern="1200">
                          <a:solidFill>
                            <a:srgbClr val="000000"/>
                          </a:solidFill>
                          <a:effectLst/>
                          <a:latin typeface="+mj-lt"/>
                          <a:ea typeface="+mn-ea"/>
                          <a:cs typeface="+mn-cs"/>
                        </a:rPr>
                        <a:t>7</a:t>
                      </a:r>
                      <a:endParaRPr lang="en-US" sz="1100" b="0" i="0" u="none" strike="noStrike" kern="1200">
                        <a:solidFill>
                          <a:srgbClr val="000000"/>
                        </a:solidFill>
                        <a:effectLst/>
                        <a:latin typeface="+mj-lt"/>
                        <a:ea typeface="+mn-ea"/>
                        <a:cs typeface="+mn-cs"/>
                      </a:endParaRP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IHH Healthcare </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Hospital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Malaysia</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59043622"/>
                  </a:ext>
                </a:extLst>
              </a:tr>
              <a:tr h="305626">
                <a:tc>
                  <a:txBody>
                    <a:bodyPr/>
                    <a:lstStyle/>
                    <a:p>
                      <a:pPr marL="0" algn="ctr" defTabSz="914400" rtl="0" eaLnBrk="1" fontAlgn="b" latinLnBrk="0" hangingPunct="1">
                        <a:buNone/>
                      </a:pPr>
                      <a:r>
                        <a:rPr lang="en-GB" sz="1100" b="0" i="0" u="none" strike="noStrike" kern="1200">
                          <a:solidFill>
                            <a:srgbClr val="000000"/>
                          </a:solidFill>
                          <a:effectLst/>
                          <a:latin typeface="+mj-lt"/>
                          <a:ea typeface="+mn-ea"/>
                          <a:cs typeface="+mn-cs"/>
                        </a:rPr>
                        <a:t>8</a:t>
                      </a:r>
                      <a:endParaRPr lang="en-US" sz="1100" b="0" i="0" u="none" strike="noStrike" kern="1200">
                        <a:solidFill>
                          <a:srgbClr val="000000"/>
                        </a:solidFill>
                        <a:effectLst/>
                        <a:latin typeface="+mj-lt"/>
                        <a:ea typeface="+mn-ea"/>
                        <a:cs typeface="+mn-cs"/>
                      </a:endParaRP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BeOne Medicines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Pharma</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347298420"/>
                  </a:ext>
                </a:extLst>
              </a:tr>
              <a:tr h="305626">
                <a:tc>
                  <a:txBody>
                    <a:bodyPr/>
                    <a:lstStyle/>
                    <a:p>
                      <a:pPr marL="0" algn="ctr" defTabSz="914400" rtl="0" eaLnBrk="1" fontAlgn="b" latinLnBrk="0" hangingPunct="1">
                        <a:buNone/>
                      </a:pPr>
                      <a:r>
                        <a:rPr lang="en-GB" sz="1100" b="0" i="0" u="none" strike="noStrike" kern="1200">
                          <a:solidFill>
                            <a:srgbClr val="000000"/>
                          </a:solidFill>
                          <a:effectLst/>
                          <a:latin typeface="+mj-lt"/>
                          <a:ea typeface="+mn-ea"/>
                          <a:cs typeface="+mn-cs"/>
                        </a:rPr>
                        <a:t>9</a:t>
                      </a:r>
                      <a:endParaRPr lang="en-US" sz="1100" b="0" i="0" u="none" strike="noStrike" kern="1200">
                        <a:solidFill>
                          <a:srgbClr val="000000"/>
                        </a:solidFill>
                        <a:effectLst/>
                        <a:latin typeface="+mj-lt"/>
                        <a:ea typeface="+mn-ea"/>
                        <a:cs typeface="+mn-cs"/>
                      </a:endParaRP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China Medical System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Pharma</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453291849"/>
                  </a:ext>
                </a:extLst>
              </a:tr>
              <a:tr h="305626">
                <a:tc>
                  <a:txBody>
                    <a:bodyPr/>
                    <a:lstStyle/>
                    <a:p>
                      <a:pPr marL="0" algn="ctr" defTabSz="914400" rtl="0" eaLnBrk="1" fontAlgn="b" latinLnBrk="0" hangingPunct="1">
                        <a:buNone/>
                      </a:pPr>
                      <a:r>
                        <a:rPr lang="en-GB" sz="1100" b="0" i="0" u="none" strike="noStrike" kern="1200">
                          <a:solidFill>
                            <a:srgbClr val="000000"/>
                          </a:solidFill>
                          <a:effectLst/>
                          <a:latin typeface="+mj-lt"/>
                          <a:ea typeface="+mn-ea"/>
                          <a:cs typeface="+mn-cs"/>
                        </a:rPr>
                        <a:t>1</a:t>
                      </a:r>
                      <a:r>
                        <a:rPr lang="en-US" sz="1100" b="0" i="0" u="none" strike="noStrike" kern="1200">
                          <a:solidFill>
                            <a:srgbClr val="000000"/>
                          </a:solidFill>
                          <a:effectLst/>
                          <a:latin typeface="+mj-lt"/>
                          <a:ea typeface="+mn-ea"/>
                          <a:cs typeface="+mn-cs"/>
                        </a:rPr>
                        <a:t>0</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Hengrui Pharmaceuticals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Pharma</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780032237"/>
                  </a:ext>
                </a:extLst>
              </a:tr>
              <a:tr h="305626">
                <a:tc>
                  <a:txBody>
                    <a:bodyPr/>
                    <a:lstStyle/>
                    <a:p>
                      <a:pPr marL="0" algn="ctr" defTabSz="914400" rtl="0" eaLnBrk="1" fontAlgn="b" latinLnBrk="0" hangingPunct="1">
                        <a:buNone/>
                      </a:pPr>
                      <a:r>
                        <a:rPr lang="en-US" sz="1100" b="0" i="0" u="none" strike="noStrike" kern="1200">
                          <a:solidFill>
                            <a:srgbClr val="000000"/>
                          </a:solidFill>
                          <a:effectLst/>
                          <a:latin typeface="+mj-lt"/>
                          <a:ea typeface="+mn-ea"/>
                          <a:cs typeface="+mn-cs"/>
                        </a:rPr>
                        <a:t>11</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Innovent Biologics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Pharma</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33414206"/>
                  </a:ext>
                </a:extLst>
              </a:tr>
              <a:tr h="305626">
                <a:tc>
                  <a:txBody>
                    <a:bodyPr/>
                    <a:lstStyle/>
                    <a:p>
                      <a:pPr marL="0" algn="ctr" defTabSz="914400" rtl="0" eaLnBrk="1" fontAlgn="b" latinLnBrk="0" hangingPunct="1">
                        <a:buNone/>
                      </a:pPr>
                      <a:r>
                        <a:rPr lang="en-US" sz="1100" b="0" i="0" u="none" strike="noStrike" kern="1200">
                          <a:solidFill>
                            <a:srgbClr val="000000"/>
                          </a:solidFill>
                          <a:effectLst/>
                          <a:latin typeface="+mj-lt"/>
                          <a:ea typeface="+mn-ea"/>
                          <a:cs typeface="+mn-cs"/>
                        </a:rPr>
                        <a:t>12</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err="1">
                          <a:solidFill>
                            <a:srgbClr val="000000"/>
                          </a:solidFill>
                          <a:effectLst/>
                          <a:latin typeface="Arial" panose="020B0604020202020204" pitchFamily="34" charset="0"/>
                        </a:rPr>
                        <a:t>WuXi</a:t>
                      </a:r>
                      <a:r>
                        <a:rPr lang="en-US" sz="1100" b="0" i="0" u="none" strike="noStrike" dirty="0">
                          <a:solidFill>
                            <a:srgbClr val="000000"/>
                          </a:solidFill>
                          <a:effectLst/>
                          <a:latin typeface="Arial" panose="020B0604020202020204" pitchFamily="34" charset="0"/>
                        </a:rPr>
                        <a:t> AppTec</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Pharma</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491067870"/>
                  </a:ext>
                </a:extLst>
              </a:tr>
              <a:tr h="305626">
                <a:tc>
                  <a:txBody>
                    <a:bodyPr/>
                    <a:lstStyle/>
                    <a:p>
                      <a:pPr marL="0" algn="ctr" defTabSz="914400" rtl="0" eaLnBrk="1" fontAlgn="b" latinLnBrk="0" hangingPunct="1">
                        <a:buNone/>
                      </a:pPr>
                      <a:r>
                        <a:rPr lang="en-US" sz="1100" b="0" i="0" u="none" strike="noStrike" kern="1200">
                          <a:solidFill>
                            <a:srgbClr val="000000"/>
                          </a:solidFill>
                          <a:effectLst/>
                          <a:latin typeface="+mj-lt"/>
                          <a:ea typeface="+mn-ea"/>
                          <a:cs typeface="+mn-cs"/>
                        </a:rPr>
                        <a:t>13</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China Resources Group</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Conglomerate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026987669"/>
                  </a:ext>
                </a:extLst>
              </a:tr>
              <a:tr h="305626">
                <a:tc>
                  <a:txBody>
                    <a:bodyPr/>
                    <a:lstStyle/>
                    <a:p>
                      <a:pPr marL="0" algn="ctr" defTabSz="914400" rtl="0" eaLnBrk="1" fontAlgn="b" latinLnBrk="0" hangingPunct="1">
                        <a:buNone/>
                      </a:pPr>
                      <a:r>
                        <a:rPr lang="en-US" sz="1100" b="0" i="0" u="none" strike="noStrike" kern="1200">
                          <a:solidFill>
                            <a:srgbClr val="000000"/>
                          </a:solidFill>
                          <a:effectLst/>
                          <a:latin typeface="+mj-lt"/>
                          <a:ea typeface="+mn-ea"/>
                          <a:cs typeface="+mn-cs"/>
                        </a:rPr>
                        <a:t>14</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K.wah Group</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Conglomerate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60879602"/>
                  </a:ext>
                </a:extLst>
              </a:tr>
              <a:tr h="305626">
                <a:tc>
                  <a:txBody>
                    <a:bodyPr/>
                    <a:lstStyle/>
                    <a:p>
                      <a:pPr marL="0" algn="ctr" defTabSz="914400" rtl="0" eaLnBrk="1" fontAlgn="b" latinLnBrk="0" hangingPunct="1">
                        <a:buNone/>
                      </a:pPr>
                      <a:r>
                        <a:rPr lang="en-US" sz="1100" b="0" i="0" u="none" strike="noStrike" kern="1200">
                          <a:solidFill>
                            <a:srgbClr val="000000"/>
                          </a:solidFill>
                          <a:effectLst/>
                          <a:latin typeface="+mj-lt"/>
                          <a:ea typeface="+mn-ea"/>
                          <a:cs typeface="+mn-cs"/>
                        </a:rPr>
                        <a:t>15</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Ping An </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Arial" panose="020B0604020202020204" pitchFamily="34" charset="0"/>
                        </a:rPr>
                        <a:t>Conglomerate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1100" b="0" i="0" u="none" strike="noStrike" dirty="0">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834432375"/>
                  </a:ext>
                </a:extLst>
              </a:tr>
            </a:tbl>
          </a:graphicData>
        </a:graphic>
      </p:graphicFrame>
      <p:sp>
        <p:nvSpPr>
          <p:cNvPr id="4" name="Freeform: Shape 43">
            <a:extLst>
              <a:ext uri="{FF2B5EF4-FFF2-40B4-BE49-F238E27FC236}">
                <a16:creationId xmlns:a16="http://schemas.microsoft.com/office/drawing/2014/main" id="{FD7F0E21-0D09-C3B3-28E7-4496ED30AE49}"/>
              </a:ext>
            </a:extLst>
          </p:cNvPr>
          <p:cNvSpPr/>
          <p:nvPr/>
        </p:nvSpPr>
        <p:spPr>
          <a:xfrm>
            <a:off x="1744626" y="3810226"/>
            <a:ext cx="2882237" cy="2231380"/>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gradFill rotWithShape="1">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0"/>
              </a:srgbClr>
            </a:outerShdw>
          </a:effectLst>
        </p:spPr>
        <p:txBody>
          <a:bodyPr wrap="square" lIns="68580" tIns="68580" rIns="68580" bIns="68580" anchor="t" anchorCtr="0">
            <a:spAutoFit/>
          </a:bodyPr>
          <a:lstStyle/>
          <a:p>
            <a:pPr marL="228600" indent="-228600" algn="just" defTabSz="685800" eaLnBrk="0" hangingPunct="0">
              <a:spcBef>
                <a:spcPts val="300"/>
              </a:spcBef>
              <a:spcAft>
                <a:spcPts val="300"/>
              </a:spcAft>
              <a:buClr>
                <a:srgbClr val="BE050A"/>
              </a:buClr>
              <a:buFont typeface="Wingdings" pitchFamily="2" charset="2"/>
              <a:buChar char="n"/>
            </a:pPr>
            <a:r>
              <a:rPr lang="en-US" sz="1100" b="0" kern="0">
                <a:solidFill>
                  <a:srgbClr val="000000"/>
                </a:solidFill>
                <a:latin typeface="+mn-lt"/>
                <a:ea typeface="Calibri" panose="020F0502020204030204" pitchFamily="34" charset="0"/>
                <a:cs typeface="Arial" panose="020B0604020202020204" pitchFamily="34" charset="0"/>
              </a:rPr>
              <a:t>A vast corporate banking coverage network with over 200,000 clients </a:t>
            </a:r>
          </a:p>
          <a:p>
            <a:pPr marL="228600" indent="-228600" algn="just" defTabSz="685800" eaLnBrk="0" hangingPunct="0">
              <a:spcBef>
                <a:spcPts val="300"/>
              </a:spcBef>
              <a:spcAft>
                <a:spcPts val="300"/>
              </a:spcAft>
              <a:buClr>
                <a:srgbClr val="BE050A"/>
              </a:buClr>
              <a:buFont typeface="Wingdings" pitchFamily="2" charset="2"/>
              <a:buChar char="n"/>
            </a:pPr>
            <a:r>
              <a:rPr lang="en-US" sz="1100" b="0" kern="0">
                <a:solidFill>
                  <a:srgbClr val="000000"/>
                </a:solidFill>
                <a:latin typeface="+mn-lt"/>
                <a:ea typeface="Calibri" panose="020F0502020204030204" pitchFamily="34" charset="0"/>
                <a:cs typeface="Arial" panose="020B0604020202020204" pitchFamily="34" charset="0"/>
              </a:rPr>
              <a:t>One of the largest foreign banks operating in China onshore and covering PRC corporates offshore</a:t>
            </a:r>
          </a:p>
          <a:p>
            <a:pPr marL="228600" indent="-228600" algn="just" defTabSz="685800" eaLnBrk="0" hangingPunct="0">
              <a:spcBef>
                <a:spcPts val="300"/>
              </a:spcBef>
              <a:spcAft>
                <a:spcPts val="300"/>
              </a:spcAft>
              <a:buClr>
                <a:srgbClr val="BE050A"/>
              </a:buClr>
              <a:buFont typeface="Wingdings" pitchFamily="2" charset="2"/>
              <a:buChar char="n"/>
            </a:pPr>
            <a:r>
              <a:rPr lang="en-US" sz="1100" b="0" kern="0">
                <a:solidFill>
                  <a:srgbClr val="000000"/>
                </a:solidFill>
                <a:latin typeface="+mn-lt"/>
                <a:ea typeface="Calibri" panose="020F0502020204030204" pitchFamily="34" charset="0"/>
                <a:cs typeface="Arial" panose="020B0604020202020204" pitchFamily="34" charset="0"/>
              </a:rPr>
              <a:t>A proven track record of bringing in strategic investors into IPO deals, recent examples include Haier, </a:t>
            </a:r>
            <a:r>
              <a:rPr lang="en-US" sz="1100" b="0" kern="0" err="1">
                <a:solidFill>
                  <a:srgbClr val="000000"/>
                </a:solidFill>
                <a:latin typeface="+mn-lt"/>
                <a:ea typeface="Calibri" panose="020F0502020204030204" pitchFamily="34" charset="0"/>
                <a:cs typeface="Arial" panose="020B0604020202020204" pitchFamily="34" charset="0"/>
              </a:rPr>
              <a:t>Hanhua</a:t>
            </a:r>
            <a:r>
              <a:rPr lang="en-US" sz="1100" b="0" kern="0">
                <a:solidFill>
                  <a:srgbClr val="000000"/>
                </a:solidFill>
                <a:latin typeface="+mn-lt"/>
                <a:ea typeface="Calibri" panose="020F0502020204030204" pitchFamily="34" charset="0"/>
                <a:cs typeface="Arial" panose="020B0604020202020204" pitchFamily="34" charset="0"/>
              </a:rPr>
              <a:t>, China Electronics Corp, TCL etc.</a:t>
            </a:r>
          </a:p>
          <a:p>
            <a:pPr marL="228600" indent="-228600" algn="just" defTabSz="685800" eaLnBrk="0" hangingPunct="0">
              <a:spcBef>
                <a:spcPts val="300"/>
              </a:spcBef>
              <a:spcAft>
                <a:spcPts val="300"/>
              </a:spcAft>
              <a:buClr>
                <a:srgbClr val="BE050A"/>
              </a:buClr>
              <a:buFont typeface="Wingdings" pitchFamily="2" charset="2"/>
              <a:buChar char="n"/>
            </a:pPr>
            <a:r>
              <a:rPr lang="en-US" sz="1100" b="0" kern="0">
                <a:solidFill>
                  <a:srgbClr val="000000"/>
                </a:solidFill>
                <a:latin typeface="+mn-lt"/>
                <a:ea typeface="Calibri" panose="020F0502020204030204" pitchFamily="34" charset="0"/>
                <a:cs typeface="Arial" panose="020B0604020202020204" pitchFamily="34" charset="0"/>
              </a:rPr>
              <a:t>Able to offer balance sheet and QDII support where needed</a:t>
            </a:r>
          </a:p>
        </p:txBody>
      </p:sp>
      <p:sp>
        <p:nvSpPr>
          <p:cNvPr id="6" name="Freeform: Shape 90">
            <a:extLst>
              <a:ext uri="{FF2B5EF4-FFF2-40B4-BE49-F238E27FC236}">
                <a16:creationId xmlns:a16="http://schemas.microsoft.com/office/drawing/2014/main" id="{979D809C-FC71-5FD2-FA68-7D2699F01933}"/>
              </a:ext>
            </a:extLst>
          </p:cNvPr>
          <p:cNvSpPr/>
          <p:nvPr/>
        </p:nvSpPr>
        <p:spPr>
          <a:xfrm>
            <a:off x="734150" y="1175192"/>
            <a:ext cx="1018435" cy="2066544"/>
          </a:xfrm>
          <a:custGeom>
            <a:avLst/>
            <a:gdLst>
              <a:gd name="connsiteX0" fmla="*/ 103223 w 1210460"/>
              <a:gd name="connsiteY0" fmla="*/ 0 h 1268244"/>
              <a:gd name="connsiteX1" fmla="*/ 1210460 w 1210460"/>
              <a:gd name="connsiteY1" fmla="*/ 0 h 1268244"/>
              <a:gd name="connsiteX2" fmla="*/ 1210460 w 1210460"/>
              <a:gd name="connsiteY2" fmla="*/ 1268244 h 1268244"/>
              <a:gd name="connsiteX3" fmla="*/ 103223 w 1210460"/>
              <a:gd name="connsiteY3" fmla="*/ 1268244 h 1268244"/>
              <a:gd name="connsiteX4" fmla="*/ 0 w 1210460"/>
              <a:gd name="connsiteY4" fmla="*/ 1165022 h 1268244"/>
              <a:gd name="connsiteX5" fmla="*/ 0 w 1210460"/>
              <a:gd name="connsiteY5" fmla="*/ 103223 h 1268244"/>
              <a:gd name="connsiteX6" fmla="*/ 103223 w 1210460"/>
              <a:gd name="connsiteY6" fmla="*/ 0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0460" h="1268244">
                <a:moveTo>
                  <a:pt x="103223" y="0"/>
                </a:moveTo>
                <a:lnTo>
                  <a:pt x="1210460" y="0"/>
                </a:lnTo>
                <a:lnTo>
                  <a:pt x="1210460" y="1268244"/>
                </a:lnTo>
                <a:lnTo>
                  <a:pt x="103223" y="1268244"/>
                </a:lnTo>
                <a:cubicBezTo>
                  <a:pt x="46214" y="1268244"/>
                  <a:pt x="0" y="1222030"/>
                  <a:pt x="0" y="1165022"/>
                </a:cubicBezTo>
                <a:lnTo>
                  <a:pt x="0" y="103223"/>
                </a:lnTo>
                <a:cubicBezTo>
                  <a:pt x="0" y="46214"/>
                  <a:pt x="46214" y="0"/>
                  <a:pt x="103223" y="0"/>
                </a:cubicBezTo>
                <a:close/>
              </a:path>
            </a:pathLst>
          </a:custGeom>
          <a:solidFill>
            <a:schemeClr val="tx1">
              <a:lumMod val="75000"/>
              <a:lumOff val="25000"/>
            </a:schemeClr>
          </a:solidFill>
          <a:ln>
            <a:noFill/>
          </a:ln>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r>
              <a:rPr lang="en-US" sz="1100">
                <a:solidFill>
                  <a:srgbClr val="FFFFFF"/>
                </a:solidFill>
                <a:ea typeface="STKaiti"/>
              </a:rPr>
              <a:t>Rationale </a:t>
            </a:r>
          </a:p>
        </p:txBody>
      </p:sp>
      <p:sp>
        <p:nvSpPr>
          <p:cNvPr id="7" name="Freeform: Shape 43">
            <a:extLst>
              <a:ext uri="{FF2B5EF4-FFF2-40B4-BE49-F238E27FC236}">
                <a16:creationId xmlns:a16="http://schemas.microsoft.com/office/drawing/2014/main" id="{BF3A5E2C-D582-FE66-BBA1-02B59D7A7DA0}"/>
              </a:ext>
            </a:extLst>
          </p:cNvPr>
          <p:cNvSpPr/>
          <p:nvPr/>
        </p:nvSpPr>
        <p:spPr>
          <a:xfrm>
            <a:off x="1744626" y="1175192"/>
            <a:ext cx="2882238" cy="2400657"/>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gradFill rotWithShape="1">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0"/>
              </a:srgbClr>
            </a:outerShdw>
          </a:effectLst>
        </p:spPr>
        <p:txBody>
          <a:bodyPr wrap="square" lIns="68580" tIns="68580" rIns="68580" bIns="68580" anchor="t" anchorCtr="0">
            <a:spAutoFit/>
          </a:bodyPr>
          <a:lstStyle/>
          <a:p>
            <a:pPr marL="228600" indent="-228600" algn="just" defTabSz="685800" eaLnBrk="0" hangingPunct="0">
              <a:spcBef>
                <a:spcPts val="300"/>
              </a:spcBef>
              <a:spcAft>
                <a:spcPts val="300"/>
              </a:spcAft>
              <a:buClr>
                <a:srgbClr val="BE050A"/>
              </a:buClr>
              <a:buFont typeface="Wingdings" pitchFamily="2" charset="2"/>
              <a:buChar char="n"/>
            </a:pPr>
            <a:r>
              <a:rPr lang="en-US" altLang="zh-CN" sz="1100" b="0" kern="0" dirty="0">
                <a:solidFill>
                  <a:srgbClr val="000000"/>
                </a:solidFill>
                <a:ea typeface="Calibri" panose="020F0502020204030204" pitchFamily="34" charset="0"/>
                <a:cs typeface="Arial" panose="020B0604020202020204" pitchFamily="34" charset="0"/>
              </a:rPr>
              <a:t>In recent years, corporate/strategic investors have been highly involved in Hong Kong IPOs, especially in terms of cornerstone investments</a:t>
            </a:r>
            <a:endParaRPr lang="en-US" sz="1100" b="0" kern="0" dirty="0">
              <a:solidFill>
                <a:srgbClr val="000000"/>
              </a:solidFill>
              <a:latin typeface="+mn-lt"/>
              <a:ea typeface="Calibri" panose="020F0502020204030204" pitchFamily="34" charset="0"/>
              <a:cs typeface="Arial" panose="020B0604020202020204" pitchFamily="34" charset="0"/>
            </a:endParaRPr>
          </a:p>
          <a:p>
            <a:pPr marL="228600" indent="-228600" algn="just" defTabSz="685800" eaLnBrk="0" hangingPunct="0">
              <a:spcBef>
                <a:spcPts val="300"/>
              </a:spcBef>
              <a:spcAft>
                <a:spcPts val="300"/>
              </a:spcAft>
              <a:buClr>
                <a:srgbClr val="BE050A"/>
              </a:buClr>
              <a:buFont typeface="Wingdings" pitchFamily="2" charset="2"/>
              <a:buChar char="n"/>
            </a:pPr>
            <a:r>
              <a:rPr lang="en-US" sz="1100" b="0" kern="0" dirty="0">
                <a:solidFill>
                  <a:srgbClr val="000000"/>
                </a:solidFill>
                <a:latin typeface="+mn-lt"/>
                <a:ea typeface="Calibri" panose="020F0502020204030204" pitchFamily="34" charset="0"/>
                <a:cs typeface="Arial" panose="020B0604020202020204" pitchFamily="34" charset="0"/>
              </a:rPr>
              <a:t>Corporate investors have become a new force for HK IPOs</a:t>
            </a:r>
          </a:p>
          <a:p>
            <a:pPr marL="228600" indent="-228600" algn="just" defTabSz="685800" eaLnBrk="0" hangingPunct="0">
              <a:spcBef>
                <a:spcPts val="300"/>
              </a:spcBef>
              <a:spcAft>
                <a:spcPts val="300"/>
              </a:spcAft>
              <a:buClr>
                <a:srgbClr val="BE050A"/>
              </a:buClr>
              <a:buFont typeface="Wingdings" pitchFamily="2" charset="2"/>
              <a:buChar char="n"/>
            </a:pPr>
            <a:r>
              <a:rPr lang="en-US" sz="1100" b="0" kern="0" dirty="0">
                <a:solidFill>
                  <a:srgbClr val="000000"/>
                </a:solidFill>
                <a:latin typeface="+mn-lt"/>
                <a:ea typeface="Calibri" panose="020F0502020204030204" pitchFamily="34" charset="0"/>
                <a:cs typeface="Arial" panose="020B0604020202020204" pitchFamily="34" charset="0"/>
              </a:rPr>
              <a:t>Large corporates have set up dedicated investment desks to manage corporate monies on and offshore investment</a:t>
            </a:r>
          </a:p>
          <a:p>
            <a:pPr marL="228600" indent="-228600" algn="just" defTabSz="685800" eaLnBrk="0" hangingPunct="0">
              <a:spcBef>
                <a:spcPts val="300"/>
              </a:spcBef>
              <a:spcAft>
                <a:spcPts val="300"/>
              </a:spcAft>
              <a:buClr>
                <a:srgbClr val="BE050A"/>
              </a:buClr>
              <a:buFont typeface="Wingdings" pitchFamily="2" charset="2"/>
              <a:buChar char="n"/>
            </a:pPr>
            <a:r>
              <a:rPr lang="en-US" sz="1100" b="0" kern="0" dirty="0">
                <a:solidFill>
                  <a:srgbClr val="000000"/>
                </a:solidFill>
                <a:latin typeface="+mn-lt"/>
                <a:ea typeface="Calibri" panose="020F0502020204030204" pitchFamily="34" charset="0"/>
                <a:cs typeface="Arial" panose="020B0604020202020204" pitchFamily="34" charset="0"/>
              </a:rPr>
              <a:t>Corporate investors normally invest from strategic angles and seek for potential business synergies </a:t>
            </a:r>
          </a:p>
        </p:txBody>
      </p:sp>
      <p:sp>
        <p:nvSpPr>
          <p:cNvPr id="8" name="Freeform: Shape 55">
            <a:extLst>
              <a:ext uri="{FF2B5EF4-FFF2-40B4-BE49-F238E27FC236}">
                <a16:creationId xmlns:a16="http://schemas.microsoft.com/office/drawing/2014/main" id="{2C977C5F-7B8D-AD23-C312-8D6AEF518CB9}"/>
              </a:ext>
            </a:extLst>
          </p:cNvPr>
          <p:cNvSpPr/>
          <p:nvPr/>
        </p:nvSpPr>
        <p:spPr>
          <a:xfrm>
            <a:off x="721082" y="4302522"/>
            <a:ext cx="1018435" cy="1739084"/>
          </a:xfrm>
          <a:custGeom>
            <a:avLst/>
            <a:gdLst>
              <a:gd name="connsiteX0" fmla="*/ 103223 w 1210460"/>
              <a:gd name="connsiteY0" fmla="*/ 0 h 1268244"/>
              <a:gd name="connsiteX1" fmla="*/ 1210460 w 1210460"/>
              <a:gd name="connsiteY1" fmla="*/ 0 h 1268244"/>
              <a:gd name="connsiteX2" fmla="*/ 1210460 w 1210460"/>
              <a:gd name="connsiteY2" fmla="*/ 1268244 h 1268244"/>
              <a:gd name="connsiteX3" fmla="*/ 103223 w 1210460"/>
              <a:gd name="connsiteY3" fmla="*/ 1268244 h 1268244"/>
              <a:gd name="connsiteX4" fmla="*/ 0 w 1210460"/>
              <a:gd name="connsiteY4" fmla="*/ 1165022 h 1268244"/>
              <a:gd name="connsiteX5" fmla="*/ 0 w 1210460"/>
              <a:gd name="connsiteY5" fmla="*/ 103223 h 1268244"/>
              <a:gd name="connsiteX6" fmla="*/ 103223 w 1210460"/>
              <a:gd name="connsiteY6" fmla="*/ 0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0460" h="1268244">
                <a:moveTo>
                  <a:pt x="103223" y="0"/>
                </a:moveTo>
                <a:lnTo>
                  <a:pt x="1210460" y="0"/>
                </a:lnTo>
                <a:lnTo>
                  <a:pt x="1210460" y="1268244"/>
                </a:lnTo>
                <a:lnTo>
                  <a:pt x="103223" y="1268244"/>
                </a:lnTo>
                <a:cubicBezTo>
                  <a:pt x="46214" y="1268244"/>
                  <a:pt x="0" y="1222030"/>
                  <a:pt x="0" y="1165022"/>
                </a:cubicBezTo>
                <a:lnTo>
                  <a:pt x="0" y="103223"/>
                </a:lnTo>
                <a:cubicBezTo>
                  <a:pt x="0" y="46214"/>
                  <a:pt x="46214" y="0"/>
                  <a:pt x="103223" y="0"/>
                </a:cubicBezTo>
                <a:close/>
              </a:path>
            </a:pathLst>
          </a:custGeom>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r>
              <a:rPr lang="en-US" sz="1100">
                <a:solidFill>
                  <a:srgbClr val="FFFFFF"/>
                </a:solidFill>
                <a:ea typeface="STKaiti"/>
              </a:rPr>
              <a:t>Superior Coverage</a:t>
            </a:r>
          </a:p>
        </p:txBody>
      </p:sp>
      <p:pic>
        <p:nvPicPr>
          <p:cNvPr id="9" name="Picture 9">
            <a:extLst>
              <a:ext uri="{FF2B5EF4-FFF2-40B4-BE49-F238E27FC236}">
                <a16:creationId xmlns:a16="http://schemas.microsoft.com/office/drawing/2014/main" id="{8F74E297-8C4F-4D55-7A51-BEFB984B1962}"/>
              </a:ext>
            </a:extLst>
          </p:cNvPr>
          <p:cNvPicPr preferRelativeResize="0">
            <a:picLocks noChangeAspect="1" noChangeArrowheads="1"/>
          </p:cNvPicPr>
          <p:nvPr/>
        </p:nvPicPr>
        <p:blipFill>
          <a:blip r:embed="rId3" cstate="print"/>
          <a:srcRect/>
          <a:stretch>
            <a:fillRect/>
          </a:stretch>
        </p:blipFill>
        <p:spPr bwMode="auto">
          <a:xfrm>
            <a:off x="792518" y="3955903"/>
            <a:ext cx="817542" cy="238350"/>
          </a:xfrm>
          <a:prstGeom prst="rect">
            <a:avLst/>
          </a:prstGeom>
          <a:noFill/>
          <a:ln w="9525">
            <a:noFill/>
            <a:miter lim="800000"/>
            <a:headEnd/>
            <a:tailEnd/>
          </a:ln>
        </p:spPr>
      </p:pic>
      <p:sp>
        <p:nvSpPr>
          <p:cNvPr id="3" name="Slide Number Placeholder 2">
            <a:extLst>
              <a:ext uri="{FF2B5EF4-FFF2-40B4-BE49-F238E27FC236}">
                <a16:creationId xmlns:a16="http://schemas.microsoft.com/office/drawing/2014/main" id="{532924AF-5E1E-E61C-8934-0F14A298F336}"/>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56</a:t>
            </a:fld>
            <a:endParaRPr lang="en-US" altLang="en-US" b="0">
              <a:solidFill>
                <a:srgbClr val="000000"/>
              </a:solidFill>
            </a:endParaRPr>
          </a:p>
        </p:txBody>
      </p:sp>
    </p:spTree>
    <p:extLst>
      <p:ext uri="{BB962C8B-B14F-4D97-AF65-F5344CB8AC3E}">
        <p14:creationId xmlns:p14="http://schemas.microsoft.com/office/powerpoint/2010/main" val="28749915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D7EF05-AE8E-A3D3-A886-7E18391CBF9A}"/>
              </a:ext>
            </a:extLst>
          </p:cNvPr>
          <p:cNvSpPr>
            <a:spLocks noGrp="1"/>
          </p:cNvSpPr>
          <p:nvPr>
            <p:ph type="title"/>
          </p:nvPr>
        </p:nvSpPr>
        <p:spPr/>
        <p:txBody>
          <a:bodyPr/>
          <a:lstStyle/>
          <a:p>
            <a:r>
              <a:rPr lang="en-US" altLang="zh-CN" sz="2000" b="1" dirty="0"/>
              <a:t>2. Long-only Funds that are Familiar with the Sector</a:t>
            </a:r>
            <a:endParaRPr lang="en-US" sz="2000" b="1" dirty="0"/>
          </a:p>
        </p:txBody>
      </p:sp>
      <p:sp>
        <p:nvSpPr>
          <p:cNvPr id="2" name="Freeform: Shape 43">
            <a:extLst>
              <a:ext uri="{FF2B5EF4-FFF2-40B4-BE49-F238E27FC236}">
                <a16:creationId xmlns:a16="http://schemas.microsoft.com/office/drawing/2014/main" id="{C6582A37-5C61-298D-D13E-A5632982525D}"/>
              </a:ext>
            </a:extLst>
          </p:cNvPr>
          <p:cNvSpPr/>
          <p:nvPr/>
        </p:nvSpPr>
        <p:spPr>
          <a:xfrm>
            <a:off x="1744627" y="3572317"/>
            <a:ext cx="2973676" cy="2154436"/>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gradFill rotWithShape="1">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0"/>
              </a:srgbClr>
            </a:outerShdw>
          </a:effectLst>
        </p:spPr>
        <p:txBody>
          <a:bodyPr wrap="square" lIns="68580" tIns="68580" rIns="68580" bIns="68580" anchor="ctr" anchorCtr="0">
            <a:spAutoFit/>
          </a:bodyPr>
          <a:lstStyle/>
          <a:p>
            <a:pPr marL="228600" indent="-228600" algn="just" defTabSz="685800" eaLnBrk="0" hangingPunct="0">
              <a:spcBef>
                <a:spcPts val="300"/>
              </a:spcBef>
              <a:spcAft>
                <a:spcPts val="300"/>
              </a:spcAft>
              <a:buClr>
                <a:srgbClr val="BE050A"/>
              </a:buClr>
              <a:buFont typeface="Wingdings" pitchFamily="2" charset="2"/>
              <a:buChar char="n"/>
            </a:pPr>
            <a:r>
              <a:rPr lang="en-US" sz="1100" b="0" kern="0" dirty="0">
                <a:solidFill>
                  <a:srgbClr val="000000"/>
                </a:solidFill>
                <a:latin typeface="+mn-lt"/>
                <a:ea typeface="Calibri" panose="020F0502020204030204" pitchFamily="34" charset="0"/>
                <a:cs typeface="Arial" panose="020B0604020202020204" pitchFamily="34" charset="0"/>
              </a:rPr>
              <a:t>DBS has been a leading player in capital markets for decades and runs numerous transactions at any given time, giving us high level of leverage with a wide array of asset managers</a:t>
            </a:r>
          </a:p>
          <a:p>
            <a:pPr marL="228600" indent="-228600" algn="just" defTabSz="685800" eaLnBrk="0" hangingPunct="0">
              <a:spcBef>
                <a:spcPts val="300"/>
              </a:spcBef>
              <a:spcAft>
                <a:spcPts val="300"/>
              </a:spcAft>
              <a:buClr>
                <a:srgbClr val="BE050A"/>
              </a:buClr>
              <a:buFont typeface="Wingdings" pitchFamily="2" charset="2"/>
              <a:buChar char="n"/>
            </a:pPr>
            <a:r>
              <a:rPr lang="en-US" sz="1100" b="0" kern="0" dirty="0">
                <a:solidFill>
                  <a:srgbClr val="000000"/>
                </a:solidFill>
                <a:latin typeface="+mn-lt"/>
                <a:ea typeface="Calibri" panose="020F0502020204030204" pitchFamily="34" charset="0"/>
                <a:cs typeface="Arial" panose="020B0604020202020204" pitchFamily="34" charset="0"/>
              </a:rPr>
              <a:t>A dedicated equities sales team solely focusing and covering global institution investors</a:t>
            </a:r>
          </a:p>
          <a:p>
            <a:pPr marL="228600" indent="-228600" algn="just" defTabSz="685800" eaLnBrk="0" hangingPunct="0">
              <a:spcBef>
                <a:spcPts val="300"/>
              </a:spcBef>
              <a:spcAft>
                <a:spcPts val="300"/>
              </a:spcAft>
              <a:buClr>
                <a:srgbClr val="BE050A"/>
              </a:buClr>
              <a:buFont typeface="Wingdings" pitchFamily="2" charset="2"/>
              <a:buChar char="n"/>
            </a:pPr>
            <a:r>
              <a:rPr lang="en-US" sz="1100" b="0" kern="0" dirty="0">
                <a:solidFill>
                  <a:srgbClr val="000000"/>
                </a:solidFill>
                <a:latin typeface="+mn-lt"/>
                <a:ea typeface="Calibri" panose="020F0502020204030204" pitchFamily="34" charset="0"/>
                <a:cs typeface="Arial" panose="020B0604020202020204" pitchFamily="34" charset="0"/>
              </a:rPr>
              <a:t>Strong direct ECM Syndicate team coverage for deal players with proven track record of conversion </a:t>
            </a:r>
          </a:p>
        </p:txBody>
      </p:sp>
      <p:sp>
        <p:nvSpPr>
          <p:cNvPr id="4" name="Freeform: Shape 90">
            <a:extLst>
              <a:ext uri="{FF2B5EF4-FFF2-40B4-BE49-F238E27FC236}">
                <a16:creationId xmlns:a16="http://schemas.microsoft.com/office/drawing/2014/main" id="{2F8A529A-D6BA-1BF9-3B27-726B01BF9A12}"/>
              </a:ext>
            </a:extLst>
          </p:cNvPr>
          <p:cNvSpPr/>
          <p:nvPr/>
        </p:nvSpPr>
        <p:spPr>
          <a:xfrm>
            <a:off x="721082" y="1118779"/>
            <a:ext cx="1018435" cy="2154698"/>
          </a:xfrm>
          <a:custGeom>
            <a:avLst/>
            <a:gdLst>
              <a:gd name="connsiteX0" fmla="*/ 103223 w 1210460"/>
              <a:gd name="connsiteY0" fmla="*/ 0 h 1268244"/>
              <a:gd name="connsiteX1" fmla="*/ 1210460 w 1210460"/>
              <a:gd name="connsiteY1" fmla="*/ 0 h 1268244"/>
              <a:gd name="connsiteX2" fmla="*/ 1210460 w 1210460"/>
              <a:gd name="connsiteY2" fmla="*/ 1268244 h 1268244"/>
              <a:gd name="connsiteX3" fmla="*/ 103223 w 1210460"/>
              <a:gd name="connsiteY3" fmla="*/ 1268244 h 1268244"/>
              <a:gd name="connsiteX4" fmla="*/ 0 w 1210460"/>
              <a:gd name="connsiteY4" fmla="*/ 1165022 h 1268244"/>
              <a:gd name="connsiteX5" fmla="*/ 0 w 1210460"/>
              <a:gd name="connsiteY5" fmla="*/ 103223 h 1268244"/>
              <a:gd name="connsiteX6" fmla="*/ 103223 w 1210460"/>
              <a:gd name="connsiteY6" fmla="*/ 0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0460" h="1268244">
                <a:moveTo>
                  <a:pt x="103223" y="0"/>
                </a:moveTo>
                <a:lnTo>
                  <a:pt x="1210460" y="0"/>
                </a:lnTo>
                <a:lnTo>
                  <a:pt x="1210460" y="1268244"/>
                </a:lnTo>
                <a:lnTo>
                  <a:pt x="103223" y="1268244"/>
                </a:lnTo>
                <a:cubicBezTo>
                  <a:pt x="46214" y="1268244"/>
                  <a:pt x="0" y="1222030"/>
                  <a:pt x="0" y="1165022"/>
                </a:cubicBezTo>
                <a:lnTo>
                  <a:pt x="0" y="103223"/>
                </a:lnTo>
                <a:cubicBezTo>
                  <a:pt x="0" y="46214"/>
                  <a:pt x="46214" y="0"/>
                  <a:pt x="103223" y="0"/>
                </a:cubicBezTo>
                <a:close/>
              </a:path>
            </a:pathLst>
          </a:custGeom>
          <a:solidFill>
            <a:schemeClr val="tx1">
              <a:lumMod val="75000"/>
              <a:lumOff val="25000"/>
            </a:schemeClr>
          </a:solidFill>
          <a:ln>
            <a:noFill/>
          </a:ln>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r>
              <a:rPr lang="en-US" sz="1100">
                <a:solidFill>
                  <a:srgbClr val="FFFFFF"/>
                </a:solidFill>
                <a:ea typeface="STKaiti"/>
              </a:rPr>
              <a:t>Rationale </a:t>
            </a:r>
          </a:p>
        </p:txBody>
      </p:sp>
      <p:sp>
        <p:nvSpPr>
          <p:cNvPr id="6" name="Freeform: Shape 43">
            <a:extLst>
              <a:ext uri="{FF2B5EF4-FFF2-40B4-BE49-F238E27FC236}">
                <a16:creationId xmlns:a16="http://schemas.microsoft.com/office/drawing/2014/main" id="{89DB70D7-4862-E6A0-6846-7CA8C6251ACF}"/>
              </a:ext>
            </a:extLst>
          </p:cNvPr>
          <p:cNvSpPr/>
          <p:nvPr/>
        </p:nvSpPr>
        <p:spPr>
          <a:xfrm>
            <a:off x="1744626" y="1119041"/>
            <a:ext cx="2973677" cy="2154436"/>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gradFill rotWithShape="1">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0"/>
              </a:srgbClr>
            </a:outerShdw>
          </a:effectLst>
        </p:spPr>
        <p:txBody>
          <a:bodyPr wrap="square" lIns="68580" tIns="68580" rIns="68580" bIns="68580" anchor="t" anchorCtr="0">
            <a:spAutoFit/>
          </a:bodyPr>
          <a:lstStyle/>
          <a:p>
            <a:pPr marL="228600" indent="-228600" algn="just" defTabSz="685800" eaLnBrk="0" hangingPunct="0">
              <a:spcBef>
                <a:spcPts val="300"/>
              </a:spcBef>
              <a:spcAft>
                <a:spcPts val="300"/>
              </a:spcAft>
              <a:buClr>
                <a:srgbClr val="BE050A"/>
              </a:buClr>
              <a:buFont typeface="Wingdings" pitchFamily="2" charset="2"/>
              <a:buChar char="n"/>
            </a:pPr>
            <a:r>
              <a:rPr lang="en-US" sz="1100" b="0" kern="0" dirty="0">
                <a:solidFill>
                  <a:srgbClr val="000000"/>
                </a:solidFill>
                <a:latin typeface="+mn-lt"/>
                <a:ea typeface="Calibri" panose="020F0502020204030204" pitchFamily="34" charset="0"/>
                <a:cs typeface="Arial" panose="020B0604020202020204" pitchFamily="34" charset="0"/>
              </a:rPr>
              <a:t>Hong Kong continue to be the major asset allocation hub for most global institutional investors, and remains the key driver for capital market </a:t>
            </a:r>
          </a:p>
          <a:p>
            <a:pPr marL="228600" indent="-228600" algn="just" defTabSz="685800" eaLnBrk="0" hangingPunct="0">
              <a:spcBef>
                <a:spcPts val="300"/>
              </a:spcBef>
              <a:spcAft>
                <a:spcPts val="300"/>
              </a:spcAft>
              <a:buClr>
                <a:srgbClr val="BE050A"/>
              </a:buClr>
              <a:buFont typeface="Wingdings" pitchFamily="2" charset="2"/>
              <a:buChar char="n"/>
            </a:pPr>
            <a:r>
              <a:rPr lang="en-US" sz="1100" b="0" kern="0" dirty="0">
                <a:solidFill>
                  <a:srgbClr val="000000"/>
                </a:solidFill>
                <a:latin typeface="+mn-lt"/>
                <a:ea typeface="Calibri" panose="020F0502020204030204" pitchFamily="34" charset="0"/>
                <a:cs typeface="Arial" panose="020B0604020202020204" pitchFamily="34" charset="0"/>
              </a:rPr>
              <a:t>These institutions are primarily value investors that focus on company fundamentals and growth potential</a:t>
            </a:r>
          </a:p>
          <a:p>
            <a:pPr marL="228600" indent="-228600" algn="just" defTabSz="685800" eaLnBrk="0" hangingPunct="0">
              <a:spcBef>
                <a:spcPts val="300"/>
              </a:spcBef>
              <a:spcAft>
                <a:spcPts val="300"/>
              </a:spcAft>
              <a:buClr>
                <a:srgbClr val="BE050A"/>
              </a:buClr>
              <a:buFont typeface="Wingdings" pitchFamily="2" charset="2"/>
              <a:buChar char="n"/>
            </a:pPr>
            <a:r>
              <a:rPr lang="en-US" sz="1100" b="0" kern="0" dirty="0">
                <a:solidFill>
                  <a:srgbClr val="000000"/>
                </a:solidFill>
                <a:latin typeface="+mn-lt"/>
                <a:ea typeface="Calibri" panose="020F0502020204030204" pitchFamily="34" charset="0"/>
                <a:cs typeface="Arial" panose="020B0604020202020204" pitchFamily="34" charset="0"/>
              </a:rPr>
              <a:t>The participation from globally renowned money managers injects confidence to the market and is a testament of the company’s potential </a:t>
            </a:r>
          </a:p>
        </p:txBody>
      </p:sp>
      <p:sp>
        <p:nvSpPr>
          <p:cNvPr id="7" name="Freeform: Shape 55">
            <a:extLst>
              <a:ext uri="{FF2B5EF4-FFF2-40B4-BE49-F238E27FC236}">
                <a16:creationId xmlns:a16="http://schemas.microsoft.com/office/drawing/2014/main" id="{AC78DC71-EF58-55CB-A621-DE86D3126B07}"/>
              </a:ext>
            </a:extLst>
          </p:cNvPr>
          <p:cNvSpPr/>
          <p:nvPr/>
        </p:nvSpPr>
        <p:spPr>
          <a:xfrm>
            <a:off x="721082" y="4026141"/>
            <a:ext cx="1018435" cy="1739084"/>
          </a:xfrm>
          <a:custGeom>
            <a:avLst/>
            <a:gdLst>
              <a:gd name="connsiteX0" fmla="*/ 103223 w 1210460"/>
              <a:gd name="connsiteY0" fmla="*/ 0 h 1268244"/>
              <a:gd name="connsiteX1" fmla="*/ 1210460 w 1210460"/>
              <a:gd name="connsiteY1" fmla="*/ 0 h 1268244"/>
              <a:gd name="connsiteX2" fmla="*/ 1210460 w 1210460"/>
              <a:gd name="connsiteY2" fmla="*/ 1268244 h 1268244"/>
              <a:gd name="connsiteX3" fmla="*/ 103223 w 1210460"/>
              <a:gd name="connsiteY3" fmla="*/ 1268244 h 1268244"/>
              <a:gd name="connsiteX4" fmla="*/ 0 w 1210460"/>
              <a:gd name="connsiteY4" fmla="*/ 1165022 h 1268244"/>
              <a:gd name="connsiteX5" fmla="*/ 0 w 1210460"/>
              <a:gd name="connsiteY5" fmla="*/ 103223 h 1268244"/>
              <a:gd name="connsiteX6" fmla="*/ 103223 w 1210460"/>
              <a:gd name="connsiteY6" fmla="*/ 0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0460" h="1268244">
                <a:moveTo>
                  <a:pt x="103223" y="0"/>
                </a:moveTo>
                <a:lnTo>
                  <a:pt x="1210460" y="0"/>
                </a:lnTo>
                <a:lnTo>
                  <a:pt x="1210460" y="1268244"/>
                </a:lnTo>
                <a:lnTo>
                  <a:pt x="103223" y="1268244"/>
                </a:lnTo>
                <a:cubicBezTo>
                  <a:pt x="46214" y="1268244"/>
                  <a:pt x="0" y="1222030"/>
                  <a:pt x="0" y="1165022"/>
                </a:cubicBezTo>
                <a:lnTo>
                  <a:pt x="0" y="103223"/>
                </a:lnTo>
                <a:cubicBezTo>
                  <a:pt x="0" y="46214"/>
                  <a:pt x="46214" y="0"/>
                  <a:pt x="103223" y="0"/>
                </a:cubicBezTo>
                <a:close/>
              </a:path>
            </a:pathLst>
          </a:custGeom>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r>
              <a:rPr lang="en-US" sz="1100">
                <a:solidFill>
                  <a:srgbClr val="FFFFFF"/>
                </a:solidFill>
                <a:ea typeface="STKaiti"/>
              </a:rPr>
              <a:t>Superior Coverage</a:t>
            </a:r>
          </a:p>
        </p:txBody>
      </p:sp>
      <p:pic>
        <p:nvPicPr>
          <p:cNvPr id="8" name="Picture 9">
            <a:extLst>
              <a:ext uri="{FF2B5EF4-FFF2-40B4-BE49-F238E27FC236}">
                <a16:creationId xmlns:a16="http://schemas.microsoft.com/office/drawing/2014/main" id="{223008F2-9763-D7E7-7244-212ACF0B1A26}"/>
              </a:ext>
            </a:extLst>
          </p:cNvPr>
          <p:cNvPicPr preferRelativeResize="0">
            <a:picLocks noChangeAspect="1" noChangeArrowheads="1"/>
          </p:cNvPicPr>
          <p:nvPr/>
        </p:nvPicPr>
        <p:blipFill>
          <a:blip r:embed="rId3" cstate="print"/>
          <a:srcRect/>
          <a:stretch>
            <a:fillRect/>
          </a:stretch>
        </p:blipFill>
        <p:spPr bwMode="auto">
          <a:xfrm>
            <a:off x="792518" y="3679522"/>
            <a:ext cx="817542" cy="238350"/>
          </a:xfrm>
          <a:prstGeom prst="rect">
            <a:avLst/>
          </a:prstGeom>
          <a:noFill/>
          <a:ln w="9525">
            <a:noFill/>
            <a:miter lim="800000"/>
            <a:headEnd/>
            <a:tailEnd/>
          </a:ln>
        </p:spPr>
      </p:pic>
      <p:graphicFrame>
        <p:nvGraphicFramePr>
          <p:cNvPr id="9" name="Table 8">
            <a:extLst>
              <a:ext uri="{FF2B5EF4-FFF2-40B4-BE49-F238E27FC236}">
                <a16:creationId xmlns:a16="http://schemas.microsoft.com/office/drawing/2014/main" id="{C8211EED-6880-CAFE-520C-8D478C5A2F28}"/>
              </a:ext>
            </a:extLst>
          </p:cNvPr>
          <p:cNvGraphicFramePr>
            <a:graphicFrameLocks noGrp="1"/>
          </p:cNvGraphicFramePr>
          <p:nvPr/>
        </p:nvGraphicFramePr>
        <p:xfrm>
          <a:off x="4953000" y="1045463"/>
          <a:ext cx="4267200" cy="4992624"/>
        </p:xfrm>
        <a:graphic>
          <a:graphicData uri="http://schemas.openxmlformats.org/drawingml/2006/table">
            <a:tbl>
              <a:tblPr firstRow="1" bandRow="1">
                <a:tableStyleId>{5C22544A-7EE6-4342-B048-85BDC9FD1C3A}</a:tableStyleId>
              </a:tblPr>
              <a:tblGrid>
                <a:gridCol w="571596">
                  <a:extLst>
                    <a:ext uri="{9D8B030D-6E8A-4147-A177-3AD203B41FA5}">
                      <a16:colId xmlns:a16="http://schemas.microsoft.com/office/drawing/2014/main" val="1235789269"/>
                    </a:ext>
                  </a:extLst>
                </a:gridCol>
                <a:gridCol w="2270750">
                  <a:extLst>
                    <a:ext uri="{9D8B030D-6E8A-4147-A177-3AD203B41FA5}">
                      <a16:colId xmlns:a16="http://schemas.microsoft.com/office/drawing/2014/main" val="2196379299"/>
                    </a:ext>
                  </a:extLst>
                </a:gridCol>
                <a:gridCol w="1424854">
                  <a:extLst>
                    <a:ext uri="{9D8B030D-6E8A-4147-A177-3AD203B41FA5}">
                      <a16:colId xmlns:a16="http://schemas.microsoft.com/office/drawing/2014/main" val="1532800113"/>
                    </a:ext>
                  </a:extLst>
                </a:gridCol>
              </a:tblGrid>
              <a:tr h="192024">
                <a:tc>
                  <a:txBody>
                    <a:bodyPr/>
                    <a:lstStyle/>
                    <a:p>
                      <a:pPr algn="ctr"/>
                      <a:r>
                        <a:rPr lang="en-US" sz="900" dirty="0">
                          <a:latin typeface="+mn-lt"/>
                          <a:cs typeface="Arial" panose="020B0604020202020204" pitchFamily="34" charset="0"/>
                        </a:rPr>
                        <a:t>#</a:t>
                      </a:r>
                    </a:p>
                  </a:txBody>
                  <a:tcPr marL="45720" marR="45720" marT="27432" marB="27432" anchor="ctr"/>
                </a:tc>
                <a:tc>
                  <a:txBody>
                    <a:bodyPr/>
                    <a:lstStyle/>
                    <a:p>
                      <a:pPr algn="ctr"/>
                      <a:r>
                        <a:rPr lang="en-US" altLang="zh-CN" sz="900" dirty="0">
                          <a:latin typeface="+mn-lt"/>
                          <a:cs typeface="Arial" panose="020B0604020202020204" pitchFamily="34" charset="0"/>
                        </a:rPr>
                        <a:t>Investor </a:t>
                      </a:r>
                      <a:endParaRPr lang="en-US" sz="900" dirty="0">
                        <a:latin typeface="+mn-lt"/>
                        <a:cs typeface="Arial" panose="020B0604020202020204" pitchFamily="34" charset="0"/>
                      </a:endParaRPr>
                    </a:p>
                  </a:txBody>
                  <a:tcPr marL="45720" marR="45720" marT="27432" marB="27432" anchor="ctr"/>
                </a:tc>
                <a:tc>
                  <a:txBody>
                    <a:bodyPr/>
                    <a:lstStyle/>
                    <a:p>
                      <a:pPr algn="ctr"/>
                      <a:r>
                        <a:rPr lang="en-US" sz="900">
                          <a:latin typeface="+mn-lt"/>
                          <a:cs typeface="Arial" panose="020B0604020202020204" pitchFamily="34" charset="0"/>
                        </a:rPr>
                        <a:t>Region</a:t>
                      </a:r>
                    </a:p>
                  </a:txBody>
                  <a:tcPr marL="45720" marR="45720" marT="27432" marB="27432" anchor="ctr"/>
                </a:tc>
                <a:extLst>
                  <a:ext uri="{0D108BD9-81ED-4DB2-BD59-A6C34878D82A}">
                    <a16:rowId xmlns:a16="http://schemas.microsoft.com/office/drawing/2014/main" val="2086935850"/>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a:t>
                      </a:r>
                    </a:p>
                  </a:txBody>
                  <a:tcPr marL="45720" marR="45720" marT="27432" marB="27432"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Abrdn Asia</a:t>
                      </a: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Singapore</a:t>
                      </a: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26657596"/>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2</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Allianz Global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Singapore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424472560"/>
                  </a:ext>
                </a:extLst>
              </a:tr>
              <a:tr h="192024">
                <a:tc>
                  <a:txBody>
                    <a:bodyPr/>
                    <a:lstStyle/>
                    <a:p>
                      <a:pPr algn="ctr" fontAlgn="b"/>
                      <a:r>
                        <a:rPr lang="en-US" altLang="zh-CN" sz="900" b="0" i="0" u="none" strike="noStrike">
                          <a:solidFill>
                            <a:schemeClr val="tx1"/>
                          </a:solidFill>
                          <a:effectLst/>
                          <a:latin typeface="+mn-lt"/>
                          <a:ea typeface="Calibri" panose="020F0502020204030204" pitchFamily="34" charset="0"/>
                          <a:cs typeface="Arial" panose="020B0604020202020204" pitchFamily="34" charset="0"/>
                        </a:rPr>
                        <a:t>3</a:t>
                      </a:r>
                      <a:endParaRPr lang="en-US" sz="900" b="0" i="0" u="none" strike="noStrike">
                        <a:solidFill>
                          <a:schemeClr val="tx1"/>
                        </a:solidFill>
                        <a:effectLst/>
                        <a:latin typeface="+mn-lt"/>
                        <a:ea typeface="Calibri" panose="020F0502020204030204" pitchFamily="34" charset="0"/>
                        <a:cs typeface="Arial" panose="020B0604020202020204" pitchFamily="34" charset="0"/>
                      </a:endParaRP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Blackrock</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408259497"/>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4</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Boyu</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694089188"/>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5</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Capital Group</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Kong/US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548032987"/>
                  </a:ext>
                </a:extLst>
              </a:tr>
              <a:tr h="192024">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mn-lt"/>
                          <a:ea typeface="Calibri" panose="020F0502020204030204" pitchFamily="34" charset="0"/>
                          <a:cs typeface="Arial" panose="020B0604020202020204" pitchFamily="34" charset="0"/>
                        </a:rPr>
                        <a:t>6</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CDH</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128476842"/>
                  </a:ext>
                </a:extLst>
              </a:tr>
              <a:tr h="192024">
                <a:tc>
                  <a:txBody>
                    <a:bodyPr/>
                    <a:lstStyle/>
                    <a:p>
                      <a:pPr algn="ctr" fontAlgn="b"/>
                      <a:r>
                        <a:rPr lang="en-US" sz="900" b="0" i="0" u="none" strike="noStrike" dirty="0">
                          <a:solidFill>
                            <a:schemeClr val="tx1"/>
                          </a:solidFill>
                          <a:effectLst/>
                          <a:latin typeface="+mn-lt"/>
                          <a:ea typeface="Calibri" panose="020F0502020204030204" pitchFamily="34" charset="0"/>
                          <a:cs typeface="Arial" panose="020B0604020202020204" pitchFamily="34" charset="0"/>
                        </a:rPr>
                        <a:t>7</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China AMC</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857635374"/>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8</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E Fund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Hong Kong/Mainland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821298464"/>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9</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FIL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604824887"/>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10</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Franklin Templeton</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868396230"/>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11</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Fullgoal Fund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84941135"/>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12</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GF Fund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146070540"/>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13</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Granite Asia</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Singapore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908944163"/>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14</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Greenwoods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952523569"/>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15</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GSAM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78380225"/>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16</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Hillhouse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33414206"/>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17</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HSBC GAM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60879602"/>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18</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Invesco</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035569008"/>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19</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Ivy Rock</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Mainland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128697287"/>
                  </a:ext>
                </a:extLst>
              </a:tr>
              <a:tr h="192024">
                <a:tc>
                  <a:txBody>
                    <a:bodyPr/>
                    <a:lstStyle/>
                    <a:p>
                      <a:pPr algn="ctr" fontAlgn="b"/>
                      <a:r>
                        <a:rPr lang="en-US" sz="900" b="0" i="0" u="none" strike="noStrike">
                          <a:solidFill>
                            <a:schemeClr val="tx1"/>
                          </a:solidFill>
                          <a:effectLst/>
                          <a:latin typeface="+mn-lt"/>
                          <a:ea typeface="Calibri" panose="020F0502020204030204" pitchFamily="34" charset="0"/>
                          <a:cs typeface="Arial" panose="020B0604020202020204" pitchFamily="34" charset="0"/>
                        </a:rPr>
                        <a:t>20</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Manulife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826941000"/>
                  </a:ext>
                </a:extLst>
              </a:tr>
              <a:tr h="192024">
                <a:tc>
                  <a:txBody>
                    <a:bodyPr/>
                    <a:lstStyle/>
                    <a:p>
                      <a:pPr algn="ctr" fontAlgn="b"/>
                      <a:r>
                        <a:rPr lang="en-US" sz="900" b="0" i="0" u="none" strike="noStrike" dirty="0">
                          <a:solidFill>
                            <a:schemeClr val="tx1"/>
                          </a:solidFill>
                          <a:effectLst/>
                          <a:latin typeface="+mn-lt"/>
                          <a:ea typeface="Calibri" panose="020F0502020204030204" pitchFamily="34" charset="0"/>
                          <a:cs typeface="Arial" panose="020B0604020202020204" pitchFamily="34" charset="0"/>
                        </a:rPr>
                        <a:t>21</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Orbimed Asia</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Mainland/US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464176917"/>
                  </a:ext>
                </a:extLst>
              </a:tr>
              <a:tr h="192024">
                <a:tc>
                  <a:txBody>
                    <a:bodyPr/>
                    <a:lstStyle/>
                    <a:p>
                      <a:pPr algn="ctr" fontAlgn="b"/>
                      <a:r>
                        <a:rPr lang="en-US" sz="900" b="0" i="0" u="none" strike="noStrike" dirty="0">
                          <a:solidFill>
                            <a:schemeClr val="tx1"/>
                          </a:solidFill>
                          <a:effectLst/>
                          <a:latin typeface="+mn-lt"/>
                          <a:ea typeface="Calibri" panose="020F0502020204030204" pitchFamily="34" charset="0"/>
                          <a:cs typeface="Arial" panose="020B0604020202020204" pitchFamily="34" charset="0"/>
                        </a:rPr>
                        <a:t>22</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Pictet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Hong Kong/Singapore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874815597"/>
                  </a:ext>
                </a:extLst>
              </a:tr>
              <a:tr h="192024">
                <a:tc>
                  <a:txBody>
                    <a:bodyPr/>
                    <a:lstStyle/>
                    <a:p>
                      <a:pPr algn="ctr" fontAlgn="b"/>
                      <a:r>
                        <a:rPr lang="en-US" sz="900" b="0" i="0" u="none" strike="noStrike" dirty="0">
                          <a:solidFill>
                            <a:schemeClr val="tx1"/>
                          </a:solidFill>
                          <a:effectLst/>
                          <a:latin typeface="+mn-lt"/>
                          <a:ea typeface="Calibri" panose="020F0502020204030204" pitchFamily="34" charset="0"/>
                          <a:cs typeface="Arial" panose="020B0604020202020204" pitchFamily="34" charset="0"/>
                        </a:rPr>
                        <a:t>23</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Sage Partners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Singapore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316199974"/>
                  </a:ext>
                </a:extLst>
              </a:tr>
              <a:tr h="192024">
                <a:tc>
                  <a:txBody>
                    <a:bodyPr/>
                    <a:lstStyle/>
                    <a:p>
                      <a:pPr algn="ctr" fontAlgn="b"/>
                      <a:r>
                        <a:rPr lang="en-US" sz="900" b="0" i="0" u="none" strike="noStrike" dirty="0">
                          <a:solidFill>
                            <a:schemeClr val="tx1"/>
                          </a:solidFill>
                          <a:effectLst/>
                          <a:latin typeface="+mn-lt"/>
                          <a:ea typeface="Calibri" panose="020F0502020204030204" pitchFamily="34" charset="0"/>
                          <a:cs typeface="Arial" panose="020B0604020202020204" pitchFamily="34" charset="0"/>
                        </a:rPr>
                        <a:t>24</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Trumed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536429134"/>
                  </a:ext>
                </a:extLst>
              </a:tr>
              <a:tr h="192024">
                <a:tc>
                  <a:txBody>
                    <a:bodyPr/>
                    <a:lstStyle/>
                    <a:p>
                      <a:pPr algn="ctr" fontAlgn="b"/>
                      <a:r>
                        <a:rPr lang="en-US" sz="900" b="0" i="0" u="none" strike="noStrike" dirty="0">
                          <a:solidFill>
                            <a:schemeClr val="tx1"/>
                          </a:solidFill>
                          <a:effectLst/>
                          <a:latin typeface="+mn-lt"/>
                          <a:ea typeface="Calibri" panose="020F0502020204030204" pitchFamily="34" charset="0"/>
                          <a:cs typeface="Arial" panose="020B0604020202020204" pitchFamily="34" charset="0"/>
                        </a:rPr>
                        <a:t>25</a:t>
                      </a:r>
                    </a:p>
                  </a:txBody>
                  <a:tcPr marL="45720" marR="45720" marT="27432" marB="27432"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a:solidFill>
                            <a:srgbClr val="000000"/>
                          </a:solidFill>
                          <a:effectLst/>
                          <a:latin typeface="Arial" panose="020B0604020202020204" pitchFamily="34" charset="0"/>
                        </a:rPr>
                        <a:t>Value Partners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sz="900" b="0" i="0" u="none" strike="noStrike" dirty="0">
                          <a:solidFill>
                            <a:srgbClr val="000000"/>
                          </a:solidFill>
                          <a:effectLst/>
                          <a:latin typeface="Arial" panose="020B0604020202020204" pitchFamily="34" charset="0"/>
                        </a:rPr>
                        <a:t>Hong Kong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688451547"/>
                  </a:ext>
                </a:extLst>
              </a:tr>
            </a:tbl>
          </a:graphicData>
        </a:graphic>
      </p:graphicFrame>
      <p:sp>
        <p:nvSpPr>
          <p:cNvPr id="3" name="Slide Number Placeholder 2">
            <a:extLst>
              <a:ext uri="{FF2B5EF4-FFF2-40B4-BE49-F238E27FC236}">
                <a16:creationId xmlns:a16="http://schemas.microsoft.com/office/drawing/2014/main" id="{B331017E-AD44-7AA7-44DD-7B4932BED8FB}"/>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57</a:t>
            </a:fld>
            <a:endParaRPr lang="en-US" altLang="en-US" b="0">
              <a:solidFill>
                <a:srgbClr val="000000"/>
              </a:solidFill>
            </a:endParaRPr>
          </a:p>
        </p:txBody>
      </p:sp>
    </p:spTree>
    <p:extLst>
      <p:ext uri="{BB962C8B-B14F-4D97-AF65-F5344CB8AC3E}">
        <p14:creationId xmlns:p14="http://schemas.microsoft.com/office/powerpoint/2010/main" val="14349576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D7EF05-AE8E-A3D3-A886-7E18391CBF9A}"/>
              </a:ext>
            </a:extLst>
          </p:cNvPr>
          <p:cNvSpPr>
            <a:spLocks noGrp="1"/>
          </p:cNvSpPr>
          <p:nvPr>
            <p:ph type="title"/>
          </p:nvPr>
        </p:nvSpPr>
        <p:spPr/>
        <p:txBody>
          <a:bodyPr/>
          <a:lstStyle/>
          <a:p>
            <a:r>
              <a:rPr lang="en-US" altLang="zh-CN" b="1" dirty="0">
                <a:latin typeface="+mj-lt"/>
              </a:rPr>
              <a:t>3. </a:t>
            </a:r>
            <a:r>
              <a:rPr lang="en-US" altLang="zh-CN" sz="2000" b="1" dirty="0">
                <a:latin typeface="+mj-lt"/>
              </a:rPr>
              <a:t>Sovereign</a:t>
            </a:r>
            <a:r>
              <a:rPr lang="en-US" altLang="zh-CN" b="1" dirty="0">
                <a:latin typeface="+mj-lt"/>
              </a:rPr>
              <a:t> Wealth Funds</a:t>
            </a:r>
            <a:endParaRPr lang="en-US" b="1" dirty="0">
              <a:latin typeface="+mj-lt"/>
            </a:endParaRPr>
          </a:p>
        </p:txBody>
      </p:sp>
      <p:sp>
        <p:nvSpPr>
          <p:cNvPr id="3" name="Slide Number Placeholder 2">
            <a:extLst>
              <a:ext uri="{FF2B5EF4-FFF2-40B4-BE49-F238E27FC236}">
                <a16:creationId xmlns:a16="http://schemas.microsoft.com/office/drawing/2014/main" id="{E3E5E088-3694-750B-4E6B-746130C7616B}"/>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58</a:t>
            </a:fld>
            <a:endParaRPr lang="en-US" altLang="en-US" b="0">
              <a:solidFill>
                <a:srgbClr val="000000"/>
              </a:solidFill>
            </a:endParaRPr>
          </a:p>
        </p:txBody>
      </p:sp>
      <p:graphicFrame>
        <p:nvGraphicFramePr>
          <p:cNvPr id="11" name="Table 10">
            <a:extLst>
              <a:ext uri="{FF2B5EF4-FFF2-40B4-BE49-F238E27FC236}">
                <a16:creationId xmlns:a16="http://schemas.microsoft.com/office/drawing/2014/main" id="{7FEBFF22-6AEA-EB63-E2C4-0D5DF4A624E8}"/>
              </a:ext>
            </a:extLst>
          </p:cNvPr>
          <p:cNvGraphicFramePr>
            <a:graphicFrameLocks noGrp="1"/>
          </p:cNvGraphicFramePr>
          <p:nvPr/>
        </p:nvGraphicFramePr>
        <p:xfrm>
          <a:off x="4910585" y="1118779"/>
          <a:ext cx="4274333" cy="4782865"/>
        </p:xfrm>
        <a:graphic>
          <a:graphicData uri="http://schemas.openxmlformats.org/drawingml/2006/table">
            <a:tbl>
              <a:tblPr firstRow="1" bandRow="1"/>
              <a:tblGrid>
                <a:gridCol w="448669">
                  <a:extLst>
                    <a:ext uri="{9D8B030D-6E8A-4147-A177-3AD203B41FA5}">
                      <a16:colId xmlns:a16="http://schemas.microsoft.com/office/drawing/2014/main" val="1235789269"/>
                    </a:ext>
                  </a:extLst>
                </a:gridCol>
                <a:gridCol w="2699024">
                  <a:extLst>
                    <a:ext uri="{9D8B030D-6E8A-4147-A177-3AD203B41FA5}">
                      <a16:colId xmlns:a16="http://schemas.microsoft.com/office/drawing/2014/main" val="2196379299"/>
                    </a:ext>
                  </a:extLst>
                </a:gridCol>
                <a:gridCol w="1126640">
                  <a:extLst>
                    <a:ext uri="{9D8B030D-6E8A-4147-A177-3AD203B41FA5}">
                      <a16:colId xmlns:a16="http://schemas.microsoft.com/office/drawing/2014/main" val="3017675633"/>
                    </a:ext>
                  </a:extLst>
                </a:gridCol>
              </a:tblGrid>
              <a:tr h="28134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050" dirty="0">
                          <a:latin typeface="+mj-lt"/>
                          <a:ea typeface="STKaiti" panose="02010600040101010101" pitchFamily="2" charset="-122"/>
                          <a:cs typeface="Arial" panose="020B0604020202020204" pitchFamily="34" charset="0"/>
                        </a:rPr>
                        <a:t>#</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CC0000"/>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dirty="0">
                          <a:latin typeface="+mj-lt"/>
                          <a:ea typeface="STKaiti" panose="02010600040101010101" pitchFamily="2" charset="-122"/>
                          <a:cs typeface="Arial" panose="020B0604020202020204" pitchFamily="34" charset="0"/>
                        </a:rPr>
                        <a:t>Investor Name</a:t>
                      </a:r>
                      <a:endParaRPr lang="en-US" sz="1050" dirty="0">
                        <a:latin typeface="+mj-lt"/>
                        <a:ea typeface="STKaiti" panose="02010600040101010101" pitchFamily="2" charset="-122"/>
                        <a:cs typeface="Arial" panose="020B0604020202020204" pitchFamily="34" charset="0"/>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C0000"/>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050" dirty="0">
                          <a:latin typeface="+mj-lt"/>
                          <a:ea typeface="STKaiti" panose="02010600040101010101" pitchFamily="2" charset="-122"/>
                          <a:cs typeface="Arial" panose="020B0604020202020204" pitchFamily="34" charset="0"/>
                        </a:rPr>
                        <a:t>R</a:t>
                      </a:r>
                      <a:r>
                        <a:rPr lang="en-US" altLang="zh-CN" sz="1050" dirty="0">
                          <a:latin typeface="+mj-lt"/>
                          <a:ea typeface="STKaiti" panose="02010600040101010101" pitchFamily="2" charset="-122"/>
                          <a:cs typeface="Arial" panose="020B0604020202020204" pitchFamily="34" charset="0"/>
                        </a:rPr>
                        <a:t>egion</a:t>
                      </a:r>
                      <a:endParaRPr lang="en-US" sz="1050" dirty="0">
                        <a:latin typeface="+mj-lt"/>
                        <a:ea typeface="STKaiti" panose="02010600040101010101" pitchFamily="2" charset="-122"/>
                        <a:cs typeface="Arial" panose="020B0604020202020204" pitchFamily="34" charset="0"/>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C0000"/>
                    </a:solidFill>
                  </a:tcPr>
                </a:tc>
                <a:extLst>
                  <a:ext uri="{0D108BD9-81ED-4DB2-BD59-A6C34878D82A}">
                    <a16:rowId xmlns:a16="http://schemas.microsoft.com/office/drawing/2014/main" val="2086935850"/>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1</a:t>
                      </a:r>
                    </a:p>
                  </a:txBody>
                  <a:tcPr marL="7144" marR="7144" marT="7144" marB="0"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dirty="0">
                          <a:solidFill>
                            <a:srgbClr val="000000"/>
                          </a:solidFill>
                          <a:effectLst/>
                          <a:latin typeface="+mn-lt"/>
                        </a:rPr>
                        <a:t>Abu Dhabi Investment Authority (ADIA)</a:t>
                      </a:r>
                    </a:p>
                  </a:txBody>
                  <a:tcPr marL="5275" marR="5275" marT="52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50" b="0" i="0" u="none" strike="noStrike" dirty="0">
                          <a:solidFill>
                            <a:srgbClr val="000000"/>
                          </a:solidFill>
                          <a:effectLst/>
                          <a:latin typeface="+mn-lt"/>
                          <a:ea typeface="Calibri" panose="020F0502020204030204" pitchFamily="34" charset="0"/>
                          <a:cs typeface="Calibri" panose="020F0502020204030204" pitchFamily="34" charset="0"/>
                        </a:rPr>
                        <a:t>Abu Dhabi</a:t>
                      </a:r>
                      <a:endParaRPr lang="zh-CN" altLang="en-US" sz="1050" b="0" i="0" u="none" strike="noStrike" dirty="0">
                        <a:solidFill>
                          <a:srgbClr val="000000"/>
                        </a:solidFill>
                        <a:effectLst/>
                        <a:latin typeface="+mn-lt"/>
                        <a:ea typeface="STKaiti" panose="02010600040101010101" pitchFamily="2" charset="-122"/>
                        <a:cs typeface="Calibri" panose="020F0502020204030204" pitchFamily="34" charset="0"/>
                      </a:endParaRPr>
                    </a:p>
                  </a:txBody>
                  <a:tcPr marL="5275" marR="5275" marT="5275" marB="0" anchor="ctr">
                    <a:lnL w="12700" cap="flat" cmpd="sng" algn="ctr">
                      <a:solidFill>
                        <a:srgbClr val="FFFFFF"/>
                      </a:solidFill>
                      <a:prstDash val="solid"/>
                      <a:round/>
                      <a:headEnd type="none" w="med" len="med"/>
                      <a:tailEnd type="none" w="med" len="med"/>
                    </a:lnL>
                    <a:lnR w="12700" cmpd="sng">
                      <a:solidFill>
                        <a:srgbClr val="FFFFFF"/>
                      </a:solidFill>
                    </a:lnR>
                    <a:lnT w="38100" cap="flat" cmpd="sng" algn="ctr">
                      <a:solidFill>
                        <a:srgbClr val="FFFFFF"/>
                      </a:solidFill>
                      <a:prstDash val="solid"/>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4658078"/>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2</a:t>
                      </a:r>
                    </a:p>
                  </a:txBody>
                  <a:tcPr marL="7144" marR="7144" marT="7144"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GB" sz="1050" b="0" i="0" u="none" strike="noStrike" dirty="0">
                          <a:solidFill>
                            <a:schemeClr val="tx1"/>
                          </a:solidFill>
                          <a:effectLst/>
                          <a:latin typeface="+mn-lt"/>
                        </a:rPr>
                        <a:t>Brunei Investment Authority  </a:t>
                      </a:r>
                      <a:r>
                        <a:rPr lang="en-US" sz="1050" b="0" i="0" u="none" strike="noStrike" dirty="0">
                          <a:solidFill>
                            <a:schemeClr val="tx1"/>
                          </a:solidFill>
                          <a:effectLst/>
                          <a:latin typeface="+mn-lt"/>
                          <a:ea typeface="STKaiti" panose="02010600040101010101" pitchFamily="2" charset="-122"/>
                          <a:cs typeface="Arial" panose="020B0604020202020204" pitchFamily="34" charset="0"/>
                        </a:rPr>
                        <a:t>(BIA)</a:t>
                      </a:r>
                    </a:p>
                  </a:txBody>
                  <a:tcPr marL="7620" marR="7620" marT="7620"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Brunei</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9650223"/>
                  </a:ext>
                </a:extLst>
              </a:tr>
              <a:tr h="281345">
                <a:tc>
                  <a:txBody>
                    <a:body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3</a:t>
                      </a:r>
                    </a:p>
                  </a:txBody>
                  <a:tcPr marL="7144" marR="7144" marT="7144"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sz="1050" b="0" i="0" u="none" strike="noStrike" dirty="0">
                          <a:solidFill>
                            <a:srgbClr val="000000"/>
                          </a:solidFill>
                          <a:effectLst/>
                          <a:latin typeface="+mn-lt"/>
                        </a:rPr>
                        <a:t>China Investment Corporation (CIC)</a:t>
                      </a:r>
                      <a:endParaRPr lang="en-US" sz="1050" b="0" i="0" u="none" strike="noStrike" dirty="0">
                        <a:solidFill>
                          <a:schemeClr val="tx1"/>
                        </a:solidFill>
                        <a:effectLst/>
                        <a:latin typeface="+mn-lt"/>
                        <a:ea typeface="STKaiti" panose="02010600040101010101" pitchFamily="2" charset="-122"/>
                        <a:cs typeface="Arial" panose="020B0604020202020204" pitchFamily="34" charset="0"/>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Mainland</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2385276"/>
                  </a:ext>
                </a:extLst>
              </a:tr>
              <a:tr h="281345">
                <a:tc>
                  <a:txBody>
                    <a:body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4</a:t>
                      </a:r>
                    </a:p>
                  </a:txBody>
                  <a:tcPr marL="7144" marR="7144" marT="7144"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050" b="0" i="0" u="none" strike="noStrike" dirty="0" err="1">
                          <a:solidFill>
                            <a:srgbClr val="000000"/>
                          </a:solidFill>
                          <a:effectLst/>
                          <a:latin typeface="+mn-lt"/>
                          <a:ea typeface="Calibri" panose="020F0502020204030204" pitchFamily="34" charset="0"/>
                          <a:cs typeface="Calibri" panose="020F0502020204030204" pitchFamily="34" charset="0"/>
                        </a:rPr>
                        <a:t>Danatara</a:t>
                      </a:r>
                      <a:endParaRPr lang="en-US" sz="1050" b="0" i="0" u="none" strike="noStrike" dirty="0">
                        <a:solidFill>
                          <a:srgbClr val="000000"/>
                        </a:solidFill>
                        <a:effectLst/>
                        <a:latin typeface="+mn-lt"/>
                        <a:ea typeface="Calibri" panose="020F0502020204030204" pitchFamily="34" charset="0"/>
                        <a:cs typeface="Calibri" panose="020F0502020204030204" pitchFamily="34" charset="0"/>
                      </a:endParaRPr>
                    </a:p>
                  </a:txBody>
                  <a:tcPr marL="5275" marR="5275" marT="52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50" b="0" i="0" u="none" strike="noStrike" dirty="0">
                          <a:solidFill>
                            <a:srgbClr val="000000"/>
                          </a:solidFill>
                          <a:effectLst/>
                          <a:latin typeface="+mn-lt"/>
                          <a:ea typeface="STKaiti" panose="02010600040101010101" pitchFamily="2" charset="-122"/>
                          <a:cs typeface="Calibri" panose="020F0502020204030204" pitchFamily="34" charset="0"/>
                        </a:rPr>
                        <a:t>Indonesia</a:t>
                      </a:r>
                      <a:endParaRPr lang="zh-CN" altLang="en-US" sz="1050" b="0" i="0" u="none" strike="noStrike" dirty="0">
                        <a:solidFill>
                          <a:srgbClr val="000000"/>
                        </a:solidFill>
                        <a:effectLst/>
                        <a:latin typeface="+mn-lt"/>
                        <a:ea typeface="STKaiti" panose="02010600040101010101" pitchFamily="2" charset="-122"/>
                        <a:cs typeface="Calibri" panose="020F0502020204030204" pitchFamily="34" charset="0"/>
                      </a:endParaRPr>
                    </a:p>
                  </a:txBody>
                  <a:tcPr marL="5275" marR="5275" marT="5275"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1934029"/>
                  </a:ext>
                </a:extLst>
              </a:tr>
              <a:tr h="281345">
                <a:tc>
                  <a:txBody>
                    <a:body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5</a:t>
                      </a:r>
                    </a:p>
                  </a:txBody>
                  <a:tcPr marL="7144" marR="7144" marT="7144"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GB" sz="1050" b="0" i="0" u="none" strike="noStrike" dirty="0">
                          <a:solidFill>
                            <a:schemeClr val="tx1"/>
                          </a:solidFill>
                          <a:effectLst/>
                          <a:latin typeface="+mn-lt"/>
                        </a:rPr>
                        <a:t>Druk Holding and Investments </a:t>
                      </a:r>
                      <a:r>
                        <a:rPr lang="en-US" sz="1050" b="0" i="0" u="none" strike="noStrike" dirty="0">
                          <a:solidFill>
                            <a:schemeClr val="tx1"/>
                          </a:solidFill>
                          <a:effectLst/>
                          <a:latin typeface="+mn-lt"/>
                          <a:ea typeface="STKaiti" panose="02010600040101010101" pitchFamily="2" charset="-122"/>
                          <a:cs typeface="Arial" panose="020B0604020202020204" pitchFamily="34" charset="0"/>
                        </a:rPr>
                        <a:t>(DHI)</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Bhutan</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5805793"/>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6</a:t>
                      </a:r>
                    </a:p>
                  </a:txBody>
                  <a:tcPr marL="7144" marR="7144" marT="7144"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sz="1050" b="0" i="0" u="none" strike="noStrike" dirty="0">
                          <a:solidFill>
                            <a:srgbClr val="000000"/>
                          </a:solidFill>
                          <a:effectLst/>
                          <a:latin typeface="+mj-lt"/>
                          <a:ea typeface="STKaiti" panose="02010600040101010101" pitchFamily="2" charset="-122"/>
                          <a:cs typeface="Arial" panose="020B0604020202020204" pitchFamily="34" charset="0"/>
                        </a:rPr>
                        <a:t>EDBI</a:t>
                      </a: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Singapore</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7783642"/>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7</a:t>
                      </a:r>
                    </a:p>
                  </a:txBody>
                  <a:tcPr marL="7144" marR="7144" marT="7144"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GB" sz="1050" b="0" i="0" u="none" strike="noStrike" kern="1200" dirty="0">
                          <a:solidFill>
                            <a:schemeClr val="tx1"/>
                          </a:solidFill>
                          <a:effectLst/>
                          <a:latin typeface="Arial" panose="020B0604020202020204"/>
                          <a:ea typeface="+mn-ea"/>
                          <a:cs typeface="+mn-cs"/>
                        </a:rPr>
                        <a:t>Employees Provident Fund (EPF)</a:t>
                      </a:r>
                      <a:endParaRPr lang="en-US" sz="1050" b="0" i="0" u="none" strike="noStrike" kern="1200" dirty="0">
                        <a:solidFill>
                          <a:schemeClr val="tx1"/>
                        </a:solidFill>
                        <a:effectLst/>
                        <a:latin typeface="Arial" panose="020B0604020202020204"/>
                        <a:ea typeface="STKaiti" panose="02010600040101010101" pitchFamily="2" charset="-122"/>
                        <a:cs typeface="Arial" panose="020B0604020202020204" pitchFamily="34" charset="0"/>
                      </a:endParaRP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Malaysia</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1602293"/>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8</a:t>
                      </a:r>
                    </a:p>
                  </a:txBody>
                  <a:tcPr marL="7144" marR="7144" marT="7144"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sz="1050" b="0" i="0" u="none" strike="noStrike" dirty="0">
                          <a:solidFill>
                            <a:srgbClr val="000000"/>
                          </a:solidFill>
                          <a:effectLst/>
                          <a:latin typeface="+mj-lt"/>
                          <a:ea typeface="STKaiti" panose="02010600040101010101" pitchFamily="2" charset="-122"/>
                          <a:cs typeface="Arial" panose="020B0604020202020204" pitchFamily="34" charset="0"/>
                        </a:rPr>
                        <a:t>GIC</a:t>
                      </a: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Singapore</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7464784"/>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9</a:t>
                      </a:r>
                    </a:p>
                  </a:txBody>
                  <a:tcPr marL="7144" marR="7144" marT="7144"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sz="1050" b="0" i="0" u="none" strike="noStrike" kern="1200" dirty="0">
                          <a:solidFill>
                            <a:schemeClr val="tx1"/>
                          </a:solidFill>
                          <a:effectLst/>
                          <a:latin typeface="Arial" panose="020B0604020202020204"/>
                          <a:ea typeface="STKaiti" panose="02010600040101010101" pitchFamily="2" charset="-122"/>
                          <a:cs typeface="Arial" panose="020B0604020202020204" pitchFamily="34" charset="0"/>
                        </a:rPr>
                        <a:t>I</a:t>
                      </a:r>
                      <a:r>
                        <a:rPr lang="en-US" altLang="zh-CN" sz="1050" b="0" i="0" u="none" strike="noStrike" kern="1200" dirty="0">
                          <a:solidFill>
                            <a:schemeClr val="tx1"/>
                          </a:solidFill>
                          <a:effectLst/>
                          <a:latin typeface="Arial" panose="020B0604020202020204"/>
                          <a:ea typeface="STKaiti" panose="02010600040101010101" pitchFamily="2" charset="-122"/>
                          <a:cs typeface="Arial" panose="020B0604020202020204" pitchFamily="34" charset="0"/>
                        </a:rPr>
                        <a:t>nvestment Corporation of Dubai </a:t>
                      </a:r>
                      <a:r>
                        <a:rPr lang="en-US" sz="1050" b="0" i="0" u="none" strike="noStrike" kern="1200" dirty="0">
                          <a:solidFill>
                            <a:schemeClr val="tx1"/>
                          </a:solidFill>
                          <a:effectLst/>
                          <a:latin typeface="Arial" panose="020B0604020202020204"/>
                          <a:ea typeface="STKaiti" panose="02010600040101010101" pitchFamily="2" charset="-122"/>
                          <a:cs typeface="Arial" panose="020B0604020202020204" pitchFamily="34" charset="0"/>
                        </a:rPr>
                        <a:t>(ICD)</a:t>
                      </a: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Dubai</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940693"/>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10</a:t>
                      </a:r>
                    </a:p>
                  </a:txBody>
                  <a:tcPr marL="7144" marR="7144" marT="7144"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sz="1050" b="0" i="0" u="none" strike="noStrike" kern="1200" dirty="0">
                          <a:solidFill>
                            <a:schemeClr val="tx1"/>
                          </a:solidFill>
                          <a:effectLst/>
                          <a:latin typeface="Arial" panose="020B0604020202020204"/>
                          <a:ea typeface="STKaiti" panose="02010600040101010101" pitchFamily="2" charset="-122"/>
                          <a:cs typeface="Arial" panose="020B0604020202020204" pitchFamily="34" charset="0"/>
                        </a:rPr>
                        <a:t>I</a:t>
                      </a:r>
                      <a:r>
                        <a:rPr lang="en-US" altLang="zh-CN" sz="1050" b="0" i="0" u="none" strike="noStrike" kern="1200" dirty="0">
                          <a:solidFill>
                            <a:schemeClr val="tx1"/>
                          </a:solidFill>
                          <a:effectLst/>
                          <a:latin typeface="Arial" panose="020B0604020202020204"/>
                          <a:ea typeface="STKaiti" panose="02010600040101010101" pitchFamily="2" charset="-122"/>
                          <a:cs typeface="Arial" panose="020B0604020202020204" pitchFamily="34" charset="0"/>
                        </a:rPr>
                        <a:t>ndonesia Investment Authority </a:t>
                      </a:r>
                      <a:r>
                        <a:rPr lang="en-US" sz="1050" b="0" i="0" u="none" strike="noStrike" kern="1200" dirty="0">
                          <a:solidFill>
                            <a:schemeClr val="tx1"/>
                          </a:solidFill>
                          <a:effectLst/>
                          <a:latin typeface="Arial" panose="020B0604020202020204"/>
                          <a:ea typeface="STKaiti" panose="02010600040101010101" pitchFamily="2" charset="-122"/>
                          <a:cs typeface="Arial" panose="020B0604020202020204" pitchFamily="34" charset="0"/>
                        </a:rPr>
                        <a:t>(INA)</a:t>
                      </a: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Indonesia</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0220969"/>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11</a:t>
                      </a:r>
                    </a:p>
                  </a:txBody>
                  <a:tcPr marL="7144" marR="7144" marT="7144"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sz="1050" b="0" i="0" u="none" strike="noStrike" dirty="0" err="1">
                          <a:solidFill>
                            <a:srgbClr val="000000"/>
                          </a:solidFill>
                          <a:effectLst/>
                          <a:latin typeface="+mj-lt"/>
                          <a:ea typeface="STKaiti" panose="02010600040101010101" pitchFamily="2" charset="-122"/>
                          <a:cs typeface="Arial" panose="020B0604020202020204" pitchFamily="34" charset="0"/>
                        </a:rPr>
                        <a:t>Khazanah</a:t>
                      </a:r>
                      <a:r>
                        <a:rPr lang="en-US" sz="1050" b="0" i="0" u="none" strike="noStrike" dirty="0">
                          <a:solidFill>
                            <a:srgbClr val="000000"/>
                          </a:solidFill>
                          <a:effectLst/>
                          <a:latin typeface="+mj-lt"/>
                          <a:ea typeface="STKaiti" panose="02010600040101010101" pitchFamily="2" charset="-122"/>
                          <a:cs typeface="Arial" panose="020B0604020202020204" pitchFamily="34" charset="0"/>
                        </a:rPr>
                        <a:t> Nasional</a:t>
                      </a: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Malaysia</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1106152"/>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12</a:t>
                      </a:r>
                    </a:p>
                  </a:txBody>
                  <a:tcPr marL="7144" marR="7144" marT="7144"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685800" rtl="0" eaLnBrk="1" fontAlgn="ctr" latinLnBrk="0" hangingPunct="1"/>
                      <a:r>
                        <a:rPr lang="en-US" sz="1050" b="0" i="0" u="none" strike="noStrike" kern="1200" dirty="0">
                          <a:solidFill>
                            <a:schemeClr val="tx1"/>
                          </a:solidFill>
                          <a:effectLst/>
                          <a:latin typeface="Arial" panose="020B0604020202020204"/>
                          <a:ea typeface="STKaiti" panose="02010600040101010101" pitchFamily="2" charset="-122"/>
                          <a:cs typeface="Arial" panose="020B0604020202020204" pitchFamily="34" charset="0"/>
                        </a:rPr>
                        <a:t>Mubadala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Abu Dhabi</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9955058"/>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13</a:t>
                      </a:r>
                    </a:p>
                  </a:txBody>
                  <a:tcPr marL="7144" marR="7144" marT="7144"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050" b="0" i="0" u="none" strike="noStrike" dirty="0" err="1">
                          <a:solidFill>
                            <a:schemeClr val="tx1"/>
                          </a:solidFill>
                          <a:effectLst/>
                          <a:latin typeface="+mn-lt"/>
                        </a:rPr>
                        <a:t>Permodalan</a:t>
                      </a:r>
                      <a:r>
                        <a:rPr lang="en-GB" sz="1050" b="0" i="0" u="none" strike="noStrike" dirty="0">
                          <a:solidFill>
                            <a:schemeClr val="tx1"/>
                          </a:solidFill>
                          <a:effectLst/>
                          <a:latin typeface="+mn-lt"/>
                        </a:rPr>
                        <a:t> Nasional </a:t>
                      </a:r>
                      <a:r>
                        <a:rPr lang="en-GB" sz="1050" b="0" i="0" u="none" strike="noStrike" dirty="0" err="1">
                          <a:solidFill>
                            <a:schemeClr val="tx1"/>
                          </a:solidFill>
                          <a:effectLst/>
                          <a:latin typeface="+mn-lt"/>
                        </a:rPr>
                        <a:t>Berhad</a:t>
                      </a:r>
                      <a:r>
                        <a:rPr lang="en-GB" sz="1050" b="0" i="0" u="none" strike="noStrike" dirty="0">
                          <a:solidFill>
                            <a:schemeClr val="tx1"/>
                          </a:solidFill>
                          <a:effectLst/>
                          <a:latin typeface="+mn-lt"/>
                        </a:rPr>
                        <a:t> (PNB)</a:t>
                      </a:r>
                    </a:p>
                  </a:txBody>
                  <a:tcPr marL="7620" marR="7620" marT="7620"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Malaysia</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6092062"/>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14</a:t>
                      </a:r>
                    </a:p>
                  </a:txBody>
                  <a:tcPr marL="7144" marR="7144" marT="7144"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050" b="0" i="0" u="none" strike="noStrike" dirty="0">
                          <a:solidFill>
                            <a:schemeClr val="tx1"/>
                          </a:solidFill>
                          <a:effectLst/>
                          <a:latin typeface="+mn-lt"/>
                          <a:ea typeface="STKaiti" panose="02010600040101010101" pitchFamily="2" charset="-122"/>
                          <a:cs typeface="Arial" panose="020B0604020202020204" pitchFamily="34" charset="0"/>
                        </a:rPr>
                        <a:t>P</a:t>
                      </a:r>
                      <a:r>
                        <a:rPr lang="en-US" altLang="zh-CN" sz="1050" b="0" i="0" u="none" strike="noStrike" dirty="0">
                          <a:solidFill>
                            <a:schemeClr val="tx1"/>
                          </a:solidFill>
                          <a:effectLst/>
                          <a:latin typeface="+mn-lt"/>
                          <a:ea typeface="STKaiti" panose="02010600040101010101" pitchFamily="2" charset="-122"/>
                          <a:cs typeface="Arial" panose="020B0604020202020204" pitchFamily="34" charset="0"/>
                        </a:rPr>
                        <a:t>ublic Investment Fund (PIF)</a:t>
                      </a:r>
                      <a:endParaRPr lang="en-US" sz="1050" b="0" i="0" u="none" strike="noStrike" dirty="0">
                        <a:solidFill>
                          <a:schemeClr val="tx1"/>
                        </a:solidFill>
                        <a:effectLst/>
                        <a:latin typeface="+mn-lt"/>
                        <a:ea typeface="STKaiti" panose="02010600040101010101" pitchFamily="2" charset="-122"/>
                        <a:cs typeface="Arial" panose="020B0604020202020204" pitchFamily="34" charset="0"/>
                      </a:endParaRPr>
                    </a:p>
                  </a:txBody>
                  <a:tcPr marL="7620" marR="7620" marT="7620"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Saudi Arabia</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440314"/>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15</a:t>
                      </a:r>
                    </a:p>
                  </a:txBody>
                  <a:tcPr marL="7144" marR="7144" marT="7144"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050" b="0" i="0" u="none" strike="noStrike" dirty="0">
                          <a:solidFill>
                            <a:schemeClr val="tx1"/>
                          </a:solidFill>
                          <a:effectLst/>
                          <a:latin typeface="+mn-lt"/>
                        </a:rPr>
                        <a:t>Qatar Investment Authority (QIA)</a:t>
                      </a:r>
                    </a:p>
                  </a:txBody>
                  <a:tcPr marL="7620" marR="7620" marT="7620" marB="0" anchor="ctr">
                    <a:lnL w="12700" cmpd="sng">
                      <a:solidFill>
                        <a:srgbClr val="FFFFFF"/>
                      </a:solidFill>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Qatar</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4111024"/>
                  </a:ext>
                </a:extLst>
              </a:tr>
              <a:tr h="2813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1050" b="0" i="0" u="none" strike="noStrike" dirty="0">
                          <a:solidFill>
                            <a:srgbClr val="000000"/>
                          </a:solidFill>
                          <a:effectLst/>
                          <a:latin typeface="+mj-lt"/>
                          <a:ea typeface="STKaiti" panose="02010600040101010101" pitchFamily="2" charset="-122"/>
                          <a:cs typeface="Arial" panose="020B0604020202020204" pitchFamily="34" charset="0"/>
                        </a:rPr>
                        <a:t>16</a:t>
                      </a:r>
                    </a:p>
                  </a:txBody>
                  <a:tcPr marL="7144" marR="7144" marT="7144" marB="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050" b="0" i="0" u="none" strike="noStrike" dirty="0">
                          <a:solidFill>
                            <a:schemeClr val="tx1"/>
                          </a:solidFill>
                          <a:effectLst/>
                          <a:latin typeface="+mn-lt"/>
                          <a:ea typeface="STKaiti" panose="02010600040101010101" pitchFamily="2" charset="-122"/>
                          <a:cs typeface="Arial" panose="020B0604020202020204" pitchFamily="34" charset="0"/>
                        </a:rPr>
                        <a:t>Temasek</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rtl="0" fontAlgn="ctr"/>
                      <a:r>
                        <a:rPr lang="en-US" altLang="zh-CN" sz="1050" b="0" i="0" u="none" strike="noStrike" dirty="0">
                          <a:solidFill>
                            <a:srgbClr val="000000"/>
                          </a:solidFill>
                          <a:effectLst/>
                          <a:latin typeface="+mj-lt"/>
                          <a:ea typeface="STKaiti" panose="02010600040101010101" pitchFamily="2" charset="-122"/>
                          <a:cs typeface="Arial" panose="020B0604020202020204" pitchFamily="34" charset="0"/>
                        </a:rPr>
                        <a:t>Singapore</a:t>
                      </a:r>
                      <a:endParaRPr lang="zh-CN" altLang="en-US" sz="105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5715" marR="5715" marT="5715"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000000">
                          <a:lumMod val="50000"/>
                          <a:lumOff val="50000"/>
                        </a:srgbClr>
                      </a:solidFill>
                      <a:prstDash val="sysDot"/>
                      <a:round/>
                      <a:headEnd type="none" w="med" len="med"/>
                      <a:tailEnd type="none" w="med" len="med"/>
                    </a:lnT>
                    <a:lnB w="1270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3767631"/>
                  </a:ext>
                </a:extLst>
              </a:tr>
            </a:tbl>
          </a:graphicData>
        </a:graphic>
      </p:graphicFrame>
      <p:sp>
        <p:nvSpPr>
          <p:cNvPr id="13" name="Freeform: Shape 43">
            <a:extLst>
              <a:ext uri="{FF2B5EF4-FFF2-40B4-BE49-F238E27FC236}">
                <a16:creationId xmlns:a16="http://schemas.microsoft.com/office/drawing/2014/main" id="{DD514609-AF15-57E7-EC99-9BC769F092E9}"/>
              </a:ext>
            </a:extLst>
          </p:cNvPr>
          <p:cNvSpPr/>
          <p:nvPr/>
        </p:nvSpPr>
        <p:spPr>
          <a:xfrm>
            <a:off x="1744627" y="3610060"/>
            <a:ext cx="2973676" cy="2316019"/>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gradFill rotWithShape="1">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0"/>
              </a:srgbClr>
            </a:outerShdw>
          </a:effectLst>
        </p:spPr>
        <p:txBody>
          <a:bodyPr wrap="square" lIns="68580" tIns="68580" rIns="68580" bIns="68580" anchor="ctr" anchorCtr="0">
            <a:spAutoFit/>
          </a:bodyPr>
          <a:lstStyle/>
          <a:p>
            <a:pPr marL="171450" indent="-171450" algn="just" eaLnBrk="0" fontAlgn="auto" hangingPunct="0">
              <a:spcBef>
                <a:spcPts val="0"/>
              </a:spcBef>
              <a:spcAft>
                <a:spcPts val="300"/>
              </a:spcAft>
              <a:buClr>
                <a:srgbClr val="BE050A"/>
              </a:buClr>
              <a:buSzPct val="80000"/>
              <a:buFont typeface="Wingdings" pitchFamily="2" charset="2"/>
              <a:buChar char="n"/>
              <a:defRPr/>
            </a:pPr>
            <a:r>
              <a:rPr lang="en-US" altLang="zh-CN" sz="1050" b="0" kern="0" dirty="0">
                <a:solidFill>
                  <a:srgbClr val="000000"/>
                </a:solidFill>
                <a:ea typeface="DFKaiShu-GB5"/>
              </a:rPr>
              <a:t>DBS is a subsidiary of Temasek, and our senior management has frequent dialogues with other Singapore sovereign funds as well such as GIC, 65 Equity partners </a:t>
            </a:r>
            <a:r>
              <a:rPr lang="en-US" altLang="zh-CN" sz="1050" b="0" kern="0" dirty="0" err="1">
                <a:solidFill>
                  <a:srgbClr val="000000"/>
                </a:solidFill>
                <a:ea typeface="DFKaiShu-GB5"/>
              </a:rPr>
              <a:t>etc</a:t>
            </a:r>
            <a:endParaRPr lang="en-US" altLang="zh-CN" sz="1050" b="0" kern="0" dirty="0">
              <a:solidFill>
                <a:srgbClr val="000000"/>
              </a:solidFill>
              <a:ea typeface="DFKaiShu-GB5"/>
            </a:endParaRPr>
          </a:p>
          <a:p>
            <a:pPr marL="171450" lvl="0" indent="-171450" algn="just" eaLnBrk="0" fontAlgn="auto" hangingPunct="0">
              <a:spcBef>
                <a:spcPts val="0"/>
              </a:spcBef>
              <a:spcAft>
                <a:spcPts val="300"/>
              </a:spcAft>
              <a:buClr>
                <a:srgbClr val="BE050A"/>
              </a:buClr>
              <a:buSzPct val="80000"/>
              <a:buFont typeface="Wingdings" pitchFamily="2" charset="2"/>
              <a:buChar char="n"/>
              <a:defRPr/>
            </a:pPr>
            <a:r>
              <a:rPr lang="en-US" altLang="zh-CN" sz="1050" b="0" kern="0" dirty="0">
                <a:solidFill>
                  <a:srgbClr val="000000"/>
                </a:solidFill>
                <a:ea typeface="DFKaiShu-GB5"/>
              </a:rPr>
              <a:t>In addition, DBS have been deeply involved in Southeast Asia for many years, and have established good relations with sovereign funds in the ASEAN region. </a:t>
            </a:r>
          </a:p>
          <a:p>
            <a:pPr marL="171450" lvl="0" indent="-171450" algn="just" eaLnBrk="0" fontAlgn="auto" hangingPunct="0">
              <a:spcBef>
                <a:spcPts val="0"/>
              </a:spcBef>
              <a:spcAft>
                <a:spcPts val="300"/>
              </a:spcAft>
              <a:buClr>
                <a:srgbClr val="BE050A"/>
              </a:buClr>
              <a:buSzPct val="80000"/>
              <a:buFont typeface="Wingdings" pitchFamily="2" charset="2"/>
              <a:buChar char="n"/>
              <a:defRPr/>
            </a:pPr>
            <a:r>
              <a:rPr lang="en-US" altLang="zh-CN" sz="1050" b="0" kern="0" dirty="0">
                <a:solidFill>
                  <a:srgbClr val="000000"/>
                </a:solidFill>
                <a:ea typeface="DFKaiShu-GB5"/>
              </a:rPr>
              <a:t>As the world's economic center of gravity shifts to Asia, European and Middle Eastern sovereign funds have also established relationships with DBS and have actively evaluated DBS led projects in Hong Kong</a:t>
            </a:r>
            <a:endParaRPr lang="zh-CN" altLang="en-US" sz="1050" b="0" kern="0" dirty="0">
              <a:solidFill>
                <a:srgbClr val="000000"/>
              </a:solidFill>
              <a:ea typeface="DFKaiShu-GB5"/>
            </a:endParaRPr>
          </a:p>
        </p:txBody>
      </p:sp>
      <p:sp>
        <p:nvSpPr>
          <p:cNvPr id="14" name="Freeform: Shape 90">
            <a:extLst>
              <a:ext uri="{FF2B5EF4-FFF2-40B4-BE49-F238E27FC236}">
                <a16:creationId xmlns:a16="http://schemas.microsoft.com/office/drawing/2014/main" id="{3E330705-0C49-F7B3-268C-69AFC86AFD51}"/>
              </a:ext>
            </a:extLst>
          </p:cNvPr>
          <p:cNvSpPr/>
          <p:nvPr/>
        </p:nvSpPr>
        <p:spPr>
          <a:xfrm>
            <a:off x="721082" y="1118779"/>
            <a:ext cx="1018435" cy="2154698"/>
          </a:xfrm>
          <a:custGeom>
            <a:avLst/>
            <a:gdLst>
              <a:gd name="connsiteX0" fmla="*/ 103223 w 1210460"/>
              <a:gd name="connsiteY0" fmla="*/ 0 h 1268244"/>
              <a:gd name="connsiteX1" fmla="*/ 1210460 w 1210460"/>
              <a:gd name="connsiteY1" fmla="*/ 0 h 1268244"/>
              <a:gd name="connsiteX2" fmla="*/ 1210460 w 1210460"/>
              <a:gd name="connsiteY2" fmla="*/ 1268244 h 1268244"/>
              <a:gd name="connsiteX3" fmla="*/ 103223 w 1210460"/>
              <a:gd name="connsiteY3" fmla="*/ 1268244 h 1268244"/>
              <a:gd name="connsiteX4" fmla="*/ 0 w 1210460"/>
              <a:gd name="connsiteY4" fmla="*/ 1165022 h 1268244"/>
              <a:gd name="connsiteX5" fmla="*/ 0 w 1210460"/>
              <a:gd name="connsiteY5" fmla="*/ 103223 h 1268244"/>
              <a:gd name="connsiteX6" fmla="*/ 103223 w 1210460"/>
              <a:gd name="connsiteY6" fmla="*/ 0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0460" h="1268244">
                <a:moveTo>
                  <a:pt x="103223" y="0"/>
                </a:moveTo>
                <a:lnTo>
                  <a:pt x="1210460" y="0"/>
                </a:lnTo>
                <a:lnTo>
                  <a:pt x="1210460" y="1268244"/>
                </a:lnTo>
                <a:lnTo>
                  <a:pt x="103223" y="1268244"/>
                </a:lnTo>
                <a:cubicBezTo>
                  <a:pt x="46214" y="1268244"/>
                  <a:pt x="0" y="1222030"/>
                  <a:pt x="0" y="1165022"/>
                </a:cubicBezTo>
                <a:lnTo>
                  <a:pt x="0" y="103223"/>
                </a:lnTo>
                <a:cubicBezTo>
                  <a:pt x="0" y="46214"/>
                  <a:pt x="46214" y="0"/>
                  <a:pt x="103223" y="0"/>
                </a:cubicBezTo>
                <a:close/>
              </a:path>
            </a:pathLst>
          </a:custGeom>
          <a:solidFill>
            <a:schemeClr val="tx1">
              <a:lumMod val="75000"/>
              <a:lumOff val="25000"/>
            </a:schemeClr>
          </a:solidFill>
          <a:ln>
            <a:noFill/>
          </a:ln>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r>
              <a:rPr lang="en-US" sz="1100">
                <a:solidFill>
                  <a:srgbClr val="FFFFFF"/>
                </a:solidFill>
                <a:ea typeface="STKaiti"/>
              </a:rPr>
              <a:t>Rationale </a:t>
            </a:r>
          </a:p>
        </p:txBody>
      </p:sp>
      <p:sp>
        <p:nvSpPr>
          <p:cNvPr id="15" name="Freeform: Shape 43">
            <a:extLst>
              <a:ext uri="{FF2B5EF4-FFF2-40B4-BE49-F238E27FC236}">
                <a16:creationId xmlns:a16="http://schemas.microsoft.com/office/drawing/2014/main" id="{73C489C7-AAC5-B47D-B0AA-18AC92044900}"/>
              </a:ext>
            </a:extLst>
          </p:cNvPr>
          <p:cNvSpPr/>
          <p:nvPr/>
        </p:nvSpPr>
        <p:spPr>
          <a:xfrm>
            <a:off x="1744626" y="1119041"/>
            <a:ext cx="2973677" cy="2323713"/>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gradFill rotWithShape="1">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0"/>
              </a:srgbClr>
            </a:outerShdw>
          </a:effectLst>
        </p:spPr>
        <p:txBody>
          <a:bodyPr wrap="square" lIns="68580" tIns="68580" rIns="68580" bIns="68580" anchor="t" anchorCtr="0">
            <a:spAutoFit/>
          </a:bodyPr>
          <a:lstStyle/>
          <a:p>
            <a:pPr marL="228600" indent="-228600" algn="just" defTabSz="685800" eaLnBrk="0" hangingPunct="0">
              <a:spcBef>
                <a:spcPts val="300"/>
              </a:spcBef>
              <a:spcAft>
                <a:spcPts val="300"/>
              </a:spcAft>
              <a:buClr>
                <a:srgbClr val="BE050A"/>
              </a:buClr>
              <a:buSzPct val="80000"/>
              <a:buFont typeface="Wingdings" pitchFamily="2" charset="2"/>
              <a:buChar char="n"/>
              <a:defRPr/>
            </a:pPr>
            <a:r>
              <a:rPr lang="en-US" altLang="zh-CN" sz="1100" b="0" kern="0" dirty="0">
                <a:solidFill>
                  <a:srgbClr val="000000"/>
                </a:solidFill>
                <a:latin typeface="+mn-lt"/>
                <a:ea typeface="Calibri" panose="020F0502020204030204" pitchFamily="34" charset="0"/>
                <a:cs typeface="Arial" panose="020B0604020202020204" pitchFamily="34" charset="0"/>
              </a:rPr>
              <a:t>Sovereign funds usually have a longer investment period and a larger ticket size They tend to be long-term holders of company shares.</a:t>
            </a:r>
          </a:p>
          <a:p>
            <a:pPr marL="228600" indent="-228600" algn="just" defTabSz="685800" eaLnBrk="0" hangingPunct="0">
              <a:spcBef>
                <a:spcPts val="300"/>
              </a:spcBef>
              <a:spcAft>
                <a:spcPts val="300"/>
              </a:spcAft>
              <a:buClr>
                <a:srgbClr val="BE050A"/>
              </a:buClr>
              <a:buSzPct val="80000"/>
              <a:buFont typeface="Wingdings" pitchFamily="2" charset="2"/>
              <a:buChar char="n"/>
              <a:defRPr/>
            </a:pPr>
            <a:r>
              <a:rPr lang="en-US" altLang="zh-CN" sz="1100" b="0" kern="0" dirty="0">
                <a:solidFill>
                  <a:srgbClr val="000000"/>
                </a:solidFill>
                <a:latin typeface="+mn-lt"/>
                <a:ea typeface="Calibri" panose="020F0502020204030204" pitchFamily="34" charset="0"/>
                <a:cs typeface="Arial" panose="020B0604020202020204" pitchFamily="34" charset="0"/>
              </a:rPr>
              <a:t>Sovereign funds are often well regarded in the market, and once introduced as cornerstone/anchor investors, they can help induce market confidence and boost momentum during bookbuild</a:t>
            </a:r>
          </a:p>
          <a:p>
            <a:pPr marL="228600" indent="-228600" algn="just" defTabSz="685800" eaLnBrk="0" hangingPunct="0">
              <a:spcBef>
                <a:spcPts val="300"/>
              </a:spcBef>
              <a:spcAft>
                <a:spcPts val="300"/>
              </a:spcAft>
              <a:buClr>
                <a:srgbClr val="BE050A"/>
              </a:buClr>
              <a:buSzPct val="80000"/>
              <a:buFont typeface="Wingdings" pitchFamily="2" charset="2"/>
              <a:buChar char="n"/>
              <a:defRPr/>
            </a:pPr>
            <a:r>
              <a:rPr lang="en-US" altLang="zh-CN" sz="1100" b="0" kern="0" dirty="0">
                <a:solidFill>
                  <a:srgbClr val="000000"/>
                </a:solidFill>
                <a:latin typeface="+mn-lt"/>
                <a:ea typeface="Calibri" panose="020F0502020204030204" pitchFamily="34" charset="0"/>
                <a:cs typeface="Arial" panose="020B0604020202020204" pitchFamily="34" charset="0"/>
              </a:rPr>
              <a:t>In recent years, the Hong Kong market has been favored by many international sovereign funds due to high profile IPOs</a:t>
            </a:r>
            <a:endParaRPr lang="zh-CN" altLang="en-US" sz="1100" b="0" kern="0" dirty="0">
              <a:solidFill>
                <a:srgbClr val="000000"/>
              </a:solidFill>
              <a:latin typeface="+mn-lt"/>
              <a:cs typeface="Arial" panose="020B0604020202020204" pitchFamily="34" charset="0"/>
            </a:endParaRPr>
          </a:p>
        </p:txBody>
      </p:sp>
      <p:sp>
        <p:nvSpPr>
          <p:cNvPr id="16" name="Freeform: Shape 55">
            <a:extLst>
              <a:ext uri="{FF2B5EF4-FFF2-40B4-BE49-F238E27FC236}">
                <a16:creationId xmlns:a16="http://schemas.microsoft.com/office/drawing/2014/main" id="{6E0449B5-8E93-9E4A-4BEB-598A98E84D58}"/>
              </a:ext>
            </a:extLst>
          </p:cNvPr>
          <p:cNvSpPr/>
          <p:nvPr/>
        </p:nvSpPr>
        <p:spPr>
          <a:xfrm>
            <a:off x="721082" y="4144676"/>
            <a:ext cx="1018435" cy="1739084"/>
          </a:xfrm>
          <a:custGeom>
            <a:avLst/>
            <a:gdLst>
              <a:gd name="connsiteX0" fmla="*/ 103223 w 1210460"/>
              <a:gd name="connsiteY0" fmla="*/ 0 h 1268244"/>
              <a:gd name="connsiteX1" fmla="*/ 1210460 w 1210460"/>
              <a:gd name="connsiteY1" fmla="*/ 0 h 1268244"/>
              <a:gd name="connsiteX2" fmla="*/ 1210460 w 1210460"/>
              <a:gd name="connsiteY2" fmla="*/ 1268244 h 1268244"/>
              <a:gd name="connsiteX3" fmla="*/ 103223 w 1210460"/>
              <a:gd name="connsiteY3" fmla="*/ 1268244 h 1268244"/>
              <a:gd name="connsiteX4" fmla="*/ 0 w 1210460"/>
              <a:gd name="connsiteY4" fmla="*/ 1165022 h 1268244"/>
              <a:gd name="connsiteX5" fmla="*/ 0 w 1210460"/>
              <a:gd name="connsiteY5" fmla="*/ 103223 h 1268244"/>
              <a:gd name="connsiteX6" fmla="*/ 103223 w 1210460"/>
              <a:gd name="connsiteY6" fmla="*/ 0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0460" h="1268244">
                <a:moveTo>
                  <a:pt x="103223" y="0"/>
                </a:moveTo>
                <a:lnTo>
                  <a:pt x="1210460" y="0"/>
                </a:lnTo>
                <a:lnTo>
                  <a:pt x="1210460" y="1268244"/>
                </a:lnTo>
                <a:lnTo>
                  <a:pt x="103223" y="1268244"/>
                </a:lnTo>
                <a:cubicBezTo>
                  <a:pt x="46214" y="1268244"/>
                  <a:pt x="0" y="1222030"/>
                  <a:pt x="0" y="1165022"/>
                </a:cubicBezTo>
                <a:lnTo>
                  <a:pt x="0" y="103223"/>
                </a:lnTo>
                <a:cubicBezTo>
                  <a:pt x="0" y="46214"/>
                  <a:pt x="46214" y="0"/>
                  <a:pt x="103223" y="0"/>
                </a:cubicBezTo>
                <a:close/>
              </a:path>
            </a:pathLst>
          </a:custGeom>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r>
              <a:rPr lang="en-US" sz="1100">
                <a:solidFill>
                  <a:srgbClr val="FFFFFF"/>
                </a:solidFill>
                <a:ea typeface="STKaiti"/>
              </a:rPr>
              <a:t>Superior Coverage</a:t>
            </a:r>
          </a:p>
        </p:txBody>
      </p:sp>
      <p:pic>
        <p:nvPicPr>
          <p:cNvPr id="17" name="Picture 9">
            <a:extLst>
              <a:ext uri="{FF2B5EF4-FFF2-40B4-BE49-F238E27FC236}">
                <a16:creationId xmlns:a16="http://schemas.microsoft.com/office/drawing/2014/main" id="{86740449-3D61-8EB5-17C8-128C9FC50FCA}"/>
              </a:ext>
            </a:extLst>
          </p:cNvPr>
          <p:cNvPicPr preferRelativeResize="0">
            <a:picLocks noChangeAspect="1" noChangeArrowheads="1"/>
          </p:cNvPicPr>
          <p:nvPr/>
        </p:nvPicPr>
        <p:blipFill>
          <a:blip r:embed="rId3" cstate="print"/>
          <a:srcRect/>
          <a:stretch>
            <a:fillRect/>
          </a:stretch>
        </p:blipFill>
        <p:spPr bwMode="auto">
          <a:xfrm>
            <a:off x="792518" y="3798057"/>
            <a:ext cx="817542" cy="238350"/>
          </a:xfrm>
          <a:prstGeom prst="rect">
            <a:avLst/>
          </a:prstGeom>
          <a:noFill/>
          <a:ln w="9525">
            <a:noFill/>
            <a:miter lim="800000"/>
            <a:headEnd/>
            <a:tailEnd/>
          </a:ln>
        </p:spPr>
      </p:pic>
    </p:spTree>
    <p:extLst>
      <p:ext uri="{BB962C8B-B14F-4D97-AF65-F5344CB8AC3E}">
        <p14:creationId xmlns:p14="http://schemas.microsoft.com/office/powerpoint/2010/main" val="10567507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D7EF05-AE8E-A3D3-A886-7E18391CBF9A}"/>
              </a:ext>
            </a:extLst>
          </p:cNvPr>
          <p:cNvSpPr>
            <a:spLocks noGrp="1"/>
          </p:cNvSpPr>
          <p:nvPr>
            <p:ph type="title"/>
          </p:nvPr>
        </p:nvSpPr>
        <p:spPr/>
        <p:txBody>
          <a:bodyPr/>
          <a:lstStyle/>
          <a:p>
            <a:r>
              <a:rPr lang="en-US" sz="2000" b="1" dirty="0"/>
              <a:t>4. Active SEA Funds that Invest in Hong Kong Equities </a:t>
            </a:r>
            <a:endParaRPr lang="en-US" sz="2000" b="1" dirty="0">
              <a:latin typeface="+mj-lt"/>
            </a:endParaRPr>
          </a:p>
        </p:txBody>
      </p:sp>
      <p:sp>
        <p:nvSpPr>
          <p:cNvPr id="2" name="Slide Number Placeholder 1">
            <a:extLst>
              <a:ext uri="{FF2B5EF4-FFF2-40B4-BE49-F238E27FC236}">
                <a16:creationId xmlns:a16="http://schemas.microsoft.com/office/drawing/2014/main" id="{FAF6C882-7374-F8D7-622D-80B09AB3C550}"/>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59</a:t>
            </a:fld>
            <a:endParaRPr lang="en-US" altLang="en-US" b="0">
              <a:solidFill>
                <a:srgbClr val="000000"/>
              </a:solidFill>
            </a:endParaRPr>
          </a:p>
        </p:txBody>
      </p:sp>
      <p:sp>
        <p:nvSpPr>
          <p:cNvPr id="3" name="Freeform: Shape 43">
            <a:extLst>
              <a:ext uri="{FF2B5EF4-FFF2-40B4-BE49-F238E27FC236}">
                <a16:creationId xmlns:a16="http://schemas.microsoft.com/office/drawing/2014/main" id="{6D074E7A-002C-7697-BD23-858104EC6A41}"/>
              </a:ext>
            </a:extLst>
          </p:cNvPr>
          <p:cNvSpPr/>
          <p:nvPr/>
        </p:nvSpPr>
        <p:spPr>
          <a:xfrm>
            <a:off x="1658642" y="4140750"/>
            <a:ext cx="2292661" cy="1805229"/>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gradFill rotWithShape="1">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0"/>
              </a:srgbClr>
            </a:outerShdw>
          </a:effectLst>
        </p:spPr>
        <p:txBody>
          <a:bodyPr wrap="square" lIns="63305" tIns="63305" rIns="63305" bIns="63305" anchor="ctr" anchorCtr="0">
            <a:noAutofit/>
          </a:bodyPr>
          <a:lstStyle/>
          <a:p>
            <a:pPr marL="211021" indent="-211021" algn="just" defTabSz="633062" eaLnBrk="0" hangingPunct="0">
              <a:spcBef>
                <a:spcPts val="277"/>
              </a:spcBef>
              <a:spcAft>
                <a:spcPts val="277"/>
              </a:spcAft>
              <a:buClr>
                <a:srgbClr val="BE050A"/>
              </a:buClr>
              <a:buFont typeface="Wingdings" pitchFamily="2" charset="2"/>
              <a:buChar char="n"/>
            </a:pPr>
            <a:r>
              <a:rPr lang="en-US" sz="1000" b="0" kern="0">
                <a:solidFill>
                  <a:srgbClr val="000000"/>
                </a:solidFill>
                <a:latin typeface="+mn-lt"/>
                <a:ea typeface="Calibri" panose="020F0502020204030204" pitchFamily="34" charset="0"/>
                <a:cs typeface="Calibri" panose="020F0502020204030204" pitchFamily="34" charset="0"/>
              </a:rPr>
              <a:t>DBS is the undisputable #1 service agent for over 90% of the SG local funds by any measure </a:t>
            </a:r>
          </a:p>
          <a:p>
            <a:pPr marL="211021" indent="-211021" algn="just" defTabSz="633062" eaLnBrk="0" hangingPunct="0">
              <a:spcBef>
                <a:spcPts val="277"/>
              </a:spcBef>
              <a:spcAft>
                <a:spcPts val="277"/>
              </a:spcAft>
              <a:buClr>
                <a:srgbClr val="BE050A"/>
              </a:buClr>
              <a:buFont typeface="Wingdings" pitchFamily="2" charset="2"/>
              <a:buChar char="n"/>
            </a:pPr>
            <a:r>
              <a:rPr lang="en-US" sz="1000" b="0" kern="0">
                <a:solidFill>
                  <a:srgbClr val="000000"/>
                </a:solidFill>
                <a:latin typeface="+mn-lt"/>
                <a:ea typeface="Calibri" panose="020F0502020204030204" pitchFamily="34" charset="0"/>
                <a:cs typeface="Calibri" panose="020F0502020204030204" pitchFamily="34" charset="0"/>
              </a:rPr>
              <a:t>In some cases, DBS is the sole broker and has strong influence on these funds </a:t>
            </a:r>
          </a:p>
          <a:p>
            <a:pPr marL="211021" indent="-211021" algn="just" defTabSz="633062" eaLnBrk="0" hangingPunct="0">
              <a:spcBef>
                <a:spcPts val="277"/>
              </a:spcBef>
              <a:spcAft>
                <a:spcPts val="277"/>
              </a:spcAft>
              <a:buClr>
                <a:srgbClr val="BE050A"/>
              </a:buClr>
              <a:buFont typeface="Wingdings" pitchFamily="2" charset="2"/>
              <a:buChar char="n"/>
            </a:pPr>
            <a:r>
              <a:rPr lang="en-US" sz="1000" b="0" kern="0">
                <a:solidFill>
                  <a:srgbClr val="000000"/>
                </a:solidFill>
                <a:latin typeface="+mn-lt"/>
                <a:ea typeface="Calibri" panose="020F0502020204030204" pitchFamily="34" charset="0"/>
                <a:cs typeface="Calibri" panose="020F0502020204030204" pitchFamily="34" charset="0"/>
              </a:rPr>
              <a:t>Long standing and robust relationships from decades of collaboration and deal engagements </a:t>
            </a:r>
          </a:p>
        </p:txBody>
      </p:sp>
      <p:sp>
        <p:nvSpPr>
          <p:cNvPr id="4" name="Freeform: Shape 90">
            <a:extLst>
              <a:ext uri="{FF2B5EF4-FFF2-40B4-BE49-F238E27FC236}">
                <a16:creationId xmlns:a16="http://schemas.microsoft.com/office/drawing/2014/main" id="{304145FE-3171-39B5-62B5-72CB20AA1222}"/>
              </a:ext>
            </a:extLst>
          </p:cNvPr>
          <p:cNvSpPr/>
          <p:nvPr/>
        </p:nvSpPr>
        <p:spPr>
          <a:xfrm>
            <a:off x="711202" y="1170186"/>
            <a:ext cx="940094" cy="2712401"/>
          </a:xfrm>
          <a:custGeom>
            <a:avLst/>
            <a:gdLst>
              <a:gd name="connsiteX0" fmla="*/ 103223 w 1210460"/>
              <a:gd name="connsiteY0" fmla="*/ 0 h 1268244"/>
              <a:gd name="connsiteX1" fmla="*/ 1210460 w 1210460"/>
              <a:gd name="connsiteY1" fmla="*/ 0 h 1268244"/>
              <a:gd name="connsiteX2" fmla="*/ 1210460 w 1210460"/>
              <a:gd name="connsiteY2" fmla="*/ 1268244 h 1268244"/>
              <a:gd name="connsiteX3" fmla="*/ 103223 w 1210460"/>
              <a:gd name="connsiteY3" fmla="*/ 1268244 h 1268244"/>
              <a:gd name="connsiteX4" fmla="*/ 0 w 1210460"/>
              <a:gd name="connsiteY4" fmla="*/ 1165022 h 1268244"/>
              <a:gd name="connsiteX5" fmla="*/ 0 w 1210460"/>
              <a:gd name="connsiteY5" fmla="*/ 103223 h 1268244"/>
              <a:gd name="connsiteX6" fmla="*/ 103223 w 1210460"/>
              <a:gd name="connsiteY6" fmla="*/ 0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0460" h="1268244">
                <a:moveTo>
                  <a:pt x="103223" y="0"/>
                </a:moveTo>
                <a:lnTo>
                  <a:pt x="1210460" y="0"/>
                </a:lnTo>
                <a:lnTo>
                  <a:pt x="1210460" y="1268244"/>
                </a:lnTo>
                <a:lnTo>
                  <a:pt x="103223" y="1268244"/>
                </a:lnTo>
                <a:cubicBezTo>
                  <a:pt x="46214" y="1268244"/>
                  <a:pt x="0" y="1222030"/>
                  <a:pt x="0" y="1165022"/>
                </a:cubicBezTo>
                <a:lnTo>
                  <a:pt x="0" y="103223"/>
                </a:lnTo>
                <a:cubicBezTo>
                  <a:pt x="0" y="46214"/>
                  <a:pt x="46214" y="0"/>
                  <a:pt x="103223" y="0"/>
                </a:cubicBezTo>
                <a:close/>
              </a:path>
            </a:pathLst>
          </a:custGeom>
          <a:solidFill>
            <a:schemeClr val="tx1">
              <a:lumMod val="75000"/>
              <a:lumOff val="25000"/>
            </a:schemeClr>
          </a:solidFill>
          <a:ln>
            <a:noFill/>
          </a:ln>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33062">
              <a:spcBef>
                <a:spcPct val="50000"/>
              </a:spcBef>
              <a:defRPr/>
            </a:pPr>
            <a:r>
              <a:rPr lang="en-US" sz="1100">
                <a:solidFill>
                  <a:srgbClr val="FFFFFF"/>
                </a:solidFill>
                <a:ea typeface="STKaiti"/>
              </a:rPr>
              <a:t>Rationale </a:t>
            </a:r>
          </a:p>
        </p:txBody>
      </p:sp>
      <p:sp>
        <p:nvSpPr>
          <p:cNvPr id="9" name="Freeform: Shape 43">
            <a:extLst>
              <a:ext uri="{FF2B5EF4-FFF2-40B4-BE49-F238E27FC236}">
                <a16:creationId xmlns:a16="http://schemas.microsoft.com/office/drawing/2014/main" id="{3CC4514B-91D0-1A16-C3A6-AB28028512DF}"/>
              </a:ext>
            </a:extLst>
          </p:cNvPr>
          <p:cNvSpPr/>
          <p:nvPr/>
        </p:nvSpPr>
        <p:spPr>
          <a:xfrm>
            <a:off x="1634181" y="1162523"/>
            <a:ext cx="2292661" cy="2728558"/>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gradFill rotWithShape="1">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0"/>
              </a:srgbClr>
            </a:outerShdw>
          </a:effectLst>
        </p:spPr>
        <p:txBody>
          <a:bodyPr wrap="square" lIns="63305" tIns="63305" rIns="63305" bIns="63305" anchor="ctr" anchorCtr="0">
            <a:noAutofit/>
          </a:bodyPr>
          <a:lstStyle/>
          <a:p>
            <a:pPr marL="211021" indent="-211021" algn="just" defTabSz="633062" eaLnBrk="0" hangingPunct="0">
              <a:spcBef>
                <a:spcPts val="277"/>
              </a:spcBef>
              <a:spcAft>
                <a:spcPts val="277"/>
              </a:spcAft>
              <a:buClr>
                <a:srgbClr val="BE050A"/>
              </a:buClr>
              <a:buFont typeface="Wingdings" pitchFamily="2" charset="2"/>
              <a:buChar char="n"/>
            </a:pPr>
            <a:r>
              <a:rPr lang="en-US" sz="1000" b="0" kern="0">
                <a:solidFill>
                  <a:srgbClr val="000000"/>
                </a:solidFill>
                <a:latin typeface="+mn-lt"/>
                <a:ea typeface="Calibri" panose="020F0502020204030204" pitchFamily="34" charset="0"/>
                <a:cs typeface="Calibri" panose="020F0502020204030204" pitchFamily="34" charset="0"/>
              </a:rPr>
              <a:t>Singapore is a vibrant regional asset management hub with a wide arrange of local and SEA money managers</a:t>
            </a:r>
          </a:p>
          <a:p>
            <a:pPr marL="211021" indent="-211021" algn="just" defTabSz="633062" eaLnBrk="0" hangingPunct="0">
              <a:spcBef>
                <a:spcPts val="277"/>
              </a:spcBef>
              <a:spcAft>
                <a:spcPts val="277"/>
              </a:spcAft>
              <a:buClr>
                <a:srgbClr val="BE050A"/>
              </a:buClr>
              <a:buFont typeface="Wingdings" pitchFamily="2" charset="2"/>
              <a:buChar char="n"/>
            </a:pPr>
            <a:r>
              <a:rPr lang="en-US" sz="1000" b="0" kern="0">
                <a:solidFill>
                  <a:srgbClr val="000000"/>
                </a:solidFill>
                <a:latin typeface="+mn-lt"/>
                <a:ea typeface="Calibri" panose="020F0502020204030204" pitchFamily="34" charset="0"/>
                <a:cs typeface="Calibri" panose="020F0502020204030204" pitchFamily="34" charset="0"/>
              </a:rPr>
              <a:t>SG local funds tend to have longer investment horizons</a:t>
            </a:r>
          </a:p>
          <a:p>
            <a:pPr marL="211021" indent="-211021" algn="just" defTabSz="633062" eaLnBrk="0" hangingPunct="0">
              <a:spcBef>
                <a:spcPts val="277"/>
              </a:spcBef>
              <a:spcAft>
                <a:spcPts val="277"/>
              </a:spcAft>
              <a:buClr>
                <a:srgbClr val="BE050A"/>
              </a:buClr>
              <a:buFont typeface="Wingdings" pitchFamily="2" charset="2"/>
              <a:buChar char="n"/>
            </a:pPr>
            <a:r>
              <a:rPr lang="en-US" sz="1000" b="0" kern="0">
                <a:solidFill>
                  <a:srgbClr val="000000"/>
                </a:solidFill>
                <a:latin typeface="+mn-lt"/>
                <a:ea typeface="Calibri" panose="020F0502020204030204" pitchFamily="34" charset="0"/>
                <a:cs typeface="Calibri" panose="020F0502020204030204" pitchFamily="34" charset="0"/>
              </a:rPr>
              <a:t>From our previous transaction experience, SG investors are less price sensitive; they can be very effective momentum builders </a:t>
            </a:r>
          </a:p>
          <a:p>
            <a:pPr marL="211021" indent="-211021" algn="just" defTabSz="633062" eaLnBrk="0" hangingPunct="0">
              <a:spcBef>
                <a:spcPts val="277"/>
              </a:spcBef>
              <a:spcAft>
                <a:spcPts val="277"/>
              </a:spcAft>
              <a:buClr>
                <a:srgbClr val="BE050A"/>
              </a:buClr>
              <a:buFont typeface="Wingdings" pitchFamily="2" charset="2"/>
              <a:buChar char="n"/>
            </a:pPr>
            <a:r>
              <a:rPr lang="en-US" sz="1000" b="0" kern="0">
                <a:solidFill>
                  <a:srgbClr val="000000"/>
                </a:solidFill>
                <a:latin typeface="+mn-lt"/>
                <a:ea typeface="Calibri" panose="020F0502020204030204" pitchFamily="34" charset="0"/>
                <a:cs typeface="Calibri" panose="020F0502020204030204" pitchFamily="34" charset="0"/>
              </a:rPr>
              <a:t>Very keen on stable return play due to cumulation of previous investment experience coupled with current market development</a:t>
            </a:r>
          </a:p>
        </p:txBody>
      </p:sp>
      <p:sp>
        <p:nvSpPr>
          <p:cNvPr id="15" name="Freeform: Shape 55">
            <a:extLst>
              <a:ext uri="{FF2B5EF4-FFF2-40B4-BE49-F238E27FC236}">
                <a16:creationId xmlns:a16="http://schemas.microsoft.com/office/drawing/2014/main" id="{6676E0B3-8A94-BD02-0929-1424DD676F35}"/>
              </a:ext>
            </a:extLst>
          </p:cNvPr>
          <p:cNvSpPr/>
          <p:nvPr/>
        </p:nvSpPr>
        <p:spPr>
          <a:xfrm>
            <a:off x="711202" y="4667878"/>
            <a:ext cx="940094" cy="1278101"/>
          </a:xfrm>
          <a:custGeom>
            <a:avLst/>
            <a:gdLst>
              <a:gd name="connsiteX0" fmla="*/ 103223 w 1210460"/>
              <a:gd name="connsiteY0" fmla="*/ 0 h 1268244"/>
              <a:gd name="connsiteX1" fmla="*/ 1210460 w 1210460"/>
              <a:gd name="connsiteY1" fmla="*/ 0 h 1268244"/>
              <a:gd name="connsiteX2" fmla="*/ 1210460 w 1210460"/>
              <a:gd name="connsiteY2" fmla="*/ 1268244 h 1268244"/>
              <a:gd name="connsiteX3" fmla="*/ 103223 w 1210460"/>
              <a:gd name="connsiteY3" fmla="*/ 1268244 h 1268244"/>
              <a:gd name="connsiteX4" fmla="*/ 0 w 1210460"/>
              <a:gd name="connsiteY4" fmla="*/ 1165022 h 1268244"/>
              <a:gd name="connsiteX5" fmla="*/ 0 w 1210460"/>
              <a:gd name="connsiteY5" fmla="*/ 103223 h 1268244"/>
              <a:gd name="connsiteX6" fmla="*/ 103223 w 1210460"/>
              <a:gd name="connsiteY6" fmla="*/ 0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0460" h="1268244">
                <a:moveTo>
                  <a:pt x="103223" y="0"/>
                </a:moveTo>
                <a:lnTo>
                  <a:pt x="1210460" y="0"/>
                </a:lnTo>
                <a:lnTo>
                  <a:pt x="1210460" y="1268244"/>
                </a:lnTo>
                <a:lnTo>
                  <a:pt x="103223" y="1268244"/>
                </a:lnTo>
                <a:cubicBezTo>
                  <a:pt x="46214" y="1268244"/>
                  <a:pt x="0" y="1222030"/>
                  <a:pt x="0" y="1165022"/>
                </a:cubicBezTo>
                <a:lnTo>
                  <a:pt x="0" y="103223"/>
                </a:lnTo>
                <a:cubicBezTo>
                  <a:pt x="0" y="46214"/>
                  <a:pt x="46214" y="0"/>
                  <a:pt x="103223" y="0"/>
                </a:cubicBezTo>
                <a:close/>
              </a:path>
            </a:pathLst>
          </a:custGeom>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33062">
              <a:spcBef>
                <a:spcPct val="50000"/>
              </a:spcBef>
              <a:defRPr/>
            </a:pPr>
            <a:r>
              <a:rPr lang="en-US" sz="1100">
                <a:solidFill>
                  <a:srgbClr val="FFFFFF"/>
                </a:solidFill>
                <a:ea typeface="STKaiti"/>
              </a:rPr>
              <a:t>Superior Coverage</a:t>
            </a:r>
          </a:p>
        </p:txBody>
      </p:sp>
      <p:pic>
        <p:nvPicPr>
          <p:cNvPr id="16" name="Picture 9">
            <a:extLst>
              <a:ext uri="{FF2B5EF4-FFF2-40B4-BE49-F238E27FC236}">
                <a16:creationId xmlns:a16="http://schemas.microsoft.com/office/drawing/2014/main" id="{45A55433-AAF2-B50D-E907-63C6A6DEA02F}"/>
              </a:ext>
            </a:extLst>
          </p:cNvPr>
          <p:cNvPicPr preferRelativeResize="0">
            <a:picLocks noChangeAspect="1" noChangeArrowheads="1"/>
          </p:cNvPicPr>
          <p:nvPr/>
        </p:nvPicPr>
        <p:blipFill>
          <a:blip r:embed="rId3" cstate="print"/>
          <a:srcRect/>
          <a:stretch>
            <a:fillRect/>
          </a:stretch>
        </p:blipFill>
        <p:spPr bwMode="auto">
          <a:xfrm>
            <a:off x="799977" y="4349384"/>
            <a:ext cx="754654" cy="220015"/>
          </a:xfrm>
          <a:prstGeom prst="rect">
            <a:avLst/>
          </a:prstGeom>
          <a:noFill/>
          <a:ln w="9525">
            <a:noFill/>
            <a:miter lim="800000"/>
            <a:headEnd/>
            <a:tailEnd/>
          </a:ln>
        </p:spPr>
      </p:pic>
      <p:graphicFrame>
        <p:nvGraphicFramePr>
          <p:cNvPr id="17" name="Table 16">
            <a:extLst>
              <a:ext uri="{FF2B5EF4-FFF2-40B4-BE49-F238E27FC236}">
                <a16:creationId xmlns:a16="http://schemas.microsoft.com/office/drawing/2014/main" id="{5E7D9D2D-A2AE-6899-0664-76421ACF0763}"/>
              </a:ext>
            </a:extLst>
          </p:cNvPr>
          <p:cNvGraphicFramePr>
            <a:graphicFrameLocks noGrp="1"/>
          </p:cNvGraphicFramePr>
          <p:nvPr>
            <p:extLst>
              <p:ext uri="{D42A27DB-BD31-4B8C-83A1-F6EECF244321}">
                <p14:modId xmlns:p14="http://schemas.microsoft.com/office/powerpoint/2010/main" val="221649425"/>
              </p:ext>
            </p:extLst>
          </p:nvPr>
        </p:nvGraphicFramePr>
        <p:xfrm>
          <a:off x="4058679" y="1045937"/>
          <a:ext cx="1567648" cy="5034225"/>
        </p:xfrm>
        <a:graphic>
          <a:graphicData uri="http://schemas.openxmlformats.org/drawingml/2006/table">
            <a:tbl>
              <a:tblPr firstRow="1" bandRow="1">
                <a:tableStyleId>{5C22544A-7EE6-4342-B048-85BDC9FD1C3A}</a:tableStyleId>
              </a:tblPr>
              <a:tblGrid>
                <a:gridCol w="648788">
                  <a:extLst>
                    <a:ext uri="{9D8B030D-6E8A-4147-A177-3AD203B41FA5}">
                      <a16:colId xmlns:a16="http://schemas.microsoft.com/office/drawing/2014/main" val="517928114"/>
                    </a:ext>
                  </a:extLst>
                </a:gridCol>
                <a:gridCol w="386080">
                  <a:extLst>
                    <a:ext uri="{9D8B030D-6E8A-4147-A177-3AD203B41FA5}">
                      <a16:colId xmlns:a16="http://schemas.microsoft.com/office/drawing/2014/main" val="3017675633"/>
                    </a:ext>
                  </a:extLst>
                </a:gridCol>
                <a:gridCol w="532780">
                  <a:extLst>
                    <a:ext uri="{9D8B030D-6E8A-4147-A177-3AD203B41FA5}">
                      <a16:colId xmlns:a16="http://schemas.microsoft.com/office/drawing/2014/main" val="1532800113"/>
                    </a:ext>
                  </a:extLst>
                </a:gridCol>
              </a:tblGrid>
              <a:tr h="3135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aseline="0" dirty="0">
                          <a:latin typeface="+mj-lt"/>
                          <a:ea typeface="楷体" panose="02010609060101010101" pitchFamily="49" charset="-122"/>
                          <a:cs typeface="Calibri" panose="020F0502020204030204" pitchFamily="34" charset="0"/>
                        </a:rPr>
                        <a:t>Investor</a:t>
                      </a:r>
                      <a:endParaRPr lang="en-US" sz="900" baseline="0" dirty="0">
                        <a:latin typeface="+mj-lt"/>
                        <a:ea typeface="楷体" panose="02010609060101010101" pitchFamily="49" charset="-122"/>
                        <a:cs typeface="Calibri" panose="020F0502020204030204" pitchFamily="34" charset="0"/>
                      </a:endParaRPr>
                    </a:p>
                  </a:txBody>
                  <a:tcPr anchor="ctr">
                    <a:solidFill>
                      <a:srgbClr val="CC0000"/>
                    </a:solidFill>
                  </a:tcPr>
                </a:tc>
                <a:tc>
                  <a:txBody>
                    <a:bodyPr/>
                    <a:lstStyle/>
                    <a:p>
                      <a:pPr algn="ctr"/>
                      <a:r>
                        <a:rPr lang="en-US" altLang="zh-CN" sz="900" baseline="0" dirty="0">
                          <a:latin typeface="+mj-lt"/>
                          <a:ea typeface="楷体" panose="02010609060101010101" pitchFamily="49" charset="-122"/>
                          <a:cs typeface="Calibri" panose="020F0502020204030204" pitchFamily="34" charset="0"/>
                        </a:rPr>
                        <a:t>HQ</a:t>
                      </a:r>
                      <a:endParaRPr lang="en-US" sz="900" baseline="0" dirty="0">
                        <a:latin typeface="+mj-lt"/>
                        <a:ea typeface="楷体" panose="02010609060101010101" pitchFamily="49" charset="-122"/>
                        <a:cs typeface="Calibri" panose="020F0502020204030204" pitchFamily="34" charset="0"/>
                      </a:endParaRPr>
                    </a:p>
                  </a:txBody>
                  <a:tcPr anchor="ctr">
                    <a:solidFill>
                      <a:srgbClr val="CC0000"/>
                    </a:solidFill>
                  </a:tcPr>
                </a:tc>
                <a:tc>
                  <a:txBody>
                    <a:bodyPr/>
                    <a:lstStyle/>
                    <a:p>
                      <a:pPr algn="ctr"/>
                      <a:r>
                        <a:rPr lang="en-US" altLang="zh-CN" sz="900" baseline="0" dirty="0">
                          <a:latin typeface="+mj-lt"/>
                          <a:ea typeface="楷体" panose="02010609060101010101" pitchFamily="49" charset="-122"/>
                          <a:cs typeface="Calibri" panose="020F0502020204030204" pitchFamily="34" charset="0"/>
                        </a:rPr>
                        <a:t>Type</a:t>
                      </a:r>
                      <a:endParaRPr lang="en-US" sz="900" baseline="0" dirty="0">
                        <a:latin typeface="+mj-lt"/>
                        <a:ea typeface="楷体" panose="02010609060101010101" pitchFamily="49" charset="-122"/>
                        <a:cs typeface="Calibri" panose="020F0502020204030204" pitchFamily="34" charset="0"/>
                      </a:endParaRPr>
                    </a:p>
                  </a:txBody>
                  <a:tcPr anchor="ctr">
                    <a:solidFill>
                      <a:srgbClr val="CC0000"/>
                    </a:solidFill>
                  </a:tcPr>
                </a:tc>
                <a:extLst>
                  <a:ext uri="{0D108BD9-81ED-4DB2-BD59-A6C34878D82A}">
                    <a16:rowId xmlns:a16="http://schemas.microsoft.com/office/drawing/2014/main" val="2086935850"/>
                  </a:ext>
                </a:extLst>
              </a:tr>
              <a:tr h="412806">
                <a:tc>
                  <a:txBody>
                    <a:bodyPr/>
                    <a:lstStyle/>
                    <a:p>
                      <a:pPr algn="ctr" rtl="0" fontAlgn="b">
                        <a:buNone/>
                      </a:pPr>
                      <a:r>
                        <a:rPr lang="en-US" sz="900" b="0" i="0" u="none" strike="noStrike" dirty="0" err="1">
                          <a:solidFill>
                            <a:srgbClr val="000000"/>
                          </a:solidFill>
                          <a:effectLst/>
                          <a:latin typeface="+mj-lt"/>
                        </a:rPr>
                        <a:t>Abrdn</a:t>
                      </a:r>
                      <a:r>
                        <a:rPr lang="en-US" sz="900" b="0" i="0" u="none" strike="noStrike" dirty="0">
                          <a:solidFill>
                            <a:srgbClr val="000000"/>
                          </a:solidFill>
                          <a:effectLst/>
                          <a:latin typeface="+mj-lt"/>
                        </a:rPr>
                        <a:t> Asia</a:t>
                      </a:r>
                    </a:p>
                  </a:txBody>
                  <a:tcPr marL="7620" marR="7620" marT="7620" marB="0" anchor="ctr">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26657596"/>
                  </a:ext>
                </a:extLst>
              </a:tr>
              <a:tr h="389504">
                <a:tc>
                  <a:txBody>
                    <a:bodyPr/>
                    <a:lstStyle/>
                    <a:p>
                      <a:pPr algn="ctr" rtl="0" fontAlgn="b">
                        <a:buNone/>
                      </a:pPr>
                      <a:r>
                        <a:rPr lang="en-US" sz="900" b="0" i="0" u="none" strike="noStrike">
                          <a:solidFill>
                            <a:srgbClr val="000000"/>
                          </a:solidFill>
                          <a:effectLst/>
                          <a:latin typeface="+mj-lt"/>
                        </a:rPr>
                        <a:t>Actis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dirty="0">
                          <a:solidFill>
                            <a:srgbClr val="000000"/>
                          </a:solidFill>
                          <a:effectLst/>
                          <a:latin typeface="+mj-lt"/>
                          <a:ea typeface="楷体" panose="02010609060101010101" pitchFamily="49" charset="-122"/>
                        </a:rPr>
                        <a:t>SG</a:t>
                      </a:r>
                      <a:endParaRPr lang="zh-TW" altLang="en-US" sz="900" b="0" i="0" u="none" strike="noStrike" dirty="0">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33414206"/>
                  </a:ext>
                </a:extLst>
              </a:tr>
              <a:tr h="389504">
                <a:tc>
                  <a:txBody>
                    <a:bodyPr/>
                    <a:lstStyle/>
                    <a:p>
                      <a:pPr algn="ctr" rtl="0" fontAlgn="b">
                        <a:buNone/>
                      </a:pPr>
                      <a:r>
                        <a:rPr lang="en-US" sz="900" b="0" i="0" u="none" strike="noStrike">
                          <a:solidFill>
                            <a:srgbClr val="000000"/>
                          </a:solidFill>
                          <a:effectLst/>
                          <a:latin typeface="+mj-lt"/>
                        </a:rPr>
                        <a:t>AHAM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MY</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834432375"/>
                  </a:ext>
                </a:extLst>
              </a:tr>
              <a:tr h="389504">
                <a:tc>
                  <a:txBody>
                    <a:bodyPr/>
                    <a:lstStyle/>
                    <a:p>
                      <a:pPr algn="ctr" rtl="0" fontAlgn="b">
                        <a:buNone/>
                      </a:pPr>
                      <a:r>
                        <a:rPr lang="en-US" sz="900" b="0" i="0" u="none" strike="noStrike">
                          <a:solidFill>
                            <a:srgbClr val="000000"/>
                          </a:solidFill>
                          <a:effectLst/>
                          <a:latin typeface="+mj-lt"/>
                        </a:rPr>
                        <a:t>AMInvest</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MY</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69584143"/>
                  </a:ext>
                </a:extLst>
              </a:tr>
              <a:tr h="412806">
                <a:tc>
                  <a:txBody>
                    <a:bodyPr/>
                    <a:lstStyle/>
                    <a:p>
                      <a:pPr algn="ctr" rtl="0" fontAlgn="b">
                        <a:buNone/>
                      </a:pPr>
                      <a:r>
                        <a:rPr lang="en-US" sz="900" b="0" i="0" u="none" strike="noStrike">
                          <a:solidFill>
                            <a:srgbClr val="000000"/>
                          </a:solidFill>
                          <a:effectLst/>
                          <a:latin typeface="+mj-lt"/>
                        </a:rPr>
                        <a:t>Avanda</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940419495"/>
                  </a:ext>
                </a:extLst>
              </a:tr>
              <a:tr h="389504">
                <a:tc>
                  <a:txBody>
                    <a:bodyPr/>
                    <a:lstStyle/>
                    <a:p>
                      <a:pPr algn="ctr" rtl="0" fontAlgn="b">
                        <a:buNone/>
                      </a:pPr>
                      <a:r>
                        <a:rPr lang="en-US" sz="900" b="0" i="0" u="none" strike="noStrike">
                          <a:solidFill>
                            <a:srgbClr val="000000"/>
                          </a:solidFill>
                          <a:effectLst/>
                          <a:latin typeface="+mj-lt"/>
                        </a:rPr>
                        <a:t>BBLAM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TH</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862187535"/>
                  </a:ext>
                </a:extLst>
              </a:tr>
              <a:tr h="389504">
                <a:tc>
                  <a:txBody>
                    <a:bodyPr/>
                    <a:lstStyle/>
                    <a:p>
                      <a:pPr algn="ctr" rtl="0" fontAlgn="b">
                        <a:buNone/>
                      </a:pPr>
                      <a:r>
                        <a:rPr lang="en-US" sz="900" b="0" i="0" u="none" strike="noStrike">
                          <a:solidFill>
                            <a:srgbClr val="000000"/>
                          </a:solidFill>
                          <a:effectLst/>
                          <a:latin typeface="+mj-lt"/>
                        </a:rPr>
                        <a:t>Eastspring</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dirty="0">
                          <a:solidFill>
                            <a:srgbClr val="000000"/>
                          </a:solidFill>
                          <a:effectLst/>
                          <a:latin typeface="+mj-lt"/>
                          <a:ea typeface="楷体" panose="02010609060101010101" pitchFamily="49" charset="-122"/>
                        </a:rPr>
                        <a:t>SG</a:t>
                      </a:r>
                      <a:endParaRPr lang="zh-TW" altLang="en-US" sz="900" b="0" i="0" u="none" strike="noStrike" dirty="0">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342145131"/>
                  </a:ext>
                </a:extLst>
              </a:tr>
              <a:tr h="389504">
                <a:tc>
                  <a:txBody>
                    <a:bodyPr/>
                    <a:lstStyle/>
                    <a:p>
                      <a:pPr algn="ctr" rtl="0" fontAlgn="b">
                        <a:buNone/>
                      </a:pPr>
                      <a:r>
                        <a:rPr lang="en-US" sz="900" b="0" i="0" u="none" strike="noStrike">
                          <a:solidFill>
                            <a:srgbClr val="000000"/>
                          </a:solidFill>
                          <a:effectLst/>
                          <a:latin typeface="+mj-lt"/>
                        </a:rPr>
                        <a:t>Fortress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MY</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712654300"/>
                  </a:ext>
                </a:extLst>
              </a:tr>
              <a:tr h="389504">
                <a:tc>
                  <a:txBody>
                    <a:bodyPr/>
                    <a:lstStyle/>
                    <a:p>
                      <a:pPr algn="ctr" rtl="0" fontAlgn="b">
                        <a:buNone/>
                      </a:pPr>
                      <a:r>
                        <a:rPr lang="en-US" sz="900" b="0" i="0" u="none" strike="noStrike">
                          <a:solidFill>
                            <a:srgbClr val="000000"/>
                          </a:solidFill>
                          <a:effectLst/>
                          <a:latin typeface="+mj-lt"/>
                        </a:rPr>
                        <a:t>Fullerton</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4255445793"/>
                  </a:ext>
                </a:extLst>
              </a:tr>
              <a:tr h="389504">
                <a:tc>
                  <a:txBody>
                    <a:bodyPr/>
                    <a:lstStyle/>
                    <a:p>
                      <a:pPr algn="ctr" rtl="0" fontAlgn="b">
                        <a:buNone/>
                      </a:pPr>
                      <a:r>
                        <a:rPr lang="en-US" sz="900" b="0" i="0" u="none" strike="noStrike">
                          <a:solidFill>
                            <a:srgbClr val="000000"/>
                          </a:solidFill>
                          <a:effectLst/>
                          <a:latin typeface="+mj-lt"/>
                        </a:rPr>
                        <a:t>Harvest Advisors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701536898"/>
                  </a:ext>
                </a:extLst>
              </a:tr>
              <a:tr h="389504">
                <a:tc>
                  <a:txBody>
                    <a:bodyPr/>
                    <a:lstStyle/>
                    <a:p>
                      <a:pPr algn="ctr" rtl="0" fontAlgn="b">
                        <a:buNone/>
                      </a:pPr>
                      <a:r>
                        <a:rPr lang="en-US" sz="900" b="0" i="0" u="none" strike="noStrike">
                          <a:solidFill>
                            <a:srgbClr val="000000"/>
                          </a:solidFill>
                          <a:effectLst/>
                          <a:latin typeface="+mj-lt"/>
                        </a:rPr>
                        <a:t>Hong Leong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MY</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498549008"/>
                  </a:ext>
                </a:extLst>
              </a:tr>
              <a:tr h="389504">
                <a:tc>
                  <a:txBody>
                    <a:bodyPr/>
                    <a:lstStyle/>
                    <a:p>
                      <a:pPr algn="ctr" rtl="0" fontAlgn="b">
                        <a:buNone/>
                      </a:pPr>
                      <a:r>
                        <a:rPr lang="en-US" sz="900" b="0" i="0" u="none" strike="noStrike">
                          <a:solidFill>
                            <a:srgbClr val="000000"/>
                          </a:solidFill>
                          <a:effectLst/>
                          <a:latin typeface="+mj-lt"/>
                        </a:rPr>
                        <a:t>ICH Capital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tc>
                  <a:txBody>
                    <a:bodyPr/>
                    <a:lstStyle/>
                    <a:p>
                      <a:pPr algn="ctr" rtl="0" fontAlgn="b">
                        <a:buNone/>
                      </a:pPr>
                      <a:r>
                        <a:rPr lang="en-US" altLang="zh-TW" sz="900" b="0" i="0" u="none" strike="noStrike" dirty="0">
                          <a:solidFill>
                            <a:srgbClr val="000000"/>
                          </a:solidFill>
                          <a:effectLst/>
                          <a:latin typeface="+mj-lt"/>
                          <a:ea typeface="楷体" panose="02010609060101010101" pitchFamily="49" charset="-122"/>
                        </a:rPr>
                        <a:t>LO</a:t>
                      </a:r>
                      <a:endParaRPr lang="zh-TW" altLang="en-US" sz="900" b="0" i="0" u="none" strike="noStrike" dirty="0">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43983483"/>
                  </a:ext>
                </a:extLst>
              </a:tr>
            </a:tbl>
          </a:graphicData>
        </a:graphic>
      </p:graphicFrame>
      <p:graphicFrame>
        <p:nvGraphicFramePr>
          <p:cNvPr id="18" name="Table 17">
            <a:extLst>
              <a:ext uri="{FF2B5EF4-FFF2-40B4-BE49-F238E27FC236}">
                <a16:creationId xmlns:a16="http://schemas.microsoft.com/office/drawing/2014/main" id="{14E19471-0D9E-69F3-DD6E-940E2C72DDFE}"/>
              </a:ext>
            </a:extLst>
          </p:cNvPr>
          <p:cNvGraphicFramePr>
            <a:graphicFrameLocks noGrp="1"/>
          </p:cNvGraphicFramePr>
          <p:nvPr>
            <p:extLst>
              <p:ext uri="{D42A27DB-BD31-4B8C-83A1-F6EECF244321}">
                <p14:modId xmlns:p14="http://schemas.microsoft.com/office/powerpoint/2010/main" val="4126638504"/>
              </p:ext>
            </p:extLst>
          </p:nvPr>
        </p:nvGraphicFramePr>
        <p:xfrm>
          <a:off x="5893355" y="1045937"/>
          <a:ext cx="1498385" cy="5026052"/>
        </p:xfrm>
        <a:graphic>
          <a:graphicData uri="http://schemas.openxmlformats.org/drawingml/2006/table">
            <a:tbl>
              <a:tblPr firstRow="1" bandRow="1">
                <a:tableStyleId>{5C22544A-7EE6-4342-B048-85BDC9FD1C3A}</a:tableStyleId>
              </a:tblPr>
              <a:tblGrid>
                <a:gridCol w="630975">
                  <a:extLst>
                    <a:ext uri="{9D8B030D-6E8A-4147-A177-3AD203B41FA5}">
                      <a16:colId xmlns:a16="http://schemas.microsoft.com/office/drawing/2014/main" val="517928114"/>
                    </a:ext>
                  </a:extLst>
                </a:gridCol>
                <a:gridCol w="386080">
                  <a:extLst>
                    <a:ext uri="{9D8B030D-6E8A-4147-A177-3AD203B41FA5}">
                      <a16:colId xmlns:a16="http://schemas.microsoft.com/office/drawing/2014/main" val="3017675633"/>
                    </a:ext>
                  </a:extLst>
                </a:gridCol>
                <a:gridCol w="481330">
                  <a:extLst>
                    <a:ext uri="{9D8B030D-6E8A-4147-A177-3AD203B41FA5}">
                      <a16:colId xmlns:a16="http://schemas.microsoft.com/office/drawing/2014/main" val="1532800113"/>
                    </a:ext>
                  </a:extLst>
                </a:gridCol>
              </a:tblGrid>
              <a:tr h="3100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aseline="0">
                          <a:latin typeface="+mj-lt"/>
                          <a:ea typeface="楷体" panose="02010609060101010101" pitchFamily="49" charset="-122"/>
                          <a:cs typeface="Calibri" panose="020F0502020204030204" pitchFamily="34" charset="0"/>
                        </a:rPr>
                        <a:t>Investor</a:t>
                      </a:r>
                      <a:endParaRPr lang="en-US" sz="900" baseline="0">
                        <a:latin typeface="+mj-lt"/>
                        <a:ea typeface="楷体" panose="02010609060101010101" pitchFamily="49" charset="-122"/>
                        <a:cs typeface="Calibri" panose="020F0502020204030204" pitchFamily="34" charset="0"/>
                      </a:endParaRPr>
                    </a:p>
                  </a:txBody>
                  <a:tcPr anchor="ctr">
                    <a:solidFill>
                      <a:srgbClr val="CC0000"/>
                    </a:solidFill>
                  </a:tcPr>
                </a:tc>
                <a:tc>
                  <a:txBody>
                    <a:bodyPr/>
                    <a:lstStyle/>
                    <a:p>
                      <a:pPr algn="ctr"/>
                      <a:r>
                        <a:rPr lang="en-US" altLang="zh-CN" sz="900" baseline="0" dirty="0">
                          <a:latin typeface="+mj-lt"/>
                          <a:ea typeface="楷体" panose="02010609060101010101" pitchFamily="49" charset="-122"/>
                          <a:cs typeface="Calibri" panose="020F0502020204030204" pitchFamily="34" charset="0"/>
                        </a:rPr>
                        <a:t>HQ</a:t>
                      </a:r>
                      <a:endParaRPr lang="en-US" sz="900" baseline="0" dirty="0">
                        <a:latin typeface="+mj-lt"/>
                        <a:ea typeface="楷体" panose="02010609060101010101" pitchFamily="49" charset="-122"/>
                        <a:cs typeface="Calibri" panose="020F0502020204030204" pitchFamily="34" charset="0"/>
                      </a:endParaRPr>
                    </a:p>
                  </a:txBody>
                  <a:tcPr anchor="ctr">
                    <a:solidFill>
                      <a:srgbClr val="CC0000"/>
                    </a:solidFill>
                  </a:tcPr>
                </a:tc>
                <a:tc>
                  <a:txBody>
                    <a:bodyPr/>
                    <a:lstStyle/>
                    <a:p>
                      <a:pPr algn="ctr"/>
                      <a:r>
                        <a:rPr lang="en-US" altLang="zh-CN" sz="900" baseline="0">
                          <a:latin typeface="+mj-lt"/>
                          <a:ea typeface="楷体" panose="02010609060101010101" pitchFamily="49" charset="-122"/>
                          <a:cs typeface="Calibri" panose="020F0502020204030204" pitchFamily="34" charset="0"/>
                        </a:rPr>
                        <a:t>Type</a:t>
                      </a:r>
                      <a:endParaRPr lang="en-US" sz="900" baseline="0">
                        <a:latin typeface="+mj-lt"/>
                        <a:ea typeface="楷体" panose="02010609060101010101" pitchFamily="49" charset="-122"/>
                        <a:cs typeface="Calibri" panose="020F0502020204030204" pitchFamily="34" charset="0"/>
                      </a:endParaRPr>
                    </a:p>
                  </a:txBody>
                  <a:tcPr anchor="ctr">
                    <a:solidFill>
                      <a:srgbClr val="CC0000"/>
                    </a:solidFill>
                  </a:tcPr>
                </a:tc>
                <a:extLst>
                  <a:ext uri="{0D108BD9-81ED-4DB2-BD59-A6C34878D82A}">
                    <a16:rowId xmlns:a16="http://schemas.microsoft.com/office/drawing/2014/main" val="2086935850"/>
                  </a:ext>
                </a:extLst>
              </a:tr>
              <a:tr h="412849">
                <a:tc>
                  <a:txBody>
                    <a:bodyPr/>
                    <a:lstStyle/>
                    <a:p>
                      <a:pPr algn="ctr" rtl="0" fontAlgn="b">
                        <a:buNone/>
                      </a:pPr>
                      <a:r>
                        <a:rPr lang="en-US" sz="900" b="0" i="0" u="none" strike="noStrike">
                          <a:solidFill>
                            <a:srgbClr val="000000"/>
                          </a:solidFill>
                          <a:effectLst/>
                          <a:latin typeface="+mj-lt"/>
                        </a:rPr>
                        <a:t>Kenanga</a:t>
                      </a: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MY</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26657596"/>
                  </a:ext>
                </a:extLst>
              </a:tr>
              <a:tr h="391051">
                <a:tc>
                  <a:txBody>
                    <a:bodyPr/>
                    <a:lstStyle/>
                    <a:p>
                      <a:pPr algn="ctr" rtl="0" fontAlgn="b">
                        <a:buNone/>
                      </a:pPr>
                      <a:r>
                        <a:rPr lang="en-US" sz="900" b="0" i="0" u="none" strike="noStrike">
                          <a:solidFill>
                            <a:srgbClr val="000000"/>
                          </a:solidFill>
                          <a:effectLst/>
                          <a:latin typeface="+mj-lt"/>
                        </a:rPr>
                        <a:t>KTAM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TH</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33414206"/>
                  </a:ext>
                </a:extLst>
              </a:tr>
              <a:tr h="391051">
                <a:tc>
                  <a:txBody>
                    <a:bodyPr/>
                    <a:lstStyle/>
                    <a:p>
                      <a:pPr algn="ctr" rtl="0" fontAlgn="b">
                        <a:buNone/>
                      </a:pPr>
                      <a:r>
                        <a:rPr lang="en-US" sz="900" b="0" i="0" u="none" strike="noStrike">
                          <a:solidFill>
                            <a:srgbClr val="000000"/>
                          </a:solidFill>
                          <a:effectLst/>
                          <a:latin typeface="+mj-lt"/>
                        </a:rPr>
                        <a:t>Lion Global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dirty="0">
                          <a:solidFill>
                            <a:srgbClr val="000000"/>
                          </a:solidFill>
                          <a:effectLst/>
                          <a:latin typeface="+mj-lt"/>
                          <a:ea typeface="楷体" panose="02010609060101010101" pitchFamily="49" charset="-122"/>
                        </a:rPr>
                        <a:t>LO</a:t>
                      </a:r>
                      <a:endParaRPr lang="zh-TW" altLang="en-US" sz="900" b="0" i="0" u="none" strike="noStrike" dirty="0">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834432375"/>
                  </a:ext>
                </a:extLst>
              </a:tr>
              <a:tr h="391051">
                <a:tc>
                  <a:txBody>
                    <a:bodyPr/>
                    <a:lstStyle/>
                    <a:p>
                      <a:pPr algn="ctr" rtl="0" fontAlgn="b">
                        <a:buNone/>
                      </a:pPr>
                      <a:r>
                        <a:rPr lang="en-US" sz="900" b="0" i="0" u="none" strike="noStrike">
                          <a:solidFill>
                            <a:srgbClr val="000000"/>
                          </a:solidFill>
                          <a:effectLst/>
                          <a:latin typeface="+mj-lt"/>
                        </a:rPr>
                        <a:t>Maybank AM </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MY</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69584143"/>
                  </a:ext>
                </a:extLst>
              </a:tr>
              <a:tr h="406158">
                <a:tc>
                  <a:txBody>
                    <a:bodyPr/>
                    <a:lstStyle/>
                    <a:p>
                      <a:pPr algn="ctr" rtl="0" fontAlgn="b">
                        <a:buNone/>
                      </a:pPr>
                      <a:r>
                        <a:rPr lang="en-US" sz="900" b="0" i="0" u="none" strike="noStrike">
                          <a:solidFill>
                            <a:srgbClr val="000000"/>
                          </a:solidFill>
                          <a:effectLst/>
                          <a:latin typeface="+mj-lt"/>
                        </a:rPr>
                        <a:t>Navis Capital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MY</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940419495"/>
                  </a:ext>
                </a:extLst>
              </a:tr>
              <a:tr h="391051">
                <a:tc>
                  <a:txBody>
                    <a:bodyPr/>
                    <a:lstStyle/>
                    <a:p>
                      <a:pPr algn="ctr" rtl="0" fontAlgn="b">
                        <a:buNone/>
                      </a:pPr>
                      <a:r>
                        <a:rPr lang="en-US" sz="900" b="0" i="0" u="none" strike="noStrike">
                          <a:solidFill>
                            <a:srgbClr val="000000"/>
                          </a:solidFill>
                          <a:effectLst/>
                          <a:latin typeface="+mj-lt"/>
                        </a:rPr>
                        <a:t>Nikko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862187535"/>
                  </a:ext>
                </a:extLst>
              </a:tr>
              <a:tr h="395328">
                <a:tc>
                  <a:txBody>
                    <a:bodyPr/>
                    <a:lstStyle/>
                    <a:p>
                      <a:pPr algn="ctr" rtl="0" fontAlgn="b">
                        <a:buNone/>
                      </a:pPr>
                      <a:r>
                        <a:rPr lang="en-US" sz="900" b="0" i="0" u="none" strike="noStrike">
                          <a:solidFill>
                            <a:srgbClr val="000000"/>
                          </a:solidFill>
                          <a:effectLst/>
                          <a:latin typeface="+mj-lt"/>
                        </a:rPr>
                        <a:t>Nomura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342145131"/>
                  </a:ext>
                </a:extLst>
              </a:tr>
              <a:tr h="386636">
                <a:tc>
                  <a:txBody>
                    <a:bodyPr/>
                    <a:lstStyle/>
                    <a:p>
                      <a:pPr algn="ctr" rtl="0" fontAlgn="b">
                        <a:buNone/>
                      </a:pPr>
                      <a:r>
                        <a:rPr lang="en-US" sz="900" b="0" i="0" u="none" strike="noStrike">
                          <a:solidFill>
                            <a:srgbClr val="000000"/>
                          </a:solidFill>
                          <a:effectLst/>
                          <a:latin typeface="+mj-lt"/>
                        </a:rPr>
                        <a:t>Pheim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MY</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12654300"/>
                  </a:ext>
                </a:extLst>
              </a:tr>
              <a:tr h="391051">
                <a:tc>
                  <a:txBody>
                    <a:bodyPr/>
                    <a:lstStyle/>
                    <a:p>
                      <a:pPr algn="ctr" rtl="0" fontAlgn="b">
                        <a:buNone/>
                      </a:pPr>
                      <a:r>
                        <a:rPr lang="en-US" sz="900" b="0" i="0" u="none" strike="noStrike">
                          <a:solidFill>
                            <a:srgbClr val="000000"/>
                          </a:solidFill>
                          <a:effectLst/>
                          <a:latin typeface="+mj-lt"/>
                        </a:rPr>
                        <a:t>Pictet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4255445793"/>
                  </a:ext>
                </a:extLst>
              </a:tr>
              <a:tr h="391051">
                <a:tc>
                  <a:txBody>
                    <a:bodyPr/>
                    <a:lstStyle/>
                    <a:p>
                      <a:pPr algn="ctr" rtl="0" fontAlgn="b">
                        <a:buNone/>
                      </a:pPr>
                      <a:r>
                        <a:rPr lang="en-US" sz="900" b="0" i="0" u="none" strike="noStrike">
                          <a:solidFill>
                            <a:srgbClr val="000000"/>
                          </a:solidFill>
                          <a:effectLst/>
                          <a:latin typeface="+mj-lt"/>
                        </a:rPr>
                        <a:t>Principal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dirty="0">
                          <a:solidFill>
                            <a:srgbClr val="000000"/>
                          </a:solidFill>
                          <a:effectLst/>
                          <a:latin typeface="+mj-lt"/>
                          <a:ea typeface="楷体" panose="02010609060101010101" pitchFamily="49" charset="-122"/>
                        </a:rPr>
                        <a:t>SG</a:t>
                      </a:r>
                      <a:endParaRPr lang="zh-TW" altLang="en-US" sz="900" b="0" i="0" u="none" strike="noStrike" dirty="0">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701536898"/>
                  </a:ext>
                </a:extLst>
              </a:tr>
              <a:tr h="384360">
                <a:tc>
                  <a:txBody>
                    <a:bodyPr/>
                    <a:lstStyle/>
                    <a:p>
                      <a:pPr algn="ctr" rtl="0" fontAlgn="b">
                        <a:buNone/>
                      </a:pPr>
                      <a:r>
                        <a:rPr lang="en-US" sz="900" b="0" i="0" u="none" strike="noStrike">
                          <a:solidFill>
                            <a:srgbClr val="000000"/>
                          </a:solidFill>
                          <a:effectLst/>
                          <a:latin typeface="+mj-lt"/>
                        </a:rPr>
                        <a:t>Putnam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dirty="0">
                          <a:solidFill>
                            <a:srgbClr val="000000"/>
                          </a:solidFill>
                          <a:effectLst/>
                          <a:latin typeface="+mj-lt"/>
                          <a:ea typeface="楷体" panose="02010609060101010101" pitchFamily="49" charset="-122"/>
                        </a:rPr>
                        <a:t>SG</a:t>
                      </a:r>
                      <a:endParaRPr lang="zh-TW" altLang="en-US" sz="900" b="0" i="0" u="none" strike="noStrike" dirty="0">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498549008"/>
                  </a:ext>
                </a:extLst>
              </a:tr>
              <a:tr h="384360">
                <a:tc>
                  <a:txBody>
                    <a:bodyPr/>
                    <a:lstStyle/>
                    <a:p>
                      <a:pPr algn="ctr" rtl="0" fontAlgn="b">
                        <a:buNone/>
                      </a:pPr>
                      <a:r>
                        <a:rPr lang="en-US" sz="900" b="0" i="0" u="none" strike="noStrike">
                          <a:solidFill>
                            <a:srgbClr val="000000"/>
                          </a:solidFill>
                          <a:effectLst/>
                          <a:latin typeface="+mj-lt"/>
                        </a:rPr>
                        <a:t>RHB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dirty="0">
                          <a:solidFill>
                            <a:srgbClr val="000000"/>
                          </a:solidFill>
                          <a:effectLst/>
                          <a:latin typeface="+mj-lt"/>
                          <a:ea typeface="楷体" panose="02010609060101010101" pitchFamily="49" charset="-122"/>
                        </a:rPr>
                        <a:t>MY</a:t>
                      </a:r>
                      <a:endParaRPr lang="zh-TW" altLang="en-US" sz="900" b="0" i="0" u="none" strike="noStrike" dirty="0">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dirty="0">
                          <a:solidFill>
                            <a:srgbClr val="000000"/>
                          </a:solidFill>
                          <a:effectLst/>
                          <a:latin typeface="+mj-lt"/>
                          <a:ea typeface="楷体" panose="02010609060101010101" pitchFamily="49" charset="-122"/>
                        </a:rPr>
                        <a:t>LO</a:t>
                      </a:r>
                      <a:endParaRPr lang="zh-TW" altLang="en-US" sz="900" b="0" i="0" u="none" strike="noStrike" dirty="0">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004522414"/>
                  </a:ext>
                </a:extLst>
              </a:tr>
            </a:tbl>
          </a:graphicData>
        </a:graphic>
      </p:graphicFrame>
      <p:graphicFrame>
        <p:nvGraphicFramePr>
          <p:cNvPr id="19" name="Table 18">
            <a:extLst>
              <a:ext uri="{FF2B5EF4-FFF2-40B4-BE49-F238E27FC236}">
                <a16:creationId xmlns:a16="http://schemas.microsoft.com/office/drawing/2014/main" id="{AB0CAA6E-22EB-9295-2F70-C3A08266F254}"/>
              </a:ext>
            </a:extLst>
          </p:cNvPr>
          <p:cNvGraphicFramePr>
            <a:graphicFrameLocks noGrp="1"/>
          </p:cNvGraphicFramePr>
          <p:nvPr>
            <p:extLst>
              <p:ext uri="{D42A27DB-BD31-4B8C-83A1-F6EECF244321}">
                <p14:modId xmlns:p14="http://schemas.microsoft.com/office/powerpoint/2010/main" val="2645323327"/>
              </p:ext>
            </p:extLst>
          </p:nvPr>
        </p:nvGraphicFramePr>
        <p:xfrm>
          <a:off x="7658769" y="1045937"/>
          <a:ext cx="1522908" cy="5031710"/>
        </p:xfrm>
        <a:graphic>
          <a:graphicData uri="http://schemas.openxmlformats.org/drawingml/2006/table">
            <a:tbl>
              <a:tblPr firstRow="1" bandRow="1">
                <a:tableStyleId>{5C22544A-7EE6-4342-B048-85BDC9FD1C3A}</a:tableStyleId>
              </a:tblPr>
              <a:tblGrid>
                <a:gridCol w="655498">
                  <a:extLst>
                    <a:ext uri="{9D8B030D-6E8A-4147-A177-3AD203B41FA5}">
                      <a16:colId xmlns:a16="http://schemas.microsoft.com/office/drawing/2014/main" val="517928114"/>
                    </a:ext>
                  </a:extLst>
                </a:gridCol>
                <a:gridCol w="386080">
                  <a:extLst>
                    <a:ext uri="{9D8B030D-6E8A-4147-A177-3AD203B41FA5}">
                      <a16:colId xmlns:a16="http://schemas.microsoft.com/office/drawing/2014/main" val="3017675633"/>
                    </a:ext>
                  </a:extLst>
                </a:gridCol>
                <a:gridCol w="481330">
                  <a:extLst>
                    <a:ext uri="{9D8B030D-6E8A-4147-A177-3AD203B41FA5}">
                      <a16:colId xmlns:a16="http://schemas.microsoft.com/office/drawing/2014/main" val="1532800113"/>
                    </a:ext>
                  </a:extLst>
                </a:gridCol>
              </a:tblGrid>
              <a:tr h="2986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aseline="0">
                          <a:latin typeface="+mj-lt"/>
                          <a:ea typeface="楷体" panose="02010609060101010101" pitchFamily="49" charset="-122"/>
                          <a:cs typeface="Calibri" panose="020F0502020204030204" pitchFamily="34" charset="0"/>
                        </a:rPr>
                        <a:t>Investor</a:t>
                      </a:r>
                      <a:endParaRPr lang="en-US" sz="900" baseline="0">
                        <a:latin typeface="+mj-lt"/>
                        <a:ea typeface="楷体" panose="02010609060101010101" pitchFamily="49" charset="-122"/>
                        <a:cs typeface="Calibri" panose="020F0502020204030204" pitchFamily="34" charset="0"/>
                      </a:endParaRPr>
                    </a:p>
                  </a:txBody>
                  <a:tcPr anchor="ctr">
                    <a:solidFill>
                      <a:srgbClr val="CC0000"/>
                    </a:solidFill>
                  </a:tcPr>
                </a:tc>
                <a:tc>
                  <a:txBody>
                    <a:bodyPr/>
                    <a:lstStyle/>
                    <a:p>
                      <a:pPr algn="ctr"/>
                      <a:r>
                        <a:rPr lang="en-US" altLang="zh-CN" sz="900" baseline="0">
                          <a:latin typeface="+mj-lt"/>
                          <a:ea typeface="楷体" panose="02010609060101010101" pitchFamily="49" charset="-122"/>
                          <a:cs typeface="Calibri" panose="020F0502020204030204" pitchFamily="34" charset="0"/>
                        </a:rPr>
                        <a:t>HQ</a:t>
                      </a:r>
                      <a:endParaRPr lang="en-US" sz="900" baseline="0">
                        <a:latin typeface="+mj-lt"/>
                        <a:ea typeface="楷体" panose="02010609060101010101" pitchFamily="49" charset="-122"/>
                        <a:cs typeface="Calibri" panose="020F0502020204030204" pitchFamily="34" charset="0"/>
                      </a:endParaRPr>
                    </a:p>
                  </a:txBody>
                  <a:tcPr anchor="ctr">
                    <a:solidFill>
                      <a:srgbClr val="CC0000"/>
                    </a:solidFill>
                  </a:tcPr>
                </a:tc>
                <a:tc>
                  <a:txBody>
                    <a:bodyPr/>
                    <a:lstStyle/>
                    <a:p>
                      <a:pPr algn="ctr"/>
                      <a:r>
                        <a:rPr lang="en-US" altLang="zh-CN" sz="900" baseline="0" dirty="0">
                          <a:latin typeface="+mj-lt"/>
                          <a:ea typeface="楷体" panose="02010609060101010101" pitchFamily="49" charset="-122"/>
                          <a:cs typeface="Calibri" panose="020F0502020204030204" pitchFamily="34" charset="0"/>
                        </a:rPr>
                        <a:t>Type</a:t>
                      </a:r>
                      <a:endParaRPr lang="en-US" sz="900" baseline="0" dirty="0">
                        <a:latin typeface="+mj-lt"/>
                        <a:ea typeface="楷体" panose="02010609060101010101" pitchFamily="49" charset="-122"/>
                        <a:cs typeface="Calibri" panose="020F0502020204030204" pitchFamily="34" charset="0"/>
                      </a:endParaRPr>
                    </a:p>
                  </a:txBody>
                  <a:tcPr anchor="ctr">
                    <a:solidFill>
                      <a:srgbClr val="CC0000"/>
                    </a:solidFill>
                  </a:tcPr>
                </a:tc>
                <a:extLst>
                  <a:ext uri="{0D108BD9-81ED-4DB2-BD59-A6C34878D82A}">
                    <a16:rowId xmlns:a16="http://schemas.microsoft.com/office/drawing/2014/main" val="2086935850"/>
                  </a:ext>
                </a:extLst>
              </a:tr>
              <a:tr h="429887">
                <a:tc>
                  <a:txBody>
                    <a:bodyPr/>
                    <a:lstStyle/>
                    <a:p>
                      <a:pPr algn="ctr" rtl="0" fontAlgn="b">
                        <a:buNone/>
                      </a:pPr>
                      <a:r>
                        <a:rPr lang="en-US" sz="900" b="0" i="0" u="none" strike="noStrike">
                          <a:solidFill>
                            <a:srgbClr val="000000"/>
                          </a:solidFill>
                          <a:effectLst/>
                          <a:latin typeface="+mj-lt"/>
                        </a:rPr>
                        <a:t>RVC</a:t>
                      </a: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TH</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26657596"/>
                  </a:ext>
                </a:extLst>
              </a:tr>
              <a:tr h="391051">
                <a:tc>
                  <a:txBody>
                    <a:bodyPr/>
                    <a:lstStyle/>
                    <a:p>
                      <a:pPr algn="ctr" rtl="0" fontAlgn="b">
                        <a:buNone/>
                      </a:pPr>
                      <a:r>
                        <a:rPr lang="en-US" sz="900" b="0" i="0" u="none" strike="noStrike">
                          <a:solidFill>
                            <a:srgbClr val="000000"/>
                          </a:solidFill>
                          <a:effectLst/>
                          <a:latin typeface="+mj-lt"/>
                        </a:rPr>
                        <a:t>UOB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LO</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33414206"/>
                  </a:ext>
                </a:extLst>
              </a:tr>
              <a:tr h="391051">
                <a:tc>
                  <a:txBody>
                    <a:bodyPr/>
                    <a:lstStyle/>
                    <a:p>
                      <a:pPr algn="ctr" rtl="0" fontAlgn="b">
                        <a:buNone/>
                      </a:pPr>
                      <a:r>
                        <a:rPr lang="en-US" sz="900" b="0" i="0" u="none" strike="noStrike">
                          <a:solidFill>
                            <a:srgbClr val="000000"/>
                          </a:solidFill>
                          <a:effectLst/>
                          <a:latin typeface="+mj-lt"/>
                        </a:rPr>
                        <a:t>A.C.T. Holdings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HF</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834432375"/>
                  </a:ext>
                </a:extLst>
              </a:tr>
              <a:tr h="391051">
                <a:tc>
                  <a:txBody>
                    <a:bodyPr/>
                    <a:lstStyle/>
                    <a:p>
                      <a:pPr algn="ctr" rtl="0" fontAlgn="b">
                        <a:buNone/>
                      </a:pPr>
                      <a:r>
                        <a:rPr lang="en-US" sz="900" b="0" i="0" u="none" strike="noStrike">
                          <a:solidFill>
                            <a:srgbClr val="000000"/>
                          </a:solidFill>
                          <a:effectLst/>
                          <a:latin typeface="+mj-lt"/>
                        </a:rPr>
                        <a:t>Albizia Capital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HF</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69584143"/>
                  </a:ext>
                </a:extLst>
              </a:tr>
              <a:tr h="404847">
                <a:tc>
                  <a:txBody>
                    <a:bodyPr/>
                    <a:lstStyle/>
                    <a:p>
                      <a:pPr algn="ctr" rtl="0" fontAlgn="b">
                        <a:buNone/>
                      </a:pPr>
                      <a:r>
                        <a:rPr lang="en-US" sz="900" b="0" i="0" u="none" strike="noStrike">
                          <a:solidFill>
                            <a:srgbClr val="000000"/>
                          </a:solidFill>
                          <a:effectLst/>
                          <a:latin typeface="+mj-lt"/>
                        </a:rPr>
                        <a:t>Capital Dynamics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HF</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940419495"/>
                  </a:ext>
                </a:extLst>
              </a:tr>
              <a:tr h="391051">
                <a:tc>
                  <a:txBody>
                    <a:bodyPr/>
                    <a:lstStyle/>
                    <a:p>
                      <a:pPr algn="ctr" rtl="0" fontAlgn="b">
                        <a:buNone/>
                      </a:pPr>
                      <a:r>
                        <a:rPr lang="en-US" sz="900" b="0" i="0" u="none" strike="noStrike">
                          <a:solidFill>
                            <a:srgbClr val="000000"/>
                          </a:solidFill>
                          <a:effectLst/>
                          <a:latin typeface="+mj-lt"/>
                        </a:rPr>
                        <a:t>Catalyst Funds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HF</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862187535"/>
                  </a:ext>
                </a:extLst>
              </a:tr>
              <a:tr h="395328">
                <a:tc>
                  <a:txBody>
                    <a:bodyPr/>
                    <a:lstStyle/>
                    <a:p>
                      <a:pPr algn="ctr" rtl="0" fontAlgn="b">
                        <a:buNone/>
                      </a:pPr>
                      <a:r>
                        <a:rPr lang="en-US" sz="900" b="0" i="0" u="none" strike="noStrike">
                          <a:solidFill>
                            <a:srgbClr val="000000"/>
                          </a:solidFill>
                          <a:effectLst/>
                          <a:latin typeface="+mj-lt"/>
                        </a:rPr>
                        <a:t>DE Shaw</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HF</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342145131"/>
                  </a:ext>
                </a:extLst>
              </a:tr>
              <a:tr h="382705">
                <a:tc>
                  <a:txBody>
                    <a:bodyPr/>
                    <a:lstStyle/>
                    <a:p>
                      <a:pPr algn="ctr" rtl="0" fontAlgn="b">
                        <a:buNone/>
                      </a:pPr>
                      <a:r>
                        <a:rPr lang="en-US" sz="900" b="0" i="0" u="none" strike="noStrike">
                          <a:solidFill>
                            <a:srgbClr val="000000"/>
                          </a:solidFill>
                          <a:effectLst/>
                          <a:latin typeface="+mj-lt"/>
                        </a:rPr>
                        <a:t>Optimas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HF</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12654300"/>
                  </a:ext>
                </a:extLst>
              </a:tr>
              <a:tr h="391051">
                <a:tc>
                  <a:txBody>
                    <a:bodyPr/>
                    <a:lstStyle/>
                    <a:p>
                      <a:pPr algn="ctr" rtl="0" fontAlgn="b">
                        <a:buNone/>
                      </a:pPr>
                      <a:r>
                        <a:rPr lang="en-US" sz="900" b="0" i="0" u="none" strike="noStrike">
                          <a:solidFill>
                            <a:srgbClr val="000000"/>
                          </a:solidFill>
                          <a:effectLst/>
                          <a:latin typeface="+mj-lt"/>
                        </a:rPr>
                        <a:t>Polunin</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HF</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4255445793"/>
                  </a:ext>
                </a:extLst>
              </a:tr>
              <a:tr h="391051">
                <a:tc>
                  <a:txBody>
                    <a:bodyPr/>
                    <a:lstStyle/>
                    <a:p>
                      <a:pPr algn="ctr" rtl="0" fontAlgn="b">
                        <a:buNone/>
                      </a:pPr>
                      <a:r>
                        <a:rPr lang="en-US" sz="900" b="0" i="0" u="none" strike="noStrike">
                          <a:solidFill>
                            <a:srgbClr val="000000"/>
                          </a:solidFill>
                          <a:effectLst/>
                          <a:latin typeface="+mj-lt"/>
                        </a:rPr>
                        <a:t>Regal Funds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HF</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701536898"/>
                  </a:ext>
                </a:extLst>
              </a:tr>
              <a:tr h="386981">
                <a:tc>
                  <a:txBody>
                    <a:bodyPr/>
                    <a:lstStyle/>
                    <a:p>
                      <a:pPr algn="ctr" rtl="0" fontAlgn="b">
                        <a:buNone/>
                      </a:pPr>
                      <a:r>
                        <a:rPr lang="en-US" sz="900" b="0" i="0" u="none" strike="noStrike">
                          <a:solidFill>
                            <a:srgbClr val="000000"/>
                          </a:solidFill>
                          <a:effectLst/>
                          <a:latin typeface="+mj-lt"/>
                        </a:rPr>
                        <a:t>Verition</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HF</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498549008"/>
                  </a:ext>
                </a:extLst>
              </a:tr>
              <a:tr h="386981">
                <a:tc>
                  <a:txBody>
                    <a:bodyPr/>
                    <a:lstStyle/>
                    <a:p>
                      <a:pPr algn="ctr" rtl="0" fontAlgn="b">
                        <a:buNone/>
                      </a:pPr>
                      <a:r>
                        <a:rPr lang="en-US" sz="900" b="0" i="0" u="none" strike="noStrike">
                          <a:solidFill>
                            <a:srgbClr val="000000"/>
                          </a:solidFill>
                          <a:effectLst/>
                          <a:latin typeface="+mj-lt"/>
                        </a:rPr>
                        <a:t>Whitefield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a:solidFill>
                            <a:srgbClr val="000000"/>
                          </a:solidFill>
                          <a:effectLst/>
                          <a:latin typeface="+mj-lt"/>
                          <a:ea typeface="楷体" panose="02010609060101010101" pitchFamily="49" charset="-122"/>
                        </a:rPr>
                        <a:t>SG</a:t>
                      </a:r>
                      <a:endParaRPr lang="zh-TW" altLang="en-US" sz="900" b="0" i="0" u="none" strike="noStrike">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b">
                        <a:buNone/>
                      </a:pPr>
                      <a:r>
                        <a:rPr lang="en-US" altLang="zh-TW" sz="900" b="0" i="0" u="none" strike="noStrike" dirty="0">
                          <a:solidFill>
                            <a:srgbClr val="000000"/>
                          </a:solidFill>
                          <a:effectLst/>
                          <a:latin typeface="+mj-lt"/>
                          <a:ea typeface="楷体" panose="02010609060101010101" pitchFamily="49" charset="-122"/>
                        </a:rPr>
                        <a:t>HF</a:t>
                      </a:r>
                      <a:endParaRPr lang="zh-TW" altLang="en-US" sz="900" b="0" i="0" u="none" strike="noStrike" dirty="0">
                        <a:solidFill>
                          <a:srgbClr val="000000"/>
                        </a:solidFill>
                        <a:effectLst/>
                        <a:latin typeface="+mj-lt"/>
                        <a:ea typeface="楷体" panose="02010609060101010101" pitchFamily="49" charset="-122"/>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816265798"/>
                  </a:ext>
                </a:extLst>
              </a:tr>
            </a:tbl>
          </a:graphicData>
        </a:graphic>
      </p:graphicFrame>
    </p:spTree>
    <p:extLst>
      <p:ext uri="{BB962C8B-B14F-4D97-AF65-F5344CB8AC3E}">
        <p14:creationId xmlns:p14="http://schemas.microsoft.com/office/powerpoint/2010/main" val="20887602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D7EF05-AE8E-A3D3-A886-7E18391CBF9A}"/>
              </a:ext>
            </a:extLst>
          </p:cNvPr>
          <p:cNvSpPr>
            <a:spLocks noGrp="1"/>
          </p:cNvSpPr>
          <p:nvPr>
            <p:ph type="title"/>
          </p:nvPr>
        </p:nvSpPr>
        <p:spPr/>
        <p:txBody>
          <a:bodyPr/>
          <a:lstStyle/>
          <a:p>
            <a:r>
              <a:rPr lang="en-US" altLang="zh-CN" sz="2000" b="1" dirty="0">
                <a:latin typeface="+mj-lt"/>
              </a:rPr>
              <a:t>5. Active Hedge Funds in Hong Kong</a:t>
            </a:r>
            <a:endParaRPr lang="en-US" sz="2000" b="1" dirty="0">
              <a:latin typeface="+mj-lt"/>
            </a:endParaRPr>
          </a:p>
        </p:txBody>
      </p:sp>
      <p:graphicFrame>
        <p:nvGraphicFramePr>
          <p:cNvPr id="6" name="Table 5">
            <a:extLst>
              <a:ext uri="{FF2B5EF4-FFF2-40B4-BE49-F238E27FC236}">
                <a16:creationId xmlns:a16="http://schemas.microsoft.com/office/drawing/2014/main" id="{C3E56ED3-90DB-F3AB-A96E-73338B19DB38}"/>
              </a:ext>
            </a:extLst>
          </p:cNvPr>
          <p:cNvGraphicFramePr>
            <a:graphicFrameLocks noGrp="1"/>
          </p:cNvGraphicFramePr>
          <p:nvPr/>
        </p:nvGraphicFramePr>
        <p:xfrm>
          <a:off x="723900" y="1054456"/>
          <a:ext cx="4068265" cy="4937056"/>
        </p:xfrm>
        <a:graphic>
          <a:graphicData uri="http://schemas.openxmlformats.org/drawingml/2006/table">
            <a:tbl>
              <a:tblPr firstRow="1">
                <a:tableStyleId>{5C22544A-7EE6-4342-B048-85BDC9FD1C3A}</a:tableStyleId>
              </a:tblPr>
              <a:tblGrid>
                <a:gridCol w="472762">
                  <a:extLst>
                    <a:ext uri="{9D8B030D-6E8A-4147-A177-3AD203B41FA5}">
                      <a16:colId xmlns:a16="http://schemas.microsoft.com/office/drawing/2014/main" val="3263820349"/>
                    </a:ext>
                  </a:extLst>
                </a:gridCol>
                <a:gridCol w="2060799">
                  <a:extLst>
                    <a:ext uri="{9D8B030D-6E8A-4147-A177-3AD203B41FA5}">
                      <a16:colId xmlns:a16="http://schemas.microsoft.com/office/drawing/2014/main" val="6371634"/>
                    </a:ext>
                  </a:extLst>
                </a:gridCol>
                <a:gridCol w="1534704">
                  <a:extLst>
                    <a:ext uri="{9D8B030D-6E8A-4147-A177-3AD203B41FA5}">
                      <a16:colId xmlns:a16="http://schemas.microsoft.com/office/drawing/2014/main" val="2244455639"/>
                    </a:ext>
                  </a:extLst>
                </a:gridCol>
              </a:tblGrid>
              <a:tr h="252166">
                <a:tc>
                  <a:txBody>
                    <a:bodyPr/>
                    <a:lstStyle/>
                    <a:p>
                      <a:pPr algn="ctr" fontAlgn="ctr"/>
                      <a:r>
                        <a:rPr lang="en-US" altLang="zh-CN" sz="1000" u="none" strike="noStrike" dirty="0">
                          <a:effectLst/>
                          <a:latin typeface="+mn-lt"/>
                          <a:ea typeface="STKaiti" panose="02010600040101010101" pitchFamily="2" charset="-122"/>
                          <a:cs typeface="Arial" panose="020B0604020202020204" pitchFamily="34" charset="0"/>
                        </a:rPr>
                        <a:t>#</a:t>
                      </a:r>
                      <a:endParaRPr lang="zh-CN" altLang="en-US" sz="1000" b="1" i="0" u="none" strike="noStrike" dirty="0">
                        <a:solidFill>
                          <a:srgbClr val="FFFFFF"/>
                        </a:solidFill>
                        <a:effectLst/>
                        <a:latin typeface="+mn-lt"/>
                        <a:ea typeface="STKaiti" panose="02010600040101010101" pitchFamily="2" charset="-122"/>
                        <a:cs typeface="Arial" panose="020B0604020202020204" pitchFamily="34" charset="0"/>
                      </a:endParaRPr>
                    </a:p>
                  </a:txBody>
                  <a:tcPr marL="4850" marR="4850" marT="4850" marB="0" anchor="ctr">
                    <a:lnB w="38100" cmpd="sng">
                      <a:noFill/>
                    </a:lnB>
                  </a:tcPr>
                </a:tc>
                <a:tc>
                  <a:txBody>
                    <a:bodyPr/>
                    <a:lstStyle/>
                    <a:p>
                      <a:pPr algn="ctr" fontAlgn="ctr"/>
                      <a:r>
                        <a:rPr lang="en-US" altLang="zh-CN" sz="1000" u="none" strike="noStrike">
                          <a:effectLst/>
                          <a:latin typeface="+mn-lt"/>
                          <a:ea typeface="STKaiti" panose="02010600040101010101" pitchFamily="2" charset="-122"/>
                          <a:cs typeface="Arial" panose="020B0604020202020204" pitchFamily="34" charset="0"/>
                        </a:rPr>
                        <a:t>Investor Name</a:t>
                      </a:r>
                      <a:endParaRPr lang="zh-CN" altLang="en-US" sz="1000" b="1" i="0" u="none" strike="noStrike">
                        <a:solidFill>
                          <a:srgbClr val="FFFFFF"/>
                        </a:solidFill>
                        <a:effectLst/>
                        <a:latin typeface="+mn-lt"/>
                        <a:ea typeface="STKaiti" panose="02010600040101010101" pitchFamily="2" charset="-122"/>
                        <a:cs typeface="Arial" panose="020B0604020202020204" pitchFamily="34" charset="0"/>
                      </a:endParaRPr>
                    </a:p>
                  </a:txBody>
                  <a:tcPr marL="4850" marR="4850" marT="4850" marB="0" anchor="ctr">
                    <a:lnB w="38100" cmpd="sng">
                      <a:noFill/>
                    </a:lnB>
                  </a:tcPr>
                </a:tc>
                <a:tc>
                  <a:txBody>
                    <a:bodyPr/>
                    <a:lstStyle/>
                    <a:p>
                      <a:pPr algn="ctr" fontAlgn="ctr"/>
                      <a:r>
                        <a:rPr lang="en-US" altLang="zh-CN" sz="1000" u="none" strike="noStrike" dirty="0">
                          <a:effectLst/>
                          <a:latin typeface="+mn-lt"/>
                          <a:ea typeface="STKaiti" panose="02010600040101010101" pitchFamily="2" charset="-122"/>
                          <a:cs typeface="Arial" panose="020B0604020202020204" pitchFamily="34" charset="0"/>
                        </a:rPr>
                        <a:t>Region</a:t>
                      </a:r>
                      <a:endParaRPr lang="zh-CN" altLang="en-US" sz="1000" b="1" i="0" u="none" strike="noStrike" dirty="0">
                        <a:solidFill>
                          <a:srgbClr val="FFFFFF"/>
                        </a:solidFill>
                        <a:effectLst/>
                        <a:latin typeface="+mn-lt"/>
                        <a:ea typeface="STKaiti" panose="02010600040101010101" pitchFamily="2" charset="-122"/>
                        <a:cs typeface="Arial" panose="020B0604020202020204" pitchFamily="34" charset="0"/>
                      </a:endParaRPr>
                    </a:p>
                  </a:txBody>
                  <a:tcPr marL="4850" marR="4850" marT="4850" marB="0" anchor="ctr">
                    <a:lnB w="38100" cmpd="sng">
                      <a:noFill/>
                    </a:lnB>
                  </a:tcPr>
                </a:tc>
                <a:extLst>
                  <a:ext uri="{0D108BD9-81ED-4DB2-BD59-A6C34878D82A}">
                    <a16:rowId xmlns:a16="http://schemas.microsoft.com/office/drawing/2014/main" val="992748857"/>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a:t>
                      </a:r>
                    </a:p>
                  </a:txBody>
                  <a:tcPr marL="4850" marR="4850" marT="4850" marB="0" anchor="ctr">
                    <a:lnL w="12700" cmpd="sng">
                      <a:noFill/>
                    </a:lnL>
                    <a:lnR w="12700" cap="flat" cmpd="sng" algn="ctr">
                      <a:noFill/>
                      <a:prstDash val="sysDot"/>
                      <a:round/>
                      <a:headEnd type="none" w="med" len="med"/>
                      <a:tailEnd type="none" w="med" len="med"/>
                    </a:lnR>
                    <a:lnT w="38100" cmpd="sng">
                      <a:noFill/>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AGT Partners</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38100" cmpd="sng">
                      <a:noFill/>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38100" cmpd="sng">
                      <a:noFill/>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8603272"/>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Anatole</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7695742"/>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3</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err="1">
                          <a:solidFill>
                            <a:srgbClr val="000000"/>
                          </a:solidFill>
                          <a:effectLst/>
                          <a:latin typeface="Arial" panose="020B0604020202020204" pitchFamily="34" charset="0"/>
                        </a:rPr>
                        <a:t>Aspex</a:t>
                      </a:r>
                      <a:endParaRPr lang="en-US" sz="900" b="0" i="0" u="none" strike="noStrike" dirty="0">
                        <a:solidFill>
                          <a:srgbClr val="000000"/>
                        </a:solidFill>
                        <a:effectLst/>
                        <a:latin typeface="Arial" panose="020B0604020202020204" pitchFamily="34" charset="0"/>
                      </a:endParaRP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487667"/>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4</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Athos Capital</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6810805"/>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5</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Avanda</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7846851"/>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6</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Balyasny</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0674634"/>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7</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BFAM</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6903916"/>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8</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Catalyst</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1119565"/>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9</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Central Asset Investments</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0782416"/>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10</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China Alpha</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225559"/>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11</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Citadel (incl. Surveyor)</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648051"/>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12</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err="1">
                          <a:solidFill>
                            <a:srgbClr val="000000"/>
                          </a:solidFill>
                          <a:effectLst/>
                          <a:latin typeface="Arial" panose="020B0604020202020204" pitchFamily="34" charset="0"/>
                        </a:rPr>
                        <a:t>Coreview</a:t>
                      </a:r>
                      <a:endParaRPr lang="en-US" sz="900" b="0" i="0" u="none" strike="noStrike" dirty="0">
                        <a:solidFill>
                          <a:srgbClr val="000000"/>
                        </a:solidFill>
                        <a:effectLst/>
                        <a:latin typeface="Arial" panose="020B0604020202020204" pitchFamily="34" charset="0"/>
                      </a:endParaRP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8088154"/>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13</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Davidson Kempner Asia</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188048"/>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14</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DE Shaw</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1101932"/>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15</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err="1">
                          <a:solidFill>
                            <a:srgbClr val="000000"/>
                          </a:solidFill>
                          <a:effectLst/>
                          <a:latin typeface="Arial" panose="020B0604020202020204" pitchFamily="34" charset="0"/>
                        </a:rPr>
                        <a:t>ExodusPoint</a:t>
                      </a:r>
                      <a:endParaRPr lang="en-US" sz="900" b="0" i="0" u="none" strike="noStrike" dirty="0">
                        <a:solidFill>
                          <a:srgbClr val="000000"/>
                        </a:solidFill>
                        <a:effectLst/>
                        <a:latin typeface="Arial" panose="020B0604020202020204" pitchFamily="34" charset="0"/>
                      </a:endParaRP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0833707"/>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16</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Factorial</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2853502"/>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17</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General Atlantic</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Mainland</a:t>
                      </a:r>
                      <a:r>
                        <a:rPr kumimoji="0" lang="en-US" altLang="zh-CN"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a:t>
                      </a: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3168173"/>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18</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err="1">
                          <a:solidFill>
                            <a:srgbClr val="000000"/>
                          </a:solidFill>
                          <a:effectLst/>
                          <a:latin typeface="Arial" panose="020B0604020202020204" pitchFamily="34" charset="0"/>
                        </a:rPr>
                        <a:t>Ghisallo</a:t>
                      </a:r>
                      <a:r>
                        <a:rPr lang="en-US" sz="900" b="0" i="0" u="none" strike="noStrike" dirty="0">
                          <a:solidFill>
                            <a:srgbClr val="000000"/>
                          </a:solidFill>
                          <a:effectLst/>
                          <a:latin typeface="Arial" panose="020B0604020202020204" pitchFamily="34" charset="0"/>
                        </a:rPr>
                        <a:t>/</a:t>
                      </a:r>
                      <a:r>
                        <a:rPr lang="en-US" sz="900" b="0" i="0" u="none" strike="noStrike" dirty="0" err="1">
                          <a:solidFill>
                            <a:srgbClr val="000000"/>
                          </a:solidFill>
                          <a:effectLst/>
                          <a:latin typeface="Arial" panose="020B0604020202020204" pitchFamily="34" charset="0"/>
                        </a:rPr>
                        <a:t>Keysquare</a:t>
                      </a:r>
                      <a:endParaRPr lang="en-US" sz="900" b="0" i="0" u="none" strike="noStrike" dirty="0">
                        <a:solidFill>
                          <a:srgbClr val="000000"/>
                        </a:solidFill>
                        <a:effectLst/>
                        <a:latin typeface="Arial" panose="020B0604020202020204" pitchFamily="34" charset="0"/>
                      </a:endParaRP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mn-lt"/>
                          <a:ea typeface="STKaiti" panose="02010600040101010101" pitchFamily="2" charset="-122"/>
                          <a:cs typeface="+mn-cs"/>
                        </a:rPr>
                        <a:t>UK/</a:t>
                      </a: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9390621"/>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19</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IDG/</a:t>
                      </a:r>
                      <a:r>
                        <a:rPr lang="en-US" sz="900" b="0" i="0" u="none" strike="noStrike" dirty="0" err="1">
                          <a:solidFill>
                            <a:srgbClr val="000000"/>
                          </a:solidFill>
                          <a:effectLst/>
                          <a:latin typeface="Arial" panose="020B0604020202020204" pitchFamily="34" charset="0"/>
                        </a:rPr>
                        <a:t>Enreal</a:t>
                      </a:r>
                      <a:endParaRPr lang="en-US" sz="900" b="0" i="0" u="none" strike="noStrike" dirty="0">
                        <a:solidFill>
                          <a:srgbClr val="000000"/>
                        </a:solidFill>
                        <a:effectLst/>
                        <a:latin typeface="Arial" panose="020B0604020202020204" pitchFamily="34" charset="0"/>
                      </a:endParaRP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Mainland</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5823003"/>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20</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Jain Global</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3687830"/>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21</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err="1">
                          <a:solidFill>
                            <a:srgbClr val="000000"/>
                          </a:solidFill>
                          <a:effectLst/>
                          <a:latin typeface="Arial" panose="020B0604020202020204" pitchFamily="34" charset="0"/>
                        </a:rPr>
                        <a:t>Janchor</a:t>
                      </a:r>
                      <a:endParaRPr lang="en-US" sz="900" b="0" i="0" u="none" strike="noStrike" dirty="0">
                        <a:solidFill>
                          <a:srgbClr val="000000"/>
                        </a:solidFill>
                        <a:effectLst/>
                        <a:latin typeface="Arial" panose="020B0604020202020204" pitchFamily="34" charset="0"/>
                      </a:endParaRP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9384562"/>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22</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Jane Street</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1147982"/>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23</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Jump Trading</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5911645"/>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24</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KIARA Advisors</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4616581"/>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25</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LMR Partners</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468619"/>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26</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Long Corridor</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0533731"/>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27</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Man Group</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UK/Japan</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0350232"/>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28</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Marshall Wallace</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mn-lt"/>
                          <a:ea typeface="STKaiti" panose="02010600040101010101" pitchFamily="2" charset="-122"/>
                          <a:cs typeface="+mn-cs"/>
                        </a:rPr>
                        <a:t>UK/</a:t>
                      </a: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870480"/>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29</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Maso</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1609395"/>
                  </a:ext>
                </a:extLst>
              </a:tr>
              <a:tr h="156163">
                <a:tc>
                  <a:txBody>
                    <a:bodyPr/>
                    <a:lstStyle/>
                    <a:p>
                      <a:pPr marL="0" algn="ctr" defTabSz="914400" rtl="0" eaLnBrk="1" fontAlgn="ctr" latinLnBrk="0" hangingPunct="1"/>
                      <a:r>
                        <a:rPr lang="en-US" sz="900" b="0" i="0" u="none" strike="noStrike" kern="1200">
                          <a:solidFill>
                            <a:srgbClr val="000000"/>
                          </a:solidFill>
                          <a:effectLst/>
                          <a:latin typeface="+mn-lt"/>
                          <a:ea typeface="STKaiti" panose="02010600040101010101" pitchFamily="2" charset="-122"/>
                          <a:cs typeface="Arial" panose="020B0604020202020204" pitchFamily="34" charset="0"/>
                        </a:rPr>
                        <a:t>30</a:t>
                      </a:r>
                    </a:p>
                  </a:txBody>
                  <a:tcPr marL="4850" marR="4850" marT="4850" marB="0" anchor="ctr">
                    <a:lnL w="12700" cmpd="sng">
                      <a:noFill/>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Maven</a:t>
                      </a:r>
                    </a:p>
                  </a:txBody>
                  <a:tcPr marL="7620" marR="7620" marT="762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L w="12700" cap="flat" cmpd="sng" algn="ctr">
                      <a:noFill/>
                      <a:prstDash val="sysDot"/>
                      <a:round/>
                      <a:headEnd type="none" w="med" len="med"/>
                      <a:tailEnd type="none" w="med" len="med"/>
                    </a:lnL>
                    <a:lnR w="12700" cmpd="sng">
                      <a:noFill/>
                    </a:ln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105357"/>
                  </a:ext>
                </a:extLst>
              </a:tr>
            </a:tbl>
          </a:graphicData>
        </a:graphic>
      </p:graphicFrame>
      <p:graphicFrame>
        <p:nvGraphicFramePr>
          <p:cNvPr id="7" name="Table 6">
            <a:extLst>
              <a:ext uri="{FF2B5EF4-FFF2-40B4-BE49-F238E27FC236}">
                <a16:creationId xmlns:a16="http://schemas.microsoft.com/office/drawing/2014/main" id="{7DB96BDA-FB7B-DE52-F490-76DE7233CFC2}"/>
              </a:ext>
            </a:extLst>
          </p:cNvPr>
          <p:cNvGraphicFramePr>
            <a:graphicFrameLocks noGrp="1"/>
          </p:cNvGraphicFramePr>
          <p:nvPr/>
        </p:nvGraphicFramePr>
        <p:xfrm>
          <a:off x="5175748" y="1054454"/>
          <a:ext cx="4068264" cy="4937049"/>
        </p:xfrm>
        <a:graphic>
          <a:graphicData uri="http://schemas.openxmlformats.org/drawingml/2006/table">
            <a:tbl>
              <a:tblPr firstRow="1">
                <a:tableStyleId>{5C22544A-7EE6-4342-B048-85BDC9FD1C3A}</a:tableStyleId>
              </a:tblPr>
              <a:tblGrid>
                <a:gridCol w="472762">
                  <a:extLst>
                    <a:ext uri="{9D8B030D-6E8A-4147-A177-3AD203B41FA5}">
                      <a16:colId xmlns:a16="http://schemas.microsoft.com/office/drawing/2014/main" val="3263820349"/>
                    </a:ext>
                  </a:extLst>
                </a:gridCol>
                <a:gridCol w="1970794">
                  <a:extLst>
                    <a:ext uri="{9D8B030D-6E8A-4147-A177-3AD203B41FA5}">
                      <a16:colId xmlns:a16="http://schemas.microsoft.com/office/drawing/2014/main" val="6371634"/>
                    </a:ext>
                  </a:extLst>
                </a:gridCol>
                <a:gridCol w="1624708">
                  <a:extLst>
                    <a:ext uri="{9D8B030D-6E8A-4147-A177-3AD203B41FA5}">
                      <a16:colId xmlns:a16="http://schemas.microsoft.com/office/drawing/2014/main" val="2244455639"/>
                    </a:ext>
                  </a:extLst>
                </a:gridCol>
              </a:tblGrid>
              <a:tr h="276039">
                <a:tc>
                  <a:txBody>
                    <a:bodyPr/>
                    <a:lstStyle/>
                    <a:p>
                      <a:pPr algn="ctr" fontAlgn="ctr"/>
                      <a:r>
                        <a:rPr lang="en-US" altLang="zh-CN" sz="1000" u="none" strike="noStrike" dirty="0">
                          <a:effectLst/>
                          <a:latin typeface="+mn-lt"/>
                          <a:ea typeface="STKaiti" panose="02010600040101010101" pitchFamily="2" charset="-122"/>
                          <a:cs typeface="Arial" panose="020B0604020202020204" pitchFamily="34" charset="0"/>
                        </a:rPr>
                        <a:t>#</a:t>
                      </a:r>
                      <a:endParaRPr lang="zh-CN" altLang="en-US" sz="1000" b="1" i="0" u="none" strike="noStrike" dirty="0">
                        <a:solidFill>
                          <a:srgbClr val="FFFFFF"/>
                        </a:solidFill>
                        <a:effectLst/>
                        <a:latin typeface="+mn-lt"/>
                        <a:ea typeface="STKaiti" panose="02010600040101010101" pitchFamily="2" charset="-122"/>
                        <a:cs typeface="Arial" panose="020B0604020202020204" pitchFamily="34" charset="0"/>
                      </a:endParaRPr>
                    </a:p>
                  </a:txBody>
                  <a:tcPr marL="4850" marR="4850" marT="4850" marB="0" anchor="ctr"/>
                </a:tc>
                <a:tc>
                  <a:txBody>
                    <a:bodyPr/>
                    <a:lstStyle/>
                    <a:p>
                      <a:pPr algn="ctr" fontAlgn="ctr"/>
                      <a:r>
                        <a:rPr lang="en-US" altLang="zh-CN" sz="1000" u="none" strike="noStrike" dirty="0">
                          <a:effectLst/>
                          <a:latin typeface="+mn-lt"/>
                          <a:ea typeface="STKaiti" panose="02010600040101010101" pitchFamily="2" charset="-122"/>
                          <a:cs typeface="Arial" panose="020B0604020202020204" pitchFamily="34" charset="0"/>
                        </a:rPr>
                        <a:t>Investor Name</a:t>
                      </a:r>
                      <a:endParaRPr lang="zh-CN" altLang="en-US" sz="1000" b="1" i="0" u="none" strike="noStrike" dirty="0">
                        <a:solidFill>
                          <a:srgbClr val="FFFFFF"/>
                        </a:solidFill>
                        <a:effectLst/>
                        <a:latin typeface="+mn-lt"/>
                        <a:ea typeface="STKaiti" panose="02010600040101010101" pitchFamily="2" charset="-122"/>
                        <a:cs typeface="Arial" panose="020B0604020202020204" pitchFamily="34" charset="0"/>
                      </a:endParaRPr>
                    </a:p>
                  </a:txBody>
                  <a:tcPr marL="4850" marR="4850" marT="4850" marB="0" anchor="ctr"/>
                </a:tc>
                <a:tc>
                  <a:txBody>
                    <a:bodyPr/>
                    <a:lstStyle/>
                    <a:p>
                      <a:pPr algn="ctr" fontAlgn="ctr"/>
                      <a:r>
                        <a:rPr lang="en-US" altLang="zh-CN" sz="1000" u="none" strike="noStrike" dirty="0">
                          <a:effectLst/>
                          <a:latin typeface="+mn-lt"/>
                          <a:ea typeface="STKaiti" panose="02010600040101010101" pitchFamily="2" charset="-122"/>
                          <a:cs typeface="Arial" panose="020B0604020202020204" pitchFamily="34" charset="0"/>
                        </a:rPr>
                        <a:t>Region</a:t>
                      </a:r>
                      <a:endParaRPr lang="zh-CN" altLang="en-US" sz="1000" b="1" i="0" u="none" strike="noStrike" dirty="0">
                        <a:solidFill>
                          <a:srgbClr val="FFFFFF"/>
                        </a:solidFill>
                        <a:effectLst/>
                        <a:latin typeface="+mn-lt"/>
                        <a:ea typeface="STKaiti" panose="02010600040101010101" pitchFamily="2" charset="-122"/>
                        <a:cs typeface="Arial" panose="020B0604020202020204" pitchFamily="34" charset="0"/>
                      </a:endParaRPr>
                    </a:p>
                  </a:txBody>
                  <a:tcPr marL="4850" marR="4850" marT="4850" marB="0" anchor="ctr"/>
                </a:tc>
                <a:extLst>
                  <a:ext uri="{0D108BD9-81ED-4DB2-BD59-A6C34878D82A}">
                    <a16:rowId xmlns:a16="http://schemas.microsoft.com/office/drawing/2014/main" val="992748857"/>
                  </a:ext>
                </a:extLst>
              </a:tr>
              <a:tr h="155367">
                <a:tc>
                  <a:txBody>
                    <a:bodyPr/>
                    <a:lstStyle/>
                    <a:p>
                      <a:pPr algn="ctr" fontAlgn="ctr"/>
                      <a:r>
                        <a:rPr lang="en-US" sz="900" b="0" i="0" u="none" strike="noStrike" dirty="0">
                          <a:solidFill>
                            <a:srgbClr val="000000"/>
                          </a:solidFill>
                          <a:effectLst/>
                          <a:latin typeface="+mn-lt"/>
                          <a:ea typeface="STKaiti" panose="02010600040101010101" pitchFamily="2" charset="-122"/>
                          <a:cs typeface="Arial" panose="020B0604020202020204" pitchFamily="34" charset="0"/>
                        </a:rPr>
                        <a:t>31</a:t>
                      </a: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Millenia Investment</a:t>
                      </a: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798603272"/>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32</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Millennium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797695742"/>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33</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Monashee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413487667"/>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34</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Moon Capital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526810805"/>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35</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Neo-Criterion Capital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557846851"/>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36</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Oakwise</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600674634"/>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37</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Oasis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356903916"/>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38</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err="1">
                          <a:solidFill>
                            <a:srgbClr val="000000"/>
                          </a:solidFill>
                          <a:effectLst/>
                          <a:latin typeface="Arial" panose="020B0604020202020204" pitchFamily="34" charset="0"/>
                        </a:rPr>
                        <a:t>Optimas</a:t>
                      </a:r>
                      <a:endParaRPr lang="en-US" sz="900" b="0" i="0" u="none" strike="noStrike" dirty="0">
                        <a:solidFill>
                          <a:srgbClr val="000000"/>
                        </a:solidFill>
                        <a:effectLst/>
                        <a:latin typeface="Arial" panose="020B0604020202020204" pitchFamily="34" charset="0"/>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031119565"/>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39</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PAG / Polymer</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280782416"/>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40</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Pinpoint</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57225559"/>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41</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Point 72</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14648051"/>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42</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Polunin</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078088154"/>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43</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Quam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07188048"/>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44</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Rays Capital</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4251101932"/>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45</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Regal Funds Management</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020833707"/>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46</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Reynold Lemkins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Mainland/</a:t>
                      </a: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292853502"/>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47</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Rokos Capital Management</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783168173"/>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48</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RWC </a:t>
                      </a:r>
                      <a:r>
                        <a:rPr lang="en-US" sz="900" b="0" i="0" u="none" strike="noStrike" dirty="0" err="1">
                          <a:solidFill>
                            <a:srgbClr val="000000"/>
                          </a:solidFill>
                          <a:effectLst/>
                          <a:latin typeface="Arial" panose="020B0604020202020204" pitchFamily="34" charset="0"/>
                        </a:rPr>
                        <a:t>Parnters</a:t>
                      </a:r>
                      <a:r>
                        <a:rPr lang="en-US" sz="900" b="0" i="0" u="none" strike="noStrike" dirty="0">
                          <a:solidFill>
                            <a:srgbClr val="000000"/>
                          </a:solidFill>
                          <a:effectLst/>
                          <a:latin typeface="Arial" panose="020B0604020202020204" pitchFamily="34" charset="0"/>
                        </a:rPr>
                        <a:t> (</a:t>
                      </a:r>
                      <a:r>
                        <a:rPr lang="en-US" sz="900" b="0" i="0" u="none" strike="noStrike" dirty="0" err="1">
                          <a:solidFill>
                            <a:srgbClr val="000000"/>
                          </a:solidFill>
                          <a:effectLst/>
                          <a:latin typeface="Arial" panose="020B0604020202020204" pitchFamily="34" charset="0"/>
                        </a:rPr>
                        <a:t>Redwheel</a:t>
                      </a:r>
                      <a:r>
                        <a:rPr lang="en-US" sz="900" b="0" i="0" u="none" strike="noStrike" dirty="0">
                          <a:solidFill>
                            <a:srgbClr val="000000"/>
                          </a:solidFill>
                          <a:effectLst/>
                          <a:latin typeface="Arial" panose="020B0604020202020204" pitchFamily="34" charset="0"/>
                        </a:rPr>
                        <a:t>)</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399390621"/>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49</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Schonfeld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875823003"/>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50</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err="1">
                          <a:solidFill>
                            <a:srgbClr val="000000"/>
                          </a:solidFill>
                          <a:effectLst/>
                          <a:latin typeface="Arial" panose="020B0604020202020204" pitchFamily="34" charset="0"/>
                        </a:rPr>
                        <a:t>Sparx</a:t>
                      </a:r>
                      <a:r>
                        <a:rPr lang="en-US" sz="900" b="0" i="0" u="none" strike="noStrike" dirty="0">
                          <a:solidFill>
                            <a:srgbClr val="000000"/>
                          </a:solidFill>
                          <a:effectLst/>
                          <a:latin typeface="Arial" panose="020B0604020202020204" pitchFamily="34" charset="0"/>
                        </a:rPr>
                        <a:t> Asia</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403687830"/>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51</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Squarepoint</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479384562"/>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52</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Toscafund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UK/</a:t>
                      </a: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401147982"/>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53</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Trafalgar</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UK/Singapore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835911645"/>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54</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UBS O'Connor</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674616581"/>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55</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Veritas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456468619"/>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56</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Verition Fund</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Singapore</a:t>
                      </a:r>
                      <a:endParaRPr kumimoji="0" lang="zh-TW" altLang="en-US" sz="900" b="0" i="0" u="none" strike="noStrike" kern="1200" cap="none" spc="0" normalizeH="0" baseline="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120533731"/>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57</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Viridian AM</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190350232"/>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58</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Virtue Investment</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493870480"/>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59</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dirty="0">
                          <a:solidFill>
                            <a:srgbClr val="000000"/>
                          </a:solidFill>
                          <a:effectLst/>
                          <a:latin typeface="Arial" panose="020B0604020202020204" pitchFamily="34" charset="0"/>
                        </a:rPr>
                        <a:t>Vista Equity Partners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TW" sz="900" b="0" i="0" u="none" strike="noStrike" kern="1200" cap="none" spc="0" normalizeH="0" baseline="0" dirty="0">
                          <a:ln>
                            <a:noFill/>
                          </a:ln>
                          <a:solidFill>
                            <a:srgbClr val="000000"/>
                          </a:solidFill>
                          <a:effectLst/>
                          <a:uLnTx/>
                          <a:uFillTx/>
                          <a:latin typeface="Arial"/>
                          <a:ea typeface="STKaiti" panose="02010600040101010101" pitchFamily="2" charset="-122"/>
                          <a:cs typeface="+mn-cs"/>
                        </a:rPr>
                        <a:t>USA/</a:t>
                      </a: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891609395"/>
                  </a:ext>
                </a:extLst>
              </a:tr>
              <a:tr h="155367">
                <a:tc>
                  <a:txBody>
                    <a:bodyPr/>
                    <a:lstStyle/>
                    <a:p>
                      <a:pPr algn="ctr" fontAlgn="ctr"/>
                      <a:r>
                        <a:rPr lang="en-US" sz="900" b="0" i="0" u="none" strike="noStrike">
                          <a:solidFill>
                            <a:srgbClr val="000000"/>
                          </a:solidFill>
                          <a:effectLst/>
                          <a:latin typeface="+mn-lt"/>
                          <a:ea typeface="STKaiti" panose="02010600040101010101" pitchFamily="2" charset="-122"/>
                          <a:cs typeface="Arial" panose="020B0604020202020204" pitchFamily="34" charset="0"/>
                        </a:rPr>
                        <a:t>60</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buNone/>
                      </a:pPr>
                      <a:r>
                        <a:rPr lang="en-US" sz="900" b="0" i="0" u="none" strike="noStrike">
                          <a:solidFill>
                            <a:srgbClr val="000000"/>
                          </a:solidFill>
                          <a:effectLst/>
                          <a:latin typeface="Arial" panose="020B0604020202020204" pitchFamily="34" charset="0"/>
                        </a:rPr>
                        <a:t>Weiss</a:t>
                      </a: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rPr>
                        <a:t>Hong Kong</a:t>
                      </a:r>
                      <a:endParaRPr kumimoji="0" lang="zh-CN" altLang="en-US" sz="900" b="0" i="0" u="none" strike="noStrike" kern="1200" cap="none" spc="0" normalizeH="0" baseline="0" noProof="0" dirty="0">
                        <a:ln>
                          <a:noFill/>
                        </a:ln>
                        <a:solidFill>
                          <a:srgbClr val="000000"/>
                        </a:solidFill>
                        <a:effectLst/>
                        <a:uLnTx/>
                        <a:uFillTx/>
                        <a:latin typeface="Arial"/>
                        <a:ea typeface="STKaiti" panose="02010600040101010101" pitchFamily="2" charset="-122"/>
                        <a:cs typeface="+mn-cs"/>
                      </a:endParaRPr>
                    </a:p>
                  </a:txBody>
                  <a:tcPr marL="7620" marR="7620" marT="762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928105357"/>
                  </a:ext>
                </a:extLst>
              </a:tr>
            </a:tbl>
          </a:graphicData>
        </a:graphic>
      </p:graphicFrame>
      <p:sp>
        <p:nvSpPr>
          <p:cNvPr id="2" name="Slide Number Placeholder 1">
            <a:extLst>
              <a:ext uri="{FF2B5EF4-FFF2-40B4-BE49-F238E27FC236}">
                <a16:creationId xmlns:a16="http://schemas.microsoft.com/office/drawing/2014/main" id="{B90E2DE7-BA0B-EF94-B447-33938FF8AFB5}"/>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60</a:t>
            </a:fld>
            <a:endParaRPr lang="en-US" altLang="en-US" b="0">
              <a:solidFill>
                <a:srgbClr val="000000"/>
              </a:solidFill>
            </a:endParaRPr>
          </a:p>
        </p:txBody>
      </p:sp>
    </p:spTree>
    <p:extLst>
      <p:ext uri="{BB962C8B-B14F-4D97-AF65-F5344CB8AC3E}">
        <p14:creationId xmlns:p14="http://schemas.microsoft.com/office/powerpoint/2010/main" val="41515796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D7EF05-AE8E-A3D3-A886-7E18391CBF9A}"/>
              </a:ext>
            </a:extLst>
          </p:cNvPr>
          <p:cNvSpPr>
            <a:spLocks noGrp="1"/>
          </p:cNvSpPr>
          <p:nvPr>
            <p:ph type="title"/>
          </p:nvPr>
        </p:nvSpPr>
        <p:spPr/>
        <p:txBody>
          <a:bodyPr/>
          <a:lstStyle/>
          <a:p>
            <a:r>
              <a:rPr lang="en-US" altLang="zh-CN" sz="2000" b="1" dirty="0">
                <a:latin typeface="+mj-lt"/>
              </a:rPr>
              <a:t>6. DBS Private Bank / Family Offices</a:t>
            </a:r>
            <a:endParaRPr lang="en-US" sz="2000" b="1" dirty="0">
              <a:latin typeface="+mj-lt"/>
            </a:endParaRPr>
          </a:p>
        </p:txBody>
      </p:sp>
      <p:sp>
        <p:nvSpPr>
          <p:cNvPr id="2" name="Slide Number Placeholder 1">
            <a:extLst>
              <a:ext uri="{FF2B5EF4-FFF2-40B4-BE49-F238E27FC236}">
                <a16:creationId xmlns:a16="http://schemas.microsoft.com/office/drawing/2014/main" id="{D6E9F9F4-B5E4-0466-4DFB-6C1F24695CB4}"/>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61</a:t>
            </a:fld>
            <a:endParaRPr lang="en-US" altLang="en-US" b="0">
              <a:solidFill>
                <a:srgbClr val="000000"/>
              </a:solidFill>
            </a:endParaRPr>
          </a:p>
        </p:txBody>
      </p:sp>
      <p:pic>
        <p:nvPicPr>
          <p:cNvPr id="3" name="Picture 2" descr="DBSPB_DL_S_4C.jpg">
            <a:extLst>
              <a:ext uri="{FF2B5EF4-FFF2-40B4-BE49-F238E27FC236}">
                <a16:creationId xmlns:a16="http://schemas.microsoft.com/office/drawing/2014/main" id="{AD79CD91-7744-ECD8-056C-AC73EFE8D64B}"/>
              </a:ext>
            </a:extLst>
          </p:cNvPr>
          <p:cNvPicPr>
            <a:picLocks noChangeAspect="1"/>
          </p:cNvPicPr>
          <p:nvPr/>
        </p:nvPicPr>
        <p:blipFill rotWithShape="1">
          <a:blip r:embed="rId3" cstate="print">
            <a:clrChange>
              <a:clrFrom>
                <a:srgbClr val="FFFFFF"/>
              </a:clrFrom>
              <a:clrTo>
                <a:srgbClr val="FFFFFF">
                  <a:alpha val="0"/>
                </a:srgbClr>
              </a:clrTo>
            </a:clrChange>
          </a:blip>
          <a:srcRect b="33002"/>
          <a:stretch/>
        </p:blipFill>
        <p:spPr>
          <a:xfrm>
            <a:off x="1030790" y="1084081"/>
            <a:ext cx="2657268" cy="367861"/>
          </a:xfrm>
          <a:prstGeom prst="rect">
            <a:avLst/>
          </a:prstGeom>
        </p:spPr>
      </p:pic>
      <p:sp>
        <p:nvSpPr>
          <p:cNvPr id="4" name="Freeform: Shape 3">
            <a:extLst>
              <a:ext uri="{FF2B5EF4-FFF2-40B4-BE49-F238E27FC236}">
                <a16:creationId xmlns:a16="http://schemas.microsoft.com/office/drawing/2014/main" id="{5B69DF42-5581-417B-B623-281CCE39B154}"/>
              </a:ext>
            </a:extLst>
          </p:cNvPr>
          <p:cNvSpPr/>
          <p:nvPr/>
        </p:nvSpPr>
        <p:spPr>
          <a:xfrm>
            <a:off x="717153" y="1420538"/>
            <a:ext cx="3901230" cy="2171008"/>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solidFill>
            <a:schemeClr val="bg1">
              <a:lumMod val="95000"/>
            </a:schemeClr>
          </a:solidFill>
          <a:ln w="9525" cap="flat" cmpd="sng" algn="ctr">
            <a:noFill/>
            <a:prstDash val="solid"/>
            <a:headEnd/>
            <a:tailEnd/>
          </a:ln>
          <a:effectLst>
            <a:outerShdw blurRad="40000" dist="23000" dir="5400000" rotWithShape="0">
              <a:srgbClr val="000000">
                <a:alpha val="35000"/>
              </a:srgbClr>
            </a:outerShdw>
          </a:effectLst>
        </p:spPr>
        <p:txBody>
          <a:bodyPr wrap="square" lIns="84406" tIns="84406" rIns="84406" bIns="84406" anchor="t" anchorCtr="0">
            <a:spAutoFit/>
          </a:bodyPr>
          <a:lstStyle/>
          <a:p>
            <a:pPr marL="171450" indent="-171450" fontAlgn="auto">
              <a:spcBef>
                <a:spcPts val="0"/>
              </a:spcBef>
              <a:spcAft>
                <a:spcPts val="369"/>
              </a:spcAft>
              <a:buClr>
                <a:srgbClr val="BE050A"/>
              </a:buClr>
              <a:buSzPct val="100000"/>
              <a:buFont typeface="Wingdings 2" panose="05020102010507070707" pitchFamily="18" charset="2"/>
              <a:buChar char="¡"/>
              <a:defRPr/>
            </a:pPr>
            <a:r>
              <a:rPr lang="en-US" altLang="zh-CN" sz="800" b="0" kern="0" dirty="0">
                <a:solidFill>
                  <a:srgbClr val="000000"/>
                </a:solidFill>
                <a:latin typeface="+mn-lt"/>
                <a:ea typeface="華康簡楷" pitchFamily="65" charset="-120"/>
                <a:cs typeface="Arial" panose="020B0604020202020204" pitchFamily="34" charset="0"/>
              </a:rPr>
              <a:t>DBS Private Bank is a major player in the Asian market, managing US$384 billion in assets (AUM)* and employing over 300 dedicated relationship managers and investment advisors.</a:t>
            </a:r>
          </a:p>
          <a:p>
            <a:pPr marL="171450" indent="-171450" fontAlgn="auto">
              <a:spcBef>
                <a:spcPts val="0"/>
              </a:spcBef>
              <a:spcAft>
                <a:spcPts val="369"/>
              </a:spcAft>
              <a:buClr>
                <a:srgbClr val="BE050A"/>
              </a:buClr>
              <a:buSzPct val="100000"/>
              <a:buFont typeface="Wingdings 2" panose="05020102010507070707" pitchFamily="18" charset="2"/>
              <a:buChar char="¡"/>
              <a:defRPr/>
            </a:pPr>
            <a:r>
              <a:rPr lang="en-US" altLang="zh-CN" sz="800" b="0" kern="0" dirty="0">
                <a:solidFill>
                  <a:srgbClr val="000000"/>
                </a:solidFill>
                <a:latin typeface="+mn-lt"/>
                <a:ea typeface="華康簡楷" pitchFamily="65" charset="-120"/>
                <a:cs typeface="Arial" panose="020B0604020202020204" pitchFamily="34" charset="0"/>
              </a:rPr>
              <a:t>In 2014, it successfully acquired Societe </a:t>
            </a:r>
            <a:r>
              <a:rPr lang="en-US" altLang="zh-CN" sz="800" b="0" kern="0" dirty="0" err="1">
                <a:solidFill>
                  <a:srgbClr val="000000"/>
                </a:solidFill>
                <a:latin typeface="+mn-lt"/>
                <a:ea typeface="華康簡楷" pitchFamily="65" charset="-120"/>
                <a:cs typeface="Arial" panose="020B0604020202020204" pitchFamily="34" charset="0"/>
              </a:rPr>
              <a:t>Generale's</a:t>
            </a:r>
            <a:r>
              <a:rPr lang="en-US" altLang="zh-CN" sz="800" b="0" kern="0" dirty="0">
                <a:solidFill>
                  <a:srgbClr val="000000"/>
                </a:solidFill>
                <a:latin typeface="+mn-lt"/>
                <a:ea typeface="華康簡楷" pitchFamily="65" charset="-120"/>
                <a:cs typeface="Arial" panose="020B0604020202020204" pitchFamily="34" charset="0"/>
              </a:rPr>
              <a:t> private banking business in Singapore and Hong Kong, followed by ANZ's retail and private banking businesses in Asia in 2016.</a:t>
            </a:r>
          </a:p>
          <a:p>
            <a:pPr marL="171450" indent="-171450" fontAlgn="auto">
              <a:spcBef>
                <a:spcPts val="0"/>
              </a:spcBef>
              <a:spcAft>
                <a:spcPts val="369"/>
              </a:spcAft>
              <a:buClr>
                <a:srgbClr val="BE050A"/>
              </a:buClr>
              <a:buSzPct val="100000"/>
              <a:buFont typeface="Wingdings 2" panose="05020102010507070707" pitchFamily="18" charset="2"/>
              <a:buChar char="¡"/>
              <a:defRPr/>
            </a:pPr>
            <a:r>
              <a:rPr lang="en-US" altLang="zh-CN" sz="800" b="0" kern="0" dirty="0">
                <a:solidFill>
                  <a:srgbClr val="000000"/>
                </a:solidFill>
                <a:latin typeface="+mn-lt"/>
                <a:ea typeface="華康簡楷" pitchFamily="65" charset="-120"/>
                <a:cs typeface="Arial" panose="020B0604020202020204" pitchFamily="34" charset="0"/>
              </a:rPr>
              <a:t>Even during periods of significant equity market volatility, DBS Private Bank clients actively participated in numerous equity financings underwritten by DBS. For example, DBS successfully secured orders from private banking clients for </a:t>
            </a:r>
            <a:r>
              <a:rPr lang="en-US" altLang="zh-CN" sz="800" b="0" kern="0" dirty="0" err="1">
                <a:solidFill>
                  <a:srgbClr val="000000"/>
                </a:solidFill>
                <a:latin typeface="+mn-lt"/>
                <a:ea typeface="華康簡楷" pitchFamily="65" charset="-120"/>
                <a:cs typeface="Arial" panose="020B0604020202020204" pitchFamily="34" charset="0"/>
              </a:rPr>
              <a:t>Hesai</a:t>
            </a:r>
            <a:r>
              <a:rPr lang="en-US" altLang="zh-CN" sz="800" b="0" kern="0" dirty="0">
                <a:solidFill>
                  <a:srgbClr val="000000"/>
                </a:solidFill>
                <a:latin typeface="+mn-lt"/>
                <a:ea typeface="華康簡楷" pitchFamily="65" charset="-120"/>
                <a:cs typeface="Arial" panose="020B0604020202020204" pitchFamily="34" charset="0"/>
              </a:rPr>
              <a:t> Technology, which went public in September 2025, Geek+ and FWD Insurance, which went public in July 2025, </a:t>
            </a:r>
            <a:r>
              <a:rPr lang="en-US" altLang="zh-CN" sz="800" b="0" kern="0" dirty="0" err="1">
                <a:solidFill>
                  <a:srgbClr val="000000"/>
                </a:solidFill>
                <a:latin typeface="+mn-lt"/>
                <a:ea typeface="華康簡楷" pitchFamily="65" charset="-120"/>
                <a:cs typeface="Arial" panose="020B0604020202020204" pitchFamily="34" charset="0"/>
              </a:rPr>
              <a:t>Yingtong</a:t>
            </a:r>
            <a:r>
              <a:rPr lang="en-US" altLang="zh-CN" sz="800" b="0" kern="0" dirty="0">
                <a:solidFill>
                  <a:srgbClr val="000000"/>
                </a:solidFill>
                <a:latin typeface="+mn-lt"/>
                <a:ea typeface="華康簡楷" pitchFamily="65" charset="-120"/>
                <a:cs typeface="Arial" panose="020B0604020202020204" pitchFamily="34" charset="0"/>
              </a:rPr>
              <a:t> Holdings, which went public in June, and Nanshan Aluminum, which went public in March. This demonstrates DBS's strong subscription capacity and stable support.</a:t>
            </a:r>
          </a:p>
          <a:p>
            <a:pPr marL="171450" indent="-171450" fontAlgn="auto">
              <a:spcBef>
                <a:spcPts val="0"/>
              </a:spcBef>
              <a:spcAft>
                <a:spcPts val="369"/>
              </a:spcAft>
              <a:buClr>
                <a:srgbClr val="BE050A"/>
              </a:buClr>
              <a:buSzPct val="100000"/>
              <a:buFont typeface="Wingdings 2" panose="05020102010507070707" pitchFamily="18" charset="2"/>
              <a:buChar char="¡"/>
              <a:defRPr/>
            </a:pPr>
            <a:r>
              <a:rPr lang="en-US" altLang="zh-CN" sz="800" b="0" kern="0" dirty="0">
                <a:solidFill>
                  <a:srgbClr val="000000"/>
                </a:solidFill>
                <a:latin typeface="+mn-lt"/>
                <a:ea typeface="華康簡楷" pitchFamily="65" charset="-120"/>
                <a:cs typeface="Arial" panose="020B0604020202020204" pitchFamily="34" charset="0"/>
              </a:rPr>
              <a:t>High-net-worth investors are typically followers, effectively driving bookbuilding momentum.</a:t>
            </a:r>
            <a:endParaRPr lang="zh-CN" altLang="en-US" sz="800" b="0" kern="0" dirty="0">
              <a:solidFill>
                <a:srgbClr val="000000"/>
              </a:solidFill>
              <a:latin typeface="+mn-lt"/>
              <a:cs typeface="Arial" panose="020B0604020202020204" pitchFamily="34" charset="0"/>
            </a:endParaRPr>
          </a:p>
        </p:txBody>
      </p:sp>
      <p:sp>
        <p:nvSpPr>
          <p:cNvPr id="6" name="Rectangle 2">
            <a:extLst>
              <a:ext uri="{FF2B5EF4-FFF2-40B4-BE49-F238E27FC236}">
                <a16:creationId xmlns:a16="http://schemas.microsoft.com/office/drawing/2014/main" id="{00578303-482A-C671-F128-D376E08E9AE1}"/>
              </a:ext>
            </a:extLst>
          </p:cNvPr>
          <p:cNvSpPr>
            <a:spLocks noChangeArrowheads="1"/>
          </p:cNvSpPr>
          <p:nvPr/>
        </p:nvSpPr>
        <p:spPr bwMode="auto">
          <a:xfrm flipH="1">
            <a:off x="4707462" y="3646996"/>
            <a:ext cx="4503734" cy="234360"/>
          </a:xfrm>
          <a:prstGeom prst="rect">
            <a:avLst/>
          </a:prstGeom>
          <a:solidFill>
            <a:srgbClr val="CC0000"/>
          </a:solidFill>
          <a:ln>
            <a:noFill/>
          </a:ln>
        </p:spPr>
        <p:style>
          <a:lnRef idx="1">
            <a:schemeClr val="accent4"/>
          </a:lnRef>
          <a:fillRef idx="3">
            <a:schemeClr val="accent4"/>
          </a:fillRef>
          <a:effectRef idx="2">
            <a:schemeClr val="accent4"/>
          </a:effectRef>
          <a:fontRef idx="minor">
            <a:schemeClr val="lt1"/>
          </a:fontRef>
        </p:style>
        <p:txBody>
          <a:bodyPr wrap="square" rtlCol="0" anchor="ctr">
            <a:spAutoFit/>
          </a:bodyPr>
          <a:lstStyle/>
          <a:p>
            <a:pPr algn="ctr" eaLnBrk="0" hangingPunct="0">
              <a:spcBef>
                <a:spcPct val="50000"/>
              </a:spcBef>
            </a:pPr>
            <a:r>
              <a:rPr lang="en-US" altLang="zh-CN" sz="923" dirty="0">
                <a:solidFill>
                  <a:srgbClr val="FFFFFF"/>
                </a:solidFill>
                <a:ea typeface="Calibri" panose="020F0502020204030204" pitchFamily="34" charset="0"/>
                <a:cs typeface="Calibri" panose="020F0502020204030204" pitchFamily="34" charset="0"/>
              </a:rPr>
              <a:t>Selected high-quality family offices active at DBS PB – SEA</a:t>
            </a:r>
            <a:endParaRPr lang="en-GB" altLang="zh-CN" sz="923" dirty="0">
              <a:solidFill>
                <a:srgbClr val="FFFFFF"/>
              </a:solidFill>
              <a:ea typeface="Calibri" panose="020F0502020204030204" pitchFamily="34" charset="0"/>
              <a:cs typeface="Calibri" panose="020F0502020204030204" pitchFamily="34" charset="0"/>
            </a:endParaRPr>
          </a:p>
        </p:txBody>
      </p:sp>
      <p:sp>
        <p:nvSpPr>
          <p:cNvPr id="7" name="Rectangle 2">
            <a:extLst>
              <a:ext uri="{FF2B5EF4-FFF2-40B4-BE49-F238E27FC236}">
                <a16:creationId xmlns:a16="http://schemas.microsoft.com/office/drawing/2014/main" id="{B13D4BD8-800F-5C04-5C15-3AAAB044B51F}"/>
              </a:ext>
            </a:extLst>
          </p:cNvPr>
          <p:cNvSpPr>
            <a:spLocks noChangeArrowheads="1"/>
          </p:cNvSpPr>
          <p:nvPr/>
        </p:nvSpPr>
        <p:spPr bwMode="auto">
          <a:xfrm flipH="1">
            <a:off x="4707458" y="1060811"/>
            <a:ext cx="4503735" cy="234360"/>
          </a:xfrm>
          <a:prstGeom prst="rect">
            <a:avLst/>
          </a:prstGeom>
          <a:solidFill>
            <a:srgbClr val="CC0000"/>
          </a:solidFill>
          <a:ln>
            <a:noFill/>
          </a:ln>
        </p:spPr>
        <p:style>
          <a:lnRef idx="1">
            <a:schemeClr val="accent4"/>
          </a:lnRef>
          <a:fillRef idx="3">
            <a:schemeClr val="accent4"/>
          </a:fillRef>
          <a:effectRef idx="2">
            <a:schemeClr val="accent4"/>
          </a:effectRef>
          <a:fontRef idx="minor">
            <a:schemeClr val="lt1"/>
          </a:fontRef>
        </p:style>
        <p:txBody>
          <a:bodyPr wrap="square" rtlCol="0" anchor="ctr">
            <a:spAutoFit/>
          </a:bodyPr>
          <a:lstStyle/>
          <a:p>
            <a:pPr algn="ctr" eaLnBrk="0" hangingPunct="0">
              <a:spcBef>
                <a:spcPct val="50000"/>
              </a:spcBef>
            </a:pPr>
            <a:r>
              <a:rPr lang="en-US" altLang="zh-CN" sz="923">
                <a:solidFill>
                  <a:srgbClr val="FFFFFF"/>
                </a:solidFill>
                <a:ea typeface="Calibri" panose="020F0502020204030204" pitchFamily="34" charset="0"/>
                <a:cs typeface="Calibri" panose="020F0502020204030204" pitchFamily="34" charset="0"/>
              </a:rPr>
              <a:t>Selected high-quality family offices active at DBS PB – HK</a:t>
            </a:r>
            <a:endParaRPr lang="en-GB" altLang="zh-CN" sz="923">
              <a:solidFill>
                <a:srgbClr val="FFFFFF"/>
              </a:solidFill>
              <a:ea typeface="Calibri" panose="020F0502020204030204" pitchFamily="34" charset="0"/>
              <a:cs typeface="Calibri" panose="020F0502020204030204" pitchFamily="34" charset="0"/>
            </a:endParaRPr>
          </a:p>
        </p:txBody>
      </p:sp>
      <p:graphicFrame>
        <p:nvGraphicFramePr>
          <p:cNvPr id="8" name="Table 7">
            <a:extLst>
              <a:ext uri="{FF2B5EF4-FFF2-40B4-BE49-F238E27FC236}">
                <a16:creationId xmlns:a16="http://schemas.microsoft.com/office/drawing/2014/main" id="{83AA5AB4-585D-E51B-D7BA-0D5547DF1C13}"/>
              </a:ext>
            </a:extLst>
          </p:cNvPr>
          <p:cNvGraphicFramePr>
            <a:graphicFrameLocks noGrp="1"/>
          </p:cNvGraphicFramePr>
          <p:nvPr>
            <p:extLst>
              <p:ext uri="{D42A27DB-BD31-4B8C-83A1-F6EECF244321}">
                <p14:modId xmlns:p14="http://schemas.microsoft.com/office/powerpoint/2010/main" val="1526349957"/>
              </p:ext>
            </p:extLst>
          </p:nvPr>
        </p:nvGraphicFramePr>
        <p:xfrm>
          <a:off x="4707467" y="1306681"/>
          <a:ext cx="4503737" cy="2313411"/>
        </p:xfrm>
        <a:graphic>
          <a:graphicData uri="http://schemas.openxmlformats.org/drawingml/2006/table">
            <a:tbl>
              <a:tblPr firstRow="1" bandRow="1">
                <a:tableStyleId>{5C22544A-7EE6-4342-B048-85BDC9FD1C3A}</a:tableStyleId>
              </a:tblPr>
              <a:tblGrid>
                <a:gridCol w="335681">
                  <a:extLst>
                    <a:ext uri="{9D8B030D-6E8A-4147-A177-3AD203B41FA5}">
                      <a16:colId xmlns:a16="http://schemas.microsoft.com/office/drawing/2014/main" val="939382550"/>
                    </a:ext>
                  </a:extLst>
                </a:gridCol>
                <a:gridCol w="3448193">
                  <a:extLst>
                    <a:ext uri="{9D8B030D-6E8A-4147-A177-3AD203B41FA5}">
                      <a16:colId xmlns:a16="http://schemas.microsoft.com/office/drawing/2014/main" val="2725837122"/>
                    </a:ext>
                  </a:extLst>
                </a:gridCol>
                <a:gridCol w="719863">
                  <a:extLst>
                    <a:ext uri="{9D8B030D-6E8A-4147-A177-3AD203B41FA5}">
                      <a16:colId xmlns:a16="http://schemas.microsoft.com/office/drawing/2014/main" val="3388008469"/>
                    </a:ext>
                  </a:extLst>
                </a:gridCol>
              </a:tblGrid>
              <a:tr h="133897">
                <a:tc>
                  <a:txBody>
                    <a:bodyPr/>
                    <a:lstStyle/>
                    <a:p>
                      <a:pPr algn="ctr"/>
                      <a:r>
                        <a:rPr lang="en-US" sz="850" b="1">
                          <a:latin typeface="+mn-lt"/>
                          <a:ea typeface="Calibri" panose="020F0502020204030204" pitchFamily="34" charset="0"/>
                          <a:cs typeface="Calibri" panose="020F0502020204030204" pitchFamily="34" charset="0"/>
                        </a:rPr>
                        <a:t>#</a:t>
                      </a:r>
                    </a:p>
                  </a:txBody>
                  <a:tcPr marL="84406" marR="84406" marT="0" marB="0">
                    <a:solidFill>
                      <a:srgbClr val="CC0000"/>
                    </a:solidFill>
                  </a:tcPr>
                </a:tc>
                <a:tc>
                  <a:txBody>
                    <a:bodyPr/>
                    <a:lstStyle/>
                    <a:p>
                      <a:pPr algn="ctr"/>
                      <a:r>
                        <a:rPr lang="en-US" altLang="zh-CN" sz="850" b="1">
                          <a:latin typeface="+mn-lt"/>
                          <a:ea typeface="Calibri" panose="020F0502020204030204" pitchFamily="34" charset="0"/>
                          <a:cs typeface="Calibri" panose="020F0502020204030204" pitchFamily="34" charset="0"/>
                        </a:rPr>
                        <a:t>Description</a:t>
                      </a:r>
                      <a:endParaRPr lang="en-US" sz="850" b="1">
                        <a:latin typeface="+mn-lt"/>
                        <a:ea typeface="Calibri" panose="020F0502020204030204" pitchFamily="34" charset="0"/>
                        <a:cs typeface="Calibri" panose="020F0502020204030204" pitchFamily="34" charset="0"/>
                      </a:endParaRPr>
                    </a:p>
                  </a:txBody>
                  <a:tcPr marL="84406" marR="84406" marT="0" marB="0">
                    <a:solidFill>
                      <a:srgbClr val="CC0000"/>
                    </a:solidFill>
                  </a:tcPr>
                </a:tc>
                <a:tc>
                  <a:txBody>
                    <a:bodyPr/>
                    <a:lstStyle/>
                    <a:p>
                      <a:pPr algn="ctr"/>
                      <a:r>
                        <a:rPr lang="en-US" altLang="zh-CN" sz="850" b="1">
                          <a:latin typeface="+mn-lt"/>
                          <a:ea typeface="Calibri" panose="020F0502020204030204" pitchFamily="34" charset="0"/>
                          <a:cs typeface="Calibri" panose="020F0502020204030204" pitchFamily="34" charset="0"/>
                        </a:rPr>
                        <a:t>Business</a:t>
                      </a:r>
                      <a:endParaRPr lang="en-US" sz="850" b="1">
                        <a:latin typeface="+mn-lt"/>
                        <a:ea typeface="Calibri" panose="020F0502020204030204" pitchFamily="34" charset="0"/>
                        <a:cs typeface="Calibri" panose="020F0502020204030204" pitchFamily="34" charset="0"/>
                      </a:endParaRPr>
                    </a:p>
                  </a:txBody>
                  <a:tcPr marL="84406" marR="84406" marT="0" marB="0">
                    <a:solidFill>
                      <a:srgbClr val="CC0000"/>
                    </a:solidFill>
                  </a:tcPr>
                </a:tc>
                <a:extLst>
                  <a:ext uri="{0D108BD9-81ED-4DB2-BD59-A6C34878D82A}">
                    <a16:rowId xmlns:a16="http://schemas.microsoft.com/office/drawing/2014/main" val="3796493204"/>
                  </a:ext>
                </a:extLst>
              </a:tr>
              <a:tr h="141622">
                <a:tc>
                  <a:txBody>
                    <a:bodyPr/>
                    <a:lstStyle/>
                    <a:p>
                      <a:pPr algn="ctr"/>
                      <a:r>
                        <a:rPr lang="en-US" sz="800" b="0" dirty="0">
                          <a:latin typeface="+mn-lt"/>
                          <a:ea typeface="Calibri" panose="020F0502020204030204" pitchFamily="34" charset="0"/>
                          <a:cs typeface="Calibri" panose="020F0502020204030204" pitchFamily="34" charset="0"/>
                        </a:rPr>
                        <a:t>1</a:t>
                      </a:r>
                    </a:p>
                  </a:txBody>
                  <a:tcPr marL="84406" marR="84406" marT="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altLang="zh-CN" sz="800" b="0" i="0" u="none" strike="noStrike" dirty="0">
                          <a:solidFill>
                            <a:srgbClr val="000000"/>
                          </a:solidFill>
                          <a:effectLst/>
                          <a:latin typeface="+mn-lt"/>
                          <a:ea typeface="Calibri" panose="020F0502020204030204" pitchFamily="34" charset="0"/>
                          <a:cs typeface="Calibri" panose="020F0502020204030204" pitchFamily="34" charset="0"/>
                        </a:rPr>
                        <a:t>C is a well-known retail company with an extensive sales network in multiple markets</a:t>
                      </a:r>
                      <a:endParaRPr lang="en-US" sz="800" b="0" i="0" u="none" strike="noStrike" dirty="0">
                        <a:solidFill>
                          <a:srgbClr val="000000"/>
                        </a:solidFill>
                        <a:effectLst/>
                        <a:latin typeface="+mn-lt"/>
                        <a:ea typeface="Calibri" panose="020F0502020204030204" pitchFamily="34" charset="0"/>
                        <a:cs typeface="Calibri" panose="020F0502020204030204" pitchFamily="34" charset="0"/>
                      </a:endParaRPr>
                    </a:p>
                  </a:txBody>
                  <a:tcPr marL="7034" marR="7034" marT="7034"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lvl="0" algn="ctr">
                        <a:buNone/>
                      </a:pPr>
                      <a:r>
                        <a:rPr lang="en-US" altLang="zh-CN" sz="800" b="0" i="0" u="none" strike="noStrike">
                          <a:solidFill>
                            <a:srgbClr val="000000"/>
                          </a:solidFill>
                          <a:effectLst/>
                          <a:latin typeface="+mn-lt"/>
                          <a:ea typeface="Calibri" panose="020F0502020204030204" pitchFamily="34" charset="0"/>
                          <a:cs typeface="Calibri" panose="020F0502020204030204" pitchFamily="34" charset="0"/>
                        </a:rPr>
                        <a:t>Conglomerate</a:t>
                      </a:r>
                      <a:endParaRPr lang="zh-CN" altLang="en-US" sz="800" b="0" i="0" u="none" strike="noStrike">
                        <a:solidFill>
                          <a:srgbClr val="000000"/>
                        </a:solidFill>
                        <a:effectLst/>
                        <a:latin typeface="+mn-lt"/>
                        <a:ea typeface="STKaiti" panose="02010600040101010101" pitchFamily="2" charset="-122"/>
                        <a:cs typeface="Calibri" panose="020F0502020204030204" pitchFamily="34" charset="0"/>
                      </a:endParaRPr>
                    </a:p>
                  </a:txBody>
                  <a:tcPr marL="7034" marR="7034" marT="7034" marB="0" anchor="ctr">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253519930"/>
                  </a:ext>
                </a:extLst>
              </a:tr>
              <a:tr h="275520">
                <a:tc>
                  <a:txBody>
                    <a:bodyPr/>
                    <a:lstStyle/>
                    <a:p>
                      <a:pPr algn="ctr"/>
                      <a:r>
                        <a:rPr lang="en-US" sz="800" b="0" dirty="0">
                          <a:latin typeface="+mn-lt"/>
                          <a:ea typeface="Calibri" panose="020F0502020204030204" pitchFamily="34" charset="0"/>
                          <a:cs typeface="Calibri" panose="020F0502020204030204" pitchFamily="34" charset="0"/>
                        </a:rPr>
                        <a:t>2</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altLang="zh-CN" sz="800" b="0" i="0" u="none" strike="noStrike" dirty="0">
                          <a:solidFill>
                            <a:srgbClr val="000000"/>
                          </a:solidFill>
                          <a:effectLst/>
                          <a:latin typeface="+mn-lt"/>
                          <a:ea typeface="Calibri" panose="020F0502020204030204" pitchFamily="34" charset="0"/>
                          <a:cs typeface="Calibri" panose="020F0502020204030204" pitchFamily="34" charset="0"/>
                        </a:rPr>
                        <a:t>G is a well-known real estate investment and development company with a high-quality property portfolio in multiple markets.</a:t>
                      </a:r>
                      <a:endParaRPr lang="en-US" sz="800" b="0" i="0" u="none" strike="noStrike" dirty="0">
                        <a:solidFill>
                          <a:srgbClr val="000000"/>
                        </a:solidFill>
                        <a:effectLst/>
                        <a:highlight>
                          <a:srgbClr val="FFFF00"/>
                        </a:highlight>
                        <a:latin typeface="+mn-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r>
                        <a:rPr lang="en-US" altLang="zh-CN" sz="800" b="0" kern="1200" noProof="0">
                          <a:solidFill>
                            <a:schemeClr val="dk1"/>
                          </a:solidFill>
                          <a:latin typeface="+mn-lt"/>
                          <a:ea typeface="Calibri" panose="020F0502020204030204" pitchFamily="34" charset="0"/>
                          <a:cs typeface="Calibri" panose="020F0502020204030204" pitchFamily="34" charset="0"/>
                        </a:rPr>
                        <a:t>Real Estate</a:t>
                      </a:r>
                      <a:endParaRPr lang="zh-CN" altLang="en-US" sz="800" b="0" i="0" u="none" strike="noStrike">
                        <a:solidFill>
                          <a:srgbClr val="000000"/>
                        </a:solidFill>
                        <a:effectLst/>
                        <a:latin typeface="+mn-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360680610"/>
                  </a:ext>
                </a:extLst>
              </a:tr>
              <a:tr h="275520">
                <a:tc>
                  <a:txBody>
                    <a:bodyPr/>
                    <a:lstStyle/>
                    <a:p>
                      <a:pPr algn="ctr"/>
                      <a:r>
                        <a:rPr lang="en-US" sz="800" b="0">
                          <a:latin typeface="+mn-lt"/>
                          <a:ea typeface="Calibri" panose="020F0502020204030204" pitchFamily="34" charset="0"/>
                          <a:cs typeface="Calibri" panose="020F0502020204030204" pitchFamily="34" charset="0"/>
                        </a:rPr>
                        <a:t>3</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altLang="zh-CN" sz="800" b="0" dirty="0">
                          <a:latin typeface="+mn-lt"/>
                          <a:ea typeface="Calibri" panose="020F0502020204030204" pitchFamily="34" charset="0"/>
                          <a:cs typeface="Calibri" panose="020F0502020204030204" pitchFamily="34" charset="0"/>
                        </a:rPr>
                        <a:t>H is a well-known real estate development and investment company with high-end properties in many core cities.</a:t>
                      </a:r>
                      <a:endParaRPr lang="en-US" sz="800" b="0" i="0" u="none" strike="noStrike" dirty="0">
                        <a:solidFill>
                          <a:srgbClr val="000000"/>
                        </a:solidFill>
                        <a:effectLst/>
                        <a:highlight>
                          <a:srgbClr val="FFFF00"/>
                        </a:highlight>
                        <a:latin typeface="+mn-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r>
                        <a:rPr lang="en-US" altLang="zh-CN" sz="800" b="0" kern="1200" noProof="0">
                          <a:solidFill>
                            <a:schemeClr val="dk1"/>
                          </a:solidFill>
                          <a:latin typeface="+mn-lt"/>
                          <a:ea typeface="Calibri" panose="020F0502020204030204" pitchFamily="34" charset="0"/>
                          <a:cs typeface="Calibri" panose="020F0502020204030204" pitchFamily="34" charset="0"/>
                        </a:rPr>
                        <a:t>Real Estate, Finance</a:t>
                      </a:r>
                      <a:endParaRPr lang="zh-CN" altLang="en-US" sz="800" b="0" i="0" u="none" strike="noStrike">
                        <a:solidFill>
                          <a:srgbClr val="000000"/>
                        </a:solidFill>
                        <a:effectLst/>
                        <a:latin typeface="+mn-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525016771"/>
                  </a:ext>
                </a:extLst>
              </a:tr>
              <a:tr h="275520">
                <a:tc>
                  <a:txBody>
                    <a:bodyPr/>
                    <a:lstStyle/>
                    <a:p>
                      <a:pPr algn="ctr"/>
                      <a:r>
                        <a:rPr lang="en-US" sz="800" b="0">
                          <a:latin typeface="+mn-lt"/>
                          <a:ea typeface="Calibri" panose="020F0502020204030204" pitchFamily="34" charset="0"/>
                          <a:cs typeface="Calibri" panose="020F0502020204030204" pitchFamily="34" charset="0"/>
                        </a:rPr>
                        <a:t>4</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altLang="zh-CN" sz="800" b="0" dirty="0">
                          <a:latin typeface="+mn-lt"/>
                          <a:ea typeface="Calibri" panose="020F0502020204030204" pitchFamily="34" charset="0"/>
                          <a:cs typeface="Calibri" panose="020F0502020204030204" pitchFamily="34" charset="0"/>
                        </a:rPr>
                        <a:t>P is a well-known comprehensive real estate company with businesses covering residential, commercial and infrastructure sectors.</a:t>
                      </a:r>
                      <a:endParaRPr lang="en-US" sz="800" b="0" i="0" u="none" strike="noStrike" dirty="0">
                        <a:solidFill>
                          <a:srgbClr val="000000"/>
                        </a:solidFill>
                        <a:effectLst/>
                        <a:highlight>
                          <a:srgbClr val="FFFF00"/>
                        </a:highlight>
                        <a:latin typeface="+mn-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800" b="0" kern="1200" noProof="0">
                          <a:solidFill>
                            <a:schemeClr val="dk1"/>
                          </a:solidFill>
                          <a:latin typeface="+mn-lt"/>
                          <a:ea typeface="Calibri" panose="020F0502020204030204" pitchFamily="34" charset="0"/>
                          <a:cs typeface="Calibri" panose="020F0502020204030204" pitchFamily="34" charset="0"/>
                        </a:rPr>
                        <a:t>Real Estate</a:t>
                      </a:r>
                      <a:endParaRPr lang="zh-CN" altLang="en-US" sz="800" b="0" i="0" u="none" strike="noStrike">
                        <a:solidFill>
                          <a:srgbClr val="000000"/>
                        </a:solidFill>
                        <a:effectLst/>
                        <a:latin typeface="+mn-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249415882"/>
                  </a:ext>
                </a:extLst>
              </a:tr>
              <a:tr h="275520">
                <a:tc>
                  <a:txBody>
                    <a:bodyPr/>
                    <a:lstStyle/>
                    <a:p>
                      <a:pPr algn="ctr"/>
                      <a:r>
                        <a:rPr lang="en-US" sz="800" b="0">
                          <a:latin typeface="+mn-lt"/>
                          <a:ea typeface="Calibri" panose="020F0502020204030204" pitchFamily="34" charset="0"/>
                          <a:cs typeface="Calibri" panose="020F0502020204030204" pitchFamily="34" charset="0"/>
                        </a:rPr>
                        <a:t>5</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algn="l" defTabSz="685800" rtl="0" eaLnBrk="1" fontAlgn="ctr" latinLnBrk="0" hangingPunct="1"/>
                      <a:r>
                        <a:rPr lang="en-US" altLang="zh-CN" sz="800" b="0" kern="1200" dirty="0">
                          <a:solidFill>
                            <a:schemeClr val="dk1"/>
                          </a:solidFill>
                          <a:latin typeface="+mn-lt"/>
                          <a:ea typeface="Calibri" panose="020F0502020204030204" pitchFamily="34" charset="0"/>
                          <a:cs typeface="Calibri" panose="020F0502020204030204" pitchFamily="34" charset="0"/>
                        </a:rPr>
                        <a:t>K is a well-known conglomerate with businesses covering real estate development, logistics and food production.</a:t>
                      </a:r>
                      <a:endParaRPr lang="en-US" sz="800" b="0" kern="1200" dirty="0">
                        <a:solidFill>
                          <a:schemeClr val="dk1"/>
                        </a:solidFill>
                        <a:highlight>
                          <a:srgbClr val="FFFF00"/>
                        </a:highlight>
                        <a:latin typeface="+mn-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800" b="0" kern="1200" noProof="0">
                          <a:solidFill>
                            <a:schemeClr val="dk1"/>
                          </a:solidFill>
                          <a:latin typeface="+mn-lt"/>
                          <a:ea typeface="Calibri" panose="020F0502020204030204" pitchFamily="34" charset="0"/>
                          <a:cs typeface="Calibri" panose="020F0502020204030204" pitchFamily="34" charset="0"/>
                        </a:rPr>
                        <a:t>Real Estate</a:t>
                      </a:r>
                      <a:endParaRPr lang="zh-CN" altLang="en-US" sz="800" b="0" i="0" u="none" strike="noStrike">
                        <a:solidFill>
                          <a:srgbClr val="000000"/>
                        </a:solidFill>
                        <a:effectLst/>
                        <a:latin typeface="+mn-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440566977"/>
                  </a:ext>
                </a:extLst>
              </a:tr>
              <a:tr h="275520">
                <a:tc>
                  <a:txBody>
                    <a:bodyPr/>
                    <a:lstStyle/>
                    <a:p>
                      <a:pPr algn="ctr"/>
                      <a:r>
                        <a:rPr lang="en-US" sz="800" b="0">
                          <a:latin typeface="+mn-lt"/>
                          <a:ea typeface="Calibri" panose="020F0502020204030204" pitchFamily="34" charset="0"/>
                          <a:cs typeface="Calibri" panose="020F0502020204030204" pitchFamily="34" charset="0"/>
                        </a:rPr>
                        <a:t>6</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algn="l" defTabSz="685800" rtl="0" eaLnBrk="1" fontAlgn="ctr" latinLnBrk="0" hangingPunct="1"/>
                      <a:r>
                        <a:rPr lang="en-US" altLang="zh-CN" sz="800" b="0" kern="1200" dirty="0">
                          <a:solidFill>
                            <a:schemeClr val="dk1"/>
                          </a:solidFill>
                          <a:latin typeface="+mn-lt"/>
                          <a:ea typeface="Calibri" panose="020F0502020204030204" pitchFamily="34" charset="0"/>
                          <a:cs typeface="Calibri" panose="020F0502020204030204" pitchFamily="34" charset="0"/>
                        </a:rPr>
                        <a:t>L is a well-known retail and real estate investment company, focusing on high-end shopping mall operations</a:t>
                      </a:r>
                      <a:endParaRPr lang="en-US" sz="800" b="0" kern="1200" dirty="0">
                        <a:solidFill>
                          <a:schemeClr val="dk1"/>
                        </a:solidFill>
                        <a:highlight>
                          <a:srgbClr val="FFFF00"/>
                        </a:highlight>
                        <a:latin typeface="+mn-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800" b="0" kern="1200" noProof="0">
                          <a:solidFill>
                            <a:schemeClr val="dk1"/>
                          </a:solidFill>
                          <a:latin typeface="+mn-lt"/>
                          <a:ea typeface="Calibri" panose="020F0502020204030204" pitchFamily="34" charset="0"/>
                          <a:cs typeface="Calibri" panose="020F0502020204030204" pitchFamily="34" charset="0"/>
                        </a:rPr>
                        <a:t>Real Estate</a:t>
                      </a:r>
                      <a:r>
                        <a:rPr kumimoji="0" lang="en-US" altLang="zh-CN" sz="800" b="0" i="0" u="none" strike="noStrike" kern="1200" cap="none" spc="0" normalizeH="0" baseline="0" noProof="0">
                          <a:ln>
                            <a:noFill/>
                          </a:ln>
                          <a:solidFill>
                            <a:srgbClr val="000000"/>
                          </a:solidFill>
                          <a:effectLst/>
                          <a:uLnTx/>
                          <a:uFillTx/>
                          <a:latin typeface="+mn-lt"/>
                          <a:ea typeface="Calibri" panose="020F0502020204030204" pitchFamily="34" charset="0"/>
                          <a:cs typeface="Calibri" panose="020F0502020204030204" pitchFamily="34" charset="0"/>
                        </a:rPr>
                        <a:t>,</a:t>
                      </a:r>
                      <a:r>
                        <a:rPr kumimoji="0" lang="zh-CN" altLang="en-US" sz="800" b="0" i="0" u="none" strike="noStrike" kern="1200" cap="none" spc="0" normalizeH="0" baseline="0" noProof="0">
                          <a:ln>
                            <a:noFill/>
                          </a:ln>
                          <a:solidFill>
                            <a:srgbClr val="000000"/>
                          </a:solidFill>
                          <a:effectLst/>
                          <a:uLnTx/>
                          <a:uFillTx/>
                          <a:latin typeface="+mn-lt"/>
                          <a:ea typeface="STKaiti" panose="02010600040101010101" pitchFamily="2" charset="-122"/>
                          <a:cs typeface="Calibri" panose="020F0502020204030204" pitchFamily="34" charset="0"/>
                        </a:rPr>
                        <a:t> </a:t>
                      </a:r>
                      <a:r>
                        <a:rPr kumimoji="0" lang="en-US" altLang="zh-CN" sz="800" b="0" i="0" u="none" strike="noStrike" kern="1200" cap="none" spc="0" normalizeH="0" baseline="0">
                          <a:ln>
                            <a:noFill/>
                          </a:ln>
                          <a:solidFill>
                            <a:srgbClr val="000000"/>
                          </a:solidFill>
                          <a:effectLst/>
                          <a:uLnTx/>
                          <a:uFillTx/>
                          <a:latin typeface="+mn-lt"/>
                          <a:ea typeface="Calibri" panose="020F0502020204030204" pitchFamily="34" charset="0"/>
                          <a:cs typeface="Calibri" panose="020F0502020204030204" pitchFamily="34" charset="0"/>
                        </a:rPr>
                        <a:t>Retail</a:t>
                      </a:r>
                      <a:endParaRPr kumimoji="0" lang="zh-CN" altLang="en-US" sz="800" b="0" i="0" u="none" strike="noStrike" kern="1200" cap="none" spc="0" normalizeH="0" baseline="0" noProof="0">
                        <a:ln>
                          <a:noFill/>
                        </a:ln>
                        <a:solidFill>
                          <a:srgbClr val="000000"/>
                        </a:solidFill>
                        <a:effectLst/>
                        <a:uLnTx/>
                        <a:uFillTx/>
                        <a:latin typeface="+mn-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177494372"/>
                  </a:ext>
                </a:extLst>
              </a:tr>
              <a:tr h="275520">
                <a:tc>
                  <a:txBody>
                    <a:bodyPr/>
                    <a:lstStyle/>
                    <a:p>
                      <a:pPr algn="ctr"/>
                      <a:r>
                        <a:rPr lang="en-US" sz="800" b="0">
                          <a:latin typeface="+mn-lt"/>
                          <a:ea typeface="Calibri" panose="020F0502020204030204" pitchFamily="34" charset="0"/>
                          <a:cs typeface="Calibri" panose="020F0502020204030204" pitchFamily="34" charset="0"/>
                        </a:rPr>
                        <a:t>7</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algn="l" defTabSz="685800" rtl="0" eaLnBrk="1" fontAlgn="ctr" latinLnBrk="0" hangingPunct="1"/>
                      <a:r>
                        <a:rPr lang="en-US" altLang="zh-CN" sz="800" b="0" kern="1200" dirty="0">
                          <a:solidFill>
                            <a:schemeClr val="dk1"/>
                          </a:solidFill>
                          <a:latin typeface="+mn-lt"/>
                          <a:ea typeface="Calibri" panose="020F0502020204030204" pitchFamily="34" charset="0"/>
                          <a:cs typeface="Calibri" panose="020F0502020204030204" pitchFamily="34" charset="0"/>
                        </a:rPr>
                        <a:t>J is a well-known conglomerate whose businesses include real estate development, hotel operations, etc.</a:t>
                      </a:r>
                      <a:endParaRPr lang="en-US" sz="800" b="0" kern="1200" dirty="0">
                        <a:solidFill>
                          <a:schemeClr val="dk1"/>
                        </a:solidFill>
                        <a:latin typeface="+mn-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mn-lt"/>
                          <a:ea typeface="Calibri" panose="020F0502020204030204" pitchFamily="34" charset="0"/>
                          <a:cs typeface="Calibri" panose="020F0502020204030204" pitchFamily="34" charset="0"/>
                        </a:rPr>
                        <a:t>Real Estate</a:t>
                      </a:r>
                      <a:endParaRPr kumimoji="0" lang="zh-CN" altLang="en-US" sz="800" b="0" i="0" u="none" strike="noStrike" kern="1200" cap="none" spc="0" normalizeH="0" baseline="0" noProof="0" dirty="0">
                        <a:ln>
                          <a:noFill/>
                        </a:ln>
                        <a:solidFill>
                          <a:srgbClr val="000000"/>
                        </a:solidFill>
                        <a:effectLst/>
                        <a:uLnTx/>
                        <a:uFillTx/>
                        <a:latin typeface="+mn-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4199896510"/>
                  </a:ext>
                </a:extLst>
              </a:tr>
              <a:tr h="275520">
                <a:tc>
                  <a:txBody>
                    <a:bodyPr/>
                    <a:lstStyle/>
                    <a:p>
                      <a:pPr algn="ctr"/>
                      <a:r>
                        <a:rPr lang="en-US" sz="800" b="0">
                          <a:latin typeface="+mn-lt"/>
                          <a:ea typeface="Calibri" panose="020F0502020204030204" pitchFamily="34" charset="0"/>
                          <a:cs typeface="Calibri" panose="020F0502020204030204" pitchFamily="34" charset="0"/>
                        </a:rPr>
                        <a:t>8</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algn="l" defTabSz="685800" rtl="0" eaLnBrk="1" fontAlgn="ctr" latinLnBrk="0" hangingPunct="1"/>
                      <a:r>
                        <a:rPr lang="en-US" altLang="zh-CN" sz="800" b="0" kern="1200" dirty="0">
                          <a:solidFill>
                            <a:schemeClr val="dk1"/>
                          </a:solidFill>
                          <a:latin typeface="+mn-lt"/>
                          <a:ea typeface="Calibri" panose="020F0502020204030204" pitchFamily="34" charset="0"/>
                          <a:cs typeface="Calibri" panose="020F0502020204030204" pitchFamily="34" charset="0"/>
                        </a:rPr>
                        <a:t>N is a well-known conglomerate whose businesses cover real estate development, investment management and commercial operations.</a:t>
                      </a:r>
                      <a:endParaRPr lang="en-US" sz="800" b="0" kern="1200" dirty="0">
                        <a:solidFill>
                          <a:schemeClr val="dk1"/>
                        </a:solidFill>
                        <a:latin typeface="+mn-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mn-lt"/>
                          <a:ea typeface="Calibri" panose="020F0502020204030204" pitchFamily="34" charset="0"/>
                          <a:cs typeface="Calibri" panose="020F0502020204030204" pitchFamily="34" charset="0"/>
                        </a:rPr>
                        <a:t>Real Estate</a:t>
                      </a:r>
                      <a:endParaRPr kumimoji="0" lang="zh-CN" altLang="en-US" sz="800" b="0" i="0" u="none" strike="noStrike" kern="1200" cap="none" spc="0" normalizeH="0" baseline="0" noProof="0" dirty="0">
                        <a:ln>
                          <a:noFill/>
                        </a:ln>
                        <a:solidFill>
                          <a:srgbClr val="000000"/>
                        </a:solidFill>
                        <a:effectLst/>
                        <a:uLnTx/>
                        <a:uFillTx/>
                        <a:latin typeface="+mn-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214805369"/>
                  </a:ext>
                </a:extLst>
              </a:tr>
            </a:tbl>
          </a:graphicData>
        </a:graphic>
      </p:graphicFrame>
      <p:sp>
        <p:nvSpPr>
          <p:cNvPr id="9" name="Rectangle 127">
            <a:extLst>
              <a:ext uri="{FF2B5EF4-FFF2-40B4-BE49-F238E27FC236}">
                <a16:creationId xmlns:a16="http://schemas.microsoft.com/office/drawing/2014/main" id="{AB7E1516-74B5-375D-86B0-66F663F4BDCA}"/>
              </a:ext>
            </a:extLst>
          </p:cNvPr>
          <p:cNvSpPr>
            <a:spLocks noChangeArrowheads="1"/>
          </p:cNvSpPr>
          <p:nvPr/>
        </p:nvSpPr>
        <p:spPr bwMode="gray">
          <a:xfrm>
            <a:off x="2899740" y="4302348"/>
            <a:ext cx="2030730" cy="692497"/>
          </a:xfrm>
          <a:prstGeom prst="rect">
            <a:avLst/>
          </a:prstGeom>
          <a:noFill/>
          <a:ln w="9525">
            <a:noFill/>
            <a:miter lim="800000"/>
            <a:headEnd/>
            <a:tailEnd/>
          </a:ln>
        </p:spPr>
        <p:txBody>
          <a:bodyPr wrap="square" lIns="0" tIns="0" rIns="0" bIns="0">
            <a:spAutoFit/>
          </a:bodyPr>
          <a:lstStyle/>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The World’s Best for HNW</a:t>
            </a:r>
          </a:p>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Asia’s Best Private Bank</a:t>
            </a:r>
          </a:p>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Asia’s Best for HNW</a:t>
            </a:r>
          </a:p>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Asia’s Best for Family Office Services</a:t>
            </a:r>
          </a:p>
        </p:txBody>
      </p:sp>
      <p:sp>
        <p:nvSpPr>
          <p:cNvPr id="10" name="Rectangle 127">
            <a:extLst>
              <a:ext uri="{FF2B5EF4-FFF2-40B4-BE49-F238E27FC236}">
                <a16:creationId xmlns:a16="http://schemas.microsoft.com/office/drawing/2014/main" id="{D5C18B0C-51C8-F8E5-AE73-096496845E96}"/>
              </a:ext>
            </a:extLst>
          </p:cNvPr>
          <p:cNvSpPr>
            <a:spLocks noChangeArrowheads="1"/>
          </p:cNvSpPr>
          <p:nvPr/>
        </p:nvSpPr>
        <p:spPr bwMode="gray">
          <a:xfrm>
            <a:off x="717153" y="4357011"/>
            <a:ext cx="1947736" cy="666849"/>
          </a:xfrm>
          <a:prstGeom prst="rect">
            <a:avLst/>
          </a:prstGeom>
          <a:noFill/>
          <a:ln w="9525">
            <a:noFill/>
            <a:miter lim="800000"/>
            <a:headEnd/>
            <a:tailEnd/>
          </a:ln>
        </p:spPr>
        <p:txBody>
          <a:bodyPr wrap="square" lIns="0" tIns="0" rIns="0" bIns="0">
            <a:spAutoFit/>
          </a:bodyPr>
          <a:lstStyle/>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Best Private Bank – Southeast Asia</a:t>
            </a:r>
          </a:p>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Best Private Bank – Family Offices</a:t>
            </a:r>
          </a:p>
          <a:p>
            <a:pPr marL="114300" indent="-114300" eaLnBrk="0" hangingPunct="0">
              <a:spcBef>
                <a:spcPts val="185"/>
              </a:spcBef>
              <a:buClr>
                <a:srgbClr val="C00000"/>
              </a:buClr>
              <a:buFont typeface="Wingdings" pitchFamily="2" charset="2"/>
              <a:buChar char="n"/>
              <a:tabLst>
                <a:tab pos="2453115" algn="r"/>
              </a:tabLst>
              <a:defRPr/>
            </a:pPr>
            <a:r>
              <a:rPr lang="nb-NO" altLang="zh-CN" sz="800" b="0" dirty="0">
                <a:solidFill>
                  <a:srgbClr val="000000"/>
                </a:solidFill>
                <a:latin typeface="+mn-lt"/>
                <a:ea typeface="Calibri" panose="020F0502020204030204" pitchFamily="34" charset="0"/>
                <a:cs typeface="Calibri" panose="020F0502020204030204" pitchFamily="34" charset="0"/>
              </a:rPr>
              <a:t>2025 Best Private Bank – Singapore HNW </a:t>
            </a:r>
            <a:endParaRPr lang="zh-CN" altLang="en-US" sz="800" b="0" dirty="0">
              <a:solidFill>
                <a:srgbClr val="000000"/>
              </a:solidFill>
              <a:latin typeface="+mn-lt"/>
              <a:ea typeface="STKaiti" panose="02010600040101010101" pitchFamily="2" charset="-122"/>
              <a:cs typeface="Calibri" panose="020F0502020204030204" pitchFamily="34" charset="0"/>
            </a:endParaRPr>
          </a:p>
        </p:txBody>
      </p:sp>
      <p:sp>
        <p:nvSpPr>
          <p:cNvPr id="11" name="Rectangle 127">
            <a:extLst>
              <a:ext uri="{FF2B5EF4-FFF2-40B4-BE49-F238E27FC236}">
                <a16:creationId xmlns:a16="http://schemas.microsoft.com/office/drawing/2014/main" id="{51A0F731-D614-E385-2FF9-70A18C01A352}"/>
              </a:ext>
            </a:extLst>
          </p:cNvPr>
          <p:cNvSpPr>
            <a:spLocks noChangeArrowheads="1"/>
          </p:cNvSpPr>
          <p:nvPr/>
        </p:nvSpPr>
        <p:spPr bwMode="gray">
          <a:xfrm>
            <a:off x="1623306" y="5157133"/>
            <a:ext cx="3139010" cy="866904"/>
          </a:xfrm>
          <a:prstGeom prst="rect">
            <a:avLst/>
          </a:prstGeom>
          <a:noFill/>
          <a:ln w="9525">
            <a:noFill/>
            <a:miter lim="800000"/>
            <a:headEnd/>
            <a:tailEnd/>
          </a:ln>
        </p:spPr>
        <p:txBody>
          <a:bodyPr wrap="square" lIns="0" tIns="0" rIns="0" bIns="0">
            <a:spAutoFit/>
          </a:bodyPr>
          <a:lstStyle/>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Best Private Bank - Asia</a:t>
            </a:r>
          </a:p>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Best Private Bank for Family Offices - Asia</a:t>
            </a:r>
          </a:p>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Best CIO Office - Asia</a:t>
            </a:r>
          </a:p>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Best Wealth Manager – Asia</a:t>
            </a:r>
          </a:p>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Best Private Bank – Singapore</a:t>
            </a:r>
          </a:p>
          <a:p>
            <a:pPr marL="114300" indent="-114300" eaLnBrk="0" hangingPunct="0">
              <a:spcBef>
                <a:spcPts val="185"/>
              </a:spcBef>
              <a:buClr>
                <a:srgbClr val="C00000"/>
              </a:buClr>
              <a:buFont typeface="Wingdings" pitchFamily="2" charset="2"/>
              <a:buChar char="n"/>
              <a:tabLst>
                <a:tab pos="2453115" algn="r"/>
              </a:tabLst>
              <a:defRPr/>
            </a:pPr>
            <a:r>
              <a:rPr lang="en-US" altLang="zh-CN" sz="800" b="0" dirty="0">
                <a:solidFill>
                  <a:srgbClr val="000000"/>
                </a:solidFill>
                <a:latin typeface="+mn-lt"/>
                <a:ea typeface="Calibri" panose="020F0502020204030204" pitchFamily="34" charset="0"/>
                <a:cs typeface="Calibri" panose="020F0502020204030204" pitchFamily="34" charset="0"/>
              </a:rPr>
              <a:t>2025 </a:t>
            </a:r>
            <a:r>
              <a:rPr lang="nb-NO" altLang="zh-CN" sz="800" b="0" dirty="0">
                <a:solidFill>
                  <a:srgbClr val="000000"/>
                </a:solidFill>
                <a:latin typeface="+mn-lt"/>
                <a:ea typeface="Calibri" panose="020F0502020204030204" pitchFamily="34" charset="0"/>
                <a:cs typeface="Calibri" panose="020F0502020204030204" pitchFamily="34" charset="0"/>
              </a:rPr>
              <a:t>Best Private Bank - Hong Kong</a:t>
            </a:r>
            <a:endParaRPr lang="zh-CN" altLang="en-US" sz="800" b="0" dirty="0">
              <a:solidFill>
                <a:srgbClr val="000000"/>
              </a:solidFill>
              <a:latin typeface="+mn-lt"/>
              <a:ea typeface="STKaiti" panose="02010600040101010101" pitchFamily="2" charset="-122"/>
              <a:cs typeface="Calibri" panose="020F0502020204030204" pitchFamily="34" charset="0"/>
            </a:endParaRPr>
          </a:p>
        </p:txBody>
      </p:sp>
      <p:pic>
        <p:nvPicPr>
          <p:cNvPr id="12" name="Picture 11">
            <a:extLst>
              <a:ext uri="{FF2B5EF4-FFF2-40B4-BE49-F238E27FC236}">
                <a16:creationId xmlns:a16="http://schemas.microsoft.com/office/drawing/2014/main" id="{8C707001-6B82-303B-0275-8218D7F21CF6}"/>
              </a:ext>
            </a:extLst>
          </p:cNvPr>
          <p:cNvPicPr>
            <a:picLocks noChangeAspect="1"/>
          </p:cNvPicPr>
          <p:nvPr/>
        </p:nvPicPr>
        <p:blipFill>
          <a:blip r:embed="rId4"/>
          <a:stretch>
            <a:fillRect/>
          </a:stretch>
        </p:blipFill>
        <p:spPr>
          <a:xfrm>
            <a:off x="3429994" y="3707792"/>
            <a:ext cx="792579" cy="546243"/>
          </a:xfrm>
          <a:prstGeom prst="rect">
            <a:avLst/>
          </a:prstGeom>
        </p:spPr>
      </p:pic>
      <p:pic>
        <p:nvPicPr>
          <p:cNvPr id="13" name="Picture 12">
            <a:extLst>
              <a:ext uri="{FF2B5EF4-FFF2-40B4-BE49-F238E27FC236}">
                <a16:creationId xmlns:a16="http://schemas.microsoft.com/office/drawing/2014/main" id="{E8E13BDC-36EF-08F2-694A-5EE2AEFBA418}"/>
              </a:ext>
            </a:extLst>
          </p:cNvPr>
          <p:cNvPicPr>
            <a:picLocks noChangeAspect="1"/>
          </p:cNvPicPr>
          <p:nvPr/>
        </p:nvPicPr>
        <p:blipFill>
          <a:blip r:embed="rId5"/>
          <a:srcRect t="10478" r="1786" b="51577"/>
          <a:stretch>
            <a:fillRect/>
          </a:stretch>
        </p:blipFill>
        <p:spPr>
          <a:xfrm>
            <a:off x="923379" y="3767391"/>
            <a:ext cx="1259574" cy="486644"/>
          </a:xfrm>
          <a:prstGeom prst="rect">
            <a:avLst/>
          </a:prstGeom>
        </p:spPr>
      </p:pic>
      <p:pic>
        <p:nvPicPr>
          <p:cNvPr id="14" name="Picture 13">
            <a:extLst>
              <a:ext uri="{FF2B5EF4-FFF2-40B4-BE49-F238E27FC236}">
                <a16:creationId xmlns:a16="http://schemas.microsoft.com/office/drawing/2014/main" id="{108527A3-515D-3B7A-C3F5-1369778F7DCF}"/>
              </a:ext>
            </a:extLst>
          </p:cNvPr>
          <p:cNvPicPr>
            <a:picLocks noChangeAspect="1"/>
          </p:cNvPicPr>
          <p:nvPr/>
        </p:nvPicPr>
        <p:blipFill>
          <a:blip r:embed="rId6"/>
          <a:stretch>
            <a:fillRect/>
          </a:stretch>
        </p:blipFill>
        <p:spPr>
          <a:xfrm>
            <a:off x="743374" y="5253496"/>
            <a:ext cx="717550" cy="717275"/>
          </a:xfrm>
          <a:prstGeom prst="rect">
            <a:avLst/>
          </a:prstGeom>
        </p:spPr>
      </p:pic>
      <p:graphicFrame>
        <p:nvGraphicFramePr>
          <p:cNvPr id="15" name="Table 14">
            <a:extLst>
              <a:ext uri="{FF2B5EF4-FFF2-40B4-BE49-F238E27FC236}">
                <a16:creationId xmlns:a16="http://schemas.microsoft.com/office/drawing/2014/main" id="{49E104D1-90BC-B2AF-F6F3-EE190F531996}"/>
              </a:ext>
            </a:extLst>
          </p:cNvPr>
          <p:cNvGraphicFramePr>
            <a:graphicFrameLocks noGrp="1"/>
          </p:cNvGraphicFramePr>
          <p:nvPr>
            <p:extLst>
              <p:ext uri="{D42A27DB-BD31-4B8C-83A1-F6EECF244321}">
                <p14:modId xmlns:p14="http://schemas.microsoft.com/office/powerpoint/2010/main" val="3887299869"/>
              </p:ext>
            </p:extLst>
          </p:nvPr>
        </p:nvGraphicFramePr>
        <p:xfrm>
          <a:off x="4707467" y="3889952"/>
          <a:ext cx="4503736" cy="2220759"/>
        </p:xfrm>
        <a:graphic>
          <a:graphicData uri="http://schemas.openxmlformats.org/drawingml/2006/table">
            <a:tbl>
              <a:tblPr firstRow="1" bandRow="1">
                <a:tableStyleId>{5C22544A-7EE6-4342-B048-85BDC9FD1C3A}</a:tableStyleId>
              </a:tblPr>
              <a:tblGrid>
                <a:gridCol w="334225">
                  <a:extLst>
                    <a:ext uri="{9D8B030D-6E8A-4147-A177-3AD203B41FA5}">
                      <a16:colId xmlns:a16="http://schemas.microsoft.com/office/drawing/2014/main" val="1235789269"/>
                    </a:ext>
                  </a:extLst>
                </a:gridCol>
                <a:gridCol w="2925130">
                  <a:extLst>
                    <a:ext uri="{9D8B030D-6E8A-4147-A177-3AD203B41FA5}">
                      <a16:colId xmlns:a16="http://schemas.microsoft.com/office/drawing/2014/main" val="2196379299"/>
                    </a:ext>
                  </a:extLst>
                </a:gridCol>
                <a:gridCol w="553780">
                  <a:extLst>
                    <a:ext uri="{9D8B030D-6E8A-4147-A177-3AD203B41FA5}">
                      <a16:colId xmlns:a16="http://schemas.microsoft.com/office/drawing/2014/main" val="1914660996"/>
                    </a:ext>
                  </a:extLst>
                </a:gridCol>
                <a:gridCol w="690601">
                  <a:extLst>
                    <a:ext uri="{9D8B030D-6E8A-4147-A177-3AD203B41FA5}">
                      <a16:colId xmlns:a16="http://schemas.microsoft.com/office/drawing/2014/main" val="1532800113"/>
                    </a:ext>
                  </a:extLst>
                </a:gridCol>
              </a:tblGrid>
              <a:tr h="122942">
                <a:tc>
                  <a:txBody>
                    <a:bodyPr/>
                    <a:lstStyle/>
                    <a:p>
                      <a:pPr algn="ctr"/>
                      <a:r>
                        <a:rPr lang="en-US" sz="850" dirty="0">
                          <a:latin typeface="+mj-lt"/>
                          <a:ea typeface="Calibri" panose="020F0502020204030204" pitchFamily="34" charset="0"/>
                          <a:cs typeface="Calibri" panose="020F0502020204030204" pitchFamily="34" charset="0"/>
                        </a:rPr>
                        <a:t>#</a:t>
                      </a:r>
                    </a:p>
                  </a:txBody>
                  <a:tcPr marL="84406" marR="84406" marT="0" marB="0" anchor="ctr">
                    <a:solidFill>
                      <a:srgbClr val="CC0000"/>
                    </a:solidFill>
                  </a:tcPr>
                </a:tc>
                <a:tc>
                  <a:txBody>
                    <a:bodyPr/>
                    <a:lstStyle/>
                    <a:p>
                      <a:pPr algn="ctr"/>
                      <a:r>
                        <a:rPr lang="en-US" altLang="zh-CN" sz="850" b="1">
                          <a:latin typeface="+mj-lt"/>
                          <a:ea typeface="Calibri" panose="020F0502020204030204" pitchFamily="34" charset="0"/>
                          <a:cs typeface="Calibri" panose="020F0502020204030204" pitchFamily="34" charset="0"/>
                        </a:rPr>
                        <a:t>Description</a:t>
                      </a:r>
                      <a:endParaRPr lang="en-US" sz="850" b="1">
                        <a:latin typeface="+mj-lt"/>
                        <a:ea typeface="Calibri" panose="020F0502020204030204" pitchFamily="34" charset="0"/>
                        <a:cs typeface="Calibri" panose="020F0502020204030204" pitchFamily="34" charset="0"/>
                      </a:endParaRPr>
                    </a:p>
                  </a:txBody>
                  <a:tcPr marL="84406" marR="84406" marT="0" marB="0" anchor="ctr">
                    <a:solidFill>
                      <a:srgbClr val="CC0000"/>
                    </a:solidFill>
                  </a:tcPr>
                </a:tc>
                <a:tc>
                  <a:txBody>
                    <a:bodyPr/>
                    <a:lstStyle/>
                    <a:p>
                      <a:pPr algn="ctr"/>
                      <a:r>
                        <a:rPr lang="en-US" sz="850" b="1">
                          <a:latin typeface="+mj-lt"/>
                          <a:ea typeface="Calibri" panose="020F0502020204030204" pitchFamily="34" charset="0"/>
                          <a:cs typeface="Calibri" panose="020F0502020204030204" pitchFamily="34" charset="0"/>
                        </a:rPr>
                        <a:t>Market</a:t>
                      </a:r>
                    </a:p>
                  </a:txBody>
                  <a:tcPr marL="84406" marR="84406" marT="0" marB="0" anchor="ctr">
                    <a:solidFill>
                      <a:srgbClr val="CC0000"/>
                    </a:solidFill>
                  </a:tcPr>
                </a:tc>
                <a:tc>
                  <a:txBody>
                    <a:bodyPr/>
                    <a:lstStyle/>
                    <a:p>
                      <a:pPr algn="ctr"/>
                      <a:r>
                        <a:rPr lang="en-US" altLang="zh-CN" sz="850" b="1">
                          <a:latin typeface="+mj-lt"/>
                          <a:ea typeface="Calibri" panose="020F0502020204030204" pitchFamily="34" charset="0"/>
                          <a:cs typeface="Calibri" panose="020F0502020204030204" pitchFamily="34" charset="0"/>
                        </a:rPr>
                        <a:t>Business</a:t>
                      </a:r>
                      <a:endParaRPr lang="en-US" sz="850" b="1">
                        <a:latin typeface="+mj-lt"/>
                        <a:ea typeface="Calibri" panose="020F0502020204030204" pitchFamily="34" charset="0"/>
                        <a:cs typeface="Calibri" panose="020F0502020204030204" pitchFamily="34" charset="0"/>
                      </a:endParaRPr>
                    </a:p>
                  </a:txBody>
                  <a:tcPr marL="84406" marR="84406" marT="0" marB="0" anchor="ctr">
                    <a:solidFill>
                      <a:srgbClr val="CC0000"/>
                    </a:solidFill>
                  </a:tcPr>
                </a:tc>
                <a:extLst>
                  <a:ext uri="{0D108BD9-81ED-4DB2-BD59-A6C34878D82A}">
                    <a16:rowId xmlns:a16="http://schemas.microsoft.com/office/drawing/2014/main" val="2086935850"/>
                  </a:ext>
                </a:extLst>
              </a:tr>
              <a:tr h="332683">
                <a:tc>
                  <a:txBody>
                    <a:bodyPr/>
                    <a:lstStyle/>
                    <a:p>
                      <a:pPr algn="ctr"/>
                      <a:r>
                        <a:rPr lang="en-US" sz="800" dirty="0">
                          <a:latin typeface="+mj-lt"/>
                          <a:ea typeface="Calibri" panose="020F0502020204030204" pitchFamily="34" charset="0"/>
                          <a:cs typeface="Calibri" panose="020F0502020204030204" pitchFamily="34" charset="0"/>
                        </a:rPr>
                        <a:t>1</a:t>
                      </a:r>
                    </a:p>
                  </a:txBody>
                  <a:tcPr marL="84406" marR="84406" marT="0"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sz="800" b="0" i="0" u="none" strike="noStrike" dirty="0">
                          <a:solidFill>
                            <a:srgbClr val="000000"/>
                          </a:solidFill>
                          <a:effectLst/>
                          <a:latin typeface="+mj-lt"/>
                          <a:ea typeface="Calibri" panose="020F0502020204030204" pitchFamily="34" charset="0"/>
                          <a:cs typeface="Calibri" panose="020F0502020204030204" pitchFamily="34" charset="0"/>
                        </a:rPr>
                        <a:t>The H family is one of the richest families in Indonesia, with business interests spanning cigarettes, banking, and more</a:t>
                      </a:r>
                    </a:p>
                  </a:txBody>
                  <a:tcPr marL="7034" marR="7034" marT="7034"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r>
                        <a:rPr lang="en-US" altLang="zh-CN" sz="800" b="0" i="0" u="none" strike="noStrike">
                          <a:solidFill>
                            <a:srgbClr val="000000"/>
                          </a:solidFill>
                          <a:effectLst/>
                          <a:latin typeface="+mj-lt"/>
                          <a:ea typeface="STKaiti" panose="02010600040101010101" pitchFamily="2" charset="-122"/>
                          <a:cs typeface="Calibri" panose="020F0502020204030204" pitchFamily="34" charset="0"/>
                        </a:rPr>
                        <a:t>Indonesia</a:t>
                      </a:r>
                      <a:endParaRPr lang="zh-CN" altLang="en-US" sz="800" b="0" i="0" u="none" strike="noStrike">
                        <a:solidFill>
                          <a:srgbClr val="000000"/>
                        </a:solidFill>
                        <a:effectLst/>
                        <a:latin typeface="+mj-lt"/>
                        <a:ea typeface="STKaiti" panose="02010600040101010101" pitchFamily="2" charset="-122"/>
                        <a:cs typeface="Calibri" panose="020F0502020204030204" pitchFamily="34" charset="0"/>
                      </a:endParaRPr>
                    </a:p>
                  </a:txBody>
                  <a:tcPr marL="7034" marR="7034" marT="7034" marB="0" anchor="ctr">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r>
                        <a:rPr lang="en-US" altLang="zh-CN" sz="800" b="0" i="0" u="none" strike="noStrike">
                          <a:solidFill>
                            <a:srgbClr val="000000"/>
                          </a:solidFill>
                          <a:effectLst/>
                          <a:latin typeface="+mj-lt"/>
                          <a:ea typeface="Calibri" panose="020F0502020204030204" pitchFamily="34" charset="0"/>
                          <a:cs typeface="Calibri" panose="020F0502020204030204" pitchFamily="34" charset="0"/>
                        </a:rPr>
                        <a:t>Conglomerate</a:t>
                      </a:r>
                      <a:endParaRPr lang="zh-CN" altLang="en-US" sz="800" b="0" i="0" u="none" strike="noStrike">
                        <a:solidFill>
                          <a:srgbClr val="000000"/>
                        </a:solidFill>
                        <a:effectLst/>
                        <a:latin typeface="+mj-lt"/>
                        <a:ea typeface="STKaiti" panose="02010600040101010101" pitchFamily="2" charset="-122"/>
                        <a:cs typeface="Calibri" panose="020F0502020204030204" pitchFamily="34" charset="0"/>
                      </a:endParaRPr>
                    </a:p>
                  </a:txBody>
                  <a:tcPr marL="7034" marR="7034" marT="7034" marB="0" anchor="ctr">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726657596"/>
                  </a:ext>
                </a:extLst>
              </a:tr>
              <a:tr h="375502">
                <a:tc>
                  <a:txBody>
                    <a:bodyPr/>
                    <a:lstStyle/>
                    <a:p>
                      <a:pPr algn="ctr"/>
                      <a:r>
                        <a:rPr lang="en-US" sz="800">
                          <a:latin typeface="+mj-lt"/>
                          <a:ea typeface="Calibri" panose="020F0502020204030204" pitchFamily="34" charset="0"/>
                          <a:cs typeface="Calibri" panose="020F0502020204030204" pitchFamily="34" charset="0"/>
                        </a:rPr>
                        <a:t>2</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altLang="zh-CN" sz="800" b="0" i="0" u="none" strike="noStrike" dirty="0">
                          <a:solidFill>
                            <a:srgbClr val="000000"/>
                          </a:solidFill>
                          <a:effectLst/>
                          <a:latin typeface="+mj-lt"/>
                          <a:ea typeface="Calibri" panose="020F0502020204030204" pitchFamily="34" charset="0"/>
                          <a:cs typeface="Calibri" panose="020F0502020204030204" pitchFamily="34" charset="0"/>
                        </a:rPr>
                        <a:t>The L family is the controlling shareholder of a well-known energy company, focusing on resource extraction and related industry investments.</a:t>
                      </a:r>
                      <a:endParaRPr lang="en-US" sz="800" b="0" i="0" u="none" strike="noStrike" kern="1200" dirty="0">
                        <a:solidFill>
                          <a:srgbClr val="000000"/>
                        </a:solidFill>
                        <a:effectLst/>
                        <a:latin typeface="+mj-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mj-lt"/>
                          <a:ea typeface="STKaiti" panose="02010600040101010101" pitchFamily="2" charset="-122"/>
                          <a:cs typeface="Calibri" panose="020F0502020204030204" pitchFamily="34" charset="0"/>
                        </a:rPr>
                        <a:t>Indonesia</a:t>
                      </a:r>
                      <a:endParaRPr kumimoji="0" lang="zh-CN" altLang="en-US" sz="800" b="0" i="0" u="none" strike="noStrike" kern="1200" cap="none" spc="0" normalizeH="0" baseline="0" noProof="0">
                        <a:ln>
                          <a:noFill/>
                        </a:ln>
                        <a:solidFill>
                          <a:srgbClr val="000000"/>
                        </a:solidFill>
                        <a:effectLst/>
                        <a:uLnTx/>
                        <a:uFillTx/>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mj-lt"/>
                          <a:ea typeface="STKaiti" panose="02010600040101010101" pitchFamily="2" charset="-122"/>
                          <a:cs typeface="Calibri" panose="020F0502020204030204" pitchFamily="34" charset="0"/>
                        </a:rPr>
                        <a:t>Energy</a:t>
                      </a:r>
                      <a:endParaRPr kumimoji="0" lang="zh-CN" altLang="en-US" sz="800" b="0" i="0" u="none" strike="noStrike" kern="1200" cap="none" spc="0" normalizeH="0" baseline="0" noProof="0" dirty="0">
                        <a:ln>
                          <a:noFill/>
                        </a:ln>
                        <a:solidFill>
                          <a:srgbClr val="000000"/>
                        </a:solidFill>
                        <a:effectLst/>
                        <a:uLnTx/>
                        <a:uFillTx/>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608090732"/>
                  </a:ext>
                </a:extLst>
              </a:tr>
              <a:tr h="252560">
                <a:tc>
                  <a:txBody>
                    <a:bodyPr/>
                    <a:lstStyle/>
                    <a:p>
                      <a:pPr algn="ctr"/>
                      <a:r>
                        <a:rPr lang="en-US" sz="800" b="0" i="0" u="none" strike="noStrike" kern="1200">
                          <a:solidFill>
                            <a:srgbClr val="000000"/>
                          </a:solidFill>
                          <a:effectLst/>
                          <a:latin typeface="+mj-lt"/>
                          <a:ea typeface="Calibri" panose="020F0502020204030204" pitchFamily="34" charset="0"/>
                          <a:cs typeface="Calibri" panose="020F0502020204030204" pitchFamily="34" charset="0"/>
                        </a:rPr>
                        <a:t>3</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altLang="zh-CN" sz="800" b="0" i="0" u="none" strike="noStrike" kern="1200" dirty="0">
                          <a:solidFill>
                            <a:srgbClr val="000000"/>
                          </a:solidFill>
                          <a:effectLst/>
                          <a:latin typeface="+mj-lt"/>
                          <a:ea typeface="Calibri" panose="020F0502020204030204" pitchFamily="34" charset="0"/>
                          <a:cs typeface="Calibri" panose="020F0502020204030204" pitchFamily="34" charset="0"/>
                        </a:rPr>
                        <a:t>The P family is a well-known Indonesian business family, with businesses covering resource development, manufacturing</a:t>
                      </a:r>
                      <a:endParaRPr lang="en-US" sz="800" b="0" i="0" u="none" strike="noStrike" kern="1200" dirty="0">
                        <a:solidFill>
                          <a:srgbClr val="000000"/>
                        </a:solidFill>
                        <a:effectLst/>
                        <a:latin typeface="+mj-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mj-lt"/>
                          <a:ea typeface="STKaiti" panose="02010600040101010101" pitchFamily="2" charset="-122"/>
                          <a:cs typeface="Calibri" panose="020F0502020204030204" pitchFamily="34" charset="0"/>
                        </a:rPr>
                        <a:t>Indonesia</a:t>
                      </a:r>
                      <a:endParaRPr kumimoji="0" lang="zh-CN" altLang="en-US" sz="800" b="0" i="0" u="none" strike="noStrike" kern="1200" cap="none" spc="0" normalizeH="0" baseline="0" noProof="0">
                        <a:ln>
                          <a:noFill/>
                        </a:ln>
                        <a:solidFill>
                          <a:srgbClr val="000000"/>
                        </a:solidFill>
                        <a:effectLst/>
                        <a:uLnTx/>
                        <a:uFillTx/>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mj-lt"/>
                          <a:ea typeface="STKaiti" panose="02010600040101010101" pitchFamily="2" charset="-122"/>
                          <a:cs typeface="Calibri" panose="020F0502020204030204" pitchFamily="34" charset="0"/>
                        </a:rPr>
                        <a:t>Energy</a:t>
                      </a:r>
                      <a:endParaRPr kumimoji="0" lang="zh-CN" altLang="en-US" sz="800" b="0" i="0" u="none" strike="noStrike" kern="1200" cap="none" spc="0" normalizeH="0" baseline="0" noProof="0">
                        <a:ln>
                          <a:noFill/>
                        </a:ln>
                        <a:solidFill>
                          <a:srgbClr val="000000"/>
                        </a:solidFill>
                        <a:effectLst/>
                        <a:uLnTx/>
                        <a:uFillTx/>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820015914"/>
                  </a:ext>
                </a:extLst>
              </a:tr>
              <a:tr h="252560">
                <a:tc>
                  <a:txBody>
                    <a:bodyPr/>
                    <a:lstStyle/>
                    <a:p>
                      <a:pPr algn="ctr"/>
                      <a:r>
                        <a:rPr lang="en-US" sz="800">
                          <a:latin typeface="+mj-lt"/>
                          <a:ea typeface="Calibri" panose="020F0502020204030204" pitchFamily="34" charset="0"/>
                          <a:cs typeface="Calibri" panose="020F0502020204030204" pitchFamily="34" charset="0"/>
                        </a:rPr>
                        <a:t>4</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sz="800" b="0" i="0" u="none" strike="noStrike" kern="1200" dirty="0">
                          <a:solidFill>
                            <a:srgbClr val="000000"/>
                          </a:solidFill>
                          <a:effectLst/>
                          <a:latin typeface="+mj-lt"/>
                          <a:ea typeface="Calibri" panose="020F0502020204030204" pitchFamily="34" charset="0"/>
                          <a:cs typeface="Calibri" panose="020F0502020204030204" pitchFamily="34" charset="0"/>
                        </a:rPr>
                        <a:t>S family businesses include food manufacturing, banking, and infrastructure</a:t>
                      </a: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mj-lt"/>
                          <a:ea typeface="STKaiti" panose="02010600040101010101" pitchFamily="2" charset="-122"/>
                          <a:cs typeface="Calibri" panose="020F0502020204030204" pitchFamily="34" charset="0"/>
                        </a:rPr>
                        <a:t>Indonesia</a:t>
                      </a:r>
                      <a:endParaRPr kumimoji="0" lang="zh-CN" altLang="en-US" sz="800" b="0" i="0" u="none" strike="noStrike" kern="1200" cap="none" spc="0" normalizeH="0" baseline="0" noProof="0">
                        <a:ln>
                          <a:noFill/>
                        </a:ln>
                        <a:solidFill>
                          <a:srgbClr val="000000"/>
                        </a:solidFill>
                        <a:effectLst/>
                        <a:uLnTx/>
                        <a:uFillTx/>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r>
                        <a:rPr lang="en-US" altLang="zh-CN" sz="800" b="0" i="0" u="none" strike="noStrike">
                          <a:solidFill>
                            <a:srgbClr val="000000"/>
                          </a:solidFill>
                          <a:effectLst/>
                          <a:latin typeface="+mj-lt"/>
                          <a:ea typeface="Calibri" panose="020F0502020204030204" pitchFamily="34" charset="0"/>
                          <a:cs typeface="Calibri" panose="020F0502020204030204" pitchFamily="34" charset="0"/>
                        </a:rPr>
                        <a:t>Conglomerate</a:t>
                      </a:r>
                      <a:endParaRPr lang="zh-CN" altLang="en-US" sz="800" b="0" i="0" u="none" strike="noStrike">
                        <a:solidFill>
                          <a:srgbClr val="000000"/>
                        </a:solidFill>
                        <a:effectLst/>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4034363860"/>
                  </a:ext>
                </a:extLst>
              </a:tr>
              <a:tr h="252560">
                <a:tc>
                  <a:txBody>
                    <a:bodyPr/>
                    <a:lstStyle/>
                    <a:p>
                      <a:pPr algn="ctr"/>
                      <a:r>
                        <a:rPr lang="en-US" sz="800">
                          <a:latin typeface="+mj-lt"/>
                          <a:ea typeface="Calibri" panose="020F0502020204030204" pitchFamily="34" charset="0"/>
                          <a:cs typeface="Calibri" panose="020F0502020204030204" pitchFamily="34" charset="0"/>
                        </a:rPr>
                        <a:t>5</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altLang="zh-CN" sz="800" b="0" i="0" u="none" strike="noStrike" kern="1200" dirty="0">
                          <a:solidFill>
                            <a:srgbClr val="000000"/>
                          </a:solidFill>
                          <a:effectLst/>
                          <a:latin typeface="+mj-lt"/>
                          <a:ea typeface="Calibri" panose="020F0502020204030204" pitchFamily="34" charset="0"/>
                          <a:cs typeface="Calibri" panose="020F0502020204030204" pitchFamily="34" charset="0"/>
                        </a:rPr>
                        <a:t>The T family is deeply involved in the energy industry and is actively expanding its business in finance, media and other fields.</a:t>
                      </a:r>
                      <a:endParaRPr lang="en-US" sz="800" b="0" i="0" u="none" strike="noStrike" kern="1200" dirty="0">
                        <a:solidFill>
                          <a:srgbClr val="000000"/>
                        </a:solidFill>
                        <a:effectLst/>
                        <a:latin typeface="+mj-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mj-lt"/>
                          <a:ea typeface="STKaiti" panose="02010600040101010101" pitchFamily="2" charset="-122"/>
                          <a:cs typeface="Calibri" panose="020F0502020204030204" pitchFamily="34" charset="0"/>
                        </a:rPr>
                        <a:t>Indonesia</a:t>
                      </a:r>
                      <a:endParaRPr kumimoji="0" lang="zh-CN" altLang="en-US" sz="800" b="0" i="0" u="none" strike="noStrike" kern="1200" cap="none" spc="0" normalizeH="0" baseline="0" noProof="0" dirty="0">
                        <a:ln>
                          <a:noFill/>
                        </a:ln>
                        <a:solidFill>
                          <a:srgbClr val="000000"/>
                        </a:solidFill>
                        <a:effectLst/>
                        <a:uLnTx/>
                        <a:uFillTx/>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r>
                        <a:rPr lang="en-US" altLang="zh-CN" sz="800" b="0" i="0" u="none" strike="noStrike">
                          <a:solidFill>
                            <a:srgbClr val="000000"/>
                          </a:solidFill>
                          <a:effectLst/>
                          <a:latin typeface="+mj-lt"/>
                          <a:ea typeface="STKaiti" panose="02010600040101010101" pitchFamily="2" charset="-122"/>
                          <a:cs typeface="Calibri" panose="020F0502020204030204" pitchFamily="34" charset="0"/>
                        </a:rPr>
                        <a:t>Energy</a:t>
                      </a:r>
                      <a:endParaRPr lang="zh-CN" altLang="en-US" sz="800" b="0" i="0" u="none" strike="noStrike">
                        <a:solidFill>
                          <a:srgbClr val="000000"/>
                        </a:solidFill>
                        <a:effectLst/>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044341082"/>
                  </a:ext>
                </a:extLst>
              </a:tr>
              <a:tr h="252560">
                <a:tc>
                  <a:txBody>
                    <a:bodyPr/>
                    <a:lstStyle/>
                    <a:p>
                      <a:pPr algn="ctr"/>
                      <a:r>
                        <a:rPr lang="en-US" sz="800">
                          <a:latin typeface="+mj-lt"/>
                          <a:ea typeface="Calibri" panose="020F0502020204030204" pitchFamily="34" charset="0"/>
                          <a:cs typeface="Calibri" panose="020F0502020204030204" pitchFamily="34" charset="0"/>
                        </a:rPr>
                        <a:t>6</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altLang="zh-CN" sz="800" b="0" i="0" u="none" strike="noStrike" kern="1200" dirty="0">
                          <a:solidFill>
                            <a:srgbClr val="000000"/>
                          </a:solidFill>
                          <a:effectLst/>
                          <a:latin typeface="+mj-lt"/>
                          <a:ea typeface="Calibri" panose="020F0502020204030204" pitchFamily="34" charset="0"/>
                          <a:cs typeface="Calibri" panose="020F0502020204030204" pitchFamily="34" charset="0"/>
                        </a:rPr>
                        <a:t>The W family's businesses cover palm oil, papermaking, real estate, finance and other fields.</a:t>
                      </a:r>
                      <a:endParaRPr lang="en-US" sz="800" b="0" i="0" u="none" strike="noStrike" kern="1200" dirty="0">
                        <a:solidFill>
                          <a:srgbClr val="000000"/>
                        </a:solidFill>
                        <a:effectLst/>
                        <a:latin typeface="+mj-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mj-lt"/>
                          <a:ea typeface="STKaiti" panose="02010600040101010101" pitchFamily="2" charset="-122"/>
                          <a:cs typeface="Calibri" panose="020F0502020204030204" pitchFamily="34" charset="0"/>
                        </a:rPr>
                        <a:t>Indonesia</a:t>
                      </a:r>
                      <a:endParaRPr kumimoji="0" lang="zh-CN" altLang="en-US" sz="800" b="0" i="0" u="none" strike="noStrike" kern="1200" cap="none" spc="0" normalizeH="0" baseline="0" noProof="0" dirty="0">
                        <a:ln>
                          <a:noFill/>
                        </a:ln>
                        <a:solidFill>
                          <a:srgbClr val="000000"/>
                        </a:solidFill>
                        <a:effectLst/>
                        <a:uLnTx/>
                        <a:uFillTx/>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r>
                        <a:rPr lang="en-US" altLang="zh-CN" sz="800" b="0" i="0" u="none" strike="noStrike" dirty="0">
                          <a:solidFill>
                            <a:srgbClr val="000000"/>
                          </a:solidFill>
                          <a:effectLst/>
                          <a:latin typeface="+mj-lt"/>
                          <a:ea typeface="Calibri" panose="020F0502020204030204" pitchFamily="34" charset="0"/>
                          <a:cs typeface="Calibri" panose="020F0502020204030204" pitchFamily="34" charset="0"/>
                        </a:rPr>
                        <a:t>Conglomerate</a:t>
                      </a:r>
                      <a:endParaRPr lang="zh-CN" altLang="en-US" sz="800" b="0" i="0" u="none" strike="noStrike" dirty="0">
                        <a:solidFill>
                          <a:srgbClr val="000000"/>
                        </a:solidFill>
                        <a:effectLst/>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618431799"/>
                  </a:ext>
                </a:extLst>
              </a:tr>
              <a:tr h="252560">
                <a:tc>
                  <a:txBody>
                    <a:bodyPr/>
                    <a:lstStyle/>
                    <a:p>
                      <a:pPr algn="ctr"/>
                      <a:r>
                        <a:rPr lang="en-US" sz="800">
                          <a:latin typeface="+mj-lt"/>
                          <a:ea typeface="Calibri" panose="020F0502020204030204" pitchFamily="34" charset="0"/>
                          <a:cs typeface="Calibri" panose="020F0502020204030204" pitchFamily="34" charset="0"/>
                        </a:rPr>
                        <a:t>7</a:t>
                      </a:r>
                    </a:p>
                  </a:txBody>
                  <a:tcPr marL="84406" marR="84406" marT="0"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l" rtl="0" fontAlgn="ctr"/>
                      <a:r>
                        <a:rPr lang="en-US" altLang="zh-CN" sz="800" b="0" i="0" u="none" strike="noStrike" kern="1200" dirty="0">
                          <a:solidFill>
                            <a:srgbClr val="000000"/>
                          </a:solidFill>
                          <a:effectLst/>
                          <a:latin typeface="+mj-lt"/>
                          <a:ea typeface="Calibri" panose="020F0502020204030204" pitchFamily="34" charset="0"/>
                          <a:cs typeface="Calibri" panose="020F0502020204030204" pitchFamily="34" charset="0"/>
                        </a:rPr>
                        <a:t>The X family is an active business family in Asia, involved in investment, healthcare, sports, etc.</a:t>
                      </a:r>
                      <a:endParaRPr lang="en-US" sz="800" b="0" i="0" u="none" strike="noStrike" kern="1200" dirty="0">
                        <a:solidFill>
                          <a:srgbClr val="000000"/>
                        </a:solidFill>
                        <a:effectLst/>
                        <a:latin typeface="+mj-lt"/>
                        <a:ea typeface="Calibri" panose="020F0502020204030204" pitchFamily="34" charset="0"/>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r>
                        <a:rPr lang="en-US" altLang="zh-CN" sz="800" b="0" i="0" u="none" strike="noStrike">
                          <a:solidFill>
                            <a:srgbClr val="000000"/>
                          </a:solidFill>
                          <a:effectLst/>
                          <a:latin typeface="+mj-lt"/>
                          <a:ea typeface="STKaiti" panose="02010600040101010101" pitchFamily="2" charset="-122"/>
                          <a:cs typeface="Calibri" panose="020F0502020204030204" pitchFamily="34" charset="0"/>
                        </a:rPr>
                        <a:t>Singapore</a:t>
                      </a:r>
                      <a:endParaRPr lang="zh-CN" altLang="en-US" sz="800" b="0" i="0" u="none" strike="noStrike">
                        <a:solidFill>
                          <a:srgbClr val="000000"/>
                        </a:solidFill>
                        <a:effectLst/>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tc>
                  <a:txBody>
                    <a:bodyPr/>
                    <a:lstStyle/>
                    <a:p>
                      <a:pPr algn="ctr" rtl="0" fontAlgn="ctr"/>
                      <a:r>
                        <a:rPr lang="en-US" altLang="zh-CN" sz="800" b="0" i="0" u="none" strike="noStrike" dirty="0">
                          <a:solidFill>
                            <a:srgbClr val="000000"/>
                          </a:solidFill>
                          <a:effectLst/>
                          <a:latin typeface="+mj-lt"/>
                          <a:ea typeface="STKaiti" panose="02010600040101010101" pitchFamily="2" charset="-122"/>
                          <a:cs typeface="Calibri" panose="020F0502020204030204" pitchFamily="34" charset="0"/>
                        </a:rPr>
                        <a:t>Finance</a:t>
                      </a:r>
                      <a:endParaRPr lang="zh-CN" altLang="en-US" sz="800" b="0" i="0" u="none" strike="noStrike" dirty="0">
                        <a:solidFill>
                          <a:srgbClr val="000000"/>
                        </a:solidFill>
                        <a:effectLst/>
                        <a:latin typeface="+mj-lt"/>
                        <a:ea typeface="STKaiti" panose="02010600040101010101" pitchFamily="2" charset="-122"/>
                        <a:cs typeface="Calibri" panose="020F0502020204030204" pitchFamily="34" charset="0"/>
                      </a:endParaRPr>
                    </a:p>
                  </a:txBody>
                  <a:tcPr marL="7034" marR="7034" marT="7034" marB="0" anchor="ctr">
                    <a:lnT w="12700" cap="flat" cmpd="sng" algn="ctr">
                      <a:solidFill>
                        <a:schemeClr val="tx1">
                          <a:lumMod val="50000"/>
                          <a:lumOff val="50000"/>
                        </a:schemeClr>
                      </a:solidFill>
                      <a:prstDash val="sysDot"/>
                      <a:round/>
                      <a:headEnd type="none" w="med" len="med"/>
                      <a:tailEnd type="none" w="med" len="med"/>
                    </a:lnT>
                    <a:lnB w="12700" cap="flat" cmpd="sng" algn="ctr">
                      <a:solidFill>
                        <a:schemeClr val="tx1">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361574860"/>
                  </a:ext>
                </a:extLst>
              </a:tr>
            </a:tbl>
          </a:graphicData>
        </a:graphic>
      </p:graphicFrame>
    </p:spTree>
    <p:extLst>
      <p:ext uri="{BB962C8B-B14F-4D97-AF65-F5344CB8AC3E}">
        <p14:creationId xmlns:p14="http://schemas.microsoft.com/office/powerpoint/2010/main" val="15830734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B001D-7278-DDE8-E9EC-2549058E945E}"/>
            </a:ext>
          </a:extLst>
        </p:cNvPr>
        <p:cNvGrpSpPr/>
        <p:nvPr/>
      </p:nvGrpSpPr>
      <p:grpSpPr>
        <a:xfrm>
          <a:off x="0" y="0"/>
          <a:ext cx="0" cy="0"/>
          <a:chOff x="0" y="0"/>
          <a:chExt cx="0" cy="0"/>
        </a:xfrm>
      </p:grpSpPr>
      <p:sp>
        <p:nvSpPr>
          <p:cNvPr id="7" name="Subtitle 6">
            <a:extLst>
              <a:ext uri="{FF2B5EF4-FFF2-40B4-BE49-F238E27FC236}">
                <a16:creationId xmlns:a16="http://schemas.microsoft.com/office/drawing/2014/main" id="{1D6F6B3E-8FBA-6CD3-C22A-D34FD56A3FA4}"/>
              </a:ext>
            </a:extLst>
          </p:cNvPr>
          <p:cNvSpPr>
            <a:spLocks noGrp="1"/>
          </p:cNvSpPr>
          <p:nvPr>
            <p:ph type="subTitle" idx="1"/>
          </p:nvPr>
        </p:nvSpPr>
        <p:spPr>
          <a:xfrm>
            <a:off x="2242944" y="3601094"/>
            <a:ext cx="7200000" cy="492443"/>
          </a:xfrm>
        </p:spPr>
        <p:txBody>
          <a:bodyPr/>
          <a:lstStyle/>
          <a:p>
            <a:r>
              <a:rPr lang="en-US" altLang="zh-TW" dirty="0"/>
              <a:t>Section III – SMG’ Potential Hong Kong Listing </a:t>
            </a:r>
            <a:endParaRPr lang="en-US" dirty="0"/>
          </a:p>
        </p:txBody>
      </p:sp>
      <p:sp>
        <p:nvSpPr>
          <p:cNvPr id="3" name="Title 2">
            <a:extLst>
              <a:ext uri="{FF2B5EF4-FFF2-40B4-BE49-F238E27FC236}">
                <a16:creationId xmlns:a16="http://schemas.microsoft.com/office/drawing/2014/main" id="{A6E1AB62-A54E-7689-0083-CFD0E272E448}"/>
              </a:ext>
            </a:extLst>
          </p:cNvPr>
          <p:cNvSpPr>
            <a:spLocks noGrp="1"/>
          </p:cNvSpPr>
          <p:nvPr>
            <p:ph type="ctrTitle"/>
          </p:nvPr>
        </p:nvSpPr>
        <p:spPr>
          <a:xfrm>
            <a:off x="2242944" y="4131897"/>
            <a:ext cx="7200000" cy="492443"/>
          </a:xfrm>
        </p:spPr>
        <p:txBody>
          <a:bodyPr/>
          <a:lstStyle/>
          <a:p>
            <a:r>
              <a:rPr lang="en-US" altLang="zh-TW" dirty="0"/>
              <a:t>5.</a:t>
            </a:r>
            <a:r>
              <a:rPr lang="zh-TW" altLang="en-US" dirty="0"/>
              <a:t> </a:t>
            </a:r>
            <a:r>
              <a:rPr lang="en-GB" dirty="0"/>
              <a:t>Corporate and Strategic Investors Profile</a:t>
            </a:r>
          </a:p>
        </p:txBody>
      </p:sp>
      <p:sp>
        <p:nvSpPr>
          <p:cNvPr id="2" name="Slide Number Placeholder 1">
            <a:extLst>
              <a:ext uri="{FF2B5EF4-FFF2-40B4-BE49-F238E27FC236}">
                <a16:creationId xmlns:a16="http://schemas.microsoft.com/office/drawing/2014/main" id="{B99FBF19-6E33-0F6B-9E8C-20D38B53E43C}"/>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62</a:t>
            </a:fld>
            <a:endParaRPr lang="en-US" altLang="en-US" b="0">
              <a:solidFill>
                <a:srgbClr val="000000"/>
              </a:solidFill>
            </a:endParaRPr>
          </a:p>
        </p:txBody>
      </p:sp>
    </p:spTree>
    <p:extLst>
      <p:ext uri="{BB962C8B-B14F-4D97-AF65-F5344CB8AC3E}">
        <p14:creationId xmlns:p14="http://schemas.microsoft.com/office/powerpoint/2010/main" val="21199312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CE747-F355-545B-F9D4-1F39657193C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EB34D98-0BA4-071C-D06C-32C69F031D3D}"/>
              </a:ext>
            </a:extLst>
          </p:cNvPr>
          <p:cNvSpPr>
            <a:spLocks noGrp="1"/>
          </p:cNvSpPr>
          <p:nvPr>
            <p:ph type="title"/>
          </p:nvPr>
        </p:nvSpPr>
        <p:spPr/>
        <p:txBody>
          <a:bodyPr/>
          <a:lstStyle/>
          <a:p>
            <a:r>
              <a:rPr lang="en-US" sz="2000" dirty="0"/>
              <a:t>Corporate and Strategic Investors Profile (1) </a:t>
            </a:r>
          </a:p>
        </p:txBody>
      </p:sp>
      <p:sp>
        <p:nvSpPr>
          <p:cNvPr id="4" name="Slide Number Placeholder 3">
            <a:extLst>
              <a:ext uri="{FF2B5EF4-FFF2-40B4-BE49-F238E27FC236}">
                <a16:creationId xmlns:a16="http://schemas.microsoft.com/office/drawing/2014/main" id="{A45C9276-5C92-39AF-2B93-8C23433E3896}"/>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63</a:t>
            </a:fld>
            <a:endParaRPr lang="en-US" altLang="en-US" b="0">
              <a:solidFill>
                <a:srgbClr val="000000"/>
              </a:solidFill>
            </a:endParaRPr>
          </a:p>
        </p:txBody>
      </p:sp>
      <p:graphicFrame>
        <p:nvGraphicFramePr>
          <p:cNvPr id="2" name="Table 1">
            <a:extLst>
              <a:ext uri="{FF2B5EF4-FFF2-40B4-BE49-F238E27FC236}">
                <a16:creationId xmlns:a16="http://schemas.microsoft.com/office/drawing/2014/main" id="{BB77474B-7859-370C-C51D-D755C5061179}"/>
              </a:ext>
            </a:extLst>
          </p:cNvPr>
          <p:cNvGraphicFramePr>
            <a:graphicFrameLocks noGrp="1"/>
          </p:cNvGraphicFramePr>
          <p:nvPr/>
        </p:nvGraphicFramePr>
        <p:xfrm>
          <a:off x="723900" y="1098323"/>
          <a:ext cx="8496299" cy="4759865"/>
        </p:xfrm>
        <a:graphic>
          <a:graphicData uri="http://schemas.openxmlformats.org/drawingml/2006/table">
            <a:tbl>
              <a:tblPr firstRow="1" bandRow="1">
                <a:tableStyleId>{5C22544A-7EE6-4342-B048-85BDC9FD1C3A}</a:tableStyleId>
              </a:tblPr>
              <a:tblGrid>
                <a:gridCol w="360909">
                  <a:extLst>
                    <a:ext uri="{9D8B030D-6E8A-4147-A177-3AD203B41FA5}">
                      <a16:colId xmlns:a16="http://schemas.microsoft.com/office/drawing/2014/main" val="2930891055"/>
                    </a:ext>
                  </a:extLst>
                </a:gridCol>
                <a:gridCol w="1652312">
                  <a:extLst>
                    <a:ext uri="{9D8B030D-6E8A-4147-A177-3AD203B41FA5}">
                      <a16:colId xmlns:a16="http://schemas.microsoft.com/office/drawing/2014/main" val="20000"/>
                    </a:ext>
                  </a:extLst>
                </a:gridCol>
                <a:gridCol w="877818">
                  <a:extLst>
                    <a:ext uri="{9D8B030D-6E8A-4147-A177-3AD203B41FA5}">
                      <a16:colId xmlns:a16="http://schemas.microsoft.com/office/drawing/2014/main" val="3710855815"/>
                    </a:ext>
                  </a:extLst>
                </a:gridCol>
                <a:gridCol w="1032163">
                  <a:extLst>
                    <a:ext uri="{9D8B030D-6E8A-4147-A177-3AD203B41FA5}">
                      <a16:colId xmlns:a16="http://schemas.microsoft.com/office/drawing/2014/main" val="2045125752"/>
                    </a:ext>
                  </a:extLst>
                </a:gridCol>
                <a:gridCol w="4573097">
                  <a:extLst>
                    <a:ext uri="{9D8B030D-6E8A-4147-A177-3AD203B41FA5}">
                      <a16:colId xmlns:a16="http://schemas.microsoft.com/office/drawing/2014/main" val="1369806187"/>
                    </a:ext>
                  </a:extLst>
                </a:gridCol>
              </a:tblGrid>
              <a:tr h="465323">
                <a:tc>
                  <a:txBody>
                    <a:bodyPr/>
                    <a:lstStyle/>
                    <a:p>
                      <a:pPr algn="ctr"/>
                      <a:r>
                        <a:rPr lang="en-US" sz="1200" dirty="0">
                          <a:latin typeface="+mj-lt"/>
                          <a:ea typeface="+mj-ea"/>
                          <a:cs typeface="DFKaiShu-GB5" panose="03000509000000000000" pitchFamily="65" charset="-128"/>
                        </a:rPr>
                        <a:t>#</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algn="ctr"/>
                      <a:r>
                        <a:rPr lang="en-US" altLang="zh-CN" sz="1200">
                          <a:latin typeface="+mj-lt"/>
                          <a:ea typeface="+mj-ea"/>
                          <a:cs typeface="DFKaiShu-GB5" panose="03000509000000000000" pitchFamily="65" charset="-128"/>
                        </a:rPr>
                        <a:t>Investor Name</a:t>
                      </a:r>
                      <a:endParaRPr lang="en-US" sz="1200">
                        <a:latin typeface="+mj-lt"/>
                        <a:ea typeface="+mj-ea"/>
                        <a:cs typeface="DFKaiShu-GB5" panose="03000509000000000000" pitchFamily="65" charset="-128"/>
                      </a:endParaRP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Sector</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Region</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Profile</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extLst>
                  <a:ext uri="{0D108BD9-81ED-4DB2-BD59-A6C34878D82A}">
                    <a16:rowId xmlns:a16="http://schemas.microsoft.com/office/drawing/2014/main" val="10000"/>
                  </a:ext>
                </a:extLst>
              </a:tr>
              <a:tr h="1431514">
                <a:tc>
                  <a:txBody>
                    <a:bodyPr/>
                    <a:lstStyle/>
                    <a:p>
                      <a:pPr algn="ctr" fontAlgn="t"/>
                      <a:r>
                        <a:rPr lang="en-US" sz="1100" b="0" i="0" u="none" strike="noStrike" dirty="0">
                          <a:solidFill>
                            <a:srgbClr val="000000"/>
                          </a:solidFill>
                          <a:effectLst/>
                          <a:latin typeface="+mj-lt"/>
                          <a:ea typeface="Calibri" panose="020F0502020204030204" pitchFamily="34" charset="0"/>
                          <a:cs typeface="Arial" panose="020B0604020202020204" pitchFamily="34" charset="0"/>
                        </a:rPr>
                        <a:t>1</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AIA</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Insurance</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Hong Kong</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AIA is the largest independent publicly listed pan-Asian life insurance group, with a history spanning over a century. Headquartered in Hong Kong, the company boasts a extensive presence in 18 markets across the Asia-Pacific region, providing life, accident, and health insurance, along with savings and retirement planning to over 40 million individual policyholders.</a:t>
                      </a:r>
                      <a:endParaRPr lang="zh-CN" altLang="en-US" sz="1100" b="0" i="0" u="none" strike="noStrike" kern="1200" dirty="0">
                        <a:solidFill>
                          <a:srgbClr val="000000"/>
                        </a:solidFill>
                        <a:effectLst/>
                        <a:latin typeface="+mj-lt"/>
                        <a:cs typeface="Arial" panose="020B0604020202020204" pitchFamily="34" charset="0"/>
                      </a:endParaRP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431514">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a:solidFill>
                            <a:srgbClr val="000000"/>
                          </a:solidFill>
                          <a:effectLst/>
                          <a:latin typeface="+mj-lt"/>
                          <a:ea typeface="Calibri" panose="020F0502020204030204" pitchFamily="34" charset="0"/>
                          <a:cs typeface="Arial" panose="020B0604020202020204" pitchFamily="34" charset="0"/>
                        </a:rPr>
                        <a:t>2</a:t>
                      </a:r>
                      <a:endParaRPr lang="zh-CN" altLang="en-US" sz="1100" b="0" i="0" u="none" strike="noStrike">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highlight>
                          <a:srgbClr val="FFFF00"/>
                        </a:highligh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China Life Insurance</a:t>
                      </a:r>
                    </a:p>
                    <a:p>
                      <a:pPr marL="0" marR="0" lvl="0" indent="0" algn="ctr" defTabSz="914400" rtl="0" eaLnBrk="1" fontAlgn="t" latinLnBrk="0" hangingPunct="1">
                        <a:lnSpc>
                          <a:spcPct val="100000"/>
                        </a:lnSpc>
                        <a:spcBef>
                          <a:spcPts val="0"/>
                        </a:spcBef>
                        <a:spcAft>
                          <a:spcPts val="0"/>
                        </a:spcAft>
                        <a:buClrTx/>
                        <a:buSzTx/>
                        <a:buFontTx/>
                        <a:buNone/>
                        <a:tabLst/>
                        <a:defRPr/>
                      </a:pPr>
                      <a:endParaRPr lang="zh-CN" altLang="en-US" sz="1100" b="0" i="0" u="none" strike="noStrike" kern="1200" dirty="0">
                        <a:solidFill>
                          <a:srgbClr val="000000"/>
                        </a:solidFill>
                        <a:effectLst/>
                        <a:highlight>
                          <a:srgbClr val="FFFF00"/>
                        </a:highlight>
                        <a:latin typeface="+mj-lt"/>
                        <a:ea typeface="+mn-ea"/>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Insurance</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Mainland</a:t>
                      </a: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China Life Insurance is the largest state-owned life insurance firm in China, headquartered in Beijing. Founded in 1949, it provides life, annuity, health, and accident insurance products. As a Fortune Global 500 company (ranked 59th in 2024), it is a major financial institution with significant overseas and asset management operations.</a:t>
                      </a:r>
                      <a:endParaRPr lang="zh-CN" altLang="en-US" sz="1100" b="0" i="0" u="none" strike="noStrike" kern="1200"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5043265"/>
                  </a:ext>
                </a:extLst>
              </a:tr>
              <a:tr h="1431514">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a:solidFill>
                            <a:srgbClr val="000000"/>
                          </a:solidFill>
                          <a:effectLst/>
                          <a:latin typeface="+mj-lt"/>
                          <a:ea typeface="Calibri" panose="020F0502020204030204" pitchFamily="34" charset="0"/>
                          <a:cs typeface="Arial" panose="020B0604020202020204" pitchFamily="34" charset="0"/>
                        </a:rPr>
                        <a:t>3</a:t>
                      </a:r>
                      <a:endParaRPr lang="zh-CN" altLang="en-US" sz="1100" b="0" i="0" u="none" strike="noStrike">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endParaRPr lang="en-US" altLang="zh-CN" sz="1100" b="0" i="0" u="none" strike="noStrike" kern="1200" dirty="0">
                        <a:solidFill>
                          <a:srgbClr val="000000"/>
                        </a:solidFill>
                        <a:effectLst/>
                        <a:latin typeface="+mj-lt"/>
                        <a:ea typeface="+mn-ea"/>
                        <a:cs typeface="Arial" panose="020B0604020202020204" pitchFamily="34" charset="0"/>
                      </a:endParaRPr>
                    </a:p>
                    <a:p>
                      <a:pPr algn="ctr" rtl="0" fontAlgn="t"/>
                      <a:r>
                        <a:rPr lang="en-US" altLang="zh-CN" sz="1100" b="0" i="0" u="none" strike="noStrike" kern="1200" dirty="0">
                          <a:solidFill>
                            <a:srgbClr val="000000"/>
                          </a:solidFill>
                          <a:effectLst/>
                          <a:latin typeface="+mj-lt"/>
                          <a:ea typeface="+mn-ea"/>
                          <a:cs typeface="Arial" panose="020B0604020202020204" pitchFamily="34" charset="0"/>
                        </a:rPr>
                        <a:t>Prudential</a:t>
                      </a:r>
                      <a:endParaRPr lang="zh-CN" altLang="en-US" sz="1100" b="0" i="0" u="none" strike="noStrike" kern="1200" dirty="0">
                        <a:solidFill>
                          <a:srgbClr val="000000"/>
                        </a:solidFill>
                        <a:effectLst/>
                        <a:latin typeface="+mj-lt"/>
                        <a:ea typeface="+mn-ea"/>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Insurance</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Hong Kong</a:t>
                      </a: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Prudential is a leading international financial services group providing life and health insurance and asset management, with a primary focus on growth markets in Asia and Africa. Founded in London in 1848, the company has over 175 years of experience and is dedicated to helping people live well for longer.</a:t>
                      </a: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0363749"/>
                  </a:ext>
                </a:extLst>
              </a:tr>
            </a:tbl>
          </a:graphicData>
        </a:graphic>
      </p:graphicFrame>
      <p:pic>
        <p:nvPicPr>
          <p:cNvPr id="6146" name="Picture 2" descr="AIA logo and symbol, meaning, history, PNG">
            <a:extLst>
              <a:ext uri="{FF2B5EF4-FFF2-40B4-BE49-F238E27FC236}">
                <a16:creationId xmlns:a16="http://schemas.microsoft.com/office/drawing/2014/main" id="{0F7F5BD9-D90F-381E-2BFC-6C90F23C699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8333" r="16333"/>
          <a:stretch>
            <a:fillRect/>
          </a:stretch>
        </p:blipFill>
        <p:spPr bwMode="auto">
          <a:xfrm>
            <a:off x="1638300" y="1685925"/>
            <a:ext cx="5334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hina Life Insurance Company - Wikipedia">
            <a:extLst>
              <a:ext uri="{FF2B5EF4-FFF2-40B4-BE49-F238E27FC236}">
                <a16:creationId xmlns:a16="http://schemas.microsoft.com/office/drawing/2014/main" id="{D4F90A27-D7B5-4069-39CD-BEC9302A767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9371" y="3264265"/>
            <a:ext cx="969028" cy="32947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rudential Logo, symbol, meaning, history, PNG, brand">
            <a:extLst>
              <a:ext uri="{FF2B5EF4-FFF2-40B4-BE49-F238E27FC236}">
                <a16:creationId xmlns:a16="http://schemas.microsoft.com/office/drawing/2014/main" id="{4D8FA562-898C-C7F3-ECBF-BCFF3201632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65225" y="4600575"/>
            <a:ext cx="727779" cy="407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3455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644B7-B81C-9896-7B23-1E45DA65DED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4BD49E2-25E9-8E80-991D-329FE887312E}"/>
              </a:ext>
            </a:extLst>
          </p:cNvPr>
          <p:cNvSpPr>
            <a:spLocks noGrp="1"/>
          </p:cNvSpPr>
          <p:nvPr>
            <p:ph type="title"/>
          </p:nvPr>
        </p:nvSpPr>
        <p:spPr/>
        <p:txBody>
          <a:bodyPr/>
          <a:lstStyle/>
          <a:p>
            <a:r>
              <a:rPr lang="en-US" sz="2000" dirty="0"/>
              <a:t>Corporate and Strategic Investors Profile (2) </a:t>
            </a:r>
          </a:p>
        </p:txBody>
      </p:sp>
      <p:sp>
        <p:nvSpPr>
          <p:cNvPr id="4" name="Slide Number Placeholder 3">
            <a:extLst>
              <a:ext uri="{FF2B5EF4-FFF2-40B4-BE49-F238E27FC236}">
                <a16:creationId xmlns:a16="http://schemas.microsoft.com/office/drawing/2014/main" id="{5C27E740-D673-E8D7-473B-50B4BFEF413E}"/>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64</a:t>
            </a:fld>
            <a:endParaRPr lang="en-US" altLang="en-US" b="0">
              <a:solidFill>
                <a:srgbClr val="000000"/>
              </a:solidFill>
            </a:endParaRPr>
          </a:p>
        </p:txBody>
      </p:sp>
      <p:graphicFrame>
        <p:nvGraphicFramePr>
          <p:cNvPr id="2" name="Table 1">
            <a:extLst>
              <a:ext uri="{FF2B5EF4-FFF2-40B4-BE49-F238E27FC236}">
                <a16:creationId xmlns:a16="http://schemas.microsoft.com/office/drawing/2014/main" id="{3F7F697F-2F34-5F70-4D95-5BB419FC8DEF}"/>
              </a:ext>
            </a:extLst>
          </p:cNvPr>
          <p:cNvGraphicFramePr>
            <a:graphicFrameLocks noGrp="1"/>
          </p:cNvGraphicFramePr>
          <p:nvPr/>
        </p:nvGraphicFramePr>
        <p:xfrm>
          <a:off x="723900" y="1098323"/>
          <a:ext cx="8496299" cy="4759865"/>
        </p:xfrm>
        <a:graphic>
          <a:graphicData uri="http://schemas.openxmlformats.org/drawingml/2006/table">
            <a:tbl>
              <a:tblPr firstRow="1" bandRow="1">
                <a:tableStyleId>{5C22544A-7EE6-4342-B048-85BDC9FD1C3A}</a:tableStyleId>
              </a:tblPr>
              <a:tblGrid>
                <a:gridCol w="360909">
                  <a:extLst>
                    <a:ext uri="{9D8B030D-6E8A-4147-A177-3AD203B41FA5}">
                      <a16:colId xmlns:a16="http://schemas.microsoft.com/office/drawing/2014/main" val="2930891055"/>
                    </a:ext>
                  </a:extLst>
                </a:gridCol>
                <a:gridCol w="1652312">
                  <a:extLst>
                    <a:ext uri="{9D8B030D-6E8A-4147-A177-3AD203B41FA5}">
                      <a16:colId xmlns:a16="http://schemas.microsoft.com/office/drawing/2014/main" val="20000"/>
                    </a:ext>
                  </a:extLst>
                </a:gridCol>
                <a:gridCol w="877818">
                  <a:extLst>
                    <a:ext uri="{9D8B030D-6E8A-4147-A177-3AD203B41FA5}">
                      <a16:colId xmlns:a16="http://schemas.microsoft.com/office/drawing/2014/main" val="3710855815"/>
                    </a:ext>
                  </a:extLst>
                </a:gridCol>
                <a:gridCol w="1032163">
                  <a:extLst>
                    <a:ext uri="{9D8B030D-6E8A-4147-A177-3AD203B41FA5}">
                      <a16:colId xmlns:a16="http://schemas.microsoft.com/office/drawing/2014/main" val="2045125752"/>
                    </a:ext>
                  </a:extLst>
                </a:gridCol>
                <a:gridCol w="4573097">
                  <a:extLst>
                    <a:ext uri="{9D8B030D-6E8A-4147-A177-3AD203B41FA5}">
                      <a16:colId xmlns:a16="http://schemas.microsoft.com/office/drawing/2014/main" val="1369806187"/>
                    </a:ext>
                  </a:extLst>
                </a:gridCol>
              </a:tblGrid>
              <a:tr h="465323">
                <a:tc>
                  <a:txBody>
                    <a:bodyPr/>
                    <a:lstStyle/>
                    <a:p>
                      <a:pPr algn="ctr"/>
                      <a:r>
                        <a:rPr lang="en-US" sz="1200">
                          <a:latin typeface="+mj-lt"/>
                          <a:ea typeface="+mj-ea"/>
                          <a:cs typeface="DFKaiShu-GB5" panose="03000509000000000000" pitchFamily="65" charset="-128"/>
                        </a:rPr>
                        <a:t>#</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algn="ctr"/>
                      <a:r>
                        <a:rPr lang="en-US" altLang="zh-CN" sz="1200">
                          <a:latin typeface="+mj-lt"/>
                          <a:ea typeface="+mj-ea"/>
                          <a:cs typeface="DFKaiShu-GB5" panose="03000509000000000000" pitchFamily="65" charset="-128"/>
                        </a:rPr>
                        <a:t>Investor Name</a:t>
                      </a:r>
                      <a:endParaRPr lang="en-US" sz="1200">
                        <a:latin typeface="+mj-lt"/>
                        <a:ea typeface="+mj-ea"/>
                        <a:cs typeface="DFKaiShu-GB5" panose="03000509000000000000" pitchFamily="65" charset="-128"/>
                      </a:endParaRP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Sector</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Region</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Profile</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extLst>
                  <a:ext uri="{0D108BD9-81ED-4DB2-BD59-A6C34878D82A}">
                    <a16:rowId xmlns:a16="http://schemas.microsoft.com/office/drawing/2014/main" val="10000"/>
                  </a:ext>
                </a:extLst>
              </a:tr>
              <a:tr h="1431514">
                <a:tc>
                  <a:txBody>
                    <a:bodyPr/>
                    <a:lstStyle/>
                    <a:p>
                      <a:pPr algn="ctr" fontAlgn="t"/>
                      <a:r>
                        <a:rPr lang="en-US" sz="1100" b="0" i="0" u="none" strike="noStrike" dirty="0">
                          <a:solidFill>
                            <a:srgbClr val="000000"/>
                          </a:solidFill>
                          <a:effectLst/>
                          <a:latin typeface="+mj-lt"/>
                          <a:ea typeface="Calibri" panose="020F0502020204030204" pitchFamily="34" charset="0"/>
                          <a:cs typeface="Arial" panose="020B0604020202020204" pitchFamily="34" charset="0"/>
                        </a:rPr>
                        <a:t>4</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Taikang Insurance</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Insurance</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Mainland</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en-US" sz="1100" b="0" i="0" kern="1200" dirty="0">
                          <a:solidFill>
                            <a:schemeClr val="dk1"/>
                          </a:solidFill>
                          <a:effectLst/>
                          <a:latin typeface="+mn-lt"/>
                          <a:ea typeface="+mn-ea"/>
                          <a:cs typeface="+mn-cs"/>
                        </a:rPr>
                        <a:t>Taikang Insurance Group is a leading Chinese financial conglomerate headquartered in Beijing, focusing on insurance, asset management, and health/elder care. As the fourth-largest life insurer in China, it offers a "virtual insurance + real health service" model, managing over 1.2 trillion yuan in assets.</a:t>
                      </a:r>
                      <a:endParaRPr lang="zh-CN" altLang="en-US" sz="1100" b="0" i="0" kern="1200" dirty="0">
                        <a:solidFill>
                          <a:schemeClr val="dk1"/>
                        </a:solidFill>
                        <a:effectLst/>
                        <a:latin typeface="+mn-lt"/>
                        <a:ea typeface="+mn-ea"/>
                        <a:cs typeface="+mn-cs"/>
                      </a:endParaRP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431514">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5</a:t>
                      </a:r>
                      <a:endParaRPr lang="zh-CN" altLang="en-US" sz="1100" b="0" i="0" u="none" strike="noStrike"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highlight>
                          <a:srgbClr val="FFFF00"/>
                        </a:highligh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BDMS</a:t>
                      </a:r>
                    </a:p>
                    <a:p>
                      <a:pPr marL="0" marR="0" lvl="0" indent="0" algn="ctr" defTabSz="914400" rtl="0" eaLnBrk="1" fontAlgn="t" latinLnBrk="0" hangingPunct="1">
                        <a:lnSpc>
                          <a:spcPct val="100000"/>
                        </a:lnSpc>
                        <a:spcBef>
                          <a:spcPts val="0"/>
                        </a:spcBef>
                        <a:spcAft>
                          <a:spcPts val="0"/>
                        </a:spcAft>
                        <a:buClrTx/>
                        <a:buSzTx/>
                        <a:buFontTx/>
                        <a:buNone/>
                        <a:tabLst/>
                        <a:defRPr/>
                      </a:pPr>
                      <a:endParaRPr lang="zh-CN" altLang="en-US" sz="1100" b="0" i="0" u="none" strike="noStrike" kern="1200" dirty="0">
                        <a:solidFill>
                          <a:srgbClr val="000000"/>
                        </a:solidFill>
                        <a:effectLst/>
                        <a:highlight>
                          <a:srgbClr val="FFFF00"/>
                        </a:highlight>
                        <a:latin typeface="+mj-lt"/>
                        <a:ea typeface="+mn-ea"/>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Hospital</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Thailand</a:t>
                      </a: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en-US" sz="1100" b="0" i="0" kern="1200" dirty="0">
                          <a:solidFill>
                            <a:schemeClr val="dk1"/>
                          </a:solidFill>
                          <a:effectLst/>
                          <a:latin typeface="+mn-lt"/>
                          <a:ea typeface="+mn-ea"/>
                          <a:cs typeface="+mn-cs"/>
                        </a:rPr>
                        <a:t>Bangkok Dusit Medical Services Public Company Limited, widely known as BDMS, is the largest private healthcare network in Thailand and a major player in the Asia-Pacific region. Founded in 1969 and commencing operations in 1972, it has grown to operate over 50 hospitals, providing both secondary and tertiary care to Thai and international patients.</a:t>
                      </a:r>
                      <a:endParaRPr lang="zh-CN" altLang="en-US" sz="1100" b="0" i="0" kern="1200" dirty="0">
                        <a:solidFill>
                          <a:schemeClr val="dk1"/>
                        </a:solidFill>
                        <a:effectLst/>
                        <a:latin typeface="+mn-lt"/>
                        <a:ea typeface="+mn-ea"/>
                        <a:cs typeface="+mn-cs"/>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5043265"/>
                  </a:ext>
                </a:extLst>
              </a:tr>
              <a:tr h="1431514">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6</a:t>
                      </a:r>
                      <a:endParaRPr lang="zh-CN" altLang="en-US" sz="1100" b="0" i="0" u="none" strike="noStrike"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endParaRPr lang="en-US" altLang="zh-CN" sz="1100" b="0" i="0" u="none" strike="noStrike" kern="1200" dirty="0">
                        <a:solidFill>
                          <a:srgbClr val="000000"/>
                        </a:solidFill>
                        <a:effectLst/>
                        <a:latin typeface="+mj-lt"/>
                        <a:ea typeface="+mn-ea"/>
                        <a:cs typeface="Arial" panose="020B0604020202020204" pitchFamily="34" charset="0"/>
                      </a:endParaRPr>
                    </a:p>
                    <a:p>
                      <a:pPr algn="ctr" rtl="0" fontAlgn="t"/>
                      <a:r>
                        <a:rPr lang="en-US" altLang="zh-CN" sz="1100" b="0" i="0" u="none" strike="noStrike" kern="1200" dirty="0" err="1">
                          <a:solidFill>
                            <a:srgbClr val="000000"/>
                          </a:solidFill>
                          <a:effectLst/>
                          <a:latin typeface="+mj-lt"/>
                          <a:ea typeface="+mn-ea"/>
                          <a:cs typeface="Arial" panose="020B0604020202020204" pitchFamily="34" charset="0"/>
                        </a:rPr>
                        <a:t>Bumrungrad</a:t>
                      </a:r>
                      <a:r>
                        <a:rPr lang="en-US" altLang="zh-CN" sz="1100" b="0" i="0" u="none" strike="noStrike" kern="1200" dirty="0">
                          <a:solidFill>
                            <a:srgbClr val="000000"/>
                          </a:solidFill>
                          <a:effectLst/>
                          <a:latin typeface="+mj-lt"/>
                          <a:ea typeface="+mn-ea"/>
                          <a:cs typeface="Arial" panose="020B0604020202020204" pitchFamily="34" charset="0"/>
                        </a:rPr>
                        <a:t> International</a:t>
                      </a:r>
                      <a:endParaRPr lang="zh-CN" altLang="en-US" sz="1100" b="0" i="0" u="none" strike="noStrike" kern="1200" dirty="0">
                        <a:solidFill>
                          <a:srgbClr val="000000"/>
                        </a:solidFill>
                        <a:effectLst/>
                        <a:latin typeface="+mj-lt"/>
                        <a:ea typeface="+mn-ea"/>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Hospital</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Thailand</a:t>
                      </a: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100" b="0" i="0" kern="1200" dirty="0" err="1">
                          <a:solidFill>
                            <a:schemeClr val="dk1"/>
                          </a:solidFill>
                          <a:effectLst/>
                          <a:latin typeface="+mn-lt"/>
                          <a:ea typeface="+mn-ea"/>
                          <a:cs typeface="+mn-cs"/>
                        </a:rPr>
                        <a:t>Bumrungrad</a:t>
                      </a:r>
                      <a:r>
                        <a:rPr lang="en-US" sz="1100" b="0" i="0" kern="1200" dirty="0">
                          <a:solidFill>
                            <a:schemeClr val="dk1"/>
                          </a:solidFill>
                          <a:effectLst/>
                          <a:latin typeface="+mn-lt"/>
                          <a:ea typeface="+mn-ea"/>
                          <a:cs typeface="+mn-cs"/>
                        </a:rPr>
                        <a:t> International Hospital is a world-renowned, multi-specialty facility located in the heart of Bangkok, Thailand. Founded in 1980, it has grown to become one of the largest private hospitals in Southeast Asia, pioneering medical tourism and serving over 1.1 million patients from more than 190 countries annually. </a:t>
                      </a:r>
                      <a:endParaRPr lang="en-US" altLang="zh-CN" sz="1100" b="0" i="0" kern="1200" dirty="0">
                        <a:solidFill>
                          <a:schemeClr val="dk1"/>
                        </a:solidFill>
                        <a:effectLst/>
                        <a:latin typeface="+mn-lt"/>
                        <a:ea typeface="+mn-ea"/>
                        <a:cs typeface="+mn-cs"/>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0363749"/>
                  </a:ext>
                </a:extLst>
              </a:tr>
            </a:tbl>
          </a:graphicData>
        </a:graphic>
      </p:graphicFrame>
      <p:pic>
        <p:nvPicPr>
          <p:cNvPr id="5122" name="Picture 2" descr="Taikang Life Insurance Co Ltd | govt.chinadaily.com.cn">
            <a:extLst>
              <a:ext uri="{FF2B5EF4-FFF2-40B4-BE49-F238E27FC236}">
                <a16:creationId xmlns:a16="http://schemas.microsoft.com/office/drawing/2014/main" id="{CAF62FC6-E88A-F2C7-D573-16AFF0E6D4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9375" y="1838324"/>
            <a:ext cx="1055688" cy="3333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Bangkok Dusit Medical Services - Wikipedia">
            <a:extLst>
              <a:ext uri="{FF2B5EF4-FFF2-40B4-BE49-F238E27FC236}">
                <a16:creationId xmlns:a16="http://schemas.microsoft.com/office/drawing/2014/main" id="{4BCB67C4-212F-8457-7C60-A04CF808AC2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29359" y="3244318"/>
            <a:ext cx="894737" cy="33337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Bumrungrad International Hospital | Bangkok Thailand">
            <a:extLst>
              <a:ext uri="{FF2B5EF4-FFF2-40B4-BE49-F238E27FC236}">
                <a16:creationId xmlns:a16="http://schemas.microsoft.com/office/drawing/2014/main" id="{8DD56509-74F4-A097-D019-E7723B7C182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27855" y="4686302"/>
            <a:ext cx="895489" cy="333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1859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04235-41A1-CE0C-A95F-006FE300CA3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F9DBDC3-148A-57E5-EE0A-DD847108E91D}"/>
              </a:ext>
            </a:extLst>
          </p:cNvPr>
          <p:cNvSpPr>
            <a:spLocks noGrp="1"/>
          </p:cNvSpPr>
          <p:nvPr>
            <p:ph type="title"/>
          </p:nvPr>
        </p:nvSpPr>
        <p:spPr/>
        <p:txBody>
          <a:bodyPr/>
          <a:lstStyle/>
          <a:p>
            <a:r>
              <a:rPr lang="en-US" sz="2000" dirty="0"/>
              <a:t>Corporate and Strategic Investors Profile (3) </a:t>
            </a:r>
          </a:p>
        </p:txBody>
      </p:sp>
      <p:sp>
        <p:nvSpPr>
          <p:cNvPr id="4" name="Slide Number Placeholder 3">
            <a:extLst>
              <a:ext uri="{FF2B5EF4-FFF2-40B4-BE49-F238E27FC236}">
                <a16:creationId xmlns:a16="http://schemas.microsoft.com/office/drawing/2014/main" id="{FE20852F-1793-D29F-12D7-7F7D61CFB6F1}"/>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65</a:t>
            </a:fld>
            <a:endParaRPr lang="en-US" altLang="en-US" b="0">
              <a:solidFill>
                <a:srgbClr val="000000"/>
              </a:solidFill>
            </a:endParaRPr>
          </a:p>
        </p:txBody>
      </p:sp>
      <p:graphicFrame>
        <p:nvGraphicFramePr>
          <p:cNvPr id="2" name="Table 1">
            <a:extLst>
              <a:ext uri="{FF2B5EF4-FFF2-40B4-BE49-F238E27FC236}">
                <a16:creationId xmlns:a16="http://schemas.microsoft.com/office/drawing/2014/main" id="{97D4736E-4D58-DE77-A6B9-697B5B9581AA}"/>
              </a:ext>
            </a:extLst>
          </p:cNvPr>
          <p:cNvGraphicFramePr>
            <a:graphicFrameLocks noGrp="1"/>
          </p:cNvGraphicFramePr>
          <p:nvPr/>
        </p:nvGraphicFramePr>
        <p:xfrm>
          <a:off x="717153" y="1123879"/>
          <a:ext cx="8496299" cy="4759865"/>
        </p:xfrm>
        <a:graphic>
          <a:graphicData uri="http://schemas.openxmlformats.org/drawingml/2006/table">
            <a:tbl>
              <a:tblPr firstRow="1" bandRow="1">
                <a:tableStyleId>{5C22544A-7EE6-4342-B048-85BDC9FD1C3A}</a:tableStyleId>
              </a:tblPr>
              <a:tblGrid>
                <a:gridCol w="360909">
                  <a:extLst>
                    <a:ext uri="{9D8B030D-6E8A-4147-A177-3AD203B41FA5}">
                      <a16:colId xmlns:a16="http://schemas.microsoft.com/office/drawing/2014/main" val="2930891055"/>
                    </a:ext>
                  </a:extLst>
                </a:gridCol>
                <a:gridCol w="1652312">
                  <a:extLst>
                    <a:ext uri="{9D8B030D-6E8A-4147-A177-3AD203B41FA5}">
                      <a16:colId xmlns:a16="http://schemas.microsoft.com/office/drawing/2014/main" val="20000"/>
                    </a:ext>
                  </a:extLst>
                </a:gridCol>
                <a:gridCol w="877818">
                  <a:extLst>
                    <a:ext uri="{9D8B030D-6E8A-4147-A177-3AD203B41FA5}">
                      <a16:colId xmlns:a16="http://schemas.microsoft.com/office/drawing/2014/main" val="3710855815"/>
                    </a:ext>
                  </a:extLst>
                </a:gridCol>
                <a:gridCol w="1032163">
                  <a:extLst>
                    <a:ext uri="{9D8B030D-6E8A-4147-A177-3AD203B41FA5}">
                      <a16:colId xmlns:a16="http://schemas.microsoft.com/office/drawing/2014/main" val="2045125752"/>
                    </a:ext>
                  </a:extLst>
                </a:gridCol>
                <a:gridCol w="4573097">
                  <a:extLst>
                    <a:ext uri="{9D8B030D-6E8A-4147-A177-3AD203B41FA5}">
                      <a16:colId xmlns:a16="http://schemas.microsoft.com/office/drawing/2014/main" val="1369806187"/>
                    </a:ext>
                  </a:extLst>
                </a:gridCol>
              </a:tblGrid>
              <a:tr h="465323">
                <a:tc>
                  <a:txBody>
                    <a:bodyPr/>
                    <a:lstStyle/>
                    <a:p>
                      <a:pPr algn="ctr"/>
                      <a:r>
                        <a:rPr lang="en-US" sz="1200">
                          <a:latin typeface="+mj-lt"/>
                          <a:ea typeface="+mj-ea"/>
                          <a:cs typeface="DFKaiShu-GB5" panose="03000509000000000000" pitchFamily="65" charset="-128"/>
                        </a:rPr>
                        <a:t>#</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algn="ctr"/>
                      <a:r>
                        <a:rPr lang="en-US" altLang="zh-CN" sz="1200">
                          <a:latin typeface="+mj-lt"/>
                          <a:ea typeface="+mj-ea"/>
                          <a:cs typeface="DFKaiShu-GB5" panose="03000509000000000000" pitchFamily="65" charset="-128"/>
                        </a:rPr>
                        <a:t>Investor Name</a:t>
                      </a:r>
                      <a:endParaRPr lang="en-US" sz="1200">
                        <a:latin typeface="+mj-lt"/>
                        <a:ea typeface="+mj-ea"/>
                        <a:cs typeface="DFKaiShu-GB5" panose="03000509000000000000" pitchFamily="65" charset="-128"/>
                      </a:endParaRP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Sector</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Region</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Profile</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extLst>
                  <a:ext uri="{0D108BD9-81ED-4DB2-BD59-A6C34878D82A}">
                    <a16:rowId xmlns:a16="http://schemas.microsoft.com/office/drawing/2014/main" val="10000"/>
                  </a:ext>
                </a:extLst>
              </a:tr>
              <a:tr h="1431514">
                <a:tc>
                  <a:txBody>
                    <a:bodyPr/>
                    <a:lstStyle/>
                    <a:p>
                      <a:pPr algn="ctr" fontAlgn="t"/>
                      <a:r>
                        <a:rPr lang="en-US" sz="1100" b="0" i="0" u="none" strike="noStrike" dirty="0">
                          <a:solidFill>
                            <a:srgbClr val="000000"/>
                          </a:solidFill>
                          <a:effectLst/>
                          <a:latin typeface="+mj-lt"/>
                          <a:ea typeface="Calibri" panose="020F0502020204030204" pitchFamily="34" charset="0"/>
                          <a:cs typeface="Arial" panose="020B0604020202020204" pitchFamily="34" charset="0"/>
                        </a:rPr>
                        <a:t>7</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IHH Healthcare</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Hospital</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Malaysia</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IHH Healthcare is a leading international premium private healthcare provider operating a global, integrated network of healthcare services. Headquartered in Kuala Lumpur, Malaysia, the company operates over 80 hospitals with 16,000+ licensed beds across 10 countries, including key markets in Singapore, Malaysia, Türkiye, India, and Greater China.</a:t>
                      </a:r>
                      <a:endParaRPr lang="zh-CN" altLang="en-US" sz="1100" b="0" i="0" u="none" strike="noStrike" kern="1200" dirty="0">
                        <a:solidFill>
                          <a:srgbClr val="000000"/>
                        </a:solidFill>
                        <a:effectLst/>
                        <a:latin typeface="+mj-lt"/>
                        <a:cs typeface="Arial" panose="020B0604020202020204" pitchFamily="34" charset="0"/>
                      </a:endParaRP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431514">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8</a:t>
                      </a:r>
                      <a:endParaRPr lang="zh-CN" altLang="en-US" sz="1100" b="0" i="0" u="none" strike="noStrike"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highlight>
                          <a:srgbClr val="FFFF00"/>
                        </a:highligh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BeOne Medicines</a:t>
                      </a:r>
                    </a:p>
                    <a:p>
                      <a:pPr marL="0" marR="0" lvl="0" indent="0" algn="ctr" defTabSz="914400" rtl="0" eaLnBrk="1" fontAlgn="t" latinLnBrk="0" hangingPunct="1">
                        <a:lnSpc>
                          <a:spcPct val="100000"/>
                        </a:lnSpc>
                        <a:spcBef>
                          <a:spcPts val="0"/>
                        </a:spcBef>
                        <a:spcAft>
                          <a:spcPts val="0"/>
                        </a:spcAft>
                        <a:buClrTx/>
                        <a:buSzTx/>
                        <a:buFontTx/>
                        <a:buNone/>
                        <a:tabLst/>
                        <a:defRPr/>
                      </a:pPr>
                      <a:endParaRPr lang="zh-CN" altLang="en-US" sz="1100" b="0" i="0" u="none" strike="noStrike" kern="1200" dirty="0">
                        <a:solidFill>
                          <a:srgbClr val="000000"/>
                        </a:solidFill>
                        <a:effectLst/>
                        <a:highlight>
                          <a:srgbClr val="FFFF00"/>
                        </a:highlight>
                        <a:latin typeface="+mj-lt"/>
                        <a:ea typeface="+mn-ea"/>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Pharma</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Mainland</a:t>
                      </a: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BeOne Medicines (formerly BeiGene) is a global, oncology-focused biopharmaceutical company dedicated to discovering, developing, and commercializing innovative targeted therapies and immuno-oncology biologics for cancer. Founded in 2010, the company has grown from a China-based R&amp;D firm into a global entity, rebranding in late 2024 to BeOne Medicines to reflect its worldwide mission. It has a robust pipeline of over 45 assets and 175+ trials worldwide.</a:t>
                      </a:r>
                      <a:endParaRPr lang="zh-CN" altLang="en-US" sz="1100" b="0" i="0" u="none" strike="noStrike" kern="1200"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5043265"/>
                  </a:ext>
                </a:extLst>
              </a:tr>
              <a:tr h="1431514">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9</a:t>
                      </a:r>
                      <a:endParaRPr lang="zh-CN" altLang="en-US" sz="1100" b="0" i="0" u="none" strike="noStrike"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endParaRPr lang="en-US" altLang="zh-CN" sz="1100" b="0" i="0" u="none" strike="noStrike" kern="1200" dirty="0">
                        <a:solidFill>
                          <a:srgbClr val="000000"/>
                        </a:solidFill>
                        <a:effectLst/>
                        <a:latin typeface="+mj-lt"/>
                        <a:ea typeface="+mn-ea"/>
                        <a:cs typeface="Arial" panose="020B0604020202020204" pitchFamily="34" charset="0"/>
                      </a:endParaRPr>
                    </a:p>
                    <a:p>
                      <a:pPr algn="ctr" rtl="0" fontAlgn="t"/>
                      <a:r>
                        <a:rPr lang="en-US" altLang="zh-CN" sz="1100" b="0" i="0" u="none" strike="noStrike" kern="1200" dirty="0">
                          <a:solidFill>
                            <a:srgbClr val="000000"/>
                          </a:solidFill>
                          <a:effectLst/>
                          <a:latin typeface="+mj-lt"/>
                          <a:ea typeface="+mn-ea"/>
                          <a:cs typeface="Arial" panose="020B0604020202020204" pitchFamily="34" charset="0"/>
                        </a:rPr>
                        <a:t>China Medical System</a:t>
                      </a:r>
                      <a:endParaRPr lang="zh-CN" altLang="en-US" sz="1100" b="0" i="0" u="none" strike="noStrike" kern="1200" dirty="0">
                        <a:solidFill>
                          <a:srgbClr val="000000"/>
                        </a:solidFill>
                        <a:effectLst/>
                        <a:latin typeface="+mj-lt"/>
                        <a:ea typeface="+mn-ea"/>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Pharma</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Mainland</a:t>
                      </a: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China Medical System Holdings Limited (CMS) is a prominent specialty pharmaceutical company founded in 199</a:t>
                      </a: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2</a:t>
                      </a:r>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 The group focuses on acquiring, developing, and commercializing innovative first-in-class (FIC) and best-in-class (BIC) drugs, alongside a strong portfolio of established specialty medicines in China. CMS has significantly expanded its footprint into Southeast Asia, using Singapore as a strategic hub for its regional expansion.</a:t>
                      </a: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0363749"/>
                  </a:ext>
                </a:extLst>
              </a:tr>
            </a:tbl>
          </a:graphicData>
        </a:graphic>
      </p:graphicFrame>
      <p:pic>
        <p:nvPicPr>
          <p:cNvPr id="4102" name="Picture 6" descr="China Medical System Stock Info (SGX:8A8) | SGinvestors.io">
            <a:extLst>
              <a:ext uri="{FF2B5EF4-FFF2-40B4-BE49-F238E27FC236}">
                <a16:creationId xmlns:a16="http://schemas.microsoft.com/office/drawing/2014/main" id="{CC5999ED-145C-2C44-4DE6-BDA2946F69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4444" b="34889"/>
          <a:stretch>
            <a:fillRect/>
          </a:stretch>
        </p:blipFill>
        <p:spPr bwMode="auto">
          <a:xfrm>
            <a:off x="1304925" y="4656010"/>
            <a:ext cx="1185863" cy="36366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BeOne Medicines - Wikipedia">
            <a:extLst>
              <a:ext uri="{FF2B5EF4-FFF2-40B4-BE49-F238E27FC236}">
                <a16:creationId xmlns:a16="http://schemas.microsoft.com/office/drawing/2014/main" id="{DD9A904D-DDA8-6730-9D9B-955D34029F0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211" t="16165" r="3684" b="19173"/>
          <a:stretch>
            <a:fillRect/>
          </a:stretch>
        </p:blipFill>
        <p:spPr bwMode="auto">
          <a:xfrm>
            <a:off x="1308472" y="3283744"/>
            <a:ext cx="1182316" cy="290512"/>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IHH">
            <a:extLst>
              <a:ext uri="{FF2B5EF4-FFF2-40B4-BE49-F238E27FC236}">
                <a16:creationId xmlns:a16="http://schemas.microsoft.com/office/drawing/2014/main" id="{2DF0788A-E382-BBC6-5CEF-0E074B8595E9}"/>
              </a:ext>
            </a:extLst>
          </p:cNvPr>
          <p:cNvSpPr>
            <a:spLocks noChangeAspect="1" noChangeArrowheads="1"/>
          </p:cNvSpPr>
          <p:nvPr/>
        </p:nvSpPr>
        <p:spPr bwMode="auto">
          <a:xfrm>
            <a:off x="4793853" y="33021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8" name="Picture 12" descr="IHH Healthcare (@ihhhealthcare) • Facebook">
            <a:extLst>
              <a:ext uri="{FF2B5EF4-FFF2-40B4-BE49-F238E27FC236}">
                <a16:creationId xmlns:a16="http://schemas.microsoft.com/office/drawing/2014/main" id="{25B3AAF7-21EA-8989-F7FF-318761DD9B64}"/>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22889" b="22888"/>
          <a:stretch>
            <a:fillRect/>
          </a:stretch>
        </p:blipFill>
        <p:spPr bwMode="auto">
          <a:xfrm>
            <a:off x="1514475" y="1781069"/>
            <a:ext cx="776288" cy="420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97741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658C-C4C7-E142-64E5-699CF321272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6BC186C-0983-ABDF-0697-35C910BBF5F9}"/>
              </a:ext>
            </a:extLst>
          </p:cNvPr>
          <p:cNvSpPr>
            <a:spLocks noGrp="1"/>
          </p:cNvSpPr>
          <p:nvPr>
            <p:ph type="title"/>
          </p:nvPr>
        </p:nvSpPr>
        <p:spPr/>
        <p:txBody>
          <a:bodyPr/>
          <a:lstStyle/>
          <a:p>
            <a:r>
              <a:rPr lang="en-US" sz="2000" dirty="0"/>
              <a:t>Corporate and Strategic Investors Profile (4) </a:t>
            </a:r>
          </a:p>
        </p:txBody>
      </p:sp>
      <p:sp>
        <p:nvSpPr>
          <p:cNvPr id="4" name="Slide Number Placeholder 3">
            <a:extLst>
              <a:ext uri="{FF2B5EF4-FFF2-40B4-BE49-F238E27FC236}">
                <a16:creationId xmlns:a16="http://schemas.microsoft.com/office/drawing/2014/main" id="{95377C85-662E-6716-F47D-BDFD611B2B91}"/>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66</a:t>
            </a:fld>
            <a:endParaRPr lang="en-US" altLang="en-US" b="0">
              <a:solidFill>
                <a:srgbClr val="000000"/>
              </a:solidFill>
            </a:endParaRPr>
          </a:p>
        </p:txBody>
      </p:sp>
      <p:graphicFrame>
        <p:nvGraphicFramePr>
          <p:cNvPr id="2" name="Table 1">
            <a:extLst>
              <a:ext uri="{FF2B5EF4-FFF2-40B4-BE49-F238E27FC236}">
                <a16:creationId xmlns:a16="http://schemas.microsoft.com/office/drawing/2014/main" id="{DE842D3A-2310-956D-A9EF-2A7983C37C4F}"/>
              </a:ext>
            </a:extLst>
          </p:cNvPr>
          <p:cNvGraphicFramePr>
            <a:graphicFrameLocks noGrp="1"/>
          </p:cNvGraphicFramePr>
          <p:nvPr/>
        </p:nvGraphicFramePr>
        <p:xfrm>
          <a:off x="723900" y="1098323"/>
          <a:ext cx="8496299" cy="4759865"/>
        </p:xfrm>
        <a:graphic>
          <a:graphicData uri="http://schemas.openxmlformats.org/drawingml/2006/table">
            <a:tbl>
              <a:tblPr firstRow="1" bandRow="1">
                <a:tableStyleId>{5C22544A-7EE6-4342-B048-85BDC9FD1C3A}</a:tableStyleId>
              </a:tblPr>
              <a:tblGrid>
                <a:gridCol w="360909">
                  <a:extLst>
                    <a:ext uri="{9D8B030D-6E8A-4147-A177-3AD203B41FA5}">
                      <a16:colId xmlns:a16="http://schemas.microsoft.com/office/drawing/2014/main" val="2930891055"/>
                    </a:ext>
                  </a:extLst>
                </a:gridCol>
                <a:gridCol w="1652312">
                  <a:extLst>
                    <a:ext uri="{9D8B030D-6E8A-4147-A177-3AD203B41FA5}">
                      <a16:colId xmlns:a16="http://schemas.microsoft.com/office/drawing/2014/main" val="20000"/>
                    </a:ext>
                  </a:extLst>
                </a:gridCol>
                <a:gridCol w="877818">
                  <a:extLst>
                    <a:ext uri="{9D8B030D-6E8A-4147-A177-3AD203B41FA5}">
                      <a16:colId xmlns:a16="http://schemas.microsoft.com/office/drawing/2014/main" val="3710855815"/>
                    </a:ext>
                  </a:extLst>
                </a:gridCol>
                <a:gridCol w="1032163">
                  <a:extLst>
                    <a:ext uri="{9D8B030D-6E8A-4147-A177-3AD203B41FA5}">
                      <a16:colId xmlns:a16="http://schemas.microsoft.com/office/drawing/2014/main" val="2045125752"/>
                    </a:ext>
                  </a:extLst>
                </a:gridCol>
                <a:gridCol w="4573097">
                  <a:extLst>
                    <a:ext uri="{9D8B030D-6E8A-4147-A177-3AD203B41FA5}">
                      <a16:colId xmlns:a16="http://schemas.microsoft.com/office/drawing/2014/main" val="1369806187"/>
                    </a:ext>
                  </a:extLst>
                </a:gridCol>
              </a:tblGrid>
              <a:tr h="465323">
                <a:tc>
                  <a:txBody>
                    <a:bodyPr/>
                    <a:lstStyle/>
                    <a:p>
                      <a:pPr algn="ctr"/>
                      <a:r>
                        <a:rPr lang="en-US" sz="1200">
                          <a:latin typeface="+mj-lt"/>
                          <a:ea typeface="+mj-ea"/>
                          <a:cs typeface="DFKaiShu-GB5" panose="03000509000000000000" pitchFamily="65" charset="-128"/>
                        </a:rPr>
                        <a:t>#</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algn="ctr"/>
                      <a:r>
                        <a:rPr lang="en-US" altLang="zh-CN" sz="1200">
                          <a:latin typeface="+mj-lt"/>
                          <a:ea typeface="+mj-ea"/>
                          <a:cs typeface="DFKaiShu-GB5" panose="03000509000000000000" pitchFamily="65" charset="-128"/>
                        </a:rPr>
                        <a:t>Investor Name</a:t>
                      </a:r>
                      <a:endParaRPr lang="en-US" sz="1200">
                        <a:latin typeface="+mj-lt"/>
                        <a:ea typeface="+mj-ea"/>
                        <a:cs typeface="DFKaiShu-GB5" panose="03000509000000000000" pitchFamily="65" charset="-128"/>
                      </a:endParaRP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Sector</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Region</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Profile</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extLst>
                  <a:ext uri="{0D108BD9-81ED-4DB2-BD59-A6C34878D82A}">
                    <a16:rowId xmlns:a16="http://schemas.microsoft.com/office/drawing/2014/main" val="10000"/>
                  </a:ext>
                </a:extLst>
              </a:tr>
              <a:tr h="1431514">
                <a:tc>
                  <a:txBody>
                    <a:bodyPr/>
                    <a:lstStyle/>
                    <a:p>
                      <a:pPr algn="ctr" fontAlgn="t"/>
                      <a:r>
                        <a:rPr lang="en-US" sz="1100" b="0" i="0" u="none" strike="noStrike" dirty="0">
                          <a:solidFill>
                            <a:srgbClr val="000000"/>
                          </a:solidFill>
                          <a:effectLst/>
                          <a:latin typeface="+mj-lt"/>
                          <a:ea typeface="Calibri" panose="020F0502020204030204" pitchFamily="34" charset="0"/>
                          <a:cs typeface="Arial" panose="020B0604020202020204" pitchFamily="34" charset="0"/>
                        </a:rPr>
                        <a:t>10</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Hengrui Pharmaceuticals</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Pharma</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Mainland</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Hengrui Pharmaceuticals is a leading, innovation-driven global pharmaceutical company, specializing in R&amp;D, production, and commercialization of high-quality medicines. Founded in 1970, it has evolved from a traditional generic drug manufacturer into China's largest listed pharmaceutical company by market value.</a:t>
                      </a:r>
                      <a:endParaRPr lang="zh-CN" altLang="en-US" sz="1100" b="0" i="0" u="none" strike="noStrike" kern="1200" dirty="0">
                        <a:solidFill>
                          <a:srgbClr val="000000"/>
                        </a:solidFill>
                        <a:effectLst/>
                        <a:latin typeface="+mj-lt"/>
                        <a:cs typeface="Arial" panose="020B0604020202020204" pitchFamily="34" charset="0"/>
                      </a:endParaRP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431514">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11</a:t>
                      </a:r>
                      <a:endParaRPr lang="zh-CN" altLang="en-US" sz="1100" b="0" i="0" u="none" strike="noStrike"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highlight>
                          <a:srgbClr val="FFFF00"/>
                        </a:highligh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Innovent Biologics</a:t>
                      </a:r>
                    </a:p>
                    <a:p>
                      <a:pPr marL="0" marR="0" lvl="0" indent="0" algn="ctr" defTabSz="914400" rtl="0" eaLnBrk="1" fontAlgn="t" latinLnBrk="0" hangingPunct="1">
                        <a:lnSpc>
                          <a:spcPct val="100000"/>
                        </a:lnSpc>
                        <a:spcBef>
                          <a:spcPts val="0"/>
                        </a:spcBef>
                        <a:spcAft>
                          <a:spcPts val="0"/>
                        </a:spcAft>
                        <a:buClrTx/>
                        <a:buSzTx/>
                        <a:buFontTx/>
                        <a:buNone/>
                        <a:tabLst/>
                        <a:defRPr/>
                      </a:pPr>
                      <a:endParaRPr lang="zh-CN" altLang="en-US" sz="1100" b="0" i="0" u="none" strike="noStrike" kern="1200" dirty="0">
                        <a:solidFill>
                          <a:srgbClr val="000000"/>
                        </a:solidFill>
                        <a:effectLst/>
                        <a:highlight>
                          <a:srgbClr val="FFFF00"/>
                        </a:highlight>
                        <a:latin typeface="+mj-lt"/>
                        <a:ea typeface="+mn-ea"/>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Pharma</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Mainland</a:t>
                      </a: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Innovent Biologics is a leading, fully integrated Chinese biopharmaceutical company founded in 2011 with the mission to develop, manufacture, and commercialize high-quality, affordable medicines for patients worldwide. Headquartered in Suzhou, China, the company specializes in treating intractable diseases, including oncology, cardiovascular and metabolic (CVM), autoimmune, and ophthalmology diseases.</a:t>
                      </a:r>
                      <a:endParaRPr lang="zh-CN" altLang="en-US" sz="1100" b="0" i="0" u="none" strike="noStrike" kern="1200"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5043265"/>
                  </a:ext>
                </a:extLst>
              </a:tr>
              <a:tr h="1431514">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12</a:t>
                      </a:r>
                      <a:endParaRPr lang="zh-CN" altLang="en-US" sz="1100" b="0" i="0" u="none" strike="noStrike"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endParaRPr lang="en-US" altLang="zh-CN" sz="1100" b="0" i="0" u="none" strike="noStrike" kern="1200" dirty="0">
                        <a:solidFill>
                          <a:srgbClr val="000000"/>
                        </a:solidFill>
                        <a:effectLst/>
                        <a:latin typeface="+mj-lt"/>
                        <a:ea typeface="+mn-ea"/>
                        <a:cs typeface="Arial" panose="020B0604020202020204" pitchFamily="34" charset="0"/>
                      </a:endParaRPr>
                    </a:p>
                    <a:p>
                      <a:pPr algn="ctr" rtl="0" fontAlgn="t"/>
                      <a:r>
                        <a:rPr lang="en-US" altLang="zh-CN" sz="1100" b="0" i="0" u="none" strike="noStrike" kern="1200" dirty="0" err="1">
                          <a:solidFill>
                            <a:srgbClr val="000000"/>
                          </a:solidFill>
                          <a:effectLst/>
                          <a:latin typeface="+mj-lt"/>
                          <a:ea typeface="+mn-ea"/>
                          <a:cs typeface="Arial" panose="020B0604020202020204" pitchFamily="34" charset="0"/>
                        </a:rPr>
                        <a:t>WuXi</a:t>
                      </a:r>
                      <a:r>
                        <a:rPr lang="en-US" altLang="zh-CN" sz="1100" b="0" i="0" u="none" strike="noStrike" kern="1200" dirty="0">
                          <a:solidFill>
                            <a:srgbClr val="000000"/>
                          </a:solidFill>
                          <a:effectLst/>
                          <a:latin typeface="+mj-lt"/>
                          <a:ea typeface="+mn-ea"/>
                          <a:cs typeface="Arial" panose="020B0604020202020204" pitchFamily="34" charset="0"/>
                        </a:rPr>
                        <a:t> AppTec</a:t>
                      </a:r>
                      <a:endParaRPr lang="zh-CN" altLang="en-US" sz="1100" b="0" i="0" u="none" strike="noStrike" kern="1200" dirty="0">
                        <a:solidFill>
                          <a:srgbClr val="000000"/>
                        </a:solidFill>
                        <a:effectLst/>
                        <a:latin typeface="+mj-lt"/>
                        <a:ea typeface="+mn-ea"/>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Pharma</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Mainland</a:t>
                      </a: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100" b="0" i="0" u="none" strike="noStrike" kern="1200" dirty="0" err="1">
                          <a:solidFill>
                            <a:srgbClr val="000000"/>
                          </a:solidFill>
                          <a:effectLst/>
                          <a:latin typeface="+mj-lt"/>
                          <a:ea typeface="Calibri" panose="020F0502020204030204" pitchFamily="34" charset="0"/>
                          <a:cs typeface="Arial" panose="020B0604020202020204" pitchFamily="34" charset="0"/>
                        </a:rPr>
                        <a:t>WuXi</a:t>
                      </a:r>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 AppTec is a leading global Contract Research, Development, and Manufacturing Organization (CRDMO) providing comprehensive, integrated services to the pharmaceutical and life sciences industries. Founded in 2000, it operates a global platform from Asia, Europe, and North America, helping over 6,000 customers accelerate drug discovery and manufacturing.</a:t>
                      </a: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0363749"/>
                  </a:ext>
                </a:extLst>
              </a:tr>
            </a:tbl>
          </a:graphicData>
        </a:graphic>
      </p:graphicFrame>
      <p:pic>
        <p:nvPicPr>
          <p:cNvPr id="3074" name="Picture 2" descr="wuxi-apptec-logo - MVA">
            <a:extLst>
              <a:ext uri="{FF2B5EF4-FFF2-40B4-BE49-F238E27FC236}">
                <a16:creationId xmlns:a16="http://schemas.microsoft.com/office/drawing/2014/main" id="{BF8112E7-3A89-2776-D8F0-17AFE66C5C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8275" y="4719205"/>
            <a:ext cx="909638" cy="24808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nkind Pharma and Innovent partner for sintilimab | The ...">
            <a:extLst>
              <a:ext uri="{FF2B5EF4-FFF2-40B4-BE49-F238E27FC236}">
                <a16:creationId xmlns:a16="http://schemas.microsoft.com/office/drawing/2014/main" id="{31631E85-2B10-19CD-D8C3-604A782FB3C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7596" b="23224"/>
          <a:stretch>
            <a:fillRect/>
          </a:stretch>
        </p:blipFill>
        <p:spPr bwMode="auto">
          <a:xfrm>
            <a:off x="1438275" y="3280150"/>
            <a:ext cx="909638" cy="29769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bout Jiangsu Hengrui Medicine Co., Ltd. | CPHI Online">
            <a:extLst>
              <a:ext uri="{FF2B5EF4-FFF2-40B4-BE49-F238E27FC236}">
                <a16:creationId xmlns:a16="http://schemas.microsoft.com/office/drawing/2014/main" id="{E62433CC-ABD8-00A7-CCE4-DEC101F460C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38275" y="1788361"/>
            <a:ext cx="909638" cy="40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8331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87F8-3A3F-C470-F7DB-A5DEEE7614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E3E8CEB-8F44-D6FE-513E-9B10A83F47A4}"/>
              </a:ext>
            </a:extLst>
          </p:cNvPr>
          <p:cNvSpPr>
            <a:spLocks noGrp="1"/>
          </p:cNvSpPr>
          <p:nvPr>
            <p:ph type="title"/>
          </p:nvPr>
        </p:nvSpPr>
        <p:spPr/>
        <p:txBody>
          <a:bodyPr/>
          <a:lstStyle/>
          <a:p>
            <a:r>
              <a:rPr lang="en-US" sz="2000" dirty="0"/>
              <a:t>Corporate and Strategic Investors Profile (5) </a:t>
            </a:r>
          </a:p>
        </p:txBody>
      </p:sp>
      <p:sp>
        <p:nvSpPr>
          <p:cNvPr id="4" name="Slide Number Placeholder 3">
            <a:extLst>
              <a:ext uri="{FF2B5EF4-FFF2-40B4-BE49-F238E27FC236}">
                <a16:creationId xmlns:a16="http://schemas.microsoft.com/office/drawing/2014/main" id="{64A14CB1-04C9-CDC0-FFB9-52F6B493733B}"/>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67</a:t>
            </a:fld>
            <a:endParaRPr lang="en-US" altLang="en-US" b="0">
              <a:solidFill>
                <a:srgbClr val="000000"/>
              </a:solidFill>
            </a:endParaRPr>
          </a:p>
        </p:txBody>
      </p:sp>
      <p:graphicFrame>
        <p:nvGraphicFramePr>
          <p:cNvPr id="2" name="Table 1">
            <a:extLst>
              <a:ext uri="{FF2B5EF4-FFF2-40B4-BE49-F238E27FC236}">
                <a16:creationId xmlns:a16="http://schemas.microsoft.com/office/drawing/2014/main" id="{2B65B6E9-2B19-664A-1F79-24FB6D4791D2}"/>
              </a:ext>
            </a:extLst>
          </p:cNvPr>
          <p:cNvGraphicFramePr>
            <a:graphicFrameLocks noGrp="1"/>
          </p:cNvGraphicFramePr>
          <p:nvPr/>
        </p:nvGraphicFramePr>
        <p:xfrm>
          <a:off x="723900" y="1098323"/>
          <a:ext cx="8496299" cy="4759865"/>
        </p:xfrm>
        <a:graphic>
          <a:graphicData uri="http://schemas.openxmlformats.org/drawingml/2006/table">
            <a:tbl>
              <a:tblPr firstRow="1" bandRow="1">
                <a:tableStyleId>{5C22544A-7EE6-4342-B048-85BDC9FD1C3A}</a:tableStyleId>
              </a:tblPr>
              <a:tblGrid>
                <a:gridCol w="360909">
                  <a:extLst>
                    <a:ext uri="{9D8B030D-6E8A-4147-A177-3AD203B41FA5}">
                      <a16:colId xmlns:a16="http://schemas.microsoft.com/office/drawing/2014/main" val="2930891055"/>
                    </a:ext>
                  </a:extLst>
                </a:gridCol>
                <a:gridCol w="1652312">
                  <a:extLst>
                    <a:ext uri="{9D8B030D-6E8A-4147-A177-3AD203B41FA5}">
                      <a16:colId xmlns:a16="http://schemas.microsoft.com/office/drawing/2014/main" val="20000"/>
                    </a:ext>
                  </a:extLst>
                </a:gridCol>
                <a:gridCol w="901429">
                  <a:extLst>
                    <a:ext uri="{9D8B030D-6E8A-4147-A177-3AD203B41FA5}">
                      <a16:colId xmlns:a16="http://schemas.microsoft.com/office/drawing/2014/main" val="3710855815"/>
                    </a:ext>
                  </a:extLst>
                </a:gridCol>
                <a:gridCol w="1008552">
                  <a:extLst>
                    <a:ext uri="{9D8B030D-6E8A-4147-A177-3AD203B41FA5}">
                      <a16:colId xmlns:a16="http://schemas.microsoft.com/office/drawing/2014/main" val="2045125752"/>
                    </a:ext>
                  </a:extLst>
                </a:gridCol>
                <a:gridCol w="4573097">
                  <a:extLst>
                    <a:ext uri="{9D8B030D-6E8A-4147-A177-3AD203B41FA5}">
                      <a16:colId xmlns:a16="http://schemas.microsoft.com/office/drawing/2014/main" val="1369806187"/>
                    </a:ext>
                  </a:extLst>
                </a:gridCol>
              </a:tblGrid>
              <a:tr h="465323">
                <a:tc>
                  <a:txBody>
                    <a:bodyPr/>
                    <a:lstStyle/>
                    <a:p>
                      <a:pPr algn="ctr"/>
                      <a:r>
                        <a:rPr lang="en-US" sz="1200">
                          <a:latin typeface="+mj-lt"/>
                          <a:ea typeface="+mj-ea"/>
                          <a:cs typeface="DFKaiShu-GB5" panose="03000509000000000000" pitchFamily="65" charset="-128"/>
                        </a:rPr>
                        <a:t>#</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algn="ctr"/>
                      <a:r>
                        <a:rPr lang="en-US" altLang="zh-CN" sz="1200">
                          <a:latin typeface="+mj-lt"/>
                          <a:ea typeface="+mj-ea"/>
                          <a:cs typeface="DFKaiShu-GB5" panose="03000509000000000000" pitchFamily="65" charset="-128"/>
                        </a:rPr>
                        <a:t>Investor Name</a:t>
                      </a:r>
                      <a:endParaRPr lang="en-US" sz="1200">
                        <a:latin typeface="+mj-lt"/>
                        <a:ea typeface="+mj-ea"/>
                        <a:cs typeface="DFKaiShu-GB5" panose="03000509000000000000" pitchFamily="65" charset="-128"/>
                      </a:endParaRP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Sector</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Region</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kern="1200">
                          <a:solidFill>
                            <a:schemeClr val="lt1"/>
                          </a:solidFill>
                          <a:latin typeface="+mj-lt"/>
                          <a:ea typeface="+mn-ea"/>
                          <a:cs typeface="DFKaiShu-GB5" panose="03000509000000000000" pitchFamily="65" charset="-128"/>
                        </a:rPr>
                        <a:t>Profile</a:t>
                      </a:r>
                    </a:p>
                  </a:txBody>
                  <a:tcPr marT="91440" marB="91440" anchor="ctr">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tcPr>
                </a:tc>
                <a:extLst>
                  <a:ext uri="{0D108BD9-81ED-4DB2-BD59-A6C34878D82A}">
                    <a16:rowId xmlns:a16="http://schemas.microsoft.com/office/drawing/2014/main" val="10000"/>
                  </a:ext>
                </a:extLst>
              </a:tr>
              <a:tr h="1431514">
                <a:tc>
                  <a:txBody>
                    <a:bodyPr/>
                    <a:lstStyle/>
                    <a:p>
                      <a:pPr algn="ctr" fontAlgn="t"/>
                      <a:r>
                        <a:rPr lang="en-US" sz="1100" b="0" i="0" u="none" strike="noStrike" dirty="0">
                          <a:solidFill>
                            <a:srgbClr val="000000"/>
                          </a:solidFill>
                          <a:effectLst/>
                          <a:latin typeface="+mj-lt"/>
                          <a:ea typeface="Calibri" panose="020F0502020204030204" pitchFamily="34" charset="0"/>
                          <a:cs typeface="Arial" panose="020B0604020202020204" pitchFamily="34" charset="0"/>
                        </a:rPr>
                        <a:t>13</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China Resources Group</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Conglomerate</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Mainland</a:t>
                      </a: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China Resources Group (CR Group) is a premier Fortune Global 500 state-owned conglomerate, ranking 67th in 2025, with deep roots in Hong Kong and Mainland China since 1938. It operates as a diversified holding company spanning consumer products, power, real estate, pharmaceuticals, and finance.</a:t>
                      </a:r>
                    </a:p>
                    <a:p>
                      <a:pPr marL="0" algn="l" defTabSz="914400" rtl="0" eaLnBrk="1" fontAlgn="t" latinLnBrk="0" hangingPunct="1"/>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algn="l" defTabSz="914400" rtl="0" eaLnBrk="1" fontAlgn="t" latinLnBrk="0" hangingPunct="1"/>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CR Healthcare is a wholly-owned subsidiary of CR Group, dedicated to the investment, operation, and management of medical institutions.</a:t>
                      </a:r>
                      <a:endParaRPr lang="zh-CN" altLang="en-US" sz="1100" b="0" i="0" u="none" strike="noStrike" kern="1200" dirty="0">
                        <a:solidFill>
                          <a:srgbClr val="000000"/>
                        </a:solidFill>
                        <a:effectLst/>
                        <a:latin typeface="+mj-lt"/>
                        <a:cs typeface="Arial" panose="020B0604020202020204" pitchFamily="34" charset="0"/>
                      </a:endParaRPr>
                    </a:p>
                  </a:txBody>
                  <a:tcPr marL="7620" marR="7620" marT="7620"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431514">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14</a:t>
                      </a:r>
                      <a:endParaRPr lang="zh-CN" altLang="en-US" sz="1100" b="0" i="0" u="none" strike="noStrike"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highlight>
                          <a:srgbClr val="FFFF00"/>
                        </a:highligh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err="1">
                          <a:solidFill>
                            <a:srgbClr val="000000"/>
                          </a:solidFill>
                          <a:effectLst/>
                          <a:latin typeface="+mj-lt"/>
                          <a:ea typeface="Calibri" panose="020F0502020204030204" pitchFamily="34" charset="0"/>
                          <a:cs typeface="Arial" panose="020B0604020202020204" pitchFamily="34" charset="0"/>
                        </a:rPr>
                        <a:t>K.Wah</a:t>
                      </a:r>
                      <a:r>
                        <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rPr>
                        <a:t> Group</a:t>
                      </a:r>
                    </a:p>
                    <a:p>
                      <a:pPr marL="0" marR="0" lvl="0" indent="0" algn="ctr" defTabSz="914400" rtl="0" eaLnBrk="1" fontAlgn="t" latinLnBrk="0" hangingPunct="1">
                        <a:lnSpc>
                          <a:spcPct val="100000"/>
                        </a:lnSpc>
                        <a:spcBef>
                          <a:spcPts val="0"/>
                        </a:spcBef>
                        <a:spcAft>
                          <a:spcPts val="0"/>
                        </a:spcAft>
                        <a:buClrTx/>
                        <a:buSzTx/>
                        <a:buFontTx/>
                        <a:buNone/>
                        <a:tabLst/>
                        <a:defRPr/>
                      </a:pPr>
                      <a:endParaRPr lang="zh-CN" altLang="en-US" sz="1100" b="0" i="0" u="none" strike="noStrike" kern="1200" dirty="0">
                        <a:solidFill>
                          <a:srgbClr val="000000"/>
                        </a:solidFill>
                        <a:effectLst/>
                        <a:highlight>
                          <a:srgbClr val="FFFF00"/>
                        </a:highlight>
                        <a:latin typeface="+mj-lt"/>
                        <a:ea typeface="+mn-ea"/>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Conglomerate</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Hong Kong</a:t>
                      </a: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Founded by Dr. Lui Che-woo in 1955, K. Wah Group is a prominent multinational conglomerate based in Hong Kong, specializing in property development, entertainment, hospitality, and construction materials.</a:t>
                      </a:r>
                    </a:p>
                    <a:p>
                      <a:pPr marL="0" algn="l" defTabSz="914400" rtl="0" eaLnBrk="1" fontAlgn="t" latinLnBrk="0" hangingPunct="1"/>
                      <a:b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br>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The Group has an investment arm named </a:t>
                      </a:r>
                      <a:r>
                        <a:rPr lang="en-US" sz="1100" b="0" i="0" u="none" strike="noStrike" kern="1200" dirty="0" err="1">
                          <a:solidFill>
                            <a:srgbClr val="000000"/>
                          </a:solidFill>
                          <a:effectLst/>
                          <a:latin typeface="+mj-lt"/>
                          <a:ea typeface="Calibri" panose="020F0502020204030204" pitchFamily="34" charset="0"/>
                          <a:cs typeface="Arial" panose="020B0604020202020204" pitchFamily="34" charset="0"/>
                        </a:rPr>
                        <a:t>Wanhui</a:t>
                      </a:r>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 Capital, which focuses on healthcare-related investment opportunities. Through this platform, the Group seeks to identify innovative ventures and support long-term growth in the evolving healthcare sector.</a:t>
                      </a:r>
                      <a:endParaRPr lang="zh-CN" altLang="en-US" sz="1100" b="0" i="0" u="none" strike="noStrike" kern="1200"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5043265"/>
                  </a:ext>
                </a:extLst>
              </a:tr>
              <a:tr h="1431514">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15</a:t>
                      </a:r>
                      <a:endParaRPr lang="zh-CN" altLang="en-US" sz="1100" b="0" i="0" u="none" strike="noStrike" dirty="0">
                        <a:solidFill>
                          <a:srgbClr val="000000"/>
                        </a:solidFill>
                        <a:effectLst/>
                        <a:latin typeface="+mj-lt"/>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endParaRPr lang="en-US" altLang="zh-CN" sz="1100" b="0" i="0" u="none" strike="noStrike" kern="1200" dirty="0">
                        <a:solidFill>
                          <a:srgbClr val="000000"/>
                        </a:solidFill>
                        <a:effectLst/>
                        <a:latin typeface="+mj-lt"/>
                        <a:ea typeface="+mn-ea"/>
                        <a:cs typeface="Arial" panose="020B0604020202020204" pitchFamily="34" charset="0"/>
                      </a:endParaRPr>
                    </a:p>
                    <a:p>
                      <a:pPr algn="ctr" rtl="0" fontAlgn="t"/>
                      <a:r>
                        <a:rPr lang="en-US" altLang="zh-CN" sz="1100" b="0" i="0" u="none" strike="noStrike" kern="1200" dirty="0">
                          <a:solidFill>
                            <a:srgbClr val="000000"/>
                          </a:solidFill>
                          <a:effectLst/>
                          <a:latin typeface="+mj-lt"/>
                          <a:ea typeface="+mn-ea"/>
                          <a:cs typeface="Arial" panose="020B0604020202020204" pitchFamily="34" charset="0"/>
                        </a:rPr>
                        <a:t>Ping An</a:t>
                      </a:r>
                      <a:endParaRPr lang="zh-CN" altLang="en-US" sz="1100" b="0" i="0" u="none" strike="noStrike" kern="1200" dirty="0">
                        <a:solidFill>
                          <a:srgbClr val="000000"/>
                        </a:solidFill>
                        <a:effectLst/>
                        <a:latin typeface="+mj-lt"/>
                        <a:ea typeface="+mn-ea"/>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Conglomerate</a:t>
                      </a:r>
                      <a:endParaRPr lang="zh-CN" altLang="en-US" sz="1100" b="0" i="0" u="none" strike="noStrike" dirty="0">
                        <a:solidFill>
                          <a:srgbClr val="000000"/>
                        </a:solidFill>
                        <a:effectLst/>
                        <a:latin typeface="+mj-lt"/>
                        <a:ea typeface="STKaiti" panose="02010600040101010101" pitchFamily="2" charset="-122"/>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altLang="zh-CN" sz="1100" b="0" i="0" u="none" strike="noStrike" dirty="0">
                          <a:solidFill>
                            <a:srgbClr val="000000"/>
                          </a:solidFill>
                          <a:effectLst/>
                          <a:latin typeface="+mj-lt"/>
                          <a:ea typeface="Calibri" panose="020F0502020204030204" pitchFamily="34" charset="0"/>
                          <a:cs typeface="Arial" panose="020B0604020202020204" pitchFamily="34" charset="0"/>
                        </a:rPr>
                        <a:t>Mainland</a:t>
                      </a: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100" b="0" i="0" u="none" strike="noStrike" kern="1200" dirty="0">
                          <a:solidFill>
                            <a:srgbClr val="000000"/>
                          </a:solidFill>
                          <a:effectLst/>
                          <a:latin typeface="+mj-lt"/>
                          <a:ea typeface="Calibri" panose="020F0502020204030204" pitchFamily="34" charset="0"/>
                          <a:cs typeface="Arial" panose="020B0604020202020204" pitchFamily="34" charset="0"/>
                        </a:rPr>
                        <a:t>Ping An is a leading global technology-powered financial services conglomerate, founded in 1988 in Shenzhen. It operates under an "integrated finance + healthcare" model, providing insurance, banking, asset management, and health services to over 251 million retail customers. Ranked among the top 50 Fortune Global 500 companies, it is consistently recognized as the world's most valuable insurance brand. </a:t>
                      </a:r>
                      <a:endParaRPr lang="en-US" altLang="zh-CN" sz="1100" b="0" i="0" u="none" strike="noStrike" kern="1200" dirty="0">
                        <a:solidFill>
                          <a:srgbClr val="000000"/>
                        </a:solidFill>
                        <a:effectLst/>
                        <a:latin typeface="+mj-lt"/>
                        <a:ea typeface="Calibri" panose="020F0502020204030204" pitchFamily="34" charset="0"/>
                        <a:cs typeface="Arial" panose="020B0604020202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0363749"/>
                  </a:ext>
                </a:extLst>
              </a:tr>
            </a:tbl>
          </a:graphicData>
        </a:graphic>
      </p:graphicFrame>
      <p:pic>
        <p:nvPicPr>
          <p:cNvPr id="2050" name="Picture 2" descr="Ping An Logo and symbol, meaning, history, PNG">
            <a:extLst>
              <a:ext uri="{FF2B5EF4-FFF2-40B4-BE49-F238E27FC236}">
                <a16:creationId xmlns:a16="http://schemas.microsoft.com/office/drawing/2014/main" id="{B7A5CD48-7580-438E-B01A-748F381B04F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5000" b="19643"/>
          <a:stretch>
            <a:fillRect/>
          </a:stretch>
        </p:blipFill>
        <p:spPr bwMode="auto">
          <a:xfrm>
            <a:off x="1420267" y="4739901"/>
            <a:ext cx="885824" cy="27460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K. Wah Group">
            <a:extLst>
              <a:ext uri="{FF2B5EF4-FFF2-40B4-BE49-F238E27FC236}">
                <a16:creationId xmlns:a16="http://schemas.microsoft.com/office/drawing/2014/main" id="{D02F3DDA-F5CE-A1E4-AEB0-9DAC32A2753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34541" y="3258364"/>
            <a:ext cx="1057276" cy="33822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hina Resources Group (@ChinaResourcesGroup) • Facebook">
            <a:extLst>
              <a:ext uri="{FF2B5EF4-FFF2-40B4-BE49-F238E27FC236}">
                <a16:creationId xmlns:a16="http://schemas.microsoft.com/office/drawing/2014/main" id="{21678632-2EC2-B298-EC51-D1DD550D1D1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9111" b="27334"/>
          <a:stretch>
            <a:fillRect/>
          </a:stretch>
        </p:blipFill>
        <p:spPr bwMode="auto">
          <a:xfrm>
            <a:off x="1362072" y="1745251"/>
            <a:ext cx="1002214" cy="436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7738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0A165-55A9-C860-4C0C-CA2D01A42254}"/>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DD6060E8-A40B-CD8B-7970-B12CC0359A90}"/>
              </a:ext>
            </a:extLst>
          </p:cNvPr>
          <p:cNvSpPr>
            <a:spLocks noGrp="1"/>
          </p:cNvSpPr>
          <p:nvPr>
            <p:ph type="subTitle" idx="1"/>
          </p:nvPr>
        </p:nvSpPr>
        <p:spPr/>
        <p:txBody>
          <a:bodyPr/>
          <a:lstStyle/>
          <a:p>
            <a:r>
              <a:rPr lang="en-US" altLang="zh-TW" b="1" dirty="0"/>
              <a:t>Section III – SMG’ Potential Hong Kong Listing </a:t>
            </a:r>
            <a:endParaRPr lang="en-US" b="1" dirty="0"/>
          </a:p>
        </p:txBody>
      </p:sp>
      <p:sp>
        <p:nvSpPr>
          <p:cNvPr id="3" name="Title 2">
            <a:extLst>
              <a:ext uri="{FF2B5EF4-FFF2-40B4-BE49-F238E27FC236}">
                <a16:creationId xmlns:a16="http://schemas.microsoft.com/office/drawing/2014/main" id="{AB3FF720-FA8B-88A5-16BE-E8CD0482ED2F}"/>
              </a:ext>
            </a:extLst>
          </p:cNvPr>
          <p:cNvSpPr>
            <a:spLocks noGrp="1"/>
          </p:cNvSpPr>
          <p:nvPr>
            <p:ph type="ctrTitle"/>
          </p:nvPr>
        </p:nvSpPr>
        <p:spPr>
          <a:xfrm>
            <a:off x="2242944" y="4131897"/>
            <a:ext cx="7200000" cy="492443"/>
          </a:xfrm>
        </p:spPr>
        <p:txBody>
          <a:bodyPr/>
          <a:lstStyle/>
          <a:p>
            <a:r>
              <a:rPr lang="en-US" dirty="0"/>
              <a:t>6. Post-listing Market Support</a:t>
            </a:r>
          </a:p>
        </p:txBody>
      </p:sp>
      <p:sp>
        <p:nvSpPr>
          <p:cNvPr id="4" name="Slide Number Placeholder 3">
            <a:extLst>
              <a:ext uri="{FF2B5EF4-FFF2-40B4-BE49-F238E27FC236}">
                <a16:creationId xmlns:a16="http://schemas.microsoft.com/office/drawing/2014/main" id="{F79770D1-D947-EB4F-E155-F09CF5675045}"/>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68</a:t>
            </a:fld>
            <a:endParaRPr lang="en-US" altLang="en-US" b="0">
              <a:solidFill>
                <a:srgbClr val="000000"/>
              </a:solidFill>
            </a:endParaRPr>
          </a:p>
        </p:txBody>
      </p:sp>
    </p:spTree>
    <p:extLst>
      <p:ext uri="{BB962C8B-B14F-4D97-AF65-F5344CB8AC3E}">
        <p14:creationId xmlns:p14="http://schemas.microsoft.com/office/powerpoint/2010/main" val="28901297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A75CC-8A66-42EF-F578-67B196A72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061536-BB3A-8A15-661B-1EC6A9B726DB}"/>
              </a:ext>
            </a:extLst>
          </p:cNvPr>
          <p:cNvSpPr>
            <a:spLocks noGrp="1"/>
          </p:cNvSpPr>
          <p:nvPr>
            <p:ph type="title"/>
          </p:nvPr>
        </p:nvSpPr>
        <p:spPr/>
        <p:txBody>
          <a:bodyPr/>
          <a:lstStyle/>
          <a:p>
            <a:r>
              <a:rPr lang="en-US" altLang="zh-CN" sz="2000" b="1" dirty="0"/>
              <a:t>DBS Provides All-rounded Post-deal Market Support Services</a:t>
            </a:r>
            <a:endParaRPr lang="en-US" sz="2000" b="1" dirty="0"/>
          </a:p>
        </p:txBody>
      </p:sp>
      <p:sp>
        <p:nvSpPr>
          <p:cNvPr id="8" name="Freeform: Shape 43">
            <a:extLst>
              <a:ext uri="{FF2B5EF4-FFF2-40B4-BE49-F238E27FC236}">
                <a16:creationId xmlns:a16="http://schemas.microsoft.com/office/drawing/2014/main" id="{10B4F29C-3897-2B1E-C552-A5006D2DB47D}"/>
              </a:ext>
            </a:extLst>
          </p:cNvPr>
          <p:cNvSpPr/>
          <p:nvPr/>
        </p:nvSpPr>
        <p:spPr>
          <a:xfrm>
            <a:off x="1002866" y="1822158"/>
            <a:ext cx="2733288" cy="1805252"/>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solidFill>
            <a:srgbClr val="EAEBF2"/>
          </a:solid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t" anchorCtr="0">
            <a:noAutofit/>
          </a:bodyPr>
          <a:lstStyle/>
          <a:p>
            <a:pPr marL="174625" indent="-174625" fontAlgn="auto">
              <a:spcBef>
                <a:spcPts val="0"/>
              </a:spcBef>
              <a:spcAft>
                <a:spcPts val="400"/>
              </a:spcAft>
              <a:buClr>
                <a:srgbClr val="BE050A"/>
              </a:buClr>
              <a:buFont typeface="Wingdings" pitchFamily="2" charset="2"/>
              <a:buChar char="n"/>
              <a:defRPr/>
            </a:pPr>
            <a:r>
              <a:rPr lang="en-US" altLang="zh-CN" sz="800" b="0" dirty="0">
                <a:solidFill>
                  <a:sysClr val="windowText" lastClr="000000"/>
                </a:solidFill>
                <a:latin typeface="Arial"/>
                <a:ea typeface="DFKaiShu-GB5"/>
                <a:cs typeface="Arial"/>
              </a:rPr>
              <a:t>DBS will utilize the greenshoe option to provide quality share price stabilization services to SMG if necessary</a:t>
            </a:r>
          </a:p>
          <a:p>
            <a:pPr marL="174625" indent="-174625" fontAlgn="auto">
              <a:spcBef>
                <a:spcPts val="0"/>
              </a:spcBef>
              <a:spcAft>
                <a:spcPts val="400"/>
              </a:spcAft>
              <a:buClr>
                <a:srgbClr val="BE050A"/>
              </a:buClr>
              <a:buFont typeface="Wingdings" pitchFamily="2" charset="2"/>
              <a:buChar char="n"/>
              <a:defRPr/>
            </a:pPr>
            <a:r>
              <a:rPr lang="en-US" altLang="zh-CN" sz="800" dirty="0">
                <a:solidFill>
                  <a:sysClr val="windowText" lastClr="000000"/>
                </a:solidFill>
                <a:latin typeface="Arial"/>
                <a:ea typeface="DFKaiShu-GB5"/>
                <a:cs typeface="Arial"/>
              </a:rPr>
              <a:t>DBS has extensive experience in sponsorship and underwriting, understands investor sentiment and market dynamics</a:t>
            </a:r>
            <a:r>
              <a:rPr lang="en-US" altLang="zh-CN" sz="800" b="0" dirty="0">
                <a:solidFill>
                  <a:sysClr val="windowText" lastClr="000000"/>
                </a:solidFill>
                <a:latin typeface="Arial"/>
                <a:ea typeface="DFKaiShu-GB5"/>
                <a:cs typeface="Arial"/>
              </a:rPr>
              <a:t>, and will maintain close communication with SMG after the IPO, closely monitoring the company's share price performance to design the most suitable share price stabilization strategy for the company (e.g. timing, price level, and size of share purchases)</a:t>
            </a:r>
          </a:p>
        </p:txBody>
      </p:sp>
      <p:sp>
        <p:nvSpPr>
          <p:cNvPr id="9" name="Freeform: Shape 43">
            <a:extLst>
              <a:ext uri="{FF2B5EF4-FFF2-40B4-BE49-F238E27FC236}">
                <a16:creationId xmlns:a16="http://schemas.microsoft.com/office/drawing/2014/main" id="{8A3EDD43-7595-9894-3078-C219DC3F22A3}"/>
              </a:ext>
            </a:extLst>
          </p:cNvPr>
          <p:cNvSpPr/>
          <p:nvPr/>
        </p:nvSpPr>
        <p:spPr>
          <a:xfrm>
            <a:off x="6110214" y="4100524"/>
            <a:ext cx="2733288" cy="1251625"/>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solidFill>
            <a:srgbClr val="EAEBF2"/>
          </a:solid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t" anchorCtr="0">
            <a:noAutofit/>
          </a:bodyPr>
          <a:lstStyle/>
          <a:p>
            <a:pPr marL="174625" indent="-174625" fontAlgn="auto">
              <a:spcBef>
                <a:spcPts val="0"/>
              </a:spcBef>
              <a:spcAft>
                <a:spcPts val="400"/>
              </a:spcAft>
              <a:buClr>
                <a:srgbClr val="BE050A"/>
              </a:buClr>
              <a:buFont typeface="Wingdings" pitchFamily="2" charset="2"/>
              <a:buChar char="n"/>
              <a:defRPr/>
            </a:pPr>
            <a:r>
              <a:rPr lang="en-US" altLang="zh-CN" sz="800" dirty="0">
                <a:solidFill>
                  <a:sysClr val="windowText" lastClr="000000"/>
                </a:solidFill>
                <a:latin typeface="Arial"/>
                <a:ea typeface="DFKaiShu-GB5"/>
                <a:cs typeface="Arial"/>
              </a:rPr>
              <a:t>DBS can explore providing long-term research coverage for SMG, serving as a prime marketing channel to institutional investors</a:t>
            </a:r>
          </a:p>
          <a:p>
            <a:pPr marL="174625" indent="-174625" fontAlgn="auto">
              <a:spcBef>
                <a:spcPts val="0"/>
              </a:spcBef>
              <a:spcAft>
                <a:spcPts val="400"/>
              </a:spcAft>
              <a:buClr>
                <a:srgbClr val="BE050A"/>
              </a:buClr>
              <a:buFont typeface="Wingdings" pitchFamily="2" charset="2"/>
              <a:buChar char="n"/>
              <a:defRPr/>
            </a:pPr>
            <a:r>
              <a:rPr lang="en-US" altLang="zh-CN" sz="800" b="0" dirty="0">
                <a:solidFill>
                  <a:sysClr val="windowText" lastClr="000000"/>
                </a:solidFill>
                <a:latin typeface="Arial"/>
                <a:ea typeface="DFKaiShu-GB5"/>
                <a:cs typeface="Arial"/>
              </a:rPr>
              <a:t>DBS’ commodity industry analysts and research department are highly influential in the equity capital markets and have won numerous awards over the years</a:t>
            </a:r>
          </a:p>
        </p:txBody>
      </p:sp>
      <p:sp>
        <p:nvSpPr>
          <p:cNvPr id="10" name="Freeform: Shape 43">
            <a:extLst>
              <a:ext uri="{FF2B5EF4-FFF2-40B4-BE49-F238E27FC236}">
                <a16:creationId xmlns:a16="http://schemas.microsoft.com/office/drawing/2014/main" id="{20B9C186-375B-3918-511F-F341190F9E4C}"/>
              </a:ext>
            </a:extLst>
          </p:cNvPr>
          <p:cNvSpPr/>
          <p:nvPr/>
        </p:nvSpPr>
        <p:spPr>
          <a:xfrm>
            <a:off x="1028575" y="4104071"/>
            <a:ext cx="2733288" cy="1251625"/>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solidFill>
            <a:srgbClr val="EAEBF2"/>
          </a:solid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t" anchorCtr="0">
            <a:noAutofit/>
          </a:bodyPr>
          <a:lstStyle/>
          <a:p>
            <a:pPr marL="174625" indent="-174625" fontAlgn="auto">
              <a:spcBef>
                <a:spcPts val="0"/>
              </a:spcBef>
              <a:spcAft>
                <a:spcPts val="400"/>
              </a:spcAft>
              <a:buClr>
                <a:srgbClr val="BE050A"/>
              </a:buClr>
              <a:buFont typeface="Wingdings" pitchFamily="2" charset="2"/>
              <a:buChar char="n"/>
              <a:defRPr/>
            </a:pPr>
            <a:r>
              <a:rPr lang="en-US" altLang="zh-CN" sz="800" b="0" dirty="0">
                <a:solidFill>
                  <a:sysClr val="windowText" lastClr="000000"/>
                </a:solidFill>
                <a:latin typeface="Arial"/>
                <a:ea typeface="DFKaiShu-GB5"/>
                <a:cs typeface="Arial"/>
              </a:rPr>
              <a:t>Following the IPO, DBS will proactively monitor the latest market developments and collect investor feedback on the macro stock market.</a:t>
            </a:r>
          </a:p>
          <a:p>
            <a:pPr marL="174625" indent="-174625" fontAlgn="auto">
              <a:spcBef>
                <a:spcPts val="0"/>
              </a:spcBef>
              <a:spcAft>
                <a:spcPts val="400"/>
              </a:spcAft>
              <a:buClr>
                <a:srgbClr val="BE050A"/>
              </a:buClr>
              <a:buFont typeface="Wingdings" pitchFamily="2" charset="2"/>
              <a:buChar char="n"/>
              <a:defRPr/>
            </a:pPr>
            <a:r>
              <a:rPr lang="en-US" altLang="zh-CN" sz="800" dirty="0">
                <a:solidFill>
                  <a:sysClr val="windowText" lastClr="000000"/>
                </a:solidFill>
                <a:latin typeface="Arial"/>
                <a:ea typeface="DFKaiShu-GB5"/>
                <a:cs typeface="Arial"/>
              </a:rPr>
              <a:t>DBS will coordinate with its sales team and public relations intermediaries to promote SMG in the future</a:t>
            </a:r>
            <a:r>
              <a:rPr lang="en-US" altLang="zh-CN" sz="800" b="0" dirty="0">
                <a:solidFill>
                  <a:sysClr val="windowText" lastClr="000000"/>
                </a:solidFill>
                <a:latin typeface="Arial"/>
                <a:ea typeface="DFKaiShu-GB5"/>
                <a:cs typeface="Arial"/>
              </a:rPr>
              <a:t>, particularly by actively addressing potential investor requests and queries</a:t>
            </a:r>
            <a:endParaRPr lang="en-US" altLang="zh-CN" sz="800" dirty="0">
              <a:solidFill>
                <a:sysClr val="windowText" lastClr="000000"/>
              </a:solidFill>
              <a:latin typeface="Arial"/>
              <a:ea typeface="DFKaiShu-GB5"/>
              <a:cs typeface="Arial"/>
            </a:endParaRPr>
          </a:p>
        </p:txBody>
      </p:sp>
      <p:sp>
        <p:nvSpPr>
          <p:cNvPr id="11" name="Freeform: Shape 43">
            <a:extLst>
              <a:ext uri="{FF2B5EF4-FFF2-40B4-BE49-F238E27FC236}">
                <a16:creationId xmlns:a16="http://schemas.microsoft.com/office/drawing/2014/main" id="{F12FA0D4-B1A1-85DD-8516-E7E4327566E6}"/>
              </a:ext>
            </a:extLst>
          </p:cNvPr>
          <p:cNvSpPr/>
          <p:nvPr/>
        </p:nvSpPr>
        <p:spPr>
          <a:xfrm>
            <a:off x="6110214" y="1819023"/>
            <a:ext cx="2733288" cy="1805252"/>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solidFill>
            <a:srgbClr val="EAEBF2"/>
          </a:solid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t" anchorCtr="0">
            <a:noAutofit/>
          </a:bodyPr>
          <a:lstStyle/>
          <a:p>
            <a:pPr marL="174625" indent="-174625" fontAlgn="auto">
              <a:spcBef>
                <a:spcPts val="0"/>
              </a:spcBef>
              <a:spcAft>
                <a:spcPts val="400"/>
              </a:spcAft>
              <a:buClr>
                <a:srgbClr val="BE050A"/>
              </a:buClr>
              <a:buFont typeface="Wingdings" pitchFamily="2" charset="2"/>
              <a:buChar char="n"/>
              <a:defRPr/>
            </a:pPr>
            <a:r>
              <a:rPr lang="en-US" altLang="zh-CN" sz="800" dirty="0">
                <a:solidFill>
                  <a:sysClr val="windowText" lastClr="000000"/>
                </a:solidFill>
                <a:latin typeface="Arial"/>
                <a:ea typeface="DFKaiShu-GB5"/>
                <a:cs typeface="Arial"/>
              </a:rPr>
              <a:t>DBS and SMG have been long-term strategic partners, </a:t>
            </a:r>
            <a:r>
              <a:rPr lang="en-US" altLang="zh-CN" sz="800" b="0" dirty="0">
                <a:solidFill>
                  <a:sysClr val="windowText" lastClr="000000"/>
                </a:solidFill>
                <a:latin typeface="Arial"/>
                <a:ea typeface="DFKaiShu-GB5"/>
                <a:cs typeface="Arial"/>
              </a:rPr>
              <a:t>and certainly will maintain close cooperation with SMG after listing, providing top-notch value-added services in company stock promotion</a:t>
            </a:r>
          </a:p>
          <a:p>
            <a:pPr marL="174625" indent="-174625" fontAlgn="auto">
              <a:spcBef>
                <a:spcPts val="0"/>
              </a:spcBef>
              <a:spcAft>
                <a:spcPts val="400"/>
              </a:spcAft>
              <a:buClr>
                <a:srgbClr val="BE050A"/>
              </a:buClr>
              <a:buFont typeface="Wingdings" pitchFamily="2" charset="2"/>
              <a:buChar char="n"/>
              <a:defRPr/>
            </a:pPr>
            <a:r>
              <a:rPr lang="en-US" altLang="zh-CN" sz="800" b="0" dirty="0">
                <a:solidFill>
                  <a:sysClr val="windowText" lastClr="000000"/>
                </a:solidFill>
                <a:latin typeface="Arial"/>
                <a:ea typeface="DFKaiShu-GB5"/>
                <a:cs typeface="Arial"/>
              </a:rPr>
              <a:t>DBS will regularly conduct post-earnings </a:t>
            </a:r>
            <a:r>
              <a:rPr lang="en-US" altLang="zh-CN" sz="800" dirty="0">
                <a:solidFill>
                  <a:sysClr val="windowText" lastClr="000000"/>
                </a:solidFill>
                <a:latin typeface="Arial"/>
                <a:ea typeface="DFKaiShu-GB5"/>
                <a:cs typeface="Arial"/>
              </a:rPr>
              <a:t>non-deal roadshows (NDRs) </a:t>
            </a:r>
            <a:r>
              <a:rPr lang="en-US" altLang="zh-CN" sz="800" b="0" dirty="0">
                <a:solidFill>
                  <a:sysClr val="windowText" lastClr="000000"/>
                </a:solidFill>
                <a:latin typeface="Arial"/>
                <a:ea typeface="DFKaiShu-GB5"/>
                <a:cs typeface="Arial"/>
              </a:rPr>
              <a:t>for the company</a:t>
            </a:r>
          </a:p>
          <a:p>
            <a:pPr marL="174625" indent="-174625" fontAlgn="auto">
              <a:spcBef>
                <a:spcPts val="0"/>
              </a:spcBef>
              <a:spcAft>
                <a:spcPts val="400"/>
              </a:spcAft>
              <a:buClr>
                <a:srgbClr val="BE050A"/>
              </a:buClr>
              <a:buFont typeface="Wingdings" pitchFamily="2" charset="2"/>
              <a:buChar char="n"/>
              <a:defRPr/>
            </a:pPr>
            <a:r>
              <a:rPr lang="en-US" altLang="zh-CN" sz="800" b="0" dirty="0">
                <a:solidFill>
                  <a:sysClr val="windowText" lastClr="000000"/>
                </a:solidFill>
                <a:latin typeface="Arial"/>
                <a:ea typeface="DFKaiShu-GB5"/>
                <a:cs typeface="Arial"/>
              </a:rPr>
              <a:t>DBS will invite SMG to participate in </a:t>
            </a:r>
            <a:r>
              <a:rPr lang="en-US" altLang="zh-CN" sz="800" dirty="0">
                <a:solidFill>
                  <a:sysClr val="windowText" lastClr="000000"/>
                </a:solidFill>
                <a:latin typeface="Arial"/>
                <a:ea typeface="DFKaiShu-GB5"/>
                <a:cs typeface="Arial"/>
              </a:rPr>
              <a:t>annual and quarterly corporate days</a:t>
            </a:r>
            <a:r>
              <a:rPr lang="en-US" altLang="zh-CN" sz="800" b="0" dirty="0">
                <a:solidFill>
                  <a:sysClr val="windowText" lastClr="000000"/>
                </a:solidFill>
                <a:latin typeface="Arial"/>
                <a:ea typeface="DFKaiShu-GB5"/>
                <a:cs typeface="Arial"/>
              </a:rPr>
              <a:t>, creating opportunities for the company to network with investors and other financial industry companies, further enhancing the company's visibility in the capital market</a:t>
            </a:r>
          </a:p>
        </p:txBody>
      </p:sp>
      <p:sp>
        <p:nvSpPr>
          <p:cNvPr id="12" name="Rectangle 15">
            <a:extLst>
              <a:ext uri="{FF2B5EF4-FFF2-40B4-BE49-F238E27FC236}">
                <a16:creationId xmlns:a16="http://schemas.microsoft.com/office/drawing/2014/main" id="{2402D02F-A93F-BD37-82D4-8EE5C8E1CA72}"/>
              </a:ext>
            </a:extLst>
          </p:cNvPr>
          <p:cNvSpPr>
            <a:spLocks noChangeArrowheads="1"/>
          </p:cNvSpPr>
          <p:nvPr/>
        </p:nvSpPr>
        <p:spPr bwMode="gray">
          <a:xfrm>
            <a:off x="1028575" y="1504756"/>
            <a:ext cx="2733288" cy="237744"/>
          </a:xfrm>
          <a:prstGeom prst="rect">
            <a:avLst/>
          </a:prstGeom>
          <a:gradFill rotWithShape="1">
            <a:gsLst>
              <a:gs pos="0">
                <a:srgbClr val="760000"/>
              </a:gs>
              <a:gs pos="45000">
                <a:srgbClr val="AB0000"/>
              </a:gs>
              <a:gs pos="100000">
                <a:srgbClr val="CC0000"/>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anchor="ctr"/>
          <a:lstStyle/>
          <a:p>
            <a:pPr marL="0" marR="0" lvl="0" indent="0" algn="ctr" defTabSz="914400" eaLnBrk="1" fontAlgn="auto" latinLnBrk="0" hangingPunct="1">
              <a:lnSpc>
                <a:spcPct val="100000"/>
              </a:lnSpc>
              <a:spcBef>
                <a:spcPts val="0"/>
              </a:spcBef>
              <a:spcAft>
                <a:spcPts val="0"/>
              </a:spcAft>
              <a:buClr>
                <a:srgbClr val="BE050A"/>
              </a:buClr>
              <a:buSzTx/>
              <a:buFont typeface="Wingdings" pitchFamily="2" charset="2"/>
              <a:buNone/>
              <a:tabLst/>
              <a:defRPr/>
            </a:pPr>
            <a:r>
              <a:rPr kumimoji="0" lang="en-US" altLang="zh-CN" sz="1050" i="0" u="none" strike="noStrike" kern="0" cap="none" spc="0" normalizeH="0" baseline="0" noProof="0">
                <a:ln>
                  <a:noFill/>
                </a:ln>
                <a:solidFill>
                  <a:srgbClr val="FFFFFF"/>
                </a:solidFill>
                <a:effectLst/>
                <a:uLnTx/>
                <a:uFillTx/>
                <a:latin typeface="Arial"/>
                <a:ea typeface="DFKaiShu-GB5"/>
                <a:cs typeface="+mn-cs"/>
              </a:rPr>
              <a:t>Green-shoe</a:t>
            </a:r>
            <a:r>
              <a:rPr kumimoji="0" lang="zh-CN" altLang="en-US" sz="1050" i="0" u="none" strike="noStrike" kern="0" cap="none" spc="0" normalizeH="0" baseline="0" noProof="0">
                <a:ln>
                  <a:noFill/>
                </a:ln>
                <a:solidFill>
                  <a:srgbClr val="FFFFFF"/>
                </a:solidFill>
                <a:effectLst/>
                <a:uLnTx/>
                <a:uFillTx/>
                <a:latin typeface="Arial"/>
                <a:ea typeface="DFKaiShu-GB5"/>
                <a:cs typeface="+mn-cs"/>
              </a:rPr>
              <a:t> </a:t>
            </a:r>
            <a:r>
              <a:rPr kumimoji="0" lang="en-US" altLang="zh-CN" sz="1050" i="0" u="none" strike="noStrike" kern="0" cap="none" spc="0" normalizeH="0" baseline="0" noProof="0">
                <a:ln>
                  <a:noFill/>
                </a:ln>
                <a:solidFill>
                  <a:srgbClr val="FFFFFF"/>
                </a:solidFill>
                <a:effectLst/>
                <a:uLnTx/>
                <a:uFillTx/>
                <a:latin typeface="Arial"/>
                <a:ea typeface="DFKaiShu-GB5"/>
                <a:cs typeface="+mn-cs"/>
              </a:rPr>
              <a:t>– Price-stabilization</a:t>
            </a:r>
            <a:endParaRPr kumimoji="0" lang="zh-CN" altLang="en-US" sz="1050" i="0" u="none" strike="noStrike" kern="0" cap="none" spc="0" normalizeH="0" baseline="0" noProof="0">
              <a:ln>
                <a:noFill/>
              </a:ln>
              <a:solidFill>
                <a:srgbClr val="FFFFFF"/>
              </a:solidFill>
              <a:effectLst/>
              <a:uLnTx/>
              <a:uFillTx/>
              <a:latin typeface="Arial"/>
              <a:ea typeface="DFKaiShu-GB5"/>
              <a:cs typeface="+mn-cs"/>
            </a:endParaRPr>
          </a:p>
        </p:txBody>
      </p:sp>
      <p:sp>
        <p:nvSpPr>
          <p:cNvPr id="13" name="Rectangle 15">
            <a:extLst>
              <a:ext uri="{FF2B5EF4-FFF2-40B4-BE49-F238E27FC236}">
                <a16:creationId xmlns:a16="http://schemas.microsoft.com/office/drawing/2014/main" id="{D7DA6C07-D9EE-29A1-60E3-2B151E8BA121}"/>
              </a:ext>
            </a:extLst>
          </p:cNvPr>
          <p:cNvSpPr>
            <a:spLocks noChangeArrowheads="1"/>
          </p:cNvSpPr>
          <p:nvPr/>
        </p:nvSpPr>
        <p:spPr bwMode="gray">
          <a:xfrm>
            <a:off x="6110214" y="1504756"/>
            <a:ext cx="2733288" cy="237744"/>
          </a:xfrm>
          <a:prstGeom prst="rect">
            <a:avLst/>
          </a:prstGeom>
          <a:gradFill rotWithShape="1">
            <a:gsLst>
              <a:gs pos="0">
                <a:srgbClr val="760000"/>
              </a:gs>
              <a:gs pos="45000">
                <a:srgbClr val="AB0000"/>
              </a:gs>
              <a:gs pos="100000">
                <a:srgbClr val="CC0000"/>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anchor="ctr"/>
          <a:lstStyle/>
          <a:p>
            <a:pPr marL="0" marR="0" lvl="0" indent="0" algn="ctr" defTabSz="914400" eaLnBrk="1" fontAlgn="auto" latinLnBrk="0" hangingPunct="1">
              <a:lnSpc>
                <a:spcPct val="100000"/>
              </a:lnSpc>
              <a:spcBef>
                <a:spcPts val="0"/>
              </a:spcBef>
              <a:spcAft>
                <a:spcPts val="0"/>
              </a:spcAft>
              <a:buClr>
                <a:srgbClr val="BE050A"/>
              </a:buClr>
              <a:buSzTx/>
              <a:buFont typeface="Wingdings" pitchFamily="2" charset="2"/>
              <a:buNone/>
              <a:tabLst/>
              <a:defRPr/>
            </a:pPr>
            <a:r>
              <a:rPr kumimoji="0" lang="en-US" altLang="zh-CN" sz="1050" i="0" u="none" strike="noStrike" kern="0" cap="none" spc="0" normalizeH="0" baseline="0" noProof="0">
                <a:ln>
                  <a:noFill/>
                </a:ln>
                <a:solidFill>
                  <a:srgbClr val="FFFFFF"/>
                </a:solidFill>
                <a:effectLst/>
                <a:uLnTx/>
                <a:uFillTx/>
                <a:latin typeface="Arial"/>
                <a:ea typeface="DFKaiShu-GB5"/>
                <a:cs typeface="+mn-cs"/>
              </a:rPr>
              <a:t>NDR and Pulse of Asia Events</a:t>
            </a:r>
            <a:endParaRPr kumimoji="0" lang="zh-CN" altLang="en-US" sz="1050" i="0" u="none" strike="noStrike" kern="0" cap="none" spc="0" normalizeH="0" baseline="0" noProof="0">
              <a:ln>
                <a:noFill/>
              </a:ln>
              <a:solidFill>
                <a:srgbClr val="FFFFFF"/>
              </a:solidFill>
              <a:effectLst/>
              <a:uLnTx/>
              <a:uFillTx/>
              <a:latin typeface="Arial"/>
              <a:ea typeface="DFKaiShu-GB5"/>
              <a:cs typeface="+mn-cs"/>
            </a:endParaRPr>
          </a:p>
        </p:txBody>
      </p:sp>
      <p:sp>
        <p:nvSpPr>
          <p:cNvPr id="14" name="Rectangle 15">
            <a:extLst>
              <a:ext uri="{FF2B5EF4-FFF2-40B4-BE49-F238E27FC236}">
                <a16:creationId xmlns:a16="http://schemas.microsoft.com/office/drawing/2014/main" id="{CB2F6C85-E08C-7323-50FF-9EF90DF4F1E4}"/>
              </a:ext>
            </a:extLst>
          </p:cNvPr>
          <p:cNvSpPr>
            <a:spLocks noChangeArrowheads="1"/>
          </p:cNvSpPr>
          <p:nvPr/>
        </p:nvSpPr>
        <p:spPr bwMode="gray">
          <a:xfrm>
            <a:off x="1028575" y="3744733"/>
            <a:ext cx="2733288" cy="237744"/>
          </a:xfrm>
          <a:prstGeom prst="rect">
            <a:avLst/>
          </a:prstGeom>
          <a:gradFill rotWithShape="1">
            <a:gsLst>
              <a:gs pos="0">
                <a:srgbClr val="760000"/>
              </a:gs>
              <a:gs pos="45000">
                <a:srgbClr val="AB0000"/>
              </a:gs>
              <a:gs pos="100000">
                <a:srgbClr val="CC0000"/>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anchor="ctr"/>
          <a:lstStyle/>
          <a:p>
            <a:pPr marL="0" marR="0" lvl="0" indent="0" algn="ctr" defTabSz="914400" eaLnBrk="1" fontAlgn="auto" latinLnBrk="0" hangingPunct="1">
              <a:lnSpc>
                <a:spcPct val="100000"/>
              </a:lnSpc>
              <a:spcBef>
                <a:spcPts val="0"/>
              </a:spcBef>
              <a:spcAft>
                <a:spcPts val="0"/>
              </a:spcAft>
              <a:buClr>
                <a:srgbClr val="BE050A"/>
              </a:buClr>
              <a:buSzTx/>
              <a:buFont typeface="Wingdings" pitchFamily="2" charset="2"/>
              <a:buNone/>
              <a:tabLst/>
              <a:defRPr/>
            </a:pPr>
            <a:r>
              <a:rPr kumimoji="0" lang="en-US" altLang="zh-CN" sz="1050" i="0" u="none" strike="noStrike" kern="0" cap="none" spc="0" normalizeH="0" baseline="0" noProof="0" dirty="0">
                <a:ln>
                  <a:noFill/>
                </a:ln>
                <a:solidFill>
                  <a:srgbClr val="FFFFFF"/>
                </a:solidFill>
                <a:effectLst/>
                <a:uLnTx/>
                <a:uFillTx/>
                <a:latin typeface="Arial"/>
                <a:ea typeface="DFKaiShu-GB5"/>
                <a:cs typeface="+mn-cs"/>
              </a:rPr>
              <a:t>After-listing</a:t>
            </a:r>
            <a:r>
              <a:rPr kumimoji="0" lang="zh-CN" altLang="en-US" sz="1050" i="0" u="none" strike="noStrike" kern="0" cap="none" spc="0" normalizeH="0" baseline="0" noProof="0" dirty="0">
                <a:ln>
                  <a:noFill/>
                </a:ln>
                <a:solidFill>
                  <a:srgbClr val="FFFFFF"/>
                </a:solidFill>
                <a:effectLst/>
                <a:uLnTx/>
                <a:uFillTx/>
                <a:latin typeface="Arial"/>
                <a:ea typeface="DFKaiShu-GB5"/>
                <a:cs typeface="+mn-cs"/>
              </a:rPr>
              <a:t> </a:t>
            </a:r>
            <a:r>
              <a:rPr kumimoji="0" lang="en-US" altLang="zh-CN" sz="1050" i="0" u="none" strike="noStrike" kern="0" cap="none" spc="0" normalizeH="0" baseline="0" noProof="0" dirty="0">
                <a:ln>
                  <a:noFill/>
                </a:ln>
                <a:solidFill>
                  <a:srgbClr val="FFFFFF"/>
                </a:solidFill>
                <a:effectLst/>
                <a:uLnTx/>
                <a:uFillTx/>
                <a:latin typeface="Arial"/>
                <a:ea typeface="DFKaiShu-GB5"/>
                <a:cs typeface="+mn-cs"/>
              </a:rPr>
              <a:t>Marketing</a:t>
            </a:r>
            <a:endParaRPr kumimoji="0" lang="zh-CN" altLang="en-US" sz="1050" i="0" u="none" strike="noStrike" kern="0" cap="none" spc="0" normalizeH="0" baseline="0" noProof="0" dirty="0">
              <a:ln>
                <a:noFill/>
              </a:ln>
              <a:solidFill>
                <a:srgbClr val="FFFFFF"/>
              </a:solidFill>
              <a:effectLst/>
              <a:uLnTx/>
              <a:uFillTx/>
              <a:latin typeface="Arial"/>
              <a:ea typeface="DFKaiShu-GB5"/>
              <a:cs typeface="+mn-cs"/>
            </a:endParaRPr>
          </a:p>
        </p:txBody>
      </p:sp>
      <p:sp>
        <p:nvSpPr>
          <p:cNvPr id="15" name="Rectangle 14">
            <a:extLst>
              <a:ext uri="{FF2B5EF4-FFF2-40B4-BE49-F238E27FC236}">
                <a16:creationId xmlns:a16="http://schemas.microsoft.com/office/drawing/2014/main" id="{10093184-632F-E7B1-2920-A68B35BAA836}"/>
              </a:ext>
            </a:extLst>
          </p:cNvPr>
          <p:cNvSpPr>
            <a:spLocks noChangeArrowheads="1"/>
          </p:cNvSpPr>
          <p:nvPr/>
        </p:nvSpPr>
        <p:spPr bwMode="gray">
          <a:xfrm>
            <a:off x="6110214" y="3744733"/>
            <a:ext cx="2733288" cy="237744"/>
          </a:xfrm>
          <a:prstGeom prst="rect">
            <a:avLst/>
          </a:prstGeom>
          <a:gradFill rotWithShape="1">
            <a:gsLst>
              <a:gs pos="0">
                <a:srgbClr val="760000"/>
              </a:gs>
              <a:gs pos="45000">
                <a:srgbClr val="AB0000"/>
              </a:gs>
              <a:gs pos="100000">
                <a:srgbClr val="CC0000"/>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anchor="ctr"/>
          <a:lstStyle/>
          <a:p>
            <a:pPr marL="0" marR="0" lvl="0" indent="0" algn="ctr" defTabSz="914400" eaLnBrk="1" fontAlgn="auto" latinLnBrk="0" hangingPunct="1">
              <a:lnSpc>
                <a:spcPct val="100000"/>
              </a:lnSpc>
              <a:spcBef>
                <a:spcPts val="0"/>
              </a:spcBef>
              <a:spcAft>
                <a:spcPts val="0"/>
              </a:spcAft>
              <a:buClr>
                <a:srgbClr val="BE050A"/>
              </a:buClr>
              <a:buSzTx/>
              <a:buFont typeface="Wingdings" pitchFamily="2" charset="2"/>
              <a:buNone/>
              <a:tabLst/>
              <a:defRPr/>
            </a:pPr>
            <a:r>
              <a:rPr kumimoji="0" lang="en-US" altLang="zh-CN" sz="1050" i="0" u="none" strike="noStrike" kern="0" cap="none" spc="0" normalizeH="0" baseline="0" noProof="0">
                <a:ln>
                  <a:noFill/>
                </a:ln>
                <a:solidFill>
                  <a:srgbClr val="FFFFFF"/>
                </a:solidFill>
                <a:effectLst/>
                <a:uLnTx/>
                <a:uFillTx/>
                <a:latin typeface="Arial"/>
                <a:ea typeface="DFKaiShu-GB5"/>
                <a:cs typeface="+mn-cs"/>
              </a:rPr>
              <a:t>DBS Research Coverage</a:t>
            </a:r>
            <a:endParaRPr kumimoji="0" lang="zh-CN" altLang="en-US" sz="1050" i="0" u="none" strike="noStrike" kern="0" cap="none" spc="0" normalizeH="0" baseline="0" noProof="0">
              <a:ln>
                <a:noFill/>
              </a:ln>
              <a:solidFill>
                <a:srgbClr val="FFFFFF"/>
              </a:solidFill>
              <a:effectLst/>
              <a:uLnTx/>
              <a:uFillTx/>
              <a:latin typeface="Arial"/>
              <a:ea typeface="DFKaiShu-GB5"/>
              <a:cs typeface="+mn-cs"/>
            </a:endParaRPr>
          </a:p>
        </p:txBody>
      </p:sp>
      <p:pic>
        <p:nvPicPr>
          <p:cNvPr id="16" name="Graphic 15" descr="Upward trend">
            <a:extLst>
              <a:ext uri="{FF2B5EF4-FFF2-40B4-BE49-F238E27FC236}">
                <a16:creationId xmlns:a16="http://schemas.microsoft.com/office/drawing/2014/main" id="{CD38C349-4C87-692F-259B-FEF0212D8A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61863" y="2558545"/>
            <a:ext cx="2296932" cy="2665538"/>
          </a:xfrm>
          <a:prstGeom prst="rect">
            <a:avLst/>
          </a:prstGeom>
        </p:spPr>
      </p:pic>
      <p:sp>
        <p:nvSpPr>
          <p:cNvPr id="17" name="Rectangle 15">
            <a:extLst>
              <a:ext uri="{FF2B5EF4-FFF2-40B4-BE49-F238E27FC236}">
                <a16:creationId xmlns:a16="http://schemas.microsoft.com/office/drawing/2014/main" id="{551E070F-EB6E-AA14-54A4-AF241CE30B3B}"/>
              </a:ext>
            </a:extLst>
          </p:cNvPr>
          <p:cNvSpPr>
            <a:spLocks noChangeArrowheads="1"/>
          </p:cNvSpPr>
          <p:nvPr/>
        </p:nvSpPr>
        <p:spPr bwMode="gray">
          <a:xfrm>
            <a:off x="1028575" y="1187354"/>
            <a:ext cx="2733288" cy="237744"/>
          </a:xfrm>
          <a:prstGeom prst="rect">
            <a:avLst/>
          </a:prstGeom>
          <a:gradFill flip="none" rotWithShape="1">
            <a:gsLst>
              <a:gs pos="0">
                <a:srgbClr val="FAD0A9">
                  <a:lumMod val="0"/>
                  <a:lumOff val="100000"/>
                </a:srgbClr>
              </a:gs>
              <a:gs pos="35000">
                <a:srgbClr val="FAD0A9">
                  <a:lumMod val="0"/>
                  <a:lumOff val="100000"/>
                </a:srgbClr>
              </a:gs>
              <a:gs pos="100000">
                <a:srgbClr val="FAD0A9">
                  <a:lumMod val="100000"/>
                </a:srgbClr>
              </a:gs>
            </a:gsLst>
            <a:path path="circle">
              <a:fillToRect l="50000" t="-80000" r="50000" b="180000"/>
            </a:path>
            <a:tileRect/>
          </a:gradFill>
          <a:ln w="9525" cap="flat" cmpd="sng" algn="ctr">
            <a:noFill/>
            <a:prstDash val="solid"/>
            <a:headEnd/>
            <a:tailEnd/>
          </a:ln>
          <a:effectLst>
            <a:outerShdw blurRad="40000" dist="23000" dir="5400000" rotWithShape="0">
              <a:srgbClr val="000000">
                <a:alpha val="35000"/>
              </a:srgbClr>
            </a:outerShdw>
          </a:effectLst>
        </p:spPr>
        <p:txBody>
          <a:bodyPr anchor="ctr"/>
          <a:lstStyle/>
          <a:p>
            <a:pPr marL="0" marR="0" lvl="0" indent="0" algn="ctr" defTabSz="914400" eaLnBrk="1" fontAlgn="auto" latinLnBrk="0" hangingPunct="1">
              <a:lnSpc>
                <a:spcPct val="100000"/>
              </a:lnSpc>
              <a:spcBef>
                <a:spcPts val="0"/>
              </a:spcBef>
              <a:spcAft>
                <a:spcPts val="0"/>
              </a:spcAft>
              <a:buClr>
                <a:srgbClr val="BE050A"/>
              </a:buClr>
              <a:buSzTx/>
              <a:buFont typeface="Wingdings" pitchFamily="2" charset="2"/>
              <a:buNone/>
              <a:tabLst/>
              <a:defRPr/>
            </a:pPr>
            <a:r>
              <a:rPr kumimoji="0" lang="en-US" altLang="zh-CN" sz="1200" i="0" u="none" strike="noStrike" kern="0" cap="none" spc="0" normalizeH="0" baseline="0" noProof="0">
                <a:ln>
                  <a:noFill/>
                </a:ln>
                <a:solidFill>
                  <a:srgbClr val="000000"/>
                </a:solidFill>
                <a:effectLst/>
                <a:uLnTx/>
                <a:uFillTx/>
                <a:latin typeface="Arial"/>
                <a:ea typeface="DFKaiShu-GB5"/>
                <a:cs typeface="+mn-cs"/>
              </a:rPr>
              <a:t>Short-term</a:t>
            </a:r>
            <a:r>
              <a:rPr kumimoji="0" lang="zh-CN" altLang="en-US" sz="1200" i="0" u="none" strike="noStrike" kern="0" cap="none" spc="0" normalizeH="0" baseline="0" noProof="0">
                <a:ln>
                  <a:noFill/>
                </a:ln>
                <a:solidFill>
                  <a:srgbClr val="000000"/>
                </a:solidFill>
                <a:effectLst/>
                <a:uLnTx/>
                <a:uFillTx/>
                <a:latin typeface="Arial"/>
                <a:ea typeface="DFKaiShu-GB5"/>
                <a:cs typeface="+mn-cs"/>
              </a:rPr>
              <a:t> </a:t>
            </a:r>
            <a:r>
              <a:rPr kumimoji="0" lang="en-US" altLang="zh-CN" sz="1200" i="0" u="none" strike="noStrike" kern="0" cap="none" spc="0" normalizeH="0" baseline="0" noProof="0">
                <a:ln>
                  <a:noFill/>
                </a:ln>
                <a:solidFill>
                  <a:srgbClr val="000000"/>
                </a:solidFill>
                <a:effectLst/>
                <a:uLnTx/>
                <a:uFillTx/>
                <a:latin typeface="Arial"/>
                <a:ea typeface="DFKaiShu-GB5"/>
                <a:cs typeface="+mn-cs"/>
              </a:rPr>
              <a:t>Strategies</a:t>
            </a:r>
            <a:endParaRPr kumimoji="0" lang="zh-CN" altLang="en-US" sz="1200" i="0" u="none" strike="noStrike" kern="0" cap="none" spc="0" normalizeH="0" baseline="0" noProof="0">
              <a:ln>
                <a:noFill/>
              </a:ln>
              <a:solidFill>
                <a:srgbClr val="000000"/>
              </a:solidFill>
              <a:effectLst/>
              <a:uLnTx/>
              <a:uFillTx/>
              <a:latin typeface="Arial"/>
              <a:ea typeface="DFKaiShu-GB5"/>
              <a:cs typeface="+mn-cs"/>
            </a:endParaRPr>
          </a:p>
        </p:txBody>
      </p:sp>
      <p:sp>
        <p:nvSpPr>
          <p:cNvPr id="18" name="Rectangle 15">
            <a:extLst>
              <a:ext uri="{FF2B5EF4-FFF2-40B4-BE49-F238E27FC236}">
                <a16:creationId xmlns:a16="http://schemas.microsoft.com/office/drawing/2014/main" id="{65B3C7FE-B322-4B36-145B-D8B4170E10F2}"/>
              </a:ext>
            </a:extLst>
          </p:cNvPr>
          <p:cNvSpPr>
            <a:spLocks noChangeArrowheads="1"/>
          </p:cNvSpPr>
          <p:nvPr/>
        </p:nvSpPr>
        <p:spPr bwMode="gray">
          <a:xfrm>
            <a:off x="6110214" y="1187354"/>
            <a:ext cx="2733288" cy="237744"/>
          </a:xfrm>
          <a:prstGeom prst="rect">
            <a:avLst/>
          </a:prstGeom>
          <a:gradFill flip="none" rotWithShape="1">
            <a:gsLst>
              <a:gs pos="0">
                <a:srgbClr val="FAD0A9">
                  <a:lumMod val="0"/>
                  <a:lumOff val="100000"/>
                </a:srgbClr>
              </a:gs>
              <a:gs pos="35000">
                <a:srgbClr val="FAD0A9">
                  <a:lumMod val="0"/>
                  <a:lumOff val="100000"/>
                </a:srgbClr>
              </a:gs>
              <a:gs pos="100000">
                <a:srgbClr val="FAD0A9">
                  <a:lumMod val="100000"/>
                </a:srgbClr>
              </a:gs>
            </a:gsLst>
            <a:path path="circle">
              <a:fillToRect l="50000" t="-80000" r="50000" b="180000"/>
            </a:path>
            <a:tileRect/>
          </a:gradFill>
          <a:ln w="9525" cap="flat" cmpd="sng" algn="ctr">
            <a:noFill/>
            <a:prstDash val="solid"/>
            <a:headEnd/>
            <a:tailEnd/>
          </a:ln>
          <a:effectLst>
            <a:outerShdw blurRad="40000" dist="23000" dir="5400000" rotWithShape="0">
              <a:srgbClr val="000000">
                <a:alpha val="35000"/>
              </a:srgbClr>
            </a:outerShdw>
          </a:effectLst>
        </p:spPr>
        <p:txBody>
          <a:bodyPr anchor="ctr"/>
          <a:lstStyle/>
          <a:p>
            <a:pPr marL="0" marR="0" lvl="0" indent="0" algn="ctr" defTabSz="914400" eaLnBrk="1" fontAlgn="auto" latinLnBrk="0" hangingPunct="1">
              <a:lnSpc>
                <a:spcPct val="100000"/>
              </a:lnSpc>
              <a:spcBef>
                <a:spcPts val="0"/>
              </a:spcBef>
              <a:spcAft>
                <a:spcPts val="0"/>
              </a:spcAft>
              <a:buClr>
                <a:srgbClr val="BE050A"/>
              </a:buClr>
              <a:buSzTx/>
              <a:buFont typeface="Wingdings" pitchFamily="2" charset="2"/>
              <a:buNone/>
              <a:tabLst/>
              <a:defRPr/>
            </a:pPr>
            <a:r>
              <a:rPr kumimoji="0" lang="en-US" altLang="zh-CN" sz="1200" i="0" u="none" strike="noStrike" kern="0" cap="none" spc="0" normalizeH="0" baseline="0" noProof="0">
                <a:ln>
                  <a:noFill/>
                </a:ln>
                <a:solidFill>
                  <a:srgbClr val="000000"/>
                </a:solidFill>
                <a:effectLst/>
                <a:uLnTx/>
                <a:uFillTx/>
                <a:latin typeface="Arial"/>
                <a:ea typeface="DFKaiShu-GB5"/>
                <a:cs typeface="+mn-cs"/>
              </a:rPr>
              <a:t>Mid to Long-term Strategies</a:t>
            </a:r>
            <a:endParaRPr kumimoji="0" lang="zh-CN" altLang="en-US" sz="1200" i="0" u="none" strike="noStrike" kern="0" cap="none" spc="0" normalizeH="0" baseline="0" noProof="0">
              <a:ln>
                <a:noFill/>
              </a:ln>
              <a:solidFill>
                <a:srgbClr val="000000"/>
              </a:solidFill>
              <a:effectLst/>
              <a:uLnTx/>
              <a:uFillTx/>
              <a:latin typeface="Arial"/>
              <a:ea typeface="DFKaiShu-GB5"/>
              <a:cs typeface="+mn-cs"/>
            </a:endParaRPr>
          </a:p>
        </p:txBody>
      </p:sp>
      <p:sp>
        <p:nvSpPr>
          <p:cNvPr id="19" name="Freeform: Shape 43">
            <a:extLst>
              <a:ext uri="{FF2B5EF4-FFF2-40B4-BE49-F238E27FC236}">
                <a16:creationId xmlns:a16="http://schemas.microsoft.com/office/drawing/2014/main" id="{3BD7A518-A1FB-5219-131F-E7D96DA75ABD}"/>
              </a:ext>
            </a:extLst>
          </p:cNvPr>
          <p:cNvSpPr/>
          <p:nvPr/>
        </p:nvSpPr>
        <p:spPr>
          <a:xfrm>
            <a:off x="723900" y="5520285"/>
            <a:ext cx="8496300" cy="548174"/>
          </a:xfrm>
          <a:custGeom>
            <a:avLst/>
            <a:gdLst>
              <a:gd name="connsiteX0" fmla="*/ 0 w 5197803"/>
              <a:gd name="connsiteY0" fmla="*/ 0 h 1268244"/>
              <a:gd name="connsiteX1" fmla="*/ 2019841 w 5197803"/>
              <a:gd name="connsiteY1" fmla="*/ 0 h 1268244"/>
              <a:gd name="connsiteX2" fmla="*/ 3074740 w 5197803"/>
              <a:gd name="connsiteY2" fmla="*/ 0 h 1268244"/>
              <a:gd name="connsiteX3" fmla="*/ 5094581 w 5197803"/>
              <a:gd name="connsiteY3" fmla="*/ 0 h 1268244"/>
              <a:gd name="connsiteX4" fmla="*/ 5197803 w 5197803"/>
              <a:gd name="connsiteY4" fmla="*/ 103223 h 1268244"/>
              <a:gd name="connsiteX5" fmla="*/ 5197803 w 5197803"/>
              <a:gd name="connsiteY5" fmla="*/ 1165022 h 1268244"/>
              <a:gd name="connsiteX6" fmla="*/ 5094581 w 5197803"/>
              <a:gd name="connsiteY6" fmla="*/ 1268244 h 1268244"/>
              <a:gd name="connsiteX7" fmla="*/ 3074740 w 5197803"/>
              <a:gd name="connsiteY7" fmla="*/ 1268244 h 1268244"/>
              <a:gd name="connsiteX8" fmla="*/ 2019841 w 5197803"/>
              <a:gd name="connsiteY8" fmla="*/ 1268244 h 1268244"/>
              <a:gd name="connsiteX9" fmla="*/ 0 w 5197803"/>
              <a:gd name="connsiteY9" fmla="*/ 1268244 h 126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7803" h="1268244">
                <a:moveTo>
                  <a:pt x="0" y="0"/>
                </a:moveTo>
                <a:lnTo>
                  <a:pt x="2019841" y="0"/>
                </a:lnTo>
                <a:lnTo>
                  <a:pt x="3074740" y="0"/>
                </a:lnTo>
                <a:lnTo>
                  <a:pt x="5094581" y="0"/>
                </a:lnTo>
                <a:cubicBezTo>
                  <a:pt x="5151589" y="0"/>
                  <a:pt x="5197803" y="46214"/>
                  <a:pt x="5197803" y="103223"/>
                </a:cubicBezTo>
                <a:lnTo>
                  <a:pt x="5197803" y="1165022"/>
                </a:lnTo>
                <a:cubicBezTo>
                  <a:pt x="5197803" y="1222030"/>
                  <a:pt x="5151589" y="1268244"/>
                  <a:pt x="5094581" y="1268244"/>
                </a:cubicBezTo>
                <a:lnTo>
                  <a:pt x="3074740" y="1268244"/>
                </a:lnTo>
                <a:lnTo>
                  <a:pt x="2019841" y="1268244"/>
                </a:lnTo>
                <a:lnTo>
                  <a:pt x="0" y="1268244"/>
                </a:lnTo>
                <a:close/>
              </a:path>
            </a:pathLst>
          </a:custGeom>
          <a:gradFill flip="none" rotWithShape="1">
            <a:gsLst>
              <a:gs pos="0">
                <a:srgbClr val="E59B9D">
                  <a:lumMod val="5000"/>
                  <a:lumOff val="95000"/>
                </a:srgbClr>
              </a:gs>
              <a:gs pos="74000">
                <a:srgbClr val="E59B9D">
                  <a:lumMod val="45000"/>
                  <a:lumOff val="55000"/>
                </a:srgbClr>
              </a:gs>
              <a:gs pos="83000">
                <a:srgbClr val="E59B9D">
                  <a:lumMod val="45000"/>
                  <a:lumOff val="55000"/>
                </a:srgbClr>
              </a:gs>
              <a:gs pos="100000">
                <a:srgbClr val="E59B9D">
                  <a:lumMod val="30000"/>
                  <a:lumOff val="70000"/>
                </a:srgbClr>
              </a:gs>
            </a:gsLst>
            <a:lin ang="5400000" scaled="1"/>
            <a:tileRect/>
          </a:grad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ctr" anchorCtr="0">
            <a:noAutofit/>
          </a:bodyPr>
          <a:lstStyle/>
          <a:p>
            <a:pPr marL="174625" marR="0" lvl="0" indent="-174625" defTabSz="914400" eaLnBrk="1" fontAlgn="auto" latinLnBrk="0" hangingPunct="1">
              <a:lnSpc>
                <a:spcPct val="100000"/>
              </a:lnSpc>
              <a:spcBef>
                <a:spcPts val="0"/>
              </a:spcBef>
              <a:spcAft>
                <a:spcPts val="400"/>
              </a:spcAft>
              <a:buClr>
                <a:srgbClr val="BE050A"/>
              </a:buClr>
              <a:buSzTx/>
              <a:buFont typeface="Wingdings" pitchFamily="2" charset="2"/>
              <a:buChar char="n"/>
              <a:tabLst/>
              <a:defRPr/>
            </a:pPr>
            <a:r>
              <a:rPr kumimoji="0" lang="en-US" altLang="zh-CN" sz="1000" b="0" i="0" u="none" strike="noStrike" kern="0" cap="none" spc="0" normalizeH="0" baseline="0" noProof="0" dirty="0">
                <a:ln>
                  <a:noFill/>
                </a:ln>
                <a:solidFill>
                  <a:sysClr val="windowText" lastClr="000000"/>
                </a:solidFill>
                <a:effectLst/>
                <a:uLnTx/>
                <a:uFillTx/>
                <a:latin typeface="Arial"/>
                <a:ea typeface="DFKaiShu-GB5"/>
                <a:cs typeface="Arial"/>
              </a:rPr>
              <a:t>As a long-term partner of SMG, DBS will leverage its full platform resources to fully support the sustainable growth of SMG's share price, both during the project execution phase and after the initial public offering</a:t>
            </a:r>
          </a:p>
        </p:txBody>
      </p:sp>
      <p:sp>
        <p:nvSpPr>
          <p:cNvPr id="20" name="Oval 19">
            <a:extLst>
              <a:ext uri="{FF2B5EF4-FFF2-40B4-BE49-F238E27FC236}">
                <a16:creationId xmlns:a16="http://schemas.microsoft.com/office/drawing/2014/main" id="{FE9D70CC-8557-5660-4015-8648DF4A52CF}"/>
              </a:ext>
            </a:extLst>
          </p:cNvPr>
          <p:cNvSpPr/>
          <p:nvPr/>
        </p:nvSpPr>
        <p:spPr bwMode="auto">
          <a:xfrm>
            <a:off x="4342291" y="4013436"/>
            <a:ext cx="193964" cy="180110"/>
          </a:xfrm>
          <a:prstGeom prst="ellipse">
            <a:avLst/>
          </a:prstGeom>
          <a:solidFill>
            <a:srgbClr val="00B05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endParaRPr lang="zh-CN" altLang="en-US" sz="2000">
              <a:solidFill>
                <a:srgbClr val="000000"/>
              </a:solidFill>
              <a:latin typeface="Arial"/>
              <a:ea typeface="DFKaiShu-GB5"/>
              <a:cs typeface="DFKaiShu-GB5" pitchFamily="65" charset="-128"/>
            </a:endParaRPr>
          </a:p>
        </p:txBody>
      </p:sp>
      <p:sp>
        <p:nvSpPr>
          <p:cNvPr id="21" name="Oval 20">
            <a:extLst>
              <a:ext uri="{FF2B5EF4-FFF2-40B4-BE49-F238E27FC236}">
                <a16:creationId xmlns:a16="http://schemas.microsoft.com/office/drawing/2014/main" id="{DB67E64F-A51F-84E2-7D5D-5350DECBE196}"/>
              </a:ext>
            </a:extLst>
          </p:cNvPr>
          <p:cNvSpPr/>
          <p:nvPr/>
        </p:nvSpPr>
        <p:spPr bwMode="auto">
          <a:xfrm>
            <a:off x="5256691" y="3592125"/>
            <a:ext cx="193964" cy="180110"/>
          </a:xfrm>
          <a:prstGeom prst="ellipse">
            <a:avLst/>
          </a:prstGeom>
          <a:solidFill>
            <a:srgbClr val="00B05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endParaRPr lang="zh-CN" altLang="en-US" sz="2000">
              <a:solidFill>
                <a:srgbClr val="000000"/>
              </a:solidFill>
              <a:latin typeface="Arial"/>
              <a:ea typeface="DFKaiShu-GB5"/>
              <a:cs typeface="DFKaiShu-GB5" pitchFamily="65" charset="-128"/>
            </a:endParaRPr>
          </a:p>
        </p:txBody>
      </p:sp>
      <p:cxnSp>
        <p:nvCxnSpPr>
          <p:cNvPr id="22" name="Straight Arrow Connector 21">
            <a:extLst>
              <a:ext uri="{FF2B5EF4-FFF2-40B4-BE49-F238E27FC236}">
                <a16:creationId xmlns:a16="http://schemas.microsoft.com/office/drawing/2014/main" id="{86E2DC88-2A2B-70A4-DA9F-CB0C23821F88}"/>
              </a:ext>
            </a:extLst>
          </p:cNvPr>
          <p:cNvCxnSpPr>
            <a:cxnSpLocks/>
            <a:stCxn id="20" idx="0"/>
            <a:endCxn id="12" idx="3"/>
          </p:cNvCxnSpPr>
          <p:nvPr/>
        </p:nvCxnSpPr>
        <p:spPr bwMode="auto">
          <a:xfrm flipH="1" flipV="1">
            <a:off x="3761863" y="1623628"/>
            <a:ext cx="677410" cy="2389808"/>
          </a:xfrm>
          <a:prstGeom prst="straightConnector1">
            <a:avLst/>
          </a:prstGeom>
          <a:noFill/>
          <a:ln w="12700" cap="flat" cmpd="sng" algn="ctr">
            <a:solidFill>
              <a:srgbClr val="FFFFFF">
                <a:lumMod val="65000"/>
              </a:srgbClr>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8793F455-CDA0-E11C-A20A-A9AD8CE1DBC2}"/>
              </a:ext>
            </a:extLst>
          </p:cNvPr>
          <p:cNvCxnSpPr>
            <a:cxnSpLocks/>
            <a:stCxn id="20" idx="2"/>
            <a:endCxn id="14" idx="3"/>
          </p:cNvCxnSpPr>
          <p:nvPr/>
        </p:nvCxnSpPr>
        <p:spPr bwMode="auto">
          <a:xfrm flipH="1" flipV="1">
            <a:off x="3761863" y="3863605"/>
            <a:ext cx="580428" cy="239886"/>
          </a:xfrm>
          <a:prstGeom prst="straightConnector1">
            <a:avLst/>
          </a:prstGeom>
          <a:noFill/>
          <a:ln w="12700" cap="flat" cmpd="sng" algn="ctr">
            <a:solidFill>
              <a:srgbClr val="FFFFFF">
                <a:lumMod val="65000"/>
              </a:srgbClr>
            </a:solidFill>
            <a:prstDash val="solid"/>
            <a:round/>
            <a:headEnd type="none" w="med" len="med"/>
            <a:tailEnd type="triangle"/>
          </a:ln>
          <a:effectLst/>
        </p:spPr>
      </p:cxnSp>
      <p:cxnSp>
        <p:nvCxnSpPr>
          <p:cNvPr id="24" name="Straight Arrow Connector 23">
            <a:extLst>
              <a:ext uri="{FF2B5EF4-FFF2-40B4-BE49-F238E27FC236}">
                <a16:creationId xmlns:a16="http://schemas.microsoft.com/office/drawing/2014/main" id="{70234734-CB1D-B10F-6DA4-46D93F6D900F}"/>
              </a:ext>
            </a:extLst>
          </p:cNvPr>
          <p:cNvCxnSpPr>
            <a:cxnSpLocks/>
            <a:stCxn id="21" idx="0"/>
            <a:endCxn id="13" idx="1"/>
          </p:cNvCxnSpPr>
          <p:nvPr/>
        </p:nvCxnSpPr>
        <p:spPr bwMode="auto">
          <a:xfrm flipV="1">
            <a:off x="5353673" y="1623628"/>
            <a:ext cx="756541" cy="1968497"/>
          </a:xfrm>
          <a:prstGeom prst="straightConnector1">
            <a:avLst/>
          </a:prstGeom>
          <a:noFill/>
          <a:ln w="12700" cap="flat" cmpd="sng" algn="ctr">
            <a:solidFill>
              <a:srgbClr val="FFFFFF">
                <a:lumMod val="65000"/>
              </a:srgbClr>
            </a:solidFill>
            <a:prstDash val="solid"/>
            <a:round/>
            <a:headEnd type="none" w="med" len="med"/>
            <a:tailEnd type="triangle"/>
          </a:ln>
          <a:effectLst/>
        </p:spPr>
      </p:cxnSp>
      <p:cxnSp>
        <p:nvCxnSpPr>
          <p:cNvPr id="25" name="Straight Arrow Connector 24">
            <a:extLst>
              <a:ext uri="{FF2B5EF4-FFF2-40B4-BE49-F238E27FC236}">
                <a16:creationId xmlns:a16="http://schemas.microsoft.com/office/drawing/2014/main" id="{9E0189D1-2167-0F11-2A89-B085AB5BA771}"/>
              </a:ext>
            </a:extLst>
          </p:cNvPr>
          <p:cNvCxnSpPr>
            <a:cxnSpLocks/>
            <a:stCxn id="21" idx="6"/>
            <a:endCxn id="15" idx="1"/>
          </p:cNvCxnSpPr>
          <p:nvPr/>
        </p:nvCxnSpPr>
        <p:spPr bwMode="auto">
          <a:xfrm>
            <a:off x="5450655" y="3682180"/>
            <a:ext cx="659559" cy="181425"/>
          </a:xfrm>
          <a:prstGeom prst="straightConnector1">
            <a:avLst/>
          </a:prstGeom>
          <a:noFill/>
          <a:ln w="12700" cap="flat" cmpd="sng" algn="ctr">
            <a:solidFill>
              <a:srgbClr val="FFFFFF">
                <a:lumMod val="65000"/>
              </a:srgbClr>
            </a:solidFill>
            <a:prstDash val="solid"/>
            <a:round/>
            <a:headEnd type="none" w="med" len="med"/>
            <a:tailEnd type="triangle"/>
          </a:ln>
          <a:effectLst/>
        </p:spPr>
      </p:cxnSp>
      <p:sp>
        <p:nvSpPr>
          <p:cNvPr id="26" name="Oval 25">
            <a:extLst>
              <a:ext uri="{FF2B5EF4-FFF2-40B4-BE49-F238E27FC236}">
                <a16:creationId xmlns:a16="http://schemas.microsoft.com/office/drawing/2014/main" id="{43A069A0-3E0A-6EE3-F16C-CB7052D5AFF4}"/>
              </a:ext>
            </a:extLst>
          </p:cNvPr>
          <p:cNvSpPr/>
          <p:nvPr/>
        </p:nvSpPr>
        <p:spPr bwMode="auto">
          <a:xfrm>
            <a:off x="973157" y="1504757"/>
            <a:ext cx="262789" cy="237743"/>
          </a:xfrm>
          <a:prstGeom prst="ellipse">
            <a:avLst/>
          </a:prstGeom>
          <a:solidFill>
            <a:srgbClr val="000000">
              <a:lumMod val="65000"/>
              <a:lumOff val="35000"/>
            </a:srgb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FFFFFF"/>
                </a:solidFill>
                <a:effectLst/>
                <a:uLnTx/>
                <a:uFillTx/>
                <a:latin typeface="Arial"/>
                <a:ea typeface="DFKaiShu-GB5"/>
                <a:cs typeface="DFKaiShu-GB5" pitchFamily="65" charset="-128"/>
              </a:rPr>
              <a:t>1</a:t>
            </a:r>
            <a:endParaRPr kumimoji="0" lang="zh-CN" altLang="en-US" sz="1200" b="0" i="0" u="none" strike="noStrike" kern="0" cap="none" spc="0" normalizeH="0" baseline="0" noProof="0">
              <a:ln>
                <a:noFill/>
              </a:ln>
              <a:solidFill>
                <a:srgbClr val="FFFFFF"/>
              </a:solidFill>
              <a:effectLst/>
              <a:uLnTx/>
              <a:uFillTx/>
              <a:latin typeface="Arial"/>
              <a:ea typeface="DFKaiShu-GB5"/>
              <a:cs typeface="DFKaiShu-GB5" pitchFamily="65" charset="-128"/>
            </a:endParaRPr>
          </a:p>
        </p:txBody>
      </p:sp>
      <p:sp>
        <p:nvSpPr>
          <p:cNvPr id="27" name="Oval 26">
            <a:extLst>
              <a:ext uri="{FF2B5EF4-FFF2-40B4-BE49-F238E27FC236}">
                <a16:creationId xmlns:a16="http://schemas.microsoft.com/office/drawing/2014/main" id="{85F41431-C75B-2B78-4CA7-AFFB9E427346}"/>
              </a:ext>
            </a:extLst>
          </p:cNvPr>
          <p:cNvSpPr/>
          <p:nvPr/>
        </p:nvSpPr>
        <p:spPr bwMode="auto">
          <a:xfrm>
            <a:off x="991012" y="3744733"/>
            <a:ext cx="262789" cy="237743"/>
          </a:xfrm>
          <a:prstGeom prst="ellipse">
            <a:avLst/>
          </a:prstGeom>
          <a:solidFill>
            <a:srgbClr val="000000">
              <a:lumMod val="65000"/>
              <a:lumOff val="35000"/>
            </a:srgb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FFFFFF"/>
                </a:solidFill>
                <a:effectLst/>
                <a:uLnTx/>
                <a:uFillTx/>
                <a:latin typeface="Arial"/>
                <a:ea typeface="DFKaiShu-GB5"/>
                <a:cs typeface="DFKaiShu-GB5" pitchFamily="65" charset="-128"/>
              </a:rPr>
              <a:t>2</a:t>
            </a:r>
            <a:endParaRPr kumimoji="0" lang="zh-CN" altLang="en-US" sz="1200" b="0" i="0" u="none" strike="noStrike" kern="0" cap="none" spc="0" normalizeH="0" baseline="0" noProof="0">
              <a:ln>
                <a:noFill/>
              </a:ln>
              <a:solidFill>
                <a:srgbClr val="FFFFFF"/>
              </a:solidFill>
              <a:effectLst/>
              <a:uLnTx/>
              <a:uFillTx/>
              <a:latin typeface="Arial"/>
              <a:ea typeface="DFKaiShu-GB5"/>
              <a:cs typeface="DFKaiShu-GB5" pitchFamily="65" charset="-128"/>
            </a:endParaRPr>
          </a:p>
        </p:txBody>
      </p:sp>
      <p:sp>
        <p:nvSpPr>
          <p:cNvPr id="28" name="Oval 27">
            <a:extLst>
              <a:ext uri="{FF2B5EF4-FFF2-40B4-BE49-F238E27FC236}">
                <a16:creationId xmlns:a16="http://schemas.microsoft.com/office/drawing/2014/main" id="{29CF0CDF-C19A-EC33-8D31-7BFC72055EA4}"/>
              </a:ext>
            </a:extLst>
          </p:cNvPr>
          <p:cNvSpPr/>
          <p:nvPr/>
        </p:nvSpPr>
        <p:spPr bwMode="auto">
          <a:xfrm>
            <a:off x="6138530" y="1501622"/>
            <a:ext cx="262789" cy="237743"/>
          </a:xfrm>
          <a:prstGeom prst="ellipse">
            <a:avLst/>
          </a:prstGeom>
          <a:solidFill>
            <a:srgbClr val="000000">
              <a:lumMod val="65000"/>
              <a:lumOff val="35000"/>
            </a:srgb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FFFFFF"/>
                </a:solidFill>
                <a:effectLst/>
                <a:uLnTx/>
                <a:uFillTx/>
                <a:latin typeface="Arial"/>
                <a:ea typeface="DFKaiShu-GB5"/>
                <a:cs typeface="DFKaiShu-GB5" pitchFamily="65" charset="-128"/>
              </a:rPr>
              <a:t>3</a:t>
            </a:r>
            <a:endParaRPr kumimoji="0" lang="zh-CN" altLang="en-US" sz="1200" b="0" i="0" u="none" strike="noStrike" kern="0" cap="none" spc="0" normalizeH="0" baseline="0" noProof="0">
              <a:ln>
                <a:noFill/>
              </a:ln>
              <a:solidFill>
                <a:srgbClr val="FFFFFF"/>
              </a:solidFill>
              <a:effectLst/>
              <a:uLnTx/>
              <a:uFillTx/>
              <a:latin typeface="Arial"/>
              <a:ea typeface="DFKaiShu-GB5"/>
              <a:cs typeface="DFKaiShu-GB5" pitchFamily="65" charset="-128"/>
            </a:endParaRPr>
          </a:p>
        </p:txBody>
      </p:sp>
      <p:sp>
        <p:nvSpPr>
          <p:cNvPr id="29" name="Oval 28">
            <a:extLst>
              <a:ext uri="{FF2B5EF4-FFF2-40B4-BE49-F238E27FC236}">
                <a16:creationId xmlns:a16="http://schemas.microsoft.com/office/drawing/2014/main" id="{713BD3F4-7B00-A82D-40AF-44C0FF5C116B}"/>
              </a:ext>
            </a:extLst>
          </p:cNvPr>
          <p:cNvSpPr/>
          <p:nvPr/>
        </p:nvSpPr>
        <p:spPr bwMode="auto">
          <a:xfrm>
            <a:off x="6120289" y="3739253"/>
            <a:ext cx="262789" cy="237743"/>
          </a:xfrm>
          <a:prstGeom prst="ellipse">
            <a:avLst/>
          </a:prstGeom>
          <a:solidFill>
            <a:srgbClr val="000000">
              <a:lumMod val="65000"/>
              <a:lumOff val="35000"/>
            </a:srgb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FFFFFF"/>
                </a:solidFill>
                <a:effectLst/>
                <a:uLnTx/>
                <a:uFillTx/>
                <a:latin typeface="Arial"/>
                <a:ea typeface="DFKaiShu-GB5"/>
                <a:cs typeface="DFKaiShu-GB5" pitchFamily="65" charset="-128"/>
              </a:rPr>
              <a:t>4</a:t>
            </a:r>
            <a:endParaRPr kumimoji="0" lang="zh-CN" altLang="en-US" sz="1200" b="0" i="0" u="none" strike="noStrike" kern="0" cap="none" spc="0" normalizeH="0" baseline="0" noProof="0">
              <a:ln>
                <a:noFill/>
              </a:ln>
              <a:solidFill>
                <a:srgbClr val="FFFFFF"/>
              </a:solidFill>
              <a:effectLst/>
              <a:uLnTx/>
              <a:uFillTx/>
              <a:latin typeface="Arial"/>
              <a:ea typeface="DFKaiShu-GB5"/>
              <a:cs typeface="DFKaiShu-GB5" pitchFamily="65" charset="-128"/>
            </a:endParaRPr>
          </a:p>
        </p:txBody>
      </p:sp>
      <p:sp>
        <p:nvSpPr>
          <p:cNvPr id="3" name="Slide Number Placeholder 2">
            <a:extLst>
              <a:ext uri="{FF2B5EF4-FFF2-40B4-BE49-F238E27FC236}">
                <a16:creationId xmlns:a16="http://schemas.microsoft.com/office/drawing/2014/main" id="{EE70A687-E750-52A6-3C3E-28AA862FD4D9}"/>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69</a:t>
            </a:fld>
            <a:endParaRPr lang="en-US" altLang="en-US" b="0">
              <a:solidFill>
                <a:srgbClr val="000000"/>
              </a:solidFill>
            </a:endParaRPr>
          </a:p>
        </p:txBody>
      </p:sp>
      <p:pic>
        <p:nvPicPr>
          <p:cNvPr id="5" name="Picture 2" descr="About Us - Singapore Medical Group">
            <a:extLst>
              <a:ext uri="{FF2B5EF4-FFF2-40B4-BE49-F238E27FC236}">
                <a16:creationId xmlns:a16="http://schemas.microsoft.com/office/drawing/2014/main" id="{B3954AB0-6320-7AE9-1B18-FF5A81C7C0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0394" y="2240436"/>
            <a:ext cx="1492158" cy="515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45146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CEE02-36A0-0AD6-554D-9DE9B7EC3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334B1-3B77-DBA8-7346-CD1E49BEE912}"/>
              </a:ext>
            </a:extLst>
          </p:cNvPr>
          <p:cNvSpPr>
            <a:spLocks noGrp="1"/>
          </p:cNvSpPr>
          <p:nvPr>
            <p:ph type="title"/>
          </p:nvPr>
        </p:nvSpPr>
        <p:spPr/>
        <p:txBody>
          <a:bodyPr/>
          <a:lstStyle/>
          <a:p>
            <a:r>
              <a:rPr lang="en-US" altLang="zh-CN" sz="2000" b="1" dirty="0">
                <a:latin typeface="+mn-lt"/>
              </a:rPr>
              <a:t>Greenshoe Mechanism</a:t>
            </a:r>
            <a:r>
              <a:rPr lang="zh-CN" altLang="en-US" sz="2000" b="1" dirty="0">
                <a:latin typeface="+mn-lt"/>
              </a:rPr>
              <a:t> </a:t>
            </a:r>
            <a:r>
              <a:rPr lang="en-US" altLang="zh-CN" sz="2000" b="1" dirty="0">
                <a:latin typeface="+mn-lt"/>
              </a:rPr>
              <a:t>– DBS’ Active Management of the Price Stabilization Process </a:t>
            </a:r>
            <a:endParaRPr lang="en-US" sz="2000" b="1" dirty="0">
              <a:latin typeface="+mn-lt"/>
            </a:endParaRPr>
          </a:p>
        </p:txBody>
      </p:sp>
      <p:sp>
        <p:nvSpPr>
          <p:cNvPr id="49" name="Text Box 5">
            <a:extLst>
              <a:ext uri="{FF2B5EF4-FFF2-40B4-BE49-F238E27FC236}">
                <a16:creationId xmlns:a16="http://schemas.microsoft.com/office/drawing/2014/main" id="{EF3F9D98-8181-3113-D093-DC43A40E245A}"/>
              </a:ext>
            </a:extLst>
          </p:cNvPr>
          <p:cNvSpPr txBox="1">
            <a:spLocks noChangeArrowheads="1"/>
          </p:cNvSpPr>
          <p:nvPr/>
        </p:nvSpPr>
        <p:spPr bwMode="auto">
          <a:xfrm>
            <a:off x="1648230" y="3311692"/>
            <a:ext cx="2381272" cy="664535"/>
          </a:xfrm>
          <a:prstGeom prst="roundRect">
            <a:avLst/>
          </a:prstGeom>
          <a:solidFill>
            <a:srgbClr val="000000">
              <a:lumMod val="50000"/>
              <a:lumOff val="50000"/>
            </a:srgbClr>
          </a:solidFill>
          <a:ln w="38100">
            <a:solidFill>
              <a:srgbClr val="FFFFFF"/>
            </a:solidFill>
            <a:miter lim="800000"/>
            <a:headEnd/>
            <a:tailEnd/>
          </a:ln>
          <a:effectLst>
            <a:outerShdw blurRad="63500" sx="102000" sy="102000" algn="ctr"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ct val="200000"/>
              </a:spcAft>
              <a:buClr>
                <a:srgbClr val="BE050A"/>
              </a:buClr>
              <a:buSzTx/>
              <a:buFont typeface="Wingdings" pitchFamily="2" charset="2"/>
              <a:buNone/>
              <a:tabLst/>
              <a:defRPr/>
            </a:pPr>
            <a:r>
              <a:rPr kumimoji="0" lang="en-US" altLang="zh-CN" sz="1400" i="0" u="none" strike="noStrike" kern="0" cap="none" spc="0" normalizeH="0" baseline="0" noProof="0">
                <a:ln>
                  <a:noFill/>
                </a:ln>
                <a:solidFill>
                  <a:srgbClr val="FFFFFF"/>
                </a:solidFill>
                <a:effectLst/>
                <a:uLnTx/>
                <a:uFillTx/>
                <a:latin typeface="Arial"/>
                <a:ea typeface="DFKaiShu-GB5"/>
                <a:cs typeface="Arial" panose="020B0604020202020204" pitchFamily="34" charset="0"/>
              </a:rPr>
              <a:t>Price is below IPO offer price</a:t>
            </a:r>
            <a:endParaRPr kumimoji="0" lang="en-US" sz="1400" i="0" u="none" strike="noStrike" kern="0" cap="none" spc="0" normalizeH="0" baseline="0" noProof="0">
              <a:ln>
                <a:noFill/>
              </a:ln>
              <a:solidFill>
                <a:srgbClr val="FFFFFF"/>
              </a:solidFill>
              <a:effectLst/>
              <a:uLnTx/>
              <a:uFillTx/>
              <a:latin typeface="Arial"/>
              <a:ea typeface="DFKaiShu-GB5"/>
              <a:cs typeface="Arial" panose="020B0604020202020204" pitchFamily="34" charset="0"/>
            </a:endParaRPr>
          </a:p>
        </p:txBody>
      </p:sp>
      <p:sp>
        <p:nvSpPr>
          <p:cNvPr id="50" name="Text Box 5">
            <a:extLst>
              <a:ext uri="{FF2B5EF4-FFF2-40B4-BE49-F238E27FC236}">
                <a16:creationId xmlns:a16="http://schemas.microsoft.com/office/drawing/2014/main" id="{27AC0FA2-B636-2FA5-A570-B092E29D8905}"/>
              </a:ext>
            </a:extLst>
          </p:cNvPr>
          <p:cNvSpPr txBox="1">
            <a:spLocks noChangeArrowheads="1"/>
          </p:cNvSpPr>
          <p:nvPr/>
        </p:nvSpPr>
        <p:spPr bwMode="auto">
          <a:xfrm>
            <a:off x="5716295" y="3326361"/>
            <a:ext cx="2381272" cy="664535"/>
          </a:xfrm>
          <a:prstGeom prst="roundRect">
            <a:avLst/>
          </a:prstGeom>
          <a:solidFill>
            <a:srgbClr val="FFFFFF">
              <a:lumMod val="50000"/>
            </a:srgbClr>
          </a:solidFill>
          <a:ln w="38100">
            <a:solidFill>
              <a:srgbClr val="FFFFFF"/>
            </a:solidFill>
            <a:miter lim="800000"/>
            <a:headEnd/>
            <a:tailEnd/>
          </a:ln>
          <a:effectLst>
            <a:outerShdw blurRad="63500" sx="102000" sy="102000" algn="ctr"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ct val="200000"/>
              </a:spcAft>
              <a:buClr>
                <a:srgbClr val="BE050A"/>
              </a:buClr>
              <a:buSzTx/>
              <a:buFont typeface="Wingdings" pitchFamily="2" charset="2"/>
              <a:buNone/>
              <a:tabLst/>
              <a:defRPr/>
            </a:pPr>
            <a:r>
              <a:rPr kumimoji="0" lang="en-US" altLang="zh-CN" sz="1400" i="0" u="none" strike="noStrike" kern="0" cap="none" spc="0" normalizeH="0" baseline="0" noProof="0">
                <a:ln>
                  <a:noFill/>
                </a:ln>
                <a:solidFill>
                  <a:srgbClr val="FFFFFF"/>
                </a:solidFill>
                <a:effectLst/>
                <a:uLnTx/>
                <a:uFillTx/>
                <a:latin typeface="Arial"/>
                <a:ea typeface="DFKaiShu-GB5"/>
                <a:cs typeface="Arial" panose="020B0604020202020204" pitchFamily="34" charset="0"/>
              </a:rPr>
              <a:t>Price equals or is higher than IPO offer price</a:t>
            </a:r>
            <a:endParaRPr kumimoji="0" lang="zh-CN" altLang="en-US" sz="1400" i="0" u="none" strike="noStrike" kern="0" cap="none" spc="0" normalizeH="0" baseline="0" noProof="0">
              <a:ln>
                <a:noFill/>
              </a:ln>
              <a:solidFill>
                <a:srgbClr val="FFFFFF"/>
              </a:solidFill>
              <a:effectLst/>
              <a:uLnTx/>
              <a:uFillTx/>
              <a:latin typeface="Arial"/>
              <a:ea typeface="DFKaiShu-GB5"/>
              <a:cs typeface="Arial" panose="020B0604020202020204" pitchFamily="34" charset="0"/>
            </a:endParaRPr>
          </a:p>
        </p:txBody>
      </p:sp>
      <p:cxnSp>
        <p:nvCxnSpPr>
          <p:cNvPr id="51" name="Straight Arrow Connector 50">
            <a:extLst>
              <a:ext uri="{FF2B5EF4-FFF2-40B4-BE49-F238E27FC236}">
                <a16:creationId xmlns:a16="http://schemas.microsoft.com/office/drawing/2014/main" id="{09873F24-9B3A-B82D-A199-1C5CBCCAB764}"/>
              </a:ext>
            </a:extLst>
          </p:cNvPr>
          <p:cNvCxnSpPr>
            <a:cxnSpLocks/>
            <a:endCxn id="49" idx="0"/>
          </p:cNvCxnSpPr>
          <p:nvPr/>
        </p:nvCxnSpPr>
        <p:spPr bwMode="auto">
          <a:xfrm flipH="1">
            <a:off x="2838866" y="2658845"/>
            <a:ext cx="770020" cy="652847"/>
          </a:xfrm>
          <a:prstGeom prst="straightConnector1">
            <a:avLst/>
          </a:prstGeom>
          <a:noFill/>
          <a:ln w="19050" cap="flat" cmpd="sng" algn="ctr">
            <a:solidFill>
              <a:srgbClr val="000000">
                <a:shade val="95000"/>
                <a:satMod val="105000"/>
              </a:srgbClr>
            </a:solidFill>
            <a:prstDash val="solid"/>
            <a:headEnd type="none" w="med" len="med"/>
            <a:tailEnd type="triangle"/>
          </a:ln>
          <a:effectLst/>
        </p:spPr>
      </p:cxnSp>
      <p:cxnSp>
        <p:nvCxnSpPr>
          <p:cNvPr id="52" name="Straight Arrow Connector 51">
            <a:extLst>
              <a:ext uri="{FF2B5EF4-FFF2-40B4-BE49-F238E27FC236}">
                <a16:creationId xmlns:a16="http://schemas.microsoft.com/office/drawing/2014/main" id="{10FB8D07-4B6A-482E-E6B2-75B68CC53C21}"/>
              </a:ext>
            </a:extLst>
          </p:cNvPr>
          <p:cNvCxnSpPr>
            <a:cxnSpLocks/>
            <a:endCxn id="50" idx="0"/>
          </p:cNvCxnSpPr>
          <p:nvPr/>
        </p:nvCxnSpPr>
        <p:spPr bwMode="auto">
          <a:xfrm>
            <a:off x="6237493" y="2660127"/>
            <a:ext cx="669438" cy="666234"/>
          </a:xfrm>
          <a:prstGeom prst="straightConnector1">
            <a:avLst/>
          </a:prstGeom>
          <a:noFill/>
          <a:ln w="19050" cap="flat" cmpd="sng" algn="ctr">
            <a:solidFill>
              <a:srgbClr val="000000">
                <a:shade val="95000"/>
                <a:satMod val="105000"/>
              </a:srgbClr>
            </a:solidFill>
            <a:prstDash val="solid"/>
            <a:headEnd type="none" w="med" len="med"/>
            <a:tailEnd type="triangle"/>
          </a:ln>
          <a:effectLst/>
        </p:spPr>
      </p:cxnSp>
      <p:sp>
        <p:nvSpPr>
          <p:cNvPr id="53" name="object 4">
            <a:extLst>
              <a:ext uri="{FF2B5EF4-FFF2-40B4-BE49-F238E27FC236}">
                <a16:creationId xmlns:a16="http://schemas.microsoft.com/office/drawing/2014/main" id="{5BDACDD7-08AC-B0E6-BEB2-CFF86638C93C}"/>
              </a:ext>
            </a:extLst>
          </p:cNvPr>
          <p:cNvSpPr/>
          <p:nvPr/>
        </p:nvSpPr>
        <p:spPr>
          <a:xfrm>
            <a:off x="999434" y="4131144"/>
            <a:ext cx="3678864" cy="777668"/>
          </a:xfrm>
          <a:custGeom>
            <a:avLst/>
            <a:gdLst/>
            <a:ahLst/>
            <a:cxnLst/>
            <a:rect l="l" t="t" r="r" b="b"/>
            <a:pathLst>
              <a:path w="6062980" h="1289685">
                <a:moveTo>
                  <a:pt x="0" y="1289303"/>
                </a:moveTo>
                <a:lnTo>
                  <a:pt x="6062472" y="1289303"/>
                </a:lnTo>
                <a:lnTo>
                  <a:pt x="6062472" y="0"/>
                </a:lnTo>
                <a:lnTo>
                  <a:pt x="0" y="0"/>
                </a:lnTo>
                <a:lnTo>
                  <a:pt x="0" y="1289303"/>
                </a:lnTo>
                <a:close/>
              </a:path>
            </a:pathLst>
          </a:custGeom>
          <a:solidFill>
            <a:srgbClr val="F8F4EA"/>
          </a:solidFill>
        </p:spPr>
        <p:txBody>
          <a:bodyPr wrap="square" lIns="0" tIns="0" rIns="0" bIns="0" rtlCol="0"/>
          <a:lstStyle/>
          <a:p>
            <a:pPr algn="ctr">
              <a:spcAft>
                <a:spcPct val="200000"/>
              </a:spcAft>
              <a:buClr>
                <a:srgbClr val="BE050A"/>
              </a:buClr>
              <a:buFont typeface="Wingdings" pitchFamily="2" charset="2"/>
              <a:buNone/>
            </a:pPr>
            <a:endParaRPr sz="1200" b="0" i="1">
              <a:solidFill>
                <a:srgbClr val="000000"/>
              </a:solidFill>
              <a:latin typeface="Arial"/>
              <a:ea typeface="DFKaiShu-GB5"/>
              <a:cs typeface="DFKaiShu-GB5" pitchFamily="65" charset="-128"/>
            </a:endParaRPr>
          </a:p>
        </p:txBody>
      </p:sp>
      <p:sp>
        <p:nvSpPr>
          <p:cNvPr id="54" name="object 4">
            <a:extLst>
              <a:ext uri="{FF2B5EF4-FFF2-40B4-BE49-F238E27FC236}">
                <a16:creationId xmlns:a16="http://schemas.microsoft.com/office/drawing/2014/main" id="{FEBCB7B6-E784-71F5-0EF2-06932B02AD31}"/>
              </a:ext>
            </a:extLst>
          </p:cNvPr>
          <p:cNvSpPr/>
          <p:nvPr/>
        </p:nvSpPr>
        <p:spPr>
          <a:xfrm>
            <a:off x="5067499" y="4136519"/>
            <a:ext cx="3678864" cy="777668"/>
          </a:xfrm>
          <a:custGeom>
            <a:avLst/>
            <a:gdLst/>
            <a:ahLst/>
            <a:cxnLst/>
            <a:rect l="l" t="t" r="r" b="b"/>
            <a:pathLst>
              <a:path w="6062980" h="1289685">
                <a:moveTo>
                  <a:pt x="0" y="1289303"/>
                </a:moveTo>
                <a:lnTo>
                  <a:pt x="6062472" y="1289303"/>
                </a:lnTo>
                <a:lnTo>
                  <a:pt x="6062472" y="0"/>
                </a:lnTo>
                <a:lnTo>
                  <a:pt x="0" y="0"/>
                </a:lnTo>
                <a:lnTo>
                  <a:pt x="0" y="1289303"/>
                </a:lnTo>
                <a:close/>
              </a:path>
            </a:pathLst>
          </a:custGeom>
          <a:solidFill>
            <a:srgbClr val="F8F4EA"/>
          </a:solidFill>
        </p:spPr>
        <p:txBody>
          <a:bodyPr wrap="square" lIns="0" tIns="0" rIns="0" bIns="0" rtlCol="0"/>
          <a:lstStyle/>
          <a:p>
            <a:pPr>
              <a:spcAft>
                <a:spcPct val="200000"/>
              </a:spcAft>
              <a:buClr>
                <a:srgbClr val="BE050A"/>
              </a:buClr>
              <a:buFont typeface="Wingdings" pitchFamily="2" charset="2"/>
              <a:buNone/>
            </a:pPr>
            <a:endParaRPr sz="1200" b="0" i="1">
              <a:solidFill>
                <a:srgbClr val="000000"/>
              </a:solidFill>
              <a:latin typeface="Arial"/>
              <a:ea typeface="DFKaiShu-GB5"/>
              <a:cs typeface="DFKaiShu-GB5" pitchFamily="65" charset="-128"/>
            </a:endParaRPr>
          </a:p>
        </p:txBody>
      </p:sp>
      <p:sp>
        <p:nvSpPr>
          <p:cNvPr id="55" name="TextBox 54">
            <a:extLst>
              <a:ext uri="{FF2B5EF4-FFF2-40B4-BE49-F238E27FC236}">
                <a16:creationId xmlns:a16="http://schemas.microsoft.com/office/drawing/2014/main" id="{0AE32254-84B5-8618-72C4-D63471D7D594}"/>
              </a:ext>
            </a:extLst>
          </p:cNvPr>
          <p:cNvSpPr txBox="1"/>
          <p:nvPr/>
        </p:nvSpPr>
        <p:spPr>
          <a:xfrm>
            <a:off x="1270696" y="4231172"/>
            <a:ext cx="3276645" cy="600164"/>
          </a:xfrm>
          <a:prstGeom prst="rect">
            <a:avLst/>
          </a:prstGeom>
          <a:noFill/>
        </p:spPr>
        <p:txBody>
          <a:bodyPr wrap="square" rtlCol="0">
            <a:spAutoFit/>
          </a:bodyPr>
          <a:lstStyle/>
          <a:p>
            <a:pPr algn="ctr">
              <a:spcAft>
                <a:spcPts val="0"/>
              </a:spcAft>
              <a:buClr>
                <a:srgbClr val="BE050A"/>
              </a:buClr>
              <a:buFont typeface="Wingdings" pitchFamily="2" charset="2"/>
              <a:buNone/>
            </a:pPr>
            <a:r>
              <a:rPr lang="en-US" altLang="zh-CN" sz="1100">
                <a:solidFill>
                  <a:srgbClr val="000000"/>
                </a:solidFill>
                <a:latin typeface="Arial"/>
                <a:ea typeface="DFKaiShu-GB5"/>
                <a:cs typeface="DFKaiShu-GB5" pitchFamily="65" charset="-128"/>
              </a:rPr>
              <a:t>Underwriters activate the price stabilization mechanism and purchased shares in the open market</a:t>
            </a:r>
            <a:endParaRPr lang="en-US" sz="1100">
              <a:solidFill>
                <a:srgbClr val="000000"/>
              </a:solidFill>
              <a:latin typeface="Arial"/>
              <a:ea typeface="DFKaiShu-GB5"/>
              <a:cs typeface="DFKaiShu-GB5" pitchFamily="65" charset="-128"/>
            </a:endParaRPr>
          </a:p>
        </p:txBody>
      </p:sp>
      <p:sp>
        <p:nvSpPr>
          <p:cNvPr id="56" name="TextBox 55">
            <a:extLst>
              <a:ext uri="{FF2B5EF4-FFF2-40B4-BE49-F238E27FC236}">
                <a16:creationId xmlns:a16="http://schemas.microsoft.com/office/drawing/2014/main" id="{0E77FA1D-1F0B-269E-C0BD-903582868BE5}"/>
              </a:ext>
            </a:extLst>
          </p:cNvPr>
          <p:cNvSpPr txBox="1"/>
          <p:nvPr/>
        </p:nvSpPr>
        <p:spPr>
          <a:xfrm>
            <a:off x="1161320" y="5019920"/>
            <a:ext cx="3362851" cy="1015663"/>
          </a:xfrm>
          <a:prstGeom prst="rect">
            <a:avLst/>
          </a:prstGeom>
          <a:noFill/>
        </p:spPr>
        <p:txBody>
          <a:bodyPr wrap="square" rtlCol="0">
            <a:spAutoFit/>
          </a:bodyPr>
          <a:lstStyle/>
          <a:p>
            <a:pPr algn="ctr">
              <a:spcAft>
                <a:spcPct val="200000"/>
              </a:spcAft>
              <a:buClr>
                <a:srgbClr val="BE050A"/>
              </a:buClr>
              <a:buFont typeface="Wingdings" pitchFamily="2" charset="2"/>
              <a:buNone/>
            </a:pPr>
            <a:r>
              <a:rPr lang="en-US" altLang="zh-CN" sz="1000" b="0">
                <a:solidFill>
                  <a:srgbClr val="000000"/>
                </a:solidFill>
                <a:latin typeface="Arial"/>
                <a:ea typeface="DFKaiShu-GB5"/>
                <a:cs typeface="DFKaiShu-GB5" pitchFamily="65" charset="-128"/>
              </a:rPr>
              <a:t>Following the example above, underwriters can purchase up to 150,000 shares in the open market at the range between the IPO price and the trading price, thereby increasing demand for the shares to support the share price, and to cover the over-allotment  shortfall (total number of shares issued: 1 million shares)</a:t>
            </a:r>
            <a:endParaRPr lang="en-US" sz="1000" b="0">
              <a:solidFill>
                <a:srgbClr val="000000"/>
              </a:solidFill>
              <a:latin typeface="Arial"/>
              <a:ea typeface="DFKaiShu-GB5"/>
              <a:cs typeface="DFKaiShu-GB5" pitchFamily="65" charset="-128"/>
            </a:endParaRPr>
          </a:p>
        </p:txBody>
      </p:sp>
      <p:sp>
        <p:nvSpPr>
          <p:cNvPr id="57" name="TextBox 56">
            <a:extLst>
              <a:ext uri="{FF2B5EF4-FFF2-40B4-BE49-F238E27FC236}">
                <a16:creationId xmlns:a16="http://schemas.microsoft.com/office/drawing/2014/main" id="{1713E55E-6F6F-48AF-E49A-417A08180655}"/>
              </a:ext>
            </a:extLst>
          </p:cNvPr>
          <p:cNvSpPr txBox="1"/>
          <p:nvPr/>
        </p:nvSpPr>
        <p:spPr>
          <a:xfrm>
            <a:off x="5298908" y="4331178"/>
            <a:ext cx="3242931" cy="430887"/>
          </a:xfrm>
          <a:prstGeom prst="rect">
            <a:avLst/>
          </a:prstGeom>
          <a:noFill/>
        </p:spPr>
        <p:txBody>
          <a:bodyPr wrap="square" rtlCol="0">
            <a:spAutoFit/>
          </a:bodyPr>
          <a:lstStyle/>
          <a:p>
            <a:pPr algn="ctr">
              <a:spcAft>
                <a:spcPct val="200000"/>
              </a:spcAft>
              <a:buClr>
                <a:srgbClr val="BE050A"/>
              </a:buClr>
              <a:buFont typeface="Wingdings" pitchFamily="2" charset="2"/>
              <a:buNone/>
            </a:pPr>
            <a:r>
              <a:rPr lang="en-US" altLang="zh-CN" sz="1100">
                <a:solidFill>
                  <a:srgbClr val="000000"/>
                </a:solidFill>
                <a:latin typeface="Arial"/>
                <a:ea typeface="DFKaiShu-GB5"/>
                <a:cs typeface="DFKaiShu-GB5" pitchFamily="65" charset="-128"/>
              </a:rPr>
              <a:t>Underwriters will coordinate with the issuer and exercise the greenshoe option</a:t>
            </a:r>
            <a:endParaRPr lang="en-US" sz="1100">
              <a:solidFill>
                <a:srgbClr val="000000"/>
              </a:solidFill>
              <a:latin typeface="Arial"/>
              <a:ea typeface="DFKaiShu-GB5"/>
              <a:cs typeface="DFKaiShu-GB5" pitchFamily="65" charset="-128"/>
            </a:endParaRPr>
          </a:p>
        </p:txBody>
      </p:sp>
      <p:sp>
        <p:nvSpPr>
          <p:cNvPr id="58" name="TextBox 57">
            <a:extLst>
              <a:ext uri="{FF2B5EF4-FFF2-40B4-BE49-F238E27FC236}">
                <a16:creationId xmlns:a16="http://schemas.microsoft.com/office/drawing/2014/main" id="{C522A112-3D97-71D2-D855-FFE0E7BA6117}"/>
              </a:ext>
            </a:extLst>
          </p:cNvPr>
          <p:cNvSpPr txBox="1"/>
          <p:nvPr/>
        </p:nvSpPr>
        <p:spPr>
          <a:xfrm>
            <a:off x="5298908" y="5096864"/>
            <a:ext cx="3255380" cy="861774"/>
          </a:xfrm>
          <a:prstGeom prst="rect">
            <a:avLst/>
          </a:prstGeom>
          <a:noFill/>
        </p:spPr>
        <p:txBody>
          <a:bodyPr wrap="square" rtlCol="0">
            <a:spAutoFit/>
          </a:bodyPr>
          <a:lstStyle/>
          <a:p>
            <a:pPr algn="ctr">
              <a:spcAft>
                <a:spcPct val="200000"/>
              </a:spcAft>
              <a:buClr>
                <a:srgbClr val="BE050A"/>
              </a:buClr>
              <a:buFont typeface="Wingdings" pitchFamily="2" charset="2"/>
              <a:buNone/>
            </a:pPr>
            <a:r>
              <a:rPr lang="en-US" altLang="zh-CN" sz="1000" b="0">
                <a:solidFill>
                  <a:srgbClr val="000000"/>
                </a:solidFill>
                <a:latin typeface="Arial"/>
                <a:ea typeface="DFKaiShu-GB5"/>
                <a:cs typeface="DFKaiShu-GB5" pitchFamily="65" charset="-128"/>
              </a:rPr>
              <a:t>Following the example above, the underwriters will purchase an additional 150,000 newly issued shares from the issuer to cover the shortfall caused by the over-allotment (total number of shares issued: 1.15 million shares)</a:t>
            </a:r>
            <a:endParaRPr lang="en-US" sz="1000" b="0">
              <a:solidFill>
                <a:srgbClr val="000000"/>
              </a:solidFill>
              <a:latin typeface="Arial"/>
              <a:ea typeface="DFKaiShu-GB5"/>
              <a:cs typeface="DFKaiShu-GB5" pitchFamily="65" charset="-128"/>
            </a:endParaRPr>
          </a:p>
        </p:txBody>
      </p:sp>
      <p:sp>
        <p:nvSpPr>
          <p:cNvPr id="6" name="Text Box 2589">
            <a:extLst>
              <a:ext uri="{FF2B5EF4-FFF2-40B4-BE49-F238E27FC236}">
                <a16:creationId xmlns:a16="http://schemas.microsoft.com/office/drawing/2014/main" id="{2BF567E5-391D-E748-B697-0AA4688658C8}"/>
              </a:ext>
            </a:extLst>
          </p:cNvPr>
          <p:cNvSpPr txBox="1">
            <a:spLocks noChangeArrowheads="1"/>
          </p:cNvSpPr>
          <p:nvPr/>
        </p:nvSpPr>
        <p:spPr bwMode="gray">
          <a:xfrm>
            <a:off x="723900" y="1181100"/>
            <a:ext cx="8496300" cy="861774"/>
          </a:xfrm>
          <a:prstGeom prst="rect">
            <a:avLst/>
          </a:prstGeom>
          <a:solidFill>
            <a:srgbClr val="FEBFB3"/>
          </a:solidFill>
          <a:ln w="9525" cap="flat" cmpd="sng" algn="ctr">
            <a:noFill/>
            <a:prstDash val="solid"/>
            <a:headEnd/>
            <a:tailEnd/>
          </a:ln>
          <a:effectLst>
            <a:outerShdw blurRad="50800" dist="38100" dir="2700000" algn="tl" rotWithShape="0">
              <a:prstClr val="black">
                <a:alpha val="40000"/>
              </a:prstClr>
            </a:outerShdw>
          </a:effectLst>
        </p:spPr>
        <p:txBody>
          <a:bodyPr wrap="square" lIns="91440" tIns="91440" rIns="91440" bIns="91440" anchor="t" anchorCtr="0">
            <a:spAutoFit/>
          </a:bodyPr>
          <a:lstStyle/>
          <a:p>
            <a:pPr marL="171450" indent="-171450" fontAlgn="auto">
              <a:spcBef>
                <a:spcPts val="0"/>
              </a:spcBef>
              <a:spcAft>
                <a:spcPts val="0"/>
              </a:spcAft>
              <a:buClr>
                <a:srgbClr val="C00000"/>
              </a:buClr>
              <a:buFont typeface="Wingdings" panose="05000000000000000000" pitchFamily="2" charset="2"/>
              <a:buChar char="§"/>
            </a:pPr>
            <a:r>
              <a:rPr lang="en-US" sz="1100" b="0">
                <a:solidFill>
                  <a:schemeClr val="tx1"/>
                </a:solidFill>
                <a:latin typeface="Arial"/>
                <a:ea typeface="STKaiti"/>
                <a:cs typeface="+mn-cs"/>
              </a:rPr>
              <a:t>The greenshoe option, also known as the over-allotment option, is a special measure in IPO transactions that allows underwriters to sell additional shares beyond the basic offering size to investors</a:t>
            </a:r>
          </a:p>
          <a:p>
            <a:pPr marL="171450" indent="-171450" fontAlgn="auto">
              <a:spcBef>
                <a:spcPts val="0"/>
              </a:spcBef>
              <a:spcAft>
                <a:spcPts val="0"/>
              </a:spcAft>
              <a:buClr>
                <a:srgbClr val="C00000"/>
              </a:buClr>
              <a:buFont typeface="Wingdings" panose="05000000000000000000" pitchFamily="2" charset="2"/>
              <a:buChar char="§"/>
            </a:pPr>
            <a:r>
              <a:rPr lang="en-US" sz="1100" b="0">
                <a:solidFill>
                  <a:schemeClr val="tx1"/>
                </a:solidFill>
                <a:latin typeface="Arial"/>
                <a:ea typeface="STKaiti"/>
                <a:cs typeface="+mn-cs"/>
              </a:rPr>
              <a:t>Underwriters will sell an additional 15% of the offering size during the offering (for example, 1 million basic offering shares plus 150,000 over-allotment shares)</a:t>
            </a:r>
          </a:p>
        </p:txBody>
      </p:sp>
      <p:sp>
        <p:nvSpPr>
          <p:cNvPr id="45" name="Rectangle: Rounded Corners 44">
            <a:extLst>
              <a:ext uri="{FF2B5EF4-FFF2-40B4-BE49-F238E27FC236}">
                <a16:creationId xmlns:a16="http://schemas.microsoft.com/office/drawing/2014/main" id="{0490724C-EB38-6CA9-3AF4-9844B1645ECE}"/>
              </a:ext>
            </a:extLst>
          </p:cNvPr>
          <p:cNvSpPr/>
          <p:nvPr/>
        </p:nvSpPr>
        <p:spPr bwMode="auto">
          <a:xfrm>
            <a:off x="2553763" y="2514148"/>
            <a:ext cx="2110246" cy="365760"/>
          </a:xfrm>
          <a:prstGeom prst="roundRect">
            <a:avLst/>
          </a:prstGeom>
          <a:solidFill>
            <a:srgbClr val="BE050A"/>
          </a:solidFill>
          <a:ln w="9525">
            <a:noFill/>
            <a:round/>
            <a:headEnd/>
            <a:tailEnd/>
          </a:ln>
        </p:spPr>
        <p:txBody>
          <a:bodyPr wrap="square" lIns="0" tIns="0" rIns="0" bIns="0" rtlCol="0" anchor="ctr">
            <a:noAutofit/>
          </a:bodyPr>
          <a:lstStyle/>
          <a:p>
            <a:pPr algn="ctr">
              <a:spcAft>
                <a:spcPct val="200000"/>
              </a:spcAft>
              <a:buClr>
                <a:srgbClr val="BE050A"/>
              </a:buClr>
              <a:buFont typeface="Wingdings" pitchFamily="2" charset="2"/>
              <a:buNone/>
            </a:pPr>
            <a:r>
              <a:rPr lang="en-US" altLang="zh-TW" sz="900">
                <a:solidFill>
                  <a:srgbClr val="FFFFFF"/>
                </a:solidFill>
                <a:latin typeface="Arial"/>
                <a:ea typeface="DFKaiShu-GB5"/>
                <a:cs typeface="DFKaiShu-GB5" pitchFamily="65" charset="-128"/>
              </a:rPr>
              <a:t>Green-shoe</a:t>
            </a:r>
            <a:r>
              <a:rPr lang="zh-TW" altLang="en-US" sz="900">
                <a:solidFill>
                  <a:srgbClr val="FFFFFF"/>
                </a:solidFill>
                <a:latin typeface="Arial"/>
                <a:ea typeface="DFKaiShu-GB5"/>
                <a:cs typeface="DFKaiShu-GB5" pitchFamily="65" charset="-128"/>
              </a:rPr>
              <a:t> </a:t>
            </a:r>
            <a:r>
              <a:rPr lang="en-US" altLang="zh-TW" sz="900">
                <a:solidFill>
                  <a:srgbClr val="FFFFFF"/>
                </a:solidFill>
                <a:latin typeface="Arial"/>
                <a:ea typeface="DFKaiShu-GB5"/>
                <a:cs typeface="DFKaiShu-GB5" pitchFamily="65" charset="-128"/>
              </a:rPr>
              <a:t>mechanism</a:t>
            </a:r>
            <a:endParaRPr lang="zh-TW" altLang="en-US" sz="900">
              <a:solidFill>
                <a:srgbClr val="FFFFFF"/>
              </a:solidFill>
              <a:latin typeface="Arial"/>
              <a:ea typeface="DFKaiShu-GB5"/>
              <a:cs typeface="DFKaiShu-GB5" pitchFamily="65" charset="-128"/>
            </a:endParaRPr>
          </a:p>
        </p:txBody>
      </p:sp>
      <p:sp>
        <p:nvSpPr>
          <p:cNvPr id="46" name="Oval 45">
            <a:extLst>
              <a:ext uri="{FF2B5EF4-FFF2-40B4-BE49-F238E27FC236}">
                <a16:creationId xmlns:a16="http://schemas.microsoft.com/office/drawing/2014/main" id="{7B788E81-3834-2D75-8DF3-875AFFF52300}"/>
              </a:ext>
            </a:extLst>
          </p:cNvPr>
          <p:cNvSpPr/>
          <p:nvPr/>
        </p:nvSpPr>
        <p:spPr bwMode="auto">
          <a:xfrm>
            <a:off x="1888325" y="2175510"/>
            <a:ext cx="904174" cy="857250"/>
          </a:xfrm>
          <a:prstGeom prst="ellipse">
            <a:avLst/>
          </a:prstGeom>
          <a:solidFill>
            <a:srgbClr val="FFFFFF"/>
          </a:solidFill>
          <a:ln w="19050">
            <a:solidFill>
              <a:srgbClr val="C00000"/>
            </a:solidFill>
            <a:round/>
            <a:headEnd/>
            <a:tailEnd/>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ct val="200000"/>
              </a:spcAft>
              <a:buClr>
                <a:srgbClr val="BE050A"/>
              </a:buClr>
              <a:buSzTx/>
              <a:buFont typeface="Wingdings" pitchFamily="2" charset="2"/>
              <a:buNone/>
              <a:tabLst/>
              <a:defRPr/>
            </a:pPr>
            <a:endParaRPr kumimoji="0" lang="en-US" sz="900" b="0" i="1" u="none" strike="noStrike" kern="0" cap="none" spc="0" normalizeH="0" baseline="0" noProof="0">
              <a:ln>
                <a:noFill/>
              </a:ln>
              <a:solidFill>
                <a:srgbClr val="000000"/>
              </a:solidFill>
              <a:effectLst/>
              <a:uLnTx/>
              <a:uFillTx/>
              <a:latin typeface="Arial"/>
              <a:ea typeface="DFKaiShu-GB5"/>
              <a:cs typeface="DFKaiShu-GB5" pitchFamily="65" charset="-128"/>
            </a:endParaRPr>
          </a:p>
        </p:txBody>
      </p:sp>
      <p:pic>
        <p:nvPicPr>
          <p:cNvPr id="47" name="Picture 46">
            <a:extLst>
              <a:ext uri="{FF2B5EF4-FFF2-40B4-BE49-F238E27FC236}">
                <a16:creationId xmlns:a16="http://schemas.microsoft.com/office/drawing/2014/main" id="{4D718B88-6EDC-86E6-3C19-1396D72FB2FB}"/>
              </a:ext>
            </a:extLst>
          </p:cNvPr>
          <p:cNvPicPr>
            <a:picLocks noChangeAspect="1"/>
          </p:cNvPicPr>
          <p:nvPr/>
        </p:nvPicPr>
        <p:blipFill rotWithShape="1">
          <a:blip r:embed="rId3">
            <a:clrChange>
              <a:clrFrom>
                <a:srgbClr val="F8F8F8"/>
              </a:clrFrom>
              <a:clrTo>
                <a:srgbClr val="F8F8F8">
                  <a:alpha val="0"/>
                </a:srgbClr>
              </a:clrTo>
            </a:clrChange>
          </a:blip>
          <a:srcRect l="23429" t="16960" r="23161" b="28620"/>
          <a:stretch/>
        </p:blipFill>
        <p:spPr>
          <a:xfrm>
            <a:off x="2042337" y="2268474"/>
            <a:ext cx="591578" cy="602757"/>
          </a:xfrm>
          <a:prstGeom prst="rect">
            <a:avLst/>
          </a:prstGeom>
        </p:spPr>
      </p:pic>
      <p:sp>
        <p:nvSpPr>
          <p:cNvPr id="48" name="Rectangle: Rounded Corners 47">
            <a:extLst>
              <a:ext uri="{FF2B5EF4-FFF2-40B4-BE49-F238E27FC236}">
                <a16:creationId xmlns:a16="http://schemas.microsoft.com/office/drawing/2014/main" id="{82FC64FE-9AFD-2F6F-0F73-25E3358B38E5}"/>
              </a:ext>
            </a:extLst>
          </p:cNvPr>
          <p:cNvSpPr/>
          <p:nvPr/>
        </p:nvSpPr>
        <p:spPr bwMode="auto">
          <a:xfrm>
            <a:off x="4756070" y="2515430"/>
            <a:ext cx="2962845" cy="365760"/>
          </a:xfrm>
          <a:prstGeom prst="roundRect">
            <a:avLst/>
          </a:prstGeom>
          <a:solidFill>
            <a:srgbClr val="D9D9D9"/>
          </a:solidFill>
          <a:ln w="9525">
            <a:solidFill>
              <a:srgbClr val="FFFFFF"/>
            </a:solidFill>
            <a:round/>
            <a:headEnd/>
            <a:tailEnd/>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ct val="200000"/>
              </a:spcAft>
              <a:buClr>
                <a:srgbClr val="BE050A"/>
              </a:buClr>
              <a:buSzTx/>
              <a:buFont typeface="Wingdings" pitchFamily="2" charset="2"/>
              <a:buNone/>
              <a:tabLst/>
              <a:defRPr/>
            </a:pPr>
            <a:r>
              <a:rPr kumimoji="0" lang="en-US" altLang="zh-CN" sz="900" b="0" i="0" u="none" strike="noStrike" kern="0" cap="none" spc="0" normalizeH="0" baseline="0" noProof="0">
                <a:ln>
                  <a:noFill/>
                </a:ln>
                <a:solidFill>
                  <a:srgbClr val="000000"/>
                </a:solidFill>
                <a:effectLst/>
                <a:uLnTx/>
                <a:uFillTx/>
                <a:latin typeface="Arial"/>
                <a:ea typeface="DFKaiShu-GB5"/>
                <a:cs typeface="DFKaiShu-GB5" pitchFamily="65" charset="-128"/>
              </a:rPr>
              <a:t>Underwriters over-allot 15% of the IPO base offering size to investors</a:t>
            </a:r>
            <a:endParaRPr kumimoji="0" lang="zh-CN" altLang="en-US" sz="900" b="0" i="0" u="none" strike="noStrike" kern="0" cap="none" spc="0" normalizeH="0" baseline="0" noProof="0">
              <a:ln>
                <a:noFill/>
              </a:ln>
              <a:solidFill>
                <a:srgbClr val="000000"/>
              </a:solidFill>
              <a:effectLst/>
              <a:uLnTx/>
              <a:uFillTx/>
              <a:latin typeface="Arial"/>
              <a:ea typeface="DFKaiShu-GB5"/>
              <a:cs typeface="DFKaiShu-GB5" pitchFamily="65" charset="-128"/>
            </a:endParaRPr>
          </a:p>
        </p:txBody>
      </p:sp>
      <p:sp>
        <p:nvSpPr>
          <p:cNvPr id="3" name="Slide Number Placeholder 2">
            <a:extLst>
              <a:ext uri="{FF2B5EF4-FFF2-40B4-BE49-F238E27FC236}">
                <a16:creationId xmlns:a16="http://schemas.microsoft.com/office/drawing/2014/main" id="{3A20FB93-39B7-F8DF-E0E7-F81E3AE3D6B7}"/>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70</a:t>
            </a:fld>
            <a:endParaRPr lang="en-US" altLang="en-US" b="0">
              <a:solidFill>
                <a:srgbClr val="000000"/>
              </a:solidFill>
            </a:endParaRPr>
          </a:p>
        </p:txBody>
      </p:sp>
    </p:spTree>
    <p:extLst>
      <p:ext uri="{BB962C8B-B14F-4D97-AF65-F5344CB8AC3E}">
        <p14:creationId xmlns:p14="http://schemas.microsoft.com/office/powerpoint/2010/main" val="1623403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89F91-C8B1-8CDF-A1A6-53FBF3D8B67C}"/>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985C6F6D-3AD1-65AB-9E6D-A531173D9032}"/>
              </a:ext>
            </a:extLst>
          </p:cNvPr>
          <p:cNvSpPr>
            <a:spLocks noGrp="1"/>
          </p:cNvSpPr>
          <p:nvPr>
            <p:ph type="subTitle" idx="1"/>
          </p:nvPr>
        </p:nvSpPr>
        <p:spPr/>
        <p:txBody>
          <a:bodyPr/>
          <a:lstStyle/>
          <a:p>
            <a:r>
              <a:rPr lang="en-US" altLang="zh-TW" b="1" dirty="0"/>
              <a:t>Section IV – Appendix</a:t>
            </a:r>
            <a:endParaRPr lang="en-US" b="1" dirty="0"/>
          </a:p>
        </p:txBody>
      </p:sp>
      <p:sp>
        <p:nvSpPr>
          <p:cNvPr id="3" name="Title 2">
            <a:extLst>
              <a:ext uri="{FF2B5EF4-FFF2-40B4-BE49-F238E27FC236}">
                <a16:creationId xmlns:a16="http://schemas.microsoft.com/office/drawing/2014/main" id="{AD70F8E7-6ED7-4BAA-CA70-48EC87AA2972}"/>
              </a:ext>
            </a:extLst>
          </p:cNvPr>
          <p:cNvSpPr>
            <a:spLocks noGrp="1"/>
          </p:cNvSpPr>
          <p:nvPr>
            <p:ph type="ctrTitle"/>
          </p:nvPr>
        </p:nvSpPr>
        <p:spPr>
          <a:xfrm>
            <a:off x="2242944" y="4131897"/>
            <a:ext cx="7200000" cy="492443"/>
          </a:xfrm>
        </p:spPr>
        <p:txBody>
          <a:bodyPr/>
          <a:lstStyle/>
          <a:p>
            <a:endParaRPr lang="en-US" dirty="0"/>
          </a:p>
        </p:txBody>
      </p:sp>
      <p:sp>
        <p:nvSpPr>
          <p:cNvPr id="4" name="Slide Number Placeholder 3">
            <a:extLst>
              <a:ext uri="{FF2B5EF4-FFF2-40B4-BE49-F238E27FC236}">
                <a16:creationId xmlns:a16="http://schemas.microsoft.com/office/drawing/2014/main" id="{79ED47B0-505B-EFE8-65AD-97F69E0DEF92}"/>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71</a:t>
            </a:fld>
            <a:endParaRPr lang="en-US" altLang="en-US" b="0">
              <a:solidFill>
                <a:srgbClr val="000000"/>
              </a:solidFill>
            </a:endParaRPr>
          </a:p>
        </p:txBody>
      </p:sp>
    </p:spTree>
    <p:extLst>
      <p:ext uri="{BB962C8B-B14F-4D97-AF65-F5344CB8AC3E}">
        <p14:creationId xmlns:p14="http://schemas.microsoft.com/office/powerpoint/2010/main" val="28563596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05A8CE-D2D0-82A1-9376-FE6331618EFA}"/>
              </a:ext>
            </a:extLst>
          </p:cNvPr>
          <p:cNvSpPr>
            <a:spLocks noGrp="1"/>
          </p:cNvSpPr>
          <p:nvPr>
            <p:ph type="title"/>
          </p:nvPr>
        </p:nvSpPr>
        <p:spPr/>
        <p:txBody>
          <a:bodyPr/>
          <a:lstStyle/>
          <a:p>
            <a:r>
              <a:rPr lang="en-US" dirty="0"/>
              <a:t>Comparison between Main Board/Market of SGX, HKEX</a:t>
            </a:r>
          </a:p>
        </p:txBody>
      </p:sp>
      <p:sp>
        <p:nvSpPr>
          <p:cNvPr id="3" name="投影片編號版面配置區 2">
            <a:extLst>
              <a:ext uri="{FF2B5EF4-FFF2-40B4-BE49-F238E27FC236}">
                <a16:creationId xmlns:a16="http://schemas.microsoft.com/office/drawing/2014/main" id="{81315497-D673-E03C-E61A-F581831C4FEF}"/>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72</a:t>
            </a:fld>
            <a:endParaRPr lang="en-US" altLang="en-US" b="0">
              <a:solidFill>
                <a:srgbClr val="000000"/>
              </a:solidFill>
            </a:endParaRPr>
          </a:p>
        </p:txBody>
      </p:sp>
      <p:graphicFrame>
        <p:nvGraphicFramePr>
          <p:cNvPr id="4" name="Table 3">
            <a:extLst>
              <a:ext uri="{FF2B5EF4-FFF2-40B4-BE49-F238E27FC236}">
                <a16:creationId xmlns:a16="http://schemas.microsoft.com/office/drawing/2014/main" id="{11FAAEEA-CF90-40CE-EF6C-C0099473AF73}"/>
              </a:ext>
            </a:extLst>
          </p:cNvPr>
          <p:cNvGraphicFramePr>
            <a:graphicFrameLocks noGrp="1"/>
          </p:cNvGraphicFramePr>
          <p:nvPr>
            <p:custDataLst>
              <p:tags r:id="rId1"/>
            </p:custDataLst>
          </p:nvPr>
        </p:nvGraphicFramePr>
        <p:xfrm>
          <a:off x="717152" y="1187116"/>
          <a:ext cx="8494052" cy="5079458"/>
        </p:xfrm>
        <a:graphic>
          <a:graphicData uri="http://schemas.openxmlformats.org/drawingml/2006/table">
            <a:tbl>
              <a:tblPr firstRow="1" bandRow="1">
                <a:tableStyleId>{2D5ABB26-0587-4C30-8999-92F81FD0307C}</a:tableStyleId>
              </a:tblPr>
              <a:tblGrid>
                <a:gridCol w="1544373">
                  <a:extLst>
                    <a:ext uri="{9D8B030D-6E8A-4147-A177-3AD203B41FA5}">
                      <a16:colId xmlns:a16="http://schemas.microsoft.com/office/drawing/2014/main" val="95347921"/>
                    </a:ext>
                  </a:extLst>
                </a:gridCol>
                <a:gridCol w="3724665">
                  <a:extLst>
                    <a:ext uri="{9D8B030D-6E8A-4147-A177-3AD203B41FA5}">
                      <a16:colId xmlns:a16="http://schemas.microsoft.com/office/drawing/2014/main" val="2132268373"/>
                    </a:ext>
                  </a:extLst>
                </a:gridCol>
                <a:gridCol w="3225014">
                  <a:extLst>
                    <a:ext uri="{9D8B030D-6E8A-4147-A177-3AD203B41FA5}">
                      <a16:colId xmlns:a16="http://schemas.microsoft.com/office/drawing/2014/main" val="1966100518"/>
                    </a:ext>
                  </a:extLst>
                </a:gridCol>
              </a:tblGrid>
              <a:tr h="185701">
                <a:tc>
                  <a:txBody>
                    <a:bodyPr/>
                    <a:lstStyle/>
                    <a:p>
                      <a:pPr>
                        <a:lnSpc>
                          <a:spcPct val="110000"/>
                        </a:lnSpc>
                        <a:spcAft>
                          <a:spcPts val="300"/>
                        </a:spcAft>
                      </a:pPr>
                      <a:r>
                        <a:rPr lang="en-US" sz="850" b="1" dirty="0">
                          <a:solidFill>
                            <a:schemeClr val="bg1"/>
                          </a:solidFill>
                          <a:latin typeface="Arial" panose="020B0604020202020204" pitchFamily="34" charset="0"/>
                          <a:cs typeface="Arial" panose="020B0604020202020204" pitchFamily="34" charset="0"/>
                        </a:rPr>
                        <a:t>Key Considerations</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tc>
                  <a:txBody>
                    <a:bodyPr/>
                    <a:lstStyle/>
                    <a:p>
                      <a:pPr algn="ctr">
                        <a:lnSpc>
                          <a:spcPct val="110000"/>
                        </a:lnSpc>
                        <a:spcAft>
                          <a:spcPts val="300"/>
                        </a:spcAft>
                      </a:pPr>
                      <a:r>
                        <a:rPr lang="en-US" sz="850" b="1" dirty="0">
                          <a:solidFill>
                            <a:schemeClr val="bg1"/>
                          </a:solidFill>
                          <a:latin typeface="Arial" panose="020B0604020202020204" pitchFamily="34" charset="0"/>
                          <a:cs typeface="Arial" panose="020B0604020202020204" pitchFamily="34" charset="0"/>
                        </a:rPr>
                        <a:t>Singapore (SGX)</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tc>
                  <a:txBody>
                    <a:bodyPr/>
                    <a:lstStyle/>
                    <a:p>
                      <a:pPr algn="ctr">
                        <a:lnSpc>
                          <a:spcPct val="110000"/>
                        </a:lnSpc>
                        <a:spcAft>
                          <a:spcPts val="300"/>
                        </a:spcAft>
                      </a:pPr>
                      <a:r>
                        <a:rPr lang="en-US" sz="850" b="1" dirty="0">
                          <a:solidFill>
                            <a:schemeClr val="bg1"/>
                          </a:solidFill>
                          <a:latin typeface="Arial" panose="020B0604020202020204" pitchFamily="34" charset="0"/>
                          <a:cs typeface="Arial" panose="020B0604020202020204" pitchFamily="34" charset="0"/>
                        </a:rPr>
                        <a:t>Hong Kong (</a:t>
                      </a:r>
                      <a:r>
                        <a:rPr lang="en-US" sz="850" b="1" dirty="0" err="1">
                          <a:solidFill>
                            <a:schemeClr val="bg1"/>
                          </a:solidFill>
                          <a:latin typeface="Arial" panose="020B0604020202020204" pitchFamily="34" charset="0"/>
                          <a:cs typeface="Arial" panose="020B0604020202020204" pitchFamily="34" charset="0"/>
                        </a:rPr>
                        <a:t>HKEX</a:t>
                      </a:r>
                      <a:r>
                        <a:rPr lang="en-US" sz="850" b="1" dirty="0">
                          <a:solidFill>
                            <a:schemeClr val="bg1"/>
                          </a:solidFill>
                          <a:latin typeface="Arial" panose="020B0604020202020204" pitchFamily="34" charset="0"/>
                          <a:cs typeface="Arial" panose="020B0604020202020204" pitchFamily="34" charset="0"/>
                        </a:rPr>
                        <a:t>)</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63110433"/>
                  </a:ext>
                </a:extLst>
              </a:tr>
              <a:tr h="568599">
                <a:tc>
                  <a:txBody>
                    <a:bodyPr/>
                    <a:lstStyle/>
                    <a:p>
                      <a:pPr algn="l" fontAlgn="t">
                        <a:lnSpc>
                          <a:spcPct val="110000"/>
                        </a:lnSpc>
                        <a:spcAft>
                          <a:spcPts val="100"/>
                        </a:spcAft>
                      </a:pPr>
                      <a:r>
                        <a:rPr lang="en-SG" sz="850" b="0" i="0" u="none" strike="noStrike" dirty="0">
                          <a:solidFill>
                            <a:srgbClr val="000000"/>
                          </a:solidFill>
                          <a:effectLst/>
                          <a:latin typeface="Arial" panose="020B0604020202020204" pitchFamily="34" charset="0"/>
                        </a:rPr>
                        <a:t>Regulatory Environment</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Well-developed regulatory framework</a:t>
                      </a:r>
                    </a:p>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Clear listing requirements and disclosure standards</a:t>
                      </a:r>
                    </a:p>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Recent MAS measures streamline towards a disclosure-based regime</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Stringent listing requirements and corporate governance standards</a:t>
                      </a:r>
                    </a:p>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Robust regulatory oversight</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439394819"/>
                  </a:ext>
                </a:extLst>
              </a:tr>
              <a:tr h="2331254">
                <a:tc>
                  <a:txBody>
                    <a:bodyPr/>
                    <a:lstStyle/>
                    <a:p>
                      <a:pPr algn="l" fontAlgn="t">
                        <a:lnSpc>
                          <a:spcPct val="110000"/>
                        </a:lnSpc>
                        <a:spcAft>
                          <a:spcPts val="100"/>
                        </a:spcAft>
                      </a:pPr>
                      <a:r>
                        <a:rPr lang="en-SG" sz="850" b="0" i="0" u="none" strike="noStrike" dirty="0">
                          <a:solidFill>
                            <a:srgbClr val="000000"/>
                          </a:solidFill>
                          <a:effectLst/>
                          <a:latin typeface="Arial" panose="020B0604020202020204" pitchFamily="34" charset="0"/>
                        </a:rPr>
                        <a:t>Profit  and market cap requirement at listing</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742950" rtl="0" eaLnBrk="1" fontAlgn="auto" latinLnBrk="0" hangingPunct="1">
                        <a:lnSpc>
                          <a:spcPct val="110000"/>
                        </a:lnSpc>
                        <a:spcBef>
                          <a:spcPts val="0"/>
                        </a:spcBef>
                        <a:spcAft>
                          <a:spcPts val="100"/>
                        </a:spcAft>
                        <a:buClrTx/>
                        <a:buSzTx/>
                        <a:buFont typeface="Arial" panose="020B0604020202020204" pitchFamily="34" charset="0"/>
                        <a:buNone/>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Meet 1 of the following tests:</a:t>
                      </a:r>
                    </a:p>
                    <a:p>
                      <a:pPr marL="0" marR="0" lvl="0" indent="0" algn="l" defTabSz="742950" rtl="0" eaLnBrk="1" fontAlgn="auto" latinLnBrk="0" hangingPunct="1">
                        <a:lnSpc>
                          <a:spcPct val="110000"/>
                        </a:lnSpc>
                        <a:spcBef>
                          <a:spcPts val="0"/>
                        </a:spcBef>
                        <a:spcAft>
                          <a:spcPts val="100"/>
                        </a:spcAft>
                        <a:buClrTx/>
                        <a:buSzTx/>
                        <a:buFont typeface="Arial" panose="020B0604020202020204" pitchFamily="34" charset="0"/>
                        <a:buNone/>
                        <a:tabLst/>
                        <a:defRPr/>
                      </a:pPr>
                      <a:endPar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742950" rtl="0" eaLnBrk="1" fontAlgn="auto" latinLnBrk="0" hangingPunct="1">
                        <a:lnSpc>
                          <a:spcPct val="110000"/>
                        </a:lnSpc>
                        <a:spcBef>
                          <a:spcPts val="0"/>
                        </a:spcBef>
                        <a:spcAft>
                          <a:spcPts val="100"/>
                        </a:spcAft>
                        <a:buClrTx/>
                        <a:buSzTx/>
                        <a:buFont typeface="+mj-lt"/>
                        <a:buAutoNum type="arabicPeriod"/>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Companies with operating track record ≥ 3 years </a:t>
                      </a:r>
                    </a:p>
                    <a:p>
                      <a:pPr marL="657225" marR="0" lvl="1" indent="-285750" algn="l" defTabSz="742950" rtl="0" eaLnBrk="1" fontAlgn="auto" latinLnBrk="0" hangingPunct="1">
                        <a:lnSpc>
                          <a:spcPct val="110000"/>
                        </a:lnSpc>
                        <a:spcBef>
                          <a:spcPts val="0"/>
                        </a:spcBef>
                        <a:spcAft>
                          <a:spcPts val="100"/>
                        </a:spcAft>
                        <a:buClrTx/>
                        <a:buSzTx/>
                        <a:buFont typeface="+mj-lt"/>
                        <a:buAutoNum type="romanUcPeriod"/>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Have cumulative S$30m pre-tax profit for last financial years with, </a:t>
                      </a:r>
                      <a:r>
                        <a:rPr kumimoji="0" lang="en-SG" sz="85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or</a:t>
                      </a:r>
                    </a:p>
                    <a:p>
                      <a:pPr marL="600075" marR="0" lvl="1" indent="-228600" algn="l" defTabSz="742950" rtl="0" eaLnBrk="1" fontAlgn="auto" latinLnBrk="0" hangingPunct="1">
                        <a:lnSpc>
                          <a:spcPct val="110000"/>
                        </a:lnSpc>
                        <a:spcBef>
                          <a:spcPts val="0"/>
                        </a:spcBef>
                        <a:spcAft>
                          <a:spcPts val="100"/>
                        </a:spcAft>
                        <a:buClrTx/>
                        <a:buSzTx/>
                        <a:buFont typeface="+mj-lt"/>
                        <a:buAutoNum type="romanUcPeriod"/>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Have market cap of ≥S$150m and profitable in latest financial year</a:t>
                      </a:r>
                    </a:p>
                    <a:p>
                      <a:pPr marL="600075" marR="0" lvl="1" indent="-228600" algn="l" defTabSz="742950" rtl="0" eaLnBrk="1" fontAlgn="auto" latinLnBrk="0" hangingPunct="1">
                        <a:lnSpc>
                          <a:spcPct val="110000"/>
                        </a:lnSpc>
                        <a:spcBef>
                          <a:spcPts val="0"/>
                        </a:spcBef>
                        <a:spcAft>
                          <a:spcPts val="100"/>
                        </a:spcAft>
                        <a:buClrTx/>
                        <a:buSzTx/>
                        <a:buFont typeface="+mj-lt"/>
                        <a:buAutoNum type="romanUcPeriod"/>
                        <a:tabLst/>
                        <a:defRPr/>
                      </a:pPr>
                      <a:endPar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742950" rtl="0" eaLnBrk="1" fontAlgn="auto" latinLnBrk="0" hangingPunct="1">
                        <a:lnSpc>
                          <a:spcPct val="110000"/>
                        </a:lnSpc>
                        <a:spcBef>
                          <a:spcPts val="0"/>
                        </a:spcBef>
                        <a:spcAft>
                          <a:spcPts val="100"/>
                        </a:spcAft>
                        <a:buClrTx/>
                        <a:buSzTx/>
                        <a:buFont typeface="+mj-lt"/>
                        <a:buAutoNum type="arabicPeriod"/>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Companies without operating revenue for latest financial years</a:t>
                      </a:r>
                    </a:p>
                    <a:p>
                      <a:pPr marL="657225" marR="0" lvl="1" indent="-285750" algn="l" defTabSz="742950" rtl="0" eaLnBrk="1" fontAlgn="auto" latinLnBrk="0" hangingPunct="1">
                        <a:lnSpc>
                          <a:spcPct val="110000"/>
                        </a:lnSpc>
                        <a:spcBef>
                          <a:spcPts val="0"/>
                        </a:spcBef>
                        <a:spcAft>
                          <a:spcPts val="100"/>
                        </a:spcAft>
                        <a:buClrTx/>
                        <a:buSzTx/>
                        <a:buFont typeface="+mj-lt"/>
                        <a:buAutoNum type="romanUcPeriod"/>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Have market cap of ≥S$300m</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742950" rtl="0" eaLnBrk="1" fontAlgn="auto" latinLnBrk="0" hangingPunct="1">
                        <a:lnSpc>
                          <a:spcPct val="110000"/>
                        </a:lnSpc>
                        <a:spcBef>
                          <a:spcPts val="0"/>
                        </a:spcBef>
                        <a:spcAft>
                          <a:spcPts val="100"/>
                        </a:spcAft>
                        <a:buClrTx/>
                        <a:buSzTx/>
                        <a:buFont typeface="+mj-lt"/>
                        <a:buNone/>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Meet 1 of the following 3 tests: </a:t>
                      </a:r>
                    </a:p>
                    <a:p>
                      <a:pPr marL="228600" marR="0" lvl="0" indent="-228600" algn="l" defTabSz="742950" rtl="0" eaLnBrk="1" fontAlgn="auto" latinLnBrk="0" hangingPunct="1">
                        <a:lnSpc>
                          <a:spcPct val="110000"/>
                        </a:lnSpc>
                        <a:spcBef>
                          <a:spcPts val="0"/>
                        </a:spcBef>
                        <a:spcAft>
                          <a:spcPts val="100"/>
                        </a:spcAft>
                        <a:buClrTx/>
                        <a:buSzTx/>
                        <a:buFont typeface="+mj-lt"/>
                        <a:buAutoNum type="arabicPeriod"/>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Profit test: </a:t>
                      </a:r>
                    </a:p>
                    <a:p>
                      <a:pPr marL="600075" marR="0" lvl="1" indent="-22860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Market cap of ≥HK$500m</a:t>
                      </a:r>
                    </a:p>
                    <a:p>
                      <a:pPr marL="600075" marR="0" lvl="1" indent="-22860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Profit attributable to shareholders of at least HK$80m in the last three financial years; with at least HK$35m in most recent year; and HK$45m in the two years before that</a:t>
                      </a:r>
                    </a:p>
                    <a:p>
                      <a:pPr marL="228600" marR="0" lvl="0" indent="-228600" algn="l" defTabSz="742950" rtl="0" eaLnBrk="1" fontAlgn="auto" latinLnBrk="0" hangingPunct="1">
                        <a:lnSpc>
                          <a:spcPct val="110000"/>
                        </a:lnSpc>
                        <a:spcBef>
                          <a:spcPts val="0"/>
                        </a:spcBef>
                        <a:spcAft>
                          <a:spcPts val="100"/>
                        </a:spcAft>
                        <a:buClrTx/>
                        <a:buSzTx/>
                        <a:buFont typeface="+mj-lt"/>
                        <a:buAutoNum type="arabicPeriod"/>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Market Cap/ Revenue/ Cash flow test:</a:t>
                      </a:r>
                    </a:p>
                    <a:p>
                      <a:pPr marL="600075" marR="0" lvl="1" indent="-22860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Market cap ≥HK$2bn</a:t>
                      </a:r>
                    </a:p>
                    <a:p>
                      <a:pPr marL="600075" marR="0" lvl="1" indent="-22860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Revenue ≥ HK$500m in most recent financial year</a:t>
                      </a:r>
                    </a:p>
                    <a:p>
                      <a:pPr marL="600075" marR="0" lvl="1" indent="-22860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Operating cash flow ≥HK$100m in aggregate for the 3 preceding financial years</a:t>
                      </a:r>
                    </a:p>
                    <a:p>
                      <a:pPr marL="228600" marR="0" lvl="0" indent="-228600" algn="l" defTabSz="742950" rtl="0" eaLnBrk="1" fontAlgn="auto" latinLnBrk="0" hangingPunct="1">
                        <a:lnSpc>
                          <a:spcPct val="110000"/>
                        </a:lnSpc>
                        <a:spcBef>
                          <a:spcPts val="0"/>
                        </a:spcBef>
                        <a:spcAft>
                          <a:spcPts val="100"/>
                        </a:spcAft>
                        <a:buClrTx/>
                        <a:buSzTx/>
                        <a:buFont typeface="+mj-lt"/>
                        <a:buAutoNum type="arabicPeriod"/>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Market Cap/ Revenue test:</a:t>
                      </a:r>
                    </a:p>
                    <a:p>
                      <a:pPr marL="600075" marR="0" lvl="1" indent="-22860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Market cap of ≥HK$4bn</a:t>
                      </a:r>
                    </a:p>
                    <a:p>
                      <a:pPr marL="600075" marR="0" lvl="1" indent="-22860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Revenue ≥HK$500m for most recent audited financial year</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28780480"/>
                  </a:ext>
                </a:extLst>
              </a:tr>
              <a:tr h="961516">
                <a:tc>
                  <a:txBody>
                    <a:bodyPr/>
                    <a:lstStyle/>
                    <a:p>
                      <a:pPr algn="l" fontAlgn="t">
                        <a:lnSpc>
                          <a:spcPct val="110000"/>
                        </a:lnSpc>
                        <a:spcAft>
                          <a:spcPts val="100"/>
                        </a:spcAft>
                      </a:pPr>
                      <a:r>
                        <a:rPr lang="en-SG" sz="850" b="0" i="0" u="none" strike="noStrike" dirty="0">
                          <a:solidFill>
                            <a:srgbClr val="000000"/>
                          </a:solidFill>
                          <a:effectLst/>
                          <a:latin typeface="Arial" panose="020B0604020202020204" pitchFamily="34" charset="0"/>
                        </a:rPr>
                        <a:t>Public Float at IPO</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742950" rtl="0" eaLnBrk="1" fontAlgn="auto" latinLnBrk="0" hangingPunct="1">
                        <a:lnSpc>
                          <a:spcPct val="110000"/>
                        </a:lnSpc>
                        <a:spcBef>
                          <a:spcPts val="0"/>
                        </a:spcBef>
                        <a:spcAft>
                          <a:spcPts val="100"/>
                        </a:spcAft>
                        <a:buClrTx/>
                        <a:buSzTx/>
                        <a:buFont typeface="Arial" panose="020B0604020202020204" pitchFamily="34" charset="0"/>
                        <a:buNone/>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Public float :</a:t>
                      </a:r>
                    </a:p>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≥25% for mkt cap ≤ S$300m;</a:t>
                      </a:r>
                    </a:p>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≥20% for S$300m ≤ mkt cap &lt; S$400m;</a:t>
                      </a:r>
                    </a:p>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≥15% for S$400m ≤ mkt cap &lt; S$1b </a:t>
                      </a:r>
                    </a:p>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≥12% for mkt cap ≥ S$1b</a:t>
                      </a:r>
                    </a:p>
                    <a:p>
                      <a:pPr marL="0" marR="0" lvl="0" indent="0" algn="l" defTabSz="742950" rtl="0" eaLnBrk="1" fontAlgn="auto" latinLnBrk="0" hangingPunct="1">
                        <a:lnSpc>
                          <a:spcPct val="110000"/>
                        </a:lnSpc>
                        <a:spcBef>
                          <a:spcPts val="0"/>
                        </a:spcBef>
                        <a:spcAft>
                          <a:spcPts val="100"/>
                        </a:spcAft>
                        <a:buClrTx/>
                        <a:buSzTx/>
                        <a:buFont typeface="Arial" panose="020B0604020202020204" pitchFamily="34" charset="0"/>
                        <a:buNone/>
                        <a:tabLst/>
                        <a:defRPr/>
                      </a:pPr>
                      <a:endPar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742950" rtl="0" eaLnBrk="1" fontAlgn="auto" latinLnBrk="0" hangingPunct="1">
                        <a:lnSpc>
                          <a:spcPct val="110000"/>
                        </a:lnSpc>
                        <a:spcBef>
                          <a:spcPts val="0"/>
                        </a:spcBef>
                        <a:spcAft>
                          <a:spcPts val="100"/>
                        </a:spcAft>
                        <a:buClrTx/>
                        <a:buSzTx/>
                        <a:buFont typeface="Arial" panose="020B0604020202020204" pitchFamily="34" charset="0"/>
                        <a:buNone/>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500 public shareholders for all</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266700" indent="-171450" algn="l" defTabSz="742950" rtl="0" eaLnBrk="1" fontAlgn="t" latinLnBrk="0" hangingPunct="1">
                        <a:buFont typeface="Arial" panose="020B0604020202020204" pitchFamily="34" charset="0"/>
                        <a:buChar char="•"/>
                      </a:pPr>
                      <a:r>
                        <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Market cap ≤HK$6B:</a:t>
                      </a:r>
                    </a:p>
                    <a:p>
                      <a:pPr marL="542925" lvl="2" indent="-171450" algn="l" defTabSz="742950" rtl="0" eaLnBrk="1" fontAlgn="t" latinLnBrk="0" hangingPunct="1">
                        <a:buFont typeface="Arial" panose="020B0604020202020204" pitchFamily="34" charset="0"/>
                        <a:buChar char="•"/>
                      </a:pPr>
                      <a:r>
                        <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≥25% of issued shares held by the public</a:t>
                      </a:r>
                    </a:p>
                    <a:p>
                      <a:pPr marL="171450" lvl="0" indent="-171450" algn="l" defTabSz="742950" rtl="0" eaLnBrk="1" fontAlgn="t" latinLnBrk="0" hangingPunct="1">
                        <a:buFont typeface="Arial" panose="020B0604020202020204" pitchFamily="34" charset="0"/>
                        <a:buChar char="•"/>
                      </a:pPr>
                      <a:endPar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endParaRPr>
                    </a:p>
                    <a:p>
                      <a:pPr marL="266700" lvl="0" indent="-171450" algn="l" defTabSz="742950" rtl="0" eaLnBrk="1" fontAlgn="t" latinLnBrk="0" hangingPunct="1">
                        <a:buFont typeface="Arial" panose="020B0604020202020204" pitchFamily="34" charset="0"/>
                        <a:buChar char="•"/>
                      </a:pPr>
                      <a:r>
                        <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Market cap &gt;HK$6B and ≤HK$30B:</a:t>
                      </a:r>
                    </a:p>
                    <a:p>
                      <a:pPr marL="542925" lvl="2" indent="-171450" algn="l" defTabSz="742950" rtl="0" eaLnBrk="1" fontAlgn="t" latinLnBrk="0" hangingPunct="1">
                        <a:buFont typeface="Arial" panose="020B0604020202020204" pitchFamily="34" charset="0"/>
                        <a:buChar char="•"/>
                      </a:pPr>
                      <a:r>
                        <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Higher of ≥15% / Public Float market value ≥HK$1.5B</a:t>
                      </a:r>
                    </a:p>
                    <a:p>
                      <a:pPr marL="171450" lvl="0" indent="-171450" algn="l" defTabSz="742950" rtl="0" eaLnBrk="1" fontAlgn="t" latinLnBrk="0" hangingPunct="1">
                        <a:buFont typeface="Arial" panose="020B0604020202020204" pitchFamily="34" charset="0"/>
                        <a:buChar char="•"/>
                      </a:pPr>
                      <a:endPar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endParaRPr>
                    </a:p>
                    <a:p>
                      <a:pPr marL="266700" lvl="0" indent="-171450" algn="l" defTabSz="742950" rtl="0" eaLnBrk="1" fontAlgn="t" latinLnBrk="0" hangingPunct="1">
                        <a:buFont typeface="Arial" panose="020B0604020202020204" pitchFamily="34" charset="0"/>
                        <a:buChar char="•"/>
                      </a:pPr>
                      <a:r>
                        <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Market cap &gt;HK$30B:</a:t>
                      </a:r>
                    </a:p>
                    <a:p>
                      <a:pPr marL="542925" lvl="2" indent="-171450" algn="l" defTabSz="742950" rtl="0" eaLnBrk="1" fontAlgn="t" latinLnBrk="0" hangingPunct="1">
                        <a:buFont typeface="Arial" panose="020B0604020202020204" pitchFamily="34" charset="0"/>
                        <a:buChar char="•"/>
                      </a:pPr>
                      <a:r>
                        <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Higher of ≥10% / Public Float market value ≥HK$4.5B</a:t>
                      </a:r>
                    </a:p>
                    <a:p>
                      <a:pPr marL="542925" lvl="2" indent="-171450" algn="l" defTabSz="742950" rtl="0" eaLnBrk="1" fontAlgn="t" latinLnBrk="0" hangingPunct="1">
                        <a:buFont typeface="Arial" panose="020B0604020202020204" pitchFamily="34" charset="0"/>
                        <a:buChar char="•"/>
                      </a:pPr>
                      <a:endPar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endParaRPr>
                    </a:p>
                    <a:p>
                      <a:pPr marL="95250" lvl="0" indent="0" algn="l" defTabSz="742950" rtl="0" eaLnBrk="1" fontAlgn="t" latinLnBrk="0" hangingPunct="1">
                        <a:buFont typeface="Arial" panose="020B0604020202020204" pitchFamily="34" charset="0"/>
                        <a:buNone/>
                      </a:pPr>
                      <a:r>
                        <a:rPr lang="en-US" altLang="zh-CN" sz="850" b="0" i="1"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*Public float only account for shares listed on HKEX, except for PRC issuers with other listed shares</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15615131"/>
                  </a:ext>
                </a:extLst>
              </a:tr>
              <a:tr h="284299">
                <a:tc>
                  <a:txBody>
                    <a:bodyPr/>
                    <a:lstStyle/>
                    <a:p>
                      <a:pPr algn="l" fontAlgn="t">
                        <a:lnSpc>
                          <a:spcPct val="110000"/>
                        </a:lnSpc>
                        <a:spcAft>
                          <a:spcPts val="100"/>
                        </a:spcAft>
                      </a:pPr>
                      <a:r>
                        <a:rPr lang="en-SG" sz="850" b="0" i="0" u="none" strike="noStrike" dirty="0">
                          <a:solidFill>
                            <a:srgbClr val="000000"/>
                          </a:solidFill>
                          <a:effectLst/>
                          <a:latin typeface="Arial" panose="020B0604020202020204" pitchFamily="34" charset="0"/>
                        </a:rPr>
                        <a:t>Accounting Standard</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IFRS, SFRS, US GAAP</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1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HKFRS, IFRS, </a:t>
                      </a:r>
                      <a:r>
                        <a:rPr kumimoji="0" lang="en-SG" sz="85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US GAAP, </a:t>
                      </a:r>
                      <a:r>
                        <a:rPr lang="en-US" sz="850" strike="noStrike" kern="1200" dirty="0">
                          <a:solidFill>
                            <a:schemeClr val="tx1"/>
                          </a:solidFill>
                          <a:latin typeface="+mn-lt"/>
                          <a:ea typeface="+mn-ea"/>
                          <a:cs typeface="+mn-cs"/>
                        </a:rPr>
                        <a:t>CASBE</a:t>
                      </a:r>
                      <a:endParaRPr kumimoji="0" lang="en-SG" sz="85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372261984"/>
                  </a:ext>
                </a:extLst>
              </a:tr>
            </a:tbl>
          </a:graphicData>
        </a:graphic>
      </p:graphicFrame>
    </p:spTree>
    <p:extLst>
      <p:ext uri="{BB962C8B-B14F-4D97-AF65-F5344CB8AC3E}">
        <p14:creationId xmlns:p14="http://schemas.microsoft.com/office/powerpoint/2010/main" val="31102495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CCAAC8-D984-6060-46EE-A91BC857190C}"/>
              </a:ext>
            </a:extLst>
          </p:cNvPr>
          <p:cNvSpPr>
            <a:spLocks noGrp="1"/>
          </p:cNvSpPr>
          <p:nvPr>
            <p:ph type="title"/>
          </p:nvPr>
        </p:nvSpPr>
        <p:spPr/>
        <p:txBody>
          <a:bodyPr/>
          <a:lstStyle/>
          <a:p>
            <a:r>
              <a:rPr lang="en-US" dirty="0"/>
              <a:t>Comparison between Main Board/Market of SGX, HKEX (cont’d)</a:t>
            </a:r>
          </a:p>
        </p:txBody>
      </p:sp>
      <p:sp>
        <p:nvSpPr>
          <p:cNvPr id="3" name="投影片編號版面配置區 2">
            <a:extLst>
              <a:ext uri="{FF2B5EF4-FFF2-40B4-BE49-F238E27FC236}">
                <a16:creationId xmlns:a16="http://schemas.microsoft.com/office/drawing/2014/main" id="{82E0798F-0DD5-F828-150D-921BFC3544AD}"/>
              </a:ext>
            </a:extLst>
          </p:cNvPr>
          <p:cNvSpPr>
            <a:spLocks noGrp="1"/>
          </p:cNvSpPr>
          <p:nvPr>
            <p:ph type="sldNum" sz="quarter" idx="4"/>
          </p:nvPr>
        </p:nvSpPr>
        <p:spPr/>
        <p:txBody>
          <a:bodyPr/>
          <a:lstStyle/>
          <a:p>
            <a:pPr>
              <a:spcBef>
                <a:spcPct val="0"/>
              </a:spcBef>
              <a:defRPr/>
            </a:pPr>
            <a:fld id="{EFB97E77-A14C-4D4A-B483-93BB0C8192BC}" type="slidenum">
              <a:rPr lang="en-US" altLang="en-US" b="0" smtClean="0">
                <a:solidFill>
                  <a:srgbClr val="000000"/>
                </a:solidFill>
              </a:rPr>
              <a:pPr>
                <a:spcBef>
                  <a:spcPct val="0"/>
                </a:spcBef>
                <a:defRPr/>
              </a:pPr>
              <a:t>73</a:t>
            </a:fld>
            <a:endParaRPr lang="en-US" altLang="en-US" b="0">
              <a:solidFill>
                <a:srgbClr val="000000"/>
              </a:solidFill>
            </a:endParaRPr>
          </a:p>
        </p:txBody>
      </p:sp>
      <p:graphicFrame>
        <p:nvGraphicFramePr>
          <p:cNvPr id="4" name="Table 3">
            <a:extLst>
              <a:ext uri="{FF2B5EF4-FFF2-40B4-BE49-F238E27FC236}">
                <a16:creationId xmlns:a16="http://schemas.microsoft.com/office/drawing/2014/main" id="{9821616D-7236-D873-F3EC-94D28BA81160}"/>
              </a:ext>
            </a:extLst>
          </p:cNvPr>
          <p:cNvGraphicFramePr>
            <a:graphicFrameLocks noGrp="1"/>
          </p:cNvGraphicFramePr>
          <p:nvPr>
            <p:custDataLst>
              <p:tags r:id="rId1"/>
            </p:custDataLst>
          </p:nvPr>
        </p:nvGraphicFramePr>
        <p:xfrm>
          <a:off x="717152" y="1203769"/>
          <a:ext cx="8494051" cy="4799424"/>
        </p:xfrm>
        <a:graphic>
          <a:graphicData uri="http://schemas.openxmlformats.org/drawingml/2006/table">
            <a:tbl>
              <a:tblPr firstRow="1" bandRow="1">
                <a:tableStyleId>{2D5ABB26-0587-4C30-8999-92F81FD0307C}</a:tableStyleId>
              </a:tblPr>
              <a:tblGrid>
                <a:gridCol w="1544373">
                  <a:extLst>
                    <a:ext uri="{9D8B030D-6E8A-4147-A177-3AD203B41FA5}">
                      <a16:colId xmlns:a16="http://schemas.microsoft.com/office/drawing/2014/main" val="95347921"/>
                    </a:ext>
                  </a:extLst>
                </a:gridCol>
                <a:gridCol w="3724664">
                  <a:extLst>
                    <a:ext uri="{9D8B030D-6E8A-4147-A177-3AD203B41FA5}">
                      <a16:colId xmlns:a16="http://schemas.microsoft.com/office/drawing/2014/main" val="2132268373"/>
                    </a:ext>
                  </a:extLst>
                </a:gridCol>
                <a:gridCol w="3225014">
                  <a:extLst>
                    <a:ext uri="{9D8B030D-6E8A-4147-A177-3AD203B41FA5}">
                      <a16:colId xmlns:a16="http://schemas.microsoft.com/office/drawing/2014/main" val="1966100518"/>
                    </a:ext>
                  </a:extLst>
                </a:gridCol>
              </a:tblGrid>
              <a:tr h="202800">
                <a:tc>
                  <a:txBody>
                    <a:bodyPr/>
                    <a:lstStyle/>
                    <a:p>
                      <a:pPr>
                        <a:lnSpc>
                          <a:spcPct val="110000"/>
                        </a:lnSpc>
                        <a:spcAft>
                          <a:spcPts val="300"/>
                        </a:spcAft>
                      </a:pPr>
                      <a:r>
                        <a:rPr lang="en-US" sz="850" b="1" dirty="0">
                          <a:solidFill>
                            <a:schemeClr val="bg1"/>
                          </a:solidFill>
                          <a:latin typeface="Arial" panose="020B0604020202020204" pitchFamily="34" charset="0"/>
                          <a:cs typeface="Arial" panose="020B0604020202020204" pitchFamily="34" charset="0"/>
                        </a:rPr>
                        <a:t>Key Considerations</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tc>
                  <a:txBody>
                    <a:bodyPr/>
                    <a:lstStyle/>
                    <a:p>
                      <a:pPr algn="ctr">
                        <a:lnSpc>
                          <a:spcPct val="110000"/>
                        </a:lnSpc>
                        <a:spcAft>
                          <a:spcPts val="300"/>
                        </a:spcAft>
                      </a:pPr>
                      <a:r>
                        <a:rPr lang="en-US" sz="850" b="1" dirty="0">
                          <a:solidFill>
                            <a:schemeClr val="bg1"/>
                          </a:solidFill>
                          <a:latin typeface="Arial" panose="020B0604020202020204" pitchFamily="34" charset="0"/>
                          <a:cs typeface="Arial" panose="020B0604020202020204" pitchFamily="34" charset="0"/>
                        </a:rPr>
                        <a:t>Singapore (SGX)</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tc>
                  <a:txBody>
                    <a:bodyPr/>
                    <a:lstStyle/>
                    <a:p>
                      <a:pPr algn="ctr">
                        <a:lnSpc>
                          <a:spcPct val="110000"/>
                        </a:lnSpc>
                        <a:spcAft>
                          <a:spcPts val="300"/>
                        </a:spcAft>
                      </a:pPr>
                      <a:r>
                        <a:rPr lang="en-US" sz="850" b="1" dirty="0">
                          <a:solidFill>
                            <a:schemeClr val="bg1"/>
                          </a:solidFill>
                          <a:latin typeface="Arial" panose="020B0604020202020204" pitchFamily="34" charset="0"/>
                          <a:cs typeface="Arial" panose="020B0604020202020204" pitchFamily="34" charset="0"/>
                        </a:rPr>
                        <a:t>Hong Kong (HKEX)</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63110433"/>
                  </a:ext>
                </a:extLst>
              </a:tr>
              <a:tr h="981572">
                <a:tc>
                  <a:txBody>
                    <a:bodyPr/>
                    <a:lstStyle/>
                    <a:p>
                      <a:pPr algn="l" fontAlgn="t">
                        <a:lnSpc>
                          <a:spcPct val="110000"/>
                        </a:lnSpc>
                        <a:spcAft>
                          <a:spcPts val="300"/>
                        </a:spcAft>
                      </a:pPr>
                      <a:r>
                        <a:rPr lang="en-SG" sz="850" b="0" i="0" u="none" strike="noStrike" dirty="0">
                          <a:solidFill>
                            <a:srgbClr val="000000"/>
                          </a:solidFill>
                          <a:effectLst/>
                          <a:latin typeface="Arial" panose="020B0604020202020204" pitchFamily="34" charset="0"/>
                        </a:rPr>
                        <a:t>Lock-up period at IPO</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6 month for controlling shareholder</a:t>
                      </a:r>
                    </a:p>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No lock-up for cornerstone investors</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266700" lvl="0" indent="-171450" algn="l" defTabSz="742950" rtl="0" eaLnBrk="1" fontAlgn="t" latinLnBrk="0" hangingPunct="1">
                        <a:buFont typeface="Arial" panose="020B0604020202020204" pitchFamily="34" charset="0"/>
                        <a:buChar char="•"/>
                      </a:pPr>
                      <a:r>
                        <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Controlling shareholders:</a:t>
                      </a:r>
                    </a:p>
                    <a:p>
                      <a:pPr marL="542925" lvl="2" indent="-171450" algn="l" defTabSz="742950" rtl="0" eaLnBrk="1" fontAlgn="t" latinLnBrk="0" hangingPunct="1">
                        <a:buFont typeface="Arial" panose="020B0604020202020204" pitchFamily="34" charset="0"/>
                        <a:buChar char="•"/>
                      </a:pPr>
                      <a:r>
                        <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0–6 months: No sale allowed</a:t>
                      </a:r>
                    </a:p>
                    <a:p>
                      <a:pPr marL="542925" lvl="2" indent="-171450" algn="l" defTabSz="742950" rtl="0" eaLnBrk="1" fontAlgn="t" latinLnBrk="0" hangingPunct="1">
                        <a:buFont typeface="Arial" panose="020B0604020202020204" pitchFamily="34" charset="0"/>
                        <a:buChar char="•"/>
                      </a:pPr>
                      <a:endPar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endParaRPr>
                    </a:p>
                    <a:p>
                      <a:pPr marL="542925" lvl="2" indent="-171450" algn="l" defTabSz="742950" rtl="0" eaLnBrk="1" fontAlgn="t" latinLnBrk="0" hangingPunct="1">
                        <a:buFont typeface="Arial" panose="020B0604020202020204" pitchFamily="34" charset="0"/>
                        <a:buChar char="•"/>
                      </a:pPr>
                      <a:r>
                        <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7–12 months: Can sell but must remain not less than 30% of the controlling stake</a:t>
                      </a:r>
                    </a:p>
                    <a:p>
                      <a:pPr marL="171450" indent="-171450" algn="l" defTabSz="742950" rtl="0" eaLnBrk="1" fontAlgn="t" latinLnBrk="0" hangingPunct="1">
                        <a:buFont typeface="Arial" panose="020B0604020202020204" pitchFamily="34" charset="0"/>
                        <a:buChar char="•"/>
                      </a:pPr>
                      <a:endPar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endParaRPr>
                    </a:p>
                    <a:p>
                      <a:pPr marL="266700" lvl="0" indent="-171450" algn="l" defTabSz="742950" rtl="0" eaLnBrk="1" fontAlgn="t" latinLnBrk="0" hangingPunct="1">
                        <a:buFont typeface="Arial" panose="020B0604020202020204" pitchFamily="34" charset="0"/>
                        <a:buChar char="•"/>
                      </a:pPr>
                      <a:r>
                        <a:rPr lang="en-US" altLang="zh-CN"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rPr>
                        <a:t>6-moths lock-up applies to cornerstone investors and pre-IPO investors</a:t>
                      </a:r>
                      <a:endParaRPr lang="zh-CN" altLang="en-US" sz="850" b="0" i="0" u="none" strike="noStrike" kern="1200" dirty="0">
                        <a:solidFill>
                          <a:srgbClr val="000000"/>
                        </a:solidFill>
                        <a:effectLst/>
                        <a:latin typeface="Arial" panose="020B0604020202020204" pitchFamily="34" charset="0"/>
                        <a:ea typeface="STKaiti" panose="02010600040101010101" pitchFamily="2" charset="-122"/>
                        <a:cs typeface="Arial" panose="020B0604020202020204" pitchFamily="34" charset="0"/>
                      </a:endParaRP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14619543"/>
                  </a:ext>
                </a:extLst>
              </a:tr>
              <a:tr h="383739">
                <a:tc>
                  <a:txBody>
                    <a:bodyPr/>
                    <a:lstStyle/>
                    <a:p>
                      <a:pPr algn="l" fontAlgn="t">
                        <a:lnSpc>
                          <a:spcPct val="110000"/>
                        </a:lnSpc>
                        <a:spcAft>
                          <a:spcPts val="300"/>
                        </a:spcAft>
                      </a:pPr>
                      <a:r>
                        <a:rPr lang="en-SG" sz="850" b="0" i="0" u="none" strike="noStrike" dirty="0">
                          <a:solidFill>
                            <a:srgbClr val="000000"/>
                          </a:solidFill>
                          <a:effectLst/>
                          <a:latin typeface="Arial" panose="020B0604020202020204" pitchFamily="34" charset="0"/>
                        </a:rPr>
                        <a:t>Time to Market (from preparation)</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4 to 6 months</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6 to 9 months</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02354776"/>
                  </a:ext>
                </a:extLst>
              </a:tr>
              <a:tr h="295184">
                <a:tc>
                  <a:txBody>
                    <a:bodyPr/>
                    <a:lstStyle/>
                    <a:p>
                      <a:pPr algn="l" fontAlgn="t">
                        <a:lnSpc>
                          <a:spcPct val="110000"/>
                        </a:lnSpc>
                        <a:spcAft>
                          <a:spcPts val="300"/>
                        </a:spcAft>
                      </a:pPr>
                      <a:r>
                        <a:rPr lang="en-SG" sz="850" b="0" i="0" u="none" strike="noStrike" dirty="0">
                          <a:solidFill>
                            <a:srgbClr val="000000"/>
                          </a:solidFill>
                          <a:effectLst/>
                          <a:latin typeface="Arial" panose="020B0604020202020204" pitchFamily="34" charset="0"/>
                        </a:rPr>
                        <a:t>Dual class shares</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Allowed</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Allowed for innovative/ tech firm</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268572286"/>
                  </a:ext>
                </a:extLst>
              </a:tr>
              <a:tr h="531331">
                <a:tc>
                  <a:txBody>
                    <a:bodyPr/>
                    <a:lstStyle/>
                    <a:p>
                      <a:pPr algn="l" fontAlgn="t">
                        <a:lnSpc>
                          <a:spcPct val="110000"/>
                        </a:lnSpc>
                        <a:spcAft>
                          <a:spcPts val="300"/>
                        </a:spcAft>
                      </a:pPr>
                      <a:r>
                        <a:rPr lang="en-SG" sz="850" b="0" i="0" u="none" strike="noStrike" dirty="0">
                          <a:solidFill>
                            <a:srgbClr val="000000"/>
                          </a:solidFill>
                          <a:effectLst/>
                          <a:latin typeface="Arial" panose="020B0604020202020204" pitchFamily="34" charset="0"/>
                        </a:rPr>
                        <a:t>Sector Focus</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Appeal to issuers having SEA expansion plans/ focus</a:t>
                      </a:r>
                    </a:p>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Regional firms, REITs/ BTs</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Chinese firms / companies with vast  exposure to China, technology, healthcare/ consumer/ financial services</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101804390"/>
                  </a:ext>
                </a:extLst>
              </a:tr>
              <a:tr h="472294">
                <a:tc>
                  <a:txBody>
                    <a:bodyPr/>
                    <a:lstStyle/>
                    <a:p>
                      <a:pPr algn="l" fontAlgn="t">
                        <a:lnSpc>
                          <a:spcPct val="110000"/>
                        </a:lnSpc>
                        <a:spcAft>
                          <a:spcPts val="300"/>
                        </a:spcAft>
                      </a:pPr>
                      <a:r>
                        <a:rPr lang="en-SG" sz="850" b="0" i="0" u="none" strike="noStrike" dirty="0">
                          <a:solidFill>
                            <a:srgbClr val="000000"/>
                          </a:solidFill>
                          <a:effectLst/>
                          <a:latin typeface="Arial" panose="020B0604020202020204" pitchFamily="34" charset="0"/>
                        </a:rPr>
                        <a:t>Investor Base</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Southeast Asia, international and private wealth</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Strong China investors access, hedge fund, international</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94076178"/>
                  </a:ext>
                </a:extLst>
              </a:tr>
              <a:tr h="615015">
                <a:tc>
                  <a:txBody>
                    <a:bodyPr/>
                    <a:lstStyle/>
                    <a:p>
                      <a:pPr algn="l" fontAlgn="t">
                        <a:lnSpc>
                          <a:spcPct val="110000"/>
                        </a:lnSpc>
                        <a:spcAft>
                          <a:spcPts val="300"/>
                        </a:spcAft>
                      </a:pPr>
                      <a:r>
                        <a:rPr lang="en-SG" sz="850" b="0" i="0" u="none" strike="noStrike" dirty="0">
                          <a:solidFill>
                            <a:srgbClr val="000000"/>
                          </a:solidFill>
                          <a:effectLst/>
                          <a:latin typeface="Arial" panose="020B0604020202020204" pitchFamily="34" charset="0"/>
                        </a:rPr>
                        <a:t>Geographical Proximity for Issuer &amp; Access to China</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Proximity to other Southeast Asian markets can be beneficial</a:t>
                      </a:r>
                    </a:p>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Limited direct access to the Chinese market</a:t>
                      </a:r>
                    </a:p>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endPar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Geographical proximity to mainland China and other Asian markets can be advantageous</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585166508"/>
                  </a:ext>
                </a:extLst>
              </a:tr>
              <a:tr h="560849">
                <a:tc>
                  <a:txBody>
                    <a:bodyPr/>
                    <a:lstStyle/>
                    <a:p>
                      <a:pPr algn="l" fontAlgn="t">
                        <a:lnSpc>
                          <a:spcPct val="110000"/>
                        </a:lnSpc>
                        <a:spcAft>
                          <a:spcPts val="300"/>
                        </a:spcAft>
                      </a:pPr>
                      <a:r>
                        <a:rPr lang="en-SG" sz="850" b="0" i="0" u="none" strike="noStrike" dirty="0">
                          <a:solidFill>
                            <a:srgbClr val="000000"/>
                          </a:solidFill>
                          <a:effectLst/>
                          <a:latin typeface="Arial" panose="020B0604020202020204" pitchFamily="34" charset="0"/>
                        </a:rPr>
                        <a:t>Tax Considerations</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Competitive corporate tax rates</a:t>
                      </a:r>
                    </a:p>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No capital </a:t>
                      </a:r>
                      <a:r>
                        <a:rPr kumimoji="0" lang="en-SG" sz="85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gains tax </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Competitive tiered corporate tax rates </a:t>
                      </a:r>
                    </a:p>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No capital gains tax</a:t>
                      </a:r>
                      <a:endParaRPr kumimoji="0" lang="en-SG" sz="850" b="0" i="0" u="none" strike="noStrike" kern="1200" cap="none" spc="0" normalizeH="0" baseline="0" noProof="0" dirty="0">
                        <a:ln>
                          <a:noFill/>
                        </a:ln>
                        <a:solidFill>
                          <a:srgbClr val="CC0000"/>
                        </a:solidFill>
                        <a:effectLst/>
                        <a:uLnTx/>
                        <a:uFillTx/>
                        <a:latin typeface="Arial" panose="020B0604020202020204" pitchFamily="34" charset="0"/>
                        <a:ea typeface="+mn-ea"/>
                        <a:cs typeface="Arial" panose="020B0604020202020204" pitchFamily="34" charset="0"/>
                      </a:endParaRP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86985934"/>
                  </a:ext>
                </a:extLst>
              </a:tr>
              <a:tr h="590367">
                <a:tc>
                  <a:txBody>
                    <a:bodyPr/>
                    <a:lstStyle/>
                    <a:p>
                      <a:pPr algn="l" fontAlgn="t">
                        <a:lnSpc>
                          <a:spcPct val="110000"/>
                        </a:lnSpc>
                        <a:spcAft>
                          <a:spcPts val="300"/>
                        </a:spcAft>
                      </a:pPr>
                      <a:r>
                        <a:rPr lang="en-SG" sz="850" b="0" i="0" u="none" strike="noStrike" dirty="0">
                          <a:solidFill>
                            <a:srgbClr val="000000"/>
                          </a:solidFill>
                          <a:effectLst/>
                          <a:latin typeface="Arial" panose="020B0604020202020204" pitchFamily="34" charset="0"/>
                        </a:rPr>
                        <a:t>Reputation and Visibility</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Listing enhances company's regional profile</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171450" marR="0" lvl="0" indent="-171450" algn="l" defTabSz="74295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SG" sz="8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Listing creates visibility, particularly for companies with exposure to China</a:t>
                      </a:r>
                    </a:p>
                  </a:txBody>
                  <a:tcPr marL="45720" marR="4572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3494493"/>
                  </a:ext>
                </a:extLst>
              </a:tr>
            </a:tbl>
          </a:graphicData>
        </a:graphic>
      </p:graphicFrame>
    </p:spTree>
    <p:extLst>
      <p:ext uri="{BB962C8B-B14F-4D97-AF65-F5344CB8AC3E}">
        <p14:creationId xmlns:p14="http://schemas.microsoft.com/office/powerpoint/2010/main" val="27834562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B07CD51-7BB2-A9BA-B757-BB2E795E3F7F}"/>
              </a:ext>
            </a:extLst>
          </p:cNvPr>
          <p:cNvGraphicFramePr>
            <a:graphicFrameLocks noChangeAspect="1"/>
          </p:cNvGraphicFramePr>
          <p:nvPr>
            <p:custDataLst>
              <p:tags r:id="rId1"/>
            </p:custDataLst>
            <p:extLst>
              <p:ext uri="{D42A27DB-BD31-4B8C-83A1-F6EECF244321}">
                <p14:modId xmlns:p14="http://schemas.microsoft.com/office/powerpoint/2010/main" val="3074690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7" progId="TCLayout.ActiveDocument.1">
                  <p:embed/>
                </p:oleObj>
              </mc:Choice>
              <mc:Fallback>
                <p:oleObj name="think-cell Slide" r:id="rId3" imgW="348" imgH="347" progId="TCLayout.ActiveDocument.1">
                  <p:embed/>
                  <p:pic>
                    <p:nvPicPr>
                      <p:cNvPr id="6" name="think-cell data - do not delete" hidden="1">
                        <a:extLst>
                          <a:ext uri="{FF2B5EF4-FFF2-40B4-BE49-F238E27FC236}">
                            <a16:creationId xmlns:a16="http://schemas.microsoft.com/office/drawing/2014/main" id="{4B07CD51-7BB2-A9BA-B757-BB2E795E3F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40201118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83e2480-703a-4536-938d-6f2928d55c6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AFSPANMODE" val="span"/>
</p:tagLst>
</file>

<file path=ppt/tags/tag8.xml><?xml version="1.0" encoding="utf-8"?>
<p:tagLst xmlns:a="http://schemas.openxmlformats.org/drawingml/2006/main" xmlns:r="http://schemas.openxmlformats.org/officeDocument/2006/relationships" xmlns:p="http://schemas.openxmlformats.org/presentationml/2006/main">
  <p:tag name="AFSPANMODE" val="span"/>
</p:tagLst>
</file>

<file path=ppt/tags/tag9.xml><?xml version="1.0" encoding="utf-8"?>
<p:tagLst xmlns:a="http://schemas.openxmlformats.org/drawingml/2006/main" xmlns:r="http://schemas.openxmlformats.org/officeDocument/2006/relationships" xmlns:p="http://schemas.openxmlformats.org/presentationml/2006/main">
  <p:tag name="AFSPANMODE" val="span"/>
</p:tagLst>
</file>

<file path=ppt/tags/tag10.xml><?xml version="1.0" encoding="utf-8"?>
<p:tagLst xmlns:a="http://schemas.openxmlformats.org/drawingml/2006/main" xmlns:r="http://schemas.openxmlformats.org/officeDocument/2006/relationships" xmlns:p="http://schemas.openxmlformats.org/presentationml/2006/main">
  <p:tag name="AFSPANMODE" val="span"/>
</p:tagLst>
</file>

<file path=ppt/tags/tag11.xml><?xml version="1.0" encoding="utf-8"?>
<p:tagLst xmlns:a="http://schemas.openxmlformats.org/drawingml/2006/main" xmlns:r="http://schemas.openxmlformats.org/officeDocument/2006/relationships" xmlns:p="http://schemas.openxmlformats.org/presentationml/2006/main">
  <p:tag name="AFSPANMODE" val="span"/>
</p:tagLst>
</file>

<file path=ppt/tags/tag12.xml><?xml version="1.0" encoding="utf-8"?>
<p:tagLst xmlns:a="http://schemas.openxmlformats.org/drawingml/2006/main" xmlns:r="http://schemas.openxmlformats.org/officeDocument/2006/relationships" xmlns:p="http://schemas.openxmlformats.org/presentationml/2006/main">
  <p:tag name="AFSPANMODE" val="span"/>
</p:tagLst>
</file>

<file path=ppt/tags/tag13.xml><?xml version="1.0" encoding="utf-8"?>
<p:tagLst xmlns:a="http://schemas.openxmlformats.org/drawingml/2006/main" xmlns:r="http://schemas.openxmlformats.org/officeDocument/2006/relationships" xmlns:p="http://schemas.openxmlformats.org/presentationml/2006/main">
  <p:tag name="AFSPANMODE" val="span"/>
</p:tagLst>
</file>

<file path=ppt/tags/tag14.xml><?xml version="1.0" encoding="utf-8"?>
<p:tagLst xmlns:a="http://schemas.openxmlformats.org/drawingml/2006/main" xmlns:r="http://schemas.openxmlformats.org/officeDocument/2006/relationships" xmlns:p="http://schemas.openxmlformats.org/presentationml/2006/main">
  <p:tag name="AFSPANMODE" val="span"/>
</p:tagLst>
</file>

<file path=ppt/tags/tag15.xml><?xml version="1.0" encoding="utf-8"?>
<p:tagLst xmlns:a="http://schemas.openxmlformats.org/drawingml/2006/main" xmlns:r="http://schemas.openxmlformats.org/officeDocument/2006/relationships" xmlns:p="http://schemas.openxmlformats.org/presentationml/2006/main">
  <p:tag name="AFSPANMODE" val="span"/>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AFSPANMODE" val="span"/>
</p:tagLst>
</file>

<file path=ppt/tags/tag19.xml><?xml version="1.0" encoding="utf-8"?>
<p:tagLst xmlns:a="http://schemas.openxmlformats.org/drawingml/2006/main" xmlns:r="http://schemas.openxmlformats.org/officeDocument/2006/relationships" xmlns:p="http://schemas.openxmlformats.org/presentationml/2006/main">
  <p:tag name="AFSPANMODE" val="span"/>
</p:tagLst>
</file>

<file path=ppt/tags/tag20.xml><?xml version="1.0" encoding="utf-8"?>
<p:tagLst xmlns:a="http://schemas.openxmlformats.org/drawingml/2006/main" xmlns:r="http://schemas.openxmlformats.org/officeDocument/2006/relationships" xmlns:p="http://schemas.openxmlformats.org/presentationml/2006/main">
  <p:tag name="JPM_SLIDE_ROLE" val="jpmPage"/>
</p:tagLst>
</file>

<file path=ppt/tags/tag21.xml><?xml version="1.0" encoding="utf-8"?>
<p:tagLst xmlns:a="http://schemas.openxmlformats.org/drawingml/2006/main" xmlns:r="http://schemas.openxmlformats.org/officeDocument/2006/relationships" xmlns:p="http://schemas.openxmlformats.org/presentationml/2006/main">
  <p:tag name="ISLOCKED" val="True"/>
  <p:tag name="DEFAULTHEIGHT" val="p67!5000"/>
  <p:tag name="DEFAULTWIDTH" val="p92!2500"/>
  <p:tag name="DEFAULTTOP" val="p178"/>
  <p:tag name="DEFAULTLEFT" val="p199!8750"/>
  <p:tag name="JPM_CONVERT_POSITION" val="148.75;120;167.125;117.25"/>
  <p:tag name="JPM_TEXT_SIZE" val="10"/>
</p:tagLst>
</file>

<file path=ppt/tags/tag22.xml><?xml version="1.0" encoding="utf-8"?>
<p:tagLst xmlns:a="http://schemas.openxmlformats.org/drawingml/2006/main" xmlns:r="http://schemas.openxmlformats.org/officeDocument/2006/relationships" xmlns:p="http://schemas.openxmlformats.org/presentationml/2006/main">
  <p:tag name="ISLOCKED" val="True"/>
  <p:tag name="DEFAULTHEIGHT" val="p67!5000"/>
  <p:tag name="DEFAULTWIDTH" val="p93!5000"/>
  <p:tag name="DEFAULTTOP" val="p178"/>
  <p:tag name="DEFAULTLEFT" val="p318!5000"/>
  <p:tag name="JPM_CONVERT_POSITION" val="148.75;249.625;167.125;123.5"/>
  <p:tag name="JPM_TEXT_SIZE" val="10"/>
</p:tagLst>
</file>

<file path=ppt/tags/tag23.xml><?xml version="1.0" encoding="utf-8"?>
<p:tagLst xmlns:a="http://schemas.openxmlformats.org/drawingml/2006/main" xmlns:r="http://schemas.openxmlformats.org/officeDocument/2006/relationships" xmlns:p="http://schemas.openxmlformats.org/presentationml/2006/main">
  <p:tag name="ISLOCKED" val="True"/>
  <p:tag name="DEFAULTHEIGHT" val="p67!5000"/>
  <p:tag name="DEFAULTWIDTH" val="p99!7500"/>
  <p:tag name="DEFAULTTOP" val="p178"/>
  <p:tag name="DEFAULTLEFT" val="p437!5000"/>
  <p:tag name="JPM_CONVERT_POSITION" val="148.75;379.5;167.125;123.625"/>
  <p:tag name="JPM_TEXT_SIZE" val="10"/>
</p:tagLst>
</file>

<file path=ppt/tags/tag24.xml><?xml version="1.0" encoding="utf-8"?>
<p:tagLst xmlns:a="http://schemas.openxmlformats.org/drawingml/2006/main" xmlns:r="http://schemas.openxmlformats.org/officeDocument/2006/relationships" xmlns:p="http://schemas.openxmlformats.org/presentationml/2006/main">
  <p:tag name="ISLOCKED" val="True"/>
  <p:tag name="DEFAULTHEIGHT" val="p67!5000"/>
  <p:tag name="DEFAULTWIDTH" val="p92!2500"/>
  <p:tag name="DEFAULTTOP" val="p178"/>
  <p:tag name="DEFAULTLEFT" val="p199!8750"/>
  <p:tag name="JPM_CONVERT_POSITION" val="148.75;120;167.125;117.25"/>
  <p:tag name="JPM_TEXT_SIZE" val="10"/>
</p:tagLst>
</file>

<file path=ppt/tags/tag25.xml><?xml version="1.0" encoding="utf-8"?>
<p:tagLst xmlns:a="http://schemas.openxmlformats.org/drawingml/2006/main" xmlns:r="http://schemas.openxmlformats.org/officeDocument/2006/relationships" xmlns:p="http://schemas.openxmlformats.org/presentationml/2006/main">
  <p:tag name="ISLOCKED" val="True"/>
  <p:tag name="DEFAULTHEIGHT" val="p67!5000"/>
  <p:tag name="DEFAULTWIDTH" val="p93!2500"/>
  <p:tag name="DEFAULTTOP" val="p178"/>
  <p:tag name="DEFAULTLEFT" val="p557!1250"/>
  <p:tag name="JPM_CONVERT_POSITION" val="148.75;509.125;167.125;123.5"/>
  <p:tag name="JPM_TEXT_SIZE" val="10"/>
</p:tagLst>
</file>

<file path=ppt/tags/tag26.xml><?xml version="1.0" encoding="utf-8"?>
<p:tagLst xmlns:a="http://schemas.openxmlformats.org/drawingml/2006/main" xmlns:r="http://schemas.openxmlformats.org/officeDocument/2006/relationships" xmlns:p="http://schemas.openxmlformats.org/presentationml/2006/main">
  <p:tag name="ISLOCKED" val="True"/>
  <p:tag name="DEFAULTHEIGHT" val="p67!5000"/>
  <p:tag name="DEFAULTWIDTH" val="p81!2500"/>
  <p:tag name="DEFAULTTOP" val="p178"/>
  <p:tag name="DEFAULTLEFT" val="p676!3750"/>
  <p:tag name="JPM_CONVERT_POSITION" val="148.75;638.875;167.125;124.5"/>
  <p:tag name="JPM_TEXT_SIZE" val="10"/>
</p:tagLst>
</file>

<file path=ppt/tags/tag27.xml><?xml version="1.0" encoding="utf-8"?>
<p:tagLst xmlns:a="http://schemas.openxmlformats.org/drawingml/2006/main" xmlns:r="http://schemas.openxmlformats.org/officeDocument/2006/relationships" xmlns:p="http://schemas.openxmlformats.org/presentationml/2006/main">
  <p:tag name="ISLOCKED" val="True"/>
  <p:tag name="DEFAULTHEIGHT" val="p67!5000"/>
  <p:tag name="DEFAULTWIDTH" val="p92!2500"/>
  <p:tag name="DEFAULTTOP" val="p178"/>
  <p:tag name="DEFAULTLEFT" val="p199!8750"/>
  <p:tag name="JPM_CONVERT_POSITION" val="148.75;120;167.125;117.25"/>
  <p:tag name="JPM_TEXT_SIZE" val="10"/>
</p:tagLst>
</file>

<file path=ppt/tags/tag28.xml><?xml version="1.0" encoding="utf-8"?>
<p:tagLst xmlns:a="http://schemas.openxmlformats.org/drawingml/2006/main" xmlns:r="http://schemas.openxmlformats.org/officeDocument/2006/relationships" xmlns:p="http://schemas.openxmlformats.org/presentationml/2006/main">
  <p:tag name="AFSPANMODE" val="span"/>
</p:tagLst>
</file>

<file path=ppt/tags/tag29.xml><?xml version="1.0" encoding="utf-8"?>
<p:tagLst xmlns:a="http://schemas.openxmlformats.org/drawingml/2006/main" xmlns:r="http://schemas.openxmlformats.org/officeDocument/2006/relationships" xmlns:p="http://schemas.openxmlformats.org/presentationml/2006/main">
  <p:tag name="AFSPANMODE" val="span"/>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8_DBS PPT template 0207">
  <a:themeElements>
    <a:clrScheme name="Custom 1">
      <a:dk1>
        <a:srgbClr val="000000"/>
      </a:dk1>
      <a:lt1>
        <a:srgbClr val="FFFFFF"/>
      </a:lt1>
      <a:dk2>
        <a:srgbClr val="FF0000"/>
      </a:dk2>
      <a:lt2>
        <a:srgbClr val="B2B2B2"/>
      </a:lt2>
      <a:accent1>
        <a:srgbClr val="CC0000"/>
      </a:accent1>
      <a:accent2>
        <a:srgbClr val="FAD0A9"/>
      </a:accent2>
      <a:accent3>
        <a:srgbClr val="E59B9D"/>
      </a:accent3>
      <a:accent4>
        <a:srgbClr val="B2B2B2"/>
      </a:accent4>
      <a:accent5>
        <a:srgbClr val="FF0000"/>
      </a:accent5>
      <a:accent6>
        <a:srgbClr val="626262"/>
      </a:accent6>
      <a:hlink>
        <a:srgbClr val="E59B9D"/>
      </a:hlink>
      <a:folHlink>
        <a:srgbClr val="99CCFF"/>
      </a:folHlink>
    </a:clrScheme>
    <a:fontScheme name="Custom 1">
      <a:majorFont>
        <a:latin typeface="Arial"/>
        <a:ea typeface="STKaiti"/>
        <a:cs typeface=""/>
      </a:majorFont>
      <a:minorFont>
        <a:latin typeface="Arial"/>
        <a:ea typeface="STKait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DBS PPT template 0207 8">
        <a:dk1>
          <a:srgbClr val="000000"/>
        </a:dk1>
        <a:lt1>
          <a:srgbClr val="FFFFFF"/>
        </a:lt1>
        <a:dk2>
          <a:srgbClr val="000000"/>
        </a:dk2>
        <a:lt2>
          <a:srgbClr val="969696"/>
        </a:lt2>
        <a:accent1>
          <a:srgbClr val="FAD0A9"/>
        </a:accent1>
        <a:accent2>
          <a:srgbClr val="E59B9D"/>
        </a:accent2>
        <a:accent3>
          <a:srgbClr val="FFFFFF"/>
        </a:accent3>
        <a:accent4>
          <a:srgbClr val="000000"/>
        </a:accent4>
        <a:accent5>
          <a:srgbClr val="FCE4D1"/>
        </a:accent5>
        <a:accent6>
          <a:srgbClr val="CF8C8E"/>
        </a:accent6>
        <a:hlink>
          <a:srgbClr val="99CCFF"/>
        </a:hlink>
        <a:folHlink>
          <a:srgbClr val="B2B2B2"/>
        </a:folHlink>
      </a:clrScheme>
      <a:clrMap bg1="lt1" tx1="dk1" bg2="lt2" tx2="dk2" accent1="accent1" accent2="accent2" accent3="accent3" accent4="accent4" accent5="accent5" accent6="accent6" hlink="hlink" folHlink="folHlink"/>
    </a:extraClrScheme>
    <a:extraClrScheme>
      <a:clrScheme name="2_DBS PPT template 0207 9">
        <a:dk1>
          <a:srgbClr val="000000"/>
        </a:dk1>
        <a:lt1>
          <a:srgbClr val="FFFFFF"/>
        </a:lt1>
        <a:dk2>
          <a:srgbClr val="339966"/>
        </a:dk2>
        <a:lt2>
          <a:srgbClr val="CC99FF"/>
        </a:lt2>
        <a:accent1>
          <a:srgbClr val="FAD0A9"/>
        </a:accent1>
        <a:accent2>
          <a:srgbClr val="E59B9D"/>
        </a:accent2>
        <a:accent3>
          <a:srgbClr val="FFFFFF"/>
        </a:accent3>
        <a:accent4>
          <a:srgbClr val="000000"/>
        </a:accent4>
        <a:accent5>
          <a:srgbClr val="FCE4D1"/>
        </a:accent5>
        <a:accent6>
          <a:srgbClr val="CF8C8E"/>
        </a:accent6>
        <a:hlink>
          <a:srgbClr val="99CCFF"/>
        </a:hlink>
        <a:folHlink>
          <a:srgbClr val="B2B2B2"/>
        </a:folHlink>
      </a:clrScheme>
      <a:clrMap bg1="lt1" tx1="dk1" bg2="lt2" tx2="dk2" accent1="accent1" accent2="accent2" accent3="accent3" accent4="accent4" accent5="accent5" accent6="accent6" hlink="hlink" folHlink="folHlink"/>
    </a:extraClrScheme>
    <a:extraClrScheme>
      <a:clrScheme name="2_DBS PPT template 0207 10">
        <a:dk1>
          <a:srgbClr val="000000"/>
        </a:dk1>
        <a:lt1>
          <a:srgbClr val="FFFFFF"/>
        </a:lt1>
        <a:dk2>
          <a:srgbClr val="339966"/>
        </a:dk2>
        <a:lt2>
          <a:srgbClr val="626262"/>
        </a:lt2>
        <a:accent1>
          <a:srgbClr val="FAD0A9"/>
        </a:accent1>
        <a:accent2>
          <a:srgbClr val="E59B9D"/>
        </a:accent2>
        <a:accent3>
          <a:srgbClr val="FFFFFF"/>
        </a:accent3>
        <a:accent4>
          <a:srgbClr val="000000"/>
        </a:accent4>
        <a:accent5>
          <a:srgbClr val="FCE4D1"/>
        </a:accent5>
        <a:accent6>
          <a:srgbClr val="CF8C8E"/>
        </a:accent6>
        <a:hlink>
          <a:srgbClr val="99CCFF"/>
        </a:hlink>
        <a:folHlink>
          <a:srgbClr val="008080"/>
        </a:folHlink>
      </a:clrScheme>
      <a:clrMap bg1="lt1" tx1="dk1" bg2="lt2" tx2="dk2" accent1="accent1" accent2="accent2" accent3="accent3" accent4="accent4" accent5="accent5" accent6="accent6" hlink="hlink" folHlink="folHlink"/>
    </a:extraClrScheme>
    <a:extraClrScheme>
      <a:clrScheme name="2_DBS PPT template 0207 11">
        <a:dk1>
          <a:srgbClr val="000000"/>
        </a:dk1>
        <a:lt1>
          <a:srgbClr val="FFFFFF"/>
        </a:lt1>
        <a:dk2>
          <a:srgbClr val="339966"/>
        </a:dk2>
        <a:lt2>
          <a:srgbClr val="B2B2B2"/>
        </a:lt2>
        <a:accent1>
          <a:srgbClr val="FAD0A9"/>
        </a:accent1>
        <a:accent2>
          <a:srgbClr val="E59B9D"/>
        </a:accent2>
        <a:accent3>
          <a:srgbClr val="FFFFFF"/>
        </a:accent3>
        <a:accent4>
          <a:srgbClr val="000000"/>
        </a:accent4>
        <a:accent5>
          <a:srgbClr val="FCE4D1"/>
        </a:accent5>
        <a:accent6>
          <a:srgbClr val="CF8C8E"/>
        </a:accent6>
        <a:hlink>
          <a:srgbClr val="99CCFF"/>
        </a:hlink>
        <a:folHlink>
          <a:srgbClr val="FFCC00"/>
        </a:folHlink>
      </a:clrScheme>
      <a:clrMap bg1="lt1" tx1="dk1" bg2="lt2" tx2="dk2" accent1="accent1" accent2="accent2" accent3="accent3" accent4="accent4" accent5="accent5" accent6="accent6" hlink="hlink" folHlink="folHlink"/>
    </a:extraClrScheme>
    <a:extraClrScheme>
      <a:clrScheme name="2_DBS PPT template 0207 12">
        <a:dk1>
          <a:srgbClr val="000000"/>
        </a:dk1>
        <a:lt1>
          <a:srgbClr val="FFFFFF"/>
        </a:lt1>
        <a:dk2>
          <a:srgbClr val="FF0000"/>
        </a:dk2>
        <a:lt2>
          <a:srgbClr val="B2B2B2"/>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1">
    <a:dk1>
      <a:srgbClr val="000000"/>
    </a:dk1>
    <a:lt1>
      <a:srgbClr val="FFFFFF"/>
    </a:lt1>
    <a:dk2>
      <a:srgbClr val="FF0000"/>
    </a:dk2>
    <a:lt2>
      <a:srgbClr val="B2B2B2"/>
    </a:lt2>
    <a:accent1>
      <a:srgbClr val="BE050A"/>
    </a:accent1>
    <a:accent2>
      <a:srgbClr val="FAD0A9"/>
    </a:accent2>
    <a:accent3>
      <a:srgbClr val="E59B9D"/>
    </a:accent3>
    <a:accent4>
      <a:srgbClr val="B2B2B2"/>
    </a:accent4>
    <a:accent5>
      <a:srgbClr val="FF0000"/>
    </a:accent5>
    <a:accent6>
      <a:srgbClr val="626262"/>
    </a:accent6>
    <a:hlink>
      <a:srgbClr val="E59B9D"/>
    </a:hlink>
    <a:folHlink>
      <a:srgbClr val="99CCFF"/>
    </a:folHlink>
  </a:clrScheme>
  <a:fontScheme name="Custom 2">
    <a:majorFont>
      <a:latin typeface="Calibri"/>
      <a:ea typeface="DFKaiShu-GB5"/>
      <a:cs typeface=""/>
    </a:majorFont>
    <a:minorFont>
      <a:latin typeface="Calibri"/>
      <a:ea typeface="DFKaiShu-GB5"/>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Custom 1">
    <a:dk1>
      <a:srgbClr val="000000"/>
    </a:dk1>
    <a:lt1>
      <a:srgbClr val="FFFFFF"/>
    </a:lt1>
    <a:dk2>
      <a:srgbClr val="FF0000"/>
    </a:dk2>
    <a:lt2>
      <a:srgbClr val="B2B2B2"/>
    </a:lt2>
    <a:accent1>
      <a:srgbClr val="BE050A"/>
    </a:accent1>
    <a:accent2>
      <a:srgbClr val="FAD0A9"/>
    </a:accent2>
    <a:accent3>
      <a:srgbClr val="E59B9D"/>
    </a:accent3>
    <a:accent4>
      <a:srgbClr val="B2B2B2"/>
    </a:accent4>
    <a:accent5>
      <a:srgbClr val="FF0000"/>
    </a:accent5>
    <a:accent6>
      <a:srgbClr val="626262"/>
    </a:accent6>
    <a:hlink>
      <a:srgbClr val="E59B9D"/>
    </a:hlink>
    <a:folHlink>
      <a:srgbClr val="99CCFF"/>
    </a:folHlink>
  </a:clrScheme>
  <a:fontScheme name="Custom 2">
    <a:majorFont>
      <a:latin typeface="Calibri"/>
      <a:ea typeface="DFKaiShu-GB5"/>
      <a:cs typeface=""/>
    </a:majorFont>
    <a:minorFont>
      <a:latin typeface="Calibri"/>
      <a:ea typeface="DFKaiShu-GB5"/>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Custom 1">
    <a:dk1>
      <a:srgbClr val="000000"/>
    </a:dk1>
    <a:lt1>
      <a:srgbClr val="FFFFFF"/>
    </a:lt1>
    <a:dk2>
      <a:srgbClr val="FF0000"/>
    </a:dk2>
    <a:lt2>
      <a:srgbClr val="B2B2B2"/>
    </a:lt2>
    <a:accent1>
      <a:srgbClr val="BE050A"/>
    </a:accent1>
    <a:accent2>
      <a:srgbClr val="FAD0A9"/>
    </a:accent2>
    <a:accent3>
      <a:srgbClr val="E59B9D"/>
    </a:accent3>
    <a:accent4>
      <a:srgbClr val="B2B2B2"/>
    </a:accent4>
    <a:accent5>
      <a:srgbClr val="FF0000"/>
    </a:accent5>
    <a:accent6>
      <a:srgbClr val="626262"/>
    </a:accent6>
    <a:hlink>
      <a:srgbClr val="E59B9D"/>
    </a:hlink>
    <a:folHlink>
      <a:srgbClr val="99CCFF"/>
    </a:folHlink>
  </a:clrScheme>
  <a:fontScheme name="Custom 2">
    <a:majorFont>
      <a:latin typeface="Calibri"/>
      <a:ea typeface="DFKaiShu-GB5"/>
      <a:cs typeface=""/>
    </a:majorFont>
    <a:minorFont>
      <a:latin typeface="Calibri"/>
      <a:ea typeface="DFKaiShu-GB5"/>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BBSettings xmlns="http://schemas.bloomberg.com/settings/1.0">
  <Item name="DocumentId_Charts">{A0992AE1-1DAC-4021-82CC-E1D2F07BA91B}</Item>
  <Item xmlns="" name="ShapesMap_Charts">{"{A0992AE1-1DAC-4021-82CC-E1D2F07BA91B}":{"2147477199":{},"2147477214":{},"2147481430":{},"2147481453":{},"2147481455":{},"2147481457":{},"2147481479":{},"2147481486":{},"2147481492":{},"2147481493":{},"2147481494":{},"2147481499":{},"2147481506":{},"2147481507":{},"2147481513":{},"2147481515":{},"2147481516":{},"2147481517":{},"2147481518":{},"2147481536":{},"2147481538":{},"2147481543":{},"2147481545":{},"2147481546":{},"2147481547":{},"2147481549":{},"2147481550":{},"2147481551":{},"2147481552":{},"2147481553":{},"2147481554":{},"2147481555":{},"2147481557":{},"2147481558":{},"2147481559":{},"2147481560":{},"2147481562":{},"2147481563":{},"2147481564":{},"2147481565":{},"2147481566":{},"2514":{},"256":{},"262":{},"263":{},"266":{},"275":{},"286":{},"288":{},"294":{},"295":{},"309":{},"318":{},"324":{},"3529":{},"355":{},"398":{},"414":{},"415":{},"416":{},"418":{},"419":{},"681":{}}}</Item>
</BBSetting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d9ece9de-2e42-4e84-b2e6-f70b1482ff80">
      <UserInfo>
        <DisplayName>Joanne Hoy Yan PANG</DisplayName>
        <AccountId>34</AccountId>
        <AccountType/>
      </UserInfo>
      <UserInfo>
        <DisplayName>CM Connect Admin - HK Content</DisplayName>
        <AccountId>38</AccountId>
        <AccountType/>
      </UserInfo>
      <UserInfo>
        <DisplayName>Limited Access System Group For List 0989de2b-2f9f-4cc7-b069-62f6084c2af1</DisplayName>
        <AccountId>109</AccountId>
        <AccountType/>
      </UserInfo>
      <UserInfo>
        <DisplayName>Cathy Wen LONG</DisplayName>
        <AccountId>46</AccountId>
        <AccountType/>
      </UserInfo>
      <UserInfo>
        <DisplayName>Le Sa CHEAH</DisplayName>
        <AccountId>32</AccountId>
        <AccountType/>
      </UserInfo>
      <UserInfo>
        <DisplayName>Jonathan HO</DisplayName>
        <AccountId>54</AccountId>
        <AccountType/>
      </UserInfo>
      <UserInfo>
        <DisplayName>Wei Han LOH</DisplayName>
        <AccountId>128</AccountId>
        <AccountType/>
      </UserInfo>
      <UserInfo>
        <DisplayName>Christopher Leng Chong SAW</DisplayName>
        <AccountId>92</AccountId>
        <AccountType/>
      </UserInfo>
      <UserInfo>
        <DisplayName>Sanjog KUSUMWAL</DisplayName>
        <AccountId>85</AccountId>
        <AccountType/>
      </UserInfo>
      <UserInfo>
        <DisplayName>Jerry Chi Yuen LAI</DisplayName>
        <AccountId>52</AccountId>
        <AccountType/>
      </UserInfo>
      <UserInfo>
        <DisplayName>Jennifer Kam Yin LIU</DisplayName>
        <AccountId>51</AccountId>
        <AccountType/>
      </UserInfo>
      <UserInfo>
        <DisplayName>Lilian SIM</DisplayName>
        <AccountId>18</AccountId>
        <AccountType/>
      </UserInfo>
    </SharedWithUsers>
    <lcf76f155ced4ddcb4097134ff3c332f xmlns="92b0d9ab-8f7a-473a-8291-8838e1c085e9">
      <Terms xmlns="http://schemas.microsoft.com/office/infopath/2007/PartnerControls"/>
    </lcf76f155ced4ddcb4097134ff3c332f>
    <TaxCatchAll xmlns="d9ece9de-2e42-4e84-b2e6-f70b1482ff80"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CEDB56714D579F478C19C5F19612549C" ma:contentTypeVersion="22" ma:contentTypeDescription="Create a new document." ma:contentTypeScope="" ma:versionID="1afd1cd2f713b231e3ebb85a604b67c4">
  <xsd:schema xmlns:xsd="http://www.w3.org/2001/XMLSchema" xmlns:xs="http://www.w3.org/2001/XMLSchema" xmlns:p="http://schemas.microsoft.com/office/2006/metadata/properties" xmlns:ns2="92b0d9ab-8f7a-473a-8291-8838e1c085e9" xmlns:ns3="d9ece9de-2e42-4e84-b2e6-f70b1482ff80" targetNamespace="http://schemas.microsoft.com/office/2006/metadata/properties" ma:root="true" ma:fieldsID="9803ce92f1169ed35f3c946428fab6c1" ns2:_="" ns3:_="">
    <xsd:import namespace="92b0d9ab-8f7a-473a-8291-8838e1c085e9"/>
    <xsd:import namespace="d9ece9de-2e42-4e84-b2e6-f70b1482ff8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b0d9ab-8f7a-473a-8291-8838e1c085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5afc53d-a465-4c37-9d87-7482417fd67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9ece9de-2e42-4e84-b2e6-f70b1482ff8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54a85d1-65e9-4cd2-8582-19aaa32d319c}" ma:internalName="TaxCatchAll" ma:showField="CatchAllData" ma:web="d9ece9de-2e42-4e84-b2e6-f70b1482ff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F62A8-2EDE-45E8-9E0E-F3FFB050F894}">
  <ds:schemaRefs>
    <ds:schemaRef ds:uri=""/>
    <ds:schemaRef ds:uri="http://schemas.bloomberg.com/settings/1.0"/>
  </ds:schemaRefs>
</ds:datastoreItem>
</file>

<file path=customXml/itemProps2.xml><?xml version="1.0" encoding="utf-8"?>
<ds:datastoreItem xmlns:ds="http://schemas.openxmlformats.org/officeDocument/2006/customXml" ds:itemID="{559A9F15-5CE9-47BB-B607-FC688EF78729}">
  <ds:schemaRefs>
    <ds:schemaRef ds:uri="http://schemas.microsoft.com/sharepoint/v3/contenttype/forms"/>
  </ds:schemaRefs>
</ds:datastoreItem>
</file>

<file path=customXml/itemProps3.xml><?xml version="1.0" encoding="utf-8"?>
<ds:datastoreItem xmlns:ds="http://schemas.openxmlformats.org/officeDocument/2006/customXml" ds:itemID="{7E0216D0-BCE7-44D0-8064-6A537768DB0C}">
  <ds:schemaRefs>
    <ds:schemaRef ds:uri="http://purl.org/dc/dcmitype/"/>
    <ds:schemaRef ds:uri="http://purl.org/dc/terms/"/>
    <ds:schemaRef ds:uri="http://www.w3.org/XML/1998/namespace"/>
    <ds:schemaRef ds:uri="http://schemas.microsoft.com/office/2006/metadata/properties"/>
    <ds:schemaRef ds:uri="92b0d9ab-8f7a-473a-8291-8838e1c085e9"/>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d9ece9de-2e42-4e84-b2e6-f70b1482ff80"/>
  </ds:schemaRefs>
</ds:datastoreItem>
</file>

<file path=customXml/itemProps4.xml><?xml version="1.0" encoding="utf-8"?>
<ds:datastoreItem xmlns:ds="http://schemas.openxmlformats.org/officeDocument/2006/customXml" ds:itemID="{BEB1DE24-2E7C-40D5-9386-5539FE8D22AC}">
  <ds:schemaRefs>
    <ds:schemaRef ds:uri="92b0d9ab-8f7a-473a-8291-8838e1c085e9"/>
    <ds:schemaRef ds:uri="d9ece9de-2e42-4e84-b2e6-f70b1482ff8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4079</TotalTime>
  <Words>18296</Words>
  <Application>Microsoft Office PowerPoint</Application>
  <PresentationFormat>A4 紙張 (210x297 公釐)</PresentationFormat>
  <Paragraphs>4290</Paragraphs>
  <Slides>74</Slides>
  <Notes>45</Notes>
  <HiddenSlides>0</HiddenSlides>
  <MMClips>0</MMClips>
  <ScaleCrop>false</ScaleCrop>
  <HeadingPairs>
    <vt:vector size="8" baseType="variant">
      <vt:variant>
        <vt:lpstr>使用字型</vt:lpstr>
      </vt:variant>
      <vt:variant>
        <vt:i4>17</vt:i4>
      </vt:variant>
      <vt:variant>
        <vt:lpstr>佈景主題</vt:lpstr>
      </vt:variant>
      <vt:variant>
        <vt:i4>1</vt:i4>
      </vt:variant>
      <vt:variant>
        <vt:lpstr>內嵌 OLE 伺服程式</vt:lpstr>
      </vt:variant>
      <vt:variant>
        <vt:i4>1</vt:i4>
      </vt:variant>
      <vt:variant>
        <vt:lpstr>投影片標題</vt:lpstr>
      </vt:variant>
      <vt:variant>
        <vt:i4>74</vt:i4>
      </vt:variant>
    </vt:vector>
  </HeadingPairs>
  <TitlesOfParts>
    <vt:vector size="93" baseType="lpstr">
      <vt:lpstr>DFKaiShu-GB5</vt:lpstr>
      <vt:lpstr>KaiTi</vt:lpstr>
      <vt:lpstr>Liter</vt:lpstr>
      <vt:lpstr>PMingLiU</vt:lpstr>
      <vt:lpstr>QuattrocentoSans</vt:lpstr>
      <vt:lpstr>黑体</vt:lpstr>
      <vt:lpstr>STKaiti</vt:lpstr>
      <vt:lpstr>華康簡楷</vt:lpstr>
      <vt:lpstr>Aptos</vt:lpstr>
      <vt:lpstr>Aptos Narrow</vt:lpstr>
      <vt:lpstr>Arial</vt:lpstr>
      <vt:lpstr>Calibri</vt:lpstr>
      <vt:lpstr>Quattrocento Sans</vt:lpstr>
      <vt:lpstr>Symbol</vt:lpstr>
      <vt:lpstr>Times New Roman</vt:lpstr>
      <vt:lpstr>Wingdings</vt:lpstr>
      <vt:lpstr>Wingdings 2</vt:lpstr>
      <vt:lpstr>8_DBS PPT template 0207</vt:lpstr>
      <vt:lpstr>think-cell Slide</vt:lpstr>
      <vt:lpstr>Discussion Materials</vt:lpstr>
      <vt:lpstr>Table of Contents</vt:lpstr>
      <vt:lpstr>1. DBS Overview and Credentials</vt:lpstr>
      <vt:lpstr>DBS –  the World’s Best Bank</vt:lpstr>
      <vt:lpstr>DBS Group Overview</vt:lpstr>
      <vt:lpstr>Unparalleled Asian Presence </vt:lpstr>
      <vt:lpstr>Comprehensive Product Platform</vt:lpstr>
      <vt:lpstr>DBS Provides Comprehensive Support, Empowering Every Step</vt:lpstr>
      <vt:lpstr>2. Proven Track Record in Equity Capital Markets </vt:lpstr>
      <vt:lpstr>Dominant Position in Equity Capital Markets</vt:lpstr>
      <vt:lpstr>DBS’ Asian-focused Distribution offers Differentiated Access to Asian Liquidity</vt:lpstr>
      <vt:lpstr>Prominent Franchise Value and Industry Recognition across Key Asian Markets</vt:lpstr>
      <vt:lpstr>Backed by an Unrivalled Track Record of Awards and Accolades…</vt:lpstr>
      <vt:lpstr>…and History of Bringing Exceptional Transactions to Market</vt:lpstr>
      <vt:lpstr>DBS is the Most Active non-PRC Sponsor Bank in HKEx IPOs in 2025</vt:lpstr>
      <vt:lpstr>Strong track record in introducing cornerstone and anchor Investors (selected recent projects)</vt:lpstr>
      <vt:lpstr>DBS brought in 80%+ foreign insti demand and all of the Southeast Asian LO orders </vt:lpstr>
      <vt:lpstr>Selected Hong Kong ECM Transactions</vt:lpstr>
      <vt:lpstr>Selected Southeast Asia ECM Transactions</vt:lpstr>
      <vt:lpstr>3.DBS Research Capabilities</vt:lpstr>
      <vt:lpstr>DBS Research Capabilities</vt:lpstr>
      <vt:lpstr>Breadth of DBS Research Report Distribution</vt:lpstr>
      <vt:lpstr>DBS Analyst Focusing on Healthcare Sector</vt:lpstr>
      <vt:lpstr>PowerPoint 簡報</vt:lpstr>
      <vt:lpstr>HK is the #1 IPO Market Globally and 2nd Most Active Geography for All ECM Issuance</vt:lpstr>
      <vt:lpstr>Hong Kong – #1 IPO Venue Globally in 2026 Q1</vt:lpstr>
      <vt:lpstr>Sector Thematics – Broad Sector Breadth Continued to Drive ECM Issuance</vt:lpstr>
      <vt:lpstr>International Investors Increasingly Active in Cornerstone Investments</vt:lpstr>
      <vt:lpstr>International Issuers Utilized Hong Kong’s Fundraising Platform</vt:lpstr>
      <vt:lpstr>HKEx is an Attractive Listing Venue for International Companies </vt:lpstr>
      <vt:lpstr>HK Increasingly Attractive for International Issuers</vt:lpstr>
      <vt:lpstr>1. Listing Venue Consideration</vt:lpstr>
      <vt:lpstr>Listing Venue Consideration</vt:lpstr>
      <vt:lpstr>Holistic Overview</vt:lpstr>
      <vt:lpstr> Capital Market Considerations</vt:lpstr>
      <vt:lpstr> Investor Accessibility</vt:lpstr>
      <vt:lpstr> Valuation</vt:lpstr>
      <vt:lpstr>Listing Venue Consideration Summary</vt:lpstr>
      <vt:lpstr>Healthcare industry gain strong momentum in HK capital market</vt:lpstr>
      <vt:lpstr>2. Comparable Analysis and Indicative Valuation</vt:lpstr>
      <vt:lpstr>PowerPoint 簡報</vt:lpstr>
      <vt:lpstr>PowerPoint 簡報</vt:lpstr>
      <vt:lpstr>PowerPoint 簡報</vt:lpstr>
      <vt:lpstr>PowerPoint 簡報</vt:lpstr>
      <vt:lpstr>Comparable Analysis (cont’d)</vt:lpstr>
      <vt:lpstr>PowerPoint 簡報</vt:lpstr>
      <vt:lpstr>Stem cell comparable companies</vt:lpstr>
      <vt:lpstr>Indicative Valuation Analysis </vt:lpstr>
      <vt:lpstr>3. IPO Execution Plan and Considerations</vt:lpstr>
      <vt:lpstr>Indicative HK Listing Timetable </vt:lpstr>
      <vt:lpstr>Marketing Timetable to Optimize Success of HK Listing</vt:lpstr>
      <vt:lpstr>Listing Consideration</vt:lpstr>
      <vt:lpstr>Listing Consideration (cont'd)</vt:lpstr>
      <vt:lpstr>4. Key Investors Selection and Recommendation</vt:lpstr>
      <vt:lpstr>DBS’ Unique Investor Base</vt:lpstr>
      <vt:lpstr>1. Corporate and Strategic Investors</vt:lpstr>
      <vt:lpstr>2. Long-only Funds that are Familiar with the Sector</vt:lpstr>
      <vt:lpstr>3. Sovereign Wealth Funds</vt:lpstr>
      <vt:lpstr>4. Active SEA Funds that Invest in Hong Kong Equities </vt:lpstr>
      <vt:lpstr>5. Active Hedge Funds in Hong Kong</vt:lpstr>
      <vt:lpstr>6. DBS Private Bank / Family Offices</vt:lpstr>
      <vt:lpstr>5. Corporate and Strategic Investors Profile</vt:lpstr>
      <vt:lpstr>Corporate and Strategic Investors Profile (1) </vt:lpstr>
      <vt:lpstr>Corporate and Strategic Investors Profile (2) </vt:lpstr>
      <vt:lpstr>Corporate and Strategic Investors Profile (3) </vt:lpstr>
      <vt:lpstr>Corporate and Strategic Investors Profile (4) </vt:lpstr>
      <vt:lpstr>Corporate and Strategic Investors Profile (5) </vt:lpstr>
      <vt:lpstr>6. Post-listing Market Support</vt:lpstr>
      <vt:lpstr>DBS Provides All-rounded Post-deal Market Support Services</vt:lpstr>
      <vt:lpstr>Greenshoe Mechanism – DBS’ Active Management of the Price Stabilization Process </vt:lpstr>
      <vt:lpstr>PowerPoint 簡報</vt:lpstr>
      <vt:lpstr>Comparison between Main Board/Market of SGX, HKEX</vt:lpstr>
      <vt:lpstr>Comparison between Main Board/Market of SGX, HKEX (cont’d)</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weihanloh@dbs.com</dc:creator>
  <cp:lastModifiedBy>Jacky Tin Lok CHUNG</cp:lastModifiedBy>
  <cp:revision>365</cp:revision>
  <cp:lastPrinted>2025-04-02T02:06:49Z</cp:lastPrinted>
  <dcterms:modified xsi:type="dcterms:W3CDTF">2026-05-18T02:31:56Z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0x010100CEDB56714D579F478C19C5F19612549C</vt:lpwstr>
  </property>
  <property fmtid="{D5CDD505-2E9C-101B-9397-08002B2CF9AE}" pid="3" name="AuthorIds_UIVersion_3072">
    <vt:lpwstr>53</vt:lpwstr>
  </property>
  <property fmtid="{D5CDD505-2E9C-101B-9397-08002B2CF9AE}" pid="4" name="MediaServiceImageTags">
    <vt:lpwstr/>
  </property>
  <property fmtid="{D5CDD505-2E9C-101B-9397-08002B2CF9AE}" pid="5" name="Language">
    <vt:lpwstr>EnglishUS</vt:lpwstr>
  </property>
</Properties>
</file>